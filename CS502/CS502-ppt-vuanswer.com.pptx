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Default Extension="png" ContentType="image/png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  <p:sldId id="414" r:id="rId164"/>
    <p:sldId id="415" r:id="rId165"/>
    <p:sldId id="416" r:id="rId166"/>
    <p:sldId id="417" r:id="rId167"/>
    <p:sldId id="418" r:id="rId168"/>
    <p:sldId id="419" r:id="rId169"/>
    <p:sldId id="420" r:id="rId170"/>
    <p:sldId id="421" r:id="rId171"/>
    <p:sldId id="422" r:id="rId172"/>
    <p:sldId id="423" r:id="rId173"/>
    <p:sldId id="424" r:id="rId174"/>
    <p:sldId id="425" r:id="rId175"/>
    <p:sldId id="426" r:id="rId176"/>
    <p:sldId id="427" r:id="rId177"/>
    <p:sldId id="428" r:id="rId178"/>
    <p:sldId id="429" r:id="rId179"/>
    <p:sldId id="430" r:id="rId180"/>
    <p:sldId id="431" r:id="rId181"/>
    <p:sldId id="432" r:id="rId182"/>
    <p:sldId id="433" r:id="rId183"/>
    <p:sldId id="434" r:id="rId184"/>
    <p:sldId id="435" r:id="rId185"/>
    <p:sldId id="436" r:id="rId186"/>
    <p:sldId id="437" r:id="rId187"/>
    <p:sldId id="438" r:id="rId188"/>
    <p:sldId id="439" r:id="rId189"/>
  </p:sldIdLst>
  <p:sldSz cx="7556500" cy="10693400"/>
  <p:notesSz cx="7556500" cy="10693400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Relationship Id="rId110" Type="http://schemas.openxmlformats.org/officeDocument/2006/relationships/slide" Target="slides/slide105.xml"/><Relationship Id="rId111" Type="http://schemas.openxmlformats.org/officeDocument/2006/relationships/slide" Target="slides/slide106.xml"/><Relationship Id="rId112" Type="http://schemas.openxmlformats.org/officeDocument/2006/relationships/slide" Target="slides/slide107.xml"/><Relationship Id="rId113" Type="http://schemas.openxmlformats.org/officeDocument/2006/relationships/slide" Target="slides/slide108.xml"/><Relationship Id="rId114" Type="http://schemas.openxmlformats.org/officeDocument/2006/relationships/slide" Target="slides/slide109.xml"/><Relationship Id="rId115" Type="http://schemas.openxmlformats.org/officeDocument/2006/relationships/slide" Target="slides/slide110.xml"/><Relationship Id="rId116" Type="http://schemas.openxmlformats.org/officeDocument/2006/relationships/slide" Target="slides/slide111.xml"/><Relationship Id="rId117" Type="http://schemas.openxmlformats.org/officeDocument/2006/relationships/slide" Target="slides/slide112.xml"/><Relationship Id="rId118" Type="http://schemas.openxmlformats.org/officeDocument/2006/relationships/slide" Target="slides/slide113.xml"/><Relationship Id="rId119" Type="http://schemas.openxmlformats.org/officeDocument/2006/relationships/slide" Target="slides/slide114.xml"/><Relationship Id="rId120" Type="http://schemas.openxmlformats.org/officeDocument/2006/relationships/slide" Target="slides/slide115.xml"/><Relationship Id="rId121" Type="http://schemas.openxmlformats.org/officeDocument/2006/relationships/slide" Target="slides/slide116.xml"/><Relationship Id="rId122" Type="http://schemas.openxmlformats.org/officeDocument/2006/relationships/slide" Target="slides/slide117.xml"/><Relationship Id="rId123" Type="http://schemas.openxmlformats.org/officeDocument/2006/relationships/slide" Target="slides/slide118.xml"/><Relationship Id="rId124" Type="http://schemas.openxmlformats.org/officeDocument/2006/relationships/slide" Target="slides/slide119.xml"/><Relationship Id="rId125" Type="http://schemas.openxmlformats.org/officeDocument/2006/relationships/slide" Target="slides/slide120.xml"/><Relationship Id="rId126" Type="http://schemas.openxmlformats.org/officeDocument/2006/relationships/slide" Target="slides/slide121.xml"/><Relationship Id="rId127" Type="http://schemas.openxmlformats.org/officeDocument/2006/relationships/slide" Target="slides/slide122.xml"/><Relationship Id="rId128" Type="http://schemas.openxmlformats.org/officeDocument/2006/relationships/slide" Target="slides/slide123.xml"/><Relationship Id="rId129" Type="http://schemas.openxmlformats.org/officeDocument/2006/relationships/slide" Target="slides/slide124.xml"/><Relationship Id="rId130" Type="http://schemas.openxmlformats.org/officeDocument/2006/relationships/slide" Target="slides/slide125.xml"/><Relationship Id="rId131" Type="http://schemas.openxmlformats.org/officeDocument/2006/relationships/slide" Target="slides/slide126.xml"/><Relationship Id="rId132" Type="http://schemas.openxmlformats.org/officeDocument/2006/relationships/slide" Target="slides/slide127.xml"/><Relationship Id="rId133" Type="http://schemas.openxmlformats.org/officeDocument/2006/relationships/slide" Target="slides/slide128.xml"/><Relationship Id="rId134" Type="http://schemas.openxmlformats.org/officeDocument/2006/relationships/slide" Target="slides/slide129.xml"/><Relationship Id="rId135" Type="http://schemas.openxmlformats.org/officeDocument/2006/relationships/slide" Target="slides/slide130.xml"/><Relationship Id="rId136" Type="http://schemas.openxmlformats.org/officeDocument/2006/relationships/slide" Target="slides/slide131.xml"/><Relationship Id="rId137" Type="http://schemas.openxmlformats.org/officeDocument/2006/relationships/slide" Target="slides/slide132.xml"/><Relationship Id="rId138" Type="http://schemas.openxmlformats.org/officeDocument/2006/relationships/slide" Target="slides/slide133.xml"/><Relationship Id="rId139" Type="http://schemas.openxmlformats.org/officeDocument/2006/relationships/slide" Target="slides/slide134.xml"/><Relationship Id="rId140" Type="http://schemas.openxmlformats.org/officeDocument/2006/relationships/slide" Target="slides/slide135.xml"/><Relationship Id="rId141" Type="http://schemas.openxmlformats.org/officeDocument/2006/relationships/slide" Target="slides/slide136.xml"/><Relationship Id="rId142" Type="http://schemas.openxmlformats.org/officeDocument/2006/relationships/slide" Target="slides/slide137.xml"/><Relationship Id="rId143" Type="http://schemas.openxmlformats.org/officeDocument/2006/relationships/slide" Target="slides/slide138.xml"/><Relationship Id="rId144" Type="http://schemas.openxmlformats.org/officeDocument/2006/relationships/slide" Target="slides/slide139.xml"/><Relationship Id="rId145" Type="http://schemas.openxmlformats.org/officeDocument/2006/relationships/slide" Target="slides/slide140.xml"/><Relationship Id="rId146" Type="http://schemas.openxmlformats.org/officeDocument/2006/relationships/slide" Target="slides/slide141.xml"/><Relationship Id="rId147" Type="http://schemas.openxmlformats.org/officeDocument/2006/relationships/slide" Target="slides/slide142.xml"/><Relationship Id="rId148" Type="http://schemas.openxmlformats.org/officeDocument/2006/relationships/slide" Target="slides/slide143.xml"/><Relationship Id="rId149" Type="http://schemas.openxmlformats.org/officeDocument/2006/relationships/slide" Target="slides/slide144.xml"/><Relationship Id="rId150" Type="http://schemas.openxmlformats.org/officeDocument/2006/relationships/slide" Target="slides/slide145.xml"/><Relationship Id="rId151" Type="http://schemas.openxmlformats.org/officeDocument/2006/relationships/slide" Target="slides/slide146.xml"/><Relationship Id="rId152" Type="http://schemas.openxmlformats.org/officeDocument/2006/relationships/slide" Target="slides/slide147.xml"/><Relationship Id="rId153" Type="http://schemas.openxmlformats.org/officeDocument/2006/relationships/slide" Target="slides/slide148.xml"/><Relationship Id="rId154" Type="http://schemas.openxmlformats.org/officeDocument/2006/relationships/slide" Target="slides/slide149.xml"/><Relationship Id="rId155" Type="http://schemas.openxmlformats.org/officeDocument/2006/relationships/slide" Target="slides/slide150.xml"/><Relationship Id="rId156" Type="http://schemas.openxmlformats.org/officeDocument/2006/relationships/slide" Target="slides/slide151.xml"/><Relationship Id="rId157" Type="http://schemas.openxmlformats.org/officeDocument/2006/relationships/slide" Target="slides/slide152.xml"/><Relationship Id="rId158" Type="http://schemas.openxmlformats.org/officeDocument/2006/relationships/slide" Target="slides/slide153.xml"/><Relationship Id="rId159" Type="http://schemas.openxmlformats.org/officeDocument/2006/relationships/slide" Target="slides/slide154.xml"/><Relationship Id="rId160" Type="http://schemas.openxmlformats.org/officeDocument/2006/relationships/slide" Target="slides/slide155.xml"/><Relationship Id="rId161" Type="http://schemas.openxmlformats.org/officeDocument/2006/relationships/slide" Target="slides/slide156.xml"/><Relationship Id="rId162" Type="http://schemas.openxmlformats.org/officeDocument/2006/relationships/slide" Target="slides/slide157.xml"/><Relationship Id="rId163" Type="http://schemas.openxmlformats.org/officeDocument/2006/relationships/slide" Target="slides/slide158.xml"/><Relationship Id="rId164" Type="http://schemas.openxmlformats.org/officeDocument/2006/relationships/slide" Target="slides/slide159.xml"/><Relationship Id="rId165" Type="http://schemas.openxmlformats.org/officeDocument/2006/relationships/slide" Target="slides/slide160.xml"/><Relationship Id="rId166" Type="http://schemas.openxmlformats.org/officeDocument/2006/relationships/slide" Target="slides/slide161.xml"/><Relationship Id="rId167" Type="http://schemas.openxmlformats.org/officeDocument/2006/relationships/slide" Target="slides/slide162.xml"/><Relationship Id="rId168" Type="http://schemas.openxmlformats.org/officeDocument/2006/relationships/slide" Target="slides/slide163.xml"/><Relationship Id="rId169" Type="http://schemas.openxmlformats.org/officeDocument/2006/relationships/slide" Target="slides/slide164.xml"/><Relationship Id="rId170" Type="http://schemas.openxmlformats.org/officeDocument/2006/relationships/slide" Target="slides/slide165.xml"/><Relationship Id="rId171" Type="http://schemas.openxmlformats.org/officeDocument/2006/relationships/slide" Target="slides/slide166.xml"/><Relationship Id="rId172" Type="http://schemas.openxmlformats.org/officeDocument/2006/relationships/slide" Target="slides/slide167.xml"/><Relationship Id="rId173" Type="http://schemas.openxmlformats.org/officeDocument/2006/relationships/slide" Target="slides/slide168.xml"/><Relationship Id="rId174" Type="http://schemas.openxmlformats.org/officeDocument/2006/relationships/slide" Target="slides/slide169.xml"/><Relationship Id="rId175" Type="http://schemas.openxmlformats.org/officeDocument/2006/relationships/slide" Target="slides/slide170.xml"/><Relationship Id="rId176" Type="http://schemas.openxmlformats.org/officeDocument/2006/relationships/slide" Target="slides/slide171.xml"/><Relationship Id="rId177" Type="http://schemas.openxmlformats.org/officeDocument/2006/relationships/slide" Target="slides/slide172.xml"/><Relationship Id="rId178" Type="http://schemas.openxmlformats.org/officeDocument/2006/relationships/slide" Target="slides/slide173.xml"/><Relationship Id="rId179" Type="http://schemas.openxmlformats.org/officeDocument/2006/relationships/slide" Target="slides/slide174.xml"/><Relationship Id="rId180" Type="http://schemas.openxmlformats.org/officeDocument/2006/relationships/slide" Target="slides/slide175.xml"/><Relationship Id="rId181" Type="http://schemas.openxmlformats.org/officeDocument/2006/relationships/slide" Target="slides/slide176.xml"/><Relationship Id="rId182" Type="http://schemas.openxmlformats.org/officeDocument/2006/relationships/slide" Target="slides/slide177.xml"/><Relationship Id="rId183" Type="http://schemas.openxmlformats.org/officeDocument/2006/relationships/slide" Target="slides/slide178.xml"/><Relationship Id="rId184" Type="http://schemas.openxmlformats.org/officeDocument/2006/relationships/slide" Target="slides/slide179.xml"/><Relationship Id="rId185" Type="http://schemas.openxmlformats.org/officeDocument/2006/relationships/slide" Target="slides/slide180.xml"/><Relationship Id="rId186" Type="http://schemas.openxmlformats.org/officeDocument/2006/relationships/slide" Target="slides/slide181.xml"/><Relationship Id="rId187" Type="http://schemas.openxmlformats.org/officeDocument/2006/relationships/slide" Target="slides/slide182.xml"/><Relationship Id="rId188" Type="http://schemas.openxmlformats.org/officeDocument/2006/relationships/slide" Target="slides/slide183.xml"/><Relationship Id="rId189" Type="http://schemas.openxmlformats.org/officeDocument/2006/relationships/slide" Target="slides/slide184.xml"/>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66737" y="3314954"/>
            <a:ext cx="6423025" cy="224561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33475" y="5988304"/>
            <a:ext cx="5289550" cy="26733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50" b="0" i="1">
                <a:solidFill>
                  <a:srgbClr val="FFFF00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50" b="0" i="1">
                <a:solidFill>
                  <a:srgbClr val="FFFF00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377825" y="2459482"/>
            <a:ext cx="3287077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3891597" y="2459482"/>
            <a:ext cx="3287077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50" b="0" i="1">
                <a:solidFill>
                  <a:srgbClr val="FFFF00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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212898" y="1034289"/>
            <a:ext cx="1130703" cy="4641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850" b="0" i="1">
                <a:solidFill>
                  <a:srgbClr val="FFFF00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863595" y="5168812"/>
            <a:ext cx="6388100" cy="28321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569210" y="9944862"/>
            <a:ext cx="2418080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77825" y="9944862"/>
            <a:ext cx="1737995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5440680" y="9944862"/>
            <a:ext cx="1737995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.png"/><Relationship Id="rId4" Type="http://schemas.openxmlformats.org/officeDocument/2006/relationships/image" Target="../media/image3.png"/><Relationship Id="rId5" Type="http://schemas.openxmlformats.org/officeDocument/2006/relationships/image" Target="../media/image4.png"/><Relationship Id="rId6" Type="http://schemas.openxmlformats.org/officeDocument/2006/relationships/image" Target="../media/image5.png"/><Relationship Id="rId7" Type="http://schemas.openxmlformats.org/officeDocument/2006/relationships/image" Target="../media/image6.png"/><Relationship Id="rId8" Type="http://schemas.openxmlformats.org/officeDocument/2006/relationships/image" Target="../media/image7.png"/><Relationship Id="rId9" Type="http://schemas.openxmlformats.org/officeDocument/2006/relationships/image" Target="../media/image8.png"/><Relationship Id="rId10" Type="http://schemas.openxmlformats.org/officeDocument/2006/relationships/image" Target="../media/image9.png"/><Relationship Id="rId11" Type="http://schemas.openxmlformats.org/officeDocument/2006/relationships/image" Target="../media/image10.png"/></Relationships>
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.png"/><Relationship Id="rId3" Type="http://schemas.openxmlformats.org/officeDocument/2006/relationships/image" Target="../media/image12.png"/><Relationship Id="rId4" Type="http://schemas.openxmlformats.org/officeDocument/2006/relationships/image" Target="../media/image13.png"/><Relationship Id="rId5" Type="http://schemas.openxmlformats.org/officeDocument/2006/relationships/image" Target="../media/image14.png"/><Relationship Id="rId6" Type="http://schemas.openxmlformats.org/officeDocument/2006/relationships/image" Target="../media/image15.png"/><Relationship Id="rId7" Type="http://schemas.openxmlformats.org/officeDocument/2006/relationships/image" Target="../media/image16.png"/><Relationship Id="rId8" Type="http://schemas.openxmlformats.org/officeDocument/2006/relationships/image" Target="../media/image17.png"/><Relationship Id="rId9" Type="http://schemas.openxmlformats.org/officeDocument/2006/relationships/image" Target="../media/image18.png"/><Relationship Id="rId10" Type="http://schemas.openxmlformats.org/officeDocument/2006/relationships/image" Target="../media/image19.png"/><Relationship Id="rId11" Type="http://schemas.openxmlformats.org/officeDocument/2006/relationships/image" Target="../media/image20.png"/><Relationship Id="rId12" Type="http://schemas.openxmlformats.org/officeDocument/2006/relationships/image" Target="../media/image21.png"/><Relationship Id="rId13" Type="http://schemas.openxmlformats.org/officeDocument/2006/relationships/image" Target="../media/image22.png"/><Relationship Id="rId14" Type="http://schemas.openxmlformats.org/officeDocument/2006/relationships/image" Target="../media/image23.png"/><Relationship Id="rId15" Type="http://schemas.openxmlformats.org/officeDocument/2006/relationships/image" Target="../media/image24.png"/><Relationship Id="rId16" Type="http://schemas.openxmlformats.org/officeDocument/2006/relationships/image" Target="../media/image25.png"/><Relationship Id="rId17" Type="http://schemas.openxmlformats.org/officeDocument/2006/relationships/image" Target="../media/image26.png"/><Relationship Id="rId18" Type="http://schemas.openxmlformats.org/officeDocument/2006/relationships/image" Target="../media/image27.png"/><Relationship Id="rId19" Type="http://schemas.openxmlformats.org/officeDocument/2006/relationships/image" Target="../media/image28.png"/></Relationships>
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9.png"/><Relationship Id="rId3" Type="http://schemas.openxmlformats.org/officeDocument/2006/relationships/image" Target="../media/image30.png"/><Relationship Id="rId4" Type="http://schemas.openxmlformats.org/officeDocument/2006/relationships/image" Target="../media/image31.png"/><Relationship Id="rId5" Type="http://schemas.openxmlformats.org/officeDocument/2006/relationships/image" Target="../media/image32.png"/><Relationship Id="rId6" Type="http://schemas.openxmlformats.org/officeDocument/2006/relationships/image" Target="../media/image33.png"/><Relationship Id="rId7" Type="http://schemas.openxmlformats.org/officeDocument/2006/relationships/image" Target="../media/image34.png"/><Relationship Id="rId8" Type="http://schemas.openxmlformats.org/officeDocument/2006/relationships/image" Target="../media/image35.png"/><Relationship Id="rId9" Type="http://schemas.openxmlformats.org/officeDocument/2006/relationships/image" Target="../media/image36.png"/><Relationship Id="rId10" Type="http://schemas.openxmlformats.org/officeDocument/2006/relationships/image" Target="../media/image37.png"/><Relationship Id="rId11" Type="http://schemas.openxmlformats.org/officeDocument/2006/relationships/image" Target="../media/image38.png"/><Relationship Id="rId12" Type="http://schemas.openxmlformats.org/officeDocument/2006/relationships/image" Target="../media/image39.png"/><Relationship Id="rId13" Type="http://schemas.openxmlformats.org/officeDocument/2006/relationships/image" Target="../media/image40.png"/><Relationship Id="rId14" Type="http://schemas.openxmlformats.org/officeDocument/2006/relationships/image" Target="../media/image41.png"/><Relationship Id="rId15" Type="http://schemas.openxmlformats.org/officeDocument/2006/relationships/image" Target="../media/image42.png"/><Relationship Id="rId16" Type="http://schemas.openxmlformats.org/officeDocument/2006/relationships/image" Target="../media/image43.png"/><Relationship Id="rId17" Type="http://schemas.openxmlformats.org/officeDocument/2006/relationships/image" Target="../media/image44.png"/><Relationship Id="rId18" Type="http://schemas.openxmlformats.org/officeDocument/2006/relationships/image" Target="../media/image45.png"/><Relationship Id="rId19" Type="http://schemas.openxmlformats.org/officeDocument/2006/relationships/image" Target="../media/image46.png"/></Relationships>
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7.png"/><Relationship Id="rId3" Type="http://schemas.openxmlformats.org/officeDocument/2006/relationships/image" Target="../media/image48.png"/></Relationships>
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9.png"/></Relationships>
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0.png"/><Relationship Id="rId3" Type="http://schemas.openxmlformats.org/officeDocument/2006/relationships/image" Target="../media/image51.png"/><Relationship Id="rId4" Type="http://schemas.openxmlformats.org/officeDocument/2006/relationships/image" Target="../media/image52.png"/><Relationship Id="rId5" Type="http://schemas.openxmlformats.org/officeDocument/2006/relationships/image" Target="../media/image53.png"/><Relationship Id="rId6" Type="http://schemas.openxmlformats.org/officeDocument/2006/relationships/image" Target="../media/image54.png"/><Relationship Id="rId7" Type="http://schemas.openxmlformats.org/officeDocument/2006/relationships/image" Target="../media/image55.png"/><Relationship Id="rId8" Type="http://schemas.openxmlformats.org/officeDocument/2006/relationships/image" Target="../media/image56.png"/><Relationship Id="rId9" Type="http://schemas.openxmlformats.org/officeDocument/2006/relationships/image" Target="../media/image57.png"/></Relationships>
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8.png"/><Relationship Id="rId3" Type="http://schemas.openxmlformats.org/officeDocument/2006/relationships/image" Target="../media/image59.png"/><Relationship Id="rId4" Type="http://schemas.openxmlformats.org/officeDocument/2006/relationships/image" Target="../media/image60.png"/><Relationship Id="rId5" Type="http://schemas.openxmlformats.org/officeDocument/2006/relationships/image" Target="../media/image61.png"/><Relationship Id="rId6" Type="http://schemas.openxmlformats.org/officeDocument/2006/relationships/image" Target="../media/image62.png"/><Relationship Id="rId7" Type="http://schemas.openxmlformats.org/officeDocument/2006/relationships/image" Target="../media/image63.png"/><Relationship Id="rId8" Type="http://schemas.openxmlformats.org/officeDocument/2006/relationships/image" Target="../media/image64.png"/><Relationship Id="rId9" Type="http://schemas.openxmlformats.org/officeDocument/2006/relationships/image" Target="../media/image65.png"/><Relationship Id="rId10" Type="http://schemas.openxmlformats.org/officeDocument/2006/relationships/image" Target="../media/image66.png"/><Relationship Id="rId11" Type="http://schemas.openxmlformats.org/officeDocument/2006/relationships/image" Target="../media/image67.png"/><Relationship Id="rId12" Type="http://schemas.openxmlformats.org/officeDocument/2006/relationships/image" Target="../media/image68.png"/><Relationship Id="rId13" Type="http://schemas.openxmlformats.org/officeDocument/2006/relationships/image" Target="../media/image69.png"/><Relationship Id="rId14" Type="http://schemas.openxmlformats.org/officeDocument/2006/relationships/image" Target="../media/image70.png"/><Relationship Id="rId15" Type="http://schemas.openxmlformats.org/officeDocument/2006/relationships/image" Target="../media/image71.png"/><Relationship Id="rId16" Type="http://schemas.openxmlformats.org/officeDocument/2006/relationships/image" Target="../media/image72.png"/></Relationships>
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3.png"/><Relationship Id="rId3" Type="http://schemas.openxmlformats.org/officeDocument/2006/relationships/image" Target="../media/image74.png"/><Relationship Id="rId4" Type="http://schemas.openxmlformats.org/officeDocument/2006/relationships/image" Target="../media/image75.png"/><Relationship Id="rId5" Type="http://schemas.openxmlformats.org/officeDocument/2006/relationships/image" Target="../media/image76.png"/><Relationship Id="rId6" Type="http://schemas.openxmlformats.org/officeDocument/2006/relationships/image" Target="../media/image77.png"/><Relationship Id="rId7" Type="http://schemas.openxmlformats.org/officeDocument/2006/relationships/image" Target="../media/image78.png"/><Relationship Id="rId8" Type="http://schemas.openxmlformats.org/officeDocument/2006/relationships/image" Target="../media/image79.png"/><Relationship Id="rId9" Type="http://schemas.openxmlformats.org/officeDocument/2006/relationships/image" Target="../media/image80.png"/><Relationship Id="rId10" Type="http://schemas.openxmlformats.org/officeDocument/2006/relationships/image" Target="../media/image81.png"/><Relationship Id="rId11" Type="http://schemas.openxmlformats.org/officeDocument/2006/relationships/image" Target="../media/image82.png"/><Relationship Id="rId12" Type="http://schemas.openxmlformats.org/officeDocument/2006/relationships/image" Target="../media/image83.png"/><Relationship Id="rId13" Type="http://schemas.openxmlformats.org/officeDocument/2006/relationships/image" Target="../media/image84.png"/><Relationship Id="rId14" Type="http://schemas.openxmlformats.org/officeDocument/2006/relationships/image" Target="../media/image85.png"/><Relationship Id="rId15" Type="http://schemas.openxmlformats.org/officeDocument/2006/relationships/image" Target="../media/image86.png"/></Relationships>
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7.png"/><Relationship Id="rId3" Type="http://schemas.openxmlformats.org/officeDocument/2006/relationships/image" Target="../media/image88.png"/><Relationship Id="rId4" Type="http://schemas.openxmlformats.org/officeDocument/2006/relationships/image" Target="../media/image89.png"/><Relationship Id="rId5" Type="http://schemas.openxmlformats.org/officeDocument/2006/relationships/image" Target="../media/image90.png"/><Relationship Id="rId6" Type="http://schemas.openxmlformats.org/officeDocument/2006/relationships/image" Target="../media/image91.png"/><Relationship Id="rId7" Type="http://schemas.openxmlformats.org/officeDocument/2006/relationships/image" Target="../media/image92.png"/><Relationship Id="rId8" Type="http://schemas.openxmlformats.org/officeDocument/2006/relationships/image" Target="../media/image93.png"/><Relationship Id="rId9" Type="http://schemas.openxmlformats.org/officeDocument/2006/relationships/image" Target="../media/image94.png"/><Relationship Id="rId10" Type="http://schemas.openxmlformats.org/officeDocument/2006/relationships/image" Target="../media/image95.png"/><Relationship Id="rId11" Type="http://schemas.openxmlformats.org/officeDocument/2006/relationships/image" Target="../media/image96.png"/><Relationship Id="rId12" Type="http://schemas.openxmlformats.org/officeDocument/2006/relationships/image" Target="../media/image97.png"/><Relationship Id="rId13" Type="http://schemas.openxmlformats.org/officeDocument/2006/relationships/image" Target="../media/image98.png"/><Relationship Id="rId14" Type="http://schemas.openxmlformats.org/officeDocument/2006/relationships/image" Target="../media/image99.png"/><Relationship Id="rId15" Type="http://schemas.openxmlformats.org/officeDocument/2006/relationships/image" Target="../media/image100.png"/></Relationships>
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1.png"/><Relationship Id="rId3" Type="http://schemas.openxmlformats.org/officeDocument/2006/relationships/image" Target="../media/image102.png"/><Relationship Id="rId4" Type="http://schemas.openxmlformats.org/officeDocument/2006/relationships/image" Target="../media/image103.png"/><Relationship Id="rId5" Type="http://schemas.openxmlformats.org/officeDocument/2006/relationships/image" Target="../media/image104.png"/><Relationship Id="rId6" Type="http://schemas.openxmlformats.org/officeDocument/2006/relationships/image" Target="../media/image105.png"/><Relationship Id="rId7" Type="http://schemas.openxmlformats.org/officeDocument/2006/relationships/image" Target="../media/image106.png"/><Relationship Id="rId8" Type="http://schemas.openxmlformats.org/officeDocument/2006/relationships/image" Target="../media/image107.png"/><Relationship Id="rId9" Type="http://schemas.openxmlformats.org/officeDocument/2006/relationships/image" Target="../media/image108.png"/><Relationship Id="rId10" Type="http://schemas.openxmlformats.org/officeDocument/2006/relationships/image" Target="../media/image109.png"/><Relationship Id="rId11" Type="http://schemas.openxmlformats.org/officeDocument/2006/relationships/image" Target="../media/image110.png"/><Relationship Id="rId12" Type="http://schemas.openxmlformats.org/officeDocument/2006/relationships/image" Target="../media/image111.png"/><Relationship Id="rId13" Type="http://schemas.openxmlformats.org/officeDocument/2006/relationships/image" Target="../media/image112.png"/><Relationship Id="rId14" Type="http://schemas.openxmlformats.org/officeDocument/2006/relationships/image" Target="../media/image113.png"/></Relationships>
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4.png"/><Relationship Id="rId3" Type="http://schemas.openxmlformats.org/officeDocument/2006/relationships/image" Target="../media/image115.png"/><Relationship Id="rId4" Type="http://schemas.openxmlformats.org/officeDocument/2006/relationships/image" Target="../media/image116.png"/></Relationships>
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7.png"/><Relationship Id="rId3" Type="http://schemas.openxmlformats.org/officeDocument/2006/relationships/image" Target="../media/image118.png"/><Relationship Id="rId4" Type="http://schemas.openxmlformats.org/officeDocument/2006/relationships/image" Target="../media/image119.png"/><Relationship Id="rId5" Type="http://schemas.openxmlformats.org/officeDocument/2006/relationships/image" Target="../media/image120.png"/><Relationship Id="rId6" Type="http://schemas.openxmlformats.org/officeDocument/2006/relationships/image" Target="../media/image121.png"/><Relationship Id="rId7" Type="http://schemas.openxmlformats.org/officeDocument/2006/relationships/image" Target="../media/image122.png"/><Relationship Id="rId8" Type="http://schemas.openxmlformats.org/officeDocument/2006/relationships/image" Target="../media/image123.png"/><Relationship Id="rId9" Type="http://schemas.openxmlformats.org/officeDocument/2006/relationships/image" Target="../media/image124.png"/><Relationship Id="rId10" Type="http://schemas.openxmlformats.org/officeDocument/2006/relationships/image" Target="../media/image125.png"/><Relationship Id="rId11" Type="http://schemas.openxmlformats.org/officeDocument/2006/relationships/image" Target="../media/image126.png"/><Relationship Id="rId12" Type="http://schemas.openxmlformats.org/officeDocument/2006/relationships/image" Target="../media/image127.png"/><Relationship Id="rId13" Type="http://schemas.openxmlformats.org/officeDocument/2006/relationships/image" Target="../media/image128.png"/><Relationship Id="rId14" Type="http://schemas.openxmlformats.org/officeDocument/2006/relationships/image" Target="../media/image129.png"/><Relationship Id="rId15" Type="http://schemas.openxmlformats.org/officeDocument/2006/relationships/image" Target="../media/image130.png"/></Relationships>
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1.png"/></Relationships>
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2.png"/></Relationships>
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3.png"/><Relationship Id="rId3" Type="http://schemas.openxmlformats.org/officeDocument/2006/relationships/image" Target="../media/image134.png"/><Relationship Id="rId4" Type="http://schemas.openxmlformats.org/officeDocument/2006/relationships/image" Target="../media/image135.png"/><Relationship Id="rId5" Type="http://schemas.openxmlformats.org/officeDocument/2006/relationships/image" Target="../media/image136.png"/><Relationship Id="rId6" Type="http://schemas.openxmlformats.org/officeDocument/2006/relationships/image" Target="../media/image137.png"/><Relationship Id="rId7" Type="http://schemas.openxmlformats.org/officeDocument/2006/relationships/image" Target="../media/image138.png"/><Relationship Id="rId8" Type="http://schemas.openxmlformats.org/officeDocument/2006/relationships/image" Target="../media/image139.png"/><Relationship Id="rId9" Type="http://schemas.openxmlformats.org/officeDocument/2006/relationships/image" Target="../media/image140.png"/><Relationship Id="rId10" Type="http://schemas.openxmlformats.org/officeDocument/2006/relationships/image" Target="../media/image141.png"/><Relationship Id="rId11" Type="http://schemas.openxmlformats.org/officeDocument/2006/relationships/image" Target="../media/image142.png"/><Relationship Id="rId12" Type="http://schemas.openxmlformats.org/officeDocument/2006/relationships/image" Target="../media/image143.png"/><Relationship Id="rId13" Type="http://schemas.openxmlformats.org/officeDocument/2006/relationships/image" Target="../media/image144.png"/><Relationship Id="rId14" Type="http://schemas.openxmlformats.org/officeDocument/2006/relationships/image" Target="../media/image145.png"/><Relationship Id="rId15" Type="http://schemas.openxmlformats.org/officeDocument/2006/relationships/image" Target="../media/image146.png"/><Relationship Id="rId16" Type="http://schemas.openxmlformats.org/officeDocument/2006/relationships/image" Target="../media/image147.png"/><Relationship Id="rId17" Type="http://schemas.openxmlformats.org/officeDocument/2006/relationships/image" Target="../media/image148.png"/><Relationship Id="rId18" Type="http://schemas.openxmlformats.org/officeDocument/2006/relationships/image" Target="../media/image149.png"/><Relationship Id="rId19" Type="http://schemas.openxmlformats.org/officeDocument/2006/relationships/image" Target="../media/image150.png"/></Relationships>
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1.png"/></Relationships>
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2.png"/><Relationship Id="rId3" Type="http://schemas.openxmlformats.org/officeDocument/2006/relationships/image" Target="../media/image153.png"/><Relationship Id="rId4" Type="http://schemas.openxmlformats.org/officeDocument/2006/relationships/image" Target="../media/image154.png"/></Relationships>
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5.png"/><Relationship Id="rId3" Type="http://schemas.openxmlformats.org/officeDocument/2006/relationships/image" Target="../media/image156.png"/></Relationships>
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7.png"/></Relationships>
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8.png"/></Relationships>
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59.png"/><Relationship Id="rId3" Type="http://schemas.openxmlformats.org/officeDocument/2006/relationships/image" Target="../media/image160.png"/></Relationships>
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61.png"/><Relationship Id="rId3" Type="http://schemas.openxmlformats.org/officeDocument/2006/relationships/image" Target="../media/image162.png"/><Relationship Id="rId4" Type="http://schemas.openxmlformats.org/officeDocument/2006/relationships/image" Target="../media/image163.png"/><Relationship Id="rId5" Type="http://schemas.openxmlformats.org/officeDocument/2006/relationships/image" Target="../media/image164.png"/><Relationship Id="rId6" Type="http://schemas.openxmlformats.org/officeDocument/2006/relationships/image" Target="../media/image165.png"/><Relationship Id="rId7" Type="http://schemas.openxmlformats.org/officeDocument/2006/relationships/image" Target="../media/image166.png"/><Relationship Id="rId8" Type="http://schemas.openxmlformats.org/officeDocument/2006/relationships/image" Target="../media/image167.png"/><Relationship Id="rId9" Type="http://schemas.openxmlformats.org/officeDocument/2006/relationships/image" Target="../media/image168.png"/><Relationship Id="rId10" Type="http://schemas.openxmlformats.org/officeDocument/2006/relationships/image" Target="../media/image169.png"/><Relationship Id="rId11" Type="http://schemas.openxmlformats.org/officeDocument/2006/relationships/image" Target="../media/image170.png"/><Relationship Id="rId12" Type="http://schemas.openxmlformats.org/officeDocument/2006/relationships/image" Target="../media/image171.png"/><Relationship Id="rId13" Type="http://schemas.openxmlformats.org/officeDocument/2006/relationships/image" Target="../media/image172.png"/><Relationship Id="rId14" Type="http://schemas.openxmlformats.org/officeDocument/2006/relationships/image" Target="../media/image173.png"/><Relationship Id="rId15" Type="http://schemas.openxmlformats.org/officeDocument/2006/relationships/image" Target="../media/image174.png"/><Relationship Id="rId16" Type="http://schemas.openxmlformats.org/officeDocument/2006/relationships/image" Target="../media/image175.png"/><Relationship Id="rId17" Type="http://schemas.openxmlformats.org/officeDocument/2006/relationships/image" Target="../media/image176.png"/></Relationships>
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7.png"/><Relationship Id="rId3" Type="http://schemas.openxmlformats.org/officeDocument/2006/relationships/image" Target="../media/image178.png"/><Relationship Id="rId4" Type="http://schemas.openxmlformats.org/officeDocument/2006/relationships/image" Target="../media/image179.png"/><Relationship Id="rId5" Type="http://schemas.openxmlformats.org/officeDocument/2006/relationships/image" Target="../media/image180.png"/><Relationship Id="rId6" Type="http://schemas.openxmlformats.org/officeDocument/2006/relationships/image" Target="../media/image181.png"/><Relationship Id="rId7" Type="http://schemas.openxmlformats.org/officeDocument/2006/relationships/image" Target="../media/image182.png"/></Relationships>
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83.png"/><Relationship Id="rId3" Type="http://schemas.openxmlformats.org/officeDocument/2006/relationships/image" Target="../media/image184.png"/><Relationship Id="rId4" Type="http://schemas.openxmlformats.org/officeDocument/2006/relationships/image" Target="../media/image185.png"/><Relationship Id="rId5" Type="http://schemas.openxmlformats.org/officeDocument/2006/relationships/image" Target="../media/image186.png"/><Relationship Id="rId6" Type="http://schemas.openxmlformats.org/officeDocument/2006/relationships/image" Target="../media/image187.png"/><Relationship Id="rId7" Type="http://schemas.openxmlformats.org/officeDocument/2006/relationships/image" Target="../media/image188.png"/><Relationship Id="rId8" Type="http://schemas.openxmlformats.org/officeDocument/2006/relationships/image" Target="../media/image189.png"/><Relationship Id="rId9" Type="http://schemas.openxmlformats.org/officeDocument/2006/relationships/image" Target="../media/image190.png"/><Relationship Id="rId10" Type="http://schemas.openxmlformats.org/officeDocument/2006/relationships/image" Target="../media/image191.png"/><Relationship Id="rId11" Type="http://schemas.openxmlformats.org/officeDocument/2006/relationships/image" Target="../media/image192.png"/><Relationship Id="rId12" Type="http://schemas.openxmlformats.org/officeDocument/2006/relationships/image" Target="../media/image193.png"/></Relationships>
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94.png"/><Relationship Id="rId3" Type="http://schemas.openxmlformats.org/officeDocument/2006/relationships/image" Target="../media/image195.png"/><Relationship Id="rId4" Type="http://schemas.openxmlformats.org/officeDocument/2006/relationships/image" Target="../media/image196.png"/><Relationship Id="rId5" Type="http://schemas.openxmlformats.org/officeDocument/2006/relationships/image" Target="../media/image197.png"/><Relationship Id="rId6" Type="http://schemas.openxmlformats.org/officeDocument/2006/relationships/image" Target="../media/image198.png"/><Relationship Id="rId7" Type="http://schemas.openxmlformats.org/officeDocument/2006/relationships/image" Target="../media/image199.png"/><Relationship Id="rId8" Type="http://schemas.openxmlformats.org/officeDocument/2006/relationships/image" Target="../media/image200.png"/><Relationship Id="rId9" Type="http://schemas.openxmlformats.org/officeDocument/2006/relationships/image" Target="../media/image201.png"/><Relationship Id="rId10" Type="http://schemas.openxmlformats.org/officeDocument/2006/relationships/image" Target="../media/image202.png"/><Relationship Id="rId11" Type="http://schemas.openxmlformats.org/officeDocument/2006/relationships/image" Target="../media/image203.png"/><Relationship Id="rId12" Type="http://schemas.openxmlformats.org/officeDocument/2006/relationships/image" Target="../media/image204.png"/><Relationship Id="rId13" Type="http://schemas.openxmlformats.org/officeDocument/2006/relationships/image" Target="../media/image205.png"/><Relationship Id="rId14" Type="http://schemas.openxmlformats.org/officeDocument/2006/relationships/image" Target="../media/image206.png"/><Relationship Id="rId15" Type="http://schemas.openxmlformats.org/officeDocument/2006/relationships/image" Target="../media/image207.png"/><Relationship Id="rId16" Type="http://schemas.openxmlformats.org/officeDocument/2006/relationships/image" Target="../media/image208.png"/><Relationship Id="rId17" Type="http://schemas.openxmlformats.org/officeDocument/2006/relationships/image" Target="../media/image209.png"/><Relationship Id="rId18" Type="http://schemas.openxmlformats.org/officeDocument/2006/relationships/image" Target="../media/image210.png"/></Relationships>
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1.png"/></Relationships>
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2.png"/><Relationship Id="rId3" Type="http://schemas.openxmlformats.org/officeDocument/2006/relationships/image" Target="../media/image213.png"/><Relationship Id="rId4" Type="http://schemas.openxmlformats.org/officeDocument/2006/relationships/image" Target="../media/image214.png"/><Relationship Id="rId5" Type="http://schemas.openxmlformats.org/officeDocument/2006/relationships/image" Target="../media/image215.png"/><Relationship Id="rId6" Type="http://schemas.openxmlformats.org/officeDocument/2006/relationships/image" Target="../media/image216.png"/><Relationship Id="rId7" Type="http://schemas.openxmlformats.org/officeDocument/2006/relationships/image" Target="../media/image217.png"/><Relationship Id="rId8" Type="http://schemas.openxmlformats.org/officeDocument/2006/relationships/image" Target="../media/image218.png"/></Relationships>
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9.png"/><Relationship Id="rId3" Type="http://schemas.openxmlformats.org/officeDocument/2006/relationships/image" Target="../media/image220.png"/><Relationship Id="rId4" Type="http://schemas.openxmlformats.org/officeDocument/2006/relationships/image" Target="../media/image221.png"/><Relationship Id="rId5" Type="http://schemas.openxmlformats.org/officeDocument/2006/relationships/image" Target="../media/image222.png"/><Relationship Id="rId6" Type="http://schemas.openxmlformats.org/officeDocument/2006/relationships/image" Target="../media/image223.png"/><Relationship Id="rId7" Type="http://schemas.openxmlformats.org/officeDocument/2006/relationships/image" Target="../media/image224.png"/></Relationships>
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5.png"/><Relationship Id="rId3" Type="http://schemas.openxmlformats.org/officeDocument/2006/relationships/image" Target="../media/image226.png"/><Relationship Id="rId4" Type="http://schemas.openxmlformats.org/officeDocument/2006/relationships/image" Target="../media/image227.png"/><Relationship Id="rId5" Type="http://schemas.openxmlformats.org/officeDocument/2006/relationships/image" Target="../media/image228.png"/></Relationships>
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9.png"/><Relationship Id="rId3" Type="http://schemas.openxmlformats.org/officeDocument/2006/relationships/image" Target="../media/image230.png"/><Relationship Id="rId4" Type="http://schemas.openxmlformats.org/officeDocument/2006/relationships/image" Target="../media/image231.png"/><Relationship Id="rId5" Type="http://schemas.openxmlformats.org/officeDocument/2006/relationships/image" Target="../media/image232.png"/><Relationship Id="rId6" Type="http://schemas.openxmlformats.org/officeDocument/2006/relationships/image" Target="../media/image233.png"/></Relationships>
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34.png"/><Relationship Id="rId3" Type="http://schemas.openxmlformats.org/officeDocument/2006/relationships/image" Target="../media/image235.png"/><Relationship Id="rId4" Type="http://schemas.openxmlformats.org/officeDocument/2006/relationships/image" Target="../media/image236.png"/><Relationship Id="rId5" Type="http://schemas.openxmlformats.org/officeDocument/2006/relationships/image" Target="../media/image237.png"/></Relationships>
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38.png"/><Relationship Id="rId3" Type="http://schemas.openxmlformats.org/officeDocument/2006/relationships/image" Target="../media/image239.png"/><Relationship Id="rId4" Type="http://schemas.openxmlformats.org/officeDocument/2006/relationships/image" Target="../media/image240.png"/></Relationships>
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1.png"/><Relationship Id="rId3" Type="http://schemas.openxmlformats.org/officeDocument/2006/relationships/image" Target="../media/image242.png"/></Relationships>
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3.png"/></Relationships>
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4.png"/></Relationships>
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5.png"/><Relationship Id="rId3" Type="http://schemas.openxmlformats.org/officeDocument/2006/relationships/image" Target="../media/image246.png"/><Relationship Id="rId4" Type="http://schemas.openxmlformats.org/officeDocument/2006/relationships/image" Target="../media/image247.png"/></Relationships>
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8.png"/><Relationship Id="rId3" Type="http://schemas.openxmlformats.org/officeDocument/2006/relationships/image" Target="../media/image249.png"/></Relationships>
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0.png"/></Relationships>
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1.png"/></Relationships>
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2.png"/><Relationship Id="rId3" Type="http://schemas.openxmlformats.org/officeDocument/2006/relationships/image" Target="../media/image253.png"/></Relationships>
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4.png"/></Relationships>
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5.png"/><Relationship Id="rId3" Type="http://schemas.openxmlformats.org/officeDocument/2006/relationships/image" Target="../media/image256.png"/><Relationship Id="rId4" Type="http://schemas.openxmlformats.org/officeDocument/2006/relationships/image" Target="../media/image257.png"/><Relationship Id="rId5" Type="http://schemas.openxmlformats.org/officeDocument/2006/relationships/image" Target="../media/image258.png"/><Relationship Id="rId6" Type="http://schemas.openxmlformats.org/officeDocument/2006/relationships/image" Target="../media/image259.png"/><Relationship Id="rId7" Type="http://schemas.openxmlformats.org/officeDocument/2006/relationships/image" Target="../media/image260.png"/><Relationship Id="rId8" Type="http://schemas.openxmlformats.org/officeDocument/2006/relationships/image" Target="../media/image261.png"/><Relationship Id="rId9" Type="http://schemas.openxmlformats.org/officeDocument/2006/relationships/image" Target="../media/image262.png"/><Relationship Id="rId10" Type="http://schemas.openxmlformats.org/officeDocument/2006/relationships/image" Target="../media/image263.png"/><Relationship Id="rId11" Type="http://schemas.openxmlformats.org/officeDocument/2006/relationships/image" Target="../media/image264.png"/><Relationship Id="rId12" Type="http://schemas.openxmlformats.org/officeDocument/2006/relationships/image" Target="../media/image265.png"/><Relationship Id="rId13" Type="http://schemas.openxmlformats.org/officeDocument/2006/relationships/image" Target="../media/image266.png"/><Relationship Id="rId14" Type="http://schemas.openxmlformats.org/officeDocument/2006/relationships/image" Target="../media/image267.png"/><Relationship Id="rId15" Type="http://schemas.openxmlformats.org/officeDocument/2006/relationships/image" Target="../media/image268.png"/><Relationship Id="rId16" Type="http://schemas.openxmlformats.org/officeDocument/2006/relationships/image" Target="../media/image269.png"/><Relationship Id="rId17" Type="http://schemas.openxmlformats.org/officeDocument/2006/relationships/image" Target="../media/image270.png"/><Relationship Id="rId18" Type="http://schemas.openxmlformats.org/officeDocument/2006/relationships/image" Target="../media/image271.png"/><Relationship Id="rId19" Type="http://schemas.openxmlformats.org/officeDocument/2006/relationships/image" Target="../media/image272.png"/><Relationship Id="rId20" Type="http://schemas.openxmlformats.org/officeDocument/2006/relationships/image" Target="../media/image273.png"/><Relationship Id="rId21" Type="http://schemas.openxmlformats.org/officeDocument/2006/relationships/image" Target="../media/image274.png"/></Relationships>
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75.png"/></Relationships>
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76.png"/><Relationship Id="rId3" Type="http://schemas.openxmlformats.org/officeDocument/2006/relationships/image" Target="../media/image277.png"/></Relationships>
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78.png"/><Relationship Id="rId3" Type="http://schemas.openxmlformats.org/officeDocument/2006/relationships/image" Target="../media/image279.png"/></Relationships>
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80.png"/><Relationship Id="rId3" Type="http://schemas.openxmlformats.org/officeDocument/2006/relationships/image" Target="../media/image281.png"/></Relationships>
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82.png"/><Relationship Id="rId3" Type="http://schemas.openxmlformats.org/officeDocument/2006/relationships/image" Target="../media/image283.png"/><Relationship Id="rId4" Type="http://schemas.openxmlformats.org/officeDocument/2006/relationships/image" Target="../media/image284.png"/><Relationship Id="rId5" Type="http://schemas.openxmlformats.org/officeDocument/2006/relationships/image" Target="../media/image285.png"/><Relationship Id="rId6" Type="http://schemas.openxmlformats.org/officeDocument/2006/relationships/image" Target="../media/image286.png"/><Relationship Id="rId7" Type="http://schemas.openxmlformats.org/officeDocument/2006/relationships/image" Target="../media/image287.png"/><Relationship Id="rId8" Type="http://schemas.openxmlformats.org/officeDocument/2006/relationships/image" Target="../media/image288.png"/><Relationship Id="rId9" Type="http://schemas.openxmlformats.org/officeDocument/2006/relationships/image" Target="../media/image289.png"/><Relationship Id="rId10" Type="http://schemas.openxmlformats.org/officeDocument/2006/relationships/image" Target="../media/image290.png"/><Relationship Id="rId11" Type="http://schemas.openxmlformats.org/officeDocument/2006/relationships/image" Target="../media/image291.png"/><Relationship Id="rId12" Type="http://schemas.openxmlformats.org/officeDocument/2006/relationships/image" Target="../media/image292.png"/><Relationship Id="rId13" Type="http://schemas.openxmlformats.org/officeDocument/2006/relationships/image" Target="../media/image293.png"/><Relationship Id="rId14" Type="http://schemas.openxmlformats.org/officeDocument/2006/relationships/image" Target="../media/image294.png"/><Relationship Id="rId15" Type="http://schemas.openxmlformats.org/officeDocument/2006/relationships/image" Target="../media/image295.png"/><Relationship Id="rId16" Type="http://schemas.openxmlformats.org/officeDocument/2006/relationships/image" Target="../media/image296.png"/><Relationship Id="rId17" Type="http://schemas.openxmlformats.org/officeDocument/2006/relationships/image" Target="../media/image297.png"/><Relationship Id="rId18" Type="http://schemas.openxmlformats.org/officeDocument/2006/relationships/image" Target="../media/image298.png"/><Relationship Id="rId19" Type="http://schemas.openxmlformats.org/officeDocument/2006/relationships/image" Target="../media/image299.png"/><Relationship Id="rId20" Type="http://schemas.openxmlformats.org/officeDocument/2006/relationships/image" Target="../media/image300.png"/><Relationship Id="rId21" Type="http://schemas.openxmlformats.org/officeDocument/2006/relationships/image" Target="../media/image301.png"/><Relationship Id="rId22" Type="http://schemas.openxmlformats.org/officeDocument/2006/relationships/image" Target="../media/image302.png"/><Relationship Id="rId23" Type="http://schemas.openxmlformats.org/officeDocument/2006/relationships/image" Target="../media/image303.png"/><Relationship Id="rId24" Type="http://schemas.openxmlformats.org/officeDocument/2006/relationships/image" Target="../media/image304.png"/><Relationship Id="rId25" Type="http://schemas.openxmlformats.org/officeDocument/2006/relationships/image" Target="../media/image305.png"/><Relationship Id="rId26" Type="http://schemas.openxmlformats.org/officeDocument/2006/relationships/image" Target="../media/image306.png"/><Relationship Id="rId27" Type="http://schemas.openxmlformats.org/officeDocument/2006/relationships/image" Target="../media/image307.png"/><Relationship Id="rId28" Type="http://schemas.openxmlformats.org/officeDocument/2006/relationships/image" Target="../media/image308.png"/><Relationship Id="rId29" Type="http://schemas.openxmlformats.org/officeDocument/2006/relationships/image" Target="../media/image309.png"/><Relationship Id="rId30" Type="http://schemas.openxmlformats.org/officeDocument/2006/relationships/image" Target="../media/image310.png"/><Relationship Id="rId31" Type="http://schemas.openxmlformats.org/officeDocument/2006/relationships/image" Target="../media/image311.png"/><Relationship Id="rId32" Type="http://schemas.openxmlformats.org/officeDocument/2006/relationships/image" Target="../media/image312.png"/><Relationship Id="rId33" Type="http://schemas.openxmlformats.org/officeDocument/2006/relationships/image" Target="../media/image313.png"/><Relationship Id="rId34" Type="http://schemas.openxmlformats.org/officeDocument/2006/relationships/image" Target="../media/image314.png"/><Relationship Id="rId35" Type="http://schemas.openxmlformats.org/officeDocument/2006/relationships/image" Target="../media/image315.png"/><Relationship Id="rId36" Type="http://schemas.openxmlformats.org/officeDocument/2006/relationships/image" Target="../media/image316.png"/><Relationship Id="rId37" Type="http://schemas.openxmlformats.org/officeDocument/2006/relationships/image" Target="../media/image317.png"/><Relationship Id="rId38" Type="http://schemas.openxmlformats.org/officeDocument/2006/relationships/image" Target="../media/image318.png"/><Relationship Id="rId39" Type="http://schemas.openxmlformats.org/officeDocument/2006/relationships/image" Target="../media/image319.png"/><Relationship Id="rId40" Type="http://schemas.openxmlformats.org/officeDocument/2006/relationships/image" Target="../media/image320.png"/><Relationship Id="rId41" Type="http://schemas.openxmlformats.org/officeDocument/2006/relationships/image" Target="../media/image321.png"/><Relationship Id="rId42" Type="http://schemas.openxmlformats.org/officeDocument/2006/relationships/image" Target="../media/image322.png"/><Relationship Id="rId43" Type="http://schemas.openxmlformats.org/officeDocument/2006/relationships/image" Target="../media/image323.png"/><Relationship Id="rId44" Type="http://schemas.openxmlformats.org/officeDocument/2006/relationships/image" Target="../media/image324.png"/><Relationship Id="rId45" Type="http://schemas.openxmlformats.org/officeDocument/2006/relationships/image" Target="../media/image325.png"/><Relationship Id="rId46" Type="http://schemas.openxmlformats.org/officeDocument/2006/relationships/image" Target="../media/image326.png"/><Relationship Id="rId47" Type="http://schemas.openxmlformats.org/officeDocument/2006/relationships/image" Target="../media/image327.png"/><Relationship Id="rId48" Type="http://schemas.openxmlformats.org/officeDocument/2006/relationships/image" Target="../media/image328.png"/><Relationship Id="rId49" Type="http://schemas.openxmlformats.org/officeDocument/2006/relationships/image" Target="../media/image329.png"/><Relationship Id="rId50" Type="http://schemas.openxmlformats.org/officeDocument/2006/relationships/image" Target="../media/image330.png"/><Relationship Id="rId51" Type="http://schemas.openxmlformats.org/officeDocument/2006/relationships/image" Target="../media/image331.png"/><Relationship Id="rId52" Type="http://schemas.openxmlformats.org/officeDocument/2006/relationships/image" Target="../media/image332.png"/><Relationship Id="rId53" Type="http://schemas.openxmlformats.org/officeDocument/2006/relationships/image" Target="../media/image333.png"/><Relationship Id="rId54" Type="http://schemas.openxmlformats.org/officeDocument/2006/relationships/image" Target="../media/image334.png"/><Relationship Id="rId55" Type="http://schemas.openxmlformats.org/officeDocument/2006/relationships/image" Target="../media/image335.png"/><Relationship Id="rId56" Type="http://schemas.openxmlformats.org/officeDocument/2006/relationships/image" Target="../media/image336.png"/><Relationship Id="rId57" Type="http://schemas.openxmlformats.org/officeDocument/2006/relationships/image" Target="../media/image337.png"/><Relationship Id="rId58" Type="http://schemas.openxmlformats.org/officeDocument/2006/relationships/image" Target="../media/image338.png"/><Relationship Id="rId59" Type="http://schemas.openxmlformats.org/officeDocument/2006/relationships/image" Target="../media/image339.png"/><Relationship Id="rId60" Type="http://schemas.openxmlformats.org/officeDocument/2006/relationships/image" Target="../media/image340.png"/><Relationship Id="rId61" Type="http://schemas.openxmlformats.org/officeDocument/2006/relationships/image" Target="../media/image341.png"/><Relationship Id="rId62" Type="http://schemas.openxmlformats.org/officeDocument/2006/relationships/image" Target="../media/image342.png"/><Relationship Id="rId63" Type="http://schemas.openxmlformats.org/officeDocument/2006/relationships/image" Target="../media/image343.png"/><Relationship Id="rId64" Type="http://schemas.openxmlformats.org/officeDocument/2006/relationships/image" Target="../media/image344.png"/><Relationship Id="rId65" Type="http://schemas.openxmlformats.org/officeDocument/2006/relationships/image" Target="../media/image345.png"/></Relationships>
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46.png"/><Relationship Id="rId3" Type="http://schemas.openxmlformats.org/officeDocument/2006/relationships/image" Target="../media/image347.png"/><Relationship Id="rId4" Type="http://schemas.openxmlformats.org/officeDocument/2006/relationships/image" Target="../media/image348.png"/><Relationship Id="rId5" Type="http://schemas.openxmlformats.org/officeDocument/2006/relationships/image" Target="../media/image349.png"/><Relationship Id="rId6" Type="http://schemas.openxmlformats.org/officeDocument/2006/relationships/image" Target="../media/image350.png"/><Relationship Id="rId7" Type="http://schemas.openxmlformats.org/officeDocument/2006/relationships/image" Target="../media/image351.png"/><Relationship Id="rId8" Type="http://schemas.openxmlformats.org/officeDocument/2006/relationships/image" Target="../media/image352.png"/><Relationship Id="rId9" Type="http://schemas.openxmlformats.org/officeDocument/2006/relationships/image" Target="../media/image353.png"/><Relationship Id="rId10" Type="http://schemas.openxmlformats.org/officeDocument/2006/relationships/image" Target="../media/image354.png"/><Relationship Id="rId11" Type="http://schemas.openxmlformats.org/officeDocument/2006/relationships/image" Target="../media/image355.png"/><Relationship Id="rId12" Type="http://schemas.openxmlformats.org/officeDocument/2006/relationships/image" Target="../media/image356.png"/><Relationship Id="rId13" Type="http://schemas.openxmlformats.org/officeDocument/2006/relationships/image" Target="../media/image357.png"/><Relationship Id="rId14" Type="http://schemas.openxmlformats.org/officeDocument/2006/relationships/image" Target="../media/image358.png"/><Relationship Id="rId15" Type="http://schemas.openxmlformats.org/officeDocument/2006/relationships/image" Target="../media/image359.png"/><Relationship Id="rId16" Type="http://schemas.openxmlformats.org/officeDocument/2006/relationships/image" Target="../media/image360.png"/><Relationship Id="rId17" Type="http://schemas.openxmlformats.org/officeDocument/2006/relationships/image" Target="../media/image361.png"/><Relationship Id="rId18" Type="http://schemas.openxmlformats.org/officeDocument/2006/relationships/image" Target="../media/image362.png"/><Relationship Id="rId19" Type="http://schemas.openxmlformats.org/officeDocument/2006/relationships/image" Target="../media/image363.png"/><Relationship Id="rId20" Type="http://schemas.openxmlformats.org/officeDocument/2006/relationships/image" Target="../media/image364.png"/><Relationship Id="rId21" Type="http://schemas.openxmlformats.org/officeDocument/2006/relationships/image" Target="../media/image365.png"/><Relationship Id="rId22" Type="http://schemas.openxmlformats.org/officeDocument/2006/relationships/image" Target="../media/image366.png"/><Relationship Id="rId23" Type="http://schemas.openxmlformats.org/officeDocument/2006/relationships/image" Target="../media/image367.png"/><Relationship Id="rId24" Type="http://schemas.openxmlformats.org/officeDocument/2006/relationships/image" Target="../media/image368.png"/><Relationship Id="rId25" Type="http://schemas.openxmlformats.org/officeDocument/2006/relationships/image" Target="../media/image369.png"/><Relationship Id="rId26" Type="http://schemas.openxmlformats.org/officeDocument/2006/relationships/image" Target="../media/image370.png"/><Relationship Id="rId27" Type="http://schemas.openxmlformats.org/officeDocument/2006/relationships/image" Target="../media/image371.png"/><Relationship Id="rId28" Type="http://schemas.openxmlformats.org/officeDocument/2006/relationships/image" Target="../media/image372.png"/><Relationship Id="rId29" Type="http://schemas.openxmlformats.org/officeDocument/2006/relationships/image" Target="../media/image373.png"/><Relationship Id="rId30" Type="http://schemas.openxmlformats.org/officeDocument/2006/relationships/image" Target="../media/image374.png"/><Relationship Id="rId31" Type="http://schemas.openxmlformats.org/officeDocument/2006/relationships/image" Target="../media/image375.png"/><Relationship Id="rId32" Type="http://schemas.openxmlformats.org/officeDocument/2006/relationships/image" Target="../media/image376.png"/><Relationship Id="rId33" Type="http://schemas.openxmlformats.org/officeDocument/2006/relationships/image" Target="../media/image377.png"/><Relationship Id="rId34" Type="http://schemas.openxmlformats.org/officeDocument/2006/relationships/image" Target="../media/image378.png"/><Relationship Id="rId35" Type="http://schemas.openxmlformats.org/officeDocument/2006/relationships/image" Target="../media/image379.png"/><Relationship Id="rId36" Type="http://schemas.openxmlformats.org/officeDocument/2006/relationships/image" Target="../media/image380.png"/><Relationship Id="rId37" Type="http://schemas.openxmlformats.org/officeDocument/2006/relationships/image" Target="../media/image381.png"/><Relationship Id="rId38" Type="http://schemas.openxmlformats.org/officeDocument/2006/relationships/image" Target="../media/image382.png"/><Relationship Id="rId39" Type="http://schemas.openxmlformats.org/officeDocument/2006/relationships/image" Target="../media/image383.png"/><Relationship Id="rId40" Type="http://schemas.openxmlformats.org/officeDocument/2006/relationships/image" Target="../media/image384.png"/><Relationship Id="rId41" Type="http://schemas.openxmlformats.org/officeDocument/2006/relationships/image" Target="../media/image385.png"/></Relationships>
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86.png"/><Relationship Id="rId3" Type="http://schemas.openxmlformats.org/officeDocument/2006/relationships/image" Target="../media/image387.png"/><Relationship Id="rId4" Type="http://schemas.openxmlformats.org/officeDocument/2006/relationships/image" Target="../media/image388.png"/><Relationship Id="rId5" Type="http://schemas.openxmlformats.org/officeDocument/2006/relationships/image" Target="../media/image389.png"/><Relationship Id="rId6" Type="http://schemas.openxmlformats.org/officeDocument/2006/relationships/image" Target="../media/image390.png"/><Relationship Id="rId7" Type="http://schemas.openxmlformats.org/officeDocument/2006/relationships/image" Target="../media/image391.png"/><Relationship Id="rId8" Type="http://schemas.openxmlformats.org/officeDocument/2006/relationships/image" Target="../media/image392.png"/><Relationship Id="rId9" Type="http://schemas.openxmlformats.org/officeDocument/2006/relationships/image" Target="../media/image393.png"/><Relationship Id="rId10" Type="http://schemas.openxmlformats.org/officeDocument/2006/relationships/image" Target="../media/image394.png"/></Relationships>
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95.png"/><Relationship Id="rId3" Type="http://schemas.openxmlformats.org/officeDocument/2006/relationships/image" Target="../media/image396.png"/><Relationship Id="rId4" Type="http://schemas.openxmlformats.org/officeDocument/2006/relationships/image" Target="../media/image397.png"/><Relationship Id="rId5" Type="http://schemas.openxmlformats.org/officeDocument/2006/relationships/image" Target="../media/image398.png"/><Relationship Id="rId6" Type="http://schemas.openxmlformats.org/officeDocument/2006/relationships/image" Target="../media/image399.png"/></Relationships>
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00.png"/><Relationship Id="rId3" Type="http://schemas.openxmlformats.org/officeDocument/2006/relationships/image" Target="../media/image401.png"/><Relationship Id="rId4" Type="http://schemas.openxmlformats.org/officeDocument/2006/relationships/image" Target="../media/image402.png"/><Relationship Id="rId5" Type="http://schemas.openxmlformats.org/officeDocument/2006/relationships/image" Target="../media/image403.png"/><Relationship Id="rId6" Type="http://schemas.openxmlformats.org/officeDocument/2006/relationships/image" Target="../media/image404.png"/><Relationship Id="rId7" Type="http://schemas.openxmlformats.org/officeDocument/2006/relationships/image" Target="../media/image405.png"/><Relationship Id="rId8" Type="http://schemas.openxmlformats.org/officeDocument/2006/relationships/image" Target="../media/image406.png"/><Relationship Id="rId9" Type="http://schemas.openxmlformats.org/officeDocument/2006/relationships/image" Target="../media/image407.png"/><Relationship Id="rId10" Type="http://schemas.openxmlformats.org/officeDocument/2006/relationships/image" Target="../media/image408.png"/><Relationship Id="rId11" Type="http://schemas.openxmlformats.org/officeDocument/2006/relationships/image" Target="../media/image409.png"/></Relationships>
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10.png"/><Relationship Id="rId3" Type="http://schemas.openxmlformats.org/officeDocument/2006/relationships/image" Target="../media/image411.png"/><Relationship Id="rId4" Type="http://schemas.openxmlformats.org/officeDocument/2006/relationships/image" Target="../media/image412.png"/><Relationship Id="rId5" Type="http://schemas.openxmlformats.org/officeDocument/2006/relationships/image" Target="../media/image413.png"/><Relationship Id="rId6" Type="http://schemas.openxmlformats.org/officeDocument/2006/relationships/image" Target="../media/image414.png"/><Relationship Id="rId7" Type="http://schemas.openxmlformats.org/officeDocument/2006/relationships/image" Target="../media/image415.png"/><Relationship Id="rId8" Type="http://schemas.openxmlformats.org/officeDocument/2006/relationships/image" Target="../media/image416.png"/><Relationship Id="rId9" Type="http://schemas.openxmlformats.org/officeDocument/2006/relationships/image" Target="../media/image417.png"/></Relationships>
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18.png"/><Relationship Id="rId3" Type="http://schemas.openxmlformats.org/officeDocument/2006/relationships/image" Target="../media/image419.png"/></Relationships>
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20.png"/><Relationship Id="rId3" Type="http://schemas.openxmlformats.org/officeDocument/2006/relationships/image" Target="../media/image421.png"/><Relationship Id="rId4" Type="http://schemas.openxmlformats.org/officeDocument/2006/relationships/image" Target="../media/image422.png"/><Relationship Id="rId5" Type="http://schemas.openxmlformats.org/officeDocument/2006/relationships/image" Target="../media/image423.png"/><Relationship Id="rId6" Type="http://schemas.openxmlformats.org/officeDocument/2006/relationships/image" Target="../media/image424.png"/><Relationship Id="rId7" Type="http://schemas.openxmlformats.org/officeDocument/2006/relationships/image" Target="../media/image425.png"/><Relationship Id="rId8" Type="http://schemas.openxmlformats.org/officeDocument/2006/relationships/image" Target="../media/image426.png"/><Relationship Id="rId9" Type="http://schemas.openxmlformats.org/officeDocument/2006/relationships/image" Target="../media/image427.png"/><Relationship Id="rId10" Type="http://schemas.openxmlformats.org/officeDocument/2006/relationships/image" Target="../media/image428.png"/><Relationship Id="rId11" Type="http://schemas.openxmlformats.org/officeDocument/2006/relationships/image" Target="../media/image429.png"/><Relationship Id="rId12" Type="http://schemas.openxmlformats.org/officeDocument/2006/relationships/image" Target="../media/image430.png"/><Relationship Id="rId13" Type="http://schemas.openxmlformats.org/officeDocument/2006/relationships/image" Target="../media/image431.png"/><Relationship Id="rId14" Type="http://schemas.openxmlformats.org/officeDocument/2006/relationships/image" Target="../media/image432.png"/><Relationship Id="rId15" Type="http://schemas.openxmlformats.org/officeDocument/2006/relationships/image" Target="../media/image433.png"/><Relationship Id="rId16" Type="http://schemas.openxmlformats.org/officeDocument/2006/relationships/image" Target="../media/image434.png"/><Relationship Id="rId17" Type="http://schemas.openxmlformats.org/officeDocument/2006/relationships/image" Target="../media/image435.png"/><Relationship Id="rId18" Type="http://schemas.openxmlformats.org/officeDocument/2006/relationships/image" Target="../media/image436.png"/><Relationship Id="rId19" Type="http://schemas.openxmlformats.org/officeDocument/2006/relationships/image" Target="../media/image437.png"/><Relationship Id="rId20" Type="http://schemas.openxmlformats.org/officeDocument/2006/relationships/image" Target="../media/image438.png"/><Relationship Id="rId21" Type="http://schemas.openxmlformats.org/officeDocument/2006/relationships/image" Target="../media/image439.png"/><Relationship Id="rId22" Type="http://schemas.openxmlformats.org/officeDocument/2006/relationships/image" Target="../media/image440.png"/><Relationship Id="rId23" Type="http://schemas.openxmlformats.org/officeDocument/2006/relationships/image" Target="../media/image441.png"/><Relationship Id="rId24" Type="http://schemas.openxmlformats.org/officeDocument/2006/relationships/image" Target="../media/image442.png"/></Relationships>
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43.png"/><Relationship Id="rId3" Type="http://schemas.openxmlformats.org/officeDocument/2006/relationships/image" Target="../media/image444.png"/><Relationship Id="rId4" Type="http://schemas.openxmlformats.org/officeDocument/2006/relationships/image" Target="../media/image445.png"/><Relationship Id="rId5" Type="http://schemas.openxmlformats.org/officeDocument/2006/relationships/image" Target="../media/image446.png"/><Relationship Id="rId6" Type="http://schemas.openxmlformats.org/officeDocument/2006/relationships/image" Target="../media/image447.png"/><Relationship Id="rId7" Type="http://schemas.openxmlformats.org/officeDocument/2006/relationships/image" Target="../media/image448.png"/><Relationship Id="rId8" Type="http://schemas.openxmlformats.org/officeDocument/2006/relationships/image" Target="../media/image449.png"/><Relationship Id="rId9" Type="http://schemas.openxmlformats.org/officeDocument/2006/relationships/image" Target="../media/image450.png"/><Relationship Id="rId10" Type="http://schemas.openxmlformats.org/officeDocument/2006/relationships/image" Target="../media/image451.png"/></Relationships>
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52.png"/><Relationship Id="rId3" Type="http://schemas.openxmlformats.org/officeDocument/2006/relationships/image" Target="../media/image453.png"/><Relationship Id="rId4" Type="http://schemas.openxmlformats.org/officeDocument/2006/relationships/image" Target="../media/image454.png"/><Relationship Id="rId5" Type="http://schemas.openxmlformats.org/officeDocument/2006/relationships/image" Target="../media/image455.png"/><Relationship Id="rId6" Type="http://schemas.openxmlformats.org/officeDocument/2006/relationships/image" Target="../media/image456.png"/><Relationship Id="rId7" Type="http://schemas.openxmlformats.org/officeDocument/2006/relationships/image" Target="../media/image457.png"/></Relationships>
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58.png"/><Relationship Id="rId3" Type="http://schemas.openxmlformats.org/officeDocument/2006/relationships/image" Target="../media/image459.png"/><Relationship Id="rId4" Type="http://schemas.openxmlformats.org/officeDocument/2006/relationships/image" Target="../media/image460.png"/><Relationship Id="rId5" Type="http://schemas.openxmlformats.org/officeDocument/2006/relationships/image" Target="../media/image461.png"/><Relationship Id="rId6" Type="http://schemas.openxmlformats.org/officeDocument/2006/relationships/image" Target="../media/image462.png"/><Relationship Id="rId7" Type="http://schemas.openxmlformats.org/officeDocument/2006/relationships/image" Target="../media/image463.png"/><Relationship Id="rId8" Type="http://schemas.openxmlformats.org/officeDocument/2006/relationships/image" Target="../media/image464.png"/><Relationship Id="rId9" Type="http://schemas.openxmlformats.org/officeDocument/2006/relationships/image" Target="../media/image465.png"/><Relationship Id="rId10" Type="http://schemas.openxmlformats.org/officeDocument/2006/relationships/image" Target="../media/image466.png"/><Relationship Id="rId11" Type="http://schemas.openxmlformats.org/officeDocument/2006/relationships/image" Target="../media/image467.png"/><Relationship Id="rId12" Type="http://schemas.openxmlformats.org/officeDocument/2006/relationships/image" Target="../media/image468.png"/><Relationship Id="rId13" Type="http://schemas.openxmlformats.org/officeDocument/2006/relationships/image" Target="../media/image469.png"/></Relationships>
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70.png"/></Relationships>
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71.png"/><Relationship Id="rId3" Type="http://schemas.openxmlformats.org/officeDocument/2006/relationships/image" Target="../media/image472.png"/><Relationship Id="rId4" Type="http://schemas.openxmlformats.org/officeDocument/2006/relationships/image" Target="../media/image473.png"/><Relationship Id="rId5" Type="http://schemas.openxmlformats.org/officeDocument/2006/relationships/image" Target="../media/image474.png"/><Relationship Id="rId6" Type="http://schemas.openxmlformats.org/officeDocument/2006/relationships/image" Target="../media/image475.png"/><Relationship Id="rId7" Type="http://schemas.openxmlformats.org/officeDocument/2006/relationships/image" Target="../media/image476.png"/><Relationship Id="rId8" Type="http://schemas.openxmlformats.org/officeDocument/2006/relationships/image" Target="../media/image477.png"/><Relationship Id="rId9" Type="http://schemas.openxmlformats.org/officeDocument/2006/relationships/image" Target="../media/image478.png"/><Relationship Id="rId10" Type="http://schemas.openxmlformats.org/officeDocument/2006/relationships/image" Target="../media/image479.png"/><Relationship Id="rId11" Type="http://schemas.openxmlformats.org/officeDocument/2006/relationships/image" Target="../media/image480.png"/></Relationships>
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81.png"/><Relationship Id="rId3" Type="http://schemas.openxmlformats.org/officeDocument/2006/relationships/image" Target="../media/image482.png"/><Relationship Id="rId4" Type="http://schemas.openxmlformats.org/officeDocument/2006/relationships/image" Target="../media/image483.png"/></Relationships>
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84.png"/></Relationships>
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85.png"/><Relationship Id="rId3" Type="http://schemas.openxmlformats.org/officeDocument/2006/relationships/image" Target="../media/image486.png"/><Relationship Id="rId4" Type="http://schemas.openxmlformats.org/officeDocument/2006/relationships/image" Target="../media/image487.png"/><Relationship Id="rId5" Type="http://schemas.openxmlformats.org/officeDocument/2006/relationships/image" Target="../media/image488.png"/><Relationship Id="rId6" Type="http://schemas.openxmlformats.org/officeDocument/2006/relationships/image" Target="../media/image489.png"/><Relationship Id="rId7" Type="http://schemas.openxmlformats.org/officeDocument/2006/relationships/image" Target="../media/image490.png"/><Relationship Id="rId8" Type="http://schemas.openxmlformats.org/officeDocument/2006/relationships/image" Target="../media/image491.png"/><Relationship Id="rId9" Type="http://schemas.openxmlformats.org/officeDocument/2006/relationships/image" Target="../media/image492.png"/><Relationship Id="rId10" Type="http://schemas.openxmlformats.org/officeDocument/2006/relationships/image" Target="../media/image493.png"/><Relationship Id="rId11" Type="http://schemas.openxmlformats.org/officeDocument/2006/relationships/image" Target="../media/image494.png"/><Relationship Id="rId12" Type="http://schemas.openxmlformats.org/officeDocument/2006/relationships/image" Target="../media/image495.png"/><Relationship Id="rId13" Type="http://schemas.openxmlformats.org/officeDocument/2006/relationships/image" Target="../media/image496.png"/><Relationship Id="rId14" Type="http://schemas.openxmlformats.org/officeDocument/2006/relationships/image" Target="../media/image497.png"/><Relationship Id="rId15" Type="http://schemas.openxmlformats.org/officeDocument/2006/relationships/image" Target="../media/image498.png"/><Relationship Id="rId16" Type="http://schemas.openxmlformats.org/officeDocument/2006/relationships/image" Target="../media/image499.png"/></Relationships>
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00.png"/><Relationship Id="rId3" Type="http://schemas.openxmlformats.org/officeDocument/2006/relationships/image" Target="../media/image501.png"/><Relationship Id="rId4" Type="http://schemas.openxmlformats.org/officeDocument/2006/relationships/image" Target="../media/image502.png"/><Relationship Id="rId5" Type="http://schemas.openxmlformats.org/officeDocument/2006/relationships/image" Target="../media/image503.png"/><Relationship Id="rId6" Type="http://schemas.openxmlformats.org/officeDocument/2006/relationships/image" Target="../media/image504.png"/><Relationship Id="rId7" Type="http://schemas.openxmlformats.org/officeDocument/2006/relationships/image" Target="../media/image505.png"/><Relationship Id="rId8" Type="http://schemas.openxmlformats.org/officeDocument/2006/relationships/image" Target="../media/image506.png"/><Relationship Id="rId9" Type="http://schemas.openxmlformats.org/officeDocument/2006/relationships/image" Target="../media/image507.png"/></Relationships>
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08.png"/><Relationship Id="rId3" Type="http://schemas.openxmlformats.org/officeDocument/2006/relationships/image" Target="../media/image509.png"/><Relationship Id="rId4" Type="http://schemas.openxmlformats.org/officeDocument/2006/relationships/image" Target="../media/image510.png"/><Relationship Id="rId5" Type="http://schemas.openxmlformats.org/officeDocument/2006/relationships/image" Target="../media/image511.png"/><Relationship Id="rId6" Type="http://schemas.openxmlformats.org/officeDocument/2006/relationships/image" Target="../media/image512.png"/><Relationship Id="rId7" Type="http://schemas.openxmlformats.org/officeDocument/2006/relationships/image" Target="../media/image513.png"/><Relationship Id="rId8" Type="http://schemas.openxmlformats.org/officeDocument/2006/relationships/image" Target="../media/image514.png"/><Relationship Id="rId9" Type="http://schemas.openxmlformats.org/officeDocument/2006/relationships/image" Target="../media/image515.png"/><Relationship Id="rId10" Type="http://schemas.openxmlformats.org/officeDocument/2006/relationships/image" Target="../media/image516.png"/><Relationship Id="rId11" Type="http://schemas.openxmlformats.org/officeDocument/2006/relationships/image" Target="../media/image517.png"/><Relationship Id="rId12" Type="http://schemas.openxmlformats.org/officeDocument/2006/relationships/image" Target="../media/image518.png"/><Relationship Id="rId13" Type="http://schemas.openxmlformats.org/officeDocument/2006/relationships/image" Target="../media/image519.png"/><Relationship Id="rId14" Type="http://schemas.openxmlformats.org/officeDocument/2006/relationships/image" Target="../media/image520.png"/></Relationships>
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21.png"/><Relationship Id="rId3" Type="http://schemas.openxmlformats.org/officeDocument/2006/relationships/image" Target="../media/image522.png"/></Relationships>
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23.png"/><Relationship Id="rId3" Type="http://schemas.openxmlformats.org/officeDocument/2006/relationships/image" Target="../media/image524.png"/><Relationship Id="rId4" Type="http://schemas.openxmlformats.org/officeDocument/2006/relationships/image" Target="../media/image525.png"/><Relationship Id="rId5" Type="http://schemas.openxmlformats.org/officeDocument/2006/relationships/image" Target="../media/image526.png"/><Relationship Id="rId6" Type="http://schemas.openxmlformats.org/officeDocument/2006/relationships/image" Target="../media/image527.png"/><Relationship Id="rId7" Type="http://schemas.openxmlformats.org/officeDocument/2006/relationships/image" Target="../media/image528.png"/><Relationship Id="rId8" Type="http://schemas.openxmlformats.org/officeDocument/2006/relationships/image" Target="../media/image529.png"/><Relationship Id="rId9" Type="http://schemas.openxmlformats.org/officeDocument/2006/relationships/image" Target="../media/image530.png"/><Relationship Id="rId10" Type="http://schemas.openxmlformats.org/officeDocument/2006/relationships/image" Target="../media/image531.png"/><Relationship Id="rId11" Type="http://schemas.openxmlformats.org/officeDocument/2006/relationships/image" Target="../media/image532.png"/><Relationship Id="rId12" Type="http://schemas.openxmlformats.org/officeDocument/2006/relationships/image" Target="../media/image533.png"/><Relationship Id="rId13" Type="http://schemas.openxmlformats.org/officeDocument/2006/relationships/image" Target="../media/image534.png"/><Relationship Id="rId14" Type="http://schemas.openxmlformats.org/officeDocument/2006/relationships/image" Target="../media/image535.png"/><Relationship Id="rId15" Type="http://schemas.openxmlformats.org/officeDocument/2006/relationships/image" Target="../media/image536.png"/></Relationships>
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37.png"/><Relationship Id="rId3" Type="http://schemas.openxmlformats.org/officeDocument/2006/relationships/image" Target="../media/image538.png"/><Relationship Id="rId4" Type="http://schemas.openxmlformats.org/officeDocument/2006/relationships/image" Target="../media/image539.png"/></Relationships>
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40.png"/><Relationship Id="rId3" Type="http://schemas.openxmlformats.org/officeDocument/2006/relationships/image" Target="../media/image541.png"/></Relationships>
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42.png"/><Relationship Id="rId3" Type="http://schemas.openxmlformats.org/officeDocument/2006/relationships/image" Target="../media/image543.png"/></Relationships>
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43466" y="3610046"/>
            <a:ext cx="3742690" cy="159385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4"/>
              </a:spcBef>
            </a:pPr>
            <a:r>
              <a:rPr dirty="0" sz="2050" spc="5">
                <a:latin typeface="Times New Roman"/>
                <a:cs typeface="Times New Roman"/>
              </a:rPr>
              <a:t>Design</a:t>
            </a:r>
            <a:r>
              <a:rPr dirty="0" sz="2050" spc="-15">
                <a:latin typeface="Times New Roman"/>
                <a:cs typeface="Times New Roman"/>
              </a:rPr>
              <a:t> </a:t>
            </a:r>
            <a:r>
              <a:rPr dirty="0" sz="2050" spc="5">
                <a:latin typeface="Times New Roman"/>
                <a:cs typeface="Times New Roman"/>
              </a:rPr>
              <a:t>and</a:t>
            </a:r>
            <a:r>
              <a:rPr dirty="0" sz="2050" spc="-10">
                <a:latin typeface="Times New Roman"/>
                <a:cs typeface="Times New Roman"/>
              </a:rPr>
              <a:t> </a:t>
            </a:r>
            <a:r>
              <a:rPr dirty="0" sz="2050">
                <a:latin typeface="Times New Roman"/>
                <a:cs typeface="Times New Roman"/>
              </a:rPr>
              <a:t>Analysis</a:t>
            </a:r>
            <a:r>
              <a:rPr dirty="0" sz="2050" spc="-10">
                <a:latin typeface="Times New Roman"/>
                <a:cs typeface="Times New Roman"/>
              </a:rPr>
              <a:t> </a:t>
            </a:r>
            <a:r>
              <a:rPr dirty="0" sz="2050" spc="5">
                <a:latin typeface="Times New Roman"/>
                <a:cs typeface="Times New Roman"/>
              </a:rPr>
              <a:t>of</a:t>
            </a:r>
            <a:r>
              <a:rPr dirty="0" sz="2050" spc="-10">
                <a:latin typeface="Times New Roman"/>
                <a:cs typeface="Times New Roman"/>
              </a:rPr>
              <a:t> </a:t>
            </a:r>
            <a:r>
              <a:rPr dirty="0" sz="2050" spc="5">
                <a:latin typeface="Times New Roman"/>
                <a:cs typeface="Times New Roman"/>
              </a:rPr>
              <a:t>Algorithms</a:t>
            </a:r>
            <a:endParaRPr sz="2050">
              <a:latin typeface="Times New Roman"/>
              <a:cs typeface="Times New Roman"/>
            </a:endParaRPr>
          </a:p>
          <a:p>
            <a:pPr algn="ctr" marL="1377315" marR="1370330">
              <a:lnSpc>
                <a:spcPct val="244099"/>
              </a:lnSpc>
              <a:spcBef>
                <a:spcPts val="1664"/>
              </a:spcBef>
            </a:pPr>
            <a:r>
              <a:rPr dirty="0" sz="1400" spc="10">
                <a:latin typeface="Times New Roman"/>
                <a:cs typeface="Times New Roman"/>
              </a:rPr>
              <a:t>Sohail</a:t>
            </a:r>
            <a:r>
              <a:rPr dirty="0" sz="1400" spc="-65">
                <a:latin typeface="Times New Roman"/>
                <a:cs typeface="Times New Roman"/>
              </a:rPr>
              <a:t> </a:t>
            </a:r>
            <a:r>
              <a:rPr dirty="0" sz="1400" spc="15">
                <a:latin typeface="Times New Roman"/>
                <a:cs typeface="Times New Roman"/>
              </a:rPr>
              <a:t>Aslam </a:t>
            </a:r>
            <a:r>
              <a:rPr dirty="0" sz="1400" spc="-335">
                <a:latin typeface="Times New Roman"/>
                <a:cs typeface="Times New Roman"/>
              </a:rPr>
              <a:t> </a:t>
            </a:r>
            <a:r>
              <a:rPr dirty="0" sz="1400" spc="10">
                <a:latin typeface="Times New Roman"/>
                <a:cs typeface="Times New Roman"/>
              </a:rPr>
              <a:t>January</a:t>
            </a:r>
            <a:r>
              <a:rPr dirty="0" sz="1400" spc="-40">
                <a:latin typeface="Times New Roman"/>
                <a:cs typeface="Times New Roman"/>
              </a:rPr>
              <a:t> </a:t>
            </a:r>
            <a:r>
              <a:rPr dirty="0" sz="1400" spc="15">
                <a:latin typeface="Times New Roman"/>
                <a:cs typeface="Times New Roman"/>
              </a:rPr>
              <a:t>2004</a:t>
            </a:r>
            <a:endParaRPr sz="14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699" y="1840994"/>
            <a:ext cx="1232535" cy="403225"/>
          </a:xfrm>
          <a:prstGeom prst="rect"/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Cont</a:t>
            </a: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e</a:t>
            </a:r>
            <a:r>
              <a:rPr dirty="0" sz="2450" spc="5" b="1" i="0">
                <a:solidFill>
                  <a:srgbClr val="000000"/>
                </a:solidFill>
                <a:latin typeface="Times New Roman"/>
                <a:cs typeface="Times New Roman"/>
              </a:rPr>
              <a:t>nt</a:t>
            </a: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s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1699" y="2923162"/>
            <a:ext cx="10775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029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1	</a:t>
            </a:r>
            <a:r>
              <a:rPr dirty="0" sz="1200" spc="-10" b="1">
                <a:latin typeface="Times New Roman"/>
                <a:cs typeface="Times New Roman"/>
              </a:rPr>
              <a:t>Introduction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29499" y="5367125"/>
            <a:ext cx="5909310" cy="779780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640"/>
              </a:spcBef>
            </a:pPr>
            <a:r>
              <a:rPr dirty="0" sz="1200" spc="-10">
                <a:latin typeface="Times New Roman"/>
                <a:cs typeface="Times New Roman"/>
              </a:rPr>
              <a:t>1.10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Analysis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r" marL="12700" marR="5080" indent="348615">
              <a:lnSpc>
                <a:spcPct val="137400"/>
              </a:lnSpc>
              <a:tabLst>
                <a:tab pos="3807460" algn="l"/>
              </a:tabLst>
            </a:pPr>
            <a:r>
              <a:rPr dirty="0" sz="1200" spc="-10">
                <a:latin typeface="Times New Roman"/>
                <a:cs typeface="Times New Roman"/>
              </a:rPr>
              <a:t>1.10.1</a:t>
            </a:r>
            <a:r>
              <a:rPr dirty="0" sz="1200" spc="5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Analysis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brute-force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	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1.11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Analysis: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Harder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78685" y="6121275"/>
            <a:ext cx="5560060" cy="103060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40"/>
              </a:spcBef>
              <a:tabLst>
                <a:tab pos="2547620" algn="l"/>
              </a:tabLst>
            </a:pPr>
            <a:r>
              <a:rPr dirty="0" sz="1200" spc="-10">
                <a:latin typeface="Times New Roman"/>
                <a:cs typeface="Times New Roman"/>
              </a:rPr>
              <a:t>1.11.1</a:t>
            </a:r>
            <a:r>
              <a:rPr dirty="0" sz="1200" spc="5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2-dimension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Maxima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Revisited	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dirty="0" sz="1200" spc="-10">
                <a:latin typeface="Times New Roman"/>
                <a:cs typeface="Times New Roman"/>
              </a:rPr>
              <a:t>1.11.2</a:t>
            </a:r>
            <a:r>
              <a:rPr dirty="0" sz="1200" spc="5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Plane-sweep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lvl="2" marL="498475" indent="-485775">
              <a:lnSpc>
                <a:spcPct val="100000"/>
              </a:lnSpc>
              <a:spcBef>
                <a:spcPts val="540"/>
              </a:spcBef>
              <a:buAutoNum type="arabicPeriod" startAt="3"/>
              <a:tabLst>
                <a:tab pos="498475" algn="l"/>
              </a:tabLst>
            </a:pPr>
            <a:r>
              <a:rPr dirty="0" sz="1200" spc="-10">
                <a:latin typeface="Times New Roman"/>
                <a:cs typeface="Times New Roman"/>
              </a:rPr>
              <a:t>Analysis</a:t>
            </a:r>
            <a:r>
              <a:rPr dirty="0" sz="1200" spc="-5">
                <a:latin typeface="Times New Roman"/>
                <a:cs typeface="Times New Roman"/>
              </a:rPr>
              <a:t> of Plane-sweep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lvl="2" marL="498475" indent="-485775">
              <a:lnSpc>
                <a:spcPct val="100000"/>
              </a:lnSpc>
              <a:spcBef>
                <a:spcPts val="540"/>
              </a:spcBef>
              <a:buAutoNum type="arabicPeriod" startAt="3"/>
              <a:tabLst>
                <a:tab pos="498475" algn="l"/>
                <a:tab pos="4027804" algn="l"/>
              </a:tabLst>
            </a:pPr>
            <a:r>
              <a:rPr dirty="0" sz="1200" spc="-10">
                <a:latin typeface="Times New Roman"/>
                <a:cs typeface="Times New Roman"/>
              </a:rPr>
              <a:t>Comparison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Brute-force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Plane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sweep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	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29499" y="2854013"/>
            <a:ext cx="6198870" cy="429831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640"/>
              </a:spcBef>
            </a:pPr>
            <a:r>
              <a:rPr dirty="0" sz="1200" spc="-5" b="1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  <a:tabLst>
                <a:tab pos="348615" algn="l"/>
                <a:tab pos="6096635" algn="l"/>
              </a:tabLst>
            </a:pPr>
            <a:r>
              <a:rPr dirty="0" sz="1200" spc="-10">
                <a:latin typeface="Times New Roman"/>
                <a:cs typeface="Times New Roman"/>
              </a:rPr>
              <a:t>1.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Origi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w</a:t>
            </a:r>
            <a:r>
              <a:rPr dirty="0" sz="1200" spc="-10">
                <a:latin typeface="Times New Roman"/>
                <a:cs typeface="Times New Roman"/>
              </a:rPr>
              <a:t>ord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</a:t>
            </a:r>
            <a:r>
              <a:rPr dirty="0" sz="1200" spc="-10" i="1">
                <a:latin typeface="Times New Roman"/>
                <a:cs typeface="Times New Roman"/>
              </a:rPr>
              <a:t>lgo</a:t>
            </a:r>
            <a:r>
              <a:rPr dirty="0" sz="1200" spc="-5" i="1">
                <a:latin typeface="Times New Roman"/>
                <a:cs typeface="Times New Roman"/>
              </a:rPr>
              <a:t>r</a:t>
            </a:r>
            <a:r>
              <a:rPr dirty="0" sz="1200" spc="-10" i="1">
                <a:latin typeface="Times New Roman"/>
                <a:cs typeface="Times New Roman"/>
              </a:rPr>
              <a:t>ith</a:t>
            </a:r>
            <a:r>
              <a:rPr dirty="0" sz="1200" spc="-5" i="1">
                <a:latin typeface="Times New Roman"/>
                <a:cs typeface="Times New Roman"/>
              </a:rPr>
              <a:t>m</a:t>
            </a:r>
            <a:r>
              <a:rPr dirty="0" sz="1200" i="1">
                <a:latin typeface="Times New Roman"/>
                <a:cs typeface="Times New Roman"/>
              </a:rPr>
              <a:t>  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  <a:tabLst>
                <a:tab pos="348615" algn="l"/>
                <a:tab pos="6096635" algn="l"/>
              </a:tabLst>
            </a:pPr>
            <a:r>
              <a:rPr dirty="0" sz="1200" spc="-10">
                <a:latin typeface="Times New Roman"/>
                <a:cs typeface="Times New Roman"/>
              </a:rPr>
              <a:t>1.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Inform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efi</a:t>
            </a:r>
            <a:r>
              <a:rPr dirty="0" sz="1200" spc="-10">
                <a:latin typeface="Times New Roman"/>
                <a:cs typeface="Times New Roman"/>
              </a:rPr>
              <a:t>nitio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  <a:tabLst>
                <a:tab pos="348615" algn="l"/>
                <a:tab pos="2087245" algn="l"/>
                <a:tab pos="6096635" algn="l"/>
              </a:tabLst>
            </a:pPr>
            <a:r>
              <a:rPr dirty="0" sz="1200" spc="-10">
                <a:latin typeface="Times New Roman"/>
                <a:cs typeface="Times New Roman"/>
              </a:rPr>
              <a:t>1.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-5">
                <a:latin typeface="Times New Roman"/>
                <a:cs typeface="Times New Roman"/>
              </a:rPr>
              <a:t>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</a:t>
            </a:r>
            <a:r>
              <a:rPr dirty="0" sz="1200" spc="-10">
                <a:latin typeface="Times New Roman"/>
                <a:cs typeface="Times New Roman"/>
              </a:rPr>
              <a:t>rogr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mmin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  <a:tabLst>
                <a:tab pos="348615" algn="l"/>
                <a:tab pos="1859280" algn="l"/>
                <a:tab pos="6096635" algn="l"/>
              </a:tabLst>
            </a:pPr>
            <a:r>
              <a:rPr dirty="0" sz="1200" spc="-10">
                <a:latin typeface="Times New Roman"/>
                <a:cs typeface="Times New Roman"/>
              </a:rPr>
              <a:t>1.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Impl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ss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  <a:tabLst>
                <a:tab pos="348615" algn="l"/>
                <a:tab pos="6096635" algn="l"/>
              </a:tabLst>
            </a:pPr>
            <a:r>
              <a:rPr dirty="0" sz="1200" spc="-10">
                <a:latin typeface="Times New Roman"/>
                <a:cs typeface="Times New Roman"/>
              </a:rPr>
              <a:t>1.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3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vi</a:t>
            </a:r>
            <a:r>
              <a:rPr dirty="0" sz="1200" spc="-3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  <a:tabLst>
                <a:tab pos="348615" algn="l"/>
                <a:tab pos="1859280" algn="l"/>
                <a:tab pos="6096635" algn="l"/>
              </a:tabLst>
            </a:pPr>
            <a:r>
              <a:rPr dirty="0" sz="1200" spc="-10">
                <a:latin typeface="Times New Roman"/>
                <a:cs typeface="Times New Roman"/>
              </a:rPr>
              <a:t>1.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ly</a:t>
            </a:r>
            <a:r>
              <a:rPr dirty="0" sz="1200" spc="-5">
                <a:latin typeface="Times New Roman"/>
                <a:cs typeface="Times New Roman"/>
              </a:rPr>
              <a:t>z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  <a:tabLst>
                <a:tab pos="348615" algn="l"/>
                <a:tab pos="6021070" algn="l"/>
              </a:tabLst>
            </a:pPr>
            <a:r>
              <a:rPr dirty="0" sz="1200" spc="-10">
                <a:latin typeface="Times New Roman"/>
                <a:cs typeface="Times New Roman"/>
              </a:rPr>
              <a:t>1.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10">
                <a:latin typeface="Times New Roman"/>
                <a:cs typeface="Times New Roman"/>
              </a:rPr>
              <a:t>od</a:t>
            </a:r>
            <a:r>
              <a:rPr dirty="0" sz="1200" spc="-5">
                <a:latin typeface="Times New Roman"/>
                <a:cs typeface="Times New Roman"/>
              </a:rPr>
              <a:t>el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omput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  <a:tabLst>
                <a:tab pos="348615" algn="l"/>
                <a:tab pos="6021070" algn="l"/>
              </a:tabLst>
            </a:pPr>
            <a:r>
              <a:rPr dirty="0" sz="1200" spc="-10">
                <a:latin typeface="Times New Roman"/>
                <a:cs typeface="Times New Roman"/>
              </a:rPr>
              <a:t>1.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mpl</a:t>
            </a:r>
            <a:r>
              <a:rPr dirty="0" sz="1200" spc="-5">
                <a:latin typeface="Times New Roman"/>
                <a:cs typeface="Times New Roman"/>
              </a:rPr>
              <a:t>e: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2-dim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xim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  <a:tabLst>
                <a:tab pos="348615" algn="l"/>
                <a:tab pos="6021070" algn="l"/>
              </a:tabLst>
            </a:pPr>
            <a:r>
              <a:rPr dirty="0" sz="1200" spc="-10">
                <a:latin typeface="Times New Roman"/>
                <a:cs typeface="Times New Roman"/>
              </a:rPr>
              <a:t>1.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B</a:t>
            </a:r>
            <a:r>
              <a:rPr dirty="0" sz="1200" spc="-10">
                <a:latin typeface="Times New Roman"/>
                <a:cs typeface="Times New Roman"/>
              </a:rPr>
              <a:t>rut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13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14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16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17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18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1699" y="7357314"/>
            <a:ext cx="15982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029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2	</a:t>
            </a:r>
            <a:r>
              <a:rPr dirty="0" sz="1200" spc="-10" b="1">
                <a:latin typeface="Times New Roman"/>
                <a:cs typeface="Times New Roman"/>
              </a:rPr>
              <a:t>Asymptotic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Notation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150706" y="7357314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 b="1">
                <a:latin typeface="Times New Roman"/>
                <a:cs typeface="Times New Roman"/>
              </a:rPr>
              <a:t>2</a:t>
            </a:r>
            <a:r>
              <a:rPr dirty="0" sz="1200" spc="-5" b="1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78685" y="8203821"/>
            <a:ext cx="5560060" cy="779780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40"/>
              </a:spcBef>
              <a:tabLst>
                <a:tab pos="497840" algn="l"/>
              </a:tabLst>
            </a:pPr>
            <a:r>
              <a:rPr dirty="0" sz="1200" spc="-10">
                <a:latin typeface="Times New Roman"/>
                <a:cs typeface="Times New Roman"/>
              </a:rPr>
              <a:t>3.1.1	Analysis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Merge</a:t>
            </a:r>
            <a:r>
              <a:rPr dirty="0" sz="1200" spc="-5">
                <a:latin typeface="Times New Roman"/>
                <a:cs typeface="Times New Roman"/>
              </a:rPr>
              <a:t> Sort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lvl="2" marL="498475" indent="-485775">
              <a:lnSpc>
                <a:spcPct val="100000"/>
              </a:lnSpc>
              <a:spcBef>
                <a:spcPts val="540"/>
              </a:spcBef>
              <a:buAutoNum type="arabicPeriod" startAt="2"/>
              <a:tabLst>
                <a:tab pos="497840" algn="l"/>
                <a:tab pos="498475" algn="l"/>
              </a:tabLst>
            </a:pPr>
            <a:r>
              <a:rPr dirty="0" sz="1200" spc="-5">
                <a:latin typeface="Times New Roman"/>
                <a:cs typeface="Times New Roman"/>
              </a:rPr>
              <a:t>The Iteration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Method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Solving</a:t>
            </a:r>
            <a:r>
              <a:rPr dirty="0" sz="1200" spc="-5">
                <a:latin typeface="Times New Roman"/>
                <a:cs typeface="Times New Roman"/>
              </a:rPr>
              <a:t> Recurrence Relations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lvl="2" marL="498475" indent="-485775">
              <a:lnSpc>
                <a:spcPct val="100000"/>
              </a:lnSpc>
              <a:spcBef>
                <a:spcPts val="535"/>
              </a:spcBef>
              <a:buAutoNum type="arabicPeriod" startAt="2"/>
              <a:tabLst>
                <a:tab pos="497840" algn="l"/>
                <a:tab pos="498475" algn="l"/>
              </a:tabLst>
            </a:pPr>
            <a:r>
              <a:rPr dirty="0" sz="1200" spc="-15">
                <a:latin typeface="Times New Roman"/>
                <a:cs typeface="Times New Roman"/>
              </a:rPr>
              <a:t>Visualizing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Recurrences </a:t>
            </a:r>
            <a:r>
              <a:rPr dirty="0" sz="1200" spc="-10">
                <a:latin typeface="Times New Roman"/>
                <a:cs typeface="Times New Roman"/>
              </a:rPr>
              <a:t>Using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Recursion </a:t>
            </a:r>
            <a:r>
              <a:rPr dirty="0" sz="1200" spc="-15">
                <a:latin typeface="Times New Roman"/>
                <a:cs typeface="Times New Roman"/>
              </a:rPr>
              <a:t>Tree</a:t>
            </a:r>
            <a:r>
              <a:rPr dirty="0" sz="1200" spc="6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01699" y="7701358"/>
            <a:ext cx="6426835" cy="128206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640"/>
              </a:spcBef>
              <a:tabLst>
                <a:tab pos="227329" algn="l"/>
                <a:tab pos="62484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3</a:t>
            </a:r>
            <a:r>
              <a:rPr dirty="0" sz="1200" spc="-5" b="1">
                <a:latin typeface="Times New Roman"/>
                <a:cs typeface="Times New Roman"/>
              </a:rPr>
              <a:t>	</a:t>
            </a:r>
            <a:r>
              <a:rPr dirty="0" sz="1200" spc="-10" b="1">
                <a:latin typeface="Times New Roman"/>
                <a:cs typeface="Times New Roman"/>
              </a:rPr>
              <a:t>D</a:t>
            </a:r>
            <a:r>
              <a:rPr dirty="0" sz="1200" spc="-20" b="1">
                <a:latin typeface="Times New Roman"/>
                <a:cs typeface="Times New Roman"/>
              </a:rPr>
              <a:t>i</a:t>
            </a:r>
            <a:r>
              <a:rPr dirty="0" sz="1200" spc="-10" b="1">
                <a:latin typeface="Times New Roman"/>
                <a:cs typeface="Times New Roman"/>
              </a:rPr>
              <a:t>vi</a:t>
            </a:r>
            <a:r>
              <a:rPr dirty="0" sz="1200" spc="-5" b="1">
                <a:latin typeface="Times New Roman"/>
                <a:cs typeface="Times New Roman"/>
              </a:rPr>
              <a:t>de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a</a:t>
            </a:r>
            <a:r>
              <a:rPr dirty="0" sz="1200" spc="-5" b="1">
                <a:latin typeface="Times New Roman"/>
                <a:cs typeface="Times New Roman"/>
              </a:rPr>
              <a:t>nd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Co</a:t>
            </a:r>
            <a:r>
              <a:rPr dirty="0" sz="1200" spc="-5" b="1">
                <a:latin typeface="Times New Roman"/>
                <a:cs typeface="Times New Roman"/>
              </a:rPr>
              <a:t>nquer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10" b="1">
                <a:latin typeface="Times New Roman"/>
                <a:cs typeface="Times New Roman"/>
              </a:rPr>
              <a:t>at</a:t>
            </a:r>
            <a:r>
              <a:rPr dirty="0" sz="1200" spc="-5" b="1">
                <a:latin typeface="Times New Roman"/>
                <a:cs typeface="Times New Roman"/>
              </a:rPr>
              <a:t>e</a:t>
            </a:r>
            <a:r>
              <a:rPr dirty="0" sz="1200" spc="-10" b="1">
                <a:latin typeface="Times New Roman"/>
                <a:cs typeface="Times New Roman"/>
              </a:rPr>
              <a:t>g</a:t>
            </a:r>
            <a:r>
              <a:rPr dirty="0" sz="1200" spc="-5" b="1">
                <a:latin typeface="Times New Roman"/>
                <a:cs typeface="Times New Roman"/>
              </a:rPr>
              <a:t>y</a:t>
            </a:r>
            <a:r>
              <a:rPr dirty="0" sz="1200" b="1">
                <a:latin typeface="Times New Roman"/>
                <a:cs typeface="Times New Roman"/>
              </a:rPr>
              <a:t>	</a:t>
            </a:r>
            <a:r>
              <a:rPr dirty="0" sz="1200" spc="-10" b="1">
                <a:latin typeface="Times New Roman"/>
                <a:cs typeface="Times New Roman"/>
              </a:rPr>
              <a:t>2</a:t>
            </a:r>
            <a:r>
              <a:rPr dirty="0" sz="1200" spc="-5" b="1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  <a:tabLst>
                <a:tab pos="348615" algn="l"/>
                <a:tab pos="1176020" algn="l"/>
                <a:tab pos="6021070" algn="l"/>
              </a:tabLst>
            </a:pPr>
            <a:r>
              <a:rPr dirty="0" sz="1200" spc="-10">
                <a:latin typeface="Times New Roman"/>
                <a:cs typeface="Times New Roman"/>
              </a:rPr>
              <a:t>3.1	Merge</a:t>
            </a:r>
            <a:r>
              <a:rPr dirty="0" sz="1200" spc="-5">
                <a:latin typeface="Times New Roman"/>
                <a:cs typeface="Times New Roman"/>
              </a:rPr>
              <a:t> Sort	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	27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29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31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31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064150" y="9155138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509598" y="520987"/>
            <a:ext cx="81851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TE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78685" y="1361939"/>
            <a:ext cx="5560060" cy="1038225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650"/>
              </a:spcBef>
            </a:pPr>
            <a:r>
              <a:rPr dirty="0" sz="1200" spc="-10">
                <a:latin typeface="Times New Roman"/>
                <a:cs typeface="Times New Roman"/>
              </a:rPr>
              <a:t>3.2.1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Sieve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Technique</a:t>
            </a:r>
            <a:r>
              <a:rPr dirty="0" sz="1200" spc="8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ct val="138400"/>
              </a:lnSpc>
            </a:pPr>
            <a:r>
              <a:rPr dirty="0" sz="1200" spc="-10">
                <a:latin typeface="Times New Roman"/>
                <a:cs typeface="Times New Roman"/>
              </a:rPr>
              <a:t>3.2.2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Applying the </a:t>
            </a:r>
            <a:r>
              <a:rPr dirty="0" sz="1200" spc="-15">
                <a:latin typeface="Times New Roman"/>
                <a:cs typeface="Times New Roman"/>
              </a:rPr>
              <a:t>Sieve </a:t>
            </a:r>
            <a:r>
              <a:rPr dirty="0" sz="1200" spc="-5">
                <a:latin typeface="Times New Roman"/>
                <a:cs typeface="Times New Roman"/>
              </a:rPr>
              <a:t>to Selection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3.2.3</a:t>
            </a:r>
            <a:r>
              <a:rPr dirty="0" sz="1200" spc="-5">
                <a:latin typeface="Times New Roman"/>
                <a:cs typeface="Times New Roman"/>
              </a:rPr>
              <a:t> Selection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3.2.4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Analysis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Selection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29499" y="855476"/>
            <a:ext cx="6198870" cy="1544955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655"/>
              </a:spcBef>
              <a:tabLst>
                <a:tab pos="485140" algn="l"/>
                <a:tab pos="5671820" algn="l"/>
              </a:tabLst>
            </a:pPr>
            <a:r>
              <a:rPr dirty="0" sz="1200" spc="-10">
                <a:latin typeface="Times New Roman"/>
                <a:cs typeface="Times New Roman"/>
              </a:rPr>
              <a:t>3.1.4	</a:t>
            </a:r>
            <a:r>
              <a:rPr dirty="0" sz="1200" spc="-5">
                <a:latin typeface="Times New Roman"/>
                <a:cs typeface="Times New Roman"/>
              </a:rPr>
              <a:t>A Messier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	32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0"/>
              </a:spcBef>
              <a:tabLst>
                <a:tab pos="348615" algn="l"/>
                <a:tab pos="6021070" algn="l"/>
              </a:tabLst>
            </a:pPr>
            <a:r>
              <a:rPr dirty="0" sz="1200" spc="-10">
                <a:latin typeface="Times New Roman"/>
                <a:cs typeface="Times New Roman"/>
              </a:rPr>
              <a:t>3.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ec</a:t>
            </a:r>
            <a:r>
              <a:rPr dirty="0" sz="1200" spc="-10">
                <a:latin typeface="Times New Roman"/>
                <a:cs typeface="Times New Roman"/>
              </a:rPr>
              <a:t>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</a:t>
            </a:r>
            <a:r>
              <a:rPr dirty="0" sz="1200" spc="-10">
                <a:latin typeface="Times New Roman"/>
                <a:cs typeface="Times New Roman"/>
              </a:rPr>
              <a:t>robl</a:t>
            </a:r>
            <a:r>
              <a:rPr dirty="0" sz="1200" spc="-5">
                <a:latin typeface="Times New Roman"/>
                <a:cs typeface="Times New Roman"/>
              </a:rPr>
              <a:t>em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34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0"/>
              </a:spcBef>
            </a:pPr>
            <a:r>
              <a:rPr dirty="0" sz="1200" spc="-5">
                <a:latin typeface="Times New Roman"/>
                <a:cs typeface="Times New Roman"/>
              </a:rPr>
              <a:t>35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35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36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01699" y="2614551"/>
            <a:ext cx="734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029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4</a:t>
            </a:r>
            <a:r>
              <a:rPr dirty="0" sz="1200" spc="-5" b="1">
                <a:latin typeface="Times New Roman"/>
                <a:cs typeface="Times New Roman"/>
              </a:rPr>
              <a:t>	</a:t>
            </a:r>
            <a:r>
              <a:rPr dirty="0" sz="1200" spc="-5" b="1">
                <a:latin typeface="Times New Roman"/>
                <a:cs typeface="Times New Roman"/>
              </a:rPr>
              <a:t>S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10" b="1">
                <a:latin typeface="Times New Roman"/>
                <a:cs typeface="Times New Roman"/>
              </a:rPr>
              <a:t>ti</a:t>
            </a:r>
            <a:r>
              <a:rPr dirty="0" sz="1200" spc="-5" b="1">
                <a:latin typeface="Times New Roman"/>
                <a:cs typeface="Times New Roman"/>
              </a:rPr>
              <a:t>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78683" y="3303095"/>
            <a:ext cx="5560060" cy="1797685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55"/>
              </a:spcBef>
              <a:tabLst>
                <a:tab pos="497840" algn="l"/>
              </a:tabLst>
            </a:pPr>
            <a:r>
              <a:rPr dirty="0" sz="1200" spc="-10">
                <a:latin typeface="Times New Roman"/>
                <a:cs typeface="Times New Roman"/>
              </a:rPr>
              <a:t>4.2.1	</a:t>
            </a:r>
            <a:r>
              <a:rPr dirty="0" sz="1200" spc="-5">
                <a:latin typeface="Times New Roman"/>
                <a:cs typeface="Times New Roman"/>
              </a:rPr>
              <a:t>Heaps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  <a:tabLst>
                <a:tab pos="497840" algn="l"/>
                <a:tab pos="1864360" algn="l"/>
              </a:tabLst>
            </a:pPr>
            <a:r>
              <a:rPr dirty="0" sz="1200" spc="-10">
                <a:latin typeface="Times New Roman"/>
                <a:cs typeface="Times New Roman"/>
              </a:rPr>
              <a:t>4.2.2	</a:t>
            </a:r>
            <a:r>
              <a:rPr dirty="0" sz="1200" spc="-5">
                <a:latin typeface="Times New Roman"/>
                <a:cs typeface="Times New Roman"/>
              </a:rPr>
              <a:t>Heapsort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	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55"/>
              </a:spcBef>
              <a:tabLst>
                <a:tab pos="497840" algn="l"/>
              </a:tabLst>
            </a:pPr>
            <a:r>
              <a:rPr dirty="0" sz="1200" spc="-10">
                <a:latin typeface="Times New Roman"/>
                <a:cs typeface="Times New Roman"/>
              </a:rPr>
              <a:t>4.2.3	</a:t>
            </a:r>
            <a:r>
              <a:rPr dirty="0" sz="1200" spc="-5">
                <a:latin typeface="Times New Roman"/>
                <a:cs typeface="Times New Roman"/>
              </a:rPr>
              <a:t>Heapify Procedure</a:t>
            </a:r>
            <a:r>
              <a:rPr dirty="0" sz="1200" spc="5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  <a:tabLst>
                <a:tab pos="497840" algn="l"/>
                <a:tab pos="1864360" algn="l"/>
              </a:tabLst>
            </a:pPr>
            <a:r>
              <a:rPr dirty="0" sz="1200" spc="-10">
                <a:latin typeface="Times New Roman"/>
                <a:cs typeface="Times New Roman"/>
              </a:rPr>
              <a:t>4.2.4	Analysis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Heapify	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55"/>
              </a:spcBef>
              <a:tabLst>
                <a:tab pos="497840" algn="l"/>
                <a:tab pos="1295400" algn="l"/>
              </a:tabLst>
            </a:pPr>
            <a:r>
              <a:rPr dirty="0" sz="1200" spc="-10">
                <a:latin typeface="Times New Roman"/>
                <a:cs typeface="Times New Roman"/>
              </a:rPr>
              <a:t>4.2.5	</a:t>
            </a:r>
            <a:r>
              <a:rPr dirty="0" sz="1200" spc="-5">
                <a:latin typeface="Times New Roman"/>
                <a:cs typeface="Times New Roman"/>
              </a:rPr>
              <a:t>BuildHeap	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55"/>
              </a:spcBef>
              <a:tabLst>
                <a:tab pos="497840" algn="l"/>
              </a:tabLst>
            </a:pPr>
            <a:r>
              <a:rPr dirty="0" sz="1200" spc="-10">
                <a:latin typeface="Times New Roman"/>
                <a:cs typeface="Times New Roman"/>
              </a:rPr>
              <a:t>4.2.6	Analysis</a:t>
            </a:r>
            <a:r>
              <a:rPr dirty="0" sz="1200" spc="-5">
                <a:latin typeface="Times New Roman"/>
                <a:cs typeface="Times New Roman"/>
              </a:rPr>
              <a:t> of BuildHeap</a:t>
            </a:r>
            <a:r>
              <a:rPr dirty="0" sz="1200" spc="3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55"/>
              </a:spcBef>
              <a:tabLst>
                <a:tab pos="497840" algn="l"/>
              </a:tabLst>
            </a:pPr>
            <a:r>
              <a:rPr dirty="0" sz="1200" spc="-10">
                <a:latin typeface="Times New Roman"/>
                <a:cs typeface="Times New Roman"/>
              </a:rPr>
              <a:t>4.2.7	Analysis</a:t>
            </a:r>
            <a:r>
              <a:rPr dirty="0" sz="1200" spc="-5">
                <a:latin typeface="Times New Roman"/>
                <a:cs typeface="Times New Roman"/>
              </a:rPr>
              <a:t> of Heapsort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29497" y="5146180"/>
            <a:ext cx="215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4.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78681" y="5146180"/>
            <a:ext cx="5560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Quicksort</a:t>
            </a:r>
            <a:r>
              <a:rPr dirty="0" sz="1200" spc="6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78683" y="5328376"/>
            <a:ext cx="5560060" cy="1291590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55"/>
              </a:spcBef>
              <a:tabLst>
                <a:tab pos="497840" algn="l"/>
              </a:tabLst>
            </a:pPr>
            <a:r>
              <a:rPr dirty="0" sz="1200" spc="-10">
                <a:latin typeface="Times New Roman"/>
                <a:cs typeface="Times New Roman"/>
              </a:rPr>
              <a:t>4.3.1	Partition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  <a:tabLst>
                <a:tab pos="497840" algn="l"/>
              </a:tabLst>
            </a:pPr>
            <a:r>
              <a:rPr dirty="0" sz="1200" spc="-10">
                <a:latin typeface="Times New Roman"/>
                <a:cs typeface="Times New Roman"/>
              </a:rPr>
              <a:t>4.3.2	Quick</a:t>
            </a:r>
            <a:r>
              <a:rPr dirty="0" sz="1200" spc="-5">
                <a:latin typeface="Times New Roman"/>
                <a:cs typeface="Times New Roman"/>
              </a:rPr>
              <a:t> Sort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 spc="7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55"/>
              </a:spcBef>
              <a:tabLst>
                <a:tab pos="497840" algn="l"/>
                <a:tab pos="1978660" algn="l"/>
              </a:tabLst>
            </a:pPr>
            <a:r>
              <a:rPr dirty="0" sz="1200" spc="-10">
                <a:latin typeface="Times New Roman"/>
                <a:cs typeface="Times New Roman"/>
              </a:rPr>
              <a:t>4.3.3	Analysis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Quicksort	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lvl="2" marL="498475" indent="-485775">
              <a:lnSpc>
                <a:spcPct val="100000"/>
              </a:lnSpc>
              <a:spcBef>
                <a:spcPts val="555"/>
              </a:spcBef>
              <a:buAutoNum type="arabicPeriod" startAt="4"/>
              <a:tabLst>
                <a:tab pos="497840" algn="l"/>
                <a:tab pos="498475" algn="l"/>
                <a:tab pos="2775585" algn="l"/>
              </a:tabLst>
            </a:pPr>
            <a:r>
              <a:rPr dirty="0" sz="1200" spc="-25">
                <a:latin typeface="Times New Roman"/>
                <a:cs typeface="Times New Roman"/>
              </a:rPr>
              <a:t>Worst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Analysis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Quick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	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lvl="2" marL="498475" indent="-485775">
              <a:lnSpc>
                <a:spcPct val="100000"/>
              </a:lnSpc>
              <a:spcBef>
                <a:spcPts val="550"/>
              </a:spcBef>
              <a:buAutoNum type="arabicPeriod" startAt="4"/>
              <a:tabLst>
                <a:tab pos="497840" algn="l"/>
                <a:tab pos="498475" algn="l"/>
              </a:tabLst>
            </a:pPr>
            <a:r>
              <a:rPr dirty="0" sz="1200" spc="-15">
                <a:latin typeface="Times New Roman"/>
                <a:cs typeface="Times New Roman"/>
              </a:rPr>
              <a:t>Average-case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Analysis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Quicksort</a:t>
            </a:r>
            <a:r>
              <a:rPr dirty="0" sz="1200" spc="4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29497" y="6594133"/>
            <a:ext cx="215265" cy="532130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1200" spc="-10">
                <a:latin typeface="Times New Roman"/>
                <a:cs typeface="Times New Roman"/>
              </a:rPr>
              <a:t>4.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dirty="0" sz="1200" spc="-10">
                <a:latin typeface="Times New Roman"/>
                <a:cs typeface="Times New Roman"/>
              </a:rPr>
              <a:t>4.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478681" y="6594133"/>
            <a:ext cx="5560060" cy="532130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1200" spc="-5">
                <a:latin typeface="Times New Roman"/>
                <a:cs typeface="Times New Roman"/>
              </a:rPr>
              <a:t>In-place, Stable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  <a:tabLst>
                <a:tab pos="1750695" algn="l"/>
              </a:tabLst>
            </a:pPr>
            <a:r>
              <a:rPr dirty="0" sz="1200" spc="-10">
                <a:latin typeface="Times New Roman"/>
                <a:cs typeface="Times New Roman"/>
              </a:rPr>
              <a:t>Lower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Bounds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	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29499" y="2543572"/>
            <a:ext cx="6198870" cy="4582795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655"/>
              </a:spcBef>
            </a:pPr>
            <a:r>
              <a:rPr dirty="0" sz="1200" spc="-5" b="1">
                <a:latin typeface="Times New Roman"/>
                <a:cs typeface="Times New Roman"/>
              </a:rPr>
              <a:t>39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0"/>
              </a:spcBef>
              <a:tabLst>
                <a:tab pos="348615" algn="l"/>
                <a:tab pos="6021070" algn="l"/>
              </a:tabLst>
            </a:pPr>
            <a:r>
              <a:rPr dirty="0" sz="1200" spc="-10">
                <a:latin typeface="Times New Roman"/>
                <a:cs typeface="Times New Roman"/>
              </a:rPr>
              <a:t>4.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ortin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  <a:tabLst>
                <a:tab pos="348615" algn="l"/>
                <a:tab pos="6020435" algn="l"/>
              </a:tabLst>
            </a:pPr>
            <a:r>
              <a:rPr dirty="0" sz="1200" spc="-10">
                <a:latin typeface="Times New Roman"/>
                <a:cs typeface="Times New Roman"/>
              </a:rPr>
              <a:t>4.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ortin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O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40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0"/>
              </a:spcBef>
            </a:pPr>
            <a:r>
              <a:rPr dirty="0" sz="1200" spc="-5">
                <a:latin typeface="Times New Roman"/>
                <a:cs typeface="Times New Roman"/>
              </a:rPr>
              <a:t>41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43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43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0"/>
              </a:spcBef>
            </a:pPr>
            <a:r>
              <a:rPr dirty="0" sz="1200" spc="-5">
                <a:latin typeface="Times New Roman"/>
                <a:cs typeface="Times New Roman"/>
              </a:rPr>
              <a:t>43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44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46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0"/>
              </a:spcBef>
            </a:pPr>
            <a:r>
              <a:rPr dirty="0" sz="1200" spc="-5">
                <a:latin typeface="Times New Roman"/>
                <a:cs typeface="Times New Roman"/>
              </a:rPr>
              <a:t>46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46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47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0"/>
              </a:spcBef>
            </a:pPr>
            <a:r>
              <a:rPr dirty="0" sz="1200" spc="-5">
                <a:latin typeface="Times New Roman"/>
                <a:cs typeface="Times New Roman"/>
              </a:rPr>
              <a:t>49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49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50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0"/>
              </a:spcBef>
            </a:pPr>
            <a:r>
              <a:rPr dirty="0" sz="1200" spc="-5">
                <a:latin typeface="Times New Roman"/>
                <a:cs typeface="Times New Roman"/>
              </a:rPr>
              <a:t>54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54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01697" y="7340625"/>
            <a:ext cx="15836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029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5	Linear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Time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29497" y="7269646"/>
            <a:ext cx="6198870" cy="1038225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655"/>
              </a:spcBef>
            </a:pPr>
            <a:r>
              <a:rPr dirty="0" sz="1200" spc="-5" b="1">
                <a:latin typeface="Times New Roman"/>
                <a:cs typeface="Times New Roman"/>
              </a:rPr>
              <a:t>57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0"/>
              </a:spcBef>
              <a:tabLst>
                <a:tab pos="348615" algn="l"/>
                <a:tab pos="6021070" algn="l"/>
              </a:tabLst>
            </a:pPr>
            <a:r>
              <a:rPr dirty="0" sz="1200" spc="-10">
                <a:latin typeface="Times New Roman"/>
                <a:cs typeface="Times New Roman"/>
              </a:rPr>
              <a:t>5.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ountin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  <a:tabLst>
                <a:tab pos="348615" algn="l"/>
                <a:tab pos="1631314" algn="l"/>
                <a:tab pos="6021070" algn="l"/>
              </a:tabLst>
            </a:pPr>
            <a:r>
              <a:rPr dirty="0" sz="1200" spc="-10">
                <a:latin typeface="Times New Roman"/>
                <a:cs typeface="Times New Roman"/>
              </a:rPr>
              <a:t>5.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B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20">
                <a:latin typeface="Times New Roman"/>
                <a:cs typeface="Times New Roman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  <a:tabLst>
                <a:tab pos="348615" algn="l"/>
                <a:tab pos="6021070" algn="l"/>
              </a:tabLst>
            </a:pPr>
            <a:r>
              <a:rPr dirty="0" sz="1200" spc="-10">
                <a:latin typeface="Times New Roman"/>
                <a:cs typeface="Times New Roman"/>
              </a:rPr>
              <a:t>5.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Ra</a:t>
            </a:r>
            <a:r>
              <a:rPr dirty="0" sz="1200" spc="-10">
                <a:latin typeface="Times New Roman"/>
                <a:cs typeface="Times New Roman"/>
              </a:rPr>
              <a:t>di</a:t>
            </a:r>
            <a:r>
              <a:rPr dirty="0" sz="1200" spc="-5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01697" y="8451622"/>
            <a:ext cx="6426835" cy="532130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650"/>
              </a:spcBef>
              <a:tabLst>
                <a:tab pos="227329" algn="l"/>
                <a:tab pos="62484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6</a:t>
            </a:r>
            <a:r>
              <a:rPr dirty="0" sz="1200" spc="-5" b="1">
                <a:latin typeface="Times New Roman"/>
                <a:cs typeface="Times New Roman"/>
              </a:rPr>
              <a:t>	</a:t>
            </a:r>
            <a:r>
              <a:rPr dirty="0" sz="1200" spc="-10" b="1">
                <a:latin typeface="Times New Roman"/>
                <a:cs typeface="Times New Roman"/>
              </a:rPr>
              <a:t>Dy</a:t>
            </a:r>
            <a:r>
              <a:rPr dirty="0" sz="1200" spc="-5" b="1">
                <a:latin typeface="Times New Roman"/>
                <a:cs typeface="Times New Roman"/>
              </a:rPr>
              <a:t>n</a:t>
            </a:r>
            <a:r>
              <a:rPr dirty="0" sz="1200" spc="-10" b="1">
                <a:latin typeface="Times New Roman"/>
                <a:cs typeface="Times New Roman"/>
              </a:rPr>
              <a:t>a</a:t>
            </a:r>
            <a:r>
              <a:rPr dirty="0" sz="1200" spc="-5" b="1">
                <a:latin typeface="Times New Roman"/>
                <a:cs typeface="Times New Roman"/>
              </a:rPr>
              <a:t>m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c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</a:t>
            </a:r>
            <a:r>
              <a:rPr dirty="0" sz="1200" spc="-30" b="1">
                <a:latin typeface="Times New Roman"/>
                <a:cs typeface="Times New Roman"/>
              </a:rPr>
              <a:t>r</a:t>
            </a:r>
            <a:r>
              <a:rPr dirty="0" sz="1200" spc="-10" b="1">
                <a:latin typeface="Times New Roman"/>
                <a:cs typeface="Times New Roman"/>
              </a:rPr>
              <a:t>og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10" b="1">
                <a:latin typeface="Times New Roman"/>
                <a:cs typeface="Times New Roman"/>
              </a:rPr>
              <a:t>a</a:t>
            </a:r>
            <a:r>
              <a:rPr dirty="0" sz="1200" spc="-5" b="1">
                <a:latin typeface="Times New Roman"/>
                <a:cs typeface="Times New Roman"/>
              </a:rPr>
              <a:t>mm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ng</a:t>
            </a:r>
            <a:r>
              <a:rPr dirty="0" sz="1200" b="1">
                <a:latin typeface="Times New Roman"/>
                <a:cs typeface="Times New Roman"/>
              </a:rPr>
              <a:t>	</a:t>
            </a:r>
            <a:r>
              <a:rPr dirty="0" sz="1200" spc="-10" b="1">
                <a:latin typeface="Times New Roman"/>
                <a:cs typeface="Times New Roman"/>
              </a:rPr>
              <a:t>7</a:t>
            </a:r>
            <a:r>
              <a:rPr dirty="0" sz="1200" spc="-5" b="1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55"/>
              </a:spcBef>
              <a:tabLst>
                <a:tab pos="348615" algn="l"/>
                <a:tab pos="6021070" algn="l"/>
              </a:tabLst>
            </a:pPr>
            <a:r>
              <a:rPr dirty="0" sz="1200" spc="-10">
                <a:latin typeface="Times New Roman"/>
                <a:cs typeface="Times New Roman"/>
              </a:rPr>
              <a:t>6.1	</a:t>
            </a:r>
            <a:r>
              <a:rPr dirty="0" sz="1200" spc="-5">
                <a:latin typeface="Times New Roman"/>
                <a:cs typeface="Times New Roman"/>
              </a:rPr>
              <a:t>Fibonacci Sequence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	73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81851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TE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226601" y="523090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29499" y="857761"/>
            <a:ext cx="215265" cy="527685"/>
          </a:xfrm>
          <a:prstGeom prst="rect">
            <a:avLst/>
          </a:prstGeom>
        </p:spPr>
        <p:txBody>
          <a:bodyPr wrap="square" lIns="0" tIns="806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dirty="0" sz="1200" spc="-10">
                <a:latin typeface="Times New Roman"/>
                <a:cs typeface="Times New Roman"/>
              </a:rPr>
              <a:t>6.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dirty="0" sz="1200" spc="-10">
                <a:latin typeface="Times New Roman"/>
                <a:cs typeface="Times New Roman"/>
              </a:rPr>
              <a:t>6.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78685" y="1359653"/>
            <a:ext cx="5560060" cy="1029335"/>
          </a:xfrm>
          <a:prstGeom prst="rect">
            <a:avLst/>
          </a:prstGeom>
        </p:spPr>
        <p:txBody>
          <a:bodyPr wrap="square" lIns="0" tIns="806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35"/>
              </a:spcBef>
              <a:tabLst>
                <a:tab pos="497840" algn="l"/>
                <a:tab pos="2319655" algn="l"/>
              </a:tabLst>
            </a:pPr>
            <a:r>
              <a:rPr dirty="0" sz="1200" spc="-10">
                <a:latin typeface="Times New Roman"/>
                <a:cs typeface="Times New Roman"/>
              </a:rPr>
              <a:t>6.3.1	</a:t>
            </a:r>
            <a:r>
              <a:rPr dirty="0" sz="1200" spc="-5">
                <a:latin typeface="Times New Roman"/>
                <a:cs typeface="Times New Roman"/>
              </a:rPr>
              <a:t>Edit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Distance: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Applications	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35"/>
              </a:spcBef>
              <a:tabLst>
                <a:tab pos="497840" algn="l"/>
              </a:tabLst>
            </a:pPr>
            <a:r>
              <a:rPr dirty="0" sz="1200" spc="-10">
                <a:latin typeface="Times New Roman"/>
                <a:cs typeface="Times New Roman"/>
              </a:rPr>
              <a:t>6.3.2	</a:t>
            </a:r>
            <a:r>
              <a:rPr dirty="0" sz="1200" spc="-5">
                <a:latin typeface="Times New Roman"/>
                <a:cs typeface="Times New Roman"/>
              </a:rPr>
              <a:t>Edit Distance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4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37200"/>
              </a:lnSpc>
              <a:tabLst>
                <a:tab pos="497840" algn="l"/>
                <a:tab pos="2433955" algn="l"/>
              </a:tabLst>
            </a:pPr>
            <a:r>
              <a:rPr dirty="0" sz="1200" spc="-10">
                <a:latin typeface="Times New Roman"/>
                <a:cs typeface="Times New Roman"/>
              </a:rPr>
              <a:t>6.3.3	</a:t>
            </a:r>
            <a:r>
              <a:rPr dirty="0" sz="1200" spc="-5">
                <a:latin typeface="Times New Roman"/>
                <a:cs typeface="Times New Roman"/>
              </a:rPr>
              <a:t>Edit Distance: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6.3.4	Analysis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	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29499" y="2432128"/>
            <a:ext cx="215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6.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78683" y="2363321"/>
            <a:ext cx="5560060" cy="527685"/>
          </a:xfrm>
          <a:prstGeom prst="rect">
            <a:avLst/>
          </a:prstGeom>
        </p:spPr>
        <p:txBody>
          <a:bodyPr wrap="square" lIns="0" tIns="806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35"/>
              </a:spcBef>
              <a:tabLst>
                <a:tab pos="1522730" algn="l"/>
              </a:tabLst>
            </a:pPr>
            <a:r>
              <a:rPr dirty="0" sz="1200" spc="-5">
                <a:latin typeface="Times New Roman"/>
                <a:cs typeface="Times New Roman"/>
              </a:rPr>
              <a:t>Chain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Matrix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Multiply	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35"/>
              </a:spcBef>
              <a:tabLst>
                <a:tab pos="497840" algn="l"/>
              </a:tabLst>
            </a:pPr>
            <a:r>
              <a:rPr dirty="0" sz="1200" spc="-10">
                <a:latin typeface="Times New Roman"/>
                <a:cs typeface="Times New Roman"/>
              </a:rPr>
              <a:t>6.4.1	</a:t>
            </a:r>
            <a:r>
              <a:rPr dirty="0" sz="1200" spc="-5">
                <a:latin typeface="Times New Roman"/>
                <a:cs typeface="Times New Roman"/>
              </a:rPr>
              <a:t>Chain Matrix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Multiplication-Dynamic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Formulation</a:t>
            </a:r>
            <a:r>
              <a:rPr dirty="0" sz="1200" spc="5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29499" y="2934019"/>
            <a:ext cx="215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6.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78683" y="2865212"/>
            <a:ext cx="5560060" cy="527685"/>
          </a:xfrm>
          <a:prstGeom prst="rect">
            <a:avLst/>
          </a:prstGeom>
        </p:spPr>
        <p:txBody>
          <a:bodyPr wrap="square" lIns="0" tIns="806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35"/>
              </a:spcBef>
              <a:tabLst>
                <a:tab pos="1522730" algn="l"/>
              </a:tabLst>
            </a:pPr>
            <a:r>
              <a:rPr dirty="0" sz="1200" spc="-10">
                <a:latin typeface="Times New Roman"/>
                <a:cs typeface="Times New Roman"/>
              </a:rPr>
              <a:t>0/1</a:t>
            </a:r>
            <a:r>
              <a:rPr dirty="0" sz="1200" spc="-5">
                <a:latin typeface="Times New Roman"/>
                <a:cs typeface="Times New Roman"/>
              </a:rPr>
              <a:t> Knapsack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	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35"/>
              </a:spcBef>
              <a:tabLst>
                <a:tab pos="497840" algn="l"/>
              </a:tabLst>
            </a:pPr>
            <a:r>
              <a:rPr dirty="0" sz="1200" spc="-10">
                <a:latin typeface="Times New Roman"/>
                <a:cs typeface="Times New Roman"/>
              </a:rPr>
              <a:t>6.5.1	0/1</a:t>
            </a:r>
            <a:r>
              <a:rPr dirty="0" sz="1200" spc="-5">
                <a:latin typeface="Times New Roman"/>
                <a:cs typeface="Times New Roman"/>
              </a:rPr>
              <a:t> Knapsack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Approach</a:t>
            </a:r>
            <a:r>
              <a:rPr dirty="0" sz="1200" spc="5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78683" y="857761"/>
            <a:ext cx="5849620" cy="2534920"/>
          </a:xfrm>
          <a:prstGeom prst="rect">
            <a:avLst/>
          </a:prstGeom>
        </p:spPr>
        <p:txBody>
          <a:bodyPr wrap="square" lIns="0" tIns="8064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635"/>
              </a:spcBef>
              <a:tabLst>
                <a:tab pos="5671820" algn="l"/>
              </a:tabLst>
            </a:pPr>
            <a:r>
              <a:rPr dirty="0" sz="1200" spc="-10">
                <a:latin typeface="Times New Roman"/>
                <a:cs typeface="Times New Roman"/>
              </a:rPr>
              <a:t>Dyn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mi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</a:t>
            </a:r>
            <a:r>
              <a:rPr dirty="0" sz="1200" spc="-10">
                <a:latin typeface="Times New Roman"/>
                <a:cs typeface="Times New Roman"/>
              </a:rPr>
              <a:t>rogr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mmin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  <a:tabLst>
                <a:tab pos="5671820" algn="l"/>
              </a:tabLst>
            </a:pP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di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ce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76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77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77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84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84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85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91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93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78685" y="4029471"/>
            <a:ext cx="5560060" cy="527685"/>
          </a:xfrm>
          <a:prstGeom prst="rect">
            <a:avLst/>
          </a:prstGeom>
        </p:spPr>
        <p:txBody>
          <a:bodyPr wrap="square" lIns="0" tIns="80645" rIns="0" bIns="0" rtlCol="0" vert="horz">
            <a:spAutoFit/>
          </a:bodyPr>
          <a:lstStyle/>
          <a:p>
            <a:pPr lvl="2" marL="498475" indent="-485775">
              <a:lnSpc>
                <a:spcPct val="100000"/>
              </a:lnSpc>
              <a:spcBef>
                <a:spcPts val="635"/>
              </a:spcBef>
              <a:buAutoNum type="arabicPeriod"/>
              <a:tabLst>
                <a:tab pos="497840" algn="l"/>
                <a:tab pos="498475" algn="l"/>
                <a:tab pos="3686175" algn="l"/>
              </a:tabLst>
            </a:pP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Change: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	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lvl="2" marL="498475" indent="-485775">
              <a:lnSpc>
                <a:spcPct val="100000"/>
              </a:lnSpc>
              <a:spcBef>
                <a:spcPts val="535"/>
              </a:spcBef>
              <a:buAutoNum type="arabicPeriod"/>
              <a:tabLst>
                <a:tab pos="497840" algn="l"/>
                <a:tab pos="498475" algn="l"/>
              </a:tabLst>
            </a:pPr>
            <a:r>
              <a:rPr dirty="0" sz="1200" spc="-10">
                <a:latin typeface="Times New Roman"/>
                <a:cs typeface="Times New Roman"/>
              </a:rPr>
              <a:t>Complexity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Coin Change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6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29499" y="4600055"/>
            <a:ext cx="59093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1315" algn="l"/>
              </a:tabLst>
            </a:pPr>
            <a:r>
              <a:rPr dirty="0" sz="1200" spc="-10">
                <a:latin typeface="Times New Roman"/>
                <a:cs typeface="Times New Roman"/>
              </a:rPr>
              <a:t>7.2	</a:t>
            </a:r>
            <a:r>
              <a:rPr dirty="0" sz="1200" spc="-5">
                <a:latin typeface="Times New Roman"/>
                <a:cs typeface="Times New Roman"/>
              </a:rPr>
              <a:t>Greedy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Encoding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01699" y="3527580"/>
            <a:ext cx="6426835" cy="1280160"/>
          </a:xfrm>
          <a:prstGeom prst="rect">
            <a:avLst/>
          </a:prstGeom>
        </p:spPr>
        <p:txBody>
          <a:bodyPr wrap="square" lIns="0" tIns="8064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635"/>
              </a:spcBef>
              <a:tabLst>
                <a:tab pos="227329" algn="l"/>
                <a:tab pos="62484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7</a:t>
            </a:r>
            <a:r>
              <a:rPr dirty="0" sz="1200" spc="-5" b="1">
                <a:latin typeface="Times New Roman"/>
                <a:cs typeface="Times New Roman"/>
              </a:rPr>
              <a:t>	</a:t>
            </a:r>
            <a:r>
              <a:rPr dirty="0" sz="1200" spc="-10" b="1">
                <a:latin typeface="Times New Roman"/>
                <a:cs typeface="Times New Roman"/>
              </a:rPr>
              <a:t>G</a:t>
            </a:r>
            <a:r>
              <a:rPr dirty="0" sz="1200" spc="-30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eedy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Algo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10" b="1">
                <a:latin typeface="Times New Roman"/>
                <a:cs typeface="Times New Roman"/>
              </a:rPr>
              <a:t>it</a:t>
            </a:r>
            <a:r>
              <a:rPr dirty="0" sz="1200" spc="-5" b="1">
                <a:latin typeface="Times New Roman"/>
                <a:cs typeface="Times New Roman"/>
              </a:rPr>
              <a:t>hms</a:t>
            </a:r>
            <a:r>
              <a:rPr dirty="0" sz="1200" b="1">
                <a:latin typeface="Times New Roman"/>
                <a:cs typeface="Times New Roman"/>
              </a:rPr>
              <a:t>	</a:t>
            </a:r>
            <a:r>
              <a:rPr dirty="0" sz="1200" spc="-10" b="1">
                <a:latin typeface="Times New Roman"/>
                <a:cs typeface="Times New Roman"/>
              </a:rPr>
              <a:t>9</a:t>
            </a:r>
            <a:r>
              <a:rPr dirty="0" sz="1200" spc="-5" b="1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  <a:tabLst>
                <a:tab pos="348615" algn="l"/>
                <a:tab pos="6021070" algn="l"/>
              </a:tabLst>
            </a:pPr>
            <a:r>
              <a:rPr dirty="0" sz="1200" spc="-10">
                <a:latin typeface="Times New Roman"/>
                <a:cs typeface="Times New Roman"/>
              </a:rPr>
              <a:t>7.1	</a:t>
            </a:r>
            <a:r>
              <a:rPr dirty="0" sz="1200" spc="-5">
                <a:latin typeface="Times New Roman"/>
                <a:cs typeface="Times New Roman"/>
              </a:rPr>
              <a:t>Example: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Counting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Money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	97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98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99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99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01699" y="4782365"/>
            <a:ext cx="6426200" cy="4201160"/>
          </a:xfrm>
          <a:prstGeom prst="rect">
            <a:avLst/>
          </a:prstGeom>
        </p:spPr>
        <p:txBody>
          <a:bodyPr wrap="square" lIns="0" tIns="8064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635"/>
              </a:spcBef>
              <a:tabLst>
                <a:tab pos="485140" algn="l"/>
              </a:tabLst>
            </a:pPr>
            <a:r>
              <a:rPr dirty="0" sz="1200" spc="-10">
                <a:latin typeface="Times New Roman"/>
                <a:cs typeface="Times New Roman"/>
              </a:rPr>
              <a:t>7.2.1	Huffman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Encoding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100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  <a:tabLst>
                <a:tab pos="485140" algn="l"/>
              </a:tabLst>
            </a:pPr>
            <a:r>
              <a:rPr dirty="0" sz="1200" spc="-10">
                <a:latin typeface="Times New Roman"/>
                <a:cs typeface="Times New Roman"/>
              </a:rPr>
              <a:t>7.2.2	Huffman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Encoding: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Correctness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102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  <a:tabLst>
                <a:tab pos="348615" algn="l"/>
              </a:tabLst>
            </a:pPr>
            <a:r>
              <a:rPr dirty="0" sz="1200" spc="-10">
                <a:latin typeface="Times New Roman"/>
                <a:cs typeface="Times New Roman"/>
              </a:rPr>
              <a:t>7.3	Activity</a:t>
            </a:r>
            <a:r>
              <a:rPr dirty="0" sz="1200" spc="-5">
                <a:latin typeface="Times New Roman"/>
                <a:cs typeface="Times New Roman"/>
              </a:rPr>
              <a:t> Selection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105</a:t>
            </a:r>
            <a:endParaRPr sz="1200">
              <a:latin typeface="Times New Roman"/>
              <a:cs typeface="Times New Roman"/>
            </a:endParaRPr>
          </a:p>
          <a:p>
            <a:pPr algn="r" marL="240029" marR="5080" indent="348615">
              <a:lnSpc>
                <a:spcPts val="1980"/>
              </a:lnSpc>
              <a:spcBef>
                <a:spcPts val="155"/>
              </a:spcBef>
              <a:tabLst>
                <a:tab pos="589280" algn="l"/>
                <a:tab pos="1075055" algn="l"/>
              </a:tabLst>
            </a:pPr>
            <a:r>
              <a:rPr dirty="0" sz="1200" spc="-10">
                <a:latin typeface="Times New Roman"/>
                <a:cs typeface="Times New Roman"/>
              </a:rPr>
              <a:t>7.3.1	</a:t>
            </a:r>
            <a:r>
              <a:rPr dirty="0" sz="1200" spc="-5">
                <a:latin typeface="Times New Roman"/>
                <a:cs typeface="Times New Roman"/>
              </a:rPr>
              <a:t>Correctness of Greedy </a:t>
            </a:r>
            <a:r>
              <a:rPr dirty="0" sz="1200" spc="-10">
                <a:latin typeface="Times New Roman"/>
                <a:cs typeface="Times New Roman"/>
              </a:rPr>
              <a:t>Activity</a:t>
            </a:r>
            <a:r>
              <a:rPr dirty="0" sz="1200" spc="-5">
                <a:latin typeface="Times New Roman"/>
                <a:cs typeface="Times New Roman"/>
              </a:rPr>
              <a:t> Selection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107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7.4	</a:t>
            </a:r>
            <a:r>
              <a:rPr dirty="0" sz="1200" spc="-5">
                <a:latin typeface="Times New Roman"/>
                <a:cs typeface="Times New Roman"/>
              </a:rPr>
              <a:t>Fractional Knapsack Problem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109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4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tabLst>
                <a:tab pos="227329" algn="l"/>
                <a:tab pos="61728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8</a:t>
            </a:r>
            <a:r>
              <a:rPr dirty="0" sz="1200" spc="-5" b="1">
                <a:latin typeface="Times New Roman"/>
                <a:cs typeface="Times New Roman"/>
              </a:rPr>
              <a:t>	</a:t>
            </a:r>
            <a:r>
              <a:rPr dirty="0" sz="1200" spc="-10" b="1">
                <a:latin typeface="Times New Roman"/>
                <a:cs typeface="Times New Roman"/>
              </a:rPr>
              <a:t>G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10" b="1">
                <a:latin typeface="Times New Roman"/>
                <a:cs typeface="Times New Roman"/>
              </a:rPr>
              <a:t>a</a:t>
            </a:r>
            <a:r>
              <a:rPr dirty="0" sz="1200" spc="-5" b="1">
                <a:latin typeface="Times New Roman"/>
                <a:cs typeface="Times New Roman"/>
              </a:rPr>
              <a:t>phs</a:t>
            </a:r>
            <a:r>
              <a:rPr dirty="0" sz="1200" b="1">
                <a:latin typeface="Times New Roman"/>
                <a:cs typeface="Times New Roman"/>
              </a:rPr>
              <a:t>	</a:t>
            </a:r>
            <a:r>
              <a:rPr dirty="0" sz="1200" spc="-10" b="1">
                <a:latin typeface="Times New Roman"/>
                <a:cs typeface="Times New Roman"/>
              </a:rPr>
              <a:t>11</a:t>
            </a:r>
            <a:r>
              <a:rPr dirty="0" sz="1200" spc="-5" b="1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  <a:tabLst>
                <a:tab pos="348615" algn="l"/>
              </a:tabLst>
            </a:pPr>
            <a:r>
              <a:rPr dirty="0" sz="1200" spc="-10">
                <a:latin typeface="Times New Roman"/>
                <a:cs typeface="Times New Roman"/>
              </a:rPr>
              <a:t>8.1	Graph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Traversal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116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  <a:tabLst>
                <a:tab pos="485140" algn="l"/>
                <a:tab pos="1859914" algn="l"/>
              </a:tabLst>
            </a:pPr>
            <a:r>
              <a:rPr dirty="0" sz="1200" spc="-10">
                <a:latin typeface="Times New Roman"/>
                <a:cs typeface="Times New Roman"/>
              </a:rPr>
              <a:t>8.1.1	</a:t>
            </a:r>
            <a:r>
              <a:rPr dirty="0" sz="1200" spc="-5">
                <a:latin typeface="Times New Roman"/>
                <a:cs typeface="Times New Roman"/>
              </a:rPr>
              <a:t>Breadth-first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Search	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117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  <a:tabLst>
                <a:tab pos="485140" algn="l"/>
                <a:tab pos="1746250" algn="l"/>
              </a:tabLst>
            </a:pPr>
            <a:r>
              <a:rPr dirty="0" sz="1200" spc="-10">
                <a:latin typeface="Times New Roman"/>
                <a:cs typeface="Times New Roman"/>
              </a:rPr>
              <a:t>8.1.2	</a:t>
            </a:r>
            <a:r>
              <a:rPr dirty="0" sz="1200" spc="-5">
                <a:latin typeface="Times New Roman"/>
                <a:cs typeface="Times New Roman"/>
              </a:rPr>
              <a:t>Depth-first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Search	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119</a:t>
            </a:r>
            <a:endParaRPr sz="1200">
              <a:latin typeface="Times New Roman"/>
              <a:cs typeface="Times New Roman"/>
            </a:endParaRPr>
          </a:p>
          <a:p>
            <a:pPr algn="just" marL="589280" marR="5080">
              <a:lnSpc>
                <a:spcPct val="137200"/>
              </a:lnSpc>
            </a:pPr>
            <a:r>
              <a:rPr dirty="0" sz="1200" spc="-10">
                <a:latin typeface="Times New Roman"/>
                <a:cs typeface="Times New Roman"/>
              </a:rPr>
              <a:t>8.1.3</a:t>
            </a:r>
            <a:r>
              <a:rPr dirty="0" sz="1200" spc="-5">
                <a:latin typeface="Times New Roman"/>
                <a:cs typeface="Times New Roman"/>
              </a:rPr>
              <a:t> Generic </a:t>
            </a:r>
            <a:r>
              <a:rPr dirty="0" sz="1200" spc="-10">
                <a:latin typeface="Times New Roman"/>
                <a:cs typeface="Times New Roman"/>
              </a:rPr>
              <a:t>Graph </a:t>
            </a:r>
            <a:r>
              <a:rPr dirty="0" sz="1200" spc="-15">
                <a:latin typeface="Times New Roman"/>
                <a:cs typeface="Times New Roman"/>
              </a:rPr>
              <a:t>Traversal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 spc="-10">
                <a:latin typeface="Times New Roman"/>
                <a:cs typeface="Times New Roman"/>
              </a:rPr>
              <a:t>119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8.1.4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 - </a:t>
            </a:r>
            <a:r>
              <a:rPr dirty="0" sz="1200" spc="-10">
                <a:latin typeface="Times New Roman"/>
                <a:cs typeface="Times New Roman"/>
              </a:rPr>
              <a:t>Timestamp Structure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 spc="-10">
                <a:latin typeface="Times New Roman"/>
                <a:cs typeface="Times New Roman"/>
              </a:rPr>
              <a:t>125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8.1.5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 - Cycles</a:t>
            </a:r>
            <a:r>
              <a:rPr dirty="0" sz="1200" spc="43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130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  <a:tabLst>
                <a:tab pos="348615" algn="l"/>
              </a:tabLst>
            </a:pPr>
            <a:r>
              <a:rPr dirty="0" sz="1200" spc="-10">
                <a:latin typeface="Times New Roman"/>
                <a:cs typeface="Times New Roman"/>
              </a:rPr>
              <a:t>8.2	</a:t>
            </a:r>
            <a:r>
              <a:rPr dirty="0" sz="1200" spc="-5">
                <a:latin typeface="Times New Roman"/>
                <a:cs typeface="Times New Roman"/>
              </a:rPr>
              <a:t>Precedence Constraint </a:t>
            </a:r>
            <a:r>
              <a:rPr dirty="0" sz="1200" spc="-10">
                <a:latin typeface="Times New Roman"/>
                <a:cs typeface="Times New Roman"/>
              </a:rPr>
              <a:t>Graph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131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  <a:tabLst>
                <a:tab pos="348615" algn="l"/>
              </a:tabLst>
            </a:pPr>
            <a:r>
              <a:rPr dirty="0" sz="1200" spc="-10">
                <a:latin typeface="Times New Roman"/>
                <a:cs typeface="Times New Roman"/>
              </a:rPr>
              <a:t>8.3	</a:t>
            </a:r>
            <a:r>
              <a:rPr dirty="0" sz="1200" spc="-15">
                <a:latin typeface="Times New Roman"/>
                <a:cs typeface="Times New Roman"/>
              </a:rPr>
              <a:t>Topological</a:t>
            </a:r>
            <a:r>
              <a:rPr dirty="0" sz="1200" spc="-5">
                <a:latin typeface="Times New Roman"/>
                <a:cs typeface="Times New Roman"/>
              </a:rPr>
              <a:t> Sort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133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40"/>
              </a:spcBef>
              <a:tabLst>
                <a:tab pos="348615" algn="l"/>
              </a:tabLst>
            </a:pPr>
            <a:r>
              <a:rPr dirty="0" sz="1200" spc="-10">
                <a:latin typeface="Times New Roman"/>
                <a:cs typeface="Times New Roman"/>
              </a:rPr>
              <a:t>8.4	Strong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Components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135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  <a:tabLst>
                <a:tab pos="485140" algn="l"/>
                <a:tab pos="2421255" algn="l"/>
              </a:tabLst>
            </a:pPr>
            <a:r>
              <a:rPr dirty="0" sz="1200" spc="-10">
                <a:latin typeface="Times New Roman"/>
                <a:cs typeface="Times New Roman"/>
              </a:rPr>
              <a:t>8.4.1	Strong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	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137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509598" y="520987"/>
            <a:ext cx="81851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TE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9" y="859820"/>
            <a:ext cx="6426200" cy="3163570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algn="just" marL="240029">
              <a:lnSpc>
                <a:spcPct val="100000"/>
              </a:lnSpc>
              <a:spcBef>
                <a:spcPts val="620"/>
              </a:spcBef>
            </a:pPr>
            <a:r>
              <a:rPr dirty="0" sz="1200" spc="-10">
                <a:latin typeface="Times New Roman"/>
                <a:cs typeface="Times New Roman"/>
              </a:rPr>
              <a:t>8.5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Spanning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Trees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142</a:t>
            </a:r>
            <a:endParaRPr sz="1200">
              <a:latin typeface="Times New Roman"/>
              <a:cs typeface="Times New Roman"/>
            </a:endParaRPr>
          </a:p>
          <a:p>
            <a:pPr algn="just" marL="589280" marR="5080">
              <a:lnSpc>
                <a:spcPct val="136100"/>
              </a:lnSpc>
            </a:pPr>
            <a:r>
              <a:rPr dirty="0" sz="1200" spc="-10">
                <a:latin typeface="Times New Roman"/>
                <a:cs typeface="Times New Roman"/>
              </a:rPr>
              <a:t>8.5.1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Computing </a:t>
            </a:r>
            <a:r>
              <a:rPr dirty="0" sz="1200" spc="-20">
                <a:latin typeface="Times New Roman"/>
                <a:cs typeface="Times New Roman"/>
              </a:rPr>
              <a:t>MST: </a:t>
            </a:r>
            <a:r>
              <a:rPr dirty="0" sz="1200" spc="-5">
                <a:latin typeface="Times New Roman"/>
                <a:cs typeface="Times New Roman"/>
              </a:rPr>
              <a:t>Generic </a:t>
            </a:r>
            <a:r>
              <a:rPr dirty="0" sz="1200" spc="-10">
                <a:latin typeface="Times New Roman"/>
                <a:cs typeface="Times New Roman"/>
              </a:rPr>
              <a:t>Approach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 spc="-10">
                <a:latin typeface="Times New Roman"/>
                <a:cs typeface="Times New Roman"/>
              </a:rPr>
              <a:t>143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8.5.2</a:t>
            </a:r>
            <a:r>
              <a:rPr dirty="0" sz="1200" spc="-5">
                <a:latin typeface="Times New Roman"/>
                <a:cs typeface="Times New Roman"/>
              </a:rPr>
              <a:t> Greedy MST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 spc="-10">
                <a:latin typeface="Times New Roman"/>
                <a:cs typeface="Times New Roman"/>
              </a:rPr>
              <a:t>144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8.5.3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Kruskal’s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 spc="-10">
                <a:latin typeface="Times New Roman"/>
                <a:cs typeface="Times New Roman"/>
              </a:rPr>
              <a:t>147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8.5.4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Prim’s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149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15"/>
              </a:spcBef>
              <a:tabLst>
                <a:tab pos="348615" algn="l"/>
              </a:tabLst>
            </a:pPr>
            <a:r>
              <a:rPr dirty="0" sz="1200" spc="-10">
                <a:latin typeface="Times New Roman"/>
                <a:cs typeface="Times New Roman"/>
              </a:rPr>
              <a:t>8.6	</a:t>
            </a:r>
            <a:r>
              <a:rPr dirty="0" sz="1200" spc="-5">
                <a:latin typeface="Times New Roman"/>
                <a:cs typeface="Times New Roman"/>
              </a:rPr>
              <a:t>Shortest </a:t>
            </a:r>
            <a:r>
              <a:rPr dirty="0" sz="1200" spc="-10">
                <a:latin typeface="Times New Roman"/>
                <a:cs typeface="Times New Roman"/>
              </a:rPr>
              <a:t>Paths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153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20"/>
              </a:spcBef>
              <a:tabLst>
                <a:tab pos="485140" algn="l"/>
              </a:tabLst>
            </a:pPr>
            <a:r>
              <a:rPr dirty="0" sz="1200" spc="-10">
                <a:latin typeface="Times New Roman"/>
                <a:cs typeface="Times New Roman"/>
              </a:rPr>
              <a:t>8.6.1	</a:t>
            </a:r>
            <a:r>
              <a:rPr dirty="0" sz="1200" spc="-15">
                <a:latin typeface="Times New Roman"/>
                <a:cs typeface="Times New Roman"/>
              </a:rPr>
              <a:t>Dijkstra’s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154</a:t>
            </a:r>
            <a:endParaRPr sz="1200">
              <a:latin typeface="Times New Roman"/>
              <a:cs typeface="Times New Roman"/>
            </a:endParaRPr>
          </a:p>
          <a:p>
            <a:pPr algn="just" marL="589280" marR="5080">
              <a:lnSpc>
                <a:spcPct val="136100"/>
              </a:lnSpc>
            </a:pPr>
            <a:r>
              <a:rPr dirty="0" sz="1200" spc="-10">
                <a:latin typeface="Times New Roman"/>
                <a:cs typeface="Times New Roman"/>
              </a:rPr>
              <a:t>8.6.2</a:t>
            </a:r>
            <a:r>
              <a:rPr dirty="0" sz="1200" spc="-5">
                <a:latin typeface="Times New Roman"/>
                <a:cs typeface="Times New Roman"/>
              </a:rPr>
              <a:t> Correctness of </a:t>
            </a:r>
            <a:r>
              <a:rPr dirty="0" sz="1200" spc="-15">
                <a:latin typeface="Times New Roman"/>
                <a:cs typeface="Times New Roman"/>
              </a:rPr>
              <a:t>Dijkstra’s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-5">
                <a:latin typeface="Times New Roman"/>
                <a:cs typeface="Times New Roman"/>
              </a:rPr>
              <a:t> 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 spc="-10">
                <a:latin typeface="Times New Roman"/>
                <a:cs typeface="Times New Roman"/>
              </a:rPr>
              <a:t>158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8.6.3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Bellman-Ford Algorithm</a:t>
            </a:r>
            <a:r>
              <a:rPr dirty="0" sz="1200" spc="-5">
                <a:latin typeface="Times New Roman"/>
                <a:cs typeface="Times New Roman"/>
              </a:rPr>
              <a:t> 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 spc="-10">
                <a:latin typeface="Times New Roman"/>
                <a:cs typeface="Times New Roman"/>
              </a:rPr>
              <a:t>159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8.6.4</a:t>
            </a:r>
            <a:r>
              <a:rPr dirty="0" sz="1200" spc="-5">
                <a:latin typeface="Times New Roman"/>
                <a:cs typeface="Times New Roman"/>
              </a:rPr>
              <a:t> Correctness of </a:t>
            </a:r>
            <a:r>
              <a:rPr dirty="0" sz="1200" spc="-10">
                <a:latin typeface="Times New Roman"/>
                <a:cs typeface="Times New Roman"/>
              </a:rPr>
              <a:t>Bellman-Ford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 spc="-10">
                <a:latin typeface="Times New Roman"/>
                <a:cs typeface="Times New Roman"/>
              </a:rPr>
              <a:t>160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8.6.5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Floyd-Warshall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4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161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240029" algn="l"/>
                <a:tab pos="61855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9</a:t>
            </a:r>
            <a:r>
              <a:rPr dirty="0" sz="1200" spc="-5" b="1">
                <a:latin typeface="Times New Roman"/>
                <a:cs typeface="Times New Roman"/>
              </a:rPr>
              <a:t>	</a:t>
            </a:r>
            <a:r>
              <a:rPr dirty="0" sz="1200" spc="-10" b="1">
                <a:latin typeface="Times New Roman"/>
                <a:cs typeface="Times New Roman"/>
              </a:rPr>
              <a:t>Co</a:t>
            </a:r>
            <a:r>
              <a:rPr dirty="0" sz="1200" spc="-5" b="1">
                <a:latin typeface="Times New Roman"/>
                <a:cs typeface="Times New Roman"/>
              </a:rPr>
              <a:t>mp</a:t>
            </a:r>
            <a:r>
              <a:rPr dirty="0" sz="1200" spc="-10" b="1">
                <a:latin typeface="Times New Roman"/>
                <a:cs typeface="Times New Roman"/>
              </a:rPr>
              <a:t>l</a:t>
            </a:r>
            <a:r>
              <a:rPr dirty="0" sz="1200" spc="-5" b="1">
                <a:latin typeface="Times New Roman"/>
                <a:cs typeface="Times New Roman"/>
              </a:rPr>
              <a:t>e</a:t>
            </a:r>
            <a:r>
              <a:rPr dirty="0" sz="1200" spc="-10" b="1">
                <a:latin typeface="Times New Roman"/>
                <a:cs typeface="Times New Roman"/>
              </a:rPr>
              <a:t>xit</a:t>
            </a:r>
            <a:r>
              <a:rPr dirty="0" sz="1200" spc="-5" b="1">
                <a:latin typeface="Times New Roman"/>
                <a:cs typeface="Times New Roman"/>
              </a:rPr>
              <a:t>y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ry</a:t>
            </a:r>
            <a:r>
              <a:rPr dirty="0" sz="1200" b="1">
                <a:latin typeface="Times New Roman"/>
                <a:cs typeface="Times New Roman"/>
              </a:rPr>
              <a:t>	</a:t>
            </a:r>
            <a:r>
              <a:rPr dirty="0" sz="1200" spc="-10" b="1">
                <a:latin typeface="Times New Roman"/>
                <a:cs typeface="Times New Roman"/>
              </a:rPr>
              <a:t>16</a:t>
            </a:r>
            <a:r>
              <a:rPr dirty="0" sz="1200" spc="-5" b="1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1110449" y="4093448"/>
          <a:ext cx="6236970" cy="4171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26235"/>
                <a:gridCol w="4212590"/>
                <a:gridCol w="396875"/>
              </a:tblGrid>
              <a:tr h="208485">
                <a:tc>
                  <a:txBody>
                    <a:bodyPr/>
                    <a:lstStyle/>
                    <a:p>
                      <a:pPr marL="31750">
                        <a:lnSpc>
                          <a:spcPts val="1305"/>
                        </a:lnSpc>
                        <a:tabLst>
                          <a:tab pos="380365" algn="l"/>
                        </a:tabLst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9.1	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Decision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Problems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1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170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08485">
                <a:tc>
                  <a:txBody>
                    <a:bodyPr/>
                    <a:lstStyle/>
                    <a:p>
                      <a:pPr marL="31750">
                        <a:lnSpc>
                          <a:spcPts val="1360"/>
                        </a:lnSpc>
                        <a:spcBef>
                          <a:spcPts val="180"/>
                        </a:spcBef>
                        <a:tabLst>
                          <a:tab pos="380365" algn="l"/>
                        </a:tabLst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9.2	Complexity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Classes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0"/>
                        </a:lnSpc>
                        <a:spcBef>
                          <a:spcPts val="18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360"/>
                        </a:lnSpc>
                        <a:spcBef>
                          <a:spcPts val="180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1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170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/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1129499" y="4495242"/>
            <a:ext cx="6198870" cy="1767839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  <a:tabLst>
                <a:tab pos="361315" algn="l"/>
              </a:tabLst>
            </a:pPr>
            <a:r>
              <a:rPr dirty="0" sz="1200" spc="-10">
                <a:latin typeface="Times New Roman"/>
                <a:cs typeface="Times New Roman"/>
              </a:rPr>
              <a:t>9.3	Polynomial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Verification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171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  <a:tabLst>
                <a:tab pos="361315" algn="l"/>
              </a:tabLst>
            </a:pPr>
            <a:r>
              <a:rPr dirty="0" sz="1200" spc="-10">
                <a:latin typeface="Times New Roman"/>
                <a:cs typeface="Times New Roman"/>
              </a:rPr>
              <a:t>9.4	</a:t>
            </a:r>
            <a:r>
              <a:rPr dirty="0" sz="1200" spc="-5">
                <a:latin typeface="Times New Roman"/>
                <a:cs typeface="Times New Roman"/>
              </a:rPr>
              <a:t>The Class </a:t>
            </a:r>
            <a:r>
              <a:rPr dirty="0" sz="1200" spc="-10">
                <a:latin typeface="Times New Roman"/>
                <a:cs typeface="Times New Roman"/>
              </a:rPr>
              <a:t>NP</a:t>
            </a:r>
            <a:r>
              <a:rPr dirty="0" sz="1200" spc="5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172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15"/>
              </a:spcBef>
              <a:tabLst>
                <a:tab pos="361315" algn="l"/>
                <a:tab pos="1188720" algn="l"/>
              </a:tabLst>
            </a:pPr>
            <a:r>
              <a:rPr dirty="0" sz="1200" spc="-10">
                <a:latin typeface="Times New Roman"/>
                <a:cs typeface="Times New Roman"/>
              </a:rPr>
              <a:t>9.5	</a:t>
            </a:r>
            <a:r>
              <a:rPr dirty="0" sz="1200" spc="-5">
                <a:latin typeface="Times New Roman"/>
                <a:cs typeface="Times New Roman"/>
              </a:rPr>
              <a:t>Reductions	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173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  <a:tabLst>
                <a:tab pos="361315" algn="l"/>
                <a:tab pos="2213610" algn="l"/>
              </a:tabLst>
            </a:pPr>
            <a:r>
              <a:rPr dirty="0" sz="1200" spc="-10">
                <a:latin typeface="Times New Roman"/>
                <a:cs typeface="Times New Roman"/>
              </a:rPr>
              <a:t>9.6	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Time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Reduction	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177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  <a:tabLst>
                <a:tab pos="361315" algn="l"/>
              </a:tabLst>
            </a:pPr>
            <a:r>
              <a:rPr dirty="0" sz="1200" spc="-10">
                <a:latin typeface="Times New Roman"/>
                <a:cs typeface="Times New Roman"/>
              </a:rPr>
              <a:t>9.7	</a:t>
            </a:r>
            <a:r>
              <a:rPr dirty="0" sz="1200" spc="-5">
                <a:latin typeface="Times New Roman"/>
                <a:cs typeface="Times New Roman"/>
              </a:rPr>
              <a:t>NP-Completeness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177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36100"/>
              </a:lnSpc>
              <a:tabLst>
                <a:tab pos="361315" algn="l"/>
                <a:tab pos="3474085" algn="l"/>
              </a:tabLst>
            </a:pPr>
            <a:r>
              <a:rPr dirty="0" sz="1200" spc="-10">
                <a:latin typeface="Times New Roman"/>
                <a:cs typeface="Times New Roman"/>
              </a:rPr>
              <a:t>9.8	</a:t>
            </a:r>
            <a:r>
              <a:rPr dirty="0" sz="1200" spc="-5">
                <a:latin typeface="Times New Roman"/>
                <a:cs typeface="Times New Roman"/>
              </a:rPr>
              <a:t>Boolean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Satisfiability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Problem: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Cook’s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Theorem	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178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9.9	Coping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NP-Completeness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184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699" y="1840994"/>
            <a:ext cx="1381125" cy="403225"/>
          </a:xfrm>
          <a:prstGeom prst="rect"/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Chapter</a:t>
            </a:r>
            <a:r>
              <a:rPr dirty="0" sz="2450" spc="-70" b="1" i="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1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1699" y="2539025"/>
            <a:ext cx="1734185" cy="4032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5" b="1">
                <a:latin typeface="Times New Roman"/>
                <a:cs typeface="Times New Roman"/>
              </a:rPr>
              <a:t>Introduction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8" y="3485003"/>
            <a:ext cx="6426200" cy="58781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lvl="1" marL="504190" indent="-492125">
              <a:lnSpc>
                <a:spcPct val="100000"/>
              </a:lnSpc>
              <a:spcBef>
                <a:spcPts val="120"/>
              </a:spcBef>
              <a:buAutoNum type="arabicPeriod"/>
              <a:tabLst>
                <a:tab pos="504190" algn="l"/>
                <a:tab pos="504825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Origin</a:t>
            </a:r>
            <a:r>
              <a:rPr dirty="0" sz="1700" spc="-1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of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word:</a:t>
            </a:r>
            <a:r>
              <a:rPr dirty="0" sz="1700" spc="90" b="1">
                <a:latin typeface="Times New Roman"/>
                <a:cs typeface="Times New Roman"/>
              </a:rPr>
              <a:t> </a:t>
            </a:r>
            <a:r>
              <a:rPr dirty="0" sz="1700" spc="5" b="1" i="1">
                <a:latin typeface="Times New Roman"/>
                <a:cs typeface="Times New Roman"/>
              </a:rPr>
              <a:t>Algorithm</a:t>
            </a:r>
            <a:endParaRPr sz="17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15"/>
              </a:spcBef>
              <a:buFont typeface="Times New Roman"/>
              <a:buAutoNum type="arabicPeriod"/>
            </a:pPr>
            <a:endParaRPr sz="1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Algorithm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muslim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author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Abu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Ja’far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Mohammad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ibn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Musa</a:t>
            </a:r>
            <a:endParaRPr sz="1200">
              <a:latin typeface="Times New Roman"/>
              <a:cs typeface="Times New Roman"/>
            </a:endParaRPr>
          </a:p>
          <a:p>
            <a:pPr marL="12700" marR="154940">
              <a:lnSpc>
                <a:spcPct val="100000"/>
              </a:lnSpc>
              <a:spcBef>
                <a:spcPts val="5"/>
              </a:spcBef>
            </a:pPr>
            <a:r>
              <a:rPr dirty="0" sz="1200" spc="-10" i="1">
                <a:latin typeface="Times New Roman"/>
                <a:cs typeface="Times New Roman"/>
              </a:rPr>
              <a:t>al-Khowarizmi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born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eighth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century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Khwarizm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(Kheva),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town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river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Oxus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 Uzbekistan.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Uzbekistan,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Muslim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country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thousand</a:t>
            </a:r>
            <a:r>
              <a:rPr dirty="0" sz="1200" spc="-5">
                <a:latin typeface="Times New Roman"/>
                <a:cs typeface="Times New Roman"/>
              </a:rPr>
              <a:t> years,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over</a:t>
            </a:r>
            <a:r>
              <a:rPr dirty="0" sz="1200" spc="-5">
                <a:latin typeface="Times New Roman"/>
                <a:cs typeface="Times New Roman"/>
              </a:rPr>
              <a:t>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Russians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1873.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30"/>
              </a:spcBef>
            </a:pPr>
            <a:r>
              <a:rPr dirty="0" sz="1200" spc="-10">
                <a:latin typeface="Times New Roman"/>
                <a:cs typeface="Times New Roman"/>
              </a:rPr>
              <a:t>His </a:t>
            </a:r>
            <a:r>
              <a:rPr dirty="0" sz="1200" spc="-5">
                <a:latin typeface="Times New Roman"/>
                <a:cs typeface="Times New Roman"/>
              </a:rPr>
              <a:t>year of </a:t>
            </a:r>
            <a:r>
              <a:rPr dirty="0" sz="1200" spc="-10">
                <a:latin typeface="Times New Roman"/>
                <a:cs typeface="Times New Roman"/>
              </a:rPr>
              <a:t>birth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15">
                <a:latin typeface="Times New Roman"/>
                <a:cs typeface="Times New Roman"/>
              </a:rPr>
              <a:t>known </a:t>
            </a:r>
            <a:r>
              <a:rPr dirty="0" sz="1200" spc="-20">
                <a:latin typeface="Times New Roman"/>
                <a:cs typeface="Times New Roman"/>
              </a:rPr>
              <a:t>exactly.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Al-Khwarizmi </a:t>
            </a:r>
            <a:r>
              <a:rPr dirty="0" sz="1200" spc="-5">
                <a:latin typeface="Times New Roman"/>
                <a:cs typeface="Times New Roman"/>
              </a:rPr>
              <a:t>parents </a:t>
            </a:r>
            <a:r>
              <a:rPr dirty="0" sz="1200" spc="-10">
                <a:latin typeface="Times New Roman"/>
                <a:cs typeface="Times New Roman"/>
              </a:rPr>
              <a:t>migrated </a:t>
            </a:r>
            <a:r>
              <a:rPr dirty="0" sz="1200" spc="-5">
                <a:latin typeface="Times New Roman"/>
                <a:cs typeface="Times New Roman"/>
              </a:rPr>
              <a:t>to a place south of Baghdad when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 a child.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has been established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contributions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 flourished under </a:t>
            </a:r>
            <a:r>
              <a:rPr dirty="0" sz="1200" spc="-10">
                <a:latin typeface="Times New Roman"/>
                <a:cs typeface="Times New Roman"/>
              </a:rPr>
              <a:t>Khalifah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Times New Roman"/>
                <a:cs typeface="Times New Roman"/>
              </a:rPr>
              <a:t>Al-Mamun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Baghdad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during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813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833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C.E.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Al-Khwarizmi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around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840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C.E.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al-Khwarizmi’s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written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book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titled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Kitab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al-mukhatasar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fi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hisab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al-jabr</a:t>
            </a:r>
            <a:endParaRPr sz="1200">
              <a:latin typeface="Times New Roman"/>
              <a:cs typeface="Times New Roman"/>
            </a:endParaRPr>
          </a:p>
          <a:p>
            <a:pPr algn="just" marL="12700" marR="99060">
              <a:lnSpc>
                <a:spcPct val="100000"/>
              </a:lnSpc>
              <a:spcBef>
                <a:spcPts val="5"/>
              </a:spcBef>
            </a:pPr>
            <a:r>
              <a:rPr dirty="0" sz="1200" spc="-10" i="1">
                <a:latin typeface="Times New Roman"/>
                <a:cs typeface="Times New Roman"/>
              </a:rPr>
              <a:t>wa’l-muqabalah </a:t>
            </a:r>
            <a:r>
              <a:rPr dirty="0" sz="1200" spc="-5">
                <a:latin typeface="Times New Roman"/>
                <a:cs typeface="Times New Roman"/>
              </a:rPr>
              <a:t>(The </a:t>
            </a:r>
            <a:r>
              <a:rPr dirty="0" sz="1200" spc="-10">
                <a:latin typeface="Times New Roman"/>
                <a:cs typeface="Times New Roman"/>
              </a:rPr>
              <a:t>Compendious </a:t>
            </a:r>
            <a:r>
              <a:rPr dirty="0" sz="1200" spc="-5">
                <a:latin typeface="Times New Roman"/>
                <a:cs typeface="Times New Roman"/>
              </a:rPr>
              <a:t>Book on Calculation by </a:t>
            </a:r>
            <a:r>
              <a:rPr dirty="0" sz="1200" spc="-10">
                <a:latin typeface="Times New Roman"/>
                <a:cs typeface="Times New Roman"/>
              </a:rPr>
              <a:t>Completion </a:t>
            </a:r>
            <a:r>
              <a:rPr dirty="0" sz="1200" spc="-5">
                <a:latin typeface="Times New Roman"/>
                <a:cs typeface="Times New Roman"/>
              </a:rPr>
              <a:t>and Balancing). It is </a:t>
            </a:r>
            <a:r>
              <a:rPr dirty="0" sz="1200" spc="-10">
                <a:latin typeface="Times New Roman"/>
                <a:cs typeface="Times New Roman"/>
              </a:rPr>
              <a:t>from the </a:t>
            </a:r>
            <a:r>
              <a:rPr dirty="0" sz="1200" spc="-5">
                <a:latin typeface="Times New Roman"/>
                <a:cs typeface="Times New Roman"/>
              </a:rPr>
              <a:t> titles of these </a:t>
            </a:r>
            <a:r>
              <a:rPr dirty="0" sz="1200" spc="-10">
                <a:latin typeface="Times New Roman"/>
                <a:cs typeface="Times New Roman"/>
              </a:rPr>
              <a:t>writings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his </a:t>
            </a:r>
            <a:r>
              <a:rPr dirty="0" sz="1200" spc="-5">
                <a:latin typeface="Times New Roman"/>
                <a:cs typeface="Times New Roman"/>
              </a:rPr>
              <a:t>name that </a:t>
            </a:r>
            <a:r>
              <a:rPr dirty="0" sz="1200" spc="-10">
                <a:latin typeface="Times New Roman"/>
                <a:cs typeface="Times New Roman"/>
              </a:rPr>
              <a:t>the words </a:t>
            </a:r>
            <a:r>
              <a:rPr dirty="0" sz="1200" spc="-10" i="1">
                <a:latin typeface="Times New Roman"/>
                <a:cs typeface="Times New Roman"/>
              </a:rPr>
              <a:t>algebra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 i="1">
                <a:latin typeface="Times New Roman"/>
                <a:cs typeface="Times New Roman"/>
              </a:rPr>
              <a:t>algorithm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derived. </a:t>
            </a:r>
            <a:r>
              <a:rPr dirty="0" sz="1200" spc="-5">
                <a:latin typeface="Times New Roman"/>
                <a:cs typeface="Times New Roman"/>
              </a:rPr>
              <a:t>As a result of </a:t>
            </a:r>
            <a:r>
              <a:rPr dirty="0" sz="1200" spc="-10">
                <a:latin typeface="Times New Roman"/>
                <a:cs typeface="Times New Roman"/>
              </a:rPr>
              <a:t>his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al-Khwarizmi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regarded</a:t>
            </a:r>
            <a:r>
              <a:rPr dirty="0" sz="1200" spc="-5">
                <a:latin typeface="Times New Roman"/>
                <a:cs typeface="Times New Roman"/>
              </a:rPr>
              <a:t> as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 spc="-10">
                <a:latin typeface="Times New Roman"/>
                <a:cs typeface="Times New Roman"/>
              </a:rPr>
              <a:t>outstanding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mathematician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50">
              <a:latin typeface="Times New Roman"/>
              <a:cs typeface="Times New Roman"/>
            </a:endParaRPr>
          </a:p>
          <a:p>
            <a:pPr lvl="1" marL="504190" indent="-492125">
              <a:lnSpc>
                <a:spcPct val="100000"/>
              </a:lnSpc>
              <a:buAutoNum type="arabicPeriod" startAt="2"/>
              <a:tabLst>
                <a:tab pos="504190" algn="l"/>
                <a:tab pos="504825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Algorithm:</a:t>
            </a:r>
            <a:r>
              <a:rPr dirty="0" sz="1700" spc="90" b="1">
                <a:latin typeface="Times New Roman"/>
                <a:cs typeface="Times New Roman"/>
              </a:rPr>
              <a:t> </a:t>
            </a:r>
            <a:r>
              <a:rPr dirty="0" sz="1700" b="1">
                <a:latin typeface="Times New Roman"/>
                <a:cs typeface="Times New Roman"/>
              </a:rPr>
              <a:t>Informal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Definition</a:t>
            </a:r>
            <a:endParaRPr sz="17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20"/>
              </a:spcBef>
              <a:buFont typeface="Times New Roman"/>
              <a:buAutoNum type="arabicPeriod" startAt="2"/>
            </a:pPr>
            <a:endParaRPr sz="1500">
              <a:latin typeface="Times New Roman"/>
              <a:cs typeface="Times New Roman"/>
            </a:endParaRPr>
          </a:p>
          <a:p>
            <a:pPr marL="12700" marR="255904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well-defined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computational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procedure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produces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value,</a:t>
            </a:r>
            <a:r>
              <a:rPr dirty="0" sz="1200" spc="-5">
                <a:latin typeface="Times New Roman"/>
                <a:cs typeface="Times New Roman"/>
              </a:rPr>
              <a:t>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values,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computational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 that </a:t>
            </a:r>
            <a:r>
              <a:rPr dirty="0" sz="1200" spc="-10">
                <a:latin typeface="Times New Roman"/>
                <a:cs typeface="Times New Roman"/>
              </a:rPr>
              <a:t>transform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50">
              <a:latin typeface="Times New Roman"/>
              <a:cs typeface="Times New Roman"/>
            </a:endParaRPr>
          </a:p>
          <a:p>
            <a:pPr lvl="1" marL="504190" indent="-492125">
              <a:lnSpc>
                <a:spcPct val="100000"/>
              </a:lnSpc>
              <a:buAutoNum type="arabicPeriod" startAt="3"/>
              <a:tabLst>
                <a:tab pos="504190" algn="l"/>
                <a:tab pos="504825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Algorithms,</a:t>
            </a:r>
            <a:r>
              <a:rPr dirty="0" sz="1700" spc="-2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Programming</a:t>
            </a:r>
            <a:endParaRPr sz="1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10477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understanding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essential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understanding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science: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Unlike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entity,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independent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specific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language,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compiler.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sense,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6426835" cy="84626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344035" algn="l"/>
              </a:tabLst>
            </a:pPr>
            <a:r>
              <a:rPr dirty="0" sz="1200" spc="-5">
                <a:latin typeface="Times New Roman"/>
                <a:cs typeface="Times New Roman"/>
              </a:rPr>
              <a:t>8	CHAPTER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1.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design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theory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behind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programs.</a:t>
            </a:r>
            <a:endParaRPr sz="1200">
              <a:latin typeface="Times New Roman"/>
              <a:cs typeface="Times New Roman"/>
            </a:endParaRPr>
          </a:p>
          <a:p>
            <a:pPr marL="12700" marR="17780">
              <a:lnSpc>
                <a:spcPct val="100000"/>
              </a:lnSpc>
              <a:spcBef>
                <a:spcPts val="520"/>
              </a:spcBef>
            </a:pPr>
            <a:r>
              <a:rPr dirty="0" sz="1200" spc="-10">
                <a:latin typeface="Times New Roman"/>
                <a:cs typeface="Times New Roman"/>
              </a:rPr>
              <a:t>Why</a:t>
            </a:r>
            <a:r>
              <a:rPr dirty="0" sz="1200" spc="-5">
                <a:latin typeface="Times New Roman"/>
                <a:cs typeface="Times New Roman"/>
              </a:rPr>
              <a:t> study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facets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one).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designer,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aware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issues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well.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project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major </a:t>
            </a:r>
            <a:r>
              <a:rPr dirty="0" sz="1200" spc="-5">
                <a:latin typeface="Times New Roman"/>
                <a:cs typeface="Times New Roman"/>
              </a:rPr>
              <a:t> types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issues, macro issues and </a:t>
            </a:r>
            <a:r>
              <a:rPr dirty="0" sz="1200" spc="-10">
                <a:latin typeface="Times New Roman"/>
                <a:cs typeface="Times New Roman"/>
              </a:rPr>
              <a:t>micro</a:t>
            </a:r>
            <a:r>
              <a:rPr dirty="0" sz="1200" spc="-5">
                <a:latin typeface="Times New Roman"/>
                <a:cs typeface="Times New Roman"/>
              </a:rPr>
              <a:t> issues.</a:t>
            </a:r>
            <a:endParaRPr sz="1200">
              <a:latin typeface="Times New Roman"/>
              <a:cs typeface="Times New Roman"/>
            </a:endParaRPr>
          </a:p>
          <a:p>
            <a:pPr marL="12700" marR="13589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Macro issues </a:t>
            </a:r>
            <a:r>
              <a:rPr dirty="0" sz="1200" spc="-20">
                <a:latin typeface="Times New Roman"/>
                <a:cs typeface="Times New Roman"/>
              </a:rPr>
              <a:t>involve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 such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does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coordinate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efforts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programmers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single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software,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establish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satisfies its </a:t>
            </a:r>
            <a:r>
              <a:rPr dirty="0" sz="1200" spc="-10">
                <a:latin typeface="Times New Roman"/>
                <a:cs typeface="Times New Roman"/>
              </a:rPr>
              <a:t>various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requirements.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macro issues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3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primary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courses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>
                <a:latin typeface="Times New Roman"/>
                <a:cs typeface="Times New Roman"/>
              </a:rPr>
              <a:t>software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engineering.</a:t>
            </a:r>
            <a:endParaRPr sz="1200">
              <a:latin typeface="Times New Roman"/>
              <a:cs typeface="Times New Roman"/>
            </a:endParaRPr>
          </a:p>
          <a:p>
            <a:pPr marL="12700" marR="71755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A great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deal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 spc="-10">
                <a:latin typeface="Times New Roman"/>
                <a:cs typeface="Times New Roman"/>
              </a:rPr>
              <a:t>complex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software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 consists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 </a:t>
            </a:r>
            <a:r>
              <a:rPr dirty="0" sz="1200" spc="-10">
                <a:latin typeface="Times New Roman"/>
                <a:cs typeface="Times New Roman"/>
              </a:rPr>
              <a:t>whose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fairly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mundane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(input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conversion,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error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checking,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report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generation).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critical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portion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software,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involve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hundreds 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lines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code,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majority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computational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spent.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goes: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80%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20%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code.)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micro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issues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involve </a:t>
            </a:r>
            <a:r>
              <a:rPr dirty="0" sz="1200" spc="-15">
                <a:latin typeface="Times New Roman"/>
                <a:cs typeface="Times New Roman"/>
              </a:rPr>
              <a:t> 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best to deal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these small critical sections.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45"/>
              </a:spcBef>
            </a:pPr>
            <a:r>
              <a:rPr dirty="0" sz="1200" spc="-5">
                <a:latin typeface="Times New Roman"/>
                <a:cs typeface="Times New Roman"/>
              </a:rPr>
              <a:t>It 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success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overall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project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written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manner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unfortunately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common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approach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inefficient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structure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problem,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attempt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fine-tune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performance</a:t>
            </a:r>
            <a:r>
              <a:rPr dirty="0" sz="1200" spc="-5">
                <a:latin typeface="Times New Roman"/>
                <a:cs typeface="Times New Roman"/>
              </a:rPr>
              <a:t>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applying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clever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tricks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implementing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expensive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fastest machines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around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boost </a:t>
            </a:r>
            <a:r>
              <a:rPr dirty="0" sz="1200" spc="-10">
                <a:latin typeface="Times New Roman"/>
                <a:cs typeface="Times New Roman"/>
              </a:rPr>
              <a:t>performance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much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possible.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underlying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bad,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often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 </a:t>
            </a:r>
            <a:r>
              <a:rPr dirty="0" sz="1200" spc="-10">
                <a:latin typeface="Times New Roman"/>
                <a:cs typeface="Times New Roman"/>
              </a:rPr>
              <a:t>amount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fine-tuning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going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make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substantial </a:t>
            </a:r>
            <a:r>
              <a:rPr dirty="0" sz="1200" spc="-10">
                <a:latin typeface="Times New Roman"/>
                <a:cs typeface="Times New Roman"/>
              </a:rPr>
              <a:t>difference.</a:t>
            </a:r>
            <a:endParaRPr sz="1200">
              <a:latin typeface="Times New Roman"/>
              <a:cs typeface="Times New Roman"/>
            </a:endParaRPr>
          </a:p>
          <a:p>
            <a:pPr marL="12700" marR="67945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Before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implement,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sure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 spc="-5">
                <a:latin typeface="Times New Roman"/>
                <a:cs typeface="Times New Roman"/>
              </a:rPr>
              <a:t> design.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design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taught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companion </a:t>
            </a:r>
            <a:r>
              <a:rPr dirty="0" sz="1200" spc="-5">
                <a:latin typeface="Times New Roman"/>
                <a:cs typeface="Times New Roman"/>
              </a:rPr>
              <a:t> courses that are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well.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CS301 deals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 spc="-5">
                <a:latin typeface="Times New Roman"/>
                <a:cs typeface="Times New Roman"/>
              </a:rPr>
              <a:t> data structures.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is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 really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independent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issue,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structures,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versa.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fact,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science </a:t>
            </a:r>
            <a:r>
              <a:rPr dirty="0" sz="1200" spc="-10">
                <a:latin typeface="Times New Roman"/>
                <a:cs typeface="Times New Roman"/>
              </a:rPr>
              <a:t>program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data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structures,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just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apply</a:t>
            </a:r>
            <a:r>
              <a:rPr dirty="0" sz="1200" spc="-5">
                <a:latin typeface="Times New Roman"/>
                <a:cs typeface="Times New Roman"/>
              </a:rPr>
              <a:t> to </a:t>
            </a:r>
            <a:r>
              <a:rPr dirty="0" sz="1200" spc="-10">
                <a:latin typeface="Times New Roman"/>
                <a:cs typeface="Times New Roman"/>
              </a:rPr>
              <a:t>various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applications: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compilers,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operating</a:t>
            </a:r>
            <a:r>
              <a:rPr dirty="0" sz="1200" spc="-5">
                <a:latin typeface="Times New Roman"/>
                <a:cs typeface="Times New Roman"/>
              </a:rPr>
              <a:t> systems,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databases,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artificial intelligence,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graphics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vision,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etc.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good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understanding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central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good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understanding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 programming.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1.4	Implementation</a:t>
            </a:r>
            <a:r>
              <a:rPr dirty="0" sz="1700" spc="-2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Issues</a:t>
            </a:r>
            <a:endParaRPr sz="1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450">
              <a:latin typeface="Times New Roman"/>
              <a:cs typeface="Times New Roman"/>
            </a:endParaRPr>
          </a:p>
          <a:p>
            <a:pPr marL="12700" marR="5715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elements that </a:t>
            </a:r>
            <a:r>
              <a:rPr dirty="0" sz="1200" spc="-10">
                <a:latin typeface="Times New Roman"/>
                <a:cs typeface="Times New Roman"/>
              </a:rPr>
              <a:t>we will </a:t>
            </a:r>
            <a:r>
              <a:rPr dirty="0" sz="1200" spc="-5">
                <a:latin typeface="Times New Roman"/>
                <a:cs typeface="Times New Roman"/>
              </a:rPr>
              <a:t>focus on in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course is to try to study </a:t>
            </a:r>
            <a:r>
              <a:rPr dirty="0" sz="1200" spc="-10">
                <a:latin typeface="Times New Roman"/>
                <a:cs typeface="Times New Roman"/>
              </a:rPr>
              <a:t>algorithms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10">
                <a:latin typeface="Times New Roman"/>
                <a:cs typeface="Times New Roman"/>
              </a:rPr>
              <a:t>pure </a:t>
            </a:r>
            <a:r>
              <a:rPr dirty="0" sz="1200" spc="-5">
                <a:latin typeface="Times New Roman"/>
                <a:cs typeface="Times New Roman"/>
              </a:rPr>
              <a:t>mathematical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objects,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ignore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issues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language,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operating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advantage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clearing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away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messy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affect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implementation.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very important.</a:t>
            </a:r>
            <a:endParaRPr sz="1200">
              <a:latin typeface="Times New Roman"/>
              <a:cs typeface="Times New Roman"/>
            </a:endParaRPr>
          </a:p>
          <a:p>
            <a:pPr marL="12700" marR="5715">
              <a:lnSpc>
                <a:spcPct val="100000"/>
              </a:lnSpc>
              <a:spcBef>
                <a:spcPts val="535"/>
              </a:spcBef>
            </a:pP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example,</a:t>
            </a:r>
            <a:r>
              <a:rPr dirty="0" sz="1200" spc="-5">
                <a:latin typeface="Times New Roman"/>
                <a:cs typeface="Times New Roman"/>
              </a:rPr>
              <a:t>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fact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current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processor technology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locality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reference.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Frequently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accessed data can be stored in </a:t>
            </a:r>
            <a:r>
              <a:rPr dirty="0" sz="1200" spc="-10">
                <a:latin typeface="Times New Roman"/>
                <a:cs typeface="Times New Roman"/>
              </a:rPr>
              <a:t>registers </a:t>
            </a:r>
            <a:r>
              <a:rPr dirty="0" sz="1200" spc="-5">
                <a:latin typeface="Times New Roman"/>
                <a:cs typeface="Times New Roman"/>
              </a:rPr>
              <a:t>or cache </a:t>
            </a:r>
            <a:r>
              <a:rPr dirty="0" sz="1200" spc="-20">
                <a:latin typeface="Times New Roman"/>
                <a:cs typeface="Times New Roman"/>
              </a:rPr>
              <a:t>memory.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Our </a:t>
            </a:r>
            <a:r>
              <a:rPr dirty="0" sz="1200" spc="-5">
                <a:latin typeface="Times New Roman"/>
                <a:cs typeface="Times New Roman"/>
              </a:rPr>
              <a:t>mathematical analysis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usually </a:t>
            </a:r>
            <a:r>
              <a:rPr dirty="0" sz="1200" spc="-10">
                <a:latin typeface="Times New Roman"/>
                <a:cs typeface="Times New Roman"/>
              </a:rPr>
              <a:t>ignore </a:t>
            </a:r>
            <a:r>
              <a:rPr dirty="0" sz="1200" spc="-5">
                <a:latin typeface="Times New Roman"/>
                <a:cs typeface="Times New Roman"/>
              </a:rPr>
              <a:t> these issues.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designer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realm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mathematics,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keep</a:t>
            </a:r>
            <a:r>
              <a:rPr dirty="0" sz="1200" spc="-5">
                <a:latin typeface="Times New Roman"/>
                <a:cs typeface="Times New Roman"/>
              </a:rPr>
              <a:t> an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6442710" cy="84626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337300" algn="l"/>
              </a:tabLst>
            </a:pPr>
            <a:r>
              <a:rPr dirty="0" sz="1200" spc="-10">
                <a:latin typeface="Times New Roman"/>
                <a:cs typeface="Times New Roman"/>
              </a:rPr>
              <a:t>1.5.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REVIEW	9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9271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open </a:t>
            </a:r>
            <a:r>
              <a:rPr dirty="0" sz="1200" spc="-15">
                <a:latin typeface="Times New Roman"/>
                <a:cs typeface="Times New Roman"/>
              </a:rPr>
              <a:t>eye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implementation </a:t>
            </a:r>
            <a:r>
              <a:rPr dirty="0" sz="1200" spc="-5">
                <a:latin typeface="Times New Roman"/>
                <a:cs typeface="Times New Roman"/>
              </a:rPr>
              <a:t>issues </a:t>
            </a:r>
            <a:r>
              <a:rPr dirty="0" sz="1200" spc="-15">
                <a:latin typeface="Times New Roman"/>
                <a:cs typeface="Times New Roman"/>
              </a:rPr>
              <a:t>down </a:t>
            </a:r>
            <a:r>
              <a:rPr dirty="0" sz="1200" spc="-10">
                <a:latin typeface="Times New Roman"/>
                <a:cs typeface="Times New Roman"/>
              </a:rPr>
              <a:t>the line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important for </a:t>
            </a:r>
            <a:r>
              <a:rPr dirty="0" sz="1200" spc="-5">
                <a:latin typeface="Times New Roman"/>
                <a:cs typeface="Times New Roman"/>
              </a:rPr>
              <a:t>final </a:t>
            </a:r>
            <a:r>
              <a:rPr dirty="0" sz="1200" spc="-10">
                <a:latin typeface="Times New Roman"/>
                <a:cs typeface="Times New Roman"/>
              </a:rPr>
              <a:t>implementation.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 example,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study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fast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semester,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heap-sort,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merge-sort,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quick-sort. </a:t>
            </a:r>
            <a:r>
              <a:rPr dirty="0" sz="1200" spc="-5">
                <a:latin typeface="Times New Roman"/>
                <a:cs typeface="Times New Roman"/>
              </a:rPr>
              <a:t> From 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analysis,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equal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-5">
                <a:latin typeface="Times New Roman"/>
                <a:cs typeface="Times New Roman"/>
              </a:rPr>
              <a:t> times.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among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(barring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extra</a:t>
            </a:r>
            <a:r>
              <a:rPr dirty="0" sz="1200" spc="-5">
                <a:latin typeface="Times New Roman"/>
                <a:cs typeface="Times New Roman"/>
              </a:rPr>
              <a:t> considerations) quick 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fastest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virtually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 spc="-10">
                <a:latin typeface="Times New Roman"/>
                <a:cs typeface="Times New Roman"/>
              </a:rPr>
              <a:t>modern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Why?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perspective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locality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reference.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typically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(perhaps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10-20%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difference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time).</a:t>
            </a:r>
            <a:endParaRPr sz="1200">
              <a:latin typeface="Times New Roman"/>
              <a:cs typeface="Times New Roman"/>
            </a:endParaRPr>
          </a:p>
          <a:p>
            <a:pPr marL="12700" marR="21590">
              <a:lnSpc>
                <a:spcPct val="100000"/>
              </a:lnSpc>
              <a:spcBef>
                <a:spcPts val="545"/>
              </a:spcBef>
            </a:pPr>
            <a:r>
              <a:rPr dirty="0" sz="1200" spc="-5">
                <a:latin typeface="Times New Roman"/>
                <a:cs typeface="Times New Roman"/>
              </a:rPr>
              <a:t>Thus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course is </a:t>
            </a:r>
            <a:r>
              <a:rPr dirty="0" sz="1200" spc="-10">
                <a:latin typeface="Times New Roman"/>
                <a:cs typeface="Times New Roman"/>
              </a:rPr>
              <a:t>not the </a:t>
            </a:r>
            <a:r>
              <a:rPr dirty="0" sz="1200" spc="-5">
                <a:latin typeface="Times New Roman"/>
                <a:cs typeface="Times New Roman"/>
              </a:rPr>
              <a:t>last </a:t>
            </a:r>
            <a:r>
              <a:rPr dirty="0" sz="1200" spc="-10">
                <a:latin typeface="Times New Roman"/>
                <a:cs typeface="Times New Roman"/>
              </a:rPr>
              <a:t>word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good program </a:t>
            </a:r>
            <a:r>
              <a:rPr dirty="0" sz="1200" spc="-5">
                <a:latin typeface="Times New Roman"/>
                <a:cs typeface="Times New Roman"/>
              </a:rPr>
              <a:t>design, and in </a:t>
            </a:r>
            <a:r>
              <a:rPr dirty="0" sz="1200" spc="-10">
                <a:latin typeface="Times New Roman"/>
                <a:cs typeface="Times New Roman"/>
              </a:rPr>
              <a:t>fact </a:t>
            </a:r>
            <a:r>
              <a:rPr dirty="0" sz="1200" spc="-5">
                <a:latin typeface="Times New Roman"/>
                <a:cs typeface="Times New Roman"/>
              </a:rPr>
              <a:t>it is perhaps </a:t>
            </a:r>
            <a:r>
              <a:rPr dirty="0" sz="1200" spc="-10">
                <a:latin typeface="Times New Roman"/>
                <a:cs typeface="Times New Roman"/>
              </a:rPr>
              <a:t>more </a:t>
            </a:r>
            <a:r>
              <a:rPr dirty="0" sz="1200" spc="-5">
                <a:latin typeface="Times New Roman"/>
                <a:cs typeface="Times New Roman"/>
              </a:rPr>
              <a:t>accurately just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overall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strategy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I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suggest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 up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few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designs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mathematical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perspective.</a:t>
            </a:r>
            <a:endParaRPr sz="1200">
              <a:latin typeface="Times New Roman"/>
              <a:cs typeface="Times New Roman"/>
            </a:endParaRPr>
          </a:p>
          <a:p>
            <a:pPr marL="12700" marR="151130">
              <a:lnSpc>
                <a:spcPct val="100000"/>
              </a:lnSpc>
              <a:spcBef>
                <a:spcPts val="15"/>
              </a:spcBef>
            </a:pPr>
            <a:r>
              <a:rPr dirty="0" sz="1200" spc="-10">
                <a:latin typeface="Times New Roman"/>
                <a:cs typeface="Times New Roman"/>
              </a:rPr>
              <a:t>Next prune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selection by consideration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practical matters </a:t>
            </a:r>
            <a:r>
              <a:rPr dirty="0" sz="1200" spc="-10">
                <a:latin typeface="Times New Roman"/>
                <a:cs typeface="Times New Roman"/>
              </a:rPr>
              <a:t>(like</a:t>
            </a:r>
            <a:r>
              <a:rPr dirty="0" sz="1200" spc="-5">
                <a:latin typeface="Times New Roman"/>
                <a:cs typeface="Times New Roman"/>
              </a:rPr>
              <a:t> locality of reference).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Finally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prototype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implementations)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 arise in </a:t>
            </a:r>
            <a:r>
              <a:rPr dirty="0" sz="1200" spc="-10">
                <a:latin typeface="Times New Roman"/>
                <a:cs typeface="Times New Roman"/>
              </a:rPr>
              <a:t>your </a:t>
            </a:r>
            <a:r>
              <a:rPr dirty="0" sz="1200" spc="-5">
                <a:latin typeface="Times New Roman"/>
                <a:cs typeface="Times New Roman"/>
              </a:rPr>
              <a:t>application </a:t>
            </a:r>
            <a:r>
              <a:rPr dirty="0" sz="1200" spc="-10">
                <a:latin typeface="Times New Roman"/>
                <a:cs typeface="Times New Roman"/>
              </a:rPr>
              <a:t>for the </a:t>
            </a:r>
            <a:r>
              <a:rPr dirty="0" sz="1200" spc="-5">
                <a:latin typeface="Times New Roman"/>
                <a:cs typeface="Times New Roman"/>
              </a:rPr>
              <a:t>final </a:t>
            </a:r>
            <a:r>
              <a:rPr dirty="0" sz="1200" spc="-10">
                <a:latin typeface="Times New Roman"/>
                <a:cs typeface="Times New Roman"/>
              </a:rPr>
              <a:t>fine-tuning.</a:t>
            </a:r>
            <a:r>
              <a:rPr dirty="0" sz="1200" spc="-5">
                <a:latin typeface="Times New Roman"/>
                <a:cs typeface="Times New Roman"/>
              </a:rPr>
              <a:t> Also, be </a:t>
            </a:r>
            <a:r>
              <a:rPr dirty="0" sz="1200" spc="-40">
                <a:latin typeface="Times New Roman"/>
                <a:cs typeface="Times New Roman"/>
              </a:rPr>
              <a:t>sure </a:t>
            </a:r>
            <a:r>
              <a:rPr dirty="0" sz="1200" spc="-5">
                <a:latin typeface="Times New Roman"/>
                <a:cs typeface="Times New Roman"/>
              </a:rPr>
              <a:t>to use </a:t>
            </a:r>
            <a:r>
              <a:rPr dirty="0" sz="1200" spc="-15">
                <a:latin typeface="Times New Roman"/>
                <a:cs typeface="Times New Roman"/>
              </a:rPr>
              <a:t>whatever </a:t>
            </a:r>
            <a:r>
              <a:rPr dirty="0" sz="1200" spc="-10">
                <a:latin typeface="Times New Roman"/>
                <a:cs typeface="Times New Roman"/>
              </a:rPr>
              <a:t>development tools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profilers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(programs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pin-point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sections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responsible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 most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lvl="1" marL="504190" indent="-492125">
              <a:lnSpc>
                <a:spcPct val="100000"/>
              </a:lnSpc>
              <a:spcBef>
                <a:spcPts val="1125"/>
              </a:spcBef>
              <a:buAutoNum type="arabicPeriod" startAt="5"/>
              <a:tabLst>
                <a:tab pos="504190" algn="l"/>
                <a:tab pos="504825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Course</a:t>
            </a:r>
            <a:r>
              <a:rPr dirty="0" sz="1700" spc="-1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in</a:t>
            </a:r>
            <a:r>
              <a:rPr dirty="0" sz="1700" spc="-15" b="1">
                <a:latin typeface="Times New Roman"/>
                <a:cs typeface="Times New Roman"/>
              </a:rPr>
              <a:t> </a:t>
            </a:r>
            <a:r>
              <a:rPr dirty="0" sz="1700" b="1">
                <a:latin typeface="Times New Roman"/>
                <a:cs typeface="Times New Roman"/>
              </a:rPr>
              <a:t>Review</a:t>
            </a:r>
            <a:endParaRPr sz="1700">
              <a:latin typeface="Times New Roman"/>
              <a:cs typeface="Times New Roman"/>
            </a:endParaRPr>
          </a:p>
          <a:p>
            <a:pPr marL="12700" marR="52705">
              <a:lnSpc>
                <a:spcPct val="100000"/>
              </a:lnSpc>
              <a:spcBef>
                <a:spcPts val="1655"/>
              </a:spcBef>
            </a:pPr>
            <a:r>
              <a:rPr dirty="0" sz="1200" spc="-5">
                <a:latin typeface="Times New Roman"/>
                <a:cs typeface="Times New Roman"/>
              </a:rPr>
              <a:t>This course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major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sections.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tools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necessary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analysis of </a:t>
            </a:r>
            <a:r>
              <a:rPr dirty="0" sz="1200" spc="-10">
                <a:latin typeface="Times New Roman"/>
                <a:cs typeface="Times New Roman"/>
              </a:rPr>
              <a:t>algorithms.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focus on asymptotics, summations, recurrences. The second element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deal </a:t>
            </a:r>
            <a:r>
              <a:rPr dirty="0" sz="1200" spc="-10">
                <a:latin typeface="Times New Roman"/>
                <a:cs typeface="Times New Roman"/>
              </a:rPr>
              <a:t>with one particularly important algorithmic </a:t>
            </a:r>
            <a:r>
              <a:rPr dirty="0" sz="1200" spc="-5">
                <a:latin typeface="Times New Roman"/>
                <a:cs typeface="Times New Roman"/>
              </a:rPr>
              <a:t>problem: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 </a:t>
            </a:r>
            <a:r>
              <a:rPr dirty="0" sz="1200" spc="-5">
                <a:latin typeface="Times New Roman"/>
                <a:cs typeface="Times New Roman"/>
              </a:rPr>
              <a:t>a list of </a:t>
            </a:r>
            <a:r>
              <a:rPr dirty="0" sz="1200" spc="-10">
                <a:latin typeface="Times New Roman"/>
                <a:cs typeface="Times New Roman"/>
              </a:rPr>
              <a:t>numbers.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15">
                <a:latin typeface="Times New Roman"/>
                <a:cs typeface="Times New Roman"/>
              </a:rPr>
              <a:t>show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strategies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case-study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techniques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designing</a:t>
            </a:r>
            <a:r>
              <a:rPr dirty="0" sz="1200" spc="-5">
                <a:latin typeface="Times New Roman"/>
                <a:cs typeface="Times New Roman"/>
              </a:rPr>
              <a:t> and analyzing </a:t>
            </a:r>
            <a:r>
              <a:rPr dirty="0" sz="1200" spc="-10">
                <a:latin typeface="Times New Roman"/>
                <a:cs typeface="Times New Roman"/>
              </a:rPr>
              <a:t>algorithms.</a:t>
            </a:r>
            <a:endParaRPr sz="1200">
              <a:latin typeface="Times New Roman"/>
              <a:cs typeface="Times New Roman"/>
            </a:endParaRPr>
          </a:p>
          <a:p>
            <a:pPr marL="12700" marR="344805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collection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various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algorithmic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 </a:t>
            </a:r>
            <a:r>
              <a:rPr dirty="0" sz="1200" spc="-5">
                <a:latin typeface="Times New Roman"/>
                <a:cs typeface="Times New Roman"/>
              </a:rPr>
              <a:t> techniques.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close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last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very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brief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theory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  <a:p>
            <a:pPr marL="12700" marR="178435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NP-completeness.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NP-complete problem </a:t>
            </a:r>
            <a:r>
              <a:rPr dirty="0" sz="1200" spc="-5">
                <a:latin typeface="Times New Roman"/>
                <a:cs typeface="Times New Roman"/>
              </a:rPr>
              <a:t>are those </a:t>
            </a:r>
            <a:r>
              <a:rPr dirty="0" sz="1200" spc="-10">
                <a:latin typeface="Times New Roman"/>
                <a:cs typeface="Times New Roman"/>
              </a:rPr>
              <a:t>for which </a:t>
            </a:r>
            <a:r>
              <a:rPr dirty="0" sz="1200" spc="-5">
                <a:latin typeface="Times New Roman"/>
                <a:cs typeface="Times New Roman"/>
              </a:rPr>
              <a:t>no </a:t>
            </a:r>
            <a:r>
              <a:rPr dirty="0" sz="1200" spc="-10">
                <a:latin typeface="Times New Roman"/>
                <a:cs typeface="Times New Roman"/>
              </a:rPr>
              <a:t>efficient algorithms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5">
                <a:latin typeface="Times New Roman"/>
                <a:cs typeface="Times New Roman"/>
              </a:rPr>
              <a:t>known, but </a:t>
            </a:r>
            <a:r>
              <a:rPr dirty="0" sz="1200" spc="-5">
                <a:latin typeface="Times New Roman"/>
                <a:cs typeface="Times New Roman"/>
              </a:rPr>
              <a:t>no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sure whether </a:t>
            </a:r>
            <a:r>
              <a:rPr dirty="0" sz="1200" spc="-10">
                <a:latin typeface="Times New Roman"/>
                <a:cs typeface="Times New Roman"/>
              </a:rPr>
              <a:t>efficient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might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exist.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lvl="1" marL="504190" indent="-492125">
              <a:lnSpc>
                <a:spcPct val="100000"/>
              </a:lnSpc>
              <a:spcBef>
                <a:spcPts val="1115"/>
              </a:spcBef>
              <a:buAutoNum type="arabicPeriod" startAt="6"/>
              <a:tabLst>
                <a:tab pos="504190" algn="l"/>
                <a:tab pos="504825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Analyzing</a:t>
            </a:r>
            <a:r>
              <a:rPr dirty="0" sz="1700" spc="-2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Algorithms</a:t>
            </a:r>
            <a:endParaRPr sz="1700">
              <a:latin typeface="Times New Roman"/>
              <a:cs typeface="Times New Roman"/>
            </a:endParaRPr>
          </a:p>
          <a:p>
            <a:pPr marL="12700" marR="215900">
              <a:lnSpc>
                <a:spcPct val="100000"/>
              </a:lnSpc>
              <a:spcBef>
                <a:spcPts val="1655"/>
              </a:spcBef>
            </a:pPr>
            <a:r>
              <a:rPr dirty="0" sz="1200" spc="-5">
                <a:latin typeface="Times New Roman"/>
                <a:cs typeface="Times New Roman"/>
              </a:rPr>
              <a:t>In 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agree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criteria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measuring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emphasis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course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algorithm,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hence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measure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amount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computational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resources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resources </a:t>
            </a:r>
            <a:r>
              <a:rPr dirty="0" sz="1200" spc="-10">
                <a:latin typeface="Times New Roman"/>
                <a:cs typeface="Times New Roman"/>
              </a:rPr>
              <a:t>include mostly running time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20">
                <a:latin typeface="Times New Roman"/>
                <a:cs typeface="Times New Roman"/>
              </a:rPr>
              <a:t>memory.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Depending on </a:t>
            </a:r>
            <a:r>
              <a:rPr dirty="0" sz="1200" spc="-10">
                <a:latin typeface="Times New Roman"/>
                <a:cs typeface="Times New Roman"/>
              </a:rPr>
              <a:t>the application, </a:t>
            </a:r>
            <a:r>
              <a:rPr dirty="0" sz="1200" spc="-5">
                <a:latin typeface="Times New Roman"/>
                <a:cs typeface="Times New Roman"/>
              </a:rPr>
              <a:t>there may be other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account,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database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communication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bandwidth</a:t>
            </a:r>
            <a:r>
              <a:rPr dirty="0" sz="1200" spc="-5">
                <a:latin typeface="Times New Roman"/>
                <a:cs typeface="Times New Roman"/>
              </a:rPr>
              <a:t> in a </a:t>
            </a:r>
            <a:r>
              <a:rPr dirty="0" sz="1200" spc="-10">
                <a:latin typeface="Times New Roman"/>
                <a:cs typeface="Times New Roman"/>
              </a:rPr>
              <a:t>networking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application.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45"/>
              </a:spcBef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practice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issues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include </a:t>
            </a:r>
            <a:r>
              <a:rPr dirty="0" sz="1200" spc="-5">
                <a:latin typeface="Times New Roman"/>
                <a:cs typeface="Times New Roman"/>
              </a:rPr>
              <a:t> issues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ease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debugging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maintaining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software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life-cycle.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 luxuries we will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course is to be able to assume that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5">
                <a:latin typeface="Times New Roman"/>
                <a:cs typeface="Times New Roman"/>
              </a:rPr>
              <a:t>a clean, fully-specified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mathematical description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computational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practice,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-5">
                <a:latin typeface="Times New Roman"/>
                <a:cs typeface="Times New Roman"/>
              </a:rPr>
              <a:t> must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designed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partial </a:t>
            </a:r>
            <a:r>
              <a:rPr dirty="0" sz="1200" spc="-10">
                <a:latin typeface="Times New Roman"/>
                <a:cs typeface="Times New Roman"/>
              </a:rPr>
              <a:t>knowledge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 specifications.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practice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6426835" cy="432181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344035" algn="l"/>
              </a:tabLst>
            </a:pPr>
            <a:r>
              <a:rPr dirty="0" sz="1200" spc="-5">
                <a:latin typeface="Times New Roman"/>
                <a:cs typeface="Times New Roman"/>
              </a:rPr>
              <a:t>10	CHAPTER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1.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algn="just" marL="12700" marR="8509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it is often necessary to design </a:t>
            </a:r>
            <a:r>
              <a:rPr dirty="0" sz="1200" spc="-10">
                <a:latin typeface="Times New Roman"/>
                <a:cs typeface="Times New Roman"/>
              </a:rPr>
              <a:t>algorithms </a:t>
            </a:r>
            <a:r>
              <a:rPr dirty="0" sz="1200" spc="-5">
                <a:latin typeface="Times New Roman"/>
                <a:cs typeface="Times New Roman"/>
              </a:rPr>
              <a:t>that are simple, and easily modified if </a:t>
            </a:r>
            <a:r>
              <a:rPr dirty="0" sz="1200" spc="-10">
                <a:latin typeface="Times New Roman"/>
                <a:cs typeface="Times New Roman"/>
              </a:rPr>
              <a:t>problem </a:t>
            </a:r>
            <a:r>
              <a:rPr dirty="0" sz="1200" spc="-5">
                <a:latin typeface="Times New Roman"/>
                <a:cs typeface="Times New Roman"/>
              </a:rPr>
              <a:t>parameters 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specifications are </a:t>
            </a:r>
            <a:r>
              <a:rPr dirty="0" sz="1200" spc="-10">
                <a:latin typeface="Times New Roman"/>
                <a:cs typeface="Times New Roman"/>
              </a:rPr>
              <a:t>slightly </a:t>
            </a:r>
            <a:r>
              <a:rPr dirty="0" sz="1200" spc="-5">
                <a:latin typeface="Times New Roman"/>
                <a:cs typeface="Times New Roman"/>
              </a:rPr>
              <a:t>modified. </a:t>
            </a:r>
            <a:r>
              <a:rPr dirty="0" sz="1200" spc="-15">
                <a:latin typeface="Times New Roman"/>
                <a:cs typeface="Times New Roman"/>
              </a:rPr>
              <a:t>Fortunately, </a:t>
            </a:r>
            <a:r>
              <a:rPr dirty="0" sz="1200" spc="-5">
                <a:latin typeface="Times New Roman"/>
                <a:cs typeface="Times New Roman"/>
              </a:rPr>
              <a:t>most of </a:t>
            </a:r>
            <a:r>
              <a:rPr dirty="0" sz="1200" spc="-50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algorithms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we will </a:t>
            </a:r>
            <a:r>
              <a:rPr dirty="0" sz="1200" spc="-5">
                <a:latin typeface="Times New Roman"/>
                <a:cs typeface="Times New Roman"/>
              </a:rPr>
              <a:t>discuss in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class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quite</a:t>
            </a:r>
            <a:r>
              <a:rPr dirty="0" sz="1200" spc="-5">
                <a:latin typeface="Times New Roman"/>
                <a:cs typeface="Times New Roman"/>
              </a:rPr>
              <a:t> simple, and are easy to </a:t>
            </a:r>
            <a:r>
              <a:rPr dirty="0" sz="1200" spc="-10">
                <a:latin typeface="Times New Roman"/>
                <a:cs typeface="Times New Roman"/>
              </a:rPr>
              <a:t>modify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subject to small problem </a:t>
            </a:r>
            <a:r>
              <a:rPr dirty="0" sz="1200" spc="-10">
                <a:latin typeface="Times New Roman"/>
                <a:cs typeface="Times New Roman"/>
              </a:rPr>
              <a:t>variations.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1.7	Model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of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Computation</a:t>
            </a:r>
            <a:endParaRPr sz="1700">
              <a:latin typeface="Times New Roman"/>
              <a:cs typeface="Times New Roman"/>
            </a:endParaRPr>
          </a:p>
          <a:p>
            <a:pPr marL="12700" marR="250825">
              <a:lnSpc>
                <a:spcPct val="100000"/>
              </a:lnSpc>
              <a:spcBef>
                <a:spcPts val="1685"/>
              </a:spcBef>
            </a:pPr>
            <a:r>
              <a:rPr dirty="0" sz="1200" spc="-10">
                <a:latin typeface="Times New Roman"/>
                <a:cs typeface="Times New Roman"/>
              </a:rPr>
              <a:t>Another</a:t>
            </a:r>
            <a:r>
              <a:rPr dirty="0" sz="1200" spc="-5">
                <a:latin typeface="Times New Roman"/>
                <a:cs typeface="Times New Roman"/>
              </a:rPr>
              <a:t> goal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independent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possible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operating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compiler,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language.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Unlike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programs,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understood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primarily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people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(i.e.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programmers)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quite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flexibility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low-level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omitted </a:t>
            </a:r>
            <a:r>
              <a:rPr dirty="0" sz="1200" spc="-5">
                <a:latin typeface="Times New Roman"/>
                <a:cs typeface="Times New Roman"/>
              </a:rPr>
              <a:t> (since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job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implements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in).</a:t>
            </a:r>
            <a:endParaRPr sz="1200">
              <a:latin typeface="Times New Roman"/>
              <a:cs typeface="Times New Roman"/>
            </a:endParaRPr>
          </a:p>
          <a:p>
            <a:pPr marL="12700" marR="84455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But,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anything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meaningful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settle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mathematical </a:t>
            </a:r>
            <a:r>
              <a:rPr dirty="0" sz="1200" spc="-10">
                <a:latin typeface="Times New Roman"/>
                <a:cs typeface="Times New Roman"/>
              </a:rPr>
              <a:t>model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computation.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model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reasonable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abstraction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standard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generic single-processor machine.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call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model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random</a:t>
            </a:r>
            <a:r>
              <a:rPr dirty="0" sz="1200" spc="-5" i="1">
                <a:latin typeface="Times New Roman"/>
                <a:cs typeface="Times New Roman"/>
              </a:rPr>
              <a:t> access </a:t>
            </a:r>
            <a:r>
              <a:rPr dirty="0" sz="1200" spc="-10" i="1">
                <a:latin typeface="Times New Roman"/>
                <a:cs typeface="Times New Roman"/>
              </a:rPr>
              <a:t>machine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RAM.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RAM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idealized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infinitely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random-access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memory.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Instructions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one-by-one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parallelism).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instruction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involves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performing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basic </a:t>
            </a:r>
            <a:r>
              <a:rPr dirty="0" sz="1200" spc="-10">
                <a:latin typeface="Times New Roman"/>
                <a:cs typeface="Times New Roman"/>
              </a:rPr>
              <a:t>operation </a:t>
            </a:r>
            <a:r>
              <a:rPr dirty="0" sz="1200" spc="-5">
                <a:latin typeface="Times New Roman"/>
                <a:cs typeface="Times New Roman"/>
              </a:rPr>
              <a:t> on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memory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integers;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let’s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avoid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floating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15">
                <a:latin typeface="Times New Roman"/>
                <a:cs typeface="Times New Roman"/>
              </a:rPr>
              <a:t>now).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Basic </a:t>
            </a:r>
            <a:r>
              <a:rPr dirty="0" sz="1200" spc="-10">
                <a:latin typeface="Times New Roman"/>
                <a:cs typeface="Times New Roman"/>
              </a:rPr>
              <a:t>operations include things like </a:t>
            </a:r>
            <a:r>
              <a:rPr dirty="0" sz="1200" spc="-5">
                <a:latin typeface="Times New Roman"/>
                <a:cs typeface="Times New Roman"/>
              </a:rPr>
              <a:t>assigning a </a:t>
            </a:r>
            <a:r>
              <a:rPr dirty="0" sz="1200" spc="-10">
                <a:latin typeface="Times New Roman"/>
                <a:cs typeface="Times New Roman"/>
              </a:rPr>
              <a:t>value </a:t>
            </a:r>
            <a:r>
              <a:rPr dirty="0" sz="1200" spc="-5">
                <a:latin typeface="Times New Roman"/>
                <a:cs typeface="Times New Roman"/>
              </a:rPr>
              <a:t>to a </a:t>
            </a:r>
            <a:r>
              <a:rPr dirty="0" sz="1200" spc="-10">
                <a:latin typeface="Times New Roman"/>
                <a:cs typeface="Times New Roman"/>
              </a:rPr>
              <a:t>variable, computing any </a:t>
            </a:r>
            <a:r>
              <a:rPr dirty="0" sz="1200" spc="-5">
                <a:latin typeface="Times New Roman"/>
                <a:cs typeface="Times New Roman"/>
              </a:rPr>
              <a:t>basic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arithmetic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operation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(+,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×</a:t>
            </a:r>
            <a:r>
              <a:rPr dirty="0" sz="1200" spc="-25">
                <a:latin typeface="Segoe UI Symbol"/>
                <a:cs typeface="Segoe UI Symbol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integer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division)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integer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performing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comparison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1699" y="4818368"/>
            <a:ext cx="62668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.g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bool</a:t>
            </a:r>
            <a:r>
              <a:rPr dirty="0" sz="1200" spc="-5">
                <a:latin typeface="Times New Roman"/>
                <a:cs typeface="Times New Roman"/>
              </a:rPr>
              <a:t>ean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tion</a:t>
            </a:r>
            <a:r>
              <a:rPr dirty="0" sz="1200" spc="-5">
                <a:latin typeface="Times New Roman"/>
                <a:cs typeface="Times New Roman"/>
              </a:rPr>
              <a:t>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rr</a:t>
            </a:r>
            <a:r>
              <a:rPr dirty="0" sz="1200" spc="-5">
                <a:latin typeface="Times New Roman"/>
                <a:cs typeface="Times New Roman"/>
              </a:rPr>
              <a:t>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5">
                <a:latin typeface="Times New Roman"/>
                <a:cs typeface="Times New Roman"/>
              </a:rPr>
              <a:t>e.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70">
                <a:latin typeface="Lucida Sans Unicode"/>
                <a:cs typeface="Lucida Sans Unicode"/>
              </a:rPr>
              <a:t>0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</a:t>
            </a:r>
            <a:r>
              <a:rPr dirty="0" sz="1200" spc="-10">
                <a:latin typeface="Times New Roman"/>
                <a:cs typeface="Times New Roman"/>
              </a:rPr>
              <a:t>um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710" y="4935184"/>
            <a:ext cx="6421120" cy="1624330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5">
                <a:latin typeface="Times New Roman"/>
                <a:cs typeface="Times New Roman"/>
              </a:rPr>
              <a:t>basic </a:t>
            </a:r>
            <a:r>
              <a:rPr dirty="0" sz="1200" spc="-10">
                <a:latin typeface="Times New Roman"/>
                <a:cs typeface="Times New Roman"/>
              </a:rPr>
              <a:t>operation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execute.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model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job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describing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computational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power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modern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(nonparallel) </a:t>
            </a:r>
            <a:r>
              <a:rPr dirty="0" sz="1200" spc="-5">
                <a:latin typeface="Times New Roman"/>
                <a:cs typeface="Times New Roman"/>
              </a:rPr>
              <a:t> machines.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does </a:t>
            </a:r>
            <a:r>
              <a:rPr dirty="0" sz="1200" spc="-10">
                <a:latin typeface="Times New Roman"/>
                <a:cs typeface="Times New Roman"/>
              </a:rPr>
              <a:t>not model </a:t>
            </a:r>
            <a:r>
              <a:rPr dirty="0" sz="1200" spc="-5">
                <a:latin typeface="Times New Roman"/>
                <a:cs typeface="Times New Roman"/>
              </a:rPr>
              <a:t>some elements, such as </a:t>
            </a:r>
            <a:r>
              <a:rPr dirty="0" sz="1200" spc="-10">
                <a:latin typeface="Times New Roman"/>
                <a:cs typeface="Times New Roman"/>
              </a:rPr>
              <a:t>efficiency due </a:t>
            </a:r>
            <a:r>
              <a:rPr dirty="0" sz="1200" spc="-5">
                <a:latin typeface="Times New Roman"/>
                <a:cs typeface="Times New Roman"/>
              </a:rPr>
              <a:t>to locality of reference, as described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previous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lecture.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“loop-holes”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hidden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subverting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rules)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beware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model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allow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billion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theoretically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derive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nonsensical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RAM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programs </a:t>
            </a:r>
            <a:r>
              <a:rPr dirty="0" sz="1200" spc="-5">
                <a:latin typeface="Times New Roman"/>
                <a:cs typeface="Times New Roman"/>
              </a:rPr>
              <a:t>that cannot be </a:t>
            </a:r>
            <a:r>
              <a:rPr dirty="0" sz="1200" spc="-10">
                <a:latin typeface="Times New Roman"/>
                <a:cs typeface="Times New Roman"/>
              </a:rPr>
              <a:t>implemented efficiently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>
                <a:latin typeface="Times New Roman"/>
                <a:cs typeface="Times New Roman"/>
              </a:rPr>
              <a:t>any </a:t>
            </a:r>
            <a:r>
              <a:rPr dirty="0" sz="1200" spc="-15">
                <a:latin typeface="Times New Roman"/>
                <a:cs typeface="Times New Roman"/>
              </a:rPr>
              <a:t>machine.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Nonetheless, </a:t>
            </a:r>
            <a:r>
              <a:rPr dirty="0" sz="1200" spc="-10">
                <a:latin typeface="Times New Roman"/>
                <a:cs typeface="Times New Roman"/>
              </a:rPr>
              <a:t>the RAM model </a:t>
            </a:r>
            <a:r>
              <a:rPr dirty="0" sz="1200" spc="-5">
                <a:latin typeface="Times New Roman"/>
                <a:cs typeface="Times New Roman"/>
              </a:rPr>
              <a:t>seems 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fairly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sound,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job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modelling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typical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machine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technology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early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60’s.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699" y="6884512"/>
            <a:ext cx="6426200" cy="20986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lvl="1" marL="504190" indent="-492125">
              <a:lnSpc>
                <a:spcPct val="100000"/>
              </a:lnSpc>
              <a:spcBef>
                <a:spcPts val="120"/>
              </a:spcBef>
              <a:buAutoNum type="arabicPeriod" startAt="8"/>
              <a:tabLst>
                <a:tab pos="504190" algn="l"/>
                <a:tab pos="504825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Example:</a:t>
            </a:r>
            <a:r>
              <a:rPr dirty="0" sz="1700" spc="9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2-dimension maxima</a:t>
            </a:r>
            <a:endParaRPr sz="17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1685"/>
              </a:spcBef>
            </a:pPr>
            <a:r>
              <a:rPr dirty="0" sz="1200" spc="-5">
                <a:latin typeface="Times New Roman"/>
                <a:cs typeface="Times New Roman"/>
              </a:rPr>
              <a:t>Let us do an </a:t>
            </a:r>
            <a:r>
              <a:rPr dirty="0" sz="1200" spc="-10">
                <a:latin typeface="Times New Roman"/>
                <a:cs typeface="Times New Roman"/>
              </a:rPr>
              <a:t>example </a:t>
            </a:r>
            <a:r>
              <a:rPr dirty="0" sz="1200" spc="-5">
                <a:latin typeface="Times New Roman"/>
                <a:cs typeface="Times New Roman"/>
              </a:rPr>
              <a:t>that illustrates </a:t>
            </a:r>
            <a:r>
              <a:rPr dirty="0" sz="1200" spc="-15">
                <a:latin typeface="Times New Roman"/>
                <a:cs typeface="Times New Roman"/>
              </a:rPr>
              <a:t>how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analyze algorithms. Suppose </a:t>
            </a:r>
            <a:r>
              <a:rPr dirty="0" sz="1200" spc="-10">
                <a:latin typeface="Times New Roman"/>
                <a:cs typeface="Times New Roman"/>
              </a:rPr>
              <a:t>you want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5">
                <a:latin typeface="Times New Roman"/>
                <a:cs typeface="Times New Roman"/>
              </a:rPr>
              <a:t>buy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20">
                <a:latin typeface="Times New Roman"/>
                <a:cs typeface="Times New Roman"/>
              </a:rPr>
              <a:t>car.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You 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 the </a:t>
            </a:r>
            <a:r>
              <a:rPr dirty="0" sz="1200" spc="-5">
                <a:latin typeface="Times New Roman"/>
                <a:cs typeface="Times New Roman"/>
              </a:rPr>
              <a:t>pick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fastest </a:t>
            </a:r>
            <a:r>
              <a:rPr dirty="0" sz="1200" spc="-20">
                <a:latin typeface="Times New Roman"/>
                <a:cs typeface="Times New Roman"/>
              </a:rPr>
              <a:t>car.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 </a:t>
            </a:r>
            <a:r>
              <a:rPr dirty="0" sz="1200" spc="-10">
                <a:latin typeface="Times New Roman"/>
                <a:cs typeface="Times New Roman"/>
              </a:rPr>
              <a:t>fast </a:t>
            </a:r>
            <a:r>
              <a:rPr dirty="0" sz="1200" spc="-5">
                <a:latin typeface="Times New Roman"/>
                <a:cs typeface="Times New Roman"/>
              </a:rPr>
              <a:t>cars are </a:t>
            </a:r>
            <a:r>
              <a:rPr dirty="0" sz="1200" spc="-15">
                <a:latin typeface="Times New Roman"/>
                <a:cs typeface="Times New Roman"/>
              </a:rPr>
              <a:t>expensive; </a:t>
            </a:r>
            <a:r>
              <a:rPr dirty="0" sz="1200" spc="-10">
                <a:latin typeface="Times New Roman"/>
                <a:cs typeface="Times New Roman"/>
              </a:rPr>
              <a:t>you want the </a:t>
            </a:r>
            <a:r>
              <a:rPr dirty="0" sz="1200" spc="-5">
                <a:latin typeface="Times New Roman"/>
                <a:cs typeface="Times New Roman"/>
              </a:rPr>
              <a:t>cheapest. </a:t>
            </a:r>
            <a:r>
              <a:rPr dirty="0" sz="1200" spc="-5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cannot decide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speed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price.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Definitely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car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there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another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both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faster 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cheaper.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say that </a:t>
            </a:r>
            <a:r>
              <a:rPr dirty="0" sz="1200" spc="-10">
                <a:latin typeface="Times New Roman"/>
                <a:cs typeface="Times New Roman"/>
              </a:rPr>
              <a:t>the fast, </a:t>
            </a:r>
            <a:r>
              <a:rPr dirty="0" sz="1200" spc="-5">
                <a:latin typeface="Times New Roman"/>
                <a:cs typeface="Times New Roman"/>
              </a:rPr>
              <a:t>cheap car </a:t>
            </a:r>
            <a:r>
              <a:rPr dirty="0" sz="1200" spc="-10" i="1">
                <a:latin typeface="Times New Roman"/>
                <a:cs typeface="Times New Roman"/>
              </a:rPr>
              <a:t>dominates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5">
                <a:latin typeface="Times New Roman"/>
                <a:cs typeface="Times New Roman"/>
              </a:rPr>
              <a:t>slow, </a:t>
            </a:r>
            <a:r>
              <a:rPr dirty="0" sz="1200" spc="-15">
                <a:latin typeface="Times New Roman"/>
                <a:cs typeface="Times New Roman"/>
              </a:rPr>
              <a:t>expensive </a:t>
            </a:r>
            <a:r>
              <a:rPr dirty="0" sz="1200" spc="-5">
                <a:latin typeface="Times New Roman"/>
                <a:cs typeface="Times New Roman"/>
              </a:rPr>
              <a:t>car </a:t>
            </a:r>
            <a:r>
              <a:rPr dirty="0" sz="1200" spc="-10">
                <a:latin typeface="Times New Roman"/>
                <a:cs typeface="Times New Roman"/>
              </a:rPr>
              <a:t>relative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your </a:t>
            </a:r>
            <a:r>
              <a:rPr dirty="0" sz="1200" spc="-5">
                <a:latin typeface="Times New Roman"/>
                <a:cs typeface="Times New Roman"/>
              </a:rPr>
              <a:t>selection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criteria.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a collection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cars,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list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those cars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other.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Here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might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model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700">
              <a:latin typeface="Times New Roman"/>
              <a:cs typeface="Times New Roman"/>
            </a:endParaRPr>
          </a:p>
          <a:p>
            <a:pPr lvl="2" marL="384175" indent="-151130">
              <a:lnSpc>
                <a:spcPct val="100000"/>
              </a:lnSpc>
              <a:buFont typeface="Segoe UI Symbol"/>
              <a:buChar char="•"/>
              <a:tabLst>
                <a:tab pos="384810" algn="l"/>
              </a:tabLst>
            </a:pPr>
            <a:r>
              <a:rPr dirty="0" sz="1200" spc="-5">
                <a:latin typeface="Times New Roman"/>
                <a:cs typeface="Times New Roman"/>
              </a:rPr>
              <a:t>Let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2-dimensional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 spc="-10">
                <a:latin typeface="Times New Roman"/>
                <a:cs typeface="Times New Roman"/>
              </a:rPr>
              <a:t>integer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coordinates,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p.x,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p.y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31902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1.9.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BRUTE-FORCE ALGORITHM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50909" y="926454"/>
            <a:ext cx="6483350" cy="28562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34975" indent="-151130">
              <a:lnSpc>
                <a:spcPct val="100000"/>
              </a:lnSpc>
              <a:spcBef>
                <a:spcPts val="95"/>
              </a:spcBef>
              <a:buFont typeface="Segoe UI Symbol"/>
              <a:buChar char="•"/>
              <a:tabLst>
                <a:tab pos="435609" algn="l"/>
              </a:tabLst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said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dominated</a:t>
            </a:r>
            <a:r>
              <a:rPr dirty="0" sz="1200" spc="-5">
                <a:latin typeface="Times New Roman"/>
                <a:cs typeface="Times New Roman"/>
              </a:rPr>
              <a:t>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70">
                <a:latin typeface="Lucida Sans Unicode"/>
                <a:cs typeface="Lucida Sans Unicode"/>
              </a:rPr>
              <a:t>p.x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65">
                <a:latin typeface="Lucida Sans Unicode"/>
                <a:cs typeface="Lucida Sans Unicode"/>
              </a:rPr>
              <a:t>q.x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Lucida Sans Unicode"/>
                <a:cs typeface="Lucida Sans Unicode"/>
              </a:rPr>
              <a:t>p.y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q.y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434975" marR="247015" indent="-150495">
              <a:lnSpc>
                <a:spcPct val="100000"/>
              </a:lnSpc>
              <a:spcBef>
                <a:spcPts val="960"/>
              </a:spcBef>
              <a:buFont typeface="Segoe UI Symbol"/>
              <a:buChar char="•"/>
              <a:tabLst>
                <a:tab pos="435609" algn="l"/>
              </a:tabLst>
            </a:pP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{p</a:t>
            </a:r>
            <a:r>
              <a:rPr dirty="0" baseline="-13888" sz="1200" spc="-60">
                <a:latin typeface="Verdana"/>
                <a:cs typeface="Verdana"/>
              </a:rPr>
              <a:t>1</a:t>
            </a:r>
            <a:r>
              <a:rPr dirty="0" sz="1200" spc="-4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p</a:t>
            </a:r>
            <a:r>
              <a:rPr dirty="0" baseline="-13888" sz="1200" spc="-67">
                <a:latin typeface="Verdana"/>
                <a:cs typeface="Verdana"/>
              </a:rPr>
              <a:t>2</a:t>
            </a:r>
            <a:r>
              <a:rPr dirty="0" sz="1200" spc="-45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p</a:t>
            </a:r>
            <a:r>
              <a:rPr dirty="0" baseline="-13888" sz="1200" spc="22">
                <a:latin typeface="Verdana"/>
                <a:cs typeface="Verdana"/>
              </a:rPr>
              <a:t>n</a:t>
            </a:r>
            <a:r>
              <a:rPr dirty="0" sz="1200" spc="15">
                <a:latin typeface="Lucida Sans Unicode"/>
                <a:cs typeface="Lucida Sans Unicode"/>
              </a:rPr>
              <a:t>}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2-space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said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dominated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other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Font typeface="Segoe UI Symbol"/>
              <a:buChar char="•"/>
            </a:pPr>
            <a:endParaRPr sz="1400">
              <a:latin typeface="Times New Roman"/>
              <a:cs typeface="Times New Roman"/>
            </a:endParaRPr>
          </a:p>
          <a:p>
            <a:pPr marL="63500" marR="55880" indent="-635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modelled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associate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Garamond"/>
                <a:cs typeface="Garamond"/>
              </a:rPr>
              <a:t>(</a:t>
            </a:r>
            <a:r>
              <a:rPr dirty="0" sz="1200" spc="-15">
                <a:latin typeface="Lucida Sans Unicode"/>
                <a:cs typeface="Lucida Sans Unicode"/>
              </a:rPr>
              <a:t>x,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y</a:t>
            </a:r>
            <a:r>
              <a:rPr dirty="0" sz="1200" spc="9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speed 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car and </a:t>
            </a:r>
            <a:r>
              <a:rPr dirty="0" sz="1200" spc="80">
                <a:latin typeface="Lucida Sans Unicode"/>
                <a:cs typeface="Lucida Sans Unicode"/>
              </a:rPr>
              <a:t>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 negation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price. </a:t>
            </a:r>
            <a:r>
              <a:rPr dirty="0" sz="1200" spc="-10">
                <a:latin typeface="Times New Roman"/>
                <a:cs typeface="Times New Roman"/>
              </a:rPr>
              <a:t>High </a:t>
            </a:r>
            <a:r>
              <a:rPr dirty="0" sz="1200" spc="80">
                <a:latin typeface="Lucida Sans Unicode"/>
                <a:cs typeface="Lucida Sans Unicode"/>
              </a:rPr>
              <a:t>y </a:t>
            </a:r>
            <a:r>
              <a:rPr dirty="0" sz="1200" spc="-10">
                <a:latin typeface="Times New Roman"/>
                <a:cs typeface="Times New Roman"/>
              </a:rPr>
              <a:t>value </a:t>
            </a:r>
            <a:r>
              <a:rPr dirty="0" sz="1200" spc="-5">
                <a:latin typeface="Times New Roman"/>
                <a:cs typeface="Times New Roman"/>
              </a:rPr>
              <a:t>means a cheap car and </a:t>
            </a:r>
            <a:r>
              <a:rPr dirty="0" sz="1200" spc="-15">
                <a:latin typeface="Times New Roman"/>
                <a:cs typeface="Times New Roman"/>
              </a:rPr>
              <a:t>low </a:t>
            </a:r>
            <a:r>
              <a:rPr dirty="0" sz="1200" spc="80">
                <a:latin typeface="Lucida Sans Unicode"/>
                <a:cs typeface="Lucida Sans Unicode"/>
              </a:rPr>
              <a:t>y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expensive </a:t>
            </a:r>
            <a:r>
              <a:rPr dirty="0" sz="1200" spc="-20">
                <a:latin typeface="Times New Roman"/>
                <a:cs typeface="Times New Roman"/>
              </a:rPr>
              <a:t>car.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Think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80">
                <a:latin typeface="Lucida Sans Unicode"/>
                <a:cs typeface="Lucida Sans Unicode"/>
              </a:rPr>
              <a:t>y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10">
                <a:latin typeface="Times New Roman"/>
                <a:cs typeface="Times New Roman"/>
              </a:rPr>
              <a:t>the money </a:t>
            </a:r>
            <a:r>
              <a:rPr dirty="0" sz="1200" spc="-5">
                <a:latin typeface="Times New Roman"/>
                <a:cs typeface="Times New Roman"/>
              </a:rPr>
              <a:t>left in </a:t>
            </a:r>
            <a:r>
              <a:rPr dirty="0" sz="1200" spc="-10">
                <a:latin typeface="Times New Roman"/>
                <a:cs typeface="Times New Roman"/>
              </a:rPr>
              <a:t>your pocket </a:t>
            </a:r>
            <a:r>
              <a:rPr dirty="0" sz="1200" spc="-5">
                <a:latin typeface="Times New Roman"/>
                <a:cs typeface="Times New Roman"/>
              </a:rPr>
              <a:t>after </a:t>
            </a:r>
            <a:r>
              <a:rPr dirty="0" sz="1200" spc="-10">
                <a:latin typeface="Times New Roman"/>
                <a:cs typeface="Times New Roman"/>
              </a:rPr>
              <a:t>you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paid </a:t>
            </a:r>
            <a:r>
              <a:rPr dirty="0" sz="1200" spc="-10">
                <a:latin typeface="Times New Roman"/>
                <a:cs typeface="Times New Roman"/>
              </a:rPr>
              <a:t>for the </a:t>
            </a:r>
            <a:r>
              <a:rPr dirty="0" sz="1200" spc="-20">
                <a:latin typeface="Times New Roman"/>
                <a:cs typeface="Times New Roman"/>
              </a:rPr>
              <a:t>car.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Maximal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 </a:t>
            </a:r>
            <a:r>
              <a:rPr dirty="0" sz="1200" spc="-5">
                <a:latin typeface="Times New Roman"/>
                <a:cs typeface="Times New Roman"/>
              </a:rPr>
              <a:t>correspond to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fastest and cheapest cars.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2-dimensional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Maxima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thus</a:t>
            </a:r>
            <a:r>
              <a:rPr dirty="0" sz="1200" spc="-5">
                <a:latin typeface="Times New Roman"/>
                <a:cs typeface="Times New Roman"/>
              </a:rPr>
              <a:t> defined as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434975" marR="201295" indent="-150495">
              <a:lnSpc>
                <a:spcPct val="100000"/>
              </a:lnSpc>
              <a:buFont typeface="Segoe UI Symbol"/>
              <a:buChar char="•"/>
              <a:tabLst>
                <a:tab pos="435609" algn="l"/>
              </a:tabLst>
            </a:pP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{p</a:t>
            </a:r>
            <a:r>
              <a:rPr dirty="0" baseline="-13888" sz="1200" spc="-60">
                <a:latin typeface="Verdana"/>
                <a:cs typeface="Verdana"/>
              </a:rPr>
              <a:t>1</a:t>
            </a:r>
            <a:r>
              <a:rPr dirty="0" sz="1200" spc="-4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p</a:t>
            </a:r>
            <a:r>
              <a:rPr dirty="0" baseline="-13888" sz="1200" spc="-67">
                <a:latin typeface="Verdana"/>
                <a:cs typeface="Verdana"/>
              </a:rPr>
              <a:t>2</a:t>
            </a:r>
            <a:r>
              <a:rPr dirty="0" sz="1200" spc="-45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p</a:t>
            </a:r>
            <a:r>
              <a:rPr dirty="0" baseline="-13888" sz="1200" spc="22">
                <a:latin typeface="Verdana"/>
                <a:cs typeface="Verdana"/>
              </a:rPr>
              <a:t>n</a:t>
            </a:r>
            <a:r>
              <a:rPr dirty="0" sz="1200" spc="15">
                <a:latin typeface="Lucida Sans Unicode"/>
                <a:cs typeface="Lucida Sans Unicode"/>
              </a:rPr>
              <a:t>}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2-space,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2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i.e.,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those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p</a:t>
            </a:r>
            <a:r>
              <a:rPr dirty="0" baseline="-13888" sz="1200" spc="67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 that </a:t>
            </a:r>
            <a:r>
              <a:rPr dirty="0" sz="1200" spc="45">
                <a:latin typeface="Lucida Sans Unicode"/>
                <a:cs typeface="Lucida Sans Unicode"/>
              </a:rPr>
              <a:t>p</a:t>
            </a:r>
            <a:r>
              <a:rPr dirty="0" baseline="-13888" sz="1200" spc="67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other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Here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2-d.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554223" y="3951422"/>
            <a:ext cx="3121660" cy="2590800"/>
            <a:chOff x="2554223" y="3951422"/>
            <a:chExt cx="3121660" cy="2590800"/>
          </a:xfrm>
        </p:grpSpPr>
        <p:sp>
          <p:nvSpPr>
            <p:cNvPr id="6" name="object 6"/>
            <p:cNvSpPr/>
            <p:nvPr/>
          </p:nvSpPr>
          <p:spPr>
            <a:xfrm>
              <a:off x="2554223" y="3951422"/>
              <a:ext cx="3121660" cy="2590800"/>
            </a:xfrm>
            <a:custGeom>
              <a:avLst/>
              <a:gdLst/>
              <a:ahLst/>
              <a:cxnLst/>
              <a:rect l="l" t="t" r="r" b="b"/>
              <a:pathLst>
                <a:path w="3121660" h="2590800">
                  <a:moveTo>
                    <a:pt x="3121411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121411" y="2590601"/>
                  </a:lnTo>
                  <a:lnTo>
                    <a:pt x="312141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921248" y="4194805"/>
              <a:ext cx="2324735" cy="2073910"/>
            </a:xfrm>
            <a:custGeom>
              <a:avLst/>
              <a:gdLst/>
              <a:ahLst/>
              <a:cxnLst/>
              <a:rect l="l" t="t" r="r" b="b"/>
              <a:pathLst>
                <a:path w="2324735" h="2073910">
                  <a:moveTo>
                    <a:pt x="315788" y="1948174"/>
                  </a:moveTo>
                  <a:lnTo>
                    <a:pt x="315788" y="2073493"/>
                  </a:lnTo>
                </a:path>
                <a:path w="2324735" h="2073910">
                  <a:moveTo>
                    <a:pt x="566409" y="1948174"/>
                  </a:moveTo>
                  <a:lnTo>
                    <a:pt x="566409" y="2073493"/>
                  </a:lnTo>
                </a:path>
                <a:path w="2324735" h="2073910">
                  <a:moveTo>
                    <a:pt x="817031" y="1948174"/>
                  </a:moveTo>
                  <a:lnTo>
                    <a:pt x="817031" y="2073493"/>
                  </a:lnTo>
                </a:path>
                <a:path w="2324735" h="2073910">
                  <a:moveTo>
                    <a:pt x="1069329" y="1948174"/>
                  </a:moveTo>
                  <a:lnTo>
                    <a:pt x="1069329" y="2073493"/>
                  </a:lnTo>
                </a:path>
                <a:path w="2324735" h="2073910">
                  <a:moveTo>
                    <a:pt x="1319951" y="1948174"/>
                  </a:moveTo>
                  <a:lnTo>
                    <a:pt x="1319951" y="2073493"/>
                  </a:lnTo>
                </a:path>
                <a:path w="2324735" h="2073910">
                  <a:moveTo>
                    <a:pt x="1570573" y="1948174"/>
                  </a:moveTo>
                  <a:lnTo>
                    <a:pt x="1570573" y="2073493"/>
                  </a:lnTo>
                </a:path>
                <a:path w="2324735" h="2073910">
                  <a:moveTo>
                    <a:pt x="1822871" y="1948174"/>
                  </a:moveTo>
                  <a:lnTo>
                    <a:pt x="1822871" y="2073493"/>
                  </a:lnTo>
                </a:path>
                <a:path w="2324735" h="2073910">
                  <a:moveTo>
                    <a:pt x="2073493" y="1948174"/>
                  </a:moveTo>
                  <a:lnTo>
                    <a:pt x="2073493" y="2073493"/>
                  </a:lnTo>
                </a:path>
                <a:path w="2324735" h="2073910">
                  <a:moveTo>
                    <a:pt x="126979" y="1757705"/>
                  </a:moveTo>
                  <a:lnTo>
                    <a:pt x="0" y="1757705"/>
                  </a:lnTo>
                </a:path>
                <a:path w="2324735" h="2073910">
                  <a:moveTo>
                    <a:pt x="126979" y="1507083"/>
                  </a:moveTo>
                  <a:lnTo>
                    <a:pt x="0" y="1507083"/>
                  </a:lnTo>
                </a:path>
                <a:path w="2324735" h="2073910">
                  <a:moveTo>
                    <a:pt x="126979" y="1256461"/>
                  </a:moveTo>
                  <a:lnTo>
                    <a:pt x="0" y="1256461"/>
                  </a:lnTo>
                </a:path>
                <a:path w="2324735" h="2073910">
                  <a:moveTo>
                    <a:pt x="126979" y="1004163"/>
                  </a:moveTo>
                  <a:lnTo>
                    <a:pt x="0" y="1004163"/>
                  </a:lnTo>
                </a:path>
                <a:path w="2324735" h="2073910">
                  <a:moveTo>
                    <a:pt x="126979" y="753541"/>
                  </a:moveTo>
                  <a:lnTo>
                    <a:pt x="0" y="753541"/>
                  </a:lnTo>
                </a:path>
                <a:path w="2324735" h="2073910">
                  <a:moveTo>
                    <a:pt x="126979" y="502919"/>
                  </a:moveTo>
                  <a:lnTo>
                    <a:pt x="0" y="502919"/>
                  </a:lnTo>
                </a:path>
                <a:path w="2324735" h="2073910">
                  <a:moveTo>
                    <a:pt x="126979" y="252282"/>
                  </a:moveTo>
                  <a:lnTo>
                    <a:pt x="0" y="252282"/>
                  </a:lnTo>
                </a:path>
                <a:path w="2324735" h="2073910">
                  <a:moveTo>
                    <a:pt x="126979" y="0"/>
                  </a:moveTo>
                  <a:lnTo>
                    <a:pt x="0" y="0"/>
                  </a:lnTo>
                </a:path>
                <a:path w="2324735" h="2073910">
                  <a:moveTo>
                    <a:pt x="2324130" y="1948174"/>
                  </a:moveTo>
                  <a:lnTo>
                    <a:pt x="2324130" y="2073493"/>
                  </a:lnTo>
                </a:path>
              </a:pathLst>
            </a:custGeom>
            <a:ln w="3492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762515" y="5255855"/>
            <a:ext cx="104139" cy="779145"/>
          </a:xfrm>
          <a:prstGeom prst="rect">
            <a:avLst/>
          </a:prstGeom>
        </p:spPr>
        <p:txBody>
          <a:bodyPr wrap="square" lIns="0" tIns="800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630"/>
              </a:spcBef>
            </a:pPr>
            <a:r>
              <a:rPr dirty="0" sz="1300" spc="-5">
                <a:solidFill>
                  <a:srgbClr val="FFFF23"/>
                </a:solidFill>
                <a:latin typeface="Arial"/>
                <a:cs typeface="Arial"/>
              </a:rPr>
              <a:t>6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r>
              <a:rPr dirty="0" sz="1300" spc="-5">
                <a:solidFill>
                  <a:srgbClr val="FFFF23"/>
                </a:solidFill>
                <a:latin typeface="Arial"/>
                <a:cs typeface="Arial"/>
              </a:rPr>
              <a:t>4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1300" spc="-5">
                <a:solidFill>
                  <a:srgbClr val="FFFF23"/>
                </a:solidFill>
                <a:latin typeface="Arial"/>
                <a:cs typeface="Arial"/>
              </a:rPr>
              <a:t>2</a:t>
            </a:r>
            <a:endParaRPr sz="13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685658" y="4280090"/>
            <a:ext cx="195580" cy="1046480"/>
          </a:xfrm>
          <a:prstGeom prst="rect">
            <a:avLst/>
          </a:prstGeom>
        </p:spPr>
        <p:txBody>
          <a:bodyPr wrap="square" lIns="0" tIns="654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15"/>
              </a:spcBef>
            </a:pPr>
            <a:r>
              <a:rPr dirty="0" sz="1300" spc="-5">
                <a:solidFill>
                  <a:srgbClr val="FFFF23"/>
                </a:solidFill>
                <a:latin typeface="Arial"/>
                <a:cs typeface="Arial"/>
              </a:rPr>
              <a:t>14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r>
              <a:rPr dirty="0" sz="1300" spc="-5">
                <a:solidFill>
                  <a:srgbClr val="FFFF23"/>
                </a:solidFill>
                <a:latin typeface="Arial"/>
                <a:cs typeface="Arial"/>
              </a:rPr>
              <a:t>12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15"/>
              </a:spcBef>
            </a:pPr>
            <a:r>
              <a:rPr dirty="0" sz="1300" spc="-5">
                <a:solidFill>
                  <a:srgbClr val="FFFF23"/>
                </a:solidFill>
                <a:latin typeface="Arial"/>
                <a:cs typeface="Arial"/>
              </a:rPr>
              <a:t>10</a:t>
            </a:r>
            <a:endParaRPr sz="1300">
              <a:latin typeface="Arial"/>
              <a:cs typeface="Arial"/>
            </a:endParaRPr>
          </a:p>
          <a:p>
            <a:pPr marL="76835">
              <a:lnSpc>
                <a:spcPct val="100000"/>
              </a:lnSpc>
              <a:spcBef>
                <a:spcPts val="560"/>
              </a:spcBef>
            </a:pPr>
            <a:r>
              <a:rPr dirty="0" sz="1300" spc="-5">
                <a:solidFill>
                  <a:srgbClr val="FFFF23"/>
                </a:solidFill>
                <a:latin typeface="Arial"/>
                <a:cs typeface="Arial"/>
              </a:rPr>
              <a:t>8</a:t>
            </a:r>
            <a:endParaRPr sz="1300">
              <a:latin typeface="Arial"/>
              <a:cs typeface="Arial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2931276" y="4131300"/>
            <a:ext cx="2564765" cy="2125345"/>
            <a:chOff x="2931276" y="4131300"/>
            <a:chExt cx="2564765" cy="2125345"/>
          </a:xfrm>
        </p:grpSpPr>
        <p:sp>
          <p:nvSpPr>
            <p:cNvPr id="11" name="object 11"/>
            <p:cNvSpPr/>
            <p:nvPr/>
          </p:nvSpPr>
          <p:spPr>
            <a:xfrm>
              <a:off x="2983062" y="4209831"/>
              <a:ext cx="0" cy="1995170"/>
            </a:xfrm>
            <a:custGeom>
              <a:avLst/>
              <a:gdLst/>
              <a:ahLst/>
              <a:cxnLst/>
              <a:rect l="l" t="t" r="r" b="b"/>
              <a:pathLst>
                <a:path w="0" h="1995170">
                  <a:moveTo>
                    <a:pt x="0" y="1994976"/>
                  </a:moveTo>
                  <a:lnTo>
                    <a:pt x="0" y="0"/>
                  </a:lnTo>
                </a:path>
              </a:pathLst>
            </a:custGeom>
            <a:ln w="17462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31276" y="4131300"/>
              <a:ext cx="106923" cy="103601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983062" y="6204808"/>
              <a:ext cx="2434590" cy="0"/>
            </a:xfrm>
            <a:custGeom>
              <a:avLst/>
              <a:gdLst/>
              <a:ahLst/>
              <a:cxnLst/>
              <a:rect l="l" t="t" r="r" b="b"/>
              <a:pathLst>
                <a:path w="2434590" h="0">
                  <a:moveTo>
                    <a:pt x="0" y="0"/>
                  </a:moveTo>
                  <a:lnTo>
                    <a:pt x="2434407" y="0"/>
                  </a:lnTo>
                </a:path>
              </a:pathLst>
            </a:custGeom>
            <a:ln w="17462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392399" y="6153007"/>
              <a:ext cx="103601" cy="103601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96560" y="5537770"/>
              <a:ext cx="79275" cy="77614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47182" y="5663073"/>
              <a:ext cx="79275" cy="77614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47182" y="4784228"/>
              <a:ext cx="79275" cy="77614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72500" y="6039014"/>
              <a:ext cx="79275" cy="80952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823122" y="5287148"/>
              <a:ext cx="82628" cy="77614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075421" y="4909532"/>
              <a:ext cx="80952" cy="77614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26042" y="5537770"/>
              <a:ext cx="80952" cy="77614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76664" y="5788392"/>
              <a:ext cx="80952" cy="79291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3290505" y="5439361"/>
            <a:ext cx="572135" cy="34480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ts val="1240"/>
              </a:lnSpc>
              <a:spcBef>
                <a:spcPts val="120"/>
              </a:spcBef>
            </a:pPr>
            <a:r>
              <a:rPr dirty="0" sz="1050" spc="5">
                <a:solidFill>
                  <a:srgbClr val="FFFF23"/>
                </a:solidFill>
                <a:latin typeface="Arial"/>
                <a:cs typeface="Arial"/>
              </a:rPr>
              <a:t>(2,5)</a:t>
            </a:r>
            <a:endParaRPr sz="1050">
              <a:latin typeface="Arial"/>
              <a:cs typeface="Arial"/>
            </a:endParaRPr>
          </a:p>
          <a:p>
            <a:pPr marL="278765">
              <a:lnSpc>
                <a:spcPts val="1240"/>
              </a:lnSpc>
            </a:pPr>
            <a:r>
              <a:rPr dirty="0" sz="1050" spc="5">
                <a:solidFill>
                  <a:srgbClr val="FFFF23"/>
                </a:solidFill>
                <a:latin typeface="Arial"/>
                <a:cs typeface="Arial"/>
              </a:rPr>
              <a:t>(4,4)</a:t>
            </a:r>
            <a:endParaRPr sz="10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185234" y="5878829"/>
            <a:ext cx="2160270" cy="592455"/>
          </a:xfrm>
          <a:prstGeom prst="rect">
            <a:avLst/>
          </a:prstGeom>
        </p:spPr>
        <p:txBody>
          <a:bodyPr wrap="square" lIns="0" tIns="108585" rIns="0" bIns="0" rtlCol="0" vert="horz">
            <a:spAutoFit/>
          </a:bodyPr>
          <a:lstStyle/>
          <a:p>
            <a:pPr marL="502920">
              <a:lnSpc>
                <a:spcPct val="100000"/>
              </a:lnSpc>
              <a:spcBef>
                <a:spcPts val="855"/>
              </a:spcBef>
            </a:pPr>
            <a:r>
              <a:rPr dirty="0" sz="1050" spc="5">
                <a:solidFill>
                  <a:srgbClr val="FFFF23"/>
                </a:solidFill>
                <a:latin typeface="Arial"/>
                <a:cs typeface="Arial"/>
              </a:rPr>
              <a:t>(5,1)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85"/>
              </a:spcBef>
              <a:tabLst>
                <a:tab pos="252095" algn="l"/>
                <a:tab pos="499109" algn="l"/>
                <a:tab pos="755015" algn="l"/>
              </a:tabLst>
            </a:pPr>
            <a:r>
              <a:rPr dirty="0" sz="1300" spc="-5">
                <a:solidFill>
                  <a:srgbClr val="FFFF23"/>
                </a:solidFill>
                <a:latin typeface="Arial"/>
                <a:cs typeface="Arial"/>
              </a:rPr>
              <a:t>2	4	6	8</a:t>
            </a:r>
            <a:r>
              <a:rPr dirty="0" sz="1300" spc="40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300" spc="-5">
                <a:solidFill>
                  <a:srgbClr val="FFFF23"/>
                </a:solidFill>
                <a:latin typeface="Arial"/>
                <a:cs typeface="Arial"/>
              </a:rPr>
              <a:t>10</a:t>
            </a:r>
            <a:r>
              <a:rPr dirty="0" sz="1300" spc="270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300" spc="-5">
                <a:solidFill>
                  <a:srgbClr val="FFFF23"/>
                </a:solidFill>
                <a:latin typeface="Arial"/>
                <a:cs typeface="Arial"/>
              </a:rPr>
              <a:t>12</a:t>
            </a:r>
            <a:r>
              <a:rPr dirty="0" sz="1300" spc="9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300" spc="-5">
                <a:solidFill>
                  <a:srgbClr val="FFFF23"/>
                </a:solidFill>
                <a:latin typeface="Arial"/>
                <a:cs typeface="Arial"/>
              </a:rPr>
              <a:t>14</a:t>
            </a:r>
            <a:r>
              <a:rPr dirty="0" sz="1300" spc="21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300" spc="-5">
                <a:solidFill>
                  <a:srgbClr val="FFFF23"/>
                </a:solidFill>
                <a:latin typeface="Arial"/>
                <a:cs typeface="Arial"/>
              </a:rPr>
              <a:t>16</a:t>
            </a:r>
            <a:r>
              <a:rPr dirty="0" sz="1300" spc="160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300" spc="-5">
                <a:solidFill>
                  <a:srgbClr val="FFFF23"/>
                </a:solidFill>
                <a:latin typeface="Arial"/>
                <a:cs typeface="Arial"/>
              </a:rPr>
              <a:t>18</a:t>
            </a:r>
            <a:endParaRPr sz="13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925420" y="5187066"/>
            <a:ext cx="293370" cy="1892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50" spc="5">
                <a:solidFill>
                  <a:srgbClr val="FFFF23"/>
                </a:solidFill>
                <a:latin typeface="Arial"/>
                <a:cs typeface="Arial"/>
              </a:rPr>
              <a:t>(7,7)</a:t>
            </a:r>
            <a:endParaRPr sz="10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945469" y="4465267"/>
            <a:ext cx="368935" cy="1892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50" spc="5">
                <a:solidFill>
                  <a:srgbClr val="FFFF23"/>
                </a:solidFill>
                <a:latin typeface="Arial"/>
                <a:cs typeface="Arial"/>
              </a:rPr>
              <a:t>(7,13)</a:t>
            </a:r>
            <a:endParaRPr sz="105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572874" y="4717562"/>
            <a:ext cx="854710" cy="1892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  <a:tabLst>
                <a:tab pos="485775" algn="l"/>
              </a:tabLst>
            </a:pPr>
            <a:r>
              <a:rPr dirty="0" sz="1050" spc="5">
                <a:solidFill>
                  <a:srgbClr val="FFFF23"/>
                </a:solidFill>
                <a:latin typeface="Arial"/>
                <a:cs typeface="Arial"/>
              </a:rPr>
              <a:t>(4,11)</a:t>
            </a:r>
            <a:r>
              <a:rPr dirty="0" sz="1050" spc="5">
                <a:solidFill>
                  <a:srgbClr val="FFFF23"/>
                </a:solidFill>
                <a:latin typeface="Arial"/>
                <a:cs typeface="Arial"/>
              </a:rPr>
              <a:t>	</a:t>
            </a:r>
            <a:r>
              <a:rPr dirty="0" sz="1050" spc="5">
                <a:solidFill>
                  <a:srgbClr val="FFFF23"/>
                </a:solidFill>
                <a:latin typeface="Arial"/>
                <a:cs typeface="Arial"/>
              </a:rPr>
              <a:t>(9,10)</a:t>
            </a:r>
            <a:endParaRPr sz="10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553653" y="4516770"/>
            <a:ext cx="696595" cy="50038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700"/>
              </a:spcBef>
            </a:pPr>
            <a:r>
              <a:rPr dirty="0" sz="1050" spc="10">
                <a:solidFill>
                  <a:srgbClr val="FFFF23"/>
                </a:solidFill>
                <a:latin typeface="Arial"/>
                <a:cs typeface="Arial"/>
              </a:rPr>
              <a:t>(12,12)</a:t>
            </a:r>
            <a:endParaRPr sz="1050">
              <a:latin typeface="Arial"/>
              <a:cs typeface="Arial"/>
            </a:endParaRPr>
          </a:p>
          <a:p>
            <a:pPr marL="252095">
              <a:lnSpc>
                <a:spcPct val="100000"/>
              </a:lnSpc>
              <a:spcBef>
                <a:spcPts val="610"/>
              </a:spcBef>
            </a:pPr>
            <a:r>
              <a:rPr dirty="0" sz="1050" spc="10">
                <a:solidFill>
                  <a:srgbClr val="FFFF23"/>
                </a:solidFill>
                <a:latin typeface="Arial"/>
                <a:cs typeface="Arial"/>
              </a:rPr>
              <a:t>(14,10)</a:t>
            </a:r>
            <a:endParaRPr sz="10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937945" y="5218812"/>
            <a:ext cx="368935" cy="1892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50" spc="5">
                <a:solidFill>
                  <a:srgbClr val="FFFF23"/>
                </a:solidFill>
                <a:latin typeface="Arial"/>
                <a:cs typeface="Arial"/>
              </a:rPr>
              <a:t>(15,7)</a:t>
            </a:r>
            <a:endParaRPr sz="105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216144" y="5345795"/>
            <a:ext cx="612775" cy="4533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50" spc="5">
                <a:solidFill>
                  <a:srgbClr val="FFFF23"/>
                </a:solidFill>
                <a:latin typeface="Arial"/>
                <a:cs typeface="Arial"/>
              </a:rPr>
              <a:t>(11,5)</a:t>
            </a:r>
            <a:endParaRPr sz="1050">
              <a:latin typeface="Arial"/>
              <a:cs typeface="Arial"/>
            </a:endParaRPr>
          </a:p>
          <a:p>
            <a:pPr marL="243840">
              <a:lnSpc>
                <a:spcPct val="100000"/>
              </a:lnSpc>
              <a:spcBef>
                <a:spcPts val="819"/>
              </a:spcBef>
            </a:pPr>
            <a:r>
              <a:rPr dirty="0" sz="1050" spc="5">
                <a:solidFill>
                  <a:srgbClr val="FFFF23"/>
                </a:solidFill>
                <a:latin typeface="Arial"/>
                <a:cs typeface="Arial"/>
              </a:rPr>
              <a:t>(13,3)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2983062" y="4533591"/>
            <a:ext cx="1927225" cy="1663064"/>
            <a:chOff x="2983062" y="4533591"/>
            <a:chExt cx="1927225" cy="1663064"/>
          </a:xfrm>
        </p:grpSpPr>
        <p:sp>
          <p:nvSpPr>
            <p:cNvPr id="32" name="object 32"/>
            <p:cNvSpPr/>
            <p:nvPr/>
          </p:nvSpPr>
          <p:spPr>
            <a:xfrm>
              <a:off x="2983062" y="4572406"/>
              <a:ext cx="837565" cy="0"/>
            </a:xfrm>
            <a:custGeom>
              <a:avLst/>
              <a:gdLst/>
              <a:ahLst/>
              <a:cxnLst/>
              <a:rect l="l" t="t" r="r" b="b"/>
              <a:pathLst>
                <a:path w="837564" h="0">
                  <a:moveTo>
                    <a:pt x="0" y="0"/>
                  </a:moveTo>
                  <a:lnTo>
                    <a:pt x="35097" y="0"/>
                  </a:lnTo>
                </a:path>
                <a:path w="837564" h="0">
                  <a:moveTo>
                    <a:pt x="68503" y="0"/>
                  </a:moveTo>
                  <a:lnTo>
                    <a:pt x="101925" y="0"/>
                  </a:lnTo>
                </a:path>
                <a:path w="837564" h="0">
                  <a:moveTo>
                    <a:pt x="135346" y="0"/>
                  </a:moveTo>
                  <a:lnTo>
                    <a:pt x="168767" y="0"/>
                  </a:lnTo>
                </a:path>
                <a:path w="837564" h="0">
                  <a:moveTo>
                    <a:pt x="202173" y="0"/>
                  </a:moveTo>
                  <a:lnTo>
                    <a:pt x="235595" y="0"/>
                  </a:lnTo>
                </a:path>
                <a:path w="837564" h="0">
                  <a:moveTo>
                    <a:pt x="269016" y="0"/>
                  </a:moveTo>
                  <a:lnTo>
                    <a:pt x="302422" y="0"/>
                  </a:lnTo>
                </a:path>
                <a:path w="837564" h="0">
                  <a:moveTo>
                    <a:pt x="335843" y="0"/>
                  </a:moveTo>
                  <a:lnTo>
                    <a:pt x="369265" y="0"/>
                  </a:lnTo>
                </a:path>
                <a:path w="837564" h="0">
                  <a:moveTo>
                    <a:pt x="402671" y="0"/>
                  </a:moveTo>
                  <a:lnTo>
                    <a:pt x="436092" y="0"/>
                  </a:lnTo>
                </a:path>
                <a:path w="837564" h="0">
                  <a:moveTo>
                    <a:pt x="469513" y="0"/>
                  </a:moveTo>
                  <a:lnTo>
                    <a:pt x="502919" y="0"/>
                  </a:lnTo>
                </a:path>
                <a:path w="837564" h="0">
                  <a:moveTo>
                    <a:pt x="536341" y="0"/>
                  </a:moveTo>
                  <a:lnTo>
                    <a:pt x="569762" y="0"/>
                  </a:lnTo>
                </a:path>
                <a:path w="837564" h="0">
                  <a:moveTo>
                    <a:pt x="603183" y="0"/>
                  </a:moveTo>
                  <a:lnTo>
                    <a:pt x="636590" y="0"/>
                  </a:lnTo>
                </a:path>
                <a:path w="837564" h="0">
                  <a:moveTo>
                    <a:pt x="670011" y="0"/>
                  </a:moveTo>
                  <a:lnTo>
                    <a:pt x="703432" y="0"/>
                  </a:lnTo>
                </a:path>
                <a:path w="837564" h="0">
                  <a:moveTo>
                    <a:pt x="736838" y="0"/>
                  </a:moveTo>
                  <a:lnTo>
                    <a:pt x="770260" y="0"/>
                  </a:lnTo>
                </a:path>
                <a:path w="837564" h="0">
                  <a:moveTo>
                    <a:pt x="803681" y="0"/>
                  </a:moveTo>
                  <a:lnTo>
                    <a:pt x="837087" y="0"/>
                  </a:lnTo>
                </a:path>
              </a:pathLst>
            </a:custGeom>
            <a:ln w="17462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855237" y="4563681"/>
              <a:ext cx="19050" cy="32384"/>
            </a:xfrm>
            <a:custGeom>
              <a:avLst/>
              <a:gdLst/>
              <a:ahLst/>
              <a:cxnLst/>
              <a:rect l="l" t="t" r="r" b="b"/>
              <a:pathLst>
                <a:path w="19050" h="32385">
                  <a:moveTo>
                    <a:pt x="18745" y="8737"/>
                  </a:moveTo>
                  <a:lnTo>
                    <a:pt x="10020" y="8737"/>
                  </a:lnTo>
                  <a:lnTo>
                    <a:pt x="10020" y="0"/>
                  </a:lnTo>
                  <a:lnTo>
                    <a:pt x="0" y="0"/>
                  </a:lnTo>
                  <a:lnTo>
                    <a:pt x="0" y="17462"/>
                  </a:lnTo>
                  <a:lnTo>
                    <a:pt x="1282" y="17462"/>
                  </a:lnTo>
                  <a:lnTo>
                    <a:pt x="1282" y="32131"/>
                  </a:lnTo>
                  <a:lnTo>
                    <a:pt x="18745" y="32131"/>
                  </a:lnTo>
                  <a:lnTo>
                    <a:pt x="18745" y="8737"/>
                  </a:lnTo>
                  <a:close/>
                </a:path>
              </a:pathLst>
            </a:custGeom>
            <a:solidFill>
              <a:srgbClr val="FFFF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865260" y="462920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10"/>
                  </a:moveTo>
                  <a:lnTo>
                    <a:pt x="8731" y="16710"/>
                  </a:lnTo>
                </a:path>
              </a:pathLst>
            </a:custGeom>
            <a:ln w="33421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865260" y="46960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8731" y="838"/>
                  </a:moveTo>
                  <a:lnTo>
                    <a:pt x="8731" y="838"/>
                  </a:lnTo>
                </a:path>
              </a:pathLst>
            </a:custGeom>
            <a:ln w="17462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865260" y="4697724"/>
              <a:ext cx="626745" cy="0"/>
            </a:xfrm>
            <a:custGeom>
              <a:avLst/>
              <a:gdLst/>
              <a:ahLst/>
              <a:cxnLst/>
              <a:rect l="l" t="t" r="r" b="b"/>
              <a:pathLst>
                <a:path w="626745" h="0">
                  <a:moveTo>
                    <a:pt x="0" y="0"/>
                  </a:moveTo>
                  <a:lnTo>
                    <a:pt x="31760" y="0"/>
                  </a:lnTo>
                </a:path>
                <a:path w="626745" h="0">
                  <a:moveTo>
                    <a:pt x="65166" y="0"/>
                  </a:moveTo>
                  <a:lnTo>
                    <a:pt x="98587" y="0"/>
                  </a:lnTo>
                </a:path>
                <a:path w="626745" h="0">
                  <a:moveTo>
                    <a:pt x="132008" y="0"/>
                  </a:moveTo>
                  <a:lnTo>
                    <a:pt x="165414" y="0"/>
                  </a:lnTo>
                </a:path>
                <a:path w="626745" h="0">
                  <a:moveTo>
                    <a:pt x="198836" y="0"/>
                  </a:moveTo>
                  <a:lnTo>
                    <a:pt x="232257" y="0"/>
                  </a:lnTo>
                </a:path>
                <a:path w="626745" h="0">
                  <a:moveTo>
                    <a:pt x="265663" y="0"/>
                  </a:moveTo>
                  <a:lnTo>
                    <a:pt x="299084" y="0"/>
                  </a:lnTo>
                </a:path>
                <a:path w="626745" h="0">
                  <a:moveTo>
                    <a:pt x="332506" y="0"/>
                  </a:moveTo>
                  <a:lnTo>
                    <a:pt x="365912" y="0"/>
                  </a:lnTo>
                </a:path>
                <a:path w="626745" h="0">
                  <a:moveTo>
                    <a:pt x="399333" y="0"/>
                  </a:moveTo>
                  <a:lnTo>
                    <a:pt x="432755" y="0"/>
                  </a:lnTo>
                </a:path>
                <a:path w="626745" h="0">
                  <a:moveTo>
                    <a:pt x="466176" y="0"/>
                  </a:moveTo>
                  <a:lnTo>
                    <a:pt x="499582" y="0"/>
                  </a:lnTo>
                </a:path>
                <a:path w="626745" h="0">
                  <a:moveTo>
                    <a:pt x="533003" y="0"/>
                  </a:moveTo>
                  <a:lnTo>
                    <a:pt x="566425" y="0"/>
                  </a:lnTo>
                </a:path>
                <a:path w="626745" h="0">
                  <a:moveTo>
                    <a:pt x="599831" y="0"/>
                  </a:moveTo>
                  <a:lnTo>
                    <a:pt x="626562" y="0"/>
                  </a:lnTo>
                </a:path>
              </a:pathLst>
            </a:custGeom>
            <a:ln w="17462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491822" y="469772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w="0" h="6985">
                  <a:moveTo>
                    <a:pt x="-8731" y="3337"/>
                  </a:moveTo>
                  <a:lnTo>
                    <a:pt x="8731" y="3337"/>
                  </a:lnTo>
                </a:path>
              </a:pathLst>
            </a:custGeom>
            <a:ln w="66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491822" y="4737821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03"/>
                  </a:moveTo>
                  <a:lnTo>
                    <a:pt x="8731" y="16703"/>
                  </a:lnTo>
                </a:path>
              </a:pathLst>
            </a:custGeom>
            <a:ln w="33406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491822" y="4804648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10"/>
                  </a:moveTo>
                  <a:lnTo>
                    <a:pt x="8731" y="16710"/>
                  </a:lnTo>
                </a:path>
              </a:pathLst>
            </a:custGeom>
            <a:ln w="33421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491822" y="4871476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10"/>
                  </a:moveTo>
                  <a:lnTo>
                    <a:pt x="8731" y="16710"/>
                  </a:lnTo>
                </a:path>
              </a:pathLst>
            </a:custGeom>
            <a:ln w="33421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491822" y="4938318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60">
                  <a:moveTo>
                    <a:pt x="-8731" y="5013"/>
                  </a:moveTo>
                  <a:lnTo>
                    <a:pt x="8731" y="5013"/>
                  </a:lnTo>
                </a:path>
              </a:pathLst>
            </a:custGeom>
            <a:ln w="10027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491822" y="4948346"/>
              <a:ext cx="226060" cy="0"/>
            </a:xfrm>
            <a:custGeom>
              <a:avLst/>
              <a:gdLst/>
              <a:ahLst/>
              <a:cxnLst/>
              <a:rect l="l" t="t" r="r" b="b"/>
              <a:pathLst>
                <a:path w="226060" h="0">
                  <a:moveTo>
                    <a:pt x="0" y="0"/>
                  </a:moveTo>
                  <a:lnTo>
                    <a:pt x="23393" y="0"/>
                  </a:lnTo>
                </a:path>
                <a:path w="226060" h="0">
                  <a:moveTo>
                    <a:pt x="56814" y="0"/>
                  </a:moveTo>
                  <a:lnTo>
                    <a:pt x="90236" y="0"/>
                  </a:lnTo>
                </a:path>
                <a:path w="226060" h="0">
                  <a:moveTo>
                    <a:pt x="123642" y="0"/>
                  </a:moveTo>
                  <a:lnTo>
                    <a:pt x="157063" y="0"/>
                  </a:lnTo>
                </a:path>
                <a:path w="226060" h="0">
                  <a:moveTo>
                    <a:pt x="192145" y="0"/>
                  </a:moveTo>
                  <a:lnTo>
                    <a:pt x="225567" y="0"/>
                  </a:lnTo>
                </a:path>
              </a:pathLst>
            </a:custGeom>
            <a:ln w="17462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744120" y="4948346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03"/>
                  </a:moveTo>
                  <a:lnTo>
                    <a:pt x="8731" y="16703"/>
                  </a:lnTo>
                </a:path>
              </a:pathLst>
            </a:custGeom>
            <a:ln w="33406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735389" y="5031884"/>
              <a:ext cx="17780" cy="67310"/>
            </a:xfrm>
            <a:custGeom>
              <a:avLst/>
              <a:gdLst/>
              <a:ahLst/>
              <a:cxnLst/>
              <a:rect l="l" t="t" r="r" b="b"/>
              <a:pathLst>
                <a:path w="17779" h="67310">
                  <a:moveTo>
                    <a:pt x="0" y="0"/>
                  </a:moveTo>
                  <a:lnTo>
                    <a:pt x="17462" y="0"/>
                  </a:lnTo>
                </a:path>
                <a:path w="17779" h="67310">
                  <a:moveTo>
                    <a:pt x="0" y="66827"/>
                  </a:moveTo>
                  <a:lnTo>
                    <a:pt x="17462" y="66827"/>
                  </a:lnTo>
                </a:path>
              </a:pathLst>
            </a:custGeom>
            <a:ln w="33421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744120" y="514884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03"/>
                  </a:moveTo>
                  <a:lnTo>
                    <a:pt x="8731" y="16703"/>
                  </a:lnTo>
                </a:path>
              </a:pathLst>
            </a:custGeom>
            <a:ln w="33406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735389" y="5232382"/>
              <a:ext cx="17780" cy="68580"/>
            </a:xfrm>
            <a:custGeom>
              <a:avLst/>
              <a:gdLst/>
              <a:ahLst/>
              <a:cxnLst/>
              <a:rect l="l" t="t" r="r" b="b"/>
              <a:pathLst>
                <a:path w="17779" h="68579">
                  <a:moveTo>
                    <a:pt x="0" y="0"/>
                  </a:moveTo>
                  <a:lnTo>
                    <a:pt x="17462" y="0"/>
                  </a:lnTo>
                </a:path>
                <a:path w="17779" h="68579">
                  <a:moveTo>
                    <a:pt x="0" y="68503"/>
                  </a:moveTo>
                  <a:lnTo>
                    <a:pt x="17462" y="68503"/>
                  </a:lnTo>
                </a:path>
              </a:pathLst>
            </a:custGeom>
            <a:ln w="33421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769190" y="5325948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29" h="0">
                  <a:moveTo>
                    <a:pt x="0" y="0"/>
                  </a:moveTo>
                  <a:lnTo>
                    <a:pt x="33421" y="0"/>
                  </a:lnTo>
                </a:path>
                <a:path w="100329" h="0">
                  <a:moveTo>
                    <a:pt x="66827" y="0"/>
                  </a:moveTo>
                  <a:lnTo>
                    <a:pt x="100248" y="0"/>
                  </a:lnTo>
                </a:path>
              </a:pathLst>
            </a:custGeom>
            <a:ln w="17462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869439" y="5359369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03"/>
                  </a:moveTo>
                  <a:lnTo>
                    <a:pt x="8731" y="16703"/>
                  </a:lnTo>
                </a:path>
              </a:pathLst>
            </a:custGeom>
            <a:ln w="33406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869439" y="5426196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10"/>
                  </a:moveTo>
                  <a:lnTo>
                    <a:pt x="8731" y="16710"/>
                  </a:lnTo>
                </a:path>
              </a:pathLst>
            </a:custGeom>
            <a:ln w="33421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869439" y="5493039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03"/>
                  </a:moveTo>
                  <a:lnTo>
                    <a:pt x="8731" y="16703"/>
                  </a:lnTo>
                </a:path>
              </a:pathLst>
            </a:custGeom>
            <a:ln w="33406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869439" y="5559867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10"/>
                  </a:moveTo>
                  <a:lnTo>
                    <a:pt x="8731" y="16710"/>
                  </a:lnTo>
                </a:path>
              </a:pathLst>
            </a:custGeom>
            <a:ln w="33421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869439" y="562669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10"/>
                  </a:moveTo>
                  <a:lnTo>
                    <a:pt x="8731" y="16710"/>
                  </a:lnTo>
                </a:path>
              </a:pathLst>
            </a:custGeom>
            <a:ln w="33421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869439" y="5693537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03"/>
                  </a:moveTo>
                  <a:lnTo>
                    <a:pt x="8731" y="16703"/>
                  </a:lnTo>
                </a:path>
              </a:pathLst>
            </a:custGeom>
            <a:ln w="33406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869439" y="576036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10"/>
                  </a:moveTo>
                  <a:lnTo>
                    <a:pt x="8731" y="16710"/>
                  </a:lnTo>
                </a:path>
              </a:pathLst>
            </a:custGeom>
            <a:ln w="33421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869439" y="5827207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03"/>
                  </a:moveTo>
                  <a:lnTo>
                    <a:pt x="8731" y="16703"/>
                  </a:lnTo>
                </a:path>
              </a:pathLst>
            </a:custGeom>
            <a:ln w="33406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869439" y="589403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10"/>
                  </a:moveTo>
                  <a:lnTo>
                    <a:pt x="8731" y="16710"/>
                  </a:lnTo>
                </a:path>
              </a:pathLst>
            </a:custGeom>
            <a:ln w="33421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869439" y="5960861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10"/>
                  </a:moveTo>
                  <a:lnTo>
                    <a:pt x="8731" y="16710"/>
                  </a:lnTo>
                </a:path>
              </a:pathLst>
            </a:custGeom>
            <a:ln w="33421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869439" y="602770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03"/>
                  </a:moveTo>
                  <a:lnTo>
                    <a:pt x="8731" y="16703"/>
                  </a:lnTo>
                </a:path>
              </a:pathLst>
            </a:custGeom>
            <a:ln w="33406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869439" y="6096208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03"/>
                  </a:moveTo>
                  <a:lnTo>
                    <a:pt x="8731" y="16703"/>
                  </a:lnTo>
                </a:path>
              </a:pathLst>
            </a:custGeom>
            <a:ln w="33406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869439" y="616303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w="0" h="33654">
                  <a:moveTo>
                    <a:pt x="-8731" y="16710"/>
                  </a:moveTo>
                  <a:lnTo>
                    <a:pt x="8731" y="16710"/>
                  </a:lnTo>
                </a:path>
              </a:pathLst>
            </a:custGeom>
            <a:ln w="33421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831854" y="4542322"/>
              <a:ext cx="65405" cy="60325"/>
            </a:xfrm>
            <a:custGeom>
              <a:avLst/>
              <a:gdLst/>
              <a:ahLst/>
              <a:cxnLst/>
              <a:rect l="l" t="t" r="r" b="b"/>
              <a:pathLst>
                <a:path w="65404" h="60325">
                  <a:moveTo>
                    <a:pt x="40096" y="0"/>
                  </a:moveTo>
                  <a:lnTo>
                    <a:pt x="26730" y="0"/>
                  </a:lnTo>
                  <a:lnTo>
                    <a:pt x="13365" y="5013"/>
                  </a:lnTo>
                  <a:lnTo>
                    <a:pt x="3337" y="16718"/>
                  </a:lnTo>
                  <a:lnTo>
                    <a:pt x="0" y="30083"/>
                  </a:lnTo>
                  <a:lnTo>
                    <a:pt x="3337" y="43449"/>
                  </a:lnTo>
                  <a:lnTo>
                    <a:pt x="13365" y="53477"/>
                  </a:lnTo>
                  <a:lnTo>
                    <a:pt x="26730" y="60152"/>
                  </a:lnTo>
                  <a:lnTo>
                    <a:pt x="40096" y="60152"/>
                  </a:lnTo>
                  <a:lnTo>
                    <a:pt x="51785" y="53477"/>
                  </a:lnTo>
                  <a:lnTo>
                    <a:pt x="61813" y="43449"/>
                  </a:lnTo>
                  <a:lnTo>
                    <a:pt x="65166" y="30083"/>
                  </a:lnTo>
                  <a:lnTo>
                    <a:pt x="61813" y="16718"/>
                  </a:lnTo>
                  <a:lnTo>
                    <a:pt x="51785" y="5013"/>
                  </a:lnTo>
                  <a:lnTo>
                    <a:pt x="4009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831854" y="4542322"/>
              <a:ext cx="65405" cy="60325"/>
            </a:xfrm>
            <a:custGeom>
              <a:avLst/>
              <a:gdLst/>
              <a:ahLst/>
              <a:cxnLst/>
              <a:rect l="l" t="t" r="r" b="b"/>
              <a:pathLst>
                <a:path w="65404" h="60325">
                  <a:moveTo>
                    <a:pt x="0" y="30083"/>
                  </a:moveTo>
                  <a:lnTo>
                    <a:pt x="3337" y="16718"/>
                  </a:lnTo>
                  <a:lnTo>
                    <a:pt x="13365" y="5013"/>
                  </a:lnTo>
                  <a:lnTo>
                    <a:pt x="26730" y="0"/>
                  </a:lnTo>
                  <a:lnTo>
                    <a:pt x="40096" y="0"/>
                  </a:lnTo>
                  <a:lnTo>
                    <a:pt x="51785" y="5013"/>
                  </a:lnTo>
                  <a:lnTo>
                    <a:pt x="61813" y="16718"/>
                  </a:lnTo>
                  <a:lnTo>
                    <a:pt x="65166" y="30083"/>
                  </a:lnTo>
                  <a:lnTo>
                    <a:pt x="61813" y="43449"/>
                  </a:lnTo>
                  <a:lnTo>
                    <a:pt x="51785" y="53477"/>
                  </a:lnTo>
                  <a:lnTo>
                    <a:pt x="40096" y="60152"/>
                  </a:lnTo>
                  <a:lnTo>
                    <a:pt x="26730" y="60152"/>
                  </a:lnTo>
                  <a:lnTo>
                    <a:pt x="13365" y="53477"/>
                  </a:lnTo>
                  <a:lnTo>
                    <a:pt x="3337" y="43449"/>
                  </a:lnTo>
                  <a:lnTo>
                    <a:pt x="0" y="30083"/>
                  </a:lnTo>
                </a:path>
              </a:pathLst>
            </a:custGeom>
            <a:ln w="1746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460077" y="4667641"/>
              <a:ext cx="63500" cy="60325"/>
            </a:xfrm>
            <a:custGeom>
              <a:avLst/>
              <a:gdLst/>
              <a:ahLst/>
              <a:cxnLst/>
              <a:rect l="l" t="t" r="r" b="b"/>
              <a:pathLst>
                <a:path w="63500" h="60325">
                  <a:moveTo>
                    <a:pt x="38435" y="0"/>
                  </a:moveTo>
                  <a:lnTo>
                    <a:pt x="25069" y="0"/>
                  </a:lnTo>
                  <a:lnTo>
                    <a:pt x="11704" y="5013"/>
                  </a:lnTo>
                  <a:lnTo>
                    <a:pt x="3352" y="16703"/>
                  </a:lnTo>
                  <a:lnTo>
                    <a:pt x="0" y="30083"/>
                  </a:lnTo>
                  <a:lnTo>
                    <a:pt x="3352" y="43449"/>
                  </a:lnTo>
                  <a:lnTo>
                    <a:pt x="11704" y="55138"/>
                  </a:lnTo>
                  <a:lnTo>
                    <a:pt x="25069" y="60152"/>
                  </a:lnTo>
                  <a:lnTo>
                    <a:pt x="38435" y="60152"/>
                  </a:lnTo>
                  <a:lnTo>
                    <a:pt x="51800" y="55138"/>
                  </a:lnTo>
                  <a:lnTo>
                    <a:pt x="60152" y="43449"/>
                  </a:lnTo>
                  <a:lnTo>
                    <a:pt x="63489" y="30083"/>
                  </a:lnTo>
                  <a:lnTo>
                    <a:pt x="60152" y="16703"/>
                  </a:lnTo>
                  <a:lnTo>
                    <a:pt x="51800" y="5013"/>
                  </a:lnTo>
                  <a:lnTo>
                    <a:pt x="3843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460077" y="4667641"/>
              <a:ext cx="63500" cy="60325"/>
            </a:xfrm>
            <a:custGeom>
              <a:avLst/>
              <a:gdLst/>
              <a:ahLst/>
              <a:cxnLst/>
              <a:rect l="l" t="t" r="r" b="b"/>
              <a:pathLst>
                <a:path w="63500" h="60325">
                  <a:moveTo>
                    <a:pt x="0" y="30083"/>
                  </a:moveTo>
                  <a:lnTo>
                    <a:pt x="3352" y="16703"/>
                  </a:lnTo>
                  <a:lnTo>
                    <a:pt x="11704" y="5013"/>
                  </a:lnTo>
                  <a:lnTo>
                    <a:pt x="25069" y="0"/>
                  </a:lnTo>
                  <a:lnTo>
                    <a:pt x="38435" y="0"/>
                  </a:lnTo>
                  <a:lnTo>
                    <a:pt x="51800" y="5013"/>
                  </a:lnTo>
                  <a:lnTo>
                    <a:pt x="60152" y="16703"/>
                  </a:lnTo>
                  <a:lnTo>
                    <a:pt x="63489" y="30083"/>
                  </a:lnTo>
                  <a:lnTo>
                    <a:pt x="60152" y="43449"/>
                  </a:lnTo>
                  <a:lnTo>
                    <a:pt x="51800" y="55138"/>
                  </a:lnTo>
                  <a:lnTo>
                    <a:pt x="38435" y="60152"/>
                  </a:lnTo>
                  <a:lnTo>
                    <a:pt x="25069" y="60152"/>
                  </a:lnTo>
                  <a:lnTo>
                    <a:pt x="11704" y="55138"/>
                  </a:lnTo>
                  <a:lnTo>
                    <a:pt x="3352" y="43449"/>
                  </a:lnTo>
                  <a:lnTo>
                    <a:pt x="0" y="30083"/>
                  </a:lnTo>
                </a:path>
              </a:pathLst>
            </a:custGeom>
            <a:ln w="1746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712375" y="4918263"/>
              <a:ext cx="63500" cy="60325"/>
            </a:xfrm>
            <a:custGeom>
              <a:avLst/>
              <a:gdLst/>
              <a:ahLst/>
              <a:cxnLst/>
              <a:rect l="l" t="t" r="r" b="b"/>
              <a:pathLst>
                <a:path w="63500" h="60325">
                  <a:moveTo>
                    <a:pt x="38435" y="0"/>
                  </a:moveTo>
                  <a:lnTo>
                    <a:pt x="25069" y="0"/>
                  </a:lnTo>
                  <a:lnTo>
                    <a:pt x="11704" y="5013"/>
                  </a:lnTo>
                  <a:lnTo>
                    <a:pt x="3352" y="16718"/>
                  </a:lnTo>
                  <a:lnTo>
                    <a:pt x="0" y="30083"/>
                  </a:lnTo>
                  <a:lnTo>
                    <a:pt x="3352" y="43449"/>
                  </a:lnTo>
                  <a:lnTo>
                    <a:pt x="11704" y="55138"/>
                  </a:lnTo>
                  <a:lnTo>
                    <a:pt x="25069" y="60152"/>
                  </a:lnTo>
                  <a:lnTo>
                    <a:pt x="38435" y="60152"/>
                  </a:lnTo>
                  <a:lnTo>
                    <a:pt x="51800" y="55138"/>
                  </a:lnTo>
                  <a:lnTo>
                    <a:pt x="60152" y="43449"/>
                  </a:lnTo>
                  <a:lnTo>
                    <a:pt x="63489" y="30083"/>
                  </a:lnTo>
                  <a:lnTo>
                    <a:pt x="60152" y="16718"/>
                  </a:lnTo>
                  <a:lnTo>
                    <a:pt x="51800" y="5013"/>
                  </a:lnTo>
                  <a:lnTo>
                    <a:pt x="3843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712375" y="4918263"/>
              <a:ext cx="63500" cy="60325"/>
            </a:xfrm>
            <a:custGeom>
              <a:avLst/>
              <a:gdLst/>
              <a:ahLst/>
              <a:cxnLst/>
              <a:rect l="l" t="t" r="r" b="b"/>
              <a:pathLst>
                <a:path w="63500" h="60325">
                  <a:moveTo>
                    <a:pt x="0" y="30083"/>
                  </a:moveTo>
                  <a:lnTo>
                    <a:pt x="3352" y="16718"/>
                  </a:lnTo>
                  <a:lnTo>
                    <a:pt x="11704" y="5013"/>
                  </a:lnTo>
                  <a:lnTo>
                    <a:pt x="25069" y="0"/>
                  </a:lnTo>
                  <a:lnTo>
                    <a:pt x="38435" y="0"/>
                  </a:lnTo>
                  <a:lnTo>
                    <a:pt x="51800" y="5013"/>
                  </a:lnTo>
                  <a:lnTo>
                    <a:pt x="60152" y="16718"/>
                  </a:lnTo>
                  <a:lnTo>
                    <a:pt x="63489" y="30083"/>
                  </a:lnTo>
                  <a:lnTo>
                    <a:pt x="60152" y="43449"/>
                  </a:lnTo>
                  <a:lnTo>
                    <a:pt x="51800" y="55138"/>
                  </a:lnTo>
                  <a:lnTo>
                    <a:pt x="38435" y="60152"/>
                  </a:lnTo>
                  <a:lnTo>
                    <a:pt x="25069" y="60152"/>
                  </a:lnTo>
                  <a:lnTo>
                    <a:pt x="11704" y="55138"/>
                  </a:lnTo>
                  <a:lnTo>
                    <a:pt x="3352" y="43449"/>
                  </a:lnTo>
                  <a:lnTo>
                    <a:pt x="0" y="30083"/>
                  </a:lnTo>
                </a:path>
              </a:pathLst>
            </a:custGeom>
            <a:ln w="1746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837694" y="5295879"/>
              <a:ext cx="63500" cy="60325"/>
            </a:xfrm>
            <a:custGeom>
              <a:avLst/>
              <a:gdLst/>
              <a:ahLst/>
              <a:cxnLst/>
              <a:rect l="l" t="t" r="r" b="b"/>
              <a:pathLst>
                <a:path w="63500" h="60325">
                  <a:moveTo>
                    <a:pt x="38420" y="0"/>
                  </a:moveTo>
                  <a:lnTo>
                    <a:pt x="25054" y="0"/>
                  </a:lnTo>
                  <a:lnTo>
                    <a:pt x="11689" y="5013"/>
                  </a:lnTo>
                  <a:lnTo>
                    <a:pt x="3337" y="16703"/>
                  </a:lnTo>
                  <a:lnTo>
                    <a:pt x="0" y="30068"/>
                  </a:lnTo>
                  <a:lnTo>
                    <a:pt x="3337" y="43433"/>
                  </a:lnTo>
                  <a:lnTo>
                    <a:pt x="11689" y="55138"/>
                  </a:lnTo>
                  <a:lnTo>
                    <a:pt x="25054" y="60152"/>
                  </a:lnTo>
                  <a:lnTo>
                    <a:pt x="38420" y="60152"/>
                  </a:lnTo>
                  <a:lnTo>
                    <a:pt x="51785" y="55138"/>
                  </a:lnTo>
                  <a:lnTo>
                    <a:pt x="60152" y="43433"/>
                  </a:lnTo>
                  <a:lnTo>
                    <a:pt x="63489" y="30068"/>
                  </a:lnTo>
                  <a:lnTo>
                    <a:pt x="60152" y="16703"/>
                  </a:lnTo>
                  <a:lnTo>
                    <a:pt x="51785" y="5013"/>
                  </a:lnTo>
                  <a:lnTo>
                    <a:pt x="3842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837694" y="5295879"/>
              <a:ext cx="63500" cy="60325"/>
            </a:xfrm>
            <a:custGeom>
              <a:avLst/>
              <a:gdLst/>
              <a:ahLst/>
              <a:cxnLst/>
              <a:rect l="l" t="t" r="r" b="b"/>
              <a:pathLst>
                <a:path w="63500" h="60325">
                  <a:moveTo>
                    <a:pt x="0" y="30068"/>
                  </a:moveTo>
                  <a:lnTo>
                    <a:pt x="3337" y="16703"/>
                  </a:lnTo>
                  <a:lnTo>
                    <a:pt x="11689" y="5013"/>
                  </a:lnTo>
                  <a:lnTo>
                    <a:pt x="25054" y="0"/>
                  </a:lnTo>
                  <a:lnTo>
                    <a:pt x="38420" y="0"/>
                  </a:lnTo>
                  <a:lnTo>
                    <a:pt x="51785" y="5013"/>
                  </a:lnTo>
                  <a:lnTo>
                    <a:pt x="60152" y="16703"/>
                  </a:lnTo>
                  <a:lnTo>
                    <a:pt x="63489" y="30068"/>
                  </a:lnTo>
                  <a:lnTo>
                    <a:pt x="60152" y="43433"/>
                  </a:lnTo>
                  <a:lnTo>
                    <a:pt x="51785" y="55138"/>
                  </a:lnTo>
                  <a:lnTo>
                    <a:pt x="38420" y="60152"/>
                  </a:lnTo>
                  <a:lnTo>
                    <a:pt x="25054" y="60152"/>
                  </a:lnTo>
                  <a:lnTo>
                    <a:pt x="11689" y="55138"/>
                  </a:lnTo>
                  <a:lnTo>
                    <a:pt x="3337" y="43433"/>
                  </a:lnTo>
                  <a:lnTo>
                    <a:pt x="0" y="30068"/>
                  </a:lnTo>
                </a:path>
              </a:pathLst>
            </a:custGeom>
            <a:ln w="1746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" name="object 69"/>
          <p:cNvSpPr txBox="1"/>
          <p:nvPr/>
        </p:nvSpPr>
        <p:spPr>
          <a:xfrm>
            <a:off x="850899" y="6607391"/>
            <a:ext cx="6522084" cy="2376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571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1.1: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Maximal </a:t>
            </a:r>
            <a:r>
              <a:rPr dirty="0" sz="1200" spc="-10">
                <a:latin typeface="Times New Roman"/>
                <a:cs typeface="Times New Roman"/>
              </a:rPr>
              <a:t>points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2-d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800">
              <a:latin typeface="Times New Roman"/>
              <a:cs typeface="Times New Roman"/>
            </a:endParaRPr>
          </a:p>
          <a:p>
            <a:pPr marL="63500" marR="73025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description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fairly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intentionally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discussed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 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 spc="-5">
                <a:latin typeface="Times New Roman"/>
                <a:cs typeface="Times New Roman"/>
              </a:rPr>
              <a:t>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represented.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discussed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</a:t>
            </a:r>
            <a:r>
              <a:rPr dirty="0" sz="1200" spc="-5">
                <a:latin typeface="Times New Roman"/>
                <a:cs typeface="Times New Roman"/>
              </a:rPr>
              <a:t> or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formats.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avoided </a:t>
            </a:r>
            <a:r>
              <a:rPr dirty="0" sz="1200" spc="-10">
                <a:latin typeface="Times New Roman"/>
                <a:cs typeface="Times New Roman"/>
              </a:rPr>
              <a:t> programming</a:t>
            </a:r>
            <a:r>
              <a:rPr dirty="0" sz="1200" spc="-5">
                <a:latin typeface="Times New Roman"/>
                <a:cs typeface="Times New Roman"/>
              </a:rPr>
              <a:t> and other </a:t>
            </a:r>
            <a:r>
              <a:rPr dirty="0" sz="1200" spc="-10">
                <a:latin typeface="Times New Roman"/>
                <a:cs typeface="Times New Roman"/>
              </a:rPr>
              <a:t>software</a:t>
            </a:r>
            <a:r>
              <a:rPr dirty="0" sz="1200" spc="-5">
                <a:latin typeface="Times New Roman"/>
                <a:cs typeface="Times New Roman"/>
              </a:rPr>
              <a:t> issues.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140"/>
              </a:spcBef>
              <a:tabLst>
                <a:tab pos="5549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1.9	</a:t>
            </a:r>
            <a:r>
              <a:rPr dirty="0" sz="1700" b="1">
                <a:latin typeface="Times New Roman"/>
                <a:cs typeface="Times New Roman"/>
              </a:rPr>
              <a:t>Brute-Force</a:t>
            </a:r>
            <a:r>
              <a:rPr dirty="0" sz="1700" spc="-2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Algorithm</a:t>
            </a:r>
            <a:endParaRPr sz="1700">
              <a:latin typeface="Times New Roman"/>
              <a:cs typeface="Times New Roman"/>
            </a:endParaRPr>
          </a:p>
          <a:p>
            <a:pPr marL="63500" marR="55880">
              <a:lnSpc>
                <a:spcPct val="100000"/>
              </a:lnSpc>
              <a:spcBef>
                <a:spcPts val="1655"/>
              </a:spcBef>
            </a:pP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ball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rolling,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let’s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just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brute-force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thought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efficiency.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{p</a:t>
            </a:r>
            <a:r>
              <a:rPr dirty="0" baseline="-13888" sz="1200" spc="-60">
                <a:latin typeface="Verdana"/>
                <a:cs typeface="Verdana"/>
              </a:rPr>
              <a:t>1</a:t>
            </a:r>
            <a:r>
              <a:rPr dirty="0" sz="1200" spc="-4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p</a:t>
            </a:r>
            <a:r>
              <a:rPr dirty="0" baseline="-13888" sz="1200" spc="-67">
                <a:latin typeface="Verdana"/>
                <a:cs typeface="Verdana"/>
              </a:rPr>
              <a:t>2</a:t>
            </a:r>
            <a:r>
              <a:rPr dirty="0" sz="1200" spc="-45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p</a:t>
            </a:r>
            <a:r>
              <a:rPr dirty="0" baseline="-13888" sz="1200" spc="22">
                <a:latin typeface="Verdana"/>
                <a:cs typeface="Verdana"/>
              </a:rPr>
              <a:t>n</a:t>
            </a:r>
            <a:r>
              <a:rPr dirty="0" sz="1200" spc="15">
                <a:latin typeface="Lucida Sans Unicode"/>
                <a:cs typeface="Lucida Sans Unicode"/>
              </a:rPr>
              <a:t>}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initial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baseline="-13888" sz="1200" spc="37">
                <a:latin typeface="Verdana"/>
                <a:cs typeface="Verdana"/>
              </a:rPr>
              <a:t>i</a:t>
            </a:r>
            <a:r>
              <a:rPr dirty="0" sz="1200" spc="2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against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p</a:t>
            </a:r>
            <a:r>
              <a:rPr dirty="0" baseline="-13888" sz="1200">
                <a:latin typeface="Verdana"/>
                <a:cs typeface="Verdana"/>
              </a:rPr>
              <a:t>j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p</a:t>
            </a:r>
            <a:r>
              <a:rPr dirty="0" baseline="-13888" sz="1200" spc="67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dominated</a:t>
            </a:r>
            <a:r>
              <a:rPr dirty="0" sz="1200" spc="-5">
                <a:latin typeface="Times New Roman"/>
                <a:cs typeface="Times New Roman"/>
              </a:rPr>
              <a:t> by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other </a:t>
            </a:r>
            <a:r>
              <a:rPr dirty="0" sz="1200" spc="-10">
                <a:latin typeface="Times New Roman"/>
                <a:cs typeface="Times New Roman"/>
              </a:rPr>
              <a:t>point,</a:t>
            </a:r>
            <a:r>
              <a:rPr dirty="0" sz="1200" spc="-5">
                <a:latin typeface="Times New Roman"/>
                <a:cs typeface="Times New Roman"/>
              </a:rPr>
              <a:t> then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 it.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6426835" cy="1081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344035" algn="l"/>
              </a:tabLst>
            </a:pPr>
            <a:r>
              <a:rPr dirty="0" sz="1200" spc="-5">
                <a:latin typeface="Times New Roman"/>
                <a:cs typeface="Times New Roman"/>
              </a:rPr>
              <a:t>12	CHAPTER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1.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12509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This English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description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enough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(competent)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implement </a:t>
            </a:r>
            <a:r>
              <a:rPr dirty="0" sz="1200" spc="-5">
                <a:latin typeface="Times New Roman"/>
                <a:cs typeface="Times New Roman"/>
              </a:rPr>
              <a:t> it.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 spc="-5">
                <a:latin typeface="Times New Roman"/>
                <a:cs typeface="Times New Roman"/>
              </a:rPr>
              <a:t> 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a bit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formal,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written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pseudocode</a:t>
            </a:r>
            <a:r>
              <a:rPr dirty="0" sz="1200" spc="-5">
                <a:latin typeface="Times New Roman"/>
                <a:cs typeface="Times New Roman"/>
              </a:rPr>
              <a:t> as </a:t>
            </a:r>
            <a:r>
              <a:rPr dirty="0" sz="1200" spc="-10">
                <a:latin typeface="Times New Roman"/>
                <a:cs typeface="Times New Roman"/>
              </a:rPr>
              <a:t>follows:</a:t>
            </a:r>
            <a:endParaRPr sz="1200">
              <a:latin typeface="Times New Roman"/>
              <a:cs typeface="Times New Roman"/>
            </a:endParaRPr>
          </a:p>
          <a:p>
            <a:pPr marL="15875">
              <a:lnSpc>
                <a:spcPct val="100000"/>
              </a:lnSpc>
              <a:spcBef>
                <a:spcPts val="810"/>
              </a:spcBef>
            </a:pPr>
            <a:r>
              <a:rPr dirty="0" sz="1200" spc="50">
                <a:latin typeface="Times New Roman"/>
                <a:cs typeface="Times New Roman"/>
              </a:rPr>
              <a:t>M</a:t>
            </a:r>
            <a:r>
              <a:rPr dirty="0" sz="950" spc="55">
                <a:latin typeface="Times New Roman"/>
                <a:cs typeface="Times New Roman"/>
              </a:rPr>
              <a:t>AXIM</a:t>
            </a:r>
            <a:r>
              <a:rPr dirty="0" sz="950" spc="25">
                <a:latin typeface="Times New Roman"/>
                <a:cs typeface="Times New Roman"/>
              </a:rPr>
              <a:t>A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Lucida Sans Unicode"/>
                <a:cs typeface="Lucida Sans Unicode"/>
              </a:rPr>
              <a:t>t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P</a:t>
            </a:r>
            <a:r>
              <a:rPr dirty="0" sz="1200" spc="-70">
                <a:latin typeface="Lucida Sans Unicode"/>
                <a:cs typeface="Lucida Sans Unicode"/>
              </a:rPr>
              <a:t>o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Lucida Sans Unicode"/>
                <a:cs typeface="Lucida Sans Unicode"/>
              </a:rPr>
              <a:t>t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P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63954" y="2311885"/>
            <a:ext cx="32321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Garamond"/>
                <a:cs typeface="Garamond"/>
              </a:rPr>
              <a:t>(</a:t>
            </a:r>
            <a:r>
              <a:rPr dirty="0" sz="1200" spc="95">
                <a:latin typeface="Lucida Sans Unicode"/>
                <a:cs typeface="Lucida Sans Unicode"/>
              </a:rPr>
              <a:t>i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Segoe UI Symbol"/>
                <a:cs typeface="Segoe UI Symbol"/>
              </a:rPr>
              <a:t>/</a:t>
            </a:r>
            <a:r>
              <a:rPr dirty="0" sz="1200" spc="50">
                <a:latin typeface="Garamond"/>
                <a:cs typeface="Garamond"/>
              </a:rPr>
              <a:t>=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j</a:t>
            </a:r>
            <a:r>
              <a:rPr dirty="0" sz="1200" spc="7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Lucida Sans Unicode"/>
                <a:cs typeface="Lucida Sans Unicode"/>
              </a:rPr>
              <a:t>P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i</a:t>
            </a:r>
            <a:r>
              <a:rPr dirty="0" sz="1200" spc="10">
                <a:latin typeface="Garamond"/>
                <a:cs typeface="Garamond"/>
              </a:rPr>
              <a:t>]</a:t>
            </a:r>
            <a:r>
              <a:rPr dirty="0" sz="1200" spc="10">
                <a:latin typeface="Lucida Sans Unicode"/>
                <a:cs typeface="Lucida Sans Unicode"/>
              </a:rPr>
              <a:t>.x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P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5">
                <a:latin typeface="Lucida Sans Unicode"/>
                <a:cs typeface="Lucida Sans Unicode"/>
              </a:rPr>
              <a:t>.x</a:t>
            </a:r>
            <a:r>
              <a:rPr dirty="0" sz="1200" spc="5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P</a:t>
            </a:r>
            <a:r>
              <a:rPr dirty="0" sz="1200" spc="40">
                <a:latin typeface="Garamond"/>
                <a:cs typeface="Garamond"/>
              </a:rPr>
              <a:t>[</a:t>
            </a:r>
            <a:r>
              <a:rPr dirty="0" sz="1200" spc="40">
                <a:latin typeface="Lucida Sans Unicode"/>
                <a:cs typeface="Lucida Sans Unicode"/>
              </a:rPr>
              <a:t>i</a:t>
            </a:r>
            <a:r>
              <a:rPr dirty="0" sz="1200" spc="40">
                <a:latin typeface="Garamond"/>
                <a:cs typeface="Garamond"/>
              </a:rPr>
              <a:t>]</a:t>
            </a:r>
            <a:r>
              <a:rPr dirty="0" sz="1200" spc="40">
                <a:latin typeface="Lucida Sans Unicode"/>
                <a:cs typeface="Lucida Sans Unicode"/>
              </a:rPr>
              <a:t>.y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0">
                <a:latin typeface="Segoe UI Symbol"/>
                <a:cs typeface="Segoe UI Symbol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P</a:t>
            </a:r>
            <a:r>
              <a:rPr dirty="0" sz="1200" spc="-15">
                <a:latin typeface="Garamond"/>
                <a:cs typeface="Garamond"/>
              </a:rPr>
              <a:t>[</a:t>
            </a:r>
            <a:r>
              <a:rPr dirty="0" sz="1200" spc="-15">
                <a:latin typeface="Lucida Sans Unicode"/>
                <a:cs typeface="Lucida Sans Unicode"/>
              </a:rPr>
              <a:t>j</a:t>
            </a:r>
            <a:r>
              <a:rPr dirty="0" sz="1200" spc="-15">
                <a:latin typeface="Garamond"/>
                <a:cs typeface="Garamond"/>
              </a:rPr>
              <a:t>]</a:t>
            </a:r>
            <a:r>
              <a:rPr dirty="0" sz="1200" spc="-15">
                <a:latin typeface="Lucida Sans Unicode"/>
                <a:cs typeface="Lucida Sans Unicode"/>
              </a:rPr>
              <a:t>.y</a:t>
            </a:r>
            <a:r>
              <a:rPr dirty="0" sz="1200" spc="-1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39644" y="1578078"/>
            <a:ext cx="1643380" cy="149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0029" indent="-227965">
              <a:lnSpc>
                <a:spcPct val="100000"/>
              </a:lnSpc>
              <a:spcBef>
                <a:spcPts val="95"/>
              </a:spcBef>
              <a:buFont typeface="Times New Roman"/>
              <a:buAutoNum type="arabicPlain"/>
              <a:tabLst>
                <a:tab pos="240029" algn="l"/>
                <a:tab pos="24066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40029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240029" algn="l"/>
                <a:tab pos="2406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maximal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true</a:t>
            </a:r>
            <a:endParaRPr sz="1200">
              <a:latin typeface="Lucida Sans Unicode"/>
              <a:cs typeface="Lucida Sans Unicode"/>
            </a:endParaRPr>
          </a:p>
          <a:p>
            <a:pPr marL="438150" indent="-426084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38150" algn="l"/>
                <a:tab pos="438784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438150" indent="-426084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38150" algn="l"/>
                <a:tab pos="438784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5649" y="2495335"/>
            <a:ext cx="2444750" cy="574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32893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then </a:t>
            </a:r>
            <a:r>
              <a:rPr dirty="0" sz="1200" spc="20">
                <a:latin typeface="Lucida Sans Unicode"/>
                <a:cs typeface="Lucida Sans Unicode"/>
              </a:rPr>
              <a:t>maximal </a:t>
            </a:r>
            <a:r>
              <a:rPr dirty="0" sz="1200" spc="65">
                <a:latin typeface="Lucida Sans Unicode"/>
                <a:cs typeface="Lucida Sans Unicode"/>
              </a:rPr>
              <a:t>← </a:t>
            </a:r>
            <a:r>
              <a:rPr dirty="0" sz="1200" spc="10">
                <a:latin typeface="Lucida Sans Unicode"/>
                <a:cs typeface="Lucida Sans Unicode"/>
              </a:rPr>
              <a:t>false</a:t>
            </a:r>
            <a:r>
              <a:rPr dirty="0" sz="1200" spc="10">
                <a:latin typeface="Garamond"/>
                <a:cs typeface="Garamond"/>
              </a:rPr>
              <a:t>;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break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maximal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true</a:t>
            </a:r>
            <a:r>
              <a:rPr dirty="0" sz="1200" spc="2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42875">
              <a:lnSpc>
                <a:spcPct val="100000"/>
              </a:lnSpc>
              <a:spcBef>
                <a:spcPts val="10"/>
              </a:spcBef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output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P</a:t>
            </a:r>
            <a:r>
              <a:rPr dirty="0" sz="1200" spc="35">
                <a:latin typeface="Garamond"/>
                <a:cs typeface="Garamond"/>
              </a:rPr>
              <a:t>[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01699" y="3359900"/>
            <a:ext cx="6393180" cy="23564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825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There are 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rules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syntax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pseudo code.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particular,</a:t>
            </a:r>
            <a:r>
              <a:rPr dirty="0" sz="1200" spc="-5">
                <a:latin typeface="Times New Roman"/>
                <a:cs typeface="Times New Roman"/>
              </a:rPr>
              <a:t> 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assume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5">
                <a:latin typeface="Times New Roman"/>
                <a:cs typeface="Times New Roman"/>
              </a:rPr>
              <a:t>better.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example, </a:t>
            </a:r>
            <a:r>
              <a:rPr dirty="0" sz="1200" spc="-5">
                <a:latin typeface="Times New Roman"/>
                <a:cs typeface="Times New Roman"/>
              </a:rPr>
              <a:t>I </a:t>
            </a:r>
            <a:r>
              <a:rPr dirty="0" sz="1200" spc="-10">
                <a:latin typeface="Times New Roman"/>
                <a:cs typeface="Times New Roman"/>
              </a:rPr>
              <a:t>omitted type </a:t>
            </a:r>
            <a:r>
              <a:rPr dirty="0" sz="1200" spc="-5">
                <a:latin typeface="Times New Roman"/>
                <a:cs typeface="Times New Roman"/>
              </a:rPr>
              <a:t>specifications </a:t>
            </a:r>
            <a:r>
              <a:rPr dirty="0" sz="1200" spc="-10">
                <a:latin typeface="Times New Roman"/>
                <a:cs typeface="Times New Roman"/>
              </a:rPr>
              <a:t>for the procedure </a:t>
            </a:r>
            <a:r>
              <a:rPr dirty="0" sz="1200" spc="-5">
                <a:latin typeface="Times New Roman"/>
                <a:cs typeface="Times New Roman"/>
              </a:rPr>
              <a:t>Maxima and </a:t>
            </a:r>
            <a:r>
              <a:rPr dirty="0" sz="1200" spc="-10">
                <a:latin typeface="Times New Roman"/>
                <a:cs typeface="Times New Roman"/>
              </a:rPr>
              <a:t>the variable maximal, </a:t>
            </a:r>
            <a:r>
              <a:rPr dirty="0" sz="1200" spc="-5">
                <a:latin typeface="Times New Roman"/>
                <a:cs typeface="Times New Roman"/>
              </a:rPr>
              <a:t> and I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never</a:t>
            </a:r>
            <a:r>
              <a:rPr dirty="0" sz="1200" spc="-5">
                <a:latin typeface="Times New Roman"/>
                <a:cs typeface="Times New Roman"/>
              </a:rPr>
              <a:t> defined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Point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 </a:t>
            </a:r>
            <a:r>
              <a:rPr dirty="0" sz="1200" spc="-10">
                <a:latin typeface="Times New Roman"/>
                <a:cs typeface="Times New Roman"/>
              </a:rPr>
              <a:t>type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 I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felt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pretty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clear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context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just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details.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appropriate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judgement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Remember,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 </a:t>
            </a:r>
            <a:r>
              <a:rPr dirty="0" sz="1200" spc="-5">
                <a:latin typeface="Times New Roman"/>
                <a:cs typeface="Times New Roman"/>
              </a:rPr>
              <a:t> are to be read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people,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detail depends 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 </a:t>
            </a:r>
            <a:r>
              <a:rPr dirty="0" sz="1200" spc="-10">
                <a:latin typeface="Times New Roman"/>
                <a:cs typeface="Times New Roman"/>
              </a:rPr>
              <a:t>intended</a:t>
            </a:r>
            <a:r>
              <a:rPr dirty="0" sz="1200" spc="-5">
                <a:latin typeface="Times New Roman"/>
                <a:cs typeface="Times New Roman"/>
              </a:rPr>
              <a:t> audience.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 spc="-10">
                <a:latin typeface="Times New Roman"/>
                <a:cs typeface="Times New Roman"/>
              </a:rPr>
              <a:t>writing </a:t>
            </a:r>
            <a:r>
              <a:rPr dirty="0" sz="1200" spc="-5">
                <a:latin typeface="Times New Roman"/>
                <a:cs typeface="Times New Roman"/>
              </a:rPr>
              <a:t> pseudo code,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omit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details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detract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just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essentials.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45"/>
              </a:spcBef>
            </a:pPr>
            <a:r>
              <a:rPr dirty="0" sz="1200" spc="-5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might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notice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insert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checking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consistency.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distinct.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duplicate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fail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single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point.</a:t>
            </a:r>
            <a:r>
              <a:rPr dirty="0" sz="1200" spc="-5">
                <a:latin typeface="Times New Roman"/>
                <a:cs typeface="Times New Roman"/>
              </a:rPr>
              <a:t> (Can </a:t>
            </a:r>
            <a:r>
              <a:rPr dirty="0" sz="1200" spc="-1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 spc="-10">
                <a:latin typeface="Times New Roman"/>
                <a:cs typeface="Times New Roman"/>
              </a:rPr>
              <a:t>why?)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Again, </a:t>
            </a:r>
            <a:r>
              <a:rPr dirty="0" sz="1200" spc="-5">
                <a:latin typeface="Times New Roman"/>
                <a:cs typeface="Times New Roman"/>
              </a:rPr>
              <a:t>these are </a:t>
            </a:r>
            <a:r>
              <a:rPr dirty="0" sz="1200" spc="-10">
                <a:latin typeface="Times New Roman"/>
                <a:cs typeface="Times New Roman"/>
              </a:rPr>
              <a:t>important </a:t>
            </a:r>
            <a:r>
              <a:rPr dirty="0" sz="1200" spc="-5">
                <a:latin typeface="Times New Roman"/>
                <a:cs typeface="Times New Roman"/>
              </a:rPr>
              <a:t>considerations </a:t>
            </a:r>
            <a:r>
              <a:rPr dirty="0" sz="1200" spc="-10">
                <a:latin typeface="Times New Roman"/>
                <a:cs typeface="Times New Roman"/>
              </a:rPr>
              <a:t>for implementation, </a:t>
            </a:r>
            <a:r>
              <a:rPr dirty="0" sz="1200" spc="-15">
                <a:latin typeface="Times New Roman"/>
                <a:cs typeface="Times New Roman"/>
              </a:rPr>
              <a:t>but </a:t>
            </a:r>
            <a:r>
              <a:rPr dirty="0" sz="1200" spc="-10">
                <a:latin typeface="Times New Roman"/>
                <a:cs typeface="Times New Roman"/>
              </a:rPr>
              <a:t>we will </a:t>
            </a:r>
            <a:r>
              <a:rPr dirty="0" sz="1200" spc="-5">
                <a:latin typeface="Times New Roman"/>
                <a:cs typeface="Times New Roman"/>
              </a:rPr>
              <a:t> often </a:t>
            </a:r>
            <a:r>
              <a:rPr dirty="0" sz="1200" spc="-10">
                <a:latin typeface="Times New Roman"/>
                <a:cs typeface="Times New Roman"/>
              </a:rPr>
              <a:t>omit</a:t>
            </a:r>
            <a:r>
              <a:rPr dirty="0" sz="1200" spc="-5">
                <a:latin typeface="Times New Roman"/>
                <a:cs typeface="Times New Roman"/>
              </a:rPr>
              <a:t> error checking 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 spc="-5">
                <a:latin typeface="Times New Roman"/>
                <a:cs typeface="Times New Roman"/>
              </a:rPr>
              <a:t> to see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its simplest </a:t>
            </a:r>
            <a:r>
              <a:rPr dirty="0" sz="1200" spc="-10">
                <a:latin typeface="Times New Roman"/>
                <a:cs typeface="Times New Roman"/>
              </a:rPr>
              <a:t>form.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Here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figures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illustrate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domination.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978408" y="6098738"/>
            <a:ext cx="2844800" cy="2362200"/>
            <a:chOff x="978408" y="6098738"/>
            <a:chExt cx="2844800" cy="2362200"/>
          </a:xfrm>
        </p:grpSpPr>
        <p:sp>
          <p:nvSpPr>
            <p:cNvPr id="8" name="object 8"/>
            <p:cNvSpPr/>
            <p:nvPr/>
          </p:nvSpPr>
          <p:spPr>
            <a:xfrm>
              <a:off x="978408" y="6098738"/>
              <a:ext cx="2844800" cy="2362200"/>
            </a:xfrm>
            <a:custGeom>
              <a:avLst/>
              <a:gdLst/>
              <a:ahLst/>
              <a:cxnLst/>
              <a:rect l="l" t="t" r="r" b="b"/>
              <a:pathLst>
                <a:path w="2844800" h="2362200">
                  <a:moveTo>
                    <a:pt x="2844576" y="0"/>
                  </a:moveTo>
                  <a:lnTo>
                    <a:pt x="0" y="0"/>
                  </a:lnTo>
                  <a:lnTo>
                    <a:pt x="0" y="2362001"/>
                  </a:lnTo>
                  <a:lnTo>
                    <a:pt x="2844576" y="2362001"/>
                  </a:lnTo>
                  <a:lnTo>
                    <a:pt x="284457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315242" y="6324046"/>
              <a:ext cx="2113280" cy="1885314"/>
            </a:xfrm>
            <a:custGeom>
              <a:avLst/>
              <a:gdLst/>
              <a:ahLst/>
              <a:cxnLst/>
              <a:rect l="l" t="t" r="r" b="b"/>
              <a:pathLst>
                <a:path w="2113279" h="1885315">
                  <a:moveTo>
                    <a:pt x="287075" y="1771070"/>
                  </a:moveTo>
                  <a:lnTo>
                    <a:pt x="287075" y="1884989"/>
                  </a:lnTo>
                </a:path>
                <a:path w="2113279" h="1885315">
                  <a:moveTo>
                    <a:pt x="514913" y="1771070"/>
                  </a:moveTo>
                  <a:lnTo>
                    <a:pt x="514913" y="1884989"/>
                  </a:lnTo>
                </a:path>
                <a:path w="2113279" h="1885315">
                  <a:moveTo>
                    <a:pt x="742767" y="1771070"/>
                  </a:moveTo>
                  <a:lnTo>
                    <a:pt x="742767" y="1884989"/>
                  </a:lnTo>
                </a:path>
                <a:path w="2113279" h="1885315">
                  <a:moveTo>
                    <a:pt x="972113" y="1771070"/>
                  </a:moveTo>
                  <a:lnTo>
                    <a:pt x="972113" y="1884989"/>
                  </a:lnTo>
                </a:path>
                <a:path w="2113279" h="1885315">
                  <a:moveTo>
                    <a:pt x="1199967" y="1771070"/>
                  </a:moveTo>
                  <a:lnTo>
                    <a:pt x="1199967" y="1884989"/>
                  </a:lnTo>
                </a:path>
                <a:path w="2113279" h="1885315">
                  <a:moveTo>
                    <a:pt x="1427805" y="1771070"/>
                  </a:moveTo>
                  <a:lnTo>
                    <a:pt x="1427805" y="1884989"/>
                  </a:lnTo>
                </a:path>
                <a:path w="2113279" h="1885315">
                  <a:moveTo>
                    <a:pt x="1657167" y="1771070"/>
                  </a:moveTo>
                  <a:lnTo>
                    <a:pt x="1657167" y="1884989"/>
                  </a:lnTo>
                </a:path>
                <a:path w="2113279" h="1885315">
                  <a:moveTo>
                    <a:pt x="1885005" y="1771070"/>
                  </a:moveTo>
                  <a:lnTo>
                    <a:pt x="1885005" y="1884989"/>
                  </a:lnTo>
                </a:path>
                <a:path w="2113279" h="1885315">
                  <a:moveTo>
                    <a:pt x="115439" y="1597913"/>
                  </a:moveTo>
                  <a:lnTo>
                    <a:pt x="0" y="1597913"/>
                  </a:lnTo>
                </a:path>
                <a:path w="2113279" h="1885315">
                  <a:moveTo>
                    <a:pt x="115439" y="1370075"/>
                  </a:moveTo>
                  <a:lnTo>
                    <a:pt x="0" y="1370075"/>
                  </a:lnTo>
                </a:path>
                <a:path w="2113279" h="1885315">
                  <a:moveTo>
                    <a:pt x="115439" y="1142237"/>
                  </a:moveTo>
                  <a:lnTo>
                    <a:pt x="0" y="1142237"/>
                  </a:lnTo>
                </a:path>
                <a:path w="2113279" h="1885315">
                  <a:moveTo>
                    <a:pt x="115439" y="912875"/>
                  </a:moveTo>
                  <a:lnTo>
                    <a:pt x="0" y="912875"/>
                  </a:lnTo>
                </a:path>
                <a:path w="2113279" h="1885315">
                  <a:moveTo>
                    <a:pt x="115439" y="685037"/>
                  </a:moveTo>
                  <a:lnTo>
                    <a:pt x="0" y="685037"/>
                  </a:lnTo>
                </a:path>
                <a:path w="2113279" h="1885315">
                  <a:moveTo>
                    <a:pt x="115439" y="457199"/>
                  </a:moveTo>
                  <a:lnTo>
                    <a:pt x="0" y="457199"/>
                  </a:lnTo>
                </a:path>
                <a:path w="2113279" h="1885315">
                  <a:moveTo>
                    <a:pt x="115439" y="229346"/>
                  </a:moveTo>
                  <a:lnTo>
                    <a:pt x="0" y="229346"/>
                  </a:lnTo>
                </a:path>
                <a:path w="2113279" h="1885315">
                  <a:moveTo>
                    <a:pt x="115439" y="0"/>
                  </a:moveTo>
                  <a:lnTo>
                    <a:pt x="0" y="0"/>
                  </a:lnTo>
                </a:path>
                <a:path w="2113279" h="1885315">
                  <a:moveTo>
                    <a:pt x="2112843" y="1771070"/>
                  </a:moveTo>
                  <a:lnTo>
                    <a:pt x="2112843" y="1884989"/>
                  </a:lnTo>
                </a:path>
              </a:pathLst>
            </a:custGeom>
            <a:ln w="31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1101071" y="6400428"/>
            <a:ext cx="179070" cy="1597660"/>
          </a:xfrm>
          <a:prstGeom prst="rect">
            <a:avLst/>
          </a:prstGeom>
        </p:spPr>
        <p:txBody>
          <a:bodyPr wrap="square" lIns="0" tIns="64769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09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14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12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15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10</a:t>
            </a:r>
            <a:endParaRPr sz="1150">
              <a:latin typeface="Arial"/>
              <a:cs typeface="Arial"/>
            </a:endParaRPr>
          </a:p>
          <a:p>
            <a:pPr marL="69850">
              <a:lnSpc>
                <a:spcPct val="100000"/>
              </a:lnSpc>
              <a:spcBef>
                <a:spcPts val="545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8</a:t>
            </a:r>
            <a:endParaRPr sz="1150">
              <a:latin typeface="Arial"/>
              <a:cs typeface="Arial"/>
            </a:endParaRPr>
          </a:p>
          <a:p>
            <a:pPr marL="69850">
              <a:lnSpc>
                <a:spcPct val="100000"/>
              </a:lnSpc>
              <a:spcBef>
                <a:spcPts val="200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6</a:t>
            </a:r>
            <a:endParaRPr sz="1150">
              <a:latin typeface="Arial"/>
              <a:cs typeface="Arial"/>
            </a:endParaRPr>
          </a:p>
          <a:p>
            <a:pPr marL="69850">
              <a:lnSpc>
                <a:spcPct val="100000"/>
              </a:lnSpc>
              <a:spcBef>
                <a:spcPts val="520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4</a:t>
            </a:r>
            <a:endParaRPr sz="1150">
              <a:latin typeface="Arial"/>
              <a:cs typeface="Arial"/>
            </a:endParaRPr>
          </a:p>
          <a:p>
            <a:pPr marL="69850">
              <a:lnSpc>
                <a:spcPct val="100000"/>
              </a:lnSpc>
              <a:spcBef>
                <a:spcPts val="210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2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324355" y="6266317"/>
            <a:ext cx="2331720" cy="1932305"/>
            <a:chOff x="1324355" y="6266317"/>
            <a:chExt cx="2331720" cy="1932305"/>
          </a:xfrm>
        </p:grpSpPr>
        <p:sp>
          <p:nvSpPr>
            <p:cNvPr id="12" name="object 12"/>
            <p:cNvSpPr/>
            <p:nvPr/>
          </p:nvSpPr>
          <p:spPr>
            <a:xfrm>
              <a:off x="1371443" y="6337716"/>
              <a:ext cx="0" cy="1814195"/>
            </a:xfrm>
            <a:custGeom>
              <a:avLst/>
              <a:gdLst/>
              <a:ahLst/>
              <a:cxnLst/>
              <a:rect l="l" t="t" r="r" b="b"/>
              <a:pathLst>
                <a:path w="0" h="1814195">
                  <a:moveTo>
                    <a:pt x="0" y="1813605"/>
                  </a:moveTo>
                  <a:lnTo>
                    <a:pt x="0" y="0"/>
                  </a:lnTo>
                </a:path>
              </a:pathLst>
            </a:custGeom>
            <a:ln w="158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24355" y="6266317"/>
              <a:ext cx="97212" cy="9418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1371443" y="8151322"/>
              <a:ext cx="2213610" cy="0"/>
            </a:xfrm>
            <a:custGeom>
              <a:avLst/>
              <a:gdLst/>
              <a:ahLst/>
              <a:cxnLst/>
              <a:rect l="l" t="t" r="r" b="b"/>
              <a:pathLst>
                <a:path w="2213610" h="0">
                  <a:moveTo>
                    <a:pt x="0" y="0"/>
                  </a:moveTo>
                  <a:lnTo>
                    <a:pt x="2213096" y="0"/>
                  </a:lnTo>
                </a:path>
              </a:pathLst>
            </a:custGeom>
            <a:ln w="158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61755" y="8104230"/>
              <a:ext cx="94167" cy="94183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5531" y="7544925"/>
              <a:ext cx="72064" cy="70556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93369" y="7658844"/>
              <a:ext cx="72064" cy="70556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93369" y="6859887"/>
              <a:ext cx="72064" cy="7055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07288" y="8000601"/>
              <a:ext cx="72064" cy="73604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135126" y="7317087"/>
              <a:ext cx="75112" cy="70556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364488" y="6973806"/>
              <a:ext cx="73588" cy="7055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92326" y="7544925"/>
              <a:ext cx="73588" cy="70556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820164" y="7772763"/>
              <a:ext cx="73588" cy="72080"/>
            </a:xfrm>
            <a:prstGeom prst="rect">
              <a:avLst/>
            </a:prstGeom>
          </p:spPr>
        </p:pic>
      </p:grpSp>
      <p:sp>
        <p:nvSpPr>
          <p:cNvPr id="24" name="object 24"/>
          <p:cNvSpPr txBox="1"/>
          <p:nvPr/>
        </p:nvSpPr>
        <p:spPr>
          <a:xfrm>
            <a:off x="1650923" y="7454304"/>
            <a:ext cx="521334" cy="31559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ts val="1125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(2,5)</a:t>
            </a:r>
            <a:endParaRPr sz="950">
              <a:latin typeface="Arial"/>
              <a:cs typeface="Arial"/>
            </a:endParaRPr>
          </a:p>
          <a:p>
            <a:pPr marL="253365">
              <a:lnSpc>
                <a:spcPts val="1125"/>
              </a:lnSpc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(4,4)</a:t>
            </a:r>
            <a:endParaRPr sz="95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555228" y="7853819"/>
            <a:ext cx="1965325" cy="541020"/>
          </a:xfrm>
          <a:prstGeom prst="rect">
            <a:avLst/>
          </a:prstGeom>
        </p:spPr>
        <p:txBody>
          <a:bodyPr wrap="square" lIns="0" tIns="100965" rIns="0" bIns="0" rtlCol="0" vert="horz">
            <a:spAutoFit/>
          </a:bodyPr>
          <a:lstStyle/>
          <a:p>
            <a:pPr marL="457200">
              <a:lnSpc>
                <a:spcPct val="100000"/>
              </a:lnSpc>
              <a:spcBef>
                <a:spcPts val="79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(5,1)</a:t>
            </a:r>
            <a:endParaRPr sz="9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tabLst>
                <a:tab pos="229235" algn="l"/>
                <a:tab pos="454025" algn="l"/>
                <a:tab pos="686435" algn="l"/>
              </a:tabLst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2	4	6	8 </a:t>
            </a:r>
            <a:r>
              <a:rPr dirty="0" sz="1150" spc="5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10</a:t>
            </a:r>
            <a:r>
              <a:rPr dirty="0" sz="1150" spc="260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12</a:t>
            </a:r>
            <a:r>
              <a:rPr dirty="0" sz="1150" spc="9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14</a:t>
            </a:r>
            <a:r>
              <a:rPr dirty="0" sz="1150" spc="21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16</a:t>
            </a:r>
            <a:r>
              <a:rPr dirty="0" sz="1150" spc="15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18</a:t>
            </a:r>
            <a:endParaRPr sz="11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877244" y="6837615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(4,11)</a:t>
            </a:r>
            <a:endParaRPr sz="95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228118" y="7224945"/>
            <a:ext cx="267335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(7,7)</a:t>
            </a:r>
            <a:endParaRPr sz="9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167360" y="6441173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(7,13)</a:t>
            </a:r>
            <a:endParaRPr sz="9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492413" y="7369243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(11,5)</a:t>
            </a:r>
            <a:endParaRPr sz="95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799238" y="6682684"/>
            <a:ext cx="40513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(12,12)</a:t>
            </a:r>
            <a:endParaRPr sz="9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442287" y="6922676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(9,10)</a:t>
            </a:r>
            <a:endParaRPr sz="95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028598" y="6898373"/>
            <a:ext cx="40513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(14,10)</a:t>
            </a:r>
            <a:endParaRPr sz="95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148594" y="7253804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(15,7)</a:t>
            </a:r>
            <a:endParaRPr sz="9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714177" y="7609235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(13,3)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789145" y="6632033"/>
            <a:ext cx="1334135" cy="755650"/>
            <a:chOff x="1789145" y="6632033"/>
            <a:chExt cx="1334135" cy="755650"/>
          </a:xfrm>
        </p:grpSpPr>
        <p:pic>
          <p:nvPicPr>
            <p:cNvPr id="36" name="object 3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135126" y="6632033"/>
              <a:ext cx="75112" cy="70571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706245" y="6745968"/>
              <a:ext cx="73588" cy="70556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935607" y="6973806"/>
              <a:ext cx="73588" cy="70556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049526" y="7317087"/>
              <a:ext cx="73588" cy="70556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895474" y="6781246"/>
              <a:ext cx="819150" cy="235585"/>
            </a:xfrm>
            <a:custGeom>
              <a:avLst/>
              <a:gdLst/>
              <a:ahLst/>
              <a:cxnLst/>
              <a:rect l="l" t="t" r="r" b="b"/>
              <a:pathLst>
                <a:path w="819150" h="235584">
                  <a:moveTo>
                    <a:pt x="818708" y="0"/>
                  </a:moveTo>
                  <a:lnTo>
                    <a:pt x="753389" y="39486"/>
                  </a:lnTo>
                  <a:lnTo>
                    <a:pt x="688085" y="77464"/>
                  </a:lnTo>
                  <a:lnTo>
                    <a:pt x="627324" y="109362"/>
                  </a:lnTo>
                  <a:lnTo>
                    <a:pt x="566562" y="138211"/>
                  </a:lnTo>
                  <a:lnTo>
                    <a:pt x="508848" y="164043"/>
                  </a:lnTo>
                  <a:lnTo>
                    <a:pt x="452643" y="185303"/>
                  </a:lnTo>
                  <a:lnTo>
                    <a:pt x="397962" y="202006"/>
                  </a:lnTo>
                  <a:lnTo>
                    <a:pt x="346313" y="215676"/>
                  </a:lnTo>
                  <a:lnTo>
                    <a:pt x="296189" y="226313"/>
                  </a:lnTo>
                  <a:lnTo>
                    <a:pt x="246065" y="232394"/>
                  </a:lnTo>
                  <a:lnTo>
                    <a:pt x="200497" y="235427"/>
                  </a:lnTo>
                  <a:lnTo>
                    <a:pt x="156453" y="233903"/>
                  </a:lnTo>
                  <a:lnTo>
                    <a:pt x="113918" y="227837"/>
                  </a:lnTo>
                  <a:lnTo>
                    <a:pt x="74432" y="218724"/>
                  </a:lnTo>
                  <a:lnTo>
                    <a:pt x="36454" y="205054"/>
                  </a:lnTo>
                  <a:lnTo>
                    <a:pt x="0" y="188335"/>
                  </a:lnTo>
                </a:path>
              </a:pathLst>
            </a:custGeom>
            <a:ln w="158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36237" y="6930095"/>
              <a:ext cx="104805" cy="92659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834713" y="6665803"/>
              <a:ext cx="308610" cy="129539"/>
            </a:xfrm>
            <a:custGeom>
              <a:avLst/>
              <a:gdLst/>
              <a:ahLst/>
              <a:cxnLst/>
              <a:rect l="l" t="t" r="r" b="b"/>
              <a:pathLst>
                <a:path w="308610" h="129540">
                  <a:moveTo>
                    <a:pt x="308350" y="1523"/>
                  </a:moveTo>
                  <a:lnTo>
                    <a:pt x="267340" y="0"/>
                  </a:lnTo>
                  <a:lnTo>
                    <a:pt x="230885" y="1523"/>
                  </a:lnTo>
                  <a:lnTo>
                    <a:pt x="195955" y="4556"/>
                  </a:lnTo>
                  <a:lnTo>
                    <a:pt x="133670" y="15194"/>
                  </a:lnTo>
                  <a:lnTo>
                    <a:pt x="83545" y="33421"/>
                  </a:lnTo>
                  <a:lnTo>
                    <a:pt x="44058" y="59237"/>
                  </a:lnTo>
                  <a:lnTo>
                    <a:pt x="16718" y="91135"/>
                  </a:lnTo>
                  <a:lnTo>
                    <a:pt x="6080" y="109362"/>
                  </a:lnTo>
                  <a:lnTo>
                    <a:pt x="0" y="129113"/>
                  </a:lnTo>
                </a:path>
              </a:pathLst>
            </a:custGeom>
            <a:ln w="158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89145" y="6769084"/>
              <a:ext cx="94183" cy="97215"/>
            </a:xfrm>
            <a:prstGeom prst="rect">
              <a:avLst/>
            </a:prstGeom>
          </p:spPr>
        </p:pic>
      </p:grpSp>
      <p:sp>
        <p:nvSpPr>
          <p:cNvPr id="44" name="object 44"/>
          <p:cNvSpPr txBox="1"/>
          <p:nvPr/>
        </p:nvSpPr>
        <p:spPr>
          <a:xfrm>
            <a:off x="1181162" y="8537002"/>
            <a:ext cx="24390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1.2: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4,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11</a:t>
            </a:r>
            <a:r>
              <a:rPr dirty="0" sz="1200" spc="-7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4407407" y="6098738"/>
            <a:ext cx="2844800" cy="2362200"/>
            <a:chOff x="4407407" y="6098738"/>
            <a:chExt cx="2844800" cy="2362200"/>
          </a:xfrm>
        </p:grpSpPr>
        <p:sp>
          <p:nvSpPr>
            <p:cNvPr id="46" name="object 46"/>
            <p:cNvSpPr/>
            <p:nvPr/>
          </p:nvSpPr>
          <p:spPr>
            <a:xfrm>
              <a:off x="4407407" y="6098738"/>
              <a:ext cx="2844800" cy="2362200"/>
            </a:xfrm>
            <a:custGeom>
              <a:avLst/>
              <a:gdLst/>
              <a:ahLst/>
              <a:cxnLst/>
              <a:rect l="l" t="t" r="r" b="b"/>
              <a:pathLst>
                <a:path w="2844800" h="2362200">
                  <a:moveTo>
                    <a:pt x="2844576" y="0"/>
                  </a:moveTo>
                  <a:lnTo>
                    <a:pt x="0" y="0"/>
                  </a:lnTo>
                  <a:lnTo>
                    <a:pt x="0" y="2362001"/>
                  </a:lnTo>
                  <a:lnTo>
                    <a:pt x="2844576" y="2362001"/>
                  </a:lnTo>
                  <a:lnTo>
                    <a:pt x="284457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744242" y="6324046"/>
              <a:ext cx="2113280" cy="1885314"/>
            </a:xfrm>
            <a:custGeom>
              <a:avLst/>
              <a:gdLst/>
              <a:ahLst/>
              <a:cxnLst/>
              <a:rect l="l" t="t" r="r" b="b"/>
              <a:pathLst>
                <a:path w="2113279" h="1885315">
                  <a:moveTo>
                    <a:pt x="287075" y="1771070"/>
                  </a:moveTo>
                  <a:lnTo>
                    <a:pt x="287075" y="1884989"/>
                  </a:lnTo>
                </a:path>
                <a:path w="2113279" h="1885315">
                  <a:moveTo>
                    <a:pt x="514913" y="1771070"/>
                  </a:moveTo>
                  <a:lnTo>
                    <a:pt x="514913" y="1884989"/>
                  </a:lnTo>
                </a:path>
                <a:path w="2113279" h="1885315">
                  <a:moveTo>
                    <a:pt x="742767" y="1771070"/>
                  </a:moveTo>
                  <a:lnTo>
                    <a:pt x="742767" y="1884989"/>
                  </a:lnTo>
                </a:path>
                <a:path w="2113279" h="1885315">
                  <a:moveTo>
                    <a:pt x="972113" y="1771070"/>
                  </a:moveTo>
                  <a:lnTo>
                    <a:pt x="972113" y="1884989"/>
                  </a:lnTo>
                </a:path>
                <a:path w="2113279" h="1885315">
                  <a:moveTo>
                    <a:pt x="1199967" y="1771070"/>
                  </a:moveTo>
                  <a:lnTo>
                    <a:pt x="1199967" y="1884989"/>
                  </a:lnTo>
                </a:path>
                <a:path w="2113279" h="1885315">
                  <a:moveTo>
                    <a:pt x="1427805" y="1771070"/>
                  </a:moveTo>
                  <a:lnTo>
                    <a:pt x="1427805" y="1884989"/>
                  </a:lnTo>
                </a:path>
                <a:path w="2113279" h="1885315">
                  <a:moveTo>
                    <a:pt x="1657167" y="1771070"/>
                  </a:moveTo>
                  <a:lnTo>
                    <a:pt x="1657167" y="1884989"/>
                  </a:lnTo>
                </a:path>
                <a:path w="2113279" h="1885315">
                  <a:moveTo>
                    <a:pt x="1885005" y="1771070"/>
                  </a:moveTo>
                  <a:lnTo>
                    <a:pt x="1885005" y="1884989"/>
                  </a:lnTo>
                </a:path>
                <a:path w="2113279" h="1885315">
                  <a:moveTo>
                    <a:pt x="115442" y="1597913"/>
                  </a:moveTo>
                  <a:lnTo>
                    <a:pt x="0" y="1597913"/>
                  </a:lnTo>
                </a:path>
                <a:path w="2113279" h="1885315">
                  <a:moveTo>
                    <a:pt x="115442" y="1370075"/>
                  </a:moveTo>
                  <a:lnTo>
                    <a:pt x="0" y="1370075"/>
                  </a:lnTo>
                </a:path>
                <a:path w="2113279" h="1885315">
                  <a:moveTo>
                    <a:pt x="115442" y="1142237"/>
                  </a:moveTo>
                  <a:lnTo>
                    <a:pt x="0" y="1142237"/>
                  </a:lnTo>
                </a:path>
                <a:path w="2113279" h="1885315">
                  <a:moveTo>
                    <a:pt x="115442" y="912875"/>
                  </a:moveTo>
                  <a:lnTo>
                    <a:pt x="0" y="912875"/>
                  </a:lnTo>
                </a:path>
                <a:path w="2113279" h="1885315">
                  <a:moveTo>
                    <a:pt x="115442" y="685037"/>
                  </a:moveTo>
                  <a:lnTo>
                    <a:pt x="0" y="685037"/>
                  </a:lnTo>
                </a:path>
                <a:path w="2113279" h="1885315">
                  <a:moveTo>
                    <a:pt x="115442" y="457199"/>
                  </a:moveTo>
                  <a:lnTo>
                    <a:pt x="0" y="457199"/>
                  </a:lnTo>
                </a:path>
                <a:path w="2113279" h="1885315">
                  <a:moveTo>
                    <a:pt x="115442" y="229346"/>
                  </a:moveTo>
                  <a:lnTo>
                    <a:pt x="0" y="229346"/>
                  </a:lnTo>
                </a:path>
                <a:path w="2113279" h="1885315">
                  <a:moveTo>
                    <a:pt x="115442" y="0"/>
                  </a:moveTo>
                  <a:lnTo>
                    <a:pt x="0" y="0"/>
                  </a:lnTo>
                </a:path>
                <a:path w="2113279" h="1885315">
                  <a:moveTo>
                    <a:pt x="2112843" y="1771070"/>
                  </a:moveTo>
                  <a:lnTo>
                    <a:pt x="2112843" y="1884989"/>
                  </a:lnTo>
                </a:path>
              </a:pathLst>
            </a:custGeom>
            <a:ln w="31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/>
          <p:cNvSpPr txBox="1"/>
          <p:nvPr/>
        </p:nvSpPr>
        <p:spPr>
          <a:xfrm>
            <a:off x="4530067" y="6400428"/>
            <a:ext cx="179070" cy="1597660"/>
          </a:xfrm>
          <a:prstGeom prst="rect">
            <a:avLst/>
          </a:prstGeom>
        </p:spPr>
        <p:txBody>
          <a:bodyPr wrap="square" lIns="0" tIns="64769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09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14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12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15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10</a:t>
            </a:r>
            <a:endParaRPr sz="1150">
              <a:latin typeface="Arial"/>
              <a:cs typeface="Arial"/>
            </a:endParaRPr>
          </a:p>
          <a:p>
            <a:pPr marL="69850">
              <a:lnSpc>
                <a:spcPct val="100000"/>
              </a:lnSpc>
              <a:spcBef>
                <a:spcPts val="545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8</a:t>
            </a:r>
            <a:endParaRPr sz="1150">
              <a:latin typeface="Arial"/>
              <a:cs typeface="Arial"/>
            </a:endParaRPr>
          </a:p>
          <a:p>
            <a:pPr marL="69850">
              <a:lnSpc>
                <a:spcPct val="100000"/>
              </a:lnSpc>
              <a:spcBef>
                <a:spcPts val="200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6</a:t>
            </a:r>
            <a:endParaRPr sz="1150">
              <a:latin typeface="Arial"/>
              <a:cs typeface="Arial"/>
            </a:endParaRPr>
          </a:p>
          <a:p>
            <a:pPr marL="69850">
              <a:lnSpc>
                <a:spcPct val="100000"/>
              </a:lnSpc>
              <a:spcBef>
                <a:spcPts val="520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4</a:t>
            </a:r>
            <a:endParaRPr sz="1150">
              <a:latin typeface="Arial"/>
              <a:cs typeface="Arial"/>
            </a:endParaRPr>
          </a:p>
          <a:p>
            <a:pPr marL="69850">
              <a:lnSpc>
                <a:spcPct val="100000"/>
              </a:lnSpc>
              <a:spcBef>
                <a:spcPts val="210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2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4753355" y="6266317"/>
            <a:ext cx="2331720" cy="1932305"/>
            <a:chOff x="4753355" y="6266317"/>
            <a:chExt cx="2331720" cy="1932305"/>
          </a:xfrm>
        </p:grpSpPr>
        <p:sp>
          <p:nvSpPr>
            <p:cNvPr id="50" name="object 50"/>
            <p:cNvSpPr/>
            <p:nvPr/>
          </p:nvSpPr>
          <p:spPr>
            <a:xfrm>
              <a:off x="4800447" y="6337716"/>
              <a:ext cx="0" cy="1814195"/>
            </a:xfrm>
            <a:custGeom>
              <a:avLst/>
              <a:gdLst/>
              <a:ahLst/>
              <a:cxnLst/>
              <a:rect l="l" t="t" r="r" b="b"/>
              <a:pathLst>
                <a:path w="0" h="1814195">
                  <a:moveTo>
                    <a:pt x="0" y="1813605"/>
                  </a:moveTo>
                  <a:lnTo>
                    <a:pt x="0" y="0"/>
                  </a:lnTo>
                </a:path>
              </a:pathLst>
            </a:custGeom>
            <a:ln w="158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53355" y="6266317"/>
              <a:ext cx="97215" cy="94183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4800447" y="8151322"/>
              <a:ext cx="2213610" cy="0"/>
            </a:xfrm>
            <a:custGeom>
              <a:avLst/>
              <a:gdLst/>
              <a:ahLst/>
              <a:cxnLst/>
              <a:rect l="l" t="t" r="r" b="b"/>
              <a:pathLst>
                <a:path w="2213609" h="0">
                  <a:moveTo>
                    <a:pt x="0" y="0"/>
                  </a:moveTo>
                  <a:lnTo>
                    <a:pt x="2213091" y="0"/>
                  </a:lnTo>
                </a:path>
              </a:pathLst>
            </a:custGeom>
            <a:ln w="158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990755" y="8104230"/>
              <a:ext cx="94167" cy="94183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94531" y="7544925"/>
              <a:ext cx="72064" cy="70556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22369" y="7658844"/>
              <a:ext cx="72064" cy="70556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22369" y="6859887"/>
              <a:ext cx="72064" cy="70556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336288" y="8000601"/>
              <a:ext cx="72064" cy="73604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564126" y="7317087"/>
              <a:ext cx="75112" cy="70556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793488" y="6973806"/>
              <a:ext cx="73588" cy="70556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021326" y="7544925"/>
              <a:ext cx="73588" cy="70556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249164" y="7772763"/>
              <a:ext cx="73588" cy="72080"/>
            </a:xfrm>
            <a:prstGeom prst="rect">
              <a:avLst/>
            </a:prstGeom>
          </p:spPr>
        </p:pic>
      </p:grpSp>
      <p:sp>
        <p:nvSpPr>
          <p:cNvPr id="62" name="object 62"/>
          <p:cNvSpPr txBox="1"/>
          <p:nvPr/>
        </p:nvSpPr>
        <p:spPr>
          <a:xfrm>
            <a:off x="5079921" y="7454304"/>
            <a:ext cx="521334" cy="31559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ts val="1125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(2,5)</a:t>
            </a:r>
            <a:endParaRPr sz="950">
              <a:latin typeface="Arial"/>
              <a:cs typeface="Arial"/>
            </a:endParaRPr>
          </a:p>
          <a:p>
            <a:pPr marL="253365">
              <a:lnSpc>
                <a:spcPts val="1125"/>
              </a:lnSpc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(4,4)</a:t>
            </a:r>
            <a:endParaRPr sz="95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984227" y="7853819"/>
            <a:ext cx="1965325" cy="541020"/>
          </a:xfrm>
          <a:prstGeom prst="rect">
            <a:avLst/>
          </a:prstGeom>
        </p:spPr>
        <p:txBody>
          <a:bodyPr wrap="square" lIns="0" tIns="100965" rIns="0" bIns="0" rtlCol="0" vert="horz">
            <a:spAutoFit/>
          </a:bodyPr>
          <a:lstStyle/>
          <a:p>
            <a:pPr marL="457200">
              <a:lnSpc>
                <a:spcPct val="100000"/>
              </a:lnSpc>
              <a:spcBef>
                <a:spcPts val="79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(5,1)</a:t>
            </a:r>
            <a:endParaRPr sz="9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tabLst>
                <a:tab pos="229235" algn="l"/>
                <a:tab pos="454025" algn="l"/>
                <a:tab pos="686435" algn="l"/>
              </a:tabLst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2	4	6	8 </a:t>
            </a:r>
            <a:r>
              <a:rPr dirty="0" sz="1150" spc="5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10</a:t>
            </a:r>
            <a:r>
              <a:rPr dirty="0" sz="1150" spc="260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12</a:t>
            </a:r>
            <a:r>
              <a:rPr dirty="0" sz="1150" spc="9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14</a:t>
            </a:r>
            <a:r>
              <a:rPr dirty="0" sz="1150" spc="21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16</a:t>
            </a:r>
            <a:r>
              <a:rPr dirty="0" sz="1150" spc="15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18</a:t>
            </a:r>
            <a:endParaRPr sz="115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306243" y="6837615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(4,11)</a:t>
            </a:r>
            <a:endParaRPr sz="95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657117" y="7224945"/>
            <a:ext cx="267335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(7,7)</a:t>
            </a:r>
            <a:endParaRPr sz="95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596359" y="6441173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(7,13)</a:t>
            </a:r>
            <a:endParaRPr sz="95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921412" y="7369243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(11,5)</a:t>
            </a:r>
            <a:endParaRPr sz="95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228237" y="6682684"/>
            <a:ext cx="40513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(12,12)</a:t>
            </a:r>
            <a:endParaRPr sz="95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871286" y="6922676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(9,10)</a:t>
            </a:r>
            <a:endParaRPr sz="95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457596" y="6898373"/>
            <a:ext cx="40513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(14,10)</a:t>
            </a:r>
            <a:endParaRPr sz="95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577592" y="7253804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(15,7)</a:t>
            </a:r>
            <a:endParaRPr sz="95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143176" y="7609235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(13,3)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5564126" y="6632033"/>
            <a:ext cx="988060" cy="755650"/>
            <a:chOff x="5564126" y="6632033"/>
            <a:chExt cx="988060" cy="755650"/>
          </a:xfrm>
        </p:grpSpPr>
        <p:pic>
          <p:nvPicPr>
            <p:cNvPr id="74" name="object 7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64126" y="6632033"/>
              <a:ext cx="75112" cy="70571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135245" y="6745968"/>
              <a:ext cx="73588" cy="70556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64607" y="6973806"/>
              <a:ext cx="73588" cy="70556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478526" y="7317087"/>
              <a:ext cx="73588" cy="70556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5871285" y="7037933"/>
              <a:ext cx="530225" cy="135255"/>
            </a:xfrm>
            <a:custGeom>
              <a:avLst/>
              <a:gdLst/>
              <a:ahLst/>
              <a:cxnLst/>
              <a:rect l="l" t="t" r="r" b="b"/>
              <a:pathLst>
                <a:path w="530225" h="135254">
                  <a:moveTo>
                    <a:pt x="530123" y="0"/>
                  </a:moveTo>
                  <a:lnTo>
                    <a:pt x="484555" y="27340"/>
                  </a:lnTo>
                  <a:lnTo>
                    <a:pt x="440496" y="53172"/>
                  </a:lnTo>
                  <a:lnTo>
                    <a:pt x="397962" y="74432"/>
                  </a:lnTo>
                  <a:lnTo>
                    <a:pt x="358475" y="92659"/>
                  </a:lnTo>
                  <a:lnTo>
                    <a:pt x="318988" y="107853"/>
                  </a:lnTo>
                  <a:lnTo>
                    <a:pt x="247589" y="127604"/>
                  </a:lnTo>
                  <a:lnTo>
                    <a:pt x="180761" y="135194"/>
                  </a:lnTo>
                  <a:lnTo>
                    <a:pt x="150388" y="133670"/>
                  </a:lnTo>
                  <a:lnTo>
                    <a:pt x="94183" y="121523"/>
                  </a:lnTo>
                  <a:lnTo>
                    <a:pt x="44058" y="95707"/>
                  </a:lnTo>
                  <a:lnTo>
                    <a:pt x="21275" y="78988"/>
                  </a:lnTo>
                  <a:lnTo>
                    <a:pt x="0" y="57729"/>
                  </a:lnTo>
                </a:path>
              </a:pathLst>
            </a:custGeom>
            <a:ln w="158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9" name="object 7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830275" y="7037933"/>
              <a:ext cx="92659" cy="103296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5834831" y="6781246"/>
              <a:ext cx="308610" cy="127635"/>
            </a:xfrm>
            <a:custGeom>
              <a:avLst/>
              <a:gdLst/>
              <a:ahLst/>
              <a:cxnLst/>
              <a:rect l="l" t="t" r="r" b="b"/>
              <a:pathLst>
                <a:path w="308610" h="127634">
                  <a:moveTo>
                    <a:pt x="308350" y="0"/>
                  </a:moveTo>
                  <a:lnTo>
                    <a:pt x="230885" y="0"/>
                  </a:lnTo>
                  <a:lnTo>
                    <a:pt x="195955" y="3032"/>
                  </a:lnTo>
                  <a:lnTo>
                    <a:pt x="133670" y="15179"/>
                  </a:lnTo>
                  <a:lnTo>
                    <a:pt x="83545" y="31897"/>
                  </a:lnTo>
                  <a:lnTo>
                    <a:pt x="44058" y="57713"/>
                  </a:lnTo>
                  <a:lnTo>
                    <a:pt x="16718" y="89611"/>
                  </a:lnTo>
                  <a:lnTo>
                    <a:pt x="6080" y="107838"/>
                  </a:lnTo>
                  <a:lnTo>
                    <a:pt x="0" y="127589"/>
                  </a:lnTo>
                </a:path>
              </a:pathLst>
            </a:custGeom>
            <a:ln w="158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1" name="object 8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789264" y="6883003"/>
              <a:ext cx="94183" cy="97215"/>
            </a:xfrm>
            <a:prstGeom prst="rect">
              <a:avLst/>
            </a:prstGeom>
          </p:spPr>
        </p:pic>
      </p:grpSp>
      <p:sp>
        <p:nvSpPr>
          <p:cNvPr id="82" name="object 82"/>
          <p:cNvSpPr txBox="1"/>
          <p:nvPr/>
        </p:nvSpPr>
        <p:spPr>
          <a:xfrm>
            <a:off x="4610161" y="8537002"/>
            <a:ext cx="24390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1.3: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9,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10</a:t>
            </a:r>
            <a:r>
              <a:rPr dirty="0" sz="1200" spc="-7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28600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1.10.</a:t>
            </a:r>
            <a:r>
              <a:rPr dirty="0" sz="1200" spc="35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RUNNING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ANALYSIS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978408" y="1267658"/>
            <a:ext cx="2844800" cy="2362200"/>
            <a:chOff x="978408" y="1267658"/>
            <a:chExt cx="2844800" cy="2362200"/>
          </a:xfrm>
        </p:grpSpPr>
        <p:sp>
          <p:nvSpPr>
            <p:cNvPr id="5" name="object 5"/>
            <p:cNvSpPr/>
            <p:nvPr/>
          </p:nvSpPr>
          <p:spPr>
            <a:xfrm>
              <a:off x="978408" y="1267658"/>
              <a:ext cx="2844800" cy="2362200"/>
            </a:xfrm>
            <a:custGeom>
              <a:avLst/>
              <a:gdLst/>
              <a:ahLst/>
              <a:cxnLst/>
              <a:rect l="l" t="t" r="r" b="b"/>
              <a:pathLst>
                <a:path w="2844800" h="2362200">
                  <a:moveTo>
                    <a:pt x="2844576" y="0"/>
                  </a:moveTo>
                  <a:lnTo>
                    <a:pt x="0" y="0"/>
                  </a:lnTo>
                  <a:lnTo>
                    <a:pt x="0" y="2362001"/>
                  </a:lnTo>
                  <a:lnTo>
                    <a:pt x="2844576" y="2362001"/>
                  </a:lnTo>
                  <a:lnTo>
                    <a:pt x="284457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315242" y="1492920"/>
              <a:ext cx="2113280" cy="1885314"/>
            </a:xfrm>
            <a:custGeom>
              <a:avLst/>
              <a:gdLst/>
              <a:ahLst/>
              <a:cxnLst/>
              <a:rect l="l" t="t" r="r" b="b"/>
              <a:pathLst>
                <a:path w="2113279" h="1885314">
                  <a:moveTo>
                    <a:pt x="287075" y="1771086"/>
                  </a:moveTo>
                  <a:lnTo>
                    <a:pt x="287075" y="1885005"/>
                  </a:lnTo>
                </a:path>
                <a:path w="2113279" h="1885314">
                  <a:moveTo>
                    <a:pt x="514913" y="1771086"/>
                  </a:moveTo>
                  <a:lnTo>
                    <a:pt x="514913" y="1885005"/>
                  </a:lnTo>
                </a:path>
                <a:path w="2113279" h="1885314">
                  <a:moveTo>
                    <a:pt x="742767" y="1771086"/>
                  </a:moveTo>
                  <a:lnTo>
                    <a:pt x="742767" y="1885005"/>
                  </a:lnTo>
                </a:path>
                <a:path w="2113279" h="1885314">
                  <a:moveTo>
                    <a:pt x="972113" y="1771086"/>
                  </a:moveTo>
                  <a:lnTo>
                    <a:pt x="972113" y="1885005"/>
                  </a:lnTo>
                </a:path>
                <a:path w="2113279" h="1885314">
                  <a:moveTo>
                    <a:pt x="1199967" y="1771086"/>
                  </a:moveTo>
                  <a:lnTo>
                    <a:pt x="1199967" y="1885005"/>
                  </a:lnTo>
                </a:path>
                <a:path w="2113279" h="1885314">
                  <a:moveTo>
                    <a:pt x="1427805" y="1771086"/>
                  </a:moveTo>
                  <a:lnTo>
                    <a:pt x="1427805" y="1885005"/>
                  </a:lnTo>
                </a:path>
                <a:path w="2113279" h="1885314">
                  <a:moveTo>
                    <a:pt x="1657167" y="1771086"/>
                  </a:moveTo>
                  <a:lnTo>
                    <a:pt x="1657167" y="1885005"/>
                  </a:lnTo>
                </a:path>
                <a:path w="2113279" h="1885314">
                  <a:moveTo>
                    <a:pt x="1885005" y="1771086"/>
                  </a:moveTo>
                  <a:lnTo>
                    <a:pt x="1885005" y="1885005"/>
                  </a:lnTo>
                </a:path>
                <a:path w="2113279" h="1885314">
                  <a:moveTo>
                    <a:pt x="115439" y="1597929"/>
                  </a:moveTo>
                  <a:lnTo>
                    <a:pt x="0" y="1597929"/>
                  </a:lnTo>
                </a:path>
                <a:path w="2113279" h="1885314">
                  <a:moveTo>
                    <a:pt x="115439" y="1370091"/>
                  </a:moveTo>
                  <a:lnTo>
                    <a:pt x="0" y="1370091"/>
                  </a:lnTo>
                </a:path>
                <a:path w="2113279" h="1885314">
                  <a:moveTo>
                    <a:pt x="115439" y="1142237"/>
                  </a:moveTo>
                  <a:lnTo>
                    <a:pt x="0" y="1142237"/>
                  </a:lnTo>
                </a:path>
                <a:path w="2113279" h="1885314">
                  <a:moveTo>
                    <a:pt x="115439" y="912891"/>
                  </a:moveTo>
                  <a:lnTo>
                    <a:pt x="0" y="912891"/>
                  </a:lnTo>
                </a:path>
                <a:path w="2113279" h="1885314">
                  <a:moveTo>
                    <a:pt x="115439" y="685037"/>
                  </a:moveTo>
                  <a:lnTo>
                    <a:pt x="0" y="685037"/>
                  </a:lnTo>
                </a:path>
                <a:path w="2113279" h="1885314">
                  <a:moveTo>
                    <a:pt x="115439" y="457199"/>
                  </a:moveTo>
                  <a:lnTo>
                    <a:pt x="0" y="457199"/>
                  </a:lnTo>
                </a:path>
                <a:path w="2113279" h="1885314">
                  <a:moveTo>
                    <a:pt x="115439" y="229361"/>
                  </a:moveTo>
                  <a:lnTo>
                    <a:pt x="0" y="229361"/>
                  </a:lnTo>
                </a:path>
                <a:path w="2113279" h="1885314">
                  <a:moveTo>
                    <a:pt x="115439" y="0"/>
                  </a:moveTo>
                  <a:lnTo>
                    <a:pt x="0" y="0"/>
                  </a:lnTo>
                </a:path>
                <a:path w="2113279" h="1885314">
                  <a:moveTo>
                    <a:pt x="2112843" y="1771086"/>
                  </a:moveTo>
                  <a:lnTo>
                    <a:pt x="2112843" y="1885005"/>
                  </a:lnTo>
                </a:path>
              </a:pathLst>
            </a:custGeom>
            <a:ln w="31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1101071" y="1569312"/>
            <a:ext cx="179070" cy="1597660"/>
          </a:xfrm>
          <a:prstGeom prst="rect">
            <a:avLst/>
          </a:prstGeom>
        </p:spPr>
        <p:txBody>
          <a:bodyPr wrap="square" lIns="0" tIns="64769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09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14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12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15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10</a:t>
            </a:r>
            <a:endParaRPr sz="1150">
              <a:latin typeface="Arial"/>
              <a:cs typeface="Arial"/>
            </a:endParaRPr>
          </a:p>
          <a:p>
            <a:pPr marL="69850">
              <a:lnSpc>
                <a:spcPct val="100000"/>
              </a:lnSpc>
              <a:spcBef>
                <a:spcPts val="545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8</a:t>
            </a:r>
            <a:endParaRPr sz="1150">
              <a:latin typeface="Arial"/>
              <a:cs typeface="Arial"/>
            </a:endParaRPr>
          </a:p>
          <a:p>
            <a:pPr marL="69850">
              <a:lnSpc>
                <a:spcPct val="100000"/>
              </a:lnSpc>
              <a:spcBef>
                <a:spcPts val="200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6</a:t>
            </a:r>
            <a:endParaRPr sz="1150">
              <a:latin typeface="Arial"/>
              <a:cs typeface="Arial"/>
            </a:endParaRPr>
          </a:p>
          <a:p>
            <a:pPr marL="69850">
              <a:lnSpc>
                <a:spcPct val="100000"/>
              </a:lnSpc>
              <a:spcBef>
                <a:spcPts val="520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4</a:t>
            </a:r>
            <a:endParaRPr sz="1150">
              <a:latin typeface="Arial"/>
              <a:cs typeface="Arial"/>
            </a:endParaRPr>
          </a:p>
          <a:p>
            <a:pPr marL="69850">
              <a:lnSpc>
                <a:spcPct val="100000"/>
              </a:lnSpc>
              <a:spcBef>
                <a:spcPts val="210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2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1324355" y="1435206"/>
            <a:ext cx="2331720" cy="1932305"/>
            <a:chOff x="1324355" y="1435206"/>
            <a:chExt cx="2331720" cy="1932305"/>
          </a:xfrm>
        </p:grpSpPr>
        <p:sp>
          <p:nvSpPr>
            <p:cNvPr id="9" name="object 9"/>
            <p:cNvSpPr/>
            <p:nvPr/>
          </p:nvSpPr>
          <p:spPr>
            <a:xfrm>
              <a:off x="1371443" y="1506591"/>
              <a:ext cx="0" cy="1814195"/>
            </a:xfrm>
            <a:custGeom>
              <a:avLst/>
              <a:gdLst/>
              <a:ahLst/>
              <a:cxnLst/>
              <a:rect l="l" t="t" r="r" b="b"/>
              <a:pathLst>
                <a:path w="0" h="1814195">
                  <a:moveTo>
                    <a:pt x="0" y="1813620"/>
                  </a:moveTo>
                  <a:lnTo>
                    <a:pt x="0" y="0"/>
                  </a:lnTo>
                </a:path>
              </a:pathLst>
            </a:custGeom>
            <a:ln w="158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24355" y="1435206"/>
              <a:ext cx="97212" cy="94167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1371443" y="3320211"/>
              <a:ext cx="2213610" cy="0"/>
            </a:xfrm>
            <a:custGeom>
              <a:avLst/>
              <a:gdLst/>
              <a:ahLst/>
              <a:cxnLst/>
              <a:rect l="l" t="t" r="r" b="b"/>
              <a:pathLst>
                <a:path w="2213610" h="0">
                  <a:moveTo>
                    <a:pt x="0" y="0"/>
                  </a:moveTo>
                  <a:lnTo>
                    <a:pt x="2213096" y="0"/>
                  </a:lnTo>
                </a:path>
              </a:pathLst>
            </a:custGeom>
            <a:ln w="158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61755" y="3273120"/>
              <a:ext cx="94167" cy="94167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5531" y="2713799"/>
              <a:ext cx="72064" cy="70556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93369" y="2827718"/>
              <a:ext cx="72064" cy="70571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93369" y="2028761"/>
              <a:ext cx="72064" cy="7055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07288" y="3169490"/>
              <a:ext cx="72064" cy="7358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135126" y="2485961"/>
              <a:ext cx="75112" cy="70556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364488" y="2142680"/>
              <a:ext cx="73588" cy="7055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92326" y="2713799"/>
              <a:ext cx="73588" cy="70556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820164" y="2941652"/>
              <a:ext cx="73588" cy="72064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1650923" y="2623201"/>
            <a:ext cx="521334" cy="31559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ts val="1125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(2,5)</a:t>
            </a:r>
            <a:endParaRPr sz="950">
              <a:latin typeface="Arial"/>
              <a:cs typeface="Arial"/>
            </a:endParaRPr>
          </a:p>
          <a:p>
            <a:pPr marL="253365">
              <a:lnSpc>
                <a:spcPts val="1125"/>
              </a:lnSpc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(4,4)</a:t>
            </a:r>
            <a:endParaRPr sz="95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555228" y="3022726"/>
            <a:ext cx="1965325" cy="541020"/>
          </a:xfrm>
          <a:prstGeom prst="rect">
            <a:avLst/>
          </a:prstGeom>
        </p:spPr>
        <p:txBody>
          <a:bodyPr wrap="square" lIns="0" tIns="100965" rIns="0" bIns="0" rtlCol="0" vert="horz">
            <a:spAutoFit/>
          </a:bodyPr>
          <a:lstStyle/>
          <a:p>
            <a:pPr marL="457200">
              <a:lnSpc>
                <a:spcPct val="100000"/>
              </a:lnSpc>
              <a:spcBef>
                <a:spcPts val="79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(5,1)</a:t>
            </a:r>
            <a:endParaRPr sz="9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tabLst>
                <a:tab pos="229235" algn="l"/>
                <a:tab pos="454025" algn="l"/>
                <a:tab pos="686435" algn="l"/>
              </a:tabLst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2	4	6	8 </a:t>
            </a:r>
            <a:r>
              <a:rPr dirty="0" sz="1150" spc="5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10</a:t>
            </a:r>
            <a:r>
              <a:rPr dirty="0" sz="1150" spc="260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12</a:t>
            </a:r>
            <a:r>
              <a:rPr dirty="0" sz="1150" spc="9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14</a:t>
            </a:r>
            <a:r>
              <a:rPr dirty="0" sz="1150" spc="21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16</a:t>
            </a:r>
            <a:r>
              <a:rPr dirty="0" sz="1150" spc="15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18</a:t>
            </a:r>
            <a:endParaRPr sz="11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877244" y="2006511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(4,11)</a:t>
            </a:r>
            <a:endParaRPr sz="9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228118" y="2393839"/>
            <a:ext cx="267335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(7,7)</a:t>
            </a:r>
            <a:endParaRPr sz="95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167360" y="1610069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(7,13)</a:t>
            </a:r>
            <a:endParaRPr sz="9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492413" y="2538138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(11,5)</a:t>
            </a:r>
            <a:endParaRPr sz="95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799238" y="1851580"/>
            <a:ext cx="40513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(12,12)</a:t>
            </a:r>
            <a:endParaRPr sz="9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442287" y="2091571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(9,10)</a:t>
            </a:r>
            <a:endParaRPr sz="9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028598" y="2067268"/>
            <a:ext cx="40513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(14,10)</a:t>
            </a:r>
            <a:endParaRPr sz="95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148594" y="2422699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(15,7)</a:t>
            </a:r>
            <a:endParaRPr sz="9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714177" y="2778130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(13,3)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2048896" y="1800923"/>
            <a:ext cx="1074420" cy="918210"/>
            <a:chOff x="2048896" y="1800923"/>
            <a:chExt cx="1074420" cy="918210"/>
          </a:xfrm>
        </p:grpSpPr>
        <p:pic>
          <p:nvPicPr>
            <p:cNvPr id="33" name="object 3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135126" y="1800923"/>
              <a:ext cx="75112" cy="70556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706245" y="1914842"/>
              <a:ext cx="73588" cy="70556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935607" y="2142680"/>
              <a:ext cx="73588" cy="70556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049526" y="2485961"/>
              <a:ext cx="73588" cy="70556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2187107" y="2167336"/>
              <a:ext cx="756920" cy="282575"/>
            </a:xfrm>
            <a:custGeom>
              <a:avLst/>
              <a:gdLst/>
              <a:ahLst/>
              <a:cxnLst/>
              <a:rect l="l" t="t" r="r" b="b"/>
              <a:pathLst>
                <a:path w="756919" h="282575">
                  <a:moveTo>
                    <a:pt x="756437" y="10622"/>
                  </a:moveTo>
                  <a:lnTo>
                    <a:pt x="683529" y="4556"/>
                  </a:lnTo>
                  <a:lnTo>
                    <a:pt x="616686" y="1508"/>
                  </a:lnTo>
                  <a:lnTo>
                    <a:pt x="551383" y="0"/>
                  </a:lnTo>
                  <a:lnTo>
                    <a:pt x="490621" y="1508"/>
                  </a:lnTo>
                  <a:lnTo>
                    <a:pt x="432907" y="6065"/>
                  </a:lnTo>
                  <a:lnTo>
                    <a:pt x="378226" y="12146"/>
                  </a:lnTo>
                  <a:lnTo>
                    <a:pt x="328101" y="21259"/>
                  </a:lnTo>
                  <a:lnTo>
                    <a:pt x="281010" y="31897"/>
                  </a:lnTo>
                  <a:lnTo>
                    <a:pt x="236951" y="45567"/>
                  </a:lnTo>
                  <a:lnTo>
                    <a:pt x="197464" y="62270"/>
                  </a:lnTo>
                  <a:lnTo>
                    <a:pt x="159486" y="80497"/>
                  </a:lnTo>
                  <a:lnTo>
                    <a:pt x="127589" y="101757"/>
                  </a:lnTo>
                  <a:lnTo>
                    <a:pt x="97215" y="126065"/>
                  </a:lnTo>
                  <a:lnTo>
                    <a:pt x="47091" y="180746"/>
                  </a:lnTo>
                  <a:lnTo>
                    <a:pt x="12161" y="246065"/>
                  </a:lnTo>
                  <a:lnTo>
                    <a:pt x="0" y="282519"/>
                  </a:lnTo>
                </a:path>
              </a:pathLst>
            </a:custGeom>
            <a:ln w="158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143064" y="2417958"/>
              <a:ext cx="94167" cy="103281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2091415" y="1865066"/>
              <a:ext cx="82550" cy="565150"/>
            </a:xfrm>
            <a:custGeom>
              <a:avLst/>
              <a:gdLst/>
              <a:ahLst/>
              <a:cxnLst/>
              <a:rect l="l" t="t" r="r" b="b"/>
              <a:pathLst>
                <a:path w="82550" h="565150">
                  <a:moveTo>
                    <a:pt x="82021" y="0"/>
                  </a:moveTo>
                  <a:lnTo>
                    <a:pt x="59237" y="56189"/>
                  </a:lnTo>
                  <a:lnTo>
                    <a:pt x="41010" y="112394"/>
                  </a:lnTo>
                  <a:lnTo>
                    <a:pt x="25831" y="165567"/>
                  </a:lnTo>
                  <a:lnTo>
                    <a:pt x="13670" y="217200"/>
                  </a:lnTo>
                  <a:lnTo>
                    <a:pt x="6080" y="267324"/>
                  </a:lnTo>
                  <a:lnTo>
                    <a:pt x="1523" y="314416"/>
                  </a:lnTo>
                  <a:lnTo>
                    <a:pt x="0" y="361508"/>
                  </a:lnTo>
                  <a:lnTo>
                    <a:pt x="3047" y="405551"/>
                  </a:lnTo>
                  <a:lnTo>
                    <a:pt x="7604" y="448086"/>
                  </a:lnTo>
                  <a:lnTo>
                    <a:pt x="16718" y="489097"/>
                  </a:lnTo>
                  <a:lnTo>
                    <a:pt x="28864" y="527075"/>
                  </a:lnTo>
                  <a:lnTo>
                    <a:pt x="44058" y="565038"/>
                  </a:lnTo>
                </a:path>
              </a:pathLst>
            </a:custGeom>
            <a:ln w="158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083826" y="2386060"/>
              <a:ext cx="89611" cy="106329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2152177" y="1950120"/>
              <a:ext cx="562610" cy="499745"/>
            </a:xfrm>
            <a:custGeom>
              <a:avLst/>
              <a:gdLst/>
              <a:ahLst/>
              <a:cxnLst/>
              <a:rect l="l" t="t" r="r" b="b"/>
              <a:pathLst>
                <a:path w="562610" h="499744">
                  <a:moveTo>
                    <a:pt x="562005" y="0"/>
                  </a:moveTo>
                  <a:lnTo>
                    <a:pt x="496686" y="18227"/>
                  </a:lnTo>
                  <a:lnTo>
                    <a:pt x="435940" y="37978"/>
                  </a:lnTo>
                  <a:lnTo>
                    <a:pt x="378211" y="59237"/>
                  </a:lnTo>
                  <a:lnTo>
                    <a:pt x="325053" y="80512"/>
                  </a:lnTo>
                  <a:lnTo>
                    <a:pt x="276438" y="104805"/>
                  </a:lnTo>
                  <a:lnTo>
                    <a:pt x="230870" y="127589"/>
                  </a:lnTo>
                  <a:lnTo>
                    <a:pt x="189859" y="153421"/>
                  </a:lnTo>
                  <a:lnTo>
                    <a:pt x="153405" y="179237"/>
                  </a:lnTo>
                  <a:lnTo>
                    <a:pt x="119999" y="206578"/>
                  </a:lnTo>
                  <a:lnTo>
                    <a:pt x="91135" y="235442"/>
                  </a:lnTo>
                  <a:lnTo>
                    <a:pt x="45567" y="294680"/>
                  </a:lnTo>
                  <a:lnTo>
                    <a:pt x="15194" y="358475"/>
                  </a:lnTo>
                  <a:lnTo>
                    <a:pt x="7589" y="393405"/>
                  </a:lnTo>
                  <a:lnTo>
                    <a:pt x="0" y="426826"/>
                  </a:lnTo>
                  <a:lnTo>
                    <a:pt x="0" y="463280"/>
                  </a:lnTo>
                  <a:lnTo>
                    <a:pt x="4556" y="499734"/>
                  </a:lnTo>
                </a:path>
              </a:pathLst>
            </a:custGeom>
            <a:ln w="158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103577" y="2417958"/>
              <a:ext cx="94167" cy="103281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2061042" y="2177958"/>
              <a:ext cx="311785" cy="285750"/>
            </a:xfrm>
            <a:custGeom>
              <a:avLst/>
              <a:gdLst/>
              <a:ahLst/>
              <a:cxnLst/>
              <a:rect l="l" t="t" r="r" b="b"/>
              <a:pathLst>
                <a:path w="311785" h="285750">
                  <a:moveTo>
                    <a:pt x="311383" y="0"/>
                  </a:moveTo>
                  <a:lnTo>
                    <a:pt x="264292" y="6080"/>
                  </a:lnTo>
                  <a:lnTo>
                    <a:pt x="220248" y="15194"/>
                  </a:lnTo>
                  <a:lnTo>
                    <a:pt x="180746" y="24307"/>
                  </a:lnTo>
                  <a:lnTo>
                    <a:pt x="113918" y="45567"/>
                  </a:lnTo>
                  <a:lnTo>
                    <a:pt x="60761" y="72908"/>
                  </a:lnTo>
                  <a:lnTo>
                    <a:pt x="24307" y="104805"/>
                  </a:lnTo>
                  <a:lnTo>
                    <a:pt x="4556" y="142783"/>
                  </a:lnTo>
                  <a:lnTo>
                    <a:pt x="0" y="162534"/>
                  </a:lnTo>
                  <a:lnTo>
                    <a:pt x="0" y="185318"/>
                  </a:lnTo>
                  <a:lnTo>
                    <a:pt x="4556" y="208102"/>
                  </a:lnTo>
                  <a:lnTo>
                    <a:pt x="12146" y="232409"/>
                  </a:lnTo>
                  <a:lnTo>
                    <a:pt x="24307" y="258226"/>
                  </a:lnTo>
                  <a:lnTo>
                    <a:pt x="39486" y="285567"/>
                  </a:lnTo>
                </a:path>
              </a:pathLst>
            </a:custGeom>
            <a:ln w="158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048896" y="2416434"/>
              <a:ext cx="94167" cy="104805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2241788" y="2550104"/>
              <a:ext cx="844550" cy="161290"/>
            </a:xfrm>
            <a:custGeom>
              <a:avLst/>
              <a:gdLst/>
              <a:ahLst/>
              <a:cxnLst/>
              <a:rect l="l" t="t" r="r" b="b"/>
              <a:pathLst>
                <a:path w="844550" h="161289">
                  <a:moveTo>
                    <a:pt x="844539" y="0"/>
                  </a:moveTo>
                  <a:lnTo>
                    <a:pt x="777697" y="31897"/>
                  </a:lnTo>
                  <a:lnTo>
                    <a:pt x="712393" y="60761"/>
                  </a:lnTo>
                  <a:lnTo>
                    <a:pt x="648583" y="86578"/>
                  </a:lnTo>
                  <a:lnTo>
                    <a:pt x="589346" y="107838"/>
                  </a:lnTo>
                  <a:lnTo>
                    <a:pt x="531632" y="126065"/>
                  </a:lnTo>
                  <a:lnTo>
                    <a:pt x="475427" y="139735"/>
                  </a:lnTo>
                  <a:lnTo>
                    <a:pt x="423793" y="150373"/>
                  </a:lnTo>
                  <a:lnTo>
                    <a:pt x="373669" y="157962"/>
                  </a:lnTo>
                  <a:lnTo>
                    <a:pt x="325053" y="161010"/>
                  </a:lnTo>
                  <a:lnTo>
                    <a:pt x="279486" y="161010"/>
                  </a:lnTo>
                  <a:lnTo>
                    <a:pt x="235442" y="157962"/>
                  </a:lnTo>
                  <a:lnTo>
                    <a:pt x="194431" y="150373"/>
                  </a:lnTo>
                  <a:lnTo>
                    <a:pt x="156453" y="139735"/>
                  </a:lnTo>
                  <a:lnTo>
                    <a:pt x="119999" y="124556"/>
                  </a:lnTo>
                  <a:lnTo>
                    <a:pt x="56205" y="85054"/>
                  </a:lnTo>
                  <a:lnTo>
                    <a:pt x="27340" y="59237"/>
                  </a:lnTo>
                  <a:lnTo>
                    <a:pt x="0" y="30373"/>
                  </a:lnTo>
                </a:path>
              </a:pathLst>
            </a:custGeom>
            <a:ln w="158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202301" y="2521239"/>
              <a:ext cx="91135" cy="104805"/>
            </a:xfrm>
            <a:prstGeom prst="rect">
              <a:avLst/>
            </a:prstGeom>
          </p:spPr>
        </p:pic>
      </p:grpSp>
      <p:sp>
        <p:nvSpPr>
          <p:cNvPr id="47" name="object 47"/>
          <p:cNvSpPr txBox="1"/>
          <p:nvPr/>
        </p:nvSpPr>
        <p:spPr>
          <a:xfrm>
            <a:off x="901699" y="3705772"/>
            <a:ext cx="2821940" cy="8064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2956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1.4: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7,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7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</a:pPr>
            <a:endParaRPr sz="13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Garamond"/>
              <a:cs typeface="Garamond"/>
            </a:endParaRPr>
          </a:p>
          <a:p>
            <a:pPr marL="12700">
              <a:lnSpc>
                <a:spcPct val="100000"/>
              </a:lnSpc>
              <a:tabLst>
                <a:tab pos="61341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1.10	</a:t>
            </a:r>
            <a:r>
              <a:rPr dirty="0" sz="1700" spc="10" b="1">
                <a:latin typeface="Times New Roman"/>
                <a:cs typeface="Times New Roman"/>
              </a:rPr>
              <a:t>Running</a:t>
            </a:r>
            <a:r>
              <a:rPr dirty="0" sz="1700" spc="-30" b="1">
                <a:latin typeface="Times New Roman"/>
                <a:cs typeface="Times New Roman"/>
              </a:rPr>
              <a:t> </a:t>
            </a:r>
            <a:r>
              <a:rPr dirty="0" sz="1700" b="1">
                <a:latin typeface="Times New Roman"/>
                <a:cs typeface="Times New Roman"/>
              </a:rPr>
              <a:t>Time</a:t>
            </a:r>
            <a:r>
              <a:rPr dirty="0" sz="1700" spc="-3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Analysis</a:t>
            </a:r>
            <a:endParaRPr sz="1700">
              <a:latin typeface="Times New Roman"/>
              <a:cs typeface="Times New Roman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4407407" y="1267658"/>
            <a:ext cx="2844800" cy="2362200"/>
            <a:chOff x="4407407" y="1267658"/>
            <a:chExt cx="2844800" cy="2362200"/>
          </a:xfrm>
        </p:grpSpPr>
        <p:sp>
          <p:nvSpPr>
            <p:cNvPr id="49" name="object 49"/>
            <p:cNvSpPr/>
            <p:nvPr/>
          </p:nvSpPr>
          <p:spPr>
            <a:xfrm>
              <a:off x="4407407" y="1267658"/>
              <a:ext cx="2844800" cy="2362200"/>
            </a:xfrm>
            <a:custGeom>
              <a:avLst/>
              <a:gdLst/>
              <a:ahLst/>
              <a:cxnLst/>
              <a:rect l="l" t="t" r="r" b="b"/>
              <a:pathLst>
                <a:path w="2844800" h="2362200">
                  <a:moveTo>
                    <a:pt x="2844576" y="0"/>
                  </a:moveTo>
                  <a:lnTo>
                    <a:pt x="0" y="0"/>
                  </a:lnTo>
                  <a:lnTo>
                    <a:pt x="0" y="2362001"/>
                  </a:lnTo>
                  <a:lnTo>
                    <a:pt x="2844576" y="2362001"/>
                  </a:lnTo>
                  <a:lnTo>
                    <a:pt x="284457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744242" y="1492920"/>
              <a:ext cx="2113280" cy="1885314"/>
            </a:xfrm>
            <a:custGeom>
              <a:avLst/>
              <a:gdLst/>
              <a:ahLst/>
              <a:cxnLst/>
              <a:rect l="l" t="t" r="r" b="b"/>
              <a:pathLst>
                <a:path w="2113279" h="1885314">
                  <a:moveTo>
                    <a:pt x="287075" y="1771086"/>
                  </a:moveTo>
                  <a:lnTo>
                    <a:pt x="287075" y="1885005"/>
                  </a:lnTo>
                </a:path>
                <a:path w="2113279" h="1885314">
                  <a:moveTo>
                    <a:pt x="514913" y="1771086"/>
                  </a:moveTo>
                  <a:lnTo>
                    <a:pt x="514913" y="1885005"/>
                  </a:lnTo>
                </a:path>
                <a:path w="2113279" h="1885314">
                  <a:moveTo>
                    <a:pt x="742767" y="1771086"/>
                  </a:moveTo>
                  <a:lnTo>
                    <a:pt x="742767" y="1885005"/>
                  </a:lnTo>
                </a:path>
                <a:path w="2113279" h="1885314">
                  <a:moveTo>
                    <a:pt x="972113" y="1771086"/>
                  </a:moveTo>
                  <a:lnTo>
                    <a:pt x="972113" y="1885005"/>
                  </a:lnTo>
                </a:path>
                <a:path w="2113279" h="1885314">
                  <a:moveTo>
                    <a:pt x="1199967" y="1771086"/>
                  </a:moveTo>
                  <a:lnTo>
                    <a:pt x="1199967" y="1885005"/>
                  </a:lnTo>
                </a:path>
                <a:path w="2113279" h="1885314">
                  <a:moveTo>
                    <a:pt x="1427805" y="1771086"/>
                  </a:moveTo>
                  <a:lnTo>
                    <a:pt x="1427805" y="1885005"/>
                  </a:lnTo>
                </a:path>
                <a:path w="2113279" h="1885314">
                  <a:moveTo>
                    <a:pt x="1657167" y="1771086"/>
                  </a:moveTo>
                  <a:lnTo>
                    <a:pt x="1657167" y="1885005"/>
                  </a:lnTo>
                </a:path>
                <a:path w="2113279" h="1885314">
                  <a:moveTo>
                    <a:pt x="1885005" y="1771086"/>
                  </a:moveTo>
                  <a:lnTo>
                    <a:pt x="1885005" y="1885005"/>
                  </a:lnTo>
                </a:path>
                <a:path w="2113279" h="1885314">
                  <a:moveTo>
                    <a:pt x="115442" y="1597929"/>
                  </a:moveTo>
                  <a:lnTo>
                    <a:pt x="0" y="1597929"/>
                  </a:lnTo>
                </a:path>
                <a:path w="2113279" h="1885314">
                  <a:moveTo>
                    <a:pt x="115442" y="1370091"/>
                  </a:moveTo>
                  <a:lnTo>
                    <a:pt x="0" y="1370091"/>
                  </a:lnTo>
                </a:path>
                <a:path w="2113279" h="1885314">
                  <a:moveTo>
                    <a:pt x="115442" y="1142237"/>
                  </a:moveTo>
                  <a:lnTo>
                    <a:pt x="0" y="1142237"/>
                  </a:lnTo>
                </a:path>
                <a:path w="2113279" h="1885314">
                  <a:moveTo>
                    <a:pt x="115442" y="912891"/>
                  </a:moveTo>
                  <a:lnTo>
                    <a:pt x="0" y="912891"/>
                  </a:lnTo>
                </a:path>
                <a:path w="2113279" h="1885314">
                  <a:moveTo>
                    <a:pt x="115442" y="685037"/>
                  </a:moveTo>
                  <a:lnTo>
                    <a:pt x="0" y="685037"/>
                  </a:lnTo>
                </a:path>
                <a:path w="2113279" h="1885314">
                  <a:moveTo>
                    <a:pt x="115442" y="457199"/>
                  </a:moveTo>
                  <a:lnTo>
                    <a:pt x="0" y="457199"/>
                  </a:lnTo>
                </a:path>
                <a:path w="2113279" h="1885314">
                  <a:moveTo>
                    <a:pt x="115442" y="229361"/>
                  </a:moveTo>
                  <a:lnTo>
                    <a:pt x="0" y="229361"/>
                  </a:lnTo>
                </a:path>
                <a:path w="2113279" h="1885314">
                  <a:moveTo>
                    <a:pt x="115442" y="0"/>
                  </a:moveTo>
                  <a:lnTo>
                    <a:pt x="0" y="0"/>
                  </a:lnTo>
                </a:path>
                <a:path w="2113279" h="1885314">
                  <a:moveTo>
                    <a:pt x="2112843" y="1771086"/>
                  </a:moveTo>
                  <a:lnTo>
                    <a:pt x="2112843" y="1885005"/>
                  </a:lnTo>
                </a:path>
              </a:pathLst>
            </a:custGeom>
            <a:ln w="31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" name="object 51"/>
          <p:cNvSpPr txBox="1"/>
          <p:nvPr/>
        </p:nvSpPr>
        <p:spPr>
          <a:xfrm>
            <a:off x="4599938" y="2456371"/>
            <a:ext cx="95885" cy="710565"/>
          </a:xfrm>
          <a:prstGeom prst="rect">
            <a:avLst/>
          </a:prstGeom>
        </p:spPr>
        <p:txBody>
          <a:bodyPr wrap="square" lIns="0" tIns="781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615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6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4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2</a:t>
            </a:r>
            <a:endParaRPr sz="115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530067" y="1569312"/>
            <a:ext cx="179070" cy="953769"/>
          </a:xfrm>
          <a:prstGeom prst="rect">
            <a:avLst/>
          </a:prstGeom>
        </p:spPr>
        <p:txBody>
          <a:bodyPr wrap="square" lIns="0" tIns="64769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09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14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12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15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10</a:t>
            </a:r>
            <a:endParaRPr sz="1150">
              <a:latin typeface="Arial"/>
              <a:cs typeface="Arial"/>
            </a:endParaRPr>
          </a:p>
          <a:p>
            <a:pPr marL="69850">
              <a:lnSpc>
                <a:spcPct val="100000"/>
              </a:lnSpc>
              <a:spcBef>
                <a:spcPts val="545"/>
              </a:spcBef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8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4753355" y="1435206"/>
            <a:ext cx="2331720" cy="1932305"/>
            <a:chOff x="4753355" y="1435206"/>
            <a:chExt cx="2331720" cy="1932305"/>
          </a:xfrm>
        </p:grpSpPr>
        <p:sp>
          <p:nvSpPr>
            <p:cNvPr id="54" name="object 54"/>
            <p:cNvSpPr/>
            <p:nvPr/>
          </p:nvSpPr>
          <p:spPr>
            <a:xfrm>
              <a:off x="4800447" y="1506591"/>
              <a:ext cx="0" cy="1814195"/>
            </a:xfrm>
            <a:custGeom>
              <a:avLst/>
              <a:gdLst/>
              <a:ahLst/>
              <a:cxnLst/>
              <a:rect l="l" t="t" r="r" b="b"/>
              <a:pathLst>
                <a:path w="0" h="1814195">
                  <a:moveTo>
                    <a:pt x="0" y="1813620"/>
                  </a:moveTo>
                  <a:lnTo>
                    <a:pt x="0" y="0"/>
                  </a:lnTo>
                </a:path>
              </a:pathLst>
            </a:custGeom>
            <a:ln w="158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53355" y="1435206"/>
              <a:ext cx="97215" cy="94167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4800447" y="3320211"/>
              <a:ext cx="2213610" cy="0"/>
            </a:xfrm>
            <a:custGeom>
              <a:avLst/>
              <a:gdLst/>
              <a:ahLst/>
              <a:cxnLst/>
              <a:rect l="l" t="t" r="r" b="b"/>
              <a:pathLst>
                <a:path w="2213609" h="0">
                  <a:moveTo>
                    <a:pt x="0" y="0"/>
                  </a:moveTo>
                  <a:lnTo>
                    <a:pt x="2213091" y="0"/>
                  </a:lnTo>
                </a:path>
              </a:pathLst>
            </a:custGeom>
            <a:ln w="158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990755" y="3273120"/>
              <a:ext cx="94167" cy="94167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94531" y="2713799"/>
              <a:ext cx="72064" cy="70556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22369" y="2827718"/>
              <a:ext cx="72064" cy="70571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22369" y="2028761"/>
              <a:ext cx="72064" cy="70556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336288" y="3169490"/>
              <a:ext cx="72064" cy="73588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564126" y="2485961"/>
              <a:ext cx="75112" cy="70556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793488" y="2142680"/>
              <a:ext cx="73588" cy="70556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021326" y="2713799"/>
              <a:ext cx="73588" cy="70556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249164" y="2941652"/>
              <a:ext cx="73588" cy="72064"/>
            </a:xfrm>
            <a:prstGeom prst="rect">
              <a:avLst/>
            </a:prstGeom>
          </p:spPr>
        </p:pic>
      </p:grpSp>
      <p:sp>
        <p:nvSpPr>
          <p:cNvPr id="66" name="object 66"/>
          <p:cNvSpPr txBox="1"/>
          <p:nvPr/>
        </p:nvSpPr>
        <p:spPr>
          <a:xfrm>
            <a:off x="5079921" y="2623201"/>
            <a:ext cx="521334" cy="31559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ts val="1125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(2,5)</a:t>
            </a:r>
            <a:endParaRPr sz="950">
              <a:latin typeface="Arial"/>
              <a:cs typeface="Arial"/>
            </a:endParaRPr>
          </a:p>
          <a:p>
            <a:pPr marL="253365">
              <a:lnSpc>
                <a:spcPts val="1125"/>
              </a:lnSpc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(4,4)</a:t>
            </a:r>
            <a:endParaRPr sz="95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984227" y="3022726"/>
            <a:ext cx="1965325" cy="541020"/>
          </a:xfrm>
          <a:prstGeom prst="rect">
            <a:avLst/>
          </a:prstGeom>
        </p:spPr>
        <p:txBody>
          <a:bodyPr wrap="square" lIns="0" tIns="100965" rIns="0" bIns="0" rtlCol="0" vert="horz">
            <a:spAutoFit/>
          </a:bodyPr>
          <a:lstStyle/>
          <a:p>
            <a:pPr marL="457200">
              <a:lnSpc>
                <a:spcPct val="100000"/>
              </a:lnSpc>
              <a:spcBef>
                <a:spcPts val="79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(5,1)</a:t>
            </a:r>
            <a:endParaRPr sz="9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tabLst>
                <a:tab pos="229235" algn="l"/>
                <a:tab pos="454025" algn="l"/>
                <a:tab pos="686435" algn="l"/>
              </a:tabLst>
            </a:pP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2	4	6	8 </a:t>
            </a:r>
            <a:r>
              <a:rPr dirty="0" sz="1150" spc="5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10</a:t>
            </a:r>
            <a:r>
              <a:rPr dirty="0" sz="1150" spc="260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12</a:t>
            </a:r>
            <a:r>
              <a:rPr dirty="0" sz="1150" spc="9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14</a:t>
            </a:r>
            <a:r>
              <a:rPr dirty="0" sz="1150" spc="21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16</a:t>
            </a:r>
            <a:r>
              <a:rPr dirty="0" sz="1150" spc="155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23"/>
                </a:solidFill>
                <a:latin typeface="Arial"/>
                <a:cs typeface="Arial"/>
              </a:rPr>
              <a:t>18</a:t>
            </a:r>
            <a:endParaRPr sz="115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657117" y="2393841"/>
            <a:ext cx="267335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(7,7)</a:t>
            </a:r>
            <a:endParaRPr sz="95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336621" y="1737660"/>
            <a:ext cx="1526540" cy="5041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38455">
              <a:lnSpc>
                <a:spcPts val="1019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(7,13)</a:t>
            </a:r>
            <a:endParaRPr sz="950">
              <a:latin typeface="Arial"/>
              <a:cs typeface="Arial"/>
            </a:endParaRPr>
          </a:p>
          <a:p>
            <a:pPr marL="891540">
              <a:lnSpc>
                <a:spcPts val="905"/>
              </a:lnSpc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(12,12)</a:t>
            </a:r>
            <a:endParaRPr sz="950">
              <a:latin typeface="Arial"/>
              <a:cs typeface="Arial"/>
            </a:endParaRPr>
          </a:p>
          <a:p>
            <a:pPr>
              <a:lnSpc>
                <a:spcPts val="850"/>
              </a:lnSpc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(4,11)  </a:t>
            </a:r>
            <a:r>
              <a:rPr dirty="0" sz="950" spc="50">
                <a:solidFill>
                  <a:srgbClr val="FFFF23"/>
                </a:solidFill>
                <a:latin typeface="Arial"/>
                <a:cs typeface="Arial"/>
              </a:rPr>
              <a:t> </a:t>
            </a: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(9,10)</a:t>
            </a:r>
            <a:endParaRPr sz="950">
              <a:latin typeface="Arial"/>
              <a:cs typeface="Arial"/>
            </a:endParaRPr>
          </a:p>
          <a:p>
            <a:pPr marL="1120775">
              <a:lnSpc>
                <a:spcPts val="965"/>
              </a:lnSpc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(14,10)</a:t>
            </a:r>
            <a:endParaRPr sz="95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577592" y="2422700"/>
            <a:ext cx="33655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(15,7)</a:t>
            </a:r>
            <a:endParaRPr sz="95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921412" y="2538140"/>
            <a:ext cx="558165" cy="41402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(11,5)</a:t>
            </a:r>
            <a:endParaRPr sz="950">
              <a:latin typeface="Arial"/>
              <a:cs typeface="Arial"/>
            </a:endParaRPr>
          </a:p>
          <a:p>
            <a:pPr marL="221615">
              <a:lnSpc>
                <a:spcPct val="100000"/>
              </a:lnSpc>
              <a:spcBef>
                <a:spcPts val="750"/>
              </a:spcBef>
            </a:pPr>
            <a:r>
              <a:rPr dirty="0" sz="950" spc="10">
                <a:solidFill>
                  <a:srgbClr val="FFFF23"/>
                </a:solidFill>
                <a:latin typeface="Arial"/>
                <a:cs typeface="Arial"/>
              </a:rPr>
              <a:t>(13,3)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72" name="object 72"/>
          <p:cNvGrpSpPr/>
          <p:nvPr/>
        </p:nvGrpSpPr>
        <p:grpSpPr>
          <a:xfrm>
            <a:off x="4800447" y="1800923"/>
            <a:ext cx="1751964" cy="1511935"/>
            <a:chOff x="4800447" y="1800923"/>
            <a:chExt cx="1751964" cy="1511935"/>
          </a:xfrm>
        </p:grpSpPr>
        <p:sp>
          <p:nvSpPr>
            <p:cNvPr id="73" name="object 73"/>
            <p:cNvSpPr/>
            <p:nvPr/>
          </p:nvSpPr>
          <p:spPr>
            <a:xfrm>
              <a:off x="4800447" y="1836201"/>
              <a:ext cx="761365" cy="0"/>
            </a:xfrm>
            <a:custGeom>
              <a:avLst/>
              <a:gdLst/>
              <a:ahLst/>
              <a:cxnLst/>
              <a:rect l="l" t="t" r="r" b="b"/>
              <a:pathLst>
                <a:path w="761364" h="0">
                  <a:moveTo>
                    <a:pt x="0" y="0"/>
                  </a:moveTo>
                  <a:lnTo>
                    <a:pt x="31897" y="0"/>
                  </a:lnTo>
                </a:path>
                <a:path w="761364" h="0">
                  <a:moveTo>
                    <a:pt x="62270" y="0"/>
                  </a:moveTo>
                  <a:lnTo>
                    <a:pt x="92643" y="0"/>
                  </a:lnTo>
                </a:path>
                <a:path w="761364" h="0">
                  <a:moveTo>
                    <a:pt x="123032" y="0"/>
                  </a:moveTo>
                  <a:lnTo>
                    <a:pt x="153405" y="0"/>
                  </a:lnTo>
                </a:path>
                <a:path w="761364" h="0">
                  <a:moveTo>
                    <a:pt x="183794" y="0"/>
                  </a:moveTo>
                  <a:lnTo>
                    <a:pt x="214167" y="0"/>
                  </a:lnTo>
                </a:path>
                <a:path w="761364" h="0">
                  <a:moveTo>
                    <a:pt x="244541" y="0"/>
                  </a:moveTo>
                  <a:lnTo>
                    <a:pt x="274929" y="0"/>
                  </a:lnTo>
                </a:path>
                <a:path w="761364" h="0">
                  <a:moveTo>
                    <a:pt x="305302" y="0"/>
                  </a:moveTo>
                  <a:lnTo>
                    <a:pt x="335676" y="0"/>
                  </a:lnTo>
                </a:path>
                <a:path w="761364" h="0">
                  <a:moveTo>
                    <a:pt x="366064" y="0"/>
                  </a:moveTo>
                  <a:lnTo>
                    <a:pt x="396438" y="0"/>
                  </a:lnTo>
                </a:path>
                <a:path w="761364" h="0">
                  <a:moveTo>
                    <a:pt x="426811" y="0"/>
                  </a:moveTo>
                  <a:lnTo>
                    <a:pt x="457199" y="0"/>
                  </a:lnTo>
                </a:path>
                <a:path w="761364" h="0">
                  <a:moveTo>
                    <a:pt x="487573" y="0"/>
                  </a:moveTo>
                  <a:lnTo>
                    <a:pt x="517946" y="0"/>
                  </a:lnTo>
                </a:path>
                <a:path w="761364" h="0">
                  <a:moveTo>
                    <a:pt x="548335" y="0"/>
                  </a:moveTo>
                  <a:lnTo>
                    <a:pt x="578708" y="0"/>
                  </a:lnTo>
                </a:path>
                <a:path w="761364" h="0">
                  <a:moveTo>
                    <a:pt x="609081" y="0"/>
                  </a:moveTo>
                  <a:lnTo>
                    <a:pt x="639470" y="0"/>
                  </a:lnTo>
                </a:path>
                <a:path w="761364" h="0">
                  <a:moveTo>
                    <a:pt x="669843" y="0"/>
                  </a:moveTo>
                  <a:lnTo>
                    <a:pt x="700232" y="0"/>
                  </a:lnTo>
                </a:path>
                <a:path w="761364" h="0">
                  <a:moveTo>
                    <a:pt x="730605" y="0"/>
                  </a:moveTo>
                  <a:lnTo>
                    <a:pt x="760978" y="0"/>
                  </a:lnTo>
                </a:path>
              </a:pathLst>
            </a:custGeom>
            <a:ln w="158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5593321" y="1828266"/>
              <a:ext cx="17145" cy="29209"/>
            </a:xfrm>
            <a:custGeom>
              <a:avLst/>
              <a:gdLst/>
              <a:ahLst/>
              <a:cxnLst/>
              <a:rect l="l" t="t" r="r" b="b"/>
              <a:pathLst>
                <a:path w="17145" h="29210">
                  <a:moveTo>
                    <a:pt x="17043" y="7937"/>
                  </a:moveTo>
                  <a:lnTo>
                    <a:pt x="9105" y="7937"/>
                  </a:lnTo>
                  <a:lnTo>
                    <a:pt x="9105" y="0"/>
                  </a:lnTo>
                  <a:lnTo>
                    <a:pt x="0" y="0"/>
                  </a:lnTo>
                  <a:lnTo>
                    <a:pt x="0" y="15875"/>
                  </a:lnTo>
                  <a:lnTo>
                    <a:pt x="1168" y="15875"/>
                  </a:lnTo>
                  <a:lnTo>
                    <a:pt x="1168" y="29197"/>
                  </a:lnTo>
                  <a:lnTo>
                    <a:pt x="17043" y="29197"/>
                  </a:lnTo>
                  <a:lnTo>
                    <a:pt x="17043" y="7937"/>
                  </a:lnTo>
                  <a:close/>
                </a:path>
              </a:pathLst>
            </a:custGeom>
            <a:solidFill>
              <a:srgbClr val="FFFF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5602437" y="188785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86"/>
                  </a:moveTo>
                  <a:lnTo>
                    <a:pt x="7937" y="15186"/>
                  </a:lnTo>
                </a:path>
              </a:pathLst>
            </a:custGeom>
            <a:ln w="30373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5602437" y="194861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5">
                  <a:moveTo>
                    <a:pt x="-7937" y="754"/>
                  </a:moveTo>
                  <a:lnTo>
                    <a:pt x="7937" y="754"/>
                  </a:lnTo>
                </a:path>
              </a:pathLst>
            </a:custGeom>
            <a:ln w="158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5602437" y="1950120"/>
              <a:ext cx="570230" cy="0"/>
            </a:xfrm>
            <a:custGeom>
              <a:avLst/>
              <a:gdLst/>
              <a:ahLst/>
              <a:cxnLst/>
              <a:rect l="l" t="t" r="r" b="b"/>
              <a:pathLst>
                <a:path w="570229" h="0">
                  <a:moveTo>
                    <a:pt x="0" y="0"/>
                  </a:moveTo>
                  <a:lnTo>
                    <a:pt x="28864" y="0"/>
                  </a:lnTo>
                </a:path>
                <a:path w="570229" h="0">
                  <a:moveTo>
                    <a:pt x="59237" y="0"/>
                  </a:moveTo>
                  <a:lnTo>
                    <a:pt x="89626" y="0"/>
                  </a:lnTo>
                </a:path>
                <a:path w="570229" h="0">
                  <a:moveTo>
                    <a:pt x="119999" y="0"/>
                  </a:moveTo>
                  <a:lnTo>
                    <a:pt x="150373" y="0"/>
                  </a:lnTo>
                </a:path>
                <a:path w="570229" h="0">
                  <a:moveTo>
                    <a:pt x="180761" y="0"/>
                  </a:moveTo>
                  <a:lnTo>
                    <a:pt x="211134" y="0"/>
                  </a:lnTo>
                </a:path>
                <a:path w="570229" h="0">
                  <a:moveTo>
                    <a:pt x="241508" y="0"/>
                  </a:moveTo>
                  <a:lnTo>
                    <a:pt x="271896" y="0"/>
                  </a:lnTo>
                </a:path>
                <a:path w="570229" h="0">
                  <a:moveTo>
                    <a:pt x="302270" y="0"/>
                  </a:moveTo>
                  <a:lnTo>
                    <a:pt x="332658" y="0"/>
                  </a:lnTo>
                </a:path>
                <a:path w="570229" h="0">
                  <a:moveTo>
                    <a:pt x="363032" y="0"/>
                  </a:moveTo>
                  <a:lnTo>
                    <a:pt x="393405" y="0"/>
                  </a:lnTo>
                </a:path>
                <a:path w="570229" h="0">
                  <a:moveTo>
                    <a:pt x="423793" y="0"/>
                  </a:moveTo>
                  <a:lnTo>
                    <a:pt x="454167" y="0"/>
                  </a:lnTo>
                </a:path>
                <a:path w="570229" h="0">
                  <a:moveTo>
                    <a:pt x="484540" y="0"/>
                  </a:moveTo>
                  <a:lnTo>
                    <a:pt x="514929" y="0"/>
                  </a:lnTo>
                </a:path>
                <a:path w="570229" h="0">
                  <a:moveTo>
                    <a:pt x="545302" y="0"/>
                  </a:moveTo>
                  <a:lnTo>
                    <a:pt x="569610" y="0"/>
                  </a:lnTo>
                </a:path>
              </a:pathLst>
            </a:custGeom>
            <a:ln w="158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6172047" y="1950120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7937" y="3040"/>
                  </a:moveTo>
                  <a:lnTo>
                    <a:pt x="7937" y="3040"/>
                  </a:lnTo>
                </a:path>
              </a:pathLst>
            </a:custGeom>
            <a:ln w="6080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6172047" y="1986574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94"/>
                  </a:moveTo>
                  <a:lnTo>
                    <a:pt x="7937" y="15194"/>
                  </a:lnTo>
                </a:path>
              </a:pathLst>
            </a:custGeom>
            <a:ln w="30388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6172047" y="2047336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86"/>
                  </a:moveTo>
                  <a:lnTo>
                    <a:pt x="7937" y="15186"/>
                  </a:lnTo>
                </a:path>
              </a:pathLst>
            </a:custGeom>
            <a:ln w="30373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6172047" y="2108098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86"/>
                  </a:moveTo>
                  <a:lnTo>
                    <a:pt x="7937" y="15186"/>
                  </a:lnTo>
                </a:path>
              </a:pathLst>
            </a:custGeom>
            <a:ln w="30373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6172047" y="216884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-7937" y="4556"/>
                  </a:moveTo>
                  <a:lnTo>
                    <a:pt x="7937" y="4556"/>
                  </a:lnTo>
                </a:path>
              </a:pathLst>
            </a:custGeom>
            <a:ln w="9113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6172047" y="2177958"/>
              <a:ext cx="205104" cy="0"/>
            </a:xfrm>
            <a:custGeom>
              <a:avLst/>
              <a:gdLst/>
              <a:ahLst/>
              <a:cxnLst/>
              <a:rect l="l" t="t" r="r" b="b"/>
              <a:pathLst>
                <a:path w="205104" h="0">
                  <a:moveTo>
                    <a:pt x="0" y="0"/>
                  </a:moveTo>
                  <a:lnTo>
                    <a:pt x="21259" y="0"/>
                  </a:lnTo>
                </a:path>
                <a:path w="205104" h="0">
                  <a:moveTo>
                    <a:pt x="51633" y="0"/>
                  </a:moveTo>
                  <a:lnTo>
                    <a:pt x="82021" y="0"/>
                  </a:lnTo>
                </a:path>
                <a:path w="205104" h="0">
                  <a:moveTo>
                    <a:pt x="112394" y="0"/>
                  </a:moveTo>
                  <a:lnTo>
                    <a:pt x="142768" y="0"/>
                  </a:lnTo>
                </a:path>
                <a:path w="205104" h="0">
                  <a:moveTo>
                    <a:pt x="174680" y="0"/>
                  </a:moveTo>
                  <a:lnTo>
                    <a:pt x="205054" y="0"/>
                  </a:lnTo>
                </a:path>
              </a:pathLst>
            </a:custGeom>
            <a:ln w="158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6401409" y="2177958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94"/>
                  </a:moveTo>
                  <a:lnTo>
                    <a:pt x="7937" y="15194"/>
                  </a:lnTo>
                </a:path>
              </a:pathLst>
            </a:custGeom>
            <a:ln w="30388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6401409" y="223872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86"/>
                  </a:moveTo>
                  <a:lnTo>
                    <a:pt x="7937" y="15186"/>
                  </a:lnTo>
                </a:path>
              </a:pathLst>
            </a:custGeom>
            <a:ln w="30373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6401409" y="2299482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86"/>
                  </a:moveTo>
                  <a:lnTo>
                    <a:pt x="7937" y="15186"/>
                  </a:lnTo>
                </a:path>
              </a:pathLst>
            </a:custGeom>
            <a:ln w="30373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6401409" y="2360229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94"/>
                  </a:moveTo>
                  <a:lnTo>
                    <a:pt x="7937" y="15194"/>
                  </a:lnTo>
                </a:path>
              </a:pathLst>
            </a:custGeom>
            <a:ln w="30388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6401409" y="242099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94"/>
                  </a:moveTo>
                  <a:lnTo>
                    <a:pt x="7937" y="15194"/>
                  </a:lnTo>
                </a:path>
              </a:pathLst>
            </a:custGeom>
            <a:ln w="30388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6401409" y="2483276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86"/>
                  </a:moveTo>
                  <a:lnTo>
                    <a:pt x="7937" y="15186"/>
                  </a:lnTo>
                </a:path>
              </a:pathLst>
            </a:custGeom>
            <a:ln w="30373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6424193" y="2521239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40" h="0">
                  <a:moveTo>
                    <a:pt x="0" y="0"/>
                  </a:moveTo>
                  <a:lnTo>
                    <a:pt x="30373" y="0"/>
                  </a:lnTo>
                </a:path>
                <a:path w="91440" h="0">
                  <a:moveTo>
                    <a:pt x="60746" y="0"/>
                  </a:moveTo>
                  <a:lnTo>
                    <a:pt x="91135" y="0"/>
                  </a:lnTo>
                </a:path>
              </a:pathLst>
            </a:custGeom>
            <a:ln w="15875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6515328" y="2551628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86"/>
                  </a:moveTo>
                  <a:lnTo>
                    <a:pt x="7937" y="15186"/>
                  </a:lnTo>
                </a:path>
              </a:pathLst>
            </a:custGeom>
            <a:ln w="30373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6515328" y="2612374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94"/>
                  </a:moveTo>
                  <a:lnTo>
                    <a:pt x="7937" y="15194"/>
                  </a:lnTo>
                </a:path>
              </a:pathLst>
            </a:custGeom>
            <a:ln w="30388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6507391" y="2688323"/>
              <a:ext cx="15875" cy="60960"/>
            </a:xfrm>
            <a:custGeom>
              <a:avLst/>
              <a:gdLst/>
              <a:ahLst/>
              <a:cxnLst/>
              <a:rect l="l" t="t" r="r" b="b"/>
              <a:pathLst>
                <a:path w="15875" h="60960">
                  <a:moveTo>
                    <a:pt x="0" y="0"/>
                  </a:moveTo>
                  <a:lnTo>
                    <a:pt x="15875" y="0"/>
                  </a:lnTo>
                </a:path>
                <a:path w="15875" h="60960">
                  <a:moveTo>
                    <a:pt x="0" y="60761"/>
                  </a:moveTo>
                  <a:lnTo>
                    <a:pt x="15875" y="60761"/>
                  </a:lnTo>
                </a:path>
              </a:pathLst>
            </a:custGeom>
            <a:ln w="30373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6507391" y="2809839"/>
              <a:ext cx="15875" cy="60960"/>
            </a:xfrm>
            <a:custGeom>
              <a:avLst/>
              <a:gdLst/>
              <a:ahLst/>
              <a:cxnLst/>
              <a:rect l="l" t="t" r="r" b="b"/>
              <a:pathLst>
                <a:path w="15875" h="60960">
                  <a:moveTo>
                    <a:pt x="0" y="0"/>
                  </a:moveTo>
                  <a:lnTo>
                    <a:pt x="15875" y="0"/>
                  </a:lnTo>
                </a:path>
                <a:path w="15875" h="60960">
                  <a:moveTo>
                    <a:pt x="0" y="60761"/>
                  </a:moveTo>
                  <a:lnTo>
                    <a:pt x="15875" y="60761"/>
                  </a:lnTo>
                </a:path>
              </a:pathLst>
            </a:custGeom>
            <a:ln w="30388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6507391" y="2931355"/>
              <a:ext cx="15875" cy="60960"/>
            </a:xfrm>
            <a:custGeom>
              <a:avLst/>
              <a:gdLst/>
              <a:ahLst/>
              <a:cxnLst/>
              <a:rect l="l" t="t" r="r" b="b"/>
              <a:pathLst>
                <a:path w="15875" h="60960">
                  <a:moveTo>
                    <a:pt x="0" y="0"/>
                  </a:moveTo>
                  <a:lnTo>
                    <a:pt x="15875" y="0"/>
                  </a:lnTo>
                </a:path>
                <a:path w="15875" h="60960">
                  <a:moveTo>
                    <a:pt x="0" y="60761"/>
                  </a:moveTo>
                  <a:lnTo>
                    <a:pt x="15875" y="60761"/>
                  </a:lnTo>
                </a:path>
              </a:pathLst>
            </a:custGeom>
            <a:ln w="30373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6515328" y="3037677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94"/>
                  </a:moveTo>
                  <a:lnTo>
                    <a:pt x="7937" y="15194"/>
                  </a:lnTo>
                </a:path>
              </a:pathLst>
            </a:custGeom>
            <a:ln w="30388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6515328" y="3098439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86"/>
                  </a:moveTo>
                  <a:lnTo>
                    <a:pt x="7937" y="15186"/>
                  </a:lnTo>
                </a:path>
              </a:pathLst>
            </a:custGeom>
            <a:ln w="30373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6515328" y="3159201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80">
                  <a:moveTo>
                    <a:pt x="-7937" y="15186"/>
                  </a:moveTo>
                  <a:lnTo>
                    <a:pt x="7937" y="15186"/>
                  </a:lnTo>
                </a:path>
              </a:pathLst>
            </a:custGeom>
            <a:ln w="30373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6515328" y="3221471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79">
                  <a:moveTo>
                    <a:pt x="-7937" y="15186"/>
                  </a:moveTo>
                  <a:lnTo>
                    <a:pt x="7937" y="15186"/>
                  </a:lnTo>
                </a:path>
              </a:pathLst>
            </a:custGeom>
            <a:ln w="30373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6515328" y="3282233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79">
                  <a:moveTo>
                    <a:pt x="-7937" y="15186"/>
                  </a:moveTo>
                  <a:lnTo>
                    <a:pt x="7937" y="15186"/>
                  </a:lnTo>
                </a:path>
              </a:pathLst>
            </a:custGeom>
            <a:ln w="30373">
              <a:solidFill>
                <a:srgbClr val="FFFF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5572064" y="1808861"/>
              <a:ext cx="59690" cy="55244"/>
            </a:xfrm>
            <a:custGeom>
              <a:avLst/>
              <a:gdLst/>
              <a:ahLst/>
              <a:cxnLst/>
              <a:rect l="l" t="t" r="r" b="b"/>
              <a:pathLst>
                <a:path w="59689" h="55244">
                  <a:moveTo>
                    <a:pt x="36454" y="0"/>
                  </a:moveTo>
                  <a:lnTo>
                    <a:pt x="24307" y="0"/>
                  </a:lnTo>
                  <a:lnTo>
                    <a:pt x="12146" y="4556"/>
                  </a:lnTo>
                  <a:lnTo>
                    <a:pt x="3032" y="15194"/>
                  </a:lnTo>
                  <a:lnTo>
                    <a:pt x="0" y="27340"/>
                  </a:lnTo>
                  <a:lnTo>
                    <a:pt x="3032" y="39486"/>
                  </a:lnTo>
                  <a:lnTo>
                    <a:pt x="12146" y="48600"/>
                  </a:lnTo>
                  <a:lnTo>
                    <a:pt x="24307" y="54681"/>
                  </a:lnTo>
                  <a:lnTo>
                    <a:pt x="36454" y="54681"/>
                  </a:lnTo>
                  <a:lnTo>
                    <a:pt x="47091" y="48600"/>
                  </a:lnTo>
                  <a:lnTo>
                    <a:pt x="56205" y="39486"/>
                  </a:lnTo>
                  <a:lnTo>
                    <a:pt x="59237" y="27340"/>
                  </a:lnTo>
                  <a:lnTo>
                    <a:pt x="56205" y="15194"/>
                  </a:lnTo>
                  <a:lnTo>
                    <a:pt x="47091" y="4556"/>
                  </a:lnTo>
                  <a:lnTo>
                    <a:pt x="3645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5572064" y="1808861"/>
              <a:ext cx="59690" cy="55244"/>
            </a:xfrm>
            <a:custGeom>
              <a:avLst/>
              <a:gdLst/>
              <a:ahLst/>
              <a:cxnLst/>
              <a:rect l="l" t="t" r="r" b="b"/>
              <a:pathLst>
                <a:path w="59689" h="55244">
                  <a:moveTo>
                    <a:pt x="0" y="27340"/>
                  </a:moveTo>
                  <a:lnTo>
                    <a:pt x="3032" y="15194"/>
                  </a:lnTo>
                  <a:lnTo>
                    <a:pt x="12146" y="4556"/>
                  </a:lnTo>
                  <a:lnTo>
                    <a:pt x="24307" y="0"/>
                  </a:lnTo>
                  <a:lnTo>
                    <a:pt x="36454" y="0"/>
                  </a:lnTo>
                  <a:lnTo>
                    <a:pt x="47091" y="4556"/>
                  </a:lnTo>
                  <a:lnTo>
                    <a:pt x="56205" y="15194"/>
                  </a:lnTo>
                  <a:lnTo>
                    <a:pt x="59237" y="27340"/>
                  </a:lnTo>
                  <a:lnTo>
                    <a:pt x="56205" y="39486"/>
                  </a:lnTo>
                  <a:lnTo>
                    <a:pt x="47091" y="48600"/>
                  </a:lnTo>
                  <a:lnTo>
                    <a:pt x="36454" y="54681"/>
                  </a:lnTo>
                  <a:lnTo>
                    <a:pt x="24307" y="54681"/>
                  </a:lnTo>
                  <a:lnTo>
                    <a:pt x="12146" y="48600"/>
                  </a:lnTo>
                  <a:lnTo>
                    <a:pt x="3032" y="39486"/>
                  </a:lnTo>
                  <a:lnTo>
                    <a:pt x="0" y="27340"/>
                  </a:lnTo>
                </a:path>
              </a:pathLst>
            </a:custGeom>
            <a:ln w="158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6143183" y="1922780"/>
              <a:ext cx="57785" cy="55244"/>
            </a:xfrm>
            <a:custGeom>
              <a:avLst/>
              <a:gdLst/>
              <a:ahLst/>
              <a:cxnLst/>
              <a:rect l="l" t="t" r="r" b="b"/>
              <a:pathLst>
                <a:path w="57785" h="55244">
                  <a:moveTo>
                    <a:pt x="34930" y="0"/>
                  </a:moveTo>
                  <a:lnTo>
                    <a:pt x="22783" y="0"/>
                  </a:lnTo>
                  <a:lnTo>
                    <a:pt x="10637" y="4556"/>
                  </a:lnTo>
                  <a:lnTo>
                    <a:pt x="3032" y="15194"/>
                  </a:lnTo>
                  <a:lnTo>
                    <a:pt x="0" y="27340"/>
                  </a:lnTo>
                  <a:lnTo>
                    <a:pt x="3032" y="39502"/>
                  </a:lnTo>
                  <a:lnTo>
                    <a:pt x="10637" y="50124"/>
                  </a:lnTo>
                  <a:lnTo>
                    <a:pt x="22783" y="54681"/>
                  </a:lnTo>
                  <a:lnTo>
                    <a:pt x="34930" y="54681"/>
                  </a:lnTo>
                  <a:lnTo>
                    <a:pt x="47091" y="50124"/>
                  </a:lnTo>
                  <a:lnTo>
                    <a:pt x="54681" y="39502"/>
                  </a:lnTo>
                  <a:lnTo>
                    <a:pt x="57713" y="27340"/>
                  </a:lnTo>
                  <a:lnTo>
                    <a:pt x="54681" y="15194"/>
                  </a:lnTo>
                  <a:lnTo>
                    <a:pt x="47091" y="4556"/>
                  </a:lnTo>
                  <a:lnTo>
                    <a:pt x="3493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6143183" y="1922780"/>
              <a:ext cx="57785" cy="55244"/>
            </a:xfrm>
            <a:custGeom>
              <a:avLst/>
              <a:gdLst/>
              <a:ahLst/>
              <a:cxnLst/>
              <a:rect l="l" t="t" r="r" b="b"/>
              <a:pathLst>
                <a:path w="57785" h="55244">
                  <a:moveTo>
                    <a:pt x="0" y="27340"/>
                  </a:moveTo>
                  <a:lnTo>
                    <a:pt x="3032" y="15194"/>
                  </a:lnTo>
                  <a:lnTo>
                    <a:pt x="10637" y="4556"/>
                  </a:lnTo>
                  <a:lnTo>
                    <a:pt x="22783" y="0"/>
                  </a:lnTo>
                  <a:lnTo>
                    <a:pt x="34930" y="0"/>
                  </a:lnTo>
                  <a:lnTo>
                    <a:pt x="47091" y="4556"/>
                  </a:lnTo>
                  <a:lnTo>
                    <a:pt x="54681" y="15194"/>
                  </a:lnTo>
                  <a:lnTo>
                    <a:pt x="57713" y="27340"/>
                  </a:lnTo>
                  <a:lnTo>
                    <a:pt x="54681" y="39502"/>
                  </a:lnTo>
                  <a:lnTo>
                    <a:pt x="47091" y="50124"/>
                  </a:lnTo>
                  <a:lnTo>
                    <a:pt x="34930" y="54681"/>
                  </a:lnTo>
                  <a:lnTo>
                    <a:pt x="22783" y="54681"/>
                  </a:lnTo>
                  <a:lnTo>
                    <a:pt x="10637" y="50124"/>
                  </a:lnTo>
                  <a:lnTo>
                    <a:pt x="3032" y="39502"/>
                  </a:lnTo>
                  <a:lnTo>
                    <a:pt x="0" y="27340"/>
                  </a:lnTo>
                </a:path>
              </a:pathLst>
            </a:custGeom>
            <a:ln w="158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6372545" y="2150618"/>
              <a:ext cx="57785" cy="55244"/>
            </a:xfrm>
            <a:custGeom>
              <a:avLst/>
              <a:gdLst/>
              <a:ahLst/>
              <a:cxnLst/>
              <a:rect l="l" t="t" r="r" b="b"/>
              <a:pathLst>
                <a:path w="57785" h="55244">
                  <a:moveTo>
                    <a:pt x="34930" y="0"/>
                  </a:moveTo>
                  <a:lnTo>
                    <a:pt x="22783" y="0"/>
                  </a:lnTo>
                  <a:lnTo>
                    <a:pt x="10637" y="4556"/>
                  </a:lnTo>
                  <a:lnTo>
                    <a:pt x="3032" y="15194"/>
                  </a:lnTo>
                  <a:lnTo>
                    <a:pt x="0" y="27340"/>
                  </a:lnTo>
                  <a:lnTo>
                    <a:pt x="3032" y="39502"/>
                  </a:lnTo>
                  <a:lnTo>
                    <a:pt x="10637" y="50124"/>
                  </a:lnTo>
                  <a:lnTo>
                    <a:pt x="22783" y="54681"/>
                  </a:lnTo>
                  <a:lnTo>
                    <a:pt x="34930" y="54681"/>
                  </a:lnTo>
                  <a:lnTo>
                    <a:pt x="47091" y="50124"/>
                  </a:lnTo>
                  <a:lnTo>
                    <a:pt x="54681" y="39502"/>
                  </a:lnTo>
                  <a:lnTo>
                    <a:pt x="57713" y="27340"/>
                  </a:lnTo>
                  <a:lnTo>
                    <a:pt x="54681" y="15194"/>
                  </a:lnTo>
                  <a:lnTo>
                    <a:pt x="47091" y="4556"/>
                  </a:lnTo>
                  <a:lnTo>
                    <a:pt x="3493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6372545" y="2150618"/>
              <a:ext cx="57785" cy="55244"/>
            </a:xfrm>
            <a:custGeom>
              <a:avLst/>
              <a:gdLst/>
              <a:ahLst/>
              <a:cxnLst/>
              <a:rect l="l" t="t" r="r" b="b"/>
              <a:pathLst>
                <a:path w="57785" h="55244">
                  <a:moveTo>
                    <a:pt x="0" y="27340"/>
                  </a:moveTo>
                  <a:lnTo>
                    <a:pt x="3032" y="15194"/>
                  </a:lnTo>
                  <a:lnTo>
                    <a:pt x="10637" y="4556"/>
                  </a:lnTo>
                  <a:lnTo>
                    <a:pt x="22783" y="0"/>
                  </a:lnTo>
                  <a:lnTo>
                    <a:pt x="34930" y="0"/>
                  </a:lnTo>
                  <a:lnTo>
                    <a:pt x="47091" y="4556"/>
                  </a:lnTo>
                  <a:lnTo>
                    <a:pt x="54681" y="15194"/>
                  </a:lnTo>
                  <a:lnTo>
                    <a:pt x="57713" y="27340"/>
                  </a:lnTo>
                  <a:lnTo>
                    <a:pt x="54681" y="39502"/>
                  </a:lnTo>
                  <a:lnTo>
                    <a:pt x="47091" y="50124"/>
                  </a:lnTo>
                  <a:lnTo>
                    <a:pt x="34930" y="54681"/>
                  </a:lnTo>
                  <a:lnTo>
                    <a:pt x="22783" y="54681"/>
                  </a:lnTo>
                  <a:lnTo>
                    <a:pt x="10637" y="50124"/>
                  </a:lnTo>
                  <a:lnTo>
                    <a:pt x="3032" y="39502"/>
                  </a:lnTo>
                  <a:lnTo>
                    <a:pt x="0" y="27340"/>
                  </a:lnTo>
                </a:path>
              </a:pathLst>
            </a:custGeom>
            <a:ln w="158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6486464" y="2493899"/>
              <a:ext cx="57785" cy="55244"/>
            </a:xfrm>
            <a:custGeom>
              <a:avLst/>
              <a:gdLst/>
              <a:ahLst/>
              <a:cxnLst/>
              <a:rect l="l" t="t" r="r" b="b"/>
              <a:pathLst>
                <a:path w="57784" h="55244">
                  <a:moveTo>
                    <a:pt x="34930" y="0"/>
                  </a:moveTo>
                  <a:lnTo>
                    <a:pt x="22783" y="0"/>
                  </a:lnTo>
                  <a:lnTo>
                    <a:pt x="10637" y="4556"/>
                  </a:lnTo>
                  <a:lnTo>
                    <a:pt x="3032" y="15194"/>
                  </a:lnTo>
                  <a:lnTo>
                    <a:pt x="0" y="27340"/>
                  </a:lnTo>
                  <a:lnTo>
                    <a:pt x="3032" y="39502"/>
                  </a:lnTo>
                  <a:lnTo>
                    <a:pt x="10637" y="50124"/>
                  </a:lnTo>
                  <a:lnTo>
                    <a:pt x="22783" y="54681"/>
                  </a:lnTo>
                  <a:lnTo>
                    <a:pt x="34930" y="54681"/>
                  </a:lnTo>
                  <a:lnTo>
                    <a:pt x="47091" y="50124"/>
                  </a:lnTo>
                  <a:lnTo>
                    <a:pt x="54681" y="39502"/>
                  </a:lnTo>
                  <a:lnTo>
                    <a:pt x="57713" y="27340"/>
                  </a:lnTo>
                  <a:lnTo>
                    <a:pt x="54681" y="15194"/>
                  </a:lnTo>
                  <a:lnTo>
                    <a:pt x="47091" y="4556"/>
                  </a:lnTo>
                  <a:lnTo>
                    <a:pt x="3493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6486464" y="2493899"/>
              <a:ext cx="57785" cy="55244"/>
            </a:xfrm>
            <a:custGeom>
              <a:avLst/>
              <a:gdLst/>
              <a:ahLst/>
              <a:cxnLst/>
              <a:rect l="l" t="t" r="r" b="b"/>
              <a:pathLst>
                <a:path w="57784" h="55244">
                  <a:moveTo>
                    <a:pt x="0" y="27340"/>
                  </a:moveTo>
                  <a:lnTo>
                    <a:pt x="3032" y="15194"/>
                  </a:lnTo>
                  <a:lnTo>
                    <a:pt x="10637" y="4556"/>
                  </a:lnTo>
                  <a:lnTo>
                    <a:pt x="22783" y="0"/>
                  </a:lnTo>
                  <a:lnTo>
                    <a:pt x="34930" y="0"/>
                  </a:lnTo>
                  <a:lnTo>
                    <a:pt x="47091" y="4556"/>
                  </a:lnTo>
                  <a:lnTo>
                    <a:pt x="54681" y="15194"/>
                  </a:lnTo>
                  <a:lnTo>
                    <a:pt x="57713" y="27340"/>
                  </a:lnTo>
                  <a:lnTo>
                    <a:pt x="54681" y="39502"/>
                  </a:lnTo>
                  <a:lnTo>
                    <a:pt x="47091" y="50124"/>
                  </a:lnTo>
                  <a:lnTo>
                    <a:pt x="34930" y="54681"/>
                  </a:lnTo>
                  <a:lnTo>
                    <a:pt x="22783" y="54681"/>
                  </a:lnTo>
                  <a:lnTo>
                    <a:pt x="10637" y="50124"/>
                  </a:lnTo>
                  <a:lnTo>
                    <a:pt x="3032" y="39502"/>
                  </a:lnTo>
                  <a:lnTo>
                    <a:pt x="0" y="27340"/>
                  </a:lnTo>
                </a:path>
              </a:pathLst>
            </a:custGeom>
            <a:ln w="158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9" name="object 109"/>
          <p:cNvSpPr txBox="1"/>
          <p:nvPr/>
        </p:nvSpPr>
        <p:spPr>
          <a:xfrm>
            <a:off x="4852591" y="3695599"/>
            <a:ext cx="19532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1.5: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850899" y="4712754"/>
            <a:ext cx="6423025" cy="42710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 marR="165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main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purpose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 spc="-5">
                <a:latin typeface="Times New Roman"/>
                <a:cs typeface="Times New Roman"/>
              </a:rPr>
              <a:t> mathematical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analysis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measuring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also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concerned about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space </a:t>
            </a:r>
            <a:r>
              <a:rPr dirty="0" sz="1200" spc="-10">
                <a:latin typeface="Times New Roman"/>
                <a:cs typeface="Times New Roman"/>
              </a:rPr>
              <a:t>(memory)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required by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endParaRPr sz="1200">
              <a:latin typeface="Times New Roman"/>
              <a:cs typeface="Times New Roman"/>
            </a:endParaRPr>
          </a:p>
          <a:p>
            <a:pPr marL="63500" marR="71755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implementation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depend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upon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computer, </a:t>
            </a:r>
            <a:r>
              <a:rPr dirty="0" sz="1200" spc="-10">
                <a:latin typeface="Times New Roman"/>
                <a:cs typeface="Times New Roman"/>
              </a:rPr>
              <a:t> programming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language,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optimization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compiler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etc.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Although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ignore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technological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issues in 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 spc="-5">
                <a:latin typeface="Times New Roman"/>
                <a:cs typeface="Times New Roman"/>
              </a:rPr>
              <a:t> analysis.</a:t>
            </a:r>
            <a:endParaRPr sz="1200">
              <a:latin typeface="Times New Roman"/>
              <a:cs typeface="Times New Roman"/>
            </a:endParaRPr>
          </a:p>
          <a:p>
            <a:pPr marL="63500" marR="78105">
              <a:lnSpc>
                <a:spcPct val="100000"/>
              </a:lnSpc>
              <a:spcBef>
                <a:spcPts val="525"/>
              </a:spcBef>
            </a:pP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measure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brute-force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2-d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 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pseudo code that are </a:t>
            </a:r>
            <a:r>
              <a:rPr dirty="0" sz="1200" spc="-10">
                <a:latin typeface="Times New Roman"/>
                <a:cs typeface="Times New Roman"/>
              </a:rPr>
              <a:t>executed </a:t>
            </a:r>
            <a:r>
              <a:rPr dirty="0" sz="1200" spc="-20">
                <a:latin typeface="Times New Roman"/>
                <a:cs typeface="Times New Roman"/>
              </a:rPr>
              <a:t>or, </a:t>
            </a:r>
            <a:r>
              <a:rPr dirty="0" sz="1200" spc="-5">
                <a:latin typeface="Times New Roman"/>
                <a:cs typeface="Times New Roman"/>
              </a:rPr>
              <a:t>count </a:t>
            </a:r>
            <a:r>
              <a:rPr dirty="0" sz="1200" spc="-10">
                <a:latin typeface="Times New Roman"/>
                <a:cs typeface="Times New Roman"/>
              </a:rPr>
              <a:t>the number </a:t>
            </a:r>
            <a:r>
              <a:rPr dirty="0" sz="1200" spc="-5">
                <a:latin typeface="Times New Roman"/>
                <a:cs typeface="Times New Roman"/>
              </a:rPr>
              <a:t>of times an element of </a:t>
            </a:r>
            <a:r>
              <a:rPr dirty="0" sz="1200" spc="25">
                <a:latin typeface="Lucida Sans Unicode"/>
                <a:cs typeface="Lucida Sans Unicode"/>
              </a:rPr>
              <a:t>P </a:t>
            </a:r>
            <a:r>
              <a:rPr dirty="0" sz="1200" spc="-5">
                <a:latin typeface="Times New Roman"/>
                <a:cs typeface="Times New Roman"/>
              </a:rPr>
              <a:t>is accessed </a:t>
            </a:r>
            <a:r>
              <a:rPr dirty="0" sz="1200" spc="-20">
                <a:latin typeface="Times New Roman"/>
                <a:cs typeface="Times New Roman"/>
              </a:rPr>
              <a:t>or,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comparisons</a:t>
            </a:r>
            <a:r>
              <a:rPr dirty="0" sz="1200" spc="-5">
                <a:latin typeface="Times New Roman"/>
                <a:cs typeface="Times New Roman"/>
              </a:rPr>
              <a:t> that are </a:t>
            </a:r>
            <a:r>
              <a:rPr dirty="0" sz="1200" spc="-10">
                <a:latin typeface="Times New Roman"/>
                <a:cs typeface="Times New Roman"/>
              </a:rPr>
              <a:t>performed.</a:t>
            </a:r>
            <a:endParaRPr sz="1200">
              <a:latin typeface="Times New Roman"/>
              <a:cs typeface="Times New Roman"/>
            </a:endParaRPr>
          </a:p>
          <a:p>
            <a:pPr marL="63500" marR="30480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depends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upon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e.g.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 result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breaking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inner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brute-force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depends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on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structure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input.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530"/>
              </a:spcBef>
            </a:pPr>
            <a:r>
              <a:rPr dirty="0" sz="1200" spc="-45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criteria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measuring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worst-case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time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average-case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434975" marR="81280" indent="-372110">
              <a:lnSpc>
                <a:spcPct val="100000"/>
              </a:lnSpc>
              <a:spcBef>
                <a:spcPts val="1010"/>
              </a:spcBef>
            </a:pPr>
            <a:r>
              <a:rPr dirty="0" sz="1200" spc="-15" b="1">
                <a:latin typeface="Times New Roman"/>
                <a:cs typeface="Times New Roman"/>
              </a:rPr>
              <a:t>Worst-case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time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(legal)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25">
                <a:latin typeface="Lucida Sans Unicode"/>
                <a:cs typeface="Lucida Sans Unicode"/>
              </a:rPr>
              <a:t>I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 </a:t>
            </a:r>
            <a:r>
              <a:rPr dirty="0" sz="1200" spc="-5">
                <a:latin typeface="Times New Roman"/>
                <a:cs typeface="Times New Roman"/>
              </a:rPr>
              <a:t> instance,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90">
                <a:latin typeface="Lucida Sans Unicode"/>
                <a:cs typeface="Lucida Sans Unicode"/>
              </a:rPr>
              <a:t>|I|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length,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T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7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I</a:t>
            </a:r>
            <a:r>
              <a:rPr dirty="0" sz="1200" spc="60">
                <a:latin typeface="Times New Roman"/>
                <a:cs typeface="Times New Roman"/>
              </a:rPr>
              <a:t>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endParaRPr sz="1200">
              <a:latin typeface="Times New Roman"/>
              <a:cs typeface="Times New Roman"/>
            </a:endParaRPr>
          </a:p>
          <a:p>
            <a:pPr algn="ctr" marL="476250">
              <a:lnSpc>
                <a:spcPts val="1325"/>
              </a:lnSpc>
              <a:spcBef>
                <a:spcPts val="365"/>
              </a:spcBef>
            </a:pPr>
            <a:r>
              <a:rPr dirty="0" sz="1200" spc="25">
                <a:latin typeface="Lucida Sans Unicode"/>
                <a:cs typeface="Lucida Sans Unicode"/>
              </a:rPr>
              <a:t>T</a:t>
            </a:r>
            <a:r>
              <a:rPr dirty="0" baseline="-13888" sz="1200" spc="37">
                <a:latin typeface="Verdana"/>
                <a:cs typeface="Verdana"/>
              </a:rPr>
              <a:t>worst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n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max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T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7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ctr" marL="923925">
              <a:lnSpc>
                <a:spcPts val="844"/>
              </a:lnSpc>
            </a:pPr>
            <a:r>
              <a:rPr dirty="0" sz="800" spc="-5">
                <a:latin typeface="Gigi"/>
                <a:cs typeface="Gigi"/>
              </a:rPr>
              <a:t>|</a:t>
            </a:r>
            <a:r>
              <a:rPr dirty="0" sz="800" spc="-5">
                <a:latin typeface="Verdana"/>
                <a:cs typeface="Verdana"/>
              </a:rPr>
              <a:t>I</a:t>
            </a:r>
            <a:r>
              <a:rPr dirty="0" sz="800" spc="-5">
                <a:latin typeface="Gigi"/>
                <a:cs typeface="Gigi"/>
              </a:rPr>
              <a:t>|</a:t>
            </a:r>
            <a:r>
              <a:rPr dirty="0" sz="800" spc="-5">
                <a:latin typeface="Verdana"/>
                <a:cs typeface="Verdana"/>
              </a:rPr>
              <a:t>=n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650">
              <a:latin typeface="Verdana"/>
              <a:cs typeface="Verdana"/>
            </a:endParaRPr>
          </a:p>
          <a:p>
            <a:pPr marL="434975" marR="19050" indent="-372110">
              <a:lnSpc>
                <a:spcPct val="100000"/>
              </a:lnSpc>
            </a:pPr>
            <a:r>
              <a:rPr dirty="0" sz="1200" spc="-15" b="1">
                <a:latin typeface="Times New Roman"/>
                <a:cs typeface="Times New Roman"/>
              </a:rPr>
              <a:t>Average-case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time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average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p</a:t>
            </a:r>
            <a:r>
              <a:rPr dirty="0" sz="1200" spc="70">
                <a:latin typeface="Garamond"/>
                <a:cs typeface="Garamond"/>
              </a:rPr>
              <a:t>(</a:t>
            </a:r>
            <a:r>
              <a:rPr dirty="0" sz="1200" spc="70">
                <a:latin typeface="Lucida Sans Unicode"/>
                <a:cs typeface="Lucida Sans Unicode"/>
              </a:rPr>
              <a:t>I</a:t>
            </a:r>
            <a:r>
              <a:rPr dirty="0" sz="1200" spc="7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probability 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average-case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797731" y="8629866"/>
            <a:ext cx="2880360" cy="160020"/>
          </a:xfrm>
          <a:custGeom>
            <a:avLst/>
            <a:gdLst/>
            <a:ahLst/>
            <a:cxnLst/>
            <a:rect l="l" t="t" r="r" b="b"/>
            <a:pathLst>
              <a:path w="2880359" h="160020">
                <a:moveTo>
                  <a:pt x="2880067" y="0"/>
                </a:moveTo>
                <a:lnTo>
                  <a:pt x="0" y="0"/>
                </a:lnTo>
                <a:lnTo>
                  <a:pt x="0" y="159397"/>
                </a:lnTo>
                <a:lnTo>
                  <a:pt x="2880067" y="159397"/>
                </a:lnTo>
                <a:lnTo>
                  <a:pt x="2880067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233096" y="520987"/>
            <a:ext cx="209550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1.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73403" y="926454"/>
            <a:ext cx="14255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being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probabilities: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519143" y="987148"/>
            <a:ext cx="1563370" cy="527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19380">
              <a:lnSpc>
                <a:spcPts val="1290"/>
              </a:lnSpc>
              <a:spcBef>
                <a:spcPts val="95"/>
              </a:spcBef>
            </a:pPr>
            <a:r>
              <a:rPr dirty="0" sz="1200" spc="975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  <a:p>
            <a:pPr marL="38100">
              <a:lnSpc>
                <a:spcPts val="1290"/>
              </a:lnSpc>
              <a:tabLst>
                <a:tab pos="987425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T</a:t>
            </a:r>
            <a:r>
              <a:rPr dirty="0" baseline="-13888" sz="1200" spc="22">
                <a:latin typeface="Verdana"/>
                <a:cs typeface="Verdana"/>
              </a:rPr>
              <a:t>avg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	</a:t>
            </a:r>
            <a:r>
              <a:rPr dirty="0" sz="1200" spc="75">
                <a:latin typeface="Lucida Sans Unicode"/>
                <a:cs typeface="Lucida Sans Unicode"/>
              </a:rPr>
              <a:t>p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75">
                <a:latin typeface="Garamond"/>
                <a:cs typeface="Garamond"/>
              </a:rPr>
              <a:t>)</a:t>
            </a:r>
            <a:r>
              <a:rPr dirty="0" sz="1200" spc="75">
                <a:latin typeface="Lucida Sans Unicode"/>
                <a:cs typeface="Lucida Sans Unicode"/>
              </a:rPr>
              <a:t>T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7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ctr" marL="128905">
              <a:lnSpc>
                <a:spcPct val="100000"/>
              </a:lnSpc>
              <a:spcBef>
                <a:spcPts val="415"/>
              </a:spcBef>
            </a:pPr>
            <a:r>
              <a:rPr dirty="0" sz="800" spc="-5">
                <a:latin typeface="Gigi"/>
                <a:cs typeface="Gigi"/>
              </a:rPr>
              <a:t>|</a:t>
            </a:r>
            <a:r>
              <a:rPr dirty="0" sz="800" spc="-5">
                <a:latin typeface="Verdana"/>
                <a:cs typeface="Verdana"/>
              </a:rPr>
              <a:t>I</a:t>
            </a:r>
            <a:r>
              <a:rPr dirty="0" sz="800" spc="-5">
                <a:latin typeface="Gigi"/>
                <a:cs typeface="Gigi"/>
              </a:rPr>
              <a:t>|</a:t>
            </a:r>
            <a:r>
              <a:rPr dirty="0" sz="800" spc="-5">
                <a:latin typeface="Verdana"/>
                <a:cs typeface="Verdana"/>
              </a:rPr>
              <a:t>=n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1697" y="1684263"/>
            <a:ext cx="6426835" cy="2640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14097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almost </a:t>
            </a:r>
            <a:r>
              <a:rPr dirty="0" sz="1200" spc="-10">
                <a:latin typeface="Times New Roman"/>
                <a:cs typeface="Times New Roman"/>
              </a:rPr>
              <a:t>always work with worst-case </a:t>
            </a:r>
            <a:r>
              <a:rPr dirty="0" sz="1200" spc="-5">
                <a:latin typeface="Times New Roman"/>
                <a:cs typeface="Times New Roman"/>
              </a:rPr>
              <a:t>time. </a:t>
            </a:r>
            <a:r>
              <a:rPr dirty="0" sz="1200" spc="-15">
                <a:latin typeface="Times New Roman"/>
                <a:cs typeface="Times New Roman"/>
              </a:rPr>
              <a:t>Average-case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more difficult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compute; </a:t>
            </a:r>
            <a:r>
              <a:rPr dirty="0" sz="1200" spc="-5">
                <a:latin typeface="Times New Roman"/>
                <a:cs typeface="Times New Roman"/>
              </a:rPr>
              <a:t>it 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difficult </a:t>
            </a:r>
            <a:r>
              <a:rPr dirty="0" sz="1200" spc="-5">
                <a:latin typeface="Times New Roman"/>
                <a:cs typeface="Times New Roman"/>
              </a:rPr>
              <a:t>to specify </a:t>
            </a:r>
            <a:r>
              <a:rPr dirty="0" sz="1200" spc="-10">
                <a:latin typeface="Times New Roman"/>
                <a:cs typeface="Times New Roman"/>
              </a:rPr>
              <a:t>probability distribution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>
                <a:latin typeface="Times New Roman"/>
                <a:cs typeface="Times New Roman"/>
              </a:rPr>
              <a:t>inputs. </a:t>
            </a:r>
            <a:r>
              <a:rPr dirty="0" sz="1200" spc="-20">
                <a:latin typeface="Times New Roman"/>
                <a:cs typeface="Times New Roman"/>
              </a:rPr>
              <a:t>Worst-case </a:t>
            </a:r>
            <a:r>
              <a:rPr dirty="0" sz="1200" spc="-10">
                <a:latin typeface="Times New Roman"/>
                <a:cs typeface="Times New Roman"/>
              </a:rPr>
              <a:t>time will </a:t>
            </a:r>
            <a:r>
              <a:rPr dirty="0" sz="1200" spc="-5">
                <a:latin typeface="Times New Roman"/>
                <a:cs typeface="Times New Roman"/>
              </a:rPr>
              <a:t>specify an upper </a:t>
            </a:r>
            <a:r>
              <a:rPr dirty="0" sz="1200" spc="-10">
                <a:latin typeface="Times New Roman"/>
                <a:cs typeface="Times New Roman"/>
              </a:rPr>
              <a:t>limit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-5">
                <a:latin typeface="Times New Roman"/>
                <a:cs typeface="Times New Roman"/>
              </a:rPr>
              <a:t> time.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10"/>
              </a:spcBef>
              <a:tabLst>
                <a:tab pos="65024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1.10.1	Analysis of the </a:t>
            </a:r>
            <a:r>
              <a:rPr dirty="0" sz="1400" spc="5" b="1">
                <a:latin typeface="Times New Roman"/>
                <a:cs typeface="Times New Roman"/>
              </a:rPr>
              <a:t>brute-force</a:t>
            </a:r>
            <a:r>
              <a:rPr dirty="0" sz="1400" spc="15" b="1">
                <a:latin typeface="Times New Roman"/>
                <a:cs typeface="Times New Roman"/>
              </a:rPr>
              <a:t> maxima</a:t>
            </a:r>
            <a:r>
              <a:rPr dirty="0" sz="1400" spc="10" b="1">
                <a:latin typeface="Times New Roman"/>
                <a:cs typeface="Times New Roman"/>
              </a:rPr>
              <a:t> algorithm.</a:t>
            </a:r>
            <a:endParaRPr sz="1400">
              <a:latin typeface="Times New Roman"/>
              <a:cs typeface="Times New Roman"/>
            </a:endParaRPr>
          </a:p>
          <a:p>
            <a:pPr marL="12700" marR="5080" indent="-635">
              <a:lnSpc>
                <a:spcPct val="100000"/>
              </a:lnSpc>
              <a:spcBef>
                <a:spcPts val="1285"/>
              </a:spcBef>
            </a:pPr>
            <a:r>
              <a:rPr dirty="0" sz="1200" spc="-5">
                <a:latin typeface="Times New Roman"/>
                <a:cs typeface="Times New Roman"/>
              </a:rPr>
              <a:t>Assume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 element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accessed.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Clearly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 times,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go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inner </a:t>
            </a:r>
            <a:r>
              <a:rPr dirty="0" sz="1200" spc="-10">
                <a:latin typeface="Times New Roman"/>
                <a:cs typeface="Times New Roman"/>
              </a:rPr>
              <a:t>loop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 as well.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condition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if-statement </a:t>
            </a:r>
            <a:r>
              <a:rPr dirty="0" sz="1200" spc="-10">
                <a:latin typeface="Times New Roman"/>
                <a:cs typeface="Times New Roman"/>
              </a:rPr>
              <a:t>makes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four</a:t>
            </a:r>
            <a:r>
              <a:rPr dirty="0" sz="1200" spc="-5">
                <a:latin typeface="Times New Roman"/>
                <a:cs typeface="Times New Roman"/>
              </a:rPr>
              <a:t> accesses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statement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 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 spc="-10">
                <a:latin typeface="Times New Roman"/>
                <a:cs typeface="Times New Roman"/>
              </a:rPr>
              <a:t>maximal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example?)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outer </a:t>
            </a:r>
            <a:r>
              <a:rPr dirty="0" sz="1200" spc="-10">
                <a:latin typeface="Times New Roman"/>
                <a:cs typeface="Times New Roman"/>
              </a:rPr>
              <a:t>loop.</a:t>
            </a:r>
            <a:endParaRPr sz="1200">
              <a:latin typeface="Times New Roman"/>
              <a:cs typeface="Times New Roman"/>
            </a:endParaRPr>
          </a:p>
          <a:p>
            <a:pPr marL="15875">
              <a:lnSpc>
                <a:spcPct val="100000"/>
              </a:lnSpc>
              <a:spcBef>
                <a:spcPts val="825"/>
              </a:spcBef>
            </a:pPr>
            <a:r>
              <a:rPr dirty="0" sz="1200" spc="50">
                <a:latin typeface="Times New Roman"/>
                <a:cs typeface="Times New Roman"/>
              </a:rPr>
              <a:t>M</a:t>
            </a:r>
            <a:r>
              <a:rPr dirty="0" sz="950" spc="55">
                <a:latin typeface="Times New Roman"/>
                <a:cs typeface="Times New Roman"/>
              </a:rPr>
              <a:t>AXIM</a:t>
            </a:r>
            <a:r>
              <a:rPr dirty="0" sz="950" spc="25">
                <a:latin typeface="Times New Roman"/>
                <a:cs typeface="Times New Roman"/>
              </a:rPr>
              <a:t>A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Lucida Sans Unicode"/>
                <a:cs typeface="Lucida Sans Unicode"/>
              </a:rPr>
              <a:t>t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P</a:t>
            </a:r>
            <a:r>
              <a:rPr dirty="0" sz="1200" spc="-70">
                <a:latin typeface="Lucida Sans Unicode"/>
                <a:cs typeface="Lucida Sans Unicode"/>
              </a:rPr>
              <a:t>o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Lucida Sans Unicode"/>
                <a:cs typeface="Lucida Sans Unicode"/>
              </a:rPr>
              <a:t>t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P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234976" y="4331263"/>
            <a:ext cx="558800" cy="179070"/>
          </a:xfrm>
          <a:prstGeom prst="rect">
            <a:avLst/>
          </a:prstGeom>
          <a:solidFill>
            <a:srgbClr val="FF0000"/>
          </a:solidFill>
          <a:ln w="10122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80645">
              <a:lnSpc>
                <a:spcPts val="1275"/>
              </a:lnSpc>
            </a:pPr>
            <a:r>
              <a:rPr dirty="0" sz="1100" spc="-5" i="1">
                <a:latin typeface="Times New Roman"/>
                <a:cs typeface="Times New Roman"/>
              </a:rPr>
              <a:t>n</a:t>
            </a:r>
            <a:r>
              <a:rPr dirty="0" sz="1100" spc="-40" i="1">
                <a:latin typeface="Times New Roman"/>
                <a:cs typeface="Times New Roman"/>
              </a:rPr>
              <a:t> </a:t>
            </a:r>
            <a:r>
              <a:rPr dirty="0" sz="1100" spc="-10" i="1">
                <a:latin typeface="Times New Roman"/>
                <a:cs typeface="Times New Roman"/>
              </a:rPr>
              <a:t>times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429057" y="4698167"/>
            <a:ext cx="558800" cy="179070"/>
          </a:xfrm>
          <a:prstGeom prst="rect">
            <a:avLst/>
          </a:prstGeom>
          <a:solidFill>
            <a:srgbClr val="FF0000"/>
          </a:solidFill>
          <a:ln w="10122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80645">
              <a:lnSpc>
                <a:spcPts val="1275"/>
              </a:lnSpc>
            </a:pPr>
            <a:r>
              <a:rPr dirty="0" sz="1100" spc="-5" i="1">
                <a:latin typeface="Times New Roman"/>
                <a:cs typeface="Times New Roman"/>
              </a:rPr>
              <a:t>n</a:t>
            </a:r>
            <a:r>
              <a:rPr dirty="0" sz="1100" spc="-40" i="1">
                <a:latin typeface="Times New Roman"/>
                <a:cs typeface="Times New Roman"/>
              </a:rPr>
              <a:t> </a:t>
            </a:r>
            <a:r>
              <a:rPr dirty="0" sz="1100" spc="-10" i="1">
                <a:latin typeface="Times New Roman"/>
                <a:cs typeface="Times New Roman"/>
              </a:rPr>
              <a:t>times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365643" y="4667606"/>
            <a:ext cx="91948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563953" y="5034509"/>
            <a:ext cx="28663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Garamond"/>
                <a:cs typeface="Garamond"/>
              </a:rPr>
              <a:t>(</a:t>
            </a:r>
            <a:r>
              <a:rPr dirty="0" sz="1200" spc="95">
                <a:latin typeface="Lucida Sans Unicode"/>
                <a:cs typeface="Lucida Sans Unicode"/>
              </a:rPr>
              <a:t>i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Segoe UI Symbol"/>
                <a:cs typeface="Segoe UI Symbol"/>
              </a:rPr>
              <a:t>/</a:t>
            </a:r>
            <a:r>
              <a:rPr dirty="0" sz="1200" spc="50">
                <a:latin typeface="Garamond"/>
                <a:cs typeface="Garamond"/>
              </a:rPr>
              <a:t>=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j</a:t>
            </a:r>
            <a:r>
              <a:rPr dirty="0" sz="1200" spc="20">
                <a:latin typeface="Garamond"/>
                <a:cs typeface="Garamond"/>
              </a:rPr>
              <a:t>)&amp;(</a:t>
            </a:r>
            <a:r>
              <a:rPr dirty="0" sz="1200" spc="20">
                <a:latin typeface="Lucida Sans Unicode"/>
                <a:cs typeface="Lucida Sans Unicode"/>
              </a:rPr>
              <a:t>P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i</a:t>
            </a:r>
            <a:r>
              <a:rPr dirty="0" sz="1200" spc="20">
                <a:latin typeface="Garamond"/>
                <a:cs typeface="Garamond"/>
              </a:rPr>
              <a:t>]</a:t>
            </a:r>
            <a:r>
              <a:rPr dirty="0" sz="1200" spc="20">
                <a:latin typeface="Lucida Sans Unicode"/>
                <a:cs typeface="Lucida Sans Unicode"/>
              </a:rPr>
              <a:t>.x</a:t>
            </a:r>
            <a:r>
              <a:rPr dirty="0" sz="1200" spc="-3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0">
                <a:latin typeface="Segoe UI Symbol"/>
                <a:cs typeface="Segoe UI Symbol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P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j</a:t>
            </a:r>
            <a:r>
              <a:rPr dirty="0" sz="1200" spc="20">
                <a:latin typeface="Garamond"/>
                <a:cs typeface="Garamond"/>
              </a:rPr>
              <a:t>]</a:t>
            </a:r>
            <a:r>
              <a:rPr dirty="0" sz="1200" spc="20">
                <a:latin typeface="Lucida Sans Unicode"/>
                <a:cs typeface="Lucida Sans Unicode"/>
              </a:rPr>
              <a:t>.x</a:t>
            </a:r>
            <a:r>
              <a:rPr dirty="0" sz="1200" spc="20">
                <a:latin typeface="Garamond"/>
                <a:cs typeface="Garamond"/>
              </a:rPr>
              <a:t>)&amp;(</a:t>
            </a:r>
            <a:r>
              <a:rPr dirty="0" sz="1200" spc="20">
                <a:latin typeface="Lucida Sans Unicode"/>
                <a:cs typeface="Lucida Sans Unicode"/>
              </a:rPr>
              <a:t>P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i</a:t>
            </a:r>
            <a:r>
              <a:rPr dirty="0" sz="1200" spc="20">
                <a:latin typeface="Garamond"/>
                <a:cs typeface="Garamond"/>
              </a:rPr>
              <a:t>]</a:t>
            </a:r>
            <a:r>
              <a:rPr dirty="0" sz="1200" spc="20">
                <a:latin typeface="Lucida Sans Unicode"/>
                <a:cs typeface="Lucida Sans Unicode"/>
              </a:rPr>
              <a:t>.y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5">
                <a:latin typeface="Segoe UI Symbol"/>
                <a:cs typeface="Segoe UI Symbol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P</a:t>
            </a:r>
            <a:r>
              <a:rPr dirty="0" sz="1200" spc="-15">
                <a:latin typeface="Garamond"/>
                <a:cs typeface="Garamond"/>
              </a:rPr>
              <a:t>[</a:t>
            </a:r>
            <a:r>
              <a:rPr dirty="0" sz="1200" spc="-15">
                <a:latin typeface="Lucida Sans Unicode"/>
                <a:cs typeface="Lucida Sans Unicode"/>
              </a:rPr>
              <a:t>j</a:t>
            </a:r>
            <a:r>
              <a:rPr dirty="0" sz="1200" spc="-15">
                <a:latin typeface="Garamond"/>
                <a:cs typeface="Garamond"/>
              </a:rPr>
              <a:t>]</a:t>
            </a:r>
            <a:r>
              <a:rPr dirty="0" sz="1200" spc="-15">
                <a:latin typeface="Lucida Sans Unicode"/>
                <a:cs typeface="Lucida Sans Unicode"/>
              </a:rPr>
              <a:t>.y</a:t>
            </a:r>
            <a:r>
              <a:rPr dirty="0" sz="1200" spc="-1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464161" y="5063195"/>
            <a:ext cx="742950" cy="180975"/>
          </a:xfrm>
          <a:prstGeom prst="rect">
            <a:avLst/>
          </a:prstGeom>
          <a:solidFill>
            <a:srgbClr val="FF0000"/>
          </a:solidFill>
          <a:ln w="10122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80645">
              <a:lnSpc>
                <a:spcPts val="1290"/>
              </a:lnSpc>
            </a:pPr>
            <a:r>
              <a:rPr dirty="0" sz="1100" spc="-5" i="1">
                <a:latin typeface="Times New Roman"/>
                <a:cs typeface="Times New Roman"/>
              </a:rPr>
              <a:t>4</a:t>
            </a:r>
            <a:r>
              <a:rPr dirty="0" sz="1100" spc="-40" i="1">
                <a:latin typeface="Times New Roman"/>
                <a:cs typeface="Times New Roman"/>
              </a:rPr>
              <a:t> </a:t>
            </a:r>
            <a:r>
              <a:rPr dirty="0" sz="1100" spc="-10" i="1">
                <a:latin typeface="Times New Roman"/>
                <a:cs typeface="Times New Roman"/>
              </a:rPr>
              <a:t>accesses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365643" y="5217960"/>
            <a:ext cx="234442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32893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maximal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false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break </a:t>
            </a:r>
            <a:r>
              <a:rPr dirty="0" sz="1200" spc="-28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maximal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39644" y="4300703"/>
            <a:ext cx="1643380" cy="149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0029" indent="-227965">
              <a:lnSpc>
                <a:spcPct val="100000"/>
              </a:lnSpc>
              <a:spcBef>
                <a:spcPts val="95"/>
              </a:spcBef>
              <a:buFont typeface="Times New Roman"/>
              <a:buAutoNum type="arabicPlain"/>
              <a:tabLst>
                <a:tab pos="240029" algn="l"/>
                <a:tab pos="24066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40029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240029" algn="l"/>
                <a:tab pos="2406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maximal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true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496403" y="5584863"/>
            <a:ext cx="15976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P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P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237615" y="5613542"/>
            <a:ext cx="742950" cy="180975"/>
          </a:xfrm>
          <a:prstGeom prst="rect">
            <a:avLst/>
          </a:prstGeom>
          <a:solidFill>
            <a:srgbClr val="FF0000"/>
          </a:solidFill>
          <a:ln w="10122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80645">
              <a:lnSpc>
                <a:spcPts val="1290"/>
              </a:lnSpc>
            </a:pPr>
            <a:r>
              <a:rPr dirty="0" sz="1100" spc="-5" i="1">
                <a:latin typeface="Times New Roman"/>
                <a:cs typeface="Times New Roman"/>
              </a:rPr>
              <a:t>2</a:t>
            </a:r>
            <a:r>
              <a:rPr dirty="0" sz="1100" spc="-40" i="1">
                <a:latin typeface="Times New Roman"/>
                <a:cs typeface="Times New Roman"/>
              </a:rPr>
              <a:t> </a:t>
            </a:r>
            <a:r>
              <a:rPr dirty="0" sz="1100" spc="-10" i="1">
                <a:latin typeface="Times New Roman"/>
                <a:cs typeface="Times New Roman"/>
              </a:rPr>
              <a:t>accesses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01699" y="6082525"/>
            <a:ext cx="620776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might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express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worst-case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nested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summations,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i</a:t>
            </a:r>
            <a:r>
              <a:rPr dirty="0" sz="1200" spc="5">
                <a:latin typeface="Times New Roman"/>
                <a:cs typeface="Times New Roman"/>
              </a:rPr>
              <a:t>-loop 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other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j</a:t>
            </a:r>
            <a:r>
              <a:rPr dirty="0" sz="1200" spc="-5">
                <a:latin typeface="Times New Roman"/>
                <a:cs typeface="Times New Roman"/>
              </a:rPr>
              <a:t>-loop: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122318" y="6698716"/>
            <a:ext cx="493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655069" y="6928319"/>
            <a:ext cx="2076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195912" y="6508979"/>
            <a:ext cx="231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963222" y="6627605"/>
            <a:ext cx="604520" cy="447675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55"/>
              </a:spcBef>
              <a:tabLst>
                <a:tab pos="514984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  <a:p>
            <a:pPr marL="294640">
              <a:lnSpc>
                <a:spcPct val="100000"/>
              </a:lnSpc>
              <a:spcBef>
                <a:spcPts val="370"/>
              </a:spcBef>
            </a:pPr>
            <a:r>
              <a:rPr dirty="0" sz="800" spc="-15">
                <a:latin typeface="Verdana"/>
                <a:cs typeface="Verdana"/>
              </a:rPr>
              <a:t>j=1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593995" y="6484633"/>
            <a:ext cx="11106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960119" algn="l"/>
              </a:tabLst>
            </a:pPr>
            <a:r>
              <a:rPr dirty="0" baseline="-25462" sz="1800" spc="-30">
                <a:latin typeface="Lucida Sans Unicode"/>
                <a:cs typeface="Lucida Sans Unicode"/>
              </a:rPr>
              <a:t>X</a:t>
            </a:r>
            <a:r>
              <a:rPr dirty="0" baseline="-13888" sz="1200" spc="-30">
                <a:latin typeface="Verdana"/>
                <a:cs typeface="Verdana"/>
              </a:rPr>
              <a:t>n </a:t>
            </a:r>
            <a:r>
              <a:rPr dirty="0" baseline="-13888" sz="1200" spc="-97">
                <a:latin typeface="Verdana"/>
                <a:cs typeface="Verdana"/>
              </a:rPr>
              <a:t> </a:t>
            </a:r>
            <a:r>
              <a:rPr dirty="0" sz="1200" spc="480">
                <a:latin typeface="Gulim"/>
                <a:cs typeface="Gulim"/>
              </a:rPr>
              <a:t> </a:t>
            </a:r>
            <a:r>
              <a:rPr dirty="0" sz="1200">
                <a:latin typeface="Gulim"/>
                <a:cs typeface="Gulim"/>
              </a:rPr>
              <a:t>	</a:t>
            </a:r>
            <a:r>
              <a:rPr dirty="0" sz="1200" spc="480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38195" y="7024472"/>
            <a:ext cx="6414770" cy="19589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806065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  <a:p>
            <a:pPr marL="2649220">
              <a:lnSpc>
                <a:spcPct val="100000"/>
              </a:lnSpc>
              <a:spcBef>
                <a:spcPts val="55"/>
              </a:spcBef>
              <a:tabLst>
                <a:tab pos="3025775" algn="l"/>
              </a:tabLst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00">
                <a:latin typeface="Garamond"/>
                <a:cs typeface="Garamond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2829560">
              <a:lnSpc>
                <a:spcPct val="100000"/>
              </a:lnSpc>
              <a:spcBef>
                <a:spcPts val="370"/>
              </a:spcBef>
            </a:pPr>
            <a:r>
              <a:rPr dirty="0" sz="800" spc="15">
                <a:latin typeface="Verdana"/>
                <a:cs typeface="Verdana"/>
              </a:rPr>
              <a:t>i=1</a:t>
            </a:r>
            <a:endParaRPr sz="800">
              <a:latin typeface="Verdana"/>
              <a:cs typeface="Verdana"/>
            </a:endParaRPr>
          </a:p>
          <a:p>
            <a:pPr marL="2649220">
              <a:lnSpc>
                <a:spcPct val="100000"/>
              </a:lnSpc>
              <a:spcBef>
                <a:spcPts val="204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4722" sz="1200" spc="-15">
                <a:latin typeface="Verdana"/>
                <a:cs typeface="Verdana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Lucida Sans Unicode"/>
              <a:cs typeface="Lucida Sans Unicode"/>
            </a:endParaRPr>
          </a:p>
          <a:p>
            <a:pPr marL="76200" marR="68580">
              <a:lnSpc>
                <a:spcPct val="100000"/>
              </a:lnSpc>
              <a:spcBef>
                <a:spcPts val="5"/>
              </a:spcBef>
            </a:pP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small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enough.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happens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 does become an issue. When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large,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baseline="31250" sz="1200" spc="22">
                <a:latin typeface="Verdana"/>
                <a:cs typeface="Verdana"/>
              </a:rPr>
              <a:t>2 </a:t>
            </a:r>
            <a:r>
              <a:rPr dirty="0" sz="1200" spc="-5">
                <a:latin typeface="Times New Roman"/>
                <a:cs typeface="Times New Roman"/>
              </a:rPr>
              <a:t>term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be much </a:t>
            </a:r>
            <a:r>
              <a:rPr dirty="0" sz="1200" spc="-10">
                <a:latin typeface="Times New Roman"/>
                <a:cs typeface="Times New Roman"/>
              </a:rPr>
              <a:t>larger </a:t>
            </a:r>
            <a:r>
              <a:rPr dirty="0" sz="1200" spc="-5">
                <a:latin typeface="Times New Roman"/>
                <a:cs typeface="Times New Roman"/>
              </a:rPr>
              <a:t>than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term and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10" i="1">
                <a:latin typeface="Times New Roman"/>
                <a:cs typeface="Times New Roman"/>
              </a:rPr>
              <a:t>dominate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marL="76200" marR="112395">
              <a:lnSpc>
                <a:spcPct val="100000"/>
              </a:lnSpc>
              <a:spcBef>
                <a:spcPts val="52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worst-case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Θ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n</a:t>
            </a:r>
            <a:r>
              <a:rPr dirty="0" baseline="31250" sz="1200" spc="44">
                <a:latin typeface="Verdana"/>
                <a:cs typeface="Verdana"/>
              </a:rPr>
              <a:t>2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asymptotic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growth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discuss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Θ</a:t>
            </a:r>
            <a:r>
              <a:rPr dirty="0" sz="1200" spc="-10">
                <a:latin typeface="Times New Roman"/>
                <a:cs typeface="Times New Roman"/>
              </a:rPr>
              <a:t>-notation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later.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12819" y="5784824"/>
            <a:ext cx="941069" cy="335915"/>
          </a:xfrm>
          <a:custGeom>
            <a:avLst/>
            <a:gdLst/>
            <a:ahLst/>
            <a:cxnLst/>
            <a:rect l="l" t="t" r="r" b="b"/>
            <a:pathLst>
              <a:path w="941070" h="335914">
                <a:moveTo>
                  <a:pt x="940917" y="0"/>
                </a:moveTo>
                <a:lnTo>
                  <a:pt x="0" y="0"/>
                </a:lnTo>
                <a:lnTo>
                  <a:pt x="0" y="139204"/>
                </a:lnTo>
                <a:lnTo>
                  <a:pt x="432511" y="139204"/>
                </a:lnTo>
                <a:lnTo>
                  <a:pt x="432511" y="335470"/>
                </a:lnTo>
                <a:lnTo>
                  <a:pt x="508419" y="335470"/>
                </a:lnTo>
                <a:lnTo>
                  <a:pt x="508419" y="139204"/>
                </a:lnTo>
                <a:lnTo>
                  <a:pt x="940917" y="139204"/>
                </a:lnTo>
                <a:lnTo>
                  <a:pt x="940917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3640683" y="5958471"/>
            <a:ext cx="114935" cy="36195"/>
          </a:xfrm>
          <a:custGeom>
            <a:avLst/>
            <a:gdLst/>
            <a:ahLst/>
            <a:cxnLst/>
            <a:rect l="l" t="t" r="r" b="b"/>
            <a:pathLst>
              <a:path w="114935" h="36195">
                <a:moveTo>
                  <a:pt x="114782" y="0"/>
                </a:moveTo>
                <a:lnTo>
                  <a:pt x="0" y="0"/>
                </a:lnTo>
                <a:lnTo>
                  <a:pt x="0" y="35826"/>
                </a:lnTo>
                <a:lnTo>
                  <a:pt x="114782" y="35826"/>
                </a:lnTo>
                <a:lnTo>
                  <a:pt x="114782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3963809" y="4636528"/>
            <a:ext cx="1187450" cy="318770"/>
          </a:xfrm>
          <a:custGeom>
            <a:avLst/>
            <a:gdLst/>
            <a:ahLst/>
            <a:cxnLst/>
            <a:rect l="l" t="t" r="r" b="b"/>
            <a:pathLst>
              <a:path w="1187450" h="318770">
                <a:moveTo>
                  <a:pt x="1187310" y="80391"/>
                </a:moveTo>
                <a:lnTo>
                  <a:pt x="578091" y="80391"/>
                </a:lnTo>
                <a:lnTo>
                  <a:pt x="578091" y="0"/>
                </a:lnTo>
                <a:lnTo>
                  <a:pt x="0" y="0"/>
                </a:lnTo>
                <a:lnTo>
                  <a:pt x="0" y="140296"/>
                </a:lnTo>
                <a:lnTo>
                  <a:pt x="251117" y="140296"/>
                </a:lnTo>
                <a:lnTo>
                  <a:pt x="251117" y="318630"/>
                </a:lnTo>
                <a:lnTo>
                  <a:pt x="1187310" y="318630"/>
                </a:lnTo>
                <a:lnTo>
                  <a:pt x="1187310" y="80391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3791673" y="4795469"/>
            <a:ext cx="114935" cy="36195"/>
          </a:xfrm>
          <a:custGeom>
            <a:avLst/>
            <a:gdLst/>
            <a:ahLst/>
            <a:cxnLst/>
            <a:rect l="l" t="t" r="r" b="b"/>
            <a:pathLst>
              <a:path w="114935" h="36195">
                <a:moveTo>
                  <a:pt x="114782" y="0"/>
                </a:moveTo>
                <a:lnTo>
                  <a:pt x="0" y="0"/>
                </a:lnTo>
                <a:lnTo>
                  <a:pt x="0" y="35826"/>
                </a:lnTo>
                <a:lnTo>
                  <a:pt x="114782" y="35826"/>
                </a:lnTo>
                <a:lnTo>
                  <a:pt x="114782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901699" y="520987"/>
            <a:ext cx="228600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1.10.</a:t>
            </a:r>
            <a:r>
              <a:rPr dirty="0" sz="1200" spc="35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RUNNING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ANALYSIS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76298" y="926454"/>
            <a:ext cx="6168390" cy="14458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analysis </a:t>
            </a:r>
            <a:r>
              <a:rPr dirty="0" sz="1200" spc="-20">
                <a:latin typeface="Times New Roman"/>
                <a:cs typeface="Times New Roman"/>
              </a:rPr>
              <a:t>involved </a:t>
            </a:r>
            <a:r>
              <a:rPr dirty="0" sz="1200" spc="-10">
                <a:latin typeface="Times New Roman"/>
                <a:cs typeface="Times New Roman"/>
              </a:rPr>
              <a:t>computing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summation. Summation </a:t>
            </a:r>
            <a:r>
              <a:rPr dirty="0" sz="1200" spc="-5">
                <a:latin typeface="Times New Roman"/>
                <a:cs typeface="Times New Roman"/>
              </a:rPr>
              <a:t>should be </a:t>
            </a:r>
            <a:r>
              <a:rPr dirty="0" sz="1200" spc="-10">
                <a:latin typeface="Times New Roman"/>
                <a:cs typeface="Times New Roman"/>
              </a:rPr>
              <a:t>familiar </a:t>
            </a:r>
            <a:r>
              <a:rPr dirty="0" sz="1200" spc="-15">
                <a:latin typeface="Times New Roman"/>
                <a:cs typeface="Times New Roman"/>
              </a:rPr>
              <a:t>but </a:t>
            </a:r>
            <a:r>
              <a:rPr dirty="0" sz="1200" spc="-5">
                <a:latin typeface="Times New Roman"/>
                <a:cs typeface="Times New Roman"/>
              </a:rPr>
              <a:t>let us </a:t>
            </a:r>
            <a:r>
              <a:rPr dirty="0" sz="1200" spc="-15">
                <a:latin typeface="Times New Roman"/>
                <a:cs typeface="Times New Roman"/>
              </a:rPr>
              <a:t>review </a:t>
            </a:r>
            <a:r>
              <a:rPr dirty="0" sz="1200" spc="-5">
                <a:latin typeface="Times New Roman"/>
                <a:cs typeface="Times New Roman"/>
              </a:rPr>
              <a:t>a bit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finite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 of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a</a:t>
            </a:r>
            <a:r>
              <a:rPr dirty="0" baseline="-13888" sz="1200" spc="-7">
                <a:latin typeface="Verdana"/>
                <a:cs typeface="Verdana"/>
              </a:rPr>
              <a:t>1</a:t>
            </a:r>
            <a:r>
              <a:rPr dirty="0" sz="1200" spc="-5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sz="1200" spc="-1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a</a:t>
            </a:r>
            <a:r>
              <a:rPr dirty="0" baseline="-13888" sz="1200" spc="82">
                <a:latin typeface="Verdana"/>
                <a:cs typeface="Verdana"/>
              </a:rPr>
              <a:t>n</a:t>
            </a:r>
            <a:r>
              <a:rPr dirty="0" sz="1200" spc="5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their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a</a:t>
            </a:r>
            <a:r>
              <a:rPr dirty="0" baseline="-13888" sz="1200" spc="150">
                <a:latin typeface="Verdana"/>
                <a:cs typeface="Verdana"/>
              </a:rPr>
              <a:t>n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expressed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summation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notation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endParaRPr sz="1200">
              <a:latin typeface="Times New Roman"/>
              <a:cs typeface="Times New Roman"/>
            </a:endParaRPr>
          </a:p>
          <a:p>
            <a:pPr marL="3046730">
              <a:lnSpc>
                <a:spcPts val="610"/>
              </a:lnSpc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  <a:p>
            <a:pPr algn="ctr" marL="554990">
              <a:lnSpc>
                <a:spcPct val="100000"/>
              </a:lnSpc>
              <a:spcBef>
                <a:spcPts val="55"/>
              </a:spcBef>
            </a:pPr>
            <a:r>
              <a:rPr dirty="0" sz="1200" spc="105">
                <a:latin typeface="Lucida Sans Unicode"/>
                <a:cs typeface="Lucida Sans Unicode"/>
              </a:rPr>
              <a:t>a</a:t>
            </a:r>
            <a:r>
              <a:rPr dirty="0" baseline="-13888" sz="1200" spc="157">
                <a:latin typeface="Verdana"/>
                <a:cs typeface="Verdana"/>
              </a:rPr>
              <a:t>i</a:t>
            </a:r>
            <a:endParaRPr baseline="-13888" sz="1200">
              <a:latin typeface="Verdana"/>
              <a:cs typeface="Verdana"/>
            </a:endParaRPr>
          </a:p>
          <a:p>
            <a:pPr marL="3069590">
              <a:lnSpc>
                <a:spcPct val="100000"/>
              </a:lnSpc>
              <a:spcBef>
                <a:spcPts val="365"/>
              </a:spcBef>
            </a:pPr>
            <a:r>
              <a:rPr dirty="0" sz="800" spc="15">
                <a:latin typeface="Verdana"/>
                <a:cs typeface="Verdana"/>
              </a:rPr>
              <a:t>i=1</a:t>
            </a:r>
            <a:endParaRPr sz="800">
              <a:latin typeface="Verdana"/>
              <a:cs typeface="Verdana"/>
            </a:endParaRPr>
          </a:p>
          <a:p>
            <a:pPr algn="just" marL="38100">
              <a:lnSpc>
                <a:spcPct val="100000"/>
              </a:lnSpc>
              <a:spcBef>
                <a:spcPts val="35"/>
              </a:spcBef>
            </a:pP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0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ddit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ntit</a:t>
            </a:r>
            <a:r>
              <a:rPr dirty="0" sz="1200" spc="-8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0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38100">
              <a:lnSpc>
                <a:spcPct val="100000"/>
              </a:lnSpc>
              <a:spcBef>
                <a:spcPts val="520"/>
              </a:spcBef>
            </a:pPr>
            <a:r>
              <a:rPr dirty="0" sz="1200" spc="-10" i="1">
                <a:latin typeface="Times New Roman"/>
                <a:cs typeface="Times New Roman"/>
              </a:rPr>
              <a:t>Som</a:t>
            </a:r>
            <a:r>
              <a:rPr dirty="0" sz="1200" spc="-5" i="1">
                <a:latin typeface="Times New Roman"/>
                <a:cs typeface="Times New Roman"/>
              </a:rPr>
              <a:t>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fa</a:t>
            </a:r>
            <a:r>
              <a:rPr dirty="0" sz="1200" spc="-5" i="1">
                <a:latin typeface="Times New Roman"/>
                <a:cs typeface="Times New Roman"/>
              </a:rPr>
              <a:t>c</a:t>
            </a:r>
            <a:r>
              <a:rPr dirty="0" sz="1200" spc="-10" i="1">
                <a:latin typeface="Times New Roman"/>
                <a:cs typeface="Times New Roman"/>
              </a:rPr>
              <a:t>t</a:t>
            </a:r>
            <a:r>
              <a:rPr dirty="0" sz="1200" spc="-5" i="1">
                <a:latin typeface="Times New Roman"/>
                <a:cs typeface="Times New Roman"/>
              </a:rPr>
              <a:t>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abou</a:t>
            </a:r>
            <a:r>
              <a:rPr dirty="0" sz="1200" spc="-5" i="1">
                <a:latin typeface="Times New Roman"/>
                <a:cs typeface="Times New Roman"/>
              </a:rPr>
              <a:t>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</a:t>
            </a:r>
            <a:r>
              <a:rPr dirty="0" sz="1200" spc="-10" i="1">
                <a:latin typeface="Times New Roman"/>
                <a:cs typeface="Times New Roman"/>
              </a:rPr>
              <a:t>ummation</a:t>
            </a:r>
            <a:r>
              <a:rPr dirty="0" sz="1200" spc="-5" i="1">
                <a:latin typeface="Times New Roman"/>
                <a:cs typeface="Times New Roman"/>
              </a:rPr>
              <a:t>: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507714" y="2333602"/>
            <a:ext cx="231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556088" y="2752943"/>
            <a:ext cx="2076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752315" y="2333602"/>
            <a:ext cx="971550" cy="566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4864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  <a:p>
            <a:pPr marL="38100">
              <a:lnSpc>
                <a:spcPct val="100000"/>
              </a:lnSpc>
              <a:spcBef>
                <a:spcPts val="55"/>
              </a:spcBef>
              <a:tabLst>
                <a:tab pos="793115" algn="l"/>
              </a:tabLst>
            </a:pPr>
            <a:r>
              <a:rPr dirty="0" sz="1200" spc="60">
                <a:latin typeface="Lucida Sans Unicode"/>
                <a:cs typeface="Lucida Sans Unicode"/>
              </a:rPr>
              <a:t>ca</a:t>
            </a:r>
            <a:r>
              <a:rPr dirty="0" baseline="-13888" sz="1200" spc="89">
                <a:latin typeface="Verdana"/>
                <a:cs typeface="Verdana"/>
              </a:rPr>
              <a:t>i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	</a:t>
            </a:r>
            <a:r>
              <a:rPr dirty="0" sz="1200" spc="105">
                <a:latin typeface="Lucida Sans Unicode"/>
                <a:cs typeface="Lucida Sans Unicode"/>
              </a:rPr>
              <a:t>a</a:t>
            </a:r>
            <a:r>
              <a:rPr dirty="0" baseline="-13888" sz="1200" spc="157">
                <a:latin typeface="Verdana"/>
                <a:cs typeface="Verdana"/>
              </a:rPr>
              <a:t>i</a:t>
            </a:r>
            <a:endParaRPr baseline="-13888" sz="1200">
              <a:latin typeface="Verdana"/>
              <a:cs typeface="Verdana"/>
            </a:endParaRPr>
          </a:p>
          <a:p>
            <a:pPr marL="571500">
              <a:lnSpc>
                <a:spcPct val="100000"/>
              </a:lnSpc>
              <a:spcBef>
                <a:spcPts val="365"/>
              </a:spcBef>
            </a:pPr>
            <a:r>
              <a:rPr dirty="0" sz="800" spc="15">
                <a:latin typeface="Verdana"/>
                <a:cs typeface="Verdana"/>
              </a:rPr>
              <a:t>i=1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01700" y="2897215"/>
            <a:ext cx="245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108350" y="2973453"/>
            <a:ext cx="231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314877" y="2973453"/>
            <a:ext cx="1821180" cy="397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22960">
              <a:lnSpc>
                <a:spcPct val="100000"/>
              </a:lnSpc>
              <a:spcBef>
                <a:spcPts val="95"/>
              </a:spcBef>
              <a:tabLst>
                <a:tab pos="1388110" algn="l"/>
              </a:tabLst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	</a:t>
            </a: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  <a:p>
            <a:pPr marL="50800">
              <a:lnSpc>
                <a:spcPct val="100000"/>
              </a:lnSpc>
              <a:spcBef>
                <a:spcPts val="55"/>
              </a:spcBef>
              <a:tabLst>
                <a:tab pos="1068070" algn="l"/>
                <a:tab pos="1633220" algn="l"/>
              </a:tabLst>
            </a:pPr>
            <a:r>
              <a:rPr dirty="0" sz="1200" spc="105">
                <a:latin typeface="Garamond"/>
                <a:cs typeface="Garamond"/>
              </a:rPr>
              <a:t>(</a:t>
            </a:r>
            <a:r>
              <a:rPr dirty="0" sz="1200" spc="105">
                <a:latin typeface="Lucida Sans Unicode"/>
                <a:cs typeface="Lucida Sans Unicode"/>
              </a:rPr>
              <a:t>a</a:t>
            </a:r>
            <a:r>
              <a:rPr dirty="0" baseline="-13888" sz="1200" spc="157">
                <a:latin typeface="Verdana"/>
                <a:cs typeface="Verdana"/>
              </a:rPr>
              <a:t>i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b</a:t>
            </a:r>
            <a:r>
              <a:rPr dirty="0" baseline="-13888" sz="1200" spc="97">
                <a:latin typeface="Verdana"/>
                <a:cs typeface="Verdana"/>
              </a:rPr>
              <a:t>i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	</a:t>
            </a:r>
            <a:r>
              <a:rPr dirty="0" sz="1200" spc="105">
                <a:latin typeface="Lucida Sans Unicode"/>
                <a:cs typeface="Lucida Sans Unicode"/>
              </a:rPr>
              <a:t>a</a:t>
            </a:r>
            <a:r>
              <a:rPr dirty="0" baseline="-13888" sz="1200" spc="157">
                <a:latin typeface="Verdana"/>
                <a:cs typeface="Verdana"/>
              </a:rPr>
              <a:t>i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	</a:t>
            </a:r>
            <a:r>
              <a:rPr dirty="0" sz="1200" spc="45">
                <a:latin typeface="Lucida Sans Unicode"/>
                <a:cs typeface="Lucida Sans Unicode"/>
              </a:rPr>
              <a:t>b</a:t>
            </a:r>
            <a:r>
              <a:rPr dirty="0" baseline="-13888" sz="1200" spc="67">
                <a:latin typeface="Verdana"/>
                <a:cs typeface="Verdana"/>
              </a:rPr>
              <a:t>i</a:t>
            </a:r>
            <a:endParaRPr baseline="-13888" sz="1200">
              <a:latin typeface="Verdana"/>
              <a:cs typeface="Verdan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01700" y="3346729"/>
            <a:ext cx="4077335" cy="444500"/>
          </a:xfrm>
          <a:prstGeom prst="rect">
            <a:avLst/>
          </a:prstGeom>
        </p:spPr>
        <p:txBody>
          <a:bodyPr wrap="square" lIns="0" tIns="58419" rIns="0" bIns="0" rtlCol="0" vert="horz">
            <a:spAutoFit/>
          </a:bodyPr>
          <a:lstStyle/>
          <a:p>
            <a:pPr marL="2267585">
              <a:lnSpc>
                <a:spcPct val="100000"/>
              </a:lnSpc>
              <a:spcBef>
                <a:spcPts val="459"/>
              </a:spcBef>
              <a:tabLst>
                <a:tab pos="3259454" algn="l"/>
                <a:tab pos="3824604" algn="l"/>
              </a:tabLst>
            </a:pPr>
            <a:r>
              <a:rPr dirty="0" sz="800" spc="15">
                <a:latin typeface="Verdana"/>
                <a:cs typeface="Verdana"/>
              </a:rPr>
              <a:t>i=1	i=1	i=1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dirty="0" sz="1200" spc="-10">
                <a:latin typeface="Times New Roman"/>
                <a:cs typeface="Times New Roman"/>
              </a:rPr>
              <a:t>Some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summations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committed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memory.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14400" y="3957218"/>
            <a:ext cx="1109345" cy="10541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825"/>
              </a:lnSpc>
            </a:pPr>
            <a:r>
              <a:rPr dirty="0" sz="1200" spc="-10" b="1">
                <a:latin typeface="Times New Roman"/>
                <a:cs typeface="Times New Roman"/>
              </a:rPr>
              <a:t>A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10" b="1">
                <a:latin typeface="Times New Roman"/>
                <a:cs typeface="Times New Roman"/>
              </a:rPr>
              <a:t>it</a:t>
            </a:r>
            <a:r>
              <a:rPr dirty="0" sz="1200" spc="-5" b="1">
                <a:latin typeface="Times New Roman"/>
                <a:cs typeface="Times New Roman"/>
              </a:rPr>
              <a:t>hme</a:t>
            </a:r>
            <a:r>
              <a:rPr dirty="0" sz="1200" spc="-10" b="1">
                <a:latin typeface="Times New Roman"/>
                <a:cs typeface="Times New Roman"/>
              </a:rPr>
              <a:t>ti</a:t>
            </a:r>
            <a:r>
              <a:rPr dirty="0" sz="1200" spc="-5" b="1">
                <a:latin typeface="Times New Roman"/>
                <a:cs typeface="Times New Roman"/>
              </a:rPr>
              <a:t>c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ser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450259" y="4152391"/>
            <a:ext cx="219710" cy="4178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15"/>
              </a:lnSpc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Verdana"/>
              <a:cs typeface="Verdana"/>
            </a:endParaRPr>
          </a:p>
          <a:p>
            <a:pPr marL="22225">
              <a:lnSpc>
                <a:spcPts val="805"/>
              </a:lnSpc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694861" y="4281919"/>
            <a:ext cx="1243330" cy="12065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950"/>
              </a:lnSpc>
            </a:pP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778971" y="4686807"/>
            <a:ext cx="140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963806" y="4584051"/>
            <a:ext cx="2609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3963923" y="4810684"/>
            <a:ext cx="578485" cy="6350"/>
          </a:xfrm>
          <a:custGeom>
            <a:avLst/>
            <a:gdLst/>
            <a:ahLst/>
            <a:cxnLst/>
            <a:rect l="l" t="t" r="r" b="b"/>
            <a:pathLst>
              <a:path w="578485" h="6350">
                <a:moveTo>
                  <a:pt x="578015" y="0"/>
                </a:moveTo>
                <a:lnTo>
                  <a:pt x="0" y="0"/>
                </a:lnTo>
                <a:lnTo>
                  <a:pt x="0" y="6171"/>
                </a:lnTo>
                <a:lnTo>
                  <a:pt x="578015" y="6171"/>
                </a:lnTo>
                <a:lnTo>
                  <a:pt x="578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4202225" y="4790936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220257" y="4686809"/>
            <a:ext cx="9690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37037" sz="1800" spc="150">
                <a:latin typeface="Garamond"/>
                <a:cs typeface="Garamond"/>
              </a:rPr>
              <a:t>+</a:t>
            </a:r>
            <a:r>
              <a:rPr dirty="0" baseline="37037" sz="1800" spc="-75">
                <a:latin typeface="Garamond"/>
                <a:cs typeface="Garamond"/>
              </a:rPr>
              <a:t> </a:t>
            </a:r>
            <a:r>
              <a:rPr dirty="0" baseline="37037" sz="1800" spc="-44">
                <a:latin typeface="Lucida Sans Unicode"/>
                <a:cs typeface="Lucida Sans Unicode"/>
              </a:rPr>
              <a:t>1</a:t>
            </a:r>
            <a:r>
              <a:rPr dirty="0" baseline="37037" sz="1800" spc="-44">
                <a:latin typeface="Garamond"/>
                <a:cs typeface="Garamond"/>
              </a:rPr>
              <a:t>)</a:t>
            </a:r>
            <a:r>
              <a:rPr dirty="0" baseline="37037" sz="1800" spc="187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baseline="34722" sz="1200" spc="60">
                <a:latin typeface="Verdana"/>
                <a:cs typeface="Verdana"/>
              </a:rPr>
              <a:t>2</a:t>
            </a:r>
            <a:r>
              <a:rPr dirty="0" sz="1200" spc="4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14400" y="5083873"/>
            <a:ext cx="1067435" cy="13081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25"/>
              </a:lnSpc>
            </a:pPr>
            <a:r>
              <a:rPr dirty="0" sz="1200" spc="-10" b="1">
                <a:latin typeface="Times New Roman"/>
                <a:cs typeface="Times New Roman"/>
              </a:rPr>
              <a:t>Q</a:t>
            </a:r>
            <a:r>
              <a:rPr dirty="0" sz="1200" spc="-5" b="1">
                <a:latin typeface="Times New Roman"/>
                <a:cs typeface="Times New Roman"/>
              </a:rPr>
              <a:t>u</a:t>
            </a:r>
            <a:r>
              <a:rPr dirty="0" sz="1200" spc="-10" b="1">
                <a:latin typeface="Times New Roman"/>
                <a:cs typeface="Times New Roman"/>
              </a:rPr>
              <a:t>a</a:t>
            </a:r>
            <a:r>
              <a:rPr dirty="0" sz="1200" spc="-5" b="1">
                <a:latin typeface="Times New Roman"/>
                <a:cs typeface="Times New Roman"/>
              </a:rPr>
              <a:t>dr</a:t>
            </a:r>
            <a:r>
              <a:rPr dirty="0" sz="1200" spc="-10" b="1">
                <a:latin typeface="Times New Roman"/>
                <a:cs typeface="Times New Roman"/>
              </a:rPr>
              <a:t>ati</a:t>
            </a:r>
            <a:r>
              <a:rPr dirty="0" sz="1200" spc="-5" b="1">
                <a:latin typeface="Times New Roman"/>
                <a:cs typeface="Times New Roman"/>
              </a:rPr>
              <a:t>c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ser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238233" y="5303964"/>
            <a:ext cx="219710" cy="4178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15"/>
              </a:lnSpc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Verdana"/>
              <a:cs typeface="Verdana"/>
            </a:endParaRPr>
          </a:p>
          <a:p>
            <a:pPr marL="22860">
              <a:lnSpc>
                <a:spcPts val="805"/>
              </a:lnSpc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482835" y="5407177"/>
            <a:ext cx="1613535" cy="14732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55"/>
              </a:lnSpc>
            </a:pP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34722" sz="1200" spc="-15">
                <a:latin typeface="Verdana"/>
                <a:cs typeface="Verdana"/>
              </a:rPr>
              <a:t>2</a:t>
            </a:r>
            <a:r>
              <a:rPr dirty="0" baseline="34722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9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4722" sz="1200" spc="-15">
                <a:latin typeface="Verdana"/>
                <a:cs typeface="Verdana"/>
              </a:rPr>
              <a:t>2</a:t>
            </a:r>
            <a:endParaRPr baseline="34722" sz="1200">
              <a:latin typeface="Verdana"/>
              <a:cs typeface="Verdan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627979" y="5849811"/>
            <a:ext cx="140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813047" y="5973496"/>
            <a:ext cx="941069" cy="6350"/>
          </a:xfrm>
          <a:custGeom>
            <a:avLst/>
            <a:gdLst/>
            <a:ahLst/>
            <a:cxnLst/>
            <a:rect l="l" t="t" r="r" b="b"/>
            <a:pathLst>
              <a:path w="941070" h="6350">
                <a:moveTo>
                  <a:pt x="940917" y="0"/>
                </a:moveTo>
                <a:lnTo>
                  <a:pt x="0" y="0"/>
                </a:lnTo>
                <a:lnTo>
                  <a:pt x="0" y="6171"/>
                </a:lnTo>
                <a:lnTo>
                  <a:pt x="940917" y="6171"/>
                </a:lnTo>
                <a:lnTo>
                  <a:pt x="9409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5230352" y="5837670"/>
            <a:ext cx="88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Verdana"/>
                <a:cs typeface="Verdana"/>
              </a:rPr>
              <a:t>3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798413" y="5849811"/>
            <a:ext cx="5778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Lucida Sans Unicode"/>
                <a:cs typeface="Lucida Sans Unicode"/>
              </a:rPr>
              <a:t> 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01699" y="6185281"/>
            <a:ext cx="11093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Geometric</a:t>
            </a:r>
            <a:r>
              <a:rPr dirty="0" sz="1200" spc="-6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series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258843" y="6325984"/>
            <a:ext cx="2087245" cy="718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  <a:p>
            <a:pPr marL="320675">
              <a:lnSpc>
                <a:spcPct val="100000"/>
              </a:lnSpc>
              <a:spcBef>
                <a:spcPts val="55"/>
              </a:spcBef>
            </a:pP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34722" sz="1200" spc="225">
                <a:latin typeface="Verdana"/>
                <a:cs typeface="Verdana"/>
              </a:rPr>
              <a:t>i</a:t>
            </a:r>
            <a:r>
              <a:rPr dirty="0" baseline="34722" sz="1200" spc="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34722" sz="1200" spc="-15">
                <a:latin typeface="Verdana"/>
                <a:cs typeface="Verdana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34722" sz="1200" spc="209">
                <a:latin typeface="Verdana"/>
                <a:cs typeface="Verdana"/>
              </a:rPr>
              <a:t>n</a:t>
            </a:r>
            <a:endParaRPr baseline="34722" sz="1200">
              <a:latin typeface="Verdana"/>
              <a:cs typeface="Verdana"/>
            </a:endParaRPr>
          </a:p>
          <a:p>
            <a:pPr marL="99060">
              <a:lnSpc>
                <a:spcPts val="840"/>
              </a:lnSpc>
              <a:spcBef>
                <a:spcPts val="370"/>
              </a:spcBef>
            </a:pPr>
            <a:r>
              <a:rPr dirty="0" sz="800" spc="15">
                <a:latin typeface="Verdana"/>
                <a:cs typeface="Verdana"/>
              </a:rPr>
              <a:t>i=1</a:t>
            </a:r>
            <a:endParaRPr sz="800">
              <a:latin typeface="Verdana"/>
              <a:cs typeface="Verdana"/>
            </a:endParaRPr>
          </a:p>
          <a:p>
            <a:pPr marL="660400">
              <a:lnSpc>
                <a:spcPts val="1320"/>
              </a:lnSpc>
            </a:pPr>
            <a:r>
              <a:rPr dirty="0" baseline="-20833" sz="1800" spc="-165">
                <a:latin typeface="Lucida Sans Unicode"/>
                <a:cs typeface="Lucida Sans Unicode"/>
              </a:rPr>
              <a:t>x</a:t>
            </a:r>
            <a:r>
              <a:rPr dirty="0" sz="800" spc="-50">
                <a:latin typeface="Verdana"/>
                <a:cs typeface="Verdana"/>
              </a:rPr>
              <a:t>(</a:t>
            </a:r>
            <a:r>
              <a:rPr dirty="0" sz="800" spc="65">
                <a:latin typeface="Verdana"/>
                <a:cs typeface="Verdana"/>
              </a:rPr>
              <a:t>n</a:t>
            </a:r>
            <a:r>
              <a:rPr dirty="0" sz="800" spc="-35">
                <a:latin typeface="Verdana"/>
                <a:cs typeface="Verdana"/>
              </a:rPr>
              <a:t>+</a:t>
            </a:r>
            <a:r>
              <a:rPr dirty="0" sz="800" spc="-80">
                <a:latin typeface="Verdana"/>
                <a:cs typeface="Verdana"/>
              </a:rPr>
              <a:t>1</a:t>
            </a:r>
            <a:r>
              <a:rPr dirty="0" sz="800" spc="15">
                <a:latin typeface="Verdana"/>
                <a:cs typeface="Verdana"/>
              </a:rPr>
              <a:t>)</a:t>
            </a:r>
            <a:r>
              <a:rPr dirty="0" sz="800" spc="-25">
                <a:latin typeface="Verdana"/>
                <a:cs typeface="Verdana"/>
              </a:rPr>
              <a:t> </a:t>
            </a:r>
            <a:r>
              <a:rPr dirty="0" baseline="-20833" sz="1800" spc="-300">
                <a:latin typeface="Garamond"/>
                <a:cs typeface="Garamond"/>
              </a:rPr>
              <a:t>−</a:t>
            </a:r>
            <a:r>
              <a:rPr dirty="0" baseline="-20833" sz="1800" spc="-52">
                <a:latin typeface="Garamond"/>
                <a:cs typeface="Garamond"/>
              </a:rPr>
              <a:t> </a:t>
            </a:r>
            <a:r>
              <a:rPr dirty="0" baseline="-20833" sz="1800" spc="-247">
                <a:latin typeface="Lucida Sans Unicode"/>
                <a:cs typeface="Lucida Sans Unicode"/>
              </a:rPr>
              <a:t>1</a:t>
            </a:r>
            <a:endParaRPr baseline="-20833" sz="1800">
              <a:latin typeface="Lucida Sans Unicode"/>
              <a:cs typeface="Lucida Sans Unicode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3919727" y="7118020"/>
            <a:ext cx="633095" cy="6350"/>
          </a:xfrm>
          <a:custGeom>
            <a:avLst/>
            <a:gdLst/>
            <a:ahLst/>
            <a:cxnLst/>
            <a:rect l="l" t="t" r="r" b="b"/>
            <a:pathLst>
              <a:path w="633095" h="6350">
                <a:moveTo>
                  <a:pt x="632879" y="0"/>
                </a:moveTo>
                <a:lnTo>
                  <a:pt x="0" y="0"/>
                </a:lnTo>
                <a:lnTo>
                  <a:pt x="0" y="6171"/>
                </a:lnTo>
                <a:lnTo>
                  <a:pt x="632879" y="6171"/>
                </a:lnTo>
                <a:lnTo>
                  <a:pt x="6328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 txBox="1"/>
          <p:nvPr/>
        </p:nvSpPr>
        <p:spPr>
          <a:xfrm>
            <a:off x="4054321" y="7098652"/>
            <a:ext cx="3638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028956" y="6982383"/>
            <a:ext cx="88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734734" y="6994525"/>
            <a:ext cx="14401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75030" algn="l"/>
              </a:tabLst>
            </a:pPr>
            <a:r>
              <a:rPr dirty="0" sz="1200" spc="100">
                <a:latin typeface="Garamond"/>
                <a:cs typeface="Garamond"/>
              </a:rPr>
              <a:t>=	=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Lucida Sans Unicode"/>
                <a:cs typeface="Lucida Sans Unicode"/>
              </a:rPr>
              <a:t> 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88999" y="7249300"/>
            <a:ext cx="4280535" cy="594995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marL="396875">
              <a:lnSpc>
                <a:spcPct val="100000"/>
              </a:lnSpc>
              <a:spcBef>
                <a:spcPts val="900"/>
              </a:spcBef>
            </a:pP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Θ</a:t>
            </a:r>
            <a:r>
              <a:rPr dirty="0" sz="1200">
                <a:latin typeface="Garamond"/>
                <a:cs typeface="Garamond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1</a:t>
            </a:r>
            <a:r>
              <a:rPr dirty="0" sz="1200">
                <a:latin typeface="Garamond"/>
                <a:cs typeface="Garamond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and if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then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30">
                <a:latin typeface="Lucida Sans Unicode"/>
                <a:cs typeface="Lucida Sans Unicode"/>
              </a:rPr>
              <a:t>Θ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x</a:t>
            </a:r>
            <a:r>
              <a:rPr dirty="0" baseline="31250" sz="1200" spc="44">
                <a:latin typeface="Verdana"/>
                <a:cs typeface="Verdana"/>
              </a:rPr>
              <a:t>n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805"/>
              </a:spcBef>
            </a:pPr>
            <a:r>
              <a:rPr dirty="0" sz="1200" spc="-5" b="1">
                <a:latin typeface="Times New Roman"/>
                <a:cs typeface="Times New Roman"/>
              </a:rPr>
              <a:t>Harmonic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series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169270" y="7984934"/>
            <a:ext cx="4311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5">
                <a:latin typeface="Lucida Sans Unicode"/>
                <a:cs typeface="Lucida Sans Unicode"/>
              </a:rPr>
              <a:t>H</a:t>
            </a:r>
            <a:r>
              <a:rPr dirty="0" baseline="-13888" sz="1200" spc="142">
                <a:latin typeface="Verdana"/>
                <a:cs typeface="Verdana"/>
              </a:rPr>
              <a:t>n</a:t>
            </a:r>
            <a:r>
              <a:rPr dirty="0" baseline="-13888" sz="1200" spc="-37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566348" y="7795081"/>
            <a:ext cx="231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614608" y="8214537"/>
            <a:ext cx="2076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3864864" y="8108619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 txBox="1"/>
          <p:nvPr/>
        </p:nvSpPr>
        <p:spPr>
          <a:xfrm>
            <a:off x="3851552" y="7857490"/>
            <a:ext cx="101600" cy="43942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22860">
              <a:lnSpc>
                <a:spcPct val="100000"/>
              </a:lnSpc>
              <a:spcBef>
                <a:spcPts val="185"/>
              </a:spcBef>
            </a:pPr>
            <a:r>
              <a:rPr dirty="0" sz="1200" spc="80">
                <a:latin typeface="Lucida Sans Unicode"/>
                <a:cs typeface="Lucida Sans Unicode"/>
              </a:rPr>
              <a:t>i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3877055" y="8561247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/>
          <p:nvPr/>
        </p:nvSpPr>
        <p:spPr>
          <a:xfrm>
            <a:off x="4166615" y="8561247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/>
          <p:nvPr/>
        </p:nvSpPr>
        <p:spPr>
          <a:xfrm>
            <a:off x="4814315" y="8561247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 txBox="1"/>
          <p:nvPr/>
        </p:nvSpPr>
        <p:spPr>
          <a:xfrm>
            <a:off x="3396715" y="8437333"/>
            <a:ext cx="2048510" cy="490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113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85">
                <a:latin typeface="Garamond"/>
                <a:cs typeface="Garamond"/>
              </a:rPr>
              <a:t> </a:t>
            </a:r>
            <a:r>
              <a:rPr dirty="0" baseline="37037" sz="1800" spc="-247">
                <a:latin typeface="Lucida Sans Unicode"/>
                <a:cs typeface="Lucida Sans Unicode"/>
              </a:rPr>
              <a:t>1</a:t>
            </a:r>
            <a:r>
              <a:rPr dirty="0" baseline="37037" sz="1800" spc="7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85">
                <a:latin typeface="Garamond"/>
                <a:cs typeface="Garamond"/>
              </a:rPr>
              <a:t> </a:t>
            </a:r>
            <a:r>
              <a:rPr dirty="0" baseline="37037" sz="1800" spc="-247">
                <a:latin typeface="Lucida Sans Unicode"/>
                <a:cs typeface="Lucida Sans Unicode"/>
              </a:rPr>
              <a:t>1</a:t>
            </a:r>
            <a:r>
              <a:rPr dirty="0" baseline="37037" sz="180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20">
                <a:latin typeface="Garamond"/>
                <a:cs typeface="Garamond"/>
              </a:rPr>
              <a:t> </a:t>
            </a:r>
            <a:r>
              <a:rPr dirty="0" baseline="37037" sz="1800" spc="-247">
                <a:latin typeface="Lucida Sans Unicode"/>
                <a:cs typeface="Lucida Sans Unicode"/>
              </a:rPr>
              <a:t>1</a:t>
            </a:r>
            <a:r>
              <a:rPr dirty="0" baseline="37037" sz="1800" spc="254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≈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algn="ctr" marR="40640">
              <a:lnSpc>
                <a:spcPts val="1115"/>
              </a:lnSpc>
              <a:tabLst>
                <a:tab pos="288290" algn="l"/>
                <a:tab pos="935990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2	3	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50800">
              <a:lnSpc>
                <a:spcPts val="1425"/>
              </a:lnSpc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Θ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Times New Roman"/>
                <a:cs typeface="Times New Roman"/>
              </a:rPr>
              <a:t>ln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415895"/>
            <a:ext cx="3342640" cy="1135380"/>
          </a:xfrm>
          <a:prstGeom prst="rect">
            <a:avLst/>
          </a:prstGeom>
        </p:spPr>
        <p:txBody>
          <a:bodyPr wrap="square" lIns="0" tIns="1193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40"/>
              </a:spcBef>
            </a:pPr>
            <a:r>
              <a:rPr dirty="0" sz="1200" spc="-5">
                <a:latin typeface="Times New Roman"/>
                <a:cs typeface="Times New Roman"/>
              </a:rPr>
              <a:t>16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61341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1.11	Analysis:</a:t>
            </a:r>
            <a:r>
              <a:rPr dirty="0" sz="1700" spc="90" b="1">
                <a:latin typeface="Times New Roman"/>
                <a:cs typeface="Times New Roman"/>
              </a:rPr>
              <a:t> </a:t>
            </a:r>
            <a:r>
              <a:rPr dirty="0" sz="1700" spc="15" b="1">
                <a:latin typeface="Times New Roman"/>
                <a:cs typeface="Times New Roman"/>
              </a:rPr>
              <a:t>A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Harder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Example</a:t>
            </a:r>
            <a:endParaRPr sz="1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harder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233096" y="520987"/>
            <a:ext cx="209550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1.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5471" y="1752043"/>
            <a:ext cx="11309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60">
                <a:latin typeface="Times New Roman"/>
                <a:cs typeface="Times New Roman"/>
              </a:rPr>
              <a:t>NESTED</a:t>
            </a:r>
            <a:r>
              <a:rPr dirty="0" sz="1200" spc="60">
                <a:latin typeface="Times New Roman"/>
                <a:cs typeface="Times New Roman"/>
              </a:rPr>
              <a:t>-</a:t>
            </a:r>
            <a:r>
              <a:rPr dirty="0" sz="950" spc="60">
                <a:latin typeface="Times New Roman"/>
                <a:cs typeface="Times New Roman"/>
              </a:rPr>
              <a:t>LOOPS</a:t>
            </a:r>
            <a:r>
              <a:rPr dirty="0" sz="1200" spc="60">
                <a:latin typeface="Garamond"/>
                <a:cs typeface="Garamond"/>
              </a:rPr>
              <a:t>()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563962" y="2669415"/>
            <a:ext cx="89026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k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25">
                <a:latin typeface="Segoe UI Symbol"/>
                <a:cs typeface="Segoe UI Symbol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0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39651" y="1935494"/>
            <a:ext cx="1375410" cy="1125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0029" indent="-227965">
              <a:lnSpc>
                <a:spcPct val="100000"/>
              </a:lnSpc>
              <a:spcBef>
                <a:spcPts val="95"/>
              </a:spcBef>
              <a:buFont typeface="Times New Roman"/>
              <a:buAutoNum type="arabicPlain"/>
              <a:tabLst>
                <a:tab pos="240029" algn="l"/>
                <a:tab pos="24066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40029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240029" algn="l"/>
                <a:tab pos="2406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endParaRPr sz="1200">
              <a:latin typeface="Times New Roman"/>
              <a:cs typeface="Times New Roman"/>
            </a:endParaRPr>
          </a:p>
          <a:p>
            <a:pPr marL="438150" indent="-426084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38150" algn="l"/>
                <a:tab pos="438784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endParaRPr sz="1200">
              <a:latin typeface="Lucida Sans Unicode"/>
              <a:cs typeface="Lucida Sans Unicode"/>
            </a:endParaRPr>
          </a:p>
          <a:p>
            <a:pPr marL="438150" indent="-426084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38150" algn="l"/>
                <a:tab pos="438784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15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563961" y="2852866"/>
            <a:ext cx="1094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15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2743200" y="4633416"/>
            <a:ext cx="2743200" cy="1351280"/>
          </a:xfrm>
          <a:custGeom>
            <a:avLst/>
            <a:gdLst/>
            <a:ahLst/>
            <a:cxnLst/>
            <a:rect l="l" t="t" r="r" b="b"/>
            <a:pathLst>
              <a:path w="2743200" h="1351279">
                <a:moveTo>
                  <a:pt x="5130" y="5283"/>
                </a:moveTo>
                <a:lnTo>
                  <a:pt x="0" y="5283"/>
                </a:lnTo>
                <a:lnTo>
                  <a:pt x="0" y="1350822"/>
                </a:lnTo>
                <a:lnTo>
                  <a:pt x="5130" y="1350822"/>
                </a:lnTo>
                <a:lnTo>
                  <a:pt x="5130" y="5283"/>
                </a:lnTo>
                <a:close/>
              </a:path>
              <a:path w="2743200" h="1351279">
                <a:moveTo>
                  <a:pt x="2743200" y="0"/>
                </a:moveTo>
                <a:lnTo>
                  <a:pt x="0" y="0"/>
                </a:lnTo>
                <a:lnTo>
                  <a:pt x="0" y="5130"/>
                </a:lnTo>
                <a:lnTo>
                  <a:pt x="2743200" y="5130"/>
                </a:lnTo>
                <a:lnTo>
                  <a:pt x="27432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901704" y="3575699"/>
            <a:ext cx="6396990" cy="12585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nested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write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summations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summations.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convert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summations,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 from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inside-out.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inner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most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while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700">
              <a:latin typeface="Times New Roman"/>
              <a:cs typeface="Times New Roman"/>
            </a:endParaRPr>
          </a:p>
          <a:p>
            <a:pPr marL="1887855">
              <a:lnSpc>
                <a:spcPct val="100000"/>
              </a:lnSpc>
            </a:pPr>
            <a:r>
              <a:rPr dirty="0" sz="950" spc="60">
                <a:latin typeface="Times New Roman"/>
                <a:cs typeface="Times New Roman"/>
              </a:rPr>
              <a:t>NESTED</a:t>
            </a:r>
            <a:r>
              <a:rPr dirty="0" sz="1200" spc="60">
                <a:latin typeface="Times New Roman"/>
                <a:cs typeface="Times New Roman"/>
              </a:rPr>
              <a:t>-</a:t>
            </a:r>
            <a:r>
              <a:rPr dirty="0" sz="950" spc="60">
                <a:latin typeface="Times New Roman"/>
                <a:cs typeface="Times New Roman"/>
              </a:rPr>
              <a:t>LOOPS</a:t>
            </a:r>
            <a:r>
              <a:rPr dirty="0" sz="1200" spc="60">
                <a:latin typeface="Garamond"/>
                <a:cs typeface="Garamond"/>
              </a:rPr>
              <a:t>()</a:t>
            </a:r>
            <a:endParaRPr sz="1200">
              <a:latin typeface="Garamond"/>
              <a:cs typeface="Garamond"/>
            </a:endParaRPr>
          </a:p>
        </p:txBody>
      </p:sp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313040" y="5393002"/>
            <a:ext cx="214246" cy="184985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448551" y="5360035"/>
            <a:ext cx="10439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k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15">
                <a:latin typeface="Segoe UI Symbol"/>
                <a:cs typeface="Segoe UI Symbol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0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55">
                <a:latin typeface="Garamond"/>
                <a:cs typeface="Garamond"/>
              </a:rPr>
              <a:t> </a:t>
            </a:r>
            <a:r>
              <a:rPr dirty="0" sz="1200" spc="385">
                <a:latin typeface="Verdana"/>
                <a:cs typeface="Verdana"/>
              </a:rPr>
              <a:t>(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824123" y="4809681"/>
            <a:ext cx="1362710" cy="9417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27329" indent="-227965">
              <a:lnSpc>
                <a:spcPct val="100000"/>
              </a:lnSpc>
              <a:spcBef>
                <a:spcPts val="95"/>
              </a:spcBef>
              <a:buFont typeface="Times New Roman"/>
              <a:buAutoNum type="arabicPlain"/>
              <a:tabLst>
                <a:tab pos="227329" algn="l"/>
                <a:tab pos="22796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27329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227329" algn="l"/>
                <a:tab pos="2279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endParaRPr sz="1200">
              <a:latin typeface="Lucida Sans Unicode"/>
              <a:cs typeface="Lucida Sans Unicode"/>
            </a:endParaRPr>
          </a:p>
          <a:p>
            <a:pPr marL="425450" indent="-42545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25450" algn="l"/>
                <a:tab pos="42672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448543" y="5543487"/>
            <a:ext cx="8375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2743200" y="4638700"/>
            <a:ext cx="2743835" cy="1350645"/>
          </a:xfrm>
          <a:custGeom>
            <a:avLst/>
            <a:gdLst/>
            <a:ahLst/>
            <a:cxnLst/>
            <a:rect l="l" t="t" r="r" b="b"/>
            <a:pathLst>
              <a:path w="2743835" h="1350645">
                <a:moveTo>
                  <a:pt x="2743758" y="0"/>
                </a:moveTo>
                <a:lnTo>
                  <a:pt x="2738628" y="0"/>
                </a:lnTo>
                <a:lnTo>
                  <a:pt x="2738628" y="1344980"/>
                </a:lnTo>
                <a:lnTo>
                  <a:pt x="0" y="1344980"/>
                </a:lnTo>
                <a:lnTo>
                  <a:pt x="0" y="1350111"/>
                </a:lnTo>
                <a:lnTo>
                  <a:pt x="2743200" y="1350111"/>
                </a:lnTo>
                <a:lnTo>
                  <a:pt x="2743200" y="1345539"/>
                </a:lnTo>
                <a:lnTo>
                  <a:pt x="2743758" y="1345539"/>
                </a:lnTo>
                <a:lnTo>
                  <a:pt x="27437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2743200" y="7660081"/>
            <a:ext cx="2743200" cy="1351280"/>
          </a:xfrm>
          <a:custGeom>
            <a:avLst/>
            <a:gdLst/>
            <a:ahLst/>
            <a:cxnLst/>
            <a:rect l="l" t="t" r="r" b="b"/>
            <a:pathLst>
              <a:path w="2743200" h="1351279">
                <a:moveTo>
                  <a:pt x="5130" y="5283"/>
                </a:moveTo>
                <a:lnTo>
                  <a:pt x="0" y="5283"/>
                </a:lnTo>
                <a:lnTo>
                  <a:pt x="0" y="1350822"/>
                </a:lnTo>
                <a:lnTo>
                  <a:pt x="5130" y="1350822"/>
                </a:lnTo>
                <a:lnTo>
                  <a:pt x="5130" y="5283"/>
                </a:lnTo>
                <a:close/>
              </a:path>
              <a:path w="2743200" h="1351279">
                <a:moveTo>
                  <a:pt x="2743200" y="0"/>
                </a:moveTo>
                <a:lnTo>
                  <a:pt x="0" y="0"/>
                </a:lnTo>
                <a:lnTo>
                  <a:pt x="0" y="5130"/>
                </a:lnTo>
                <a:lnTo>
                  <a:pt x="2743200" y="5130"/>
                </a:lnTo>
                <a:lnTo>
                  <a:pt x="27432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850899" y="6183909"/>
            <a:ext cx="6341745" cy="1676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 marR="558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It is </a:t>
            </a:r>
            <a:r>
              <a:rPr dirty="0" sz="1200" spc="-10">
                <a:latin typeface="Times New Roman"/>
                <a:cs typeface="Times New Roman"/>
              </a:rPr>
              <a:t>executed for </a:t>
            </a:r>
            <a:r>
              <a:rPr dirty="0" sz="1200" spc="-40">
                <a:latin typeface="Lucida Sans Unicode"/>
                <a:cs typeface="Lucida Sans Unicode"/>
              </a:rPr>
              <a:t>k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10">
                <a:latin typeface="Lucida Sans Unicode"/>
                <a:cs typeface="Lucida Sans Unicode"/>
              </a:rPr>
              <a:t>j, </a:t>
            </a:r>
            <a:r>
              <a:rPr dirty="0" sz="1200" spc="30">
                <a:latin typeface="Lucida Sans Unicode"/>
                <a:cs typeface="Lucida Sans Unicode"/>
              </a:rPr>
              <a:t>j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 </a:t>
            </a:r>
            <a:r>
              <a:rPr dirty="0" sz="1200" spc="30">
                <a:latin typeface="Lucida Sans Unicode"/>
                <a:cs typeface="Lucida Sans Unicode"/>
              </a:rPr>
              <a:t>j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2, </a:t>
            </a:r>
            <a:r>
              <a:rPr dirty="0" sz="1200" spc="-50">
                <a:latin typeface="Lucida Sans Unicode"/>
                <a:cs typeface="Lucida Sans Unicode"/>
              </a:rPr>
              <a:t>. . . , </a:t>
            </a:r>
            <a:r>
              <a:rPr dirty="0" sz="1200" spc="-85">
                <a:latin typeface="Lucida Sans Unicode"/>
                <a:cs typeface="Lucida Sans Unicode"/>
              </a:rPr>
              <a:t>0</a:t>
            </a:r>
            <a:r>
              <a:rPr dirty="0" sz="1200" spc="-85">
                <a:latin typeface="Times New Roman"/>
                <a:cs typeface="Times New Roman"/>
              </a:rPr>
              <a:t>. </a:t>
            </a:r>
            <a:r>
              <a:rPr dirty="0" sz="1200" spc="-2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spent </a:t>
            </a:r>
            <a:r>
              <a:rPr dirty="0" sz="1200" spc="-10">
                <a:latin typeface="Times New Roman"/>
                <a:cs typeface="Times New Roman"/>
              </a:rPr>
              <a:t>inside the while loop </a:t>
            </a:r>
            <a:r>
              <a:rPr dirty="0" sz="1200" spc="-5">
                <a:latin typeface="Times New Roman"/>
                <a:cs typeface="Times New Roman"/>
              </a:rPr>
              <a:t>is constant. Let </a:t>
            </a:r>
            <a:r>
              <a:rPr dirty="0" sz="1200" spc="114">
                <a:latin typeface="Lucida Sans Unicode"/>
                <a:cs typeface="Lucida Sans Unicode"/>
              </a:rPr>
              <a:t>I</a:t>
            </a:r>
            <a:r>
              <a:rPr dirty="0" sz="1200" spc="114">
                <a:latin typeface="Garamond"/>
                <a:cs typeface="Garamond"/>
              </a:rPr>
              <a:t>()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spent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</a:t>
            </a:r>
            <a:endParaRPr sz="1200">
              <a:latin typeface="Times New Roman"/>
              <a:cs typeface="Times New Roman"/>
            </a:endParaRPr>
          </a:p>
          <a:p>
            <a:pPr marL="3063240">
              <a:lnSpc>
                <a:spcPts val="1275"/>
              </a:lnSpc>
            </a:pPr>
            <a:r>
              <a:rPr dirty="0" baseline="-18518" sz="1800" spc="22">
                <a:latin typeface="Lucida Sans Unicode"/>
                <a:cs typeface="Lucida Sans Unicode"/>
              </a:rPr>
              <a:t>X</a:t>
            </a:r>
            <a:r>
              <a:rPr dirty="0" sz="800" spc="15">
                <a:latin typeface="Verdana"/>
                <a:cs typeface="Verdana"/>
              </a:rPr>
              <a:t>j</a:t>
            </a:r>
            <a:endParaRPr sz="800">
              <a:latin typeface="Verdana"/>
              <a:cs typeface="Verdana"/>
            </a:endParaRPr>
          </a:p>
          <a:p>
            <a:pPr algn="ctr" marL="186055">
              <a:lnSpc>
                <a:spcPct val="100000"/>
              </a:lnSpc>
              <a:spcBef>
                <a:spcPts val="100"/>
              </a:spcBef>
              <a:tabLst>
                <a:tab pos="858519" algn="l"/>
              </a:tabLst>
            </a:pPr>
            <a:r>
              <a:rPr dirty="0" sz="1200" spc="125">
                <a:latin typeface="Lucida Sans Unicode"/>
                <a:cs typeface="Lucida Sans Unicode"/>
              </a:rPr>
              <a:t>I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3075305">
              <a:lnSpc>
                <a:spcPct val="100000"/>
              </a:lnSpc>
              <a:spcBef>
                <a:spcPts val="365"/>
              </a:spcBef>
            </a:pPr>
            <a:r>
              <a:rPr dirty="0" sz="800" spc="-15">
                <a:latin typeface="Verdana"/>
                <a:cs typeface="Verdana"/>
              </a:rPr>
              <a:t>k=0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00">
              <a:latin typeface="Verdana"/>
              <a:cs typeface="Verdana"/>
            </a:endParaRPr>
          </a:p>
          <a:p>
            <a:pPr marL="62865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 spc="-10">
                <a:latin typeface="Times New Roman"/>
                <a:cs typeface="Times New Roman"/>
              </a:rPr>
              <a:t> the </a:t>
            </a:r>
            <a:r>
              <a:rPr dirty="0" sz="1200" spc="-10" i="1">
                <a:latin typeface="Times New Roman"/>
                <a:cs typeface="Times New Roman"/>
              </a:rPr>
              <a:t>middle for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700">
              <a:latin typeface="Times New Roman"/>
              <a:cs typeface="Times New Roman"/>
            </a:endParaRPr>
          </a:p>
          <a:p>
            <a:pPr marL="1938655">
              <a:lnSpc>
                <a:spcPct val="100000"/>
              </a:lnSpc>
            </a:pPr>
            <a:r>
              <a:rPr dirty="0" sz="950" spc="60">
                <a:latin typeface="Times New Roman"/>
                <a:cs typeface="Times New Roman"/>
              </a:rPr>
              <a:t>NESTED</a:t>
            </a:r>
            <a:r>
              <a:rPr dirty="0" sz="1200" spc="60">
                <a:latin typeface="Times New Roman"/>
                <a:cs typeface="Times New Roman"/>
              </a:rPr>
              <a:t>-</a:t>
            </a:r>
            <a:r>
              <a:rPr dirty="0" sz="950" spc="60">
                <a:latin typeface="Times New Roman"/>
                <a:cs typeface="Times New Roman"/>
              </a:rPr>
              <a:t>LOOPS</a:t>
            </a:r>
            <a:r>
              <a:rPr dirty="0" sz="1200" spc="60">
                <a:latin typeface="Garamond"/>
                <a:cs typeface="Garamond"/>
              </a:rPr>
              <a:t>()</a:t>
            </a:r>
            <a:endParaRPr sz="1200">
              <a:latin typeface="Garamond"/>
              <a:cs typeface="Garamond"/>
            </a:endParaRPr>
          </a:p>
        </p:txBody>
      </p:sp>
      <p:pic>
        <p:nvPicPr>
          <p:cNvPr id="17" name="object 1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257947" y="8052535"/>
            <a:ext cx="214246" cy="184985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3448546" y="8386584"/>
            <a:ext cx="87756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k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25">
                <a:latin typeface="Segoe UI Symbol"/>
                <a:cs typeface="Segoe UI Symbol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0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824123" y="7836115"/>
            <a:ext cx="1612900" cy="9417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27329" indent="-227965">
              <a:lnSpc>
                <a:spcPct val="100000"/>
              </a:lnSpc>
              <a:spcBef>
                <a:spcPts val="95"/>
              </a:spcBef>
              <a:buFont typeface="Times New Roman"/>
              <a:buAutoNum type="arabicPlain"/>
              <a:tabLst>
                <a:tab pos="227329" algn="l"/>
                <a:tab pos="22796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27329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227329" algn="l"/>
                <a:tab pos="227965" algn="l"/>
                <a:tab pos="148145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385">
                <a:latin typeface="Verdana"/>
                <a:cs typeface="Verdana"/>
              </a:rPr>
              <a:t>(</a:t>
            </a:r>
            <a:endParaRPr sz="1200">
              <a:latin typeface="Verdana"/>
              <a:cs typeface="Verdana"/>
            </a:endParaRPr>
          </a:p>
          <a:p>
            <a:pPr marL="425450" indent="-42545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25450" algn="l"/>
                <a:tab pos="42672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448544" y="8570035"/>
            <a:ext cx="8375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2743200" y="7665363"/>
            <a:ext cx="2743835" cy="1350645"/>
          </a:xfrm>
          <a:custGeom>
            <a:avLst/>
            <a:gdLst/>
            <a:ahLst/>
            <a:cxnLst/>
            <a:rect l="l" t="t" r="r" b="b"/>
            <a:pathLst>
              <a:path w="2743835" h="1350645">
                <a:moveTo>
                  <a:pt x="2743758" y="0"/>
                </a:moveTo>
                <a:lnTo>
                  <a:pt x="2738628" y="0"/>
                </a:lnTo>
                <a:lnTo>
                  <a:pt x="2738628" y="1344980"/>
                </a:lnTo>
                <a:lnTo>
                  <a:pt x="0" y="1344980"/>
                </a:lnTo>
                <a:lnTo>
                  <a:pt x="0" y="1350111"/>
                </a:lnTo>
                <a:lnTo>
                  <a:pt x="2743200" y="1350111"/>
                </a:lnTo>
                <a:lnTo>
                  <a:pt x="2743200" y="1345539"/>
                </a:lnTo>
                <a:lnTo>
                  <a:pt x="2743758" y="1345539"/>
                </a:lnTo>
                <a:lnTo>
                  <a:pt x="27437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974325" y="7613992"/>
            <a:ext cx="76200" cy="108585"/>
          </a:xfrm>
          <a:custGeom>
            <a:avLst/>
            <a:gdLst/>
            <a:ahLst/>
            <a:cxnLst/>
            <a:rect l="l" t="t" r="r" b="b"/>
            <a:pathLst>
              <a:path w="76200" h="108584">
                <a:moveTo>
                  <a:pt x="75907" y="0"/>
                </a:moveTo>
                <a:lnTo>
                  <a:pt x="0" y="0"/>
                </a:lnTo>
                <a:lnTo>
                  <a:pt x="0" y="108102"/>
                </a:lnTo>
                <a:lnTo>
                  <a:pt x="75907" y="108102"/>
                </a:lnTo>
                <a:lnTo>
                  <a:pt x="75907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3255949" y="7560157"/>
            <a:ext cx="114935" cy="36195"/>
          </a:xfrm>
          <a:custGeom>
            <a:avLst/>
            <a:gdLst/>
            <a:ahLst/>
            <a:cxnLst/>
            <a:rect l="l" t="t" r="r" b="b"/>
            <a:pathLst>
              <a:path w="114935" h="36195">
                <a:moveTo>
                  <a:pt x="114782" y="0"/>
                </a:moveTo>
                <a:lnTo>
                  <a:pt x="0" y="0"/>
                </a:lnTo>
                <a:lnTo>
                  <a:pt x="0" y="35826"/>
                </a:lnTo>
                <a:lnTo>
                  <a:pt x="114782" y="35826"/>
                </a:lnTo>
                <a:lnTo>
                  <a:pt x="114782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3255950" y="7003833"/>
            <a:ext cx="2055495" cy="335915"/>
          </a:xfrm>
          <a:custGeom>
            <a:avLst/>
            <a:gdLst/>
            <a:ahLst/>
            <a:cxnLst/>
            <a:rect l="l" t="t" r="r" b="b"/>
            <a:pathLst>
              <a:path w="2055495" h="335915">
                <a:moveTo>
                  <a:pt x="2055418" y="14706"/>
                </a:moveTo>
                <a:lnTo>
                  <a:pt x="1188834" y="14706"/>
                </a:lnTo>
                <a:lnTo>
                  <a:pt x="1188834" y="0"/>
                </a:lnTo>
                <a:lnTo>
                  <a:pt x="0" y="0"/>
                </a:lnTo>
                <a:lnTo>
                  <a:pt x="0" y="229209"/>
                </a:lnTo>
                <a:lnTo>
                  <a:pt x="680542" y="229209"/>
                </a:lnTo>
                <a:lnTo>
                  <a:pt x="680542" y="335470"/>
                </a:lnTo>
                <a:lnTo>
                  <a:pt x="2055418" y="335470"/>
                </a:lnTo>
                <a:lnTo>
                  <a:pt x="2055418" y="14706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3255949" y="6704621"/>
            <a:ext cx="114935" cy="36195"/>
          </a:xfrm>
          <a:custGeom>
            <a:avLst/>
            <a:gdLst/>
            <a:ahLst/>
            <a:cxnLst/>
            <a:rect l="l" t="t" r="r" b="b"/>
            <a:pathLst>
              <a:path w="114935" h="36195">
                <a:moveTo>
                  <a:pt x="114782" y="0"/>
                </a:moveTo>
                <a:lnTo>
                  <a:pt x="0" y="0"/>
                </a:lnTo>
                <a:lnTo>
                  <a:pt x="0" y="35826"/>
                </a:lnTo>
                <a:lnTo>
                  <a:pt x="114782" y="35826"/>
                </a:lnTo>
                <a:lnTo>
                  <a:pt x="114782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3255949" y="6208331"/>
            <a:ext cx="114935" cy="36195"/>
          </a:xfrm>
          <a:custGeom>
            <a:avLst/>
            <a:gdLst/>
            <a:ahLst/>
            <a:cxnLst/>
            <a:rect l="l" t="t" r="r" b="b"/>
            <a:pathLst>
              <a:path w="114935" h="36195">
                <a:moveTo>
                  <a:pt x="114782" y="0"/>
                </a:moveTo>
                <a:lnTo>
                  <a:pt x="0" y="0"/>
                </a:lnTo>
                <a:lnTo>
                  <a:pt x="0" y="35826"/>
                </a:lnTo>
                <a:lnTo>
                  <a:pt x="114782" y="35826"/>
                </a:lnTo>
                <a:lnTo>
                  <a:pt x="114782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901699" y="520987"/>
            <a:ext cx="275145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1.11.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ANALYSIS: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HARDER </a:t>
            </a:r>
            <a:r>
              <a:rPr dirty="0" sz="1200" spc="-5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904488" y="2998648"/>
            <a:ext cx="637540" cy="6350"/>
          </a:xfrm>
          <a:custGeom>
            <a:avLst/>
            <a:gdLst/>
            <a:ahLst/>
            <a:cxnLst/>
            <a:rect l="l" t="t" r="r" b="b"/>
            <a:pathLst>
              <a:path w="637539" h="6350">
                <a:moveTo>
                  <a:pt x="637336" y="0"/>
                </a:moveTo>
                <a:lnTo>
                  <a:pt x="0" y="0"/>
                </a:lnTo>
                <a:lnTo>
                  <a:pt x="0" y="6171"/>
                </a:lnTo>
                <a:lnTo>
                  <a:pt x="637336" y="6171"/>
                </a:lnTo>
                <a:lnTo>
                  <a:pt x="6373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2971800" y="3802836"/>
            <a:ext cx="2286000" cy="1351280"/>
          </a:xfrm>
          <a:custGeom>
            <a:avLst/>
            <a:gdLst/>
            <a:ahLst/>
            <a:cxnLst/>
            <a:rect l="l" t="t" r="r" b="b"/>
            <a:pathLst>
              <a:path w="2286000" h="1351279">
                <a:moveTo>
                  <a:pt x="5130" y="5283"/>
                </a:moveTo>
                <a:lnTo>
                  <a:pt x="0" y="5283"/>
                </a:lnTo>
                <a:lnTo>
                  <a:pt x="0" y="1350822"/>
                </a:lnTo>
                <a:lnTo>
                  <a:pt x="5130" y="1350822"/>
                </a:lnTo>
                <a:lnTo>
                  <a:pt x="5130" y="5283"/>
                </a:lnTo>
                <a:close/>
              </a:path>
              <a:path w="2286000" h="1351279">
                <a:moveTo>
                  <a:pt x="2286000" y="0"/>
                </a:moveTo>
                <a:lnTo>
                  <a:pt x="0" y="0"/>
                </a:lnTo>
                <a:lnTo>
                  <a:pt x="0" y="5130"/>
                </a:lnTo>
                <a:lnTo>
                  <a:pt x="2286000" y="5130"/>
                </a:lnTo>
                <a:lnTo>
                  <a:pt x="22860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787399" y="908511"/>
            <a:ext cx="4984115" cy="3094355"/>
          </a:xfrm>
          <a:prstGeom prst="rect">
            <a:avLst/>
          </a:prstGeom>
        </p:spPr>
        <p:txBody>
          <a:bodyPr wrap="square" lIns="0" tIns="29845" rIns="0" bIns="0" rtlCol="0" vert="horz">
            <a:spAutoFit/>
          </a:bodyPr>
          <a:lstStyle/>
          <a:p>
            <a:pPr marL="127000">
              <a:lnSpc>
                <a:spcPct val="100000"/>
              </a:lnSpc>
              <a:spcBef>
                <a:spcPts val="235"/>
              </a:spcBef>
            </a:pP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determined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45">
                <a:latin typeface="Lucida Sans Unicode"/>
                <a:cs typeface="Lucida Sans Unicode"/>
              </a:rPr>
              <a:t>M</a:t>
            </a:r>
            <a:r>
              <a:rPr dirty="0" sz="1200" spc="145">
                <a:latin typeface="Garamond"/>
                <a:cs typeface="Garamond"/>
              </a:rPr>
              <a:t>()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spent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loop:</a:t>
            </a:r>
            <a:endParaRPr sz="1200">
              <a:latin typeface="Times New Roman"/>
              <a:cs typeface="Times New Roman"/>
            </a:endParaRPr>
          </a:p>
          <a:p>
            <a:pPr marL="3101975">
              <a:lnSpc>
                <a:spcPct val="100000"/>
              </a:lnSpc>
              <a:spcBef>
                <a:spcPts val="135"/>
              </a:spcBef>
            </a:pPr>
            <a:r>
              <a:rPr dirty="0" baseline="-16203" sz="1800" spc="-97">
                <a:latin typeface="Lucida Sans Unicode"/>
                <a:cs typeface="Lucida Sans Unicode"/>
              </a:rPr>
              <a:t>X</a:t>
            </a:r>
            <a:r>
              <a:rPr dirty="0" sz="800" spc="-65">
                <a:latin typeface="Verdana"/>
                <a:cs typeface="Verdana"/>
              </a:rPr>
              <a:t>2i</a:t>
            </a:r>
            <a:endParaRPr sz="800">
              <a:latin typeface="Verdana"/>
              <a:cs typeface="Verdana"/>
            </a:endParaRPr>
          </a:p>
          <a:p>
            <a:pPr marL="2571750">
              <a:lnSpc>
                <a:spcPct val="100000"/>
              </a:lnSpc>
              <a:spcBef>
                <a:spcPts val="55"/>
              </a:spcBef>
              <a:tabLst>
                <a:tab pos="3346450" algn="l"/>
              </a:tabLst>
            </a:pPr>
            <a:r>
              <a:rPr dirty="0" sz="1200" spc="125">
                <a:latin typeface="Lucida Sans Unicode"/>
                <a:cs typeface="Lucida Sans Unicode"/>
              </a:rPr>
              <a:t>M</a:t>
            </a:r>
            <a:r>
              <a:rPr dirty="0" sz="1200" spc="125">
                <a:latin typeface="Garamond"/>
                <a:cs typeface="Garamond"/>
              </a:rPr>
              <a:t>(</a:t>
            </a:r>
            <a:r>
              <a:rPr dirty="0" sz="1200" spc="125">
                <a:latin typeface="Lucida Sans Unicode"/>
                <a:cs typeface="Lucida Sans Unicode"/>
              </a:rPr>
              <a:t>i</a:t>
            </a:r>
            <a:r>
              <a:rPr dirty="0" sz="1200" spc="125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	</a:t>
            </a:r>
            <a:r>
              <a:rPr dirty="0" sz="1200" spc="95">
                <a:latin typeface="Lucida Sans Unicode"/>
                <a:cs typeface="Lucida Sans Unicode"/>
              </a:rPr>
              <a:t>I</a:t>
            </a:r>
            <a:r>
              <a:rPr dirty="0" sz="1200" spc="95">
                <a:latin typeface="Garamond"/>
                <a:cs typeface="Garamond"/>
              </a:rPr>
              <a:t>(</a:t>
            </a:r>
            <a:r>
              <a:rPr dirty="0" sz="1200" spc="95">
                <a:latin typeface="Lucida Sans Unicode"/>
                <a:cs typeface="Lucida Sans Unicode"/>
              </a:rPr>
              <a:t>j</a:t>
            </a:r>
            <a:r>
              <a:rPr dirty="0" sz="1200" spc="9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126740">
              <a:lnSpc>
                <a:spcPts val="950"/>
              </a:lnSpc>
              <a:spcBef>
                <a:spcPts val="370"/>
              </a:spcBef>
            </a:pPr>
            <a:r>
              <a:rPr dirty="0" sz="800" spc="-15">
                <a:latin typeface="Verdana"/>
                <a:cs typeface="Verdana"/>
              </a:rPr>
              <a:t>j=1</a:t>
            </a:r>
            <a:endParaRPr sz="800">
              <a:latin typeface="Verdana"/>
              <a:cs typeface="Verdana"/>
            </a:endParaRPr>
          </a:p>
          <a:p>
            <a:pPr marL="3101975">
              <a:lnSpc>
                <a:spcPts val="1430"/>
              </a:lnSpc>
            </a:pPr>
            <a:r>
              <a:rPr dirty="0" baseline="-16203" sz="1800" spc="-97">
                <a:latin typeface="Lucida Sans Unicode"/>
                <a:cs typeface="Lucida Sans Unicode"/>
              </a:rPr>
              <a:t>X</a:t>
            </a:r>
            <a:r>
              <a:rPr dirty="0" sz="800" spc="-65">
                <a:latin typeface="Verdana"/>
                <a:cs typeface="Verdana"/>
              </a:rPr>
              <a:t>2i</a:t>
            </a:r>
            <a:endParaRPr sz="800">
              <a:latin typeface="Verdana"/>
              <a:cs typeface="Verdana"/>
            </a:endParaRPr>
          </a:p>
          <a:p>
            <a:pPr marL="2945130">
              <a:lnSpc>
                <a:spcPct val="100000"/>
              </a:lnSpc>
              <a:spcBef>
                <a:spcPts val="55"/>
              </a:spcBef>
              <a:tabLst>
                <a:tab pos="3321050" algn="l"/>
              </a:tabLst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00">
                <a:latin typeface="Garamond"/>
                <a:cs typeface="Garamond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126740">
              <a:lnSpc>
                <a:spcPts val="950"/>
              </a:lnSpc>
              <a:spcBef>
                <a:spcPts val="370"/>
              </a:spcBef>
            </a:pPr>
            <a:r>
              <a:rPr dirty="0" sz="800" spc="-15">
                <a:latin typeface="Verdana"/>
                <a:cs typeface="Verdana"/>
              </a:rPr>
              <a:t>j=1</a:t>
            </a:r>
            <a:endParaRPr sz="800">
              <a:latin typeface="Verdana"/>
              <a:cs typeface="Verdana"/>
            </a:endParaRPr>
          </a:p>
          <a:p>
            <a:pPr marL="3101975">
              <a:lnSpc>
                <a:spcPts val="1430"/>
              </a:lnSpc>
              <a:tabLst>
                <a:tab pos="3579495" algn="l"/>
              </a:tabLst>
            </a:pPr>
            <a:r>
              <a:rPr dirty="0" baseline="-16203" sz="1800" spc="-97">
                <a:latin typeface="Lucida Sans Unicode"/>
                <a:cs typeface="Lucida Sans Unicode"/>
              </a:rPr>
              <a:t>X</a:t>
            </a:r>
            <a:r>
              <a:rPr dirty="0" sz="800" spc="-65">
                <a:latin typeface="Verdana"/>
                <a:cs typeface="Verdana"/>
              </a:rPr>
              <a:t>2i	</a:t>
            </a:r>
            <a:r>
              <a:rPr dirty="0" baseline="-16203" sz="1800" spc="-97">
                <a:latin typeface="Lucida Sans Unicode"/>
                <a:cs typeface="Lucida Sans Unicode"/>
              </a:rPr>
              <a:t>X</a:t>
            </a:r>
            <a:r>
              <a:rPr dirty="0" sz="800" spc="-65">
                <a:latin typeface="Verdana"/>
                <a:cs typeface="Verdana"/>
              </a:rPr>
              <a:t>2i</a:t>
            </a:r>
            <a:endParaRPr sz="800">
              <a:latin typeface="Verdana"/>
              <a:cs typeface="Verdana"/>
            </a:endParaRPr>
          </a:p>
          <a:p>
            <a:pPr marL="2945130">
              <a:lnSpc>
                <a:spcPct val="100000"/>
              </a:lnSpc>
              <a:spcBef>
                <a:spcPts val="55"/>
              </a:spcBef>
              <a:tabLst>
                <a:tab pos="3346450" algn="l"/>
                <a:tab pos="3823970" algn="l"/>
              </a:tabLst>
            </a:pPr>
            <a:r>
              <a:rPr dirty="0" sz="1200" spc="100">
                <a:latin typeface="Garamond"/>
                <a:cs typeface="Garamond"/>
              </a:rPr>
              <a:t>=	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	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3126740">
              <a:lnSpc>
                <a:spcPct val="100000"/>
              </a:lnSpc>
              <a:spcBef>
                <a:spcPts val="365"/>
              </a:spcBef>
              <a:tabLst>
                <a:tab pos="3603625" algn="l"/>
              </a:tabLst>
            </a:pPr>
            <a:r>
              <a:rPr dirty="0" sz="800" spc="-15">
                <a:latin typeface="Verdana"/>
                <a:cs typeface="Verdana"/>
              </a:rPr>
              <a:t>j=1	j=1</a:t>
            </a:r>
            <a:endParaRPr sz="800">
              <a:latin typeface="Verdana"/>
              <a:cs typeface="Verdana"/>
            </a:endParaRPr>
          </a:p>
          <a:p>
            <a:pPr marL="2945130">
              <a:lnSpc>
                <a:spcPct val="100000"/>
              </a:lnSpc>
              <a:spcBef>
                <a:spcPts val="204"/>
              </a:spcBef>
            </a:pPr>
            <a:r>
              <a:rPr dirty="0" baseline="-37037" sz="1800" spc="150">
                <a:latin typeface="Garamond"/>
                <a:cs typeface="Garamond"/>
              </a:rPr>
              <a:t>=</a:t>
            </a:r>
            <a:r>
              <a:rPr dirty="0" baseline="-37037" sz="1800" spc="150">
                <a:latin typeface="Garamond"/>
                <a:cs typeface="Garamond"/>
              </a:rPr>
              <a:t> </a:t>
            </a:r>
            <a:r>
              <a:rPr dirty="0" baseline="-37037" sz="1800" spc="-22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80">
                <a:latin typeface="Garamond"/>
                <a:cs typeface="Garamond"/>
              </a:rPr>
              <a:t> </a:t>
            </a:r>
            <a:r>
              <a:rPr dirty="0" baseline="-37037" sz="1800" spc="150">
                <a:latin typeface="Garamond"/>
                <a:cs typeface="Garamond"/>
              </a:rPr>
              <a:t>+</a:t>
            </a:r>
            <a:r>
              <a:rPr dirty="0" baseline="-37037" sz="1800" spc="-52">
                <a:latin typeface="Garamond"/>
                <a:cs typeface="Garamond"/>
              </a:rPr>
              <a:t> </a:t>
            </a:r>
            <a:r>
              <a:rPr dirty="0" baseline="-37037" sz="1800" spc="-247">
                <a:latin typeface="Lucida Sans Unicode"/>
                <a:cs typeface="Lucida Sans Unicode"/>
              </a:rPr>
              <a:t>2</a:t>
            </a:r>
            <a:r>
              <a:rPr dirty="0" baseline="-37037" sz="1800" spc="120">
                <a:latin typeface="Lucida Sans Unicode"/>
                <a:cs typeface="Lucida Sans Unicode"/>
              </a:rPr>
              <a:t>i</a:t>
            </a:r>
            <a:endParaRPr baseline="-37037" sz="1800">
              <a:latin typeface="Lucida Sans Unicode"/>
              <a:cs typeface="Lucida Sans Unicode"/>
            </a:endParaRPr>
          </a:p>
          <a:p>
            <a:pPr marL="3397885">
              <a:lnSpc>
                <a:spcPct val="100000"/>
              </a:lnSpc>
              <a:spcBef>
                <a:spcPts val="190"/>
              </a:spcBef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  <a:p>
            <a:pPr marL="2945130">
              <a:lnSpc>
                <a:spcPct val="100000"/>
              </a:lnSpc>
              <a:spcBef>
                <a:spcPts val="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34722" sz="1200" spc="-15">
                <a:latin typeface="Verdana"/>
                <a:cs typeface="Verdana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endParaRPr sz="1200">
              <a:latin typeface="Lucida Sans Unicode"/>
              <a:cs typeface="Lucida Sans Unicode"/>
            </a:endParaRPr>
          </a:p>
          <a:p>
            <a:pPr marL="126364">
              <a:lnSpc>
                <a:spcPct val="100000"/>
              </a:lnSpc>
              <a:spcBef>
                <a:spcPts val="1025"/>
              </a:spcBef>
            </a:pPr>
            <a:r>
              <a:rPr dirty="0" sz="1200" spc="-5">
                <a:latin typeface="Times New Roman"/>
                <a:cs typeface="Times New Roman"/>
              </a:rPr>
              <a:t>Finally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outer-most for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loop.</a:t>
            </a:r>
            <a:endParaRPr sz="1200">
              <a:latin typeface="Times New Roman"/>
              <a:cs typeface="Times New Roman"/>
            </a:endParaRPr>
          </a:p>
          <a:p>
            <a:pPr marL="2230755">
              <a:lnSpc>
                <a:spcPct val="100000"/>
              </a:lnSpc>
              <a:spcBef>
                <a:spcPts val="1075"/>
              </a:spcBef>
            </a:pPr>
            <a:r>
              <a:rPr dirty="0" sz="950" spc="60">
                <a:latin typeface="Times New Roman"/>
                <a:cs typeface="Times New Roman"/>
              </a:rPr>
              <a:t>NESTED</a:t>
            </a:r>
            <a:r>
              <a:rPr dirty="0" sz="1200" spc="60">
                <a:latin typeface="Times New Roman"/>
                <a:cs typeface="Times New Roman"/>
              </a:rPr>
              <a:t>-</a:t>
            </a:r>
            <a:r>
              <a:rPr dirty="0" sz="950" spc="60">
                <a:latin typeface="Times New Roman"/>
                <a:cs typeface="Times New Roman"/>
              </a:rPr>
              <a:t>LOOPS</a:t>
            </a:r>
            <a:r>
              <a:rPr dirty="0" sz="1200" spc="60">
                <a:latin typeface="Garamond"/>
                <a:cs typeface="Garamond"/>
              </a:rPr>
              <a:t>()</a:t>
            </a:r>
            <a:endParaRPr sz="1200">
              <a:latin typeface="Garamond"/>
              <a:cs typeface="Garamond"/>
            </a:endParaRPr>
          </a:p>
        </p:txBody>
      </p:sp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482204" y="4011344"/>
            <a:ext cx="214246" cy="184985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4530278" y="3978377"/>
            <a:ext cx="1314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385">
                <a:latin typeface="Verdana"/>
                <a:cs typeface="Verdana"/>
              </a:rPr>
              <a:t>(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677146" y="4528732"/>
            <a:ext cx="87756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k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25">
                <a:latin typeface="Segoe UI Symbol"/>
                <a:cs typeface="Segoe UI Symbol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0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52723" y="3978377"/>
            <a:ext cx="1362710" cy="9417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27329" indent="-227965">
              <a:lnSpc>
                <a:spcPct val="100000"/>
              </a:lnSpc>
              <a:spcBef>
                <a:spcPts val="95"/>
              </a:spcBef>
              <a:buFont typeface="Times New Roman"/>
              <a:buAutoNum type="arabicPlain"/>
              <a:tabLst>
                <a:tab pos="227329" algn="l"/>
                <a:tab pos="22796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27329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227329" algn="l"/>
                <a:tab pos="2279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endParaRPr sz="1200">
              <a:latin typeface="Lucida Sans Unicode"/>
              <a:cs typeface="Lucida Sans Unicode"/>
            </a:endParaRPr>
          </a:p>
          <a:p>
            <a:pPr marL="425450" indent="-42545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25450" algn="l"/>
                <a:tab pos="42672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677145" y="4712183"/>
            <a:ext cx="8375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2971800" y="3808119"/>
            <a:ext cx="2286635" cy="1350645"/>
          </a:xfrm>
          <a:custGeom>
            <a:avLst/>
            <a:gdLst/>
            <a:ahLst/>
            <a:cxnLst/>
            <a:rect l="l" t="t" r="r" b="b"/>
            <a:pathLst>
              <a:path w="2286635" h="1350645">
                <a:moveTo>
                  <a:pt x="2286558" y="0"/>
                </a:moveTo>
                <a:lnTo>
                  <a:pt x="2281428" y="0"/>
                </a:lnTo>
                <a:lnTo>
                  <a:pt x="2281428" y="1344980"/>
                </a:lnTo>
                <a:lnTo>
                  <a:pt x="0" y="1344980"/>
                </a:lnTo>
                <a:lnTo>
                  <a:pt x="0" y="1350111"/>
                </a:lnTo>
                <a:lnTo>
                  <a:pt x="2286000" y="1350111"/>
                </a:lnTo>
                <a:lnTo>
                  <a:pt x="2286000" y="1345539"/>
                </a:lnTo>
                <a:lnTo>
                  <a:pt x="2286558" y="1345539"/>
                </a:lnTo>
                <a:lnTo>
                  <a:pt x="22865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901699" y="5236934"/>
            <a:ext cx="29165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Let </a:t>
            </a:r>
            <a:r>
              <a:rPr dirty="0" sz="1200" spc="60">
                <a:latin typeface="Lucida Sans Unicode"/>
                <a:cs typeface="Lucida Sans Unicode"/>
              </a:rPr>
              <a:t>T</a:t>
            </a:r>
            <a:r>
              <a:rPr dirty="0" sz="1200" spc="60">
                <a:latin typeface="Garamond"/>
                <a:cs typeface="Garamond"/>
              </a:rPr>
              <a:t>()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entire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03105" y="5655741"/>
            <a:ext cx="480695" cy="14033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412883" y="5530278"/>
            <a:ext cx="219710" cy="4178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15"/>
              </a:lnSpc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Verdana"/>
              <a:cs typeface="Verdana"/>
            </a:endParaRPr>
          </a:p>
          <a:p>
            <a:pPr marL="22860">
              <a:lnSpc>
                <a:spcPts val="805"/>
              </a:lnSpc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657485" y="5655741"/>
            <a:ext cx="344170" cy="14033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200" spc="210">
                <a:latin typeface="Lucida Sans Unicode"/>
                <a:cs typeface="Lucida Sans Unicode"/>
              </a:rPr>
              <a:t>M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243247" y="6099670"/>
            <a:ext cx="140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412883" y="6026568"/>
            <a:ext cx="219710" cy="4178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15"/>
              </a:lnSpc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Verdana"/>
              <a:cs typeface="Verdana"/>
            </a:endParaRPr>
          </a:p>
          <a:p>
            <a:pPr marL="22860">
              <a:lnSpc>
                <a:spcPts val="805"/>
              </a:lnSpc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632225" y="6129782"/>
            <a:ext cx="635635" cy="16319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80"/>
              </a:lnSpc>
            </a:pPr>
            <a:r>
              <a:rPr dirty="0" sz="1200">
                <a:latin typeface="Garamond"/>
                <a:cs typeface="Garamond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2i</a:t>
            </a:r>
            <a:r>
              <a:rPr dirty="0" baseline="34722" sz="1200">
                <a:latin typeface="Verdana"/>
                <a:cs typeface="Verdana"/>
              </a:rPr>
              <a:t>2</a:t>
            </a:r>
            <a:r>
              <a:rPr dirty="0" baseline="34722" sz="1200" spc="-10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65">
                <a:latin typeface="Garamond"/>
                <a:cs typeface="Garamond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3i</a:t>
            </a:r>
            <a:r>
              <a:rPr dirty="0" sz="1200" spc="1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243247" y="6595960"/>
            <a:ext cx="140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412883" y="6522973"/>
            <a:ext cx="219710" cy="4178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15"/>
              </a:lnSpc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Verdana"/>
              <a:cs typeface="Verdana"/>
            </a:endParaRPr>
          </a:p>
          <a:p>
            <a:pPr marL="22860">
              <a:lnSpc>
                <a:spcPts val="805"/>
              </a:lnSpc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657485" y="6640048"/>
            <a:ext cx="340360" cy="12827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05"/>
              </a:lnSpc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34722" sz="1200" spc="-15">
                <a:latin typeface="Verdana"/>
                <a:cs typeface="Verdana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031246" y="6522973"/>
            <a:ext cx="219710" cy="4178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15"/>
              </a:lnSpc>
            </a:pPr>
            <a:r>
              <a:rPr dirty="0" baseline="-16203" sz="1800" spc="-30">
                <a:latin typeface="Lucida Sans Unicode"/>
                <a:cs typeface="Lucida Sans Unicode"/>
              </a:rPr>
              <a:t>X</a:t>
            </a:r>
            <a:r>
              <a:rPr dirty="0" sz="800" spc="-2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Verdana"/>
              <a:cs typeface="Verdana"/>
            </a:endParaRPr>
          </a:p>
          <a:p>
            <a:pPr marL="22860">
              <a:lnSpc>
                <a:spcPts val="805"/>
              </a:lnSpc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275963" y="6640048"/>
            <a:ext cx="130810" cy="12827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05"/>
              </a:lnSpc>
            </a:pP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243247" y="7068820"/>
            <a:ext cx="2584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465879" y="6966064"/>
            <a:ext cx="101726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1250" sz="1200" spc="-15">
                <a:latin typeface="Verdana"/>
                <a:cs typeface="Verdana"/>
              </a:rPr>
              <a:t>3</a:t>
            </a:r>
            <a:r>
              <a:rPr dirty="0" baseline="31250" sz="1200" spc="-60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1250" sz="1200" spc="-15">
                <a:latin typeface="Verdana"/>
                <a:cs typeface="Verdana"/>
              </a:rPr>
              <a:t>2</a:t>
            </a:r>
            <a:r>
              <a:rPr dirty="0" baseline="31250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3503676" y="7192695"/>
            <a:ext cx="941069" cy="6350"/>
          </a:xfrm>
          <a:custGeom>
            <a:avLst/>
            <a:gdLst/>
            <a:ahLst/>
            <a:cxnLst/>
            <a:rect l="l" t="t" r="r" b="b"/>
            <a:pathLst>
              <a:path w="941070" h="6350">
                <a:moveTo>
                  <a:pt x="940917" y="0"/>
                </a:moveTo>
                <a:lnTo>
                  <a:pt x="0" y="0"/>
                </a:lnTo>
                <a:lnTo>
                  <a:pt x="0" y="6171"/>
                </a:lnTo>
                <a:lnTo>
                  <a:pt x="940917" y="6171"/>
                </a:lnTo>
                <a:lnTo>
                  <a:pt x="9409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 txBox="1"/>
          <p:nvPr/>
        </p:nvSpPr>
        <p:spPr>
          <a:xfrm>
            <a:off x="3923790" y="7172947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6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481002" y="7068819"/>
            <a:ext cx="2501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720688" y="6966064"/>
            <a:ext cx="6038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4733544" y="7192695"/>
            <a:ext cx="578485" cy="6350"/>
          </a:xfrm>
          <a:custGeom>
            <a:avLst/>
            <a:gdLst/>
            <a:ahLst/>
            <a:cxnLst/>
            <a:rect l="l" t="t" r="r" b="b"/>
            <a:pathLst>
              <a:path w="578485" h="6350">
                <a:moveTo>
                  <a:pt x="578015" y="0"/>
                </a:moveTo>
                <a:lnTo>
                  <a:pt x="0" y="0"/>
                </a:lnTo>
                <a:lnTo>
                  <a:pt x="0" y="6171"/>
                </a:lnTo>
                <a:lnTo>
                  <a:pt x="578015" y="6171"/>
                </a:lnTo>
                <a:lnTo>
                  <a:pt x="578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 txBox="1"/>
          <p:nvPr/>
        </p:nvSpPr>
        <p:spPr>
          <a:xfrm>
            <a:off x="4971692" y="7172947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243248" y="7451496"/>
            <a:ext cx="140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428085" y="7386625"/>
            <a:ext cx="1181735" cy="13970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95"/>
              </a:lnSpc>
            </a:pP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1250" sz="1200" spc="-15">
                <a:latin typeface="Verdana"/>
                <a:cs typeface="Verdana"/>
              </a:rPr>
              <a:t>3</a:t>
            </a:r>
            <a:r>
              <a:rPr dirty="0" baseline="31250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15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1250" sz="1200" spc="-15">
                <a:latin typeface="Verdana"/>
                <a:cs typeface="Verdana"/>
              </a:rPr>
              <a:t>2</a:t>
            </a:r>
            <a:r>
              <a:rPr dirty="0" baseline="31250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11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3427476" y="7575219"/>
            <a:ext cx="1169035" cy="6350"/>
          </a:xfrm>
          <a:custGeom>
            <a:avLst/>
            <a:gdLst/>
            <a:ahLst/>
            <a:cxnLst/>
            <a:rect l="l" t="t" r="r" b="b"/>
            <a:pathLst>
              <a:path w="1169035" h="6350">
                <a:moveTo>
                  <a:pt x="1168488" y="0"/>
                </a:moveTo>
                <a:lnTo>
                  <a:pt x="0" y="0"/>
                </a:lnTo>
                <a:lnTo>
                  <a:pt x="0" y="6171"/>
                </a:lnTo>
                <a:lnTo>
                  <a:pt x="1168488" y="6171"/>
                </a:lnTo>
                <a:lnTo>
                  <a:pt x="11684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 txBox="1"/>
          <p:nvPr/>
        </p:nvSpPr>
        <p:spPr>
          <a:xfrm>
            <a:off x="3961623" y="7555738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6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255949" y="7769911"/>
            <a:ext cx="552450" cy="16256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75"/>
              </a:lnSpc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baseline="34722" sz="1200" spc="60">
                <a:latin typeface="Verdana"/>
                <a:cs typeface="Verdana"/>
              </a:rPr>
              <a:t>3</a:t>
            </a:r>
            <a:r>
              <a:rPr dirty="0" sz="1200" spc="4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01700" y="8210484"/>
            <a:ext cx="6415405" cy="7727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5024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1.11.1	2-dimension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Maxima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Revisited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85"/>
              </a:spcBef>
            </a:pPr>
            <a:r>
              <a:rPr dirty="0" sz="1200" spc="-5">
                <a:latin typeface="Times New Roman"/>
                <a:cs typeface="Times New Roman"/>
              </a:rPr>
              <a:t>Recall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2-d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2-dimensional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integer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coordinates,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0">
                <a:latin typeface="Lucida Sans Unicode"/>
                <a:cs typeface="Lucida Sans Unicode"/>
              </a:rPr>
              <a:t>p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p.x,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p.y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said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dominated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p.x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65">
                <a:latin typeface="Lucida Sans Unicode"/>
                <a:cs typeface="Lucida Sans Unicode"/>
              </a:rPr>
              <a:t>q.x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Lucida Sans Unicode"/>
                <a:cs typeface="Lucida Sans Unicode"/>
              </a:rPr>
              <a:t>p.y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q.y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63592" y="520987"/>
            <a:ext cx="6490335" cy="19627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4382135" algn="l"/>
              </a:tabLst>
            </a:pPr>
            <a:r>
              <a:rPr dirty="0" sz="1200" spc="-5">
                <a:latin typeface="Times New Roman"/>
                <a:cs typeface="Times New Roman"/>
              </a:rPr>
              <a:t>18	CHAPTER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1.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50800" marR="14478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points,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{p</a:t>
            </a:r>
            <a:r>
              <a:rPr dirty="0" baseline="-13888" sz="1200" spc="-60">
                <a:latin typeface="Verdana"/>
                <a:cs typeface="Verdana"/>
              </a:rPr>
              <a:t>1</a:t>
            </a:r>
            <a:r>
              <a:rPr dirty="0" sz="1200" spc="-4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p</a:t>
            </a:r>
            <a:r>
              <a:rPr dirty="0" baseline="-13888" sz="1200" spc="-67">
                <a:latin typeface="Verdana"/>
                <a:cs typeface="Verdana"/>
              </a:rPr>
              <a:t>2</a:t>
            </a:r>
            <a:r>
              <a:rPr dirty="0" sz="1200" spc="-45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7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p</a:t>
            </a:r>
            <a:r>
              <a:rPr dirty="0" baseline="-13888" sz="1200" spc="22">
                <a:latin typeface="Verdana"/>
                <a:cs typeface="Verdana"/>
              </a:rPr>
              <a:t>n</a:t>
            </a:r>
            <a:r>
              <a:rPr dirty="0" sz="1200" spc="15">
                <a:latin typeface="Lucida Sans Unicode"/>
                <a:cs typeface="Lucida Sans Unicode"/>
              </a:rPr>
              <a:t>}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2-space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said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maximal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brute-force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 </a:t>
            </a:r>
            <a:r>
              <a:rPr dirty="0" sz="1200" spc="-5">
                <a:latin typeface="Times New Roman"/>
                <a:cs typeface="Times New Roman"/>
              </a:rPr>
              <a:t> that ran in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baseline="31250" sz="1200" spc="60">
                <a:latin typeface="Verdana"/>
                <a:cs typeface="Verdana"/>
              </a:rPr>
              <a:t>2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operated by </a:t>
            </a:r>
            <a:r>
              <a:rPr dirty="0" sz="1200" spc="-10">
                <a:latin typeface="Times New Roman"/>
                <a:cs typeface="Times New Roman"/>
              </a:rPr>
              <a:t>comparing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all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pairs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points.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an approach that 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significantly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better?</a:t>
            </a:r>
            <a:endParaRPr sz="1200">
              <a:latin typeface="Times New Roman"/>
              <a:cs typeface="Times New Roman"/>
            </a:endParaRPr>
          </a:p>
          <a:p>
            <a:pPr marL="50800" marR="76835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brute-force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intelligence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pruning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decisions.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 example,</a:t>
            </a:r>
            <a:r>
              <a:rPr dirty="0" sz="1200" spc="-5">
                <a:latin typeface="Times New Roman"/>
                <a:cs typeface="Times New Roman"/>
              </a:rPr>
              <a:t> once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p</a:t>
            </a:r>
            <a:r>
              <a:rPr dirty="0" baseline="-13888" sz="1200" spc="67">
                <a:latin typeface="Verdana"/>
                <a:cs typeface="Verdana"/>
              </a:rPr>
              <a:t>i</a:t>
            </a:r>
            <a:r>
              <a:rPr dirty="0" baseline="-13888" sz="1200" spc="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dominated</a:t>
            </a:r>
            <a:r>
              <a:rPr dirty="0" sz="1200" spc="-5">
                <a:latin typeface="Times New Roman"/>
                <a:cs typeface="Times New Roman"/>
              </a:rPr>
              <a:t>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p</a:t>
            </a:r>
            <a:r>
              <a:rPr dirty="0" baseline="-13888" sz="1200">
                <a:latin typeface="Verdana"/>
                <a:cs typeface="Verdana"/>
              </a:rPr>
              <a:t>j</a:t>
            </a: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 spc="45">
                <a:latin typeface="Lucida Sans Unicode"/>
                <a:cs typeface="Lucida Sans Unicode"/>
              </a:rPr>
              <a:t>p</a:t>
            </a:r>
            <a:r>
              <a:rPr dirty="0" baseline="-13888" sz="1200" spc="67">
                <a:latin typeface="Verdana"/>
                <a:cs typeface="Verdana"/>
              </a:rPr>
              <a:t>i</a:t>
            </a:r>
            <a:r>
              <a:rPr dirty="0" baseline="-13888" sz="1200" spc="7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eliminating </a:t>
            </a:r>
            <a:r>
              <a:rPr dirty="0" sz="1200" spc="-5">
                <a:latin typeface="Times New Roman"/>
                <a:cs typeface="Times New Roman"/>
              </a:rPr>
              <a:t>other </a:t>
            </a:r>
            <a:r>
              <a:rPr dirty="0" sz="1200" spc="-10">
                <a:latin typeface="Times New Roman"/>
                <a:cs typeface="Times New Roman"/>
              </a:rPr>
              <a:t>points.</a:t>
            </a:r>
            <a:r>
              <a:rPr dirty="0" sz="1200" spc="-5">
                <a:latin typeface="Times New Roman"/>
                <a:cs typeface="Times New Roman"/>
              </a:rPr>
              <a:t> This </a:t>
            </a:r>
            <a:r>
              <a:rPr dirty="0" sz="1200" spc="-10">
                <a:latin typeface="Times New Roman"/>
                <a:cs typeface="Times New Roman"/>
              </a:rPr>
              <a:t>follows from the fact </a:t>
            </a:r>
            <a:r>
              <a:rPr dirty="0" sz="1200" spc="-5">
                <a:latin typeface="Times New Roman"/>
                <a:cs typeface="Times New Roman"/>
              </a:rPr>
              <a:t>that dominance relation is </a:t>
            </a:r>
            <a:r>
              <a:rPr dirty="0" sz="1200" spc="-10" i="1">
                <a:latin typeface="Times New Roman"/>
                <a:cs typeface="Times New Roman"/>
              </a:rPr>
              <a:t>transitive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 If </a:t>
            </a:r>
            <a:r>
              <a:rPr dirty="0" sz="1200" spc="5">
                <a:latin typeface="Lucida Sans Unicode"/>
                <a:cs typeface="Lucida Sans Unicode"/>
              </a:rPr>
              <a:t>p</a:t>
            </a:r>
            <a:r>
              <a:rPr dirty="0" baseline="-13888" sz="1200" spc="7">
                <a:latin typeface="Verdana"/>
                <a:cs typeface="Verdana"/>
              </a:rPr>
              <a:t>j </a:t>
            </a:r>
            <a:r>
              <a:rPr dirty="0" sz="1200" spc="-10">
                <a:latin typeface="Times New Roman"/>
                <a:cs typeface="Times New Roman"/>
              </a:rPr>
              <a:t>dominates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p</a:t>
            </a:r>
            <a:r>
              <a:rPr dirty="0" baseline="-13888" sz="1200" spc="67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45">
                <a:latin typeface="Lucida Sans Unicode"/>
                <a:cs typeface="Lucida Sans Unicode"/>
              </a:rPr>
              <a:t>p</a:t>
            </a:r>
            <a:r>
              <a:rPr dirty="0" baseline="-13888" sz="1200" spc="67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p</a:t>
            </a:r>
            <a:r>
              <a:rPr dirty="0" baseline="-13888" sz="1200" spc="30">
                <a:latin typeface="Verdana"/>
                <a:cs typeface="Verdana"/>
              </a:rPr>
              <a:t>h</a:t>
            </a:r>
            <a:r>
              <a:rPr dirty="0" baseline="-13888" sz="1200" spc="-15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p</a:t>
            </a:r>
            <a:r>
              <a:rPr dirty="0" baseline="-13888" sz="1200" spc="7">
                <a:latin typeface="Verdana"/>
                <a:cs typeface="Verdana"/>
              </a:rPr>
              <a:t>j </a:t>
            </a:r>
            <a:r>
              <a:rPr dirty="0" sz="1200" spc="-5">
                <a:latin typeface="Times New Roman"/>
                <a:cs typeface="Times New Roman"/>
              </a:rPr>
              <a:t>also </a:t>
            </a:r>
            <a:r>
              <a:rPr dirty="0" sz="1200" spc="-10">
                <a:latin typeface="Times New Roman"/>
                <a:cs typeface="Times New Roman"/>
              </a:rPr>
              <a:t>dominates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p</a:t>
            </a:r>
            <a:r>
              <a:rPr dirty="0" baseline="-13888" sz="1200" spc="7">
                <a:latin typeface="Verdana"/>
                <a:cs typeface="Verdana"/>
              </a:rPr>
              <a:t>h</a:t>
            </a:r>
            <a:r>
              <a:rPr dirty="0" sz="1200" spc="5">
                <a:latin typeface="Times New Roman"/>
                <a:cs typeface="Times New Roman"/>
              </a:rPr>
              <a:t>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p</a:t>
            </a:r>
            <a:r>
              <a:rPr dirty="0" baseline="-13888" sz="1200" spc="67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needed.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1701" y="4386807"/>
            <a:ext cx="248031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5024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1.11.2	</a:t>
            </a:r>
            <a:r>
              <a:rPr dirty="0" sz="1400" spc="15" b="1">
                <a:latin typeface="Times New Roman"/>
                <a:cs typeface="Times New Roman"/>
              </a:rPr>
              <a:t>Plane-sweep</a:t>
            </a:r>
            <a:r>
              <a:rPr dirty="0" sz="1400" spc="-6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76299" y="5093715"/>
            <a:ext cx="6477000" cy="38900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question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whether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make</a:t>
            </a:r>
            <a:r>
              <a:rPr dirty="0" sz="1200" spc="-5">
                <a:latin typeface="Times New Roman"/>
                <a:cs typeface="Times New Roman"/>
              </a:rPr>
              <a:t> 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significant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improvement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 spc="-10">
                <a:latin typeface="Times New Roman"/>
                <a:cs typeface="Times New Roman"/>
              </a:rPr>
              <a:t> the running</a:t>
            </a:r>
            <a:r>
              <a:rPr dirty="0" sz="1200" spc="-5">
                <a:latin typeface="Times New Roman"/>
                <a:cs typeface="Times New Roman"/>
              </a:rPr>
              <a:t> time?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</a:t>
            </a:r>
            <a:r>
              <a:rPr dirty="0" sz="1200" spc="-10">
                <a:latin typeface="Times New Roman"/>
                <a:cs typeface="Times New Roman"/>
              </a:rPr>
              <a:t> for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might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sweep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across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-5">
                <a:latin typeface="Times New Roman"/>
                <a:cs typeface="Times New Roman"/>
              </a:rPr>
              <a:t> left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sweep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 line,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build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structure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holding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lying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sweep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line.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sweep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reaches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rightmost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constructed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maxima. </a:t>
            </a:r>
            <a:r>
              <a:rPr dirty="0" sz="1200" spc="-5">
                <a:latin typeface="Times New Roman"/>
                <a:cs typeface="Times New Roman"/>
              </a:rPr>
              <a:t> This approach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geometric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sweeping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across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plane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sweep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38100" marR="67945">
              <a:lnSpc>
                <a:spcPct val="100000"/>
              </a:lnSpc>
              <a:spcBef>
                <a:spcPts val="535"/>
              </a:spcBef>
            </a:pPr>
            <a:r>
              <a:rPr dirty="0" sz="1200" spc="-10">
                <a:latin typeface="Times New Roman"/>
                <a:cs typeface="Times New Roman"/>
              </a:rPr>
              <a:t>Although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think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continuous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perform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plane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sweep in discrete steps.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do this,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begin</a:t>
            </a:r>
            <a:r>
              <a:rPr dirty="0" sz="1200" spc="-5">
                <a:latin typeface="Times New Roman"/>
                <a:cs typeface="Times New Roman"/>
              </a:rPr>
              <a:t> by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 spc="-5">
                <a:latin typeface="Times New Roman"/>
                <a:cs typeface="Times New Roman"/>
              </a:rPr>
              <a:t> in increasing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 of their</a:t>
            </a:r>
            <a:endParaRPr sz="1200">
              <a:latin typeface="Times New Roman"/>
              <a:cs typeface="Times New Roman"/>
            </a:endParaRPr>
          </a:p>
          <a:p>
            <a:pPr marL="38100" marR="38735">
              <a:lnSpc>
                <a:spcPct val="100000"/>
              </a:lnSpc>
              <a:spcBef>
                <a:spcPts val="10"/>
              </a:spcBef>
            </a:pPr>
            <a:r>
              <a:rPr dirty="0" sz="1200" spc="-5">
                <a:latin typeface="Times New Roman"/>
                <a:cs typeface="Times New Roman"/>
              </a:rPr>
              <a:t>x-coordinates.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simplicity,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y-coordinate.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limiting </a:t>
            </a:r>
            <a:r>
              <a:rPr dirty="0" sz="1200" spc="-5">
                <a:latin typeface="Times New Roman"/>
                <a:cs typeface="Times New Roman"/>
              </a:rPr>
              <a:t> assumption is actually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easy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overcome,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simpler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version,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messy details </a:t>
            </a:r>
            <a:r>
              <a:rPr dirty="0" sz="1200" spc="-10">
                <a:latin typeface="Times New Roman"/>
                <a:cs typeface="Times New Roman"/>
              </a:rPr>
              <a:t>for the </a:t>
            </a:r>
            <a:r>
              <a:rPr dirty="0" sz="1200" spc="-5">
                <a:latin typeface="Times New Roman"/>
                <a:cs typeface="Times New Roman"/>
              </a:rPr>
              <a:t>actual </a:t>
            </a:r>
            <a:r>
              <a:rPr dirty="0" sz="1200" spc="-10">
                <a:latin typeface="Times New Roman"/>
                <a:cs typeface="Times New Roman"/>
              </a:rPr>
              <a:t>implementation.)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we will advance the </a:t>
            </a:r>
            <a:r>
              <a:rPr dirty="0" sz="1200" spc="-5">
                <a:latin typeface="Times New Roman"/>
                <a:cs typeface="Times New Roman"/>
              </a:rPr>
              <a:t>sweep-line </a:t>
            </a:r>
            <a:r>
              <a:rPr dirty="0" sz="1200" spc="-10">
                <a:latin typeface="Times New Roman"/>
                <a:cs typeface="Times New Roman"/>
              </a:rPr>
              <a:t>from point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point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discrete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encounter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 spc="-15">
                <a:latin typeface="Times New Roman"/>
                <a:cs typeface="Times New Roman"/>
              </a:rPr>
              <a:t>new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update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current list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points.</a:t>
            </a:r>
            <a:endParaRPr sz="1200">
              <a:latin typeface="Times New Roman"/>
              <a:cs typeface="Times New Roman"/>
            </a:endParaRPr>
          </a:p>
          <a:p>
            <a:pPr marL="38100" marR="83820">
              <a:lnSpc>
                <a:spcPct val="100000"/>
              </a:lnSpc>
              <a:spcBef>
                <a:spcPts val="53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sweep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vertical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across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2-d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sweep,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build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structure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holding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lying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sweep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line.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sweep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reaches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rightmost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25">
                <a:latin typeface="Times New Roman"/>
                <a:cs typeface="Times New Roman"/>
              </a:rPr>
              <a:t>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existing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p</a:t>
            </a:r>
            <a:r>
              <a:rPr dirty="0" baseline="-13888" sz="1200" spc="67">
                <a:latin typeface="Verdana"/>
                <a:cs typeface="Verdana"/>
              </a:rPr>
              <a:t>i</a:t>
            </a:r>
            <a:r>
              <a:rPr dirty="0" baseline="-13888" sz="1200" spc="15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appear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sorted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x</a:t>
            </a:r>
            <a:r>
              <a:rPr dirty="0" sz="1200" spc="-15">
                <a:latin typeface="Times New Roman"/>
                <a:cs typeface="Times New Roman"/>
              </a:rPr>
              <a:t>-coordinate.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maximal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y</a:t>
            </a:r>
            <a:r>
              <a:rPr dirty="0" sz="1200">
                <a:latin typeface="Times New Roman"/>
                <a:cs typeface="Times New Roman"/>
              </a:rPr>
              <a:t>-coordinate</a:t>
            </a:r>
            <a:r>
              <a:rPr dirty="0" sz="1200" spc="-5">
                <a:latin typeface="Times New Roman"/>
                <a:cs typeface="Times New Roman"/>
              </a:rPr>
              <a:t> less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p</a:t>
            </a:r>
            <a:r>
              <a:rPr dirty="0" baseline="-13888" sz="1200" spc="67">
                <a:latin typeface="Verdana"/>
                <a:cs typeface="Verdana"/>
              </a:rPr>
              <a:t>i</a:t>
            </a:r>
            <a:r>
              <a:rPr dirty="0" baseline="-13888" sz="1200" spc="22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eliminated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computation.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points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 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stack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highest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x</a:t>
            </a:r>
            <a:r>
              <a:rPr dirty="0" sz="1200" spc="-15">
                <a:latin typeface="Times New Roman"/>
                <a:cs typeface="Times New Roman"/>
              </a:rPr>
              <a:t>-coordinate.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550"/>
              </a:spcBef>
            </a:pPr>
            <a:r>
              <a:rPr dirty="0" sz="1200" spc="-5">
                <a:latin typeface="Times New Roman"/>
                <a:cs typeface="Times New Roman"/>
              </a:rPr>
              <a:t>Here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figures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illustrate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sweep.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figure also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stack.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75145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1.11.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ANALYSIS: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HARDER </a:t>
            </a:r>
            <a:r>
              <a:rPr dirty="0" sz="1200" spc="-5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914400" y="1267658"/>
            <a:ext cx="3025140" cy="2042160"/>
            <a:chOff x="914400" y="1267658"/>
            <a:chExt cx="3025140" cy="2042160"/>
          </a:xfrm>
        </p:grpSpPr>
        <p:sp>
          <p:nvSpPr>
            <p:cNvPr id="5" name="object 5"/>
            <p:cNvSpPr/>
            <p:nvPr/>
          </p:nvSpPr>
          <p:spPr>
            <a:xfrm>
              <a:off x="914400" y="1267658"/>
              <a:ext cx="3025140" cy="2042160"/>
            </a:xfrm>
            <a:custGeom>
              <a:avLst/>
              <a:gdLst/>
              <a:ahLst/>
              <a:cxnLst/>
              <a:rect l="l" t="t" r="r" b="b"/>
              <a:pathLst>
                <a:path w="3025140" h="2042160">
                  <a:moveTo>
                    <a:pt x="3024835" y="0"/>
                  </a:moveTo>
                  <a:lnTo>
                    <a:pt x="0" y="0"/>
                  </a:lnTo>
                  <a:lnTo>
                    <a:pt x="0" y="2041961"/>
                  </a:lnTo>
                  <a:lnTo>
                    <a:pt x="3024835" y="2041961"/>
                  </a:lnTo>
                  <a:lnTo>
                    <a:pt x="3024835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194809" y="1760657"/>
              <a:ext cx="1517650" cy="1334770"/>
            </a:xfrm>
            <a:custGeom>
              <a:avLst/>
              <a:gdLst/>
              <a:ahLst/>
              <a:cxnLst/>
              <a:rect l="l" t="t" r="r" b="b"/>
              <a:pathLst>
                <a:path w="1517650" h="1334770">
                  <a:moveTo>
                    <a:pt x="228924" y="1243081"/>
                  </a:moveTo>
                  <a:lnTo>
                    <a:pt x="228924" y="1334170"/>
                  </a:lnTo>
                </a:path>
                <a:path w="1517650" h="1334770">
                  <a:moveTo>
                    <a:pt x="413543" y="1243081"/>
                  </a:moveTo>
                  <a:lnTo>
                    <a:pt x="413543" y="1334170"/>
                  </a:lnTo>
                </a:path>
                <a:path w="1517650" h="1334770">
                  <a:moveTo>
                    <a:pt x="596926" y="1243081"/>
                  </a:moveTo>
                  <a:lnTo>
                    <a:pt x="596926" y="1334170"/>
                  </a:lnTo>
                </a:path>
                <a:path w="1517650" h="1334770">
                  <a:moveTo>
                    <a:pt x="781543" y="1243081"/>
                  </a:moveTo>
                  <a:lnTo>
                    <a:pt x="781543" y="1334170"/>
                  </a:lnTo>
                </a:path>
                <a:path w="1517650" h="1334770">
                  <a:moveTo>
                    <a:pt x="966161" y="1243081"/>
                  </a:moveTo>
                  <a:lnTo>
                    <a:pt x="966161" y="1334170"/>
                  </a:lnTo>
                </a:path>
                <a:path w="1517650" h="1334770">
                  <a:moveTo>
                    <a:pt x="1149544" y="1243081"/>
                  </a:moveTo>
                  <a:lnTo>
                    <a:pt x="1149544" y="1334170"/>
                  </a:lnTo>
                </a:path>
                <a:path w="1517650" h="1334770">
                  <a:moveTo>
                    <a:pt x="1334161" y="1243081"/>
                  </a:moveTo>
                  <a:lnTo>
                    <a:pt x="1334161" y="1334170"/>
                  </a:lnTo>
                </a:path>
                <a:path w="1517650" h="1334770">
                  <a:moveTo>
                    <a:pt x="1517544" y="1243081"/>
                  </a:moveTo>
                  <a:lnTo>
                    <a:pt x="1517544" y="1334170"/>
                  </a:lnTo>
                </a:path>
                <a:path w="1517650" h="1334770">
                  <a:moveTo>
                    <a:pt x="91077" y="1105235"/>
                  </a:moveTo>
                  <a:lnTo>
                    <a:pt x="0" y="1105235"/>
                  </a:lnTo>
                </a:path>
                <a:path w="1517650" h="1334770">
                  <a:moveTo>
                    <a:pt x="91077" y="920617"/>
                  </a:moveTo>
                  <a:lnTo>
                    <a:pt x="0" y="920617"/>
                  </a:lnTo>
                </a:path>
                <a:path w="1517650" h="1334770">
                  <a:moveTo>
                    <a:pt x="91077" y="737234"/>
                  </a:moveTo>
                  <a:lnTo>
                    <a:pt x="0" y="737234"/>
                  </a:lnTo>
                </a:path>
                <a:path w="1517650" h="1334770">
                  <a:moveTo>
                    <a:pt x="91077" y="552617"/>
                  </a:moveTo>
                  <a:lnTo>
                    <a:pt x="0" y="552617"/>
                  </a:lnTo>
                </a:path>
                <a:path w="1517650" h="1334770">
                  <a:moveTo>
                    <a:pt x="91077" y="368000"/>
                  </a:moveTo>
                  <a:lnTo>
                    <a:pt x="0" y="368000"/>
                  </a:lnTo>
                </a:path>
                <a:path w="1517650" h="1334770">
                  <a:moveTo>
                    <a:pt x="91077" y="184617"/>
                  </a:moveTo>
                  <a:lnTo>
                    <a:pt x="0" y="184617"/>
                  </a:lnTo>
                </a:path>
                <a:path w="1517650" h="1334770">
                  <a:moveTo>
                    <a:pt x="91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1385582" y="3076171"/>
            <a:ext cx="1591945" cy="1733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2  </a:t>
            </a:r>
            <a:r>
              <a:rPr dirty="0" sz="950" spc="1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4  </a:t>
            </a:r>
            <a:r>
              <a:rPr dirty="0" sz="950" spc="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6  </a:t>
            </a:r>
            <a:r>
              <a:rPr dirty="0" sz="950" spc="1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8 </a:t>
            </a:r>
            <a:r>
              <a:rPr dirty="0" sz="950" spc="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dirty="0" sz="950" spc="1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950" spc="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14</a:t>
            </a:r>
            <a:r>
              <a:rPr dirty="0" sz="950" spc="1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16</a:t>
            </a:r>
            <a:r>
              <a:rPr dirty="0" sz="950" spc="1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18</a:t>
            </a:r>
            <a:endParaRPr sz="95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2896971" y="3003738"/>
            <a:ext cx="0" cy="91440"/>
          </a:xfrm>
          <a:custGeom>
            <a:avLst/>
            <a:gdLst/>
            <a:ahLst/>
            <a:cxnLst/>
            <a:rect l="l" t="t" r="r" b="b"/>
            <a:pathLst>
              <a:path w="0" h="91439">
                <a:moveTo>
                  <a:pt x="0" y="0"/>
                </a:moveTo>
                <a:lnTo>
                  <a:pt x="0" y="91089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1021269" y="1634686"/>
            <a:ext cx="149860" cy="1294765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9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9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10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9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950">
              <a:latin typeface="Arial"/>
              <a:cs typeface="Arial"/>
            </a:endParaRPr>
          </a:p>
          <a:p>
            <a:pPr marL="56515">
              <a:lnSpc>
                <a:spcPct val="100000"/>
              </a:lnSpc>
              <a:spcBef>
                <a:spcPts val="409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950">
              <a:latin typeface="Arial"/>
              <a:cs typeface="Arial"/>
            </a:endParaRPr>
          </a:p>
          <a:p>
            <a:pPr marL="56515">
              <a:lnSpc>
                <a:spcPct val="100000"/>
              </a:lnSpc>
              <a:spcBef>
                <a:spcPts val="140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950">
              <a:latin typeface="Arial"/>
              <a:cs typeface="Arial"/>
            </a:endParaRPr>
          </a:p>
          <a:p>
            <a:pPr marL="56515">
              <a:lnSpc>
                <a:spcPct val="100000"/>
              </a:lnSpc>
              <a:spcBef>
                <a:spcPts val="384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950">
              <a:latin typeface="Arial"/>
              <a:cs typeface="Arial"/>
            </a:endParaRPr>
          </a:p>
          <a:p>
            <a:pPr marL="56515">
              <a:lnSpc>
                <a:spcPct val="100000"/>
              </a:lnSpc>
              <a:spcBef>
                <a:spcPts val="145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200963" y="1530502"/>
            <a:ext cx="1880870" cy="1557020"/>
            <a:chOff x="1200963" y="1530502"/>
            <a:chExt cx="1880870" cy="1557020"/>
          </a:xfrm>
        </p:grpSpPr>
        <p:sp>
          <p:nvSpPr>
            <p:cNvPr id="11" name="object 11"/>
            <p:cNvSpPr/>
            <p:nvPr/>
          </p:nvSpPr>
          <p:spPr>
            <a:xfrm>
              <a:off x="1239118" y="1587119"/>
              <a:ext cx="0" cy="1462405"/>
            </a:xfrm>
            <a:custGeom>
              <a:avLst/>
              <a:gdLst/>
              <a:ahLst/>
              <a:cxnLst/>
              <a:rect l="l" t="t" r="r" b="b"/>
              <a:pathLst>
                <a:path w="0" h="1462405">
                  <a:moveTo>
                    <a:pt x="0" y="1462171"/>
                  </a:moveTo>
                  <a:lnTo>
                    <a:pt x="0" y="0"/>
                  </a:lnTo>
                </a:path>
              </a:pathLst>
            </a:custGeom>
            <a:ln w="102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00963" y="1530502"/>
              <a:ext cx="76308" cy="75072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1239118" y="3049290"/>
              <a:ext cx="1784985" cy="0"/>
            </a:xfrm>
            <a:custGeom>
              <a:avLst/>
              <a:gdLst/>
              <a:ahLst/>
              <a:cxnLst/>
              <a:rect l="l" t="t" r="r" b="b"/>
              <a:pathLst>
                <a:path w="1784985" h="0">
                  <a:moveTo>
                    <a:pt x="0" y="0"/>
                  </a:moveTo>
                  <a:lnTo>
                    <a:pt x="1784619" y="0"/>
                  </a:lnTo>
                </a:path>
              </a:pathLst>
            </a:custGeom>
            <a:ln w="102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05282" y="3012363"/>
              <a:ext cx="76306" cy="75072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01580" y="2015424"/>
              <a:ext cx="1058545" cy="965200"/>
            </a:xfrm>
            <a:custGeom>
              <a:avLst/>
              <a:gdLst/>
              <a:ahLst/>
              <a:cxnLst/>
              <a:rect l="l" t="t" r="r" b="b"/>
              <a:pathLst>
                <a:path w="1058545" h="965200">
                  <a:moveTo>
                    <a:pt x="0" y="573542"/>
                  </a:moveTo>
                  <a:lnTo>
                    <a:pt x="1231" y="563697"/>
                  </a:lnTo>
                  <a:lnTo>
                    <a:pt x="8615" y="555086"/>
                  </a:lnTo>
                  <a:lnTo>
                    <a:pt x="17231" y="551398"/>
                  </a:lnTo>
                  <a:lnTo>
                    <a:pt x="28308" y="551398"/>
                  </a:lnTo>
                  <a:lnTo>
                    <a:pt x="36923" y="555086"/>
                  </a:lnTo>
                  <a:lnTo>
                    <a:pt x="43077" y="563697"/>
                  </a:lnTo>
                  <a:lnTo>
                    <a:pt x="45538" y="573542"/>
                  </a:lnTo>
                  <a:lnTo>
                    <a:pt x="43077" y="583387"/>
                  </a:lnTo>
                  <a:lnTo>
                    <a:pt x="36923" y="590778"/>
                  </a:lnTo>
                  <a:lnTo>
                    <a:pt x="28308" y="595701"/>
                  </a:lnTo>
                  <a:lnTo>
                    <a:pt x="17231" y="595701"/>
                  </a:lnTo>
                  <a:lnTo>
                    <a:pt x="8615" y="590778"/>
                  </a:lnTo>
                  <a:lnTo>
                    <a:pt x="1231" y="583387"/>
                  </a:lnTo>
                  <a:lnTo>
                    <a:pt x="0" y="573542"/>
                  </a:lnTo>
                </a:path>
                <a:path w="1058545" h="965200">
                  <a:moveTo>
                    <a:pt x="184614" y="22158"/>
                  </a:moveTo>
                  <a:lnTo>
                    <a:pt x="185848" y="12313"/>
                  </a:lnTo>
                  <a:lnTo>
                    <a:pt x="193240" y="3703"/>
                  </a:lnTo>
                  <a:lnTo>
                    <a:pt x="201850" y="0"/>
                  </a:lnTo>
                  <a:lnTo>
                    <a:pt x="212930" y="0"/>
                  </a:lnTo>
                  <a:lnTo>
                    <a:pt x="221540" y="3703"/>
                  </a:lnTo>
                  <a:lnTo>
                    <a:pt x="227697" y="12313"/>
                  </a:lnTo>
                  <a:lnTo>
                    <a:pt x="230151" y="22158"/>
                  </a:lnTo>
                  <a:lnTo>
                    <a:pt x="227697" y="30769"/>
                  </a:lnTo>
                  <a:lnTo>
                    <a:pt x="221540" y="38160"/>
                  </a:lnTo>
                  <a:lnTo>
                    <a:pt x="212930" y="43083"/>
                  </a:lnTo>
                  <a:lnTo>
                    <a:pt x="201850" y="43083"/>
                  </a:lnTo>
                  <a:lnTo>
                    <a:pt x="193240" y="38160"/>
                  </a:lnTo>
                  <a:lnTo>
                    <a:pt x="185848" y="30769"/>
                  </a:lnTo>
                  <a:lnTo>
                    <a:pt x="184614" y="22158"/>
                  </a:lnTo>
                </a:path>
                <a:path w="1058545" h="965200">
                  <a:moveTo>
                    <a:pt x="276922" y="942776"/>
                  </a:moveTo>
                  <a:lnTo>
                    <a:pt x="278157" y="932931"/>
                  </a:lnTo>
                  <a:lnTo>
                    <a:pt x="285533" y="924321"/>
                  </a:lnTo>
                  <a:lnTo>
                    <a:pt x="292924" y="920633"/>
                  </a:lnTo>
                  <a:lnTo>
                    <a:pt x="304004" y="920633"/>
                  </a:lnTo>
                  <a:lnTo>
                    <a:pt x="312615" y="924321"/>
                  </a:lnTo>
                  <a:lnTo>
                    <a:pt x="318772" y="932931"/>
                  </a:lnTo>
                  <a:lnTo>
                    <a:pt x="321225" y="942776"/>
                  </a:lnTo>
                  <a:lnTo>
                    <a:pt x="318772" y="952621"/>
                  </a:lnTo>
                  <a:lnTo>
                    <a:pt x="312615" y="960013"/>
                  </a:lnTo>
                  <a:lnTo>
                    <a:pt x="304004" y="964935"/>
                  </a:lnTo>
                  <a:lnTo>
                    <a:pt x="292924" y="964935"/>
                  </a:lnTo>
                  <a:lnTo>
                    <a:pt x="285533" y="960013"/>
                  </a:lnTo>
                  <a:lnTo>
                    <a:pt x="278157" y="952621"/>
                  </a:lnTo>
                  <a:lnTo>
                    <a:pt x="276922" y="942776"/>
                  </a:lnTo>
                </a:path>
                <a:path w="1058545" h="965200">
                  <a:moveTo>
                    <a:pt x="460305" y="390159"/>
                  </a:moveTo>
                  <a:lnTo>
                    <a:pt x="461540" y="380314"/>
                  </a:lnTo>
                  <a:lnTo>
                    <a:pt x="468931" y="371703"/>
                  </a:lnTo>
                  <a:lnTo>
                    <a:pt x="477542" y="368015"/>
                  </a:lnTo>
                  <a:lnTo>
                    <a:pt x="488621" y="368015"/>
                  </a:lnTo>
                  <a:lnTo>
                    <a:pt x="497232" y="371703"/>
                  </a:lnTo>
                  <a:lnTo>
                    <a:pt x="503389" y="380314"/>
                  </a:lnTo>
                  <a:lnTo>
                    <a:pt x="505843" y="390159"/>
                  </a:lnTo>
                  <a:lnTo>
                    <a:pt x="503389" y="400004"/>
                  </a:lnTo>
                  <a:lnTo>
                    <a:pt x="497232" y="407395"/>
                  </a:lnTo>
                  <a:lnTo>
                    <a:pt x="488621" y="412318"/>
                  </a:lnTo>
                  <a:lnTo>
                    <a:pt x="477542" y="412318"/>
                  </a:lnTo>
                  <a:lnTo>
                    <a:pt x="468931" y="407395"/>
                  </a:lnTo>
                  <a:lnTo>
                    <a:pt x="461540" y="400004"/>
                  </a:lnTo>
                  <a:lnTo>
                    <a:pt x="460305" y="390159"/>
                  </a:lnTo>
                </a:path>
                <a:path w="1058545" h="965200">
                  <a:moveTo>
                    <a:pt x="644923" y="113233"/>
                  </a:moveTo>
                  <a:lnTo>
                    <a:pt x="646157" y="103388"/>
                  </a:lnTo>
                  <a:lnTo>
                    <a:pt x="653549" y="94777"/>
                  </a:lnTo>
                  <a:lnTo>
                    <a:pt x="662159" y="91089"/>
                  </a:lnTo>
                  <a:lnTo>
                    <a:pt x="673239" y="91089"/>
                  </a:lnTo>
                  <a:lnTo>
                    <a:pt x="681849" y="94777"/>
                  </a:lnTo>
                  <a:lnTo>
                    <a:pt x="688006" y="103388"/>
                  </a:lnTo>
                  <a:lnTo>
                    <a:pt x="690460" y="113233"/>
                  </a:lnTo>
                  <a:lnTo>
                    <a:pt x="688006" y="123078"/>
                  </a:lnTo>
                  <a:lnTo>
                    <a:pt x="681849" y="130469"/>
                  </a:lnTo>
                  <a:lnTo>
                    <a:pt x="673239" y="135392"/>
                  </a:lnTo>
                  <a:lnTo>
                    <a:pt x="662159" y="135392"/>
                  </a:lnTo>
                  <a:lnTo>
                    <a:pt x="653549" y="130469"/>
                  </a:lnTo>
                  <a:lnTo>
                    <a:pt x="646157" y="123078"/>
                  </a:lnTo>
                  <a:lnTo>
                    <a:pt x="644923" y="113233"/>
                  </a:lnTo>
                </a:path>
                <a:path w="1058545" h="965200">
                  <a:moveTo>
                    <a:pt x="737231" y="573542"/>
                  </a:moveTo>
                  <a:lnTo>
                    <a:pt x="738466" y="563697"/>
                  </a:lnTo>
                  <a:lnTo>
                    <a:pt x="745857" y="555086"/>
                  </a:lnTo>
                  <a:lnTo>
                    <a:pt x="754468" y="551398"/>
                  </a:lnTo>
                  <a:lnTo>
                    <a:pt x="765547" y="551398"/>
                  </a:lnTo>
                  <a:lnTo>
                    <a:pt x="774158" y="555086"/>
                  </a:lnTo>
                  <a:lnTo>
                    <a:pt x="779080" y="563697"/>
                  </a:lnTo>
                  <a:lnTo>
                    <a:pt x="781549" y="573542"/>
                  </a:lnTo>
                  <a:lnTo>
                    <a:pt x="779080" y="583387"/>
                  </a:lnTo>
                  <a:lnTo>
                    <a:pt x="774158" y="590778"/>
                  </a:lnTo>
                  <a:lnTo>
                    <a:pt x="765547" y="595701"/>
                  </a:lnTo>
                  <a:lnTo>
                    <a:pt x="754468" y="595701"/>
                  </a:lnTo>
                  <a:lnTo>
                    <a:pt x="745857" y="590778"/>
                  </a:lnTo>
                  <a:lnTo>
                    <a:pt x="738466" y="583387"/>
                  </a:lnTo>
                  <a:lnTo>
                    <a:pt x="737231" y="573542"/>
                  </a:lnTo>
                </a:path>
                <a:path w="1058545" h="965200">
                  <a:moveTo>
                    <a:pt x="1012923" y="758159"/>
                  </a:moveTo>
                  <a:lnTo>
                    <a:pt x="1014157" y="748314"/>
                  </a:lnTo>
                  <a:lnTo>
                    <a:pt x="1021549" y="739703"/>
                  </a:lnTo>
                  <a:lnTo>
                    <a:pt x="1030159" y="736015"/>
                  </a:lnTo>
                  <a:lnTo>
                    <a:pt x="1041239" y="736015"/>
                  </a:lnTo>
                  <a:lnTo>
                    <a:pt x="1049850" y="739703"/>
                  </a:lnTo>
                  <a:lnTo>
                    <a:pt x="1056007" y="748314"/>
                  </a:lnTo>
                  <a:lnTo>
                    <a:pt x="1058460" y="758159"/>
                  </a:lnTo>
                  <a:lnTo>
                    <a:pt x="1056007" y="768004"/>
                  </a:lnTo>
                  <a:lnTo>
                    <a:pt x="1049850" y="775395"/>
                  </a:lnTo>
                  <a:lnTo>
                    <a:pt x="1041239" y="780318"/>
                  </a:lnTo>
                  <a:lnTo>
                    <a:pt x="1030159" y="780318"/>
                  </a:lnTo>
                  <a:lnTo>
                    <a:pt x="1021549" y="775395"/>
                  </a:lnTo>
                  <a:lnTo>
                    <a:pt x="1014157" y="768004"/>
                  </a:lnTo>
                  <a:lnTo>
                    <a:pt x="1012923" y="758159"/>
                  </a:lnTo>
                </a:path>
              </a:pathLst>
            </a:custGeom>
            <a:ln w="102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1282191" y="2441041"/>
            <a:ext cx="202565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(2,5)</a:t>
            </a:r>
            <a:endParaRPr sz="7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63732" y="2338886"/>
            <a:ext cx="202565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(7,7)</a:t>
            </a:r>
            <a:endParaRPr sz="7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56345" y="1807003"/>
            <a:ext cx="346075" cy="367665"/>
          </a:xfrm>
          <a:prstGeom prst="rect">
            <a:avLst/>
          </a:prstGeom>
        </p:spPr>
        <p:txBody>
          <a:bodyPr wrap="square" lIns="0" tIns="762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600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(3,13)</a:t>
            </a:r>
            <a:endParaRPr sz="700">
              <a:latin typeface="Arial"/>
              <a:cs typeface="Arial"/>
            </a:endParaRPr>
          </a:p>
          <a:p>
            <a:pPr marL="92075">
              <a:lnSpc>
                <a:spcPct val="100000"/>
              </a:lnSpc>
              <a:spcBef>
                <a:spcPts val="509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(4,11)</a:t>
            </a:r>
            <a:endParaRPr sz="7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872963" y="2580118"/>
            <a:ext cx="25400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(10,5)</a:t>
            </a:r>
            <a:endParaRPr sz="7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808963" y="2122269"/>
            <a:ext cx="25400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(9,10)</a:t>
            </a:r>
            <a:endParaRPr sz="7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404659" y="1804543"/>
            <a:ext cx="489584" cy="37274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620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(12,12)</a:t>
            </a:r>
            <a:endParaRPr sz="700">
              <a:latin typeface="Arial"/>
              <a:cs typeface="Arial"/>
            </a:endParaRPr>
          </a:p>
          <a:p>
            <a:pPr marL="184150">
              <a:lnSpc>
                <a:spcPct val="100000"/>
              </a:lnSpc>
              <a:spcBef>
                <a:spcPts val="525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(14,10)</a:t>
            </a:r>
            <a:endParaRPr sz="7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684046" y="2327809"/>
            <a:ext cx="25400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(15,7)</a:t>
            </a:r>
            <a:endParaRPr sz="7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482197" y="2695810"/>
            <a:ext cx="25400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(13,3)</a:t>
            </a:r>
            <a:endParaRPr sz="7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239118" y="1576039"/>
            <a:ext cx="2583815" cy="1478915"/>
            <a:chOff x="1239118" y="1576039"/>
            <a:chExt cx="2583815" cy="1478915"/>
          </a:xfrm>
        </p:grpSpPr>
        <p:sp>
          <p:nvSpPr>
            <p:cNvPr id="25" name="object 25"/>
            <p:cNvSpPr/>
            <p:nvPr/>
          </p:nvSpPr>
          <p:spPr>
            <a:xfrm>
              <a:off x="1239118" y="1830822"/>
              <a:ext cx="1405890" cy="758190"/>
            </a:xfrm>
            <a:custGeom>
              <a:avLst/>
              <a:gdLst/>
              <a:ahLst/>
              <a:cxnLst/>
              <a:rect l="l" t="t" r="r" b="b"/>
              <a:pathLst>
                <a:path w="1405889" h="758189">
                  <a:moveTo>
                    <a:pt x="254770" y="22143"/>
                  </a:moveTo>
                  <a:lnTo>
                    <a:pt x="255999" y="12298"/>
                  </a:lnTo>
                  <a:lnTo>
                    <a:pt x="263385" y="3688"/>
                  </a:lnTo>
                  <a:lnTo>
                    <a:pt x="272001" y="0"/>
                  </a:lnTo>
                  <a:lnTo>
                    <a:pt x="283078" y="0"/>
                  </a:lnTo>
                  <a:lnTo>
                    <a:pt x="291693" y="3688"/>
                  </a:lnTo>
                  <a:lnTo>
                    <a:pt x="297850" y="12298"/>
                  </a:lnTo>
                  <a:lnTo>
                    <a:pt x="300304" y="22143"/>
                  </a:lnTo>
                  <a:lnTo>
                    <a:pt x="297850" y="31988"/>
                  </a:lnTo>
                  <a:lnTo>
                    <a:pt x="291693" y="39380"/>
                  </a:lnTo>
                  <a:lnTo>
                    <a:pt x="283078" y="44302"/>
                  </a:lnTo>
                  <a:lnTo>
                    <a:pt x="272001" y="44302"/>
                  </a:lnTo>
                  <a:lnTo>
                    <a:pt x="263385" y="39380"/>
                  </a:lnTo>
                  <a:lnTo>
                    <a:pt x="255999" y="31988"/>
                  </a:lnTo>
                  <a:lnTo>
                    <a:pt x="254770" y="22143"/>
                  </a:lnTo>
                </a:path>
                <a:path w="1405889" h="758189">
                  <a:moveTo>
                    <a:pt x="1267693" y="297835"/>
                  </a:moveTo>
                  <a:lnTo>
                    <a:pt x="1268928" y="287990"/>
                  </a:lnTo>
                  <a:lnTo>
                    <a:pt x="1276319" y="279379"/>
                  </a:lnTo>
                  <a:lnTo>
                    <a:pt x="1284930" y="275691"/>
                  </a:lnTo>
                  <a:lnTo>
                    <a:pt x="1296009" y="275691"/>
                  </a:lnTo>
                  <a:lnTo>
                    <a:pt x="1304620" y="279379"/>
                  </a:lnTo>
                  <a:lnTo>
                    <a:pt x="1310777" y="287990"/>
                  </a:lnTo>
                  <a:lnTo>
                    <a:pt x="1313230" y="297835"/>
                  </a:lnTo>
                  <a:lnTo>
                    <a:pt x="1310777" y="307680"/>
                  </a:lnTo>
                  <a:lnTo>
                    <a:pt x="1304620" y="315071"/>
                  </a:lnTo>
                  <a:lnTo>
                    <a:pt x="1296009" y="319994"/>
                  </a:lnTo>
                  <a:lnTo>
                    <a:pt x="1284930" y="319994"/>
                  </a:lnTo>
                  <a:lnTo>
                    <a:pt x="1276319" y="315071"/>
                  </a:lnTo>
                  <a:lnTo>
                    <a:pt x="1268928" y="307680"/>
                  </a:lnTo>
                  <a:lnTo>
                    <a:pt x="1267693" y="297835"/>
                  </a:lnTo>
                </a:path>
                <a:path w="1405889" h="758189">
                  <a:moveTo>
                    <a:pt x="1360002" y="574761"/>
                  </a:moveTo>
                  <a:lnTo>
                    <a:pt x="1361236" y="564916"/>
                  </a:lnTo>
                  <a:lnTo>
                    <a:pt x="1368628" y="556305"/>
                  </a:lnTo>
                  <a:lnTo>
                    <a:pt x="1377238" y="552617"/>
                  </a:lnTo>
                  <a:lnTo>
                    <a:pt x="1388318" y="552617"/>
                  </a:lnTo>
                  <a:lnTo>
                    <a:pt x="1396928" y="556305"/>
                  </a:lnTo>
                  <a:lnTo>
                    <a:pt x="1403085" y="564916"/>
                  </a:lnTo>
                  <a:lnTo>
                    <a:pt x="1405539" y="574761"/>
                  </a:lnTo>
                  <a:lnTo>
                    <a:pt x="1403085" y="584606"/>
                  </a:lnTo>
                  <a:lnTo>
                    <a:pt x="1396928" y="591997"/>
                  </a:lnTo>
                  <a:lnTo>
                    <a:pt x="1388318" y="596920"/>
                  </a:lnTo>
                  <a:lnTo>
                    <a:pt x="1377238" y="596920"/>
                  </a:lnTo>
                  <a:lnTo>
                    <a:pt x="1368628" y="591997"/>
                  </a:lnTo>
                  <a:lnTo>
                    <a:pt x="1361236" y="584606"/>
                  </a:lnTo>
                  <a:lnTo>
                    <a:pt x="1360002" y="574761"/>
                  </a:lnTo>
                </a:path>
                <a:path w="1405889" h="758189">
                  <a:moveTo>
                    <a:pt x="0" y="758144"/>
                  </a:moveTo>
                  <a:lnTo>
                    <a:pt x="162461" y="758144"/>
                  </a:lnTo>
                </a:path>
              </a:pathLst>
            </a:custGeom>
            <a:ln w="102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1423734" y="1576039"/>
              <a:ext cx="0" cy="1450340"/>
            </a:xfrm>
            <a:custGeom>
              <a:avLst/>
              <a:gdLst/>
              <a:ahLst/>
              <a:cxnLst/>
              <a:rect l="l" t="t" r="r" b="b"/>
              <a:pathLst>
                <a:path w="0" h="1450339">
                  <a:moveTo>
                    <a:pt x="0" y="0"/>
                  </a:moveTo>
                  <a:lnTo>
                    <a:pt x="0" y="24612"/>
                  </a:lnTo>
                </a:path>
                <a:path w="0" h="1450339">
                  <a:moveTo>
                    <a:pt x="0" y="49240"/>
                  </a:moveTo>
                  <a:lnTo>
                    <a:pt x="0" y="73853"/>
                  </a:lnTo>
                </a:path>
                <a:path w="0" h="1450339">
                  <a:moveTo>
                    <a:pt x="0" y="98465"/>
                  </a:moveTo>
                  <a:lnTo>
                    <a:pt x="0" y="123078"/>
                  </a:lnTo>
                </a:path>
                <a:path w="0" h="1450339">
                  <a:moveTo>
                    <a:pt x="0" y="147690"/>
                  </a:moveTo>
                  <a:lnTo>
                    <a:pt x="0" y="172318"/>
                  </a:lnTo>
                </a:path>
                <a:path w="0" h="1450339">
                  <a:moveTo>
                    <a:pt x="0" y="196931"/>
                  </a:moveTo>
                  <a:lnTo>
                    <a:pt x="0" y="221543"/>
                  </a:lnTo>
                </a:path>
                <a:path w="0" h="1450339">
                  <a:moveTo>
                    <a:pt x="0" y="246156"/>
                  </a:moveTo>
                  <a:lnTo>
                    <a:pt x="0" y="270769"/>
                  </a:lnTo>
                </a:path>
                <a:path w="0" h="1450339">
                  <a:moveTo>
                    <a:pt x="0" y="295396"/>
                  </a:moveTo>
                  <a:lnTo>
                    <a:pt x="0" y="320009"/>
                  </a:lnTo>
                </a:path>
                <a:path w="0" h="1450339">
                  <a:moveTo>
                    <a:pt x="0" y="344622"/>
                  </a:moveTo>
                  <a:lnTo>
                    <a:pt x="0" y="369234"/>
                  </a:lnTo>
                </a:path>
                <a:path w="0" h="1450339">
                  <a:moveTo>
                    <a:pt x="0" y="393847"/>
                  </a:moveTo>
                  <a:lnTo>
                    <a:pt x="0" y="418475"/>
                  </a:lnTo>
                </a:path>
                <a:path w="0" h="1450339">
                  <a:moveTo>
                    <a:pt x="0" y="443087"/>
                  </a:moveTo>
                  <a:lnTo>
                    <a:pt x="0" y="467700"/>
                  </a:lnTo>
                </a:path>
                <a:path w="0" h="1450339">
                  <a:moveTo>
                    <a:pt x="0" y="491078"/>
                  </a:moveTo>
                  <a:lnTo>
                    <a:pt x="0" y="515706"/>
                  </a:lnTo>
                </a:path>
                <a:path w="0" h="1450339">
                  <a:moveTo>
                    <a:pt x="0" y="540318"/>
                  </a:moveTo>
                  <a:lnTo>
                    <a:pt x="0" y="564931"/>
                  </a:lnTo>
                </a:path>
                <a:path w="0" h="1450339">
                  <a:moveTo>
                    <a:pt x="0" y="589544"/>
                  </a:moveTo>
                  <a:lnTo>
                    <a:pt x="0" y="614156"/>
                  </a:lnTo>
                </a:path>
                <a:path w="0" h="1450339">
                  <a:moveTo>
                    <a:pt x="0" y="638784"/>
                  </a:moveTo>
                  <a:lnTo>
                    <a:pt x="0" y="663397"/>
                  </a:lnTo>
                </a:path>
                <a:path w="0" h="1450339">
                  <a:moveTo>
                    <a:pt x="0" y="688009"/>
                  </a:moveTo>
                  <a:lnTo>
                    <a:pt x="0" y="712622"/>
                  </a:lnTo>
                </a:path>
                <a:path w="0" h="1450339">
                  <a:moveTo>
                    <a:pt x="0" y="737234"/>
                  </a:moveTo>
                  <a:lnTo>
                    <a:pt x="0" y="761847"/>
                  </a:lnTo>
                </a:path>
                <a:path w="0" h="1450339">
                  <a:moveTo>
                    <a:pt x="0" y="786475"/>
                  </a:moveTo>
                  <a:lnTo>
                    <a:pt x="0" y="811088"/>
                  </a:lnTo>
                </a:path>
                <a:path w="0" h="1450339">
                  <a:moveTo>
                    <a:pt x="0" y="835700"/>
                  </a:moveTo>
                  <a:lnTo>
                    <a:pt x="0" y="860313"/>
                  </a:lnTo>
                </a:path>
                <a:path w="0" h="1450339">
                  <a:moveTo>
                    <a:pt x="0" y="884925"/>
                  </a:moveTo>
                  <a:lnTo>
                    <a:pt x="0" y="909553"/>
                  </a:lnTo>
                </a:path>
                <a:path w="0" h="1450339">
                  <a:moveTo>
                    <a:pt x="0" y="934166"/>
                  </a:moveTo>
                  <a:lnTo>
                    <a:pt x="0" y="958778"/>
                  </a:lnTo>
                </a:path>
                <a:path w="0" h="1450339">
                  <a:moveTo>
                    <a:pt x="0" y="982157"/>
                  </a:moveTo>
                  <a:lnTo>
                    <a:pt x="0" y="1006784"/>
                  </a:lnTo>
                </a:path>
                <a:path w="0" h="1450339">
                  <a:moveTo>
                    <a:pt x="0" y="1031397"/>
                  </a:moveTo>
                  <a:lnTo>
                    <a:pt x="0" y="1056010"/>
                  </a:lnTo>
                </a:path>
                <a:path w="0" h="1450339">
                  <a:moveTo>
                    <a:pt x="0" y="1080622"/>
                  </a:moveTo>
                  <a:lnTo>
                    <a:pt x="0" y="1105235"/>
                  </a:lnTo>
                </a:path>
                <a:path w="0" h="1450339">
                  <a:moveTo>
                    <a:pt x="0" y="1129863"/>
                  </a:moveTo>
                  <a:lnTo>
                    <a:pt x="0" y="1154475"/>
                  </a:lnTo>
                </a:path>
                <a:path w="0" h="1450339">
                  <a:moveTo>
                    <a:pt x="0" y="1179088"/>
                  </a:moveTo>
                  <a:lnTo>
                    <a:pt x="0" y="1203700"/>
                  </a:lnTo>
                </a:path>
                <a:path w="0" h="1450339">
                  <a:moveTo>
                    <a:pt x="0" y="1228313"/>
                  </a:moveTo>
                  <a:lnTo>
                    <a:pt x="0" y="1252941"/>
                  </a:lnTo>
                </a:path>
                <a:path w="0" h="1450339">
                  <a:moveTo>
                    <a:pt x="0" y="1277553"/>
                  </a:moveTo>
                  <a:lnTo>
                    <a:pt x="0" y="1302166"/>
                  </a:lnTo>
                </a:path>
                <a:path w="0" h="1450339">
                  <a:moveTo>
                    <a:pt x="0" y="1326779"/>
                  </a:moveTo>
                  <a:lnTo>
                    <a:pt x="0" y="1351391"/>
                  </a:lnTo>
                </a:path>
                <a:path w="0" h="1450339">
                  <a:moveTo>
                    <a:pt x="0" y="1376019"/>
                  </a:moveTo>
                  <a:lnTo>
                    <a:pt x="0" y="1400632"/>
                  </a:lnTo>
                </a:path>
                <a:path w="0" h="1450339">
                  <a:moveTo>
                    <a:pt x="0" y="1425244"/>
                  </a:moveTo>
                  <a:lnTo>
                    <a:pt x="0" y="1449857"/>
                  </a:lnTo>
                </a:path>
              </a:pathLst>
            </a:custGeom>
            <a:ln w="102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1423734" y="1713885"/>
              <a:ext cx="127000" cy="0"/>
            </a:xfrm>
            <a:custGeom>
              <a:avLst/>
              <a:gdLst/>
              <a:ahLst/>
              <a:cxnLst/>
              <a:rect l="l" t="t" r="r" b="b"/>
              <a:pathLst>
                <a:path w="127000" h="0">
                  <a:moveTo>
                    <a:pt x="0" y="0"/>
                  </a:moveTo>
                  <a:lnTo>
                    <a:pt x="126767" y="0"/>
                  </a:lnTo>
                </a:path>
              </a:pathLst>
            </a:custGeom>
            <a:ln w="102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1532046" y="1675739"/>
              <a:ext cx="76835" cy="76835"/>
            </a:xfrm>
            <a:custGeom>
              <a:avLst/>
              <a:gdLst/>
              <a:ahLst/>
              <a:cxnLst/>
              <a:rect l="l" t="t" r="r" b="b"/>
              <a:pathLst>
                <a:path w="76834" h="76835">
                  <a:moveTo>
                    <a:pt x="0" y="0"/>
                  </a:moveTo>
                  <a:lnTo>
                    <a:pt x="2453" y="4922"/>
                  </a:lnTo>
                  <a:lnTo>
                    <a:pt x="3688" y="8610"/>
                  </a:lnTo>
                  <a:lnTo>
                    <a:pt x="6156" y="13533"/>
                  </a:lnTo>
                  <a:lnTo>
                    <a:pt x="7376" y="17221"/>
                  </a:lnTo>
                  <a:lnTo>
                    <a:pt x="7376" y="22158"/>
                  </a:lnTo>
                  <a:lnTo>
                    <a:pt x="8610" y="27081"/>
                  </a:lnTo>
                  <a:lnTo>
                    <a:pt x="8610" y="32003"/>
                  </a:lnTo>
                  <a:lnTo>
                    <a:pt x="9845" y="35692"/>
                  </a:lnTo>
                  <a:lnTo>
                    <a:pt x="9845" y="40614"/>
                  </a:lnTo>
                  <a:lnTo>
                    <a:pt x="8610" y="45537"/>
                  </a:lnTo>
                  <a:lnTo>
                    <a:pt x="8610" y="50459"/>
                  </a:lnTo>
                  <a:lnTo>
                    <a:pt x="7376" y="54147"/>
                  </a:lnTo>
                  <a:lnTo>
                    <a:pt x="7376" y="59070"/>
                  </a:lnTo>
                  <a:lnTo>
                    <a:pt x="6156" y="63992"/>
                  </a:lnTo>
                  <a:lnTo>
                    <a:pt x="3688" y="67696"/>
                  </a:lnTo>
                  <a:lnTo>
                    <a:pt x="2453" y="72618"/>
                  </a:lnTo>
                  <a:lnTo>
                    <a:pt x="0" y="76306"/>
                  </a:lnTo>
                  <a:lnTo>
                    <a:pt x="76306" y="381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322194" y="1923115"/>
              <a:ext cx="1495425" cy="1126490"/>
            </a:xfrm>
            <a:custGeom>
              <a:avLst/>
              <a:gdLst/>
              <a:ahLst/>
              <a:cxnLst/>
              <a:rect l="l" t="t" r="r" b="b"/>
              <a:pathLst>
                <a:path w="1495425" h="1126489">
                  <a:moveTo>
                    <a:pt x="0" y="22158"/>
                  </a:moveTo>
                  <a:lnTo>
                    <a:pt x="1234" y="12313"/>
                  </a:lnTo>
                  <a:lnTo>
                    <a:pt x="8625" y="3703"/>
                  </a:lnTo>
                  <a:lnTo>
                    <a:pt x="17236" y="0"/>
                  </a:lnTo>
                  <a:lnTo>
                    <a:pt x="28315" y="0"/>
                  </a:lnTo>
                  <a:lnTo>
                    <a:pt x="36926" y="3703"/>
                  </a:lnTo>
                  <a:lnTo>
                    <a:pt x="43083" y="12313"/>
                  </a:lnTo>
                  <a:lnTo>
                    <a:pt x="45552" y="22158"/>
                  </a:lnTo>
                  <a:lnTo>
                    <a:pt x="43083" y="32003"/>
                  </a:lnTo>
                  <a:lnTo>
                    <a:pt x="36926" y="39395"/>
                  </a:lnTo>
                  <a:lnTo>
                    <a:pt x="28315" y="44317"/>
                  </a:lnTo>
                  <a:lnTo>
                    <a:pt x="17236" y="44317"/>
                  </a:lnTo>
                  <a:lnTo>
                    <a:pt x="8625" y="39395"/>
                  </a:lnTo>
                  <a:lnTo>
                    <a:pt x="1234" y="32003"/>
                  </a:lnTo>
                  <a:lnTo>
                    <a:pt x="0" y="22158"/>
                  </a:lnTo>
                </a:path>
                <a:path w="1495425" h="1126489">
                  <a:moveTo>
                    <a:pt x="1127394" y="22158"/>
                  </a:moveTo>
                  <a:lnTo>
                    <a:pt x="1127394" y="1126175"/>
                  </a:lnTo>
                </a:path>
                <a:path w="1495425" h="1126489">
                  <a:moveTo>
                    <a:pt x="1495394" y="22158"/>
                  </a:moveTo>
                  <a:lnTo>
                    <a:pt x="1495394" y="1126175"/>
                  </a:lnTo>
                </a:path>
                <a:path w="1495425" h="1126489">
                  <a:moveTo>
                    <a:pt x="1127394" y="1126175"/>
                  </a:moveTo>
                  <a:lnTo>
                    <a:pt x="1495394" y="1126175"/>
                  </a:lnTo>
                </a:path>
              </a:pathLst>
            </a:custGeom>
            <a:ln w="102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/>
          <p:cNvSpPr txBox="1"/>
          <p:nvPr/>
        </p:nvSpPr>
        <p:spPr>
          <a:xfrm>
            <a:off x="1337576" y="1303862"/>
            <a:ext cx="593725" cy="1733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950" spc="10">
                <a:solidFill>
                  <a:srgbClr val="FFFFFF"/>
                </a:solidFill>
                <a:latin typeface="Arial"/>
                <a:cs typeface="Arial"/>
              </a:rPr>
              <a:t>sweep</a:t>
            </a:r>
            <a:r>
              <a:rPr dirty="0" sz="950" spc="-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line</a:t>
            </a:r>
            <a:endParaRPr sz="9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472978" y="3052790"/>
            <a:ext cx="299720" cy="1733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950" spc="5" i="1">
                <a:solidFill>
                  <a:srgbClr val="FFFFFF"/>
                </a:solidFill>
                <a:latin typeface="Arial"/>
                <a:cs typeface="Arial"/>
              </a:rPr>
              <a:t>stack</a:t>
            </a:r>
            <a:endParaRPr sz="95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418023" y="2891507"/>
            <a:ext cx="234950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25"/>
              </a:spcBef>
              <a:tabLst>
                <a:tab pos="2120900" algn="l"/>
              </a:tabLst>
            </a:pPr>
            <a:r>
              <a:rPr dirty="0" baseline="7936" sz="1050" spc="15">
                <a:solidFill>
                  <a:srgbClr val="FFFFFF"/>
                </a:solidFill>
                <a:latin typeface="Arial"/>
                <a:cs typeface="Arial"/>
              </a:rPr>
              <a:t>(5,1)	</a:t>
            </a: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(2,5)</a:t>
            </a:r>
            <a:endParaRPr sz="7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434223" y="3385732"/>
            <a:ext cx="19323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1.6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eep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5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4343400" y="1267658"/>
            <a:ext cx="3025140" cy="2042160"/>
            <a:chOff x="4343400" y="1267658"/>
            <a:chExt cx="3025140" cy="2042160"/>
          </a:xfrm>
        </p:grpSpPr>
        <p:sp>
          <p:nvSpPr>
            <p:cNvPr id="35" name="object 35"/>
            <p:cNvSpPr/>
            <p:nvPr/>
          </p:nvSpPr>
          <p:spPr>
            <a:xfrm>
              <a:off x="4343400" y="1267658"/>
              <a:ext cx="3025140" cy="2042160"/>
            </a:xfrm>
            <a:custGeom>
              <a:avLst/>
              <a:gdLst/>
              <a:ahLst/>
              <a:cxnLst/>
              <a:rect l="l" t="t" r="r" b="b"/>
              <a:pathLst>
                <a:path w="3025140" h="2042160">
                  <a:moveTo>
                    <a:pt x="3024835" y="0"/>
                  </a:moveTo>
                  <a:lnTo>
                    <a:pt x="0" y="0"/>
                  </a:lnTo>
                  <a:lnTo>
                    <a:pt x="0" y="2041961"/>
                  </a:lnTo>
                  <a:lnTo>
                    <a:pt x="3024835" y="2041961"/>
                  </a:lnTo>
                  <a:lnTo>
                    <a:pt x="3024835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623815" y="1760657"/>
              <a:ext cx="1517650" cy="1334770"/>
            </a:xfrm>
            <a:custGeom>
              <a:avLst/>
              <a:gdLst/>
              <a:ahLst/>
              <a:cxnLst/>
              <a:rect l="l" t="t" r="r" b="b"/>
              <a:pathLst>
                <a:path w="1517650" h="1334770">
                  <a:moveTo>
                    <a:pt x="228920" y="1243081"/>
                  </a:moveTo>
                  <a:lnTo>
                    <a:pt x="228920" y="1334170"/>
                  </a:lnTo>
                </a:path>
                <a:path w="1517650" h="1334770">
                  <a:moveTo>
                    <a:pt x="413537" y="1243081"/>
                  </a:moveTo>
                  <a:lnTo>
                    <a:pt x="413537" y="1334170"/>
                  </a:lnTo>
                </a:path>
                <a:path w="1517650" h="1334770">
                  <a:moveTo>
                    <a:pt x="596920" y="1243081"/>
                  </a:moveTo>
                  <a:lnTo>
                    <a:pt x="596920" y="1334170"/>
                  </a:lnTo>
                </a:path>
                <a:path w="1517650" h="1334770">
                  <a:moveTo>
                    <a:pt x="781537" y="1243081"/>
                  </a:moveTo>
                  <a:lnTo>
                    <a:pt x="781537" y="1334170"/>
                  </a:lnTo>
                </a:path>
                <a:path w="1517650" h="1334770">
                  <a:moveTo>
                    <a:pt x="966155" y="1243081"/>
                  </a:moveTo>
                  <a:lnTo>
                    <a:pt x="966155" y="1334170"/>
                  </a:lnTo>
                </a:path>
                <a:path w="1517650" h="1334770">
                  <a:moveTo>
                    <a:pt x="1149537" y="1243081"/>
                  </a:moveTo>
                  <a:lnTo>
                    <a:pt x="1149537" y="1334170"/>
                  </a:lnTo>
                </a:path>
                <a:path w="1517650" h="1334770">
                  <a:moveTo>
                    <a:pt x="1334155" y="1243081"/>
                  </a:moveTo>
                  <a:lnTo>
                    <a:pt x="1334155" y="1334170"/>
                  </a:lnTo>
                </a:path>
                <a:path w="1517650" h="1334770">
                  <a:moveTo>
                    <a:pt x="1517538" y="1243081"/>
                  </a:moveTo>
                  <a:lnTo>
                    <a:pt x="1517538" y="1334170"/>
                  </a:lnTo>
                </a:path>
                <a:path w="1517650" h="1334770">
                  <a:moveTo>
                    <a:pt x="91074" y="1105235"/>
                  </a:moveTo>
                  <a:lnTo>
                    <a:pt x="0" y="1105235"/>
                  </a:lnTo>
                </a:path>
                <a:path w="1517650" h="1334770">
                  <a:moveTo>
                    <a:pt x="91074" y="920617"/>
                  </a:moveTo>
                  <a:lnTo>
                    <a:pt x="0" y="920617"/>
                  </a:lnTo>
                </a:path>
                <a:path w="1517650" h="1334770">
                  <a:moveTo>
                    <a:pt x="91074" y="737234"/>
                  </a:moveTo>
                  <a:lnTo>
                    <a:pt x="0" y="737234"/>
                  </a:lnTo>
                </a:path>
                <a:path w="1517650" h="1334770">
                  <a:moveTo>
                    <a:pt x="91074" y="552617"/>
                  </a:moveTo>
                  <a:lnTo>
                    <a:pt x="0" y="552617"/>
                  </a:lnTo>
                </a:path>
                <a:path w="1517650" h="1334770">
                  <a:moveTo>
                    <a:pt x="91074" y="368000"/>
                  </a:moveTo>
                  <a:lnTo>
                    <a:pt x="0" y="368000"/>
                  </a:lnTo>
                </a:path>
                <a:path w="1517650" h="1334770">
                  <a:moveTo>
                    <a:pt x="91074" y="184617"/>
                  </a:moveTo>
                  <a:lnTo>
                    <a:pt x="0" y="184617"/>
                  </a:lnTo>
                </a:path>
                <a:path w="1517650" h="1334770">
                  <a:moveTo>
                    <a:pt x="9107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/>
          <p:cNvSpPr txBox="1"/>
          <p:nvPr/>
        </p:nvSpPr>
        <p:spPr>
          <a:xfrm>
            <a:off x="4814580" y="3076171"/>
            <a:ext cx="1591945" cy="1733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2  </a:t>
            </a:r>
            <a:r>
              <a:rPr dirty="0" sz="950" spc="1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4  </a:t>
            </a:r>
            <a:r>
              <a:rPr dirty="0" sz="950" spc="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6  </a:t>
            </a:r>
            <a:r>
              <a:rPr dirty="0" sz="950" spc="1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8 </a:t>
            </a:r>
            <a:r>
              <a:rPr dirty="0" sz="950" spc="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dirty="0" sz="950" spc="1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950" spc="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14</a:t>
            </a:r>
            <a:r>
              <a:rPr dirty="0" sz="950" spc="1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16</a:t>
            </a:r>
            <a:r>
              <a:rPr dirty="0" sz="950" spc="1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18</a:t>
            </a:r>
            <a:endParaRPr sz="950">
              <a:latin typeface="Arial"/>
              <a:cs typeface="Arial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6325971" y="3003738"/>
            <a:ext cx="0" cy="91440"/>
          </a:xfrm>
          <a:custGeom>
            <a:avLst/>
            <a:gdLst/>
            <a:ahLst/>
            <a:cxnLst/>
            <a:rect l="l" t="t" r="r" b="b"/>
            <a:pathLst>
              <a:path w="0" h="91439">
                <a:moveTo>
                  <a:pt x="0" y="0"/>
                </a:moveTo>
                <a:lnTo>
                  <a:pt x="0" y="91089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 txBox="1"/>
          <p:nvPr/>
        </p:nvSpPr>
        <p:spPr>
          <a:xfrm>
            <a:off x="4450269" y="1634686"/>
            <a:ext cx="149860" cy="1294765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9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9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10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9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950">
              <a:latin typeface="Arial"/>
              <a:cs typeface="Arial"/>
            </a:endParaRPr>
          </a:p>
          <a:p>
            <a:pPr marL="56515">
              <a:lnSpc>
                <a:spcPct val="100000"/>
              </a:lnSpc>
              <a:spcBef>
                <a:spcPts val="409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950">
              <a:latin typeface="Arial"/>
              <a:cs typeface="Arial"/>
            </a:endParaRPr>
          </a:p>
          <a:p>
            <a:pPr marL="56515">
              <a:lnSpc>
                <a:spcPct val="100000"/>
              </a:lnSpc>
              <a:spcBef>
                <a:spcPts val="140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950">
              <a:latin typeface="Arial"/>
              <a:cs typeface="Arial"/>
            </a:endParaRPr>
          </a:p>
          <a:p>
            <a:pPr marL="56515">
              <a:lnSpc>
                <a:spcPct val="100000"/>
              </a:lnSpc>
              <a:spcBef>
                <a:spcPts val="384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950">
              <a:latin typeface="Arial"/>
              <a:cs typeface="Arial"/>
            </a:endParaRPr>
          </a:p>
          <a:p>
            <a:pPr marL="56515">
              <a:lnSpc>
                <a:spcPct val="100000"/>
              </a:lnSpc>
              <a:spcBef>
                <a:spcPts val="145"/>
              </a:spcBef>
            </a:pP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4629957" y="1530502"/>
            <a:ext cx="1880870" cy="1557020"/>
            <a:chOff x="4629957" y="1530502"/>
            <a:chExt cx="1880870" cy="1557020"/>
          </a:xfrm>
        </p:grpSpPr>
        <p:sp>
          <p:nvSpPr>
            <p:cNvPr id="41" name="object 41"/>
            <p:cNvSpPr/>
            <p:nvPr/>
          </p:nvSpPr>
          <p:spPr>
            <a:xfrm>
              <a:off x="4668118" y="1587119"/>
              <a:ext cx="0" cy="1462405"/>
            </a:xfrm>
            <a:custGeom>
              <a:avLst/>
              <a:gdLst/>
              <a:ahLst/>
              <a:cxnLst/>
              <a:rect l="l" t="t" r="r" b="b"/>
              <a:pathLst>
                <a:path w="0" h="1462405">
                  <a:moveTo>
                    <a:pt x="0" y="1462171"/>
                  </a:moveTo>
                  <a:lnTo>
                    <a:pt x="0" y="0"/>
                  </a:lnTo>
                </a:path>
              </a:pathLst>
            </a:custGeom>
            <a:ln w="102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29957" y="1530502"/>
              <a:ext cx="76306" cy="75072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4668118" y="3049290"/>
              <a:ext cx="1784985" cy="0"/>
            </a:xfrm>
            <a:custGeom>
              <a:avLst/>
              <a:gdLst/>
              <a:ahLst/>
              <a:cxnLst/>
              <a:rect l="l" t="t" r="r" b="b"/>
              <a:pathLst>
                <a:path w="1784985" h="0">
                  <a:moveTo>
                    <a:pt x="0" y="0"/>
                  </a:moveTo>
                  <a:lnTo>
                    <a:pt x="1784619" y="0"/>
                  </a:lnTo>
                </a:path>
              </a:pathLst>
            </a:custGeom>
            <a:ln w="102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434282" y="3012363"/>
              <a:ext cx="76306" cy="75072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4830577" y="2015424"/>
              <a:ext cx="1058545" cy="965200"/>
            </a:xfrm>
            <a:custGeom>
              <a:avLst/>
              <a:gdLst/>
              <a:ahLst/>
              <a:cxnLst/>
              <a:rect l="l" t="t" r="r" b="b"/>
              <a:pathLst>
                <a:path w="1058545" h="965200">
                  <a:moveTo>
                    <a:pt x="0" y="573542"/>
                  </a:moveTo>
                  <a:lnTo>
                    <a:pt x="1234" y="563697"/>
                  </a:lnTo>
                  <a:lnTo>
                    <a:pt x="8625" y="555086"/>
                  </a:lnTo>
                  <a:lnTo>
                    <a:pt x="17236" y="551398"/>
                  </a:lnTo>
                  <a:lnTo>
                    <a:pt x="28315" y="551398"/>
                  </a:lnTo>
                  <a:lnTo>
                    <a:pt x="36926" y="555086"/>
                  </a:lnTo>
                  <a:lnTo>
                    <a:pt x="43083" y="563697"/>
                  </a:lnTo>
                  <a:lnTo>
                    <a:pt x="45537" y="573542"/>
                  </a:lnTo>
                  <a:lnTo>
                    <a:pt x="43083" y="583387"/>
                  </a:lnTo>
                  <a:lnTo>
                    <a:pt x="36926" y="590778"/>
                  </a:lnTo>
                  <a:lnTo>
                    <a:pt x="28315" y="595701"/>
                  </a:lnTo>
                  <a:lnTo>
                    <a:pt x="17236" y="595701"/>
                  </a:lnTo>
                  <a:lnTo>
                    <a:pt x="8625" y="590778"/>
                  </a:lnTo>
                  <a:lnTo>
                    <a:pt x="1234" y="583387"/>
                  </a:lnTo>
                  <a:lnTo>
                    <a:pt x="0" y="573542"/>
                  </a:lnTo>
                </a:path>
                <a:path w="1058545" h="965200">
                  <a:moveTo>
                    <a:pt x="184617" y="22158"/>
                  </a:moveTo>
                  <a:lnTo>
                    <a:pt x="185851" y="12313"/>
                  </a:lnTo>
                  <a:lnTo>
                    <a:pt x="193227" y="3703"/>
                  </a:lnTo>
                  <a:lnTo>
                    <a:pt x="201853" y="0"/>
                  </a:lnTo>
                  <a:lnTo>
                    <a:pt x="212933" y="0"/>
                  </a:lnTo>
                  <a:lnTo>
                    <a:pt x="221543" y="3703"/>
                  </a:lnTo>
                  <a:lnTo>
                    <a:pt x="227700" y="12313"/>
                  </a:lnTo>
                  <a:lnTo>
                    <a:pt x="230154" y="22158"/>
                  </a:lnTo>
                  <a:lnTo>
                    <a:pt x="227700" y="30769"/>
                  </a:lnTo>
                  <a:lnTo>
                    <a:pt x="221543" y="38160"/>
                  </a:lnTo>
                  <a:lnTo>
                    <a:pt x="212933" y="43083"/>
                  </a:lnTo>
                  <a:lnTo>
                    <a:pt x="201853" y="43083"/>
                  </a:lnTo>
                  <a:lnTo>
                    <a:pt x="193227" y="38160"/>
                  </a:lnTo>
                  <a:lnTo>
                    <a:pt x="185851" y="30769"/>
                  </a:lnTo>
                  <a:lnTo>
                    <a:pt x="184617" y="22158"/>
                  </a:lnTo>
                </a:path>
                <a:path w="1058545" h="965200">
                  <a:moveTo>
                    <a:pt x="276926" y="942776"/>
                  </a:moveTo>
                  <a:lnTo>
                    <a:pt x="278160" y="932931"/>
                  </a:lnTo>
                  <a:lnTo>
                    <a:pt x="285536" y="924321"/>
                  </a:lnTo>
                  <a:lnTo>
                    <a:pt x="292928" y="920633"/>
                  </a:lnTo>
                  <a:lnTo>
                    <a:pt x="304007" y="920633"/>
                  </a:lnTo>
                  <a:lnTo>
                    <a:pt x="312618" y="924321"/>
                  </a:lnTo>
                  <a:lnTo>
                    <a:pt x="318775" y="932931"/>
                  </a:lnTo>
                  <a:lnTo>
                    <a:pt x="321228" y="942776"/>
                  </a:lnTo>
                  <a:lnTo>
                    <a:pt x="318775" y="952621"/>
                  </a:lnTo>
                  <a:lnTo>
                    <a:pt x="312618" y="960013"/>
                  </a:lnTo>
                  <a:lnTo>
                    <a:pt x="304007" y="964935"/>
                  </a:lnTo>
                  <a:lnTo>
                    <a:pt x="292928" y="964935"/>
                  </a:lnTo>
                  <a:lnTo>
                    <a:pt x="285536" y="960013"/>
                  </a:lnTo>
                  <a:lnTo>
                    <a:pt x="278160" y="952621"/>
                  </a:lnTo>
                  <a:lnTo>
                    <a:pt x="276926" y="942776"/>
                  </a:lnTo>
                </a:path>
                <a:path w="1058545" h="965200">
                  <a:moveTo>
                    <a:pt x="460308" y="390159"/>
                  </a:moveTo>
                  <a:lnTo>
                    <a:pt x="461543" y="380314"/>
                  </a:lnTo>
                  <a:lnTo>
                    <a:pt x="468934" y="371703"/>
                  </a:lnTo>
                  <a:lnTo>
                    <a:pt x="477545" y="368015"/>
                  </a:lnTo>
                  <a:lnTo>
                    <a:pt x="488624" y="368015"/>
                  </a:lnTo>
                  <a:lnTo>
                    <a:pt x="497235" y="371703"/>
                  </a:lnTo>
                  <a:lnTo>
                    <a:pt x="503392" y="380314"/>
                  </a:lnTo>
                  <a:lnTo>
                    <a:pt x="505846" y="390159"/>
                  </a:lnTo>
                  <a:lnTo>
                    <a:pt x="503392" y="400004"/>
                  </a:lnTo>
                  <a:lnTo>
                    <a:pt x="497235" y="407395"/>
                  </a:lnTo>
                  <a:lnTo>
                    <a:pt x="488624" y="412318"/>
                  </a:lnTo>
                  <a:lnTo>
                    <a:pt x="477545" y="412318"/>
                  </a:lnTo>
                  <a:lnTo>
                    <a:pt x="468934" y="407395"/>
                  </a:lnTo>
                  <a:lnTo>
                    <a:pt x="461543" y="400004"/>
                  </a:lnTo>
                  <a:lnTo>
                    <a:pt x="460308" y="390159"/>
                  </a:lnTo>
                </a:path>
                <a:path w="1058545" h="965200">
                  <a:moveTo>
                    <a:pt x="644926" y="113233"/>
                  </a:moveTo>
                  <a:lnTo>
                    <a:pt x="646160" y="103388"/>
                  </a:lnTo>
                  <a:lnTo>
                    <a:pt x="653552" y="94777"/>
                  </a:lnTo>
                  <a:lnTo>
                    <a:pt x="662162" y="91089"/>
                  </a:lnTo>
                  <a:lnTo>
                    <a:pt x="673242" y="91089"/>
                  </a:lnTo>
                  <a:lnTo>
                    <a:pt x="681852" y="94777"/>
                  </a:lnTo>
                  <a:lnTo>
                    <a:pt x="688009" y="103388"/>
                  </a:lnTo>
                  <a:lnTo>
                    <a:pt x="690463" y="113233"/>
                  </a:lnTo>
                  <a:lnTo>
                    <a:pt x="688009" y="123078"/>
                  </a:lnTo>
                  <a:lnTo>
                    <a:pt x="681852" y="130469"/>
                  </a:lnTo>
                  <a:lnTo>
                    <a:pt x="673242" y="135392"/>
                  </a:lnTo>
                  <a:lnTo>
                    <a:pt x="662162" y="135392"/>
                  </a:lnTo>
                  <a:lnTo>
                    <a:pt x="653552" y="130469"/>
                  </a:lnTo>
                  <a:lnTo>
                    <a:pt x="646160" y="123078"/>
                  </a:lnTo>
                  <a:lnTo>
                    <a:pt x="644926" y="113233"/>
                  </a:lnTo>
                </a:path>
                <a:path w="1058545" h="965200">
                  <a:moveTo>
                    <a:pt x="737234" y="573542"/>
                  </a:moveTo>
                  <a:lnTo>
                    <a:pt x="738469" y="563697"/>
                  </a:lnTo>
                  <a:lnTo>
                    <a:pt x="745860" y="555086"/>
                  </a:lnTo>
                  <a:lnTo>
                    <a:pt x="754471" y="551398"/>
                  </a:lnTo>
                  <a:lnTo>
                    <a:pt x="765550" y="551398"/>
                  </a:lnTo>
                  <a:lnTo>
                    <a:pt x="774161" y="555086"/>
                  </a:lnTo>
                  <a:lnTo>
                    <a:pt x="779084" y="563697"/>
                  </a:lnTo>
                  <a:lnTo>
                    <a:pt x="781552" y="573542"/>
                  </a:lnTo>
                  <a:lnTo>
                    <a:pt x="779084" y="583387"/>
                  </a:lnTo>
                  <a:lnTo>
                    <a:pt x="774161" y="590778"/>
                  </a:lnTo>
                  <a:lnTo>
                    <a:pt x="765550" y="595701"/>
                  </a:lnTo>
                  <a:lnTo>
                    <a:pt x="754471" y="595701"/>
                  </a:lnTo>
                  <a:lnTo>
                    <a:pt x="745860" y="590778"/>
                  </a:lnTo>
                  <a:lnTo>
                    <a:pt x="738469" y="583387"/>
                  </a:lnTo>
                  <a:lnTo>
                    <a:pt x="737234" y="573542"/>
                  </a:lnTo>
                </a:path>
                <a:path w="1058545" h="965200">
                  <a:moveTo>
                    <a:pt x="1012926" y="758159"/>
                  </a:moveTo>
                  <a:lnTo>
                    <a:pt x="1014161" y="748314"/>
                  </a:lnTo>
                  <a:lnTo>
                    <a:pt x="1021552" y="739703"/>
                  </a:lnTo>
                  <a:lnTo>
                    <a:pt x="1030163" y="736015"/>
                  </a:lnTo>
                  <a:lnTo>
                    <a:pt x="1041242" y="736015"/>
                  </a:lnTo>
                  <a:lnTo>
                    <a:pt x="1049853" y="739703"/>
                  </a:lnTo>
                  <a:lnTo>
                    <a:pt x="1056010" y="748314"/>
                  </a:lnTo>
                  <a:lnTo>
                    <a:pt x="1058463" y="758159"/>
                  </a:lnTo>
                  <a:lnTo>
                    <a:pt x="1056010" y="768004"/>
                  </a:lnTo>
                  <a:lnTo>
                    <a:pt x="1049853" y="775395"/>
                  </a:lnTo>
                  <a:lnTo>
                    <a:pt x="1041242" y="780318"/>
                  </a:lnTo>
                  <a:lnTo>
                    <a:pt x="1030163" y="780318"/>
                  </a:lnTo>
                  <a:lnTo>
                    <a:pt x="1021552" y="775395"/>
                  </a:lnTo>
                  <a:lnTo>
                    <a:pt x="1014161" y="768004"/>
                  </a:lnTo>
                  <a:lnTo>
                    <a:pt x="1012926" y="758159"/>
                  </a:lnTo>
                </a:path>
              </a:pathLst>
            </a:custGeom>
            <a:ln w="102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/>
          <p:cNvSpPr txBox="1"/>
          <p:nvPr/>
        </p:nvSpPr>
        <p:spPr>
          <a:xfrm>
            <a:off x="4711189" y="2441041"/>
            <a:ext cx="202565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(2,5)</a:t>
            </a:r>
            <a:endParaRPr sz="7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092731" y="2338886"/>
            <a:ext cx="202565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(7,7)</a:t>
            </a:r>
            <a:endParaRPr sz="7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685345" y="1807003"/>
            <a:ext cx="346075" cy="367665"/>
          </a:xfrm>
          <a:prstGeom prst="rect">
            <a:avLst/>
          </a:prstGeom>
        </p:spPr>
        <p:txBody>
          <a:bodyPr wrap="square" lIns="0" tIns="762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600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(3,13)</a:t>
            </a:r>
            <a:endParaRPr sz="700">
              <a:latin typeface="Arial"/>
              <a:cs typeface="Arial"/>
            </a:endParaRPr>
          </a:p>
          <a:p>
            <a:pPr marL="92075">
              <a:lnSpc>
                <a:spcPct val="100000"/>
              </a:lnSpc>
              <a:spcBef>
                <a:spcPts val="509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(4,11)</a:t>
            </a:r>
            <a:endParaRPr sz="7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301962" y="2580118"/>
            <a:ext cx="25400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(10,5)</a:t>
            </a:r>
            <a:endParaRPr sz="7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237962" y="2122269"/>
            <a:ext cx="25400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(9,10)</a:t>
            </a:r>
            <a:endParaRPr sz="7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833658" y="1804543"/>
            <a:ext cx="489584" cy="37274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620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(12,12)</a:t>
            </a:r>
            <a:endParaRPr sz="700">
              <a:latin typeface="Arial"/>
              <a:cs typeface="Arial"/>
            </a:endParaRPr>
          </a:p>
          <a:p>
            <a:pPr marL="184150">
              <a:lnSpc>
                <a:spcPct val="100000"/>
              </a:lnSpc>
              <a:spcBef>
                <a:spcPts val="525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(14,10)</a:t>
            </a:r>
            <a:endParaRPr sz="7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6113045" y="2327809"/>
            <a:ext cx="25400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(15,7)</a:t>
            </a:r>
            <a:endParaRPr sz="7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911197" y="2695810"/>
            <a:ext cx="25400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(13,3)</a:t>
            </a:r>
            <a:endParaRPr sz="700">
              <a:latin typeface="Arial"/>
              <a:cs typeface="Arial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4668118" y="1830821"/>
            <a:ext cx="2578735" cy="1218565"/>
          </a:xfrm>
          <a:custGeom>
            <a:avLst/>
            <a:gdLst/>
            <a:ahLst/>
            <a:cxnLst/>
            <a:rect l="l" t="t" r="r" b="b"/>
            <a:pathLst>
              <a:path w="2578734" h="1218564">
                <a:moveTo>
                  <a:pt x="254767" y="22143"/>
                </a:moveTo>
                <a:lnTo>
                  <a:pt x="256001" y="12298"/>
                </a:lnTo>
                <a:lnTo>
                  <a:pt x="263377" y="3688"/>
                </a:lnTo>
                <a:lnTo>
                  <a:pt x="272003" y="0"/>
                </a:lnTo>
                <a:lnTo>
                  <a:pt x="283082" y="0"/>
                </a:lnTo>
                <a:lnTo>
                  <a:pt x="291693" y="3688"/>
                </a:lnTo>
                <a:lnTo>
                  <a:pt x="297850" y="12298"/>
                </a:lnTo>
                <a:lnTo>
                  <a:pt x="300304" y="22143"/>
                </a:lnTo>
                <a:lnTo>
                  <a:pt x="297850" y="31988"/>
                </a:lnTo>
                <a:lnTo>
                  <a:pt x="291693" y="39380"/>
                </a:lnTo>
                <a:lnTo>
                  <a:pt x="283082" y="44302"/>
                </a:lnTo>
                <a:lnTo>
                  <a:pt x="272003" y="44302"/>
                </a:lnTo>
                <a:lnTo>
                  <a:pt x="263377" y="39380"/>
                </a:lnTo>
                <a:lnTo>
                  <a:pt x="256001" y="31988"/>
                </a:lnTo>
                <a:lnTo>
                  <a:pt x="254767" y="22143"/>
                </a:lnTo>
              </a:path>
              <a:path w="2578734" h="1218564">
                <a:moveTo>
                  <a:pt x="1267693" y="297835"/>
                </a:moveTo>
                <a:lnTo>
                  <a:pt x="1268928" y="287990"/>
                </a:lnTo>
                <a:lnTo>
                  <a:pt x="1276319" y="279379"/>
                </a:lnTo>
                <a:lnTo>
                  <a:pt x="1284930" y="275691"/>
                </a:lnTo>
                <a:lnTo>
                  <a:pt x="1296009" y="275691"/>
                </a:lnTo>
                <a:lnTo>
                  <a:pt x="1304620" y="279379"/>
                </a:lnTo>
                <a:lnTo>
                  <a:pt x="1310777" y="287990"/>
                </a:lnTo>
                <a:lnTo>
                  <a:pt x="1313230" y="297835"/>
                </a:lnTo>
                <a:lnTo>
                  <a:pt x="1310777" y="307680"/>
                </a:lnTo>
                <a:lnTo>
                  <a:pt x="1304620" y="315071"/>
                </a:lnTo>
                <a:lnTo>
                  <a:pt x="1296009" y="319994"/>
                </a:lnTo>
                <a:lnTo>
                  <a:pt x="1284930" y="319994"/>
                </a:lnTo>
                <a:lnTo>
                  <a:pt x="1276319" y="315071"/>
                </a:lnTo>
                <a:lnTo>
                  <a:pt x="1268928" y="307680"/>
                </a:lnTo>
                <a:lnTo>
                  <a:pt x="1267693" y="297835"/>
                </a:lnTo>
              </a:path>
              <a:path w="2578734" h="1218564">
                <a:moveTo>
                  <a:pt x="1360002" y="574761"/>
                </a:moveTo>
                <a:lnTo>
                  <a:pt x="1361236" y="564916"/>
                </a:lnTo>
                <a:lnTo>
                  <a:pt x="1368628" y="556305"/>
                </a:lnTo>
                <a:lnTo>
                  <a:pt x="1377238" y="552617"/>
                </a:lnTo>
                <a:lnTo>
                  <a:pt x="1388318" y="552617"/>
                </a:lnTo>
                <a:lnTo>
                  <a:pt x="1396928" y="556305"/>
                </a:lnTo>
                <a:lnTo>
                  <a:pt x="1403085" y="564916"/>
                </a:lnTo>
                <a:lnTo>
                  <a:pt x="1405539" y="574761"/>
                </a:lnTo>
                <a:lnTo>
                  <a:pt x="1403085" y="584606"/>
                </a:lnTo>
                <a:lnTo>
                  <a:pt x="1396928" y="591997"/>
                </a:lnTo>
                <a:lnTo>
                  <a:pt x="1388318" y="596920"/>
                </a:lnTo>
                <a:lnTo>
                  <a:pt x="1377238" y="596920"/>
                </a:lnTo>
                <a:lnTo>
                  <a:pt x="1368628" y="591997"/>
                </a:lnTo>
                <a:lnTo>
                  <a:pt x="1361236" y="584606"/>
                </a:lnTo>
                <a:lnTo>
                  <a:pt x="1360002" y="574761"/>
                </a:lnTo>
              </a:path>
              <a:path w="2578734" h="1218564">
                <a:moveTo>
                  <a:pt x="0" y="22143"/>
                </a:moveTo>
                <a:lnTo>
                  <a:pt x="254767" y="22143"/>
                </a:lnTo>
              </a:path>
              <a:path w="2578734" h="1218564">
                <a:moveTo>
                  <a:pt x="1083076" y="114452"/>
                </a:moveTo>
                <a:lnTo>
                  <a:pt x="1084310" y="104607"/>
                </a:lnTo>
                <a:lnTo>
                  <a:pt x="1091702" y="95996"/>
                </a:lnTo>
                <a:lnTo>
                  <a:pt x="1100312" y="92293"/>
                </a:lnTo>
                <a:lnTo>
                  <a:pt x="1111392" y="92293"/>
                </a:lnTo>
                <a:lnTo>
                  <a:pt x="1120002" y="95996"/>
                </a:lnTo>
                <a:lnTo>
                  <a:pt x="1126159" y="104607"/>
                </a:lnTo>
                <a:lnTo>
                  <a:pt x="1128628" y="114452"/>
                </a:lnTo>
                <a:lnTo>
                  <a:pt x="1126159" y="124297"/>
                </a:lnTo>
                <a:lnTo>
                  <a:pt x="1120002" y="131688"/>
                </a:lnTo>
                <a:lnTo>
                  <a:pt x="1111392" y="136611"/>
                </a:lnTo>
                <a:lnTo>
                  <a:pt x="1100312" y="136611"/>
                </a:lnTo>
                <a:lnTo>
                  <a:pt x="1091702" y="131688"/>
                </a:lnTo>
                <a:lnTo>
                  <a:pt x="1084310" y="124297"/>
                </a:lnTo>
                <a:lnTo>
                  <a:pt x="1083076" y="114452"/>
                </a:lnTo>
              </a:path>
              <a:path w="2578734" h="1218564">
                <a:moveTo>
                  <a:pt x="2210470" y="114452"/>
                </a:moveTo>
                <a:lnTo>
                  <a:pt x="2210470" y="1218468"/>
                </a:lnTo>
              </a:path>
              <a:path w="2578734" h="1218564">
                <a:moveTo>
                  <a:pt x="2578470" y="114452"/>
                </a:moveTo>
                <a:lnTo>
                  <a:pt x="2578470" y="1218468"/>
                </a:lnTo>
              </a:path>
              <a:path w="2578734" h="1218564">
                <a:moveTo>
                  <a:pt x="2210470" y="1218468"/>
                </a:moveTo>
                <a:lnTo>
                  <a:pt x="2578470" y="1218468"/>
                </a:lnTo>
              </a:path>
            </a:pathLst>
          </a:custGeom>
          <a:ln w="10239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 txBox="1"/>
          <p:nvPr/>
        </p:nvSpPr>
        <p:spPr>
          <a:xfrm>
            <a:off x="6901977" y="3052790"/>
            <a:ext cx="299720" cy="1733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950" spc="5" i="1">
                <a:solidFill>
                  <a:srgbClr val="FFFFFF"/>
                </a:solidFill>
                <a:latin typeface="Arial"/>
                <a:cs typeface="Arial"/>
              </a:rPr>
              <a:t>stack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4939924" y="1576039"/>
            <a:ext cx="188595" cy="1450340"/>
            <a:chOff x="4939924" y="1576039"/>
            <a:chExt cx="188595" cy="1450340"/>
          </a:xfrm>
        </p:grpSpPr>
        <p:sp>
          <p:nvSpPr>
            <p:cNvPr id="57" name="object 57"/>
            <p:cNvSpPr/>
            <p:nvPr/>
          </p:nvSpPr>
          <p:spPr>
            <a:xfrm>
              <a:off x="4945044" y="1576039"/>
              <a:ext cx="0" cy="1450340"/>
            </a:xfrm>
            <a:custGeom>
              <a:avLst/>
              <a:gdLst/>
              <a:ahLst/>
              <a:cxnLst/>
              <a:rect l="l" t="t" r="r" b="b"/>
              <a:pathLst>
                <a:path w="0" h="1450339">
                  <a:moveTo>
                    <a:pt x="0" y="0"/>
                  </a:moveTo>
                  <a:lnTo>
                    <a:pt x="0" y="24612"/>
                  </a:lnTo>
                </a:path>
                <a:path w="0" h="1450339">
                  <a:moveTo>
                    <a:pt x="0" y="49240"/>
                  </a:moveTo>
                  <a:lnTo>
                    <a:pt x="0" y="73853"/>
                  </a:lnTo>
                </a:path>
                <a:path w="0" h="1450339">
                  <a:moveTo>
                    <a:pt x="0" y="98465"/>
                  </a:moveTo>
                  <a:lnTo>
                    <a:pt x="0" y="123078"/>
                  </a:lnTo>
                </a:path>
                <a:path w="0" h="1450339">
                  <a:moveTo>
                    <a:pt x="0" y="147690"/>
                  </a:moveTo>
                  <a:lnTo>
                    <a:pt x="0" y="172318"/>
                  </a:lnTo>
                </a:path>
                <a:path w="0" h="1450339">
                  <a:moveTo>
                    <a:pt x="0" y="196931"/>
                  </a:moveTo>
                  <a:lnTo>
                    <a:pt x="0" y="221543"/>
                  </a:lnTo>
                </a:path>
                <a:path w="0" h="1450339">
                  <a:moveTo>
                    <a:pt x="0" y="246156"/>
                  </a:moveTo>
                  <a:lnTo>
                    <a:pt x="0" y="270769"/>
                  </a:lnTo>
                </a:path>
                <a:path w="0" h="1450339">
                  <a:moveTo>
                    <a:pt x="0" y="295396"/>
                  </a:moveTo>
                  <a:lnTo>
                    <a:pt x="0" y="320009"/>
                  </a:lnTo>
                </a:path>
                <a:path w="0" h="1450339">
                  <a:moveTo>
                    <a:pt x="0" y="344622"/>
                  </a:moveTo>
                  <a:lnTo>
                    <a:pt x="0" y="369234"/>
                  </a:lnTo>
                </a:path>
                <a:path w="0" h="1450339">
                  <a:moveTo>
                    <a:pt x="0" y="393847"/>
                  </a:moveTo>
                  <a:lnTo>
                    <a:pt x="0" y="418475"/>
                  </a:lnTo>
                </a:path>
                <a:path w="0" h="1450339">
                  <a:moveTo>
                    <a:pt x="0" y="443087"/>
                  </a:moveTo>
                  <a:lnTo>
                    <a:pt x="0" y="467700"/>
                  </a:lnTo>
                </a:path>
                <a:path w="0" h="1450339">
                  <a:moveTo>
                    <a:pt x="0" y="491078"/>
                  </a:moveTo>
                  <a:lnTo>
                    <a:pt x="0" y="515706"/>
                  </a:lnTo>
                </a:path>
                <a:path w="0" h="1450339">
                  <a:moveTo>
                    <a:pt x="0" y="540318"/>
                  </a:moveTo>
                  <a:lnTo>
                    <a:pt x="0" y="564931"/>
                  </a:lnTo>
                </a:path>
                <a:path w="0" h="1450339">
                  <a:moveTo>
                    <a:pt x="0" y="589544"/>
                  </a:moveTo>
                  <a:lnTo>
                    <a:pt x="0" y="614156"/>
                  </a:lnTo>
                </a:path>
                <a:path w="0" h="1450339">
                  <a:moveTo>
                    <a:pt x="0" y="638784"/>
                  </a:moveTo>
                  <a:lnTo>
                    <a:pt x="0" y="663397"/>
                  </a:lnTo>
                </a:path>
                <a:path w="0" h="1450339">
                  <a:moveTo>
                    <a:pt x="0" y="688009"/>
                  </a:moveTo>
                  <a:lnTo>
                    <a:pt x="0" y="712622"/>
                  </a:lnTo>
                </a:path>
                <a:path w="0" h="1450339">
                  <a:moveTo>
                    <a:pt x="0" y="737234"/>
                  </a:moveTo>
                  <a:lnTo>
                    <a:pt x="0" y="761847"/>
                  </a:lnTo>
                </a:path>
                <a:path w="0" h="1450339">
                  <a:moveTo>
                    <a:pt x="0" y="786475"/>
                  </a:moveTo>
                  <a:lnTo>
                    <a:pt x="0" y="811088"/>
                  </a:lnTo>
                </a:path>
                <a:path w="0" h="1450339">
                  <a:moveTo>
                    <a:pt x="0" y="835700"/>
                  </a:moveTo>
                  <a:lnTo>
                    <a:pt x="0" y="860313"/>
                  </a:lnTo>
                </a:path>
                <a:path w="0" h="1450339">
                  <a:moveTo>
                    <a:pt x="0" y="884925"/>
                  </a:moveTo>
                  <a:lnTo>
                    <a:pt x="0" y="909553"/>
                  </a:lnTo>
                </a:path>
                <a:path w="0" h="1450339">
                  <a:moveTo>
                    <a:pt x="0" y="934166"/>
                  </a:moveTo>
                  <a:lnTo>
                    <a:pt x="0" y="958778"/>
                  </a:lnTo>
                </a:path>
                <a:path w="0" h="1450339">
                  <a:moveTo>
                    <a:pt x="0" y="982157"/>
                  </a:moveTo>
                  <a:lnTo>
                    <a:pt x="0" y="1006784"/>
                  </a:lnTo>
                </a:path>
                <a:path w="0" h="1450339">
                  <a:moveTo>
                    <a:pt x="0" y="1031397"/>
                  </a:moveTo>
                  <a:lnTo>
                    <a:pt x="0" y="1056010"/>
                  </a:lnTo>
                </a:path>
                <a:path w="0" h="1450339">
                  <a:moveTo>
                    <a:pt x="0" y="1080622"/>
                  </a:moveTo>
                  <a:lnTo>
                    <a:pt x="0" y="1105235"/>
                  </a:lnTo>
                </a:path>
                <a:path w="0" h="1450339">
                  <a:moveTo>
                    <a:pt x="0" y="1129863"/>
                  </a:moveTo>
                  <a:lnTo>
                    <a:pt x="0" y="1154475"/>
                  </a:lnTo>
                </a:path>
                <a:path w="0" h="1450339">
                  <a:moveTo>
                    <a:pt x="0" y="1179088"/>
                  </a:moveTo>
                  <a:lnTo>
                    <a:pt x="0" y="1203700"/>
                  </a:lnTo>
                </a:path>
                <a:path w="0" h="1450339">
                  <a:moveTo>
                    <a:pt x="0" y="1228313"/>
                  </a:moveTo>
                  <a:lnTo>
                    <a:pt x="0" y="1252941"/>
                  </a:lnTo>
                </a:path>
                <a:path w="0" h="1450339">
                  <a:moveTo>
                    <a:pt x="0" y="1277553"/>
                  </a:moveTo>
                  <a:lnTo>
                    <a:pt x="0" y="1302166"/>
                  </a:lnTo>
                </a:path>
                <a:path w="0" h="1450339">
                  <a:moveTo>
                    <a:pt x="0" y="1326779"/>
                  </a:moveTo>
                  <a:lnTo>
                    <a:pt x="0" y="1351391"/>
                  </a:lnTo>
                </a:path>
                <a:path w="0" h="1450339">
                  <a:moveTo>
                    <a:pt x="0" y="1376019"/>
                  </a:moveTo>
                  <a:lnTo>
                    <a:pt x="0" y="1400632"/>
                  </a:lnTo>
                </a:path>
                <a:path w="0" h="1450339">
                  <a:moveTo>
                    <a:pt x="0" y="1425244"/>
                  </a:moveTo>
                  <a:lnTo>
                    <a:pt x="0" y="1449857"/>
                  </a:lnTo>
                </a:path>
              </a:pathLst>
            </a:custGeom>
            <a:ln w="102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945044" y="1713885"/>
              <a:ext cx="127000" cy="0"/>
            </a:xfrm>
            <a:custGeom>
              <a:avLst/>
              <a:gdLst/>
              <a:ahLst/>
              <a:cxnLst/>
              <a:rect l="l" t="t" r="r" b="b"/>
              <a:pathLst>
                <a:path w="127000" h="0">
                  <a:moveTo>
                    <a:pt x="0" y="0"/>
                  </a:moveTo>
                  <a:lnTo>
                    <a:pt x="126766" y="0"/>
                  </a:lnTo>
                </a:path>
              </a:pathLst>
            </a:custGeom>
            <a:ln w="102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053355" y="1675739"/>
              <a:ext cx="75565" cy="76835"/>
            </a:xfrm>
            <a:custGeom>
              <a:avLst/>
              <a:gdLst/>
              <a:ahLst/>
              <a:cxnLst/>
              <a:rect l="l" t="t" r="r" b="b"/>
              <a:pathLst>
                <a:path w="75564" h="76835">
                  <a:moveTo>
                    <a:pt x="0" y="0"/>
                  </a:moveTo>
                  <a:lnTo>
                    <a:pt x="2453" y="4922"/>
                  </a:lnTo>
                  <a:lnTo>
                    <a:pt x="3688" y="8610"/>
                  </a:lnTo>
                  <a:lnTo>
                    <a:pt x="6156" y="13533"/>
                  </a:lnTo>
                  <a:lnTo>
                    <a:pt x="7376" y="17221"/>
                  </a:lnTo>
                  <a:lnTo>
                    <a:pt x="7376" y="22158"/>
                  </a:lnTo>
                  <a:lnTo>
                    <a:pt x="8610" y="27081"/>
                  </a:lnTo>
                  <a:lnTo>
                    <a:pt x="8610" y="32003"/>
                  </a:lnTo>
                  <a:lnTo>
                    <a:pt x="9845" y="35692"/>
                  </a:lnTo>
                  <a:lnTo>
                    <a:pt x="9845" y="40614"/>
                  </a:lnTo>
                  <a:lnTo>
                    <a:pt x="8610" y="45537"/>
                  </a:lnTo>
                  <a:lnTo>
                    <a:pt x="8610" y="50459"/>
                  </a:lnTo>
                  <a:lnTo>
                    <a:pt x="7376" y="54147"/>
                  </a:lnTo>
                  <a:lnTo>
                    <a:pt x="7376" y="59070"/>
                  </a:lnTo>
                  <a:lnTo>
                    <a:pt x="6156" y="63992"/>
                  </a:lnTo>
                  <a:lnTo>
                    <a:pt x="3688" y="67696"/>
                  </a:lnTo>
                  <a:lnTo>
                    <a:pt x="2453" y="72618"/>
                  </a:lnTo>
                  <a:lnTo>
                    <a:pt x="0" y="76306"/>
                  </a:lnTo>
                  <a:lnTo>
                    <a:pt x="75072" y="381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0" name="object 60"/>
          <p:cNvSpPr txBox="1"/>
          <p:nvPr/>
        </p:nvSpPr>
        <p:spPr>
          <a:xfrm>
            <a:off x="4858891" y="1303862"/>
            <a:ext cx="593725" cy="1733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950" spc="10">
                <a:solidFill>
                  <a:srgbClr val="FFFFFF"/>
                </a:solidFill>
                <a:latin typeface="Arial"/>
                <a:cs typeface="Arial"/>
              </a:rPr>
              <a:t>sweep</a:t>
            </a:r>
            <a:r>
              <a:rPr dirty="0" sz="950" spc="-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5">
                <a:solidFill>
                  <a:srgbClr val="FFFFFF"/>
                </a:solidFill>
                <a:latin typeface="Arial"/>
                <a:cs typeface="Arial"/>
              </a:rPr>
              <a:t>line</a:t>
            </a:r>
            <a:endParaRPr sz="95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847021" y="2891510"/>
            <a:ext cx="237490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25"/>
              </a:spcBef>
              <a:tabLst>
                <a:tab pos="2095500" algn="l"/>
              </a:tabLst>
            </a:pPr>
            <a:r>
              <a:rPr dirty="0" baseline="7936" sz="1050" spc="15">
                <a:solidFill>
                  <a:srgbClr val="FFFFFF"/>
                </a:solidFill>
                <a:latin typeface="Arial"/>
                <a:cs typeface="Arial"/>
              </a:rPr>
              <a:t>(5,1)	</a:t>
            </a:r>
            <a:r>
              <a:rPr dirty="0" sz="700" spc="10">
                <a:solidFill>
                  <a:srgbClr val="FFFFFF"/>
                </a:solidFill>
                <a:latin typeface="Arial"/>
                <a:cs typeface="Arial"/>
              </a:rPr>
              <a:t>(3,13)</a:t>
            </a:r>
            <a:endParaRPr sz="7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825388" y="3385732"/>
            <a:ext cx="2008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1.7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eep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990600" y="3843218"/>
            <a:ext cx="2819400" cy="1905000"/>
            <a:chOff x="990600" y="3843218"/>
            <a:chExt cx="2819400" cy="1905000"/>
          </a:xfrm>
        </p:grpSpPr>
        <p:sp>
          <p:nvSpPr>
            <p:cNvPr id="64" name="object 64"/>
            <p:cNvSpPr/>
            <p:nvPr/>
          </p:nvSpPr>
          <p:spPr>
            <a:xfrm>
              <a:off x="990600" y="3843218"/>
              <a:ext cx="2819400" cy="1905000"/>
            </a:xfrm>
            <a:custGeom>
              <a:avLst/>
              <a:gdLst/>
              <a:ahLst/>
              <a:cxnLst/>
              <a:rect l="l" t="t" r="r" b="b"/>
              <a:pathLst>
                <a:path w="2819400" h="1905000">
                  <a:moveTo>
                    <a:pt x="2819201" y="0"/>
                  </a:moveTo>
                  <a:lnTo>
                    <a:pt x="0" y="0"/>
                  </a:lnTo>
                  <a:lnTo>
                    <a:pt x="0" y="1904801"/>
                  </a:lnTo>
                  <a:lnTo>
                    <a:pt x="2819201" y="1904801"/>
                  </a:lnTo>
                  <a:lnTo>
                    <a:pt x="28192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1254247" y="4304121"/>
              <a:ext cx="1412240" cy="1241425"/>
            </a:xfrm>
            <a:custGeom>
              <a:avLst/>
              <a:gdLst/>
              <a:ahLst/>
              <a:cxnLst/>
              <a:rect l="l" t="t" r="r" b="b"/>
              <a:pathLst>
                <a:path w="1412239" h="1241425">
                  <a:moveTo>
                    <a:pt x="212951" y="1156365"/>
                  </a:moveTo>
                  <a:lnTo>
                    <a:pt x="212951" y="1241084"/>
                  </a:lnTo>
                </a:path>
                <a:path w="1412239" h="1241425">
                  <a:moveTo>
                    <a:pt x="384692" y="1156365"/>
                  </a:moveTo>
                  <a:lnTo>
                    <a:pt x="384692" y="1241084"/>
                  </a:lnTo>
                </a:path>
                <a:path w="1412239" h="1241425">
                  <a:moveTo>
                    <a:pt x="555273" y="1156365"/>
                  </a:moveTo>
                  <a:lnTo>
                    <a:pt x="555273" y="1241084"/>
                  </a:lnTo>
                </a:path>
                <a:path w="1412239" h="1241425">
                  <a:moveTo>
                    <a:pt x="727013" y="1156365"/>
                  </a:moveTo>
                  <a:lnTo>
                    <a:pt x="727013" y="1241084"/>
                  </a:lnTo>
                </a:path>
                <a:path w="1412239" h="1241425">
                  <a:moveTo>
                    <a:pt x="898753" y="1156365"/>
                  </a:moveTo>
                  <a:lnTo>
                    <a:pt x="898753" y="1241084"/>
                  </a:lnTo>
                </a:path>
                <a:path w="1412239" h="1241425">
                  <a:moveTo>
                    <a:pt x="1069349" y="1156365"/>
                  </a:moveTo>
                  <a:lnTo>
                    <a:pt x="1069349" y="1241084"/>
                  </a:lnTo>
                </a:path>
                <a:path w="1412239" h="1241425">
                  <a:moveTo>
                    <a:pt x="1241073" y="1156365"/>
                  </a:moveTo>
                  <a:lnTo>
                    <a:pt x="1241073" y="1241084"/>
                  </a:lnTo>
                </a:path>
                <a:path w="1412239" h="1241425">
                  <a:moveTo>
                    <a:pt x="1411670" y="1156365"/>
                  </a:moveTo>
                  <a:lnTo>
                    <a:pt x="1411670" y="1241084"/>
                  </a:lnTo>
                </a:path>
                <a:path w="1412239" h="1241425">
                  <a:moveTo>
                    <a:pt x="84722" y="1028136"/>
                  </a:moveTo>
                  <a:lnTo>
                    <a:pt x="0" y="1028136"/>
                  </a:lnTo>
                </a:path>
                <a:path w="1412239" h="1241425">
                  <a:moveTo>
                    <a:pt x="84722" y="856396"/>
                  </a:moveTo>
                  <a:lnTo>
                    <a:pt x="0" y="856396"/>
                  </a:lnTo>
                </a:path>
                <a:path w="1412239" h="1241425">
                  <a:moveTo>
                    <a:pt x="84722" y="685799"/>
                  </a:moveTo>
                  <a:lnTo>
                    <a:pt x="0" y="685799"/>
                  </a:lnTo>
                </a:path>
                <a:path w="1412239" h="1241425">
                  <a:moveTo>
                    <a:pt x="84722" y="514060"/>
                  </a:moveTo>
                  <a:lnTo>
                    <a:pt x="0" y="514060"/>
                  </a:lnTo>
                </a:path>
                <a:path w="1412239" h="1241425">
                  <a:moveTo>
                    <a:pt x="84722" y="342336"/>
                  </a:moveTo>
                  <a:lnTo>
                    <a:pt x="0" y="342336"/>
                  </a:lnTo>
                </a:path>
                <a:path w="1412239" h="1241425">
                  <a:moveTo>
                    <a:pt x="84722" y="171739"/>
                  </a:moveTo>
                  <a:lnTo>
                    <a:pt x="0" y="171739"/>
                  </a:lnTo>
                </a:path>
                <a:path w="1412239" h="1241425">
                  <a:moveTo>
                    <a:pt x="8472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6" name="object 66"/>
          <p:cNvSpPr txBox="1"/>
          <p:nvPr/>
        </p:nvSpPr>
        <p:spPr>
          <a:xfrm>
            <a:off x="1431708" y="5526978"/>
            <a:ext cx="14820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900" spc="60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900" spc="5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dirty="0" sz="900" spc="6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dirty="0" sz="900" spc="2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dirty="0" sz="900" spc="1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900" spc="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14</a:t>
            </a:r>
            <a:r>
              <a:rPr dirty="0" sz="900" spc="1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16</a:t>
            </a:r>
            <a:r>
              <a:rPr dirty="0" sz="900" spc="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18</a:t>
            </a:r>
            <a:endParaRPr sz="900">
              <a:latin typeface="Arial"/>
              <a:cs typeface="Arial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2837657" y="5460486"/>
            <a:ext cx="0" cy="85090"/>
          </a:xfrm>
          <a:custGeom>
            <a:avLst/>
            <a:gdLst/>
            <a:ahLst/>
            <a:cxnLst/>
            <a:rect l="l" t="t" r="r" b="b"/>
            <a:pathLst>
              <a:path w="0" h="85089">
                <a:moveTo>
                  <a:pt x="0" y="0"/>
                </a:moveTo>
                <a:lnTo>
                  <a:pt x="0" y="84719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/>
          <p:cNvSpPr txBox="1"/>
          <p:nvPr/>
        </p:nvSpPr>
        <p:spPr>
          <a:xfrm>
            <a:off x="1092814" y="4186062"/>
            <a:ext cx="140335" cy="1205865"/>
          </a:xfrm>
          <a:prstGeom prst="rect">
            <a:avLst/>
          </a:prstGeom>
        </p:spPr>
        <p:txBody>
          <a:bodyPr wrap="square" lIns="0" tIns="4699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7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900">
              <a:latin typeface="Arial"/>
              <a:cs typeface="Arial"/>
            </a:endParaRPr>
          </a:p>
          <a:p>
            <a:pPr marL="52069">
              <a:lnSpc>
                <a:spcPct val="100000"/>
              </a:lnSpc>
              <a:spcBef>
                <a:spcPts val="36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900">
              <a:latin typeface="Arial"/>
              <a:cs typeface="Arial"/>
            </a:endParaRPr>
          </a:p>
          <a:p>
            <a:pPr marL="52069">
              <a:lnSpc>
                <a:spcPct val="100000"/>
              </a:lnSpc>
              <a:spcBef>
                <a:spcPts val="11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900">
              <a:latin typeface="Arial"/>
              <a:cs typeface="Arial"/>
            </a:endParaRPr>
          </a:p>
          <a:p>
            <a:pPr marL="52069">
              <a:lnSpc>
                <a:spcPct val="100000"/>
              </a:lnSpc>
              <a:spcBef>
                <a:spcPts val="33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900">
              <a:latin typeface="Arial"/>
              <a:cs typeface="Arial"/>
            </a:endParaRPr>
          </a:p>
          <a:p>
            <a:pPr marL="52069">
              <a:lnSpc>
                <a:spcPct val="100000"/>
              </a:lnSpc>
              <a:spcBef>
                <a:spcPts val="12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69" name="object 69"/>
          <p:cNvGrpSpPr/>
          <p:nvPr/>
        </p:nvGrpSpPr>
        <p:grpSpPr>
          <a:xfrm>
            <a:off x="1259971" y="4090030"/>
            <a:ext cx="1749425" cy="1448435"/>
            <a:chOff x="1259971" y="4090030"/>
            <a:chExt cx="1749425" cy="1448435"/>
          </a:xfrm>
        </p:grpSpPr>
        <p:sp>
          <p:nvSpPr>
            <p:cNvPr id="70" name="object 70"/>
            <p:cNvSpPr/>
            <p:nvPr/>
          </p:nvSpPr>
          <p:spPr>
            <a:xfrm>
              <a:off x="1295463" y="4142699"/>
              <a:ext cx="0" cy="1360170"/>
            </a:xfrm>
            <a:custGeom>
              <a:avLst/>
              <a:gdLst/>
              <a:ahLst/>
              <a:cxnLst/>
              <a:rect l="l" t="t" r="r" b="b"/>
              <a:pathLst>
                <a:path w="0" h="1360170">
                  <a:moveTo>
                    <a:pt x="0" y="1360139"/>
                  </a:moveTo>
                  <a:lnTo>
                    <a:pt x="0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" name="object 7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259971" y="4090030"/>
              <a:ext cx="70983" cy="69829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1295463" y="5502839"/>
              <a:ext cx="1660525" cy="0"/>
            </a:xfrm>
            <a:custGeom>
              <a:avLst/>
              <a:gdLst/>
              <a:ahLst/>
              <a:cxnLst/>
              <a:rect l="l" t="t" r="r" b="b"/>
              <a:pathLst>
                <a:path w="1660525" h="0">
                  <a:moveTo>
                    <a:pt x="0" y="0"/>
                  </a:moveTo>
                  <a:lnTo>
                    <a:pt x="1660120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3" name="object 7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38409" y="5468503"/>
              <a:ext cx="70987" cy="69829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1446591" y="4541118"/>
              <a:ext cx="984885" cy="897890"/>
            </a:xfrm>
            <a:custGeom>
              <a:avLst/>
              <a:gdLst/>
              <a:ahLst/>
              <a:cxnLst/>
              <a:rect l="l" t="t" r="r" b="b"/>
              <a:pathLst>
                <a:path w="984885" h="897889">
                  <a:moveTo>
                    <a:pt x="0" y="533537"/>
                  </a:moveTo>
                  <a:lnTo>
                    <a:pt x="1144" y="524377"/>
                  </a:lnTo>
                  <a:lnTo>
                    <a:pt x="8013" y="516361"/>
                  </a:lnTo>
                  <a:lnTo>
                    <a:pt x="16027" y="512917"/>
                  </a:lnTo>
                  <a:lnTo>
                    <a:pt x="26331" y="512917"/>
                  </a:lnTo>
                  <a:lnTo>
                    <a:pt x="34346" y="516361"/>
                  </a:lnTo>
                  <a:lnTo>
                    <a:pt x="40070" y="524377"/>
                  </a:lnTo>
                  <a:lnTo>
                    <a:pt x="42361" y="533537"/>
                  </a:lnTo>
                  <a:lnTo>
                    <a:pt x="40070" y="542696"/>
                  </a:lnTo>
                  <a:lnTo>
                    <a:pt x="34346" y="549554"/>
                  </a:lnTo>
                  <a:lnTo>
                    <a:pt x="26331" y="554141"/>
                  </a:lnTo>
                  <a:lnTo>
                    <a:pt x="16027" y="554141"/>
                  </a:lnTo>
                  <a:lnTo>
                    <a:pt x="8013" y="549554"/>
                  </a:lnTo>
                  <a:lnTo>
                    <a:pt x="1144" y="542696"/>
                  </a:lnTo>
                  <a:lnTo>
                    <a:pt x="0" y="533537"/>
                  </a:lnTo>
                </a:path>
                <a:path w="984885" h="897889">
                  <a:moveTo>
                    <a:pt x="171728" y="20604"/>
                  </a:moveTo>
                  <a:lnTo>
                    <a:pt x="172887" y="11445"/>
                  </a:lnTo>
                  <a:lnTo>
                    <a:pt x="179745" y="3444"/>
                  </a:lnTo>
                  <a:lnTo>
                    <a:pt x="187761" y="0"/>
                  </a:lnTo>
                  <a:lnTo>
                    <a:pt x="198063" y="0"/>
                  </a:lnTo>
                  <a:lnTo>
                    <a:pt x="206079" y="3444"/>
                  </a:lnTo>
                  <a:lnTo>
                    <a:pt x="211810" y="11445"/>
                  </a:lnTo>
                  <a:lnTo>
                    <a:pt x="214096" y="20604"/>
                  </a:lnTo>
                  <a:lnTo>
                    <a:pt x="211810" y="28620"/>
                  </a:lnTo>
                  <a:lnTo>
                    <a:pt x="206079" y="35493"/>
                  </a:lnTo>
                  <a:lnTo>
                    <a:pt x="198063" y="40081"/>
                  </a:lnTo>
                  <a:lnTo>
                    <a:pt x="187761" y="40081"/>
                  </a:lnTo>
                  <a:lnTo>
                    <a:pt x="179745" y="35493"/>
                  </a:lnTo>
                  <a:lnTo>
                    <a:pt x="172887" y="28620"/>
                  </a:lnTo>
                  <a:lnTo>
                    <a:pt x="171728" y="20604"/>
                  </a:lnTo>
                </a:path>
                <a:path w="984885" h="897889">
                  <a:moveTo>
                    <a:pt x="257606" y="877001"/>
                  </a:moveTo>
                  <a:lnTo>
                    <a:pt x="258749" y="867841"/>
                  </a:lnTo>
                  <a:lnTo>
                    <a:pt x="265622" y="859825"/>
                  </a:lnTo>
                  <a:lnTo>
                    <a:pt x="272480" y="856396"/>
                  </a:lnTo>
                  <a:lnTo>
                    <a:pt x="282798" y="856396"/>
                  </a:lnTo>
                  <a:lnTo>
                    <a:pt x="290799" y="859825"/>
                  </a:lnTo>
                  <a:lnTo>
                    <a:pt x="296529" y="867841"/>
                  </a:lnTo>
                  <a:lnTo>
                    <a:pt x="298815" y="877001"/>
                  </a:lnTo>
                  <a:lnTo>
                    <a:pt x="296529" y="886160"/>
                  </a:lnTo>
                  <a:lnTo>
                    <a:pt x="290799" y="893033"/>
                  </a:lnTo>
                  <a:lnTo>
                    <a:pt x="282798" y="897605"/>
                  </a:lnTo>
                  <a:lnTo>
                    <a:pt x="272480" y="897605"/>
                  </a:lnTo>
                  <a:lnTo>
                    <a:pt x="265622" y="893033"/>
                  </a:lnTo>
                  <a:lnTo>
                    <a:pt x="258749" y="886160"/>
                  </a:lnTo>
                  <a:lnTo>
                    <a:pt x="257606" y="877001"/>
                  </a:lnTo>
                </a:path>
                <a:path w="984885" h="897889">
                  <a:moveTo>
                    <a:pt x="428187" y="362940"/>
                  </a:moveTo>
                  <a:lnTo>
                    <a:pt x="429345" y="353781"/>
                  </a:lnTo>
                  <a:lnTo>
                    <a:pt x="436203" y="345765"/>
                  </a:lnTo>
                  <a:lnTo>
                    <a:pt x="444220" y="342336"/>
                  </a:lnTo>
                  <a:lnTo>
                    <a:pt x="454522" y="342336"/>
                  </a:lnTo>
                  <a:lnTo>
                    <a:pt x="462538" y="345765"/>
                  </a:lnTo>
                  <a:lnTo>
                    <a:pt x="468268" y="353781"/>
                  </a:lnTo>
                  <a:lnTo>
                    <a:pt x="470554" y="362940"/>
                  </a:lnTo>
                  <a:lnTo>
                    <a:pt x="468268" y="372099"/>
                  </a:lnTo>
                  <a:lnTo>
                    <a:pt x="462538" y="378973"/>
                  </a:lnTo>
                  <a:lnTo>
                    <a:pt x="454522" y="383545"/>
                  </a:lnTo>
                  <a:lnTo>
                    <a:pt x="444220" y="383545"/>
                  </a:lnTo>
                  <a:lnTo>
                    <a:pt x="436203" y="378973"/>
                  </a:lnTo>
                  <a:lnTo>
                    <a:pt x="429345" y="372099"/>
                  </a:lnTo>
                  <a:lnTo>
                    <a:pt x="428187" y="362940"/>
                  </a:lnTo>
                </a:path>
                <a:path w="984885" h="897889">
                  <a:moveTo>
                    <a:pt x="599927" y="105338"/>
                  </a:moveTo>
                  <a:lnTo>
                    <a:pt x="601070" y="96179"/>
                  </a:lnTo>
                  <a:lnTo>
                    <a:pt x="607943" y="88163"/>
                  </a:lnTo>
                  <a:lnTo>
                    <a:pt x="615959" y="84719"/>
                  </a:lnTo>
                  <a:lnTo>
                    <a:pt x="626261" y="84719"/>
                  </a:lnTo>
                  <a:lnTo>
                    <a:pt x="634278" y="88163"/>
                  </a:lnTo>
                  <a:lnTo>
                    <a:pt x="640008" y="96179"/>
                  </a:lnTo>
                  <a:lnTo>
                    <a:pt x="642294" y="105338"/>
                  </a:lnTo>
                  <a:lnTo>
                    <a:pt x="640008" y="114498"/>
                  </a:lnTo>
                  <a:lnTo>
                    <a:pt x="634278" y="121356"/>
                  </a:lnTo>
                  <a:lnTo>
                    <a:pt x="626261" y="125943"/>
                  </a:lnTo>
                  <a:lnTo>
                    <a:pt x="615959" y="125943"/>
                  </a:lnTo>
                  <a:lnTo>
                    <a:pt x="607943" y="121356"/>
                  </a:lnTo>
                  <a:lnTo>
                    <a:pt x="601070" y="114498"/>
                  </a:lnTo>
                  <a:lnTo>
                    <a:pt x="599927" y="105338"/>
                  </a:lnTo>
                </a:path>
                <a:path w="984885" h="897889">
                  <a:moveTo>
                    <a:pt x="685804" y="533537"/>
                  </a:moveTo>
                  <a:lnTo>
                    <a:pt x="686947" y="524377"/>
                  </a:lnTo>
                  <a:lnTo>
                    <a:pt x="693820" y="516361"/>
                  </a:lnTo>
                  <a:lnTo>
                    <a:pt x="701821" y="512917"/>
                  </a:lnTo>
                  <a:lnTo>
                    <a:pt x="712139" y="512917"/>
                  </a:lnTo>
                  <a:lnTo>
                    <a:pt x="720140" y="516361"/>
                  </a:lnTo>
                  <a:lnTo>
                    <a:pt x="724727" y="524377"/>
                  </a:lnTo>
                  <a:lnTo>
                    <a:pt x="727013" y="533537"/>
                  </a:lnTo>
                  <a:lnTo>
                    <a:pt x="724727" y="542696"/>
                  </a:lnTo>
                  <a:lnTo>
                    <a:pt x="720140" y="549554"/>
                  </a:lnTo>
                  <a:lnTo>
                    <a:pt x="712139" y="554141"/>
                  </a:lnTo>
                  <a:lnTo>
                    <a:pt x="701821" y="554141"/>
                  </a:lnTo>
                  <a:lnTo>
                    <a:pt x="693820" y="549554"/>
                  </a:lnTo>
                  <a:lnTo>
                    <a:pt x="686947" y="542696"/>
                  </a:lnTo>
                  <a:lnTo>
                    <a:pt x="685804" y="533537"/>
                  </a:lnTo>
                </a:path>
                <a:path w="984885" h="897889">
                  <a:moveTo>
                    <a:pt x="942263" y="705261"/>
                  </a:moveTo>
                  <a:lnTo>
                    <a:pt x="943406" y="696102"/>
                  </a:lnTo>
                  <a:lnTo>
                    <a:pt x="950279" y="688085"/>
                  </a:lnTo>
                  <a:lnTo>
                    <a:pt x="958280" y="684656"/>
                  </a:lnTo>
                  <a:lnTo>
                    <a:pt x="968597" y="684656"/>
                  </a:lnTo>
                  <a:lnTo>
                    <a:pt x="976598" y="688085"/>
                  </a:lnTo>
                  <a:lnTo>
                    <a:pt x="982329" y="696102"/>
                  </a:lnTo>
                  <a:lnTo>
                    <a:pt x="984615" y="705261"/>
                  </a:lnTo>
                  <a:lnTo>
                    <a:pt x="982329" y="714420"/>
                  </a:lnTo>
                  <a:lnTo>
                    <a:pt x="976598" y="721293"/>
                  </a:lnTo>
                  <a:lnTo>
                    <a:pt x="968597" y="725881"/>
                  </a:lnTo>
                  <a:lnTo>
                    <a:pt x="958280" y="725881"/>
                  </a:lnTo>
                  <a:lnTo>
                    <a:pt x="950279" y="721293"/>
                  </a:lnTo>
                  <a:lnTo>
                    <a:pt x="943406" y="714420"/>
                  </a:lnTo>
                  <a:lnTo>
                    <a:pt x="942263" y="705261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" name="object 75"/>
          <p:cNvSpPr txBox="1"/>
          <p:nvPr/>
        </p:nvSpPr>
        <p:spPr>
          <a:xfrm>
            <a:off x="1335531" y="4936149"/>
            <a:ext cx="1892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(2,5)</a:t>
            </a:r>
            <a:endParaRPr sz="65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397357" y="4561764"/>
            <a:ext cx="2368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(4,11)</a:t>
            </a:r>
            <a:endParaRPr sz="65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690453" y="4841123"/>
            <a:ext cx="1892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(7,7)</a:t>
            </a:r>
            <a:endParaRPr sz="65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311489" y="4402622"/>
            <a:ext cx="2368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(3,13)</a:t>
            </a:r>
            <a:endParaRPr sz="65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885087" y="5065524"/>
            <a:ext cx="2368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(10,5)</a:t>
            </a:r>
            <a:endParaRPr sz="65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2379687" y="4402622"/>
            <a:ext cx="28448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(12,12)</a:t>
            </a:r>
            <a:endParaRPr sz="65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825552" y="4639618"/>
            <a:ext cx="2368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(9,10)</a:t>
            </a:r>
            <a:endParaRPr sz="65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551423" y="4564055"/>
            <a:ext cx="28448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(14,10)</a:t>
            </a:r>
            <a:endParaRPr sz="65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2639582" y="4830818"/>
            <a:ext cx="2368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(15,7)</a:t>
            </a:r>
            <a:endParaRPr sz="650">
              <a:latin typeface="Arial"/>
              <a:cs typeface="Arial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1295463" y="4369379"/>
            <a:ext cx="2399030" cy="1133475"/>
          </a:xfrm>
          <a:custGeom>
            <a:avLst/>
            <a:gdLst/>
            <a:ahLst/>
            <a:cxnLst/>
            <a:rect l="l" t="t" r="r" b="b"/>
            <a:pathLst>
              <a:path w="2399029" h="1133475">
                <a:moveTo>
                  <a:pt x="236994" y="20619"/>
                </a:moveTo>
                <a:lnTo>
                  <a:pt x="238137" y="11460"/>
                </a:lnTo>
                <a:lnTo>
                  <a:pt x="245010" y="3444"/>
                </a:lnTo>
                <a:lnTo>
                  <a:pt x="253026" y="0"/>
                </a:lnTo>
                <a:lnTo>
                  <a:pt x="263328" y="0"/>
                </a:lnTo>
                <a:lnTo>
                  <a:pt x="271345" y="3444"/>
                </a:lnTo>
                <a:lnTo>
                  <a:pt x="277060" y="11460"/>
                </a:lnTo>
                <a:lnTo>
                  <a:pt x="279361" y="20619"/>
                </a:lnTo>
                <a:lnTo>
                  <a:pt x="277060" y="29778"/>
                </a:lnTo>
                <a:lnTo>
                  <a:pt x="271345" y="36636"/>
                </a:lnTo>
                <a:lnTo>
                  <a:pt x="263328" y="41224"/>
                </a:lnTo>
                <a:lnTo>
                  <a:pt x="253026" y="41224"/>
                </a:lnTo>
                <a:lnTo>
                  <a:pt x="245010" y="36636"/>
                </a:lnTo>
                <a:lnTo>
                  <a:pt x="238137" y="29778"/>
                </a:lnTo>
                <a:lnTo>
                  <a:pt x="236994" y="20619"/>
                </a:lnTo>
              </a:path>
              <a:path w="2399029" h="1133475">
                <a:moveTo>
                  <a:pt x="1179252" y="277078"/>
                </a:moveTo>
                <a:lnTo>
                  <a:pt x="1180395" y="267919"/>
                </a:lnTo>
                <a:lnTo>
                  <a:pt x="1187269" y="259902"/>
                </a:lnTo>
                <a:lnTo>
                  <a:pt x="1195285" y="256458"/>
                </a:lnTo>
                <a:lnTo>
                  <a:pt x="1205587" y="256458"/>
                </a:lnTo>
                <a:lnTo>
                  <a:pt x="1213603" y="259902"/>
                </a:lnTo>
                <a:lnTo>
                  <a:pt x="1219318" y="267919"/>
                </a:lnTo>
                <a:lnTo>
                  <a:pt x="1221620" y="277078"/>
                </a:lnTo>
                <a:lnTo>
                  <a:pt x="1219318" y="286237"/>
                </a:lnTo>
                <a:lnTo>
                  <a:pt x="1213603" y="293095"/>
                </a:lnTo>
                <a:lnTo>
                  <a:pt x="1205587" y="297682"/>
                </a:lnTo>
                <a:lnTo>
                  <a:pt x="1195285" y="297682"/>
                </a:lnTo>
                <a:lnTo>
                  <a:pt x="1187269" y="293095"/>
                </a:lnTo>
                <a:lnTo>
                  <a:pt x="1180395" y="286237"/>
                </a:lnTo>
                <a:lnTo>
                  <a:pt x="1179252" y="277078"/>
                </a:lnTo>
              </a:path>
              <a:path w="2399029" h="1133475">
                <a:moveTo>
                  <a:pt x="1265115" y="534680"/>
                </a:moveTo>
                <a:lnTo>
                  <a:pt x="1266273" y="525520"/>
                </a:lnTo>
                <a:lnTo>
                  <a:pt x="1273131" y="517504"/>
                </a:lnTo>
                <a:lnTo>
                  <a:pt x="1281147" y="514075"/>
                </a:lnTo>
                <a:lnTo>
                  <a:pt x="1291449" y="514075"/>
                </a:lnTo>
                <a:lnTo>
                  <a:pt x="1299466" y="517504"/>
                </a:lnTo>
                <a:lnTo>
                  <a:pt x="1305196" y="525520"/>
                </a:lnTo>
                <a:lnTo>
                  <a:pt x="1307482" y="534680"/>
                </a:lnTo>
                <a:lnTo>
                  <a:pt x="1305196" y="543839"/>
                </a:lnTo>
                <a:lnTo>
                  <a:pt x="1299466" y="550712"/>
                </a:lnTo>
                <a:lnTo>
                  <a:pt x="1291449" y="555284"/>
                </a:lnTo>
                <a:lnTo>
                  <a:pt x="1281147" y="555284"/>
                </a:lnTo>
                <a:lnTo>
                  <a:pt x="1273131" y="550712"/>
                </a:lnTo>
                <a:lnTo>
                  <a:pt x="1266273" y="543839"/>
                </a:lnTo>
                <a:lnTo>
                  <a:pt x="1265115" y="534680"/>
                </a:lnTo>
              </a:path>
              <a:path w="2399029" h="1133475">
                <a:moveTo>
                  <a:pt x="0" y="20619"/>
                </a:moveTo>
                <a:lnTo>
                  <a:pt x="236994" y="20619"/>
                </a:lnTo>
              </a:path>
              <a:path w="2399029" h="1133475">
                <a:moveTo>
                  <a:pt x="1007513" y="106481"/>
                </a:moveTo>
                <a:lnTo>
                  <a:pt x="1008656" y="97322"/>
                </a:lnTo>
                <a:lnTo>
                  <a:pt x="1015529" y="89306"/>
                </a:lnTo>
                <a:lnTo>
                  <a:pt x="1023545" y="85877"/>
                </a:lnTo>
                <a:lnTo>
                  <a:pt x="1033848" y="85877"/>
                </a:lnTo>
                <a:lnTo>
                  <a:pt x="1041864" y="89306"/>
                </a:lnTo>
                <a:lnTo>
                  <a:pt x="1047594" y="97322"/>
                </a:lnTo>
                <a:lnTo>
                  <a:pt x="1049880" y="106481"/>
                </a:lnTo>
                <a:lnTo>
                  <a:pt x="1047594" y="115641"/>
                </a:lnTo>
                <a:lnTo>
                  <a:pt x="1041864" y="122514"/>
                </a:lnTo>
                <a:lnTo>
                  <a:pt x="1033848" y="127086"/>
                </a:lnTo>
                <a:lnTo>
                  <a:pt x="1023545" y="127086"/>
                </a:lnTo>
                <a:lnTo>
                  <a:pt x="1015529" y="122514"/>
                </a:lnTo>
                <a:lnTo>
                  <a:pt x="1008656" y="115641"/>
                </a:lnTo>
                <a:lnTo>
                  <a:pt x="1007513" y="106481"/>
                </a:lnTo>
              </a:path>
              <a:path w="2399029" h="1133475">
                <a:moveTo>
                  <a:pt x="2056253" y="106481"/>
                </a:moveTo>
                <a:lnTo>
                  <a:pt x="2056253" y="1133459"/>
                </a:lnTo>
              </a:path>
              <a:path w="2399029" h="1133475">
                <a:moveTo>
                  <a:pt x="2398574" y="106481"/>
                </a:moveTo>
                <a:lnTo>
                  <a:pt x="2398574" y="1133459"/>
                </a:lnTo>
              </a:path>
              <a:path w="2399029" h="1133475">
                <a:moveTo>
                  <a:pt x="2056253" y="1133459"/>
                </a:moveTo>
                <a:lnTo>
                  <a:pt x="2398574" y="1133459"/>
                </a:lnTo>
              </a:path>
            </a:pathLst>
          </a:custGeom>
          <a:ln w="9524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 txBox="1"/>
          <p:nvPr/>
        </p:nvSpPr>
        <p:spPr>
          <a:xfrm>
            <a:off x="3373474" y="5505223"/>
            <a:ext cx="2800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i="1">
                <a:solidFill>
                  <a:srgbClr val="FFFFFF"/>
                </a:solidFill>
                <a:latin typeface="Arial"/>
                <a:cs typeface="Arial"/>
              </a:rPr>
              <a:t>stack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86" name="object 86"/>
          <p:cNvGrpSpPr/>
          <p:nvPr/>
        </p:nvGrpSpPr>
        <p:grpSpPr>
          <a:xfrm>
            <a:off x="1548300" y="4127619"/>
            <a:ext cx="261620" cy="1358265"/>
            <a:chOff x="1548300" y="4127619"/>
            <a:chExt cx="261620" cy="1358265"/>
          </a:xfrm>
        </p:grpSpPr>
        <p:sp>
          <p:nvSpPr>
            <p:cNvPr id="87" name="object 87"/>
            <p:cNvSpPr/>
            <p:nvPr/>
          </p:nvSpPr>
          <p:spPr>
            <a:xfrm>
              <a:off x="1638940" y="4132381"/>
              <a:ext cx="0" cy="1348740"/>
            </a:xfrm>
            <a:custGeom>
              <a:avLst/>
              <a:gdLst/>
              <a:ahLst/>
              <a:cxnLst/>
              <a:rect l="l" t="t" r="r" b="b"/>
              <a:pathLst>
                <a:path w="0" h="1348739">
                  <a:moveTo>
                    <a:pt x="0" y="0"/>
                  </a:moveTo>
                  <a:lnTo>
                    <a:pt x="0" y="22905"/>
                  </a:lnTo>
                </a:path>
                <a:path w="0" h="1348739">
                  <a:moveTo>
                    <a:pt x="0" y="45811"/>
                  </a:moveTo>
                  <a:lnTo>
                    <a:pt x="0" y="68701"/>
                  </a:lnTo>
                </a:path>
                <a:path w="0" h="1348739">
                  <a:moveTo>
                    <a:pt x="0" y="91592"/>
                  </a:moveTo>
                  <a:lnTo>
                    <a:pt x="0" y="114498"/>
                  </a:lnTo>
                </a:path>
                <a:path w="0" h="1348739">
                  <a:moveTo>
                    <a:pt x="0" y="137388"/>
                  </a:moveTo>
                  <a:lnTo>
                    <a:pt x="0" y="160294"/>
                  </a:lnTo>
                </a:path>
                <a:path w="0" h="1348739">
                  <a:moveTo>
                    <a:pt x="0" y="183184"/>
                  </a:moveTo>
                  <a:lnTo>
                    <a:pt x="0" y="206090"/>
                  </a:lnTo>
                </a:path>
                <a:path w="0" h="1348739">
                  <a:moveTo>
                    <a:pt x="0" y="228980"/>
                  </a:moveTo>
                  <a:lnTo>
                    <a:pt x="0" y="251886"/>
                  </a:lnTo>
                </a:path>
                <a:path w="0" h="1348739">
                  <a:moveTo>
                    <a:pt x="0" y="274792"/>
                  </a:moveTo>
                  <a:lnTo>
                    <a:pt x="0" y="297682"/>
                  </a:lnTo>
                </a:path>
                <a:path w="0" h="1348739">
                  <a:moveTo>
                    <a:pt x="0" y="320588"/>
                  </a:moveTo>
                  <a:lnTo>
                    <a:pt x="0" y="343479"/>
                  </a:lnTo>
                </a:path>
                <a:path w="0" h="1348739">
                  <a:moveTo>
                    <a:pt x="0" y="366369"/>
                  </a:moveTo>
                  <a:lnTo>
                    <a:pt x="0" y="389275"/>
                  </a:lnTo>
                </a:path>
                <a:path w="0" h="1348739">
                  <a:moveTo>
                    <a:pt x="0" y="412181"/>
                  </a:moveTo>
                  <a:lnTo>
                    <a:pt x="0" y="435071"/>
                  </a:lnTo>
                </a:path>
                <a:path w="0" h="1348739">
                  <a:moveTo>
                    <a:pt x="0" y="456818"/>
                  </a:moveTo>
                  <a:lnTo>
                    <a:pt x="0" y="479724"/>
                  </a:lnTo>
                </a:path>
                <a:path w="0" h="1348739">
                  <a:moveTo>
                    <a:pt x="0" y="502615"/>
                  </a:moveTo>
                  <a:lnTo>
                    <a:pt x="0" y="525520"/>
                  </a:lnTo>
                </a:path>
                <a:path w="0" h="1348739">
                  <a:moveTo>
                    <a:pt x="0" y="548411"/>
                  </a:moveTo>
                  <a:lnTo>
                    <a:pt x="0" y="571317"/>
                  </a:lnTo>
                </a:path>
                <a:path w="0" h="1348739">
                  <a:moveTo>
                    <a:pt x="0" y="594207"/>
                  </a:moveTo>
                  <a:lnTo>
                    <a:pt x="0" y="617113"/>
                  </a:lnTo>
                </a:path>
                <a:path w="0" h="1348739">
                  <a:moveTo>
                    <a:pt x="0" y="640003"/>
                  </a:moveTo>
                  <a:lnTo>
                    <a:pt x="0" y="662909"/>
                  </a:lnTo>
                </a:path>
                <a:path w="0" h="1348739">
                  <a:moveTo>
                    <a:pt x="0" y="685799"/>
                  </a:moveTo>
                  <a:lnTo>
                    <a:pt x="0" y="708705"/>
                  </a:lnTo>
                </a:path>
                <a:path w="0" h="1348739">
                  <a:moveTo>
                    <a:pt x="0" y="731611"/>
                  </a:moveTo>
                  <a:lnTo>
                    <a:pt x="0" y="754501"/>
                  </a:lnTo>
                </a:path>
                <a:path w="0" h="1348739">
                  <a:moveTo>
                    <a:pt x="0" y="777407"/>
                  </a:moveTo>
                  <a:lnTo>
                    <a:pt x="0" y="800298"/>
                  </a:lnTo>
                </a:path>
                <a:path w="0" h="1348739">
                  <a:moveTo>
                    <a:pt x="0" y="823188"/>
                  </a:moveTo>
                  <a:lnTo>
                    <a:pt x="0" y="846094"/>
                  </a:lnTo>
                </a:path>
                <a:path w="0" h="1348739">
                  <a:moveTo>
                    <a:pt x="0" y="868984"/>
                  </a:moveTo>
                  <a:lnTo>
                    <a:pt x="0" y="891890"/>
                  </a:lnTo>
                </a:path>
                <a:path w="0" h="1348739">
                  <a:moveTo>
                    <a:pt x="0" y="913637"/>
                  </a:moveTo>
                  <a:lnTo>
                    <a:pt x="0" y="936543"/>
                  </a:lnTo>
                </a:path>
                <a:path w="0" h="1348739">
                  <a:moveTo>
                    <a:pt x="0" y="959434"/>
                  </a:moveTo>
                  <a:lnTo>
                    <a:pt x="0" y="982339"/>
                  </a:lnTo>
                </a:path>
                <a:path w="0" h="1348739">
                  <a:moveTo>
                    <a:pt x="0" y="1005230"/>
                  </a:moveTo>
                  <a:lnTo>
                    <a:pt x="0" y="1028136"/>
                  </a:lnTo>
                </a:path>
                <a:path w="0" h="1348739">
                  <a:moveTo>
                    <a:pt x="0" y="1051026"/>
                  </a:moveTo>
                  <a:lnTo>
                    <a:pt x="0" y="1073932"/>
                  </a:lnTo>
                </a:path>
                <a:path w="0" h="1348739">
                  <a:moveTo>
                    <a:pt x="0" y="1096822"/>
                  </a:moveTo>
                  <a:lnTo>
                    <a:pt x="0" y="1119728"/>
                  </a:lnTo>
                </a:path>
                <a:path w="0" h="1348739">
                  <a:moveTo>
                    <a:pt x="0" y="1142618"/>
                  </a:moveTo>
                  <a:lnTo>
                    <a:pt x="0" y="1165524"/>
                  </a:lnTo>
                </a:path>
                <a:path w="0" h="1348739">
                  <a:moveTo>
                    <a:pt x="0" y="1188415"/>
                  </a:moveTo>
                  <a:lnTo>
                    <a:pt x="0" y="1211320"/>
                  </a:lnTo>
                </a:path>
                <a:path w="0" h="1348739">
                  <a:moveTo>
                    <a:pt x="0" y="1234211"/>
                  </a:moveTo>
                  <a:lnTo>
                    <a:pt x="0" y="1257117"/>
                  </a:lnTo>
                </a:path>
                <a:path w="0" h="1348739">
                  <a:moveTo>
                    <a:pt x="0" y="1280007"/>
                  </a:moveTo>
                  <a:lnTo>
                    <a:pt x="0" y="1302913"/>
                  </a:lnTo>
                </a:path>
                <a:path w="0" h="1348739">
                  <a:moveTo>
                    <a:pt x="0" y="1325803"/>
                  </a:moveTo>
                  <a:lnTo>
                    <a:pt x="0" y="1348709"/>
                  </a:lnTo>
                </a:path>
              </a:pathLst>
            </a:custGeom>
            <a:ln w="95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1638940" y="4260611"/>
              <a:ext cx="116839" cy="0"/>
            </a:xfrm>
            <a:custGeom>
              <a:avLst/>
              <a:gdLst/>
              <a:ahLst/>
              <a:cxnLst/>
              <a:rect l="l" t="t" r="r" b="b"/>
              <a:pathLst>
                <a:path w="116839" h="0">
                  <a:moveTo>
                    <a:pt x="0" y="0"/>
                  </a:moveTo>
                  <a:lnTo>
                    <a:pt x="116768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1738548" y="4225132"/>
              <a:ext cx="71120" cy="71120"/>
            </a:xfrm>
            <a:custGeom>
              <a:avLst/>
              <a:gdLst/>
              <a:ahLst/>
              <a:cxnLst/>
              <a:rect l="l" t="t" r="r" b="b"/>
              <a:pathLst>
                <a:path w="71119" h="71120">
                  <a:moveTo>
                    <a:pt x="0" y="0"/>
                  </a:moveTo>
                  <a:lnTo>
                    <a:pt x="2285" y="4571"/>
                  </a:lnTo>
                  <a:lnTo>
                    <a:pt x="3428" y="8016"/>
                  </a:lnTo>
                  <a:lnTo>
                    <a:pt x="5714" y="12588"/>
                  </a:lnTo>
                  <a:lnTo>
                    <a:pt x="6857" y="16017"/>
                  </a:lnTo>
                  <a:lnTo>
                    <a:pt x="6857" y="20604"/>
                  </a:lnTo>
                  <a:lnTo>
                    <a:pt x="8000" y="25176"/>
                  </a:lnTo>
                  <a:lnTo>
                    <a:pt x="8000" y="29763"/>
                  </a:lnTo>
                  <a:lnTo>
                    <a:pt x="9159" y="33192"/>
                  </a:lnTo>
                  <a:lnTo>
                    <a:pt x="9159" y="37779"/>
                  </a:lnTo>
                  <a:lnTo>
                    <a:pt x="8000" y="42351"/>
                  </a:lnTo>
                  <a:lnTo>
                    <a:pt x="8000" y="46939"/>
                  </a:lnTo>
                  <a:lnTo>
                    <a:pt x="6857" y="50368"/>
                  </a:lnTo>
                  <a:lnTo>
                    <a:pt x="6857" y="54955"/>
                  </a:lnTo>
                  <a:lnTo>
                    <a:pt x="5714" y="59527"/>
                  </a:lnTo>
                  <a:lnTo>
                    <a:pt x="3428" y="62956"/>
                  </a:lnTo>
                  <a:lnTo>
                    <a:pt x="2285" y="67543"/>
                  </a:lnTo>
                  <a:lnTo>
                    <a:pt x="0" y="70972"/>
                  </a:lnTo>
                  <a:lnTo>
                    <a:pt x="70972" y="354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1553062" y="4411746"/>
              <a:ext cx="65405" cy="150495"/>
            </a:xfrm>
            <a:custGeom>
              <a:avLst/>
              <a:gdLst/>
              <a:ahLst/>
              <a:cxnLst/>
              <a:rect l="l" t="t" r="r" b="b"/>
              <a:pathLst>
                <a:path w="65405" h="150495">
                  <a:moveTo>
                    <a:pt x="0" y="0"/>
                  </a:moveTo>
                  <a:lnTo>
                    <a:pt x="0" y="149976"/>
                  </a:lnTo>
                  <a:lnTo>
                    <a:pt x="65257" y="149976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1" name="object 91"/>
          <p:cNvSpPr txBox="1"/>
          <p:nvPr/>
        </p:nvSpPr>
        <p:spPr>
          <a:xfrm>
            <a:off x="1558797" y="3878303"/>
            <a:ext cx="5530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sweep</a:t>
            </a:r>
            <a:r>
              <a:rPr dirty="0" sz="9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line</a:t>
            </a:r>
            <a:endParaRPr sz="9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447414" y="5184599"/>
            <a:ext cx="2239010" cy="2990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r" marR="53340">
              <a:lnSpc>
                <a:spcPct val="100000"/>
              </a:lnSpc>
              <a:spcBef>
                <a:spcPts val="125"/>
              </a:spcBef>
              <a:tabLst>
                <a:tab pos="948690" algn="l"/>
              </a:tabLst>
            </a:pPr>
            <a:r>
              <a:rPr dirty="0" baseline="8547" sz="975" spc="15">
                <a:solidFill>
                  <a:srgbClr val="FFFFFF"/>
                </a:solidFill>
                <a:latin typeface="Arial"/>
                <a:cs typeface="Arial"/>
              </a:rPr>
              <a:t>(13,3)	</a:t>
            </a: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(4,11)</a:t>
            </a:r>
            <a:endParaRPr sz="650">
              <a:latin typeface="Arial"/>
              <a:cs typeface="Arial"/>
            </a:endParaRPr>
          </a:p>
          <a:p>
            <a:pPr algn="r" marR="43180">
              <a:lnSpc>
                <a:spcPct val="100000"/>
              </a:lnSpc>
              <a:spcBef>
                <a:spcPts val="560"/>
              </a:spcBef>
              <a:tabLst>
                <a:tab pos="1925320" algn="l"/>
              </a:tabLst>
            </a:pPr>
            <a:r>
              <a:rPr dirty="0" baseline="8547" sz="975" spc="15">
                <a:solidFill>
                  <a:srgbClr val="FFFFFF"/>
                </a:solidFill>
                <a:latin typeface="Arial"/>
                <a:cs typeface="Arial"/>
              </a:rPr>
              <a:t>(5,1)	</a:t>
            </a: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(3,13)</a:t>
            </a:r>
            <a:endParaRPr sz="650">
              <a:latin typeface="Arial"/>
              <a:cs typeface="Arial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3351717" y="5332257"/>
            <a:ext cx="342900" cy="0"/>
          </a:xfrm>
          <a:custGeom>
            <a:avLst/>
            <a:gdLst/>
            <a:ahLst/>
            <a:cxnLst/>
            <a:rect l="l" t="t" r="r" b="b"/>
            <a:pathLst>
              <a:path w="342900" h="0">
                <a:moveTo>
                  <a:pt x="0" y="0"/>
                </a:moveTo>
                <a:lnTo>
                  <a:pt x="342320" y="0"/>
                </a:lnTo>
              </a:path>
            </a:pathLst>
          </a:custGeom>
          <a:ln w="9524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/>
          <p:cNvSpPr txBox="1"/>
          <p:nvPr/>
        </p:nvSpPr>
        <p:spPr>
          <a:xfrm>
            <a:off x="1396389" y="5823865"/>
            <a:ext cx="2008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1.8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eep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grpSp>
        <p:nvGrpSpPr>
          <p:cNvPr id="95" name="object 95"/>
          <p:cNvGrpSpPr/>
          <p:nvPr/>
        </p:nvGrpSpPr>
        <p:grpSpPr>
          <a:xfrm>
            <a:off x="4419600" y="3843218"/>
            <a:ext cx="2819400" cy="1905000"/>
            <a:chOff x="4419600" y="3843218"/>
            <a:chExt cx="2819400" cy="1905000"/>
          </a:xfrm>
        </p:grpSpPr>
        <p:sp>
          <p:nvSpPr>
            <p:cNvPr id="96" name="object 96"/>
            <p:cNvSpPr/>
            <p:nvPr/>
          </p:nvSpPr>
          <p:spPr>
            <a:xfrm>
              <a:off x="4419600" y="3843218"/>
              <a:ext cx="2819400" cy="1905000"/>
            </a:xfrm>
            <a:custGeom>
              <a:avLst/>
              <a:gdLst/>
              <a:ahLst/>
              <a:cxnLst/>
              <a:rect l="l" t="t" r="r" b="b"/>
              <a:pathLst>
                <a:path w="2819400" h="1905000">
                  <a:moveTo>
                    <a:pt x="2819201" y="0"/>
                  </a:moveTo>
                  <a:lnTo>
                    <a:pt x="0" y="0"/>
                  </a:lnTo>
                  <a:lnTo>
                    <a:pt x="0" y="1904801"/>
                  </a:lnTo>
                  <a:lnTo>
                    <a:pt x="2819201" y="1904801"/>
                  </a:lnTo>
                  <a:lnTo>
                    <a:pt x="28192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683252" y="4304121"/>
              <a:ext cx="1412240" cy="1241425"/>
            </a:xfrm>
            <a:custGeom>
              <a:avLst/>
              <a:gdLst/>
              <a:ahLst/>
              <a:cxnLst/>
              <a:rect l="l" t="t" r="r" b="b"/>
              <a:pathLst>
                <a:path w="1412239" h="1241425">
                  <a:moveTo>
                    <a:pt x="212948" y="1156365"/>
                  </a:moveTo>
                  <a:lnTo>
                    <a:pt x="212948" y="1241084"/>
                  </a:lnTo>
                </a:path>
                <a:path w="1412239" h="1241425">
                  <a:moveTo>
                    <a:pt x="384688" y="1156365"/>
                  </a:moveTo>
                  <a:lnTo>
                    <a:pt x="384688" y="1241084"/>
                  </a:lnTo>
                </a:path>
                <a:path w="1412239" h="1241425">
                  <a:moveTo>
                    <a:pt x="555269" y="1156365"/>
                  </a:moveTo>
                  <a:lnTo>
                    <a:pt x="555269" y="1241084"/>
                  </a:lnTo>
                </a:path>
                <a:path w="1412239" h="1241425">
                  <a:moveTo>
                    <a:pt x="727008" y="1156365"/>
                  </a:moveTo>
                  <a:lnTo>
                    <a:pt x="727008" y="1241084"/>
                  </a:lnTo>
                </a:path>
                <a:path w="1412239" h="1241425">
                  <a:moveTo>
                    <a:pt x="898748" y="1156365"/>
                  </a:moveTo>
                  <a:lnTo>
                    <a:pt x="898748" y="1241084"/>
                  </a:lnTo>
                </a:path>
                <a:path w="1412239" h="1241425">
                  <a:moveTo>
                    <a:pt x="1069345" y="1156365"/>
                  </a:moveTo>
                  <a:lnTo>
                    <a:pt x="1069345" y="1241084"/>
                  </a:lnTo>
                </a:path>
                <a:path w="1412239" h="1241425">
                  <a:moveTo>
                    <a:pt x="1241069" y="1156365"/>
                  </a:moveTo>
                  <a:lnTo>
                    <a:pt x="1241069" y="1241084"/>
                  </a:lnTo>
                </a:path>
                <a:path w="1412239" h="1241425">
                  <a:moveTo>
                    <a:pt x="1411665" y="1156365"/>
                  </a:moveTo>
                  <a:lnTo>
                    <a:pt x="1411665" y="1241084"/>
                  </a:lnTo>
                </a:path>
                <a:path w="1412239" h="1241425">
                  <a:moveTo>
                    <a:pt x="84719" y="1028136"/>
                  </a:moveTo>
                  <a:lnTo>
                    <a:pt x="0" y="1028136"/>
                  </a:lnTo>
                </a:path>
                <a:path w="1412239" h="1241425">
                  <a:moveTo>
                    <a:pt x="84719" y="856396"/>
                  </a:moveTo>
                  <a:lnTo>
                    <a:pt x="0" y="856396"/>
                  </a:lnTo>
                </a:path>
                <a:path w="1412239" h="1241425">
                  <a:moveTo>
                    <a:pt x="84719" y="685799"/>
                  </a:moveTo>
                  <a:lnTo>
                    <a:pt x="0" y="685799"/>
                  </a:lnTo>
                </a:path>
                <a:path w="1412239" h="1241425">
                  <a:moveTo>
                    <a:pt x="84719" y="514060"/>
                  </a:moveTo>
                  <a:lnTo>
                    <a:pt x="0" y="514060"/>
                  </a:lnTo>
                </a:path>
                <a:path w="1412239" h="1241425">
                  <a:moveTo>
                    <a:pt x="84719" y="342336"/>
                  </a:moveTo>
                  <a:lnTo>
                    <a:pt x="0" y="342336"/>
                  </a:lnTo>
                </a:path>
                <a:path w="1412239" h="1241425">
                  <a:moveTo>
                    <a:pt x="84719" y="171739"/>
                  </a:moveTo>
                  <a:lnTo>
                    <a:pt x="0" y="171739"/>
                  </a:lnTo>
                </a:path>
                <a:path w="1412239" h="1241425">
                  <a:moveTo>
                    <a:pt x="8471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8" name="object 98"/>
          <p:cNvSpPr txBox="1"/>
          <p:nvPr/>
        </p:nvSpPr>
        <p:spPr>
          <a:xfrm>
            <a:off x="4848007" y="5526978"/>
            <a:ext cx="14947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900" spc="60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900" spc="5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dirty="0" sz="900" spc="6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dirty="0" sz="900" spc="2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dirty="0" sz="900" spc="1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900" spc="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14</a:t>
            </a:r>
            <a:r>
              <a:rPr dirty="0" sz="900" spc="1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16</a:t>
            </a:r>
            <a:r>
              <a:rPr dirty="0" sz="900" spc="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18</a:t>
            </a:r>
            <a:endParaRPr sz="900">
              <a:latin typeface="Arial"/>
              <a:cs typeface="Arial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6266657" y="5460486"/>
            <a:ext cx="0" cy="85090"/>
          </a:xfrm>
          <a:custGeom>
            <a:avLst/>
            <a:gdLst/>
            <a:ahLst/>
            <a:cxnLst/>
            <a:rect l="l" t="t" r="r" b="b"/>
            <a:pathLst>
              <a:path w="0" h="85089">
                <a:moveTo>
                  <a:pt x="0" y="0"/>
                </a:moveTo>
                <a:lnTo>
                  <a:pt x="0" y="84719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" name="object 100"/>
          <p:cNvSpPr txBox="1"/>
          <p:nvPr/>
        </p:nvSpPr>
        <p:spPr>
          <a:xfrm>
            <a:off x="4509109" y="4186062"/>
            <a:ext cx="153035" cy="1205865"/>
          </a:xfrm>
          <a:prstGeom prst="rect">
            <a:avLst/>
          </a:prstGeom>
        </p:spPr>
        <p:txBody>
          <a:bodyPr wrap="square" lIns="0" tIns="469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36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11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33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12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101" name="object 101"/>
          <p:cNvGrpSpPr/>
          <p:nvPr/>
        </p:nvGrpSpPr>
        <p:grpSpPr>
          <a:xfrm>
            <a:off x="4688966" y="4090030"/>
            <a:ext cx="1749425" cy="1448435"/>
            <a:chOff x="4688966" y="4090030"/>
            <a:chExt cx="1749425" cy="1448435"/>
          </a:xfrm>
        </p:grpSpPr>
        <p:sp>
          <p:nvSpPr>
            <p:cNvPr id="102" name="object 102"/>
            <p:cNvSpPr/>
            <p:nvPr/>
          </p:nvSpPr>
          <p:spPr>
            <a:xfrm>
              <a:off x="4724460" y="4142699"/>
              <a:ext cx="0" cy="1360170"/>
            </a:xfrm>
            <a:custGeom>
              <a:avLst/>
              <a:gdLst/>
              <a:ahLst/>
              <a:cxnLst/>
              <a:rect l="l" t="t" r="r" b="b"/>
              <a:pathLst>
                <a:path w="0" h="1360170">
                  <a:moveTo>
                    <a:pt x="0" y="1360139"/>
                  </a:moveTo>
                  <a:lnTo>
                    <a:pt x="0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3" name="object 10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88966" y="4090030"/>
              <a:ext cx="70987" cy="69829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4724460" y="5502839"/>
              <a:ext cx="1660525" cy="0"/>
            </a:xfrm>
            <a:custGeom>
              <a:avLst/>
              <a:gdLst/>
              <a:ahLst/>
              <a:cxnLst/>
              <a:rect l="l" t="t" r="r" b="b"/>
              <a:pathLst>
                <a:path w="1660525" h="0">
                  <a:moveTo>
                    <a:pt x="0" y="0"/>
                  </a:moveTo>
                  <a:lnTo>
                    <a:pt x="1660123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5" name="object 10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367409" y="5468503"/>
              <a:ext cx="70987" cy="69829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4875595" y="4541118"/>
              <a:ext cx="984885" cy="897890"/>
            </a:xfrm>
            <a:custGeom>
              <a:avLst/>
              <a:gdLst/>
              <a:ahLst/>
              <a:cxnLst/>
              <a:rect l="l" t="t" r="r" b="b"/>
              <a:pathLst>
                <a:path w="984885" h="897889">
                  <a:moveTo>
                    <a:pt x="0" y="533537"/>
                  </a:moveTo>
                  <a:lnTo>
                    <a:pt x="1142" y="524377"/>
                  </a:lnTo>
                  <a:lnTo>
                    <a:pt x="8016" y="516361"/>
                  </a:lnTo>
                  <a:lnTo>
                    <a:pt x="16017" y="512917"/>
                  </a:lnTo>
                  <a:lnTo>
                    <a:pt x="26334" y="512917"/>
                  </a:lnTo>
                  <a:lnTo>
                    <a:pt x="34335" y="516361"/>
                  </a:lnTo>
                  <a:lnTo>
                    <a:pt x="40065" y="524377"/>
                  </a:lnTo>
                  <a:lnTo>
                    <a:pt x="42351" y="533537"/>
                  </a:lnTo>
                  <a:lnTo>
                    <a:pt x="40065" y="542696"/>
                  </a:lnTo>
                  <a:lnTo>
                    <a:pt x="34335" y="549554"/>
                  </a:lnTo>
                  <a:lnTo>
                    <a:pt x="26334" y="554141"/>
                  </a:lnTo>
                  <a:lnTo>
                    <a:pt x="16017" y="554141"/>
                  </a:lnTo>
                  <a:lnTo>
                    <a:pt x="8016" y="549554"/>
                  </a:lnTo>
                  <a:lnTo>
                    <a:pt x="1142" y="542696"/>
                  </a:lnTo>
                  <a:lnTo>
                    <a:pt x="0" y="533537"/>
                  </a:lnTo>
                </a:path>
                <a:path w="984885" h="897889">
                  <a:moveTo>
                    <a:pt x="171724" y="20604"/>
                  </a:moveTo>
                  <a:lnTo>
                    <a:pt x="172882" y="11445"/>
                  </a:lnTo>
                  <a:lnTo>
                    <a:pt x="179740" y="3444"/>
                  </a:lnTo>
                  <a:lnTo>
                    <a:pt x="187756" y="0"/>
                  </a:lnTo>
                  <a:lnTo>
                    <a:pt x="198059" y="0"/>
                  </a:lnTo>
                  <a:lnTo>
                    <a:pt x="206075" y="3444"/>
                  </a:lnTo>
                  <a:lnTo>
                    <a:pt x="211805" y="11445"/>
                  </a:lnTo>
                  <a:lnTo>
                    <a:pt x="214091" y="20604"/>
                  </a:lnTo>
                  <a:lnTo>
                    <a:pt x="211805" y="28620"/>
                  </a:lnTo>
                  <a:lnTo>
                    <a:pt x="206075" y="35493"/>
                  </a:lnTo>
                  <a:lnTo>
                    <a:pt x="198059" y="40081"/>
                  </a:lnTo>
                  <a:lnTo>
                    <a:pt x="187756" y="40081"/>
                  </a:lnTo>
                  <a:lnTo>
                    <a:pt x="179740" y="35493"/>
                  </a:lnTo>
                  <a:lnTo>
                    <a:pt x="172882" y="28620"/>
                  </a:lnTo>
                  <a:lnTo>
                    <a:pt x="171724" y="20604"/>
                  </a:lnTo>
                </a:path>
                <a:path w="984885" h="897889">
                  <a:moveTo>
                    <a:pt x="257601" y="877001"/>
                  </a:moveTo>
                  <a:lnTo>
                    <a:pt x="258744" y="867841"/>
                  </a:lnTo>
                  <a:lnTo>
                    <a:pt x="265617" y="859825"/>
                  </a:lnTo>
                  <a:lnTo>
                    <a:pt x="272475" y="856396"/>
                  </a:lnTo>
                  <a:lnTo>
                    <a:pt x="282793" y="856396"/>
                  </a:lnTo>
                  <a:lnTo>
                    <a:pt x="290794" y="859825"/>
                  </a:lnTo>
                  <a:lnTo>
                    <a:pt x="296524" y="867841"/>
                  </a:lnTo>
                  <a:lnTo>
                    <a:pt x="298810" y="877001"/>
                  </a:lnTo>
                  <a:lnTo>
                    <a:pt x="296524" y="886160"/>
                  </a:lnTo>
                  <a:lnTo>
                    <a:pt x="290794" y="893033"/>
                  </a:lnTo>
                  <a:lnTo>
                    <a:pt x="282793" y="897605"/>
                  </a:lnTo>
                  <a:lnTo>
                    <a:pt x="272475" y="897605"/>
                  </a:lnTo>
                  <a:lnTo>
                    <a:pt x="265617" y="893033"/>
                  </a:lnTo>
                  <a:lnTo>
                    <a:pt x="258744" y="886160"/>
                  </a:lnTo>
                  <a:lnTo>
                    <a:pt x="257601" y="877001"/>
                  </a:lnTo>
                </a:path>
                <a:path w="984885" h="897889">
                  <a:moveTo>
                    <a:pt x="428183" y="362940"/>
                  </a:moveTo>
                  <a:lnTo>
                    <a:pt x="429341" y="353781"/>
                  </a:lnTo>
                  <a:lnTo>
                    <a:pt x="436199" y="345765"/>
                  </a:lnTo>
                  <a:lnTo>
                    <a:pt x="444215" y="342336"/>
                  </a:lnTo>
                  <a:lnTo>
                    <a:pt x="454517" y="342336"/>
                  </a:lnTo>
                  <a:lnTo>
                    <a:pt x="462533" y="345765"/>
                  </a:lnTo>
                  <a:lnTo>
                    <a:pt x="468264" y="353781"/>
                  </a:lnTo>
                  <a:lnTo>
                    <a:pt x="470550" y="362940"/>
                  </a:lnTo>
                  <a:lnTo>
                    <a:pt x="468264" y="372099"/>
                  </a:lnTo>
                  <a:lnTo>
                    <a:pt x="462533" y="378973"/>
                  </a:lnTo>
                  <a:lnTo>
                    <a:pt x="454517" y="383545"/>
                  </a:lnTo>
                  <a:lnTo>
                    <a:pt x="444215" y="383545"/>
                  </a:lnTo>
                  <a:lnTo>
                    <a:pt x="436199" y="378973"/>
                  </a:lnTo>
                  <a:lnTo>
                    <a:pt x="429341" y="372099"/>
                  </a:lnTo>
                  <a:lnTo>
                    <a:pt x="428183" y="362940"/>
                  </a:lnTo>
                </a:path>
                <a:path w="984885" h="897889">
                  <a:moveTo>
                    <a:pt x="599922" y="105338"/>
                  </a:moveTo>
                  <a:lnTo>
                    <a:pt x="601065" y="96179"/>
                  </a:lnTo>
                  <a:lnTo>
                    <a:pt x="607938" y="88163"/>
                  </a:lnTo>
                  <a:lnTo>
                    <a:pt x="615955" y="84719"/>
                  </a:lnTo>
                  <a:lnTo>
                    <a:pt x="626257" y="84719"/>
                  </a:lnTo>
                  <a:lnTo>
                    <a:pt x="634273" y="88163"/>
                  </a:lnTo>
                  <a:lnTo>
                    <a:pt x="640003" y="96179"/>
                  </a:lnTo>
                  <a:lnTo>
                    <a:pt x="642289" y="105338"/>
                  </a:lnTo>
                  <a:lnTo>
                    <a:pt x="640003" y="114498"/>
                  </a:lnTo>
                  <a:lnTo>
                    <a:pt x="634273" y="121356"/>
                  </a:lnTo>
                  <a:lnTo>
                    <a:pt x="626257" y="125943"/>
                  </a:lnTo>
                  <a:lnTo>
                    <a:pt x="615955" y="125943"/>
                  </a:lnTo>
                  <a:lnTo>
                    <a:pt x="607938" y="121356"/>
                  </a:lnTo>
                  <a:lnTo>
                    <a:pt x="601065" y="114498"/>
                  </a:lnTo>
                  <a:lnTo>
                    <a:pt x="599922" y="105338"/>
                  </a:lnTo>
                </a:path>
                <a:path w="984885" h="897889">
                  <a:moveTo>
                    <a:pt x="685799" y="533537"/>
                  </a:moveTo>
                  <a:lnTo>
                    <a:pt x="686942" y="524377"/>
                  </a:lnTo>
                  <a:lnTo>
                    <a:pt x="693816" y="516361"/>
                  </a:lnTo>
                  <a:lnTo>
                    <a:pt x="701817" y="512917"/>
                  </a:lnTo>
                  <a:lnTo>
                    <a:pt x="712134" y="512917"/>
                  </a:lnTo>
                  <a:lnTo>
                    <a:pt x="720135" y="516361"/>
                  </a:lnTo>
                  <a:lnTo>
                    <a:pt x="724722" y="524377"/>
                  </a:lnTo>
                  <a:lnTo>
                    <a:pt x="727008" y="533537"/>
                  </a:lnTo>
                  <a:lnTo>
                    <a:pt x="724722" y="542696"/>
                  </a:lnTo>
                  <a:lnTo>
                    <a:pt x="720135" y="549554"/>
                  </a:lnTo>
                  <a:lnTo>
                    <a:pt x="712134" y="554141"/>
                  </a:lnTo>
                  <a:lnTo>
                    <a:pt x="701817" y="554141"/>
                  </a:lnTo>
                  <a:lnTo>
                    <a:pt x="693816" y="549554"/>
                  </a:lnTo>
                  <a:lnTo>
                    <a:pt x="686942" y="542696"/>
                  </a:lnTo>
                  <a:lnTo>
                    <a:pt x="685799" y="533537"/>
                  </a:lnTo>
                </a:path>
                <a:path w="984885" h="897889">
                  <a:moveTo>
                    <a:pt x="942258" y="705261"/>
                  </a:moveTo>
                  <a:lnTo>
                    <a:pt x="943401" y="696102"/>
                  </a:lnTo>
                  <a:lnTo>
                    <a:pt x="950274" y="688085"/>
                  </a:lnTo>
                  <a:lnTo>
                    <a:pt x="958275" y="684656"/>
                  </a:lnTo>
                  <a:lnTo>
                    <a:pt x="968593" y="684656"/>
                  </a:lnTo>
                  <a:lnTo>
                    <a:pt x="976594" y="688085"/>
                  </a:lnTo>
                  <a:lnTo>
                    <a:pt x="982324" y="696102"/>
                  </a:lnTo>
                  <a:lnTo>
                    <a:pt x="984610" y="705261"/>
                  </a:lnTo>
                  <a:lnTo>
                    <a:pt x="982324" y="714420"/>
                  </a:lnTo>
                  <a:lnTo>
                    <a:pt x="976594" y="721293"/>
                  </a:lnTo>
                  <a:lnTo>
                    <a:pt x="968593" y="725881"/>
                  </a:lnTo>
                  <a:lnTo>
                    <a:pt x="958275" y="725881"/>
                  </a:lnTo>
                  <a:lnTo>
                    <a:pt x="950274" y="721293"/>
                  </a:lnTo>
                  <a:lnTo>
                    <a:pt x="943401" y="714420"/>
                  </a:lnTo>
                  <a:lnTo>
                    <a:pt x="942258" y="705261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7" name="object 107"/>
          <p:cNvSpPr txBox="1"/>
          <p:nvPr/>
        </p:nvSpPr>
        <p:spPr>
          <a:xfrm>
            <a:off x="4751830" y="4936149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(2,5)</a:t>
            </a:r>
            <a:endParaRPr sz="650">
              <a:latin typeface="Arial"/>
              <a:cs typeface="Arial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4901812" y="5344880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(5,1)</a:t>
            </a:r>
            <a:endParaRPr sz="650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4813654" y="4561764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(4,11)</a:t>
            </a:r>
            <a:endParaRPr sz="650">
              <a:latin typeface="Arial"/>
              <a:cs typeface="Arial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5106751" y="4841123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(7,7)</a:t>
            </a:r>
            <a:endParaRPr sz="650">
              <a:latin typeface="Arial"/>
              <a:cs typeface="Arial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4727787" y="4402622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(3,13)</a:t>
            </a:r>
            <a:endParaRPr sz="650">
              <a:latin typeface="Arial"/>
              <a:cs typeface="Arial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5301384" y="5065524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(10,5)</a:t>
            </a:r>
            <a:endParaRPr sz="650">
              <a:latin typeface="Arial"/>
              <a:cs typeface="Arial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5795986" y="4402622"/>
            <a:ext cx="29718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(12,12)</a:t>
            </a:r>
            <a:endParaRPr sz="650">
              <a:latin typeface="Arial"/>
              <a:cs typeface="Arial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5241851" y="4639618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(9,10)</a:t>
            </a:r>
            <a:endParaRPr sz="650">
              <a:latin typeface="Arial"/>
              <a:cs typeface="Arial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5967722" y="4564055"/>
            <a:ext cx="29718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(14,10)</a:t>
            </a:r>
            <a:endParaRPr sz="65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6055880" y="4830818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(15,7)</a:t>
            </a:r>
            <a:endParaRPr sz="65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5868115" y="5173145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(13,3)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118" name="object 118"/>
          <p:cNvGrpSpPr/>
          <p:nvPr/>
        </p:nvGrpSpPr>
        <p:grpSpPr>
          <a:xfrm>
            <a:off x="4724460" y="4132381"/>
            <a:ext cx="1312545" cy="1348740"/>
            <a:chOff x="4724460" y="4132381"/>
            <a:chExt cx="1312545" cy="1348740"/>
          </a:xfrm>
        </p:grpSpPr>
        <p:sp>
          <p:nvSpPr>
            <p:cNvPr id="119" name="object 119"/>
            <p:cNvSpPr/>
            <p:nvPr/>
          </p:nvSpPr>
          <p:spPr>
            <a:xfrm>
              <a:off x="4724460" y="4369379"/>
              <a:ext cx="1308100" cy="555625"/>
            </a:xfrm>
            <a:custGeom>
              <a:avLst/>
              <a:gdLst/>
              <a:ahLst/>
              <a:cxnLst/>
              <a:rect l="l" t="t" r="r" b="b"/>
              <a:pathLst>
                <a:path w="1308100" h="555625">
                  <a:moveTo>
                    <a:pt x="236997" y="20619"/>
                  </a:moveTo>
                  <a:lnTo>
                    <a:pt x="238140" y="11460"/>
                  </a:lnTo>
                  <a:lnTo>
                    <a:pt x="245013" y="3444"/>
                  </a:lnTo>
                  <a:lnTo>
                    <a:pt x="253029" y="0"/>
                  </a:lnTo>
                  <a:lnTo>
                    <a:pt x="263331" y="0"/>
                  </a:lnTo>
                  <a:lnTo>
                    <a:pt x="271348" y="3444"/>
                  </a:lnTo>
                  <a:lnTo>
                    <a:pt x="277063" y="11460"/>
                  </a:lnTo>
                  <a:lnTo>
                    <a:pt x="279364" y="20619"/>
                  </a:lnTo>
                  <a:lnTo>
                    <a:pt x="277063" y="29778"/>
                  </a:lnTo>
                  <a:lnTo>
                    <a:pt x="271348" y="36636"/>
                  </a:lnTo>
                  <a:lnTo>
                    <a:pt x="263331" y="41224"/>
                  </a:lnTo>
                  <a:lnTo>
                    <a:pt x="253029" y="41224"/>
                  </a:lnTo>
                  <a:lnTo>
                    <a:pt x="245013" y="36636"/>
                  </a:lnTo>
                  <a:lnTo>
                    <a:pt x="238140" y="29778"/>
                  </a:lnTo>
                  <a:lnTo>
                    <a:pt x="236997" y="20619"/>
                  </a:lnTo>
                </a:path>
                <a:path w="1308100" h="555625">
                  <a:moveTo>
                    <a:pt x="1179255" y="277078"/>
                  </a:moveTo>
                  <a:lnTo>
                    <a:pt x="1180398" y="267919"/>
                  </a:lnTo>
                  <a:lnTo>
                    <a:pt x="1187272" y="259902"/>
                  </a:lnTo>
                  <a:lnTo>
                    <a:pt x="1195288" y="256458"/>
                  </a:lnTo>
                  <a:lnTo>
                    <a:pt x="1205590" y="256458"/>
                  </a:lnTo>
                  <a:lnTo>
                    <a:pt x="1213606" y="259902"/>
                  </a:lnTo>
                  <a:lnTo>
                    <a:pt x="1219321" y="267919"/>
                  </a:lnTo>
                  <a:lnTo>
                    <a:pt x="1221623" y="277078"/>
                  </a:lnTo>
                  <a:lnTo>
                    <a:pt x="1219321" y="286237"/>
                  </a:lnTo>
                  <a:lnTo>
                    <a:pt x="1213606" y="293095"/>
                  </a:lnTo>
                  <a:lnTo>
                    <a:pt x="1205590" y="297682"/>
                  </a:lnTo>
                  <a:lnTo>
                    <a:pt x="1195288" y="297682"/>
                  </a:lnTo>
                  <a:lnTo>
                    <a:pt x="1187272" y="293095"/>
                  </a:lnTo>
                  <a:lnTo>
                    <a:pt x="1180398" y="286237"/>
                  </a:lnTo>
                  <a:lnTo>
                    <a:pt x="1179255" y="277078"/>
                  </a:lnTo>
                </a:path>
                <a:path w="1308100" h="555625">
                  <a:moveTo>
                    <a:pt x="1265118" y="534680"/>
                  </a:moveTo>
                  <a:lnTo>
                    <a:pt x="1266276" y="525520"/>
                  </a:lnTo>
                  <a:lnTo>
                    <a:pt x="1273134" y="517504"/>
                  </a:lnTo>
                  <a:lnTo>
                    <a:pt x="1281150" y="514075"/>
                  </a:lnTo>
                  <a:lnTo>
                    <a:pt x="1291452" y="514075"/>
                  </a:lnTo>
                  <a:lnTo>
                    <a:pt x="1299469" y="517504"/>
                  </a:lnTo>
                  <a:lnTo>
                    <a:pt x="1305199" y="525520"/>
                  </a:lnTo>
                  <a:lnTo>
                    <a:pt x="1307485" y="534680"/>
                  </a:lnTo>
                  <a:lnTo>
                    <a:pt x="1305199" y="543839"/>
                  </a:lnTo>
                  <a:lnTo>
                    <a:pt x="1299469" y="550712"/>
                  </a:lnTo>
                  <a:lnTo>
                    <a:pt x="1291452" y="555284"/>
                  </a:lnTo>
                  <a:lnTo>
                    <a:pt x="1281150" y="555284"/>
                  </a:lnTo>
                  <a:lnTo>
                    <a:pt x="1273134" y="550712"/>
                  </a:lnTo>
                  <a:lnTo>
                    <a:pt x="1266276" y="543839"/>
                  </a:lnTo>
                  <a:lnTo>
                    <a:pt x="1265118" y="534680"/>
                  </a:lnTo>
                </a:path>
                <a:path w="1308100" h="555625">
                  <a:moveTo>
                    <a:pt x="0" y="20619"/>
                  </a:moveTo>
                  <a:lnTo>
                    <a:pt x="236997" y="20619"/>
                  </a:lnTo>
                </a:path>
                <a:path w="1308100" h="555625">
                  <a:moveTo>
                    <a:pt x="1007516" y="106481"/>
                  </a:moveTo>
                  <a:lnTo>
                    <a:pt x="1008659" y="97322"/>
                  </a:lnTo>
                  <a:lnTo>
                    <a:pt x="1015532" y="89306"/>
                  </a:lnTo>
                  <a:lnTo>
                    <a:pt x="1023548" y="85877"/>
                  </a:lnTo>
                  <a:lnTo>
                    <a:pt x="1033851" y="85877"/>
                  </a:lnTo>
                  <a:lnTo>
                    <a:pt x="1041867" y="89306"/>
                  </a:lnTo>
                  <a:lnTo>
                    <a:pt x="1047597" y="97322"/>
                  </a:lnTo>
                  <a:lnTo>
                    <a:pt x="1049883" y="106481"/>
                  </a:lnTo>
                  <a:lnTo>
                    <a:pt x="1047597" y="115641"/>
                  </a:lnTo>
                  <a:lnTo>
                    <a:pt x="1041867" y="122514"/>
                  </a:lnTo>
                  <a:lnTo>
                    <a:pt x="1033851" y="127086"/>
                  </a:lnTo>
                  <a:lnTo>
                    <a:pt x="1023548" y="127086"/>
                  </a:lnTo>
                  <a:lnTo>
                    <a:pt x="1015532" y="122514"/>
                  </a:lnTo>
                  <a:lnTo>
                    <a:pt x="1008659" y="115641"/>
                  </a:lnTo>
                  <a:lnTo>
                    <a:pt x="1007516" y="106481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5152659" y="4132381"/>
              <a:ext cx="0" cy="1348740"/>
            </a:xfrm>
            <a:custGeom>
              <a:avLst/>
              <a:gdLst/>
              <a:ahLst/>
              <a:cxnLst/>
              <a:rect l="l" t="t" r="r" b="b"/>
              <a:pathLst>
                <a:path w="0" h="1348739">
                  <a:moveTo>
                    <a:pt x="0" y="0"/>
                  </a:moveTo>
                  <a:lnTo>
                    <a:pt x="0" y="22905"/>
                  </a:lnTo>
                </a:path>
                <a:path w="0" h="1348739">
                  <a:moveTo>
                    <a:pt x="0" y="45811"/>
                  </a:moveTo>
                  <a:lnTo>
                    <a:pt x="0" y="68701"/>
                  </a:lnTo>
                </a:path>
                <a:path w="0" h="1348739">
                  <a:moveTo>
                    <a:pt x="0" y="91592"/>
                  </a:moveTo>
                  <a:lnTo>
                    <a:pt x="0" y="114498"/>
                  </a:lnTo>
                </a:path>
                <a:path w="0" h="1348739">
                  <a:moveTo>
                    <a:pt x="0" y="137388"/>
                  </a:moveTo>
                  <a:lnTo>
                    <a:pt x="0" y="160294"/>
                  </a:lnTo>
                </a:path>
                <a:path w="0" h="1348739">
                  <a:moveTo>
                    <a:pt x="0" y="183184"/>
                  </a:moveTo>
                  <a:lnTo>
                    <a:pt x="0" y="206090"/>
                  </a:lnTo>
                </a:path>
                <a:path w="0" h="1348739">
                  <a:moveTo>
                    <a:pt x="0" y="228980"/>
                  </a:moveTo>
                  <a:lnTo>
                    <a:pt x="0" y="251886"/>
                  </a:lnTo>
                </a:path>
                <a:path w="0" h="1348739">
                  <a:moveTo>
                    <a:pt x="0" y="274792"/>
                  </a:moveTo>
                  <a:lnTo>
                    <a:pt x="0" y="297682"/>
                  </a:lnTo>
                </a:path>
                <a:path w="0" h="1348739">
                  <a:moveTo>
                    <a:pt x="0" y="320588"/>
                  </a:moveTo>
                  <a:lnTo>
                    <a:pt x="0" y="343479"/>
                  </a:lnTo>
                </a:path>
                <a:path w="0" h="1348739">
                  <a:moveTo>
                    <a:pt x="0" y="366369"/>
                  </a:moveTo>
                  <a:lnTo>
                    <a:pt x="0" y="389275"/>
                  </a:lnTo>
                </a:path>
                <a:path w="0" h="1348739">
                  <a:moveTo>
                    <a:pt x="0" y="412181"/>
                  </a:moveTo>
                  <a:lnTo>
                    <a:pt x="0" y="435071"/>
                  </a:lnTo>
                </a:path>
                <a:path w="0" h="1348739">
                  <a:moveTo>
                    <a:pt x="0" y="456818"/>
                  </a:moveTo>
                  <a:lnTo>
                    <a:pt x="0" y="479724"/>
                  </a:lnTo>
                </a:path>
                <a:path w="0" h="1348739">
                  <a:moveTo>
                    <a:pt x="0" y="502615"/>
                  </a:moveTo>
                  <a:lnTo>
                    <a:pt x="0" y="525520"/>
                  </a:lnTo>
                </a:path>
                <a:path w="0" h="1348739">
                  <a:moveTo>
                    <a:pt x="0" y="548411"/>
                  </a:moveTo>
                  <a:lnTo>
                    <a:pt x="0" y="571317"/>
                  </a:lnTo>
                </a:path>
                <a:path w="0" h="1348739">
                  <a:moveTo>
                    <a:pt x="0" y="594207"/>
                  </a:moveTo>
                  <a:lnTo>
                    <a:pt x="0" y="617113"/>
                  </a:lnTo>
                </a:path>
                <a:path w="0" h="1348739">
                  <a:moveTo>
                    <a:pt x="0" y="640003"/>
                  </a:moveTo>
                  <a:lnTo>
                    <a:pt x="0" y="662909"/>
                  </a:lnTo>
                </a:path>
                <a:path w="0" h="1348739">
                  <a:moveTo>
                    <a:pt x="0" y="685799"/>
                  </a:moveTo>
                  <a:lnTo>
                    <a:pt x="0" y="708705"/>
                  </a:lnTo>
                </a:path>
                <a:path w="0" h="1348739">
                  <a:moveTo>
                    <a:pt x="0" y="731611"/>
                  </a:moveTo>
                  <a:lnTo>
                    <a:pt x="0" y="754501"/>
                  </a:lnTo>
                </a:path>
                <a:path w="0" h="1348739">
                  <a:moveTo>
                    <a:pt x="0" y="777407"/>
                  </a:moveTo>
                  <a:lnTo>
                    <a:pt x="0" y="800298"/>
                  </a:lnTo>
                </a:path>
                <a:path w="0" h="1348739">
                  <a:moveTo>
                    <a:pt x="0" y="823188"/>
                  </a:moveTo>
                  <a:lnTo>
                    <a:pt x="0" y="846094"/>
                  </a:lnTo>
                </a:path>
                <a:path w="0" h="1348739">
                  <a:moveTo>
                    <a:pt x="0" y="868984"/>
                  </a:moveTo>
                  <a:lnTo>
                    <a:pt x="0" y="891890"/>
                  </a:lnTo>
                </a:path>
                <a:path w="0" h="1348739">
                  <a:moveTo>
                    <a:pt x="0" y="913637"/>
                  </a:moveTo>
                  <a:lnTo>
                    <a:pt x="0" y="936543"/>
                  </a:lnTo>
                </a:path>
                <a:path w="0" h="1348739">
                  <a:moveTo>
                    <a:pt x="0" y="959434"/>
                  </a:moveTo>
                  <a:lnTo>
                    <a:pt x="0" y="982339"/>
                  </a:lnTo>
                </a:path>
                <a:path w="0" h="1348739">
                  <a:moveTo>
                    <a:pt x="0" y="1005230"/>
                  </a:moveTo>
                  <a:lnTo>
                    <a:pt x="0" y="1028136"/>
                  </a:lnTo>
                </a:path>
                <a:path w="0" h="1348739">
                  <a:moveTo>
                    <a:pt x="0" y="1051026"/>
                  </a:moveTo>
                  <a:lnTo>
                    <a:pt x="0" y="1073932"/>
                  </a:lnTo>
                </a:path>
                <a:path w="0" h="1348739">
                  <a:moveTo>
                    <a:pt x="0" y="1096822"/>
                  </a:moveTo>
                  <a:lnTo>
                    <a:pt x="0" y="1119728"/>
                  </a:lnTo>
                </a:path>
                <a:path w="0" h="1348739">
                  <a:moveTo>
                    <a:pt x="0" y="1142618"/>
                  </a:moveTo>
                  <a:lnTo>
                    <a:pt x="0" y="1165524"/>
                  </a:lnTo>
                </a:path>
                <a:path w="0" h="1348739">
                  <a:moveTo>
                    <a:pt x="0" y="1188415"/>
                  </a:moveTo>
                  <a:lnTo>
                    <a:pt x="0" y="1211320"/>
                  </a:lnTo>
                </a:path>
                <a:path w="0" h="1348739">
                  <a:moveTo>
                    <a:pt x="0" y="1234211"/>
                  </a:moveTo>
                  <a:lnTo>
                    <a:pt x="0" y="1257117"/>
                  </a:lnTo>
                </a:path>
                <a:path w="0" h="1348739">
                  <a:moveTo>
                    <a:pt x="0" y="1280007"/>
                  </a:moveTo>
                  <a:lnTo>
                    <a:pt x="0" y="1302913"/>
                  </a:lnTo>
                </a:path>
                <a:path w="0" h="1348739">
                  <a:moveTo>
                    <a:pt x="0" y="1325803"/>
                  </a:moveTo>
                  <a:lnTo>
                    <a:pt x="0" y="1348709"/>
                  </a:lnTo>
                </a:path>
              </a:pathLst>
            </a:custGeom>
            <a:ln w="95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5152659" y="4260611"/>
              <a:ext cx="118110" cy="0"/>
            </a:xfrm>
            <a:custGeom>
              <a:avLst/>
              <a:gdLst/>
              <a:ahLst/>
              <a:cxnLst/>
              <a:rect l="l" t="t" r="r" b="b"/>
              <a:pathLst>
                <a:path w="118110" h="0">
                  <a:moveTo>
                    <a:pt x="0" y="0"/>
                  </a:moveTo>
                  <a:lnTo>
                    <a:pt x="117927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5253410" y="4225132"/>
              <a:ext cx="71120" cy="71120"/>
            </a:xfrm>
            <a:custGeom>
              <a:avLst/>
              <a:gdLst/>
              <a:ahLst/>
              <a:cxnLst/>
              <a:rect l="l" t="t" r="r" b="b"/>
              <a:pathLst>
                <a:path w="71120" h="71120">
                  <a:moveTo>
                    <a:pt x="0" y="0"/>
                  </a:moveTo>
                  <a:lnTo>
                    <a:pt x="2285" y="4571"/>
                  </a:lnTo>
                  <a:lnTo>
                    <a:pt x="3428" y="8016"/>
                  </a:lnTo>
                  <a:lnTo>
                    <a:pt x="5730" y="12588"/>
                  </a:lnTo>
                  <a:lnTo>
                    <a:pt x="6873" y="16017"/>
                  </a:lnTo>
                  <a:lnTo>
                    <a:pt x="6873" y="20604"/>
                  </a:lnTo>
                  <a:lnTo>
                    <a:pt x="8016" y="25176"/>
                  </a:lnTo>
                  <a:lnTo>
                    <a:pt x="8016" y="29763"/>
                  </a:lnTo>
                  <a:lnTo>
                    <a:pt x="9159" y="33192"/>
                  </a:lnTo>
                  <a:lnTo>
                    <a:pt x="9159" y="37779"/>
                  </a:lnTo>
                  <a:lnTo>
                    <a:pt x="8016" y="42351"/>
                  </a:lnTo>
                  <a:lnTo>
                    <a:pt x="8016" y="46939"/>
                  </a:lnTo>
                  <a:lnTo>
                    <a:pt x="6873" y="50368"/>
                  </a:lnTo>
                  <a:lnTo>
                    <a:pt x="6873" y="54955"/>
                  </a:lnTo>
                  <a:lnTo>
                    <a:pt x="5730" y="59527"/>
                  </a:lnTo>
                  <a:lnTo>
                    <a:pt x="3428" y="62956"/>
                  </a:lnTo>
                  <a:lnTo>
                    <a:pt x="2285" y="67543"/>
                  </a:lnTo>
                  <a:lnTo>
                    <a:pt x="0" y="70972"/>
                  </a:lnTo>
                  <a:lnTo>
                    <a:pt x="70987" y="354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4982062" y="4411746"/>
              <a:ext cx="151130" cy="1006475"/>
            </a:xfrm>
            <a:custGeom>
              <a:avLst/>
              <a:gdLst/>
              <a:ahLst/>
              <a:cxnLst/>
              <a:rect l="l" t="t" r="r" b="b"/>
              <a:pathLst>
                <a:path w="151129" h="1006475">
                  <a:moveTo>
                    <a:pt x="0" y="0"/>
                  </a:moveTo>
                  <a:lnTo>
                    <a:pt x="0" y="149976"/>
                  </a:lnTo>
                  <a:lnTo>
                    <a:pt x="65257" y="149976"/>
                  </a:lnTo>
                </a:path>
                <a:path w="151129" h="1006475">
                  <a:moveTo>
                    <a:pt x="85877" y="170596"/>
                  </a:moveTo>
                  <a:lnTo>
                    <a:pt x="85877" y="1006373"/>
                  </a:lnTo>
                  <a:lnTo>
                    <a:pt x="151135" y="1006373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4" name="object 124"/>
          <p:cNvSpPr txBox="1"/>
          <p:nvPr/>
        </p:nvSpPr>
        <p:spPr>
          <a:xfrm>
            <a:off x="6789773" y="5505223"/>
            <a:ext cx="292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i="1">
                <a:solidFill>
                  <a:srgbClr val="FFFFFF"/>
                </a:solidFill>
                <a:latin typeface="Arial"/>
                <a:cs typeface="Arial"/>
              </a:rPr>
              <a:t>stack</a:t>
            </a:r>
            <a:endParaRPr sz="900">
              <a:latin typeface="Arial"/>
              <a:cs typeface="Arial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5060960" y="3878303"/>
            <a:ext cx="5657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sweep</a:t>
            </a:r>
            <a:r>
              <a:rPr dirty="0" sz="9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line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126" name="object 126"/>
          <p:cNvGraphicFramePr>
            <a:graphicFrameLocks noGrp="1"/>
          </p:cNvGraphicFramePr>
          <p:nvPr/>
        </p:nvGraphicFramePr>
        <p:xfrm>
          <a:off x="6775955" y="4475861"/>
          <a:ext cx="356870" cy="10318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2265"/>
              </a:tblGrid>
              <a:tr h="68465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 marR="13970">
                        <a:lnSpc>
                          <a:spcPct val="100000"/>
                        </a:lnSpc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(5,1)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1739">
                <a:tc>
                  <a:txBody>
                    <a:bodyPr/>
                    <a:lstStyle/>
                    <a:p>
                      <a:pPr algn="ctr" marR="1206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(4,11)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000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0581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(3,13)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127" name="object 127"/>
          <p:cNvSpPr txBox="1"/>
          <p:nvPr/>
        </p:nvSpPr>
        <p:spPr>
          <a:xfrm>
            <a:off x="4863221" y="5823865"/>
            <a:ext cx="19323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1.9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eep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grpSp>
        <p:nvGrpSpPr>
          <p:cNvPr id="128" name="object 128"/>
          <p:cNvGrpSpPr/>
          <p:nvPr/>
        </p:nvGrpSpPr>
        <p:grpSpPr>
          <a:xfrm>
            <a:off x="990600" y="6281618"/>
            <a:ext cx="2819400" cy="1905000"/>
            <a:chOff x="990600" y="6281618"/>
            <a:chExt cx="2819400" cy="1905000"/>
          </a:xfrm>
        </p:grpSpPr>
        <p:sp>
          <p:nvSpPr>
            <p:cNvPr id="129" name="object 129"/>
            <p:cNvSpPr/>
            <p:nvPr/>
          </p:nvSpPr>
          <p:spPr>
            <a:xfrm>
              <a:off x="990600" y="6281618"/>
              <a:ext cx="2819400" cy="1905000"/>
            </a:xfrm>
            <a:custGeom>
              <a:avLst/>
              <a:gdLst/>
              <a:ahLst/>
              <a:cxnLst/>
              <a:rect l="l" t="t" r="r" b="b"/>
              <a:pathLst>
                <a:path w="2819400" h="1905000">
                  <a:moveTo>
                    <a:pt x="2819201" y="0"/>
                  </a:moveTo>
                  <a:lnTo>
                    <a:pt x="0" y="0"/>
                  </a:lnTo>
                  <a:lnTo>
                    <a:pt x="0" y="1904801"/>
                  </a:lnTo>
                  <a:lnTo>
                    <a:pt x="2819201" y="1904801"/>
                  </a:lnTo>
                  <a:lnTo>
                    <a:pt x="28192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1254247" y="6742262"/>
              <a:ext cx="1412240" cy="1241425"/>
            </a:xfrm>
            <a:custGeom>
              <a:avLst/>
              <a:gdLst/>
              <a:ahLst/>
              <a:cxnLst/>
              <a:rect l="l" t="t" r="r" b="b"/>
              <a:pathLst>
                <a:path w="1412239" h="1241425">
                  <a:moveTo>
                    <a:pt x="212951" y="1156350"/>
                  </a:moveTo>
                  <a:lnTo>
                    <a:pt x="212951" y="1241069"/>
                  </a:lnTo>
                </a:path>
                <a:path w="1412239" h="1241425">
                  <a:moveTo>
                    <a:pt x="384692" y="1156350"/>
                  </a:moveTo>
                  <a:lnTo>
                    <a:pt x="384692" y="1241069"/>
                  </a:lnTo>
                </a:path>
                <a:path w="1412239" h="1241425">
                  <a:moveTo>
                    <a:pt x="555273" y="1156350"/>
                  </a:moveTo>
                  <a:lnTo>
                    <a:pt x="555273" y="1241069"/>
                  </a:lnTo>
                </a:path>
                <a:path w="1412239" h="1241425">
                  <a:moveTo>
                    <a:pt x="727013" y="1156350"/>
                  </a:moveTo>
                  <a:lnTo>
                    <a:pt x="727013" y="1241069"/>
                  </a:lnTo>
                </a:path>
                <a:path w="1412239" h="1241425">
                  <a:moveTo>
                    <a:pt x="898753" y="1156350"/>
                  </a:moveTo>
                  <a:lnTo>
                    <a:pt x="898753" y="1241069"/>
                  </a:lnTo>
                </a:path>
                <a:path w="1412239" h="1241425">
                  <a:moveTo>
                    <a:pt x="1069349" y="1156350"/>
                  </a:moveTo>
                  <a:lnTo>
                    <a:pt x="1069349" y="1241069"/>
                  </a:lnTo>
                </a:path>
                <a:path w="1412239" h="1241425">
                  <a:moveTo>
                    <a:pt x="1241073" y="1156350"/>
                  </a:moveTo>
                  <a:lnTo>
                    <a:pt x="1241073" y="1241069"/>
                  </a:lnTo>
                </a:path>
                <a:path w="1412239" h="1241425">
                  <a:moveTo>
                    <a:pt x="1411670" y="1156350"/>
                  </a:moveTo>
                  <a:lnTo>
                    <a:pt x="1411670" y="1241069"/>
                  </a:lnTo>
                </a:path>
                <a:path w="1412239" h="1241425">
                  <a:moveTo>
                    <a:pt x="84722" y="1028120"/>
                  </a:moveTo>
                  <a:lnTo>
                    <a:pt x="0" y="1028120"/>
                  </a:lnTo>
                </a:path>
                <a:path w="1412239" h="1241425">
                  <a:moveTo>
                    <a:pt x="84722" y="856381"/>
                  </a:moveTo>
                  <a:lnTo>
                    <a:pt x="0" y="856381"/>
                  </a:lnTo>
                </a:path>
                <a:path w="1412239" h="1241425">
                  <a:moveTo>
                    <a:pt x="84722" y="685799"/>
                  </a:moveTo>
                  <a:lnTo>
                    <a:pt x="0" y="685799"/>
                  </a:lnTo>
                </a:path>
                <a:path w="1412239" h="1241425">
                  <a:moveTo>
                    <a:pt x="84722" y="514060"/>
                  </a:moveTo>
                  <a:lnTo>
                    <a:pt x="0" y="514060"/>
                  </a:lnTo>
                </a:path>
                <a:path w="1412239" h="1241425">
                  <a:moveTo>
                    <a:pt x="84722" y="342320"/>
                  </a:moveTo>
                  <a:lnTo>
                    <a:pt x="0" y="342320"/>
                  </a:lnTo>
                </a:path>
                <a:path w="1412239" h="1241425">
                  <a:moveTo>
                    <a:pt x="84722" y="171724"/>
                  </a:moveTo>
                  <a:lnTo>
                    <a:pt x="0" y="171724"/>
                  </a:lnTo>
                </a:path>
                <a:path w="1412239" h="1241425">
                  <a:moveTo>
                    <a:pt x="8472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1" name="object 131"/>
          <p:cNvSpPr txBox="1"/>
          <p:nvPr/>
        </p:nvSpPr>
        <p:spPr>
          <a:xfrm>
            <a:off x="1419008" y="7965110"/>
            <a:ext cx="14947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900" spc="60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900" spc="5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dirty="0" sz="900" spc="6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dirty="0" sz="900" spc="2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dirty="0" sz="900" spc="1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900" spc="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14</a:t>
            </a:r>
            <a:r>
              <a:rPr dirty="0" sz="900" spc="1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16</a:t>
            </a:r>
            <a:r>
              <a:rPr dirty="0" sz="900" spc="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18</a:t>
            </a:r>
            <a:endParaRPr sz="9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2837657" y="7898612"/>
            <a:ext cx="0" cy="85090"/>
          </a:xfrm>
          <a:custGeom>
            <a:avLst/>
            <a:gdLst/>
            <a:ahLst/>
            <a:cxnLst/>
            <a:rect l="l" t="t" r="r" b="b"/>
            <a:pathLst>
              <a:path w="0" h="85090">
                <a:moveTo>
                  <a:pt x="0" y="0"/>
                </a:moveTo>
                <a:lnTo>
                  <a:pt x="0" y="84719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/>
          <p:cNvSpPr txBox="1"/>
          <p:nvPr/>
        </p:nvSpPr>
        <p:spPr>
          <a:xfrm>
            <a:off x="1080114" y="6624194"/>
            <a:ext cx="153035" cy="1205865"/>
          </a:xfrm>
          <a:prstGeom prst="rect">
            <a:avLst/>
          </a:prstGeom>
        </p:spPr>
        <p:txBody>
          <a:bodyPr wrap="square" lIns="0" tIns="469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36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11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33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12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134" name="object 134"/>
          <p:cNvGrpSpPr/>
          <p:nvPr/>
        </p:nvGrpSpPr>
        <p:grpSpPr>
          <a:xfrm>
            <a:off x="1259971" y="6528155"/>
            <a:ext cx="1749425" cy="1448435"/>
            <a:chOff x="1259971" y="6528155"/>
            <a:chExt cx="1749425" cy="1448435"/>
          </a:xfrm>
        </p:grpSpPr>
        <p:sp>
          <p:nvSpPr>
            <p:cNvPr id="135" name="object 135"/>
            <p:cNvSpPr/>
            <p:nvPr/>
          </p:nvSpPr>
          <p:spPr>
            <a:xfrm>
              <a:off x="1295463" y="6580825"/>
              <a:ext cx="0" cy="1360170"/>
            </a:xfrm>
            <a:custGeom>
              <a:avLst/>
              <a:gdLst/>
              <a:ahLst/>
              <a:cxnLst/>
              <a:rect l="l" t="t" r="r" b="b"/>
              <a:pathLst>
                <a:path w="0" h="1360170">
                  <a:moveTo>
                    <a:pt x="0" y="1360154"/>
                  </a:moveTo>
                  <a:lnTo>
                    <a:pt x="0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6" name="object 13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59971" y="6528155"/>
              <a:ext cx="70983" cy="69844"/>
            </a:xfrm>
            <a:prstGeom prst="rect">
              <a:avLst/>
            </a:prstGeom>
          </p:spPr>
        </p:pic>
        <p:sp>
          <p:nvSpPr>
            <p:cNvPr id="137" name="object 137"/>
            <p:cNvSpPr/>
            <p:nvPr/>
          </p:nvSpPr>
          <p:spPr>
            <a:xfrm>
              <a:off x="1295463" y="7940979"/>
              <a:ext cx="1660525" cy="0"/>
            </a:xfrm>
            <a:custGeom>
              <a:avLst/>
              <a:gdLst/>
              <a:ahLst/>
              <a:cxnLst/>
              <a:rect l="l" t="t" r="r" b="b"/>
              <a:pathLst>
                <a:path w="1660525" h="0">
                  <a:moveTo>
                    <a:pt x="0" y="0"/>
                  </a:moveTo>
                  <a:lnTo>
                    <a:pt x="1660120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8" name="object 13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938409" y="7906629"/>
              <a:ext cx="70987" cy="69844"/>
            </a:xfrm>
            <a:prstGeom prst="rect">
              <a:avLst/>
            </a:prstGeom>
          </p:spPr>
        </p:pic>
        <p:sp>
          <p:nvSpPr>
            <p:cNvPr id="139" name="object 139"/>
            <p:cNvSpPr/>
            <p:nvPr/>
          </p:nvSpPr>
          <p:spPr>
            <a:xfrm>
              <a:off x="1446591" y="6979259"/>
              <a:ext cx="984885" cy="897890"/>
            </a:xfrm>
            <a:custGeom>
              <a:avLst/>
              <a:gdLst/>
              <a:ahLst/>
              <a:cxnLst/>
              <a:rect l="l" t="t" r="r" b="b"/>
              <a:pathLst>
                <a:path w="984885" h="897890">
                  <a:moveTo>
                    <a:pt x="0" y="533521"/>
                  </a:moveTo>
                  <a:lnTo>
                    <a:pt x="1144" y="524362"/>
                  </a:lnTo>
                  <a:lnTo>
                    <a:pt x="8013" y="516346"/>
                  </a:lnTo>
                  <a:lnTo>
                    <a:pt x="16027" y="512917"/>
                  </a:lnTo>
                  <a:lnTo>
                    <a:pt x="26331" y="512917"/>
                  </a:lnTo>
                  <a:lnTo>
                    <a:pt x="34346" y="516346"/>
                  </a:lnTo>
                  <a:lnTo>
                    <a:pt x="40070" y="524362"/>
                  </a:lnTo>
                  <a:lnTo>
                    <a:pt x="42361" y="533521"/>
                  </a:lnTo>
                  <a:lnTo>
                    <a:pt x="40070" y="542681"/>
                  </a:lnTo>
                  <a:lnTo>
                    <a:pt x="34346" y="549554"/>
                  </a:lnTo>
                  <a:lnTo>
                    <a:pt x="26331" y="554126"/>
                  </a:lnTo>
                  <a:lnTo>
                    <a:pt x="16027" y="554126"/>
                  </a:lnTo>
                  <a:lnTo>
                    <a:pt x="8013" y="549554"/>
                  </a:lnTo>
                  <a:lnTo>
                    <a:pt x="1144" y="542681"/>
                  </a:lnTo>
                  <a:lnTo>
                    <a:pt x="0" y="533521"/>
                  </a:lnTo>
                </a:path>
                <a:path w="984885" h="897890">
                  <a:moveTo>
                    <a:pt x="171728" y="20604"/>
                  </a:moveTo>
                  <a:lnTo>
                    <a:pt x="172887" y="11445"/>
                  </a:lnTo>
                  <a:lnTo>
                    <a:pt x="179745" y="3428"/>
                  </a:lnTo>
                  <a:lnTo>
                    <a:pt x="187761" y="0"/>
                  </a:lnTo>
                  <a:lnTo>
                    <a:pt x="198063" y="0"/>
                  </a:lnTo>
                  <a:lnTo>
                    <a:pt x="206079" y="3428"/>
                  </a:lnTo>
                  <a:lnTo>
                    <a:pt x="211810" y="11445"/>
                  </a:lnTo>
                  <a:lnTo>
                    <a:pt x="214096" y="20604"/>
                  </a:lnTo>
                  <a:lnTo>
                    <a:pt x="211810" y="28620"/>
                  </a:lnTo>
                  <a:lnTo>
                    <a:pt x="206079" y="35493"/>
                  </a:lnTo>
                  <a:lnTo>
                    <a:pt x="198063" y="40065"/>
                  </a:lnTo>
                  <a:lnTo>
                    <a:pt x="187761" y="40065"/>
                  </a:lnTo>
                  <a:lnTo>
                    <a:pt x="179745" y="35493"/>
                  </a:lnTo>
                  <a:lnTo>
                    <a:pt x="172887" y="28620"/>
                  </a:lnTo>
                  <a:lnTo>
                    <a:pt x="171728" y="20604"/>
                  </a:lnTo>
                </a:path>
                <a:path w="984885" h="897890">
                  <a:moveTo>
                    <a:pt x="257606" y="877001"/>
                  </a:moveTo>
                  <a:lnTo>
                    <a:pt x="258749" y="867841"/>
                  </a:lnTo>
                  <a:lnTo>
                    <a:pt x="265622" y="859825"/>
                  </a:lnTo>
                  <a:lnTo>
                    <a:pt x="272480" y="856381"/>
                  </a:lnTo>
                  <a:lnTo>
                    <a:pt x="282798" y="856381"/>
                  </a:lnTo>
                  <a:lnTo>
                    <a:pt x="290799" y="859825"/>
                  </a:lnTo>
                  <a:lnTo>
                    <a:pt x="296529" y="867841"/>
                  </a:lnTo>
                  <a:lnTo>
                    <a:pt x="298815" y="877001"/>
                  </a:lnTo>
                  <a:lnTo>
                    <a:pt x="296529" y="886160"/>
                  </a:lnTo>
                  <a:lnTo>
                    <a:pt x="290799" y="893018"/>
                  </a:lnTo>
                  <a:lnTo>
                    <a:pt x="282798" y="897605"/>
                  </a:lnTo>
                  <a:lnTo>
                    <a:pt x="272480" y="897605"/>
                  </a:lnTo>
                  <a:lnTo>
                    <a:pt x="265622" y="893018"/>
                  </a:lnTo>
                  <a:lnTo>
                    <a:pt x="258749" y="886160"/>
                  </a:lnTo>
                  <a:lnTo>
                    <a:pt x="257606" y="877001"/>
                  </a:lnTo>
                </a:path>
                <a:path w="984885" h="897890">
                  <a:moveTo>
                    <a:pt x="428187" y="362925"/>
                  </a:moveTo>
                  <a:lnTo>
                    <a:pt x="429345" y="353766"/>
                  </a:lnTo>
                  <a:lnTo>
                    <a:pt x="436203" y="345749"/>
                  </a:lnTo>
                  <a:lnTo>
                    <a:pt x="444220" y="342320"/>
                  </a:lnTo>
                  <a:lnTo>
                    <a:pt x="454522" y="342320"/>
                  </a:lnTo>
                  <a:lnTo>
                    <a:pt x="462538" y="345749"/>
                  </a:lnTo>
                  <a:lnTo>
                    <a:pt x="468268" y="353766"/>
                  </a:lnTo>
                  <a:lnTo>
                    <a:pt x="470554" y="362925"/>
                  </a:lnTo>
                  <a:lnTo>
                    <a:pt x="468268" y="372084"/>
                  </a:lnTo>
                  <a:lnTo>
                    <a:pt x="462538" y="378957"/>
                  </a:lnTo>
                  <a:lnTo>
                    <a:pt x="454522" y="383545"/>
                  </a:lnTo>
                  <a:lnTo>
                    <a:pt x="444220" y="383545"/>
                  </a:lnTo>
                  <a:lnTo>
                    <a:pt x="436203" y="378957"/>
                  </a:lnTo>
                  <a:lnTo>
                    <a:pt x="429345" y="372084"/>
                  </a:lnTo>
                  <a:lnTo>
                    <a:pt x="428187" y="362925"/>
                  </a:lnTo>
                </a:path>
                <a:path w="984885" h="897890">
                  <a:moveTo>
                    <a:pt x="599927" y="105323"/>
                  </a:moveTo>
                  <a:lnTo>
                    <a:pt x="601070" y="96164"/>
                  </a:lnTo>
                  <a:lnTo>
                    <a:pt x="607943" y="88148"/>
                  </a:lnTo>
                  <a:lnTo>
                    <a:pt x="615959" y="84719"/>
                  </a:lnTo>
                  <a:lnTo>
                    <a:pt x="626261" y="84719"/>
                  </a:lnTo>
                  <a:lnTo>
                    <a:pt x="634278" y="88148"/>
                  </a:lnTo>
                  <a:lnTo>
                    <a:pt x="640008" y="96164"/>
                  </a:lnTo>
                  <a:lnTo>
                    <a:pt x="642294" y="105323"/>
                  </a:lnTo>
                  <a:lnTo>
                    <a:pt x="640008" y="114482"/>
                  </a:lnTo>
                  <a:lnTo>
                    <a:pt x="634278" y="121356"/>
                  </a:lnTo>
                  <a:lnTo>
                    <a:pt x="626261" y="125928"/>
                  </a:lnTo>
                  <a:lnTo>
                    <a:pt x="615959" y="125928"/>
                  </a:lnTo>
                  <a:lnTo>
                    <a:pt x="607943" y="121356"/>
                  </a:lnTo>
                  <a:lnTo>
                    <a:pt x="601070" y="114482"/>
                  </a:lnTo>
                  <a:lnTo>
                    <a:pt x="599927" y="105323"/>
                  </a:lnTo>
                </a:path>
                <a:path w="984885" h="897890">
                  <a:moveTo>
                    <a:pt x="685804" y="533521"/>
                  </a:moveTo>
                  <a:lnTo>
                    <a:pt x="686947" y="524362"/>
                  </a:lnTo>
                  <a:lnTo>
                    <a:pt x="693820" y="516346"/>
                  </a:lnTo>
                  <a:lnTo>
                    <a:pt x="701821" y="512917"/>
                  </a:lnTo>
                  <a:lnTo>
                    <a:pt x="712139" y="512917"/>
                  </a:lnTo>
                  <a:lnTo>
                    <a:pt x="720140" y="516346"/>
                  </a:lnTo>
                  <a:lnTo>
                    <a:pt x="724727" y="524362"/>
                  </a:lnTo>
                  <a:lnTo>
                    <a:pt x="727013" y="533521"/>
                  </a:lnTo>
                  <a:lnTo>
                    <a:pt x="724727" y="542681"/>
                  </a:lnTo>
                  <a:lnTo>
                    <a:pt x="720140" y="549554"/>
                  </a:lnTo>
                  <a:lnTo>
                    <a:pt x="712139" y="554126"/>
                  </a:lnTo>
                  <a:lnTo>
                    <a:pt x="701821" y="554126"/>
                  </a:lnTo>
                  <a:lnTo>
                    <a:pt x="693820" y="549554"/>
                  </a:lnTo>
                  <a:lnTo>
                    <a:pt x="686947" y="542681"/>
                  </a:lnTo>
                  <a:lnTo>
                    <a:pt x="685804" y="533521"/>
                  </a:lnTo>
                </a:path>
                <a:path w="984885" h="897890">
                  <a:moveTo>
                    <a:pt x="942263" y="705261"/>
                  </a:moveTo>
                  <a:lnTo>
                    <a:pt x="943406" y="696102"/>
                  </a:lnTo>
                  <a:lnTo>
                    <a:pt x="950279" y="688085"/>
                  </a:lnTo>
                  <a:lnTo>
                    <a:pt x="958280" y="684656"/>
                  </a:lnTo>
                  <a:lnTo>
                    <a:pt x="968597" y="684656"/>
                  </a:lnTo>
                  <a:lnTo>
                    <a:pt x="976598" y="688085"/>
                  </a:lnTo>
                  <a:lnTo>
                    <a:pt x="982329" y="696102"/>
                  </a:lnTo>
                  <a:lnTo>
                    <a:pt x="984615" y="705261"/>
                  </a:lnTo>
                  <a:lnTo>
                    <a:pt x="982329" y="714420"/>
                  </a:lnTo>
                  <a:lnTo>
                    <a:pt x="976598" y="721293"/>
                  </a:lnTo>
                  <a:lnTo>
                    <a:pt x="968597" y="725865"/>
                  </a:lnTo>
                  <a:lnTo>
                    <a:pt x="958280" y="725865"/>
                  </a:lnTo>
                  <a:lnTo>
                    <a:pt x="950279" y="721293"/>
                  </a:lnTo>
                  <a:lnTo>
                    <a:pt x="943406" y="714420"/>
                  </a:lnTo>
                  <a:lnTo>
                    <a:pt x="942263" y="705261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0" name="object 140"/>
          <p:cNvSpPr txBox="1"/>
          <p:nvPr/>
        </p:nvSpPr>
        <p:spPr>
          <a:xfrm>
            <a:off x="1322831" y="7374281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(2,5)</a:t>
            </a:r>
            <a:endParaRPr sz="65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1472814" y="7783013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(5,1)</a:t>
            </a:r>
            <a:endParaRPr sz="650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1384657" y="6999895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(4,11)</a:t>
            </a:r>
            <a:endParaRPr sz="650">
              <a:latin typeface="Arial"/>
              <a:cs typeface="Arial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1677753" y="7333064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(7,7)</a:t>
            </a:r>
            <a:endParaRPr sz="65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1298789" y="6840752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(3,13)</a:t>
            </a:r>
            <a:endParaRPr sz="650">
              <a:latin typeface="Arial"/>
              <a:cs typeface="Arial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1872387" y="7503654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(10,5)</a:t>
            </a:r>
            <a:endParaRPr sz="650">
              <a:latin typeface="Arial"/>
              <a:cs typeface="Arial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2366987" y="6840752"/>
            <a:ext cx="29718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(12,12)</a:t>
            </a:r>
            <a:endParaRPr sz="650">
              <a:latin typeface="Arial"/>
              <a:cs typeface="Arial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1812852" y="7077748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(9,10)</a:t>
            </a:r>
            <a:endParaRPr sz="650">
              <a:latin typeface="Arial"/>
              <a:cs typeface="Arial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2538723" y="7002184"/>
            <a:ext cx="29718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(14,10)</a:t>
            </a:r>
            <a:endParaRPr sz="650">
              <a:latin typeface="Arial"/>
              <a:cs typeface="Arial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2626882" y="7268948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(15,7)</a:t>
            </a:r>
            <a:endParaRPr sz="650">
              <a:latin typeface="Arial"/>
              <a:cs typeface="Arial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2439116" y="7611275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(13,3)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151" name="object 151"/>
          <p:cNvGrpSpPr/>
          <p:nvPr/>
        </p:nvGrpSpPr>
        <p:grpSpPr>
          <a:xfrm>
            <a:off x="1295463" y="6570522"/>
            <a:ext cx="1312545" cy="1348740"/>
            <a:chOff x="1295463" y="6570522"/>
            <a:chExt cx="1312545" cy="1348740"/>
          </a:xfrm>
        </p:grpSpPr>
        <p:sp>
          <p:nvSpPr>
            <p:cNvPr id="152" name="object 152"/>
            <p:cNvSpPr/>
            <p:nvPr/>
          </p:nvSpPr>
          <p:spPr>
            <a:xfrm>
              <a:off x="1295463" y="6807520"/>
              <a:ext cx="1308100" cy="555625"/>
            </a:xfrm>
            <a:custGeom>
              <a:avLst/>
              <a:gdLst/>
              <a:ahLst/>
              <a:cxnLst/>
              <a:rect l="l" t="t" r="r" b="b"/>
              <a:pathLst>
                <a:path w="1308100" h="555625">
                  <a:moveTo>
                    <a:pt x="236994" y="20604"/>
                  </a:moveTo>
                  <a:lnTo>
                    <a:pt x="238137" y="11445"/>
                  </a:lnTo>
                  <a:lnTo>
                    <a:pt x="245010" y="3428"/>
                  </a:lnTo>
                  <a:lnTo>
                    <a:pt x="253026" y="0"/>
                  </a:lnTo>
                  <a:lnTo>
                    <a:pt x="263328" y="0"/>
                  </a:lnTo>
                  <a:lnTo>
                    <a:pt x="271345" y="3428"/>
                  </a:lnTo>
                  <a:lnTo>
                    <a:pt x="277060" y="11445"/>
                  </a:lnTo>
                  <a:lnTo>
                    <a:pt x="279361" y="20604"/>
                  </a:lnTo>
                  <a:lnTo>
                    <a:pt x="277060" y="29763"/>
                  </a:lnTo>
                  <a:lnTo>
                    <a:pt x="271345" y="36636"/>
                  </a:lnTo>
                  <a:lnTo>
                    <a:pt x="263328" y="41208"/>
                  </a:lnTo>
                  <a:lnTo>
                    <a:pt x="253026" y="41208"/>
                  </a:lnTo>
                  <a:lnTo>
                    <a:pt x="245010" y="36636"/>
                  </a:lnTo>
                  <a:lnTo>
                    <a:pt x="238137" y="29763"/>
                  </a:lnTo>
                  <a:lnTo>
                    <a:pt x="236994" y="20604"/>
                  </a:lnTo>
                </a:path>
                <a:path w="1308100" h="555625">
                  <a:moveTo>
                    <a:pt x="1179252" y="277063"/>
                  </a:moveTo>
                  <a:lnTo>
                    <a:pt x="1180395" y="267903"/>
                  </a:lnTo>
                  <a:lnTo>
                    <a:pt x="1187269" y="259887"/>
                  </a:lnTo>
                  <a:lnTo>
                    <a:pt x="1195285" y="256458"/>
                  </a:lnTo>
                  <a:lnTo>
                    <a:pt x="1205587" y="256458"/>
                  </a:lnTo>
                  <a:lnTo>
                    <a:pt x="1213603" y="259887"/>
                  </a:lnTo>
                  <a:lnTo>
                    <a:pt x="1219318" y="267903"/>
                  </a:lnTo>
                  <a:lnTo>
                    <a:pt x="1221620" y="277063"/>
                  </a:lnTo>
                  <a:lnTo>
                    <a:pt x="1219318" y="286222"/>
                  </a:lnTo>
                  <a:lnTo>
                    <a:pt x="1213603" y="293095"/>
                  </a:lnTo>
                  <a:lnTo>
                    <a:pt x="1205587" y="297667"/>
                  </a:lnTo>
                  <a:lnTo>
                    <a:pt x="1195285" y="297667"/>
                  </a:lnTo>
                  <a:lnTo>
                    <a:pt x="1187269" y="293095"/>
                  </a:lnTo>
                  <a:lnTo>
                    <a:pt x="1180395" y="286222"/>
                  </a:lnTo>
                  <a:lnTo>
                    <a:pt x="1179252" y="277063"/>
                  </a:lnTo>
                </a:path>
                <a:path w="1308100" h="555625">
                  <a:moveTo>
                    <a:pt x="1265115" y="534664"/>
                  </a:moveTo>
                  <a:lnTo>
                    <a:pt x="1266273" y="525505"/>
                  </a:lnTo>
                  <a:lnTo>
                    <a:pt x="1273131" y="517489"/>
                  </a:lnTo>
                  <a:lnTo>
                    <a:pt x="1281147" y="514060"/>
                  </a:lnTo>
                  <a:lnTo>
                    <a:pt x="1291449" y="514060"/>
                  </a:lnTo>
                  <a:lnTo>
                    <a:pt x="1299466" y="517489"/>
                  </a:lnTo>
                  <a:lnTo>
                    <a:pt x="1305196" y="525505"/>
                  </a:lnTo>
                  <a:lnTo>
                    <a:pt x="1307482" y="534664"/>
                  </a:lnTo>
                  <a:lnTo>
                    <a:pt x="1305196" y="543824"/>
                  </a:lnTo>
                  <a:lnTo>
                    <a:pt x="1299466" y="550697"/>
                  </a:lnTo>
                  <a:lnTo>
                    <a:pt x="1291449" y="555284"/>
                  </a:lnTo>
                  <a:lnTo>
                    <a:pt x="1281147" y="555284"/>
                  </a:lnTo>
                  <a:lnTo>
                    <a:pt x="1273131" y="550697"/>
                  </a:lnTo>
                  <a:lnTo>
                    <a:pt x="1266273" y="543824"/>
                  </a:lnTo>
                  <a:lnTo>
                    <a:pt x="1265115" y="534664"/>
                  </a:lnTo>
                </a:path>
                <a:path w="1308100" h="555625">
                  <a:moveTo>
                    <a:pt x="0" y="20604"/>
                  </a:moveTo>
                  <a:lnTo>
                    <a:pt x="236994" y="20604"/>
                  </a:lnTo>
                </a:path>
                <a:path w="1308100" h="555625">
                  <a:moveTo>
                    <a:pt x="1007513" y="106466"/>
                  </a:moveTo>
                  <a:lnTo>
                    <a:pt x="1008656" y="97307"/>
                  </a:lnTo>
                  <a:lnTo>
                    <a:pt x="1015529" y="89306"/>
                  </a:lnTo>
                  <a:lnTo>
                    <a:pt x="1023545" y="85862"/>
                  </a:lnTo>
                  <a:lnTo>
                    <a:pt x="1033848" y="85862"/>
                  </a:lnTo>
                  <a:lnTo>
                    <a:pt x="1041864" y="89306"/>
                  </a:lnTo>
                  <a:lnTo>
                    <a:pt x="1047594" y="97307"/>
                  </a:lnTo>
                  <a:lnTo>
                    <a:pt x="1049880" y="106466"/>
                  </a:lnTo>
                  <a:lnTo>
                    <a:pt x="1047594" y="115625"/>
                  </a:lnTo>
                  <a:lnTo>
                    <a:pt x="1041864" y="122499"/>
                  </a:lnTo>
                  <a:lnTo>
                    <a:pt x="1033848" y="127086"/>
                  </a:lnTo>
                  <a:lnTo>
                    <a:pt x="1023545" y="127086"/>
                  </a:lnTo>
                  <a:lnTo>
                    <a:pt x="1015529" y="122499"/>
                  </a:lnTo>
                  <a:lnTo>
                    <a:pt x="1008656" y="115625"/>
                  </a:lnTo>
                  <a:lnTo>
                    <a:pt x="1007513" y="106466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1895398" y="6570522"/>
              <a:ext cx="0" cy="1348740"/>
            </a:xfrm>
            <a:custGeom>
              <a:avLst/>
              <a:gdLst/>
              <a:ahLst/>
              <a:cxnLst/>
              <a:rect l="l" t="t" r="r" b="b"/>
              <a:pathLst>
                <a:path w="0" h="1348740">
                  <a:moveTo>
                    <a:pt x="0" y="0"/>
                  </a:moveTo>
                  <a:lnTo>
                    <a:pt x="0" y="22890"/>
                  </a:lnTo>
                </a:path>
                <a:path w="0" h="1348740">
                  <a:moveTo>
                    <a:pt x="0" y="45796"/>
                  </a:moveTo>
                  <a:lnTo>
                    <a:pt x="0" y="68686"/>
                  </a:lnTo>
                </a:path>
                <a:path w="0" h="1348740">
                  <a:moveTo>
                    <a:pt x="0" y="91592"/>
                  </a:moveTo>
                  <a:lnTo>
                    <a:pt x="0" y="114482"/>
                  </a:lnTo>
                </a:path>
                <a:path w="0" h="1348740">
                  <a:moveTo>
                    <a:pt x="0" y="137388"/>
                  </a:moveTo>
                  <a:lnTo>
                    <a:pt x="0" y="160279"/>
                  </a:lnTo>
                </a:path>
                <a:path w="0" h="1348740">
                  <a:moveTo>
                    <a:pt x="0" y="183184"/>
                  </a:moveTo>
                  <a:lnTo>
                    <a:pt x="0" y="206075"/>
                  </a:lnTo>
                </a:path>
                <a:path w="0" h="1348740">
                  <a:moveTo>
                    <a:pt x="0" y="228980"/>
                  </a:moveTo>
                  <a:lnTo>
                    <a:pt x="0" y="251871"/>
                  </a:lnTo>
                </a:path>
                <a:path w="0" h="1348740">
                  <a:moveTo>
                    <a:pt x="0" y="274777"/>
                  </a:moveTo>
                  <a:lnTo>
                    <a:pt x="0" y="297667"/>
                  </a:lnTo>
                </a:path>
                <a:path w="0" h="1348740">
                  <a:moveTo>
                    <a:pt x="0" y="320573"/>
                  </a:moveTo>
                  <a:lnTo>
                    <a:pt x="0" y="343463"/>
                  </a:lnTo>
                </a:path>
                <a:path w="0" h="1348740">
                  <a:moveTo>
                    <a:pt x="0" y="366369"/>
                  </a:moveTo>
                  <a:lnTo>
                    <a:pt x="0" y="389275"/>
                  </a:lnTo>
                </a:path>
                <a:path w="0" h="1348740">
                  <a:moveTo>
                    <a:pt x="0" y="412165"/>
                  </a:moveTo>
                  <a:lnTo>
                    <a:pt x="0" y="435071"/>
                  </a:lnTo>
                </a:path>
                <a:path w="0" h="1348740">
                  <a:moveTo>
                    <a:pt x="0" y="456818"/>
                  </a:moveTo>
                  <a:lnTo>
                    <a:pt x="0" y="479709"/>
                  </a:lnTo>
                </a:path>
                <a:path w="0" h="1348740">
                  <a:moveTo>
                    <a:pt x="0" y="502615"/>
                  </a:moveTo>
                  <a:lnTo>
                    <a:pt x="0" y="525505"/>
                  </a:lnTo>
                </a:path>
                <a:path w="0" h="1348740">
                  <a:moveTo>
                    <a:pt x="0" y="548411"/>
                  </a:moveTo>
                  <a:lnTo>
                    <a:pt x="0" y="571301"/>
                  </a:lnTo>
                </a:path>
                <a:path w="0" h="1348740">
                  <a:moveTo>
                    <a:pt x="0" y="594207"/>
                  </a:moveTo>
                  <a:lnTo>
                    <a:pt x="0" y="617098"/>
                  </a:lnTo>
                </a:path>
                <a:path w="0" h="1348740">
                  <a:moveTo>
                    <a:pt x="0" y="640003"/>
                  </a:moveTo>
                  <a:lnTo>
                    <a:pt x="0" y="662894"/>
                  </a:lnTo>
                </a:path>
                <a:path w="0" h="1348740">
                  <a:moveTo>
                    <a:pt x="0" y="685799"/>
                  </a:moveTo>
                  <a:lnTo>
                    <a:pt x="0" y="708690"/>
                  </a:lnTo>
                </a:path>
                <a:path w="0" h="1348740">
                  <a:moveTo>
                    <a:pt x="0" y="731596"/>
                  </a:moveTo>
                  <a:lnTo>
                    <a:pt x="0" y="754486"/>
                  </a:lnTo>
                </a:path>
                <a:path w="0" h="1348740">
                  <a:moveTo>
                    <a:pt x="0" y="777392"/>
                  </a:moveTo>
                  <a:lnTo>
                    <a:pt x="0" y="800282"/>
                  </a:lnTo>
                </a:path>
                <a:path w="0" h="1348740">
                  <a:moveTo>
                    <a:pt x="0" y="823188"/>
                  </a:moveTo>
                  <a:lnTo>
                    <a:pt x="0" y="846079"/>
                  </a:lnTo>
                </a:path>
                <a:path w="0" h="1348740">
                  <a:moveTo>
                    <a:pt x="0" y="868984"/>
                  </a:moveTo>
                  <a:lnTo>
                    <a:pt x="0" y="891875"/>
                  </a:lnTo>
                </a:path>
                <a:path w="0" h="1348740">
                  <a:moveTo>
                    <a:pt x="0" y="913637"/>
                  </a:moveTo>
                  <a:lnTo>
                    <a:pt x="0" y="936528"/>
                  </a:lnTo>
                </a:path>
                <a:path w="0" h="1348740">
                  <a:moveTo>
                    <a:pt x="0" y="959434"/>
                  </a:moveTo>
                  <a:lnTo>
                    <a:pt x="0" y="982324"/>
                  </a:lnTo>
                </a:path>
                <a:path w="0" h="1348740">
                  <a:moveTo>
                    <a:pt x="0" y="1005230"/>
                  </a:moveTo>
                  <a:lnTo>
                    <a:pt x="0" y="1028120"/>
                  </a:lnTo>
                </a:path>
                <a:path w="0" h="1348740">
                  <a:moveTo>
                    <a:pt x="0" y="1051026"/>
                  </a:moveTo>
                  <a:lnTo>
                    <a:pt x="0" y="1073917"/>
                  </a:lnTo>
                </a:path>
                <a:path w="0" h="1348740">
                  <a:moveTo>
                    <a:pt x="0" y="1096822"/>
                  </a:moveTo>
                  <a:lnTo>
                    <a:pt x="0" y="1119713"/>
                  </a:lnTo>
                </a:path>
                <a:path w="0" h="1348740">
                  <a:moveTo>
                    <a:pt x="0" y="1142618"/>
                  </a:moveTo>
                  <a:lnTo>
                    <a:pt x="0" y="1165509"/>
                  </a:lnTo>
                </a:path>
                <a:path w="0" h="1348740">
                  <a:moveTo>
                    <a:pt x="0" y="1188415"/>
                  </a:moveTo>
                  <a:lnTo>
                    <a:pt x="0" y="1211305"/>
                  </a:lnTo>
                </a:path>
                <a:path w="0" h="1348740">
                  <a:moveTo>
                    <a:pt x="0" y="1234211"/>
                  </a:moveTo>
                  <a:lnTo>
                    <a:pt x="0" y="1257101"/>
                  </a:lnTo>
                </a:path>
                <a:path w="0" h="1348740">
                  <a:moveTo>
                    <a:pt x="0" y="1280007"/>
                  </a:moveTo>
                  <a:lnTo>
                    <a:pt x="0" y="1302898"/>
                  </a:lnTo>
                </a:path>
                <a:path w="0" h="1348740">
                  <a:moveTo>
                    <a:pt x="0" y="1325803"/>
                  </a:moveTo>
                  <a:lnTo>
                    <a:pt x="0" y="1348694"/>
                  </a:lnTo>
                </a:path>
              </a:pathLst>
            </a:custGeom>
            <a:ln w="95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1895398" y="6698752"/>
              <a:ext cx="118110" cy="0"/>
            </a:xfrm>
            <a:custGeom>
              <a:avLst/>
              <a:gdLst/>
              <a:ahLst/>
              <a:cxnLst/>
              <a:rect l="l" t="t" r="r" b="b"/>
              <a:pathLst>
                <a:path w="118110" h="0">
                  <a:moveTo>
                    <a:pt x="0" y="0"/>
                  </a:moveTo>
                  <a:lnTo>
                    <a:pt x="117927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1996150" y="6663258"/>
              <a:ext cx="71120" cy="71120"/>
            </a:xfrm>
            <a:custGeom>
              <a:avLst/>
              <a:gdLst/>
              <a:ahLst/>
              <a:cxnLst/>
              <a:rect l="l" t="t" r="r" b="b"/>
              <a:pathLst>
                <a:path w="71119" h="71120">
                  <a:moveTo>
                    <a:pt x="0" y="0"/>
                  </a:moveTo>
                  <a:lnTo>
                    <a:pt x="2285" y="4587"/>
                  </a:lnTo>
                  <a:lnTo>
                    <a:pt x="3428" y="8016"/>
                  </a:lnTo>
                  <a:lnTo>
                    <a:pt x="5714" y="12588"/>
                  </a:lnTo>
                  <a:lnTo>
                    <a:pt x="6873" y="16032"/>
                  </a:lnTo>
                  <a:lnTo>
                    <a:pt x="6873" y="20604"/>
                  </a:lnTo>
                  <a:lnTo>
                    <a:pt x="8016" y="25191"/>
                  </a:lnTo>
                  <a:lnTo>
                    <a:pt x="8016" y="29763"/>
                  </a:lnTo>
                  <a:lnTo>
                    <a:pt x="9159" y="33207"/>
                  </a:lnTo>
                  <a:lnTo>
                    <a:pt x="9159" y="37779"/>
                  </a:lnTo>
                  <a:lnTo>
                    <a:pt x="8016" y="42367"/>
                  </a:lnTo>
                  <a:lnTo>
                    <a:pt x="8016" y="46939"/>
                  </a:lnTo>
                  <a:lnTo>
                    <a:pt x="6873" y="50383"/>
                  </a:lnTo>
                  <a:lnTo>
                    <a:pt x="6873" y="54955"/>
                  </a:lnTo>
                  <a:lnTo>
                    <a:pt x="5714" y="59542"/>
                  </a:lnTo>
                  <a:lnTo>
                    <a:pt x="3428" y="62971"/>
                  </a:lnTo>
                  <a:lnTo>
                    <a:pt x="2285" y="67543"/>
                  </a:lnTo>
                  <a:lnTo>
                    <a:pt x="0" y="70987"/>
                  </a:lnTo>
                  <a:lnTo>
                    <a:pt x="70987" y="35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1553062" y="6849872"/>
              <a:ext cx="321945" cy="492759"/>
            </a:xfrm>
            <a:custGeom>
              <a:avLst/>
              <a:gdLst/>
              <a:ahLst/>
              <a:cxnLst/>
              <a:rect l="l" t="t" r="r" b="b"/>
              <a:pathLst>
                <a:path w="321944" h="492759">
                  <a:moveTo>
                    <a:pt x="0" y="0"/>
                  </a:moveTo>
                  <a:lnTo>
                    <a:pt x="0" y="149992"/>
                  </a:lnTo>
                  <a:lnTo>
                    <a:pt x="65257" y="149992"/>
                  </a:lnTo>
                </a:path>
                <a:path w="321944" h="492759">
                  <a:moveTo>
                    <a:pt x="85877" y="170596"/>
                  </a:moveTo>
                  <a:lnTo>
                    <a:pt x="85877" y="492312"/>
                  </a:lnTo>
                  <a:lnTo>
                    <a:pt x="321716" y="492312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7" name="object 157"/>
          <p:cNvSpPr txBox="1"/>
          <p:nvPr/>
        </p:nvSpPr>
        <p:spPr>
          <a:xfrm>
            <a:off x="3360774" y="7943356"/>
            <a:ext cx="292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i="1">
                <a:solidFill>
                  <a:srgbClr val="FFFFFF"/>
                </a:solidFill>
                <a:latin typeface="Arial"/>
                <a:cs typeface="Arial"/>
              </a:rPr>
              <a:t>stack</a:t>
            </a:r>
            <a:endParaRPr sz="900">
              <a:latin typeface="Arial"/>
              <a:cs typeface="Arial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1802548" y="6316435"/>
            <a:ext cx="5657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sweep</a:t>
            </a:r>
            <a:r>
              <a:rPr dirty="0" sz="9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line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159" name="object 159"/>
          <p:cNvGraphicFramePr>
            <a:graphicFrameLocks noGrp="1"/>
          </p:cNvGraphicFramePr>
          <p:nvPr/>
        </p:nvGraphicFramePr>
        <p:xfrm>
          <a:off x="3346955" y="6913986"/>
          <a:ext cx="356870" cy="10318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2265"/>
              </a:tblGrid>
              <a:tr h="68465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(7,7)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1739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(4,11)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000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0596"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(3,13)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160" name="object 160"/>
          <p:cNvSpPr txBox="1"/>
          <p:nvPr/>
        </p:nvSpPr>
        <p:spPr>
          <a:xfrm>
            <a:off x="1396275" y="8261997"/>
            <a:ext cx="2008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1.10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eep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7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grpSp>
        <p:nvGrpSpPr>
          <p:cNvPr id="161" name="object 161"/>
          <p:cNvGrpSpPr/>
          <p:nvPr/>
        </p:nvGrpSpPr>
        <p:grpSpPr>
          <a:xfrm>
            <a:off x="4419600" y="6281618"/>
            <a:ext cx="2819400" cy="1905000"/>
            <a:chOff x="4419600" y="6281618"/>
            <a:chExt cx="2819400" cy="1905000"/>
          </a:xfrm>
        </p:grpSpPr>
        <p:sp>
          <p:nvSpPr>
            <p:cNvPr id="162" name="object 162"/>
            <p:cNvSpPr/>
            <p:nvPr/>
          </p:nvSpPr>
          <p:spPr>
            <a:xfrm>
              <a:off x="4419600" y="6281618"/>
              <a:ext cx="2819400" cy="1905000"/>
            </a:xfrm>
            <a:custGeom>
              <a:avLst/>
              <a:gdLst/>
              <a:ahLst/>
              <a:cxnLst/>
              <a:rect l="l" t="t" r="r" b="b"/>
              <a:pathLst>
                <a:path w="2819400" h="1905000">
                  <a:moveTo>
                    <a:pt x="2819201" y="0"/>
                  </a:moveTo>
                  <a:lnTo>
                    <a:pt x="0" y="0"/>
                  </a:lnTo>
                  <a:lnTo>
                    <a:pt x="0" y="1904801"/>
                  </a:lnTo>
                  <a:lnTo>
                    <a:pt x="2819201" y="1904801"/>
                  </a:lnTo>
                  <a:lnTo>
                    <a:pt x="28192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4683252" y="6742262"/>
              <a:ext cx="1412240" cy="1241425"/>
            </a:xfrm>
            <a:custGeom>
              <a:avLst/>
              <a:gdLst/>
              <a:ahLst/>
              <a:cxnLst/>
              <a:rect l="l" t="t" r="r" b="b"/>
              <a:pathLst>
                <a:path w="1412239" h="1241425">
                  <a:moveTo>
                    <a:pt x="212948" y="1156350"/>
                  </a:moveTo>
                  <a:lnTo>
                    <a:pt x="212948" y="1241069"/>
                  </a:lnTo>
                </a:path>
                <a:path w="1412239" h="1241425">
                  <a:moveTo>
                    <a:pt x="384688" y="1156350"/>
                  </a:moveTo>
                  <a:lnTo>
                    <a:pt x="384688" y="1241069"/>
                  </a:lnTo>
                </a:path>
                <a:path w="1412239" h="1241425">
                  <a:moveTo>
                    <a:pt x="555269" y="1156350"/>
                  </a:moveTo>
                  <a:lnTo>
                    <a:pt x="555269" y="1241069"/>
                  </a:lnTo>
                </a:path>
                <a:path w="1412239" h="1241425">
                  <a:moveTo>
                    <a:pt x="727008" y="1156350"/>
                  </a:moveTo>
                  <a:lnTo>
                    <a:pt x="727008" y="1241069"/>
                  </a:lnTo>
                </a:path>
                <a:path w="1412239" h="1241425">
                  <a:moveTo>
                    <a:pt x="898748" y="1156350"/>
                  </a:moveTo>
                  <a:lnTo>
                    <a:pt x="898748" y="1241069"/>
                  </a:lnTo>
                </a:path>
                <a:path w="1412239" h="1241425">
                  <a:moveTo>
                    <a:pt x="1069345" y="1156350"/>
                  </a:moveTo>
                  <a:lnTo>
                    <a:pt x="1069345" y="1241069"/>
                  </a:lnTo>
                </a:path>
                <a:path w="1412239" h="1241425">
                  <a:moveTo>
                    <a:pt x="1241069" y="1156350"/>
                  </a:moveTo>
                  <a:lnTo>
                    <a:pt x="1241069" y="1241069"/>
                  </a:lnTo>
                </a:path>
                <a:path w="1412239" h="1241425">
                  <a:moveTo>
                    <a:pt x="1411665" y="1156350"/>
                  </a:moveTo>
                  <a:lnTo>
                    <a:pt x="1411665" y="1241069"/>
                  </a:lnTo>
                </a:path>
                <a:path w="1412239" h="1241425">
                  <a:moveTo>
                    <a:pt x="84719" y="1028120"/>
                  </a:moveTo>
                  <a:lnTo>
                    <a:pt x="0" y="1028120"/>
                  </a:lnTo>
                </a:path>
                <a:path w="1412239" h="1241425">
                  <a:moveTo>
                    <a:pt x="84719" y="856381"/>
                  </a:moveTo>
                  <a:lnTo>
                    <a:pt x="0" y="856381"/>
                  </a:lnTo>
                </a:path>
                <a:path w="1412239" h="1241425">
                  <a:moveTo>
                    <a:pt x="84719" y="685799"/>
                  </a:moveTo>
                  <a:lnTo>
                    <a:pt x="0" y="685799"/>
                  </a:lnTo>
                </a:path>
                <a:path w="1412239" h="1241425">
                  <a:moveTo>
                    <a:pt x="84719" y="514060"/>
                  </a:moveTo>
                  <a:lnTo>
                    <a:pt x="0" y="514060"/>
                  </a:lnTo>
                </a:path>
                <a:path w="1412239" h="1241425">
                  <a:moveTo>
                    <a:pt x="84719" y="342320"/>
                  </a:moveTo>
                  <a:lnTo>
                    <a:pt x="0" y="342320"/>
                  </a:lnTo>
                </a:path>
                <a:path w="1412239" h="1241425">
                  <a:moveTo>
                    <a:pt x="84719" y="171724"/>
                  </a:moveTo>
                  <a:lnTo>
                    <a:pt x="0" y="171724"/>
                  </a:lnTo>
                </a:path>
                <a:path w="1412239" h="1241425">
                  <a:moveTo>
                    <a:pt x="8471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4" name="object 164"/>
          <p:cNvSpPr txBox="1"/>
          <p:nvPr/>
        </p:nvSpPr>
        <p:spPr>
          <a:xfrm>
            <a:off x="4848007" y="7965110"/>
            <a:ext cx="14947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900" spc="60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900" spc="5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dirty="0" sz="900" spc="6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dirty="0" sz="900" spc="2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dirty="0" sz="900" spc="1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900" spc="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14</a:t>
            </a:r>
            <a:r>
              <a:rPr dirty="0" sz="900" spc="1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16</a:t>
            </a:r>
            <a:r>
              <a:rPr dirty="0" sz="900" spc="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18</a:t>
            </a:r>
            <a:endParaRPr sz="900">
              <a:latin typeface="Arial"/>
              <a:cs typeface="Arial"/>
            </a:endParaRPr>
          </a:p>
        </p:txBody>
      </p:sp>
      <p:sp>
        <p:nvSpPr>
          <p:cNvPr id="165" name="object 165"/>
          <p:cNvSpPr/>
          <p:nvPr/>
        </p:nvSpPr>
        <p:spPr>
          <a:xfrm>
            <a:off x="6266657" y="7898612"/>
            <a:ext cx="0" cy="85090"/>
          </a:xfrm>
          <a:custGeom>
            <a:avLst/>
            <a:gdLst/>
            <a:ahLst/>
            <a:cxnLst/>
            <a:rect l="l" t="t" r="r" b="b"/>
            <a:pathLst>
              <a:path w="0" h="85090">
                <a:moveTo>
                  <a:pt x="0" y="0"/>
                </a:moveTo>
                <a:lnTo>
                  <a:pt x="0" y="84719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" name="object 166"/>
          <p:cNvSpPr txBox="1"/>
          <p:nvPr/>
        </p:nvSpPr>
        <p:spPr>
          <a:xfrm>
            <a:off x="4509109" y="6624194"/>
            <a:ext cx="153035" cy="1205865"/>
          </a:xfrm>
          <a:prstGeom prst="rect">
            <a:avLst/>
          </a:prstGeom>
        </p:spPr>
        <p:txBody>
          <a:bodyPr wrap="square" lIns="0" tIns="469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36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11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33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12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167" name="object 167"/>
          <p:cNvGrpSpPr/>
          <p:nvPr/>
        </p:nvGrpSpPr>
        <p:grpSpPr>
          <a:xfrm>
            <a:off x="4688966" y="6528155"/>
            <a:ext cx="1749425" cy="1448435"/>
            <a:chOff x="4688966" y="6528155"/>
            <a:chExt cx="1749425" cy="1448435"/>
          </a:xfrm>
        </p:grpSpPr>
        <p:sp>
          <p:nvSpPr>
            <p:cNvPr id="168" name="object 168"/>
            <p:cNvSpPr/>
            <p:nvPr/>
          </p:nvSpPr>
          <p:spPr>
            <a:xfrm>
              <a:off x="4724460" y="6580825"/>
              <a:ext cx="0" cy="1360170"/>
            </a:xfrm>
            <a:custGeom>
              <a:avLst/>
              <a:gdLst/>
              <a:ahLst/>
              <a:cxnLst/>
              <a:rect l="l" t="t" r="r" b="b"/>
              <a:pathLst>
                <a:path w="0" h="1360170">
                  <a:moveTo>
                    <a:pt x="0" y="1360154"/>
                  </a:moveTo>
                  <a:lnTo>
                    <a:pt x="0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9" name="object 16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688966" y="6528155"/>
              <a:ext cx="70987" cy="69844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4724460" y="7940979"/>
              <a:ext cx="1660525" cy="0"/>
            </a:xfrm>
            <a:custGeom>
              <a:avLst/>
              <a:gdLst/>
              <a:ahLst/>
              <a:cxnLst/>
              <a:rect l="l" t="t" r="r" b="b"/>
              <a:pathLst>
                <a:path w="1660525" h="0">
                  <a:moveTo>
                    <a:pt x="0" y="0"/>
                  </a:moveTo>
                  <a:lnTo>
                    <a:pt x="1660123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1" name="object 17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367409" y="7906629"/>
              <a:ext cx="70987" cy="69844"/>
            </a:xfrm>
            <a:prstGeom prst="rect">
              <a:avLst/>
            </a:prstGeom>
          </p:spPr>
        </p:pic>
        <p:sp>
          <p:nvSpPr>
            <p:cNvPr id="172" name="object 172"/>
            <p:cNvSpPr/>
            <p:nvPr/>
          </p:nvSpPr>
          <p:spPr>
            <a:xfrm>
              <a:off x="4875595" y="6979259"/>
              <a:ext cx="984885" cy="897890"/>
            </a:xfrm>
            <a:custGeom>
              <a:avLst/>
              <a:gdLst/>
              <a:ahLst/>
              <a:cxnLst/>
              <a:rect l="l" t="t" r="r" b="b"/>
              <a:pathLst>
                <a:path w="984885" h="897890">
                  <a:moveTo>
                    <a:pt x="0" y="533521"/>
                  </a:moveTo>
                  <a:lnTo>
                    <a:pt x="1142" y="524362"/>
                  </a:lnTo>
                  <a:lnTo>
                    <a:pt x="8016" y="516346"/>
                  </a:lnTo>
                  <a:lnTo>
                    <a:pt x="16017" y="512917"/>
                  </a:lnTo>
                  <a:lnTo>
                    <a:pt x="26334" y="512917"/>
                  </a:lnTo>
                  <a:lnTo>
                    <a:pt x="34335" y="516346"/>
                  </a:lnTo>
                  <a:lnTo>
                    <a:pt x="40065" y="524362"/>
                  </a:lnTo>
                  <a:lnTo>
                    <a:pt x="42351" y="533521"/>
                  </a:lnTo>
                  <a:lnTo>
                    <a:pt x="40065" y="542681"/>
                  </a:lnTo>
                  <a:lnTo>
                    <a:pt x="34335" y="549554"/>
                  </a:lnTo>
                  <a:lnTo>
                    <a:pt x="26334" y="554126"/>
                  </a:lnTo>
                  <a:lnTo>
                    <a:pt x="16017" y="554126"/>
                  </a:lnTo>
                  <a:lnTo>
                    <a:pt x="8016" y="549554"/>
                  </a:lnTo>
                  <a:lnTo>
                    <a:pt x="1142" y="542681"/>
                  </a:lnTo>
                  <a:lnTo>
                    <a:pt x="0" y="533521"/>
                  </a:lnTo>
                </a:path>
                <a:path w="984885" h="897890">
                  <a:moveTo>
                    <a:pt x="171724" y="20604"/>
                  </a:moveTo>
                  <a:lnTo>
                    <a:pt x="172882" y="11445"/>
                  </a:lnTo>
                  <a:lnTo>
                    <a:pt x="179740" y="3428"/>
                  </a:lnTo>
                  <a:lnTo>
                    <a:pt x="187756" y="0"/>
                  </a:lnTo>
                  <a:lnTo>
                    <a:pt x="198059" y="0"/>
                  </a:lnTo>
                  <a:lnTo>
                    <a:pt x="206075" y="3428"/>
                  </a:lnTo>
                  <a:lnTo>
                    <a:pt x="211805" y="11445"/>
                  </a:lnTo>
                  <a:lnTo>
                    <a:pt x="214091" y="20604"/>
                  </a:lnTo>
                  <a:lnTo>
                    <a:pt x="211805" y="28620"/>
                  </a:lnTo>
                  <a:lnTo>
                    <a:pt x="206075" y="35493"/>
                  </a:lnTo>
                  <a:lnTo>
                    <a:pt x="198059" y="40065"/>
                  </a:lnTo>
                  <a:lnTo>
                    <a:pt x="187756" y="40065"/>
                  </a:lnTo>
                  <a:lnTo>
                    <a:pt x="179740" y="35493"/>
                  </a:lnTo>
                  <a:lnTo>
                    <a:pt x="172882" y="28620"/>
                  </a:lnTo>
                  <a:lnTo>
                    <a:pt x="171724" y="20604"/>
                  </a:lnTo>
                </a:path>
                <a:path w="984885" h="897890">
                  <a:moveTo>
                    <a:pt x="257601" y="877001"/>
                  </a:moveTo>
                  <a:lnTo>
                    <a:pt x="258744" y="867841"/>
                  </a:lnTo>
                  <a:lnTo>
                    <a:pt x="265617" y="859825"/>
                  </a:lnTo>
                  <a:lnTo>
                    <a:pt x="272475" y="856381"/>
                  </a:lnTo>
                  <a:lnTo>
                    <a:pt x="282793" y="856381"/>
                  </a:lnTo>
                  <a:lnTo>
                    <a:pt x="290794" y="859825"/>
                  </a:lnTo>
                  <a:lnTo>
                    <a:pt x="296524" y="867841"/>
                  </a:lnTo>
                  <a:lnTo>
                    <a:pt x="298810" y="877001"/>
                  </a:lnTo>
                  <a:lnTo>
                    <a:pt x="296524" y="886160"/>
                  </a:lnTo>
                  <a:lnTo>
                    <a:pt x="290794" y="893018"/>
                  </a:lnTo>
                  <a:lnTo>
                    <a:pt x="282793" y="897605"/>
                  </a:lnTo>
                  <a:lnTo>
                    <a:pt x="272475" y="897605"/>
                  </a:lnTo>
                  <a:lnTo>
                    <a:pt x="265617" y="893018"/>
                  </a:lnTo>
                  <a:lnTo>
                    <a:pt x="258744" y="886160"/>
                  </a:lnTo>
                  <a:lnTo>
                    <a:pt x="257601" y="877001"/>
                  </a:lnTo>
                </a:path>
                <a:path w="984885" h="897890">
                  <a:moveTo>
                    <a:pt x="428183" y="362925"/>
                  </a:moveTo>
                  <a:lnTo>
                    <a:pt x="429341" y="353766"/>
                  </a:lnTo>
                  <a:lnTo>
                    <a:pt x="436199" y="345749"/>
                  </a:lnTo>
                  <a:lnTo>
                    <a:pt x="444215" y="342320"/>
                  </a:lnTo>
                  <a:lnTo>
                    <a:pt x="454517" y="342320"/>
                  </a:lnTo>
                  <a:lnTo>
                    <a:pt x="462533" y="345749"/>
                  </a:lnTo>
                  <a:lnTo>
                    <a:pt x="468264" y="353766"/>
                  </a:lnTo>
                  <a:lnTo>
                    <a:pt x="470550" y="362925"/>
                  </a:lnTo>
                  <a:lnTo>
                    <a:pt x="468264" y="372084"/>
                  </a:lnTo>
                  <a:lnTo>
                    <a:pt x="462533" y="378957"/>
                  </a:lnTo>
                  <a:lnTo>
                    <a:pt x="454517" y="383545"/>
                  </a:lnTo>
                  <a:lnTo>
                    <a:pt x="444215" y="383545"/>
                  </a:lnTo>
                  <a:lnTo>
                    <a:pt x="436199" y="378957"/>
                  </a:lnTo>
                  <a:lnTo>
                    <a:pt x="429341" y="372084"/>
                  </a:lnTo>
                  <a:lnTo>
                    <a:pt x="428183" y="362925"/>
                  </a:lnTo>
                </a:path>
                <a:path w="984885" h="897890">
                  <a:moveTo>
                    <a:pt x="599922" y="105323"/>
                  </a:moveTo>
                  <a:lnTo>
                    <a:pt x="601065" y="96164"/>
                  </a:lnTo>
                  <a:lnTo>
                    <a:pt x="607938" y="88148"/>
                  </a:lnTo>
                  <a:lnTo>
                    <a:pt x="615955" y="84719"/>
                  </a:lnTo>
                  <a:lnTo>
                    <a:pt x="626257" y="84719"/>
                  </a:lnTo>
                  <a:lnTo>
                    <a:pt x="634273" y="88148"/>
                  </a:lnTo>
                  <a:lnTo>
                    <a:pt x="640003" y="96164"/>
                  </a:lnTo>
                  <a:lnTo>
                    <a:pt x="642289" y="105323"/>
                  </a:lnTo>
                  <a:lnTo>
                    <a:pt x="640003" y="114482"/>
                  </a:lnTo>
                  <a:lnTo>
                    <a:pt x="634273" y="121356"/>
                  </a:lnTo>
                  <a:lnTo>
                    <a:pt x="626257" y="125928"/>
                  </a:lnTo>
                  <a:lnTo>
                    <a:pt x="615955" y="125928"/>
                  </a:lnTo>
                  <a:lnTo>
                    <a:pt x="607938" y="121356"/>
                  </a:lnTo>
                  <a:lnTo>
                    <a:pt x="601065" y="114482"/>
                  </a:lnTo>
                  <a:lnTo>
                    <a:pt x="599922" y="105323"/>
                  </a:lnTo>
                </a:path>
                <a:path w="984885" h="897890">
                  <a:moveTo>
                    <a:pt x="685799" y="533521"/>
                  </a:moveTo>
                  <a:lnTo>
                    <a:pt x="686942" y="524362"/>
                  </a:lnTo>
                  <a:lnTo>
                    <a:pt x="693816" y="516346"/>
                  </a:lnTo>
                  <a:lnTo>
                    <a:pt x="701817" y="512917"/>
                  </a:lnTo>
                  <a:lnTo>
                    <a:pt x="712134" y="512917"/>
                  </a:lnTo>
                  <a:lnTo>
                    <a:pt x="720135" y="516346"/>
                  </a:lnTo>
                  <a:lnTo>
                    <a:pt x="724722" y="524362"/>
                  </a:lnTo>
                  <a:lnTo>
                    <a:pt x="727008" y="533521"/>
                  </a:lnTo>
                  <a:lnTo>
                    <a:pt x="724722" y="542681"/>
                  </a:lnTo>
                  <a:lnTo>
                    <a:pt x="720135" y="549554"/>
                  </a:lnTo>
                  <a:lnTo>
                    <a:pt x="712134" y="554126"/>
                  </a:lnTo>
                  <a:lnTo>
                    <a:pt x="701817" y="554126"/>
                  </a:lnTo>
                  <a:lnTo>
                    <a:pt x="693816" y="549554"/>
                  </a:lnTo>
                  <a:lnTo>
                    <a:pt x="686942" y="542681"/>
                  </a:lnTo>
                  <a:lnTo>
                    <a:pt x="685799" y="533521"/>
                  </a:lnTo>
                </a:path>
                <a:path w="984885" h="897890">
                  <a:moveTo>
                    <a:pt x="942258" y="705261"/>
                  </a:moveTo>
                  <a:lnTo>
                    <a:pt x="943401" y="696102"/>
                  </a:lnTo>
                  <a:lnTo>
                    <a:pt x="950274" y="688085"/>
                  </a:lnTo>
                  <a:lnTo>
                    <a:pt x="958275" y="684656"/>
                  </a:lnTo>
                  <a:lnTo>
                    <a:pt x="968593" y="684656"/>
                  </a:lnTo>
                  <a:lnTo>
                    <a:pt x="976594" y="688085"/>
                  </a:lnTo>
                  <a:lnTo>
                    <a:pt x="982324" y="696102"/>
                  </a:lnTo>
                  <a:lnTo>
                    <a:pt x="984610" y="705261"/>
                  </a:lnTo>
                  <a:lnTo>
                    <a:pt x="982324" y="714420"/>
                  </a:lnTo>
                  <a:lnTo>
                    <a:pt x="976594" y="721293"/>
                  </a:lnTo>
                  <a:lnTo>
                    <a:pt x="968593" y="725865"/>
                  </a:lnTo>
                  <a:lnTo>
                    <a:pt x="958275" y="725865"/>
                  </a:lnTo>
                  <a:lnTo>
                    <a:pt x="950274" y="721293"/>
                  </a:lnTo>
                  <a:lnTo>
                    <a:pt x="943401" y="714420"/>
                  </a:lnTo>
                  <a:lnTo>
                    <a:pt x="942258" y="705261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3" name="object 173"/>
          <p:cNvSpPr txBox="1"/>
          <p:nvPr/>
        </p:nvSpPr>
        <p:spPr>
          <a:xfrm>
            <a:off x="4751830" y="7374281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(2,5)</a:t>
            </a:r>
            <a:endParaRPr sz="650">
              <a:latin typeface="Arial"/>
              <a:cs typeface="Arial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4901812" y="7783013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(5,1)</a:t>
            </a:r>
            <a:endParaRPr sz="650">
              <a:latin typeface="Arial"/>
              <a:cs typeface="Arial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4813654" y="6999895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(4,11)</a:t>
            </a:r>
            <a:endParaRPr sz="650">
              <a:latin typeface="Arial"/>
              <a:cs typeface="Arial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5106751" y="7333064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(7,7)</a:t>
            </a:r>
            <a:endParaRPr sz="650">
              <a:latin typeface="Arial"/>
              <a:cs typeface="Arial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4727787" y="6840752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(3,13)</a:t>
            </a:r>
            <a:endParaRPr sz="650">
              <a:latin typeface="Arial"/>
              <a:cs typeface="Arial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5301384" y="7503654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(10,5)</a:t>
            </a:r>
            <a:endParaRPr sz="650">
              <a:latin typeface="Arial"/>
              <a:cs typeface="Arial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5795986" y="6840752"/>
            <a:ext cx="29718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(12,12)</a:t>
            </a:r>
            <a:endParaRPr sz="650">
              <a:latin typeface="Arial"/>
              <a:cs typeface="Arial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5241851" y="7077748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(9,10)</a:t>
            </a:r>
            <a:endParaRPr sz="650">
              <a:latin typeface="Arial"/>
              <a:cs typeface="Arial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5967722" y="7002184"/>
            <a:ext cx="29718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(14,10)</a:t>
            </a:r>
            <a:endParaRPr sz="650">
              <a:latin typeface="Arial"/>
              <a:cs typeface="Arial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6055880" y="7268948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(15,7)</a:t>
            </a:r>
            <a:endParaRPr sz="650">
              <a:latin typeface="Arial"/>
              <a:cs typeface="Arial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5868115" y="7611275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(13,3)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184" name="object 184"/>
          <p:cNvGrpSpPr/>
          <p:nvPr/>
        </p:nvGrpSpPr>
        <p:grpSpPr>
          <a:xfrm>
            <a:off x="4724460" y="6570522"/>
            <a:ext cx="1312545" cy="1348740"/>
            <a:chOff x="4724460" y="6570522"/>
            <a:chExt cx="1312545" cy="1348740"/>
          </a:xfrm>
        </p:grpSpPr>
        <p:sp>
          <p:nvSpPr>
            <p:cNvPr id="185" name="object 185"/>
            <p:cNvSpPr/>
            <p:nvPr/>
          </p:nvSpPr>
          <p:spPr>
            <a:xfrm>
              <a:off x="4724460" y="6807520"/>
              <a:ext cx="1308100" cy="555625"/>
            </a:xfrm>
            <a:custGeom>
              <a:avLst/>
              <a:gdLst/>
              <a:ahLst/>
              <a:cxnLst/>
              <a:rect l="l" t="t" r="r" b="b"/>
              <a:pathLst>
                <a:path w="1308100" h="555625">
                  <a:moveTo>
                    <a:pt x="236997" y="20604"/>
                  </a:moveTo>
                  <a:lnTo>
                    <a:pt x="238140" y="11445"/>
                  </a:lnTo>
                  <a:lnTo>
                    <a:pt x="245013" y="3428"/>
                  </a:lnTo>
                  <a:lnTo>
                    <a:pt x="253029" y="0"/>
                  </a:lnTo>
                  <a:lnTo>
                    <a:pt x="263331" y="0"/>
                  </a:lnTo>
                  <a:lnTo>
                    <a:pt x="271348" y="3428"/>
                  </a:lnTo>
                  <a:lnTo>
                    <a:pt x="277063" y="11445"/>
                  </a:lnTo>
                  <a:lnTo>
                    <a:pt x="279364" y="20604"/>
                  </a:lnTo>
                  <a:lnTo>
                    <a:pt x="277063" y="29763"/>
                  </a:lnTo>
                  <a:lnTo>
                    <a:pt x="271348" y="36636"/>
                  </a:lnTo>
                  <a:lnTo>
                    <a:pt x="263331" y="41208"/>
                  </a:lnTo>
                  <a:lnTo>
                    <a:pt x="253029" y="41208"/>
                  </a:lnTo>
                  <a:lnTo>
                    <a:pt x="245013" y="36636"/>
                  </a:lnTo>
                  <a:lnTo>
                    <a:pt x="238140" y="29763"/>
                  </a:lnTo>
                  <a:lnTo>
                    <a:pt x="236997" y="20604"/>
                  </a:lnTo>
                </a:path>
                <a:path w="1308100" h="555625">
                  <a:moveTo>
                    <a:pt x="1179255" y="277063"/>
                  </a:moveTo>
                  <a:lnTo>
                    <a:pt x="1180398" y="267903"/>
                  </a:lnTo>
                  <a:lnTo>
                    <a:pt x="1187272" y="259887"/>
                  </a:lnTo>
                  <a:lnTo>
                    <a:pt x="1195288" y="256458"/>
                  </a:lnTo>
                  <a:lnTo>
                    <a:pt x="1205590" y="256458"/>
                  </a:lnTo>
                  <a:lnTo>
                    <a:pt x="1213606" y="259887"/>
                  </a:lnTo>
                  <a:lnTo>
                    <a:pt x="1219321" y="267903"/>
                  </a:lnTo>
                  <a:lnTo>
                    <a:pt x="1221623" y="277063"/>
                  </a:lnTo>
                  <a:lnTo>
                    <a:pt x="1219321" y="286222"/>
                  </a:lnTo>
                  <a:lnTo>
                    <a:pt x="1213606" y="293095"/>
                  </a:lnTo>
                  <a:lnTo>
                    <a:pt x="1205590" y="297667"/>
                  </a:lnTo>
                  <a:lnTo>
                    <a:pt x="1195288" y="297667"/>
                  </a:lnTo>
                  <a:lnTo>
                    <a:pt x="1187272" y="293095"/>
                  </a:lnTo>
                  <a:lnTo>
                    <a:pt x="1180398" y="286222"/>
                  </a:lnTo>
                  <a:lnTo>
                    <a:pt x="1179255" y="277063"/>
                  </a:lnTo>
                </a:path>
                <a:path w="1308100" h="555625">
                  <a:moveTo>
                    <a:pt x="1265118" y="534664"/>
                  </a:moveTo>
                  <a:lnTo>
                    <a:pt x="1266276" y="525505"/>
                  </a:lnTo>
                  <a:lnTo>
                    <a:pt x="1273134" y="517489"/>
                  </a:lnTo>
                  <a:lnTo>
                    <a:pt x="1281150" y="514060"/>
                  </a:lnTo>
                  <a:lnTo>
                    <a:pt x="1291452" y="514060"/>
                  </a:lnTo>
                  <a:lnTo>
                    <a:pt x="1299469" y="517489"/>
                  </a:lnTo>
                  <a:lnTo>
                    <a:pt x="1305199" y="525505"/>
                  </a:lnTo>
                  <a:lnTo>
                    <a:pt x="1307485" y="534664"/>
                  </a:lnTo>
                  <a:lnTo>
                    <a:pt x="1305199" y="543824"/>
                  </a:lnTo>
                  <a:lnTo>
                    <a:pt x="1299469" y="550697"/>
                  </a:lnTo>
                  <a:lnTo>
                    <a:pt x="1291452" y="555284"/>
                  </a:lnTo>
                  <a:lnTo>
                    <a:pt x="1281150" y="555284"/>
                  </a:lnTo>
                  <a:lnTo>
                    <a:pt x="1273134" y="550697"/>
                  </a:lnTo>
                  <a:lnTo>
                    <a:pt x="1266276" y="543824"/>
                  </a:lnTo>
                  <a:lnTo>
                    <a:pt x="1265118" y="534664"/>
                  </a:lnTo>
                </a:path>
                <a:path w="1308100" h="555625">
                  <a:moveTo>
                    <a:pt x="0" y="20604"/>
                  </a:moveTo>
                  <a:lnTo>
                    <a:pt x="236997" y="20604"/>
                  </a:lnTo>
                </a:path>
                <a:path w="1308100" h="555625">
                  <a:moveTo>
                    <a:pt x="1007516" y="106466"/>
                  </a:moveTo>
                  <a:lnTo>
                    <a:pt x="1008659" y="97307"/>
                  </a:lnTo>
                  <a:lnTo>
                    <a:pt x="1015532" y="89306"/>
                  </a:lnTo>
                  <a:lnTo>
                    <a:pt x="1023548" y="85862"/>
                  </a:lnTo>
                  <a:lnTo>
                    <a:pt x="1033851" y="85862"/>
                  </a:lnTo>
                  <a:lnTo>
                    <a:pt x="1041867" y="89306"/>
                  </a:lnTo>
                  <a:lnTo>
                    <a:pt x="1047597" y="97307"/>
                  </a:lnTo>
                  <a:lnTo>
                    <a:pt x="1049883" y="106466"/>
                  </a:lnTo>
                  <a:lnTo>
                    <a:pt x="1047597" y="115625"/>
                  </a:lnTo>
                  <a:lnTo>
                    <a:pt x="1041867" y="122499"/>
                  </a:lnTo>
                  <a:lnTo>
                    <a:pt x="1033851" y="127086"/>
                  </a:lnTo>
                  <a:lnTo>
                    <a:pt x="1023548" y="127086"/>
                  </a:lnTo>
                  <a:lnTo>
                    <a:pt x="1015532" y="122499"/>
                  </a:lnTo>
                  <a:lnTo>
                    <a:pt x="1008659" y="115625"/>
                  </a:lnTo>
                  <a:lnTo>
                    <a:pt x="1007516" y="106466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5496138" y="6570522"/>
              <a:ext cx="0" cy="1348740"/>
            </a:xfrm>
            <a:custGeom>
              <a:avLst/>
              <a:gdLst/>
              <a:ahLst/>
              <a:cxnLst/>
              <a:rect l="l" t="t" r="r" b="b"/>
              <a:pathLst>
                <a:path w="0" h="1348740">
                  <a:moveTo>
                    <a:pt x="0" y="0"/>
                  </a:moveTo>
                  <a:lnTo>
                    <a:pt x="0" y="22890"/>
                  </a:lnTo>
                </a:path>
                <a:path w="0" h="1348740">
                  <a:moveTo>
                    <a:pt x="0" y="45796"/>
                  </a:moveTo>
                  <a:lnTo>
                    <a:pt x="0" y="68686"/>
                  </a:lnTo>
                </a:path>
                <a:path w="0" h="1348740">
                  <a:moveTo>
                    <a:pt x="0" y="91592"/>
                  </a:moveTo>
                  <a:lnTo>
                    <a:pt x="0" y="114482"/>
                  </a:lnTo>
                </a:path>
                <a:path w="0" h="1348740">
                  <a:moveTo>
                    <a:pt x="0" y="137388"/>
                  </a:moveTo>
                  <a:lnTo>
                    <a:pt x="0" y="160279"/>
                  </a:lnTo>
                </a:path>
                <a:path w="0" h="1348740">
                  <a:moveTo>
                    <a:pt x="0" y="183184"/>
                  </a:moveTo>
                  <a:lnTo>
                    <a:pt x="0" y="206075"/>
                  </a:lnTo>
                </a:path>
                <a:path w="0" h="1348740">
                  <a:moveTo>
                    <a:pt x="0" y="228980"/>
                  </a:moveTo>
                  <a:lnTo>
                    <a:pt x="0" y="251871"/>
                  </a:lnTo>
                </a:path>
                <a:path w="0" h="1348740">
                  <a:moveTo>
                    <a:pt x="0" y="274777"/>
                  </a:moveTo>
                  <a:lnTo>
                    <a:pt x="0" y="297667"/>
                  </a:lnTo>
                </a:path>
                <a:path w="0" h="1348740">
                  <a:moveTo>
                    <a:pt x="0" y="320573"/>
                  </a:moveTo>
                  <a:lnTo>
                    <a:pt x="0" y="343463"/>
                  </a:lnTo>
                </a:path>
                <a:path w="0" h="1348740">
                  <a:moveTo>
                    <a:pt x="0" y="366369"/>
                  </a:moveTo>
                  <a:lnTo>
                    <a:pt x="0" y="389275"/>
                  </a:lnTo>
                </a:path>
                <a:path w="0" h="1348740">
                  <a:moveTo>
                    <a:pt x="0" y="412165"/>
                  </a:moveTo>
                  <a:lnTo>
                    <a:pt x="0" y="435071"/>
                  </a:lnTo>
                </a:path>
                <a:path w="0" h="1348740">
                  <a:moveTo>
                    <a:pt x="0" y="456818"/>
                  </a:moveTo>
                  <a:lnTo>
                    <a:pt x="0" y="479709"/>
                  </a:lnTo>
                </a:path>
                <a:path w="0" h="1348740">
                  <a:moveTo>
                    <a:pt x="0" y="502615"/>
                  </a:moveTo>
                  <a:lnTo>
                    <a:pt x="0" y="525505"/>
                  </a:lnTo>
                </a:path>
                <a:path w="0" h="1348740">
                  <a:moveTo>
                    <a:pt x="0" y="548411"/>
                  </a:moveTo>
                  <a:lnTo>
                    <a:pt x="0" y="571301"/>
                  </a:lnTo>
                </a:path>
                <a:path w="0" h="1348740">
                  <a:moveTo>
                    <a:pt x="0" y="594207"/>
                  </a:moveTo>
                  <a:lnTo>
                    <a:pt x="0" y="617098"/>
                  </a:lnTo>
                </a:path>
                <a:path w="0" h="1348740">
                  <a:moveTo>
                    <a:pt x="0" y="640003"/>
                  </a:moveTo>
                  <a:lnTo>
                    <a:pt x="0" y="662894"/>
                  </a:lnTo>
                </a:path>
                <a:path w="0" h="1348740">
                  <a:moveTo>
                    <a:pt x="0" y="685799"/>
                  </a:moveTo>
                  <a:lnTo>
                    <a:pt x="0" y="708690"/>
                  </a:lnTo>
                </a:path>
                <a:path w="0" h="1348740">
                  <a:moveTo>
                    <a:pt x="0" y="731596"/>
                  </a:moveTo>
                  <a:lnTo>
                    <a:pt x="0" y="754486"/>
                  </a:lnTo>
                </a:path>
                <a:path w="0" h="1348740">
                  <a:moveTo>
                    <a:pt x="0" y="777392"/>
                  </a:moveTo>
                  <a:lnTo>
                    <a:pt x="0" y="800282"/>
                  </a:lnTo>
                </a:path>
                <a:path w="0" h="1348740">
                  <a:moveTo>
                    <a:pt x="0" y="823188"/>
                  </a:moveTo>
                  <a:lnTo>
                    <a:pt x="0" y="846079"/>
                  </a:lnTo>
                </a:path>
                <a:path w="0" h="1348740">
                  <a:moveTo>
                    <a:pt x="0" y="868984"/>
                  </a:moveTo>
                  <a:lnTo>
                    <a:pt x="0" y="891875"/>
                  </a:lnTo>
                </a:path>
                <a:path w="0" h="1348740">
                  <a:moveTo>
                    <a:pt x="0" y="913637"/>
                  </a:moveTo>
                  <a:lnTo>
                    <a:pt x="0" y="936528"/>
                  </a:lnTo>
                </a:path>
                <a:path w="0" h="1348740">
                  <a:moveTo>
                    <a:pt x="0" y="959434"/>
                  </a:moveTo>
                  <a:lnTo>
                    <a:pt x="0" y="982324"/>
                  </a:lnTo>
                </a:path>
                <a:path w="0" h="1348740">
                  <a:moveTo>
                    <a:pt x="0" y="1005230"/>
                  </a:moveTo>
                  <a:lnTo>
                    <a:pt x="0" y="1028120"/>
                  </a:lnTo>
                </a:path>
                <a:path w="0" h="1348740">
                  <a:moveTo>
                    <a:pt x="0" y="1051026"/>
                  </a:moveTo>
                  <a:lnTo>
                    <a:pt x="0" y="1073917"/>
                  </a:lnTo>
                </a:path>
                <a:path w="0" h="1348740">
                  <a:moveTo>
                    <a:pt x="0" y="1096822"/>
                  </a:moveTo>
                  <a:lnTo>
                    <a:pt x="0" y="1119713"/>
                  </a:lnTo>
                </a:path>
                <a:path w="0" h="1348740">
                  <a:moveTo>
                    <a:pt x="0" y="1142618"/>
                  </a:moveTo>
                  <a:lnTo>
                    <a:pt x="0" y="1165509"/>
                  </a:lnTo>
                </a:path>
                <a:path w="0" h="1348740">
                  <a:moveTo>
                    <a:pt x="0" y="1188415"/>
                  </a:moveTo>
                  <a:lnTo>
                    <a:pt x="0" y="1211305"/>
                  </a:lnTo>
                </a:path>
                <a:path w="0" h="1348740">
                  <a:moveTo>
                    <a:pt x="0" y="1234211"/>
                  </a:moveTo>
                  <a:lnTo>
                    <a:pt x="0" y="1257101"/>
                  </a:lnTo>
                </a:path>
                <a:path w="0" h="1348740">
                  <a:moveTo>
                    <a:pt x="0" y="1280007"/>
                  </a:moveTo>
                  <a:lnTo>
                    <a:pt x="0" y="1302898"/>
                  </a:lnTo>
                </a:path>
                <a:path w="0" h="1348740">
                  <a:moveTo>
                    <a:pt x="0" y="1325803"/>
                  </a:moveTo>
                  <a:lnTo>
                    <a:pt x="0" y="1348694"/>
                  </a:lnTo>
                </a:path>
              </a:pathLst>
            </a:custGeom>
            <a:ln w="95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5496138" y="6698752"/>
              <a:ext cx="116839" cy="0"/>
            </a:xfrm>
            <a:custGeom>
              <a:avLst/>
              <a:gdLst/>
              <a:ahLst/>
              <a:cxnLst/>
              <a:rect l="l" t="t" r="r" b="b"/>
              <a:pathLst>
                <a:path w="116839" h="0">
                  <a:moveTo>
                    <a:pt x="0" y="0"/>
                  </a:moveTo>
                  <a:lnTo>
                    <a:pt x="116768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5596874" y="6663258"/>
              <a:ext cx="69850" cy="71120"/>
            </a:xfrm>
            <a:custGeom>
              <a:avLst/>
              <a:gdLst/>
              <a:ahLst/>
              <a:cxnLst/>
              <a:rect l="l" t="t" r="r" b="b"/>
              <a:pathLst>
                <a:path w="69850" h="71120">
                  <a:moveTo>
                    <a:pt x="0" y="0"/>
                  </a:moveTo>
                  <a:lnTo>
                    <a:pt x="2301" y="4587"/>
                  </a:lnTo>
                  <a:lnTo>
                    <a:pt x="3444" y="8016"/>
                  </a:lnTo>
                  <a:lnTo>
                    <a:pt x="4587" y="12588"/>
                  </a:lnTo>
                  <a:lnTo>
                    <a:pt x="5730" y="16032"/>
                  </a:lnTo>
                  <a:lnTo>
                    <a:pt x="5730" y="20604"/>
                  </a:lnTo>
                  <a:lnTo>
                    <a:pt x="6873" y="25191"/>
                  </a:lnTo>
                  <a:lnTo>
                    <a:pt x="6873" y="29763"/>
                  </a:lnTo>
                  <a:lnTo>
                    <a:pt x="8016" y="33207"/>
                  </a:lnTo>
                  <a:lnTo>
                    <a:pt x="8016" y="37779"/>
                  </a:lnTo>
                  <a:lnTo>
                    <a:pt x="6873" y="42367"/>
                  </a:lnTo>
                  <a:lnTo>
                    <a:pt x="6873" y="46939"/>
                  </a:lnTo>
                  <a:lnTo>
                    <a:pt x="5730" y="50383"/>
                  </a:lnTo>
                  <a:lnTo>
                    <a:pt x="5730" y="54955"/>
                  </a:lnTo>
                  <a:lnTo>
                    <a:pt x="4587" y="59542"/>
                  </a:lnTo>
                  <a:lnTo>
                    <a:pt x="3444" y="62971"/>
                  </a:lnTo>
                  <a:lnTo>
                    <a:pt x="2301" y="67543"/>
                  </a:lnTo>
                  <a:lnTo>
                    <a:pt x="0" y="70987"/>
                  </a:lnTo>
                  <a:lnTo>
                    <a:pt x="69844" y="35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4982062" y="6849872"/>
              <a:ext cx="494030" cy="234950"/>
            </a:xfrm>
            <a:custGeom>
              <a:avLst/>
              <a:gdLst/>
              <a:ahLst/>
              <a:cxnLst/>
              <a:rect l="l" t="t" r="r" b="b"/>
              <a:pathLst>
                <a:path w="494029" h="234950">
                  <a:moveTo>
                    <a:pt x="0" y="0"/>
                  </a:moveTo>
                  <a:lnTo>
                    <a:pt x="0" y="149992"/>
                  </a:lnTo>
                  <a:lnTo>
                    <a:pt x="65257" y="149992"/>
                  </a:lnTo>
                </a:path>
                <a:path w="494029" h="234950">
                  <a:moveTo>
                    <a:pt x="85877" y="170596"/>
                  </a:moveTo>
                  <a:lnTo>
                    <a:pt x="85877" y="234711"/>
                  </a:lnTo>
                  <a:lnTo>
                    <a:pt x="493455" y="234711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0" name="object 190"/>
          <p:cNvSpPr txBox="1"/>
          <p:nvPr/>
        </p:nvSpPr>
        <p:spPr>
          <a:xfrm>
            <a:off x="6789773" y="7943356"/>
            <a:ext cx="292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i="1">
                <a:solidFill>
                  <a:srgbClr val="FFFFFF"/>
                </a:solidFill>
                <a:latin typeface="Arial"/>
                <a:cs typeface="Arial"/>
              </a:rPr>
              <a:t>stack</a:t>
            </a:r>
            <a:endParaRPr sz="900">
              <a:latin typeface="Arial"/>
              <a:cs typeface="Arial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5403289" y="6316435"/>
            <a:ext cx="5657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sweep</a:t>
            </a:r>
            <a:r>
              <a:rPr dirty="0" sz="9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line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192" name="object 192"/>
          <p:cNvGraphicFramePr>
            <a:graphicFrameLocks noGrp="1"/>
          </p:cNvGraphicFramePr>
          <p:nvPr/>
        </p:nvGraphicFramePr>
        <p:xfrm>
          <a:off x="6775955" y="6913986"/>
          <a:ext cx="356870" cy="10318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2265"/>
              </a:tblGrid>
              <a:tr h="68465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 marR="23495">
                        <a:lnSpc>
                          <a:spcPct val="100000"/>
                        </a:lnSpc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(9,10)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1739">
                <a:tc>
                  <a:txBody>
                    <a:bodyPr/>
                    <a:lstStyle/>
                    <a:p>
                      <a:pPr algn="ctr" marR="1206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(4,11)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000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0596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(3,13)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193" name="object 193"/>
          <p:cNvSpPr txBox="1"/>
          <p:nvPr/>
        </p:nvSpPr>
        <p:spPr>
          <a:xfrm>
            <a:off x="4787326" y="8261997"/>
            <a:ext cx="20840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1.11: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Sweep </a:t>
            </a:r>
            <a:r>
              <a:rPr dirty="0" sz="1200" spc="-10">
                <a:latin typeface="Times New Roman"/>
                <a:cs typeface="Times New Roman"/>
              </a:rPr>
              <a:t>line</a:t>
            </a:r>
            <a:r>
              <a:rPr dirty="0" sz="1200" spc="-5">
                <a:latin typeface="Times New Roman"/>
                <a:cs typeface="Times New Roman"/>
              </a:rPr>
              <a:t> 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9,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10</a:t>
            </a:r>
            <a:r>
              <a:rPr dirty="0" sz="1200" spc="-7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233096" y="520987"/>
            <a:ext cx="209550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1.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INTRODUCTION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990600" y="1267658"/>
            <a:ext cx="2819400" cy="1905000"/>
            <a:chOff x="990600" y="1267658"/>
            <a:chExt cx="2819400" cy="1905000"/>
          </a:xfrm>
        </p:grpSpPr>
        <p:sp>
          <p:nvSpPr>
            <p:cNvPr id="5" name="object 5"/>
            <p:cNvSpPr/>
            <p:nvPr/>
          </p:nvSpPr>
          <p:spPr>
            <a:xfrm>
              <a:off x="990600" y="1267658"/>
              <a:ext cx="2819400" cy="1905000"/>
            </a:xfrm>
            <a:custGeom>
              <a:avLst/>
              <a:gdLst/>
              <a:ahLst/>
              <a:cxnLst/>
              <a:rect l="l" t="t" r="r" b="b"/>
              <a:pathLst>
                <a:path w="2819400" h="1905000">
                  <a:moveTo>
                    <a:pt x="2819201" y="0"/>
                  </a:moveTo>
                  <a:lnTo>
                    <a:pt x="0" y="0"/>
                  </a:lnTo>
                  <a:lnTo>
                    <a:pt x="0" y="1904801"/>
                  </a:lnTo>
                  <a:lnTo>
                    <a:pt x="2819201" y="1904801"/>
                  </a:lnTo>
                  <a:lnTo>
                    <a:pt x="28192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254247" y="1728942"/>
              <a:ext cx="1412240" cy="1241425"/>
            </a:xfrm>
            <a:custGeom>
              <a:avLst/>
              <a:gdLst/>
              <a:ahLst/>
              <a:cxnLst/>
              <a:rect l="l" t="t" r="r" b="b"/>
              <a:pathLst>
                <a:path w="1412239" h="1241425">
                  <a:moveTo>
                    <a:pt x="212951" y="1156365"/>
                  </a:moveTo>
                  <a:lnTo>
                    <a:pt x="212951" y="1241084"/>
                  </a:lnTo>
                </a:path>
                <a:path w="1412239" h="1241425">
                  <a:moveTo>
                    <a:pt x="384692" y="1156365"/>
                  </a:moveTo>
                  <a:lnTo>
                    <a:pt x="384692" y="1241084"/>
                  </a:lnTo>
                </a:path>
                <a:path w="1412239" h="1241425">
                  <a:moveTo>
                    <a:pt x="555273" y="1156365"/>
                  </a:moveTo>
                  <a:lnTo>
                    <a:pt x="555273" y="1241084"/>
                  </a:lnTo>
                </a:path>
                <a:path w="1412239" h="1241425">
                  <a:moveTo>
                    <a:pt x="727013" y="1156365"/>
                  </a:moveTo>
                  <a:lnTo>
                    <a:pt x="727013" y="1241084"/>
                  </a:lnTo>
                </a:path>
                <a:path w="1412239" h="1241425">
                  <a:moveTo>
                    <a:pt x="898753" y="1156365"/>
                  </a:moveTo>
                  <a:lnTo>
                    <a:pt x="898753" y="1241084"/>
                  </a:lnTo>
                </a:path>
                <a:path w="1412239" h="1241425">
                  <a:moveTo>
                    <a:pt x="1069349" y="1156365"/>
                  </a:moveTo>
                  <a:lnTo>
                    <a:pt x="1069349" y="1241084"/>
                  </a:lnTo>
                </a:path>
                <a:path w="1412239" h="1241425">
                  <a:moveTo>
                    <a:pt x="1241073" y="1156365"/>
                  </a:moveTo>
                  <a:lnTo>
                    <a:pt x="1241073" y="1241084"/>
                  </a:lnTo>
                </a:path>
                <a:path w="1412239" h="1241425">
                  <a:moveTo>
                    <a:pt x="1411670" y="1156365"/>
                  </a:moveTo>
                  <a:lnTo>
                    <a:pt x="1411670" y="1241084"/>
                  </a:lnTo>
                </a:path>
                <a:path w="1412239" h="1241425">
                  <a:moveTo>
                    <a:pt x="84722" y="1028136"/>
                  </a:moveTo>
                  <a:lnTo>
                    <a:pt x="0" y="1028136"/>
                  </a:lnTo>
                </a:path>
                <a:path w="1412239" h="1241425">
                  <a:moveTo>
                    <a:pt x="84722" y="856396"/>
                  </a:moveTo>
                  <a:lnTo>
                    <a:pt x="0" y="856396"/>
                  </a:lnTo>
                </a:path>
                <a:path w="1412239" h="1241425">
                  <a:moveTo>
                    <a:pt x="84722" y="685799"/>
                  </a:moveTo>
                  <a:lnTo>
                    <a:pt x="0" y="685799"/>
                  </a:lnTo>
                </a:path>
                <a:path w="1412239" h="1241425">
                  <a:moveTo>
                    <a:pt x="84722" y="514060"/>
                  </a:moveTo>
                  <a:lnTo>
                    <a:pt x="0" y="514060"/>
                  </a:lnTo>
                </a:path>
                <a:path w="1412239" h="1241425">
                  <a:moveTo>
                    <a:pt x="84722" y="342336"/>
                  </a:moveTo>
                  <a:lnTo>
                    <a:pt x="0" y="342336"/>
                  </a:lnTo>
                </a:path>
                <a:path w="1412239" h="1241425">
                  <a:moveTo>
                    <a:pt x="84722" y="171739"/>
                  </a:moveTo>
                  <a:lnTo>
                    <a:pt x="0" y="171739"/>
                  </a:lnTo>
                </a:path>
                <a:path w="1412239" h="1241425">
                  <a:moveTo>
                    <a:pt x="8472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1419008" y="2951800"/>
            <a:ext cx="14947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900" spc="60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900" spc="5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dirty="0" sz="900" spc="6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dirty="0" sz="900" spc="2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dirty="0" sz="900" spc="1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900" spc="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14</a:t>
            </a:r>
            <a:r>
              <a:rPr dirty="0" sz="900" spc="1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16</a:t>
            </a:r>
            <a:r>
              <a:rPr dirty="0" sz="900" spc="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18</a:t>
            </a:r>
            <a:endParaRPr sz="9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2837657" y="2885308"/>
            <a:ext cx="0" cy="85090"/>
          </a:xfrm>
          <a:custGeom>
            <a:avLst/>
            <a:gdLst/>
            <a:ahLst/>
            <a:cxnLst/>
            <a:rect l="l" t="t" r="r" b="b"/>
            <a:pathLst>
              <a:path w="0" h="85089">
                <a:moveTo>
                  <a:pt x="0" y="0"/>
                </a:moveTo>
                <a:lnTo>
                  <a:pt x="0" y="84719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1080114" y="1610884"/>
            <a:ext cx="153035" cy="1205865"/>
          </a:xfrm>
          <a:prstGeom prst="rect">
            <a:avLst/>
          </a:prstGeom>
        </p:spPr>
        <p:txBody>
          <a:bodyPr wrap="square" lIns="0" tIns="469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36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11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33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12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259971" y="1514851"/>
            <a:ext cx="1749425" cy="1448435"/>
            <a:chOff x="1259971" y="1514851"/>
            <a:chExt cx="1749425" cy="1448435"/>
          </a:xfrm>
        </p:grpSpPr>
        <p:sp>
          <p:nvSpPr>
            <p:cNvPr id="11" name="object 11"/>
            <p:cNvSpPr/>
            <p:nvPr/>
          </p:nvSpPr>
          <p:spPr>
            <a:xfrm>
              <a:off x="1295463" y="1567520"/>
              <a:ext cx="0" cy="1360170"/>
            </a:xfrm>
            <a:custGeom>
              <a:avLst/>
              <a:gdLst/>
              <a:ahLst/>
              <a:cxnLst/>
              <a:rect l="l" t="t" r="r" b="b"/>
              <a:pathLst>
                <a:path w="0" h="1360170">
                  <a:moveTo>
                    <a:pt x="0" y="1360139"/>
                  </a:moveTo>
                  <a:lnTo>
                    <a:pt x="0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59971" y="1514851"/>
              <a:ext cx="70983" cy="69829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1295463" y="2927660"/>
              <a:ext cx="1660525" cy="0"/>
            </a:xfrm>
            <a:custGeom>
              <a:avLst/>
              <a:gdLst/>
              <a:ahLst/>
              <a:cxnLst/>
              <a:rect l="l" t="t" r="r" b="b"/>
              <a:pathLst>
                <a:path w="1660525" h="0">
                  <a:moveTo>
                    <a:pt x="0" y="0"/>
                  </a:moveTo>
                  <a:lnTo>
                    <a:pt x="1660120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38409" y="2893324"/>
              <a:ext cx="70987" cy="6982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46591" y="1965939"/>
              <a:ext cx="984885" cy="897890"/>
            </a:xfrm>
            <a:custGeom>
              <a:avLst/>
              <a:gdLst/>
              <a:ahLst/>
              <a:cxnLst/>
              <a:rect l="l" t="t" r="r" b="b"/>
              <a:pathLst>
                <a:path w="984885" h="897889">
                  <a:moveTo>
                    <a:pt x="0" y="533537"/>
                  </a:moveTo>
                  <a:lnTo>
                    <a:pt x="1144" y="524377"/>
                  </a:lnTo>
                  <a:lnTo>
                    <a:pt x="8013" y="516361"/>
                  </a:lnTo>
                  <a:lnTo>
                    <a:pt x="16027" y="512917"/>
                  </a:lnTo>
                  <a:lnTo>
                    <a:pt x="26331" y="512917"/>
                  </a:lnTo>
                  <a:lnTo>
                    <a:pt x="34346" y="516361"/>
                  </a:lnTo>
                  <a:lnTo>
                    <a:pt x="40070" y="524377"/>
                  </a:lnTo>
                  <a:lnTo>
                    <a:pt x="42361" y="533537"/>
                  </a:lnTo>
                  <a:lnTo>
                    <a:pt x="40070" y="542696"/>
                  </a:lnTo>
                  <a:lnTo>
                    <a:pt x="34346" y="549554"/>
                  </a:lnTo>
                  <a:lnTo>
                    <a:pt x="26331" y="554141"/>
                  </a:lnTo>
                  <a:lnTo>
                    <a:pt x="16027" y="554141"/>
                  </a:lnTo>
                  <a:lnTo>
                    <a:pt x="8013" y="549554"/>
                  </a:lnTo>
                  <a:lnTo>
                    <a:pt x="1144" y="542696"/>
                  </a:lnTo>
                  <a:lnTo>
                    <a:pt x="0" y="533537"/>
                  </a:lnTo>
                </a:path>
                <a:path w="984885" h="897889">
                  <a:moveTo>
                    <a:pt x="171728" y="20604"/>
                  </a:moveTo>
                  <a:lnTo>
                    <a:pt x="172887" y="11445"/>
                  </a:lnTo>
                  <a:lnTo>
                    <a:pt x="179745" y="3444"/>
                  </a:lnTo>
                  <a:lnTo>
                    <a:pt x="187761" y="0"/>
                  </a:lnTo>
                  <a:lnTo>
                    <a:pt x="198063" y="0"/>
                  </a:lnTo>
                  <a:lnTo>
                    <a:pt x="206079" y="3444"/>
                  </a:lnTo>
                  <a:lnTo>
                    <a:pt x="211810" y="11445"/>
                  </a:lnTo>
                  <a:lnTo>
                    <a:pt x="214096" y="20604"/>
                  </a:lnTo>
                  <a:lnTo>
                    <a:pt x="211810" y="28620"/>
                  </a:lnTo>
                  <a:lnTo>
                    <a:pt x="206079" y="35493"/>
                  </a:lnTo>
                  <a:lnTo>
                    <a:pt x="198063" y="40081"/>
                  </a:lnTo>
                  <a:lnTo>
                    <a:pt x="187761" y="40081"/>
                  </a:lnTo>
                  <a:lnTo>
                    <a:pt x="179745" y="35493"/>
                  </a:lnTo>
                  <a:lnTo>
                    <a:pt x="172887" y="28620"/>
                  </a:lnTo>
                  <a:lnTo>
                    <a:pt x="171728" y="20604"/>
                  </a:lnTo>
                </a:path>
                <a:path w="984885" h="897889">
                  <a:moveTo>
                    <a:pt x="257606" y="877001"/>
                  </a:moveTo>
                  <a:lnTo>
                    <a:pt x="258749" y="867841"/>
                  </a:lnTo>
                  <a:lnTo>
                    <a:pt x="265622" y="859825"/>
                  </a:lnTo>
                  <a:lnTo>
                    <a:pt x="272480" y="856396"/>
                  </a:lnTo>
                  <a:lnTo>
                    <a:pt x="282798" y="856396"/>
                  </a:lnTo>
                  <a:lnTo>
                    <a:pt x="290799" y="859825"/>
                  </a:lnTo>
                  <a:lnTo>
                    <a:pt x="296529" y="867841"/>
                  </a:lnTo>
                  <a:lnTo>
                    <a:pt x="298815" y="877001"/>
                  </a:lnTo>
                  <a:lnTo>
                    <a:pt x="296529" y="886160"/>
                  </a:lnTo>
                  <a:lnTo>
                    <a:pt x="290799" y="893033"/>
                  </a:lnTo>
                  <a:lnTo>
                    <a:pt x="282798" y="897605"/>
                  </a:lnTo>
                  <a:lnTo>
                    <a:pt x="272480" y="897605"/>
                  </a:lnTo>
                  <a:lnTo>
                    <a:pt x="265622" y="893033"/>
                  </a:lnTo>
                  <a:lnTo>
                    <a:pt x="258749" y="886160"/>
                  </a:lnTo>
                  <a:lnTo>
                    <a:pt x="257606" y="877001"/>
                  </a:lnTo>
                </a:path>
                <a:path w="984885" h="897889">
                  <a:moveTo>
                    <a:pt x="428187" y="362940"/>
                  </a:moveTo>
                  <a:lnTo>
                    <a:pt x="429345" y="353781"/>
                  </a:lnTo>
                  <a:lnTo>
                    <a:pt x="436203" y="345765"/>
                  </a:lnTo>
                  <a:lnTo>
                    <a:pt x="444220" y="342336"/>
                  </a:lnTo>
                  <a:lnTo>
                    <a:pt x="454522" y="342336"/>
                  </a:lnTo>
                  <a:lnTo>
                    <a:pt x="462538" y="345765"/>
                  </a:lnTo>
                  <a:lnTo>
                    <a:pt x="468268" y="353781"/>
                  </a:lnTo>
                  <a:lnTo>
                    <a:pt x="470554" y="362940"/>
                  </a:lnTo>
                  <a:lnTo>
                    <a:pt x="468268" y="372099"/>
                  </a:lnTo>
                  <a:lnTo>
                    <a:pt x="462538" y="378973"/>
                  </a:lnTo>
                  <a:lnTo>
                    <a:pt x="454522" y="383545"/>
                  </a:lnTo>
                  <a:lnTo>
                    <a:pt x="444220" y="383545"/>
                  </a:lnTo>
                  <a:lnTo>
                    <a:pt x="436203" y="378973"/>
                  </a:lnTo>
                  <a:lnTo>
                    <a:pt x="429345" y="372099"/>
                  </a:lnTo>
                  <a:lnTo>
                    <a:pt x="428187" y="362940"/>
                  </a:lnTo>
                </a:path>
                <a:path w="984885" h="897889">
                  <a:moveTo>
                    <a:pt x="599927" y="105338"/>
                  </a:moveTo>
                  <a:lnTo>
                    <a:pt x="601070" y="96179"/>
                  </a:lnTo>
                  <a:lnTo>
                    <a:pt x="607943" y="88163"/>
                  </a:lnTo>
                  <a:lnTo>
                    <a:pt x="615959" y="84719"/>
                  </a:lnTo>
                  <a:lnTo>
                    <a:pt x="626261" y="84719"/>
                  </a:lnTo>
                  <a:lnTo>
                    <a:pt x="634278" y="88163"/>
                  </a:lnTo>
                  <a:lnTo>
                    <a:pt x="640008" y="96179"/>
                  </a:lnTo>
                  <a:lnTo>
                    <a:pt x="642294" y="105338"/>
                  </a:lnTo>
                  <a:lnTo>
                    <a:pt x="640008" y="114498"/>
                  </a:lnTo>
                  <a:lnTo>
                    <a:pt x="634278" y="121356"/>
                  </a:lnTo>
                  <a:lnTo>
                    <a:pt x="626261" y="125943"/>
                  </a:lnTo>
                  <a:lnTo>
                    <a:pt x="615959" y="125943"/>
                  </a:lnTo>
                  <a:lnTo>
                    <a:pt x="607943" y="121356"/>
                  </a:lnTo>
                  <a:lnTo>
                    <a:pt x="601070" y="114498"/>
                  </a:lnTo>
                  <a:lnTo>
                    <a:pt x="599927" y="105338"/>
                  </a:lnTo>
                </a:path>
                <a:path w="984885" h="897889">
                  <a:moveTo>
                    <a:pt x="685804" y="533537"/>
                  </a:moveTo>
                  <a:lnTo>
                    <a:pt x="686947" y="524377"/>
                  </a:lnTo>
                  <a:lnTo>
                    <a:pt x="693820" y="516361"/>
                  </a:lnTo>
                  <a:lnTo>
                    <a:pt x="701821" y="512917"/>
                  </a:lnTo>
                  <a:lnTo>
                    <a:pt x="712139" y="512917"/>
                  </a:lnTo>
                  <a:lnTo>
                    <a:pt x="720140" y="516361"/>
                  </a:lnTo>
                  <a:lnTo>
                    <a:pt x="724727" y="524377"/>
                  </a:lnTo>
                  <a:lnTo>
                    <a:pt x="727013" y="533537"/>
                  </a:lnTo>
                  <a:lnTo>
                    <a:pt x="724727" y="542696"/>
                  </a:lnTo>
                  <a:lnTo>
                    <a:pt x="720140" y="549554"/>
                  </a:lnTo>
                  <a:lnTo>
                    <a:pt x="712139" y="554141"/>
                  </a:lnTo>
                  <a:lnTo>
                    <a:pt x="701821" y="554141"/>
                  </a:lnTo>
                  <a:lnTo>
                    <a:pt x="693820" y="549554"/>
                  </a:lnTo>
                  <a:lnTo>
                    <a:pt x="686947" y="542696"/>
                  </a:lnTo>
                  <a:lnTo>
                    <a:pt x="685804" y="533537"/>
                  </a:lnTo>
                </a:path>
                <a:path w="984885" h="897889">
                  <a:moveTo>
                    <a:pt x="942263" y="705261"/>
                  </a:moveTo>
                  <a:lnTo>
                    <a:pt x="943406" y="696102"/>
                  </a:lnTo>
                  <a:lnTo>
                    <a:pt x="950279" y="688085"/>
                  </a:lnTo>
                  <a:lnTo>
                    <a:pt x="958280" y="684656"/>
                  </a:lnTo>
                  <a:lnTo>
                    <a:pt x="968597" y="684656"/>
                  </a:lnTo>
                  <a:lnTo>
                    <a:pt x="976598" y="688085"/>
                  </a:lnTo>
                  <a:lnTo>
                    <a:pt x="982329" y="696102"/>
                  </a:lnTo>
                  <a:lnTo>
                    <a:pt x="984615" y="705261"/>
                  </a:lnTo>
                  <a:lnTo>
                    <a:pt x="982329" y="714420"/>
                  </a:lnTo>
                  <a:lnTo>
                    <a:pt x="976598" y="721293"/>
                  </a:lnTo>
                  <a:lnTo>
                    <a:pt x="968597" y="725881"/>
                  </a:lnTo>
                  <a:lnTo>
                    <a:pt x="958280" y="725881"/>
                  </a:lnTo>
                  <a:lnTo>
                    <a:pt x="950279" y="721293"/>
                  </a:lnTo>
                  <a:lnTo>
                    <a:pt x="943406" y="714420"/>
                  </a:lnTo>
                  <a:lnTo>
                    <a:pt x="942263" y="705261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1322831" y="2360971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(2,5)</a:t>
            </a:r>
            <a:endParaRPr sz="65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472814" y="2769703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(5,1)</a:t>
            </a:r>
            <a:endParaRPr sz="6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84657" y="1986587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(4,11)</a:t>
            </a:r>
            <a:endParaRPr sz="65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677753" y="2319754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(7,7)</a:t>
            </a:r>
            <a:endParaRPr sz="65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298789" y="1827443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(3,13)</a:t>
            </a:r>
            <a:endParaRPr sz="6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872387" y="2490344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(10,5)</a:t>
            </a:r>
            <a:endParaRPr sz="65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812852" y="2064440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(9,10)</a:t>
            </a:r>
            <a:endParaRPr sz="6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366987" y="1768880"/>
            <a:ext cx="469265" cy="348615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(12,12)</a:t>
            </a:r>
            <a:endParaRPr sz="650">
              <a:latin typeface="Arial"/>
              <a:cs typeface="Arial"/>
            </a:endParaRPr>
          </a:p>
          <a:p>
            <a:pPr marL="184150">
              <a:lnSpc>
                <a:spcPct val="100000"/>
              </a:lnSpc>
              <a:spcBef>
                <a:spcPts val="490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(14,10)</a:t>
            </a:r>
            <a:endParaRPr sz="6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626882" y="2255639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(15,7)</a:t>
            </a:r>
            <a:endParaRPr sz="65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439116" y="2597967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(13,3)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1295463" y="1557203"/>
            <a:ext cx="1312545" cy="1348740"/>
            <a:chOff x="1295463" y="1557203"/>
            <a:chExt cx="1312545" cy="1348740"/>
          </a:xfrm>
        </p:grpSpPr>
        <p:sp>
          <p:nvSpPr>
            <p:cNvPr id="27" name="object 27"/>
            <p:cNvSpPr/>
            <p:nvPr/>
          </p:nvSpPr>
          <p:spPr>
            <a:xfrm>
              <a:off x="1295463" y="1794200"/>
              <a:ext cx="1308100" cy="555625"/>
            </a:xfrm>
            <a:custGeom>
              <a:avLst/>
              <a:gdLst/>
              <a:ahLst/>
              <a:cxnLst/>
              <a:rect l="l" t="t" r="r" b="b"/>
              <a:pathLst>
                <a:path w="1308100" h="555625">
                  <a:moveTo>
                    <a:pt x="236994" y="20619"/>
                  </a:moveTo>
                  <a:lnTo>
                    <a:pt x="238137" y="11460"/>
                  </a:lnTo>
                  <a:lnTo>
                    <a:pt x="245010" y="3444"/>
                  </a:lnTo>
                  <a:lnTo>
                    <a:pt x="253026" y="0"/>
                  </a:lnTo>
                  <a:lnTo>
                    <a:pt x="263328" y="0"/>
                  </a:lnTo>
                  <a:lnTo>
                    <a:pt x="271345" y="3444"/>
                  </a:lnTo>
                  <a:lnTo>
                    <a:pt x="277060" y="11460"/>
                  </a:lnTo>
                  <a:lnTo>
                    <a:pt x="279361" y="20619"/>
                  </a:lnTo>
                  <a:lnTo>
                    <a:pt x="277060" y="29778"/>
                  </a:lnTo>
                  <a:lnTo>
                    <a:pt x="271345" y="36636"/>
                  </a:lnTo>
                  <a:lnTo>
                    <a:pt x="263328" y="41224"/>
                  </a:lnTo>
                  <a:lnTo>
                    <a:pt x="253026" y="41224"/>
                  </a:lnTo>
                  <a:lnTo>
                    <a:pt x="245010" y="36636"/>
                  </a:lnTo>
                  <a:lnTo>
                    <a:pt x="238137" y="29778"/>
                  </a:lnTo>
                  <a:lnTo>
                    <a:pt x="236994" y="20619"/>
                  </a:lnTo>
                </a:path>
                <a:path w="1308100" h="555625">
                  <a:moveTo>
                    <a:pt x="1179252" y="277078"/>
                  </a:moveTo>
                  <a:lnTo>
                    <a:pt x="1180395" y="267919"/>
                  </a:lnTo>
                  <a:lnTo>
                    <a:pt x="1187269" y="259902"/>
                  </a:lnTo>
                  <a:lnTo>
                    <a:pt x="1195285" y="256458"/>
                  </a:lnTo>
                  <a:lnTo>
                    <a:pt x="1205587" y="256458"/>
                  </a:lnTo>
                  <a:lnTo>
                    <a:pt x="1213603" y="259902"/>
                  </a:lnTo>
                  <a:lnTo>
                    <a:pt x="1219318" y="267919"/>
                  </a:lnTo>
                  <a:lnTo>
                    <a:pt x="1221620" y="277078"/>
                  </a:lnTo>
                  <a:lnTo>
                    <a:pt x="1219318" y="286237"/>
                  </a:lnTo>
                  <a:lnTo>
                    <a:pt x="1213603" y="293095"/>
                  </a:lnTo>
                  <a:lnTo>
                    <a:pt x="1205587" y="297682"/>
                  </a:lnTo>
                  <a:lnTo>
                    <a:pt x="1195285" y="297682"/>
                  </a:lnTo>
                  <a:lnTo>
                    <a:pt x="1187269" y="293095"/>
                  </a:lnTo>
                  <a:lnTo>
                    <a:pt x="1180395" y="286237"/>
                  </a:lnTo>
                  <a:lnTo>
                    <a:pt x="1179252" y="277078"/>
                  </a:lnTo>
                </a:path>
                <a:path w="1308100" h="555625">
                  <a:moveTo>
                    <a:pt x="1265115" y="534680"/>
                  </a:moveTo>
                  <a:lnTo>
                    <a:pt x="1266273" y="525520"/>
                  </a:lnTo>
                  <a:lnTo>
                    <a:pt x="1273131" y="517504"/>
                  </a:lnTo>
                  <a:lnTo>
                    <a:pt x="1281147" y="514075"/>
                  </a:lnTo>
                  <a:lnTo>
                    <a:pt x="1291449" y="514075"/>
                  </a:lnTo>
                  <a:lnTo>
                    <a:pt x="1299466" y="517504"/>
                  </a:lnTo>
                  <a:lnTo>
                    <a:pt x="1305196" y="525520"/>
                  </a:lnTo>
                  <a:lnTo>
                    <a:pt x="1307482" y="534680"/>
                  </a:lnTo>
                  <a:lnTo>
                    <a:pt x="1305196" y="543839"/>
                  </a:lnTo>
                  <a:lnTo>
                    <a:pt x="1299466" y="550712"/>
                  </a:lnTo>
                  <a:lnTo>
                    <a:pt x="1291449" y="555284"/>
                  </a:lnTo>
                  <a:lnTo>
                    <a:pt x="1281147" y="555284"/>
                  </a:lnTo>
                  <a:lnTo>
                    <a:pt x="1273131" y="550712"/>
                  </a:lnTo>
                  <a:lnTo>
                    <a:pt x="1266273" y="543839"/>
                  </a:lnTo>
                  <a:lnTo>
                    <a:pt x="1265115" y="534680"/>
                  </a:lnTo>
                </a:path>
                <a:path w="1308100" h="555625">
                  <a:moveTo>
                    <a:pt x="0" y="20619"/>
                  </a:moveTo>
                  <a:lnTo>
                    <a:pt x="236994" y="20619"/>
                  </a:lnTo>
                </a:path>
                <a:path w="1308100" h="555625">
                  <a:moveTo>
                    <a:pt x="1007513" y="106481"/>
                  </a:moveTo>
                  <a:lnTo>
                    <a:pt x="1008656" y="97322"/>
                  </a:lnTo>
                  <a:lnTo>
                    <a:pt x="1015529" y="89306"/>
                  </a:lnTo>
                  <a:lnTo>
                    <a:pt x="1023545" y="85877"/>
                  </a:lnTo>
                  <a:lnTo>
                    <a:pt x="1033848" y="85877"/>
                  </a:lnTo>
                  <a:lnTo>
                    <a:pt x="1041864" y="89306"/>
                  </a:lnTo>
                  <a:lnTo>
                    <a:pt x="1047594" y="97322"/>
                  </a:lnTo>
                  <a:lnTo>
                    <a:pt x="1049880" y="106481"/>
                  </a:lnTo>
                  <a:lnTo>
                    <a:pt x="1047594" y="115641"/>
                  </a:lnTo>
                  <a:lnTo>
                    <a:pt x="1041864" y="122514"/>
                  </a:lnTo>
                  <a:lnTo>
                    <a:pt x="1033848" y="127086"/>
                  </a:lnTo>
                  <a:lnTo>
                    <a:pt x="1023545" y="127086"/>
                  </a:lnTo>
                  <a:lnTo>
                    <a:pt x="1015529" y="122514"/>
                  </a:lnTo>
                  <a:lnTo>
                    <a:pt x="1008656" y="115641"/>
                  </a:lnTo>
                  <a:lnTo>
                    <a:pt x="1007513" y="106481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153000" y="1557203"/>
              <a:ext cx="0" cy="1348740"/>
            </a:xfrm>
            <a:custGeom>
              <a:avLst/>
              <a:gdLst/>
              <a:ahLst/>
              <a:cxnLst/>
              <a:rect l="l" t="t" r="r" b="b"/>
              <a:pathLst>
                <a:path w="0" h="1348739">
                  <a:moveTo>
                    <a:pt x="0" y="0"/>
                  </a:moveTo>
                  <a:lnTo>
                    <a:pt x="0" y="22905"/>
                  </a:lnTo>
                </a:path>
                <a:path w="0" h="1348739">
                  <a:moveTo>
                    <a:pt x="0" y="45811"/>
                  </a:moveTo>
                  <a:lnTo>
                    <a:pt x="0" y="68701"/>
                  </a:lnTo>
                </a:path>
                <a:path w="0" h="1348739">
                  <a:moveTo>
                    <a:pt x="0" y="91607"/>
                  </a:moveTo>
                  <a:lnTo>
                    <a:pt x="0" y="114498"/>
                  </a:lnTo>
                </a:path>
                <a:path w="0" h="1348739">
                  <a:moveTo>
                    <a:pt x="0" y="137403"/>
                  </a:moveTo>
                  <a:lnTo>
                    <a:pt x="0" y="160294"/>
                  </a:lnTo>
                </a:path>
                <a:path w="0" h="1348739">
                  <a:moveTo>
                    <a:pt x="0" y="183200"/>
                  </a:moveTo>
                  <a:lnTo>
                    <a:pt x="0" y="206090"/>
                  </a:lnTo>
                </a:path>
                <a:path w="0" h="1348739">
                  <a:moveTo>
                    <a:pt x="0" y="228996"/>
                  </a:moveTo>
                  <a:lnTo>
                    <a:pt x="0" y="251886"/>
                  </a:lnTo>
                </a:path>
                <a:path w="0" h="1348739">
                  <a:moveTo>
                    <a:pt x="0" y="274792"/>
                  </a:moveTo>
                  <a:lnTo>
                    <a:pt x="0" y="297682"/>
                  </a:lnTo>
                </a:path>
                <a:path w="0" h="1348739">
                  <a:moveTo>
                    <a:pt x="0" y="320588"/>
                  </a:moveTo>
                  <a:lnTo>
                    <a:pt x="0" y="343479"/>
                  </a:lnTo>
                </a:path>
                <a:path w="0" h="1348739">
                  <a:moveTo>
                    <a:pt x="0" y="366384"/>
                  </a:moveTo>
                  <a:lnTo>
                    <a:pt x="0" y="389275"/>
                  </a:lnTo>
                </a:path>
                <a:path w="0" h="1348739">
                  <a:moveTo>
                    <a:pt x="0" y="412181"/>
                  </a:moveTo>
                  <a:lnTo>
                    <a:pt x="0" y="435071"/>
                  </a:lnTo>
                </a:path>
                <a:path w="0" h="1348739">
                  <a:moveTo>
                    <a:pt x="0" y="456818"/>
                  </a:moveTo>
                  <a:lnTo>
                    <a:pt x="0" y="479724"/>
                  </a:lnTo>
                </a:path>
                <a:path w="0" h="1348739">
                  <a:moveTo>
                    <a:pt x="0" y="502615"/>
                  </a:moveTo>
                  <a:lnTo>
                    <a:pt x="0" y="525520"/>
                  </a:lnTo>
                </a:path>
                <a:path w="0" h="1348739">
                  <a:moveTo>
                    <a:pt x="0" y="548411"/>
                  </a:moveTo>
                  <a:lnTo>
                    <a:pt x="0" y="571317"/>
                  </a:lnTo>
                </a:path>
                <a:path w="0" h="1348739">
                  <a:moveTo>
                    <a:pt x="0" y="594207"/>
                  </a:moveTo>
                  <a:lnTo>
                    <a:pt x="0" y="617113"/>
                  </a:lnTo>
                </a:path>
                <a:path w="0" h="1348739">
                  <a:moveTo>
                    <a:pt x="0" y="640003"/>
                  </a:moveTo>
                  <a:lnTo>
                    <a:pt x="0" y="662909"/>
                  </a:lnTo>
                </a:path>
                <a:path w="0" h="1348739">
                  <a:moveTo>
                    <a:pt x="0" y="685799"/>
                  </a:moveTo>
                  <a:lnTo>
                    <a:pt x="0" y="708705"/>
                  </a:lnTo>
                </a:path>
                <a:path w="0" h="1348739">
                  <a:moveTo>
                    <a:pt x="0" y="731611"/>
                  </a:moveTo>
                  <a:lnTo>
                    <a:pt x="0" y="754501"/>
                  </a:lnTo>
                </a:path>
                <a:path w="0" h="1348739">
                  <a:moveTo>
                    <a:pt x="0" y="777407"/>
                  </a:moveTo>
                  <a:lnTo>
                    <a:pt x="0" y="800298"/>
                  </a:lnTo>
                </a:path>
                <a:path w="0" h="1348739">
                  <a:moveTo>
                    <a:pt x="0" y="823203"/>
                  </a:moveTo>
                  <a:lnTo>
                    <a:pt x="0" y="846094"/>
                  </a:lnTo>
                </a:path>
                <a:path w="0" h="1348739">
                  <a:moveTo>
                    <a:pt x="0" y="869000"/>
                  </a:moveTo>
                  <a:lnTo>
                    <a:pt x="0" y="891890"/>
                  </a:lnTo>
                </a:path>
                <a:path w="0" h="1348739">
                  <a:moveTo>
                    <a:pt x="0" y="913637"/>
                  </a:moveTo>
                  <a:lnTo>
                    <a:pt x="0" y="936543"/>
                  </a:lnTo>
                </a:path>
                <a:path w="0" h="1348739">
                  <a:moveTo>
                    <a:pt x="0" y="959434"/>
                  </a:moveTo>
                  <a:lnTo>
                    <a:pt x="0" y="982339"/>
                  </a:lnTo>
                </a:path>
                <a:path w="0" h="1348739">
                  <a:moveTo>
                    <a:pt x="0" y="1005230"/>
                  </a:moveTo>
                  <a:lnTo>
                    <a:pt x="0" y="1028136"/>
                  </a:lnTo>
                </a:path>
                <a:path w="0" h="1348739">
                  <a:moveTo>
                    <a:pt x="0" y="1051026"/>
                  </a:moveTo>
                  <a:lnTo>
                    <a:pt x="0" y="1073932"/>
                  </a:lnTo>
                </a:path>
                <a:path w="0" h="1348739">
                  <a:moveTo>
                    <a:pt x="0" y="1096822"/>
                  </a:moveTo>
                  <a:lnTo>
                    <a:pt x="0" y="1119728"/>
                  </a:lnTo>
                </a:path>
                <a:path w="0" h="1348739">
                  <a:moveTo>
                    <a:pt x="0" y="1142618"/>
                  </a:moveTo>
                  <a:lnTo>
                    <a:pt x="0" y="1165524"/>
                  </a:lnTo>
                </a:path>
                <a:path w="0" h="1348739">
                  <a:moveTo>
                    <a:pt x="0" y="1188415"/>
                  </a:moveTo>
                  <a:lnTo>
                    <a:pt x="0" y="1211320"/>
                  </a:lnTo>
                </a:path>
                <a:path w="0" h="1348739">
                  <a:moveTo>
                    <a:pt x="0" y="1234211"/>
                  </a:moveTo>
                  <a:lnTo>
                    <a:pt x="0" y="1257117"/>
                  </a:lnTo>
                </a:path>
                <a:path w="0" h="1348739">
                  <a:moveTo>
                    <a:pt x="0" y="1280007"/>
                  </a:moveTo>
                  <a:lnTo>
                    <a:pt x="0" y="1302913"/>
                  </a:lnTo>
                </a:path>
                <a:path w="0" h="1348739">
                  <a:moveTo>
                    <a:pt x="0" y="1325803"/>
                  </a:moveTo>
                  <a:lnTo>
                    <a:pt x="0" y="1348709"/>
                  </a:lnTo>
                </a:path>
              </a:pathLst>
            </a:custGeom>
            <a:ln w="95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153000" y="1685447"/>
              <a:ext cx="116839" cy="0"/>
            </a:xfrm>
            <a:custGeom>
              <a:avLst/>
              <a:gdLst/>
              <a:ahLst/>
              <a:cxnLst/>
              <a:rect l="l" t="t" r="r" b="b"/>
              <a:pathLst>
                <a:path w="116839" h="0">
                  <a:moveTo>
                    <a:pt x="0" y="0"/>
                  </a:moveTo>
                  <a:lnTo>
                    <a:pt x="116784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252609" y="1649953"/>
              <a:ext cx="71120" cy="71120"/>
            </a:xfrm>
            <a:custGeom>
              <a:avLst/>
              <a:gdLst/>
              <a:ahLst/>
              <a:cxnLst/>
              <a:rect l="l" t="t" r="r" b="b"/>
              <a:pathLst>
                <a:path w="71119" h="71119">
                  <a:moveTo>
                    <a:pt x="0" y="0"/>
                  </a:moveTo>
                  <a:lnTo>
                    <a:pt x="2285" y="4571"/>
                  </a:lnTo>
                  <a:lnTo>
                    <a:pt x="3428" y="8016"/>
                  </a:lnTo>
                  <a:lnTo>
                    <a:pt x="5714" y="12588"/>
                  </a:lnTo>
                  <a:lnTo>
                    <a:pt x="6873" y="16017"/>
                  </a:lnTo>
                  <a:lnTo>
                    <a:pt x="6873" y="20604"/>
                  </a:lnTo>
                  <a:lnTo>
                    <a:pt x="8016" y="25176"/>
                  </a:lnTo>
                  <a:lnTo>
                    <a:pt x="8016" y="29763"/>
                  </a:lnTo>
                  <a:lnTo>
                    <a:pt x="9159" y="33192"/>
                  </a:lnTo>
                  <a:lnTo>
                    <a:pt x="9159" y="37779"/>
                  </a:lnTo>
                  <a:lnTo>
                    <a:pt x="8016" y="42351"/>
                  </a:lnTo>
                  <a:lnTo>
                    <a:pt x="8016" y="46939"/>
                  </a:lnTo>
                  <a:lnTo>
                    <a:pt x="6873" y="50368"/>
                  </a:lnTo>
                  <a:lnTo>
                    <a:pt x="6873" y="54955"/>
                  </a:lnTo>
                  <a:lnTo>
                    <a:pt x="5714" y="59527"/>
                  </a:lnTo>
                  <a:lnTo>
                    <a:pt x="3428" y="62971"/>
                  </a:lnTo>
                  <a:lnTo>
                    <a:pt x="2285" y="67543"/>
                  </a:lnTo>
                  <a:lnTo>
                    <a:pt x="0" y="70972"/>
                  </a:lnTo>
                  <a:lnTo>
                    <a:pt x="70987" y="35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553062" y="1836567"/>
              <a:ext cx="579755" cy="662940"/>
            </a:xfrm>
            <a:custGeom>
              <a:avLst/>
              <a:gdLst/>
              <a:ahLst/>
              <a:cxnLst/>
              <a:rect l="l" t="t" r="r" b="b"/>
              <a:pathLst>
                <a:path w="579755" h="662939">
                  <a:moveTo>
                    <a:pt x="0" y="0"/>
                  </a:moveTo>
                  <a:lnTo>
                    <a:pt x="0" y="149976"/>
                  </a:lnTo>
                  <a:lnTo>
                    <a:pt x="65257" y="149976"/>
                  </a:lnTo>
                </a:path>
                <a:path w="579755" h="662939">
                  <a:moveTo>
                    <a:pt x="85877" y="170596"/>
                  </a:moveTo>
                  <a:lnTo>
                    <a:pt x="85877" y="234711"/>
                  </a:lnTo>
                  <a:lnTo>
                    <a:pt x="493455" y="234711"/>
                  </a:lnTo>
                </a:path>
                <a:path w="579755" h="662939">
                  <a:moveTo>
                    <a:pt x="514075" y="256458"/>
                  </a:moveTo>
                  <a:lnTo>
                    <a:pt x="514075" y="662909"/>
                  </a:lnTo>
                  <a:lnTo>
                    <a:pt x="579333" y="662909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/>
          <p:cNvSpPr txBox="1"/>
          <p:nvPr/>
        </p:nvSpPr>
        <p:spPr>
          <a:xfrm>
            <a:off x="3360774" y="2930045"/>
            <a:ext cx="292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i="1">
                <a:solidFill>
                  <a:srgbClr val="FFFFFF"/>
                </a:solidFill>
                <a:latin typeface="Arial"/>
                <a:cs typeface="Arial"/>
              </a:rPr>
              <a:t>stack</a:t>
            </a:r>
            <a:endParaRPr sz="9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060155" y="1303125"/>
            <a:ext cx="5657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sweep</a:t>
            </a:r>
            <a:r>
              <a:rPr dirty="0" sz="9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line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3346955" y="1900682"/>
          <a:ext cx="356870" cy="10318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2265"/>
              </a:tblGrid>
              <a:tr h="5140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 marL="952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(10,5)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0596"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(9,10)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1739"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(4,11)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2857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0581"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(3,13)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35" name="object 35"/>
          <p:cNvSpPr txBox="1"/>
          <p:nvPr/>
        </p:nvSpPr>
        <p:spPr>
          <a:xfrm>
            <a:off x="1358327" y="3248572"/>
            <a:ext cx="20840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1.12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eep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10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5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4419600" y="1267658"/>
            <a:ext cx="2819400" cy="1905000"/>
            <a:chOff x="4419600" y="1267658"/>
            <a:chExt cx="2819400" cy="1905000"/>
          </a:xfrm>
        </p:grpSpPr>
        <p:sp>
          <p:nvSpPr>
            <p:cNvPr id="37" name="object 37"/>
            <p:cNvSpPr/>
            <p:nvPr/>
          </p:nvSpPr>
          <p:spPr>
            <a:xfrm>
              <a:off x="4419600" y="1267658"/>
              <a:ext cx="2819400" cy="1905000"/>
            </a:xfrm>
            <a:custGeom>
              <a:avLst/>
              <a:gdLst/>
              <a:ahLst/>
              <a:cxnLst/>
              <a:rect l="l" t="t" r="r" b="b"/>
              <a:pathLst>
                <a:path w="2819400" h="1905000">
                  <a:moveTo>
                    <a:pt x="2819201" y="0"/>
                  </a:moveTo>
                  <a:lnTo>
                    <a:pt x="0" y="0"/>
                  </a:lnTo>
                  <a:lnTo>
                    <a:pt x="0" y="1904801"/>
                  </a:lnTo>
                  <a:lnTo>
                    <a:pt x="2819201" y="1904801"/>
                  </a:lnTo>
                  <a:lnTo>
                    <a:pt x="28192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683252" y="1728942"/>
              <a:ext cx="1412240" cy="1241425"/>
            </a:xfrm>
            <a:custGeom>
              <a:avLst/>
              <a:gdLst/>
              <a:ahLst/>
              <a:cxnLst/>
              <a:rect l="l" t="t" r="r" b="b"/>
              <a:pathLst>
                <a:path w="1412239" h="1241425">
                  <a:moveTo>
                    <a:pt x="212948" y="1156365"/>
                  </a:moveTo>
                  <a:lnTo>
                    <a:pt x="212948" y="1241084"/>
                  </a:lnTo>
                </a:path>
                <a:path w="1412239" h="1241425">
                  <a:moveTo>
                    <a:pt x="384688" y="1156365"/>
                  </a:moveTo>
                  <a:lnTo>
                    <a:pt x="384688" y="1241084"/>
                  </a:lnTo>
                </a:path>
                <a:path w="1412239" h="1241425">
                  <a:moveTo>
                    <a:pt x="555269" y="1156365"/>
                  </a:moveTo>
                  <a:lnTo>
                    <a:pt x="555269" y="1241084"/>
                  </a:lnTo>
                </a:path>
                <a:path w="1412239" h="1241425">
                  <a:moveTo>
                    <a:pt x="727008" y="1156365"/>
                  </a:moveTo>
                  <a:lnTo>
                    <a:pt x="727008" y="1241084"/>
                  </a:lnTo>
                </a:path>
                <a:path w="1412239" h="1241425">
                  <a:moveTo>
                    <a:pt x="898748" y="1156365"/>
                  </a:moveTo>
                  <a:lnTo>
                    <a:pt x="898748" y="1241084"/>
                  </a:lnTo>
                </a:path>
                <a:path w="1412239" h="1241425">
                  <a:moveTo>
                    <a:pt x="1069345" y="1156365"/>
                  </a:moveTo>
                  <a:lnTo>
                    <a:pt x="1069345" y="1241084"/>
                  </a:lnTo>
                </a:path>
                <a:path w="1412239" h="1241425">
                  <a:moveTo>
                    <a:pt x="1241069" y="1156365"/>
                  </a:moveTo>
                  <a:lnTo>
                    <a:pt x="1241069" y="1241084"/>
                  </a:lnTo>
                </a:path>
                <a:path w="1412239" h="1241425">
                  <a:moveTo>
                    <a:pt x="1411665" y="1156365"/>
                  </a:moveTo>
                  <a:lnTo>
                    <a:pt x="1411665" y="1241084"/>
                  </a:lnTo>
                </a:path>
                <a:path w="1412239" h="1241425">
                  <a:moveTo>
                    <a:pt x="84719" y="1028136"/>
                  </a:moveTo>
                  <a:lnTo>
                    <a:pt x="0" y="1028136"/>
                  </a:lnTo>
                </a:path>
                <a:path w="1412239" h="1241425">
                  <a:moveTo>
                    <a:pt x="84719" y="856396"/>
                  </a:moveTo>
                  <a:lnTo>
                    <a:pt x="0" y="856396"/>
                  </a:lnTo>
                </a:path>
                <a:path w="1412239" h="1241425">
                  <a:moveTo>
                    <a:pt x="84719" y="685799"/>
                  </a:moveTo>
                  <a:lnTo>
                    <a:pt x="0" y="685799"/>
                  </a:lnTo>
                </a:path>
                <a:path w="1412239" h="1241425">
                  <a:moveTo>
                    <a:pt x="84719" y="514060"/>
                  </a:moveTo>
                  <a:lnTo>
                    <a:pt x="0" y="514060"/>
                  </a:lnTo>
                </a:path>
                <a:path w="1412239" h="1241425">
                  <a:moveTo>
                    <a:pt x="84719" y="342336"/>
                  </a:moveTo>
                  <a:lnTo>
                    <a:pt x="0" y="342336"/>
                  </a:lnTo>
                </a:path>
                <a:path w="1412239" h="1241425">
                  <a:moveTo>
                    <a:pt x="84719" y="171739"/>
                  </a:moveTo>
                  <a:lnTo>
                    <a:pt x="0" y="171739"/>
                  </a:lnTo>
                </a:path>
                <a:path w="1412239" h="1241425">
                  <a:moveTo>
                    <a:pt x="8471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/>
          <p:cNvSpPr txBox="1"/>
          <p:nvPr/>
        </p:nvSpPr>
        <p:spPr>
          <a:xfrm>
            <a:off x="4848007" y="2951800"/>
            <a:ext cx="14947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900" spc="60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900" spc="5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dirty="0" sz="900" spc="6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dirty="0" sz="900" spc="2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dirty="0" sz="900" spc="1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900" spc="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14</a:t>
            </a:r>
            <a:r>
              <a:rPr dirty="0" sz="900" spc="1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16</a:t>
            </a:r>
            <a:r>
              <a:rPr dirty="0" sz="900" spc="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18</a:t>
            </a:r>
            <a:endParaRPr sz="900">
              <a:latin typeface="Arial"/>
              <a:cs typeface="Arial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6266657" y="2885308"/>
            <a:ext cx="0" cy="85090"/>
          </a:xfrm>
          <a:custGeom>
            <a:avLst/>
            <a:gdLst/>
            <a:ahLst/>
            <a:cxnLst/>
            <a:rect l="l" t="t" r="r" b="b"/>
            <a:pathLst>
              <a:path w="0" h="85089">
                <a:moveTo>
                  <a:pt x="0" y="0"/>
                </a:moveTo>
                <a:lnTo>
                  <a:pt x="0" y="84719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 txBox="1"/>
          <p:nvPr/>
        </p:nvSpPr>
        <p:spPr>
          <a:xfrm>
            <a:off x="4509109" y="1610884"/>
            <a:ext cx="153035" cy="1205865"/>
          </a:xfrm>
          <a:prstGeom prst="rect">
            <a:avLst/>
          </a:prstGeom>
        </p:spPr>
        <p:txBody>
          <a:bodyPr wrap="square" lIns="0" tIns="469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36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11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335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900">
              <a:latin typeface="Arial"/>
              <a:cs typeface="Arial"/>
            </a:endParaRPr>
          </a:p>
          <a:p>
            <a:pPr marL="64769">
              <a:lnSpc>
                <a:spcPct val="100000"/>
              </a:lnSpc>
              <a:spcBef>
                <a:spcPts val="12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4688966" y="1514851"/>
            <a:ext cx="1749425" cy="1448435"/>
            <a:chOff x="4688966" y="1514851"/>
            <a:chExt cx="1749425" cy="1448435"/>
          </a:xfrm>
        </p:grpSpPr>
        <p:sp>
          <p:nvSpPr>
            <p:cNvPr id="43" name="object 43"/>
            <p:cNvSpPr/>
            <p:nvPr/>
          </p:nvSpPr>
          <p:spPr>
            <a:xfrm>
              <a:off x="4724460" y="1567520"/>
              <a:ext cx="0" cy="1360170"/>
            </a:xfrm>
            <a:custGeom>
              <a:avLst/>
              <a:gdLst/>
              <a:ahLst/>
              <a:cxnLst/>
              <a:rect l="l" t="t" r="r" b="b"/>
              <a:pathLst>
                <a:path w="0" h="1360170">
                  <a:moveTo>
                    <a:pt x="0" y="1360139"/>
                  </a:moveTo>
                  <a:lnTo>
                    <a:pt x="0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88966" y="1514851"/>
              <a:ext cx="70987" cy="69829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4724460" y="2927660"/>
              <a:ext cx="1660525" cy="0"/>
            </a:xfrm>
            <a:custGeom>
              <a:avLst/>
              <a:gdLst/>
              <a:ahLst/>
              <a:cxnLst/>
              <a:rect l="l" t="t" r="r" b="b"/>
              <a:pathLst>
                <a:path w="1660525" h="0">
                  <a:moveTo>
                    <a:pt x="0" y="0"/>
                  </a:moveTo>
                  <a:lnTo>
                    <a:pt x="1660123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67409" y="2893324"/>
              <a:ext cx="70987" cy="69829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4875595" y="1965939"/>
              <a:ext cx="984885" cy="897890"/>
            </a:xfrm>
            <a:custGeom>
              <a:avLst/>
              <a:gdLst/>
              <a:ahLst/>
              <a:cxnLst/>
              <a:rect l="l" t="t" r="r" b="b"/>
              <a:pathLst>
                <a:path w="984885" h="897889">
                  <a:moveTo>
                    <a:pt x="0" y="533537"/>
                  </a:moveTo>
                  <a:lnTo>
                    <a:pt x="1142" y="524377"/>
                  </a:lnTo>
                  <a:lnTo>
                    <a:pt x="8016" y="516361"/>
                  </a:lnTo>
                  <a:lnTo>
                    <a:pt x="16017" y="512917"/>
                  </a:lnTo>
                  <a:lnTo>
                    <a:pt x="26334" y="512917"/>
                  </a:lnTo>
                  <a:lnTo>
                    <a:pt x="34335" y="516361"/>
                  </a:lnTo>
                  <a:lnTo>
                    <a:pt x="40065" y="524377"/>
                  </a:lnTo>
                  <a:lnTo>
                    <a:pt x="42351" y="533537"/>
                  </a:lnTo>
                  <a:lnTo>
                    <a:pt x="40065" y="542696"/>
                  </a:lnTo>
                  <a:lnTo>
                    <a:pt x="34335" y="549554"/>
                  </a:lnTo>
                  <a:lnTo>
                    <a:pt x="26334" y="554141"/>
                  </a:lnTo>
                  <a:lnTo>
                    <a:pt x="16017" y="554141"/>
                  </a:lnTo>
                  <a:lnTo>
                    <a:pt x="8016" y="549554"/>
                  </a:lnTo>
                  <a:lnTo>
                    <a:pt x="1142" y="542696"/>
                  </a:lnTo>
                  <a:lnTo>
                    <a:pt x="0" y="533537"/>
                  </a:lnTo>
                </a:path>
                <a:path w="984885" h="897889">
                  <a:moveTo>
                    <a:pt x="171724" y="20604"/>
                  </a:moveTo>
                  <a:lnTo>
                    <a:pt x="172882" y="11445"/>
                  </a:lnTo>
                  <a:lnTo>
                    <a:pt x="179740" y="3444"/>
                  </a:lnTo>
                  <a:lnTo>
                    <a:pt x="187756" y="0"/>
                  </a:lnTo>
                  <a:lnTo>
                    <a:pt x="198059" y="0"/>
                  </a:lnTo>
                  <a:lnTo>
                    <a:pt x="206075" y="3444"/>
                  </a:lnTo>
                  <a:lnTo>
                    <a:pt x="211805" y="11445"/>
                  </a:lnTo>
                  <a:lnTo>
                    <a:pt x="214091" y="20604"/>
                  </a:lnTo>
                  <a:lnTo>
                    <a:pt x="211805" y="28620"/>
                  </a:lnTo>
                  <a:lnTo>
                    <a:pt x="206075" y="35493"/>
                  </a:lnTo>
                  <a:lnTo>
                    <a:pt x="198059" y="40081"/>
                  </a:lnTo>
                  <a:lnTo>
                    <a:pt x="187756" y="40081"/>
                  </a:lnTo>
                  <a:lnTo>
                    <a:pt x="179740" y="35493"/>
                  </a:lnTo>
                  <a:lnTo>
                    <a:pt x="172882" y="28620"/>
                  </a:lnTo>
                  <a:lnTo>
                    <a:pt x="171724" y="20604"/>
                  </a:lnTo>
                </a:path>
                <a:path w="984885" h="897889">
                  <a:moveTo>
                    <a:pt x="257601" y="877001"/>
                  </a:moveTo>
                  <a:lnTo>
                    <a:pt x="258744" y="867841"/>
                  </a:lnTo>
                  <a:lnTo>
                    <a:pt x="265617" y="859825"/>
                  </a:lnTo>
                  <a:lnTo>
                    <a:pt x="272475" y="856396"/>
                  </a:lnTo>
                  <a:lnTo>
                    <a:pt x="282793" y="856396"/>
                  </a:lnTo>
                  <a:lnTo>
                    <a:pt x="290794" y="859825"/>
                  </a:lnTo>
                  <a:lnTo>
                    <a:pt x="296524" y="867841"/>
                  </a:lnTo>
                  <a:lnTo>
                    <a:pt x="298810" y="877001"/>
                  </a:lnTo>
                  <a:lnTo>
                    <a:pt x="296524" y="886160"/>
                  </a:lnTo>
                  <a:lnTo>
                    <a:pt x="290794" y="893033"/>
                  </a:lnTo>
                  <a:lnTo>
                    <a:pt x="282793" y="897605"/>
                  </a:lnTo>
                  <a:lnTo>
                    <a:pt x="272475" y="897605"/>
                  </a:lnTo>
                  <a:lnTo>
                    <a:pt x="265617" y="893033"/>
                  </a:lnTo>
                  <a:lnTo>
                    <a:pt x="258744" y="886160"/>
                  </a:lnTo>
                  <a:lnTo>
                    <a:pt x="257601" y="877001"/>
                  </a:lnTo>
                </a:path>
                <a:path w="984885" h="897889">
                  <a:moveTo>
                    <a:pt x="428183" y="362940"/>
                  </a:moveTo>
                  <a:lnTo>
                    <a:pt x="429341" y="353781"/>
                  </a:lnTo>
                  <a:lnTo>
                    <a:pt x="436199" y="345765"/>
                  </a:lnTo>
                  <a:lnTo>
                    <a:pt x="444215" y="342336"/>
                  </a:lnTo>
                  <a:lnTo>
                    <a:pt x="454517" y="342336"/>
                  </a:lnTo>
                  <a:lnTo>
                    <a:pt x="462533" y="345765"/>
                  </a:lnTo>
                  <a:lnTo>
                    <a:pt x="468264" y="353781"/>
                  </a:lnTo>
                  <a:lnTo>
                    <a:pt x="470550" y="362940"/>
                  </a:lnTo>
                  <a:lnTo>
                    <a:pt x="468264" y="372099"/>
                  </a:lnTo>
                  <a:lnTo>
                    <a:pt x="462533" y="378973"/>
                  </a:lnTo>
                  <a:lnTo>
                    <a:pt x="454517" y="383545"/>
                  </a:lnTo>
                  <a:lnTo>
                    <a:pt x="444215" y="383545"/>
                  </a:lnTo>
                  <a:lnTo>
                    <a:pt x="436199" y="378973"/>
                  </a:lnTo>
                  <a:lnTo>
                    <a:pt x="429341" y="372099"/>
                  </a:lnTo>
                  <a:lnTo>
                    <a:pt x="428183" y="362940"/>
                  </a:lnTo>
                </a:path>
                <a:path w="984885" h="897889">
                  <a:moveTo>
                    <a:pt x="599922" y="105338"/>
                  </a:moveTo>
                  <a:lnTo>
                    <a:pt x="601065" y="96179"/>
                  </a:lnTo>
                  <a:lnTo>
                    <a:pt x="607938" y="88163"/>
                  </a:lnTo>
                  <a:lnTo>
                    <a:pt x="615955" y="84719"/>
                  </a:lnTo>
                  <a:lnTo>
                    <a:pt x="626257" y="84719"/>
                  </a:lnTo>
                  <a:lnTo>
                    <a:pt x="634273" y="88163"/>
                  </a:lnTo>
                  <a:lnTo>
                    <a:pt x="640003" y="96179"/>
                  </a:lnTo>
                  <a:lnTo>
                    <a:pt x="642289" y="105338"/>
                  </a:lnTo>
                  <a:lnTo>
                    <a:pt x="640003" y="114498"/>
                  </a:lnTo>
                  <a:lnTo>
                    <a:pt x="634273" y="121356"/>
                  </a:lnTo>
                  <a:lnTo>
                    <a:pt x="626257" y="125943"/>
                  </a:lnTo>
                  <a:lnTo>
                    <a:pt x="615955" y="125943"/>
                  </a:lnTo>
                  <a:lnTo>
                    <a:pt x="607938" y="121356"/>
                  </a:lnTo>
                  <a:lnTo>
                    <a:pt x="601065" y="114498"/>
                  </a:lnTo>
                  <a:lnTo>
                    <a:pt x="599922" y="105338"/>
                  </a:lnTo>
                </a:path>
                <a:path w="984885" h="897889">
                  <a:moveTo>
                    <a:pt x="685799" y="533537"/>
                  </a:moveTo>
                  <a:lnTo>
                    <a:pt x="686942" y="524377"/>
                  </a:lnTo>
                  <a:lnTo>
                    <a:pt x="693816" y="516361"/>
                  </a:lnTo>
                  <a:lnTo>
                    <a:pt x="701817" y="512917"/>
                  </a:lnTo>
                  <a:lnTo>
                    <a:pt x="712134" y="512917"/>
                  </a:lnTo>
                  <a:lnTo>
                    <a:pt x="720135" y="516361"/>
                  </a:lnTo>
                  <a:lnTo>
                    <a:pt x="724722" y="524377"/>
                  </a:lnTo>
                  <a:lnTo>
                    <a:pt x="727008" y="533537"/>
                  </a:lnTo>
                  <a:lnTo>
                    <a:pt x="724722" y="542696"/>
                  </a:lnTo>
                  <a:lnTo>
                    <a:pt x="720135" y="549554"/>
                  </a:lnTo>
                  <a:lnTo>
                    <a:pt x="712134" y="554141"/>
                  </a:lnTo>
                  <a:lnTo>
                    <a:pt x="701817" y="554141"/>
                  </a:lnTo>
                  <a:lnTo>
                    <a:pt x="693816" y="549554"/>
                  </a:lnTo>
                  <a:lnTo>
                    <a:pt x="686942" y="542696"/>
                  </a:lnTo>
                  <a:lnTo>
                    <a:pt x="685799" y="533537"/>
                  </a:lnTo>
                </a:path>
                <a:path w="984885" h="897889">
                  <a:moveTo>
                    <a:pt x="942258" y="705261"/>
                  </a:moveTo>
                  <a:lnTo>
                    <a:pt x="943401" y="696102"/>
                  </a:lnTo>
                  <a:lnTo>
                    <a:pt x="950274" y="688085"/>
                  </a:lnTo>
                  <a:lnTo>
                    <a:pt x="958275" y="684656"/>
                  </a:lnTo>
                  <a:lnTo>
                    <a:pt x="968593" y="684656"/>
                  </a:lnTo>
                  <a:lnTo>
                    <a:pt x="976594" y="688085"/>
                  </a:lnTo>
                  <a:lnTo>
                    <a:pt x="982324" y="696102"/>
                  </a:lnTo>
                  <a:lnTo>
                    <a:pt x="984610" y="705261"/>
                  </a:lnTo>
                  <a:lnTo>
                    <a:pt x="982324" y="714420"/>
                  </a:lnTo>
                  <a:lnTo>
                    <a:pt x="976594" y="721293"/>
                  </a:lnTo>
                  <a:lnTo>
                    <a:pt x="968593" y="725881"/>
                  </a:lnTo>
                  <a:lnTo>
                    <a:pt x="958275" y="725881"/>
                  </a:lnTo>
                  <a:lnTo>
                    <a:pt x="950274" y="721293"/>
                  </a:lnTo>
                  <a:lnTo>
                    <a:pt x="943401" y="714420"/>
                  </a:lnTo>
                  <a:lnTo>
                    <a:pt x="942258" y="705261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/>
          <p:cNvSpPr txBox="1"/>
          <p:nvPr/>
        </p:nvSpPr>
        <p:spPr>
          <a:xfrm>
            <a:off x="4751830" y="2360971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(2,5)</a:t>
            </a:r>
            <a:endParaRPr sz="65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901812" y="2769703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(5,1)</a:t>
            </a:r>
            <a:endParaRPr sz="65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813654" y="1986587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(4,11)</a:t>
            </a:r>
            <a:endParaRPr sz="65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106751" y="2319754"/>
            <a:ext cx="201930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(7,7)</a:t>
            </a:r>
            <a:endParaRPr sz="65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727787" y="1827443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(3,13)</a:t>
            </a:r>
            <a:endParaRPr sz="65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301384" y="2490344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(10,5)</a:t>
            </a:r>
            <a:endParaRPr sz="65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241851" y="2064440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(9,10)</a:t>
            </a:r>
            <a:endParaRPr sz="65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795986" y="1768880"/>
            <a:ext cx="469265" cy="348615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(12,12)</a:t>
            </a:r>
            <a:endParaRPr sz="650">
              <a:latin typeface="Arial"/>
              <a:cs typeface="Arial"/>
            </a:endParaRPr>
          </a:p>
          <a:p>
            <a:pPr marL="184150">
              <a:lnSpc>
                <a:spcPct val="100000"/>
              </a:lnSpc>
              <a:spcBef>
                <a:spcPts val="490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(14,10)</a:t>
            </a:r>
            <a:endParaRPr sz="65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055880" y="2255639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(15,7)</a:t>
            </a:r>
            <a:endParaRPr sz="65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868115" y="2597967"/>
            <a:ext cx="249554" cy="1282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0">
                <a:solidFill>
                  <a:srgbClr val="FFFFFF"/>
                </a:solidFill>
                <a:latin typeface="Arial"/>
                <a:cs typeface="Arial"/>
              </a:rPr>
              <a:t>(13,3)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4724460" y="1557203"/>
            <a:ext cx="1312545" cy="1348740"/>
            <a:chOff x="4724460" y="1557203"/>
            <a:chExt cx="1312545" cy="1348740"/>
          </a:xfrm>
        </p:grpSpPr>
        <p:sp>
          <p:nvSpPr>
            <p:cNvPr id="59" name="object 59"/>
            <p:cNvSpPr/>
            <p:nvPr/>
          </p:nvSpPr>
          <p:spPr>
            <a:xfrm>
              <a:off x="4724460" y="1794200"/>
              <a:ext cx="1308100" cy="555625"/>
            </a:xfrm>
            <a:custGeom>
              <a:avLst/>
              <a:gdLst/>
              <a:ahLst/>
              <a:cxnLst/>
              <a:rect l="l" t="t" r="r" b="b"/>
              <a:pathLst>
                <a:path w="1308100" h="555625">
                  <a:moveTo>
                    <a:pt x="236997" y="20619"/>
                  </a:moveTo>
                  <a:lnTo>
                    <a:pt x="238140" y="11460"/>
                  </a:lnTo>
                  <a:lnTo>
                    <a:pt x="245013" y="3444"/>
                  </a:lnTo>
                  <a:lnTo>
                    <a:pt x="253029" y="0"/>
                  </a:lnTo>
                  <a:lnTo>
                    <a:pt x="263331" y="0"/>
                  </a:lnTo>
                  <a:lnTo>
                    <a:pt x="271348" y="3444"/>
                  </a:lnTo>
                  <a:lnTo>
                    <a:pt x="277063" y="11460"/>
                  </a:lnTo>
                  <a:lnTo>
                    <a:pt x="279364" y="20619"/>
                  </a:lnTo>
                  <a:lnTo>
                    <a:pt x="277063" y="29778"/>
                  </a:lnTo>
                  <a:lnTo>
                    <a:pt x="271348" y="36636"/>
                  </a:lnTo>
                  <a:lnTo>
                    <a:pt x="263331" y="41224"/>
                  </a:lnTo>
                  <a:lnTo>
                    <a:pt x="253029" y="41224"/>
                  </a:lnTo>
                  <a:lnTo>
                    <a:pt x="245013" y="36636"/>
                  </a:lnTo>
                  <a:lnTo>
                    <a:pt x="238140" y="29778"/>
                  </a:lnTo>
                  <a:lnTo>
                    <a:pt x="236997" y="20619"/>
                  </a:lnTo>
                </a:path>
                <a:path w="1308100" h="555625">
                  <a:moveTo>
                    <a:pt x="1179255" y="277078"/>
                  </a:moveTo>
                  <a:lnTo>
                    <a:pt x="1180398" y="267919"/>
                  </a:lnTo>
                  <a:lnTo>
                    <a:pt x="1187272" y="259902"/>
                  </a:lnTo>
                  <a:lnTo>
                    <a:pt x="1195288" y="256458"/>
                  </a:lnTo>
                  <a:lnTo>
                    <a:pt x="1205590" y="256458"/>
                  </a:lnTo>
                  <a:lnTo>
                    <a:pt x="1213606" y="259902"/>
                  </a:lnTo>
                  <a:lnTo>
                    <a:pt x="1219321" y="267919"/>
                  </a:lnTo>
                  <a:lnTo>
                    <a:pt x="1221623" y="277078"/>
                  </a:lnTo>
                  <a:lnTo>
                    <a:pt x="1219321" y="286237"/>
                  </a:lnTo>
                  <a:lnTo>
                    <a:pt x="1213606" y="293095"/>
                  </a:lnTo>
                  <a:lnTo>
                    <a:pt x="1205590" y="297682"/>
                  </a:lnTo>
                  <a:lnTo>
                    <a:pt x="1195288" y="297682"/>
                  </a:lnTo>
                  <a:lnTo>
                    <a:pt x="1187272" y="293095"/>
                  </a:lnTo>
                  <a:lnTo>
                    <a:pt x="1180398" y="286237"/>
                  </a:lnTo>
                  <a:lnTo>
                    <a:pt x="1179255" y="277078"/>
                  </a:lnTo>
                </a:path>
                <a:path w="1308100" h="555625">
                  <a:moveTo>
                    <a:pt x="1265118" y="534680"/>
                  </a:moveTo>
                  <a:lnTo>
                    <a:pt x="1266276" y="525520"/>
                  </a:lnTo>
                  <a:lnTo>
                    <a:pt x="1273134" y="517504"/>
                  </a:lnTo>
                  <a:lnTo>
                    <a:pt x="1281150" y="514075"/>
                  </a:lnTo>
                  <a:lnTo>
                    <a:pt x="1291452" y="514075"/>
                  </a:lnTo>
                  <a:lnTo>
                    <a:pt x="1299469" y="517504"/>
                  </a:lnTo>
                  <a:lnTo>
                    <a:pt x="1305199" y="525520"/>
                  </a:lnTo>
                  <a:lnTo>
                    <a:pt x="1307485" y="534680"/>
                  </a:lnTo>
                  <a:lnTo>
                    <a:pt x="1305199" y="543839"/>
                  </a:lnTo>
                  <a:lnTo>
                    <a:pt x="1299469" y="550712"/>
                  </a:lnTo>
                  <a:lnTo>
                    <a:pt x="1291452" y="555284"/>
                  </a:lnTo>
                  <a:lnTo>
                    <a:pt x="1281150" y="555284"/>
                  </a:lnTo>
                  <a:lnTo>
                    <a:pt x="1273134" y="550712"/>
                  </a:lnTo>
                  <a:lnTo>
                    <a:pt x="1266276" y="543839"/>
                  </a:lnTo>
                  <a:lnTo>
                    <a:pt x="1265118" y="534680"/>
                  </a:lnTo>
                </a:path>
                <a:path w="1308100" h="555625">
                  <a:moveTo>
                    <a:pt x="0" y="20619"/>
                  </a:moveTo>
                  <a:lnTo>
                    <a:pt x="236997" y="20619"/>
                  </a:lnTo>
                </a:path>
                <a:path w="1308100" h="555625">
                  <a:moveTo>
                    <a:pt x="1007516" y="106481"/>
                  </a:moveTo>
                  <a:lnTo>
                    <a:pt x="1008659" y="97322"/>
                  </a:lnTo>
                  <a:lnTo>
                    <a:pt x="1015532" y="89306"/>
                  </a:lnTo>
                  <a:lnTo>
                    <a:pt x="1023548" y="85877"/>
                  </a:lnTo>
                  <a:lnTo>
                    <a:pt x="1033851" y="85877"/>
                  </a:lnTo>
                  <a:lnTo>
                    <a:pt x="1041867" y="89306"/>
                  </a:lnTo>
                  <a:lnTo>
                    <a:pt x="1047597" y="97322"/>
                  </a:lnTo>
                  <a:lnTo>
                    <a:pt x="1049883" y="106481"/>
                  </a:lnTo>
                  <a:lnTo>
                    <a:pt x="1047597" y="115641"/>
                  </a:lnTo>
                  <a:lnTo>
                    <a:pt x="1041867" y="122514"/>
                  </a:lnTo>
                  <a:lnTo>
                    <a:pt x="1033851" y="127086"/>
                  </a:lnTo>
                  <a:lnTo>
                    <a:pt x="1023548" y="127086"/>
                  </a:lnTo>
                  <a:lnTo>
                    <a:pt x="1015532" y="122514"/>
                  </a:lnTo>
                  <a:lnTo>
                    <a:pt x="1008659" y="115641"/>
                  </a:lnTo>
                  <a:lnTo>
                    <a:pt x="1007516" y="106481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752596" y="1557203"/>
              <a:ext cx="0" cy="1348740"/>
            </a:xfrm>
            <a:custGeom>
              <a:avLst/>
              <a:gdLst/>
              <a:ahLst/>
              <a:cxnLst/>
              <a:rect l="l" t="t" r="r" b="b"/>
              <a:pathLst>
                <a:path w="0" h="1348739">
                  <a:moveTo>
                    <a:pt x="0" y="0"/>
                  </a:moveTo>
                  <a:lnTo>
                    <a:pt x="0" y="22905"/>
                  </a:lnTo>
                </a:path>
                <a:path w="0" h="1348739">
                  <a:moveTo>
                    <a:pt x="0" y="45811"/>
                  </a:moveTo>
                  <a:lnTo>
                    <a:pt x="0" y="68701"/>
                  </a:lnTo>
                </a:path>
                <a:path w="0" h="1348739">
                  <a:moveTo>
                    <a:pt x="0" y="91607"/>
                  </a:moveTo>
                  <a:lnTo>
                    <a:pt x="0" y="114498"/>
                  </a:lnTo>
                </a:path>
                <a:path w="0" h="1348739">
                  <a:moveTo>
                    <a:pt x="0" y="137403"/>
                  </a:moveTo>
                  <a:lnTo>
                    <a:pt x="0" y="160294"/>
                  </a:lnTo>
                </a:path>
                <a:path w="0" h="1348739">
                  <a:moveTo>
                    <a:pt x="0" y="183200"/>
                  </a:moveTo>
                  <a:lnTo>
                    <a:pt x="0" y="206090"/>
                  </a:lnTo>
                </a:path>
                <a:path w="0" h="1348739">
                  <a:moveTo>
                    <a:pt x="0" y="228996"/>
                  </a:moveTo>
                  <a:lnTo>
                    <a:pt x="0" y="251886"/>
                  </a:lnTo>
                </a:path>
                <a:path w="0" h="1348739">
                  <a:moveTo>
                    <a:pt x="0" y="274792"/>
                  </a:moveTo>
                  <a:lnTo>
                    <a:pt x="0" y="297682"/>
                  </a:lnTo>
                </a:path>
                <a:path w="0" h="1348739">
                  <a:moveTo>
                    <a:pt x="0" y="320588"/>
                  </a:moveTo>
                  <a:lnTo>
                    <a:pt x="0" y="343479"/>
                  </a:lnTo>
                </a:path>
                <a:path w="0" h="1348739">
                  <a:moveTo>
                    <a:pt x="0" y="366384"/>
                  </a:moveTo>
                  <a:lnTo>
                    <a:pt x="0" y="389275"/>
                  </a:lnTo>
                </a:path>
                <a:path w="0" h="1348739">
                  <a:moveTo>
                    <a:pt x="0" y="412181"/>
                  </a:moveTo>
                  <a:lnTo>
                    <a:pt x="0" y="435071"/>
                  </a:lnTo>
                </a:path>
                <a:path w="0" h="1348739">
                  <a:moveTo>
                    <a:pt x="0" y="456818"/>
                  </a:moveTo>
                  <a:lnTo>
                    <a:pt x="0" y="479724"/>
                  </a:lnTo>
                </a:path>
                <a:path w="0" h="1348739">
                  <a:moveTo>
                    <a:pt x="0" y="502615"/>
                  </a:moveTo>
                  <a:lnTo>
                    <a:pt x="0" y="525520"/>
                  </a:lnTo>
                </a:path>
                <a:path w="0" h="1348739">
                  <a:moveTo>
                    <a:pt x="0" y="548411"/>
                  </a:moveTo>
                  <a:lnTo>
                    <a:pt x="0" y="571317"/>
                  </a:lnTo>
                </a:path>
                <a:path w="0" h="1348739">
                  <a:moveTo>
                    <a:pt x="0" y="594207"/>
                  </a:moveTo>
                  <a:lnTo>
                    <a:pt x="0" y="617113"/>
                  </a:lnTo>
                </a:path>
                <a:path w="0" h="1348739">
                  <a:moveTo>
                    <a:pt x="0" y="640003"/>
                  </a:moveTo>
                  <a:lnTo>
                    <a:pt x="0" y="662909"/>
                  </a:lnTo>
                </a:path>
                <a:path w="0" h="1348739">
                  <a:moveTo>
                    <a:pt x="0" y="685799"/>
                  </a:moveTo>
                  <a:lnTo>
                    <a:pt x="0" y="708705"/>
                  </a:lnTo>
                </a:path>
                <a:path w="0" h="1348739">
                  <a:moveTo>
                    <a:pt x="0" y="731611"/>
                  </a:moveTo>
                  <a:lnTo>
                    <a:pt x="0" y="754501"/>
                  </a:lnTo>
                </a:path>
                <a:path w="0" h="1348739">
                  <a:moveTo>
                    <a:pt x="0" y="777407"/>
                  </a:moveTo>
                  <a:lnTo>
                    <a:pt x="0" y="800298"/>
                  </a:lnTo>
                </a:path>
                <a:path w="0" h="1348739">
                  <a:moveTo>
                    <a:pt x="0" y="823203"/>
                  </a:moveTo>
                  <a:lnTo>
                    <a:pt x="0" y="846094"/>
                  </a:lnTo>
                </a:path>
                <a:path w="0" h="1348739">
                  <a:moveTo>
                    <a:pt x="0" y="869000"/>
                  </a:moveTo>
                  <a:lnTo>
                    <a:pt x="0" y="891890"/>
                  </a:lnTo>
                </a:path>
                <a:path w="0" h="1348739">
                  <a:moveTo>
                    <a:pt x="0" y="913637"/>
                  </a:moveTo>
                  <a:lnTo>
                    <a:pt x="0" y="936543"/>
                  </a:lnTo>
                </a:path>
                <a:path w="0" h="1348739">
                  <a:moveTo>
                    <a:pt x="0" y="959434"/>
                  </a:moveTo>
                  <a:lnTo>
                    <a:pt x="0" y="982339"/>
                  </a:lnTo>
                </a:path>
                <a:path w="0" h="1348739">
                  <a:moveTo>
                    <a:pt x="0" y="1005230"/>
                  </a:moveTo>
                  <a:lnTo>
                    <a:pt x="0" y="1028136"/>
                  </a:lnTo>
                </a:path>
                <a:path w="0" h="1348739">
                  <a:moveTo>
                    <a:pt x="0" y="1051026"/>
                  </a:moveTo>
                  <a:lnTo>
                    <a:pt x="0" y="1073932"/>
                  </a:lnTo>
                </a:path>
                <a:path w="0" h="1348739">
                  <a:moveTo>
                    <a:pt x="0" y="1096822"/>
                  </a:moveTo>
                  <a:lnTo>
                    <a:pt x="0" y="1119728"/>
                  </a:lnTo>
                </a:path>
                <a:path w="0" h="1348739">
                  <a:moveTo>
                    <a:pt x="0" y="1142618"/>
                  </a:moveTo>
                  <a:lnTo>
                    <a:pt x="0" y="1165524"/>
                  </a:lnTo>
                </a:path>
                <a:path w="0" h="1348739">
                  <a:moveTo>
                    <a:pt x="0" y="1188415"/>
                  </a:moveTo>
                  <a:lnTo>
                    <a:pt x="0" y="1211320"/>
                  </a:lnTo>
                </a:path>
                <a:path w="0" h="1348739">
                  <a:moveTo>
                    <a:pt x="0" y="1234211"/>
                  </a:moveTo>
                  <a:lnTo>
                    <a:pt x="0" y="1257117"/>
                  </a:lnTo>
                </a:path>
                <a:path w="0" h="1348739">
                  <a:moveTo>
                    <a:pt x="0" y="1280007"/>
                  </a:moveTo>
                  <a:lnTo>
                    <a:pt x="0" y="1302913"/>
                  </a:lnTo>
                </a:path>
                <a:path w="0" h="1348739">
                  <a:moveTo>
                    <a:pt x="0" y="1325803"/>
                  </a:moveTo>
                  <a:lnTo>
                    <a:pt x="0" y="1348709"/>
                  </a:lnTo>
                </a:path>
              </a:pathLst>
            </a:custGeom>
            <a:ln w="95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5752596" y="1685447"/>
              <a:ext cx="118110" cy="0"/>
            </a:xfrm>
            <a:custGeom>
              <a:avLst/>
              <a:gdLst/>
              <a:ahLst/>
              <a:cxnLst/>
              <a:rect l="l" t="t" r="r" b="b"/>
              <a:pathLst>
                <a:path w="118110" h="0">
                  <a:moveTo>
                    <a:pt x="0" y="0"/>
                  </a:moveTo>
                  <a:lnTo>
                    <a:pt x="117911" y="0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853348" y="1649953"/>
              <a:ext cx="71120" cy="71120"/>
            </a:xfrm>
            <a:custGeom>
              <a:avLst/>
              <a:gdLst/>
              <a:ahLst/>
              <a:cxnLst/>
              <a:rect l="l" t="t" r="r" b="b"/>
              <a:pathLst>
                <a:path w="71120" h="71119">
                  <a:moveTo>
                    <a:pt x="0" y="0"/>
                  </a:moveTo>
                  <a:lnTo>
                    <a:pt x="2285" y="4571"/>
                  </a:lnTo>
                  <a:lnTo>
                    <a:pt x="3428" y="8016"/>
                  </a:lnTo>
                  <a:lnTo>
                    <a:pt x="5714" y="12588"/>
                  </a:lnTo>
                  <a:lnTo>
                    <a:pt x="6857" y="16017"/>
                  </a:lnTo>
                  <a:lnTo>
                    <a:pt x="6857" y="20604"/>
                  </a:lnTo>
                  <a:lnTo>
                    <a:pt x="8000" y="25176"/>
                  </a:lnTo>
                  <a:lnTo>
                    <a:pt x="8000" y="29763"/>
                  </a:lnTo>
                  <a:lnTo>
                    <a:pt x="9159" y="33192"/>
                  </a:lnTo>
                  <a:lnTo>
                    <a:pt x="9159" y="37779"/>
                  </a:lnTo>
                  <a:lnTo>
                    <a:pt x="8000" y="42351"/>
                  </a:lnTo>
                  <a:lnTo>
                    <a:pt x="8000" y="46939"/>
                  </a:lnTo>
                  <a:lnTo>
                    <a:pt x="6857" y="50368"/>
                  </a:lnTo>
                  <a:lnTo>
                    <a:pt x="6857" y="54955"/>
                  </a:lnTo>
                  <a:lnTo>
                    <a:pt x="5714" y="59527"/>
                  </a:lnTo>
                  <a:lnTo>
                    <a:pt x="3428" y="62971"/>
                  </a:lnTo>
                  <a:lnTo>
                    <a:pt x="2285" y="67543"/>
                  </a:lnTo>
                  <a:lnTo>
                    <a:pt x="0" y="70972"/>
                  </a:lnTo>
                  <a:lnTo>
                    <a:pt x="70972" y="35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982062" y="1836567"/>
              <a:ext cx="749935" cy="64135"/>
            </a:xfrm>
            <a:custGeom>
              <a:avLst/>
              <a:gdLst/>
              <a:ahLst/>
              <a:cxnLst/>
              <a:rect l="l" t="t" r="r" b="b"/>
              <a:pathLst>
                <a:path w="749935" h="64135">
                  <a:moveTo>
                    <a:pt x="0" y="0"/>
                  </a:moveTo>
                  <a:lnTo>
                    <a:pt x="0" y="64114"/>
                  </a:lnTo>
                  <a:lnTo>
                    <a:pt x="749914" y="64114"/>
                  </a:lnTo>
                </a:path>
              </a:pathLst>
            </a:custGeom>
            <a:ln w="9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4" name="object 64"/>
          <p:cNvSpPr txBox="1"/>
          <p:nvPr/>
        </p:nvSpPr>
        <p:spPr>
          <a:xfrm>
            <a:off x="6789773" y="2930045"/>
            <a:ext cx="292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i="1">
                <a:solidFill>
                  <a:srgbClr val="FFFFFF"/>
                </a:solidFill>
                <a:latin typeface="Arial"/>
                <a:cs typeface="Arial"/>
              </a:rPr>
              <a:t>stack</a:t>
            </a:r>
            <a:endParaRPr sz="9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659740" y="1303125"/>
            <a:ext cx="5657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sweep</a:t>
            </a:r>
            <a:r>
              <a:rPr dirty="0" sz="9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5">
                <a:solidFill>
                  <a:srgbClr val="FFFFFF"/>
                </a:solidFill>
                <a:latin typeface="Arial"/>
                <a:cs typeface="Arial"/>
              </a:rPr>
              <a:t>line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66" name="object 66"/>
          <p:cNvGraphicFramePr>
            <a:graphicFrameLocks noGrp="1"/>
          </p:cNvGraphicFramePr>
          <p:nvPr/>
        </p:nvGraphicFramePr>
        <p:xfrm>
          <a:off x="6775955" y="1900682"/>
          <a:ext cx="356870" cy="10318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2265"/>
              </a:tblGrid>
              <a:tr h="68465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173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(12,12)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2857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0581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650" spc="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(3,13)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67" name="object 67"/>
          <p:cNvSpPr txBox="1"/>
          <p:nvPr/>
        </p:nvSpPr>
        <p:spPr>
          <a:xfrm>
            <a:off x="4749493" y="3248572"/>
            <a:ext cx="21602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1.13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eep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12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2065019" y="3675578"/>
            <a:ext cx="4099560" cy="2590800"/>
            <a:chOff x="2065019" y="3675578"/>
            <a:chExt cx="4099560" cy="2590800"/>
          </a:xfrm>
        </p:grpSpPr>
        <p:sp>
          <p:nvSpPr>
            <p:cNvPr id="69" name="object 69"/>
            <p:cNvSpPr/>
            <p:nvPr/>
          </p:nvSpPr>
          <p:spPr>
            <a:xfrm>
              <a:off x="2065019" y="3675578"/>
              <a:ext cx="4099560" cy="2590800"/>
            </a:xfrm>
            <a:custGeom>
              <a:avLst/>
              <a:gdLst/>
              <a:ahLst/>
              <a:cxnLst/>
              <a:rect l="l" t="t" r="r" b="b"/>
              <a:pathLst>
                <a:path w="4099560" h="2590800">
                  <a:moveTo>
                    <a:pt x="4099361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4099361" y="2590601"/>
                  </a:lnTo>
                  <a:lnTo>
                    <a:pt x="409936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2433919" y="4164340"/>
              <a:ext cx="2322830" cy="1823720"/>
            </a:xfrm>
            <a:custGeom>
              <a:avLst/>
              <a:gdLst/>
              <a:ahLst/>
              <a:cxnLst/>
              <a:rect l="l" t="t" r="r" b="b"/>
              <a:pathLst>
                <a:path w="2322829" h="1823720">
                  <a:moveTo>
                    <a:pt x="312328" y="1697675"/>
                  </a:moveTo>
                  <a:lnTo>
                    <a:pt x="312328" y="1823618"/>
                  </a:lnTo>
                </a:path>
                <a:path w="2322829" h="1823720">
                  <a:moveTo>
                    <a:pt x="564215" y="1697675"/>
                  </a:moveTo>
                  <a:lnTo>
                    <a:pt x="564215" y="1823618"/>
                  </a:lnTo>
                </a:path>
                <a:path w="2322829" h="1823720">
                  <a:moveTo>
                    <a:pt x="814410" y="1697675"/>
                  </a:moveTo>
                  <a:lnTo>
                    <a:pt x="814410" y="1823618"/>
                  </a:lnTo>
                </a:path>
                <a:path w="2322829" h="1823720">
                  <a:moveTo>
                    <a:pt x="1066297" y="1697675"/>
                  </a:moveTo>
                  <a:lnTo>
                    <a:pt x="1066297" y="1823618"/>
                  </a:lnTo>
                </a:path>
                <a:path w="2322829" h="1823720">
                  <a:moveTo>
                    <a:pt x="1318168" y="1697675"/>
                  </a:moveTo>
                  <a:lnTo>
                    <a:pt x="1318168" y="1823618"/>
                  </a:lnTo>
                </a:path>
                <a:path w="2322829" h="1823720">
                  <a:moveTo>
                    <a:pt x="1568378" y="1697675"/>
                  </a:moveTo>
                  <a:lnTo>
                    <a:pt x="1568378" y="1823618"/>
                  </a:lnTo>
                </a:path>
                <a:path w="2322829" h="1823720">
                  <a:moveTo>
                    <a:pt x="1820250" y="1697675"/>
                  </a:moveTo>
                  <a:lnTo>
                    <a:pt x="1820250" y="1823618"/>
                  </a:lnTo>
                </a:path>
                <a:path w="2322829" h="1823720">
                  <a:moveTo>
                    <a:pt x="2070460" y="1697675"/>
                  </a:moveTo>
                  <a:lnTo>
                    <a:pt x="2070460" y="1823618"/>
                  </a:lnTo>
                </a:path>
                <a:path w="2322829" h="1823720">
                  <a:moveTo>
                    <a:pt x="124266" y="1507921"/>
                  </a:moveTo>
                  <a:lnTo>
                    <a:pt x="0" y="1507921"/>
                  </a:lnTo>
                </a:path>
                <a:path w="2322829" h="1823720">
                  <a:moveTo>
                    <a:pt x="124266" y="1256050"/>
                  </a:moveTo>
                  <a:lnTo>
                    <a:pt x="0" y="1256050"/>
                  </a:lnTo>
                </a:path>
                <a:path w="2322829" h="1823720">
                  <a:moveTo>
                    <a:pt x="124266" y="1005839"/>
                  </a:moveTo>
                  <a:lnTo>
                    <a:pt x="0" y="1005839"/>
                  </a:lnTo>
                </a:path>
                <a:path w="2322829" h="1823720">
                  <a:moveTo>
                    <a:pt x="124266" y="753968"/>
                  </a:moveTo>
                  <a:lnTo>
                    <a:pt x="0" y="753968"/>
                  </a:lnTo>
                </a:path>
                <a:path w="2322829" h="1823720">
                  <a:moveTo>
                    <a:pt x="124266" y="503758"/>
                  </a:moveTo>
                  <a:lnTo>
                    <a:pt x="0" y="503758"/>
                  </a:lnTo>
                </a:path>
                <a:path w="2322829" h="1823720">
                  <a:moveTo>
                    <a:pt x="124266" y="251886"/>
                  </a:moveTo>
                  <a:lnTo>
                    <a:pt x="0" y="251886"/>
                  </a:lnTo>
                </a:path>
                <a:path w="2322829" h="1823720">
                  <a:moveTo>
                    <a:pt x="124266" y="0"/>
                  </a:moveTo>
                  <a:lnTo>
                    <a:pt x="0" y="0"/>
                  </a:lnTo>
                </a:path>
                <a:path w="2322829" h="1823720">
                  <a:moveTo>
                    <a:pt x="2322332" y="1697675"/>
                  </a:moveTo>
                  <a:lnTo>
                    <a:pt x="2322332" y="182361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" name="object 71"/>
          <p:cNvSpPr txBox="1"/>
          <p:nvPr/>
        </p:nvSpPr>
        <p:spPr>
          <a:xfrm>
            <a:off x="2184448" y="3997103"/>
            <a:ext cx="212090" cy="175895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1300" spc="10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20"/>
              </a:spcBef>
            </a:pPr>
            <a:r>
              <a:rPr dirty="0" sz="1300" spc="10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dirty="0" sz="1300" spc="10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1300">
              <a:latin typeface="Arial"/>
              <a:cs typeface="Arial"/>
            </a:endParaRPr>
          </a:p>
          <a:p>
            <a:pPr marL="89535">
              <a:lnSpc>
                <a:spcPct val="100000"/>
              </a:lnSpc>
              <a:spcBef>
                <a:spcPts val="555"/>
              </a:spcBef>
            </a:pPr>
            <a:r>
              <a:rPr dirty="0" sz="1300" spc="10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300">
              <a:latin typeface="Arial"/>
              <a:cs typeface="Arial"/>
            </a:endParaRPr>
          </a:p>
          <a:p>
            <a:pPr marL="89535">
              <a:lnSpc>
                <a:spcPct val="100000"/>
              </a:lnSpc>
              <a:spcBef>
                <a:spcPts val="185"/>
              </a:spcBef>
            </a:pPr>
            <a:r>
              <a:rPr dirty="0" sz="1300" spc="10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300">
              <a:latin typeface="Arial"/>
              <a:cs typeface="Arial"/>
            </a:endParaRPr>
          </a:p>
          <a:p>
            <a:pPr marL="89535">
              <a:lnSpc>
                <a:spcPct val="100000"/>
              </a:lnSpc>
              <a:spcBef>
                <a:spcPts val="520"/>
              </a:spcBef>
            </a:pPr>
            <a:r>
              <a:rPr dirty="0" sz="1300" spc="10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300">
              <a:latin typeface="Arial"/>
              <a:cs typeface="Arial"/>
            </a:endParaRPr>
          </a:p>
          <a:p>
            <a:pPr marL="89535">
              <a:lnSpc>
                <a:spcPct val="100000"/>
              </a:lnSpc>
              <a:spcBef>
                <a:spcPts val="210"/>
              </a:spcBef>
            </a:pPr>
            <a:r>
              <a:rPr dirty="0" sz="130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300">
              <a:latin typeface="Arial"/>
              <a:cs typeface="Arial"/>
            </a:endParaRPr>
          </a:p>
        </p:txBody>
      </p:sp>
      <p:grpSp>
        <p:nvGrpSpPr>
          <p:cNvPr id="72" name="object 72"/>
          <p:cNvGrpSpPr/>
          <p:nvPr/>
        </p:nvGrpSpPr>
        <p:grpSpPr>
          <a:xfrm>
            <a:off x="2442316" y="3852011"/>
            <a:ext cx="2566035" cy="2124710"/>
            <a:chOff x="2442316" y="3852011"/>
            <a:chExt cx="2566035" cy="2124710"/>
          </a:xfrm>
        </p:grpSpPr>
        <p:sp>
          <p:nvSpPr>
            <p:cNvPr id="73" name="object 73"/>
            <p:cNvSpPr/>
            <p:nvPr/>
          </p:nvSpPr>
          <p:spPr>
            <a:xfrm>
              <a:off x="2494376" y="3929263"/>
              <a:ext cx="0" cy="1995170"/>
            </a:xfrm>
            <a:custGeom>
              <a:avLst/>
              <a:gdLst/>
              <a:ahLst/>
              <a:cxnLst/>
              <a:rect l="l" t="t" r="r" b="b"/>
              <a:pathLst>
                <a:path w="0" h="1995170">
                  <a:moveTo>
                    <a:pt x="0" y="1994885"/>
                  </a:moveTo>
                  <a:lnTo>
                    <a:pt x="0" y="0"/>
                  </a:lnTo>
                </a:path>
              </a:pathLst>
            </a:custGeom>
            <a:ln w="1397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4" name="object 7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42316" y="3852011"/>
              <a:ext cx="104104" cy="104104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2494376" y="5924148"/>
              <a:ext cx="2435225" cy="0"/>
            </a:xfrm>
            <a:custGeom>
              <a:avLst/>
              <a:gdLst/>
              <a:ahLst/>
              <a:cxnLst/>
              <a:rect l="l" t="t" r="r" b="b"/>
              <a:pathLst>
                <a:path w="2435225" h="0">
                  <a:moveTo>
                    <a:pt x="0" y="0"/>
                  </a:moveTo>
                  <a:lnTo>
                    <a:pt x="2434833" y="0"/>
                  </a:lnTo>
                </a:path>
              </a:pathLst>
            </a:custGeom>
            <a:ln w="1397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04018" y="5872089"/>
              <a:ext cx="104119" cy="104104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09042" y="5258917"/>
              <a:ext cx="76103" cy="74411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0928" y="4504949"/>
              <a:ext cx="76088" cy="74427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086856" y="5760999"/>
              <a:ext cx="74427" cy="74411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337067" y="5007031"/>
              <a:ext cx="76103" cy="74427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88938" y="4630892"/>
              <a:ext cx="76103" cy="74427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14881" y="5258917"/>
              <a:ext cx="74427" cy="74411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091020" y="5509112"/>
              <a:ext cx="76103" cy="74427"/>
            </a:xfrm>
            <a:prstGeom prst="rect">
              <a:avLst/>
            </a:prstGeom>
          </p:spPr>
        </p:pic>
      </p:grpSp>
      <p:sp>
        <p:nvSpPr>
          <p:cNvPr id="84" name="object 84"/>
          <p:cNvSpPr txBox="1"/>
          <p:nvPr/>
        </p:nvSpPr>
        <p:spPr>
          <a:xfrm>
            <a:off x="2540443" y="5098925"/>
            <a:ext cx="284480" cy="1765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50" spc="15">
                <a:solidFill>
                  <a:srgbClr val="FFFFFF"/>
                </a:solidFill>
                <a:latin typeface="Arial"/>
                <a:cs typeface="Arial"/>
              </a:rPr>
              <a:t>(2,5)</a:t>
            </a:r>
            <a:endParaRPr sz="950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2760417" y="5698399"/>
            <a:ext cx="284480" cy="1765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50" spc="15">
                <a:solidFill>
                  <a:srgbClr val="FFFFFF"/>
                </a:solidFill>
                <a:latin typeface="Arial"/>
                <a:cs typeface="Arial"/>
              </a:rPr>
              <a:t>(5,1)</a:t>
            </a:r>
            <a:endParaRPr sz="95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2631120" y="4549828"/>
            <a:ext cx="354330" cy="1765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50" spc="15">
                <a:solidFill>
                  <a:srgbClr val="FFFFFF"/>
                </a:solidFill>
                <a:latin typeface="Arial"/>
                <a:cs typeface="Arial"/>
              </a:rPr>
              <a:t>(4,11)</a:t>
            </a:r>
            <a:endParaRPr sz="95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3060994" y="5036795"/>
            <a:ext cx="284480" cy="1765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50" spc="15">
                <a:solidFill>
                  <a:srgbClr val="FFFFFF"/>
                </a:solidFill>
                <a:latin typeface="Arial"/>
                <a:cs typeface="Arial"/>
              </a:rPr>
              <a:t>(7,7)</a:t>
            </a:r>
            <a:endParaRPr sz="95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2505180" y="4316418"/>
            <a:ext cx="354330" cy="1765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50" spc="15">
                <a:solidFill>
                  <a:srgbClr val="FFFFFF"/>
                </a:solidFill>
                <a:latin typeface="Arial"/>
                <a:cs typeface="Arial"/>
              </a:rPr>
              <a:t>(3,13)</a:t>
            </a:r>
            <a:endParaRPr sz="950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3346457" y="5286995"/>
            <a:ext cx="354330" cy="1765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50" spc="15">
                <a:solidFill>
                  <a:srgbClr val="FFFFFF"/>
                </a:solidFill>
                <a:latin typeface="Arial"/>
                <a:cs typeface="Arial"/>
              </a:rPr>
              <a:t>(10,5)</a:t>
            </a:r>
            <a:endParaRPr sz="95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4071872" y="4316418"/>
            <a:ext cx="424180" cy="1765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50" spc="15">
                <a:solidFill>
                  <a:srgbClr val="FFFFFF"/>
                </a:solidFill>
                <a:latin typeface="Arial"/>
                <a:cs typeface="Arial"/>
              </a:rPr>
              <a:t>(12,12)</a:t>
            </a:r>
            <a:endParaRPr sz="95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3259139" y="4662333"/>
            <a:ext cx="354330" cy="1765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50" spc="15">
                <a:solidFill>
                  <a:srgbClr val="FFFFFF"/>
                </a:solidFill>
                <a:latin typeface="Arial"/>
                <a:cs typeface="Arial"/>
              </a:rPr>
              <a:t>(9,10)</a:t>
            </a:r>
            <a:endParaRPr sz="95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4323751" y="4553186"/>
            <a:ext cx="424180" cy="1765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50" spc="15">
                <a:solidFill>
                  <a:srgbClr val="FFFFFF"/>
                </a:solidFill>
                <a:latin typeface="Arial"/>
                <a:cs typeface="Arial"/>
              </a:rPr>
              <a:t>(14,10)</a:t>
            </a:r>
            <a:endParaRPr sz="950">
              <a:latin typeface="Arial"/>
              <a:cs typeface="Arial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4453051" y="4944440"/>
            <a:ext cx="354330" cy="1765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50" spc="15">
                <a:solidFill>
                  <a:srgbClr val="FFFFFF"/>
                </a:solidFill>
                <a:latin typeface="Arial"/>
                <a:cs typeface="Arial"/>
              </a:rPr>
              <a:t>(15,7)</a:t>
            </a:r>
            <a:endParaRPr sz="95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4177662" y="5446520"/>
            <a:ext cx="354330" cy="1765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50" spc="15">
                <a:solidFill>
                  <a:srgbClr val="FFFFFF"/>
                </a:solidFill>
                <a:latin typeface="Arial"/>
                <a:cs typeface="Arial"/>
              </a:rPr>
              <a:t>(13,3)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95" name="object 95"/>
          <p:cNvGrpSpPr/>
          <p:nvPr/>
        </p:nvGrpSpPr>
        <p:grpSpPr>
          <a:xfrm>
            <a:off x="2494376" y="4256570"/>
            <a:ext cx="1921510" cy="1668145"/>
            <a:chOff x="2494376" y="4256570"/>
            <a:chExt cx="1921510" cy="1668145"/>
          </a:xfrm>
        </p:grpSpPr>
        <p:pic>
          <p:nvPicPr>
            <p:cNvPr id="96" name="object 9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838477" y="4256570"/>
              <a:ext cx="69118" cy="67426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220456" y="4634385"/>
              <a:ext cx="69118" cy="67442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346399" y="5010523"/>
              <a:ext cx="69118" cy="67442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2494376" y="4290283"/>
              <a:ext cx="347980" cy="0"/>
            </a:xfrm>
            <a:custGeom>
              <a:avLst/>
              <a:gdLst/>
              <a:ahLst/>
              <a:cxnLst/>
              <a:rect l="l" t="t" r="r" b="b"/>
              <a:pathLst>
                <a:path w="347980" h="0">
                  <a:moveTo>
                    <a:pt x="0" y="0"/>
                  </a:moveTo>
                  <a:lnTo>
                    <a:pt x="347593" y="0"/>
                  </a:lnTo>
                </a:path>
              </a:pathLst>
            </a:custGeom>
            <a:ln w="1397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0" name="object 10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968569" y="4382498"/>
              <a:ext cx="69118" cy="67442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2872191" y="4322196"/>
              <a:ext cx="1508125" cy="1602105"/>
            </a:xfrm>
            <a:custGeom>
              <a:avLst/>
              <a:gdLst/>
              <a:ahLst/>
              <a:cxnLst/>
              <a:rect l="l" t="t" r="r" b="b"/>
              <a:pathLst>
                <a:path w="1508125" h="1602104">
                  <a:moveTo>
                    <a:pt x="1507921" y="753953"/>
                  </a:moveTo>
                  <a:lnTo>
                    <a:pt x="1507921" y="1601952"/>
                  </a:lnTo>
                </a:path>
                <a:path w="1508125" h="1602104">
                  <a:moveTo>
                    <a:pt x="0" y="0"/>
                  </a:moveTo>
                  <a:lnTo>
                    <a:pt x="0" y="94030"/>
                  </a:lnTo>
                  <a:lnTo>
                    <a:pt x="1099870" y="94030"/>
                  </a:lnTo>
                </a:path>
                <a:path w="1508125" h="1602104">
                  <a:moveTo>
                    <a:pt x="1130106" y="125928"/>
                  </a:moveTo>
                  <a:lnTo>
                    <a:pt x="1130106" y="345902"/>
                  </a:lnTo>
                  <a:lnTo>
                    <a:pt x="1351757" y="345902"/>
                  </a:lnTo>
                </a:path>
                <a:path w="1508125" h="1602104">
                  <a:moveTo>
                    <a:pt x="1381978" y="392932"/>
                  </a:moveTo>
                  <a:lnTo>
                    <a:pt x="1381978" y="722055"/>
                  </a:lnTo>
                  <a:lnTo>
                    <a:pt x="1477700" y="722055"/>
                  </a:lnTo>
                </a:path>
              </a:pathLst>
            </a:custGeom>
            <a:ln w="1397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2" name="object 102"/>
          <p:cNvSpPr txBox="1"/>
          <p:nvPr/>
        </p:nvSpPr>
        <p:spPr>
          <a:xfrm>
            <a:off x="5529412" y="5931879"/>
            <a:ext cx="417195" cy="2266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300" spc="5" i="1">
                <a:solidFill>
                  <a:srgbClr val="FFFFFF"/>
                </a:solidFill>
                <a:latin typeface="Arial"/>
                <a:cs typeface="Arial"/>
              </a:rPr>
              <a:t>stack</a:t>
            </a:r>
            <a:endParaRPr sz="1300">
              <a:latin typeface="Arial"/>
              <a:cs typeface="Arial"/>
            </a:endParaRPr>
          </a:p>
        </p:txBody>
      </p:sp>
      <p:graphicFrame>
        <p:nvGraphicFramePr>
          <p:cNvPr id="103" name="object 103"/>
          <p:cNvGraphicFramePr>
            <a:graphicFrameLocks noGrp="1"/>
          </p:cNvGraphicFramePr>
          <p:nvPr/>
        </p:nvGraphicFramePr>
        <p:xfrm>
          <a:off x="5503235" y="4416226"/>
          <a:ext cx="523240" cy="15151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02284"/>
              </a:tblGrid>
              <a:tr h="7539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110489">
                        <a:lnSpc>
                          <a:spcPct val="100000"/>
                        </a:lnSpc>
                      </a:pPr>
                      <a:r>
                        <a:rPr dirty="0" sz="95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(15,7)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250210">
                <a:tc>
                  <a:txBody>
                    <a:bodyPr/>
                    <a:lstStyle/>
                    <a:p>
                      <a:pPr algn="r" marR="7556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dirty="0" sz="95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(14,10)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43815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251871">
                <a:tc>
                  <a:txBody>
                    <a:bodyPr/>
                    <a:lstStyle/>
                    <a:p>
                      <a:pPr algn="r" marR="7556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dirty="0" sz="95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(12,12)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43815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251886">
                <a:tc>
                  <a:txBody>
                    <a:bodyPr/>
                    <a:lstStyle/>
                    <a:p>
                      <a:pPr algn="r" marR="110489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95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(3,13)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104" name="object 104"/>
          <p:cNvSpPr txBox="1"/>
          <p:nvPr/>
        </p:nvSpPr>
        <p:spPr>
          <a:xfrm>
            <a:off x="2681502" y="5963782"/>
            <a:ext cx="2508885" cy="5759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67335" algn="l"/>
                <a:tab pos="512445" algn="l"/>
                <a:tab pos="767715" algn="l"/>
              </a:tabLst>
            </a:pPr>
            <a:r>
              <a:rPr dirty="0" sz="1300" spc="10">
                <a:solidFill>
                  <a:srgbClr val="FFFFFF"/>
                </a:solidFill>
                <a:latin typeface="Arial"/>
                <a:cs typeface="Arial"/>
              </a:rPr>
              <a:t>2	4	6	8 </a:t>
            </a:r>
            <a:r>
              <a:rPr dirty="0" sz="1300" spc="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00" spc="1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dirty="0" sz="1300" spc="2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00" spc="1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1300" spc="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00" spc="10">
                <a:solidFill>
                  <a:srgbClr val="FFFFFF"/>
                </a:solidFill>
                <a:latin typeface="Arial"/>
                <a:cs typeface="Arial"/>
              </a:rPr>
              <a:t>14</a:t>
            </a:r>
            <a:r>
              <a:rPr dirty="0" sz="1300" spc="1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00" spc="10">
                <a:solidFill>
                  <a:srgbClr val="FFFFFF"/>
                </a:solidFill>
                <a:latin typeface="Arial"/>
                <a:cs typeface="Arial"/>
              </a:rPr>
              <a:t>16</a:t>
            </a:r>
            <a:r>
              <a:rPr dirty="0" sz="1300" spc="1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00" spc="10">
                <a:solidFill>
                  <a:srgbClr val="FFFFFF"/>
                </a:solidFill>
                <a:latin typeface="Arial"/>
                <a:cs typeface="Arial"/>
              </a:rPr>
              <a:t>18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Arial"/>
              <a:cs typeface="Arial"/>
            </a:endParaRPr>
          </a:p>
          <a:p>
            <a:pPr marL="37846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1.14: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final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901699" y="6773127"/>
            <a:ext cx="3306445" cy="1961514"/>
          </a:xfrm>
          <a:prstGeom prst="rect">
            <a:avLst/>
          </a:prstGeom>
        </p:spPr>
        <p:txBody>
          <a:bodyPr wrap="square" lIns="0" tIns="641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05"/>
              </a:spcBef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endParaRPr sz="1200">
              <a:latin typeface="Times New Roman"/>
              <a:cs typeface="Times New Roman"/>
            </a:endParaRPr>
          </a:p>
          <a:p>
            <a:pPr marL="15875">
              <a:lnSpc>
                <a:spcPct val="100000"/>
              </a:lnSpc>
              <a:spcBef>
                <a:spcPts val="400"/>
              </a:spcBef>
            </a:pPr>
            <a:r>
              <a:rPr dirty="0" sz="950" spc="50">
                <a:latin typeface="Times New Roman"/>
                <a:cs typeface="Times New Roman"/>
              </a:rPr>
              <a:t>PLANE</a:t>
            </a:r>
            <a:r>
              <a:rPr dirty="0" sz="1200" spc="50">
                <a:latin typeface="Times New Roman"/>
                <a:cs typeface="Times New Roman"/>
              </a:rPr>
              <a:t>-</a:t>
            </a:r>
            <a:r>
              <a:rPr dirty="0" sz="950" spc="50">
                <a:latin typeface="Times New Roman"/>
                <a:cs typeface="Times New Roman"/>
              </a:rPr>
              <a:t>SWEEP</a:t>
            </a:r>
            <a:r>
              <a:rPr dirty="0" sz="1200" spc="50">
                <a:latin typeface="Times New Roman"/>
                <a:cs typeface="Times New Roman"/>
              </a:rPr>
              <a:t>-</a:t>
            </a:r>
            <a:r>
              <a:rPr dirty="0" sz="950" spc="50">
                <a:latin typeface="Times New Roman"/>
                <a:cs typeface="Times New Roman"/>
              </a:rPr>
              <a:t>MAXIMA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n,</a:t>
            </a:r>
            <a:r>
              <a:rPr dirty="0" sz="1200" spc="14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P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1..n</a:t>
            </a:r>
            <a:r>
              <a:rPr dirty="0" sz="1200" spc="-5">
                <a:latin typeface="Garamond"/>
                <a:cs typeface="Garamond"/>
              </a:rPr>
              <a:t>])</a:t>
            </a:r>
            <a:endParaRPr sz="1200">
              <a:latin typeface="Garamond"/>
              <a:cs typeface="Garamond"/>
            </a:endParaRPr>
          </a:p>
          <a:p>
            <a:pPr marL="287655" indent="-238125">
              <a:lnSpc>
                <a:spcPct val="100000"/>
              </a:lnSpc>
              <a:spcBef>
                <a:spcPts val="5"/>
              </a:spcBef>
              <a:buSzPct val="109090"/>
              <a:buAutoNum type="arabicPlain"/>
              <a:tabLst>
                <a:tab pos="287655" algn="l"/>
                <a:tab pos="288290" algn="l"/>
              </a:tabLst>
            </a:pPr>
            <a:r>
              <a:rPr dirty="0" sz="1100" spc="-5">
                <a:latin typeface="Times New Roman"/>
                <a:cs typeface="Times New Roman"/>
              </a:rPr>
              <a:t>sort</a:t>
            </a:r>
            <a:r>
              <a:rPr dirty="0" sz="1100" spc="-10">
                <a:latin typeface="Times New Roman"/>
                <a:cs typeface="Times New Roman"/>
              </a:rPr>
              <a:t> </a:t>
            </a:r>
            <a:r>
              <a:rPr dirty="0" sz="1100" spc="20">
                <a:latin typeface="Lucida Sans Unicode"/>
                <a:cs typeface="Lucida Sans Unicode"/>
              </a:rPr>
              <a:t>P</a:t>
            </a:r>
            <a:r>
              <a:rPr dirty="0" sz="1100" spc="-55">
                <a:latin typeface="Lucida Sans Unicode"/>
                <a:cs typeface="Lucida Sans Unicode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in</a:t>
            </a:r>
            <a:r>
              <a:rPr dirty="0" sz="1100" spc="-10">
                <a:latin typeface="Times New Roman"/>
                <a:cs typeface="Times New Roman"/>
              </a:rPr>
              <a:t> increasing order by </a:t>
            </a:r>
            <a:r>
              <a:rPr dirty="0" sz="1100" spc="-55">
                <a:latin typeface="Lucida Sans Unicode"/>
                <a:cs typeface="Lucida Sans Unicode"/>
              </a:rPr>
              <a:t>x</a:t>
            </a:r>
            <a:r>
              <a:rPr dirty="0" sz="1100" spc="-55">
                <a:latin typeface="Garamond"/>
                <a:cs typeface="Garamond"/>
              </a:rPr>
              <a:t>;</a:t>
            </a:r>
            <a:endParaRPr sz="1100">
              <a:latin typeface="Garamond"/>
              <a:cs typeface="Garamond"/>
            </a:endParaRPr>
          </a:p>
          <a:p>
            <a:pPr marL="2781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278130" algn="l"/>
                <a:tab pos="278765" algn="l"/>
              </a:tabLst>
            </a:pP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45">
                <a:latin typeface="Lucida Sans Unicode"/>
                <a:cs typeface="Lucida Sans Unicode"/>
              </a:rPr>
              <a:t>t</a:t>
            </a:r>
            <a:r>
              <a:rPr dirty="0" sz="1200" spc="15">
                <a:latin typeface="Lucida Sans Unicode"/>
                <a:cs typeface="Lucida Sans Unicode"/>
              </a:rPr>
              <a:t>ac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s</a:t>
            </a:r>
            <a:r>
              <a:rPr dirty="0" sz="1200" spc="-5">
                <a:latin typeface="Garamond"/>
                <a:cs typeface="Garamond"/>
              </a:rPr>
              <a:t>;</a:t>
            </a:r>
            <a:endParaRPr sz="1200">
              <a:latin typeface="Garamond"/>
              <a:cs typeface="Garamond"/>
            </a:endParaRPr>
          </a:p>
          <a:p>
            <a:pPr marL="2781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278130" algn="l"/>
                <a:tab pos="27876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781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278130" algn="l"/>
                <a:tab pos="2787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endParaRPr sz="1200">
              <a:latin typeface="Times New Roman"/>
              <a:cs typeface="Times New Roman"/>
            </a:endParaRPr>
          </a:p>
          <a:p>
            <a:pPr marL="47625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76250" algn="l"/>
                <a:tab pos="476884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s.notEmpty</a:t>
            </a:r>
            <a:r>
              <a:rPr dirty="0" sz="1200" spc="25">
                <a:latin typeface="Garamond"/>
                <a:cs typeface="Garamond"/>
              </a:rPr>
              <a:t>() </a:t>
            </a:r>
            <a:r>
              <a:rPr dirty="0" sz="1200" spc="5">
                <a:latin typeface="Garamond"/>
                <a:cs typeface="Garamond"/>
              </a:rPr>
              <a:t>&amp;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s.top</a:t>
            </a:r>
            <a:r>
              <a:rPr dirty="0" sz="1200" spc="5">
                <a:latin typeface="Garamond"/>
                <a:cs typeface="Garamond"/>
              </a:rPr>
              <a:t>()</a:t>
            </a:r>
            <a:r>
              <a:rPr dirty="0" sz="1200" spc="5">
                <a:latin typeface="Lucida Sans Unicode"/>
                <a:cs typeface="Lucida Sans Unicode"/>
              </a:rPr>
              <a:t>.y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5">
                <a:latin typeface="Segoe UI Symbol"/>
                <a:cs typeface="Segoe UI Symbol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P</a:t>
            </a:r>
            <a:r>
              <a:rPr dirty="0" sz="1200" spc="40">
                <a:latin typeface="Garamond"/>
                <a:cs typeface="Garamond"/>
              </a:rPr>
              <a:t>[</a:t>
            </a:r>
            <a:r>
              <a:rPr dirty="0" sz="1200" spc="40">
                <a:latin typeface="Lucida Sans Unicode"/>
                <a:cs typeface="Lucida Sans Unicode"/>
              </a:rPr>
              <a:t>i</a:t>
            </a:r>
            <a:r>
              <a:rPr dirty="0" sz="1200" spc="40">
                <a:latin typeface="Garamond"/>
                <a:cs typeface="Garamond"/>
              </a:rPr>
              <a:t>]</a:t>
            </a:r>
            <a:r>
              <a:rPr dirty="0" sz="1200" spc="40">
                <a:latin typeface="Lucida Sans Unicode"/>
                <a:cs typeface="Lucida Sans Unicode"/>
              </a:rPr>
              <a:t>.y</a:t>
            </a:r>
            <a:r>
              <a:rPr dirty="0" sz="1200" spc="4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7625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76250" algn="l"/>
                <a:tab pos="476884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s.pop</a:t>
            </a:r>
            <a:r>
              <a:rPr dirty="0" sz="1200" spc="-10">
                <a:latin typeface="Garamond"/>
                <a:cs typeface="Garamond"/>
              </a:rPr>
              <a:t>();</a:t>
            </a:r>
            <a:endParaRPr sz="1200">
              <a:latin typeface="Garamond"/>
              <a:cs typeface="Garamond"/>
            </a:endParaRPr>
          </a:p>
          <a:p>
            <a:pPr marL="476250" indent="-426720">
              <a:lnSpc>
                <a:spcPct val="100000"/>
              </a:lnSpc>
              <a:buFont typeface="Times New Roman"/>
              <a:buAutoNum type="arabicPlain"/>
              <a:tabLst>
                <a:tab pos="476250" algn="l"/>
                <a:tab pos="476884" algn="l"/>
              </a:tabLst>
            </a:pPr>
            <a:r>
              <a:rPr dirty="0" sz="1200" spc="10">
                <a:latin typeface="Lucida Sans Unicode"/>
                <a:cs typeface="Lucida Sans Unicode"/>
              </a:rPr>
              <a:t>s.push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Lucida Sans Unicode"/>
                <a:cs typeface="Lucida Sans Unicode"/>
              </a:rPr>
              <a:t>P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i</a:t>
            </a:r>
            <a:r>
              <a:rPr dirty="0" sz="1200" spc="10">
                <a:latin typeface="Garamond"/>
                <a:cs typeface="Garamond"/>
              </a:rPr>
              <a:t>]);</a:t>
            </a:r>
            <a:endParaRPr sz="1200">
              <a:latin typeface="Garamond"/>
              <a:cs typeface="Garamond"/>
            </a:endParaRPr>
          </a:p>
          <a:p>
            <a:pPr marL="287655" indent="-238125">
              <a:lnSpc>
                <a:spcPct val="100000"/>
              </a:lnSpc>
              <a:spcBef>
                <a:spcPts val="5"/>
              </a:spcBef>
              <a:buSzPct val="109090"/>
              <a:buAutoNum type="arabicPlain"/>
              <a:tabLst>
                <a:tab pos="287655" algn="l"/>
                <a:tab pos="288290" algn="l"/>
              </a:tabLst>
            </a:pPr>
            <a:r>
              <a:rPr dirty="0" sz="1100" spc="-10">
                <a:latin typeface="Times New Roman"/>
                <a:cs typeface="Times New Roman"/>
              </a:rPr>
              <a:t>output the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contents of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stack </a:t>
            </a:r>
            <a:r>
              <a:rPr dirty="0" sz="1100" spc="-35">
                <a:latin typeface="Lucida Sans Unicode"/>
                <a:cs typeface="Lucida Sans Unicode"/>
              </a:rPr>
              <a:t>s</a:t>
            </a:r>
            <a:r>
              <a:rPr dirty="0" sz="1100" spc="-35">
                <a:latin typeface="Garamond"/>
                <a:cs typeface="Garamond"/>
              </a:rPr>
              <a:t>;</a:t>
            </a:r>
            <a:endParaRPr sz="1100">
              <a:latin typeface="Garamond"/>
              <a:cs typeface="Garamond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258932" y="4514735"/>
            <a:ext cx="337185" cy="138430"/>
          </a:xfrm>
          <a:custGeom>
            <a:avLst/>
            <a:gdLst/>
            <a:ahLst/>
            <a:cxnLst/>
            <a:rect l="l" t="t" r="r" b="b"/>
            <a:pathLst>
              <a:path w="337185" h="138429">
                <a:moveTo>
                  <a:pt x="336956" y="0"/>
                </a:moveTo>
                <a:lnTo>
                  <a:pt x="0" y="0"/>
                </a:lnTo>
                <a:lnTo>
                  <a:pt x="0" y="138010"/>
                </a:lnTo>
                <a:lnTo>
                  <a:pt x="336956" y="138010"/>
                </a:lnTo>
                <a:lnTo>
                  <a:pt x="336956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4377004" y="4341672"/>
            <a:ext cx="100965" cy="73660"/>
          </a:xfrm>
          <a:custGeom>
            <a:avLst/>
            <a:gdLst/>
            <a:ahLst/>
            <a:cxnLst/>
            <a:rect l="l" t="t" r="r" b="b"/>
            <a:pathLst>
              <a:path w="100964" h="73660">
                <a:moveTo>
                  <a:pt x="100812" y="0"/>
                </a:moveTo>
                <a:lnTo>
                  <a:pt x="0" y="0"/>
                </a:lnTo>
                <a:lnTo>
                  <a:pt x="0" y="73342"/>
                </a:lnTo>
                <a:lnTo>
                  <a:pt x="100812" y="73342"/>
                </a:lnTo>
                <a:lnTo>
                  <a:pt x="100812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3633596" y="4460113"/>
            <a:ext cx="568325" cy="193040"/>
          </a:xfrm>
          <a:custGeom>
            <a:avLst/>
            <a:gdLst/>
            <a:ahLst/>
            <a:cxnLst/>
            <a:rect l="l" t="t" r="r" b="b"/>
            <a:pathLst>
              <a:path w="568325" h="193039">
                <a:moveTo>
                  <a:pt x="567982" y="0"/>
                </a:moveTo>
                <a:lnTo>
                  <a:pt x="0" y="0"/>
                </a:lnTo>
                <a:lnTo>
                  <a:pt x="0" y="192633"/>
                </a:lnTo>
                <a:lnTo>
                  <a:pt x="567982" y="192633"/>
                </a:lnTo>
                <a:lnTo>
                  <a:pt x="567982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3750564" y="4286580"/>
            <a:ext cx="164465" cy="128905"/>
          </a:xfrm>
          <a:custGeom>
            <a:avLst/>
            <a:gdLst/>
            <a:ahLst/>
            <a:cxnLst/>
            <a:rect l="l" t="t" r="r" b="b"/>
            <a:pathLst>
              <a:path w="164464" h="128904">
                <a:moveTo>
                  <a:pt x="164299" y="0"/>
                </a:moveTo>
                <a:lnTo>
                  <a:pt x="0" y="0"/>
                </a:lnTo>
                <a:lnTo>
                  <a:pt x="0" y="128435"/>
                </a:lnTo>
                <a:lnTo>
                  <a:pt x="164299" y="128435"/>
                </a:lnTo>
                <a:lnTo>
                  <a:pt x="164299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281171" y="4895532"/>
          <a:ext cx="1688464" cy="11563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925"/>
                <a:gridCol w="532130"/>
                <a:gridCol w="75565"/>
                <a:gridCol w="371474"/>
                <a:gridCol w="464819"/>
                <a:gridCol w="75564"/>
              </a:tblGrid>
              <a:tr h="207263">
                <a:tc gridSpan="2">
                  <a:txBody>
                    <a:bodyPr/>
                    <a:lstStyle/>
                    <a:p>
                      <a:pPr marL="7620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n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270"/>
                        </a:lnSpc>
                      </a:pPr>
                      <a:r>
                        <a:rPr dirty="0" sz="1200" spc="5">
                          <a:latin typeface="Times New Roman"/>
                          <a:cs typeface="Times New Roman"/>
                        </a:rPr>
                        <a:t>log</a:t>
                      </a:r>
                      <a:r>
                        <a:rPr dirty="0" sz="1200" spc="5">
                          <a:latin typeface="Lucida Sans Unicode"/>
                          <a:cs typeface="Lucida Sans Unicode"/>
                        </a:rPr>
                        <a:t>n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 marL="238125" marR="3175">
                        <a:lnSpc>
                          <a:spcPts val="680"/>
                        </a:lnSpc>
                      </a:pPr>
                      <a:r>
                        <a:rPr dirty="0" u="sng" sz="8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80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800" spc="-95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800" spc="140">
                          <a:uFill>
                            <a:solidFill>
                              <a:srgbClr val="000000"/>
                            </a:solidFill>
                          </a:uFill>
                          <a:latin typeface="Verdana"/>
                          <a:cs typeface="Verdana"/>
                        </a:rPr>
                        <a:t>n</a:t>
                      </a:r>
                      <a:r>
                        <a:rPr dirty="0" u="sng" sz="800" spc="-125">
                          <a:uFill>
                            <a:solidFill>
                              <a:srgbClr val="000000"/>
                            </a:solidFill>
                          </a:uFill>
                          <a:latin typeface="Verdana"/>
                          <a:cs typeface="Verdana"/>
                        </a:rPr>
                        <a:t> </a:t>
                      </a:r>
                      <a:endParaRPr sz="800">
                        <a:latin typeface="Verdana"/>
                        <a:cs typeface="Verdana"/>
                      </a:endParaRPr>
                    </a:p>
                    <a:p>
                      <a:pPr marL="237490" marR="3175">
                        <a:lnSpc>
                          <a:spcPts val="850"/>
                        </a:lnSpc>
                      </a:pPr>
                      <a:r>
                        <a:rPr dirty="0" sz="800" spc="-5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og</a:t>
                      </a:r>
                      <a:r>
                        <a:rPr dirty="0" sz="800">
                          <a:latin typeface="Verdana"/>
                          <a:cs typeface="Verdana"/>
                        </a:rPr>
                        <a:t>n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3368">
                <a:tc>
                  <a:txBody>
                    <a:bodyPr/>
                    <a:lstStyle/>
                    <a:p>
                      <a:pPr algn="r">
                        <a:lnSpc>
                          <a:spcPts val="95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94005">
                        <a:lnSpc>
                          <a:spcPts val="95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5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55607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2682">
                <a:tc>
                  <a:txBody>
                    <a:bodyPr/>
                    <a:lstStyle/>
                    <a:p>
                      <a:pPr algn="r">
                        <a:lnSpc>
                          <a:spcPts val="944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44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7804">
                        <a:lnSpc>
                          <a:spcPts val="944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44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56293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2492">
                <a:tc>
                  <a:txBody>
                    <a:bodyPr/>
                    <a:lstStyle/>
                    <a:p>
                      <a:pPr algn="r">
                        <a:lnSpc>
                          <a:spcPts val="944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44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7804">
                        <a:lnSpc>
                          <a:spcPts val="944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44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752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54959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3521">
                <a:tc>
                  <a:txBody>
                    <a:bodyPr/>
                    <a:lstStyle/>
                    <a:p>
                      <a:pPr algn="r">
                        <a:lnSpc>
                          <a:spcPts val="95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00000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7804">
                        <a:lnSpc>
                          <a:spcPts val="95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5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6021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55454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3140">
                <a:tc rowSpan="2">
                  <a:txBody>
                    <a:bodyPr/>
                    <a:lstStyle/>
                    <a:p>
                      <a:pPr marL="76200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000000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7804">
                        <a:lnSpc>
                          <a:spcPts val="95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5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50171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5583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901699" y="520987"/>
            <a:ext cx="3380740" cy="6197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1.11.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ANALYSIS: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HARDER </a:t>
            </a:r>
            <a:r>
              <a:rPr dirty="0" sz="1200" spc="-5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65024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1.11.3	Analysis</a:t>
            </a:r>
            <a:r>
              <a:rPr dirty="0" sz="1400" spc="-1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of</a:t>
            </a:r>
            <a:r>
              <a:rPr dirty="0" sz="1400" spc="-10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Plane-sweep</a:t>
            </a:r>
            <a:r>
              <a:rPr dirty="0" sz="1400" spc="-1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50899" y="1277698"/>
            <a:ext cx="6517640" cy="28562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 marR="558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-15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;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later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discuss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executes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times. The inner </a:t>
            </a:r>
            <a:r>
              <a:rPr dirty="0" sz="1200" spc="-10">
                <a:latin typeface="Times New Roman"/>
                <a:cs typeface="Times New Roman"/>
              </a:rPr>
              <a:t>loop (seemingly) </a:t>
            </a:r>
            <a:r>
              <a:rPr dirty="0" sz="1200" spc="-5">
                <a:latin typeface="Times New Roman"/>
                <a:cs typeface="Times New Roman"/>
              </a:rPr>
              <a:t>could be iterated 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times. It seems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still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65">
                <a:latin typeface="Lucida Sans Unicode"/>
                <a:cs typeface="Lucida Sans Unicode"/>
              </a:rPr>
              <a:t>n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n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baseline="31250" sz="1200" spc="60">
                <a:latin typeface="Verdana"/>
                <a:cs typeface="Verdana"/>
              </a:rPr>
              <a:t>2</a:t>
            </a:r>
            <a:r>
              <a:rPr dirty="0" sz="1200" spc="40">
                <a:latin typeface="Garamond"/>
                <a:cs typeface="Garamond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Got fooled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simple minded loop-counting.</a:t>
            </a:r>
            <a:r>
              <a:rPr dirty="0" sz="1200" spc="-5">
                <a:latin typeface="Times New Roman"/>
                <a:cs typeface="Times New Roman"/>
              </a:rPr>
              <a:t> The while </a:t>
            </a:r>
            <a:r>
              <a:rPr dirty="0" sz="1200" spc="-10">
                <a:latin typeface="Times New Roman"/>
                <a:cs typeface="Times New Roman"/>
              </a:rPr>
              <a:t>loop will not execute more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 </a:t>
            </a:r>
            <a:r>
              <a:rPr dirty="0" sz="1200" spc="-15">
                <a:latin typeface="Times New Roman"/>
                <a:cs typeface="Times New Roman"/>
              </a:rPr>
              <a:t>over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entire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this?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Observe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pushed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exactly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push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during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outer </a:t>
            </a:r>
            <a:r>
              <a:rPr dirty="0" sz="1200" spc="-10">
                <a:latin typeface="Times New Roman"/>
                <a:cs typeface="Times New Roman"/>
              </a:rPr>
              <a:t>for-loop.</a:t>
            </a:r>
            <a:endParaRPr sz="1200">
              <a:latin typeface="Times New Roman"/>
              <a:cs typeface="Times New Roman"/>
            </a:endParaRPr>
          </a:p>
          <a:p>
            <a:pPr algn="just" marL="63500" marR="228600">
              <a:lnSpc>
                <a:spcPct val="100000"/>
              </a:lnSpc>
              <a:spcBef>
                <a:spcPts val="535"/>
              </a:spcBef>
            </a:pP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pop </a:t>
            </a:r>
            <a:r>
              <a:rPr dirty="0" sz="1200" spc="-5">
                <a:latin typeface="Times New Roman"/>
                <a:cs typeface="Times New Roman"/>
              </a:rPr>
              <a:t>an element </a:t>
            </a:r>
            <a:r>
              <a:rPr dirty="0" sz="1200" spc="-15">
                <a:latin typeface="Times New Roman"/>
                <a:cs typeface="Times New Roman"/>
              </a:rPr>
              <a:t>off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stack each </a:t>
            </a:r>
            <a:r>
              <a:rPr dirty="0" sz="1200" spc="-10">
                <a:latin typeface="Times New Roman"/>
                <a:cs typeface="Times New Roman"/>
              </a:rPr>
              <a:t>time we </a:t>
            </a:r>
            <a:r>
              <a:rPr dirty="0" sz="1200" spc="-5">
                <a:latin typeface="Times New Roman"/>
                <a:cs typeface="Times New Roman"/>
              </a:rPr>
              <a:t>go </a:t>
            </a:r>
            <a:r>
              <a:rPr dirty="0" sz="1200" spc="-10">
                <a:latin typeface="Times New Roman"/>
                <a:cs typeface="Times New Roman"/>
              </a:rPr>
              <a:t>through the </a:t>
            </a:r>
            <a:r>
              <a:rPr dirty="0" sz="1200" spc="-5">
                <a:latin typeface="Times New Roman"/>
                <a:cs typeface="Times New Roman"/>
              </a:rPr>
              <a:t>inner </a:t>
            </a:r>
            <a:r>
              <a:rPr dirty="0" sz="1200" spc="-10">
                <a:latin typeface="Times New Roman"/>
                <a:cs typeface="Times New Roman"/>
              </a:rPr>
              <a:t>while-loop. </a:t>
            </a:r>
            <a:r>
              <a:rPr dirty="0" sz="1200" spc="-5">
                <a:latin typeface="Times New Roman"/>
                <a:cs typeface="Times New Roman"/>
              </a:rPr>
              <a:t>It is </a:t>
            </a:r>
            <a:r>
              <a:rPr dirty="0" sz="1200" spc="-10">
                <a:latin typeface="Times New Roman"/>
                <a:cs typeface="Times New Roman"/>
              </a:rPr>
              <a:t>impossible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pop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 </a:t>
            </a:r>
            <a:r>
              <a:rPr dirty="0" sz="1200" spc="-5">
                <a:latin typeface="Times New Roman"/>
                <a:cs typeface="Times New Roman"/>
              </a:rPr>
              <a:t>elements than are </a:t>
            </a:r>
            <a:r>
              <a:rPr dirty="0" sz="1200" spc="-15">
                <a:latin typeface="Times New Roman"/>
                <a:cs typeface="Times New Roman"/>
              </a:rPr>
              <a:t>ever </a:t>
            </a:r>
            <a:r>
              <a:rPr dirty="0" sz="1200" spc="-5">
                <a:latin typeface="Times New Roman"/>
                <a:cs typeface="Times New Roman"/>
              </a:rPr>
              <a:t>pushed on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stack. Therefore, the inner </a:t>
            </a:r>
            <a:r>
              <a:rPr dirty="0" sz="1200" spc="-10">
                <a:latin typeface="Times New Roman"/>
                <a:cs typeface="Times New Roman"/>
              </a:rPr>
              <a:t>while-loop </a:t>
            </a:r>
            <a:r>
              <a:rPr dirty="0" sz="1200" spc="-5">
                <a:latin typeface="Times New Roman"/>
                <a:cs typeface="Times New Roman"/>
              </a:rPr>
              <a:t>cannot </a:t>
            </a:r>
            <a:r>
              <a:rPr dirty="0" sz="1200" spc="-10">
                <a:latin typeface="Times New Roman"/>
                <a:cs typeface="Times New Roman"/>
              </a:rPr>
              <a:t>execute more </a:t>
            </a:r>
            <a:r>
              <a:rPr dirty="0" sz="1200" spc="-5">
                <a:latin typeface="Times New Roman"/>
                <a:cs typeface="Times New Roman"/>
              </a:rPr>
              <a:t> than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entire course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 i="1">
                <a:latin typeface="Times New Roman"/>
                <a:cs typeface="Times New Roman"/>
              </a:rPr>
              <a:t>Make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sure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that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you </a:t>
            </a:r>
            <a:r>
              <a:rPr dirty="0" sz="1200" spc="-10" i="1">
                <a:latin typeface="Times New Roman"/>
                <a:cs typeface="Times New Roman"/>
              </a:rPr>
              <a:t>understand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  <a:p>
            <a:pPr algn="just" marL="63500" marR="80645" indent="-635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for-loop </a:t>
            </a:r>
            <a:r>
              <a:rPr dirty="0" sz="1200" spc="-5">
                <a:latin typeface="Times New Roman"/>
                <a:cs typeface="Times New Roman"/>
              </a:rPr>
              <a:t>iterates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times and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inner </a:t>
            </a:r>
            <a:r>
              <a:rPr dirty="0" sz="1200" spc="-10">
                <a:latin typeface="Times New Roman"/>
                <a:cs typeface="Times New Roman"/>
              </a:rPr>
              <a:t>while-loop </a:t>
            </a:r>
            <a:r>
              <a:rPr dirty="0" sz="1200" spc="-5">
                <a:latin typeface="Times New Roman"/>
                <a:cs typeface="Times New Roman"/>
              </a:rPr>
              <a:t>also iterates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10">
                <a:latin typeface="Times New Roman"/>
                <a:cs typeface="Times New Roman"/>
              </a:rPr>
              <a:t>time for </a:t>
            </a:r>
            <a:r>
              <a:rPr dirty="0" sz="1200" spc="-5">
                <a:latin typeface="Times New Roman"/>
                <a:cs typeface="Times New Roman"/>
              </a:rPr>
              <a:t>a total of </a:t>
            </a:r>
            <a:r>
              <a:rPr dirty="0" sz="1200" spc="45">
                <a:latin typeface="Lucida Sans Unicode"/>
                <a:cs typeface="Lucida Sans Unicode"/>
              </a:rPr>
              <a:t>Θ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. </a:t>
            </a:r>
            <a:r>
              <a:rPr dirty="0" sz="1200" spc="-10">
                <a:latin typeface="Times New Roman"/>
                <a:cs typeface="Times New Roman"/>
              </a:rPr>
              <a:t>Combined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runtime</a:t>
            </a:r>
            <a:r>
              <a:rPr dirty="0" sz="1200" spc="-5">
                <a:latin typeface="Times New Roman"/>
                <a:cs typeface="Times New Roman"/>
              </a:rPr>
              <a:t> of entire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plane-sweep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925"/>
              </a:spcBef>
              <a:tabLst>
                <a:tab pos="70104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1.11.4	</a:t>
            </a:r>
            <a:r>
              <a:rPr dirty="0" sz="1400" spc="15" b="1">
                <a:latin typeface="Times New Roman"/>
                <a:cs typeface="Times New Roman"/>
              </a:rPr>
              <a:t>Comparison</a:t>
            </a:r>
            <a:r>
              <a:rPr dirty="0" sz="1400" spc="10" b="1">
                <a:latin typeface="Times New Roman"/>
                <a:cs typeface="Times New Roman"/>
              </a:rPr>
              <a:t> of </a:t>
            </a:r>
            <a:r>
              <a:rPr dirty="0" sz="1400" spc="5" b="1">
                <a:latin typeface="Times New Roman"/>
                <a:cs typeface="Times New Roman"/>
              </a:rPr>
              <a:t>Brute-force</a:t>
            </a:r>
            <a:r>
              <a:rPr dirty="0" sz="1400" spc="10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and</a:t>
            </a:r>
            <a:r>
              <a:rPr dirty="0" sz="1400" spc="10" b="1">
                <a:latin typeface="Times New Roman"/>
                <a:cs typeface="Times New Roman"/>
              </a:rPr>
              <a:t> Plane</a:t>
            </a:r>
            <a:r>
              <a:rPr dirty="0" sz="1400" spc="15" b="1">
                <a:latin typeface="Times New Roman"/>
                <a:cs typeface="Times New Roman"/>
              </a:rPr>
              <a:t> sweep</a:t>
            </a:r>
            <a:r>
              <a:rPr dirty="0" sz="1400" spc="10" b="1">
                <a:latin typeface="Times New Roman"/>
                <a:cs typeface="Times New Roman"/>
              </a:rPr>
              <a:t> algorithms</a:t>
            </a:r>
            <a:endParaRPr sz="1400">
              <a:latin typeface="Times New Roman"/>
              <a:cs typeface="Times New Roman"/>
            </a:endParaRPr>
          </a:p>
          <a:p>
            <a:pPr algn="just" marL="63500">
              <a:lnSpc>
                <a:spcPct val="100000"/>
              </a:lnSpc>
              <a:spcBef>
                <a:spcPts val="1290"/>
              </a:spcBef>
            </a:pP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much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Times New Roman"/>
                <a:cs typeface="Times New Roman"/>
              </a:rPr>
              <a:t>improvement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plane-sweep </a:t>
            </a:r>
            <a:r>
              <a:rPr dirty="0" sz="1200" spc="-15">
                <a:latin typeface="Times New Roman"/>
                <a:cs typeface="Times New Roman"/>
              </a:rPr>
              <a:t>over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brute-force?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ratio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712468" y="4193719"/>
            <a:ext cx="240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22">
                <a:latin typeface="Lucida Sans Unicode"/>
                <a:cs typeface="Lucida Sans Unicode"/>
              </a:rPr>
              <a:t>n</a:t>
            </a:r>
            <a:r>
              <a:rPr dirty="0" sz="800" spc="15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633215" y="4475404"/>
            <a:ext cx="396240" cy="6350"/>
          </a:xfrm>
          <a:custGeom>
            <a:avLst/>
            <a:gdLst/>
            <a:ahLst/>
            <a:cxnLst/>
            <a:rect l="l" t="t" r="r" b="b"/>
            <a:pathLst>
              <a:path w="396239" h="6350">
                <a:moveTo>
                  <a:pt x="395820" y="0"/>
                </a:moveTo>
                <a:lnTo>
                  <a:pt x="0" y="0"/>
                </a:lnTo>
                <a:lnTo>
                  <a:pt x="0" y="6171"/>
                </a:lnTo>
                <a:lnTo>
                  <a:pt x="395820" y="6171"/>
                </a:lnTo>
                <a:lnTo>
                  <a:pt x="3958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3633595" y="4455579"/>
            <a:ext cx="5683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sz="1200" spc="15">
                <a:latin typeface="Times New Roman"/>
                <a:cs typeface="Times New Roman"/>
              </a:rPr>
              <a:t>log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074094" y="4351452"/>
            <a:ext cx="140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364302" y="4248811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4259579" y="4475404"/>
            <a:ext cx="337185" cy="6350"/>
          </a:xfrm>
          <a:custGeom>
            <a:avLst/>
            <a:gdLst/>
            <a:ahLst/>
            <a:cxnLst/>
            <a:rect l="l" t="t" r="r" b="b"/>
            <a:pathLst>
              <a:path w="337185" h="6350">
                <a:moveTo>
                  <a:pt x="337184" y="0"/>
                </a:moveTo>
                <a:lnTo>
                  <a:pt x="0" y="0"/>
                </a:lnTo>
                <a:lnTo>
                  <a:pt x="0" y="6171"/>
                </a:lnTo>
                <a:lnTo>
                  <a:pt x="337184" y="6171"/>
                </a:lnTo>
                <a:lnTo>
                  <a:pt x="3371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4246230" y="4455579"/>
            <a:ext cx="3625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01698" y="6233972"/>
            <a:ext cx="6426200" cy="1125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105">
                <a:latin typeface="Lucida Sans Unicode"/>
                <a:cs typeface="Lucida Sans Unicode"/>
              </a:rPr>
              <a:t>1, </a:t>
            </a:r>
            <a:r>
              <a:rPr dirty="0" sz="1200" spc="-135">
                <a:latin typeface="Lucida Sans Unicode"/>
                <a:cs typeface="Lucida Sans Unicode"/>
              </a:rPr>
              <a:t>000, </a:t>
            </a:r>
            <a:r>
              <a:rPr dirty="0" sz="1200" spc="-125">
                <a:latin typeface="Lucida Sans Unicode"/>
                <a:cs typeface="Lucida Sans Unicode"/>
              </a:rPr>
              <a:t>000</a:t>
            </a:r>
            <a:r>
              <a:rPr dirty="0" sz="1200" spc="-125">
                <a:latin typeface="Times New Roman"/>
                <a:cs typeface="Times New Roman"/>
              </a:rPr>
              <a:t>,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plane-sweep </a:t>
            </a:r>
            <a:r>
              <a:rPr dirty="0" sz="1200" spc="-10">
                <a:latin typeface="Times New Roman"/>
                <a:cs typeface="Times New Roman"/>
              </a:rPr>
              <a:t>takes </a:t>
            </a:r>
            <a:r>
              <a:rPr dirty="0" sz="1200" spc="-5">
                <a:latin typeface="Times New Roman"/>
                <a:cs typeface="Times New Roman"/>
              </a:rPr>
              <a:t>1 second, </a:t>
            </a:r>
            <a:r>
              <a:rPr dirty="0" sz="1200" spc="-10">
                <a:latin typeface="Times New Roman"/>
                <a:cs typeface="Times New Roman"/>
              </a:rPr>
              <a:t>the brute-force will take </a:t>
            </a:r>
            <a:r>
              <a:rPr dirty="0" sz="1200" spc="-5">
                <a:latin typeface="Times New Roman"/>
                <a:cs typeface="Times New Roman"/>
              </a:rPr>
              <a:t>about 14 </a:t>
            </a:r>
            <a:r>
              <a:rPr dirty="0" sz="1200" spc="-10">
                <a:latin typeface="Times New Roman"/>
                <a:cs typeface="Times New Roman"/>
              </a:rPr>
              <a:t>hours!. </a:t>
            </a:r>
            <a:r>
              <a:rPr dirty="0" sz="1200" spc="-5">
                <a:latin typeface="Times New Roman"/>
                <a:cs typeface="Times New Roman"/>
              </a:rPr>
              <a:t>From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importance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asymptotic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analysis.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tells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mentioned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before,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almost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fast.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inputs,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continue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grow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until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people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longer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tolerate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designing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 spc="-15">
                <a:latin typeface="Times New Roman"/>
                <a:cs typeface="Times New Roman"/>
              </a:rPr>
              <a:t> efficiently,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make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user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run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 inputs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reasonable</a:t>
            </a:r>
            <a:r>
              <a:rPr dirty="0" sz="1200" spc="-10">
                <a:latin typeface="Times New Roman"/>
                <a:cs typeface="Times New Roman"/>
              </a:rPr>
              <a:t> amount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233096" y="520987"/>
            <a:ext cx="209550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1.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INTRODUCTION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15669" y="8813317"/>
            <a:ext cx="4805045" cy="160020"/>
          </a:xfrm>
          <a:custGeom>
            <a:avLst/>
            <a:gdLst/>
            <a:ahLst/>
            <a:cxnLst/>
            <a:rect l="l" t="t" r="r" b="b"/>
            <a:pathLst>
              <a:path w="4805045" h="160020">
                <a:moveTo>
                  <a:pt x="4804829" y="0"/>
                </a:moveTo>
                <a:lnTo>
                  <a:pt x="0" y="0"/>
                </a:lnTo>
                <a:lnTo>
                  <a:pt x="0" y="159397"/>
                </a:lnTo>
                <a:lnTo>
                  <a:pt x="4804829" y="159397"/>
                </a:lnTo>
                <a:lnTo>
                  <a:pt x="4804829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3510267" y="7675346"/>
            <a:ext cx="1273175" cy="163195"/>
          </a:xfrm>
          <a:custGeom>
            <a:avLst/>
            <a:gdLst/>
            <a:ahLst/>
            <a:cxnLst/>
            <a:rect l="l" t="t" r="r" b="b"/>
            <a:pathLst>
              <a:path w="1273175" h="163195">
                <a:moveTo>
                  <a:pt x="1272971" y="0"/>
                </a:moveTo>
                <a:lnTo>
                  <a:pt x="0" y="0"/>
                </a:lnTo>
                <a:lnTo>
                  <a:pt x="0" y="162661"/>
                </a:lnTo>
                <a:lnTo>
                  <a:pt x="1272971" y="162661"/>
                </a:lnTo>
                <a:lnTo>
                  <a:pt x="1272971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901699" y="1840994"/>
            <a:ext cx="2814955" cy="11017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10" b="1">
                <a:latin typeface="Times New Roman"/>
                <a:cs typeface="Times New Roman"/>
              </a:rPr>
              <a:t>Chapter</a:t>
            </a:r>
            <a:r>
              <a:rPr dirty="0" sz="2450" spc="-35" b="1">
                <a:latin typeface="Times New Roman"/>
                <a:cs typeface="Times New Roman"/>
              </a:rPr>
              <a:t> </a:t>
            </a:r>
            <a:r>
              <a:rPr dirty="0" sz="2450" spc="10" b="1">
                <a:latin typeface="Times New Roman"/>
                <a:cs typeface="Times New Roman"/>
              </a:rPr>
              <a:t>2</a:t>
            </a:r>
            <a:endParaRPr sz="2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2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2450" spc="10" b="1">
                <a:latin typeface="Times New Roman"/>
                <a:cs typeface="Times New Roman"/>
              </a:rPr>
              <a:t>Asymptotic</a:t>
            </a:r>
            <a:r>
              <a:rPr dirty="0" sz="2450" spc="-45" b="1">
                <a:latin typeface="Times New Roman"/>
                <a:cs typeface="Times New Roman"/>
              </a:rPr>
              <a:t> </a:t>
            </a:r>
            <a:r>
              <a:rPr dirty="0" sz="2450" spc="5" b="1">
                <a:latin typeface="Times New Roman"/>
                <a:cs typeface="Times New Roman"/>
              </a:rPr>
              <a:t>Notation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967483" y="6406312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74696" y="3456942"/>
            <a:ext cx="6671945" cy="59061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9700" marR="13208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continue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notation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Θ</a:t>
            </a:r>
            <a:r>
              <a:rPr dirty="0" sz="1200" spc="60">
                <a:latin typeface="Garamond"/>
                <a:cs typeface="Garamond"/>
              </a:rPr>
              <a:t>()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never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Let’s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remedy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now.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10">
                <a:latin typeface="Times New Roman"/>
                <a:cs typeface="Times New Roman"/>
              </a:rPr>
              <a:t>any function </a:t>
            </a:r>
            <a:r>
              <a:rPr dirty="0" sz="1200" spc="40">
                <a:latin typeface="Lucida Sans Unicode"/>
                <a:cs typeface="Lucida Sans Unicode"/>
              </a:rPr>
              <a:t>g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define </a:t>
            </a:r>
            <a:r>
              <a:rPr dirty="0" sz="1200" spc="55">
                <a:latin typeface="Lucida Sans Unicode"/>
                <a:cs typeface="Lucida Sans Unicode"/>
              </a:rPr>
              <a:t>Θ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g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)) </a:t>
            </a:r>
            <a:r>
              <a:rPr dirty="0" sz="1200" spc="-5">
                <a:latin typeface="Times New Roman"/>
                <a:cs typeface="Times New Roman"/>
              </a:rPr>
              <a:t>to be a set of </a:t>
            </a:r>
            <a:r>
              <a:rPr dirty="0" sz="1200" spc="-10">
                <a:latin typeface="Times New Roman"/>
                <a:cs typeface="Times New Roman"/>
              </a:rPr>
              <a:t>functions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asymptotically </a:t>
            </a:r>
            <a:r>
              <a:rPr dirty="0" sz="1200" spc="-5" i="1">
                <a:latin typeface="Times New Roman"/>
                <a:cs typeface="Times New Roman"/>
              </a:rPr>
              <a:t>equivalent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g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Formally:</a:t>
            </a:r>
            <a:endParaRPr sz="1200">
              <a:latin typeface="Times New Roman"/>
              <a:cs typeface="Times New Roman"/>
            </a:endParaRPr>
          </a:p>
          <a:p>
            <a:pPr marL="2611120" marR="2056764" indent="-538480">
              <a:lnSpc>
                <a:spcPct val="121100"/>
              </a:lnSpc>
              <a:spcBef>
                <a:spcPts val="805"/>
              </a:spcBef>
            </a:pPr>
            <a:r>
              <a:rPr dirty="0" sz="1200" spc="-35">
                <a:latin typeface="Lucida Sans Unicode"/>
                <a:cs typeface="Lucida Sans Unicode"/>
              </a:rPr>
              <a:t>Θ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{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95">
                <a:latin typeface="Lucida Sans Unicode"/>
                <a:cs typeface="Lucida Sans Unicode"/>
              </a:rPr>
              <a:t>|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xi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  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c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-13888" sz="1200" spc="-15">
                <a:latin typeface="Verdana"/>
                <a:cs typeface="Verdana"/>
              </a:rPr>
              <a:t>0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 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baseline="-13888" sz="1200" spc="-44">
                <a:latin typeface="Verdana"/>
                <a:cs typeface="Verdana"/>
              </a:rPr>
              <a:t>2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00">
                <a:latin typeface="Garamond"/>
                <a:cs typeface="Garamond"/>
              </a:rPr>
              <a:t>) 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n</a:t>
            </a:r>
            <a:r>
              <a:rPr dirty="0" baseline="-13888" sz="1200">
                <a:latin typeface="Verdana"/>
                <a:cs typeface="Verdana"/>
              </a:rPr>
              <a:t>0</a:t>
            </a:r>
            <a:r>
              <a:rPr dirty="0" sz="1200">
                <a:latin typeface="Lucida Sans Unicode"/>
                <a:cs typeface="Lucida Sans Unicode"/>
              </a:rPr>
              <a:t>}</a:t>
            </a:r>
            <a:endParaRPr sz="1200">
              <a:latin typeface="Lucida Sans Unicode"/>
              <a:cs typeface="Lucida Sans Unicode"/>
            </a:endParaRPr>
          </a:p>
          <a:p>
            <a:pPr marL="139700" marR="290830" indent="-635">
              <a:lnSpc>
                <a:spcPct val="100000"/>
              </a:lnSpc>
              <a:spcBef>
                <a:spcPts val="1610"/>
              </a:spcBef>
            </a:pP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written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“</a:t>
            </a:r>
            <a:r>
              <a:rPr dirty="0" sz="1200" spc="65">
                <a:latin typeface="Lucida Sans Unicode"/>
                <a:cs typeface="Lucida Sans Unicode"/>
              </a:rPr>
              <a:t>f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n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10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Θ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Garamond"/>
                <a:cs typeface="Garamond"/>
              </a:rPr>
              <a:t>))</a:t>
            </a:r>
            <a:r>
              <a:rPr dirty="0" sz="1200" spc="45">
                <a:latin typeface="Times New Roman"/>
                <a:cs typeface="Times New Roman"/>
              </a:rPr>
              <a:t>”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g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asymptotically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equivalent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essentially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 spc="-15">
                <a:latin typeface="Times New Roman"/>
                <a:cs typeface="Times New Roman"/>
              </a:rPr>
              <a:t>growth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rates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511175" indent="-151130">
              <a:lnSpc>
                <a:spcPct val="100000"/>
              </a:lnSpc>
              <a:buFont typeface="Segoe UI Symbol"/>
              <a:buChar char="•"/>
              <a:tabLst>
                <a:tab pos="511809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4n</a:t>
            </a:r>
            <a:r>
              <a:rPr dirty="0" baseline="31250" sz="1200" spc="-60">
                <a:latin typeface="Verdana"/>
                <a:cs typeface="Verdana"/>
              </a:rPr>
              <a:t>2</a:t>
            </a:r>
            <a:r>
              <a:rPr dirty="0" sz="1200" spc="-40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 marL="511175" indent="-151130">
              <a:lnSpc>
                <a:spcPct val="100000"/>
              </a:lnSpc>
              <a:spcBef>
                <a:spcPts val="969"/>
              </a:spcBef>
              <a:buFont typeface="Segoe UI Symbol"/>
              <a:buChar char="•"/>
              <a:tabLst>
                <a:tab pos="511809" algn="l"/>
              </a:tabLst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1250" sz="1200" spc="-15">
                <a:latin typeface="Verdana"/>
                <a:cs typeface="Verdana"/>
              </a:rPr>
              <a:t>2</a:t>
            </a:r>
            <a:r>
              <a:rPr dirty="0" baseline="31250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 marL="511175" indent="-151130">
              <a:lnSpc>
                <a:spcPct val="100000"/>
              </a:lnSpc>
              <a:spcBef>
                <a:spcPts val="975"/>
              </a:spcBef>
              <a:buFont typeface="Segoe UI Symbol"/>
              <a:buChar char="•"/>
              <a:tabLst>
                <a:tab pos="511809" algn="l"/>
              </a:tabLst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1250" sz="1200" spc="-44">
                <a:latin typeface="Verdana"/>
                <a:cs typeface="Verdana"/>
              </a:rPr>
              <a:t>2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baseline="41666" sz="1800" spc="-52">
                <a:latin typeface="Segoe UI Symbol"/>
                <a:cs typeface="Segoe UI Symbol"/>
              </a:rPr>
              <a:t>√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10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11175" indent="-151130">
              <a:lnSpc>
                <a:spcPct val="100000"/>
              </a:lnSpc>
              <a:spcBef>
                <a:spcPts val="969"/>
              </a:spcBef>
              <a:buFont typeface="Segoe UI Symbol"/>
              <a:buChar char="•"/>
              <a:tabLst>
                <a:tab pos="511809" algn="l"/>
              </a:tabLst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39700" marR="460375">
              <a:lnSpc>
                <a:spcPct val="100000"/>
              </a:lnSpc>
              <a:spcBef>
                <a:spcPts val="1430"/>
              </a:spcBef>
            </a:pPr>
            <a:r>
              <a:rPr dirty="0" sz="1200" spc="-5">
                <a:latin typeface="Times New Roman"/>
                <a:cs typeface="Times New Roman"/>
              </a:rPr>
              <a:t>are 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asymptotically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equivalent.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becomes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dominant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(fastest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growing)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some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31250" sz="1200" spc="7">
                <a:latin typeface="Verdana"/>
                <a:cs typeface="Verdana"/>
              </a:rPr>
              <a:t>2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39065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</a:t>
            </a:r>
            <a:endParaRPr sz="1200">
              <a:latin typeface="Times New Roman"/>
              <a:cs typeface="Times New Roman"/>
            </a:endParaRPr>
          </a:p>
          <a:p>
            <a:pPr algn="ctr" marL="8255">
              <a:lnSpc>
                <a:spcPct val="100000"/>
              </a:lnSpc>
              <a:spcBef>
                <a:spcPts val="5"/>
              </a:spcBef>
            </a:pP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4722" sz="1200" spc="-15">
                <a:latin typeface="Verdana"/>
                <a:cs typeface="Verdana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endParaRPr sz="1200">
              <a:latin typeface="Lucida Sans Unicode"/>
              <a:cs typeface="Lucida Sans Unicode"/>
            </a:endParaRPr>
          </a:p>
          <a:p>
            <a:pPr marL="139700" marR="123189">
              <a:lnSpc>
                <a:spcPct val="100000"/>
              </a:lnSpc>
              <a:spcBef>
                <a:spcPts val="605"/>
              </a:spcBef>
            </a:pPr>
            <a:r>
              <a:rPr dirty="0" sz="1200" spc="-10">
                <a:latin typeface="Times New Roman"/>
                <a:cs typeface="Times New Roman"/>
              </a:rPr>
              <a:t>Our informal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rule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keeping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largest</a:t>
            </a:r>
            <a:r>
              <a:rPr dirty="0" sz="1200" spc="-5">
                <a:latin typeface="Times New Roman"/>
                <a:cs typeface="Times New Roman"/>
              </a:rPr>
              <a:t> term and </a:t>
            </a:r>
            <a:r>
              <a:rPr dirty="0" sz="1200" spc="-10">
                <a:latin typeface="Times New Roman"/>
                <a:cs typeface="Times New Roman"/>
              </a:rPr>
              <a:t>ignoring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 suggests that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10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Θ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n</a:t>
            </a:r>
            <a:r>
              <a:rPr dirty="0" baseline="31250" sz="1200" spc="44">
                <a:latin typeface="Verdana"/>
                <a:cs typeface="Verdana"/>
              </a:rPr>
              <a:t>2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Let’s 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 spc="-10">
                <a:latin typeface="Times New Roman"/>
                <a:cs typeface="Times New Roman"/>
              </a:rPr>
              <a:t>why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bears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formally.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need to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things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endParaRPr sz="1200">
              <a:latin typeface="Times New Roman"/>
              <a:cs typeface="Times New Roman"/>
            </a:endParaRPr>
          </a:p>
          <a:p>
            <a:pPr algn="ctr" marL="8255">
              <a:lnSpc>
                <a:spcPct val="100000"/>
              </a:lnSpc>
              <a:spcBef>
                <a:spcPts val="1105"/>
              </a:spcBef>
            </a:pP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4722" sz="1200" spc="-15">
                <a:latin typeface="Verdana"/>
                <a:cs typeface="Verdana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39065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Lower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bound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8n</a:t>
            </a:r>
            <a:r>
              <a:rPr dirty="0" baseline="31250" sz="1200" spc="-67">
                <a:latin typeface="Verdana"/>
                <a:cs typeface="Verdana"/>
              </a:rPr>
              <a:t>2</a:t>
            </a:r>
            <a:r>
              <a:rPr dirty="0" baseline="31250" sz="1200" spc="-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2n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grows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asymptotically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31250" sz="1200" spc="7">
                <a:latin typeface="Verdana"/>
                <a:cs typeface="Verdana"/>
              </a:rPr>
              <a:t>2</a:t>
            </a:r>
            <a:r>
              <a:rPr dirty="0" sz="1200" spc="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00">
              <a:latin typeface="Times New Roman"/>
              <a:cs typeface="Times New Roman"/>
            </a:endParaRPr>
          </a:p>
          <a:p>
            <a:pPr algn="ctr" marL="825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23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627535" y="520987"/>
            <a:ext cx="270065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2.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ASYMPTOTIC </a:t>
            </a:r>
            <a:r>
              <a:rPr dirty="0" sz="1200" spc="-45">
                <a:latin typeface="Times New Roman"/>
                <a:cs typeface="Times New Roman"/>
              </a:rPr>
              <a:t>NOTATION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9" y="926454"/>
            <a:ext cx="1247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Upper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bound</a:t>
            </a:r>
            <a:r>
              <a:rPr dirty="0" sz="1200" spc="240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174214" y="964222"/>
            <a:ext cx="2400300" cy="16002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40"/>
              </a:lnSpc>
            </a:pPr>
            <a:r>
              <a:rPr dirty="0" sz="1200" spc="-15">
                <a:latin typeface="Times New Roman"/>
                <a:cs typeface="Times New Roman"/>
              </a:rPr>
              <a:t>grows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 faster </a:t>
            </a:r>
            <a:r>
              <a:rPr dirty="0" sz="1200" spc="-10">
                <a:latin typeface="Times New Roman"/>
                <a:cs typeface="Times New Roman"/>
              </a:rPr>
              <a:t>asymptotically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31250" sz="1200" spc="7">
                <a:latin typeface="Verdana"/>
                <a:cs typeface="Verdana"/>
              </a:rPr>
              <a:t>2</a:t>
            </a:r>
            <a:r>
              <a:rPr dirty="0" sz="1200" spc="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4400" y="1307464"/>
            <a:ext cx="3629660" cy="16002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40"/>
              </a:lnSpc>
            </a:pPr>
            <a:r>
              <a:rPr dirty="0" sz="1200" spc="-10" b="1">
                <a:latin typeface="Times New Roman"/>
                <a:cs typeface="Times New Roman"/>
              </a:rPr>
              <a:t>Lower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bound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grows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asymptotically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43497" y="1269697"/>
            <a:ext cx="25920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31250" sz="1200" spc="7">
                <a:latin typeface="Verdana"/>
                <a:cs typeface="Verdana"/>
              </a:rPr>
              <a:t>2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this,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exist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76301" y="1453149"/>
            <a:ext cx="5616575" cy="50545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5">
                <a:latin typeface="Times New Roman"/>
                <a:cs typeface="Times New Roman"/>
              </a:rPr>
              <a:t>positive</a:t>
            </a:r>
            <a:r>
              <a:rPr dirty="0" sz="1200" spc="-5">
                <a:latin typeface="Times New Roman"/>
                <a:cs typeface="Times New Roman"/>
              </a:rPr>
              <a:t> constants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c</a:t>
            </a:r>
            <a:r>
              <a:rPr dirty="0" baseline="-13888" sz="1200" spc="-37">
                <a:latin typeface="Verdana"/>
                <a:cs typeface="Verdana"/>
              </a:rPr>
              <a:t>1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-13888" sz="1200" spc="7">
                <a:latin typeface="Verdana"/>
                <a:cs typeface="Verdana"/>
              </a:rPr>
              <a:t>0</a:t>
            </a:r>
            <a:r>
              <a:rPr dirty="0" sz="1200" spc="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c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sz="1200" spc="-10">
                <a:latin typeface="Lucida Sans Unicode"/>
                <a:cs typeface="Lucida Sans Unicode"/>
              </a:rPr>
              <a:t>n</a:t>
            </a:r>
            <a:r>
              <a:rPr dirty="0" baseline="31250" sz="1200" spc="-15">
                <a:latin typeface="Verdana"/>
                <a:cs typeface="Verdana"/>
              </a:rPr>
              <a:t>2</a:t>
            </a:r>
            <a:r>
              <a:rPr dirty="0" baseline="31250" sz="1200" spc="-7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-13888" sz="1200" spc="7">
                <a:latin typeface="Verdana"/>
                <a:cs typeface="Verdana"/>
              </a:rPr>
              <a:t>0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reasoning</a:t>
            </a:r>
            <a:endParaRPr sz="1200">
              <a:latin typeface="Times New Roman"/>
              <a:cs typeface="Times New Roman"/>
            </a:endParaRPr>
          </a:p>
          <a:p>
            <a:pPr marL="1421765">
              <a:lnSpc>
                <a:spcPct val="100000"/>
              </a:lnSpc>
              <a:spcBef>
                <a:spcPts val="905"/>
              </a:spcBef>
            </a:pP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8n</a:t>
            </a:r>
            <a:r>
              <a:rPr dirty="0" baseline="34722" sz="1200" spc="-67">
                <a:latin typeface="Verdana"/>
                <a:cs typeface="Verdana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2n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8n</a:t>
            </a:r>
            <a:r>
              <a:rPr dirty="0" baseline="34722" sz="1200" spc="-67">
                <a:latin typeface="Verdana"/>
                <a:cs typeface="Verdana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7n</a:t>
            </a:r>
            <a:r>
              <a:rPr dirty="0" baseline="34722" sz="1200" spc="-67">
                <a:latin typeface="Verdana"/>
                <a:cs typeface="Verdana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4722" sz="1200" spc="67">
                <a:latin typeface="Verdana"/>
                <a:cs typeface="Verdana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7n</a:t>
            </a:r>
            <a:r>
              <a:rPr dirty="0" baseline="34722" sz="1200" spc="-67">
                <a:latin typeface="Verdana"/>
                <a:cs typeface="Verdana"/>
              </a:rPr>
              <a:t>2</a:t>
            </a:r>
            <a:endParaRPr baseline="34722" sz="1200">
              <a:latin typeface="Verdana"/>
              <a:cs typeface="Verdan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76302" y="2048879"/>
            <a:ext cx="60864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14">
                <a:latin typeface="Times New Roman"/>
                <a:cs typeface="Times New Roman"/>
              </a:rPr>
              <a:t>Thus</a:t>
            </a:r>
            <a:r>
              <a:rPr dirty="0" baseline="-20833" sz="1800" spc="-172">
                <a:latin typeface="Segoe UI Symbol"/>
                <a:cs typeface="Segoe UI Symbol"/>
              </a:rPr>
              <a:t>√</a:t>
            </a:r>
            <a:r>
              <a:rPr dirty="0" sz="1200" spc="-114">
                <a:latin typeface="Lucida Sans Unicode"/>
                <a:cs typeface="Lucida Sans Unicode"/>
              </a:rPr>
              <a:t>c</a:t>
            </a:r>
            <a:r>
              <a:rPr dirty="0" u="sng" baseline="-13888" sz="1200" spc="-172">
                <a:uFill>
                  <a:solidFill>
                    <a:srgbClr val="000000"/>
                  </a:solidFill>
                </a:uFill>
                <a:latin typeface="Verdana"/>
                <a:cs typeface="Verdana"/>
              </a:rPr>
              <a:t>1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7</a:t>
            </a:r>
            <a:r>
              <a:rPr dirty="0" sz="1200" spc="-8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implicitly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95">
                <a:latin typeface="Lucida Sans Unicode"/>
                <a:cs typeface="Lucida Sans Unicode"/>
              </a:rPr>
              <a:t>2n</a:t>
            </a:r>
            <a:r>
              <a:rPr dirty="0" baseline="-20833" sz="1800" spc="-442">
                <a:latin typeface="Segoe UI Symbol"/>
                <a:cs typeface="Segoe UI Symbol"/>
              </a:rPr>
              <a:t>√</a:t>
            </a:r>
            <a:r>
              <a:rPr dirty="0" sz="1200" spc="-295">
                <a:latin typeface="Segoe UI Symbol"/>
                <a:cs typeface="Segoe UI Symbol"/>
              </a:rPr>
              <a:t>≥</a:t>
            </a:r>
            <a:r>
              <a:rPr dirty="0" u="sng" sz="1200" spc="290">
                <a:uFill>
                  <a:solidFill>
                    <a:srgbClr val="00000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baseline="31250" sz="1200" spc="22">
                <a:latin typeface="Verdana"/>
                <a:cs typeface="Verdana"/>
              </a:rPr>
              <a:t>2</a:t>
            </a:r>
            <a:r>
              <a:rPr dirty="0" baseline="31250" sz="1200" spc="-44">
                <a:latin typeface="Verdana"/>
                <a:cs typeface="Verdana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if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76300" y="2165693"/>
            <a:ext cx="6282055" cy="1004569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20"/>
              </a:spcBef>
              <a:tabLst>
                <a:tab pos="467359" algn="l"/>
                <a:tab pos="2844165" algn="l"/>
              </a:tabLst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	</a:t>
            </a:r>
            <a:r>
              <a:rPr dirty="0" sz="1200" spc="-85">
                <a:latin typeface="Lucida Sans Unicode"/>
                <a:cs typeface="Lucida Sans Unicode"/>
              </a:rPr>
              <a:t>3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true.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baseline="-13888" sz="1200" spc="22">
                <a:latin typeface="Verdana"/>
                <a:cs typeface="Verdana"/>
              </a:rPr>
              <a:t>0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	</a:t>
            </a:r>
            <a:r>
              <a:rPr dirty="0" sz="1200" spc="-85">
                <a:latin typeface="Lucida Sans Unicode"/>
                <a:cs typeface="Lucida Sans Unicode"/>
              </a:rPr>
              <a:t>3</a:t>
            </a:r>
            <a:r>
              <a:rPr dirty="0" sz="1200" spc="-8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c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sz="1200" spc="-10">
                <a:latin typeface="Lucida Sans Unicode"/>
                <a:cs typeface="Lucida Sans Unicode"/>
              </a:rPr>
              <a:t>n</a:t>
            </a:r>
            <a:r>
              <a:rPr dirty="0" baseline="31250" sz="1200" spc="-15">
                <a:latin typeface="Verdana"/>
                <a:cs typeface="Verdana"/>
              </a:rPr>
              <a:t>2</a:t>
            </a:r>
            <a:r>
              <a:rPr dirty="0" baseline="31250" sz="1200" spc="-7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5">
                <a:latin typeface="Segoe UI Symbol"/>
                <a:cs typeface="Segoe UI Symbol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-13888" sz="1200" spc="7">
                <a:latin typeface="Verdana"/>
                <a:cs typeface="Verdana"/>
              </a:rPr>
              <a:t>0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38100" marR="30480">
              <a:lnSpc>
                <a:spcPct val="100000"/>
              </a:lnSpc>
              <a:spcBef>
                <a:spcPts val="520"/>
              </a:spcBef>
            </a:pPr>
            <a:r>
              <a:rPr dirty="0" sz="1200" spc="-5" b="1">
                <a:latin typeface="Times New Roman"/>
                <a:cs typeface="Times New Roman"/>
              </a:rPr>
              <a:t>Upper bound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grows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asymptotically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31250" sz="1200" spc="7">
                <a:latin typeface="Verdana"/>
                <a:cs typeface="Verdana"/>
              </a:rPr>
              <a:t>2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exist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positive</a:t>
            </a:r>
            <a:r>
              <a:rPr dirty="0" sz="1200" spc="-5">
                <a:latin typeface="Times New Roman"/>
                <a:cs typeface="Times New Roman"/>
              </a:rPr>
              <a:t> constants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c</a:t>
            </a:r>
            <a:r>
              <a:rPr dirty="0" baseline="-13888" sz="1200" spc="-37">
                <a:latin typeface="Verdana"/>
                <a:cs typeface="Verdana"/>
              </a:rPr>
              <a:t>2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-13888" sz="1200" spc="7">
                <a:latin typeface="Verdana"/>
                <a:cs typeface="Verdana"/>
              </a:rPr>
              <a:t>0</a:t>
            </a:r>
            <a:r>
              <a:rPr dirty="0" sz="1200" spc="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such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c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sz="1200" spc="-10">
                <a:latin typeface="Lucida Sans Unicode"/>
                <a:cs typeface="Lucida Sans Unicode"/>
              </a:rPr>
              <a:t>n</a:t>
            </a:r>
            <a:r>
              <a:rPr dirty="0" baseline="31250" sz="1200" spc="-15">
                <a:latin typeface="Verdana"/>
                <a:cs typeface="Verdana"/>
              </a:rPr>
              <a:t>2</a:t>
            </a:r>
            <a:r>
              <a:rPr dirty="0" baseline="31250" sz="1200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all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-13888" sz="1200" spc="7">
                <a:latin typeface="Verdana"/>
                <a:cs typeface="Verdana"/>
              </a:rPr>
              <a:t>0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reasoning</a:t>
            </a:r>
            <a:endParaRPr sz="1200">
              <a:latin typeface="Times New Roman"/>
              <a:cs typeface="Times New Roman"/>
            </a:endParaRPr>
          </a:p>
          <a:p>
            <a:pPr algn="ctr" marL="197485">
              <a:lnSpc>
                <a:spcPct val="100000"/>
              </a:lnSpc>
              <a:spcBef>
                <a:spcPts val="910"/>
              </a:spcBef>
            </a:pP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8n</a:t>
            </a:r>
            <a:r>
              <a:rPr dirty="0" baseline="34722" sz="1200" spc="-67">
                <a:latin typeface="Verdana"/>
                <a:cs typeface="Verdana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2n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8n</a:t>
            </a:r>
            <a:r>
              <a:rPr dirty="0" baseline="34722" sz="1200" spc="-67">
                <a:latin typeface="Verdana"/>
                <a:cs typeface="Verdana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2n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8n</a:t>
            </a:r>
            <a:r>
              <a:rPr dirty="0" baseline="34722" sz="1200" spc="-67">
                <a:latin typeface="Verdana"/>
                <a:cs typeface="Verdana"/>
              </a:rPr>
              <a:t>2</a:t>
            </a:r>
            <a:r>
              <a:rPr dirty="0" baseline="34722" sz="1200" spc="-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2n</a:t>
            </a:r>
            <a:r>
              <a:rPr dirty="0" baseline="34722" sz="1200" spc="-67">
                <a:latin typeface="Verdana"/>
                <a:cs typeface="Verdana"/>
              </a:rPr>
              <a:t>2</a:t>
            </a:r>
            <a:r>
              <a:rPr dirty="0" baseline="34722" sz="1200" spc="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10n</a:t>
            </a:r>
            <a:r>
              <a:rPr dirty="0" baseline="34722" sz="1200" spc="-112">
                <a:latin typeface="Verdana"/>
                <a:cs typeface="Verdana"/>
              </a:rPr>
              <a:t>2</a:t>
            </a:r>
            <a:endParaRPr baseline="34722" sz="12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76301" y="3260346"/>
            <a:ext cx="63646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Thus </a:t>
            </a:r>
            <a:r>
              <a:rPr dirty="0" sz="1200" spc="-25">
                <a:latin typeface="Lucida Sans Unicode"/>
                <a:cs typeface="Lucida Sans Unicode"/>
              </a:rPr>
              <a:t>c</a:t>
            </a:r>
            <a:r>
              <a:rPr dirty="0" baseline="-13888" sz="1200" spc="-37">
                <a:latin typeface="Verdana"/>
                <a:cs typeface="Verdana"/>
              </a:rPr>
              <a:t>2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10</a:t>
            </a:r>
            <a:r>
              <a:rPr dirty="0" sz="1200" spc="-11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implicitly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assumption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2n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2n</a:t>
            </a:r>
            <a:r>
              <a:rPr dirty="0" baseline="31250" sz="1200" spc="-60">
                <a:latin typeface="Verdana"/>
                <a:cs typeface="Verdana"/>
              </a:rPr>
              <a:t>2</a:t>
            </a:r>
            <a:r>
              <a:rPr dirty="0" sz="1200" spc="-4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76303" y="3443797"/>
            <a:ext cx="45802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baseline="-13888" sz="1200" spc="22">
                <a:latin typeface="Verdana"/>
                <a:cs typeface="Verdana"/>
              </a:rPr>
              <a:t>0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c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sz="1200" spc="-10">
                <a:latin typeface="Lucida Sans Unicode"/>
                <a:cs typeface="Lucida Sans Unicode"/>
              </a:rPr>
              <a:t>n</a:t>
            </a:r>
            <a:r>
              <a:rPr dirty="0" baseline="31250" sz="1200" spc="-15">
                <a:latin typeface="Verdana"/>
                <a:cs typeface="Verdana"/>
              </a:rPr>
              <a:t>2</a:t>
            </a:r>
            <a:r>
              <a:rPr dirty="0" baseline="31250" sz="1200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-13888" sz="1200" spc="7">
                <a:latin typeface="Verdana"/>
                <a:cs typeface="Verdana"/>
              </a:rPr>
              <a:t>0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01359" y="3765983"/>
            <a:ext cx="88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890519" y="3563468"/>
            <a:ext cx="226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Segoe UI Symbol"/>
                <a:cs typeface="Segoe UI Symbol"/>
              </a:rPr>
              <a:t>√</a:t>
            </a:r>
            <a:endParaRPr sz="1200">
              <a:latin typeface="Segoe UI Symbol"/>
              <a:cs typeface="Segoe UI Symbol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104387" y="3722548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5008384" y="3765984"/>
            <a:ext cx="88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01704" y="3692627"/>
            <a:ext cx="44716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01545" algn="l"/>
              </a:tabLst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ro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	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ro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upp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347627" y="3692627"/>
            <a:ext cx="186308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Combining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two, we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185345" y="3765984"/>
            <a:ext cx="88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763538" y="3746921"/>
            <a:ext cx="3491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64229" algn="l"/>
              </a:tabLst>
            </a:pPr>
            <a:r>
              <a:rPr dirty="0" sz="1200" spc="-35">
                <a:latin typeface="Segoe UI Symbol"/>
                <a:cs typeface="Segoe UI Symbol"/>
              </a:rPr>
              <a:t>√	</a:t>
            </a:r>
            <a:r>
              <a:rPr dirty="0" sz="1200" spc="-730">
                <a:latin typeface="Segoe UI Symbol"/>
                <a:cs typeface="Segoe UI Symbol"/>
              </a:rPr>
              <a:t>√</a:t>
            </a:r>
            <a:endParaRPr sz="1200">
              <a:latin typeface="Segoe UI Symbol"/>
              <a:cs typeface="Segoe UI Symbol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6254495" y="3905428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876304" y="3876080"/>
            <a:ext cx="60648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026285" algn="l"/>
                <a:tab pos="5378450" algn="l"/>
              </a:tabLst>
            </a:pP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r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20">
                <a:latin typeface="Times New Roman"/>
                <a:cs typeface="Times New Roman"/>
              </a:rPr>
              <a:t>w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-13888" sz="1200" spc="-15">
                <a:latin typeface="Verdana"/>
                <a:cs typeface="Verdana"/>
              </a:rPr>
              <a:t>0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	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ion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10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-13888" sz="1200" spc="-15">
                <a:latin typeface="Verdana"/>
                <a:cs typeface="Verdana"/>
              </a:rPr>
              <a:t>0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	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5477255" y="4194988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901699" y="4471810"/>
            <a:ext cx="15474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bli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76301" y="4173945"/>
            <a:ext cx="4791075" cy="11664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99589">
              <a:lnSpc>
                <a:spcPct val="100000"/>
              </a:lnSpc>
              <a:spcBef>
                <a:spcPts val="95"/>
              </a:spcBef>
              <a:tabLst>
                <a:tab pos="3762375" algn="l"/>
              </a:tabLst>
            </a:pPr>
            <a:r>
              <a:rPr dirty="0" sz="1200" spc="-45">
                <a:latin typeface="Lucida Sans Unicode"/>
                <a:cs typeface="Lucida Sans Unicode"/>
              </a:rPr>
              <a:t>7n</a:t>
            </a:r>
            <a:r>
              <a:rPr dirty="0" baseline="34722" sz="1200" spc="-67">
                <a:latin typeface="Verdana"/>
                <a:cs typeface="Verdana"/>
              </a:rPr>
              <a:t>2</a:t>
            </a:r>
            <a:r>
              <a:rPr dirty="0" baseline="34722" sz="1200" spc="52">
                <a:latin typeface="Verdana"/>
                <a:cs typeface="Verdana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8n</a:t>
            </a:r>
            <a:r>
              <a:rPr dirty="0" baseline="34722" sz="1200" spc="-67">
                <a:latin typeface="Verdana"/>
                <a:cs typeface="Verdana"/>
              </a:rPr>
              <a:t>2</a:t>
            </a:r>
            <a:r>
              <a:rPr dirty="0" baseline="34722" sz="1200" spc="-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2n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0">
                <a:latin typeface="Segoe UI Symbol"/>
                <a:cs typeface="Segoe UI Symbol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10n</a:t>
            </a:r>
            <a:r>
              <a:rPr dirty="0" baseline="34722" sz="1200" spc="-112">
                <a:latin typeface="Verdana"/>
                <a:cs typeface="Verdana"/>
              </a:rPr>
              <a:t>2	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15">
                <a:latin typeface="Segoe UI Symbol"/>
                <a:cs typeface="Segoe UI Symbol"/>
              </a:rPr>
              <a:t> </a:t>
            </a:r>
            <a:r>
              <a:rPr dirty="0" baseline="50925" sz="1800" spc="-150">
                <a:latin typeface="Segoe UI Symbol"/>
                <a:cs typeface="Segoe UI Symbol"/>
              </a:rPr>
              <a:t>√</a:t>
            </a:r>
            <a:r>
              <a:rPr dirty="0" sz="1200" spc="-100">
                <a:latin typeface="Lucida Sans Unicode"/>
                <a:cs typeface="Lucida Sans Unicode"/>
              </a:rPr>
              <a:t>3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2100">
              <a:latin typeface="Lucida Sans Unicode"/>
              <a:cs typeface="Lucida Sans Unicode"/>
            </a:endParaRPr>
          </a:p>
          <a:p>
            <a:pPr marL="1725930">
              <a:lnSpc>
                <a:spcPct val="100000"/>
              </a:lnSpc>
              <a:tabLst>
                <a:tab pos="3876040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0">
                <a:latin typeface="Segoe UI Symbol"/>
                <a:cs typeface="Segoe UI Symbol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r>
              <a:rPr dirty="0" baseline="-13888" sz="1200" spc="30">
                <a:latin typeface="Verdana"/>
                <a:cs typeface="Verdana"/>
              </a:rPr>
              <a:t>1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Garamond"/>
                <a:cs typeface="Garamond"/>
              </a:rPr>
              <a:t>)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0">
                <a:latin typeface="Segoe UI Symbol"/>
                <a:cs typeface="Segoe UI Symbol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0">
                <a:latin typeface="Segoe UI Symbol"/>
                <a:cs typeface="Segoe UI Symbol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r>
              <a:rPr dirty="0" baseline="-13888" sz="1200" spc="30">
                <a:latin typeface="Verdana"/>
                <a:cs typeface="Verdana"/>
              </a:rPr>
              <a:t>2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Garamond"/>
                <a:cs typeface="Garamond"/>
              </a:rPr>
              <a:t>)	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baseline="-13888" sz="1200" spc="22">
                <a:latin typeface="Verdana"/>
                <a:cs typeface="Verdana"/>
              </a:rPr>
              <a:t>0</a:t>
            </a:r>
            <a:endParaRPr baseline="-13888" sz="1200">
              <a:latin typeface="Verdana"/>
              <a:cs typeface="Verdana"/>
            </a:endParaRPr>
          </a:p>
          <a:p>
            <a:pPr marL="38100">
              <a:lnSpc>
                <a:spcPct val="100000"/>
              </a:lnSpc>
              <a:spcBef>
                <a:spcPts val="1420"/>
              </a:spcBef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plots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Notice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bounds.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1831847" y="5498282"/>
            <a:ext cx="4566920" cy="2590800"/>
            <a:chOff x="1831847" y="5498282"/>
            <a:chExt cx="4566920" cy="2590800"/>
          </a:xfrm>
        </p:grpSpPr>
        <p:sp>
          <p:nvSpPr>
            <p:cNvPr id="27" name="object 27"/>
            <p:cNvSpPr/>
            <p:nvPr/>
          </p:nvSpPr>
          <p:spPr>
            <a:xfrm>
              <a:off x="1831847" y="5498282"/>
              <a:ext cx="4566920" cy="2590800"/>
            </a:xfrm>
            <a:custGeom>
              <a:avLst/>
              <a:gdLst/>
              <a:ahLst/>
              <a:cxnLst/>
              <a:rect l="l" t="t" r="r" b="b"/>
              <a:pathLst>
                <a:path w="4566920" h="2590800">
                  <a:moveTo>
                    <a:pt x="4566391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4566391" y="2590601"/>
                  </a:lnTo>
                  <a:lnTo>
                    <a:pt x="456639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448366" y="6129294"/>
              <a:ext cx="3760470" cy="1572260"/>
            </a:xfrm>
            <a:custGeom>
              <a:avLst/>
              <a:gdLst/>
              <a:ahLst/>
              <a:cxnLst/>
              <a:rect l="l" t="t" r="r" b="b"/>
              <a:pathLst>
                <a:path w="3760470" h="1572259">
                  <a:moveTo>
                    <a:pt x="0" y="1572127"/>
                  </a:moveTo>
                  <a:lnTo>
                    <a:pt x="31424" y="1572127"/>
                  </a:lnTo>
                </a:path>
                <a:path w="3760470" h="1572259">
                  <a:moveTo>
                    <a:pt x="3760424" y="1572127"/>
                  </a:moveTo>
                  <a:lnTo>
                    <a:pt x="3728984" y="1572127"/>
                  </a:lnTo>
                </a:path>
                <a:path w="3760470" h="1572259">
                  <a:moveTo>
                    <a:pt x="0" y="1178966"/>
                  </a:moveTo>
                  <a:lnTo>
                    <a:pt x="31424" y="1178966"/>
                  </a:lnTo>
                </a:path>
                <a:path w="3760470" h="1572259">
                  <a:moveTo>
                    <a:pt x="3760424" y="1178966"/>
                  </a:moveTo>
                  <a:lnTo>
                    <a:pt x="3728984" y="1178966"/>
                  </a:lnTo>
                </a:path>
                <a:path w="3760470" h="1572259">
                  <a:moveTo>
                    <a:pt x="0" y="785804"/>
                  </a:moveTo>
                  <a:lnTo>
                    <a:pt x="31424" y="785804"/>
                  </a:lnTo>
                </a:path>
                <a:path w="3760470" h="1572259">
                  <a:moveTo>
                    <a:pt x="3760424" y="785804"/>
                  </a:moveTo>
                  <a:lnTo>
                    <a:pt x="3728984" y="785804"/>
                  </a:lnTo>
                </a:path>
                <a:path w="3760470" h="1572259">
                  <a:moveTo>
                    <a:pt x="0" y="393146"/>
                  </a:moveTo>
                  <a:lnTo>
                    <a:pt x="31424" y="393146"/>
                  </a:lnTo>
                </a:path>
                <a:path w="3760470" h="1572259">
                  <a:moveTo>
                    <a:pt x="3760424" y="393146"/>
                  </a:moveTo>
                  <a:lnTo>
                    <a:pt x="3728984" y="393146"/>
                  </a:lnTo>
                </a:path>
                <a:path w="3760470" h="1572259">
                  <a:moveTo>
                    <a:pt x="0" y="0"/>
                  </a:moveTo>
                  <a:lnTo>
                    <a:pt x="31424" y="0"/>
                  </a:lnTo>
                </a:path>
                <a:path w="3760470" h="1572259">
                  <a:moveTo>
                    <a:pt x="3760424" y="0"/>
                  </a:moveTo>
                  <a:lnTo>
                    <a:pt x="37289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 txBox="1"/>
          <p:nvPr/>
        </p:nvSpPr>
        <p:spPr>
          <a:xfrm>
            <a:off x="2108287" y="6049733"/>
            <a:ext cx="293370" cy="17176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35"/>
              </a:spcBef>
            </a:pPr>
            <a:r>
              <a:rPr dirty="0" sz="750" spc="20">
                <a:solidFill>
                  <a:srgbClr val="FFFFFF"/>
                </a:solidFill>
                <a:latin typeface="Arial"/>
                <a:cs typeface="Arial"/>
              </a:rPr>
              <a:t>8e+10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750" spc="20">
                <a:solidFill>
                  <a:srgbClr val="FFFFFF"/>
                </a:solidFill>
                <a:latin typeface="Arial"/>
                <a:cs typeface="Arial"/>
              </a:rPr>
              <a:t>6e+10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750" spc="20">
                <a:solidFill>
                  <a:srgbClr val="FFFFFF"/>
                </a:solidFill>
                <a:latin typeface="Arial"/>
                <a:cs typeface="Arial"/>
              </a:rPr>
              <a:t>4e+10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750" spc="20">
                <a:solidFill>
                  <a:srgbClr val="FFFFFF"/>
                </a:solidFill>
                <a:latin typeface="Arial"/>
                <a:cs typeface="Arial"/>
              </a:rPr>
              <a:t>2e+10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750" spc="15">
                <a:solidFill>
                  <a:srgbClr val="FFFFFF"/>
                </a:solidFill>
                <a:latin typeface="Arial"/>
                <a:cs typeface="Arial"/>
              </a:rPr>
              <a:t>0</a:t>
            </a:r>
            <a:endParaRPr sz="750">
              <a:latin typeface="Arial"/>
              <a:cs typeface="Arial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2448366" y="5736132"/>
            <a:ext cx="3760470" cy="1965325"/>
          </a:xfrm>
          <a:custGeom>
            <a:avLst/>
            <a:gdLst/>
            <a:ahLst/>
            <a:cxnLst/>
            <a:rect l="l" t="t" r="r" b="b"/>
            <a:pathLst>
              <a:path w="3760470" h="1965325">
                <a:moveTo>
                  <a:pt x="0" y="0"/>
                </a:moveTo>
                <a:lnTo>
                  <a:pt x="31424" y="0"/>
                </a:lnTo>
              </a:path>
              <a:path w="3760470" h="1965325">
                <a:moveTo>
                  <a:pt x="3760424" y="0"/>
                </a:moveTo>
                <a:lnTo>
                  <a:pt x="3728984" y="0"/>
                </a:lnTo>
              </a:path>
              <a:path w="3760470" h="1965325">
                <a:moveTo>
                  <a:pt x="0" y="1965289"/>
                </a:moveTo>
                <a:lnTo>
                  <a:pt x="0" y="1933849"/>
                </a:lnTo>
              </a:path>
              <a:path w="3760470" h="1965325">
                <a:moveTo>
                  <a:pt x="0" y="0"/>
                </a:moveTo>
                <a:lnTo>
                  <a:pt x="0" y="3144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2108287" y="5656579"/>
            <a:ext cx="293370" cy="1454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750" spc="20">
                <a:solidFill>
                  <a:srgbClr val="FFFFFF"/>
                </a:solidFill>
                <a:latin typeface="Arial"/>
                <a:cs typeface="Arial"/>
              </a:rPr>
              <a:t>1e+11</a:t>
            </a:r>
            <a:endParaRPr sz="75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420619" y="7721650"/>
            <a:ext cx="68580" cy="1454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750" spc="15">
                <a:solidFill>
                  <a:srgbClr val="FFFFFF"/>
                </a:solidFill>
                <a:latin typeface="Arial"/>
                <a:cs typeface="Arial"/>
              </a:rPr>
              <a:t>0</a:t>
            </a:r>
            <a:endParaRPr sz="750">
              <a:latin typeface="Arial"/>
              <a:cs typeface="Arial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3200247" y="5736132"/>
            <a:ext cx="0" cy="1965325"/>
          </a:xfrm>
          <a:custGeom>
            <a:avLst/>
            <a:gdLst/>
            <a:ahLst/>
            <a:cxnLst/>
            <a:rect l="l" t="t" r="r" b="b"/>
            <a:pathLst>
              <a:path w="0" h="1965325">
                <a:moveTo>
                  <a:pt x="0" y="1965289"/>
                </a:moveTo>
                <a:lnTo>
                  <a:pt x="0" y="1933849"/>
                </a:lnTo>
              </a:path>
              <a:path w="0" h="1965325">
                <a:moveTo>
                  <a:pt x="0" y="0"/>
                </a:moveTo>
                <a:lnTo>
                  <a:pt x="0" y="3144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 txBox="1"/>
          <p:nvPr/>
        </p:nvSpPr>
        <p:spPr>
          <a:xfrm>
            <a:off x="3061549" y="7721650"/>
            <a:ext cx="290195" cy="1454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750" spc="15">
                <a:solidFill>
                  <a:srgbClr val="FFFFFF"/>
                </a:solidFill>
                <a:latin typeface="Arial"/>
                <a:cs typeface="Arial"/>
              </a:rPr>
              <a:t>20000</a:t>
            </a:r>
            <a:endParaRPr sz="750">
              <a:latin typeface="Arial"/>
              <a:cs typeface="Arial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3952631" y="5736132"/>
            <a:ext cx="0" cy="1965325"/>
          </a:xfrm>
          <a:custGeom>
            <a:avLst/>
            <a:gdLst/>
            <a:ahLst/>
            <a:cxnLst/>
            <a:rect l="l" t="t" r="r" b="b"/>
            <a:pathLst>
              <a:path w="0" h="1965325">
                <a:moveTo>
                  <a:pt x="0" y="1965289"/>
                </a:moveTo>
                <a:lnTo>
                  <a:pt x="0" y="1933849"/>
                </a:lnTo>
              </a:path>
              <a:path w="0" h="1965325">
                <a:moveTo>
                  <a:pt x="0" y="0"/>
                </a:moveTo>
                <a:lnTo>
                  <a:pt x="0" y="3144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 txBox="1"/>
          <p:nvPr/>
        </p:nvSpPr>
        <p:spPr>
          <a:xfrm>
            <a:off x="3813922" y="7721650"/>
            <a:ext cx="290195" cy="1454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750" spc="15">
                <a:solidFill>
                  <a:srgbClr val="FFFFFF"/>
                </a:solidFill>
                <a:latin typeface="Arial"/>
                <a:cs typeface="Arial"/>
              </a:rPr>
              <a:t>40000</a:t>
            </a:r>
            <a:endParaRPr sz="750">
              <a:latin typeface="Arial"/>
              <a:cs typeface="Arial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4704511" y="5736132"/>
            <a:ext cx="0" cy="1965325"/>
          </a:xfrm>
          <a:custGeom>
            <a:avLst/>
            <a:gdLst/>
            <a:ahLst/>
            <a:cxnLst/>
            <a:rect l="l" t="t" r="r" b="b"/>
            <a:pathLst>
              <a:path w="0" h="1965325">
                <a:moveTo>
                  <a:pt x="0" y="1965289"/>
                </a:moveTo>
                <a:lnTo>
                  <a:pt x="0" y="1933849"/>
                </a:lnTo>
              </a:path>
              <a:path w="0" h="1965325">
                <a:moveTo>
                  <a:pt x="0" y="0"/>
                </a:moveTo>
                <a:lnTo>
                  <a:pt x="0" y="3144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 txBox="1"/>
          <p:nvPr/>
        </p:nvSpPr>
        <p:spPr>
          <a:xfrm>
            <a:off x="4565813" y="7721650"/>
            <a:ext cx="290195" cy="1454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750" spc="15">
                <a:solidFill>
                  <a:srgbClr val="FFFFFF"/>
                </a:solidFill>
                <a:latin typeface="Arial"/>
                <a:cs typeface="Arial"/>
              </a:rPr>
              <a:t>60000</a:t>
            </a:r>
            <a:endParaRPr sz="750">
              <a:latin typeface="Arial"/>
              <a:cs typeface="Arial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5456895" y="5736132"/>
            <a:ext cx="0" cy="1965325"/>
          </a:xfrm>
          <a:custGeom>
            <a:avLst/>
            <a:gdLst/>
            <a:ahLst/>
            <a:cxnLst/>
            <a:rect l="l" t="t" r="r" b="b"/>
            <a:pathLst>
              <a:path w="0" h="1965325">
                <a:moveTo>
                  <a:pt x="0" y="1965289"/>
                </a:moveTo>
                <a:lnTo>
                  <a:pt x="0" y="1933849"/>
                </a:lnTo>
              </a:path>
              <a:path w="0" h="1965325">
                <a:moveTo>
                  <a:pt x="0" y="0"/>
                </a:moveTo>
                <a:lnTo>
                  <a:pt x="0" y="3144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 txBox="1"/>
          <p:nvPr/>
        </p:nvSpPr>
        <p:spPr>
          <a:xfrm>
            <a:off x="5318199" y="7721650"/>
            <a:ext cx="290195" cy="1454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750" spc="15">
                <a:solidFill>
                  <a:srgbClr val="FFFFFF"/>
                </a:solidFill>
                <a:latin typeface="Arial"/>
                <a:cs typeface="Arial"/>
              </a:rPr>
              <a:t>80000</a:t>
            </a:r>
            <a:endParaRPr sz="750">
              <a:latin typeface="Arial"/>
              <a:cs typeface="Arial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6208791" y="5736132"/>
            <a:ext cx="0" cy="1965325"/>
          </a:xfrm>
          <a:custGeom>
            <a:avLst/>
            <a:gdLst/>
            <a:ahLst/>
            <a:cxnLst/>
            <a:rect l="l" t="t" r="r" b="b"/>
            <a:pathLst>
              <a:path w="0" h="1965325">
                <a:moveTo>
                  <a:pt x="0" y="1965289"/>
                </a:moveTo>
                <a:lnTo>
                  <a:pt x="0" y="1933849"/>
                </a:lnTo>
              </a:path>
              <a:path w="0" h="1965325">
                <a:moveTo>
                  <a:pt x="0" y="0"/>
                </a:moveTo>
                <a:lnTo>
                  <a:pt x="0" y="3144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 txBox="1"/>
          <p:nvPr/>
        </p:nvSpPr>
        <p:spPr>
          <a:xfrm>
            <a:off x="6042340" y="7721650"/>
            <a:ext cx="346075" cy="1454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750" spc="15">
                <a:solidFill>
                  <a:srgbClr val="FFFFFF"/>
                </a:solidFill>
                <a:latin typeface="Arial"/>
                <a:cs typeface="Arial"/>
              </a:rPr>
              <a:t>100000</a:t>
            </a:r>
            <a:endParaRPr sz="750">
              <a:latin typeface="Arial"/>
              <a:cs typeface="Arial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2448366" y="5736148"/>
            <a:ext cx="3760470" cy="1965325"/>
          </a:xfrm>
          <a:custGeom>
            <a:avLst/>
            <a:gdLst/>
            <a:ahLst/>
            <a:cxnLst/>
            <a:rect l="l" t="t" r="r" b="b"/>
            <a:pathLst>
              <a:path w="3760470" h="1965325">
                <a:moveTo>
                  <a:pt x="0" y="1965274"/>
                </a:moveTo>
                <a:lnTo>
                  <a:pt x="3760424" y="1965274"/>
                </a:lnTo>
                <a:lnTo>
                  <a:pt x="3760424" y="0"/>
                </a:lnTo>
                <a:lnTo>
                  <a:pt x="0" y="0"/>
                </a:lnTo>
                <a:lnTo>
                  <a:pt x="0" y="1965274"/>
                </a:lnTo>
                <a:close/>
              </a:path>
              <a:path w="3760470" h="1965325">
                <a:moveTo>
                  <a:pt x="0" y="1965274"/>
                </a:moveTo>
                <a:lnTo>
                  <a:pt x="3760424" y="1965274"/>
                </a:lnTo>
                <a:lnTo>
                  <a:pt x="3760424" y="0"/>
                </a:lnTo>
                <a:lnTo>
                  <a:pt x="0" y="0"/>
                </a:lnTo>
                <a:lnTo>
                  <a:pt x="0" y="1965274"/>
                </a:lnTo>
                <a:close/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 txBox="1"/>
          <p:nvPr/>
        </p:nvSpPr>
        <p:spPr>
          <a:xfrm>
            <a:off x="1949171" y="6631488"/>
            <a:ext cx="137160" cy="175260"/>
          </a:xfrm>
          <a:prstGeom prst="rect">
            <a:avLst/>
          </a:prstGeom>
        </p:spPr>
        <p:txBody>
          <a:bodyPr wrap="square" lIns="0" tIns="762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750">
                <a:solidFill>
                  <a:srgbClr val="FFFFFF"/>
                </a:solidFill>
                <a:latin typeface="Arial"/>
                <a:cs typeface="Arial"/>
              </a:rPr>
              <a:t>f(n)</a:t>
            </a:r>
            <a:endParaRPr sz="75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300586" y="7821434"/>
            <a:ext cx="68580" cy="1454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750" spc="15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75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884681" y="5556796"/>
            <a:ext cx="900430" cy="1454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750" spc="15">
                <a:solidFill>
                  <a:srgbClr val="FFFFFF"/>
                </a:solidFill>
                <a:latin typeface="Arial"/>
                <a:cs typeface="Arial"/>
              </a:rPr>
              <a:t>Asymptotic</a:t>
            </a:r>
            <a:r>
              <a:rPr dirty="0" sz="75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50" spc="15">
                <a:solidFill>
                  <a:srgbClr val="FFFFFF"/>
                </a:solidFill>
                <a:latin typeface="Arial"/>
                <a:cs typeface="Arial"/>
              </a:rPr>
              <a:t>Notation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47" name="object 47"/>
          <p:cNvGrpSpPr/>
          <p:nvPr/>
        </p:nvGrpSpPr>
        <p:grpSpPr>
          <a:xfrm>
            <a:off x="2447096" y="5816198"/>
            <a:ext cx="3763010" cy="1886585"/>
            <a:chOff x="2447096" y="5816198"/>
            <a:chExt cx="3763010" cy="1886585"/>
          </a:xfrm>
        </p:grpSpPr>
        <p:sp>
          <p:nvSpPr>
            <p:cNvPr id="48" name="object 48"/>
            <p:cNvSpPr/>
            <p:nvPr/>
          </p:nvSpPr>
          <p:spPr>
            <a:xfrm>
              <a:off x="2448366" y="5817468"/>
              <a:ext cx="3760470" cy="1884045"/>
            </a:xfrm>
            <a:custGeom>
              <a:avLst/>
              <a:gdLst/>
              <a:ahLst/>
              <a:cxnLst/>
              <a:rect l="l" t="t" r="r" b="b"/>
              <a:pathLst>
                <a:path w="3760470" h="1884045">
                  <a:moveTo>
                    <a:pt x="3369762" y="0"/>
                  </a:moveTo>
                  <a:lnTo>
                    <a:pt x="3640683" y="0"/>
                  </a:lnTo>
                </a:path>
                <a:path w="3760470" h="1884045">
                  <a:moveTo>
                    <a:pt x="0" y="1883953"/>
                  </a:moveTo>
                  <a:lnTo>
                    <a:pt x="37917" y="1883953"/>
                  </a:lnTo>
                  <a:lnTo>
                    <a:pt x="75834" y="1883450"/>
                  </a:lnTo>
                  <a:lnTo>
                    <a:pt x="113751" y="1882444"/>
                  </a:lnTo>
                  <a:lnTo>
                    <a:pt x="152171" y="1881454"/>
                  </a:lnTo>
                  <a:lnTo>
                    <a:pt x="190088" y="1879960"/>
                  </a:lnTo>
                  <a:lnTo>
                    <a:pt x="228005" y="1877964"/>
                  </a:lnTo>
                  <a:lnTo>
                    <a:pt x="265922" y="1875967"/>
                  </a:lnTo>
                  <a:lnTo>
                    <a:pt x="303839" y="1873468"/>
                  </a:lnTo>
                  <a:lnTo>
                    <a:pt x="341756" y="1870984"/>
                  </a:lnTo>
                  <a:lnTo>
                    <a:pt x="379674" y="1867981"/>
                  </a:lnTo>
                  <a:lnTo>
                    <a:pt x="417591" y="1864492"/>
                  </a:lnTo>
                  <a:lnTo>
                    <a:pt x="456011" y="1861002"/>
                  </a:lnTo>
                  <a:lnTo>
                    <a:pt x="493928" y="1857009"/>
                  </a:lnTo>
                  <a:lnTo>
                    <a:pt x="531845" y="1852513"/>
                  </a:lnTo>
                  <a:lnTo>
                    <a:pt x="569762" y="1848032"/>
                  </a:lnTo>
                  <a:lnTo>
                    <a:pt x="607679" y="1843034"/>
                  </a:lnTo>
                  <a:lnTo>
                    <a:pt x="645612" y="1837547"/>
                  </a:lnTo>
                  <a:lnTo>
                    <a:pt x="683529" y="1832061"/>
                  </a:lnTo>
                  <a:lnTo>
                    <a:pt x="721446" y="1826071"/>
                  </a:lnTo>
                  <a:lnTo>
                    <a:pt x="759866" y="1819594"/>
                  </a:lnTo>
                  <a:lnTo>
                    <a:pt x="797783" y="1813102"/>
                  </a:lnTo>
                  <a:lnTo>
                    <a:pt x="835700" y="1806122"/>
                  </a:lnTo>
                  <a:lnTo>
                    <a:pt x="873617" y="1799127"/>
                  </a:lnTo>
                  <a:lnTo>
                    <a:pt x="911534" y="1791644"/>
                  </a:lnTo>
                  <a:lnTo>
                    <a:pt x="949451" y="1783674"/>
                  </a:lnTo>
                  <a:lnTo>
                    <a:pt x="987369" y="1775688"/>
                  </a:lnTo>
                  <a:lnTo>
                    <a:pt x="1025789" y="1767199"/>
                  </a:lnTo>
                  <a:lnTo>
                    <a:pt x="1063706" y="1758223"/>
                  </a:lnTo>
                  <a:lnTo>
                    <a:pt x="1101623" y="1749247"/>
                  </a:lnTo>
                  <a:lnTo>
                    <a:pt x="1139540" y="1739767"/>
                  </a:lnTo>
                  <a:lnTo>
                    <a:pt x="1177457" y="1729785"/>
                  </a:lnTo>
                  <a:lnTo>
                    <a:pt x="1215374" y="1719803"/>
                  </a:lnTo>
                  <a:lnTo>
                    <a:pt x="1253291" y="1709333"/>
                  </a:lnTo>
                  <a:lnTo>
                    <a:pt x="1291208" y="1698345"/>
                  </a:lnTo>
                  <a:lnTo>
                    <a:pt x="1329629" y="1687372"/>
                  </a:lnTo>
                  <a:lnTo>
                    <a:pt x="1367546" y="1675897"/>
                  </a:lnTo>
                  <a:lnTo>
                    <a:pt x="1405463" y="1664421"/>
                  </a:lnTo>
                  <a:lnTo>
                    <a:pt x="1443395" y="1652457"/>
                  </a:lnTo>
                  <a:lnTo>
                    <a:pt x="1481312" y="1639976"/>
                  </a:lnTo>
                  <a:lnTo>
                    <a:pt x="1519229" y="1627510"/>
                  </a:lnTo>
                  <a:lnTo>
                    <a:pt x="1557146" y="1614540"/>
                  </a:lnTo>
                  <a:lnTo>
                    <a:pt x="1595567" y="1601068"/>
                  </a:lnTo>
                  <a:lnTo>
                    <a:pt x="1633484" y="1587596"/>
                  </a:lnTo>
                  <a:lnTo>
                    <a:pt x="1671401" y="1573621"/>
                  </a:lnTo>
                  <a:lnTo>
                    <a:pt x="1709318" y="1559158"/>
                  </a:lnTo>
                  <a:lnTo>
                    <a:pt x="1747235" y="1544680"/>
                  </a:lnTo>
                  <a:lnTo>
                    <a:pt x="1785152" y="1529714"/>
                  </a:lnTo>
                  <a:lnTo>
                    <a:pt x="1823069" y="1514246"/>
                  </a:lnTo>
                  <a:lnTo>
                    <a:pt x="1860986" y="1498777"/>
                  </a:lnTo>
                  <a:lnTo>
                    <a:pt x="1899406" y="1482821"/>
                  </a:lnTo>
                  <a:lnTo>
                    <a:pt x="1937323" y="1466849"/>
                  </a:lnTo>
                  <a:lnTo>
                    <a:pt x="1975241" y="1450390"/>
                  </a:lnTo>
                  <a:lnTo>
                    <a:pt x="2013158" y="1433428"/>
                  </a:lnTo>
                  <a:lnTo>
                    <a:pt x="2051075" y="1415963"/>
                  </a:lnTo>
                  <a:lnTo>
                    <a:pt x="2089007" y="1398498"/>
                  </a:lnTo>
                  <a:lnTo>
                    <a:pt x="2126924" y="1381033"/>
                  </a:lnTo>
                  <a:lnTo>
                    <a:pt x="2164841" y="1362577"/>
                  </a:lnTo>
                  <a:lnTo>
                    <a:pt x="2203261" y="1344122"/>
                  </a:lnTo>
                  <a:lnTo>
                    <a:pt x="2241179" y="1325651"/>
                  </a:lnTo>
                  <a:lnTo>
                    <a:pt x="2279096" y="1306692"/>
                  </a:lnTo>
                  <a:lnTo>
                    <a:pt x="2317013" y="1287246"/>
                  </a:lnTo>
                  <a:lnTo>
                    <a:pt x="2354930" y="1267282"/>
                  </a:lnTo>
                  <a:lnTo>
                    <a:pt x="2392847" y="1247333"/>
                  </a:lnTo>
                  <a:lnTo>
                    <a:pt x="2430764" y="1226865"/>
                  </a:lnTo>
                  <a:lnTo>
                    <a:pt x="2469184" y="1206413"/>
                  </a:lnTo>
                  <a:lnTo>
                    <a:pt x="2507101" y="1184955"/>
                  </a:lnTo>
                  <a:lnTo>
                    <a:pt x="2545018" y="1164000"/>
                  </a:lnTo>
                  <a:lnTo>
                    <a:pt x="2582936" y="1142055"/>
                  </a:lnTo>
                  <a:lnTo>
                    <a:pt x="2620853" y="1120094"/>
                  </a:lnTo>
                  <a:lnTo>
                    <a:pt x="2658770" y="1098148"/>
                  </a:lnTo>
                  <a:lnTo>
                    <a:pt x="2696687" y="1075197"/>
                  </a:lnTo>
                  <a:lnTo>
                    <a:pt x="2734604" y="1052245"/>
                  </a:lnTo>
                  <a:lnTo>
                    <a:pt x="2773024" y="1029294"/>
                  </a:lnTo>
                  <a:lnTo>
                    <a:pt x="2810941" y="1005352"/>
                  </a:lnTo>
                  <a:lnTo>
                    <a:pt x="2848858" y="981395"/>
                  </a:lnTo>
                  <a:lnTo>
                    <a:pt x="2886791" y="957452"/>
                  </a:lnTo>
                  <a:lnTo>
                    <a:pt x="2924708" y="933008"/>
                  </a:lnTo>
                  <a:lnTo>
                    <a:pt x="2962625" y="908060"/>
                  </a:lnTo>
                  <a:lnTo>
                    <a:pt x="3000542" y="882609"/>
                  </a:lnTo>
                  <a:lnTo>
                    <a:pt x="3038962" y="857173"/>
                  </a:lnTo>
                  <a:lnTo>
                    <a:pt x="3076879" y="831722"/>
                  </a:lnTo>
                  <a:lnTo>
                    <a:pt x="3114796" y="805281"/>
                  </a:lnTo>
                  <a:lnTo>
                    <a:pt x="3152713" y="778840"/>
                  </a:lnTo>
                  <a:lnTo>
                    <a:pt x="3190631" y="751895"/>
                  </a:lnTo>
                  <a:lnTo>
                    <a:pt x="3228548" y="724951"/>
                  </a:lnTo>
                  <a:lnTo>
                    <a:pt x="3266465" y="697504"/>
                  </a:lnTo>
                  <a:lnTo>
                    <a:pt x="3304382" y="669569"/>
                  </a:lnTo>
                  <a:lnTo>
                    <a:pt x="3342802" y="641634"/>
                  </a:lnTo>
                  <a:lnTo>
                    <a:pt x="3380719" y="613196"/>
                  </a:lnTo>
                  <a:lnTo>
                    <a:pt x="3418636" y="584758"/>
                  </a:lnTo>
                  <a:lnTo>
                    <a:pt x="3456553" y="555818"/>
                  </a:lnTo>
                  <a:lnTo>
                    <a:pt x="3494470" y="526374"/>
                  </a:lnTo>
                  <a:lnTo>
                    <a:pt x="3532388" y="496442"/>
                  </a:lnTo>
                  <a:lnTo>
                    <a:pt x="3570320" y="466511"/>
                  </a:lnTo>
                  <a:lnTo>
                    <a:pt x="3608237" y="436077"/>
                  </a:lnTo>
                  <a:lnTo>
                    <a:pt x="3646642" y="405643"/>
                  </a:lnTo>
                  <a:lnTo>
                    <a:pt x="3684574" y="374705"/>
                  </a:lnTo>
                  <a:lnTo>
                    <a:pt x="3722491" y="343265"/>
                  </a:lnTo>
                  <a:lnTo>
                    <a:pt x="3760408" y="31184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448366" y="5917245"/>
              <a:ext cx="3760470" cy="1784350"/>
            </a:xfrm>
            <a:custGeom>
              <a:avLst/>
              <a:gdLst/>
              <a:ahLst/>
              <a:cxnLst/>
              <a:rect l="l" t="t" r="r" b="b"/>
              <a:pathLst>
                <a:path w="3760470" h="1784350">
                  <a:moveTo>
                    <a:pt x="3369762" y="0"/>
                  </a:moveTo>
                  <a:lnTo>
                    <a:pt x="3640683" y="0"/>
                  </a:lnTo>
                </a:path>
                <a:path w="3760470" h="1784350">
                  <a:moveTo>
                    <a:pt x="0" y="1784177"/>
                  </a:moveTo>
                  <a:lnTo>
                    <a:pt x="37917" y="1784177"/>
                  </a:lnTo>
                  <a:lnTo>
                    <a:pt x="75834" y="1783674"/>
                  </a:lnTo>
                  <a:lnTo>
                    <a:pt x="113751" y="1782668"/>
                  </a:lnTo>
                  <a:lnTo>
                    <a:pt x="152171" y="1781677"/>
                  </a:lnTo>
                  <a:lnTo>
                    <a:pt x="228005" y="1779178"/>
                  </a:lnTo>
                  <a:lnTo>
                    <a:pt x="303839" y="1775185"/>
                  </a:lnTo>
                  <a:lnTo>
                    <a:pt x="379674" y="1770202"/>
                  </a:lnTo>
                  <a:lnTo>
                    <a:pt x="456011" y="1763725"/>
                  </a:lnTo>
                  <a:lnTo>
                    <a:pt x="493928" y="1760219"/>
                  </a:lnTo>
                  <a:lnTo>
                    <a:pt x="531845" y="1756730"/>
                  </a:lnTo>
                  <a:lnTo>
                    <a:pt x="569762" y="1752737"/>
                  </a:lnTo>
                  <a:lnTo>
                    <a:pt x="607679" y="1748256"/>
                  </a:lnTo>
                  <a:lnTo>
                    <a:pt x="645612" y="1743760"/>
                  </a:lnTo>
                  <a:lnTo>
                    <a:pt x="683529" y="1738777"/>
                  </a:lnTo>
                  <a:lnTo>
                    <a:pt x="721446" y="1733290"/>
                  </a:lnTo>
                  <a:lnTo>
                    <a:pt x="759866" y="1727804"/>
                  </a:lnTo>
                  <a:lnTo>
                    <a:pt x="797783" y="1722302"/>
                  </a:lnTo>
                  <a:lnTo>
                    <a:pt x="835700" y="1716328"/>
                  </a:lnTo>
                  <a:lnTo>
                    <a:pt x="873617" y="1709836"/>
                  </a:lnTo>
                  <a:lnTo>
                    <a:pt x="911534" y="1703344"/>
                  </a:lnTo>
                  <a:lnTo>
                    <a:pt x="949451" y="1696364"/>
                  </a:lnTo>
                  <a:lnTo>
                    <a:pt x="987369" y="1689384"/>
                  </a:lnTo>
                  <a:lnTo>
                    <a:pt x="1025789" y="1681901"/>
                  </a:lnTo>
                  <a:lnTo>
                    <a:pt x="1063706" y="1673915"/>
                  </a:lnTo>
                  <a:lnTo>
                    <a:pt x="1101623" y="1665930"/>
                  </a:lnTo>
                  <a:lnTo>
                    <a:pt x="1139540" y="1657944"/>
                  </a:lnTo>
                  <a:lnTo>
                    <a:pt x="1177457" y="1649470"/>
                  </a:lnTo>
                  <a:lnTo>
                    <a:pt x="1215374" y="1640479"/>
                  </a:lnTo>
                  <a:lnTo>
                    <a:pt x="1253291" y="1631502"/>
                  </a:lnTo>
                  <a:lnTo>
                    <a:pt x="1291208" y="1622023"/>
                  </a:lnTo>
                  <a:lnTo>
                    <a:pt x="1329629" y="1612041"/>
                  </a:lnTo>
                  <a:lnTo>
                    <a:pt x="1367546" y="1602074"/>
                  </a:lnTo>
                  <a:lnTo>
                    <a:pt x="1405463" y="1592092"/>
                  </a:lnTo>
                  <a:lnTo>
                    <a:pt x="1443395" y="1581607"/>
                  </a:lnTo>
                  <a:lnTo>
                    <a:pt x="1481312" y="1570634"/>
                  </a:lnTo>
                  <a:lnTo>
                    <a:pt x="1519229" y="1559661"/>
                  </a:lnTo>
                  <a:lnTo>
                    <a:pt x="1557146" y="1548185"/>
                  </a:lnTo>
                  <a:lnTo>
                    <a:pt x="1595567" y="1536710"/>
                  </a:lnTo>
                  <a:lnTo>
                    <a:pt x="1633484" y="1524731"/>
                  </a:lnTo>
                  <a:lnTo>
                    <a:pt x="1671401" y="1512265"/>
                  </a:lnTo>
                  <a:lnTo>
                    <a:pt x="1709318" y="1499783"/>
                  </a:lnTo>
                  <a:lnTo>
                    <a:pt x="1747235" y="1487317"/>
                  </a:lnTo>
                  <a:lnTo>
                    <a:pt x="1785152" y="1474348"/>
                  </a:lnTo>
                  <a:lnTo>
                    <a:pt x="1823069" y="1460875"/>
                  </a:lnTo>
                  <a:lnTo>
                    <a:pt x="1860986" y="1447403"/>
                  </a:lnTo>
                  <a:lnTo>
                    <a:pt x="1899406" y="1433428"/>
                  </a:lnTo>
                  <a:lnTo>
                    <a:pt x="1937323" y="1418965"/>
                  </a:lnTo>
                  <a:lnTo>
                    <a:pt x="1975241" y="1404503"/>
                  </a:lnTo>
                  <a:lnTo>
                    <a:pt x="2013158" y="1390025"/>
                  </a:lnTo>
                  <a:lnTo>
                    <a:pt x="2051075" y="1375059"/>
                  </a:lnTo>
                  <a:lnTo>
                    <a:pt x="2089007" y="1359590"/>
                  </a:lnTo>
                  <a:lnTo>
                    <a:pt x="2126924" y="1344122"/>
                  </a:lnTo>
                  <a:lnTo>
                    <a:pt x="2164841" y="1328165"/>
                  </a:lnTo>
                  <a:lnTo>
                    <a:pt x="2203261" y="1312194"/>
                  </a:lnTo>
                  <a:lnTo>
                    <a:pt x="2241179" y="1295735"/>
                  </a:lnTo>
                  <a:lnTo>
                    <a:pt x="2279096" y="1278773"/>
                  </a:lnTo>
                  <a:lnTo>
                    <a:pt x="2317013" y="1261811"/>
                  </a:lnTo>
                  <a:lnTo>
                    <a:pt x="2354930" y="1244848"/>
                  </a:lnTo>
                  <a:lnTo>
                    <a:pt x="2392847" y="1226880"/>
                  </a:lnTo>
                  <a:lnTo>
                    <a:pt x="2430764" y="1209415"/>
                  </a:lnTo>
                  <a:lnTo>
                    <a:pt x="2469184" y="1190960"/>
                  </a:lnTo>
                  <a:lnTo>
                    <a:pt x="2507101" y="1172992"/>
                  </a:lnTo>
                  <a:lnTo>
                    <a:pt x="2545018" y="1154033"/>
                  </a:lnTo>
                  <a:lnTo>
                    <a:pt x="2582936" y="1135075"/>
                  </a:lnTo>
                  <a:lnTo>
                    <a:pt x="2620853" y="1116116"/>
                  </a:lnTo>
                  <a:lnTo>
                    <a:pt x="2658770" y="1096167"/>
                  </a:lnTo>
                  <a:lnTo>
                    <a:pt x="2696687" y="1076705"/>
                  </a:lnTo>
                  <a:lnTo>
                    <a:pt x="2734604" y="1056741"/>
                  </a:lnTo>
                  <a:lnTo>
                    <a:pt x="2773024" y="1036289"/>
                  </a:lnTo>
                  <a:lnTo>
                    <a:pt x="2810941" y="1015334"/>
                  </a:lnTo>
                  <a:lnTo>
                    <a:pt x="2848858" y="994882"/>
                  </a:lnTo>
                  <a:lnTo>
                    <a:pt x="2886791" y="973424"/>
                  </a:lnTo>
                  <a:lnTo>
                    <a:pt x="2924708" y="951966"/>
                  </a:lnTo>
                  <a:lnTo>
                    <a:pt x="2962625" y="930020"/>
                  </a:lnTo>
                  <a:lnTo>
                    <a:pt x="3000542" y="908060"/>
                  </a:lnTo>
                  <a:lnTo>
                    <a:pt x="3038962" y="885611"/>
                  </a:lnTo>
                  <a:lnTo>
                    <a:pt x="3076879" y="863163"/>
                  </a:lnTo>
                  <a:lnTo>
                    <a:pt x="3114796" y="840211"/>
                  </a:lnTo>
                  <a:lnTo>
                    <a:pt x="3152713" y="817260"/>
                  </a:lnTo>
                  <a:lnTo>
                    <a:pt x="3190631" y="793821"/>
                  </a:lnTo>
                  <a:lnTo>
                    <a:pt x="3228548" y="769863"/>
                  </a:lnTo>
                  <a:lnTo>
                    <a:pt x="3266465" y="745921"/>
                  </a:lnTo>
                  <a:lnTo>
                    <a:pt x="3304382" y="721964"/>
                  </a:lnTo>
                  <a:lnTo>
                    <a:pt x="3342802" y="697016"/>
                  </a:lnTo>
                  <a:lnTo>
                    <a:pt x="3380719" y="672571"/>
                  </a:lnTo>
                  <a:lnTo>
                    <a:pt x="3418636" y="647136"/>
                  </a:lnTo>
                  <a:lnTo>
                    <a:pt x="3456553" y="621685"/>
                  </a:lnTo>
                  <a:lnTo>
                    <a:pt x="3494470" y="596234"/>
                  </a:lnTo>
                  <a:lnTo>
                    <a:pt x="3532388" y="570296"/>
                  </a:lnTo>
                  <a:lnTo>
                    <a:pt x="3570320" y="543854"/>
                  </a:lnTo>
                  <a:lnTo>
                    <a:pt x="3608237" y="517413"/>
                  </a:lnTo>
                  <a:lnTo>
                    <a:pt x="3646642" y="490468"/>
                  </a:lnTo>
                  <a:lnTo>
                    <a:pt x="3684574" y="463524"/>
                  </a:lnTo>
                  <a:lnTo>
                    <a:pt x="3722491" y="436092"/>
                  </a:lnTo>
                  <a:lnTo>
                    <a:pt x="3760408" y="408645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" name="object 50"/>
          <p:cNvSpPr txBox="1"/>
          <p:nvPr/>
        </p:nvSpPr>
        <p:spPr>
          <a:xfrm>
            <a:off x="5287066" y="5737907"/>
            <a:ext cx="484505" cy="34480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r" marR="5080">
              <a:lnSpc>
                <a:spcPts val="844"/>
              </a:lnSpc>
              <a:spcBef>
                <a:spcPts val="135"/>
              </a:spcBef>
            </a:pPr>
            <a:r>
              <a:rPr dirty="0" sz="750" spc="15">
                <a:solidFill>
                  <a:srgbClr val="FFFFFF"/>
                </a:solidFill>
                <a:latin typeface="Arial"/>
                <a:cs typeface="Arial"/>
              </a:rPr>
              <a:t>8n^2+2n-3</a:t>
            </a:r>
            <a:endParaRPr sz="750">
              <a:latin typeface="Arial"/>
              <a:cs typeface="Arial"/>
            </a:endParaRPr>
          </a:p>
          <a:p>
            <a:pPr algn="r" marR="5080">
              <a:lnSpc>
                <a:spcPts val="785"/>
              </a:lnSpc>
            </a:pPr>
            <a:r>
              <a:rPr dirty="0" sz="750" spc="15">
                <a:solidFill>
                  <a:srgbClr val="00FFFF"/>
                </a:solidFill>
                <a:latin typeface="Arial"/>
                <a:cs typeface="Arial"/>
              </a:rPr>
              <a:t>7n^2</a:t>
            </a:r>
            <a:endParaRPr sz="750">
              <a:latin typeface="Arial"/>
              <a:cs typeface="Arial"/>
            </a:endParaRPr>
          </a:p>
          <a:p>
            <a:pPr algn="r" marR="5080">
              <a:lnSpc>
                <a:spcPts val="844"/>
              </a:lnSpc>
            </a:pPr>
            <a:r>
              <a:rPr dirty="0" sz="750" spc="15">
                <a:solidFill>
                  <a:srgbClr val="FF0000"/>
                </a:solidFill>
                <a:latin typeface="Arial"/>
                <a:cs typeface="Arial"/>
              </a:rPr>
              <a:t>10n^2</a:t>
            </a:r>
            <a:endParaRPr sz="750">
              <a:latin typeface="Arial"/>
              <a:cs typeface="Arial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2448366" y="5736148"/>
            <a:ext cx="3760470" cy="1965325"/>
          </a:xfrm>
          <a:custGeom>
            <a:avLst/>
            <a:gdLst/>
            <a:ahLst/>
            <a:cxnLst/>
            <a:rect l="l" t="t" r="r" b="b"/>
            <a:pathLst>
              <a:path w="3760470" h="1965325">
                <a:moveTo>
                  <a:pt x="3369762" y="280888"/>
                </a:moveTo>
                <a:lnTo>
                  <a:pt x="3640683" y="280888"/>
                </a:lnTo>
              </a:path>
              <a:path w="3760470" h="1965325">
                <a:moveTo>
                  <a:pt x="0" y="1965274"/>
                </a:moveTo>
                <a:lnTo>
                  <a:pt x="37917" y="1965274"/>
                </a:lnTo>
                <a:lnTo>
                  <a:pt x="75834" y="1964268"/>
                </a:lnTo>
                <a:lnTo>
                  <a:pt x="113751" y="1963277"/>
                </a:lnTo>
                <a:lnTo>
                  <a:pt x="152171" y="1962271"/>
                </a:lnTo>
                <a:lnTo>
                  <a:pt x="190088" y="1960275"/>
                </a:lnTo>
                <a:lnTo>
                  <a:pt x="228005" y="1958278"/>
                </a:lnTo>
                <a:lnTo>
                  <a:pt x="265922" y="1955291"/>
                </a:lnTo>
                <a:lnTo>
                  <a:pt x="303839" y="1952304"/>
                </a:lnTo>
                <a:lnTo>
                  <a:pt x="341756" y="1948799"/>
                </a:lnTo>
                <a:lnTo>
                  <a:pt x="379674" y="1945309"/>
                </a:lnTo>
                <a:lnTo>
                  <a:pt x="417591" y="1940829"/>
                </a:lnTo>
                <a:lnTo>
                  <a:pt x="456011" y="1936333"/>
                </a:lnTo>
                <a:lnTo>
                  <a:pt x="493928" y="1931349"/>
                </a:lnTo>
                <a:lnTo>
                  <a:pt x="531845" y="1925863"/>
                </a:lnTo>
                <a:lnTo>
                  <a:pt x="569762" y="1920361"/>
                </a:lnTo>
                <a:lnTo>
                  <a:pt x="607679" y="1913884"/>
                </a:lnTo>
                <a:lnTo>
                  <a:pt x="645612" y="1907392"/>
                </a:lnTo>
                <a:lnTo>
                  <a:pt x="683529" y="1900412"/>
                </a:lnTo>
                <a:lnTo>
                  <a:pt x="721446" y="1892929"/>
                </a:lnTo>
                <a:lnTo>
                  <a:pt x="759866" y="1884944"/>
                </a:lnTo>
                <a:lnTo>
                  <a:pt x="797783" y="1876958"/>
                </a:lnTo>
                <a:lnTo>
                  <a:pt x="835700" y="1867981"/>
                </a:lnTo>
                <a:lnTo>
                  <a:pt x="873617" y="1859005"/>
                </a:lnTo>
                <a:lnTo>
                  <a:pt x="911534" y="1850014"/>
                </a:lnTo>
                <a:lnTo>
                  <a:pt x="949451" y="1840047"/>
                </a:lnTo>
                <a:lnTo>
                  <a:pt x="987369" y="1829561"/>
                </a:lnTo>
                <a:lnTo>
                  <a:pt x="1025789" y="1819092"/>
                </a:lnTo>
                <a:lnTo>
                  <a:pt x="1063706" y="1808104"/>
                </a:lnTo>
                <a:lnTo>
                  <a:pt x="1101623" y="1796628"/>
                </a:lnTo>
                <a:lnTo>
                  <a:pt x="1139540" y="1784664"/>
                </a:lnTo>
                <a:lnTo>
                  <a:pt x="1177457" y="1772686"/>
                </a:lnTo>
                <a:lnTo>
                  <a:pt x="1215374" y="1759717"/>
                </a:lnTo>
                <a:lnTo>
                  <a:pt x="1253291" y="1746747"/>
                </a:lnTo>
                <a:lnTo>
                  <a:pt x="1291208" y="1733275"/>
                </a:lnTo>
                <a:lnTo>
                  <a:pt x="1329629" y="1719803"/>
                </a:lnTo>
                <a:lnTo>
                  <a:pt x="1367546" y="1705340"/>
                </a:lnTo>
                <a:lnTo>
                  <a:pt x="1405463" y="1690862"/>
                </a:lnTo>
                <a:lnTo>
                  <a:pt x="1443395" y="1675897"/>
                </a:lnTo>
                <a:lnTo>
                  <a:pt x="1481312" y="1660428"/>
                </a:lnTo>
                <a:lnTo>
                  <a:pt x="1519229" y="1644472"/>
                </a:lnTo>
                <a:lnTo>
                  <a:pt x="1557146" y="1627997"/>
                </a:lnTo>
                <a:lnTo>
                  <a:pt x="1595567" y="1611538"/>
                </a:lnTo>
                <a:lnTo>
                  <a:pt x="1633484" y="1594576"/>
                </a:lnTo>
                <a:lnTo>
                  <a:pt x="1671401" y="1577111"/>
                </a:lnTo>
                <a:lnTo>
                  <a:pt x="1709318" y="1559143"/>
                </a:lnTo>
                <a:lnTo>
                  <a:pt x="1747235" y="1541190"/>
                </a:lnTo>
                <a:lnTo>
                  <a:pt x="1785152" y="1522232"/>
                </a:lnTo>
                <a:lnTo>
                  <a:pt x="1823069" y="1503273"/>
                </a:lnTo>
                <a:lnTo>
                  <a:pt x="1860986" y="1483812"/>
                </a:lnTo>
                <a:lnTo>
                  <a:pt x="1899406" y="1463847"/>
                </a:lnTo>
                <a:lnTo>
                  <a:pt x="1937323" y="1443898"/>
                </a:lnTo>
                <a:lnTo>
                  <a:pt x="1975241" y="1422943"/>
                </a:lnTo>
                <a:lnTo>
                  <a:pt x="2013158" y="1401988"/>
                </a:lnTo>
                <a:lnTo>
                  <a:pt x="2051075" y="1380530"/>
                </a:lnTo>
                <a:lnTo>
                  <a:pt x="2089007" y="1358585"/>
                </a:lnTo>
                <a:lnTo>
                  <a:pt x="2126924" y="1336624"/>
                </a:lnTo>
                <a:lnTo>
                  <a:pt x="2164841" y="1313672"/>
                </a:lnTo>
                <a:lnTo>
                  <a:pt x="2203261" y="1290721"/>
                </a:lnTo>
                <a:lnTo>
                  <a:pt x="2241179" y="1267282"/>
                </a:lnTo>
                <a:lnTo>
                  <a:pt x="2279096" y="1243324"/>
                </a:lnTo>
                <a:lnTo>
                  <a:pt x="2317013" y="1219382"/>
                </a:lnTo>
                <a:lnTo>
                  <a:pt x="2354930" y="1194434"/>
                </a:lnTo>
                <a:lnTo>
                  <a:pt x="2392847" y="1169487"/>
                </a:lnTo>
                <a:lnTo>
                  <a:pt x="2430764" y="1144036"/>
                </a:lnTo>
                <a:lnTo>
                  <a:pt x="2469184" y="1118097"/>
                </a:lnTo>
                <a:lnTo>
                  <a:pt x="2507101" y="1091656"/>
                </a:lnTo>
                <a:lnTo>
                  <a:pt x="2545018" y="1065215"/>
                </a:lnTo>
                <a:lnTo>
                  <a:pt x="2582936" y="1038270"/>
                </a:lnTo>
                <a:lnTo>
                  <a:pt x="2620853" y="1010823"/>
                </a:lnTo>
                <a:lnTo>
                  <a:pt x="2658770" y="982888"/>
                </a:lnTo>
                <a:lnTo>
                  <a:pt x="2696687" y="954450"/>
                </a:lnTo>
                <a:lnTo>
                  <a:pt x="2734604" y="926012"/>
                </a:lnTo>
                <a:lnTo>
                  <a:pt x="2773024" y="896569"/>
                </a:lnTo>
                <a:lnTo>
                  <a:pt x="2810941" y="867140"/>
                </a:lnTo>
                <a:lnTo>
                  <a:pt x="2848858" y="837209"/>
                </a:lnTo>
                <a:lnTo>
                  <a:pt x="2886791" y="807262"/>
                </a:lnTo>
                <a:lnTo>
                  <a:pt x="2924708" y="776340"/>
                </a:lnTo>
                <a:lnTo>
                  <a:pt x="2962625" y="745403"/>
                </a:lnTo>
                <a:lnTo>
                  <a:pt x="3000542" y="713963"/>
                </a:lnTo>
                <a:lnTo>
                  <a:pt x="3038962" y="682035"/>
                </a:lnTo>
                <a:lnTo>
                  <a:pt x="3076879" y="649604"/>
                </a:lnTo>
                <a:lnTo>
                  <a:pt x="3114796" y="617174"/>
                </a:lnTo>
                <a:lnTo>
                  <a:pt x="3152713" y="583752"/>
                </a:lnTo>
                <a:lnTo>
                  <a:pt x="3190631" y="550316"/>
                </a:lnTo>
                <a:lnTo>
                  <a:pt x="3228548" y="516392"/>
                </a:lnTo>
                <a:lnTo>
                  <a:pt x="3266465" y="482467"/>
                </a:lnTo>
                <a:lnTo>
                  <a:pt x="3304382" y="447537"/>
                </a:lnTo>
                <a:lnTo>
                  <a:pt x="3342802" y="412622"/>
                </a:lnTo>
                <a:lnTo>
                  <a:pt x="3380719" y="377189"/>
                </a:lnTo>
                <a:lnTo>
                  <a:pt x="3418636" y="341269"/>
                </a:lnTo>
                <a:lnTo>
                  <a:pt x="3456553" y="304845"/>
                </a:lnTo>
                <a:lnTo>
                  <a:pt x="3494470" y="267934"/>
                </a:lnTo>
                <a:lnTo>
                  <a:pt x="3532388" y="231007"/>
                </a:lnTo>
                <a:lnTo>
                  <a:pt x="3570320" y="193593"/>
                </a:lnTo>
                <a:lnTo>
                  <a:pt x="3608237" y="155676"/>
                </a:lnTo>
                <a:lnTo>
                  <a:pt x="3646642" y="117256"/>
                </a:lnTo>
                <a:lnTo>
                  <a:pt x="3684574" y="78836"/>
                </a:lnTo>
                <a:lnTo>
                  <a:pt x="3722491" y="39425"/>
                </a:lnTo>
                <a:lnTo>
                  <a:pt x="3760408" y="0"/>
                </a:lnTo>
              </a:path>
            </a:pathLst>
          </a:custGeom>
          <a:ln w="3175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 txBox="1"/>
          <p:nvPr/>
        </p:nvSpPr>
        <p:spPr>
          <a:xfrm>
            <a:off x="850899" y="8154669"/>
            <a:ext cx="6366510" cy="828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6065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2.1: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Asymptotic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700">
              <a:latin typeface="Times New Roman"/>
              <a:cs typeface="Times New Roman"/>
            </a:endParaRPr>
          </a:p>
          <a:p>
            <a:pPr marL="62865" marR="55880">
              <a:lnSpc>
                <a:spcPct val="100000"/>
              </a:lnSpc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established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31250" sz="1200" spc="7">
                <a:latin typeface="Verdana"/>
                <a:cs typeface="Verdana"/>
              </a:rPr>
              <a:t>2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Let’s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asymptotic</a:t>
            </a:r>
            <a:r>
              <a:rPr dirty="0" sz="1200" spc="-5">
                <a:latin typeface="Times New Roman"/>
                <a:cs typeface="Times New Roman"/>
              </a:rPr>
              <a:t> class.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let’s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265">
                <a:latin typeface="Segoe UI Symbol"/>
                <a:cs typeface="Segoe UI Symbol"/>
              </a:rPr>
              <a:t>/∈</a:t>
            </a:r>
            <a:r>
              <a:rPr dirty="0" sz="1200" spc="-245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Θ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265">
                <a:latin typeface="Segoe UI Symbol"/>
                <a:cs typeface="Segoe UI Symbol"/>
              </a:rPr>
              <a:t>/∈</a:t>
            </a:r>
            <a:r>
              <a:rPr dirty="0" sz="1200" spc="-250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Θ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were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true,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satisfy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25499" y="523090"/>
            <a:ext cx="6553834" cy="20770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58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25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88900" marR="116839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both the </a:t>
            </a:r>
            <a:r>
              <a:rPr dirty="0" sz="1200" spc="-5">
                <a:latin typeface="Times New Roman"/>
                <a:cs typeface="Times New Roman"/>
              </a:rPr>
              <a:t>upper and </a:t>
            </a:r>
            <a:r>
              <a:rPr dirty="0" sz="1200" spc="-10">
                <a:latin typeface="Times New Roman"/>
                <a:cs typeface="Times New Roman"/>
              </a:rPr>
              <a:t>lower bounds.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lower bound </a:t>
            </a:r>
            <a:r>
              <a:rPr dirty="0" sz="1200" spc="-5">
                <a:latin typeface="Times New Roman"/>
                <a:cs typeface="Times New Roman"/>
              </a:rPr>
              <a:t>is satisfied </a:t>
            </a:r>
            <a:r>
              <a:rPr dirty="0" sz="1200" spc="-15">
                <a:latin typeface="Times New Roman"/>
                <a:cs typeface="Times New Roman"/>
              </a:rPr>
              <a:t>because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45">
                <a:latin typeface="Lucida Sans Unicode"/>
                <a:cs typeface="Lucida Sans Unicode"/>
              </a:rPr>
              <a:t>8n</a:t>
            </a:r>
            <a:r>
              <a:rPr dirty="0" baseline="31250" sz="1200" spc="-67">
                <a:latin typeface="Verdana"/>
                <a:cs typeface="Verdana"/>
              </a:rPr>
              <a:t>2 </a:t>
            </a:r>
            <a:r>
              <a:rPr dirty="0" sz="1200" spc="100">
                <a:latin typeface="Garamond"/>
                <a:cs typeface="Garamond"/>
              </a:rPr>
              <a:t>+ </a:t>
            </a:r>
            <a:r>
              <a:rPr dirty="0" sz="1200" spc="-60">
                <a:latin typeface="Lucida Sans Unicode"/>
                <a:cs typeface="Lucida Sans Unicode"/>
              </a:rPr>
              <a:t>2n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 </a:t>
            </a:r>
            <a:r>
              <a:rPr dirty="0" sz="1200" spc="-5">
                <a:latin typeface="Times New Roman"/>
                <a:cs typeface="Times New Roman"/>
              </a:rPr>
              <a:t>does </a:t>
            </a:r>
            <a:r>
              <a:rPr dirty="0" sz="1200" spc="-15">
                <a:latin typeface="Times New Roman"/>
                <a:cs typeface="Times New Roman"/>
              </a:rPr>
              <a:t>grow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asymptotically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upper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false.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Upper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exist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positive</a:t>
            </a:r>
            <a:r>
              <a:rPr dirty="0" sz="1200" spc="-5">
                <a:latin typeface="Times New Roman"/>
                <a:cs typeface="Times New Roman"/>
              </a:rPr>
              <a:t> constants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c</a:t>
            </a:r>
            <a:r>
              <a:rPr dirty="0" baseline="-13888" sz="1200" spc="-37">
                <a:latin typeface="Verdana"/>
                <a:cs typeface="Verdana"/>
              </a:rPr>
              <a:t>2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baseline="-13888" sz="1200" spc="22">
                <a:latin typeface="Verdana"/>
                <a:cs typeface="Verdana"/>
              </a:rPr>
              <a:t>0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 that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c</a:t>
            </a:r>
            <a:r>
              <a:rPr dirty="0" baseline="-13888" sz="1200" spc="-7">
                <a:latin typeface="Verdana"/>
                <a:cs typeface="Verdana"/>
              </a:rPr>
              <a:t>2</a:t>
            </a:r>
            <a:r>
              <a:rPr dirty="0" sz="1200" spc="-5">
                <a:latin typeface="Lucida Sans Unicode"/>
                <a:cs typeface="Lucida Sans Unicode"/>
              </a:rPr>
              <a:t>n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all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-13888" sz="1200" spc="7">
                <a:latin typeface="Verdana"/>
                <a:cs typeface="Verdana"/>
              </a:rPr>
              <a:t>0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88900" marR="81280">
              <a:lnSpc>
                <a:spcPct val="100000"/>
              </a:lnSpc>
              <a:spcBef>
                <a:spcPts val="530"/>
              </a:spcBef>
            </a:pPr>
            <a:r>
              <a:rPr dirty="0" sz="1200" spc="-10">
                <a:latin typeface="Times New Roman"/>
                <a:cs typeface="Times New Roman"/>
              </a:rPr>
              <a:t>Informally we </a:t>
            </a:r>
            <a:r>
              <a:rPr dirty="0" sz="1200" spc="-15">
                <a:latin typeface="Times New Roman"/>
                <a:cs typeface="Times New Roman"/>
              </a:rPr>
              <a:t>know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45">
                <a:latin typeface="Lucida Sans Unicode"/>
                <a:cs typeface="Lucida Sans Unicode"/>
              </a:rPr>
              <a:t>8n</a:t>
            </a:r>
            <a:r>
              <a:rPr dirty="0" baseline="31250" sz="1200" spc="-67">
                <a:latin typeface="Verdana"/>
                <a:cs typeface="Verdana"/>
              </a:rPr>
              <a:t>2 </a:t>
            </a:r>
            <a:r>
              <a:rPr dirty="0" sz="1200" spc="100">
                <a:latin typeface="Garamond"/>
                <a:cs typeface="Garamond"/>
              </a:rPr>
              <a:t>+ </a:t>
            </a:r>
            <a:r>
              <a:rPr dirty="0" sz="1200" spc="-60">
                <a:latin typeface="Lucida Sans Unicode"/>
                <a:cs typeface="Lucida Sans Unicode"/>
              </a:rPr>
              <a:t>2n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 </a:t>
            </a:r>
            <a:r>
              <a:rPr dirty="0" sz="1200" spc="-10">
                <a:latin typeface="Times New Roman"/>
                <a:cs typeface="Times New Roman"/>
              </a:rPr>
              <a:t>will eventually exceed </a:t>
            </a:r>
            <a:r>
              <a:rPr dirty="0" sz="1200" spc="-5">
                <a:latin typeface="Lucida Sans Unicode"/>
                <a:cs typeface="Lucida Sans Unicode"/>
              </a:rPr>
              <a:t>c</a:t>
            </a:r>
            <a:r>
              <a:rPr dirty="0" baseline="-13888" sz="1200" spc="-7">
                <a:latin typeface="Verdana"/>
                <a:cs typeface="Verdana"/>
              </a:rPr>
              <a:t>2</a:t>
            </a:r>
            <a:r>
              <a:rPr dirty="0" sz="1200" spc="-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no matter </a:t>
            </a:r>
            <a:r>
              <a:rPr dirty="0" sz="1200" spc="-15">
                <a:latin typeface="Times New Roman"/>
                <a:cs typeface="Times New Roman"/>
              </a:rPr>
              <a:t>how </a:t>
            </a:r>
            <a:r>
              <a:rPr dirty="0" sz="1200" spc="-10">
                <a:latin typeface="Times New Roman"/>
                <a:cs typeface="Times New Roman"/>
              </a:rPr>
              <a:t>large we make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c</a:t>
            </a:r>
            <a:r>
              <a:rPr dirty="0" baseline="-13888" sz="1200" spc="-37">
                <a:latin typeface="Verdana"/>
                <a:cs typeface="Verdana"/>
              </a:rPr>
              <a:t>2</a:t>
            </a:r>
            <a:r>
              <a:rPr dirty="0" sz="1200" spc="-25">
                <a:latin typeface="Times New Roman"/>
                <a:cs typeface="Times New Roman"/>
              </a:rPr>
              <a:t>. </a:t>
            </a:r>
            <a:r>
              <a:rPr dirty="0" sz="1200" spc="-55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see this, suppose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assume that constants </a:t>
            </a:r>
            <a:r>
              <a:rPr dirty="0" sz="1200" spc="-25">
                <a:latin typeface="Lucida Sans Unicode"/>
                <a:cs typeface="Lucida Sans Unicode"/>
              </a:rPr>
              <a:t>c</a:t>
            </a:r>
            <a:r>
              <a:rPr dirty="0" baseline="-13888" sz="1200" spc="-37">
                <a:latin typeface="Verdana"/>
                <a:cs typeface="Verdana"/>
              </a:rPr>
              <a:t>2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baseline="-13888" sz="1200" spc="22">
                <a:latin typeface="Verdana"/>
                <a:cs typeface="Verdana"/>
              </a:rPr>
              <a:t>0 </a:t>
            </a:r>
            <a:r>
              <a:rPr dirty="0" sz="1200" spc="-10">
                <a:latin typeface="Times New Roman"/>
                <a:cs typeface="Times New Roman"/>
              </a:rPr>
              <a:t>did exist </a:t>
            </a:r>
            <a:r>
              <a:rPr dirty="0" sz="1200" spc="-5">
                <a:latin typeface="Times New Roman"/>
                <a:cs typeface="Times New Roman"/>
              </a:rPr>
              <a:t>such that </a:t>
            </a:r>
            <a:r>
              <a:rPr dirty="0" sz="1200" spc="-45">
                <a:latin typeface="Lucida Sans Unicode"/>
                <a:cs typeface="Lucida Sans Unicode"/>
              </a:rPr>
              <a:t>8n</a:t>
            </a:r>
            <a:r>
              <a:rPr dirty="0" baseline="31250" sz="1200" spc="-67">
                <a:latin typeface="Verdana"/>
                <a:cs typeface="Verdana"/>
              </a:rPr>
              <a:t>2 </a:t>
            </a:r>
            <a:r>
              <a:rPr dirty="0" sz="1200" spc="100">
                <a:latin typeface="Garamond"/>
                <a:cs typeface="Garamond"/>
              </a:rPr>
              <a:t>+ </a:t>
            </a:r>
            <a:r>
              <a:rPr dirty="0" sz="1200" spc="-60">
                <a:latin typeface="Lucida Sans Unicode"/>
                <a:cs typeface="Lucida Sans Unicode"/>
              </a:rPr>
              <a:t>2n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9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 </a:t>
            </a:r>
            <a:r>
              <a:rPr dirty="0" sz="1200" spc="105">
                <a:latin typeface="Segoe UI Symbol"/>
                <a:cs typeface="Segoe UI Symbol"/>
              </a:rPr>
              <a:t>≤ </a:t>
            </a:r>
            <a:r>
              <a:rPr dirty="0" sz="1200" spc="-5">
                <a:latin typeface="Lucida Sans Unicode"/>
                <a:cs typeface="Lucida Sans Unicode"/>
              </a:rPr>
              <a:t>c</a:t>
            </a:r>
            <a:r>
              <a:rPr dirty="0" baseline="-13888" sz="1200" spc="-7">
                <a:latin typeface="Verdana"/>
                <a:cs typeface="Verdana"/>
              </a:rPr>
              <a:t>2</a:t>
            </a:r>
            <a:r>
              <a:rPr dirty="0" sz="1200" spc="-5">
                <a:latin typeface="Lucida Sans Unicode"/>
                <a:cs typeface="Lucida Sans Unicode"/>
              </a:rPr>
              <a:t>n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 all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105">
                <a:latin typeface="Segoe UI Symbol"/>
                <a:cs typeface="Segoe UI Symbol"/>
              </a:rPr>
              <a:t>≥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baseline="-13888" sz="1200" spc="22">
                <a:latin typeface="Verdana"/>
                <a:cs typeface="Verdana"/>
              </a:rPr>
              <a:t>0 </a:t>
            </a:r>
            <a:r>
              <a:rPr dirty="0" sz="1200" spc="-5">
                <a:latin typeface="Times New Roman"/>
                <a:cs typeface="Times New Roman"/>
              </a:rPr>
              <a:t>Since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true for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 spc="-10">
                <a:latin typeface="Times New Roman"/>
                <a:cs typeface="Times New Roman"/>
              </a:rPr>
              <a:t>sufficiently large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then it must be </a:t>
            </a:r>
            <a:r>
              <a:rPr dirty="0" sz="1200" spc="-10">
                <a:latin typeface="Times New Roman"/>
                <a:cs typeface="Times New Roman"/>
              </a:rPr>
              <a:t>true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 limit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tends 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infinity.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divide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both</a:t>
            </a:r>
            <a:r>
              <a:rPr dirty="0" sz="1200" spc="-5">
                <a:latin typeface="Times New Roman"/>
                <a:cs typeface="Times New Roman"/>
              </a:rPr>
              <a:t> sides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850">
              <a:latin typeface="Times New Roman"/>
              <a:cs typeface="Times New Roman"/>
            </a:endParaRPr>
          </a:p>
          <a:p>
            <a:pPr algn="ctr" marR="59055">
              <a:lnSpc>
                <a:spcPct val="100000"/>
              </a:lnSpc>
              <a:tabLst>
                <a:tab pos="859790" algn="l"/>
              </a:tabLst>
            </a:pPr>
            <a:r>
              <a:rPr dirty="0" sz="1200" spc="480">
                <a:latin typeface="Gulim"/>
                <a:cs typeface="Gulim"/>
              </a:rPr>
              <a:t> </a:t>
            </a:r>
            <a:r>
              <a:rPr dirty="0" sz="1200" spc="480">
                <a:latin typeface="Gulim"/>
                <a:cs typeface="Gulim"/>
              </a:rPr>
              <a:t>	</a:t>
            </a:r>
            <a:r>
              <a:rPr dirty="0" sz="1200" spc="480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282474" y="2748369"/>
            <a:ext cx="3073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5">
                <a:latin typeface="Verdana"/>
                <a:cs typeface="Verdana"/>
              </a:rPr>
              <a:t>n</a:t>
            </a:r>
            <a:r>
              <a:rPr dirty="0" sz="800" spc="90">
                <a:latin typeface="Lucida Sans Unicode"/>
                <a:cs typeface="Lucida Sans Unicode"/>
              </a:rPr>
              <a:t>→</a:t>
            </a:r>
            <a:r>
              <a:rPr dirty="0" sz="800" spc="45">
                <a:latin typeface="Lucida Sans Unicode"/>
                <a:cs typeface="Lucida Sans Unicode"/>
              </a:rPr>
              <a:t>∞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4326635" y="2730424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4314353" y="2710905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818645" y="2680019"/>
            <a:ext cx="88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99707" y="2606663"/>
            <a:ext cx="1673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94970" algn="l"/>
                <a:tab pos="1296670" algn="l"/>
              </a:tabLst>
            </a:pPr>
            <a:r>
              <a:rPr dirty="0" sz="1200" spc="-10">
                <a:latin typeface="Times New Roman"/>
                <a:cs typeface="Times New Roman"/>
              </a:rPr>
              <a:t>lim	</a:t>
            </a:r>
            <a:r>
              <a:rPr dirty="0" sz="1200" spc="-60">
                <a:latin typeface="Lucida Sans Unicode"/>
                <a:cs typeface="Lucida Sans Unicode"/>
              </a:rPr>
              <a:t>8n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185">
                <a:latin typeface="Garamond"/>
                <a:cs typeface="Garamond"/>
              </a:rPr>
              <a:t> </a:t>
            </a:r>
            <a:r>
              <a:rPr dirty="0" baseline="37037" sz="1800" spc="-247">
                <a:latin typeface="Lucida Sans Unicode"/>
                <a:cs typeface="Lucida Sans Unicode"/>
              </a:rPr>
              <a:t>3	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3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6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63600" y="3115642"/>
            <a:ext cx="6354445" cy="640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It is easy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see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limit,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 side tends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∞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So, 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matter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c</a:t>
            </a:r>
            <a:r>
              <a:rPr dirty="0" baseline="-13888" sz="1200" spc="-37">
                <a:latin typeface="Verdana"/>
                <a:cs typeface="Verdana"/>
              </a:rPr>
              <a:t>2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statement 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violated.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265">
                <a:latin typeface="Segoe UI Symbol"/>
                <a:cs typeface="Segoe UI Symbol"/>
              </a:rPr>
              <a:t>/∈</a:t>
            </a:r>
            <a:r>
              <a:rPr dirty="0" sz="1200" spc="-250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Θ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25"/>
              </a:spcBef>
            </a:pPr>
            <a:r>
              <a:rPr dirty="0" sz="1200" spc="-20">
                <a:latin typeface="Times New Roman"/>
                <a:cs typeface="Times New Roman"/>
              </a:rPr>
              <a:t>Let’s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265">
                <a:latin typeface="Segoe UI Symbol"/>
                <a:cs typeface="Segoe UI Symbol"/>
              </a:rPr>
              <a:t>/∈</a:t>
            </a:r>
            <a:r>
              <a:rPr dirty="0" sz="1200" spc="-245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Θ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n</a:t>
            </a:r>
            <a:r>
              <a:rPr dirty="0" baseline="31250" sz="1200" spc="44">
                <a:latin typeface="Verdana"/>
                <a:cs typeface="Verdana"/>
              </a:rPr>
              <a:t>3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lower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c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sz="1200" spc="-10">
                <a:latin typeface="Lucida Sans Unicode"/>
                <a:cs typeface="Lucida Sans Unicode"/>
              </a:rPr>
              <a:t>n</a:t>
            </a:r>
            <a:r>
              <a:rPr dirty="0" baseline="31250" sz="1200" spc="-15">
                <a:latin typeface="Verdana"/>
                <a:cs typeface="Verdana"/>
              </a:rPr>
              <a:t>3</a:t>
            </a:r>
            <a:r>
              <a:rPr dirty="0" baseline="31250" sz="1200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76309" y="3731375"/>
            <a:ext cx="6326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baseline="-13888" sz="1200" spc="22">
                <a:latin typeface="Verdana"/>
                <a:cs typeface="Verdana"/>
              </a:rPr>
              <a:t>0</a:t>
            </a:r>
            <a:r>
              <a:rPr dirty="0" baseline="-13888" sz="1200" spc="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violated.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(</a:t>
            </a:r>
            <a:r>
              <a:rPr dirty="0" sz="1200" spc="-15">
                <a:latin typeface="Lucida Sans Unicode"/>
                <a:cs typeface="Lucida Sans Unicode"/>
              </a:rPr>
              <a:t>c</a:t>
            </a:r>
            <a:r>
              <a:rPr dirty="0" baseline="-13888" sz="1200" spc="-22">
                <a:latin typeface="Verdana"/>
                <a:cs typeface="Verdana"/>
              </a:rPr>
              <a:t>1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baseline="-13888" sz="1200" spc="22">
                <a:latin typeface="Verdana"/>
                <a:cs typeface="Verdana"/>
              </a:rPr>
              <a:t>0</a:t>
            </a:r>
            <a:r>
              <a:rPr dirty="0" baseline="-13888" sz="1200" spc="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positive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constants).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Informally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76310" y="3848192"/>
            <a:ext cx="2524125" cy="523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361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cubic</a:t>
            </a:r>
            <a:r>
              <a:rPr dirty="0" sz="1200" spc="-10">
                <a:latin typeface="Times New Roman"/>
                <a:cs typeface="Times New Roman"/>
              </a:rPr>
              <a:t> function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overtake</a:t>
            </a:r>
            <a:r>
              <a:rPr dirty="0" sz="1200" spc="-5">
                <a:latin typeface="Times New Roman"/>
                <a:cs typeface="Times New Roman"/>
              </a:rPr>
              <a:t> a quadratic.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divide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both </a:t>
            </a:r>
            <a:r>
              <a:rPr dirty="0" sz="1200" spc="-5">
                <a:latin typeface="Times New Roman"/>
                <a:cs typeface="Times New Roman"/>
              </a:rPr>
              <a:t>sides by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31250" sz="1200" spc="7">
                <a:latin typeface="Verdana"/>
                <a:cs typeface="Verdana"/>
              </a:rPr>
              <a:t>3</a:t>
            </a:r>
            <a:r>
              <a:rPr dirty="0" sz="1200" spc="5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237660" y="4525988"/>
            <a:ext cx="307340" cy="288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5244">
              <a:lnSpc>
                <a:spcPts val="128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lim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800"/>
              </a:lnSpc>
            </a:pPr>
            <a:r>
              <a:rPr dirty="0" sz="800" spc="65">
                <a:latin typeface="Verdana"/>
                <a:cs typeface="Verdana"/>
              </a:rPr>
              <a:t>n</a:t>
            </a:r>
            <a:r>
              <a:rPr dirty="0" sz="800" spc="90">
                <a:latin typeface="Lucida Sans Unicode"/>
                <a:cs typeface="Lucida Sans Unicode"/>
              </a:rPr>
              <a:t>→</a:t>
            </a:r>
            <a:r>
              <a:rPr dirty="0" sz="800" spc="45">
                <a:latin typeface="Lucida Sans Unicode"/>
                <a:cs typeface="Lucida Sans Unicode"/>
              </a:rPr>
              <a:t>∞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525467" y="4311905"/>
            <a:ext cx="1371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80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665220" y="4649140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3652327" y="4630116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979164" y="4649140"/>
            <a:ext cx="161925" cy="6350"/>
          </a:xfrm>
          <a:custGeom>
            <a:avLst/>
            <a:gdLst/>
            <a:ahLst/>
            <a:cxnLst/>
            <a:rect l="l" t="t" r="r" b="b"/>
            <a:pathLst>
              <a:path w="161925" h="6350">
                <a:moveTo>
                  <a:pt x="161848" y="0"/>
                </a:moveTo>
                <a:lnTo>
                  <a:pt x="0" y="0"/>
                </a:lnTo>
                <a:lnTo>
                  <a:pt x="0" y="6171"/>
                </a:lnTo>
                <a:lnTo>
                  <a:pt x="161848" y="6171"/>
                </a:lnTo>
                <a:lnTo>
                  <a:pt x="161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3639513" y="4423233"/>
            <a:ext cx="8705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56285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100">
                <a:latin typeface="Lucida Sans Unicode"/>
                <a:cs typeface="Lucida Sans Unicode"/>
              </a:rPr>
              <a:t> </a:t>
            </a:r>
            <a:r>
              <a:rPr dirty="0" baseline="-37037" sz="1800" spc="150">
                <a:latin typeface="Garamond"/>
                <a:cs typeface="Garamond"/>
              </a:rPr>
              <a:t>+</a:t>
            </a:r>
            <a:r>
              <a:rPr dirty="0" baseline="-37037" sz="1800" spc="637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	3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4352544" y="4649140"/>
            <a:ext cx="161925" cy="6350"/>
          </a:xfrm>
          <a:custGeom>
            <a:avLst/>
            <a:gdLst/>
            <a:ahLst/>
            <a:cxnLst/>
            <a:rect l="l" t="t" r="r" b="b"/>
            <a:pathLst>
              <a:path w="161925" h="6350">
                <a:moveTo>
                  <a:pt x="161848" y="0"/>
                </a:moveTo>
                <a:lnTo>
                  <a:pt x="0" y="0"/>
                </a:lnTo>
                <a:lnTo>
                  <a:pt x="0" y="6171"/>
                </a:lnTo>
                <a:lnTo>
                  <a:pt x="161848" y="6171"/>
                </a:lnTo>
                <a:lnTo>
                  <a:pt x="161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3940452" y="4586224"/>
            <a:ext cx="6153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12115" algn="l"/>
              </a:tabLst>
            </a:pPr>
            <a:r>
              <a:rPr dirty="0" baseline="-16203" sz="1800" spc="22">
                <a:latin typeface="Lucida Sans Unicode"/>
                <a:cs typeface="Lucida Sans Unicode"/>
              </a:rPr>
              <a:t>n</a:t>
            </a:r>
            <a:r>
              <a:rPr dirty="0" sz="800" spc="15">
                <a:latin typeface="Verdana"/>
                <a:cs typeface="Verdana"/>
              </a:rPr>
              <a:t>2	</a:t>
            </a:r>
            <a:r>
              <a:rPr dirty="0" baseline="-16203" sz="1800" spc="22">
                <a:latin typeface="Lucida Sans Unicode"/>
                <a:cs typeface="Lucida Sans Unicode"/>
              </a:rPr>
              <a:t>n</a:t>
            </a:r>
            <a:r>
              <a:rPr dirty="0" sz="800" spc="15">
                <a:latin typeface="Verdana"/>
                <a:cs typeface="Verdana"/>
              </a:rPr>
              <a:t>3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176621" y="4525988"/>
            <a:ext cx="7550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07365" algn="l"/>
              </a:tabLst>
            </a:pPr>
            <a:r>
              <a:rPr dirty="0" sz="1200" spc="-300">
                <a:latin typeface="Garamond"/>
                <a:cs typeface="Garamond"/>
              </a:rPr>
              <a:t>—	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7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517464" y="4311905"/>
            <a:ext cx="1371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80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905627" y="4599344"/>
            <a:ext cx="88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76300" y="4982845"/>
            <a:ext cx="6393815" cy="1007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16256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left side tends to </a:t>
            </a:r>
            <a:r>
              <a:rPr dirty="0" sz="1200" spc="-85">
                <a:latin typeface="Lucida Sans Unicode"/>
                <a:cs typeface="Lucida Sans Unicode"/>
              </a:rPr>
              <a:t>0</a:t>
            </a:r>
            <a:r>
              <a:rPr dirty="0" sz="1200" spc="-85">
                <a:latin typeface="Times New Roman"/>
                <a:cs typeface="Times New Roman"/>
              </a:rPr>
              <a:t>.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only way </a:t>
            </a:r>
            <a:r>
              <a:rPr dirty="0" sz="1200" spc="-5">
                <a:latin typeface="Times New Roman"/>
                <a:cs typeface="Times New Roman"/>
              </a:rPr>
              <a:t>to satisfy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to set </a:t>
            </a:r>
            <a:r>
              <a:rPr dirty="0" sz="1200" spc="-25">
                <a:latin typeface="Lucida Sans Unicode"/>
                <a:cs typeface="Lucida Sans Unicode"/>
              </a:rPr>
              <a:t>c</a:t>
            </a:r>
            <a:r>
              <a:rPr dirty="0" baseline="-13888" sz="1200" spc="-37">
                <a:latin typeface="Verdana"/>
                <a:cs typeface="Verdana"/>
              </a:rPr>
              <a:t>1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85">
                <a:latin typeface="Lucida Sans Unicode"/>
                <a:cs typeface="Lucida Sans Unicode"/>
              </a:rPr>
              <a:t>0</a:t>
            </a:r>
            <a:r>
              <a:rPr dirty="0" sz="1200" spc="-85">
                <a:latin typeface="Times New Roman"/>
                <a:cs typeface="Times New Roman"/>
              </a:rPr>
              <a:t>.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 by </a:t>
            </a:r>
            <a:r>
              <a:rPr dirty="0" sz="1200" spc="-10">
                <a:latin typeface="Times New Roman"/>
                <a:cs typeface="Times New Roman"/>
              </a:rPr>
              <a:t>hypothesis, </a:t>
            </a:r>
            <a:r>
              <a:rPr dirty="0" sz="1200" spc="-25">
                <a:latin typeface="Lucida Sans Unicode"/>
                <a:cs typeface="Lucida Sans Unicode"/>
              </a:rPr>
              <a:t>c</a:t>
            </a:r>
            <a:r>
              <a:rPr dirty="0" baseline="-13888" sz="1200" spc="-37">
                <a:latin typeface="Verdana"/>
                <a:cs typeface="Verdana"/>
              </a:rPr>
              <a:t>1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positive.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 that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265">
                <a:latin typeface="Segoe UI Symbol"/>
                <a:cs typeface="Segoe UI Symbol"/>
              </a:rPr>
              <a:t>/∈</a:t>
            </a:r>
            <a:r>
              <a:rPr dirty="0" sz="1200" spc="-250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Θ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n</a:t>
            </a:r>
            <a:r>
              <a:rPr dirty="0" baseline="31250" sz="1200" spc="44">
                <a:latin typeface="Verdana"/>
                <a:cs typeface="Verdana"/>
              </a:rPr>
              <a:t>3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38100" marR="3048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efi</a:t>
            </a:r>
            <a:r>
              <a:rPr dirty="0" sz="1200" spc="-10">
                <a:latin typeface="Times New Roman"/>
                <a:cs typeface="Times New Roman"/>
              </a:rPr>
              <a:t>nitio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Θ</a:t>
            </a:r>
            <a:r>
              <a:rPr dirty="0" sz="1200" spc="-10">
                <a:latin typeface="Times New Roman"/>
                <a:cs typeface="Times New Roman"/>
              </a:rPr>
              <a:t>-not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li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</a:t>
            </a:r>
            <a:r>
              <a:rPr dirty="0" sz="1200" spc="-2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vin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upp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ymptot</a:t>
            </a:r>
            <a:r>
              <a:rPr dirty="0" sz="1200" spc="-5">
                <a:latin typeface="Times New Roman"/>
                <a:cs typeface="Times New Roman"/>
              </a:rPr>
              <a:t>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bound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tim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  </a:t>
            </a:r>
            <a:r>
              <a:rPr dirty="0" sz="1200" spc="-10">
                <a:latin typeface="Times New Roman"/>
                <a:cs typeface="Times New Roman"/>
              </a:rPr>
              <a:t>only </a:t>
            </a:r>
            <a:r>
              <a:rPr dirty="0" sz="1200" spc="-5">
                <a:latin typeface="Times New Roman"/>
                <a:cs typeface="Times New Roman"/>
              </a:rPr>
              <a:t>interested in </a:t>
            </a:r>
            <a:r>
              <a:rPr dirty="0" sz="1200" spc="-10">
                <a:latin typeface="Times New Roman"/>
                <a:cs typeface="Times New Roman"/>
              </a:rPr>
              <a:t>proving one bound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0">
                <a:latin typeface="Times New Roman"/>
                <a:cs typeface="Times New Roman"/>
              </a:rPr>
              <a:t>other.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-notation is used to state </a:t>
            </a:r>
            <a:r>
              <a:rPr dirty="0" sz="1200" spc="-10">
                <a:latin typeface="Times New Roman"/>
                <a:cs typeface="Times New Roman"/>
              </a:rPr>
              <a:t>only the asymptotic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upper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bounds.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63605" y="6423598"/>
            <a:ext cx="4749165" cy="250507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1809114">
              <a:lnSpc>
                <a:spcPct val="100000"/>
              </a:lnSpc>
              <a:spcBef>
                <a:spcPts val="405"/>
              </a:spcBef>
            </a:pPr>
            <a:r>
              <a:rPr dirty="0" sz="1200" spc="25">
                <a:latin typeface="Lucida Sans Unicode"/>
                <a:cs typeface="Lucida Sans Unicode"/>
              </a:rPr>
              <a:t>O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{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95">
                <a:latin typeface="Lucida Sans Unicode"/>
                <a:cs typeface="Lucida Sans Unicode"/>
              </a:rPr>
              <a:t>|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xi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  <a:p>
            <a:pPr marL="2959735">
              <a:lnSpc>
                <a:spcPct val="100000"/>
              </a:lnSpc>
              <a:spcBef>
                <a:spcPts val="300"/>
              </a:spcBef>
            </a:pP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-13888" sz="1200" spc="-15">
                <a:latin typeface="Verdana"/>
                <a:cs typeface="Verdana"/>
              </a:rPr>
              <a:t>0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endParaRPr sz="1200">
              <a:latin typeface="Times New Roman"/>
              <a:cs typeface="Times New Roman"/>
            </a:endParaRPr>
          </a:p>
          <a:p>
            <a:pPr marL="2959735">
              <a:lnSpc>
                <a:spcPct val="100000"/>
              </a:lnSpc>
              <a:spcBef>
                <a:spcPts val="305"/>
              </a:spcBef>
            </a:pP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2959735">
              <a:lnSpc>
                <a:spcPct val="100000"/>
              </a:lnSpc>
              <a:spcBef>
                <a:spcPts val="305"/>
              </a:spcBef>
            </a:pP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n</a:t>
            </a:r>
            <a:r>
              <a:rPr dirty="0" baseline="-13888" sz="1200">
                <a:latin typeface="Verdana"/>
                <a:cs typeface="Verdana"/>
              </a:rPr>
              <a:t>0</a:t>
            </a:r>
            <a:r>
              <a:rPr dirty="0" sz="1200">
                <a:latin typeface="Lucida Sans Unicode"/>
                <a:cs typeface="Lucida Sans Unicode"/>
              </a:rPr>
              <a:t>}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600">
              <a:latin typeface="Lucida Sans Unicode"/>
              <a:cs typeface="Lucida Sans Unicode"/>
            </a:endParaRPr>
          </a:p>
          <a:p>
            <a:pPr marL="508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Ω</a:t>
            </a:r>
            <a:r>
              <a:rPr dirty="0" sz="1200" spc="-10">
                <a:latin typeface="Times New Roman"/>
                <a:cs typeface="Times New Roman"/>
              </a:rPr>
              <a:t>-notation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allows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asymptotic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lower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bounds.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700">
              <a:latin typeface="Times New Roman"/>
              <a:cs typeface="Times New Roman"/>
            </a:endParaRPr>
          </a:p>
          <a:p>
            <a:pPr marL="1804035">
              <a:lnSpc>
                <a:spcPct val="100000"/>
              </a:lnSpc>
            </a:pPr>
            <a:r>
              <a:rPr dirty="0" sz="1200" spc="55">
                <a:latin typeface="Lucida Sans Unicode"/>
                <a:cs typeface="Lucida Sans Unicode"/>
              </a:rPr>
              <a:t>Ω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g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{f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95">
                <a:latin typeface="Lucida Sans Unicode"/>
                <a:cs typeface="Lucida Sans Unicode"/>
              </a:rPr>
              <a:t>|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</a:t>
            </a:r>
            <a:r>
              <a:rPr dirty="0" sz="1200" spc="-10">
                <a:latin typeface="Times New Roman"/>
                <a:cs typeface="Times New Roman"/>
              </a:rPr>
              <a:t>exist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positive</a:t>
            </a:r>
            <a:endParaRPr sz="1200">
              <a:latin typeface="Times New Roman"/>
              <a:cs typeface="Times New Roman"/>
            </a:endParaRPr>
          </a:p>
          <a:p>
            <a:pPr marL="2964815">
              <a:lnSpc>
                <a:spcPct val="100000"/>
              </a:lnSpc>
              <a:spcBef>
                <a:spcPts val="305"/>
              </a:spcBef>
            </a:pP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-13888" sz="1200" spc="-15">
                <a:latin typeface="Verdana"/>
                <a:cs typeface="Verdana"/>
              </a:rPr>
              <a:t>0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endParaRPr sz="1200">
              <a:latin typeface="Times New Roman"/>
              <a:cs typeface="Times New Roman"/>
            </a:endParaRPr>
          </a:p>
          <a:p>
            <a:pPr marL="2964815">
              <a:lnSpc>
                <a:spcPct val="100000"/>
              </a:lnSpc>
              <a:spcBef>
                <a:spcPts val="305"/>
              </a:spcBef>
            </a:pP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2964815">
              <a:lnSpc>
                <a:spcPct val="100000"/>
              </a:lnSpc>
              <a:spcBef>
                <a:spcPts val="300"/>
              </a:spcBef>
            </a:pP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n</a:t>
            </a:r>
            <a:r>
              <a:rPr dirty="0" baseline="-13888" sz="1200">
                <a:latin typeface="Verdana"/>
                <a:cs typeface="Verdana"/>
              </a:rPr>
              <a:t>0</a:t>
            </a:r>
            <a:r>
              <a:rPr dirty="0" sz="1200">
                <a:latin typeface="Lucida Sans Unicode"/>
                <a:cs typeface="Lucida Sans Unicode"/>
              </a:rPr>
              <a:t>}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35799" y="7934197"/>
            <a:ext cx="4071620" cy="144780"/>
          </a:xfrm>
          <a:custGeom>
            <a:avLst/>
            <a:gdLst/>
            <a:ahLst/>
            <a:cxnLst/>
            <a:rect l="l" t="t" r="r" b="b"/>
            <a:pathLst>
              <a:path w="4071620" h="144779">
                <a:moveTo>
                  <a:pt x="4071493" y="0"/>
                </a:moveTo>
                <a:lnTo>
                  <a:pt x="0" y="0"/>
                </a:lnTo>
                <a:lnTo>
                  <a:pt x="0" y="144691"/>
                </a:lnTo>
                <a:lnTo>
                  <a:pt x="4071493" y="144691"/>
                </a:lnTo>
                <a:lnTo>
                  <a:pt x="4071493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135799" y="7624216"/>
            <a:ext cx="4845050" cy="144780"/>
          </a:xfrm>
          <a:custGeom>
            <a:avLst/>
            <a:gdLst/>
            <a:ahLst/>
            <a:cxnLst/>
            <a:rect l="l" t="t" r="r" b="b"/>
            <a:pathLst>
              <a:path w="4845050" h="144779">
                <a:moveTo>
                  <a:pt x="4844567" y="0"/>
                </a:moveTo>
                <a:lnTo>
                  <a:pt x="0" y="0"/>
                </a:lnTo>
                <a:lnTo>
                  <a:pt x="0" y="144691"/>
                </a:lnTo>
                <a:lnTo>
                  <a:pt x="4844567" y="144691"/>
                </a:lnTo>
                <a:lnTo>
                  <a:pt x="4844567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135811" y="7115962"/>
            <a:ext cx="4821555" cy="160020"/>
          </a:xfrm>
          <a:custGeom>
            <a:avLst/>
            <a:gdLst/>
            <a:ahLst/>
            <a:cxnLst/>
            <a:rect l="l" t="t" r="r" b="b"/>
            <a:pathLst>
              <a:path w="4821555" h="160020">
                <a:moveTo>
                  <a:pt x="4821097" y="0"/>
                </a:moveTo>
                <a:lnTo>
                  <a:pt x="0" y="0"/>
                </a:lnTo>
                <a:lnTo>
                  <a:pt x="0" y="159397"/>
                </a:lnTo>
                <a:lnTo>
                  <a:pt x="4821097" y="159397"/>
                </a:lnTo>
                <a:lnTo>
                  <a:pt x="4821097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135811" y="6820687"/>
            <a:ext cx="2374265" cy="144780"/>
          </a:xfrm>
          <a:custGeom>
            <a:avLst/>
            <a:gdLst/>
            <a:ahLst/>
            <a:cxnLst/>
            <a:rect l="l" t="t" r="r" b="b"/>
            <a:pathLst>
              <a:path w="2374265" h="144779">
                <a:moveTo>
                  <a:pt x="2373896" y="0"/>
                </a:moveTo>
                <a:lnTo>
                  <a:pt x="0" y="0"/>
                </a:lnTo>
                <a:lnTo>
                  <a:pt x="0" y="144691"/>
                </a:lnTo>
                <a:lnTo>
                  <a:pt x="2373896" y="144691"/>
                </a:lnTo>
                <a:lnTo>
                  <a:pt x="2373896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1135811" y="6510705"/>
            <a:ext cx="3203575" cy="144780"/>
          </a:xfrm>
          <a:custGeom>
            <a:avLst/>
            <a:gdLst/>
            <a:ahLst/>
            <a:cxnLst/>
            <a:rect l="l" t="t" r="r" b="b"/>
            <a:pathLst>
              <a:path w="3203575" h="144779">
                <a:moveTo>
                  <a:pt x="3203130" y="0"/>
                </a:moveTo>
                <a:lnTo>
                  <a:pt x="0" y="0"/>
                </a:lnTo>
                <a:lnTo>
                  <a:pt x="0" y="144691"/>
                </a:lnTo>
                <a:lnTo>
                  <a:pt x="3203130" y="144691"/>
                </a:lnTo>
                <a:lnTo>
                  <a:pt x="3203130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135799" y="5707291"/>
            <a:ext cx="2241550" cy="140335"/>
          </a:xfrm>
          <a:custGeom>
            <a:avLst/>
            <a:gdLst/>
            <a:ahLst/>
            <a:cxnLst/>
            <a:rect l="l" t="t" r="r" b="b"/>
            <a:pathLst>
              <a:path w="2241550" h="140335">
                <a:moveTo>
                  <a:pt x="2240991" y="0"/>
                </a:moveTo>
                <a:lnTo>
                  <a:pt x="0" y="0"/>
                </a:lnTo>
                <a:lnTo>
                  <a:pt x="0" y="140296"/>
                </a:lnTo>
                <a:lnTo>
                  <a:pt x="2240991" y="140296"/>
                </a:lnTo>
                <a:lnTo>
                  <a:pt x="2240991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627535" y="520987"/>
            <a:ext cx="270065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2.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ASYMPTOTIC </a:t>
            </a:r>
            <a:r>
              <a:rPr dirty="0" sz="1200" spc="-45">
                <a:latin typeface="Times New Roman"/>
                <a:cs typeface="Times New Roman"/>
              </a:rPr>
              <a:t>NOTATION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76299" y="926454"/>
            <a:ext cx="6312535" cy="19475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notations: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marL="1975485">
              <a:lnSpc>
                <a:spcPct val="100000"/>
              </a:lnSpc>
            </a:pPr>
            <a:r>
              <a:rPr dirty="0" sz="1200" spc="-35">
                <a:latin typeface="Lucida Sans Unicode"/>
                <a:cs typeface="Lucida Sans Unicode"/>
              </a:rPr>
              <a:t>Θ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">
                <a:latin typeface="Garamond"/>
                <a:cs typeface="Garamond"/>
              </a:rPr>
              <a:t>: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6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baseline="-13888" sz="1200" spc="-44">
                <a:latin typeface="Verdana"/>
                <a:cs typeface="Verdana"/>
              </a:rPr>
              <a:t>2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968500">
              <a:lnSpc>
                <a:spcPct val="100000"/>
              </a:lnSpc>
              <a:spcBef>
                <a:spcPts val="300"/>
              </a:spcBef>
            </a:pPr>
            <a:r>
              <a:rPr dirty="0" sz="1200" spc="25">
                <a:latin typeface="Lucida Sans Unicode"/>
                <a:cs typeface="Lucida Sans Unicode"/>
              </a:rPr>
              <a:t>O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">
                <a:latin typeface="Garamond"/>
                <a:cs typeface="Garamond"/>
              </a:rPr>
              <a:t>: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6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957070">
              <a:lnSpc>
                <a:spcPct val="100000"/>
              </a:lnSpc>
              <a:spcBef>
                <a:spcPts val="305"/>
              </a:spcBef>
            </a:pPr>
            <a:r>
              <a:rPr dirty="0" sz="1200" spc="-10">
                <a:latin typeface="Lucida Sans Unicode"/>
                <a:cs typeface="Lucida Sans Unicode"/>
              </a:rPr>
              <a:t>Ω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">
                <a:latin typeface="Garamond"/>
                <a:cs typeface="Garamond"/>
              </a:rPr>
              <a:t>: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6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ctr" marL="199390">
              <a:lnSpc>
                <a:spcPct val="100000"/>
              </a:lnSpc>
              <a:spcBef>
                <a:spcPts val="305"/>
              </a:spcBef>
            </a:pP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15">
                <a:latin typeface="Segoe UI Symbol"/>
                <a:cs typeface="Segoe UI Symbol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baseline="-13888" sz="1200" spc="22">
                <a:latin typeface="Verdana"/>
                <a:cs typeface="Verdana"/>
              </a:rPr>
              <a:t>0</a:t>
            </a:r>
            <a:endParaRPr baseline="-13888" sz="12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2400">
              <a:latin typeface="Verdana"/>
              <a:cs typeface="Verdana"/>
            </a:endParaRPr>
          </a:p>
          <a:p>
            <a:pPr marL="37465" marR="177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These definitions suggest an </a:t>
            </a:r>
            <a:r>
              <a:rPr dirty="0" sz="1200" spc="-10">
                <a:latin typeface="Times New Roman"/>
                <a:cs typeface="Times New Roman"/>
              </a:rPr>
              <a:t>alternative way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showing the </a:t>
            </a:r>
            <a:r>
              <a:rPr dirty="0" sz="1200" spc="-15">
                <a:latin typeface="Times New Roman"/>
                <a:cs typeface="Times New Roman"/>
              </a:rPr>
              <a:t>asymptotic </a:t>
            </a:r>
            <a:r>
              <a:rPr dirty="0" sz="1200" spc="-20">
                <a:latin typeface="Times New Roman"/>
                <a:cs typeface="Times New Roman"/>
              </a:rPr>
              <a:t>behavior.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can use </a:t>
            </a:r>
            <a:r>
              <a:rPr dirty="0" sz="1200" spc="-10">
                <a:latin typeface="Times New Roman"/>
                <a:cs typeface="Times New Roman"/>
              </a:rPr>
              <a:t>limits for </a:t>
            </a:r>
            <a:r>
              <a:rPr dirty="0" sz="1200" spc="-5">
                <a:latin typeface="Times New Roman"/>
                <a:cs typeface="Times New Roman"/>
              </a:rPr>
              <a:t> define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asymptotic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behavior.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Limit </a:t>
            </a:r>
            <a:r>
              <a:rPr dirty="0" sz="1200" spc="-10">
                <a:latin typeface="Times New Roman"/>
                <a:cs typeface="Times New Roman"/>
              </a:rPr>
              <a:t>rule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Θ</a:t>
            </a:r>
            <a:r>
              <a:rPr dirty="0" sz="1200" spc="-10">
                <a:latin typeface="Times New Roman"/>
                <a:cs typeface="Times New Roman"/>
              </a:rPr>
              <a:t>-notation: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948683" y="3202864"/>
            <a:ext cx="305435" cy="6350"/>
          </a:xfrm>
          <a:custGeom>
            <a:avLst/>
            <a:gdLst/>
            <a:ahLst/>
            <a:cxnLst/>
            <a:rect l="l" t="t" r="r" b="b"/>
            <a:pathLst>
              <a:path w="305435" h="6350">
                <a:moveTo>
                  <a:pt x="305295" y="0"/>
                </a:moveTo>
                <a:lnTo>
                  <a:pt x="0" y="0"/>
                </a:lnTo>
                <a:lnTo>
                  <a:pt x="0" y="6171"/>
                </a:lnTo>
                <a:lnTo>
                  <a:pt x="305295" y="6171"/>
                </a:lnTo>
                <a:lnTo>
                  <a:pt x="3052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3607382" y="3184107"/>
            <a:ext cx="6845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97">
                <a:latin typeface="Verdana"/>
                <a:cs typeface="Verdana"/>
              </a:rPr>
              <a:t>n</a:t>
            </a:r>
            <a:r>
              <a:rPr dirty="0" baseline="6944" sz="1200" spc="135">
                <a:latin typeface="Lucida Sans Unicode"/>
                <a:cs typeface="Lucida Sans Unicode"/>
              </a:rPr>
              <a:t>→</a:t>
            </a:r>
            <a:r>
              <a:rPr dirty="0" baseline="6944" sz="1200" spc="67">
                <a:latin typeface="Lucida Sans Unicode"/>
                <a:cs typeface="Lucida Sans Unicode"/>
              </a:rPr>
              <a:t>∞</a:t>
            </a:r>
            <a:r>
              <a:rPr dirty="0" baseline="6944" sz="1200" spc="-127">
                <a:latin typeface="Lucida Sans Unicode"/>
                <a:cs typeface="Lucida Sans Unicode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650015" y="3079980"/>
            <a:ext cx="97281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lim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baseline="37037" sz="1800" spc="120">
                <a:latin typeface="Lucida Sans Unicode"/>
                <a:cs typeface="Lucida Sans Unicode"/>
              </a:rPr>
              <a:t>f</a:t>
            </a:r>
            <a:r>
              <a:rPr dirty="0" baseline="37037" sz="1800" spc="120">
                <a:latin typeface="Garamond"/>
                <a:cs typeface="Garamond"/>
              </a:rPr>
              <a:t>(</a:t>
            </a:r>
            <a:r>
              <a:rPr dirty="0" baseline="37037" sz="1800" spc="120">
                <a:latin typeface="Lucida Sans Unicode"/>
                <a:cs typeface="Lucida Sans Unicode"/>
              </a:rPr>
              <a:t>n</a:t>
            </a:r>
            <a:r>
              <a:rPr dirty="0" baseline="37037" sz="1800" spc="120">
                <a:latin typeface="Garamond"/>
                <a:cs typeface="Garamond"/>
              </a:rPr>
              <a:t>)</a:t>
            </a:r>
            <a:r>
              <a:rPr dirty="0" baseline="37037" sz="1800" spc="3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c,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01699" y="3500375"/>
            <a:ext cx="634746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(strictly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positive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infinity)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Θ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Garamond"/>
                <a:cs typeface="Garamond"/>
              </a:rPr>
              <a:t>))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Similarly,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limit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rule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Lucida Sans Unicode"/>
                <a:cs typeface="Lucida Sans Unicode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-notation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948683" y="4038016"/>
            <a:ext cx="305435" cy="6350"/>
          </a:xfrm>
          <a:custGeom>
            <a:avLst/>
            <a:gdLst/>
            <a:ahLst/>
            <a:cxnLst/>
            <a:rect l="l" t="t" r="r" b="b"/>
            <a:pathLst>
              <a:path w="305435" h="6350">
                <a:moveTo>
                  <a:pt x="305295" y="0"/>
                </a:moveTo>
                <a:lnTo>
                  <a:pt x="0" y="0"/>
                </a:lnTo>
                <a:lnTo>
                  <a:pt x="0" y="6171"/>
                </a:lnTo>
                <a:lnTo>
                  <a:pt x="305295" y="6171"/>
                </a:lnTo>
                <a:lnTo>
                  <a:pt x="3052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3607390" y="4018840"/>
            <a:ext cx="6845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97">
                <a:latin typeface="Verdana"/>
                <a:cs typeface="Verdana"/>
              </a:rPr>
              <a:t>n</a:t>
            </a:r>
            <a:r>
              <a:rPr dirty="0" baseline="6944" sz="1200" spc="135">
                <a:latin typeface="Lucida Sans Unicode"/>
                <a:cs typeface="Lucida Sans Unicode"/>
              </a:rPr>
              <a:t>→</a:t>
            </a:r>
            <a:r>
              <a:rPr dirty="0" baseline="6944" sz="1200" spc="67">
                <a:latin typeface="Lucida Sans Unicode"/>
                <a:cs typeface="Lucida Sans Unicode"/>
              </a:rPr>
              <a:t>∞</a:t>
            </a:r>
            <a:r>
              <a:rPr dirty="0" baseline="6944" sz="1200" spc="-127">
                <a:latin typeface="Lucida Sans Unicode"/>
                <a:cs typeface="Lucida Sans Unicode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650024" y="3914713"/>
            <a:ext cx="97281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lim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baseline="37037" sz="1800" spc="120">
                <a:latin typeface="Lucida Sans Unicode"/>
                <a:cs typeface="Lucida Sans Unicode"/>
              </a:rPr>
              <a:t>f</a:t>
            </a:r>
            <a:r>
              <a:rPr dirty="0" baseline="37037" sz="1800" spc="120">
                <a:latin typeface="Garamond"/>
                <a:cs typeface="Garamond"/>
              </a:rPr>
              <a:t>(</a:t>
            </a:r>
            <a:r>
              <a:rPr dirty="0" baseline="37037" sz="1800" spc="120">
                <a:latin typeface="Lucida Sans Unicode"/>
                <a:cs typeface="Lucida Sans Unicode"/>
              </a:rPr>
              <a:t>n</a:t>
            </a:r>
            <a:r>
              <a:rPr dirty="0" baseline="37037" sz="1800" spc="120">
                <a:latin typeface="Garamond"/>
                <a:cs typeface="Garamond"/>
              </a:rPr>
              <a:t>)</a:t>
            </a:r>
            <a:r>
              <a:rPr dirty="0" baseline="37037" sz="1800" spc="3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c,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01699" y="4265499"/>
            <a:ext cx="571817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(nonnegative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infinite)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O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g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n</a:t>
            </a:r>
            <a:r>
              <a:rPr dirty="0" sz="1200" spc="65">
                <a:latin typeface="Garamond"/>
                <a:cs typeface="Garamond"/>
              </a:rPr>
              <a:t>))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limit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10">
                <a:latin typeface="Lucida Sans Unicode"/>
                <a:cs typeface="Lucida Sans Unicode"/>
              </a:rPr>
              <a:t>Ω</a:t>
            </a:r>
            <a:r>
              <a:rPr dirty="0" sz="1200" spc="-10">
                <a:latin typeface="Times New Roman"/>
                <a:cs typeface="Times New Roman"/>
              </a:rPr>
              <a:t>-notation: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946087" y="4577195"/>
            <a:ext cx="3086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947159" y="4803064"/>
            <a:ext cx="305435" cy="6350"/>
          </a:xfrm>
          <a:custGeom>
            <a:avLst/>
            <a:gdLst/>
            <a:ahLst/>
            <a:cxnLst/>
            <a:rect l="l" t="t" r="r" b="b"/>
            <a:pathLst>
              <a:path w="305435" h="6350">
                <a:moveTo>
                  <a:pt x="305295" y="0"/>
                </a:moveTo>
                <a:lnTo>
                  <a:pt x="0" y="0"/>
                </a:lnTo>
                <a:lnTo>
                  <a:pt x="0" y="6171"/>
                </a:lnTo>
                <a:lnTo>
                  <a:pt x="305295" y="6171"/>
                </a:lnTo>
                <a:lnTo>
                  <a:pt x="3052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3606476" y="4783963"/>
            <a:ext cx="6845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97">
                <a:latin typeface="Verdana"/>
                <a:cs typeface="Verdana"/>
              </a:rPr>
              <a:t>n</a:t>
            </a:r>
            <a:r>
              <a:rPr dirty="0" baseline="6944" sz="1200" spc="135">
                <a:latin typeface="Lucida Sans Unicode"/>
                <a:cs typeface="Lucida Sans Unicode"/>
              </a:rPr>
              <a:t>→</a:t>
            </a:r>
            <a:r>
              <a:rPr dirty="0" baseline="6944" sz="1200" spc="67">
                <a:latin typeface="Lucida Sans Unicode"/>
                <a:cs typeface="Lucida Sans Unicode"/>
              </a:rPr>
              <a:t>∞</a:t>
            </a:r>
            <a:r>
              <a:rPr dirty="0" baseline="6944" sz="1200" spc="-127">
                <a:latin typeface="Lucida Sans Unicode"/>
                <a:cs typeface="Lucida Sans Unicode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674396" y="4679837"/>
            <a:ext cx="9239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5000" algn="l"/>
              </a:tabLst>
            </a:pPr>
            <a:r>
              <a:rPr dirty="0" sz="1200" spc="-10">
                <a:latin typeface="Times New Roman"/>
                <a:cs typeface="Times New Roman"/>
              </a:rPr>
              <a:t>lim	</a:t>
            </a:r>
            <a:r>
              <a:rPr dirty="0" sz="1200" spc="50">
                <a:latin typeface="Segoe UI Symbol"/>
                <a:cs typeface="Segoe UI Symbol"/>
              </a:rPr>
              <a:t>/</a:t>
            </a:r>
            <a:r>
              <a:rPr dirty="0" sz="1200" spc="50">
                <a:latin typeface="Garamond"/>
                <a:cs typeface="Garamond"/>
              </a:rPr>
              <a:t>=</a:t>
            </a:r>
            <a:r>
              <a:rPr dirty="0" sz="1200" spc="-20">
                <a:latin typeface="Garamond"/>
                <a:cs typeface="Garamond"/>
              </a:rPr>
              <a:t> </a:t>
            </a:r>
            <a:r>
              <a:rPr dirty="0" sz="1200" spc="-310">
                <a:latin typeface="Lucida Sans Unicode"/>
                <a:cs typeface="Lucida Sans Unicode"/>
              </a:rPr>
              <a:t>0,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01696" y="4963987"/>
            <a:ext cx="4135120" cy="8985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61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(either a strictly </a:t>
            </a:r>
            <a:r>
              <a:rPr dirty="0" sz="1200" spc="-15">
                <a:latin typeface="Times New Roman"/>
                <a:cs typeface="Times New Roman"/>
              </a:rPr>
              <a:t>positive </a:t>
            </a:r>
            <a:r>
              <a:rPr dirty="0" sz="1200" spc="-5">
                <a:latin typeface="Times New Roman"/>
                <a:cs typeface="Times New Roman"/>
              </a:rPr>
              <a:t>constant or infinity) then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 </a:t>
            </a:r>
            <a:r>
              <a:rPr dirty="0" sz="1200" spc="-65">
                <a:latin typeface="Segoe UI Symbol"/>
                <a:cs typeface="Segoe UI Symbol"/>
              </a:rPr>
              <a:t>∈ </a:t>
            </a:r>
            <a:r>
              <a:rPr dirty="0" sz="1200" spc="50">
                <a:latin typeface="Lucida Sans Unicode"/>
                <a:cs typeface="Lucida Sans Unicode"/>
              </a:rPr>
              <a:t>Ω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g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))</a:t>
            </a:r>
            <a:r>
              <a:rPr dirty="0" sz="1200" spc="50">
                <a:latin typeface="Times New Roman"/>
                <a:cs typeface="Times New Roman"/>
              </a:rPr>
              <a:t>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 is a list of </a:t>
            </a:r>
            <a:r>
              <a:rPr dirty="0" sz="1200" spc="-10">
                <a:latin typeface="Times New Roman"/>
                <a:cs typeface="Times New Roman"/>
              </a:rPr>
              <a:t>common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asymptotic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-5">
                <a:latin typeface="Times New Roman"/>
                <a:cs typeface="Times New Roman"/>
              </a:rPr>
              <a:t> times: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00">
              <a:latin typeface="Times New Roman"/>
              <a:cs typeface="Times New Roman"/>
            </a:endParaRPr>
          </a:p>
          <a:p>
            <a:pPr marL="384175" indent="-151130">
              <a:lnSpc>
                <a:spcPct val="100000"/>
              </a:lnSpc>
              <a:buFont typeface="Segoe UI Symbol"/>
              <a:buChar char="•"/>
              <a:tabLst>
                <a:tab pos="384810" algn="l"/>
              </a:tabLst>
            </a:pPr>
            <a:r>
              <a:rPr dirty="0" sz="1200">
                <a:latin typeface="Lucida Sans Unicode"/>
                <a:cs typeface="Lucida Sans Unicode"/>
              </a:rPr>
              <a:t>Θ</a:t>
            </a:r>
            <a:r>
              <a:rPr dirty="0" sz="1200">
                <a:latin typeface="Garamond"/>
                <a:cs typeface="Garamond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1</a:t>
            </a:r>
            <a:r>
              <a:rPr dirty="0" sz="1200">
                <a:latin typeface="Garamond"/>
                <a:cs typeface="Garamond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can’t </a:t>
            </a:r>
            <a:r>
              <a:rPr dirty="0" sz="1200" spc="-5">
                <a:latin typeface="Times New Roman"/>
                <a:cs typeface="Times New Roman"/>
              </a:rPr>
              <a:t>beat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135799" y="6017272"/>
            <a:ext cx="4845685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 marL="149860" indent="-151130">
              <a:lnSpc>
                <a:spcPts val="1120"/>
              </a:lnSpc>
              <a:buFont typeface="Segoe UI Symbol"/>
              <a:buChar char="•"/>
              <a:tabLst>
                <a:tab pos="150495" algn="l"/>
              </a:tabLst>
            </a:pPr>
            <a:r>
              <a:rPr dirty="0" sz="1200" spc="10">
                <a:latin typeface="Lucida Sans Unicode"/>
                <a:cs typeface="Lucida Sans Unicode"/>
              </a:rPr>
              <a:t>Θ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Times New Roman"/>
                <a:cs typeface="Times New Roman"/>
              </a:rPr>
              <a:t>log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Inserting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balanced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tree;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968222" y="5964796"/>
            <a:ext cx="11722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length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286116" y="6207404"/>
            <a:ext cx="121856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search.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123108" y="6458229"/>
            <a:ext cx="3228340" cy="51815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2560" indent="-150495">
              <a:lnSpc>
                <a:spcPct val="100000"/>
              </a:lnSpc>
              <a:spcBef>
                <a:spcPts val="95"/>
              </a:spcBef>
              <a:buFont typeface="Segoe UI Symbol"/>
              <a:buChar char="•"/>
              <a:tabLst>
                <a:tab pos="163195" algn="l"/>
              </a:tabLst>
            </a:pPr>
            <a:r>
              <a:rPr dirty="0" sz="1200" spc="45">
                <a:latin typeface="Lucida Sans Unicode"/>
                <a:cs typeface="Lucida Sans Unicode"/>
              </a:rPr>
              <a:t>Θ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fastest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0">
                <a:latin typeface="Times New Roman"/>
                <a:cs typeface="Times New Roman"/>
              </a:rPr>
              <a:t>run.</a:t>
            </a:r>
            <a:endParaRPr sz="1200">
              <a:latin typeface="Times New Roman"/>
              <a:cs typeface="Times New Roman"/>
            </a:endParaRPr>
          </a:p>
          <a:p>
            <a:pPr marL="162560" indent="-150495">
              <a:lnSpc>
                <a:spcPct val="100000"/>
              </a:lnSpc>
              <a:spcBef>
                <a:spcPts val="1000"/>
              </a:spcBef>
              <a:buFont typeface="Segoe UI Symbol"/>
              <a:buChar char="•"/>
              <a:tabLst>
                <a:tab pos="163195" algn="l"/>
              </a:tabLst>
            </a:pP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Best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35809" y="7073709"/>
            <a:ext cx="4833620" cy="2120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49860" indent="-150495">
              <a:lnSpc>
                <a:spcPts val="455"/>
              </a:lnSpc>
              <a:spcBef>
                <a:spcPts val="130"/>
              </a:spcBef>
              <a:buFont typeface="Segoe UI Symbol"/>
              <a:buChar char="•"/>
              <a:tabLst>
                <a:tab pos="150495" algn="l"/>
              </a:tabLst>
            </a:pP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100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30">
                <a:latin typeface="Lucida Sans Unicode"/>
                <a:cs typeface="Lucida Sans Unicode"/>
              </a:rPr>
              <a:t>,</a:t>
            </a:r>
            <a:r>
              <a:rPr dirty="0" sz="1200" spc="15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100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-5">
                <a:latin typeface="Times New Roman"/>
                <a:cs typeface="Times New Roman"/>
              </a:rPr>
              <a:t> time.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-5">
                <a:latin typeface="Times New Roman"/>
                <a:cs typeface="Times New Roman"/>
              </a:rPr>
              <a:t> times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acceptable 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424815">
              <a:lnSpc>
                <a:spcPts val="470"/>
              </a:lnSpc>
              <a:tabLst>
                <a:tab pos="929640" algn="l"/>
              </a:tabLst>
            </a:pPr>
            <a:r>
              <a:rPr dirty="0" sz="800" spc="-10">
                <a:latin typeface="Verdana"/>
                <a:cs typeface="Verdana"/>
              </a:rPr>
              <a:t>2	3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944053" y="7078192"/>
            <a:ext cx="1203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xpon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286116" y="7318184"/>
            <a:ext cx="2527300" cy="14097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90"/>
              </a:lnSpc>
            </a:pPr>
            <a:r>
              <a:rPr dirty="0" sz="1200" spc="-5">
                <a:latin typeface="Times New Roman"/>
                <a:cs typeface="Times New Roman"/>
              </a:rPr>
              <a:t>small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 spc="-10">
                <a:latin typeface="Times New Roman"/>
                <a:cs typeface="Times New Roman"/>
              </a:rPr>
              <a:t> large,</a:t>
            </a:r>
            <a:r>
              <a:rPr dirty="0" sz="1200" spc="-5">
                <a:latin typeface="Times New Roman"/>
                <a:cs typeface="Times New Roman"/>
              </a:rPr>
              <a:t> e.g.,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35">
                <a:latin typeface="Lucida Sans Unicode"/>
                <a:cs typeface="Lucida Sans Unicode"/>
              </a:rPr>
              <a:t>1000</a:t>
            </a:r>
            <a:r>
              <a:rPr dirty="0" sz="1200" spc="-13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123105" y="7567256"/>
            <a:ext cx="4907915" cy="2120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62560" indent="-150495">
              <a:lnSpc>
                <a:spcPts val="455"/>
              </a:lnSpc>
              <a:spcBef>
                <a:spcPts val="130"/>
              </a:spcBef>
              <a:buFont typeface="Segoe UI Symbol"/>
              <a:buChar char="•"/>
              <a:tabLst>
                <a:tab pos="163195" algn="l"/>
              </a:tabLst>
            </a:pPr>
            <a:r>
              <a:rPr dirty="0" sz="1200" spc="-30">
                <a:latin typeface="Lucida Sans Unicode"/>
                <a:cs typeface="Lucida Sans Unicode"/>
              </a:rPr>
              <a:t>Θ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2</a:t>
            </a:r>
            <a:r>
              <a:rPr dirty="0" sz="1200" spc="240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30">
                <a:latin typeface="Lucida Sans Unicode"/>
                <a:cs typeface="Lucida Sans Unicode"/>
              </a:rPr>
              <a:t>,</a:t>
            </a:r>
            <a:r>
              <a:rPr dirty="0" sz="1200" spc="15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Θ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240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Exponential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Acceptable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small, e.g.,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50</a:t>
            </a:r>
            <a:r>
              <a:rPr dirty="0" sz="1200" spc="-11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412750">
              <a:lnSpc>
                <a:spcPts val="470"/>
              </a:lnSpc>
              <a:tabLst>
                <a:tab pos="909955" algn="l"/>
              </a:tabLst>
            </a:pPr>
            <a:r>
              <a:rPr dirty="0" sz="800" spc="140">
                <a:latin typeface="Verdana"/>
                <a:cs typeface="Verdana"/>
              </a:rPr>
              <a:t>n	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036703" y="7877238"/>
            <a:ext cx="107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123104" y="7881721"/>
            <a:ext cx="4097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2560" indent="-150495">
              <a:lnSpc>
                <a:spcPct val="100000"/>
              </a:lnSpc>
              <a:spcBef>
                <a:spcPts val="95"/>
              </a:spcBef>
              <a:buFont typeface="Segoe UI Symbol"/>
              <a:buChar char="•"/>
              <a:tabLst>
                <a:tab pos="163195" algn="l"/>
              </a:tabLst>
            </a:pPr>
            <a:r>
              <a:rPr dirty="0" sz="1200" spc="45">
                <a:latin typeface="Lucida Sans Unicode"/>
                <a:cs typeface="Lucida Sans Unicode"/>
              </a:rPr>
              <a:t>Θ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Garamond"/>
                <a:cs typeface="Garamond"/>
              </a:rPr>
              <a:t>!)</a:t>
            </a:r>
            <a:r>
              <a:rPr dirty="0" sz="1200" spc="45">
                <a:latin typeface="Lucida Sans Unicode"/>
                <a:cs typeface="Lucida Sans Unicode"/>
              </a:rPr>
              <a:t>,</a:t>
            </a:r>
            <a:r>
              <a:rPr dirty="0" sz="1200" spc="14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240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Acceptable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really small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e.g.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20</a:t>
            </a:r>
            <a:r>
              <a:rPr dirty="0" sz="1200" spc="-11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699" y="1840994"/>
            <a:ext cx="1381125" cy="403225"/>
          </a:xfrm>
          <a:prstGeom prst="rect"/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Chapter</a:t>
            </a:r>
            <a:r>
              <a:rPr dirty="0" sz="2450" spc="-70" b="1" i="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3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1699" y="2539025"/>
            <a:ext cx="3966210" cy="4032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5" b="1">
                <a:latin typeface="Times New Roman"/>
                <a:cs typeface="Times New Roman"/>
              </a:rPr>
              <a:t>Divide</a:t>
            </a:r>
            <a:r>
              <a:rPr dirty="0" sz="2450" spc="-5" b="1">
                <a:latin typeface="Times New Roman"/>
                <a:cs typeface="Times New Roman"/>
              </a:rPr>
              <a:t> </a:t>
            </a:r>
            <a:r>
              <a:rPr dirty="0" sz="2450" spc="10" b="1">
                <a:latin typeface="Times New Roman"/>
                <a:cs typeface="Times New Roman"/>
              </a:rPr>
              <a:t>and</a:t>
            </a:r>
            <a:r>
              <a:rPr dirty="0" sz="2450" spc="-5" b="1">
                <a:latin typeface="Times New Roman"/>
                <a:cs typeface="Times New Roman"/>
              </a:rPr>
              <a:t> </a:t>
            </a:r>
            <a:r>
              <a:rPr dirty="0" sz="2450" spc="10" b="1">
                <a:latin typeface="Times New Roman"/>
                <a:cs typeface="Times New Roman"/>
              </a:rPr>
              <a:t>Conquer</a:t>
            </a:r>
            <a:r>
              <a:rPr dirty="0" sz="2450" spc="-5" b="1">
                <a:latin typeface="Times New Roman"/>
                <a:cs typeface="Times New Roman"/>
              </a:rPr>
              <a:t> </a:t>
            </a:r>
            <a:r>
              <a:rPr dirty="0" sz="2450" spc="5" b="1">
                <a:latin typeface="Times New Roman"/>
                <a:cs typeface="Times New Roman"/>
              </a:rPr>
              <a:t>Strategy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8" y="3456942"/>
            <a:ext cx="6400800" cy="167576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ancient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Roman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politicians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understood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principle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(although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probably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thinking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time).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divide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enemies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getting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distrust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 spc="-10">
                <a:latin typeface="Times New Roman"/>
                <a:cs typeface="Times New Roman"/>
              </a:rPr>
              <a:t>other)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conquer them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called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divide-and-conquer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break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combine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piecewise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global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solution. </a:t>
            </a:r>
            <a:r>
              <a:rPr dirty="0" sz="1200" spc="-5">
                <a:latin typeface="Times New Roman"/>
                <a:cs typeface="Times New Roman"/>
              </a:rPr>
              <a:t> 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broken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pieces?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apply </a:t>
            </a:r>
            <a:r>
              <a:rPr dirty="0" sz="1200" spc="-10">
                <a:latin typeface="Times New Roman"/>
                <a:cs typeface="Times New Roman"/>
              </a:rPr>
              <a:t>divide-and-conquer </a:t>
            </a:r>
            <a:r>
              <a:rPr dirty="0" sz="1200" spc="-5">
                <a:latin typeface="Times New Roman"/>
                <a:cs typeface="Times New Roman"/>
              </a:rPr>
              <a:t>to them, </a:t>
            </a:r>
            <a:r>
              <a:rPr dirty="0" sz="1200" spc="-10">
                <a:latin typeface="Times New Roman"/>
                <a:cs typeface="Times New Roman"/>
              </a:rPr>
              <a:t>thus further breaking </a:t>
            </a:r>
            <a:r>
              <a:rPr dirty="0" sz="1200" spc="-5">
                <a:latin typeface="Times New Roman"/>
                <a:cs typeface="Times New Roman"/>
              </a:rPr>
              <a:t>them </a:t>
            </a:r>
            <a:r>
              <a:rPr dirty="0" sz="1200" spc="-15">
                <a:latin typeface="Times New Roman"/>
                <a:cs typeface="Times New Roman"/>
              </a:rPr>
              <a:t>down.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process ends when </a:t>
            </a:r>
            <a:r>
              <a:rPr dirty="0" sz="1200" spc="-1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are left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remaining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(e.g.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trivial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Summarizing,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main elements to a </a:t>
            </a:r>
            <a:r>
              <a:rPr dirty="0" sz="1200" spc="-10">
                <a:latin typeface="Times New Roman"/>
                <a:cs typeface="Times New Roman"/>
              </a:rPr>
              <a:t>divide-and-conquer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-5">
                <a:latin typeface="Times New Roman"/>
                <a:cs typeface="Times New Roman"/>
              </a:rPr>
              <a:t> are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4400" y="5375071"/>
            <a:ext cx="3105150" cy="13779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 b="1">
                <a:latin typeface="Times New Roman"/>
                <a:cs typeface="Times New Roman"/>
              </a:rPr>
              <a:t>Divide: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4400" y="5705056"/>
            <a:ext cx="463232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 b="1">
                <a:latin typeface="Times New Roman"/>
                <a:cs typeface="Times New Roman"/>
              </a:rPr>
              <a:t>Conquer:</a:t>
            </a:r>
            <a:r>
              <a:rPr dirty="0" sz="1200" spc="28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piece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applying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divide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conquer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recursively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4400" y="6035040"/>
            <a:ext cx="321627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 b="1">
                <a:latin typeface="Times New Roman"/>
                <a:cs typeface="Times New Roman"/>
              </a:rPr>
              <a:t>Combine:</a:t>
            </a:r>
            <a:r>
              <a:rPr dirty="0" sz="1200" spc="28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pieces together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global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01699" y="6513494"/>
            <a:ext cx="6215380" cy="28492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lvl="1" marL="504190" indent="-492125">
              <a:lnSpc>
                <a:spcPct val="100000"/>
              </a:lnSpc>
              <a:spcBef>
                <a:spcPts val="120"/>
              </a:spcBef>
              <a:buAutoNum type="arabicPeriod"/>
              <a:tabLst>
                <a:tab pos="504190" algn="l"/>
                <a:tab pos="504825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Merge</a:t>
            </a:r>
            <a:r>
              <a:rPr dirty="0" sz="1700" spc="-3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Sort</a:t>
            </a:r>
            <a:endParaRPr sz="17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1689"/>
              </a:spcBef>
            </a:pPr>
            <a:r>
              <a:rPr dirty="0" sz="1200" spc="-15">
                <a:latin typeface="Times New Roman"/>
                <a:cs typeface="Times New Roman"/>
              </a:rPr>
              <a:t>Divide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conquer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strategy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applicable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computational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divide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conquer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discuss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procedure </a:t>
            </a:r>
            <a:r>
              <a:rPr dirty="0" sz="1200" spc="-5">
                <a:latin typeface="Times New Roman"/>
                <a:cs typeface="Times New Roman"/>
              </a:rPr>
              <a:t> called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5">
                <a:latin typeface="Times New Roman"/>
                <a:cs typeface="Times New Roman"/>
              </a:rPr>
              <a:t>a sequence of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10">
                <a:latin typeface="Times New Roman"/>
                <a:cs typeface="Times New Roman"/>
              </a:rPr>
              <a:t>numbers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which we will </a:t>
            </a:r>
            <a:r>
              <a:rPr dirty="0" sz="1200" spc="-5">
                <a:latin typeface="Times New Roman"/>
                <a:cs typeface="Times New Roman"/>
              </a:rPr>
              <a:t>assume are stored in an array </a:t>
            </a:r>
            <a:r>
              <a:rPr dirty="0" sz="1200" spc="-15">
                <a:latin typeface="Lucida Sans Unicode"/>
                <a:cs typeface="Lucida Sans Unicode"/>
              </a:rPr>
              <a:t>A</a:t>
            </a:r>
            <a:r>
              <a:rPr dirty="0" sz="1200" spc="-15">
                <a:latin typeface="Garamond"/>
                <a:cs typeface="Garamond"/>
              </a:rPr>
              <a:t>[</a:t>
            </a:r>
            <a:r>
              <a:rPr dirty="0" sz="1200" spc="-15">
                <a:latin typeface="Lucida Sans Unicode"/>
                <a:cs typeface="Lucida Sans Unicode"/>
              </a:rPr>
              <a:t>1..n</a:t>
            </a:r>
            <a:r>
              <a:rPr dirty="0" sz="1200" spc="-15">
                <a:latin typeface="Garamond"/>
                <a:cs typeface="Garamond"/>
              </a:rPr>
              <a:t>]</a:t>
            </a:r>
            <a:r>
              <a:rPr dirty="0" sz="1200" spc="-15">
                <a:latin typeface="Times New Roman"/>
                <a:cs typeface="Times New Roman"/>
              </a:rPr>
              <a:t>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objective </a:t>
            </a:r>
            <a:r>
              <a:rPr dirty="0" sz="1200" spc="-5">
                <a:latin typeface="Times New Roman"/>
                <a:cs typeface="Times New Roman"/>
              </a:rPr>
              <a:t>is to </a:t>
            </a:r>
            <a:r>
              <a:rPr dirty="0" sz="1200" spc="-10">
                <a:latin typeface="Times New Roman"/>
                <a:cs typeface="Times New Roman"/>
              </a:rPr>
              <a:t>output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permutation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sequence sorted in increasing </a:t>
            </a:r>
            <a:r>
              <a:rPr dirty="0" sz="1200" spc="-20">
                <a:latin typeface="Times New Roman"/>
                <a:cs typeface="Times New Roman"/>
              </a:rPr>
              <a:t>order.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is </a:t>
            </a:r>
            <a:r>
              <a:rPr dirty="0" sz="1200" spc="-10">
                <a:latin typeface="Times New Roman"/>
                <a:cs typeface="Times New Roman"/>
              </a:rPr>
              <a:t>normally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done</a:t>
            </a:r>
            <a:r>
              <a:rPr dirty="0" sz="1200" spc="-5">
                <a:latin typeface="Times New Roman"/>
                <a:cs typeface="Times New Roman"/>
              </a:rPr>
              <a:t>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permuting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array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400">
              <a:latin typeface="Times New Roman"/>
              <a:cs typeface="Times New Roman"/>
            </a:endParaRPr>
          </a:p>
          <a:p>
            <a:pPr lvl="2" marL="384175" indent="-151130">
              <a:lnSpc>
                <a:spcPct val="100000"/>
              </a:lnSpc>
              <a:buFont typeface="Segoe UI Symbol"/>
              <a:buChar char="•"/>
              <a:tabLst>
                <a:tab pos="384810" algn="l"/>
              </a:tabLst>
            </a:pPr>
            <a:r>
              <a:rPr dirty="0" sz="1200" spc="-10">
                <a:latin typeface="Times New Roman"/>
                <a:cs typeface="Times New Roman"/>
              </a:rPr>
              <a:t>(Divide:)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split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middle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subsequences,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 </a:t>
            </a:r>
            <a:r>
              <a:rPr dirty="0" sz="1200" spc="-10">
                <a:latin typeface="Times New Roman"/>
                <a:cs typeface="Times New Roman"/>
              </a:rPr>
              <a:t>roughly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n/2</a:t>
            </a:r>
            <a:endParaRPr sz="1200">
              <a:latin typeface="Lucida Sans Unicode"/>
              <a:cs typeface="Lucida Sans Unicode"/>
            </a:endParaRPr>
          </a:p>
          <a:p>
            <a:pPr lvl="2" marL="384175" indent="-151130">
              <a:lnSpc>
                <a:spcPct val="100000"/>
              </a:lnSpc>
              <a:spcBef>
                <a:spcPts val="1160"/>
              </a:spcBef>
              <a:buFont typeface="Segoe UI Symbol"/>
              <a:buChar char="•"/>
              <a:tabLst>
                <a:tab pos="384810" algn="l"/>
              </a:tabLst>
            </a:pPr>
            <a:r>
              <a:rPr dirty="0" sz="1200" spc="-10">
                <a:latin typeface="Times New Roman"/>
                <a:cs typeface="Times New Roman"/>
              </a:rPr>
              <a:t>(Conquer:)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 each subsequence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calling </a:t>
            </a:r>
            <a:r>
              <a:rPr dirty="0" sz="1200" spc="-10">
                <a:latin typeface="Times New Roman"/>
                <a:cs typeface="Times New Roman"/>
              </a:rPr>
              <a:t>merge</a:t>
            </a:r>
            <a:r>
              <a:rPr dirty="0" sz="1200" spc="-5">
                <a:latin typeface="Times New Roman"/>
                <a:cs typeface="Times New Roman"/>
              </a:rPr>
              <a:t> 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recursively</a:t>
            </a:r>
            <a:r>
              <a:rPr dirty="0" sz="1200" spc="-5">
                <a:latin typeface="Times New Roman"/>
                <a:cs typeface="Times New Roman"/>
              </a:rPr>
              <a:t> on each.</a:t>
            </a:r>
            <a:endParaRPr sz="1200">
              <a:latin typeface="Times New Roman"/>
              <a:cs typeface="Times New Roman"/>
            </a:endParaRPr>
          </a:p>
          <a:p>
            <a:pPr lvl="2" marL="384175" indent="-151130">
              <a:lnSpc>
                <a:spcPct val="100000"/>
              </a:lnSpc>
              <a:spcBef>
                <a:spcPts val="1155"/>
              </a:spcBef>
              <a:buFont typeface="Segoe UI Symbol"/>
              <a:buChar char="•"/>
              <a:tabLst>
                <a:tab pos="384810" algn="l"/>
              </a:tabLst>
            </a:pPr>
            <a:r>
              <a:rPr dirty="0" sz="1200" spc="-10">
                <a:latin typeface="Times New Roman"/>
                <a:cs typeface="Times New Roman"/>
              </a:rPr>
              <a:t>(Combine:)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sorted subsequences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single</a:t>
            </a:r>
            <a:r>
              <a:rPr dirty="0" sz="1200" spc="-5">
                <a:latin typeface="Times New Roman"/>
                <a:cs typeface="Times New Roman"/>
              </a:rPr>
              <a:t> sorted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list.</a:t>
            </a:r>
            <a:endParaRPr sz="1200">
              <a:latin typeface="Times New Roman"/>
              <a:cs typeface="Times New Roman"/>
            </a:endParaRPr>
          </a:p>
          <a:p>
            <a:pPr algn="ctr" marL="210820">
              <a:lnSpc>
                <a:spcPct val="100000"/>
              </a:lnSpc>
              <a:spcBef>
                <a:spcPts val="1550"/>
              </a:spcBef>
            </a:pPr>
            <a:r>
              <a:rPr dirty="0" sz="1200" spc="-5">
                <a:latin typeface="Times New Roman"/>
                <a:cs typeface="Times New Roman"/>
              </a:rPr>
              <a:t>27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6426835" cy="27476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010535" algn="l"/>
              </a:tabLst>
            </a:pPr>
            <a:r>
              <a:rPr dirty="0" sz="1200" spc="-5">
                <a:latin typeface="Times New Roman"/>
                <a:cs typeface="Times New Roman"/>
              </a:rPr>
              <a:t>28	CHAPTER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3.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DIVIDE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CONQUER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STRATEGY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27940">
              <a:lnSpc>
                <a:spcPct val="100000"/>
              </a:lnSpc>
            </a:pPr>
            <a:r>
              <a:rPr dirty="0" sz="1200" spc="-20">
                <a:latin typeface="Times New Roman"/>
                <a:cs typeface="Times New Roman"/>
              </a:rPr>
              <a:t>Let’s</a:t>
            </a:r>
            <a:r>
              <a:rPr dirty="0" sz="1200" spc="-5">
                <a:latin typeface="Times New Roman"/>
                <a:cs typeface="Times New Roman"/>
              </a:rPr>
              <a:t> design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top-down.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We’ll</a:t>
            </a:r>
            <a:r>
              <a:rPr dirty="0" sz="1200" spc="-5">
                <a:latin typeface="Times New Roman"/>
                <a:cs typeface="Times New Roman"/>
              </a:rPr>
              <a:t> assume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procedure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merges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sorted list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available </a:t>
            </a:r>
            <a:r>
              <a:rPr dirty="0" sz="1200" spc="-5">
                <a:latin typeface="Times New Roman"/>
                <a:cs typeface="Times New Roman"/>
              </a:rPr>
              <a:t>to us. </a:t>
            </a:r>
            <a:r>
              <a:rPr dirty="0" sz="1200" spc="-30">
                <a:latin typeface="Times New Roman"/>
                <a:cs typeface="Times New Roman"/>
              </a:rPr>
              <a:t>We’ll </a:t>
            </a:r>
            <a:r>
              <a:rPr dirty="0" sz="1200" spc="-10">
                <a:latin typeface="Times New Roman"/>
                <a:cs typeface="Times New Roman"/>
              </a:rPr>
              <a:t>implement </a:t>
            </a: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 spc="-15">
                <a:latin typeface="Times New Roman"/>
                <a:cs typeface="Times New Roman"/>
              </a:rPr>
              <a:t>later.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algorithm is called </a:t>
            </a:r>
            <a:r>
              <a:rPr dirty="0" sz="1200" spc="-10">
                <a:latin typeface="Times New Roman"/>
                <a:cs typeface="Times New Roman"/>
              </a:rPr>
              <a:t>recursively </a:t>
            </a:r>
            <a:r>
              <a:rPr dirty="0" sz="1200" spc="-5">
                <a:latin typeface="Times New Roman"/>
                <a:cs typeface="Times New Roman"/>
              </a:rPr>
              <a:t>on sublists, 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addition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itself,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indices,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indicate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indices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sub-array that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are to sort. The call </a:t>
            </a:r>
            <a:r>
              <a:rPr dirty="0" sz="1200" spc="15">
                <a:latin typeface="Lucida Sans Unicode"/>
                <a:cs typeface="Lucida Sans Unicode"/>
              </a:rPr>
              <a:t>MergeSort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A, </a:t>
            </a:r>
            <a:r>
              <a:rPr dirty="0" sz="1200" spc="-55">
                <a:latin typeface="Lucida Sans Unicode"/>
                <a:cs typeface="Lucida Sans Unicode"/>
              </a:rPr>
              <a:t>p, </a:t>
            </a:r>
            <a:r>
              <a:rPr dirty="0" sz="1200" spc="65">
                <a:latin typeface="Lucida Sans Unicode"/>
                <a:cs typeface="Lucida Sans Unicode"/>
              </a:rPr>
              <a:t>r</a:t>
            </a:r>
            <a:r>
              <a:rPr dirty="0" sz="1200" spc="65">
                <a:latin typeface="Garamond"/>
                <a:cs typeface="Garamond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sort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sub-array </a:t>
            </a:r>
            <a:r>
              <a:rPr dirty="0" sz="1200" spc="10">
                <a:latin typeface="Lucida Sans Unicode"/>
                <a:cs typeface="Lucida Sans Unicode"/>
              </a:rPr>
              <a:t>A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p </a:t>
            </a:r>
            <a:r>
              <a:rPr dirty="0" sz="1200" spc="-5">
                <a:latin typeface="Garamond"/>
                <a:cs typeface="Garamond"/>
              </a:rPr>
              <a:t>: </a:t>
            </a:r>
            <a:r>
              <a:rPr dirty="0" sz="1200" spc="15">
                <a:latin typeface="Lucida Sans Unicode"/>
                <a:cs typeface="Lucida Sans Unicode"/>
              </a:rPr>
              <a:t>r</a:t>
            </a:r>
            <a:r>
              <a:rPr dirty="0" sz="1200" spc="15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return the </a:t>
            </a:r>
            <a:r>
              <a:rPr dirty="0" sz="1200" spc="-5">
                <a:latin typeface="Times New Roman"/>
                <a:cs typeface="Times New Roman"/>
              </a:rPr>
              <a:t>sorted result 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 spc="-15">
                <a:latin typeface="Times New Roman"/>
                <a:cs typeface="Times New Roman"/>
              </a:rPr>
              <a:t>sub-array.Here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0">
                <a:latin typeface="Times New Roman"/>
                <a:cs typeface="Times New Roman"/>
              </a:rPr>
              <a:t>overview.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25">
                <a:latin typeface="Lucida Sans Unicode"/>
                <a:cs typeface="Lucida Sans Unicode"/>
              </a:rPr>
              <a:t>r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30">
                <a:latin typeface="Lucida Sans Unicode"/>
                <a:cs typeface="Lucida Sans Unicode"/>
              </a:rPr>
              <a:t>p</a:t>
            </a:r>
            <a:r>
              <a:rPr dirty="0" sz="1200" spc="-30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means that there 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 one </a:t>
            </a:r>
            <a:r>
              <a:rPr dirty="0" sz="1200" spc="-5">
                <a:latin typeface="Times New Roman"/>
                <a:cs typeface="Times New Roman"/>
              </a:rPr>
              <a:t>element to sort, and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 spc="-10">
                <a:latin typeface="Times New Roman"/>
                <a:cs typeface="Times New Roman"/>
              </a:rPr>
              <a:t>return </a:t>
            </a:r>
            <a:r>
              <a:rPr dirty="0" sz="1200" spc="-15">
                <a:latin typeface="Times New Roman"/>
                <a:cs typeface="Times New Roman"/>
              </a:rPr>
              <a:t>immediately.</a:t>
            </a:r>
            <a:r>
              <a:rPr dirty="0" sz="1200" spc="-10">
                <a:latin typeface="Times New Roman"/>
                <a:cs typeface="Times New Roman"/>
              </a:rPr>
              <a:t> Otherwise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p </a:t>
            </a:r>
            <a:r>
              <a:rPr dirty="0" sz="1200" spc="50">
                <a:latin typeface="Segoe UI Symbol"/>
                <a:cs typeface="Segoe UI Symbol"/>
              </a:rPr>
              <a:t>/</a:t>
            </a:r>
            <a:r>
              <a:rPr dirty="0" sz="1200" spc="50">
                <a:latin typeface="Garamond"/>
                <a:cs typeface="Garamond"/>
              </a:rPr>
              <a:t>= </a:t>
            </a:r>
            <a:r>
              <a:rPr dirty="0" sz="1200" spc="70">
                <a:latin typeface="Lucida Sans Unicode"/>
                <a:cs typeface="Lucida Sans Unicode"/>
              </a:rPr>
              <a:t>r</a:t>
            </a:r>
            <a:r>
              <a:rPr dirty="0" sz="1200" spc="7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there are at least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 elements, and </a:t>
            </a:r>
            <a:r>
              <a:rPr dirty="0" sz="1200" spc="-10">
                <a:latin typeface="Times New Roman"/>
                <a:cs typeface="Times New Roman"/>
              </a:rPr>
              <a:t>we will </a:t>
            </a:r>
            <a:r>
              <a:rPr dirty="0" sz="1200" spc="-20">
                <a:latin typeface="Times New Roman"/>
                <a:cs typeface="Times New Roman"/>
              </a:rPr>
              <a:t>invoke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divide-and-conquer.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find </a:t>
            </a:r>
            <a:r>
              <a:rPr dirty="0" sz="1200" spc="-10">
                <a:latin typeface="Times New Roman"/>
                <a:cs typeface="Times New Roman"/>
              </a:rPr>
              <a:t>the index </a:t>
            </a:r>
            <a:r>
              <a:rPr dirty="0" sz="1200" spc="-20">
                <a:latin typeface="Lucida Sans Unicode"/>
                <a:cs typeface="Lucida Sans Unicode"/>
              </a:rPr>
              <a:t>q</a:t>
            </a:r>
            <a:r>
              <a:rPr dirty="0" sz="1200" spc="-20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midway </a:t>
            </a:r>
            <a:r>
              <a:rPr dirty="0" sz="1200" spc="-5">
                <a:latin typeface="Times New Roman"/>
                <a:cs typeface="Times New Roman"/>
              </a:rPr>
              <a:t>between </a:t>
            </a:r>
            <a:r>
              <a:rPr dirty="0" sz="1200" spc="-50">
                <a:latin typeface="Lucida Sans Unicode"/>
                <a:cs typeface="Lucida Sans Unicode"/>
              </a:rPr>
              <a:t>p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10">
                <a:latin typeface="Lucida Sans Unicode"/>
                <a:cs typeface="Lucida Sans Unicode"/>
              </a:rPr>
              <a:t>r</a:t>
            </a:r>
            <a:r>
              <a:rPr dirty="0" sz="1200" spc="10">
                <a:latin typeface="Times New Roman"/>
                <a:cs typeface="Times New Roman"/>
              </a:rPr>
              <a:t>, 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namely </a:t>
            </a:r>
            <a:r>
              <a:rPr dirty="0" sz="1200" spc="-35">
                <a:latin typeface="Lucida Sans Unicode"/>
                <a:cs typeface="Lucida Sans Unicode"/>
              </a:rPr>
              <a:t>q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p </a:t>
            </a:r>
            <a:r>
              <a:rPr dirty="0" sz="1200" spc="100">
                <a:latin typeface="Garamond"/>
                <a:cs typeface="Garamond"/>
              </a:rPr>
              <a:t>+ </a:t>
            </a:r>
            <a:r>
              <a:rPr dirty="0" sz="1200" spc="-15">
                <a:latin typeface="Lucida Sans Unicode"/>
                <a:cs typeface="Lucida Sans Unicode"/>
              </a:rPr>
              <a:t>r</a:t>
            </a:r>
            <a:r>
              <a:rPr dirty="0" sz="1200" spc="-15">
                <a:latin typeface="Garamond"/>
                <a:cs typeface="Garamond"/>
              </a:rPr>
              <a:t>)</a:t>
            </a:r>
            <a:r>
              <a:rPr dirty="0" sz="1200" spc="-15">
                <a:latin typeface="Lucida Sans Unicode"/>
                <a:cs typeface="Lucida Sans Unicode"/>
              </a:rPr>
              <a:t>/2 </a:t>
            </a:r>
            <a:r>
              <a:rPr dirty="0" sz="1200" spc="-10">
                <a:latin typeface="Times New Roman"/>
                <a:cs typeface="Times New Roman"/>
              </a:rPr>
              <a:t>(rounded </a:t>
            </a:r>
            <a:r>
              <a:rPr dirty="0" sz="1200" spc="-15">
                <a:latin typeface="Times New Roman"/>
                <a:cs typeface="Times New Roman"/>
              </a:rPr>
              <a:t>down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nearest </a:t>
            </a:r>
            <a:r>
              <a:rPr dirty="0" sz="1200" spc="-10">
                <a:latin typeface="Times New Roman"/>
                <a:cs typeface="Times New Roman"/>
              </a:rPr>
              <a:t>integer).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split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array </a:t>
            </a:r>
            <a:r>
              <a:rPr dirty="0" sz="1200" spc="-10">
                <a:latin typeface="Times New Roman"/>
                <a:cs typeface="Times New Roman"/>
              </a:rPr>
              <a:t>into </a:t>
            </a:r>
            <a:r>
              <a:rPr dirty="0" sz="1200" spc="-5">
                <a:latin typeface="Times New Roman"/>
                <a:cs typeface="Times New Roman"/>
              </a:rPr>
              <a:t>sub-arrays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A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p </a:t>
            </a:r>
            <a:r>
              <a:rPr dirty="0" sz="1200" spc="-5">
                <a:latin typeface="Garamond"/>
                <a:cs typeface="Garamond"/>
              </a:rPr>
              <a:t>: </a:t>
            </a:r>
            <a:r>
              <a:rPr dirty="0" sz="1200" spc="-15">
                <a:latin typeface="Lucida Sans Unicode"/>
                <a:cs typeface="Lucida Sans Unicode"/>
              </a:rPr>
              <a:t>q</a:t>
            </a:r>
            <a:r>
              <a:rPr dirty="0" sz="1200" spc="-15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q </a:t>
            </a:r>
            <a:r>
              <a:rPr dirty="0" sz="1200" spc="100">
                <a:latin typeface="Garamond"/>
                <a:cs typeface="Garamond"/>
              </a:rPr>
              <a:t>+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Garamond"/>
                <a:cs typeface="Garamond"/>
              </a:rPr>
              <a:t>: </a:t>
            </a:r>
            <a:r>
              <a:rPr dirty="0" sz="1200" spc="5">
                <a:latin typeface="Lucida Sans Unicode"/>
                <a:cs typeface="Lucida Sans Unicode"/>
              </a:rPr>
              <a:t>r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Call </a:t>
            </a:r>
            <a:r>
              <a:rPr dirty="0" sz="1200" spc="-10">
                <a:latin typeface="Times New Roman"/>
                <a:cs typeface="Times New Roman"/>
              </a:rPr>
              <a:t>MergeSort recursively </a:t>
            </a:r>
            <a:r>
              <a:rPr dirty="0" sz="1200" spc="-5">
                <a:latin typeface="Times New Roman"/>
                <a:cs typeface="Times New Roman"/>
              </a:rPr>
              <a:t>to sort each </a:t>
            </a:r>
            <a:r>
              <a:rPr dirty="0" sz="1200" spc="-15">
                <a:latin typeface="Times New Roman"/>
                <a:cs typeface="Times New Roman"/>
              </a:rPr>
              <a:t>sub-array. Finally,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20">
                <a:latin typeface="Times New Roman"/>
                <a:cs typeface="Times New Roman"/>
              </a:rPr>
              <a:t>invoke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procedure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write)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sub-arrays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single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array.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 MergeSort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endParaRPr sz="1200">
              <a:latin typeface="Times New Roman"/>
              <a:cs typeface="Times New Roman"/>
            </a:endParaRPr>
          </a:p>
          <a:p>
            <a:pPr marL="15875">
              <a:lnSpc>
                <a:spcPct val="100000"/>
              </a:lnSpc>
              <a:spcBef>
                <a:spcPts val="400"/>
              </a:spcBef>
            </a:pPr>
            <a:r>
              <a:rPr dirty="0" sz="950" spc="55">
                <a:latin typeface="Times New Roman"/>
                <a:cs typeface="Times New Roman"/>
              </a:rPr>
              <a:t>MERGE</a:t>
            </a:r>
            <a:r>
              <a:rPr dirty="0" sz="1200" spc="55">
                <a:latin typeface="Times New Roman"/>
                <a:cs typeface="Times New Roman"/>
              </a:rPr>
              <a:t>-</a:t>
            </a:r>
            <a:r>
              <a:rPr dirty="0" sz="950" spc="55">
                <a:latin typeface="Times New Roman"/>
                <a:cs typeface="Times New Roman"/>
              </a:rPr>
              <a:t>SORT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A,</a:t>
            </a:r>
            <a:r>
              <a:rPr dirty="0" sz="1200" spc="10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p,</a:t>
            </a:r>
            <a:r>
              <a:rPr dirty="0" sz="1200" spc="10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r</a:t>
            </a:r>
            <a:r>
              <a:rPr dirty="0" sz="1200" spc="7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331829" y="3794354"/>
            <a:ext cx="9645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0">
                <a:latin typeface="Lucida Sans Unicode"/>
                <a:cs typeface="Lucida Sans Unicode"/>
              </a:rPr>
              <a:t>//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s</a:t>
            </a:r>
            <a:r>
              <a:rPr dirty="0" sz="1100" spc="-10">
                <a:latin typeface="Times New Roman"/>
                <a:cs typeface="Times New Roman"/>
              </a:rPr>
              <a:t>o</a:t>
            </a:r>
            <a:r>
              <a:rPr dirty="0" sz="1100" spc="-5">
                <a:latin typeface="Times New Roman"/>
                <a:cs typeface="Times New Roman"/>
              </a:rPr>
              <a:t>rt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39645" y="3244001"/>
            <a:ext cx="2113915" cy="1125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0029" indent="-227965">
              <a:lnSpc>
                <a:spcPct val="100000"/>
              </a:lnSpc>
              <a:spcBef>
                <a:spcPts val="95"/>
              </a:spcBef>
              <a:buFont typeface="Times New Roman"/>
              <a:buAutoNum type="arabicPlain"/>
              <a:tabLst>
                <a:tab pos="240029" algn="l"/>
                <a:tab pos="240665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r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70840" indent="-35877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70840" algn="l"/>
                <a:tab pos="37147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737870" algn="l"/>
              </a:tabLst>
            </a:pPr>
            <a:r>
              <a:rPr dirty="0" sz="1200" spc="-5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r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tabLst>
                <a:tab pos="699135" algn="l"/>
              </a:tabLst>
            </a:pPr>
            <a:r>
              <a:rPr dirty="0" sz="1200" spc="-5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950" spc="55">
                <a:latin typeface="Times New Roman"/>
                <a:cs typeface="Times New Roman"/>
              </a:rPr>
              <a:t>MERGE</a:t>
            </a:r>
            <a:r>
              <a:rPr dirty="0" sz="1200" spc="50">
                <a:latin typeface="Times New Roman"/>
                <a:cs typeface="Times New Roman"/>
              </a:rPr>
              <a:t>-</a:t>
            </a:r>
            <a:r>
              <a:rPr dirty="0" sz="950" spc="55">
                <a:latin typeface="Times New Roman"/>
                <a:cs typeface="Times New Roman"/>
              </a:rPr>
              <a:t>SO</a:t>
            </a:r>
            <a:r>
              <a:rPr dirty="0" sz="950">
                <a:latin typeface="Times New Roman"/>
                <a:cs typeface="Times New Roman"/>
              </a:rPr>
              <a:t>R</a:t>
            </a:r>
            <a:r>
              <a:rPr dirty="0" sz="950" spc="25">
                <a:latin typeface="Times New Roman"/>
                <a:cs typeface="Times New Roman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26704" y="3977806"/>
            <a:ext cx="287655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55">
                <a:latin typeface="Times New Roman"/>
                <a:cs typeface="Times New Roman"/>
              </a:rPr>
              <a:t>MERGE</a:t>
            </a:r>
            <a:r>
              <a:rPr dirty="0" sz="1200" spc="50">
                <a:latin typeface="Times New Roman"/>
                <a:cs typeface="Times New Roman"/>
              </a:rPr>
              <a:t>-</a:t>
            </a:r>
            <a:r>
              <a:rPr dirty="0" sz="950" spc="55">
                <a:latin typeface="Times New Roman"/>
                <a:cs typeface="Times New Roman"/>
              </a:rPr>
              <a:t>SO</a:t>
            </a:r>
            <a:r>
              <a:rPr dirty="0" sz="950">
                <a:latin typeface="Times New Roman"/>
                <a:cs typeface="Times New Roman"/>
              </a:rPr>
              <a:t>R</a:t>
            </a:r>
            <a:r>
              <a:rPr dirty="0" sz="950" spc="25">
                <a:latin typeface="Times New Roman"/>
                <a:cs typeface="Times New Roman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r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//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s</a:t>
            </a:r>
            <a:r>
              <a:rPr dirty="0" sz="1100" spc="-10">
                <a:latin typeface="Times New Roman"/>
                <a:cs typeface="Times New Roman"/>
              </a:rPr>
              <a:t>o</a:t>
            </a:r>
            <a:r>
              <a:rPr dirty="0" sz="1100" spc="-5">
                <a:latin typeface="Times New Roman"/>
                <a:cs typeface="Times New Roman"/>
              </a:rPr>
              <a:t>rt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20">
                <a:latin typeface="Lucida Sans Unicode"/>
                <a:cs typeface="Lucida Sans Unicode"/>
              </a:rPr>
              <a:t>r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1307465" algn="l"/>
              </a:tabLst>
            </a:pPr>
            <a:r>
              <a:rPr dirty="0" sz="950" spc="55">
                <a:latin typeface="Times New Roman"/>
                <a:cs typeface="Times New Roman"/>
              </a:rPr>
              <a:t>MERG</a:t>
            </a:r>
            <a:r>
              <a:rPr dirty="0" sz="950" spc="25">
                <a:latin typeface="Times New Roman"/>
                <a:cs typeface="Times New Roman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r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-30">
                <a:latin typeface="Lucida Sans Unicode"/>
                <a:cs typeface="Lucida Sans Unicode"/>
              </a:rPr>
              <a:t>//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m</a:t>
            </a:r>
            <a:r>
              <a:rPr dirty="0" sz="1100" spc="-10">
                <a:latin typeface="Times New Roman"/>
                <a:cs typeface="Times New Roman"/>
              </a:rPr>
              <a:t>e</a:t>
            </a:r>
            <a:r>
              <a:rPr dirty="0" sz="1100" spc="-25">
                <a:latin typeface="Times New Roman"/>
                <a:cs typeface="Times New Roman"/>
              </a:rPr>
              <a:t>r</a:t>
            </a:r>
            <a:r>
              <a:rPr dirty="0" sz="1100" spc="-10">
                <a:latin typeface="Times New Roman"/>
                <a:cs typeface="Times New Roman"/>
              </a:rPr>
              <a:t>g</a:t>
            </a:r>
            <a:r>
              <a:rPr dirty="0" sz="1100" spc="-5">
                <a:latin typeface="Times New Roman"/>
                <a:cs typeface="Times New Roman"/>
              </a:rPr>
              <a:t>e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t</a:t>
            </a:r>
            <a:r>
              <a:rPr dirty="0" sz="1100" spc="-10">
                <a:latin typeface="Times New Roman"/>
                <a:cs typeface="Times New Roman"/>
              </a:rPr>
              <a:t>h</a:t>
            </a:r>
            <a:r>
              <a:rPr dirty="0" sz="1100" spc="-5">
                <a:latin typeface="Times New Roman"/>
                <a:cs typeface="Times New Roman"/>
              </a:rPr>
              <a:t>e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t</a:t>
            </a:r>
            <a:r>
              <a:rPr dirty="0" sz="1100" spc="-25">
                <a:latin typeface="Times New Roman"/>
                <a:cs typeface="Times New Roman"/>
              </a:rPr>
              <a:t>w</a:t>
            </a:r>
            <a:r>
              <a:rPr dirty="0" sz="1100" spc="-5">
                <a:latin typeface="Times New Roman"/>
                <a:cs typeface="Times New Roman"/>
              </a:rPr>
              <a:t>o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p</a:t>
            </a:r>
            <a:r>
              <a:rPr dirty="0" sz="1100" spc="-5">
                <a:latin typeface="Times New Roman"/>
                <a:cs typeface="Times New Roman"/>
              </a:rPr>
              <a:t>i</a:t>
            </a:r>
            <a:r>
              <a:rPr dirty="0" sz="1100" spc="-10">
                <a:latin typeface="Times New Roman"/>
                <a:cs typeface="Times New Roman"/>
              </a:rPr>
              <a:t>ece</a:t>
            </a:r>
            <a:r>
              <a:rPr dirty="0" sz="1100" spc="-5">
                <a:latin typeface="Times New Roman"/>
                <a:cs typeface="Times New Roman"/>
              </a:rPr>
              <a:t>s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01698" y="4658919"/>
            <a:ext cx="3990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figure illustrates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dividing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(splitting)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procedure.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440179" y="5009078"/>
            <a:ext cx="5350510" cy="2362200"/>
            <a:chOff x="1440179" y="5009078"/>
            <a:chExt cx="5350510" cy="2362200"/>
          </a:xfrm>
        </p:grpSpPr>
        <p:sp>
          <p:nvSpPr>
            <p:cNvPr id="8" name="object 8"/>
            <p:cNvSpPr/>
            <p:nvPr/>
          </p:nvSpPr>
          <p:spPr>
            <a:xfrm>
              <a:off x="1440179" y="5009078"/>
              <a:ext cx="5350510" cy="2362200"/>
            </a:xfrm>
            <a:custGeom>
              <a:avLst/>
              <a:gdLst/>
              <a:ahLst/>
              <a:cxnLst/>
              <a:rect l="l" t="t" r="r" b="b"/>
              <a:pathLst>
                <a:path w="5350509" h="2362200">
                  <a:moveTo>
                    <a:pt x="5350489" y="0"/>
                  </a:moveTo>
                  <a:lnTo>
                    <a:pt x="0" y="0"/>
                  </a:lnTo>
                  <a:lnTo>
                    <a:pt x="0" y="2362001"/>
                  </a:lnTo>
                  <a:lnTo>
                    <a:pt x="5350489" y="2362001"/>
                  </a:lnTo>
                  <a:lnTo>
                    <a:pt x="5350489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524917" y="5859500"/>
              <a:ext cx="430530" cy="355600"/>
            </a:xfrm>
            <a:custGeom>
              <a:avLst/>
              <a:gdLst/>
              <a:ahLst/>
              <a:cxnLst/>
              <a:rect l="l" t="t" r="r" b="b"/>
              <a:pathLst>
                <a:path w="430530" h="355600">
                  <a:moveTo>
                    <a:pt x="0" y="0"/>
                  </a:moveTo>
                  <a:lnTo>
                    <a:pt x="430164" y="355351"/>
                  </a:lnTo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2333" y="6169436"/>
              <a:ext cx="90845" cy="85496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045314" y="5859500"/>
              <a:ext cx="379730" cy="353060"/>
            </a:xfrm>
            <a:custGeom>
              <a:avLst/>
              <a:gdLst/>
              <a:ahLst/>
              <a:cxnLst/>
              <a:rect l="l" t="t" r="r" b="b"/>
              <a:pathLst>
                <a:path w="379730" h="353060">
                  <a:moveTo>
                    <a:pt x="379415" y="0"/>
                  </a:moveTo>
                  <a:lnTo>
                    <a:pt x="0" y="352684"/>
                  </a:lnTo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99899" y="6166754"/>
              <a:ext cx="88178" cy="88178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5638952" y="5852825"/>
              <a:ext cx="427990" cy="355600"/>
            </a:xfrm>
            <a:custGeom>
              <a:avLst/>
              <a:gdLst/>
              <a:ahLst/>
              <a:cxnLst/>
              <a:rect l="l" t="t" r="r" b="b"/>
              <a:pathLst>
                <a:path w="427989" h="355600">
                  <a:moveTo>
                    <a:pt x="0" y="0"/>
                  </a:moveTo>
                  <a:lnTo>
                    <a:pt x="427481" y="355351"/>
                  </a:lnTo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023686" y="6162746"/>
              <a:ext cx="90845" cy="85511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5031104" y="5852825"/>
              <a:ext cx="381000" cy="354330"/>
            </a:xfrm>
            <a:custGeom>
              <a:avLst/>
              <a:gdLst/>
              <a:ahLst/>
              <a:cxnLst/>
              <a:rect l="l" t="t" r="r" b="b"/>
              <a:pathLst>
                <a:path w="381000" h="354329">
                  <a:moveTo>
                    <a:pt x="380740" y="0"/>
                  </a:moveTo>
                  <a:lnTo>
                    <a:pt x="0" y="354009"/>
                  </a:lnTo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85674" y="6161420"/>
              <a:ext cx="89519" cy="86837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023948" y="6461998"/>
              <a:ext cx="234315" cy="248920"/>
            </a:xfrm>
            <a:custGeom>
              <a:avLst/>
              <a:gdLst/>
              <a:ahLst/>
              <a:cxnLst/>
              <a:rect l="l" t="t" r="r" b="b"/>
              <a:pathLst>
                <a:path w="234314" h="248920">
                  <a:moveTo>
                    <a:pt x="0" y="0"/>
                  </a:moveTo>
                  <a:lnTo>
                    <a:pt x="233781" y="248472"/>
                  </a:lnTo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13640" y="6667723"/>
              <a:ext cx="86837" cy="88178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1735393" y="6461998"/>
              <a:ext cx="188595" cy="244475"/>
            </a:xfrm>
            <a:custGeom>
              <a:avLst/>
              <a:gdLst/>
              <a:ahLst/>
              <a:cxnLst/>
              <a:rect l="l" t="t" r="r" b="b"/>
              <a:pathLst>
                <a:path w="188594" h="244475">
                  <a:moveTo>
                    <a:pt x="188351" y="0"/>
                  </a:moveTo>
                  <a:lnTo>
                    <a:pt x="0" y="244464"/>
                  </a:lnTo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97979" y="6665056"/>
              <a:ext cx="82829" cy="90845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3077992" y="6455323"/>
              <a:ext cx="233045" cy="248920"/>
            </a:xfrm>
            <a:custGeom>
              <a:avLst/>
              <a:gdLst/>
              <a:ahLst/>
              <a:cxnLst/>
              <a:rect l="l" t="t" r="r" b="b"/>
              <a:pathLst>
                <a:path w="233045" h="248920">
                  <a:moveTo>
                    <a:pt x="0" y="0"/>
                  </a:moveTo>
                  <a:lnTo>
                    <a:pt x="232440" y="248472"/>
                  </a:lnTo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66358" y="6661048"/>
              <a:ext cx="86822" cy="88178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2790763" y="6455323"/>
              <a:ext cx="187325" cy="244475"/>
            </a:xfrm>
            <a:custGeom>
              <a:avLst/>
              <a:gdLst/>
              <a:ahLst/>
              <a:cxnLst/>
              <a:rect l="l" t="t" r="r" b="b"/>
              <a:pathLst>
                <a:path w="187325" h="244475">
                  <a:moveTo>
                    <a:pt x="187025" y="0"/>
                  </a:moveTo>
                  <a:lnTo>
                    <a:pt x="0" y="244464"/>
                  </a:lnTo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52023" y="6658381"/>
              <a:ext cx="82829" cy="90845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5036438" y="6461998"/>
              <a:ext cx="233045" cy="248920"/>
            </a:xfrm>
            <a:custGeom>
              <a:avLst/>
              <a:gdLst/>
              <a:ahLst/>
              <a:cxnLst/>
              <a:rect l="l" t="t" r="r" b="b"/>
              <a:pathLst>
                <a:path w="233045" h="248920">
                  <a:moveTo>
                    <a:pt x="0" y="0"/>
                  </a:moveTo>
                  <a:lnTo>
                    <a:pt x="232455" y="248472"/>
                  </a:lnTo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24805" y="6667723"/>
              <a:ext cx="86837" cy="88178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4746543" y="6461998"/>
              <a:ext cx="189865" cy="244475"/>
            </a:xfrm>
            <a:custGeom>
              <a:avLst/>
              <a:gdLst/>
              <a:ahLst/>
              <a:cxnLst/>
              <a:rect l="l" t="t" r="r" b="b"/>
              <a:pathLst>
                <a:path w="189864" h="244475">
                  <a:moveTo>
                    <a:pt x="189707" y="0"/>
                  </a:moveTo>
                  <a:lnTo>
                    <a:pt x="0" y="244464"/>
                  </a:lnTo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9144" y="6665056"/>
              <a:ext cx="82829" cy="90845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6189344" y="6455323"/>
              <a:ext cx="234315" cy="248920"/>
            </a:xfrm>
            <a:custGeom>
              <a:avLst/>
              <a:gdLst/>
              <a:ahLst/>
              <a:cxnLst/>
              <a:rect l="l" t="t" r="r" b="b"/>
              <a:pathLst>
                <a:path w="234314" h="248920">
                  <a:moveTo>
                    <a:pt x="0" y="0"/>
                  </a:moveTo>
                  <a:lnTo>
                    <a:pt x="233781" y="248472"/>
                  </a:lnTo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379052" y="6661048"/>
              <a:ext cx="86822" cy="88178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5902116" y="6455323"/>
              <a:ext cx="187325" cy="244475"/>
            </a:xfrm>
            <a:custGeom>
              <a:avLst/>
              <a:gdLst/>
              <a:ahLst/>
              <a:cxnLst/>
              <a:rect l="l" t="t" r="r" b="b"/>
              <a:pathLst>
                <a:path w="187325" h="244475">
                  <a:moveTo>
                    <a:pt x="187040" y="0"/>
                  </a:moveTo>
                  <a:lnTo>
                    <a:pt x="0" y="244464"/>
                  </a:lnTo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63376" y="6658381"/>
              <a:ext cx="84170" cy="90845"/>
            </a:xfrm>
            <a:prstGeom prst="rect">
              <a:avLst/>
            </a:prstGeom>
          </p:spPr>
        </p:pic>
      </p:grpSp>
      <p:sp>
        <p:nvSpPr>
          <p:cNvPr id="33" name="object 33"/>
          <p:cNvSpPr txBox="1"/>
          <p:nvPr/>
        </p:nvSpPr>
        <p:spPr>
          <a:xfrm>
            <a:off x="3203569" y="5075314"/>
            <a:ext cx="1707514" cy="212725"/>
          </a:xfrm>
          <a:prstGeom prst="rect">
            <a:avLst/>
          </a:prstGeom>
          <a:solidFill>
            <a:srgbClr val="000080"/>
          </a:solidFill>
          <a:ln w="13939">
            <a:solidFill>
              <a:srgbClr val="FF0000"/>
            </a:solidFill>
          </a:ln>
        </p:spPr>
        <p:txBody>
          <a:bodyPr wrap="square" lIns="0" tIns="7620" rIns="0" bIns="0" rtlCol="0" vert="horz">
            <a:spAutoFit/>
          </a:bodyPr>
          <a:lstStyle/>
          <a:p>
            <a:pPr marL="47625">
              <a:lnSpc>
                <a:spcPct val="100000"/>
              </a:lnSpc>
              <a:spcBef>
                <a:spcPts val="60"/>
              </a:spcBef>
              <a:tabLst>
                <a:tab pos="264795" algn="l"/>
                <a:tab pos="481965" algn="l"/>
                <a:tab pos="698500" algn="l"/>
                <a:tab pos="915669" algn="l"/>
                <a:tab pos="1132840" algn="l"/>
                <a:tab pos="1350010" algn="l"/>
                <a:tab pos="1566545" algn="l"/>
              </a:tabLst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7	5	2	4	1	6	3	0</a:t>
            </a:r>
            <a:endParaRPr sz="12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085877" y="5645753"/>
            <a:ext cx="929005" cy="213995"/>
          </a:xfrm>
          <a:prstGeom prst="rect">
            <a:avLst/>
          </a:prstGeom>
          <a:solidFill>
            <a:srgbClr val="000080"/>
          </a:solidFill>
          <a:ln w="13939">
            <a:solidFill>
              <a:srgbClr val="FF0000"/>
            </a:solidFill>
          </a:ln>
        </p:spPr>
        <p:txBody>
          <a:bodyPr wrap="square" lIns="0" tIns="7620" rIns="0" bIns="0" rtlCol="0" vert="horz">
            <a:spAutoFit/>
          </a:bodyPr>
          <a:lstStyle/>
          <a:p>
            <a:pPr marL="82550">
              <a:lnSpc>
                <a:spcPct val="100000"/>
              </a:lnSpc>
              <a:spcBef>
                <a:spcPts val="60"/>
              </a:spcBef>
              <a:tabLst>
                <a:tab pos="299720" algn="l"/>
                <a:tab pos="516255" algn="l"/>
                <a:tab pos="733425" algn="l"/>
              </a:tabLst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1	6	3	0</a:t>
            </a:r>
            <a:endParaRPr sz="12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074712" y="5645753"/>
            <a:ext cx="929005" cy="213995"/>
          </a:xfrm>
          <a:prstGeom prst="rect">
            <a:avLst/>
          </a:prstGeom>
          <a:solidFill>
            <a:srgbClr val="000080"/>
          </a:solidFill>
          <a:ln w="13939">
            <a:solidFill>
              <a:srgbClr val="FF0000"/>
            </a:solidFill>
          </a:ln>
        </p:spPr>
        <p:txBody>
          <a:bodyPr wrap="square" lIns="0" tIns="11430" rIns="0" bIns="0" rtlCol="0" vert="horz">
            <a:spAutoFit/>
          </a:bodyPr>
          <a:lstStyle/>
          <a:p>
            <a:pPr marL="102235">
              <a:lnSpc>
                <a:spcPct val="100000"/>
              </a:lnSpc>
              <a:spcBef>
                <a:spcPts val="90"/>
              </a:spcBef>
              <a:tabLst>
                <a:tab pos="319405" algn="l"/>
                <a:tab pos="536575" algn="l"/>
                <a:tab pos="753745" algn="l"/>
              </a:tabLst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7	5	2	4</a:t>
            </a:r>
            <a:endParaRPr sz="12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779468" y="6254926"/>
            <a:ext cx="440055" cy="213995"/>
          </a:xfrm>
          <a:prstGeom prst="rect">
            <a:avLst/>
          </a:prstGeom>
          <a:solidFill>
            <a:srgbClr val="000080"/>
          </a:solidFill>
          <a:ln w="13939">
            <a:solidFill>
              <a:srgbClr val="FF0000"/>
            </a:solidFill>
          </a:ln>
        </p:spPr>
        <p:txBody>
          <a:bodyPr wrap="square" lIns="0" tIns="18415" rIns="0" bIns="0" rtlCol="0" vert="horz">
            <a:spAutoFit/>
          </a:bodyPr>
          <a:lstStyle/>
          <a:p>
            <a:pPr marL="54610">
              <a:lnSpc>
                <a:spcPct val="100000"/>
              </a:lnSpc>
              <a:spcBef>
                <a:spcPts val="145"/>
              </a:spcBef>
              <a:tabLst>
                <a:tab pos="271145" algn="l"/>
              </a:tabLst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7	5</a:t>
            </a:r>
            <a:endParaRPr sz="12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814812" y="6254926"/>
            <a:ext cx="438784" cy="213995"/>
          </a:xfrm>
          <a:prstGeom prst="rect">
            <a:avLst/>
          </a:prstGeom>
          <a:solidFill>
            <a:srgbClr val="000080"/>
          </a:solidFill>
          <a:ln w="13939">
            <a:solidFill>
              <a:srgbClr val="FF0000"/>
            </a:solidFill>
          </a:ln>
        </p:spPr>
        <p:txBody>
          <a:bodyPr wrap="square" lIns="0" tIns="18415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45"/>
              </a:spcBef>
              <a:tabLst>
                <a:tab pos="288925" algn="l"/>
              </a:tabLst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2	4</a:t>
            </a:r>
            <a:endParaRPr sz="12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758568" y="6254926"/>
            <a:ext cx="440055" cy="213995"/>
          </a:xfrm>
          <a:prstGeom prst="rect">
            <a:avLst/>
          </a:prstGeom>
          <a:solidFill>
            <a:srgbClr val="000080"/>
          </a:solidFill>
          <a:ln w="13939">
            <a:solidFill>
              <a:srgbClr val="FF0000"/>
            </a:solidFill>
          </a:ln>
        </p:spPr>
        <p:txBody>
          <a:bodyPr wrap="square" lIns="0" tIns="7620" rIns="0" bIns="0" rtlCol="0" vert="horz">
            <a:spAutoFit/>
          </a:bodyPr>
          <a:lstStyle/>
          <a:p>
            <a:pPr marL="85090">
              <a:lnSpc>
                <a:spcPct val="100000"/>
              </a:lnSpc>
              <a:spcBef>
                <a:spcPts val="60"/>
              </a:spcBef>
              <a:tabLst>
                <a:tab pos="302260" algn="l"/>
              </a:tabLst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1	6</a:t>
            </a:r>
            <a:endParaRPr sz="12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922157" y="6254926"/>
            <a:ext cx="440055" cy="213995"/>
          </a:xfrm>
          <a:prstGeom prst="rect">
            <a:avLst/>
          </a:prstGeom>
          <a:solidFill>
            <a:srgbClr val="000080"/>
          </a:solidFill>
          <a:ln w="13939">
            <a:solidFill>
              <a:srgbClr val="FF0000"/>
            </a:solidFill>
          </a:ln>
        </p:spPr>
        <p:txBody>
          <a:bodyPr wrap="square" lIns="0" tIns="5080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40"/>
              </a:spcBef>
              <a:tabLst>
                <a:tab pos="306070" algn="l"/>
              </a:tabLst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3	0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1540042" y="6748917"/>
            <a:ext cx="252095" cy="229235"/>
            <a:chOff x="1540042" y="6748917"/>
            <a:chExt cx="252095" cy="229235"/>
          </a:xfrm>
        </p:grpSpPr>
        <p:sp>
          <p:nvSpPr>
            <p:cNvPr id="41" name="object 41"/>
            <p:cNvSpPr/>
            <p:nvPr/>
          </p:nvSpPr>
          <p:spPr>
            <a:xfrm>
              <a:off x="1547027" y="6755902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237794" y="0"/>
                  </a:moveTo>
                  <a:lnTo>
                    <a:pt x="0" y="0"/>
                  </a:lnTo>
                  <a:lnTo>
                    <a:pt x="0" y="215082"/>
                  </a:lnTo>
                  <a:lnTo>
                    <a:pt x="237794" y="215082"/>
                  </a:lnTo>
                  <a:lnTo>
                    <a:pt x="237794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1547027" y="6755902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0" y="215082"/>
                  </a:moveTo>
                  <a:lnTo>
                    <a:pt x="237794" y="215082"/>
                  </a:lnTo>
                  <a:lnTo>
                    <a:pt x="237794" y="0"/>
                  </a:lnTo>
                  <a:lnTo>
                    <a:pt x="0" y="0"/>
                  </a:lnTo>
                  <a:lnTo>
                    <a:pt x="0" y="215082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" name="object 43"/>
          <p:cNvSpPr txBox="1"/>
          <p:nvPr/>
        </p:nvSpPr>
        <p:spPr>
          <a:xfrm>
            <a:off x="1649894" y="6747400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2166589" y="6748917"/>
            <a:ext cx="252095" cy="229235"/>
            <a:chOff x="2166589" y="6748917"/>
            <a:chExt cx="252095" cy="229235"/>
          </a:xfrm>
        </p:grpSpPr>
        <p:sp>
          <p:nvSpPr>
            <p:cNvPr id="45" name="object 45"/>
            <p:cNvSpPr/>
            <p:nvPr/>
          </p:nvSpPr>
          <p:spPr>
            <a:xfrm>
              <a:off x="2173574" y="6755902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237792" y="0"/>
                  </a:moveTo>
                  <a:lnTo>
                    <a:pt x="0" y="0"/>
                  </a:lnTo>
                  <a:lnTo>
                    <a:pt x="0" y="215082"/>
                  </a:lnTo>
                  <a:lnTo>
                    <a:pt x="237792" y="215082"/>
                  </a:lnTo>
                  <a:lnTo>
                    <a:pt x="237792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173574" y="6755902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0" y="215082"/>
                  </a:moveTo>
                  <a:lnTo>
                    <a:pt x="237792" y="215082"/>
                  </a:lnTo>
                  <a:lnTo>
                    <a:pt x="237792" y="0"/>
                  </a:lnTo>
                  <a:lnTo>
                    <a:pt x="0" y="0"/>
                  </a:lnTo>
                  <a:lnTo>
                    <a:pt x="0" y="215082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/>
          <p:cNvSpPr txBox="1"/>
          <p:nvPr/>
        </p:nvSpPr>
        <p:spPr>
          <a:xfrm>
            <a:off x="2252382" y="6747400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2676900" y="6748917"/>
            <a:ext cx="252095" cy="229235"/>
            <a:chOff x="2676900" y="6748917"/>
            <a:chExt cx="252095" cy="229235"/>
          </a:xfrm>
        </p:grpSpPr>
        <p:sp>
          <p:nvSpPr>
            <p:cNvPr id="49" name="object 49"/>
            <p:cNvSpPr/>
            <p:nvPr/>
          </p:nvSpPr>
          <p:spPr>
            <a:xfrm>
              <a:off x="2683885" y="6755902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237794" y="0"/>
                  </a:moveTo>
                  <a:lnTo>
                    <a:pt x="0" y="0"/>
                  </a:lnTo>
                  <a:lnTo>
                    <a:pt x="0" y="215082"/>
                  </a:lnTo>
                  <a:lnTo>
                    <a:pt x="237794" y="215082"/>
                  </a:lnTo>
                  <a:lnTo>
                    <a:pt x="237794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683885" y="6755902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0" y="215082"/>
                  </a:moveTo>
                  <a:lnTo>
                    <a:pt x="237794" y="215082"/>
                  </a:lnTo>
                  <a:lnTo>
                    <a:pt x="237794" y="0"/>
                  </a:lnTo>
                  <a:lnTo>
                    <a:pt x="0" y="0"/>
                  </a:lnTo>
                  <a:lnTo>
                    <a:pt x="0" y="215082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" name="object 51"/>
          <p:cNvSpPr txBox="1"/>
          <p:nvPr/>
        </p:nvSpPr>
        <p:spPr>
          <a:xfrm>
            <a:off x="2754692" y="6744720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3279414" y="6748917"/>
            <a:ext cx="254635" cy="229235"/>
            <a:chOff x="3279414" y="6748917"/>
            <a:chExt cx="254635" cy="229235"/>
          </a:xfrm>
        </p:grpSpPr>
        <p:sp>
          <p:nvSpPr>
            <p:cNvPr id="53" name="object 53"/>
            <p:cNvSpPr/>
            <p:nvPr/>
          </p:nvSpPr>
          <p:spPr>
            <a:xfrm>
              <a:off x="3286399" y="6755902"/>
              <a:ext cx="240665" cy="215265"/>
            </a:xfrm>
            <a:custGeom>
              <a:avLst/>
              <a:gdLst/>
              <a:ahLst/>
              <a:cxnLst/>
              <a:rect l="l" t="t" r="r" b="b"/>
              <a:pathLst>
                <a:path w="240664" h="215265">
                  <a:moveTo>
                    <a:pt x="240464" y="0"/>
                  </a:moveTo>
                  <a:lnTo>
                    <a:pt x="0" y="0"/>
                  </a:lnTo>
                  <a:lnTo>
                    <a:pt x="0" y="215082"/>
                  </a:lnTo>
                  <a:lnTo>
                    <a:pt x="240464" y="215082"/>
                  </a:lnTo>
                  <a:lnTo>
                    <a:pt x="240464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286399" y="6755902"/>
              <a:ext cx="240665" cy="215265"/>
            </a:xfrm>
            <a:custGeom>
              <a:avLst/>
              <a:gdLst/>
              <a:ahLst/>
              <a:cxnLst/>
              <a:rect l="l" t="t" r="r" b="b"/>
              <a:pathLst>
                <a:path w="240664" h="215265">
                  <a:moveTo>
                    <a:pt x="0" y="215082"/>
                  </a:moveTo>
                  <a:lnTo>
                    <a:pt x="240464" y="215082"/>
                  </a:lnTo>
                  <a:lnTo>
                    <a:pt x="240464" y="0"/>
                  </a:lnTo>
                  <a:lnTo>
                    <a:pt x="0" y="0"/>
                  </a:lnTo>
                  <a:lnTo>
                    <a:pt x="0" y="215082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/>
          <p:cNvSpPr txBox="1"/>
          <p:nvPr/>
        </p:nvSpPr>
        <p:spPr>
          <a:xfrm>
            <a:off x="3355859" y="6735374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4551207" y="6748917"/>
            <a:ext cx="214629" cy="229235"/>
            <a:chOff x="4551207" y="6748917"/>
            <a:chExt cx="214629" cy="229235"/>
          </a:xfrm>
        </p:grpSpPr>
        <p:sp>
          <p:nvSpPr>
            <p:cNvPr id="57" name="object 57"/>
            <p:cNvSpPr/>
            <p:nvPr/>
          </p:nvSpPr>
          <p:spPr>
            <a:xfrm>
              <a:off x="4558192" y="6755902"/>
              <a:ext cx="200660" cy="215265"/>
            </a:xfrm>
            <a:custGeom>
              <a:avLst/>
              <a:gdLst/>
              <a:ahLst/>
              <a:cxnLst/>
              <a:rect l="l" t="t" r="r" b="b"/>
              <a:pathLst>
                <a:path w="200660" h="215265">
                  <a:moveTo>
                    <a:pt x="200387" y="0"/>
                  </a:moveTo>
                  <a:lnTo>
                    <a:pt x="0" y="0"/>
                  </a:lnTo>
                  <a:lnTo>
                    <a:pt x="0" y="215082"/>
                  </a:lnTo>
                  <a:lnTo>
                    <a:pt x="200387" y="215082"/>
                  </a:lnTo>
                  <a:lnTo>
                    <a:pt x="200387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558192" y="6755902"/>
              <a:ext cx="200660" cy="215265"/>
            </a:xfrm>
            <a:custGeom>
              <a:avLst/>
              <a:gdLst/>
              <a:ahLst/>
              <a:cxnLst/>
              <a:rect l="l" t="t" r="r" b="b"/>
              <a:pathLst>
                <a:path w="200660" h="215265">
                  <a:moveTo>
                    <a:pt x="0" y="215082"/>
                  </a:moveTo>
                  <a:lnTo>
                    <a:pt x="200387" y="215082"/>
                  </a:lnTo>
                  <a:lnTo>
                    <a:pt x="200387" y="0"/>
                  </a:lnTo>
                  <a:lnTo>
                    <a:pt x="0" y="0"/>
                  </a:lnTo>
                  <a:lnTo>
                    <a:pt x="0" y="215082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" name="object 59"/>
          <p:cNvSpPr txBox="1"/>
          <p:nvPr/>
        </p:nvSpPr>
        <p:spPr>
          <a:xfrm>
            <a:off x="4615635" y="6732694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5134990" y="6747585"/>
            <a:ext cx="252095" cy="227965"/>
            <a:chOff x="5134990" y="6747585"/>
            <a:chExt cx="252095" cy="227965"/>
          </a:xfrm>
        </p:grpSpPr>
        <p:sp>
          <p:nvSpPr>
            <p:cNvPr id="61" name="object 61"/>
            <p:cNvSpPr/>
            <p:nvPr/>
          </p:nvSpPr>
          <p:spPr>
            <a:xfrm>
              <a:off x="5141975" y="6754570"/>
              <a:ext cx="238125" cy="213995"/>
            </a:xfrm>
            <a:custGeom>
              <a:avLst/>
              <a:gdLst/>
              <a:ahLst/>
              <a:cxnLst/>
              <a:rect l="l" t="t" r="r" b="b"/>
              <a:pathLst>
                <a:path w="238125" h="213995">
                  <a:moveTo>
                    <a:pt x="237794" y="0"/>
                  </a:moveTo>
                  <a:lnTo>
                    <a:pt x="0" y="0"/>
                  </a:lnTo>
                  <a:lnTo>
                    <a:pt x="0" y="213747"/>
                  </a:lnTo>
                  <a:lnTo>
                    <a:pt x="237794" y="213747"/>
                  </a:lnTo>
                  <a:lnTo>
                    <a:pt x="237794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141975" y="6754570"/>
              <a:ext cx="238125" cy="213995"/>
            </a:xfrm>
            <a:custGeom>
              <a:avLst/>
              <a:gdLst/>
              <a:ahLst/>
              <a:cxnLst/>
              <a:rect l="l" t="t" r="r" b="b"/>
              <a:pathLst>
                <a:path w="238125" h="213995">
                  <a:moveTo>
                    <a:pt x="0" y="213747"/>
                  </a:moveTo>
                  <a:lnTo>
                    <a:pt x="237794" y="213747"/>
                  </a:lnTo>
                  <a:lnTo>
                    <a:pt x="237794" y="0"/>
                  </a:lnTo>
                  <a:lnTo>
                    <a:pt x="0" y="0"/>
                  </a:lnTo>
                  <a:lnTo>
                    <a:pt x="0" y="213747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/>
          <p:cNvSpPr txBox="1"/>
          <p:nvPr/>
        </p:nvSpPr>
        <p:spPr>
          <a:xfrm>
            <a:off x="5218122" y="6758081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64" name="object 64"/>
          <p:cNvGrpSpPr/>
          <p:nvPr/>
        </p:nvGrpSpPr>
        <p:grpSpPr>
          <a:xfrm>
            <a:off x="5701431" y="6748917"/>
            <a:ext cx="252095" cy="229235"/>
            <a:chOff x="5701431" y="6748917"/>
            <a:chExt cx="252095" cy="229235"/>
          </a:xfrm>
        </p:grpSpPr>
        <p:sp>
          <p:nvSpPr>
            <p:cNvPr id="65" name="object 65"/>
            <p:cNvSpPr/>
            <p:nvPr/>
          </p:nvSpPr>
          <p:spPr>
            <a:xfrm>
              <a:off x="5708416" y="6755902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237792" y="0"/>
                  </a:moveTo>
                  <a:lnTo>
                    <a:pt x="0" y="0"/>
                  </a:lnTo>
                  <a:lnTo>
                    <a:pt x="0" y="215082"/>
                  </a:lnTo>
                  <a:lnTo>
                    <a:pt x="237792" y="215082"/>
                  </a:lnTo>
                  <a:lnTo>
                    <a:pt x="237792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5708416" y="6755902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0" y="215082"/>
                  </a:moveTo>
                  <a:lnTo>
                    <a:pt x="237792" y="215082"/>
                  </a:lnTo>
                  <a:lnTo>
                    <a:pt x="237792" y="0"/>
                  </a:lnTo>
                  <a:lnTo>
                    <a:pt x="0" y="0"/>
                  </a:lnTo>
                  <a:lnTo>
                    <a:pt x="0" y="215082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7" name="object 67"/>
          <p:cNvSpPr txBox="1"/>
          <p:nvPr/>
        </p:nvSpPr>
        <p:spPr>
          <a:xfrm>
            <a:off x="5785889" y="6732694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6354693" y="6736886"/>
            <a:ext cx="253365" cy="227965"/>
            <a:chOff x="6354693" y="6736886"/>
            <a:chExt cx="253365" cy="227965"/>
          </a:xfrm>
        </p:grpSpPr>
        <p:sp>
          <p:nvSpPr>
            <p:cNvPr id="69" name="object 69"/>
            <p:cNvSpPr/>
            <p:nvPr/>
          </p:nvSpPr>
          <p:spPr>
            <a:xfrm>
              <a:off x="6361678" y="6743871"/>
              <a:ext cx="239395" cy="213995"/>
            </a:xfrm>
            <a:custGeom>
              <a:avLst/>
              <a:gdLst/>
              <a:ahLst/>
              <a:cxnLst/>
              <a:rect l="l" t="t" r="r" b="b"/>
              <a:pathLst>
                <a:path w="239395" h="213995">
                  <a:moveTo>
                    <a:pt x="239130" y="0"/>
                  </a:moveTo>
                  <a:lnTo>
                    <a:pt x="0" y="0"/>
                  </a:lnTo>
                  <a:lnTo>
                    <a:pt x="0" y="213747"/>
                  </a:lnTo>
                  <a:lnTo>
                    <a:pt x="239130" y="213747"/>
                  </a:lnTo>
                  <a:lnTo>
                    <a:pt x="239130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6361678" y="6743871"/>
              <a:ext cx="239395" cy="213995"/>
            </a:xfrm>
            <a:custGeom>
              <a:avLst/>
              <a:gdLst/>
              <a:ahLst/>
              <a:cxnLst/>
              <a:rect l="l" t="t" r="r" b="b"/>
              <a:pathLst>
                <a:path w="239395" h="213995">
                  <a:moveTo>
                    <a:pt x="0" y="213747"/>
                  </a:moveTo>
                  <a:lnTo>
                    <a:pt x="239130" y="213747"/>
                  </a:lnTo>
                  <a:lnTo>
                    <a:pt x="239130" y="0"/>
                  </a:lnTo>
                  <a:lnTo>
                    <a:pt x="0" y="0"/>
                  </a:lnTo>
                  <a:lnTo>
                    <a:pt x="0" y="213747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" name="object 71"/>
          <p:cNvSpPr txBox="1"/>
          <p:nvPr/>
        </p:nvSpPr>
        <p:spPr>
          <a:xfrm>
            <a:off x="6423124" y="6727360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0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72" name="object 72"/>
          <p:cNvGrpSpPr/>
          <p:nvPr/>
        </p:nvGrpSpPr>
        <p:grpSpPr>
          <a:xfrm>
            <a:off x="2601071" y="5280756"/>
            <a:ext cx="3011170" cy="1777364"/>
            <a:chOff x="2601071" y="5280756"/>
            <a:chExt cx="3011170" cy="1777364"/>
          </a:xfrm>
        </p:grpSpPr>
        <p:sp>
          <p:nvSpPr>
            <p:cNvPr id="73" name="object 73"/>
            <p:cNvSpPr/>
            <p:nvPr/>
          </p:nvSpPr>
          <p:spPr>
            <a:xfrm>
              <a:off x="2662519" y="5287726"/>
              <a:ext cx="1393825" cy="343535"/>
            </a:xfrm>
            <a:custGeom>
              <a:avLst/>
              <a:gdLst/>
              <a:ahLst/>
              <a:cxnLst/>
              <a:rect l="l" t="t" r="r" b="b"/>
              <a:pathLst>
                <a:path w="1393825" h="343535">
                  <a:moveTo>
                    <a:pt x="1393362" y="0"/>
                  </a:moveTo>
                  <a:lnTo>
                    <a:pt x="0" y="343326"/>
                  </a:lnTo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4" name="object 7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601071" y="5586963"/>
              <a:ext cx="90830" cy="80162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4106646" y="5287726"/>
              <a:ext cx="1444625" cy="344805"/>
            </a:xfrm>
            <a:custGeom>
              <a:avLst/>
              <a:gdLst/>
              <a:ahLst/>
              <a:cxnLst/>
              <a:rect l="l" t="t" r="r" b="b"/>
              <a:pathLst>
                <a:path w="1444625" h="344804">
                  <a:moveTo>
                    <a:pt x="0" y="0"/>
                  </a:moveTo>
                  <a:lnTo>
                    <a:pt x="1444127" y="344667"/>
                  </a:lnTo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521390" y="5586963"/>
              <a:ext cx="90830" cy="80162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4055881" y="545204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055881" y="550547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055881" y="555892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055881" y="561235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048912" y="5679142"/>
              <a:ext cx="13970" cy="53975"/>
            </a:xfrm>
            <a:custGeom>
              <a:avLst/>
              <a:gdLst/>
              <a:ahLst/>
              <a:cxnLst/>
              <a:rect l="l" t="t" r="r" b="b"/>
              <a:pathLst>
                <a:path w="13970" h="53975">
                  <a:moveTo>
                    <a:pt x="0" y="0"/>
                  </a:moveTo>
                  <a:lnTo>
                    <a:pt x="13939" y="0"/>
                  </a:lnTo>
                </a:path>
                <a:path w="13970" h="53975">
                  <a:moveTo>
                    <a:pt x="0" y="53446"/>
                  </a:moveTo>
                  <a:lnTo>
                    <a:pt x="13939" y="53446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4055881" y="577266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4055881" y="582609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65"/>
                  </a:moveTo>
                  <a:lnTo>
                    <a:pt x="6969" y="13365"/>
                  </a:lnTo>
                </a:path>
              </a:pathLst>
            </a:custGeom>
            <a:ln w="2673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4055881" y="5879541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055881" y="593297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055881" y="598640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65"/>
                  </a:moveTo>
                  <a:lnTo>
                    <a:pt x="6969" y="13365"/>
                  </a:lnTo>
                </a:path>
              </a:pathLst>
            </a:custGeom>
            <a:ln w="2673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055881" y="603985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055881" y="609328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4055881" y="614671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65"/>
                  </a:moveTo>
                  <a:lnTo>
                    <a:pt x="6969" y="13365"/>
                  </a:lnTo>
                </a:path>
              </a:pathLst>
            </a:custGeom>
            <a:ln w="2673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4055881" y="620148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65"/>
                  </a:moveTo>
                  <a:lnTo>
                    <a:pt x="6969" y="13365"/>
                  </a:lnTo>
                </a:path>
              </a:pathLst>
            </a:custGeom>
            <a:ln w="2673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4055881" y="625493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4055881" y="630836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4055881" y="636181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4055881" y="641524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055881" y="646867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4055881" y="652212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055881" y="6575551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4048912" y="6642341"/>
              <a:ext cx="13970" cy="107314"/>
            </a:xfrm>
            <a:custGeom>
              <a:avLst/>
              <a:gdLst/>
              <a:ahLst/>
              <a:cxnLst/>
              <a:rect l="l" t="t" r="r" b="b"/>
              <a:pathLst>
                <a:path w="13970" h="107315">
                  <a:moveTo>
                    <a:pt x="0" y="0"/>
                  </a:moveTo>
                  <a:lnTo>
                    <a:pt x="13939" y="0"/>
                  </a:lnTo>
                </a:path>
                <a:path w="13970" h="107315">
                  <a:moveTo>
                    <a:pt x="0" y="53446"/>
                  </a:moveTo>
                  <a:lnTo>
                    <a:pt x="13939" y="53446"/>
                  </a:lnTo>
                </a:path>
                <a:path w="13970" h="107315">
                  <a:moveTo>
                    <a:pt x="0" y="106878"/>
                  </a:moveTo>
                  <a:lnTo>
                    <a:pt x="13939" y="106878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4055881" y="678929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65"/>
                  </a:moveTo>
                  <a:lnTo>
                    <a:pt x="6969" y="13365"/>
                  </a:lnTo>
                </a:path>
              </a:pathLst>
            </a:custGeom>
            <a:ln w="2673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4048912" y="6856097"/>
              <a:ext cx="13970" cy="53975"/>
            </a:xfrm>
            <a:custGeom>
              <a:avLst/>
              <a:gdLst/>
              <a:ahLst/>
              <a:cxnLst/>
              <a:rect l="l" t="t" r="r" b="b"/>
              <a:pathLst>
                <a:path w="13970" h="53975">
                  <a:moveTo>
                    <a:pt x="0" y="0"/>
                  </a:moveTo>
                  <a:lnTo>
                    <a:pt x="13939" y="0"/>
                  </a:lnTo>
                </a:path>
                <a:path w="13970" h="53975">
                  <a:moveTo>
                    <a:pt x="0" y="53431"/>
                  </a:moveTo>
                  <a:lnTo>
                    <a:pt x="13939" y="53431"/>
                  </a:lnTo>
                </a:path>
              </a:pathLst>
            </a:custGeom>
            <a:ln w="267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4014459" y="6933585"/>
              <a:ext cx="83185" cy="124460"/>
            </a:xfrm>
            <a:custGeom>
              <a:avLst/>
              <a:gdLst/>
              <a:ahLst/>
              <a:cxnLst/>
              <a:rect l="l" t="t" r="r" b="b"/>
              <a:pathLst>
                <a:path w="83185" h="124459">
                  <a:moveTo>
                    <a:pt x="82829" y="0"/>
                  </a:moveTo>
                  <a:lnTo>
                    <a:pt x="0" y="0"/>
                  </a:lnTo>
                  <a:lnTo>
                    <a:pt x="41422" y="124236"/>
                  </a:lnTo>
                  <a:lnTo>
                    <a:pt x="82829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2" name="object 102"/>
          <p:cNvSpPr txBox="1"/>
          <p:nvPr/>
        </p:nvSpPr>
        <p:spPr>
          <a:xfrm>
            <a:off x="901699" y="7043448"/>
            <a:ext cx="6426200" cy="19399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R="107950">
              <a:lnSpc>
                <a:spcPct val="100000"/>
              </a:lnSpc>
              <a:spcBef>
                <a:spcPts val="130"/>
              </a:spcBef>
            </a:pPr>
            <a:r>
              <a:rPr dirty="0" sz="1550" spc="10">
                <a:solidFill>
                  <a:srgbClr val="FFFFFF"/>
                </a:solidFill>
                <a:latin typeface="Arial"/>
                <a:cs typeface="Arial"/>
              </a:rPr>
              <a:t>split</a:t>
            </a:r>
            <a:endParaRPr sz="15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200"/>
              </a:spcBef>
            </a:pPr>
            <a:r>
              <a:rPr dirty="0" sz="1200" spc="-10">
                <a:latin typeface="Times New Roman"/>
                <a:cs typeface="Times New Roman"/>
              </a:rPr>
              <a:t>Figure 3.1: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</a:t>
            </a:r>
            <a:r>
              <a:rPr dirty="0" sz="1200" spc="-5">
                <a:latin typeface="Times New Roman"/>
                <a:cs typeface="Times New Roman"/>
              </a:rPr>
              <a:t> sort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divide</a:t>
            </a:r>
            <a:r>
              <a:rPr dirty="0" sz="1200" spc="-5">
                <a:latin typeface="Times New Roman"/>
                <a:cs typeface="Times New Roman"/>
              </a:rPr>
              <a:t> phase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600">
              <a:latin typeface="Times New Roman"/>
              <a:cs typeface="Times New Roma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Merging: </a:t>
            </a:r>
            <a:r>
              <a:rPr dirty="0" sz="1200" spc="-10">
                <a:latin typeface="Times New Roman"/>
                <a:cs typeface="Times New Roman"/>
              </a:rPr>
              <a:t>All </a:t>
            </a:r>
            <a:r>
              <a:rPr dirty="0" sz="1200" spc="-5">
                <a:latin typeface="Times New Roman"/>
                <a:cs typeface="Times New Roman"/>
              </a:rPr>
              <a:t>that is left is to describe </a:t>
            </a:r>
            <a:r>
              <a:rPr dirty="0" sz="1200" spc="-10">
                <a:latin typeface="Times New Roman"/>
                <a:cs typeface="Times New Roman"/>
              </a:rPr>
              <a:t>the procedure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merges two </a:t>
            </a:r>
            <a:r>
              <a:rPr dirty="0" sz="1200" spc="-5">
                <a:latin typeface="Times New Roman"/>
                <a:cs typeface="Times New Roman"/>
              </a:rPr>
              <a:t>sorted lists. </a:t>
            </a:r>
            <a:r>
              <a:rPr dirty="0" sz="1200" spc="20">
                <a:latin typeface="Lucida Sans Unicode"/>
                <a:cs typeface="Lucida Sans Unicode"/>
              </a:rPr>
              <a:t>Merge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A, </a:t>
            </a:r>
            <a:r>
              <a:rPr dirty="0" sz="1200" spc="-55">
                <a:latin typeface="Lucida Sans Unicode"/>
                <a:cs typeface="Lucida Sans Unicode"/>
              </a:rPr>
              <a:t>p, </a:t>
            </a:r>
            <a:r>
              <a:rPr dirty="0" sz="1200" spc="-45">
                <a:latin typeface="Lucida Sans Unicode"/>
                <a:cs typeface="Lucida Sans Unicode"/>
              </a:rPr>
              <a:t>q, </a:t>
            </a:r>
            <a:r>
              <a:rPr dirty="0" sz="1200" spc="65">
                <a:latin typeface="Lucida Sans Unicode"/>
                <a:cs typeface="Lucida Sans Unicode"/>
              </a:rPr>
              <a:t>r</a:t>
            </a:r>
            <a:r>
              <a:rPr dirty="0" sz="1200" spc="65">
                <a:latin typeface="Garamond"/>
                <a:cs typeface="Garamond"/>
              </a:rPr>
              <a:t>) </a:t>
            </a:r>
            <a:r>
              <a:rPr dirty="0" sz="1200" spc="7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assumes that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left </a:t>
            </a:r>
            <a:r>
              <a:rPr dirty="0" sz="1200" spc="-15">
                <a:latin typeface="Times New Roman"/>
                <a:cs typeface="Times New Roman"/>
              </a:rPr>
              <a:t>sub-array, </a:t>
            </a:r>
            <a:r>
              <a:rPr dirty="0" sz="1200" spc="10">
                <a:latin typeface="Lucida Sans Unicode"/>
                <a:cs typeface="Lucida Sans Unicode"/>
              </a:rPr>
              <a:t>A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p </a:t>
            </a:r>
            <a:r>
              <a:rPr dirty="0" sz="1200" spc="-5">
                <a:latin typeface="Garamond"/>
                <a:cs typeface="Garamond"/>
              </a:rPr>
              <a:t>: </a:t>
            </a:r>
            <a:r>
              <a:rPr dirty="0" sz="1200" spc="-15">
                <a:latin typeface="Lucida Sans Unicode"/>
                <a:cs typeface="Lucida Sans Unicode"/>
              </a:rPr>
              <a:t>q</a:t>
            </a:r>
            <a:r>
              <a:rPr dirty="0" sz="1200" spc="-15">
                <a:latin typeface="Garamond"/>
                <a:cs typeface="Garamond"/>
              </a:rPr>
              <a:t>]</a:t>
            </a:r>
            <a:r>
              <a:rPr dirty="0" sz="1200" spc="-15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the right </a:t>
            </a:r>
            <a:r>
              <a:rPr dirty="0" sz="1200" spc="-15">
                <a:latin typeface="Times New Roman"/>
                <a:cs typeface="Times New Roman"/>
              </a:rPr>
              <a:t>sub-array, 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q </a:t>
            </a:r>
            <a:r>
              <a:rPr dirty="0" sz="1200" spc="100">
                <a:latin typeface="Garamond"/>
                <a:cs typeface="Garamond"/>
              </a:rPr>
              <a:t>+ </a:t>
            </a:r>
            <a:r>
              <a:rPr dirty="0" sz="1200" spc="-165">
                <a:latin typeface="Lucida Sans Unicode"/>
                <a:cs typeface="Lucida Sans Unicode"/>
              </a:rPr>
              <a:t>1 </a:t>
            </a:r>
            <a:r>
              <a:rPr dirty="0" sz="1200" spc="-5">
                <a:latin typeface="Garamond"/>
                <a:cs typeface="Garamond"/>
              </a:rPr>
              <a:t>: </a:t>
            </a:r>
            <a:r>
              <a:rPr dirty="0" sz="1200" spc="5">
                <a:latin typeface="Lucida Sans Unicode"/>
                <a:cs typeface="Lucida Sans Unicode"/>
              </a:rPr>
              <a:t>r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5">
                <a:latin typeface="Times New Roman"/>
                <a:cs typeface="Times New Roman"/>
              </a:rPr>
              <a:t>,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already been sorted.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</a:t>
            </a:r>
            <a:r>
              <a:rPr dirty="0" sz="1200" spc="-5">
                <a:latin typeface="Times New Roman"/>
                <a:cs typeface="Times New Roman"/>
              </a:rPr>
              <a:t> these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sub-arrays by </a:t>
            </a:r>
            <a:r>
              <a:rPr dirty="0" sz="1200" spc="-10">
                <a:latin typeface="Times New Roman"/>
                <a:cs typeface="Times New Roman"/>
              </a:rPr>
              <a:t>copying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elements to a temporary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working</a:t>
            </a:r>
            <a:r>
              <a:rPr dirty="0" sz="1200" spc="-5">
                <a:latin typeface="Times New Roman"/>
                <a:cs typeface="Times New Roman"/>
              </a:rPr>
              <a:t> array called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B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 convenience,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range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B</a:t>
            </a:r>
            <a:r>
              <a:rPr dirty="0" sz="1200" spc="15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p</a:t>
            </a:r>
            <a:r>
              <a:rPr dirty="0" sz="1200" spc="-3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Garamond"/>
                <a:cs typeface="Garamond"/>
              </a:rPr>
              <a:t>: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r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(One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nice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thing</a:t>
            </a:r>
            <a:r>
              <a:rPr dirty="0" sz="1200" spc="-5">
                <a:latin typeface="Times New Roman"/>
                <a:cs typeface="Times New Roman"/>
              </a:rPr>
              <a:t> 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pseudo-code,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0">
                <a:latin typeface="Times New Roman"/>
                <a:cs typeface="Times New Roman"/>
              </a:rPr>
              <a:t>make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 assumptions,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leave</a:t>
            </a:r>
            <a:r>
              <a:rPr dirty="0" sz="1200" spc="-5">
                <a:latin typeface="Times New Roman"/>
                <a:cs typeface="Times New Roman"/>
              </a:rPr>
              <a:t> them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figure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implement</a:t>
            </a:r>
            <a:r>
              <a:rPr dirty="0" sz="1200" spc="-5">
                <a:latin typeface="Times New Roman"/>
                <a:cs typeface="Times New Roman"/>
              </a:rPr>
              <a:t> it.)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to indices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that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current elements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each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6" y="520987"/>
            <a:ext cx="6426835" cy="183007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261100" algn="l"/>
              </a:tabLst>
            </a:pPr>
            <a:r>
              <a:rPr dirty="0" sz="1200" spc="-10">
                <a:latin typeface="Times New Roman"/>
                <a:cs typeface="Times New Roman"/>
              </a:rPr>
              <a:t>3.1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MER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8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25400">
              <a:lnSpc>
                <a:spcPct val="100000"/>
              </a:lnSpc>
            </a:pPr>
            <a:r>
              <a:rPr dirty="0" sz="1200" spc="-15">
                <a:latin typeface="Times New Roman"/>
                <a:cs typeface="Times New Roman"/>
              </a:rPr>
              <a:t>sub-array.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5">
                <a:latin typeface="Times New Roman"/>
                <a:cs typeface="Times New Roman"/>
              </a:rPr>
              <a:t>move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smaller element </a:t>
            </a:r>
            <a:r>
              <a:rPr dirty="0" sz="1200" spc="-10">
                <a:latin typeface="Times New Roman"/>
                <a:cs typeface="Times New Roman"/>
              </a:rPr>
              <a:t>into the next </a:t>
            </a:r>
            <a:r>
              <a:rPr dirty="0" sz="1200" spc="-5">
                <a:latin typeface="Times New Roman"/>
                <a:cs typeface="Times New Roman"/>
              </a:rPr>
              <a:t>position of </a:t>
            </a:r>
            <a:r>
              <a:rPr dirty="0" sz="1200" spc="90">
                <a:latin typeface="Lucida Sans Unicode"/>
                <a:cs typeface="Lucida Sans Unicode"/>
              </a:rPr>
              <a:t>B </a:t>
            </a:r>
            <a:r>
              <a:rPr dirty="0" sz="1200" spc="-5">
                <a:latin typeface="Times New Roman"/>
                <a:cs typeface="Times New Roman"/>
              </a:rPr>
              <a:t>(indicated by </a:t>
            </a:r>
            <a:r>
              <a:rPr dirty="0" sz="1200" spc="-10">
                <a:latin typeface="Times New Roman"/>
                <a:cs typeface="Times New Roman"/>
              </a:rPr>
              <a:t>index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and then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increment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corresponding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(either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Times New Roman"/>
                <a:cs typeface="Times New Roman"/>
              </a:rPr>
              <a:t>).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array,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copy the </a:t>
            </a:r>
            <a:r>
              <a:rPr dirty="0" sz="1200" spc="-5">
                <a:latin typeface="Times New Roman"/>
                <a:cs typeface="Times New Roman"/>
              </a:rPr>
              <a:t>rest 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other array </a:t>
            </a:r>
            <a:r>
              <a:rPr dirty="0" sz="1200" spc="-10">
                <a:latin typeface="Times New Roman"/>
                <a:cs typeface="Times New Roman"/>
              </a:rPr>
              <a:t>into </a:t>
            </a:r>
            <a:r>
              <a:rPr dirty="0" sz="1200" spc="45">
                <a:latin typeface="Lucida Sans Unicode"/>
                <a:cs typeface="Lucida Sans Unicode"/>
              </a:rPr>
              <a:t>B</a:t>
            </a:r>
            <a:r>
              <a:rPr dirty="0" sz="1200" spc="45">
                <a:latin typeface="Times New Roman"/>
                <a:cs typeface="Times New Roman"/>
              </a:rPr>
              <a:t>. </a:t>
            </a:r>
            <a:r>
              <a:rPr dirty="0" sz="1200" spc="-15">
                <a:latin typeface="Times New Roman"/>
                <a:cs typeface="Times New Roman"/>
              </a:rPr>
              <a:t>Finally, </a:t>
            </a:r>
            <a:r>
              <a:rPr dirty="0" sz="1200" spc="-10">
                <a:latin typeface="Times New Roman"/>
                <a:cs typeface="Times New Roman"/>
              </a:rPr>
              <a:t>we copy the </a:t>
            </a:r>
            <a:r>
              <a:rPr dirty="0" sz="1200" spc="-5">
                <a:latin typeface="Times New Roman"/>
                <a:cs typeface="Times New Roman"/>
              </a:rPr>
              <a:t>entire contents of </a:t>
            </a:r>
            <a:r>
              <a:rPr dirty="0" sz="1200" spc="90">
                <a:latin typeface="Lucida Sans Unicode"/>
                <a:cs typeface="Lucida Sans Unicode"/>
              </a:rPr>
              <a:t>B </a:t>
            </a:r>
            <a:r>
              <a:rPr dirty="0" sz="1200" spc="-5">
                <a:latin typeface="Times New Roman"/>
                <a:cs typeface="Times New Roman"/>
              </a:rPr>
              <a:t>back </a:t>
            </a:r>
            <a:r>
              <a:rPr dirty="0" sz="1200" spc="-10">
                <a:latin typeface="Times New Roman"/>
                <a:cs typeface="Times New Roman"/>
              </a:rPr>
              <a:t>into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(The use 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temporary </a:t>
            </a:r>
            <a:r>
              <a:rPr dirty="0" sz="1200" spc="-5">
                <a:latin typeface="Times New Roman"/>
                <a:cs typeface="Times New Roman"/>
              </a:rPr>
              <a:t>array is a bit unpleasant, </a:t>
            </a:r>
            <a:r>
              <a:rPr dirty="0" sz="1200" spc="-15">
                <a:latin typeface="Times New Roman"/>
                <a:cs typeface="Times New Roman"/>
              </a:rPr>
              <a:t>but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impossible to </a:t>
            </a:r>
            <a:r>
              <a:rPr dirty="0" sz="1200" spc="-10">
                <a:latin typeface="Times New Roman"/>
                <a:cs typeface="Times New Roman"/>
              </a:rPr>
              <a:t>overcome </a:t>
            </a:r>
            <a:r>
              <a:rPr dirty="0" sz="1200" spc="-15">
                <a:latin typeface="Times New Roman"/>
                <a:cs typeface="Times New Roman"/>
              </a:rPr>
              <a:t>entirely.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 </a:t>
            </a:r>
            <a:r>
              <a:rPr dirty="0" sz="1200" spc="-1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shortcomings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MergeSort,</a:t>
            </a:r>
            <a:r>
              <a:rPr dirty="0" sz="1200" spc="-5">
                <a:latin typeface="Times New Roman"/>
                <a:cs typeface="Times New Roman"/>
              </a:rPr>
              <a:t> compared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 </a:t>
            </a:r>
            <a:r>
              <a:rPr dirty="0" sz="1200" spc="-15">
                <a:latin typeface="Times New Roman"/>
                <a:cs typeface="Times New Roman"/>
              </a:rPr>
              <a:t>efficient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algorithms.)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 algorithm:</a:t>
            </a:r>
            <a:endParaRPr sz="1200">
              <a:latin typeface="Times New Roman"/>
              <a:cs typeface="Times New Roman"/>
            </a:endParaRPr>
          </a:p>
          <a:p>
            <a:pPr marL="15875">
              <a:lnSpc>
                <a:spcPct val="100000"/>
              </a:lnSpc>
              <a:spcBef>
                <a:spcPts val="400"/>
              </a:spcBef>
            </a:pPr>
            <a:r>
              <a:rPr dirty="0" sz="950" spc="55">
                <a:latin typeface="Times New Roman"/>
                <a:cs typeface="Times New Roman"/>
              </a:rPr>
              <a:t>MERG</a:t>
            </a:r>
            <a:r>
              <a:rPr dirty="0" sz="950" spc="25">
                <a:latin typeface="Times New Roman"/>
                <a:cs typeface="Times New Roman"/>
              </a:rPr>
              <a:t>E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rr</a:t>
            </a:r>
            <a:r>
              <a:rPr dirty="0" sz="1200" spc="-5">
                <a:latin typeface="Times New Roman"/>
                <a:cs typeface="Times New Roman"/>
              </a:rPr>
              <a:t>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114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114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r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72300" y="2876983"/>
            <a:ext cx="14420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B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k</a:t>
            </a:r>
            <a:r>
              <a:rPr dirty="0" sz="1100" spc="-35">
                <a:latin typeface="Times New Roman"/>
                <a:cs typeface="Times New Roman"/>
              </a:rPr>
              <a:t>++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sz="1200" spc="-10">
                <a:latin typeface="Garamond"/>
                <a:cs typeface="Garamond"/>
              </a:rPr>
              <a:t>[</a:t>
            </a:r>
            <a:r>
              <a:rPr dirty="0" sz="1200" spc="-10">
                <a:latin typeface="Lucida Sans Unicode"/>
                <a:cs typeface="Lucida Sans Unicode"/>
              </a:rPr>
              <a:t>i</a:t>
            </a:r>
            <a:r>
              <a:rPr dirty="0" sz="1100" spc="-10">
                <a:latin typeface="Times New Roman"/>
                <a:cs typeface="Times New Roman"/>
              </a:rPr>
              <a:t>++ 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572298" y="3060435"/>
            <a:ext cx="14376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else</a:t>
            </a:r>
            <a:r>
              <a:rPr dirty="0" sz="1200" spc="375" b="1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B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k</a:t>
            </a:r>
            <a:r>
              <a:rPr dirty="0" sz="1100" spc="-35">
                <a:latin typeface="Times New Roman"/>
                <a:cs typeface="Times New Roman"/>
              </a:rPr>
              <a:t>++</a:t>
            </a:r>
            <a:r>
              <a:rPr dirty="0" sz="1100" spc="-1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j</a:t>
            </a:r>
            <a:r>
              <a:rPr dirty="0" sz="1100" spc="-20">
                <a:latin typeface="Times New Roman"/>
                <a:cs typeface="Times New Roman"/>
              </a:rPr>
              <a:t>++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39646" y="2326629"/>
            <a:ext cx="2990850" cy="20427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3530" indent="-215900">
              <a:lnSpc>
                <a:spcPct val="100000"/>
              </a:lnSpc>
              <a:spcBef>
                <a:spcPts val="95"/>
              </a:spcBef>
              <a:buAutoNum type="arabicPlain"/>
              <a:tabLst>
                <a:tab pos="303530" algn="l"/>
                <a:tab pos="304165" algn="l"/>
              </a:tabLst>
            </a:pP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20">
                <a:latin typeface="Lucida Sans Unicode"/>
                <a:cs typeface="Lucida Sans Unicode"/>
              </a:rPr>
              <a:t>r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;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">
                <a:latin typeface="Garamond"/>
                <a:cs typeface="Garamond"/>
              </a:rPr>
              <a:t>;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3162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16230" algn="l"/>
                <a:tab pos="3168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Garamond"/>
                <a:cs typeface="Garamond"/>
              </a:rPr>
              <a:t>(</a:t>
            </a:r>
            <a:r>
              <a:rPr dirty="0" sz="1200" spc="95">
                <a:latin typeface="Lucida Sans Unicode"/>
                <a:cs typeface="Lucida Sans Unicode"/>
              </a:rPr>
              <a:t>i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q</a:t>
            </a:r>
            <a:r>
              <a:rPr dirty="0" sz="1200" spc="35">
                <a:latin typeface="Garamond"/>
                <a:cs typeface="Garamond"/>
              </a:rPr>
              <a:t>)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Garamond"/>
                <a:cs typeface="Garamond"/>
              </a:rPr>
              <a:t>(</a:t>
            </a:r>
            <a:r>
              <a:rPr dirty="0" sz="1200" spc="70">
                <a:latin typeface="Lucida Sans Unicode"/>
                <a:cs typeface="Lucida Sans Unicode"/>
              </a:rPr>
              <a:t>j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r</a:t>
            </a:r>
            <a:r>
              <a:rPr dirty="0" sz="1200" spc="7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162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16230" algn="l"/>
                <a:tab pos="3168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A</a:t>
            </a:r>
            <a:r>
              <a:rPr dirty="0" sz="1200" spc="55">
                <a:latin typeface="Garamond"/>
                <a:cs typeface="Garamond"/>
              </a:rPr>
              <a:t>[</a:t>
            </a:r>
            <a:r>
              <a:rPr dirty="0" sz="1200" spc="55">
                <a:latin typeface="Lucida Sans Unicode"/>
                <a:cs typeface="Lucida Sans Unicode"/>
              </a:rPr>
              <a:t>i</a:t>
            </a:r>
            <a:r>
              <a:rPr dirty="0" sz="1200" spc="55">
                <a:latin typeface="Garamond"/>
                <a:cs typeface="Garamond"/>
              </a:rPr>
              <a:t>]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A</a:t>
            </a:r>
            <a:r>
              <a:rPr dirty="0" sz="1200" spc="45">
                <a:latin typeface="Garamond"/>
                <a:cs typeface="Garamond"/>
              </a:rPr>
              <a:t>[</a:t>
            </a:r>
            <a:r>
              <a:rPr dirty="0" sz="1200" spc="45">
                <a:latin typeface="Lucida Sans Unicode"/>
                <a:cs typeface="Lucida Sans Unicode"/>
              </a:rPr>
              <a:t>j</a:t>
            </a:r>
            <a:r>
              <a:rPr dirty="0" sz="1200" spc="45">
                <a:latin typeface="Garamond"/>
                <a:cs typeface="Garamond"/>
              </a:rPr>
              <a:t>])</a:t>
            </a:r>
            <a:endParaRPr sz="1200">
              <a:latin typeface="Garamond"/>
              <a:cs typeface="Garamond"/>
            </a:endParaRPr>
          </a:p>
          <a:p>
            <a:pPr marL="88265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  <a:p>
            <a:pPr marL="8826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 marL="88265">
              <a:lnSpc>
                <a:spcPct val="100000"/>
              </a:lnSpc>
              <a:spcBef>
                <a:spcPts val="5"/>
              </a:spcBef>
              <a:tabLst>
                <a:tab pos="316230" algn="l"/>
              </a:tabLst>
            </a:pPr>
            <a:r>
              <a:rPr dirty="0" sz="1200" spc="-5">
                <a:latin typeface="Times New Roman"/>
                <a:cs typeface="Times New Roman"/>
              </a:rPr>
              <a:t>6	</a:t>
            </a: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Garamond"/>
                <a:cs typeface="Garamond"/>
              </a:rPr>
              <a:t>(</a:t>
            </a:r>
            <a:r>
              <a:rPr dirty="0" sz="1200" spc="95">
                <a:latin typeface="Lucida Sans Unicode"/>
                <a:cs typeface="Lucida Sans Unicode"/>
              </a:rPr>
              <a:t>i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20">
                <a:latin typeface="Segoe UI Symbol"/>
                <a:cs typeface="Segoe UI Symbol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q</a:t>
            </a:r>
            <a:r>
              <a:rPr dirty="0" sz="1200" spc="3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88265">
              <a:lnSpc>
                <a:spcPct val="100000"/>
              </a:lnSpc>
              <a:spcBef>
                <a:spcPts val="5"/>
              </a:spcBef>
              <a:tabLst>
                <a:tab pos="316230" algn="l"/>
              </a:tabLst>
            </a:pPr>
            <a:r>
              <a:rPr dirty="0" sz="1200" spc="-5">
                <a:latin typeface="Times New Roman"/>
                <a:cs typeface="Times New Roman"/>
              </a:rPr>
              <a:t>7	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B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k</a:t>
            </a:r>
            <a:r>
              <a:rPr dirty="0" sz="1100" spc="-35">
                <a:latin typeface="Times New Roman"/>
                <a:cs typeface="Times New Roman"/>
              </a:rPr>
              <a:t>++</a:t>
            </a:r>
            <a:r>
              <a:rPr dirty="0" sz="1100" spc="-1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sz="1200" spc="-10">
                <a:latin typeface="Garamond"/>
                <a:cs typeface="Garamond"/>
              </a:rPr>
              <a:t>[</a:t>
            </a:r>
            <a:r>
              <a:rPr dirty="0" sz="1200" spc="-10">
                <a:latin typeface="Lucida Sans Unicode"/>
                <a:cs typeface="Lucida Sans Unicode"/>
              </a:rPr>
              <a:t>i</a:t>
            </a:r>
            <a:r>
              <a:rPr dirty="0" sz="1100" spc="-10">
                <a:latin typeface="Times New Roman"/>
                <a:cs typeface="Times New Roman"/>
              </a:rPr>
              <a:t>++ 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88265">
              <a:lnSpc>
                <a:spcPct val="100000"/>
              </a:lnSpc>
              <a:spcBef>
                <a:spcPts val="5"/>
              </a:spcBef>
              <a:tabLst>
                <a:tab pos="316230" algn="l"/>
              </a:tabLst>
            </a:pPr>
            <a:r>
              <a:rPr dirty="0" sz="1200" spc="-5">
                <a:latin typeface="Times New Roman"/>
                <a:cs typeface="Times New Roman"/>
              </a:rPr>
              <a:t>8	</a:t>
            </a: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Garamond"/>
                <a:cs typeface="Garamond"/>
              </a:rPr>
              <a:t>(</a:t>
            </a:r>
            <a:r>
              <a:rPr dirty="0" sz="1200" spc="70">
                <a:latin typeface="Lucida Sans Unicode"/>
                <a:cs typeface="Lucida Sans Unicode"/>
              </a:rPr>
              <a:t>j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25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r</a:t>
            </a:r>
            <a:r>
              <a:rPr dirty="0" sz="1200" spc="7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88265">
              <a:lnSpc>
                <a:spcPct val="100000"/>
              </a:lnSpc>
              <a:spcBef>
                <a:spcPts val="5"/>
              </a:spcBef>
              <a:tabLst>
                <a:tab pos="316230" algn="l"/>
              </a:tabLst>
            </a:pPr>
            <a:r>
              <a:rPr dirty="0" sz="1200" spc="-5">
                <a:latin typeface="Times New Roman"/>
                <a:cs typeface="Times New Roman"/>
              </a:rPr>
              <a:t>9	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B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k</a:t>
            </a:r>
            <a:r>
              <a:rPr dirty="0" sz="1100" spc="-35">
                <a:latin typeface="Times New Roman"/>
                <a:cs typeface="Times New Roman"/>
              </a:rPr>
              <a:t>++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j</a:t>
            </a:r>
            <a:r>
              <a:rPr dirty="0" sz="1100" spc="-20">
                <a:latin typeface="Times New Roman"/>
                <a:cs typeface="Times New Roman"/>
              </a:rPr>
              <a:t>++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316230" indent="-3041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10"/>
              <a:tabLst>
                <a:tab pos="316230" algn="l"/>
                <a:tab pos="31686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r</a:t>
            </a:r>
            <a:endParaRPr sz="1200">
              <a:latin typeface="Lucida Sans Unicode"/>
              <a:cs typeface="Lucida Sans Unicode"/>
            </a:endParaRPr>
          </a:p>
          <a:p>
            <a:pPr marL="316230" indent="-3041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10"/>
              <a:tabLst>
                <a:tab pos="316230" algn="l"/>
                <a:tab pos="3168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Garamond"/>
                <a:cs typeface="Garamond"/>
              </a:rPr>
              <a:t>[</a:t>
            </a:r>
            <a:r>
              <a:rPr dirty="0" sz="1200" spc="40">
                <a:latin typeface="Lucida Sans Unicode"/>
                <a:cs typeface="Lucida Sans Unicode"/>
              </a:rPr>
              <a:t>i</a:t>
            </a:r>
            <a:r>
              <a:rPr dirty="0" sz="1200" spc="40">
                <a:latin typeface="Garamond"/>
                <a:cs typeface="Garamond"/>
              </a:rPr>
              <a:t>]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B</a:t>
            </a:r>
            <a:r>
              <a:rPr dirty="0" sz="1200" spc="45">
                <a:latin typeface="Garamond"/>
                <a:cs typeface="Garamond"/>
              </a:rPr>
              <a:t>[</a:t>
            </a:r>
            <a:r>
              <a:rPr dirty="0" sz="1200" spc="45">
                <a:latin typeface="Lucida Sans Unicode"/>
                <a:cs typeface="Lucida Sans Unicode"/>
              </a:rPr>
              <a:t>i</a:t>
            </a:r>
            <a:r>
              <a:rPr dirty="0" sz="1200" spc="4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440179" y="4849058"/>
            <a:ext cx="5350510" cy="2362200"/>
            <a:chOff x="1440179" y="4849058"/>
            <a:chExt cx="5350510" cy="2362200"/>
          </a:xfrm>
        </p:grpSpPr>
        <p:sp>
          <p:nvSpPr>
            <p:cNvPr id="7" name="object 7"/>
            <p:cNvSpPr/>
            <p:nvPr/>
          </p:nvSpPr>
          <p:spPr>
            <a:xfrm>
              <a:off x="1440179" y="4849058"/>
              <a:ext cx="5350510" cy="2362200"/>
            </a:xfrm>
            <a:custGeom>
              <a:avLst/>
              <a:gdLst/>
              <a:ahLst/>
              <a:cxnLst/>
              <a:rect l="l" t="t" r="r" b="b"/>
              <a:pathLst>
                <a:path w="5350509" h="2362200">
                  <a:moveTo>
                    <a:pt x="5350489" y="0"/>
                  </a:moveTo>
                  <a:lnTo>
                    <a:pt x="0" y="0"/>
                  </a:lnTo>
                  <a:lnTo>
                    <a:pt x="0" y="2362001"/>
                  </a:lnTo>
                  <a:lnTo>
                    <a:pt x="5350489" y="2362001"/>
                  </a:lnTo>
                  <a:lnTo>
                    <a:pt x="5350489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574340" y="5740125"/>
              <a:ext cx="429259" cy="355600"/>
            </a:xfrm>
            <a:custGeom>
              <a:avLst/>
              <a:gdLst/>
              <a:ahLst/>
              <a:cxnLst/>
              <a:rect l="l" t="t" r="r" b="b"/>
              <a:pathLst>
                <a:path w="429260" h="355600">
                  <a:moveTo>
                    <a:pt x="0" y="0"/>
                  </a:moveTo>
                  <a:lnTo>
                    <a:pt x="428838" y="355351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24917" y="5700044"/>
              <a:ext cx="92171" cy="84170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999899" y="5742792"/>
              <a:ext cx="379730" cy="353060"/>
            </a:xfrm>
            <a:custGeom>
              <a:avLst/>
              <a:gdLst/>
              <a:ahLst/>
              <a:cxnLst/>
              <a:rect l="l" t="t" r="r" b="b"/>
              <a:pathLst>
                <a:path w="379730" h="353060">
                  <a:moveTo>
                    <a:pt x="379399" y="0"/>
                  </a:moveTo>
                  <a:lnTo>
                    <a:pt x="0" y="352684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36550" y="5700044"/>
              <a:ext cx="88178" cy="8683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5687034" y="5733450"/>
              <a:ext cx="427990" cy="355600"/>
            </a:xfrm>
            <a:custGeom>
              <a:avLst/>
              <a:gdLst/>
              <a:ahLst/>
              <a:cxnLst/>
              <a:rect l="l" t="t" r="r" b="b"/>
              <a:pathLst>
                <a:path w="427989" h="355600">
                  <a:moveTo>
                    <a:pt x="0" y="0"/>
                  </a:moveTo>
                  <a:lnTo>
                    <a:pt x="427497" y="355351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38952" y="5693369"/>
              <a:ext cx="89504" cy="8549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985674" y="5736117"/>
              <a:ext cx="379730" cy="353060"/>
            </a:xfrm>
            <a:custGeom>
              <a:avLst/>
              <a:gdLst/>
              <a:ahLst/>
              <a:cxnLst/>
              <a:rect l="l" t="t" r="r" b="b"/>
              <a:pathLst>
                <a:path w="379729" h="353060">
                  <a:moveTo>
                    <a:pt x="379415" y="0"/>
                  </a:moveTo>
                  <a:lnTo>
                    <a:pt x="0" y="352684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22325" y="5693369"/>
              <a:ext cx="89519" cy="86837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066696" y="6347973"/>
              <a:ext cx="234315" cy="248920"/>
            </a:xfrm>
            <a:custGeom>
              <a:avLst/>
              <a:gdLst/>
              <a:ahLst/>
              <a:cxnLst/>
              <a:rect l="l" t="t" r="r" b="b"/>
              <a:pathLst>
                <a:path w="234314" h="248920">
                  <a:moveTo>
                    <a:pt x="0" y="0"/>
                  </a:moveTo>
                  <a:lnTo>
                    <a:pt x="233781" y="248472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023948" y="6302542"/>
              <a:ext cx="86837" cy="88178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1697979" y="6351981"/>
              <a:ext cx="188595" cy="244475"/>
            </a:xfrm>
            <a:custGeom>
              <a:avLst/>
              <a:gdLst/>
              <a:ahLst/>
              <a:cxnLst/>
              <a:rect l="l" t="t" r="r" b="b"/>
              <a:pathLst>
                <a:path w="188594" h="244475">
                  <a:moveTo>
                    <a:pt x="188366" y="0"/>
                  </a:moveTo>
                  <a:lnTo>
                    <a:pt x="0" y="244464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39589" y="6302542"/>
              <a:ext cx="84155" cy="90845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3120740" y="6341298"/>
              <a:ext cx="233045" cy="248920"/>
            </a:xfrm>
            <a:custGeom>
              <a:avLst/>
              <a:gdLst/>
              <a:ahLst/>
              <a:cxnLst/>
              <a:rect l="l" t="t" r="r" b="b"/>
              <a:pathLst>
                <a:path w="233045" h="248920">
                  <a:moveTo>
                    <a:pt x="0" y="0"/>
                  </a:moveTo>
                  <a:lnTo>
                    <a:pt x="232440" y="248472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077992" y="6295867"/>
              <a:ext cx="86837" cy="89504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752023" y="6345306"/>
              <a:ext cx="187325" cy="244475"/>
            </a:xfrm>
            <a:custGeom>
              <a:avLst/>
              <a:gdLst/>
              <a:ahLst/>
              <a:cxnLst/>
              <a:rect l="l" t="t" r="r" b="b"/>
              <a:pathLst>
                <a:path w="187325" h="244475">
                  <a:moveTo>
                    <a:pt x="187025" y="0"/>
                  </a:moveTo>
                  <a:lnTo>
                    <a:pt x="0" y="244464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94959" y="6295867"/>
              <a:ext cx="82829" cy="90845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5079202" y="6347973"/>
              <a:ext cx="233045" cy="248920"/>
            </a:xfrm>
            <a:custGeom>
              <a:avLst/>
              <a:gdLst/>
              <a:ahLst/>
              <a:cxnLst/>
              <a:rect l="l" t="t" r="r" b="b"/>
              <a:pathLst>
                <a:path w="233045" h="248920">
                  <a:moveTo>
                    <a:pt x="0" y="0"/>
                  </a:moveTo>
                  <a:lnTo>
                    <a:pt x="232440" y="248472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036438" y="6302542"/>
              <a:ext cx="86837" cy="88178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709144" y="6351981"/>
              <a:ext cx="188595" cy="244475"/>
            </a:xfrm>
            <a:custGeom>
              <a:avLst/>
              <a:gdLst/>
              <a:ahLst/>
              <a:cxnLst/>
              <a:rect l="l" t="t" r="r" b="b"/>
              <a:pathLst>
                <a:path w="188595" h="244475">
                  <a:moveTo>
                    <a:pt x="188366" y="0"/>
                  </a:moveTo>
                  <a:lnTo>
                    <a:pt x="0" y="244464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850754" y="6302542"/>
              <a:ext cx="85496" cy="9084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232092" y="6341298"/>
              <a:ext cx="234315" cy="248920"/>
            </a:xfrm>
            <a:custGeom>
              <a:avLst/>
              <a:gdLst/>
              <a:ahLst/>
              <a:cxnLst/>
              <a:rect l="l" t="t" r="r" b="b"/>
              <a:pathLst>
                <a:path w="234314" h="248920">
                  <a:moveTo>
                    <a:pt x="0" y="0"/>
                  </a:moveTo>
                  <a:lnTo>
                    <a:pt x="233781" y="248472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89344" y="6295867"/>
              <a:ext cx="86837" cy="89504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5863376" y="6345306"/>
              <a:ext cx="188595" cy="244475"/>
            </a:xfrm>
            <a:custGeom>
              <a:avLst/>
              <a:gdLst/>
              <a:ahLst/>
              <a:cxnLst/>
              <a:rect l="l" t="t" r="r" b="b"/>
              <a:pathLst>
                <a:path w="188595" h="244475">
                  <a:moveTo>
                    <a:pt x="188366" y="0"/>
                  </a:moveTo>
                  <a:lnTo>
                    <a:pt x="0" y="244464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006327" y="6295867"/>
              <a:ext cx="82829" cy="90845"/>
            </a:xfrm>
            <a:prstGeom prst="rect">
              <a:avLst/>
            </a:prstGeom>
          </p:spPr>
        </p:pic>
      </p:grpSp>
      <p:sp>
        <p:nvSpPr>
          <p:cNvPr id="32" name="object 32"/>
          <p:cNvSpPr txBox="1"/>
          <p:nvPr/>
        </p:nvSpPr>
        <p:spPr>
          <a:xfrm>
            <a:off x="3203569" y="4915858"/>
            <a:ext cx="1707514" cy="212725"/>
          </a:xfrm>
          <a:prstGeom prst="rect">
            <a:avLst/>
          </a:prstGeom>
          <a:solidFill>
            <a:srgbClr val="000080"/>
          </a:solidFill>
          <a:ln w="13939">
            <a:solidFill>
              <a:srgbClr val="FF0000"/>
            </a:solidFill>
          </a:ln>
        </p:spPr>
        <p:txBody>
          <a:bodyPr wrap="square" lIns="0" tIns="7620" rIns="0" bIns="0" rtlCol="0" vert="horz">
            <a:spAutoFit/>
          </a:bodyPr>
          <a:lstStyle/>
          <a:p>
            <a:pPr marL="47625">
              <a:lnSpc>
                <a:spcPct val="100000"/>
              </a:lnSpc>
              <a:spcBef>
                <a:spcPts val="60"/>
              </a:spcBef>
              <a:tabLst>
                <a:tab pos="264795" algn="l"/>
                <a:tab pos="481965" algn="l"/>
                <a:tab pos="698500" algn="l"/>
                <a:tab pos="915669" algn="l"/>
                <a:tab pos="1132840" algn="l"/>
                <a:tab pos="1350010" algn="l"/>
                <a:tab pos="1566545" algn="l"/>
              </a:tabLst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0	1	2	3	4	5	6	7</a:t>
            </a:r>
            <a:endParaRPr sz="12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085877" y="5486297"/>
            <a:ext cx="929005" cy="213995"/>
          </a:xfrm>
          <a:prstGeom prst="rect">
            <a:avLst/>
          </a:prstGeom>
          <a:solidFill>
            <a:srgbClr val="000080"/>
          </a:solidFill>
          <a:ln w="13939">
            <a:solidFill>
              <a:srgbClr val="FF0000"/>
            </a:solidFill>
          </a:ln>
        </p:spPr>
        <p:txBody>
          <a:bodyPr wrap="square" lIns="0" tIns="7620" rIns="0" bIns="0" rtlCol="0" vert="horz">
            <a:spAutoFit/>
          </a:bodyPr>
          <a:lstStyle/>
          <a:p>
            <a:pPr marL="82550">
              <a:lnSpc>
                <a:spcPct val="100000"/>
              </a:lnSpc>
              <a:spcBef>
                <a:spcPts val="60"/>
              </a:spcBef>
              <a:tabLst>
                <a:tab pos="299720" algn="l"/>
                <a:tab pos="516255" algn="l"/>
                <a:tab pos="733425" algn="l"/>
              </a:tabLst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0	1	3	6</a:t>
            </a:r>
            <a:endParaRPr sz="12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074712" y="5486297"/>
            <a:ext cx="929005" cy="213995"/>
          </a:xfrm>
          <a:prstGeom prst="rect">
            <a:avLst/>
          </a:prstGeom>
          <a:solidFill>
            <a:srgbClr val="000080"/>
          </a:solidFill>
          <a:ln w="13939">
            <a:solidFill>
              <a:srgbClr val="FF0000"/>
            </a:solidFill>
          </a:ln>
        </p:spPr>
        <p:txBody>
          <a:bodyPr wrap="square" lIns="0" tIns="11430" rIns="0" bIns="0" rtlCol="0" vert="horz">
            <a:spAutoFit/>
          </a:bodyPr>
          <a:lstStyle/>
          <a:p>
            <a:pPr marL="102235">
              <a:lnSpc>
                <a:spcPct val="100000"/>
              </a:lnSpc>
              <a:spcBef>
                <a:spcPts val="90"/>
              </a:spcBef>
              <a:tabLst>
                <a:tab pos="319405" algn="l"/>
                <a:tab pos="536575" algn="l"/>
                <a:tab pos="753745" algn="l"/>
              </a:tabLst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2	4	5	7</a:t>
            </a:r>
            <a:endParaRPr sz="12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779468" y="6095486"/>
            <a:ext cx="440055" cy="213995"/>
          </a:xfrm>
          <a:prstGeom prst="rect">
            <a:avLst/>
          </a:prstGeom>
          <a:solidFill>
            <a:srgbClr val="000080"/>
          </a:solidFill>
          <a:ln w="13939">
            <a:solidFill>
              <a:srgbClr val="FF0000"/>
            </a:solidFill>
          </a:ln>
        </p:spPr>
        <p:txBody>
          <a:bodyPr wrap="square" lIns="0" tIns="7620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60"/>
              </a:spcBef>
              <a:tabLst>
                <a:tab pos="267335" algn="l"/>
              </a:tabLst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5	7</a:t>
            </a:r>
            <a:endParaRPr sz="12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814812" y="6095486"/>
            <a:ext cx="438784" cy="213995"/>
          </a:xfrm>
          <a:prstGeom prst="rect">
            <a:avLst/>
          </a:prstGeom>
          <a:solidFill>
            <a:srgbClr val="000080"/>
          </a:solidFill>
          <a:ln w="13939">
            <a:solidFill>
              <a:srgbClr val="FF0000"/>
            </a:solidFill>
          </a:ln>
        </p:spPr>
        <p:txBody>
          <a:bodyPr wrap="square" lIns="0" tIns="18415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45"/>
              </a:spcBef>
              <a:tabLst>
                <a:tab pos="288925" algn="l"/>
              </a:tabLst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2	4</a:t>
            </a:r>
            <a:endParaRPr sz="12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758568" y="6095486"/>
            <a:ext cx="440055" cy="213995"/>
          </a:xfrm>
          <a:prstGeom prst="rect">
            <a:avLst/>
          </a:prstGeom>
          <a:solidFill>
            <a:srgbClr val="000080"/>
          </a:solidFill>
          <a:ln w="13939">
            <a:solidFill>
              <a:srgbClr val="FF0000"/>
            </a:solidFill>
          </a:ln>
        </p:spPr>
        <p:txBody>
          <a:bodyPr wrap="square" lIns="0" tIns="7620" rIns="0" bIns="0" rtlCol="0" vert="horz">
            <a:spAutoFit/>
          </a:bodyPr>
          <a:lstStyle/>
          <a:p>
            <a:pPr marL="85090">
              <a:lnSpc>
                <a:spcPct val="100000"/>
              </a:lnSpc>
              <a:spcBef>
                <a:spcPts val="60"/>
              </a:spcBef>
              <a:tabLst>
                <a:tab pos="302260" algn="l"/>
              </a:tabLst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1	6</a:t>
            </a:r>
            <a:endParaRPr sz="12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922157" y="6095486"/>
            <a:ext cx="440055" cy="213995"/>
          </a:xfrm>
          <a:prstGeom prst="rect">
            <a:avLst/>
          </a:prstGeom>
          <a:solidFill>
            <a:srgbClr val="000080"/>
          </a:solidFill>
          <a:ln w="13939">
            <a:solidFill>
              <a:srgbClr val="FF0000"/>
            </a:solidFill>
          </a:ln>
        </p:spPr>
        <p:txBody>
          <a:bodyPr wrap="square" lIns="0" tIns="5080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40"/>
              </a:spcBef>
              <a:tabLst>
                <a:tab pos="306070" algn="l"/>
              </a:tabLst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0	3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1540042" y="6589461"/>
            <a:ext cx="252095" cy="229235"/>
            <a:chOff x="1540042" y="6589461"/>
            <a:chExt cx="252095" cy="229235"/>
          </a:xfrm>
        </p:grpSpPr>
        <p:sp>
          <p:nvSpPr>
            <p:cNvPr id="40" name="object 40"/>
            <p:cNvSpPr/>
            <p:nvPr/>
          </p:nvSpPr>
          <p:spPr>
            <a:xfrm>
              <a:off x="1547027" y="6596446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237794" y="0"/>
                  </a:moveTo>
                  <a:lnTo>
                    <a:pt x="0" y="0"/>
                  </a:lnTo>
                  <a:lnTo>
                    <a:pt x="0" y="215082"/>
                  </a:lnTo>
                  <a:lnTo>
                    <a:pt x="237794" y="215082"/>
                  </a:lnTo>
                  <a:lnTo>
                    <a:pt x="237794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1547027" y="6596446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0" y="215082"/>
                  </a:moveTo>
                  <a:lnTo>
                    <a:pt x="237794" y="215082"/>
                  </a:lnTo>
                  <a:lnTo>
                    <a:pt x="237794" y="0"/>
                  </a:lnTo>
                  <a:lnTo>
                    <a:pt x="0" y="0"/>
                  </a:lnTo>
                  <a:lnTo>
                    <a:pt x="0" y="215082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/>
          <p:cNvSpPr txBox="1"/>
          <p:nvPr/>
        </p:nvSpPr>
        <p:spPr>
          <a:xfrm>
            <a:off x="1649894" y="6587952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2166589" y="6589461"/>
            <a:ext cx="252095" cy="229235"/>
            <a:chOff x="2166589" y="6589461"/>
            <a:chExt cx="252095" cy="229235"/>
          </a:xfrm>
        </p:grpSpPr>
        <p:sp>
          <p:nvSpPr>
            <p:cNvPr id="44" name="object 44"/>
            <p:cNvSpPr/>
            <p:nvPr/>
          </p:nvSpPr>
          <p:spPr>
            <a:xfrm>
              <a:off x="2173574" y="6596446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237792" y="0"/>
                  </a:moveTo>
                  <a:lnTo>
                    <a:pt x="0" y="0"/>
                  </a:lnTo>
                  <a:lnTo>
                    <a:pt x="0" y="215082"/>
                  </a:lnTo>
                  <a:lnTo>
                    <a:pt x="237792" y="215082"/>
                  </a:lnTo>
                  <a:lnTo>
                    <a:pt x="237792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173574" y="6596446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0" y="215082"/>
                  </a:moveTo>
                  <a:lnTo>
                    <a:pt x="237792" y="215082"/>
                  </a:lnTo>
                  <a:lnTo>
                    <a:pt x="237792" y="0"/>
                  </a:lnTo>
                  <a:lnTo>
                    <a:pt x="0" y="0"/>
                  </a:lnTo>
                  <a:lnTo>
                    <a:pt x="0" y="215082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/>
          <p:cNvSpPr txBox="1"/>
          <p:nvPr/>
        </p:nvSpPr>
        <p:spPr>
          <a:xfrm>
            <a:off x="2252382" y="6587952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7" name="object 47"/>
          <p:cNvGrpSpPr/>
          <p:nvPr/>
        </p:nvGrpSpPr>
        <p:grpSpPr>
          <a:xfrm>
            <a:off x="2676900" y="6589461"/>
            <a:ext cx="252095" cy="229235"/>
            <a:chOff x="2676900" y="6589461"/>
            <a:chExt cx="252095" cy="229235"/>
          </a:xfrm>
        </p:grpSpPr>
        <p:sp>
          <p:nvSpPr>
            <p:cNvPr id="48" name="object 48"/>
            <p:cNvSpPr/>
            <p:nvPr/>
          </p:nvSpPr>
          <p:spPr>
            <a:xfrm>
              <a:off x="2683885" y="6596446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237794" y="0"/>
                  </a:moveTo>
                  <a:lnTo>
                    <a:pt x="0" y="0"/>
                  </a:lnTo>
                  <a:lnTo>
                    <a:pt x="0" y="215082"/>
                  </a:lnTo>
                  <a:lnTo>
                    <a:pt x="237794" y="215082"/>
                  </a:lnTo>
                  <a:lnTo>
                    <a:pt x="237794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683885" y="6596446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0" y="215082"/>
                  </a:moveTo>
                  <a:lnTo>
                    <a:pt x="237794" y="215082"/>
                  </a:lnTo>
                  <a:lnTo>
                    <a:pt x="237794" y="0"/>
                  </a:lnTo>
                  <a:lnTo>
                    <a:pt x="0" y="0"/>
                  </a:lnTo>
                  <a:lnTo>
                    <a:pt x="0" y="215082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" name="object 50"/>
          <p:cNvSpPr txBox="1"/>
          <p:nvPr/>
        </p:nvSpPr>
        <p:spPr>
          <a:xfrm>
            <a:off x="2754692" y="6585272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3279414" y="6589461"/>
            <a:ext cx="254635" cy="229235"/>
            <a:chOff x="3279414" y="6589461"/>
            <a:chExt cx="254635" cy="229235"/>
          </a:xfrm>
        </p:grpSpPr>
        <p:sp>
          <p:nvSpPr>
            <p:cNvPr id="52" name="object 52"/>
            <p:cNvSpPr/>
            <p:nvPr/>
          </p:nvSpPr>
          <p:spPr>
            <a:xfrm>
              <a:off x="3286399" y="6596446"/>
              <a:ext cx="240665" cy="215265"/>
            </a:xfrm>
            <a:custGeom>
              <a:avLst/>
              <a:gdLst/>
              <a:ahLst/>
              <a:cxnLst/>
              <a:rect l="l" t="t" r="r" b="b"/>
              <a:pathLst>
                <a:path w="240664" h="215265">
                  <a:moveTo>
                    <a:pt x="240464" y="0"/>
                  </a:moveTo>
                  <a:lnTo>
                    <a:pt x="0" y="0"/>
                  </a:lnTo>
                  <a:lnTo>
                    <a:pt x="0" y="215082"/>
                  </a:lnTo>
                  <a:lnTo>
                    <a:pt x="240464" y="215082"/>
                  </a:lnTo>
                  <a:lnTo>
                    <a:pt x="240464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286399" y="6596446"/>
              <a:ext cx="240665" cy="215265"/>
            </a:xfrm>
            <a:custGeom>
              <a:avLst/>
              <a:gdLst/>
              <a:ahLst/>
              <a:cxnLst/>
              <a:rect l="l" t="t" r="r" b="b"/>
              <a:pathLst>
                <a:path w="240664" h="215265">
                  <a:moveTo>
                    <a:pt x="0" y="215082"/>
                  </a:moveTo>
                  <a:lnTo>
                    <a:pt x="240464" y="215082"/>
                  </a:lnTo>
                  <a:lnTo>
                    <a:pt x="240464" y="0"/>
                  </a:lnTo>
                  <a:lnTo>
                    <a:pt x="0" y="0"/>
                  </a:lnTo>
                  <a:lnTo>
                    <a:pt x="0" y="215082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/>
          <p:cNvSpPr txBox="1"/>
          <p:nvPr/>
        </p:nvSpPr>
        <p:spPr>
          <a:xfrm>
            <a:off x="3355859" y="6575925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5" name="object 55"/>
          <p:cNvGrpSpPr/>
          <p:nvPr/>
        </p:nvGrpSpPr>
        <p:grpSpPr>
          <a:xfrm>
            <a:off x="4551207" y="6589461"/>
            <a:ext cx="214629" cy="229235"/>
            <a:chOff x="4551207" y="6589461"/>
            <a:chExt cx="214629" cy="229235"/>
          </a:xfrm>
        </p:grpSpPr>
        <p:sp>
          <p:nvSpPr>
            <p:cNvPr id="56" name="object 56"/>
            <p:cNvSpPr/>
            <p:nvPr/>
          </p:nvSpPr>
          <p:spPr>
            <a:xfrm>
              <a:off x="4558192" y="6596446"/>
              <a:ext cx="200660" cy="215265"/>
            </a:xfrm>
            <a:custGeom>
              <a:avLst/>
              <a:gdLst/>
              <a:ahLst/>
              <a:cxnLst/>
              <a:rect l="l" t="t" r="r" b="b"/>
              <a:pathLst>
                <a:path w="200660" h="215265">
                  <a:moveTo>
                    <a:pt x="200387" y="0"/>
                  </a:moveTo>
                  <a:lnTo>
                    <a:pt x="0" y="0"/>
                  </a:lnTo>
                  <a:lnTo>
                    <a:pt x="0" y="215082"/>
                  </a:lnTo>
                  <a:lnTo>
                    <a:pt x="200387" y="215082"/>
                  </a:lnTo>
                  <a:lnTo>
                    <a:pt x="200387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558192" y="6596446"/>
              <a:ext cx="200660" cy="215265"/>
            </a:xfrm>
            <a:custGeom>
              <a:avLst/>
              <a:gdLst/>
              <a:ahLst/>
              <a:cxnLst/>
              <a:rect l="l" t="t" r="r" b="b"/>
              <a:pathLst>
                <a:path w="200660" h="215265">
                  <a:moveTo>
                    <a:pt x="0" y="215082"/>
                  </a:moveTo>
                  <a:lnTo>
                    <a:pt x="200387" y="215082"/>
                  </a:lnTo>
                  <a:lnTo>
                    <a:pt x="200387" y="0"/>
                  </a:lnTo>
                  <a:lnTo>
                    <a:pt x="0" y="0"/>
                  </a:lnTo>
                  <a:lnTo>
                    <a:pt x="0" y="215082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/>
          <p:cNvSpPr txBox="1"/>
          <p:nvPr/>
        </p:nvSpPr>
        <p:spPr>
          <a:xfrm>
            <a:off x="4615635" y="6573246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5134990" y="6588128"/>
            <a:ext cx="252095" cy="227965"/>
            <a:chOff x="5134990" y="6588128"/>
            <a:chExt cx="252095" cy="227965"/>
          </a:xfrm>
        </p:grpSpPr>
        <p:sp>
          <p:nvSpPr>
            <p:cNvPr id="60" name="object 60"/>
            <p:cNvSpPr/>
            <p:nvPr/>
          </p:nvSpPr>
          <p:spPr>
            <a:xfrm>
              <a:off x="5141975" y="6595113"/>
              <a:ext cx="238125" cy="213995"/>
            </a:xfrm>
            <a:custGeom>
              <a:avLst/>
              <a:gdLst/>
              <a:ahLst/>
              <a:cxnLst/>
              <a:rect l="l" t="t" r="r" b="b"/>
              <a:pathLst>
                <a:path w="238125" h="213995">
                  <a:moveTo>
                    <a:pt x="237794" y="0"/>
                  </a:moveTo>
                  <a:lnTo>
                    <a:pt x="0" y="0"/>
                  </a:lnTo>
                  <a:lnTo>
                    <a:pt x="0" y="213747"/>
                  </a:lnTo>
                  <a:lnTo>
                    <a:pt x="237794" y="213747"/>
                  </a:lnTo>
                  <a:lnTo>
                    <a:pt x="237794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5141975" y="6595113"/>
              <a:ext cx="238125" cy="213995"/>
            </a:xfrm>
            <a:custGeom>
              <a:avLst/>
              <a:gdLst/>
              <a:ahLst/>
              <a:cxnLst/>
              <a:rect l="l" t="t" r="r" b="b"/>
              <a:pathLst>
                <a:path w="238125" h="213995">
                  <a:moveTo>
                    <a:pt x="0" y="213747"/>
                  </a:moveTo>
                  <a:lnTo>
                    <a:pt x="237794" y="213747"/>
                  </a:lnTo>
                  <a:lnTo>
                    <a:pt x="237794" y="0"/>
                  </a:lnTo>
                  <a:lnTo>
                    <a:pt x="0" y="0"/>
                  </a:lnTo>
                  <a:lnTo>
                    <a:pt x="0" y="213747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/>
          <p:cNvSpPr txBox="1"/>
          <p:nvPr/>
        </p:nvSpPr>
        <p:spPr>
          <a:xfrm>
            <a:off x="5218122" y="6598632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5701431" y="6589461"/>
            <a:ext cx="252095" cy="229235"/>
            <a:chOff x="5701431" y="6589461"/>
            <a:chExt cx="252095" cy="229235"/>
          </a:xfrm>
        </p:grpSpPr>
        <p:sp>
          <p:nvSpPr>
            <p:cNvPr id="64" name="object 64"/>
            <p:cNvSpPr/>
            <p:nvPr/>
          </p:nvSpPr>
          <p:spPr>
            <a:xfrm>
              <a:off x="5708416" y="6596446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237792" y="0"/>
                  </a:moveTo>
                  <a:lnTo>
                    <a:pt x="0" y="0"/>
                  </a:lnTo>
                  <a:lnTo>
                    <a:pt x="0" y="215082"/>
                  </a:lnTo>
                  <a:lnTo>
                    <a:pt x="237792" y="215082"/>
                  </a:lnTo>
                  <a:lnTo>
                    <a:pt x="237792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5708416" y="6596446"/>
              <a:ext cx="238125" cy="215265"/>
            </a:xfrm>
            <a:custGeom>
              <a:avLst/>
              <a:gdLst/>
              <a:ahLst/>
              <a:cxnLst/>
              <a:rect l="l" t="t" r="r" b="b"/>
              <a:pathLst>
                <a:path w="238125" h="215265">
                  <a:moveTo>
                    <a:pt x="0" y="215082"/>
                  </a:moveTo>
                  <a:lnTo>
                    <a:pt x="237792" y="215082"/>
                  </a:lnTo>
                  <a:lnTo>
                    <a:pt x="237792" y="0"/>
                  </a:lnTo>
                  <a:lnTo>
                    <a:pt x="0" y="0"/>
                  </a:lnTo>
                  <a:lnTo>
                    <a:pt x="0" y="215082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6" name="object 66"/>
          <p:cNvSpPr txBox="1"/>
          <p:nvPr/>
        </p:nvSpPr>
        <p:spPr>
          <a:xfrm>
            <a:off x="5785889" y="6573246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6354693" y="6577445"/>
            <a:ext cx="253365" cy="227965"/>
            <a:chOff x="6354693" y="6577445"/>
            <a:chExt cx="253365" cy="227965"/>
          </a:xfrm>
        </p:grpSpPr>
        <p:sp>
          <p:nvSpPr>
            <p:cNvPr id="68" name="object 68"/>
            <p:cNvSpPr/>
            <p:nvPr/>
          </p:nvSpPr>
          <p:spPr>
            <a:xfrm>
              <a:off x="6361678" y="6584430"/>
              <a:ext cx="239395" cy="213995"/>
            </a:xfrm>
            <a:custGeom>
              <a:avLst/>
              <a:gdLst/>
              <a:ahLst/>
              <a:cxnLst/>
              <a:rect l="l" t="t" r="r" b="b"/>
              <a:pathLst>
                <a:path w="239395" h="213995">
                  <a:moveTo>
                    <a:pt x="239130" y="0"/>
                  </a:moveTo>
                  <a:lnTo>
                    <a:pt x="0" y="0"/>
                  </a:lnTo>
                  <a:lnTo>
                    <a:pt x="0" y="213747"/>
                  </a:lnTo>
                  <a:lnTo>
                    <a:pt x="239130" y="213747"/>
                  </a:lnTo>
                  <a:lnTo>
                    <a:pt x="239130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6361678" y="6584430"/>
              <a:ext cx="239395" cy="213995"/>
            </a:xfrm>
            <a:custGeom>
              <a:avLst/>
              <a:gdLst/>
              <a:ahLst/>
              <a:cxnLst/>
              <a:rect l="l" t="t" r="r" b="b"/>
              <a:pathLst>
                <a:path w="239395" h="213995">
                  <a:moveTo>
                    <a:pt x="0" y="213747"/>
                  </a:moveTo>
                  <a:lnTo>
                    <a:pt x="239130" y="213747"/>
                  </a:lnTo>
                  <a:lnTo>
                    <a:pt x="239130" y="0"/>
                  </a:lnTo>
                  <a:lnTo>
                    <a:pt x="0" y="0"/>
                  </a:lnTo>
                  <a:lnTo>
                    <a:pt x="0" y="213747"/>
                  </a:lnTo>
                  <a:close/>
                </a:path>
              </a:pathLst>
            </a:custGeom>
            <a:ln w="139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0" name="object 70"/>
          <p:cNvSpPr txBox="1"/>
          <p:nvPr/>
        </p:nvSpPr>
        <p:spPr>
          <a:xfrm>
            <a:off x="6423124" y="6567911"/>
            <a:ext cx="9969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00" spc="15">
                <a:solidFill>
                  <a:srgbClr val="FFFFFF"/>
                </a:solidFill>
                <a:latin typeface="Arial"/>
                <a:cs typeface="Arial"/>
              </a:rPr>
              <a:t>0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2594102" y="5106903"/>
            <a:ext cx="3025140" cy="1774189"/>
            <a:chOff x="2594102" y="5106903"/>
            <a:chExt cx="3025140" cy="1774189"/>
          </a:xfrm>
        </p:grpSpPr>
        <p:sp>
          <p:nvSpPr>
            <p:cNvPr id="72" name="object 72"/>
            <p:cNvSpPr/>
            <p:nvPr/>
          </p:nvSpPr>
          <p:spPr>
            <a:xfrm>
              <a:off x="2601071" y="5142976"/>
              <a:ext cx="1395095" cy="343535"/>
            </a:xfrm>
            <a:custGeom>
              <a:avLst/>
              <a:gdLst/>
              <a:ahLst/>
              <a:cxnLst/>
              <a:rect l="l" t="t" r="r" b="b"/>
              <a:pathLst>
                <a:path w="1395095" h="343535">
                  <a:moveTo>
                    <a:pt x="1394688" y="0"/>
                  </a:moveTo>
                  <a:lnTo>
                    <a:pt x="0" y="343326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3" name="object 7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966377" y="5108244"/>
              <a:ext cx="89504" cy="80147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4168094" y="5142976"/>
              <a:ext cx="1444625" cy="343535"/>
            </a:xfrm>
            <a:custGeom>
              <a:avLst/>
              <a:gdLst/>
              <a:ahLst/>
              <a:cxnLst/>
              <a:rect l="l" t="t" r="r" b="b"/>
              <a:pathLst>
                <a:path w="1444625" h="343535">
                  <a:moveTo>
                    <a:pt x="0" y="0"/>
                  </a:moveTo>
                  <a:lnTo>
                    <a:pt x="1444127" y="343326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5" name="object 7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106646" y="5106903"/>
              <a:ext cx="90845" cy="81488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4055881" y="535537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65"/>
                  </a:moveTo>
                  <a:lnTo>
                    <a:pt x="6969" y="13365"/>
                  </a:lnTo>
                </a:path>
              </a:pathLst>
            </a:custGeom>
            <a:ln w="2673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055881" y="540882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055881" y="546225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055881" y="551568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65"/>
                  </a:moveTo>
                  <a:lnTo>
                    <a:pt x="6969" y="13365"/>
                  </a:lnTo>
                </a:path>
              </a:pathLst>
            </a:custGeom>
            <a:ln w="2673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055881" y="556913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055881" y="562256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4055881" y="567599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65"/>
                  </a:moveTo>
                  <a:lnTo>
                    <a:pt x="6969" y="13365"/>
                  </a:lnTo>
                </a:path>
              </a:pathLst>
            </a:custGeom>
            <a:ln w="2673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4055881" y="572944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4055881" y="578287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055881" y="583632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055881" y="588975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055881" y="594318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055881" y="5996630"/>
              <a:ext cx="0" cy="28575"/>
            </a:xfrm>
            <a:custGeom>
              <a:avLst/>
              <a:gdLst/>
              <a:ahLst/>
              <a:cxnLst/>
              <a:rect l="l" t="t" r="r" b="b"/>
              <a:pathLst>
                <a:path w="0" h="28575">
                  <a:moveTo>
                    <a:pt x="0" y="0"/>
                  </a:moveTo>
                  <a:lnTo>
                    <a:pt x="0" y="28041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4048912" y="6064760"/>
              <a:ext cx="13970" cy="53975"/>
            </a:xfrm>
            <a:custGeom>
              <a:avLst/>
              <a:gdLst/>
              <a:ahLst/>
              <a:cxnLst/>
              <a:rect l="l" t="t" r="r" b="b"/>
              <a:pathLst>
                <a:path w="13970" h="53975">
                  <a:moveTo>
                    <a:pt x="0" y="0"/>
                  </a:moveTo>
                  <a:lnTo>
                    <a:pt x="13939" y="0"/>
                  </a:lnTo>
                </a:path>
                <a:path w="13970" h="53975">
                  <a:moveTo>
                    <a:pt x="0" y="53431"/>
                  </a:moveTo>
                  <a:lnTo>
                    <a:pt x="13939" y="53431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4055881" y="615826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65"/>
                  </a:moveTo>
                  <a:lnTo>
                    <a:pt x="6969" y="13365"/>
                  </a:lnTo>
                </a:path>
              </a:pathLst>
            </a:custGeom>
            <a:ln w="2673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4048912" y="6225070"/>
              <a:ext cx="13970" cy="53975"/>
            </a:xfrm>
            <a:custGeom>
              <a:avLst/>
              <a:gdLst/>
              <a:ahLst/>
              <a:cxnLst/>
              <a:rect l="l" t="t" r="r" b="b"/>
              <a:pathLst>
                <a:path w="13970" h="53975">
                  <a:moveTo>
                    <a:pt x="0" y="0"/>
                  </a:moveTo>
                  <a:lnTo>
                    <a:pt x="13939" y="0"/>
                  </a:lnTo>
                </a:path>
                <a:path w="13970" h="53975">
                  <a:moveTo>
                    <a:pt x="0" y="53431"/>
                  </a:moveTo>
                  <a:lnTo>
                    <a:pt x="13939" y="53431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4055881" y="631857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65"/>
                  </a:moveTo>
                  <a:lnTo>
                    <a:pt x="6969" y="13365"/>
                  </a:lnTo>
                </a:path>
              </a:pathLst>
            </a:custGeom>
            <a:ln w="2673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4055881" y="6372021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4055881" y="642545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055881" y="647888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65"/>
                  </a:moveTo>
                  <a:lnTo>
                    <a:pt x="6969" y="13365"/>
                  </a:lnTo>
                </a:path>
              </a:pathLst>
            </a:custGeom>
            <a:ln w="2673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4048912" y="6545689"/>
              <a:ext cx="13970" cy="53975"/>
            </a:xfrm>
            <a:custGeom>
              <a:avLst/>
              <a:gdLst/>
              <a:ahLst/>
              <a:cxnLst/>
              <a:rect l="l" t="t" r="r" b="b"/>
              <a:pathLst>
                <a:path w="13970" h="53975">
                  <a:moveTo>
                    <a:pt x="0" y="0"/>
                  </a:moveTo>
                  <a:lnTo>
                    <a:pt x="13939" y="0"/>
                  </a:lnTo>
                </a:path>
                <a:path w="13970" h="53975">
                  <a:moveTo>
                    <a:pt x="0" y="53431"/>
                  </a:moveTo>
                  <a:lnTo>
                    <a:pt x="13939" y="53431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055881" y="663919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65"/>
                  </a:moveTo>
                  <a:lnTo>
                    <a:pt x="6969" y="13365"/>
                  </a:lnTo>
                </a:path>
              </a:pathLst>
            </a:custGeom>
            <a:ln w="2673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4055881" y="6692641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4055881" y="6746072"/>
              <a:ext cx="0" cy="28575"/>
            </a:xfrm>
            <a:custGeom>
              <a:avLst/>
              <a:gdLst/>
              <a:ahLst/>
              <a:cxnLst/>
              <a:rect l="l" t="t" r="r" b="b"/>
              <a:pathLst>
                <a:path w="0" h="28575">
                  <a:moveTo>
                    <a:pt x="0" y="0"/>
                  </a:moveTo>
                  <a:lnTo>
                    <a:pt x="0" y="28056"/>
                  </a:lnTo>
                </a:path>
              </a:pathLst>
            </a:custGeom>
            <a:ln w="139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4055881" y="680084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4055881" y="6854291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-6969" y="13357"/>
                  </a:moveTo>
                  <a:lnTo>
                    <a:pt x="6969" y="13357"/>
                  </a:lnTo>
                </a:path>
              </a:pathLst>
            </a:custGeom>
            <a:ln w="267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4014459" y="5292587"/>
              <a:ext cx="83185" cy="83185"/>
            </a:xfrm>
            <a:custGeom>
              <a:avLst/>
              <a:gdLst/>
              <a:ahLst/>
              <a:cxnLst/>
              <a:rect l="l" t="t" r="r" b="b"/>
              <a:pathLst>
                <a:path w="83185" h="83185">
                  <a:moveTo>
                    <a:pt x="41422" y="0"/>
                  </a:moveTo>
                  <a:lnTo>
                    <a:pt x="0" y="82829"/>
                  </a:lnTo>
                  <a:lnTo>
                    <a:pt x="5349" y="80162"/>
                  </a:lnTo>
                  <a:lnTo>
                    <a:pt x="9357" y="78821"/>
                  </a:lnTo>
                  <a:lnTo>
                    <a:pt x="14706" y="77495"/>
                  </a:lnTo>
                  <a:lnTo>
                    <a:pt x="18714" y="76154"/>
                  </a:lnTo>
                  <a:lnTo>
                    <a:pt x="29397" y="73487"/>
                  </a:lnTo>
                  <a:lnTo>
                    <a:pt x="54772" y="73487"/>
                  </a:lnTo>
                  <a:lnTo>
                    <a:pt x="58780" y="74813"/>
                  </a:lnTo>
                  <a:lnTo>
                    <a:pt x="69479" y="77495"/>
                  </a:lnTo>
                  <a:lnTo>
                    <a:pt x="73487" y="78821"/>
                  </a:lnTo>
                  <a:lnTo>
                    <a:pt x="78821" y="80162"/>
                  </a:lnTo>
                  <a:lnTo>
                    <a:pt x="82829" y="82829"/>
                  </a:lnTo>
                  <a:lnTo>
                    <a:pt x="41422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3" name="object 103"/>
          <p:cNvSpPr txBox="1"/>
          <p:nvPr/>
        </p:nvSpPr>
        <p:spPr>
          <a:xfrm>
            <a:off x="901699" y="6883999"/>
            <a:ext cx="6365240" cy="20993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R="46355">
              <a:lnSpc>
                <a:spcPct val="100000"/>
              </a:lnSpc>
              <a:spcBef>
                <a:spcPts val="130"/>
              </a:spcBef>
            </a:pPr>
            <a:r>
              <a:rPr dirty="0" sz="1550" spc="15">
                <a:solidFill>
                  <a:srgbClr val="FFFFFF"/>
                </a:solidFill>
                <a:latin typeface="Arial"/>
                <a:cs typeface="Arial"/>
              </a:rPr>
              <a:t>merge</a:t>
            </a:r>
            <a:endParaRPr sz="1550">
              <a:latin typeface="Arial"/>
              <a:cs typeface="Arial"/>
            </a:endParaRPr>
          </a:p>
          <a:p>
            <a:pPr algn="ctr" marL="60325">
              <a:lnSpc>
                <a:spcPct val="100000"/>
              </a:lnSpc>
              <a:spcBef>
                <a:spcPts val="1200"/>
              </a:spcBef>
            </a:pPr>
            <a:r>
              <a:rPr dirty="0" sz="1200" spc="-10">
                <a:latin typeface="Times New Roman"/>
                <a:cs typeface="Times New Roman"/>
              </a:rPr>
              <a:t>Figure 3.2: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</a:t>
            </a:r>
            <a:r>
              <a:rPr dirty="0" sz="1200" spc="-5">
                <a:latin typeface="Times New Roman"/>
                <a:cs typeface="Times New Roman"/>
              </a:rPr>
              <a:t> sort: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combine</a:t>
            </a:r>
            <a:r>
              <a:rPr dirty="0" sz="1200" spc="-5">
                <a:latin typeface="Times New Roman"/>
                <a:cs typeface="Times New Roman"/>
              </a:rPr>
              <a:t> phase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3.1.1	Analysis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of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Merge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Sort</a:t>
            </a:r>
            <a:endParaRPr sz="1400">
              <a:latin typeface="Times New Roman"/>
              <a:cs typeface="Times New Roman"/>
            </a:endParaRPr>
          </a:p>
          <a:p>
            <a:pPr marL="12700" marR="5080" indent="-635">
              <a:lnSpc>
                <a:spcPct val="100000"/>
              </a:lnSpc>
              <a:spcBef>
                <a:spcPts val="1350"/>
              </a:spcBef>
            </a:pP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procedure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Merge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A,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q,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r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r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2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length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sub-arrays.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? 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contains </a:t>
            </a:r>
            <a:r>
              <a:rPr dirty="0" sz="1200" spc="-10">
                <a:latin typeface="Times New Roman"/>
                <a:cs typeface="Times New Roman"/>
              </a:rPr>
              <a:t>four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(none</a:t>
            </a:r>
            <a:r>
              <a:rPr dirty="0" sz="1200" spc="-5">
                <a:latin typeface="Times New Roman"/>
                <a:cs typeface="Times New Roman"/>
              </a:rPr>
              <a:t> nested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other).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easy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</a:t>
            </a:r>
            <a:r>
              <a:rPr dirty="0" sz="1200" spc="-5">
                <a:latin typeface="Times New Roman"/>
                <a:cs typeface="Times New Roman"/>
              </a:rPr>
              <a:t>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executed</a:t>
            </a:r>
            <a:r>
              <a:rPr dirty="0" sz="1200" spc="-5">
                <a:latin typeface="Times New Roman"/>
                <a:cs typeface="Times New Roman"/>
              </a:rPr>
              <a:t> 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(If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bit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careful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actually see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while-loops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48" y="521401"/>
            <a:ext cx="6426200" cy="29457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010535" algn="l"/>
              </a:tabLst>
            </a:pPr>
            <a:r>
              <a:rPr dirty="0" sz="1200" spc="-5">
                <a:latin typeface="Times New Roman"/>
                <a:cs typeface="Times New Roman"/>
              </a:rPr>
              <a:t>30	CHAPTER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DIVIDE AND </a:t>
            </a:r>
            <a:r>
              <a:rPr dirty="0" sz="1200" spc="-10">
                <a:latin typeface="Times New Roman"/>
                <a:cs typeface="Times New Roman"/>
              </a:rPr>
              <a:t>CONQUER </a:t>
            </a:r>
            <a:r>
              <a:rPr dirty="0" sz="1200" spc="-20">
                <a:latin typeface="Times New Roman"/>
                <a:cs typeface="Times New Roman"/>
              </a:rPr>
              <a:t>STRATEGY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123189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together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only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copies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B</a:t>
            </a:r>
            <a:r>
              <a:rPr dirty="0" sz="1200" spc="4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only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elements.)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Θ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asymptotic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notation,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(We’ll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later </a:t>
            </a:r>
            <a:r>
              <a:rPr dirty="0" sz="1200" spc="-10">
                <a:latin typeface="Times New Roman"/>
                <a:cs typeface="Times New Roman"/>
              </a:rPr>
              <a:t>why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this.)</a:t>
            </a:r>
            <a:endParaRPr sz="1200">
              <a:latin typeface="Times New Roman"/>
              <a:cs typeface="Times New Roman"/>
            </a:endParaRPr>
          </a:p>
          <a:p>
            <a:pPr marL="12700" marR="12700">
              <a:lnSpc>
                <a:spcPct val="100000"/>
              </a:lnSpc>
              <a:spcBef>
                <a:spcPts val="530"/>
              </a:spcBef>
            </a:pPr>
            <a:r>
              <a:rPr dirty="0" sz="1200" spc="-30">
                <a:latin typeface="Times New Roman"/>
                <a:cs typeface="Times New Roman"/>
              </a:rPr>
              <a:t>Now,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entire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MergeSort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algorithm?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through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recurrence,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function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defined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recursively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itself.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avoid </a:t>
            </a:r>
            <a:r>
              <a:rPr dirty="0" sz="1200" spc="-10">
                <a:latin typeface="Times New Roman"/>
                <a:cs typeface="Times New Roman"/>
              </a:rPr>
              <a:t> circularity,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recurrence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strictly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Finally,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recurrence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(e.g.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1</a:t>
            </a:r>
            <a:r>
              <a:rPr dirty="0" sz="1200" spc="-60">
                <a:latin typeface="Times New Roman"/>
                <a:cs typeface="Times New Roman"/>
              </a:rPr>
              <a:t>),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explicitly.</a:t>
            </a:r>
            <a:endParaRPr sz="1200">
              <a:latin typeface="Times New Roman"/>
              <a:cs typeface="Times New Roman"/>
            </a:endParaRPr>
          </a:p>
          <a:p>
            <a:pPr marL="12700" marR="64135">
              <a:lnSpc>
                <a:spcPct val="100000"/>
              </a:lnSpc>
              <a:spcBef>
                <a:spcPts val="515"/>
              </a:spcBef>
            </a:pPr>
            <a:r>
              <a:rPr dirty="0" sz="1200" spc="-5">
                <a:latin typeface="Times New Roman"/>
                <a:cs typeface="Times New Roman"/>
              </a:rPr>
              <a:t>Let </a:t>
            </a: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denote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worst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MergeSort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length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MergeSort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single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Times New Roman"/>
                <a:cs typeface="Times New Roman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</a:t>
            </a:r>
            <a:endParaRPr sz="1200">
              <a:latin typeface="Times New Roman"/>
              <a:cs typeface="Times New Roman"/>
            </a:endParaRPr>
          </a:p>
          <a:p>
            <a:pPr marL="12700" marR="13970">
              <a:lnSpc>
                <a:spcPct val="100000"/>
              </a:lnSpc>
              <a:spcBef>
                <a:spcPts val="10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ignoring all constants.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5">
                <a:latin typeface="Lucida Sans Unicode"/>
                <a:cs typeface="Lucida Sans Unicode"/>
              </a:rPr>
              <a:t>&gt;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MergeSort splits into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halves, sorts the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and then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merges </a:t>
            </a:r>
            <a:r>
              <a:rPr dirty="0" sz="1200" spc="-5">
                <a:latin typeface="Times New Roman"/>
                <a:cs typeface="Times New Roman"/>
              </a:rPr>
              <a:t>them </a:t>
            </a:r>
            <a:r>
              <a:rPr dirty="0" sz="1200" spc="-10">
                <a:latin typeface="Times New Roman"/>
                <a:cs typeface="Times New Roman"/>
              </a:rPr>
              <a:t>together.</a:t>
            </a:r>
            <a:r>
              <a:rPr dirty="0" sz="1200" spc="-5">
                <a:latin typeface="Times New Roman"/>
                <a:cs typeface="Times New Roman"/>
              </a:rPr>
              <a:t> The left half is of size </a:t>
            </a:r>
            <a:r>
              <a:rPr dirty="0" sz="1200" spc="50">
                <a:latin typeface="Segoe UI Symbol"/>
                <a:cs typeface="Segoe UI Symbol"/>
              </a:rPr>
              <a:t>[</a:t>
            </a:r>
            <a:r>
              <a:rPr dirty="0" sz="1200" spc="50">
                <a:latin typeface="Lucida Sans Unicode"/>
                <a:cs typeface="Lucida Sans Unicode"/>
              </a:rPr>
              <a:t>n/2</a:t>
            </a:r>
            <a:r>
              <a:rPr dirty="0" sz="1200" spc="50">
                <a:latin typeface="Segoe UI Symbol"/>
                <a:cs typeface="Segoe UI Symbol"/>
              </a:rPr>
              <a:t>| </a:t>
            </a:r>
            <a:r>
              <a:rPr dirty="0" sz="1200" spc="-5">
                <a:latin typeface="Times New Roman"/>
                <a:cs typeface="Times New Roman"/>
              </a:rPr>
              <a:t>and the right half is </a:t>
            </a:r>
            <a:r>
              <a:rPr dirty="0" sz="1200" spc="10">
                <a:latin typeface="Segoe UI Symbol"/>
                <a:cs typeface="Segoe UI Symbol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n/2</a:t>
            </a:r>
            <a:r>
              <a:rPr dirty="0" sz="1200" spc="10">
                <a:latin typeface="Segoe UI Symbol"/>
                <a:cs typeface="Segoe UI Symbol"/>
              </a:rPr>
              <a:t>♩</a:t>
            </a:r>
            <a:r>
              <a:rPr dirty="0" sz="1200" spc="10">
                <a:latin typeface="Times New Roman"/>
                <a:cs typeface="Times New Roman"/>
              </a:rPr>
              <a:t>. </a:t>
            </a:r>
            <a:r>
              <a:rPr dirty="0" sz="1200" spc="-15">
                <a:latin typeface="Times New Roman"/>
                <a:cs typeface="Times New Roman"/>
              </a:rPr>
              <a:t>How </a:t>
            </a:r>
            <a:r>
              <a:rPr dirty="0" sz="1200" spc="-5">
                <a:latin typeface="Times New Roman"/>
                <a:cs typeface="Times New Roman"/>
              </a:rPr>
              <a:t>long does it </a:t>
            </a:r>
            <a:r>
              <a:rPr dirty="0" sz="1200" spc="-10">
                <a:latin typeface="Times New Roman"/>
                <a:cs typeface="Times New Roman"/>
              </a:rPr>
              <a:t>take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Segoe UI Symbol"/>
                <a:cs typeface="Segoe UI Symbol"/>
              </a:rPr>
              <a:t>[</a:t>
            </a:r>
            <a:r>
              <a:rPr dirty="0" sz="1200" spc="40">
                <a:latin typeface="Lucida Sans Unicode"/>
                <a:cs typeface="Lucida Sans Unicode"/>
              </a:rPr>
              <a:t>n/2</a:t>
            </a:r>
            <a:r>
              <a:rPr dirty="0" sz="1200" spc="40">
                <a:latin typeface="Segoe UI Symbol"/>
                <a:cs typeface="Segoe UI Symbol"/>
              </a:rPr>
              <a:t>|</a:t>
            </a:r>
            <a:r>
              <a:rPr dirty="0" sz="1200" spc="40">
                <a:latin typeface="Times New Roman"/>
                <a:cs typeface="Times New Roman"/>
              </a:rPr>
              <a:t>?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know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Segoe UI Symbol"/>
                <a:cs typeface="Segoe UI Symbol"/>
              </a:rPr>
              <a:t>[</a:t>
            </a:r>
            <a:r>
              <a:rPr dirty="0" sz="1200" spc="50">
                <a:latin typeface="Lucida Sans Unicode"/>
                <a:cs typeface="Lucida Sans Unicode"/>
              </a:rPr>
              <a:t>n/2</a:t>
            </a:r>
            <a:r>
              <a:rPr dirty="0" sz="1200" spc="50">
                <a:latin typeface="Segoe UI Symbol"/>
                <a:cs typeface="Segoe UI Symbol"/>
              </a:rPr>
              <a:t>|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 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T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Segoe UI Symbol"/>
                <a:cs typeface="Segoe UI Symbol"/>
              </a:rPr>
              <a:t>[</a:t>
            </a:r>
            <a:r>
              <a:rPr dirty="0" sz="1200" spc="50">
                <a:latin typeface="Lucida Sans Unicode"/>
                <a:cs typeface="Lucida Sans Unicode"/>
              </a:rPr>
              <a:t>n/2</a:t>
            </a:r>
            <a:r>
              <a:rPr dirty="0" sz="1200" spc="50">
                <a:latin typeface="Segoe UI Symbol"/>
                <a:cs typeface="Segoe UI Symbol"/>
              </a:rPr>
              <a:t>|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taken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 right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T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Segoe UI Symbol"/>
                <a:cs typeface="Segoe UI Symbol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n/2</a:t>
            </a:r>
            <a:r>
              <a:rPr dirty="0" sz="1200" spc="25">
                <a:latin typeface="Segoe UI Symbol"/>
                <a:cs typeface="Segoe UI Symbol"/>
              </a:rPr>
              <a:t>♩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1656" y="3442472"/>
            <a:ext cx="12179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conclusion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76982" y="3722950"/>
            <a:ext cx="493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86620" y="3463274"/>
            <a:ext cx="1479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8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209028" y="3580998"/>
            <a:ext cx="2428240" cy="466090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95"/>
              </a:spcBef>
              <a:tabLst>
                <a:tab pos="1824989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1	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  <a:tabLst>
                <a:tab pos="1824989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65">
                <a:latin typeface="Segoe UI Symbol"/>
                <a:cs typeface="Segoe UI Symbol"/>
              </a:rPr>
              <a:t>[</a:t>
            </a:r>
            <a:r>
              <a:rPr dirty="0" sz="1200" spc="-50">
                <a:latin typeface="Lucida Sans Unicode"/>
                <a:cs typeface="Lucida Sans Unicode"/>
              </a:rPr>
              <a:t>n/2</a:t>
            </a:r>
            <a:r>
              <a:rPr dirty="0" sz="1200" spc="240">
                <a:latin typeface="Segoe UI Symbol"/>
                <a:cs typeface="Segoe UI Symbol"/>
              </a:rPr>
              <a:t>|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65">
                <a:latin typeface="Segoe UI Symbol"/>
                <a:cs typeface="Segoe UI Symbol"/>
              </a:rPr>
              <a:t>[</a:t>
            </a:r>
            <a:r>
              <a:rPr dirty="0" sz="1200" spc="-50">
                <a:latin typeface="Lucida Sans Unicode"/>
                <a:cs typeface="Lucida Sans Unicode"/>
              </a:rPr>
              <a:t>n/2</a:t>
            </a:r>
            <a:r>
              <a:rPr dirty="0" sz="1200" spc="60">
                <a:latin typeface="Segoe UI Symbol"/>
                <a:cs typeface="Segoe UI Symbol"/>
              </a:rPr>
              <a:t>♩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otherwise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1650" y="4110065"/>
            <a:ext cx="6108065" cy="38252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recurrence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relation</a:t>
            </a:r>
            <a:r>
              <a:rPr dirty="0" sz="1200" spc="-10">
                <a:latin typeface="Times New Roman"/>
                <a:cs typeface="Times New Roman"/>
              </a:rPr>
              <a:t>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i.e.,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function.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Divide-and-conquer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important design technique, and it naturally </a:t>
            </a:r>
            <a:r>
              <a:rPr dirty="0" sz="1200" spc="-15">
                <a:latin typeface="Times New Roman"/>
                <a:cs typeface="Times New Roman"/>
              </a:rPr>
              <a:t>gives </a:t>
            </a:r>
            <a:r>
              <a:rPr dirty="0" sz="1200" spc="-5">
                <a:latin typeface="Times New Roman"/>
                <a:cs typeface="Times New Roman"/>
              </a:rPr>
              <a:t>rise to </a:t>
            </a:r>
            <a:r>
              <a:rPr dirty="0" sz="1200" spc="-10">
                <a:latin typeface="Times New Roman"/>
                <a:cs typeface="Times New Roman"/>
              </a:rPr>
              <a:t>recursive </a:t>
            </a:r>
            <a:r>
              <a:rPr dirty="0" sz="1200" spc="-5">
                <a:latin typeface="Times New Roman"/>
                <a:cs typeface="Times New Roman"/>
              </a:rPr>
              <a:t>algorithms.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 thus important 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develop</a:t>
            </a:r>
            <a:r>
              <a:rPr dirty="0" sz="1200" spc="-5">
                <a:latin typeface="Times New Roman"/>
                <a:cs typeface="Times New Roman"/>
              </a:rPr>
              <a:t> mathematical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techniques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solving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recurrences,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either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exactly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10">
                <a:latin typeface="Times New Roman"/>
                <a:cs typeface="Times New Roman"/>
              </a:rPr>
              <a:t>asymptotically.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dirty="0" sz="1200" spc="-20">
                <a:latin typeface="Times New Roman"/>
                <a:cs typeface="Times New Roman"/>
              </a:rPr>
              <a:t>Let’s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expand </a:t>
            </a:r>
            <a:r>
              <a:rPr dirty="0" sz="1200" spc="-5">
                <a:latin typeface="Times New Roman"/>
                <a:cs typeface="Times New Roman"/>
              </a:rPr>
              <a:t>the terms.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Times New Roman"/>
              <a:cs typeface="Times New Roman"/>
            </a:endParaRPr>
          </a:p>
          <a:p>
            <a:pPr marL="1665605">
              <a:lnSpc>
                <a:spcPct val="100000"/>
              </a:lnSpc>
            </a:pPr>
            <a:r>
              <a:rPr dirty="0" sz="1200" spc="5">
                <a:latin typeface="Lucida Sans Unicode"/>
                <a:cs typeface="Lucida Sans Unicode"/>
              </a:rPr>
              <a:t>T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1665605">
              <a:lnSpc>
                <a:spcPct val="100000"/>
              </a:lnSpc>
              <a:spcBef>
                <a:spcPts val="305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  <a:p>
            <a:pPr marL="1665605">
              <a:lnSpc>
                <a:spcPct val="100000"/>
              </a:lnSpc>
              <a:spcBef>
                <a:spcPts val="300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endParaRPr sz="1200">
              <a:latin typeface="Lucida Sans Unicode"/>
              <a:cs typeface="Lucida Sans Unicode"/>
            </a:endParaRPr>
          </a:p>
          <a:p>
            <a:pPr marL="1665605">
              <a:lnSpc>
                <a:spcPct val="100000"/>
              </a:lnSpc>
              <a:spcBef>
                <a:spcPts val="620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Arial"/>
                <a:cs typeface="Arial"/>
              </a:rPr>
              <a:t>=4</a:t>
            </a:r>
            <a:r>
              <a:rPr dirty="0" sz="1200" spc="-70">
                <a:latin typeface="Arial"/>
                <a:cs typeface="Arial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5">
                <a:latin typeface="Arial"/>
                <a:cs typeface="Arial"/>
              </a:rPr>
              <a:t>4</a:t>
            </a:r>
            <a:r>
              <a:rPr dirty="0" sz="1200" spc="-70">
                <a:latin typeface="Arial"/>
                <a:cs typeface="Arial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5">
                <a:latin typeface="Arial"/>
                <a:cs typeface="Arial"/>
              </a:rPr>
              <a:t>4</a:t>
            </a:r>
            <a:r>
              <a:rPr dirty="0" sz="1200" spc="-5">
                <a:latin typeface="Arial"/>
                <a:cs typeface="Arial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-5">
                <a:latin typeface="Arial"/>
                <a:cs typeface="Arial"/>
              </a:rPr>
              <a:t>12</a:t>
            </a:r>
            <a:endParaRPr sz="1200">
              <a:latin typeface="Arial"/>
              <a:cs typeface="Arial"/>
            </a:endParaRPr>
          </a:p>
          <a:p>
            <a:pPr marL="1665605">
              <a:lnSpc>
                <a:spcPct val="100000"/>
              </a:lnSpc>
              <a:spcBef>
                <a:spcPts val="450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17</a:t>
            </a:r>
            <a:endParaRPr sz="1200">
              <a:latin typeface="Lucida Sans Unicode"/>
              <a:cs typeface="Lucida Sans Unicode"/>
            </a:endParaRPr>
          </a:p>
          <a:p>
            <a:pPr marL="1774189">
              <a:lnSpc>
                <a:spcPct val="100000"/>
              </a:lnSpc>
              <a:spcBef>
                <a:spcPts val="300"/>
              </a:spcBef>
            </a:pP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  <a:p>
            <a:pPr marL="1665605">
              <a:lnSpc>
                <a:spcPct val="100000"/>
              </a:lnSpc>
              <a:spcBef>
                <a:spcPts val="305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12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32</a:t>
            </a:r>
            <a:endParaRPr sz="1200">
              <a:latin typeface="Lucida Sans Unicode"/>
              <a:cs typeface="Lucida Sans Unicode"/>
            </a:endParaRPr>
          </a:p>
          <a:p>
            <a:pPr marL="1774189">
              <a:lnSpc>
                <a:spcPct val="100000"/>
              </a:lnSpc>
              <a:spcBef>
                <a:spcPts val="305"/>
              </a:spcBef>
            </a:pP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  <a:p>
            <a:pPr marL="1590040">
              <a:lnSpc>
                <a:spcPct val="100000"/>
              </a:lnSpc>
              <a:spcBef>
                <a:spcPts val="300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16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16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16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80</a:t>
            </a:r>
            <a:endParaRPr sz="1200">
              <a:latin typeface="Lucida Sans Unicode"/>
              <a:cs typeface="Lucida Sans Unicode"/>
            </a:endParaRPr>
          </a:p>
          <a:p>
            <a:pPr marL="1774189">
              <a:lnSpc>
                <a:spcPct val="100000"/>
              </a:lnSpc>
              <a:spcBef>
                <a:spcPts val="305"/>
              </a:spcBef>
            </a:pP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  <a:p>
            <a:pPr marL="1590040">
              <a:lnSpc>
                <a:spcPct val="100000"/>
              </a:lnSpc>
              <a:spcBef>
                <a:spcPts val="305"/>
              </a:spcBef>
            </a:pPr>
            <a:r>
              <a:rPr dirty="0" sz="1200" spc="-30">
                <a:latin typeface="Lucida Sans Unicode"/>
                <a:cs typeface="Lucida Sans Unicode"/>
              </a:rPr>
              <a:t>T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32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T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16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T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16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32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80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32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192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105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pattern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here?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Let’s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ratios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T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Lucida Sans Unicode"/>
                <a:cs typeface="Lucida Sans Unicode"/>
              </a:rPr>
              <a:t>/n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powers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2</a:t>
            </a:r>
            <a:r>
              <a:rPr dirty="0" sz="1200" spc="-85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161617" y="8019999"/>
            <a:ext cx="738505" cy="690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1100"/>
              </a:lnSpc>
              <a:spcBef>
                <a:spcPts val="100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100">
                <a:latin typeface="Lucida Sans Unicode"/>
                <a:cs typeface="Lucida Sans Unicode"/>
              </a:rPr>
              <a:t>/1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1 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100">
                <a:latin typeface="Lucida Sans Unicode"/>
                <a:cs typeface="Lucida Sans Unicode"/>
              </a:rPr>
              <a:t>/2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2 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100">
                <a:latin typeface="Lucida Sans Unicode"/>
                <a:cs typeface="Lucida Sans Unicode"/>
              </a:rPr>
              <a:t>/4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177908" y="8019999"/>
            <a:ext cx="890269" cy="690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 indent="151130">
              <a:lnSpc>
                <a:spcPct val="121100"/>
              </a:lnSpc>
              <a:spcBef>
                <a:spcPts val="100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100">
                <a:latin typeface="Lucida Sans Unicode"/>
                <a:cs typeface="Lucida Sans Unicode"/>
              </a:rPr>
              <a:t>/8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4 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16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120">
                <a:latin typeface="Lucida Sans Unicode"/>
                <a:cs typeface="Lucida Sans Unicode"/>
              </a:rPr>
              <a:t>/16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5 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32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120">
                <a:latin typeface="Lucida Sans Unicode"/>
                <a:cs typeface="Lucida Sans Unicode"/>
              </a:rPr>
              <a:t>/32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01665" y="8833891"/>
            <a:ext cx="62528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suggests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T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Lucida Sans Unicode"/>
                <a:cs typeface="Lucida Sans Unicode"/>
              </a:rPr>
              <a:t>/n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Or,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-1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(using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limit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rule).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4875530" cy="6197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3.1.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MERGE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SORT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3.1.2	</a:t>
            </a:r>
            <a:r>
              <a:rPr dirty="0" sz="1400" spc="15" b="1">
                <a:latin typeface="Times New Roman"/>
                <a:cs typeface="Times New Roman"/>
              </a:rPr>
              <a:t>The</a:t>
            </a:r>
            <a:r>
              <a:rPr dirty="0" sz="1400" spc="10" b="1">
                <a:latin typeface="Times New Roman"/>
                <a:cs typeface="Times New Roman"/>
              </a:rPr>
              <a:t> Iteration </a:t>
            </a:r>
            <a:r>
              <a:rPr dirty="0" sz="1400" spc="15" b="1">
                <a:latin typeface="Times New Roman"/>
                <a:cs typeface="Times New Roman"/>
              </a:rPr>
              <a:t>Method</a:t>
            </a:r>
            <a:r>
              <a:rPr dirty="0" sz="1400" spc="10" b="1">
                <a:latin typeface="Times New Roman"/>
                <a:cs typeface="Times New Roman"/>
              </a:rPr>
              <a:t> </a:t>
            </a:r>
            <a:r>
              <a:rPr dirty="0" sz="1400" b="1">
                <a:latin typeface="Times New Roman"/>
                <a:cs typeface="Times New Roman"/>
              </a:rPr>
              <a:t>for</a:t>
            </a:r>
            <a:r>
              <a:rPr dirty="0" sz="1400" spc="1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Solving</a:t>
            </a:r>
            <a:r>
              <a:rPr dirty="0" sz="1400" spc="1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Recurrence Relations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76299" y="1279297"/>
            <a:ext cx="6410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Floor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ceilings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deal </a:t>
            </a:r>
            <a:r>
              <a:rPr dirty="0" sz="1200" spc="-10">
                <a:latin typeface="Times New Roman"/>
                <a:cs typeface="Times New Roman"/>
              </a:rPr>
              <a:t>with.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assumed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power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2</a:t>
            </a:r>
            <a:r>
              <a:rPr dirty="0" baseline="31250" sz="1200" spc="-52">
                <a:latin typeface="Verdana"/>
                <a:cs typeface="Verdana"/>
              </a:rPr>
              <a:t>k</a:t>
            </a:r>
            <a:r>
              <a:rPr dirty="0" baseline="31250" sz="1200" spc="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n</a:t>
            </a:r>
            <a:r>
              <a:rPr dirty="0" sz="1200" spc="10">
                <a:latin typeface="Times New Roman"/>
                <a:cs typeface="Times New Roman"/>
              </a:rPr>
              <a:t>),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simplify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704" y="1462749"/>
            <a:ext cx="10458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recurrence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996593" y="1747128"/>
            <a:ext cx="493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506371" y="1487553"/>
            <a:ext cx="1711960" cy="583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330"/>
              </a:lnSpc>
              <a:spcBef>
                <a:spcPts val="95"/>
              </a:spcBef>
            </a:pPr>
            <a:r>
              <a:rPr dirty="0" sz="1200" spc="58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  <a:p>
            <a:pPr marL="134620">
              <a:lnSpc>
                <a:spcPts val="1330"/>
              </a:lnSpc>
              <a:tabLst>
                <a:tab pos="1108075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1	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 marL="134620">
              <a:lnSpc>
                <a:spcPct val="100000"/>
              </a:lnSpc>
              <a:spcBef>
                <a:spcPts val="290"/>
              </a:spcBef>
              <a:tabLst>
                <a:tab pos="1108075" algn="l"/>
              </a:tabLst>
            </a:pPr>
            <a:r>
              <a:rPr dirty="0" sz="1200" spc="-20">
                <a:latin typeface="Lucida Sans Unicode"/>
                <a:cs typeface="Lucida Sans Unicode"/>
              </a:rPr>
              <a:t>2T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n/2</a:t>
            </a:r>
            <a:r>
              <a:rPr dirty="0" sz="1200" spc="-2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	</a:t>
            </a:r>
            <a:r>
              <a:rPr dirty="0" sz="1200" spc="-10">
                <a:latin typeface="Times New Roman"/>
                <a:cs typeface="Times New Roman"/>
              </a:rPr>
              <a:t>otherwise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63607" y="2140435"/>
            <a:ext cx="6217920" cy="2399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165" marR="177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iteration </a:t>
            </a:r>
            <a:r>
              <a:rPr dirty="0" sz="1200" spc="-10">
                <a:latin typeface="Times New Roman"/>
                <a:cs typeface="Times New Roman"/>
              </a:rPr>
              <a:t>method turns the </a:t>
            </a:r>
            <a:r>
              <a:rPr dirty="0" sz="1200" spc="-5">
                <a:latin typeface="Times New Roman"/>
                <a:cs typeface="Times New Roman"/>
              </a:rPr>
              <a:t>recurrence </a:t>
            </a:r>
            <a:r>
              <a:rPr dirty="0" sz="1200" spc="-10">
                <a:latin typeface="Times New Roman"/>
                <a:cs typeface="Times New Roman"/>
              </a:rPr>
              <a:t>into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summation.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Let’s </a:t>
            </a:r>
            <a:r>
              <a:rPr dirty="0" sz="1200" spc="-5">
                <a:latin typeface="Times New Roman"/>
                <a:cs typeface="Times New Roman"/>
              </a:rPr>
              <a:t>see </a:t>
            </a:r>
            <a:r>
              <a:rPr dirty="0" sz="1200" spc="-15">
                <a:latin typeface="Times New Roman"/>
                <a:cs typeface="Times New Roman"/>
              </a:rPr>
              <a:t>how </a:t>
            </a: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 spc="-10">
                <a:latin typeface="Times New Roman"/>
                <a:cs typeface="Times New Roman"/>
              </a:rPr>
              <a:t>works.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Let’s </a:t>
            </a:r>
            <a:r>
              <a:rPr dirty="0" sz="1200" spc="-10">
                <a:latin typeface="Times New Roman"/>
                <a:cs typeface="Times New Roman"/>
              </a:rPr>
              <a:t>expand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recurrence: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Times New Roman"/>
              <a:cs typeface="Times New Roman"/>
            </a:endParaRPr>
          </a:p>
          <a:p>
            <a:pPr marL="1949450">
              <a:lnSpc>
                <a:spcPct val="100000"/>
              </a:lnSpc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2T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n/2</a:t>
            </a:r>
            <a:r>
              <a:rPr dirty="0" sz="1200" spc="-20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5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302510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2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2T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n/4</a:t>
            </a:r>
            <a:r>
              <a:rPr dirty="0" sz="1200" spc="-20">
                <a:latin typeface="Garamond"/>
                <a:cs typeface="Garamond"/>
              </a:rPr>
              <a:t>)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n/2</a:t>
            </a:r>
            <a:r>
              <a:rPr dirty="0" sz="1200" spc="-10">
                <a:latin typeface="Garamond"/>
                <a:cs typeface="Garamond"/>
              </a:rPr>
              <a:t>)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5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302510">
              <a:lnSpc>
                <a:spcPct val="100000"/>
              </a:lnSpc>
              <a:spcBef>
                <a:spcPts val="300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302510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302510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302510">
              <a:lnSpc>
                <a:spcPct val="100000"/>
              </a:lnSpc>
              <a:spcBef>
                <a:spcPts val="300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8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70">
                <a:latin typeface="Lucida Sans Unicode"/>
                <a:cs typeface="Lucida Sans Unicode"/>
              </a:rPr>
              <a:t>6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302510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16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70">
                <a:latin typeface="Lucida Sans Unicode"/>
                <a:cs typeface="Lucida Sans Unicode"/>
              </a:rPr>
              <a:t>6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00">
              <a:latin typeface="Lucida Sans Unicode"/>
              <a:cs typeface="Lucida Sans Unicode"/>
            </a:endParaRPr>
          </a:p>
          <a:p>
            <a:pPr marL="5080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baseline="31250" sz="1200" spc="112">
                <a:latin typeface="Verdana"/>
                <a:cs typeface="Verdana"/>
              </a:rPr>
              <a:t>k</a:t>
            </a:r>
            <a:r>
              <a:rPr dirty="0" baseline="31250" sz="1200" spc="-7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232397" y="4659122"/>
            <a:ext cx="6254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42290" algn="l"/>
              </a:tabLst>
            </a:pPr>
            <a:r>
              <a:rPr dirty="0" sz="800" spc="75">
                <a:latin typeface="Verdana"/>
                <a:cs typeface="Verdana"/>
              </a:rPr>
              <a:t>k</a:t>
            </a:r>
            <a:r>
              <a:rPr dirty="0" sz="800" spc="75">
                <a:latin typeface="Verdana"/>
                <a:cs typeface="Verdana"/>
              </a:rPr>
              <a:t>	</a:t>
            </a:r>
            <a:r>
              <a:rPr dirty="0" sz="800" spc="75">
                <a:latin typeface="Verdana"/>
                <a:cs typeface="Verdana"/>
              </a:rPr>
              <a:t>k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646839" y="4671148"/>
            <a:ext cx="2936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14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145">
                <a:latin typeface="Lucida Sans Unicode"/>
                <a:cs typeface="Lucida Sans Unicode"/>
              </a:rPr>
              <a:t> 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129542" y="4761788"/>
            <a:ext cx="14535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7860" algn="l"/>
                <a:tab pos="1372235" algn="l"/>
              </a:tabLst>
            </a:pPr>
            <a:r>
              <a:rPr dirty="0" sz="1200" spc="-200">
                <a:latin typeface="Lucida Sans Unicode"/>
                <a:cs typeface="Lucida Sans Unicode"/>
              </a:rPr>
              <a:t>´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200">
                <a:latin typeface="Lucida Sans Unicode"/>
                <a:cs typeface="Lucida Sans Unicode"/>
              </a:rPr>
              <a:t>¸</a:t>
            </a:r>
            <a:r>
              <a:rPr dirty="0" sz="1200" spc="-204">
                <a:latin typeface="Lucida Sans Unicode"/>
                <a:cs typeface="Lucida Sans Unicode"/>
              </a:rPr>
              <a:t>¸</a:t>
            </a:r>
            <a:r>
              <a:rPr dirty="0" u="heavy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114">
                <a:latin typeface="Lucida Sans Unicode"/>
                <a:cs typeface="Lucida Sans Unicode"/>
              </a:rPr>
              <a:t>E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76295" y="4928181"/>
            <a:ext cx="6464300" cy="3150235"/>
          </a:xfrm>
          <a:prstGeom prst="rect">
            <a:avLst/>
          </a:prstGeom>
        </p:spPr>
        <p:txBody>
          <a:bodyPr wrap="square" lIns="0" tIns="29845" rIns="0" bIns="0" rtlCol="0" vert="horz">
            <a:spAutoFit/>
          </a:bodyPr>
          <a:lstStyle/>
          <a:p>
            <a:pPr algn="ctr" marL="1503680">
              <a:lnSpc>
                <a:spcPct val="100000"/>
              </a:lnSpc>
              <a:spcBef>
                <a:spcPts val="235"/>
              </a:spcBef>
            </a:pPr>
            <a:r>
              <a:rPr dirty="0" sz="800" spc="75">
                <a:latin typeface="Verdana"/>
                <a:cs typeface="Verdana"/>
              </a:rPr>
              <a:t>k</a:t>
            </a:r>
            <a:r>
              <a:rPr dirty="0" sz="800" spc="-120">
                <a:latin typeface="Verdana"/>
                <a:cs typeface="Verdana"/>
              </a:rPr>
              <a:t> </a:t>
            </a:r>
            <a:r>
              <a:rPr dirty="0" sz="800" spc="40">
                <a:latin typeface="Verdana"/>
                <a:cs typeface="Verdana"/>
              </a:rPr>
              <a:t>t</a:t>
            </a: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5">
                <a:latin typeface="Verdana"/>
                <a:cs typeface="Verdana"/>
              </a:rPr>
              <a:t>m</a:t>
            </a:r>
            <a:r>
              <a:rPr dirty="0" sz="800" spc="-50">
                <a:latin typeface="Verdana"/>
                <a:cs typeface="Verdana"/>
              </a:rPr>
              <a:t>e</a:t>
            </a:r>
            <a:r>
              <a:rPr dirty="0" sz="800" spc="40">
                <a:latin typeface="Verdana"/>
                <a:cs typeface="Verdana"/>
              </a:rPr>
              <a:t>s</a:t>
            </a:r>
            <a:endParaRPr sz="800">
              <a:latin typeface="Verdana"/>
              <a:cs typeface="Verdana"/>
            </a:endParaRPr>
          </a:p>
          <a:p>
            <a:pPr marL="2135505">
              <a:lnSpc>
                <a:spcPct val="100000"/>
              </a:lnSpc>
              <a:spcBef>
                <a:spcPts val="204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2</a:t>
            </a:r>
            <a:r>
              <a:rPr dirty="0" baseline="34722" sz="1200" spc="22">
                <a:latin typeface="Verdana"/>
                <a:cs typeface="Verdana"/>
              </a:rPr>
              <a:t>k</a:t>
            </a:r>
            <a:r>
              <a:rPr dirty="0" sz="1200" spc="15">
                <a:latin typeface="Lucida Sans Unicode"/>
                <a:cs typeface="Lucida Sans Unicode"/>
              </a:rPr>
              <a:t>T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n/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2</a:t>
            </a:r>
            <a:r>
              <a:rPr dirty="0" baseline="34722" sz="1200" spc="22">
                <a:latin typeface="Verdana"/>
                <a:cs typeface="Verdana"/>
              </a:rPr>
              <a:t>k</a:t>
            </a:r>
            <a:r>
              <a:rPr dirty="0" sz="1200" spc="15">
                <a:latin typeface="Garamond"/>
                <a:cs typeface="Garamond"/>
              </a:rPr>
              <a:t>))</a:t>
            </a:r>
            <a:r>
              <a:rPr dirty="0" sz="1200" spc="-5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50">
                <a:latin typeface="Garamond"/>
                <a:cs typeface="Garamond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kn</a:t>
            </a:r>
            <a:endParaRPr sz="1200">
              <a:latin typeface="Lucida Sans Unicode"/>
              <a:cs typeface="Lucida Sans Unicode"/>
            </a:endParaRPr>
          </a:p>
          <a:p>
            <a:pPr marL="2135505">
              <a:lnSpc>
                <a:spcPct val="100000"/>
              </a:lnSpc>
              <a:spcBef>
                <a:spcPts val="484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2</a:t>
            </a:r>
            <a:r>
              <a:rPr dirty="0" baseline="34722" sz="1200" spc="-67">
                <a:latin typeface="Verdana"/>
                <a:cs typeface="Verdana"/>
              </a:rPr>
              <a:t>(</a:t>
            </a:r>
            <a:r>
              <a:rPr dirty="0" baseline="34722" sz="1200" spc="-67">
                <a:latin typeface="Times New Roman"/>
                <a:cs typeface="Times New Roman"/>
              </a:rPr>
              <a:t>log</a:t>
            </a:r>
            <a:r>
              <a:rPr dirty="0" baseline="34722" sz="1200" spc="-89">
                <a:latin typeface="Times New Roman"/>
                <a:cs typeface="Times New Roman"/>
              </a:rPr>
              <a:t> </a:t>
            </a:r>
            <a:r>
              <a:rPr dirty="0" baseline="34722" sz="1200">
                <a:latin typeface="Verdana"/>
                <a:cs typeface="Verdana"/>
              </a:rPr>
              <a:t>n)</a:t>
            </a:r>
            <a:r>
              <a:rPr dirty="0" sz="1200">
                <a:latin typeface="Lucida Sans Unicode"/>
                <a:cs typeface="Lucida Sans Unicode"/>
              </a:rPr>
              <a:t>T</a:t>
            </a:r>
            <a:r>
              <a:rPr dirty="0" sz="1200">
                <a:latin typeface="Garamond"/>
                <a:cs typeface="Garamond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n/</a:t>
            </a:r>
            <a:r>
              <a:rPr dirty="0" sz="1200">
                <a:latin typeface="Garamond"/>
                <a:cs typeface="Garamond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2</a:t>
            </a:r>
            <a:r>
              <a:rPr dirty="0" baseline="34722" sz="1200">
                <a:latin typeface="Verdana"/>
                <a:cs typeface="Verdana"/>
              </a:rPr>
              <a:t>(</a:t>
            </a:r>
            <a:r>
              <a:rPr dirty="0" baseline="34722" sz="1200">
                <a:latin typeface="Times New Roman"/>
                <a:cs typeface="Times New Roman"/>
              </a:rPr>
              <a:t>log</a:t>
            </a:r>
            <a:r>
              <a:rPr dirty="0" baseline="34722" sz="1200" spc="-89">
                <a:latin typeface="Times New Roman"/>
                <a:cs typeface="Times New Roman"/>
              </a:rPr>
              <a:t> </a:t>
            </a:r>
            <a:r>
              <a:rPr dirty="0" baseline="34722" sz="1200" spc="104">
                <a:latin typeface="Verdana"/>
                <a:cs typeface="Verdana"/>
              </a:rPr>
              <a:t>n)</a:t>
            </a:r>
            <a:r>
              <a:rPr dirty="0" sz="1200" spc="70">
                <a:latin typeface="Garamond"/>
                <a:cs typeface="Garamond"/>
              </a:rPr>
              <a:t>))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n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6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135505">
              <a:lnSpc>
                <a:spcPct val="100000"/>
              </a:lnSpc>
              <a:spcBef>
                <a:spcPts val="484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baseline="34722" sz="1200" spc="-75">
                <a:latin typeface="Verdana"/>
                <a:cs typeface="Verdana"/>
              </a:rPr>
              <a:t>(</a:t>
            </a:r>
            <a:r>
              <a:rPr dirty="0" baseline="34722" sz="1200" spc="-15">
                <a:latin typeface="Times New Roman"/>
                <a:cs typeface="Times New Roman"/>
              </a:rPr>
              <a:t>l</a:t>
            </a:r>
            <a:r>
              <a:rPr dirty="0" baseline="34722" sz="1200" spc="-7">
                <a:latin typeface="Times New Roman"/>
                <a:cs typeface="Times New Roman"/>
              </a:rPr>
              <a:t>og</a:t>
            </a:r>
            <a:r>
              <a:rPr dirty="0" baseline="34722" sz="1200" spc="-89">
                <a:latin typeface="Times New Roman"/>
                <a:cs typeface="Times New Roman"/>
              </a:rPr>
              <a:t> </a:t>
            </a:r>
            <a:r>
              <a:rPr dirty="0" baseline="34722" sz="1200" spc="97">
                <a:latin typeface="Verdana"/>
                <a:cs typeface="Verdana"/>
              </a:rPr>
              <a:t>n</a:t>
            </a:r>
            <a:r>
              <a:rPr dirty="0" baseline="34722" sz="1200">
                <a:latin typeface="Verdana"/>
                <a:cs typeface="Verdana"/>
              </a:rPr>
              <a:t>)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135505">
              <a:lnSpc>
                <a:spcPct val="100000"/>
              </a:lnSpc>
              <a:spcBef>
                <a:spcPts val="300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600">
              <a:latin typeface="Lucida Sans Unicode"/>
              <a:cs typeface="Lucida Sans Unicode"/>
            </a:endParaRPr>
          </a:p>
          <a:p>
            <a:pPr marL="38100">
              <a:lnSpc>
                <a:spcPct val="100000"/>
              </a:lnSpc>
              <a:tabLst>
                <a:tab pos="5842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3.1.3	</a:t>
            </a:r>
            <a:r>
              <a:rPr dirty="0" sz="1400" spc="5" b="1">
                <a:latin typeface="Times New Roman"/>
                <a:cs typeface="Times New Roman"/>
              </a:rPr>
              <a:t>Visualizing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Recurrences</a:t>
            </a:r>
            <a:r>
              <a:rPr dirty="0" sz="1400" spc="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Using</a:t>
            </a:r>
            <a:r>
              <a:rPr dirty="0" sz="1400" spc="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the</a:t>
            </a:r>
            <a:r>
              <a:rPr dirty="0" sz="1400" spc="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Recursion</a:t>
            </a:r>
            <a:r>
              <a:rPr dirty="0" sz="1400" spc="5" b="1">
                <a:latin typeface="Times New Roman"/>
                <a:cs typeface="Times New Roman"/>
              </a:rPr>
              <a:t> </a:t>
            </a:r>
            <a:r>
              <a:rPr dirty="0" sz="1400" spc="-20" b="1">
                <a:latin typeface="Times New Roman"/>
                <a:cs typeface="Times New Roman"/>
              </a:rPr>
              <a:t>Tree</a:t>
            </a:r>
            <a:endParaRPr sz="1400">
              <a:latin typeface="Times New Roman"/>
              <a:cs typeface="Times New Roman"/>
            </a:endParaRPr>
          </a:p>
          <a:p>
            <a:pPr marL="38100" marR="17780">
              <a:lnSpc>
                <a:spcPct val="100000"/>
              </a:lnSpc>
              <a:spcBef>
                <a:spcPts val="1300"/>
              </a:spcBef>
            </a:pPr>
            <a:r>
              <a:rPr dirty="0" sz="1200" spc="-5">
                <a:latin typeface="Times New Roman"/>
                <a:cs typeface="Times New Roman"/>
              </a:rPr>
              <a:t>Iteration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very powerful technique for solving </a:t>
            </a:r>
            <a:r>
              <a:rPr dirty="0" sz="1200" spc="-5">
                <a:latin typeface="Times New Roman"/>
                <a:cs typeface="Times New Roman"/>
              </a:rPr>
              <a:t>recurrences.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But, 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easy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 spc="-10">
                <a:latin typeface="Times New Roman"/>
                <a:cs typeface="Times New Roman"/>
              </a:rPr>
              <a:t>the symbolic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manipulations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lose sight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what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 nice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 spc="-5">
                <a:latin typeface="Times New Roman"/>
                <a:cs typeface="Times New Roman"/>
              </a:rPr>
              <a:t> to visualize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 is </a:t>
            </a:r>
            <a:r>
              <a:rPr dirty="0" sz="1200" spc="-10">
                <a:latin typeface="Times New Roman"/>
                <a:cs typeface="Times New Roman"/>
              </a:rPr>
              <a:t>going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iteration.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can describe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recurrence in terms of a tree,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each </a:t>
            </a:r>
            <a:r>
              <a:rPr dirty="0" sz="1200" spc="-10">
                <a:latin typeface="Times New Roman"/>
                <a:cs typeface="Times New Roman"/>
              </a:rPr>
              <a:t>expansion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recurrence </a:t>
            </a:r>
            <a:r>
              <a:rPr dirty="0" sz="1200" spc="-10">
                <a:latin typeface="Times New Roman"/>
                <a:cs typeface="Times New Roman"/>
              </a:rPr>
              <a:t>takes </a:t>
            </a:r>
            <a:r>
              <a:rPr dirty="0" sz="1200" spc="-5">
                <a:latin typeface="Times New Roman"/>
                <a:cs typeface="Times New Roman"/>
              </a:rPr>
              <a:t> us</a:t>
            </a:r>
            <a:r>
              <a:rPr dirty="0" sz="1200" spc="-10">
                <a:latin typeface="Times New Roman"/>
                <a:cs typeface="Times New Roman"/>
              </a:rPr>
              <a:t> 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</a:t>
            </a:r>
            <a:r>
              <a:rPr dirty="0" sz="1200" spc="-5">
                <a:latin typeface="Times New Roman"/>
                <a:cs typeface="Times New Roman"/>
              </a:rPr>
              <a:t> deeper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tree.</a:t>
            </a:r>
            <a:endParaRPr sz="1200">
              <a:latin typeface="Times New Roman"/>
              <a:cs typeface="Times New Roman"/>
            </a:endParaRPr>
          </a:p>
          <a:p>
            <a:pPr marL="38100" marR="230504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Recall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recurrence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simplified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power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2,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 </a:t>
            </a:r>
            <a:r>
              <a:rPr dirty="0" sz="1200" spc="-10">
                <a:latin typeface="Times New Roman"/>
                <a:cs typeface="Times New Roman"/>
              </a:rPr>
              <a:t>drop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floors and ceilings)</a:t>
            </a:r>
            <a:endParaRPr sz="1200">
              <a:latin typeface="Times New Roman"/>
              <a:cs typeface="Times New Roman"/>
            </a:endParaRPr>
          </a:p>
          <a:p>
            <a:pPr algn="ctr" marR="1048385">
              <a:lnSpc>
                <a:spcPct val="100000"/>
              </a:lnSpc>
              <a:spcBef>
                <a:spcPts val="204"/>
              </a:spcBef>
            </a:pPr>
            <a:r>
              <a:rPr dirty="0" sz="1200" spc="58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996585" y="8129980"/>
            <a:ext cx="493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628663" y="8025968"/>
            <a:ext cx="15436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85519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1	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628663" y="8246109"/>
            <a:ext cx="15894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85519" algn="l"/>
              </a:tabLst>
            </a:pPr>
            <a:r>
              <a:rPr dirty="0" sz="1200" spc="-20">
                <a:latin typeface="Lucida Sans Unicode"/>
                <a:cs typeface="Lucida Sans Unicode"/>
              </a:rPr>
              <a:t>2T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n/2</a:t>
            </a:r>
            <a:r>
              <a:rPr dirty="0" sz="1200" spc="-2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	</a:t>
            </a:r>
            <a:r>
              <a:rPr dirty="0" sz="1200" spc="-10">
                <a:latin typeface="Times New Roman"/>
                <a:cs typeface="Times New Roman"/>
              </a:rPr>
              <a:t>otherwise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01693" y="8592095"/>
            <a:ext cx="627062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Suppose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draw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recursion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MergeSort,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lists,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label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perform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associated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(nonrecursive)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6426835" cy="7969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010535" algn="l"/>
              </a:tabLst>
            </a:pPr>
            <a:r>
              <a:rPr dirty="0" sz="1200" spc="-5">
                <a:latin typeface="Times New Roman"/>
                <a:cs typeface="Times New Roman"/>
              </a:rPr>
              <a:t>32	CHAPTER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3.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DIVIDE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CONQUER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STRATEGY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46355" indent="-635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merge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lists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m/2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list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m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just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write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m</a:t>
            </a:r>
            <a:r>
              <a:rPr dirty="0" sz="1200" spc="-1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Below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Times New Roman"/>
                <a:cs typeface="Times New Roman"/>
              </a:rPr>
              <a:t>illustration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resulting</a:t>
            </a:r>
            <a:r>
              <a:rPr dirty="0" sz="1200" spc="-5">
                <a:latin typeface="Times New Roman"/>
                <a:cs typeface="Times New Roman"/>
              </a:rPr>
              <a:t> recursion tree.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720595" y="1583126"/>
            <a:ext cx="4789805" cy="2590800"/>
          </a:xfrm>
          <a:custGeom>
            <a:avLst/>
            <a:gdLst/>
            <a:ahLst/>
            <a:cxnLst/>
            <a:rect l="l" t="t" r="r" b="b"/>
            <a:pathLst>
              <a:path w="4789805" h="2590800">
                <a:moveTo>
                  <a:pt x="4789627" y="0"/>
                </a:moveTo>
                <a:lnTo>
                  <a:pt x="0" y="0"/>
                </a:lnTo>
                <a:lnTo>
                  <a:pt x="0" y="2590601"/>
                </a:lnTo>
                <a:lnTo>
                  <a:pt x="4789627" y="2590601"/>
                </a:lnTo>
                <a:lnTo>
                  <a:pt x="4789627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5576351" y="3473658"/>
            <a:ext cx="8890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+</a:t>
            </a:r>
            <a:endParaRPr sz="10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545226" y="1878797"/>
            <a:ext cx="250190" cy="2000250"/>
          </a:xfrm>
          <a:custGeom>
            <a:avLst/>
            <a:gdLst/>
            <a:ahLst/>
            <a:cxnLst/>
            <a:rect l="l" t="t" r="r" b="b"/>
            <a:pathLst>
              <a:path w="250189" h="2000250">
                <a:moveTo>
                  <a:pt x="0" y="0"/>
                </a:moveTo>
                <a:lnTo>
                  <a:pt x="83378" y="0"/>
                </a:lnTo>
                <a:lnTo>
                  <a:pt x="101163" y="2225"/>
                </a:lnTo>
                <a:lnTo>
                  <a:pt x="147858" y="31120"/>
                </a:lnTo>
                <a:lnTo>
                  <a:pt x="166756" y="83378"/>
                </a:lnTo>
                <a:lnTo>
                  <a:pt x="166756" y="917082"/>
                </a:lnTo>
                <a:lnTo>
                  <a:pt x="168981" y="935979"/>
                </a:lnTo>
                <a:lnTo>
                  <a:pt x="197876" y="982675"/>
                </a:lnTo>
                <a:lnTo>
                  <a:pt x="250118" y="1000460"/>
                </a:lnTo>
                <a:lnTo>
                  <a:pt x="231221" y="1002685"/>
                </a:lnTo>
                <a:lnTo>
                  <a:pt x="184541" y="1030467"/>
                </a:lnTo>
                <a:lnTo>
                  <a:pt x="166756" y="1082725"/>
                </a:lnTo>
                <a:lnTo>
                  <a:pt x="166756" y="1916445"/>
                </a:lnTo>
                <a:lnTo>
                  <a:pt x="164531" y="1935342"/>
                </a:lnTo>
                <a:lnTo>
                  <a:pt x="134508" y="1982022"/>
                </a:lnTo>
                <a:lnTo>
                  <a:pt x="83378" y="1999807"/>
                </a:lnTo>
                <a:lnTo>
                  <a:pt x="0" y="1999807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5878713" y="2697752"/>
            <a:ext cx="493395" cy="335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4295" marR="5080" indent="-74930">
              <a:lnSpc>
                <a:spcPct val="101400"/>
              </a:lnSpc>
              <a:spcBef>
                <a:spcPts val="105"/>
              </a:spcBef>
            </a:pPr>
            <a:r>
              <a:rPr dirty="0" sz="1000" spc="5">
                <a:solidFill>
                  <a:srgbClr val="FFFF00"/>
                </a:solidFill>
                <a:latin typeface="Arial"/>
                <a:cs typeface="Arial"/>
              </a:rPr>
              <a:t>log(n)+1  </a:t>
            </a:r>
            <a:r>
              <a:rPr dirty="0" sz="1000" spc="5">
                <a:solidFill>
                  <a:srgbClr val="FFFF00"/>
                </a:solidFill>
                <a:latin typeface="Arial"/>
                <a:cs typeface="Arial"/>
              </a:rPr>
              <a:t>levels</a:t>
            </a:r>
            <a:endParaRPr sz="10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833984" y="1941045"/>
            <a:ext cx="1167765" cy="161290"/>
          </a:xfrm>
          <a:prstGeom prst="rect">
            <a:avLst/>
          </a:prstGeom>
          <a:solidFill>
            <a:srgbClr val="000080"/>
          </a:solidFill>
          <a:ln w="9278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ctr" marL="9525">
              <a:lnSpc>
                <a:spcPts val="1190"/>
              </a:lnSpc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025837" y="2097468"/>
            <a:ext cx="2078989" cy="1114425"/>
            <a:chOff x="2025837" y="2097468"/>
            <a:chExt cx="2078989" cy="1114425"/>
          </a:xfrm>
        </p:grpSpPr>
        <p:sp>
          <p:nvSpPr>
            <p:cNvPr id="9" name="object 9"/>
            <p:cNvSpPr/>
            <p:nvPr/>
          </p:nvSpPr>
          <p:spPr>
            <a:xfrm>
              <a:off x="2728386" y="2102231"/>
              <a:ext cx="689610" cy="252729"/>
            </a:xfrm>
            <a:custGeom>
              <a:avLst/>
              <a:gdLst/>
              <a:ahLst/>
              <a:cxnLst/>
              <a:rect l="l" t="t" r="r" b="b"/>
              <a:pathLst>
                <a:path w="689610" h="252730">
                  <a:moveTo>
                    <a:pt x="689198" y="0"/>
                  </a:moveTo>
                  <a:lnTo>
                    <a:pt x="0" y="252343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79466" y="2316779"/>
              <a:ext cx="75590" cy="64465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450930" y="2102231"/>
              <a:ext cx="606425" cy="251460"/>
            </a:xfrm>
            <a:custGeom>
              <a:avLst/>
              <a:gdLst/>
              <a:ahLst/>
              <a:cxnLst/>
              <a:rect l="l" t="t" r="r" b="b"/>
              <a:pathLst>
                <a:path w="606425" h="251460">
                  <a:moveTo>
                    <a:pt x="0" y="0"/>
                  </a:moveTo>
                  <a:lnTo>
                    <a:pt x="605835" y="251231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027871" y="2314554"/>
              <a:ext cx="76835" cy="63500"/>
            </a:xfrm>
            <a:custGeom>
              <a:avLst/>
              <a:gdLst/>
              <a:ahLst/>
              <a:cxnLst/>
              <a:rect l="l" t="t" r="r" b="b"/>
              <a:pathLst>
                <a:path w="76835" h="63500">
                  <a:moveTo>
                    <a:pt x="26669" y="0"/>
                  </a:moveTo>
                  <a:lnTo>
                    <a:pt x="26669" y="12222"/>
                  </a:lnTo>
                  <a:lnTo>
                    <a:pt x="25557" y="16672"/>
                  </a:lnTo>
                  <a:lnTo>
                    <a:pt x="25557" y="21122"/>
                  </a:lnTo>
                  <a:lnTo>
                    <a:pt x="24460" y="25572"/>
                  </a:lnTo>
                  <a:lnTo>
                    <a:pt x="23347" y="28895"/>
                  </a:lnTo>
                  <a:lnTo>
                    <a:pt x="21122" y="33345"/>
                  </a:lnTo>
                  <a:lnTo>
                    <a:pt x="20010" y="36682"/>
                  </a:lnTo>
                  <a:lnTo>
                    <a:pt x="17785" y="41132"/>
                  </a:lnTo>
                  <a:lnTo>
                    <a:pt x="8884" y="54467"/>
                  </a:lnTo>
                  <a:lnTo>
                    <a:pt x="5562" y="57805"/>
                  </a:lnTo>
                  <a:lnTo>
                    <a:pt x="3337" y="61142"/>
                  </a:lnTo>
                  <a:lnTo>
                    <a:pt x="0" y="63367"/>
                  </a:lnTo>
                  <a:lnTo>
                    <a:pt x="76702" y="57805"/>
                  </a:lnTo>
                  <a:lnTo>
                    <a:pt x="266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592765" y="2534650"/>
              <a:ext cx="288290" cy="263525"/>
            </a:xfrm>
            <a:custGeom>
              <a:avLst/>
              <a:gdLst/>
              <a:ahLst/>
              <a:cxnLst/>
              <a:rect l="l" t="t" r="r" b="b"/>
              <a:pathLst>
                <a:path w="288289" h="263525">
                  <a:moveTo>
                    <a:pt x="0" y="0"/>
                  </a:moveTo>
                  <a:lnTo>
                    <a:pt x="287914" y="263453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45094" y="2761422"/>
              <a:ext cx="74477" cy="71140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268169" y="2534650"/>
              <a:ext cx="255904" cy="261620"/>
            </a:xfrm>
            <a:custGeom>
              <a:avLst/>
              <a:gdLst/>
              <a:ahLst/>
              <a:cxnLst/>
              <a:rect l="l" t="t" r="r" b="b"/>
              <a:pathLst>
                <a:path w="255905" h="261619">
                  <a:moveTo>
                    <a:pt x="255666" y="0"/>
                  </a:moveTo>
                  <a:lnTo>
                    <a:pt x="0" y="261228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31486" y="2759197"/>
              <a:ext cx="73365" cy="7336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4632" y="2983553"/>
              <a:ext cx="193615" cy="228073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025837" y="2983553"/>
              <a:ext cx="159157" cy="228073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6078" y="2979119"/>
              <a:ext cx="193615" cy="22696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47284" y="2979119"/>
              <a:ext cx="160255" cy="226960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283729" y="2372354"/>
            <a:ext cx="636270" cy="162560"/>
          </a:xfrm>
          <a:prstGeom prst="rect">
            <a:avLst/>
          </a:prstGeom>
          <a:solidFill>
            <a:srgbClr val="000080"/>
          </a:solidFill>
          <a:ln w="9278">
            <a:solidFill>
              <a:srgbClr val="FFFFFF"/>
            </a:solidFill>
          </a:ln>
        </p:spPr>
        <p:txBody>
          <a:bodyPr wrap="square" lIns="0" tIns="1905" rIns="0" bIns="0" rtlCol="0" vert="horz">
            <a:spAutoFit/>
          </a:bodyPr>
          <a:lstStyle/>
          <a:p>
            <a:pPr algn="ctr" marL="15875">
              <a:lnSpc>
                <a:spcPct val="100000"/>
              </a:lnSpc>
              <a:spcBef>
                <a:spcPts val="15"/>
              </a:spcBef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n/2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081418" y="2832568"/>
            <a:ext cx="301625" cy="160655"/>
          </a:xfrm>
          <a:prstGeom prst="rect">
            <a:avLst/>
          </a:prstGeom>
          <a:solidFill>
            <a:srgbClr val="000080"/>
          </a:solidFill>
          <a:ln w="9278">
            <a:solidFill>
              <a:srgbClr val="FFFFFF"/>
            </a:solidFill>
          </a:ln>
        </p:spPr>
        <p:txBody>
          <a:bodyPr wrap="square" lIns="0" tIns="5080" rIns="0" bIns="0" rtlCol="0" vert="horz">
            <a:spAutoFit/>
          </a:bodyPr>
          <a:lstStyle/>
          <a:p>
            <a:pPr marL="53340">
              <a:lnSpc>
                <a:spcPct val="100000"/>
              </a:lnSpc>
              <a:spcBef>
                <a:spcPts val="40"/>
              </a:spcBef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n/4</a:t>
            </a:r>
            <a:endParaRPr sz="10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790626" y="2832568"/>
            <a:ext cx="300355" cy="160655"/>
          </a:xfrm>
          <a:prstGeom prst="rect">
            <a:avLst/>
          </a:prstGeom>
          <a:solidFill>
            <a:srgbClr val="000080"/>
          </a:solidFill>
          <a:ln w="9278">
            <a:solidFill>
              <a:srgbClr val="FFFFFF"/>
            </a:solidFill>
          </a:ln>
        </p:spPr>
        <p:txBody>
          <a:bodyPr wrap="square" lIns="0" tIns="5080" rIns="0" bIns="0" rtlCol="0" vert="horz">
            <a:spAutoFit/>
          </a:bodyPr>
          <a:lstStyle/>
          <a:p>
            <a:pPr marL="64135">
              <a:lnSpc>
                <a:spcPct val="100000"/>
              </a:lnSpc>
              <a:spcBef>
                <a:spcPts val="40"/>
              </a:spcBef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n/4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917687" y="3206872"/>
            <a:ext cx="1355090" cy="170815"/>
            <a:chOff x="1917687" y="3206872"/>
            <a:chExt cx="1355090" cy="170815"/>
          </a:xfrm>
        </p:grpSpPr>
        <p:sp>
          <p:nvSpPr>
            <p:cNvPr id="25" name="object 25"/>
            <p:cNvSpPr/>
            <p:nvPr/>
          </p:nvSpPr>
          <p:spPr>
            <a:xfrm>
              <a:off x="1922449" y="3211634"/>
              <a:ext cx="207010" cy="161290"/>
            </a:xfrm>
            <a:custGeom>
              <a:avLst/>
              <a:gdLst/>
              <a:ahLst/>
              <a:cxnLst/>
              <a:rect l="l" t="t" r="r" b="b"/>
              <a:pathLst>
                <a:path w="207010" h="161289">
                  <a:moveTo>
                    <a:pt x="206762" y="0"/>
                  </a:moveTo>
                  <a:lnTo>
                    <a:pt x="0" y="0"/>
                  </a:lnTo>
                  <a:lnTo>
                    <a:pt x="0" y="161185"/>
                  </a:lnTo>
                  <a:lnTo>
                    <a:pt x="206762" y="161185"/>
                  </a:lnTo>
                  <a:lnTo>
                    <a:pt x="206762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1922449" y="3211634"/>
              <a:ext cx="207010" cy="161290"/>
            </a:xfrm>
            <a:custGeom>
              <a:avLst/>
              <a:gdLst/>
              <a:ahLst/>
              <a:cxnLst/>
              <a:rect l="l" t="t" r="r" b="b"/>
              <a:pathLst>
                <a:path w="207010" h="161289">
                  <a:moveTo>
                    <a:pt x="0" y="161185"/>
                  </a:moveTo>
                  <a:lnTo>
                    <a:pt x="206762" y="161185"/>
                  </a:lnTo>
                  <a:lnTo>
                    <a:pt x="206762" y="0"/>
                  </a:lnTo>
                  <a:lnTo>
                    <a:pt x="0" y="0"/>
                  </a:lnTo>
                  <a:lnTo>
                    <a:pt x="0" y="161185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340421" y="3211634"/>
              <a:ext cx="207010" cy="161290"/>
            </a:xfrm>
            <a:custGeom>
              <a:avLst/>
              <a:gdLst/>
              <a:ahLst/>
              <a:cxnLst/>
              <a:rect l="l" t="t" r="r" b="b"/>
              <a:pathLst>
                <a:path w="207010" h="161289">
                  <a:moveTo>
                    <a:pt x="206761" y="0"/>
                  </a:moveTo>
                  <a:lnTo>
                    <a:pt x="0" y="0"/>
                  </a:lnTo>
                  <a:lnTo>
                    <a:pt x="0" y="161185"/>
                  </a:lnTo>
                  <a:lnTo>
                    <a:pt x="206761" y="161185"/>
                  </a:lnTo>
                  <a:lnTo>
                    <a:pt x="20676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340421" y="3211634"/>
              <a:ext cx="207010" cy="161290"/>
            </a:xfrm>
            <a:custGeom>
              <a:avLst/>
              <a:gdLst/>
              <a:ahLst/>
              <a:cxnLst/>
              <a:rect l="l" t="t" r="r" b="b"/>
              <a:pathLst>
                <a:path w="207010" h="161289">
                  <a:moveTo>
                    <a:pt x="0" y="161185"/>
                  </a:moveTo>
                  <a:lnTo>
                    <a:pt x="206761" y="161185"/>
                  </a:lnTo>
                  <a:lnTo>
                    <a:pt x="206761" y="0"/>
                  </a:lnTo>
                  <a:lnTo>
                    <a:pt x="0" y="0"/>
                  </a:lnTo>
                  <a:lnTo>
                    <a:pt x="0" y="161185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649458" y="3211634"/>
              <a:ext cx="207010" cy="161290"/>
            </a:xfrm>
            <a:custGeom>
              <a:avLst/>
              <a:gdLst/>
              <a:ahLst/>
              <a:cxnLst/>
              <a:rect l="l" t="t" r="r" b="b"/>
              <a:pathLst>
                <a:path w="207010" h="161289">
                  <a:moveTo>
                    <a:pt x="206761" y="0"/>
                  </a:moveTo>
                  <a:lnTo>
                    <a:pt x="0" y="0"/>
                  </a:lnTo>
                  <a:lnTo>
                    <a:pt x="0" y="161185"/>
                  </a:lnTo>
                  <a:lnTo>
                    <a:pt x="206761" y="161185"/>
                  </a:lnTo>
                  <a:lnTo>
                    <a:pt x="20676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649458" y="3211634"/>
              <a:ext cx="207010" cy="161290"/>
            </a:xfrm>
            <a:custGeom>
              <a:avLst/>
              <a:gdLst/>
              <a:ahLst/>
              <a:cxnLst/>
              <a:rect l="l" t="t" r="r" b="b"/>
              <a:pathLst>
                <a:path w="207010" h="161289">
                  <a:moveTo>
                    <a:pt x="0" y="161185"/>
                  </a:moveTo>
                  <a:lnTo>
                    <a:pt x="206761" y="161185"/>
                  </a:lnTo>
                  <a:lnTo>
                    <a:pt x="206761" y="0"/>
                  </a:lnTo>
                  <a:lnTo>
                    <a:pt x="0" y="0"/>
                  </a:lnTo>
                  <a:lnTo>
                    <a:pt x="0" y="161185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061868" y="3211634"/>
              <a:ext cx="205740" cy="161290"/>
            </a:xfrm>
            <a:custGeom>
              <a:avLst/>
              <a:gdLst/>
              <a:ahLst/>
              <a:cxnLst/>
              <a:rect l="l" t="t" r="r" b="b"/>
              <a:pathLst>
                <a:path w="205739" h="161289">
                  <a:moveTo>
                    <a:pt x="205650" y="0"/>
                  </a:moveTo>
                  <a:lnTo>
                    <a:pt x="0" y="0"/>
                  </a:lnTo>
                  <a:lnTo>
                    <a:pt x="0" y="161185"/>
                  </a:lnTo>
                  <a:lnTo>
                    <a:pt x="205650" y="161185"/>
                  </a:lnTo>
                  <a:lnTo>
                    <a:pt x="205650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061868" y="3211634"/>
              <a:ext cx="205740" cy="161290"/>
            </a:xfrm>
            <a:custGeom>
              <a:avLst/>
              <a:gdLst/>
              <a:ahLst/>
              <a:cxnLst/>
              <a:rect l="l" t="t" r="r" b="b"/>
              <a:pathLst>
                <a:path w="205739" h="161289">
                  <a:moveTo>
                    <a:pt x="0" y="161185"/>
                  </a:moveTo>
                  <a:lnTo>
                    <a:pt x="205650" y="161185"/>
                  </a:lnTo>
                  <a:lnTo>
                    <a:pt x="205650" y="0"/>
                  </a:lnTo>
                  <a:lnTo>
                    <a:pt x="0" y="0"/>
                  </a:lnTo>
                  <a:lnTo>
                    <a:pt x="0" y="161185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/>
          <p:cNvSpPr txBox="1"/>
          <p:nvPr/>
        </p:nvSpPr>
        <p:spPr>
          <a:xfrm>
            <a:off x="1932456" y="3192417"/>
            <a:ext cx="1331595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  <a:tabLst>
                <a:tab pos="417830" algn="l"/>
                <a:tab pos="726440" algn="l"/>
                <a:tab pos="1137920" algn="l"/>
              </a:tabLst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n/8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n/8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n/8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n/8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1832099" y="3671525"/>
            <a:ext cx="645795" cy="170815"/>
            <a:chOff x="1832099" y="3671525"/>
            <a:chExt cx="645795" cy="170815"/>
          </a:xfrm>
        </p:grpSpPr>
        <p:sp>
          <p:nvSpPr>
            <p:cNvPr id="35" name="object 35"/>
            <p:cNvSpPr/>
            <p:nvPr/>
          </p:nvSpPr>
          <p:spPr>
            <a:xfrm>
              <a:off x="1836861" y="3676288"/>
              <a:ext cx="137160" cy="161290"/>
            </a:xfrm>
            <a:custGeom>
              <a:avLst/>
              <a:gdLst/>
              <a:ahLst/>
              <a:cxnLst/>
              <a:rect l="l" t="t" r="r" b="b"/>
              <a:pathLst>
                <a:path w="137160" h="161289">
                  <a:moveTo>
                    <a:pt x="136730" y="0"/>
                  </a:moveTo>
                  <a:lnTo>
                    <a:pt x="0" y="0"/>
                  </a:lnTo>
                  <a:lnTo>
                    <a:pt x="0" y="161184"/>
                  </a:lnTo>
                  <a:lnTo>
                    <a:pt x="136730" y="161184"/>
                  </a:lnTo>
                  <a:lnTo>
                    <a:pt x="136730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1836861" y="3676288"/>
              <a:ext cx="137160" cy="161290"/>
            </a:xfrm>
            <a:custGeom>
              <a:avLst/>
              <a:gdLst/>
              <a:ahLst/>
              <a:cxnLst/>
              <a:rect l="l" t="t" r="r" b="b"/>
              <a:pathLst>
                <a:path w="137160" h="161289">
                  <a:moveTo>
                    <a:pt x="0" y="161184"/>
                  </a:moveTo>
                  <a:lnTo>
                    <a:pt x="136730" y="161184"/>
                  </a:lnTo>
                  <a:lnTo>
                    <a:pt x="136730" y="0"/>
                  </a:lnTo>
                  <a:lnTo>
                    <a:pt x="0" y="0"/>
                  </a:lnTo>
                  <a:lnTo>
                    <a:pt x="0" y="161184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076968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30" h="161289">
                  <a:moveTo>
                    <a:pt x="137840" y="0"/>
                  </a:moveTo>
                  <a:lnTo>
                    <a:pt x="0" y="0"/>
                  </a:lnTo>
                  <a:lnTo>
                    <a:pt x="0" y="161184"/>
                  </a:lnTo>
                  <a:lnTo>
                    <a:pt x="137840" y="161184"/>
                  </a:lnTo>
                  <a:lnTo>
                    <a:pt x="137840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076968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30" h="161289">
                  <a:moveTo>
                    <a:pt x="0" y="161184"/>
                  </a:moveTo>
                  <a:lnTo>
                    <a:pt x="137840" y="161184"/>
                  </a:lnTo>
                  <a:lnTo>
                    <a:pt x="137840" y="0"/>
                  </a:lnTo>
                  <a:lnTo>
                    <a:pt x="0" y="0"/>
                  </a:lnTo>
                  <a:lnTo>
                    <a:pt x="0" y="161184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334859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30" h="161289">
                  <a:moveTo>
                    <a:pt x="137840" y="0"/>
                  </a:moveTo>
                  <a:lnTo>
                    <a:pt x="0" y="0"/>
                  </a:lnTo>
                  <a:lnTo>
                    <a:pt x="0" y="161184"/>
                  </a:lnTo>
                  <a:lnTo>
                    <a:pt x="137840" y="161184"/>
                  </a:lnTo>
                  <a:lnTo>
                    <a:pt x="137840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334859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30" h="161289">
                  <a:moveTo>
                    <a:pt x="0" y="161184"/>
                  </a:moveTo>
                  <a:lnTo>
                    <a:pt x="137840" y="161184"/>
                  </a:lnTo>
                  <a:lnTo>
                    <a:pt x="137840" y="0"/>
                  </a:lnTo>
                  <a:lnTo>
                    <a:pt x="0" y="0"/>
                  </a:lnTo>
                  <a:lnTo>
                    <a:pt x="0" y="161184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/>
          <p:cNvSpPr txBox="1"/>
          <p:nvPr/>
        </p:nvSpPr>
        <p:spPr>
          <a:xfrm>
            <a:off x="1869096" y="3647076"/>
            <a:ext cx="58293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  <a:tabLst>
                <a:tab pos="240029" algn="l"/>
                <a:tab pos="497840" algn="l"/>
              </a:tabLst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1911339" y="2524341"/>
            <a:ext cx="2915920" cy="1318260"/>
            <a:chOff x="1911339" y="2524341"/>
            <a:chExt cx="2915920" cy="1318260"/>
          </a:xfrm>
        </p:grpSpPr>
        <p:sp>
          <p:nvSpPr>
            <p:cNvPr id="43" name="object 43"/>
            <p:cNvSpPr/>
            <p:nvPr/>
          </p:nvSpPr>
          <p:spPr>
            <a:xfrm>
              <a:off x="2592765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30" h="161289">
                  <a:moveTo>
                    <a:pt x="137841" y="0"/>
                  </a:moveTo>
                  <a:lnTo>
                    <a:pt x="0" y="0"/>
                  </a:lnTo>
                  <a:lnTo>
                    <a:pt x="0" y="161184"/>
                  </a:lnTo>
                  <a:lnTo>
                    <a:pt x="137841" y="161184"/>
                  </a:lnTo>
                  <a:lnTo>
                    <a:pt x="13784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592765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30" h="161289">
                  <a:moveTo>
                    <a:pt x="0" y="161184"/>
                  </a:moveTo>
                  <a:lnTo>
                    <a:pt x="137841" y="161184"/>
                  </a:lnTo>
                  <a:lnTo>
                    <a:pt x="137841" y="0"/>
                  </a:lnTo>
                  <a:lnTo>
                    <a:pt x="0" y="0"/>
                  </a:lnTo>
                  <a:lnTo>
                    <a:pt x="0" y="161184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245281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29" h="161289">
                  <a:moveTo>
                    <a:pt x="137841" y="0"/>
                  </a:moveTo>
                  <a:lnTo>
                    <a:pt x="0" y="0"/>
                  </a:lnTo>
                  <a:lnTo>
                    <a:pt x="0" y="161184"/>
                  </a:lnTo>
                  <a:lnTo>
                    <a:pt x="137841" y="161184"/>
                  </a:lnTo>
                  <a:lnTo>
                    <a:pt x="13784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1943572" y="3400602"/>
              <a:ext cx="1439545" cy="436880"/>
            </a:xfrm>
            <a:custGeom>
              <a:avLst/>
              <a:gdLst/>
              <a:ahLst/>
              <a:cxnLst/>
              <a:rect l="l" t="t" r="r" b="b"/>
              <a:pathLst>
                <a:path w="1439545" h="436879">
                  <a:moveTo>
                    <a:pt x="1301709" y="436869"/>
                  </a:moveTo>
                  <a:lnTo>
                    <a:pt x="1439551" y="436869"/>
                  </a:lnTo>
                  <a:lnTo>
                    <a:pt x="1439551" y="275685"/>
                  </a:lnTo>
                  <a:lnTo>
                    <a:pt x="1301709" y="275685"/>
                  </a:lnTo>
                  <a:lnTo>
                    <a:pt x="1301709" y="436869"/>
                  </a:lnTo>
                  <a:close/>
                </a:path>
                <a:path w="1439545" h="436879">
                  <a:moveTo>
                    <a:pt x="30022" y="0"/>
                  </a:moveTo>
                  <a:lnTo>
                    <a:pt x="25572" y="22235"/>
                  </a:lnTo>
                </a:path>
                <a:path w="1439545" h="436879">
                  <a:moveTo>
                    <a:pt x="20010" y="43357"/>
                  </a:moveTo>
                  <a:lnTo>
                    <a:pt x="15560" y="65592"/>
                  </a:lnTo>
                </a:path>
                <a:path w="1439545" h="436879">
                  <a:moveTo>
                    <a:pt x="11125" y="87828"/>
                  </a:moveTo>
                  <a:lnTo>
                    <a:pt x="5562" y="108950"/>
                  </a:lnTo>
                </a:path>
                <a:path w="1439545" h="436879">
                  <a:moveTo>
                    <a:pt x="1112" y="131170"/>
                  </a:moveTo>
                  <a:lnTo>
                    <a:pt x="0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1911339" y="3519551"/>
              <a:ext cx="67945" cy="109220"/>
            </a:xfrm>
            <a:custGeom>
              <a:avLst/>
              <a:gdLst/>
              <a:ahLst/>
              <a:cxnLst/>
              <a:rect l="l" t="t" r="r" b="b"/>
              <a:pathLst>
                <a:path w="67944" h="109220">
                  <a:moveTo>
                    <a:pt x="0" y="0"/>
                  </a:moveTo>
                  <a:lnTo>
                    <a:pt x="11109" y="108935"/>
                  </a:lnTo>
                  <a:lnTo>
                    <a:pt x="67802" y="15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025837" y="3400602"/>
              <a:ext cx="30480" cy="135890"/>
            </a:xfrm>
            <a:custGeom>
              <a:avLst/>
              <a:gdLst/>
              <a:ahLst/>
              <a:cxnLst/>
              <a:rect l="l" t="t" r="r" b="b"/>
              <a:pathLst>
                <a:path w="30480" h="135889">
                  <a:moveTo>
                    <a:pt x="0" y="0"/>
                  </a:moveTo>
                  <a:lnTo>
                    <a:pt x="4450" y="22235"/>
                  </a:lnTo>
                </a:path>
                <a:path w="30480" h="135889">
                  <a:moveTo>
                    <a:pt x="9997" y="43357"/>
                  </a:moveTo>
                  <a:lnTo>
                    <a:pt x="14447" y="65592"/>
                  </a:lnTo>
                </a:path>
                <a:path w="30480" h="135889">
                  <a:moveTo>
                    <a:pt x="18897" y="87828"/>
                  </a:moveTo>
                  <a:lnTo>
                    <a:pt x="24444" y="108950"/>
                  </a:lnTo>
                </a:path>
                <a:path w="30480" h="135889">
                  <a:moveTo>
                    <a:pt x="28895" y="131170"/>
                  </a:moveTo>
                  <a:lnTo>
                    <a:pt x="30007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020275" y="3519551"/>
              <a:ext cx="67945" cy="109220"/>
            </a:xfrm>
            <a:custGeom>
              <a:avLst/>
              <a:gdLst/>
              <a:ahLst/>
              <a:cxnLst/>
              <a:rect l="l" t="t" r="r" b="b"/>
              <a:pathLst>
                <a:path w="67944" h="109220">
                  <a:moveTo>
                    <a:pt x="67802" y="0"/>
                  </a:moveTo>
                  <a:lnTo>
                    <a:pt x="0" y="15560"/>
                  </a:lnTo>
                  <a:lnTo>
                    <a:pt x="56692" y="108935"/>
                  </a:lnTo>
                  <a:lnTo>
                    <a:pt x="678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381554" y="3400602"/>
              <a:ext cx="31115" cy="135890"/>
            </a:xfrm>
            <a:custGeom>
              <a:avLst/>
              <a:gdLst/>
              <a:ahLst/>
              <a:cxnLst/>
              <a:rect l="l" t="t" r="r" b="b"/>
              <a:pathLst>
                <a:path w="31114" h="135889">
                  <a:moveTo>
                    <a:pt x="31120" y="0"/>
                  </a:moveTo>
                  <a:lnTo>
                    <a:pt x="26685" y="21122"/>
                  </a:lnTo>
                </a:path>
                <a:path w="31114" h="135889">
                  <a:moveTo>
                    <a:pt x="21122" y="42245"/>
                  </a:moveTo>
                  <a:lnTo>
                    <a:pt x="16672" y="64480"/>
                  </a:lnTo>
                </a:path>
                <a:path w="31114" h="135889">
                  <a:moveTo>
                    <a:pt x="11109" y="85603"/>
                  </a:moveTo>
                  <a:lnTo>
                    <a:pt x="6675" y="107838"/>
                  </a:lnTo>
                </a:path>
                <a:path w="31114" h="135889">
                  <a:moveTo>
                    <a:pt x="1112" y="128960"/>
                  </a:moveTo>
                  <a:lnTo>
                    <a:pt x="0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350434" y="3519551"/>
              <a:ext cx="67310" cy="109220"/>
            </a:xfrm>
            <a:custGeom>
              <a:avLst/>
              <a:gdLst/>
              <a:ahLst/>
              <a:cxnLst/>
              <a:rect l="l" t="t" r="r" b="b"/>
              <a:pathLst>
                <a:path w="67310" h="109220">
                  <a:moveTo>
                    <a:pt x="0" y="0"/>
                  </a:moveTo>
                  <a:lnTo>
                    <a:pt x="9997" y="108935"/>
                  </a:lnTo>
                  <a:lnTo>
                    <a:pt x="66690" y="15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463820" y="3400602"/>
              <a:ext cx="31115" cy="135890"/>
            </a:xfrm>
            <a:custGeom>
              <a:avLst/>
              <a:gdLst/>
              <a:ahLst/>
              <a:cxnLst/>
              <a:rect l="l" t="t" r="r" b="b"/>
              <a:pathLst>
                <a:path w="31114" h="135889">
                  <a:moveTo>
                    <a:pt x="0" y="0"/>
                  </a:moveTo>
                  <a:lnTo>
                    <a:pt x="4434" y="21122"/>
                  </a:lnTo>
                </a:path>
                <a:path w="31114" h="135889">
                  <a:moveTo>
                    <a:pt x="9997" y="42245"/>
                  </a:moveTo>
                  <a:lnTo>
                    <a:pt x="14447" y="64480"/>
                  </a:lnTo>
                </a:path>
                <a:path w="31114" h="135889">
                  <a:moveTo>
                    <a:pt x="20010" y="85603"/>
                  </a:moveTo>
                  <a:lnTo>
                    <a:pt x="24444" y="107838"/>
                  </a:lnTo>
                </a:path>
                <a:path w="31114" h="135889">
                  <a:moveTo>
                    <a:pt x="30007" y="128960"/>
                  </a:moveTo>
                  <a:lnTo>
                    <a:pt x="31120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459370" y="3519551"/>
              <a:ext cx="67310" cy="109220"/>
            </a:xfrm>
            <a:custGeom>
              <a:avLst/>
              <a:gdLst/>
              <a:ahLst/>
              <a:cxnLst/>
              <a:rect l="l" t="t" r="r" b="b"/>
              <a:pathLst>
                <a:path w="67310" h="109220">
                  <a:moveTo>
                    <a:pt x="66690" y="0"/>
                  </a:moveTo>
                  <a:lnTo>
                    <a:pt x="0" y="15560"/>
                  </a:lnTo>
                  <a:lnTo>
                    <a:pt x="56692" y="108935"/>
                  </a:lnTo>
                  <a:lnTo>
                    <a:pt x="666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691703" y="3400602"/>
              <a:ext cx="30480" cy="135890"/>
            </a:xfrm>
            <a:custGeom>
              <a:avLst/>
              <a:gdLst/>
              <a:ahLst/>
              <a:cxnLst/>
              <a:rect l="l" t="t" r="r" b="b"/>
              <a:pathLst>
                <a:path w="30480" h="135889">
                  <a:moveTo>
                    <a:pt x="30007" y="0"/>
                  </a:moveTo>
                  <a:lnTo>
                    <a:pt x="25557" y="22235"/>
                  </a:lnTo>
                </a:path>
                <a:path w="30480" h="135889">
                  <a:moveTo>
                    <a:pt x="19994" y="43357"/>
                  </a:moveTo>
                  <a:lnTo>
                    <a:pt x="15560" y="65592"/>
                  </a:lnTo>
                </a:path>
                <a:path w="30480" h="135889">
                  <a:moveTo>
                    <a:pt x="11109" y="87828"/>
                  </a:moveTo>
                  <a:lnTo>
                    <a:pt x="5547" y="108950"/>
                  </a:lnTo>
                </a:path>
                <a:path w="30480" h="135889">
                  <a:moveTo>
                    <a:pt x="1097" y="131170"/>
                  </a:moveTo>
                  <a:lnTo>
                    <a:pt x="0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659456" y="3519551"/>
              <a:ext cx="67945" cy="109220"/>
            </a:xfrm>
            <a:custGeom>
              <a:avLst/>
              <a:gdLst/>
              <a:ahLst/>
              <a:cxnLst/>
              <a:rect l="l" t="t" r="r" b="b"/>
              <a:pathLst>
                <a:path w="67944" h="109220">
                  <a:moveTo>
                    <a:pt x="0" y="0"/>
                  </a:moveTo>
                  <a:lnTo>
                    <a:pt x="11125" y="108935"/>
                  </a:lnTo>
                  <a:lnTo>
                    <a:pt x="67817" y="15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773954" y="3400602"/>
              <a:ext cx="30480" cy="135890"/>
            </a:xfrm>
            <a:custGeom>
              <a:avLst/>
              <a:gdLst/>
              <a:ahLst/>
              <a:cxnLst/>
              <a:rect l="l" t="t" r="r" b="b"/>
              <a:pathLst>
                <a:path w="30480" h="135889">
                  <a:moveTo>
                    <a:pt x="0" y="0"/>
                  </a:moveTo>
                  <a:lnTo>
                    <a:pt x="4450" y="22235"/>
                  </a:lnTo>
                </a:path>
                <a:path w="30480" h="135889">
                  <a:moveTo>
                    <a:pt x="10012" y="43357"/>
                  </a:moveTo>
                  <a:lnTo>
                    <a:pt x="14447" y="65592"/>
                  </a:lnTo>
                </a:path>
                <a:path w="30480" h="135889">
                  <a:moveTo>
                    <a:pt x="18897" y="87828"/>
                  </a:moveTo>
                  <a:lnTo>
                    <a:pt x="24460" y="108950"/>
                  </a:lnTo>
                </a:path>
                <a:path w="30480" h="135889">
                  <a:moveTo>
                    <a:pt x="28910" y="131170"/>
                  </a:moveTo>
                  <a:lnTo>
                    <a:pt x="30022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768391" y="3519551"/>
              <a:ext cx="67945" cy="109220"/>
            </a:xfrm>
            <a:custGeom>
              <a:avLst/>
              <a:gdLst/>
              <a:ahLst/>
              <a:cxnLst/>
              <a:rect l="l" t="t" r="r" b="b"/>
              <a:pathLst>
                <a:path w="67944" h="109220">
                  <a:moveTo>
                    <a:pt x="67817" y="0"/>
                  </a:moveTo>
                  <a:lnTo>
                    <a:pt x="0" y="15560"/>
                  </a:lnTo>
                  <a:lnTo>
                    <a:pt x="56692" y="108935"/>
                  </a:lnTo>
                  <a:lnTo>
                    <a:pt x="678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3128558" y="3400602"/>
              <a:ext cx="31750" cy="135890"/>
            </a:xfrm>
            <a:custGeom>
              <a:avLst/>
              <a:gdLst/>
              <a:ahLst/>
              <a:cxnLst/>
              <a:rect l="l" t="t" r="r" b="b"/>
              <a:pathLst>
                <a:path w="31750" h="135889">
                  <a:moveTo>
                    <a:pt x="31135" y="0"/>
                  </a:moveTo>
                  <a:lnTo>
                    <a:pt x="26685" y="21122"/>
                  </a:lnTo>
                </a:path>
                <a:path w="31750" h="135889">
                  <a:moveTo>
                    <a:pt x="21122" y="42245"/>
                  </a:moveTo>
                  <a:lnTo>
                    <a:pt x="16687" y="64480"/>
                  </a:lnTo>
                </a:path>
                <a:path w="31750" h="135889">
                  <a:moveTo>
                    <a:pt x="11125" y="85603"/>
                  </a:moveTo>
                  <a:lnTo>
                    <a:pt x="6675" y="107838"/>
                  </a:lnTo>
                </a:path>
                <a:path w="31750" h="135889">
                  <a:moveTo>
                    <a:pt x="1112" y="128960"/>
                  </a:moveTo>
                  <a:lnTo>
                    <a:pt x="0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097438" y="3519551"/>
              <a:ext cx="67310" cy="109220"/>
            </a:xfrm>
            <a:custGeom>
              <a:avLst/>
              <a:gdLst/>
              <a:ahLst/>
              <a:cxnLst/>
              <a:rect l="l" t="t" r="r" b="b"/>
              <a:pathLst>
                <a:path w="67310" h="109220">
                  <a:moveTo>
                    <a:pt x="0" y="0"/>
                  </a:moveTo>
                  <a:lnTo>
                    <a:pt x="10012" y="108935"/>
                  </a:lnTo>
                  <a:lnTo>
                    <a:pt x="66705" y="15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210823" y="3400602"/>
              <a:ext cx="31115" cy="135890"/>
            </a:xfrm>
            <a:custGeom>
              <a:avLst/>
              <a:gdLst/>
              <a:ahLst/>
              <a:cxnLst/>
              <a:rect l="l" t="t" r="r" b="b"/>
              <a:pathLst>
                <a:path w="31114" h="135889">
                  <a:moveTo>
                    <a:pt x="0" y="0"/>
                  </a:moveTo>
                  <a:lnTo>
                    <a:pt x="4450" y="21122"/>
                  </a:lnTo>
                </a:path>
                <a:path w="31114" h="135889">
                  <a:moveTo>
                    <a:pt x="10012" y="42245"/>
                  </a:moveTo>
                  <a:lnTo>
                    <a:pt x="14447" y="64480"/>
                  </a:lnTo>
                </a:path>
                <a:path w="31114" h="135889">
                  <a:moveTo>
                    <a:pt x="20010" y="85603"/>
                  </a:moveTo>
                  <a:lnTo>
                    <a:pt x="24460" y="107838"/>
                  </a:lnTo>
                </a:path>
                <a:path w="31114" h="135889">
                  <a:moveTo>
                    <a:pt x="30007" y="128960"/>
                  </a:moveTo>
                  <a:lnTo>
                    <a:pt x="31120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206373" y="3519551"/>
              <a:ext cx="67310" cy="109220"/>
            </a:xfrm>
            <a:custGeom>
              <a:avLst/>
              <a:gdLst/>
              <a:ahLst/>
              <a:cxnLst/>
              <a:rect l="l" t="t" r="r" b="b"/>
              <a:pathLst>
                <a:path w="67310" h="109220">
                  <a:moveTo>
                    <a:pt x="66705" y="0"/>
                  </a:moveTo>
                  <a:lnTo>
                    <a:pt x="0" y="15560"/>
                  </a:lnTo>
                  <a:lnTo>
                    <a:pt x="55580" y="108935"/>
                  </a:lnTo>
                  <a:lnTo>
                    <a:pt x="667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259092" y="2529103"/>
              <a:ext cx="289560" cy="263525"/>
            </a:xfrm>
            <a:custGeom>
              <a:avLst/>
              <a:gdLst/>
              <a:ahLst/>
              <a:cxnLst/>
              <a:rect l="l" t="t" r="r" b="b"/>
              <a:pathLst>
                <a:path w="289560" h="263525">
                  <a:moveTo>
                    <a:pt x="0" y="0"/>
                  </a:moveTo>
                  <a:lnTo>
                    <a:pt x="289011" y="263453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3" name="object 6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12533" y="2755874"/>
              <a:ext cx="73365" cy="72252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3848892" y="2529103"/>
              <a:ext cx="255904" cy="261620"/>
            </a:xfrm>
            <a:custGeom>
              <a:avLst/>
              <a:gdLst/>
              <a:ahLst/>
              <a:cxnLst/>
              <a:rect l="l" t="t" r="r" b="b"/>
              <a:pathLst>
                <a:path w="255904" h="261619">
                  <a:moveTo>
                    <a:pt x="255681" y="0"/>
                  </a:moveTo>
                  <a:lnTo>
                    <a:pt x="0" y="261228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5" name="object 6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12209" y="2754762"/>
              <a:ext cx="73365" cy="73365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842027" y="2983553"/>
              <a:ext cx="193615" cy="228073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623233" y="2983553"/>
              <a:ext cx="159157" cy="228073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633517" y="2979118"/>
              <a:ext cx="193615" cy="226960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14707" y="2979118"/>
              <a:ext cx="159157" cy="226960"/>
            </a:xfrm>
            <a:prstGeom prst="rect">
              <a:avLst/>
            </a:prstGeom>
          </p:spPr>
        </p:pic>
      </p:grpSp>
      <p:sp>
        <p:nvSpPr>
          <p:cNvPr id="70" name="object 70"/>
          <p:cNvSpPr txBox="1"/>
          <p:nvPr/>
        </p:nvSpPr>
        <p:spPr>
          <a:xfrm>
            <a:off x="3881140" y="2372354"/>
            <a:ext cx="636270" cy="162560"/>
          </a:xfrm>
          <a:prstGeom prst="rect">
            <a:avLst/>
          </a:prstGeom>
          <a:solidFill>
            <a:srgbClr val="000080"/>
          </a:solidFill>
          <a:ln w="9278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ctr" marR="5080">
              <a:lnSpc>
                <a:spcPts val="1180"/>
              </a:lnSpc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n/2</a:t>
            </a:r>
            <a:endParaRPr sz="100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657691" y="2832568"/>
            <a:ext cx="301625" cy="160655"/>
          </a:xfrm>
          <a:prstGeom prst="rect">
            <a:avLst/>
          </a:prstGeom>
          <a:solidFill>
            <a:srgbClr val="000080"/>
          </a:solidFill>
          <a:ln w="9278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71755">
              <a:lnSpc>
                <a:spcPts val="1170"/>
              </a:lnSpc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n/4</a:t>
            </a:r>
            <a:endParaRPr sz="10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4454728" y="2832568"/>
            <a:ext cx="301625" cy="160655"/>
          </a:xfrm>
          <a:prstGeom prst="rect">
            <a:avLst/>
          </a:prstGeom>
          <a:solidFill>
            <a:srgbClr val="000080"/>
          </a:solidFill>
          <a:ln w="9278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74295">
              <a:lnSpc>
                <a:spcPts val="1165"/>
              </a:lnSpc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n/4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3549555" y="3206872"/>
            <a:ext cx="1390650" cy="170815"/>
            <a:chOff x="3549555" y="3206872"/>
            <a:chExt cx="1390650" cy="170815"/>
          </a:xfrm>
        </p:grpSpPr>
        <p:sp>
          <p:nvSpPr>
            <p:cNvPr id="74" name="object 74"/>
            <p:cNvSpPr/>
            <p:nvPr/>
          </p:nvSpPr>
          <p:spPr>
            <a:xfrm>
              <a:off x="3554318" y="3211634"/>
              <a:ext cx="207010" cy="161290"/>
            </a:xfrm>
            <a:custGeom>
              <a:avLst/>
              <a:gdLst/>
              <a:ahLst/>
              <a:cxnLst/>
              <a:rect l="l" t="t" r="r" b="b"/>
              <a:pathLst>
                <a:path w="207010" h="161289">
                  <a:moveTo>
                    <a:pt x="206762" y="0"/>
                  </a:moveTo>
                  <a:lnTo>
                    <a:pt x="0" y="0"/>
                  </a:lnTo>
                  <a:lnTo>
                    <a:pt x="0" y="161185"/>
                  </a:lnTo>
                  <a:lnTo>
                    <a:pt x="206762" y="161185"/>
                  </a:lnTo>
                  <a:lnTo>
                    <a:pt x="206762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3554318" y="3211634"/>
              <a:ext cx="207010" cy="161290"/>
            </a:xfrm>
            <a:custGeom>
              <a:avLst/>
              <a:gdLst/>
              <a:ahLst/>
              <a:cxnLst/>
              <a:rect l="l" t="t" r="r" b="b"/>
              <a:pathLst>
                <a:path w="207010" h="161289">
                  <a:moveTo>
                    <a:pt x="0" y="161185"/>
                  </a:moveTo>
                  <a:lnTo>
                    <a:pt x="206762" y="161185"/>
                  </a:lnTo>
                  <a:lnTo>
                    <a:pt x="206762" y="0"/>
                  </a:lnTo>
                  <a:lnTo>
                    <a:pt x="0" y="0"/>
                  </a:lnTo>
                  <a:lnTo>
                    <a:pt x="0" y="161185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3937832" y="3211634"/>
              <a:ext cx="207010" cy="161290"/>
            </a:xfrm>
            <a:custGeom>
              <a:avLst/>
              <a:gdLst/>
              <a:ahLst/>
              <a:cxnLst/>
              <a:rect l="l" t="t" r="r" b="b"/>
              <a:pathLst>
                <a:path w="207010" h="161289">
                  <a:moveTo>
                    <a:pt x="206761" y="0"/>
                  </a:moveTo>
                  <a:lnTo>
                    <a:pt x="0" y="0"/>
                  </a:lnTo>
                  <a:lnTo>
                    <a:pt x="0" y="161185"/>
                  </a:lnTo>
                  <a:lnTo>
                    <a:pt x="206761" y="161185"/>
                  </a:lnTo>
                  <a:lnTo>
                    <a:pt x="20676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3937832" y="3211634"/>
              <a:ext cx="207010" cy="161290"/>
            </a:xfrm>
            <a:custGeom>
              <a:avLst/>
              <a:gdLst/>
              <a:ahLst/>
              <a:cxnLst/>
              <a:rect l="l" t="t" r="r" b="b"/>
              <a:pathLst>
                <a:path w="207010" h="161289">
                  <a:moveTo>
                    <a:pt x="0" y="161185"/>
                  </a:moveTo>
                  <a:lnTo>
                    <a:pt x="206761" y="161185"/>
                  </a:lnTo>
                  <a:lnTo>
                    <a:pt x="206761" y="0"/>
                  </a:lnTo>
                  <a:lnTo>
                    <a:pt x="0" y="0"/>
                  </a:lnTo>
                  <a:lnTo>
                    <a:pt x="0" y="161185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315784" y="3211634"/>
              <a:ext cx="207010" cy="161290"/>
            </a:xfrm>
            <a:custGeom>
              <a:avLst/>
              <a:gdLst/>
              <a:ahLst/>
              <a:cxnLst/>
              <a:rect l="l" t="t" r="r" b="b"/>
              <a:pathLst>
                <a:path w="207010" h="161289">
                  <a:moveTo>
                    <a:pt x="206761" y="0"/>
                  </a:moveTo>
                  <a:lnTo>
                    <a:pt x="0" y="0"/>
                  </a:lnTo>
                  <a:lnTo>
                    <a:pt x="0" y="161185"/>
                  </a:lnTo>
                  <a:lnTo>
                    <a:pt x="206761" y="161185"/>
                  </a:lnTo>
                  <a:lnTo>
                    <a:pt x="20676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315784" y="3211634"/>
              <a:ext cx="207010" cy="161290"/>
            </a:xfrm>
            <a:custGeom>
              <a:avLst/>
              <a:gdLst/>
              <a:ahLst/>
              <a:cxnLst/>
              <a:rect l="l" t="t" r="r" b="b"/>
              <a:pathLst>
                <a:path w="207010" h="161289">
                  <a:moveTo>
                    <a:pt x="0" y="161185"/>
                  </a:moveTo>
                  <a:lnTo>
                    <a:pt x="206761" y="161185"/>
                  </a:lnTo>
                  <a:lnTo>
                    <a:pt x="206761" y="0"/>
                  </a:lnTo>
                  <a:lnTo>
                    <a:pt x="0" y="0"/>
                  </a:lnTo>
                  <a:lnTo>
                    <a:pt x="0" y="161185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729307" y="3211634"/>
              <a:ext cx="205740" cy="161290"/>
            </a:xfrm>
            <a:custGeom>
              <a:avLst/>
              <a:gdLst/>
              <a:ahLst/>
              <a:cxnLst/>
              <a:rect l="l" t="t" r="r" b="b"/>
              <a:pathLst>
                <a:path w="205739" h="161289">
                  <a:moveTo>
                    <a:pt x="205650" y="0"/>
                  </a:moveTo>
                  <a:lnTo>
                    <a:pt x="0" y="0"/>
                  </a:lnTo>
                  <a:lnTo>
                    <a:pt x="0" y="161185"/>
                  </a:lnTo>
                  <a:lnTo>
                    <a:pt x="205650" y="161185"/>
                  </a:lnTo>
                  <a:lnTo>
                    <a:pt x="205650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729307" y="3211634"/>
              <a:ext cx="205740" cy="161290"/>
            </a:xfrm>
            <a:custGeom>
              <a:avLst/>
              <a:gdLst/>
              <a:ahLst/>
              <a:cxnLst/>
              <a:rect l="l" t="t" r="r" b="b"/>
              <a:pathLst>
                <a:path w="205739" h="161289">
                  <a:moveTo>
                    <a:pt x="0" y="161185"/>
                  </a:moveTo>
                  <a:lnTo>
                    <a:pt x="205650" y="161185"/>
                  </a:lnTo>
                  <a:lnTo>
                    <a:pt x="205650" y="0"/>
                  </a:lnTo>
                  <a:lnTo>
                    <a:pt x="0" y="0"/>
                  </a:lnTo>
                  <a:lnTo>
                    <a:pt x="0" y="161185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2" name="object 82"/>
          <p:cNvSpPr txBox="1"/>
          <p:nvPr/>
        </p:nvSpPr>
        <p:spPr>
          <a:xfrm>
            <a:off x="3564316" y="2796934"/>
            <a:ext cx="2101215" cy="720090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algn="r" marR="5715">
              <a:lnSpc>
                <a:spcPct val="100000"/>
              </a:lnSpc>
              <a:spcBef>
                <a:spcPts val="275"/>
              </a:spcBef>
            </a:pPr>
            <a:r>
              <a:rPr dirty="0" sz="1000" spc="5">
                <a:solidFill>
                  <a:srgbClr val="FFFF00"/>
                </a:solidFill>
                <a:latin typeface="Arial"/>
                <a:cs typeface="Arial"/>
              </a:rPr>
              <a:t>4(n/4)</a:t>
            </a:r>
            <a:r>
              <a:rPr dirty="0" sz="1000" spc="-3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=</a:t>
            </a:r>
            <a:r>
              <a:rPr dirty="0" sz="1000" spc="-2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n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85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+</a:t>
            </a:r>
            <a:endParaRPr sz="1000">
              <a:latin typeface="Arial"/>
              <a:cs typeface="Arial"/>
            </a:endParaRPr>
          </a:p>
          <a:p>
            <a:pPr algn="r" marR="5715">
              <a:lnSpc>
                <a:spcPts val="985"/>
              </a:lnSpc>
              <a:spcBef>
                <a:spcPts val="375"/>
              </a:spcBef>
              <a:tabLst>
                <a:tab pos="382905" algn="l"/>
                <a:tab pos="761365" algn="l"/>
                <a:tab pos="1173480" algn="l"/>
                <a:tab pos="1527175" algn="l"/>
              </a:tabLst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n/8	n/8	n/8	n/8	</a:t>
            </a:r>
            <a:r>
              <a:rPr dirty="0" sz="1000" spc="5">
                <a:solidFill>
                  <a:srgbClr val="FFFF00"/>
                </a:solidFill>
                <a:latin typeface="Arial"/>
                <a:cs typeface="Arial"/>
              </a:rPr>
              <a:t>8(n/8)</a:t>
            </a:r>
            <a:r>
              <a:rPr dirty="0" sz="1000" spc="-3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=</a:t>
            </a:r>
            <a:r>
              <a:rPr dirty="0" sz="1000" spc="-2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n</a:t>
            </a:r>
            <a:endParaRPr sz="1000">
              <a:latin typeface="Arial"/>
              <a:cs typeface="Arial"/>
            </a:endParaRPr>
          </a:p>
          <a:p>
            <a:pPr algn="r" marR="96520">
              <a:lnSpc>
                <a:spcPts val="1345"/>
              </a:lnSpc>
            </a:pPr>
            <a:r>
              <a:rPr dirty="0" sz="1300">
                <a:solidFill>
                  <a:srgbClr val="FFFF00"/>
                </a:solidFill>
                <a:latin typeface="Arial"/>
                <a:cs typeface="Arial"/>
              </a:rPr>
              <a:t>.....</a:t>
            </a:r>
            <a:endParaRPr sz="1300">
              <a:latin typeface="Arial"/>
              <a:cs typeface="Arial"/>
            </a:endParaRPr>
          </a:p>
        </p:txBody>
      </p:sp>
      <p:grpSp>
        <p:nvGrpSpPr>
          <p:cNvPr id="83" name="object 83"/>
          <p:cNvGrpSpPr/>
          <p:nvPr/>
        </p:nvGrpSpPr>
        <p:grpSpPr>
          <a:xfrm>
            <a:off x="3480640" y="3671525"/>
            <a:ext cx="904875" cy="170815"/>
            <a:chOff x="3480640" y="3671525"/>
            <a:chExt cx="904875" cy="170815"/>
          </a:xfrm>
        </p:grpSpPr>
        <p:sp>
          <p:nvSpPr>
            <p:cNvPr id="84" name="object 84"/>
            <p:cNvSpPr/>
            <p:nvPr/>
          </p:nvSpPr>
          <p:spPr>
            <a:xfrm>
              <a:off x="3485403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29" h="161289">
                  <a:moveTo>
                    <a:pt x="137841" y="0"/>
                  </a:moveTo>
                  <a:lnTo>
                    <a:pt x="0" y="0"/>
                  </a:lnTo>
                  <a:lnTo>
                    <a:pt x="0" y="161184"/>
                  </a:lnTo>
                  <a:lnTo>
                    <a:pt x="137841" y="161184"/>
                  </a:lnTo>
                  <a:lnTo>
                    <a:pt x="13784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3485403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29" h="161289">
                  <a:moveTo>
                    <a:pt x="0" y="161184"/>
                  </a:moveTo>
                  <a:lnTo>
                    <a:pt x="137841" y="161184"/>
                  </a:lnTo>
                  <a:lnTo>
                    <a:pt x="137841" y="0"/>
                  </a:lnTo>
                  <a:lnTo>
                    <a:pt x="0" y="0"/>
                  </a:lnTo>
                  <a:lnTo>
                    <a:pt x="0" y="161184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3726621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29" h="161289">
                  <a:moveTo>
                    <a:pt x="137840" y="0"/>
                  </a:moveTo>
                  <a:lnTo>
                    <a:pt x="0" y="0"/>
                  </a:lnTo>
                  <a:lnTo>
                    <a:pt x="0" y="161184"/>
                  </a:lnTo>
                  <a:lnTo>
                    <a:pt x="137840" y="161184"/>
                  </a:lnTo>
                  <a:lnTo>
                    <a:pt x="137840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3726621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29" h="161289">
                  <a:moveTo>
                    <a:pt x="0" y="161184"/>
                  </a:moveTo>
                  <a:lnTo>
                    <a:pt x="137840" y="161184"/>
                  </a:lnTo>
                  <a:lnTo>
                    <a:pt x="137840" y="0"/>
                  </a:lnTo>
                  <a:lnTo>
                    <a:pt x="0" y="0"/>
                  </a:lnTo>
                  <a:lnTo>
                    <a:pt x="0" y="161184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3984513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29" h="161289">
                  <a:moveTo>
                    <a:pt x="137840" y="0"/>
                  </a:moveTo>
                  <a:lnTo>
                    <a:pt x="0" y="0"/>
                  </a:lnTo>
                  <a:lnTo>
                    <a:pt x="0" y="161184"/>
                  </a:lnTo>
                  <a:lnTo>
                    <a:pt x="137840" y="161184"/>
                  </a:lnTo>
                  <a:lnTo>
                    <a:pt x="137840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984513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29" h="161289">
                  <a:moveTo>
                    <a:pt x="0" y="161184"/>
                  </a:moveTo>
                  <a:lnTo>
                    <a:pt x="137840" y="161184"/>
                  </a:lnTo>
                  <a:lnTo>
                    <a:pt x="137840" y="0"/>
                  </a:lnTo>
                  <a:lnTo>
                    <a:pt x="0" y="0"/>
                  </a:lnTo>
                  <a:lnTo>
                    <a:pt x="0" y="161184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4242404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29" h="161289">
                  <a:moveTo>
                    <a:pt x="137841" y="0"/>
                  </a:moveTo>
                  <a:lnTo>
                    <a:pt x="0" y="0"/>
                  </a:lnTo>
                  <a:lnTo>
                    <a:pt x="0" y="161184"/>
                  </a:lnTo>
                  <a:lnTo>
                    <a:pt x="137841" y="161184"/>
                  </a:lnTo>
                  <a:lnTo>
                    <a:pt x="13784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4242404" y="3676288"/>
              <a:ext cx="138430" cy="161290"/>
            </a:xfrm>
            <a:custGeom>
              <a:avLst/>
              <a:gdLst/>
              <a:ahLst/>
              <a:cxnLst/>
              <a:rect l="l" t="t" r="r" b="b"/>
              <a:pathLst>
                <a:path w="138429" h="161289">
                  <a:moveTo>
                    <a:pt x="0" y="161184"/>
                  </a:moveTo>
                  <a:lnTo>
                    <a:pt x="137841" y="161184"/>
                  </a:lnTo>
                  <a:lnTo>
                    <a:pt x="137841" y="0"/>
                  </a:lnTo>
                  <a:lnTo>
                    <a:pt x="0" y="0"/>
                  </a:lnTo>
                  <a:lnTo>
                    <a:pt x="0" y="161184"/>
                  </a:lnTo>
                  <a:close/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2" name="object 92"/>
          <p:cNvSpPr txBox="1"/>
          <p:nvPr/>
        </p:nvSpPr>
        <p:spPr>
          <a:xfrm>
            <a:off x="3518736" y="3647076"/>
            <a:ext cx="841375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  <a:tabLst>
                <a:tab pos="240029" algn="l"/>
                <a:tab pos="497840" algn="l"/>
                <a:tab pos="755650" algn="l"/>
              </a:tabLst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93" name="object 93"/>
          <p:cNvGrpSpPr/>
          <p:nvPr/>
        </p:nvGrpSpPr>
        <p:grpSpPr>
          <a:xfrm>
            <a:off x="3544305" y="3395963"/>
            <a:ext cx="1493520" cy="446405"/>
            <a:chOff x="3544305" y="3395963"/>
            <a:chExt cx="1493520" cy="446405"/>
          </a:xfrm>
        </p:grpSpPr>
        <p:sp>
          <p:nvSpPr>
            <p:cNvPr id="94" name="object 94"/>
            <p:cNvSpPr/>
            <p:nvPr/>
          </p:nvSpPr>
          <p:spPr>
            <a:xfrm>
              <a:off x="4896048" y="3676288"/>
              <a:ext cx="137160" cy="161290"/>
            </a:xfrm>
            <a:custGeom>
              <a:avLst/>
              <a:gdLst/>
              <a:ahLst/>
              <a:cxnLst/>
              <a:rect l="l" t="t" r="r" b="b"/>
              <a:pathLst>
                <a:path w="137160" h="161289">
                  <a:moveTo>
                    <a:pt x="136730" y="0"/>
                  </a:moveTo>
                  <a:lnTo>
                    <a:pt x="0" y="0"/>
                  </a:lnTo>
                  <a:lnTo>
                    <a:pt x="0" y="161184"/>
                  </a:lnTo>
                  <a:lnTo>
                    <a:pt x="136730" y="161184"/>
                  </a:lnTo>
                  <a:lnTo>
                    <a:pt x="136730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3575441" y="3400603"/>
              <a:ext cx="1457960" cy="436880"/>
            </a:xfrm>
            <a:custGeom>
              <a:avLst/>
              <a:gdLst/>
              <a:ahLst/>
              <a:cxnLst/>
              <a:rect l="l" t="t" r="r" b="b"/>
              <a:pathLst>
                <a:path w="1457960" h="436879">
                  <a:moveTo>
                    <a:pt x="1320606" y="436869"/>
                  </a:moveTo>
                  <a:lnTo>
                    <a:pt x="1457337" y="436869"/>
                  </a:lnTo>
                  <a:lnTo>
                    <a:pt x="1457337" y="275685"/>
                  </a:lnTo>
                  <a:lnTo>
                    <a:pt x="1320606" y="275685"/>
                  </a:lnTo>
                  <a:lnTo>
                    <a:pt x="1320606" y="436869"/>
                  </a:lnTo>
                  <a:close/>
                </a:path>
                <a:path w="1457960" h="436879">
                  <a:moveTo>
                    <a:pt x="31120" y="0"/>
                  </a:moveTo>
                  <a:lnTo>
                    <a:pt x="26669" y="21122"/>
                  </a:lnTo>
                </a:path>
                <a:path w="1457960" h="436879">
                  <a:moveTo>
                    <a:pt x="21122" y="42245"/>
                  </a:moveTo>
                  <a:lnTo>
                    <a:pt x="16672" y="64480"/>
                  </a:lnTo>
                </a:path>
                <a:path w="1457960" h="436879">
                  <a:moveTo>
                    <a:pt x="11109" y="85603"/>
                  </a:moveTo>
                  <a:lnTo>
                    <a:pt x="6659" y="107838"/>
                  </a:lnTo>
                </a:path>
                <a:path w="1457960" h="436879">
                  <a:moveTo>
                    <a:pt x="1112" y="128960"/>
                  </a:moveTo>
                  <a:lnTo>
                    <a:pt x="0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3544305" y="3519551"/>
              <a:ext cx="67310" cy="109220"/>
            </a:xfrm>
            <a:custGeom>
              <a:avLst/>
              <a:gdLst/>
              <a:ahLst/>
              <a:cxnLst/>
              <a:rect l="l" t="t" r="r" b="b"/>
              <a:pathLst>
                <a:path w="67310" h="109220">
                  <a:moveTo>
                    <a:pt x="0" y="0"/>
                  </a:moveTo>
                  <a:lnTo>
                    <a:pt x="10012" y="108935"/>
                  </a:lnTo>
                  <a:lnTo>
                    <a:pt x="66705" y="15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3657691" y="3400603"/>
              <a:ext cx="31750" cy="135890"/>
            </a:xfrm>
            <a:custGeom>
              <a:avLst/>
              <a:gdLst/>
              <a:ahLst/>
              <a:cxnLst/>
              <a:rect l="l" t="t" r="r" b="b"/>
              <a:pathLst>
                <a:path w="31750" h="135889">
                  <a:moveTo>
                    <a:pt x="0" y="0"/>
                  </a:moveTo>
                  <a:lnTo>
                    <a:pt x="4450" y="21122"/>
                  </a:lnTo>
                </a:path>
                <a:path w="31750" h="135889">
                  <a:moveTo>
                    <a:pt x="10012" y="42245"/>
                  </a:moveTo>
                  <a:lnTo>
                    <a:pt x="14462" y="64480"/>
                  </a:lnTo>
                </a:path>
                <a:path w="31750" h="135889">
                  <a:moveTo>
                    <a:pt x="20010" y="85603"/>
                  </a:moveTo>
                  <a:lnTo>
                    <a:pt x="24460" y="107838"/>
                  </a:lnTo>
                </a:path>
                <a:path w="31750" h="135889">
                  <a:moveTo>
                    <a:pt x="30022" y="128960"/>
                  </a:moveTo>
                  <a:lnTo>
                    <a:pt x="31135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3653256" y="3519551"/>
              <a:ext cx="67310" cy="109220"/>
            </a:xfrm>
            <a:custGeom>
              <a:avLst/>
              <a:gdLst/>
              <a:ahLst/>
              <a:cxnLst/>
              <a:rect l="l" t="t" r="r" b="b"/>
              <a:pathLst>
                <a:path w="67310" h="109220">
                  <a:moveTo>
                    <a:pt x="66690" y="0"/>
                  </a:moveTo>
                  <a:lnTo>
                    <a:pt x="0" y="15560"/>
                  </a:lnTo>
                  <a:lnTo>
                    <a:pt x="55580" y="108935"/>
                  </a:lnTo>
                  <a:lnTo>
                    <a:pt x="666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3987850" y="3400603"/>
              <a:ext cx="31115" cy="135890"/>
            </a:xfrm>
            <a:custGeom>
              <a:avLst/>
              <a:gdLst/>
              <a:ahLst/>
              <a:cxnLst/>
              <a:rect l="l" t="t" r="r" b="b"/>
              <a:pathLst>
                <a:path w="31114" h="135889">
                  <a:moveTo>
                    <a:pt x="31120" y="0"/>
                  </a:moveTo>
                  <a:lnTo>
                    <a:pt x="26685" y="21122"/>
                  </a:lnTo>
                </a:path>
                <a:path w="31114" h="135889">
                  <a:moveTo>
                    <a:pt x="21122" y="42245"/>
                  </a:moveTo>
                  <a:lnTo>
                    <a:pt x="16672" y="64480"/>
                  </a:lnTo>
                </a:path>
                <a:path w="31114" h="135889">
                  <a:moveTo>
                    <a:pt x="11109" y="85603"/>
                  </a:moveTo>
                  <a:lnTo>
                    <a:pt x="6675" y="107838"/>
                  </a:lnTo>
                </a:path>
                <a:path w="31114" h="135889">
                  <a:moveTo>
                    <a:pt x="1112" y="128960"/>
                  </a:moveTo>
                  <a:lnTo>
                    <a:pt x="0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3956730" y="3519551"/>
              <a:ext cx="67310" cy="109220"/>
            </a:xfrm>
            <a:custGeom>
              <a:avLst/>
              <a:gdLst/>
              <a:ahLst/>
              <a:cxnLst/>
              <a:rect l="l" t="t" r="r" b="b"/>
              <a:pathLst>
                <a:path w="67310" h="109220">
                  <a:moveTo>
                    <a:pt x="0" y="0"/>
                  </a:moveTo>
                  <a:lnTo>
                    <a:pt x="9997" y="108935"/>
                  </a:lnTo>
                  <a:lnTo>
                    <a:pt x="66690" y="15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4070116" y="3400603"/>
              <a:ext cx="31115" cy="135890"/>
            </a:xfrm>
            <a:custGeom>
              <a:avLst/>
              <a:gdLst/>
              <a:ahLst/>
              <a:cxnLst/>
              <a:rect l="l" t="t" r="r" b="b"/>
              <a:pathLst>
                <a:path w="31114" h="135889">
                  <a:moveTo>
                    <a:pt x="0" y="0"/>
                  </a:moveTo>
                  <a:lnTo>
                    <a:pt x="4434" y="21122"/>
                  </a:lnTo>
                </a:path>
                <a:path w="31114" h="135889">
                  <a:moveTo>
                    <a:pt x="9997" y="42245"/>
                  </a:moveTo>
                  <a:lnTo>
                    <a:pt x="14447" y="64480"/>
                  </a:lnTo>
                </a:path>
                <a:path w="31114" h="135889">
                  <a:moveTo>
                    <a:pt x="20010" y="85603"/>
                  </a:moveTo>
                  <a:lnTo>
                    <a:pt x="24444" y="107838"/>
                  </a:lnTo>
                </a:path>
                <a:path w="31114" h="135889">
                  <a:moveTo>
                    <a:pt x="30007" y="128960"/>
                  </a:moveTo>
                  <a:lnTo>
                    <a:pt x="31120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4065666" y="3519551"/>
              <a:ext cx="67310" cy="109220"/>
            </a:xfrm>
            <a:custGeom>
              <a:avLst/>
              <a:gdLst/>
              <a:ahLst/>
              <a:cxnLst/>
              <a:rect l="l" t="t" r="r" b="b"/>
              <a:pathLst>
                <a:path w="67310" h="109220">
                  <a:moveTo>
                    <a:pt x="66690" y="0"/>
                  </a:moveTo>
                  <a:lnTo>
                    <a:pt x="0" y="15560"/>
                  </a:lnTo>
                  <a:lnTo>
                    <a:pt x="56692" y="108935"/>
                  </a:lnTo>
                  <a:lnTo>
                    <a:pt x="666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4358015" y="3400603"/>
              <a:ext cx="30480" cy="135890"/>
            </a:xfrm>
            <a:custGeom>
              <a:avLst/>
              <a:gdLst/>
              <a:ahLst/>
              <a:cxnLst/>
              <a:rect l="l" t="t" r="r" b="b"/>
              <a:pathLst>
                <a:path w="30479" h="135889">
                  <a:moveTo>
                    <a:pt x="30022" y="0"/>
                  </a:moveTo>
                  <a:lnTo>
                    <a:pt x="25572" y="22235"/>
                  </a:lnTo>
                </a:path>
                <a:path w="30479" h="135889">
                  <a:moveTo>
                    <a:pt x="20010" y="43357"/>
                  </a:moveTo>
                  <a:lnTo>
                    <a:pt x="15575" y="65592"/>
                  </a:lnTo>
                </a:path>
                <a:path w="30479" h="135889">
                  <a:moveTo>
                    <a:pt x="11125" y="87828"/>
                  </a:moveTo>
                  <a:lnTo>
                    <a:pt x="5562" y="108950"/>
                  </a:lnTo>
                </a:path>
                <a:path w="30479" h="135889">
                  <a:moveTo>
                    <a:pt x="1112" y="131170"/>
                  </a:moveTo>
                  <a:lnTo>
                    <a:pt x="0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4325782" y="3519551"/>
              <a:ext cx="67945" cy="109220"/>
            </a:xfrm>
            <a:custGeom>
              <a:avLst/>
              <a:gdLst/>
              <a:ahLst/>
              <a:cxnLst/>
              <a:rect l="l" t="t" r="r" b="b"/>
              <a:pathLst>
                <a:path w="67945" h="109220">
                  <a:moveTo>
                    <a:pt x="0" y="0"/>
                  </a:moveTo>
                  <a:lnTo>
                    <a:pt x="11109" y="108935"/>
                  </a:lnTo>
                  <a:lnTo>
                    <a:pt x="67802" y="15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4440280" y="3400603"/>
              <a:ext cx="30480" cy="135890"/>
            </a:xfrm>
            <a:custGeom>
              <a:avLst/>
              <a:gdLst/>
              <a:ahLst/>
              <a:cxnLst/>
              <a:rect l="l" t="t" r="r" b="b"/>
              <a:pathLst>
                <a:path w="30479" h="135889">
                  <a:moveTo>
                    <a:pt x="0" y="0"/>
                  </a:moveTo>
                  <a:lnTo>
                    <a:pt x="4450" y="22235"/>
                  </a:lnTo>
                </a:path>
                <a:path w="30479" h="135889">
                  <a:moveTo>
                    <a:pt x="9997" y="43357"/>
                  </a:moveTo>
                  <a:lnTo>
                    <a:pt x="14447" y="65592"/>
                  </a:lnTo>
                </a:path>
                <a:path w="30479" h="135889">
                  <a:moveTo>
                    <a:pt x="18897" y="87828"/>
                  </a:moveTo>
                  <a:lnTo>
                    <a:pt x="24460" y="108950"/>
                  </a:lnTo>
                </a:path>
                <a:path w="30479" h="135889">
                  <a:moveTo>
                    <a:pt x="28895" y="131170"/>
                  </a:moveTo>
                  <a:lnTo>
                    <a:pt x="30007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4434717" y="3519551"/>
              <a:ext cx="67945" cy="109220"/>
            </a:xfrm>
            <a:custGeom>
              <a:avLst/>
              <a:gdLst/>
              <a:ahLst/>
              <a:cxnLst/>
              <a:rect l="l" t="t" r="r" b="b"/>
              <a:pathLst>
                <a:path w="67945" h="109220">
                  <a:moveTo>
                    <a:pt x="67817" y="0"/>
                  </a:moveTo>
                  <a:lnTo>
                    <a:pt x="0" y="15560"/>
                  </a:lnTo>
                  <a:lnTo>
                    <a:pt x="56692" y="108935"/>
                  </a:lnTo>
                  <a:lnTo>
                    <a:pt x="678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4795997" y="3400603"/>
              <a:ext cx="31750" cy="135890"/>
            </a:xfrm>
            <a:custGeom>
              <a:avLst/>
              <a:gdLst/>
              <a:ahLst/>
              <a:cxnLst/>
              <a:rect l="l" t="t" r="r" b="b"/>
              <a:pathLst>
                <a:path w="31750" h="135889">
                  <a:moveTo>
                    <a:pt x="31135" y="0"/>
                  </a:moveTo>
                  <a:lnTo>
                    <a:pt x="26685" y="21122"/>
                  </a:lnTo>
                </a:path>
                <a:path w="31750" h="135889">
                  <a:moveTo>
                    <a:pt x="21122" y="42245"/>
                  </a:moveTo>
                  <a:lnTo>
                    <a:pt x="16672" y="64480"/>
                  </a:lnTo>
                </a:path>
                <a:path w="31750" h="135889">
                  <a:moveTo>
                    <a:pt x="11125" y="85603"/>
                  </a:moveTo>
                  <a:lnTo>
                    <a:pt x="6675" y="107838"/>
                  </a:lnTo>
                </a:path>
                <a:path w="31750" h="135889">
                  <a:moveTo>
                    <a:pt x="1112" y="128960"/>
                  </a:moveTo>
                  <a:lnTo>
                    <a:pt x="0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4764877" y="3519551"/>
              <a:ext cx="67310" cy="109220"/>
            </a:xfrm>
            <a:custGeom>
              <a:avLst/>
              <a:gdLst/>
              <a:ahLst/>
              <a:cxnLst/>
              <a:rect l="l" t="t" r="r" b="b"/>
              <a:pathLst>
                <a:path w="67310" h="109220">
                  <a:moveTo>
                    <a:pt x="0" y="0"/>
                  </a:moveTo>
                  <a:lnTo>
                    <a:pt x="9997" y="108935"/>
                  </a:lnTo>
                  <a:lnTo>
                    <a:pt x="66690" y="15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4878262" y="3400603"/>
              <a:ext cx="31115" cy="135890"/>
            </a:xfrm>
            <a:custGeom>
              <a:avLst/>
              <a:gdLst/>
              <a:ahLst/>
              <a:cxnLst/>
              <a:rect l="l" t="t" r="r" b="b"/>
              <a:pathLst>
                <a:path w="31114" h="135889">
                  <a:moveTo>
                    <a:pt x="0" y="0"/>
                  </a:moveTo>
                  <a:lnTo>
                    <a:pt x="4450" y="21122"/>
                  </a:lnTo>
                </a:path>
                <a:path w="31114" h="135889">
                  <a:moveTo>
                    <a:pt x="9997" y="42245"/>
                  </a:moveTo>
                  <a:lnTo>
                    <a:pt x="14447" y="64480"/>
                  </a:lnTo>
                </a:path>
                <a:path w="31114" h="135889">
                  <a:moveTo>
                    <a:pt x="20010" y="85603"/>
                  </a:moveTo>
                  <a:lnTo>
                    <a:pt x="24444" y="107838"/>
                  </a:lnTo>
                </a:path>
                <a:path w="31114" h="135889">
                  <a:moveTo>
                    <a:pt x="30007" y="128960"/>
                  </a:moveTo>
                  <a:lnTo>
                    <a:pt x="31120" y="135620"/>
                  </a:lnTo>
                </a:path>
              </a:pathLst>
            </a:custGeom>
            <a:ln w="927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4873812" y="3519551"/>
              <a:ext cx="67310" cy="109220"/>
            </a:xfrm>
            <a:custGeom>
              <a:avLst/>
              <a:gdLst/>
              <a:ahLst/>
              <a:cxnLst/>
              <a:rect l="l" t="t" r="r" b="b"/>
              <a:pathLst>
                <a:path w="67310" h="109220">
                  <a:moveTo>
                    <a:pt x="66705" y="0"/>
                  </a:moveTo>
                  <a:lnTo>
                    <a:pt x="0" y="15560"/>
                  </a:lnTo>
                  <a:lnTo>
                    <a:pt x="56692" y="108935"/>
                  </a:lnTo>
                  <a:lnTo>
                    <a:pt x="667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1" name="object 111"/>
          <p:cNvSpPr txBox="1"/>
          <p:nvPr/>
        </p:nvSpPr>
        <p:spPr>
          <a:xfrm>
            <a:off x="2625000" y="3513155"/>
            <a:ext cx="3039110" cy="3568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  <a:tabLst>
                <a:tab pos="1814830" algn="l"/>
              </a:tabLst>
            </a:pPr>
            <a:r>
              <a:rPr dirty="0" baseline="5555" sz="1500" spc="1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baseline="5555" sz="1500" spc="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5555" sz="1500" spc="10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1291" sz="3225" spc="7">
                <a:solidFill>
                  <a:srgbClr val="FF0000"/>
                </a:solidFill>
                <a:latin typeface="Arial"/>
                <a:cs typeface="Arial"/>
              </a:rPr>
              <a:t>......</a:t>
            </a:r>
            <a:r>
              <a:rPr dirty="0" baseline="1291" sz="3225" spc="-427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5555" sz="1500" spc="1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baseline="5555" sz="150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baseline="1291" sz="3225" spc="7">
                <a:solidFill>
                  <a:srgbClr val="FF0000"/>
                </a:solidFill>
                <a:latin typeface="Arial"/>
                <a:cs typeface="Arial"/>
              </a:rPr>
              <a:t>......</a:t>
            </a:r>
            <a:r>
              <a:rPr dirty="0" baseline="1291" sz="3225" spc="-577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5555" sz="1500" spc="1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baseline="5555" sz="1500">
                <a:solidFill>
                  <a:srgbClr val="FFFFFF"/>
                </a:solidFill>
                <a:latin typeface="Arial"/>
                <a:cs typeface="Arial"/>
              </a:rPr>
              <a:t>  </a:t>
            </a:r>
            <a:r>
              <a:rPr dirty="0" baseline="5555" sz="1500" spc="-179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5">
                <a:solidFill>
                  <a:srgbClr val="FFFF00"/>
                </a:solidFill>
                <a:latin typeface="Arial"/>
                <a:cs typeface="Arial"/>
              </a:rPr>
              <a:t>n(n/n)</a:t>
            </a:r>
            <a:r>
              <a:rPr dirty="0" sz="1000" spc="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=</a:t>
            </a:r>
            <a:r>
              <a:rPr dirty="0" sz="1000" spc="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n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4893816" y="1617249"/>
            <a:ext cx="807085" cy="113220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time</a:t>
            </a:r>
            <a:r>
              <a:rPr dirty="0" sz="1000" spc="-2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00" spc="5">
                <a:solidFill>
                  <a:srgbClr val="FFFF00"/>
                </a:solidFill>
                <a:latin typeface="Arial"/>
                <a:cs typeface="Arial"/>
              </a:rPr>
              <a:t>to</a:t>
            </a:r>
            <a:r>
              <a:rPr dirty="0" sz="1000" spc="-2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merge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00">
              <a:latin typeface="Arial"/>
              <a:cs typeface="Arial"/>
            </a:endParaRPr>
          </a:p>
          <a:p>
            <a:pPr algn="r" marR="40005">
              <a:lnSpc>
                <a:spcPct val="100000"/>
              </a:lnSpc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=</a:t>
            </a:r>
            <a:r>
              <a:rPr dirty="0" sz="1000" spc="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n</a:t>
            </a:r>
            <a:endParaRPr sz="1000">
              <a:latin typeface="Arial"/>
              <a:cs typeface="Arial"/>
            </a:endParaRPr>
          </a:p>
          <a:p>
            <a:pPr algn="r" marR="40640">
              <a:lnSpc>
                <a:spcPct val="100000"/>
              </a:lnSpc>
              <a:spcBef>
                <a:spcPts val="490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+</a:t>
            </a:r>
            <a:endParaRPr sz="1000">
              <a:latin typeface="Arial"/>
              <a:cs typeface="Arial"/>
            </a:endParaRPr>
          </a:p>
          <a:p>
            <a:pPr algn="r" marR="41275">
              <a:lnSpc>
                <a:spcPct val="100000"/>
              </a:lnSpc>
              <a:spcBef>
                <a:spcPts val="700"/>
              </a:spcBef>
            </a:pPr>
            <a:r>
              <a:rPr dirty="0" sz="1000" spc="5">
                <a:solidFill>
                  <a:srgbClr val="FFFF00"/>
                </a:solidFill>
                <a:latin typeface="Arial"/>
                <a:cs typeface="Arial"/>
              </a:rPr>
              <a:t>2(n/2)</a:t>
            </a:r>
            <a:r>
              <a:rPr dirty="0" sz="1000" spc="-3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=</a:t>
            </a:r>
            <a:r>
              <a:rPr dirty="0" sz="1000" spc="-2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n</a:t>
            </a:r>
            <a:endParaRPr sz="1000">
              <a:latin typeface="Arial"/>
              <a:cs typeface="Arial"/>
            </a:endParaRPr>
          </a:p>
          <a:p>
            <a:pPr algn="r" marR="40640">
              <a:lnSpc>
                <a:spcPct val="100000"/>
              </a:lnSpc>
              <a:spcBef>
                <a:spcPts val="445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+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901699" y="3941658"/>
            <a:ext cx="4832985" cy="18148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n(log(n)+1)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marL="200660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 3.3: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 </a:t>
            </a:r>
            <a:r>
              <a:rPr dirty="0" sz="1200" spc="-5">
                <a:latin typeface="Times New Roman"/>
                <a:cs typeface="Times New Roman"/>
              </a:rPr>
              <a:t>sort Recurrence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Tree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3.1.4	</a:t>
            </a:r>
            <a:r>
              <a:rPr dirty="0" sz="1400" spc="25" b="1">
                <a:latin typeface="Times New Roman"/>
                <a:cs typeface="Times New Roman"/>
              </a:rPr>
              <a:t>A</a:t>
            </a:r>
            <a:r>
              <a:rPr dirty="0" sz="1400" spc="-1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Messier</a:t>
            </a:r>
            <a:r>
              <a:rPr dirty="0" sz="1400" spc="-1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Example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merge</a:t>
            </a:r>
            <a:r>
              <a:rPr dirty="0" sz="1200" spc="-5">
                <a:latin typeface="Times New Roman"/>
                <a:cs typeface="Times New Roman"/>
              </a:rPr>
              <a:t> sort recurrence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too </a:t>
            </a:r>
            <a:r>
              <a:rPr dirty="0" sz="1200" spc="-20">
                <a:latin typeface="Times New Roman"/>
                <a:cs typeface="Times New Roman"/>
              </a:rPr>
              <a:t>easy.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Let’s</a:t>
            </a:r>
            <a:r>
              <a:rPr dirty="0" sz="1200" spc="-5">
                <a:latin typeface="Times New Roman"/>
                <a:cs typeface="Times New Roman"/>
              </a:rPr>
              <a:t> try a messier recurrence.</a:t>
            </a:r>
            <a:endParaRPr sz="1200">
              <a:latin typeface="Times New Roman"/>
              <a:cs typeface="Times New Roman"/>
            </a:endParaRPr>
          </a:p>
          <a:p>
            <a:pPr algn="ctr" marL="523875">
              <a:lnSpc>
                <a:spcPct val="100000"/>
              </a:lnSpc>
              <a:spcBef>
                <a:spcPts val="675"/>
              </a:spcBef>
            </a:pPr>
            <a:r>
              <a:rPr dirty="0" sz="1200" spc="58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2996589" y="5808434"/>
            <a:ext cx="493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3628667" y="5704421"/>
            <a:ext cx="15436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85519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1	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3628667" y="5924563"/>
            <a:ext cx="15894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85519" algn="l"/>
              </a:tabLst>
            </a:pPr>
            <a:r>
              <a:rPr dirty="0" sz="1200" spc="-20">
                <a:latin typeface="Lucida Sans Unicode"/>
                <a:cs typeface="Lucida Sans Unicode"/>
              </a:rPr>
              <a:t>3T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n/4</a:t>
            </a:r>
            <a:r>
              <a:rPr dirty="0" sz="1200" spc="-2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	</a:t>
            </a:r>
            <a:r>
              <a:rPr dirty="0" sz="1200" spc="-10">
                <a:latin typeface="Times New Roman"/>
                <a:cs typeface="Times New Roman"/>
              </a:rPr>
              <a:t>otherwise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863597" y="6353188"/>
            <a:ext cx="4685665" cy="1494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ss</a:t>
            </a:r>
            <a:r>
              <a:rPr dirty="0" sz="1200" spc="-10">
                <a:latin typeface="Times New Roman"/>
                <a:cs typeface="Times New Roman"/>
              </a:rPr>
              <a:t>um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i.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baseline="31250" sz="1200" spc="112">
                <a:latin typeface="Verdana"/>
                <a:cs typeface="Verdana"/>
              </a:rPr>
              <a:t>k</a:t>
            </a:r>
            <a:r>
              <a:rPr dirty="0" baseline="31250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baseline="-20833" sz="1200" spc="-15">
                <a:latin typeface="Verdana"/>
                <a:cs typeface="Verdana"/>
              </a:rPr>
              <a:t>4</a:t>
            </a:r>
            <a:r>
              <a:rPr dirty="0" baseline="-20833" sz="1200" spc="-157">
                <a:latin typeface="Verdana"/>
                <a:cs typeface="Verdana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Lucida Sans Unicode"/>
              <a:cs typeface="Lucida Sans Unicode"/>
            </a:endParaRPr>
          </a:p>
          <a:p>
            <a:pPr marL="1842135">
              <a:lnSpc>
                <a:spcPct val="100000"/>
              </a:lnSpc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3T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n/4</a:t>
            </a:r>
            <a:r>
              <a:rPr dirty="0" sz="1200" spc="-20">
                <a:latin typeface="Garamond"/>
                <a:cs typeface="Garamond"/>
              </a:rPr>
              <a:t>)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195195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70">
                <a:latin typeface="Lucida Sans Unicode"/>
                <a:cs typeface="Lucida Sans Unicode"/>
              </a:rPr>
              <a:t>6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195195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9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70">
                <a:latin typeface="Lucida Sans Unicode"/>
                <a:cs typeface="Lucida Sans Unicode"/>
              </a:rPr>
              <a:t>6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195195">
              <a:lnSpc>
                <a:spcPct val="100000"/>
              </a:lnSpc>
              <a:spcBef>
                <a:spcPts val="300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27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9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70">
                <a:latin typeface="Lucida Sans Unicode"/>
                <a:cs typeface="Lucida Sans Unicode"/>
              </a:rPr>
              <a:t>6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195195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18" name="object 118"/>
          <p:cNvSpPr/>
          <p:nvPr/>
        </p:nvSpPr>
        <p:spPr>
          <a:xfrm>
            <a:off x="3525011" y="8041564"/>
            <a:ext cx="143510" cy="6350"/>
          </a:xfrm>
          <a:custGeom>
            <a:avLst/>
            <a:gdLst/>
            <a:ahLst/>
            <a:cxnLst/>
            <a:rect l="l" t="t" r="r" b="b"/>
            <a:pathLst>
              <a:path w="143510" h="6350">
                <a:moveTo>
                  <a:pt x="142989" y="0"/>
                </a:moveTo>
                <a:lnTo>
                  <a:pt x="0" y="0"/>
                </a:lnTo>
                <a:lnTo>
                  <a:pt x="0" y="6171"/>
                </a:lnTo>
                <a:lnTo>
                  <a:pt x="142989" y="6171"/>
                </a:lnTo>
                <a:lnTo>
                  <a:pt x="1429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" name="object 119"/>
          <p:cNvSpPr txBox="1"/>
          <p:nvPr/>
        </p:nvSpPr>
        <p:spPr>
          <a:xfrm>
            <a:off x="3020781" y="7917382"/>
            <a:ext cx="1791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baseline="34722" sz="1200" spc="75">
                <a:latin typeface="Verdana"/>
                <a:cs typeface="Verdana"/>
              </a:rPr>
              <a:t>k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20">
                <a:latin typeface="Garamond"/>
                <a:cs typeface="Garamond"/>
              </a:rPr>
              <a:t> </a:t>
            </a:r>
            <a:r>
              <a:rPr dirty="0" baseline="37037" sz="1800" spc="67">
                <a:latin typeface="Lucida Sans Unicode"/>
                <a:cs typeface="Lucida Sans Unicode"/>
              </a:rPr>
              <a:t>n</a:t>
            </a:r>
            <a:r>
              <a:rPr dirty="0" baseline="37037" sz="1800" spc="-142">
                <a:latin typeface="Lucida Sans Unicode"/>
                <a:cs typeface="Lucida Sans Unicode"/>
              </a:rPr>
              <a:t> 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baseline="34722" sz="1200">
                <a:latin typeface="Verdana"/>
                <a:cs typeface="Verdana"/>
              </a:rPr>
              <a:t>k</a:t>
            </a:r>
            <a:r>
              <a:rPr dirty="0" baseline="34722" sz="1200" spc="-52">
                <a:latin typeface="Verdana"/>
                <a:cs typeface="Verdana"/>
              </a:rPr>
              <a:t>−</a:t>
            </a:r>
            <a:r>
              <a:rPr dirty="0" baseline="34722" sz="1200" spc="-44">
                <a:latin typeface="Verdana"/>
                <a:cs typeface="Verdana"/>
              </a:rPr>
              <a:t>1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baseline="34722" sz="1200">
                <a:latin typeface="Verdana"/>
                <a:cs typeface="Verdana"/>
              </a:rPr>
              <a:t>k</a:t>
            </a:r>
            <a:r>
              <a:rPr dirty="0" baseline="34722" sz="1200" spc="-52">
                <a:latin typeface="Verdana"/>
                <a:cs typeface="Verdana"/>
              </a:rPr>
              <a:t>−</a:t>
            </a:r>
            <a:r>
              <a:rPr dirty="0" baseline="34722" sz="1200" spc="-44">
                <a:latin typeface="Verdana"/>
                <a:cs typeface="Verdana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3467936" y="7937044"/>
            <a:ext cx="2019300" cy="471170"/>
          </a:xfrm>
          <a:prstGeom prst="rect">
            <a:avLst/>
          </a:prstGeom>
        </p:spPr>
        <p:txBody>
          <a:bodyPr wrap="square" lIns="0" tIns="52705" rIns="0" bIns="0" rtlCol="0" vert="horz">
            <a:spAutoFit/>
          </a:bodyPr>
          <a:lstStyle/>
          <a:p>
            <a:pPr marL="56515">
              <a:lnSpc>
                <a:spcPct val="100000"/>
              </a:lnSpc>
              <a:spcBef>
                <a:spcPts val="415"/>
              </a:spcBef>
            </a:pPr>
            <a:r>
              <a:rPr dirty="0" baseline="-16203" sz="1800" spc="-75">
                <a:latin typeface="Lucida Sans Unicode"/>
                <a:cs typeface="Lucida Sans Unicode"/>
              </a:rPr>
              <a:t>4</a:t>
            </a:r>
            <a:r>
              <a:rPr dirty="0" sz="800" spc="-50">
                <a:latin typeface="Verdana"/>
                <a:cs typeface="Verdana"/>
              </a:rPr>
              <a:t>k</a:t>
            </a:r>
            <a:endParaRPr sz="800">
              <a:latin typeface="Verdana"/>
              <a:cs typeface="Verdana"/>
            </a:endParaRPr>
          </a:p>
          <a:p>
            <a:pPr marL="38100">
              <a:lnSpc>
                <a:spcPct val="100000"/>
              </a:lnSpc>
              <a:spcBef>
                <a:spcPts val="315"/>
              </a:spcBef>
            </a:pP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9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70">
                <a:latin typeface="Lucida Sans Unicode"/>
                <a:cs typeface="Lucida Sans Unicode"/>
              </a:rPr>
              <a:t>6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3533104" y="8478709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3525011" y="8704504"/>
            <a:ext cx="143510" cy="6350"/>
          </a:xfrm>
          <a:custGeom>
            <a:avLst/>
            <a:gdLst/>
            <a:ahLst/>
            <a:cxnLst/>
            <a:rect l="l" t="t" r="r" b="b"/>
            <a:pathLst>
              <a:path w="143510" h="6350">
                <a:moveTo>
                  <a:pt x="142989" y="0"/>
                </a:moveTo>
                <a:lnTo>
                  <a:pt x="0" y="0"/>
                </a:lnTo>
                <a:lnTo>
                  <a:pt x="0" y="6171"/>
                </a:lnTo>
                <a:lnTo>
                  <a:pt x="142989" y="6171"/>
                </a:lnTo>
                <a:lnTo>
                  <a:pt x="1429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" name="object 123"/>
          <p:cNvSpPr txBox="1"/>
          <p:nvPr/>
        </p:nvSpPr>
        <p:spPr>
          <a:xfrm>
            <a:off x="3486682" y="8641701"/>
            <a:ext cx="222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75">
                <a:latin typeface="Lucida Sans Unicode"/>
                <a:cs typeface="Lucida Sans Unicode"/>
              </a:rPr>
              <a:t>4</a:t>
            </a:r>
            <a:r>
              <a:rPr dirty="0" sz="800" spc="-50">
                <a:latin typeface="Verdana"/>
                <a:cs typeface="Verdana"/>
              </a:rPr>
              <a:t>k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3020787" y="8581465"/>
            <a:ext cx="9080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61670" algn="l"/>
              </a:tabLst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baseline="34722" sz="1200" spc="75">
                <a:latin typeface="Verdana"/>
                <a:cs typeface="Verdana"/>
              </a:rPr>
              <a:t>k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3886160" y="8391613"/>
            <a:ext cx="459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982">
                <a:latin typeface="Lucida Sans Unicode"/>
                <a:cs typeface="Lucida Sans Unicode"/>
              </a:rPr>
              <a:t>X</a:t>
            </a:r>
            <a:r>
              <a:rPr dirty="0" sz="800">
                <a:latin typeface="Verdana"/>
                <a:cs typeface="Verdana"/>
              </a:rPr>
              <a:t>k</a:t>
            </a:r>
            <a:r>
              <a:rPr dirty="0" sz="800" spc="-35">
                <a:latin typeface="Verdana"/>
                <a:cs typeface="Verdana"/>
              </a:rPr>
              <a:t>−</a:t>
            </a:r>
            <a:r>
              <a:rPr dirty="0" sz="800" spc="-10">
                <a:latin typeface="Verdana"/>
                <a:cs typeface="Verdana"/>
              </a:rPr>
              <a:t>1</a:t>
            </a:r>
            <a:r>
              <a:rPr dirty="0" sz="800" spc="60">
                <a:latin typeface="Verdana"/>
                <a:cs typeface="Verdana"/>
              </a:rPr>
              <a:t> </a:t>
            </a:r>
            <a:r>
              <a:rPr dirty="0" baseline="-32407" sz="1800" spc="-254">
                <a:latin typeface="Lucida Sans Unicode"/>
                <a:cs typeface="Lucida Sans Unicode"/>
              </a:rPr>
              <a:t>3</a:t>
            </a:r>
            <a:r>
              <a:rPr dirty="0" baseline="-17361" sz="1200" spc="225">
                <a:latin typeface="Verdana"/>
                <a:cs typeface="Verdana"/>
              </a:rPr>
              <a:t>i</a:t>
            </a:r>
            <a:endParaRPr baseline="-17361" sz="1200">
              <a:latin typeface="Verdana"/>
              <a:cs typeface="Verdana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3934535" y="8811069"/>
            <a:ext cx="2076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27" name="object 127"/>
          <p:cNvSpPr/>
          <p:nvPr/>
        </p:nvSpPr>
        <p:spPr>
          <a:xfrm>
            <a:off x="4183379" y="8704504"/>
            <a:ext cx="121920" cy="6350"/>
          </a:xfrm>
          <a:custGeom>
            <a:avLst/>
            <a:gdLst/>
            <a:ahLst/>
            <a:cxnLst/>
            <a:rect l="l" t="t" r="r" b="b"/>
            <a:pathLst>
              <a:path w="121920" h="6350">
                <a:moveTo>
                  <a:pt x="121614" y="0"/>
                </a:moveTo>
                <a:lnTo>
                  <a:pt x="0" y="0"/>
                </a:lnTo>
                <a:lnTo>
                  <a:pt x="0" y="6171"/>
                </a:lnTo>
                <a:lnTo>
                  <a:pt x="121614" y="6171"/>
                </a:lnTo>
                <a:lnTo>
                  <a:pt x="1216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" name="object 128"/>
          <p:cNvSpPr txBox="1"/>
          <p:nvPr/>
        </p:nvSpPr>
        <p:spPr>
          <a:xfrm>
            <a:off x="4145963" y="8641701"/>
            <a:ext cx="2000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15">
                <a:latin typeface="Lucida Sans Unicode"/>
                <a:cs typeface="Lucida Sans Unicode"/>
              </a:rPr>
              <a:t>4</a:t>
            </a:r>
            <a:r>
              <a:rPr dirty="0" sz="800" spc="-10">
                <a:latin typeface="Verdana"/>
                <a:cs typeface="Verdana"/>
              </a:rPr>
              <a:t>i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4308066" y="8581465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28714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3.1.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MERGE</a:t>
            </a:r>
            <a:r>
              <a:rPr dirty="0" sz="1200" spc="-25">
                <a:latin typeface="Times New Roman"/>
                <a:cs typeface="Times New Roman"/>
              </a:rPr>
              <a:t> SORT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76299" y="926454"/>
            <a:ext cx="171068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4</a:t>
            </a:r>
            <a:r>
              <a:rPr dirty="0" baseline="31250" sz="1200" spc="-75">
                <a:latin typeface="Verdana"/>
                <a:cs typeface="Verdana"/>
              </a:rPr>
              <a:t>k</a:t>
            </a:r>
            <a:r>
              <a:rPr dirty="0" baseline="31250" sz="1200" spc="-15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T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887557" y="1271868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8579" y="1497508"/>
            <a:ext cx="143510" cy="6350"/>
          </a:xfrm>
          <a:custGeom>
            <a:avLst/>
            <a:gdLst/>
            <a:ahLst/>
            <a:cxnLst/>
            <a:rect l="l" t="t" r="r" b="b"/>
            <a:pathLst>
              <a:path w="143510" h="6350">
                <a:moveTo>
                  <a:pt x="142989" y="0"/>
                </a:moveTo>
                <a:lnTo>
                  <a:pt x="0" y="0"/>
                </a:lnTo>
                <a:lnTo>
                  <a:pt x="0" y="6171"/>
                </a:lnTo>
                <a:lnTo>
                  <a:pt x="142989" y="6171"/>
                </a:lnTo>
                <a:lnTo>
                  <a:pt x="1429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3841126" y="1434975"/>
            <a:ext cx="222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75">
                <a:latin typeface="Lucida Sans Unicode"/>
                <a:cs typeface="Lucida Sans Unicode"/>
              </a:rPr>
              <a:t>4</a:t>
            </a:r>
            <a:r>
              <a:rPr dirty="0" sz="800" spc="-50">
                <a:latin typeface="Verdana"/>
                <a:cs typeface="Verdana"/>
              </a:rPr>
              <a:t>k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22510" y="1374625"/>
            <a:ext cx="1261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014730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baseline="34722" sz="1200" spc="75">
                <a:latin typeface="Verdana"/>
                <a:cs typeface="Verdana"/>
              </a:rPr>
              <a:t>k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240605" y="1184887"/>
            <a:ext cx="459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982">
                <a:latin typeface="Lucida Sans Unicode"/>
                <a:cs typeface="Lucida Sans Unicode"/>
              </a:rPr>
              <a:t>X</a:t>
            </a:r>
            <a:r>
              <a:rPr dirty="0" sz="800">
                <a:latin typeface="Verdana"/>
                <a:cs typeface="Verdana"/>
              </a:rPr>
              <a:t>k</a:t>
            </a:r>
            <a:r>
              <a:rPr dirty="0" sz="800" spc="-35">
                <a:latin typeface="Verdana"/>
                <a:cs typeface="Verdana"/>
              </a:rPr>
              <a:t>−</a:t>
            </a:r>
            <a:r>
              <a:rPr dirty="0" sz="800" spc="-10">
                <a:latin typeface="Verdana"/>
                <a:cs typeface="Verdana"/>
              </a:rPr>
              <a:t>1</a:t>
            </a:r>
            <a:r>
              <a:rPr dirty="0" sz="800" spc="60">
                <a:latin typeface="Verdana"/>
                <a:cs typeface="Verdana"/>
              </a:rPr>
              <a:t> </a:t>
            </a:r>
            <a:r>
              <a:rPr dirty="0" baseline="-32407" sz="1800" spc="-254">
                <a:latin typeface="Lucida Sans Unicode"/>
                <a:cs typeface="Lucida Sans Unicode"/>
              </a:rPr>
              <a:t>3</a:t>
            </a:r>
            <a:r>
              <a:rPr dirty="0" baseline="-17361" sz="1200" spc="225">
                <a:latin typeface="Verdana"/>
                <a:cs typeface="Verdana"/>
              </a:rPr>
              <a:t>i</a:t>
            </a:r>
            <a:endParaRPr baseline="-17361" sz="1200">
              <a:latin typeface="Verdana"/>
              <a:cs typeface="Verdana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4538471" y="1497508"/>
            <a:ext cx="121920" cy="6350"/>
          </a:xfrm>
          <a:custGeom>
            <a:avLst/>
            <a:gdLst/>
            <a:ahLst/>
            <a:cxnLst/>
            <a:rect l="l" t="t" r="r" b="b"/>
            <a:pathLst>
              <a:path w="121920" h="6350">
                <a:moveTo>
                  <a:pt x="121614" y="0"/>
                </a:moveTo>
                <a:lnTo>
                  <a:pt x="0" y="0"/>
                </a:lnTo>
                <a:lnTo>
                  <a:pt x="0" y="6171"/>
                </a:lnTo>
                <a:lnTo>
                  <a:pt x="121614" y="6171"/>
                </a:lnTo>
                <a:lnTo>
                  <a:pt x="1216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4500408" y="1434975"/>
            <a:ext cx="2000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15">
                <a:latin typeface="Lucida Sans Unicode"/>
                <a:cs typeface="Lucida Sans Unicode"/>
              </a:rPr>
              <a:t>4</a:t>
            </a:r>
            <a:r>
              <a:rPr dirty="0" sz="800" spc="-10">
                <a:latin typeface="Verdana"/>
                <a:cs typeface="Verdana"/>
              </a:rPr>
              <a:t>i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662511" y="1374625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375239" y="1915264"/>
            <a:ext cx="10274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3</a:t>
            </a:r>
            <a:r>
              <a:rPr dirty="0" baseline="34722" sz="1200" spc="-60">
                <a:latin typeface="Times New Roman"/>
                <a:cs typeface="Times New Roman"/>
              </a:rPr>
              <a:t>log</a:t>
            </a:r>
            <a:r>
              <a:rPr dirty="0" baseline="23148" sz="900" spc="-60">
                <a:latin typeface="Verdana"/>
                <a:cs typeface="Verdana"/>
              </a:rPr>
              <a:t>4</a:t>
            </a:r>
            <a:r>
              <a:rPr dirty="0" baseline="23148" sz="900" spc="-7">
                <a:latin typeface="Verdana"/>
                <a:cs typeface="Verdana"/>
              </a:rPr>
              <a:t> </a:t>
            </a:r>
            <a:r>
              <a:rPr dirty="0" baseline="34722" sz="1200" spc="37">
                <a:latin typeface="Verdana"/>
                <a:cs typeface="Verdana"/>
              </a:rPr>
              <a:t>n</a:t>
            </a:r>
            <a:r>
              <a:rPr dirty="0" sz="1200" spc="25">
                <a:latin typeface="Lucida Sans Unicode"/>
                <a:cs typeface="Lucida Sans Unicode"/>
              </a:rPr>
              <a:t>T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1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-5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276165" y="1604229"/>
            <a:ext cx="829310" cy="3143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ts val="900"/>
              </a:lnSpc>
              <a:spcBef>
                <a:spcPts val="95"/>
              </a:spcBef>
            </a:pPr>
            <a:r>
              <a:rPr dirty="0" sz="800" spc="15">
                <a:latin typeface="Verdana"/>
                <a:cs typeface="Verdana"/>
              </a:rPr>
              <a:t>i=0</a:t>
            </a:r>
            <a:endParaRPr sz="800">
              <a:latin typeface="Verdana"/>
              <a:cs typeface="Verdana"/>
            </a:endParaRPr>
          </a:p>
          <a:p>
            <a:pPr marL="121285">
              <a:lnSpc>
                <a:spcPts val="1380"/>
              </a:lnSpc>
            </a:pPr>
            <a:r>
              <a:rPr dirty="0" sz="800" spc="-50">
                <a:latin typeface="Verdana"/>
                <a:cs typeface="Verdana"/>
              </a:rPr>
              <a:t>(</a:t>
            </a:r>
            <a:r>
              <a:rPr dirty="0" sz="800" spc="-10">
                <a:latin typeface="Times New Roman"/>
                <a:cs typeface="Times New Roman"/>
              </a:rPr>
              <a:t>l</a:t>
            </a:r>
            <a:r>
              <a:rPr dirty="0" sz="800" spc="-5">
                <a:latin typeface="Times New Roman"/>
                <a:cs typeface="Times New Roman"/>
              </a:rPr>
              <a:t>o</a:t>
            </a:r>
            <a:r>
              <a:rPr dirty="0" sz="800" spc="-270">
                <a:latin typeface="Times New Roman"/>
                <a:cs typeface="Times New Roman"/>
              </a:rPr>
              <a:t>g</a:t>
            </a:r>
            <a:r>
              <a:rPr dirty="0" baseline="-23148" sz="1800" spc="-735">
                <a:latin typeface="Lucida Sans Unicode"/>
                <a:cs typeface="Lucida Sans Unicode"/>
              </a:rPr>
              <a:t>X</a:t>
            </a:r>
            <a:r>
              <a:rPr dirty="0" baseline="-18518" sz="900" spc="-15">
                <a:latin typeface="Verdana"/>
                <a:cs typeface="Verdana"/>
              </a:rPr>
              <a:t>4</a:t>
            </a:r>
            <a:r>
              <a:rPr dirty="0" baseline="-18518" sz="900" spc="7">
                <a:latin typeface="Verdana"/>
                <a:cs typeface="Verdana"/>
              </a:rPr>
              <a:t> </a:t>
            </a:r>
            <a:r>
              <a:rPr dirty="0" sz="800" spc="65">
                <a:latin typeface="Verdana"/>
                <a:cs typeface="Verdana"/>
              </a:rPr>
              <a:t>n</a:t>
            </a:r>
            <a:r>
              <a:rPr dirty="0" sz="800" spc="-50">
                <a:latin typeface="Verdana"/>
                <a:cs typeface="Verdana"/>
              </a:rPr>
              <a:t>)</a:t>
            </a:r>
            <a:r>
              <a:rPr dirty="0" sz="800" spc="-35">
                <a:latin typeface="Verdana"/>
                <a:cs typeface="Verdana"/>
              </a:rPr>
              <a:t>−</a:t>
            </a:r>
            <a:r>
              <a:rPr dirty="0" sz="800" spc="-10">
                <a:latin typeface="Verdana"/>
                <a:cs typeface="Verdana"/>
              </a:rPr>
              <a:t>1</a:t>
            </a:r>
            <a:r>
              <a:rPr dirty="0" sz="800" spc="-35">
                <a:latin typeface="Verdana"/>
                <a:cs typeface="Verdana"/>
              </a:rPr>
              <a:t> </a:t>
            </a:r>
            <a:r>
              <a:rPr dirty="0" baseline="-37037" sz="1800" spc="-254">
                <a:latin typeface="Lucida Sans Unicode"/>
                <a:cs typeface="Lucida Sans Unicode"/>
              </a:rPr>
              <a:t>3</a:t>
            </a:r>
            <a:r>
              <a:rPr dirty="0" baseline="-24305" sz="1200" spc="225">
                <a:latin typeface="Verdana"/>
                <a:cs typeface="Verdana"/>
              </a:rPr>
              <a:t>i</a:t>
            </a:r>
            <a:endParaRPr baseline="-24305" sz="1200">
              <a:latin typeface="Verdana"/>
              <a:cs typeface="Verdana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4931663" y="2038528"/>
            <a:ext cx="121920" cy="6350"/>
          </a:xfrm>
          <a:custGeom>
            <a:avLst/>
            <a:gdLst/>
            <a:ahLst/>
            <a:cxnLst/>
            <a:rect l="l" t="t" r="r" b="b"/>
            <a:pathLst>
              <a:path w="121920" h="6350">
                <a:moveTo>
                  <a:pt x="121614" y="0"/>
                </a:moveTo>
                <a:lnTo>
                  <a:pt x="0" y="0"/>
                </a:lnTo>
                <a:lnTo>
                  <a:pt x="0" y="6171"/>
                </a:lnTo>
                <a:lnTo>
                  <a:pt x="121614" y="6171"/>
                </a:lnTo>
                <a:lnTo>
                  <a:pt x="1216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4893257" y="1975500"/>
            <a:ext cx="2000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15">
                <a:latin typeface="Lucida Sans Unicode"/>
                <a:cs typeface="Lucida Sans Unicode"/>
              </a:rPr>
              <a:t>4</a:t>
            </a:r>
            <a:r>
              <a:rPr dirty="0" sz="800" spc="-10">
                <a:latin typeface="Verdana"/>
                <a:cs typeface="Verdana"/>
              </a:rPr>
              <a:t>i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055360" y="1915264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375239" y="2393152"/>
            <a:ext cx="748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50">
                <a:latin typeface="Garamond"/>
                <a:cs typeface="Garamond"/>
              </a:rPr>
              <a:t>=</a:t>
            </a:r>
            <a:r>
              <a:rPr dirty="0" baseline="-23148" sz="1800">
                <a:latin typeface="Garamond"/>
                <a:cs typeface="Garamond"/>
              </a:rPr>
              <a:t> </a:t>
            </a:r>
            <a:r>
              <a:rPr dirty="0" baseline="-23148" sz="1800" spc="7">
                <a:latin typeface="Lucida Sans Unicode"/>
                <a:cs typeface="Lucida Sans Unicode"/>
              </a:rPr>
              <a:t>n</a:t>
            </a:r>
            <a:r>
              <a:rPr dirty="0" sz="800" spc="5">
                <a:latin typeface="Times New Roman"/>
                <a:cs typeface="Times New Roman"/>
              </a:rPr>
              <a:t>log</a:t>
            </a:r>
            <a:r>
              <a:rPr dirty="0" baseline="-18518" sz="900" spc="7">
                <a:latin typeface="Verdana"/>
                <a:cs typeface="Verdana"/>
              </a:rPr>
              <a:t>4</a:t>
            </a:r>
            <a:r>
              <a:rPr dirty="0" baseline="-18518" sz="900" spc="-15">
                <a:latin typeface="Verdana"/>
                <a:cs typeface="Verdana"/>
              </a:rPr>
              <a:t> </a:t>
            </a:r>
            <a:r>
              <a:rPr dirty="0" sz="800" spc="-10">
                <a:latin typeface="Verdana"/>
                <a:cs typeface="Verdana"/>
              </a:rPr>
              <a:t>3</a:t>
            </a:r>
            <a:r>
              <a:rPr dirty="0" sz="800" spc="-55">
                <a:latin typeface="Verdana"/>
                <a:cs typeface="Verdana"/>
              </a:rPr>
              <a:t> </a:t>
            </a:r>
            <a:r>
              <a:rPr dirty="0" baseline="-23148" sz="1800" spc="150">
                <a:latin typeface="Garamond"/>
                <a:cs typeface="Garamond"/>
              </a:rPr>
              <a:t>+</a:t>
            </a:r>
            <a:endParaRPr baseline="-23148" sz="1800">
              <a:latin typeface="Garamond"/>
              <a:cs typeface="Garamond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068341" y="2144867"/>
            <a:ext cx="758825" cy="3143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88950">
              <a:lnSpc>
                <a:spcPts val="900"/>
              </a:lnSpc>
              <a:spcBef>
                <a:spcPts val="95"/>
              </a:spcBef>
            </a:pPr>
            <a:r>
              <a:rPr dirty="0" sz="800" spc="15">
                <a:latin typeface="Verdana"/>
                <a:cs typeface="Verdana"/>
              </a:rPr>
              <a:t>i=0</a:t>
            </a:r>
            <a:endParaRPr sz="800">
              <a:latin typeface="Verdana"/>
              <a:cs typeface="Verdana"/>
            </a:endParaRPr>
          </a:p>
          <a:p>
            <a:pPr marL="50800">
              <a:lnSpc>
                <a:spcPts val="1380"/>
              </a:lnSpc>
            </a:pPr>
            <a:r>
              <a:rPr dirty="0" sz="800" spc="-50">
                <a:latin typeface="Verdana"/>
                <a:cs typeface="Verdana"/>
              </a:rPr>
              <a:t>(</a:t>
            </a:r>
            <a:r>
              <a:rPr dirty="0" sz="800" spc="-10">
                <a:latin typeface="Times New Roman"/>
                <a:cs typeface="Times New Roman"/>
              </a:rPr>
              <a:t>l</a:t>
            </a:r>
            <a:r>
              <a:rPr dirty="0" sz="800" spc="-5">
                <a:latin typeface="Times New Roman"/>
                <a:cs typeface="Times New Roman"/>
              </a:rPr>
              <a:t>o</a:t>
            </a:r>
            <a:r>
              <a:rPr dirty="0" sz="800" spc="-270">
                <a:latin typeface="Times New Roman"/>
                <a:cs typeface="Times New Roman"/>
              </a:rPr>
              <a:t>g</a:t>
            </a:r>
            <a:r>
              <a:rPr dirty="0" baseline="-20833" sz="1800" spc="-735">
                <a:latin typeface="Lucida Sans Unicode"/>
                <a:cs typeface="Lucida Sans Unicode"/>
              </a:rPr>
              <a:t>X</a:t>
            </a:r>
            <a:r>
              <a:rPr dirty="0" baseline="-18518" sz="900" spc="-15">
                <a:latin typeface="Verdana"/>
                <a:cs typeface="Verdana"/>
              </a:rPr>
              <a:t>4</a:t>
            </a:r>
            <a:r>
              <a:rPr dirty="0" baseline="-18518" sz="900" spc="7">
                <a:latin typeface="Verdana"/>
                <a:cs typeface="Verdana"/>
              </a:rPr>
              <a:t> </a:t>
            </a:r>
            <a:r>
              <a:rPr dirty="0" sz="800" spc="65">
                <a:latin typeface="Verdana"/>
                <a:cs typeface="Verdana"/>
              </a:rPr>
              <a:t>n</a:t>
            </a:r>
            <a:r>
              <a:rPr dirty="0" sz="800" spc="-50">
                <a:latin typeface="Verdana"/>
                <a:cs typeface="Verdana"/>
              </a:rPr>
              <a:t>)</a:t>
            </a:r>
            <a:r>
              <a:rPr dirty="0" sz="800" spc="-35">
                <a:latin typeface="Verdana"/>
                <a:cs typeface="Verdana"/>
              </a:rPr>
              <a:t>−</a:t>
            </a:r>
            <a:r>
              <a:rPr dirty="0" sz="800" spc="-10">
                <a:latin typeface="Verdana"/>
                <a:cs typeface="Verdana"/>
              </a:rPr>
              <a:t>1</a:t>
            </a:r>
            <a:r>
              <a:rPr dirty="0" sz="800" spc="-35">
                <a:latin typeface="Verdana"/>
                <a:cs typeface="Verdana"/>
              </a:rPr>
              <a:t> </a:t>
            </a:r>
            <a:r>
              <a:rPr dirty="0" baseline="-37037" sz="1800" spc="-254">
                <a:latin typeface="Lucida Sans Unicode"/>
                <a:cs typeface="Lucida Sans Unicode"/>
              </a:rPr>
              <a:t>3</a:t>
            </a:r>
            <a:r>
              <a:rPr dirty="0" baseline="-24305" sz="1200" spc="225">
                <a:latin typeface="Verdana"/>
                <a:cs typeface="Verdana"/>
              </a:rPr>
              <a:t>i</a:t>
            </a:r>
            <a:endParaRPr baseline="-24305" sz="1200">
              <a:latin typeface="Verdana"/>
              <a:cs typeface="Verdana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4652771" y="2579548"/>
            <a:ext cx="121920" cy="6350"/>
          </a:xfrm>
          <a:custGeom>
            <a:avLst/>
            <a:gdLst/>
            <a:ahLst/>
            <a:cxnLst/>
            <a:rect l="l" t="t" r="r" b="b"/>
            <a:pathLst>
              <a:path w="121920" h="6350">
                <a:moveTo>
                  <a:pt x="121614" y="0"/>
                </a:moveTo>
                <a:lnTo>
                  <a:pt x="0" y="0"/>
                </a:lnTo>
                <a:lnTo>
                  <a:pt x="0" y="6171"/>
                </a:lnTo>
                <a:lnTo>
                  <a:pt x="121614" y="6171"/>
                </a:lnTo>
                <a:lnTo>
                  <a:pt x="1216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4614708" y="2516023"/>
            <a:ext cx="2000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15">
                <a:latin typeface="Lucida Sans Unicode"/>
                <a:cs typeface="Lucida Sans Unicode"/>
              </a:rPr>
              <a:t>4</a:t>
            </a:r>
            <a:r>
              <a:rPr dirty="0" sz="800" spc="-10">
                <a:latin typeface="Verdana"/>
                <a:cs typeface="Verdana"/>
              </a:rPr>
              <a:t>i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776811" y="2455787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63599" y="2616389"/>
            <a:ext cx="6296025" cy="68516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ctr" marL="716915">
              <a:lnSpc>
                <a:spcPct val="100000"/>
              </a:lnSpc>
              <a:spcBef>
                <a:spcPts val="640"/>
              </a:spcBef>
            </a:pPr>
            <a:r>
              <a:rPr dirty="0" sz="800" spc="15">
                <a:latin typeface="Verdana"/>
                <a:cs typeface="Verdana"/>
              </a:rPr>
              <a:t>i=0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Verdana"/>
              <a:cs typeface="Verdana"/>
            </a:endParaRPr>
          </a:p>
          <a:p>
            <a:pPr marL="50800" marR="43180">
              <a:lnSpc>
                <a:spcPct val="100000"/>
              </a:lnSpc>
            </a:pP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used </a:t>
            </a:r>
            <a:r>
              <a:rPr dirty="0" sz="1200" spc="-10">
                <a:latin typeface="Times New Roman"/>
                <a:cs typeface="Times New Roman"/>
              </a:rPr>
              <a:t>the formula 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baseline="31250" sz="1200" spc="30">
                <a:latin typeface="Times New Roman"/>
                <a:cs typeface="Times New Roman"/>
              </a:rPr>
              <a:t>log</a:t>
            </a:r>
            <a:r>
              <a:rPr dirty="0" baseline="18518" sz="900" spc="30">
                <a:latin typeface="Verdana"/>
                <a:cs typeface="Verdana"/>
              </a:rPr>
              <a:t>b </a:t>
            </a:r>
            <a:r>
              <a:rPr dirty="0" baseline="31250" sz="1200" spc="209">
                <a:latin typeface="Verdana"/>
                <a:cs typeface="Verdana"/>
              </a:rPr>
              <a:t>n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baseline="31250" sz="1200" spc="22">
                <a:latin typeface="Times New Roman"/>
                <a:cs typeface="Times New Roman"/>
              </a:rPr>
              <a:t>log</a:t>
            </a:r>
            <a:r>
              <a:rPr dirty="0" baseline="18518" sz="900" spc="22">
                <a:latin typeface="Verdana"/>
                <a:cs typeface="Verdana"/>
              </a:rPr>
              <a:t>b </a:t>
            </a:r>
            <a:r>
              <a:rPr dirty="0" baseline="31250" sz="1200" spc="67">
                <a:latin typeface="Verdana"/>
                <a:cs typeface="Verdana"/>
              </a:rPr>
              <a:t>a</a:t>
            </a:r>
            <a:r>
              <a:rPr dirty="0" sz="1200" spc="45">
                <a:latin typeface="Times New Roman"/>
                <a:cs typeface="Times New Roman"/>
              </a:rPr>
              <a:t>.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remains constant </a:t>
            </a:r>
            <a:r>
              <a:rPr dirty="0" sz="1200" spc="-10">
                <a:latin typeface="Times New Roman"/>
                <a:cs typeface="Times New Roman"/>
              </a:rPr>
              <a:t>throughout the </a:t>
            </a:r>
            <a:r>
              <a:rPr dirty="0" sz="1200" spc="-5">
                <a:latin typeface="Times New Roman"/>
                <a:cs typeface="Times New Roman"/>
              </a:rPr>
              <a:t>sum and </a:t>
            </a:r>
            <a:r>
              <a:rPr dirty="0" sz="1200" spc="-15">
                <a:latin typeface="Lucida Sans Unicode"/>
                <a:cs typeface="Lucida Sans Unicode"/>
              </a:rPr>
              <a:t>3</a:t>
            </a:r>
            <a:r>
              <a:rPr dirty="0" baseline="31250" sz="1200" spc="-22">
                <a:latin typeface="Verdana"/>
                <a:cs typeface="Verdana"/>
              </a:rPr>
              <a:t>i</a:t>
            </a:r>
            <a:r>
              <a:rPr dirty="0" sz="1200" spc="-15">
                <a:latin typeface="Lucida Sans Unicode"/>
                <a:cs typeface="Lucida Sans Unicode"/>
              </a:rPr>
              <a:t>/4</a:t>
            </a:r>
            <a:r>
              <a:rPr dirty="0" baseline="31250" sz="1200" spc="-22">
                <a:latin typeface="Verdana"/>
                <a:cs typeface="Verdana"/>
              </a:rPr>
              <a:t>i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>
                <a:latin typeface="Garamond"/>
                <a:cs typeface="Garamond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3/4</a:t>
            </a:r>
            <a:r>
              <a:rPr dirty="0" sz="1200">
                <a:latin typeface="Garamond"/>
                <a:cs typeface="Garamond"/>
              </a:rPr>
              <a:t>)</a:t>
            </a:r>
            <a:r>
              <a:rPr dirty="0" baseline="31250" sz="1200">
                <a:latin typeface="Verdana"/>
                <a:cs typeface="Verdana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;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thus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050059" y="3526892"/>
            <a:ext cx="12357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34722" sz="1200" spc="7">
                <a:latin typeface="Times New Roman"/>
                <a:cs typeface="Times New Roman"/>
              </a:rPr>
              <a:t>log</a:t>
            </a:r>
            <a:r>
              <a:rPr dirty="0" baseline="23148" sz="900" spc="7">
                <a:latin typeface="Verdana"/>
                <a:cs typeface="Verdana"/>
              </a:rPr>
              <a:t>4</a:t>
            </a:r>
            <a:r>
              <a:rPr dirty="0" baseline="23148" sz="900" spc="-7">
                <a:latin typeface="Verdana"/>
                <a:cs typeface="Verdana"/>
              </a:rPr>
              <a:t> </a:t>
            </a:r>
            <a:r>
              <a:rPr dirty="0" baseline="34722" sz="1200" spc="-15">
                <a:latin typeface="Verdana"/>
                <a:cs typeface="Verdana"/>
              </a:rPr>
              <a:t>3</a:t>
            </a:r>
            <a:r>
              <a:rPr dirty="0" baseline="34722" sz="1200" spc="-67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234777" y="3322296"/>
            <a:ext cx="9467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Verdana"/>
                <a:cs typeface="Verdana"/>
              </a:rPr>
              <a:t>(</a:t>
            </a:r>
            <a:r>
              <a:rPr dirty="0" sz="800" spc="-10">
                <a:latin typeface="Times New Roman"/>
                <a:cs typeface="Times New Roman"/>
              </a:rPr>
              <a:t>l</a:t>
            </a:r>
            <a:r>
              <a:rPr dirty="0" sz="800" spc="-5">
                <a:latin typeface="Times New Roman"/>
                <a:cs typeface="Times New Roman"/>
              </a:rPr>
              <a:t>o</a:t>
            </a:r>
            <a:r>
              <a:rPr dirty="0" sz="800" spc="-270">
                <a:latin typeface="Times New Roman"/>
                <a:cs typeface="Times New Roman"/>
              </a:rPr>
              <a:t>g</a:t>
            </a:r>
            <a:r>
              <a:rPr dirty="0" baseline="-23148" sz="1800" spc="-735">
                <a:latin typeface="Lucida Sans Unicode"/>
                <a:cs typeface="Lucida Sans Unicode"/>
              </a:rPr>
              <a:t>X</a:t>
            </a:r>
            <a:r>
              <a:rPr dirty="0" baseline="-18518" sz="900" spc="-15">
                <a:latin typeface="Verdana"/>
                <a:cs typeface="Verdana"/>
              </a:rPr>
              <a:t>4</a:t>
            </a:r>
            <a:r>
              <a:rPr dirty="0" baseline="-18518" sz="900" spc="7">
                <a:latin typeface="Verdana"/>
                <a:cs typeface="Verdana"/>
              </a:rPr>
              <a:t> </a:t>
            </a:r>
            <a:r>
              <a:rPr dirty="0" sz="800" spc="65">
                <a:latin typeface="Verdana"/>
                <a:cs typeface="Verdana"/>
              </a:rPr>
              <a:t>n</a:t>
            </a:r>
            <a:r>
              <a:rPr dirty="0" sz="800" spc="-50">
                <a:latin typeface="Verdana"/>
                <a:cs typeface="Verdana"/>
              </a:rPr>
              <a:t>)</a:t>
            </a:r>
            <a:r>
              <a:rPr dirty="0" sz="800" spc="-35">
                <a:latin typeface="Verdana"/>
                <a:cs typeface="Verdana"/>
              </a:rPr>
              <a:t>−</a:t>
            </a:r>
            <a:r>
              <a:rPr dirty="0" sz="800" spc="-80">
                <a:latin typeface="Verdana"/>
                <a:cs typeface="Verdana"/>
              </a:rPr>
              <a:t>1</a:t>
            </a:r>
            <a:r>
              <a:rPr dirty="0" baseline="2314" sz="1800" spc="900">
                <a:latin typeface="Gulim"/>
                <a:cs typeface="Gulim"/>
              </a:rPr>
              <a:t> </a:t>
            </a:r>
            <a:r>
              <a:rPr dirty="0" baseline="-37037" sz="1800" spc="-247">
                <a:latin typeface="Lucida Sans Unicode"/>
                <a:cs typeface="Lucida Sans Unicode"/>
              </a:rPr>
              <a:t>3</a:t>
            </a:r>
            <a:r>
              <a:rPr dirty="0" baseline="-37037" sz="1800" spc="-397">
                <a:latin typeface="Lucida Sans Unicode"/>
                <a:cs typeface="Lucida Sans Unicode"/>
              </a:rPr>
              <a:t> </a:t>
            </a:r>
            <a:r>
              <a:rPr dirty="0" baseline="2314" sz="1800" spc="719">
                <a:latin typeface="Gulim"/>
                <a:cs typeface="Gulim"/>
              </a:rPr>
              <a:t> 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endParaRPr baseline="-13888" sz="1200">
              <a:latin typeface="Verdana"/>
              <a:cs typeface="Verdan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419968" y="3756497"/>
            <a:ext cx="2076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4893563" y="3650920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4880252" y="3631020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76299" y="3913914"/>
            <a:ext cx="3215005" cy="843915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70"/>
              </a:spcBef>
            </a:pPr>
            <a:r>
              <a:rPr dirty="0" sz="1200" spc="-5">
                <a:latin typeface="Times New Roman"/>
                <a:cs typeface="Times New Roman"/>
              </a:rPr>
              <a:t>The sum is a </a:t>
            </a:r>
            <a:r>
              <a:rPr dirty="0" sz="1200" spc="-10">
                <a:latin typeface="Times New Roman"/>
                <a:cs typeface="Times New Roman"/>
              </a:rPr>
              <a:t>geometric</a:t>
            </a:r>
            <a:r>
              <a:rPr dirty="0" sz="1200" spc="-5">
                <a:latin typeface="Times New Roman"/>
                <a:cs typeface="Times New Roman"/>
              </a:rPr>
              <a:t> series; recall that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Segoe UI Symbol"/>
                <a:cs typeface="Segoe UI Symbol"/>
              </a:rPr>
              <a:t>/</a:t>
            </a:r>
            <a:r>
              <a:rPr dirty="0" sz="1200" spc="5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2649220">
              <a:lnSpc>
                <a:spcPct val="100000"/>
              </a:lnSpc>
              <a:spcBef>
                <a:spcPts val="370"/>
              </a:spcBef>
            </a:pPr>
            <a:r>
              <a:rPr dirty="0" baseline="-16203" sz="1800" spc="-142">
                <a:latin typeface="Lucida Sans Unicode"/>
                <a:cs typeface="Lucida Sans Unicode"/>
              </a:rPr>
              <a:t>X</a:t>
            </a:r>
            <a:r>
              <a:rPr dirty="0" sz="800" spc="-95">
                <a:latin typeface="Verdana"/>
                <a:cs typeface="Verdana"/>
              </a:rPr>
              <a:t>m</a:t>
            </a:r>
            <a:endParaRPr sz="800">
              <a:latin typeface="Verdana"/>
              <a:cs typeface="Verdana"/>
            </a:endParaRPr>
          </a:p>
          <a:p>
            <a:pPr algn="r" marR="30480">
              <a:lnSpc>
                <a:spcPct val="100000"/>
              </a:lnSpc>
              <a:spcBef>
                <a:spcPts val="55"/>
              </a:spcBef>
            </a:pP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baseline="-13888" sz="1200" spc="30">
                <a:latin typeface="Verdana"/>
                <a:cs typeface="Verdana"/>
              </a:rPr>
              <a:t>i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  <a:p>
            <a:pPr marL="2672080">
              <a:lnSpc>
                <a:spcPct val="100000"/>
              </a:lnSpc>
              <a:spcBef>
                <a:spcPts val="370"/>
              </a:spcBef>
            </a:pPr>
            <a:r>
              <a:rPr dirty="0" sz="800" spc="15">
                <a:latin typeface="Verdana"/>
                <a:cs typeface="Verdana"/>
              </a:rPr>
              <a:t>i=0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072015" y="4223322"/>
            <a:ext cx="6553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-165">
                <a:latin typeface="Lucida Sans Unicode"/>
                <a:cs typeface="Lucida Sans Unicode"/>
              </a:rPr>
              <a:t>x</a:t>
            </a:r>
            <a:r>
              <a:rPr dirty="0" sz="800" spc="5">
                <a:latin typeface="Verdana"/>
                <a:cs typeface="Verdana"/>
              </a:rPr>
              <a:t>m</a:t>
            </a:r>
            <a:r>
              <a:rPr dirty="0" sz="800" spc="-35">
                <a:latin typeface="Verdana"/>
                <a:cs typeface="Verdana"/>
              </a:rPr>
              <a:t>+</a:t>
            </a:r>
            <a:r>
              <a:rPr dirty="0" sz="800" spc="-10">
                <a:latin typeface="Verdana"/>
                <a:cs typeface="Verdana"/>
              </a:rPr>
              <a:t>1</a:t>
            </a:r>
            <a:r>
              <a:rPr dirty="0" sz="800" spc="-35">
                <a:latin typeface="Verdana"/>
                <a:cs typeface="Verdana"/>
              </a:rPr>
              <a:t> </a:t>
            </a:r>
            <a:r>
              <a:rPr dirty="0" baseline="-20833" sz="1800" spc="-300">
                <a:latin typeface="Garamond"/>
                <a:cs typeface="Garamond"/>
              </a:rPr>
              <a:t>−</a:t>
            </a:r>
            <a:r>
              <a:rPr dirty="0" baseline="-20833" sz="1800" spc="-52">
                <a:latin typeface="Garamond"/>
                <a:cs typeface="Garamond"/>
              </a:rPr>
              <a:t> </a:t>
            </a:r>
            <a:r>
              <a:rPr dirty="0" baseline="-20833" sz="1800" spc="-247">
                <a:latin typeface="Lucida Sans Unicode"/>
                <a:cs typeface="Lucida Sans Unicode"/>
              </a:rPr>
              <a:t>1</a:t>
            </a:r>
            <a:endParaRPr baseline="-20833" sz="1800">
              <a:latin typeface="Lucida Sans Unicode"/>
              <a:cs typeface="Lucida Sans Unicode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4110227" y="4504360"/>
            <a:ext cx="579120" cy="6350"/>
          </a:xfrm>
          <a:custGeom>
            <a:avLst/>
            <a:gdLst/>
            <a:ahLst/>
            <a:cxnLst/>
            <a:rect l="l" t="t" r="r" b="b"/>
            <a:pathLst>
              <a:path w="579120" h="6350">
                <a:moveTo>
                  <a:pt x="578700" y="0"/>
                </a:moveTo>
                <a:lnTo>
                  <a:pt x="0" y="0"/>
                </a:lnTo>
                <a:lnTo>
                  <a:pt x="0" y="6171"/>
                </a:lnTo>
                <a:lnTo>
                  <a:pt x="578700" y="6171"/>
                </a:lnTo>
                <a:lnTo>
                  <a:pt x="5787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4217770" y="4485298"/>
            <a:ext cx="3638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76297" y="4824311"/>
            <a:ext cx="30841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baseline="-20833" sz="1200" spc="-15">
                <a:latin typeface="Verdana"/>
                <a:cs typeface="Verdana"/>
              </a:rPr>
              <a:t>4</a:t>
            </a:r>
            <a:r>
              <a:rPr dirty="0" baseline="-20833" sz="1200" spc="-157">
                <a:latin typeface="Verdana"/>
                <a:cs typeface="Verdana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736221" y="5268043"/>
            <a:ext cx="7302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10">
                <a:latin typeface="Verdana"/>
                <a:cs typeface="Verdana"/>
              </a:rPr>
              <a:t>4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606948" y="5214506"/>
            <a:ext cx="2933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latin typeface="Times New Roman"/>
                <a:cs typeface="Times New Roman"/>
              </a:rPr>
              <a:t>log</a:t>
            </a:r>
            <a:r>
              <a:rPr dirty="0" sz="800" spc="3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Verdana"/>
                <a:cs typeface="Verdana"/>
              </a:rPr>
              <a:t>3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996243" y="5226533"/>
            <a:ext cx="11849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22655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145503" y="5123892"/>
            <a:ext cx="1098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baseline="31250" sz="1200" spc="-15">
                <a:latin typeface="Times New Roman"/>
                <a:cs typeface="Times New Roman"/>
              </a:rPr>
              <a:t>l</a:t>
            </a:r>
            <a:r>
              <a:rPr dirty="0" baseline="31250" sz="1200" spc="-7">
                <a:latin typeface="Times New Roman"/>
                <a:cs typeface="Times New Roman"/>
              </a:rPr>
              <a:t>o</a:t>
            </a:r>
            <a:r>
              <a:rPr dirty="0" baseline="31250" sz="1200" spc="-15">
                <a:latin typeface="Times New Roman"/>
                <a:cs typeface="Times New Roman"/>
              </a:rPr>
              <a:t>g</a:t>
            </a:r>
            <a:r>
              <a:rPr dirty="0" baseline="18518" sz="900" spc="-15">
                <a:latin typeface="Verdana"/>
                <a:cs typeface="Verdana"/>
              </a:rPr>
              <a:t>4</a:t>
            </a:r>
            <a:r>
              <a:rPr dirty="0" baseline="18518" sz="900" spc="7">
                <a:latin typeface="Verdana"/>
                <a:cs typeface="Verdana"/>
              </a:rPr>
              <a:t> </a:t>
            </a:r>
            <a:r>
              <a:rPr dirty="0" baseline="31250" sz="1200" spc="97">
                <a:latin typeface="Verdana"/>
                <a:cs typeface="Verdana"/>
              </a:rPr>
              <a:t>n</a:t>
            </a:r>
            <a:r>
              <a:rPr dirty="0" baseline="31250" sz="1200" spc="-52">
                <a:latin typeface="Verdana"/>
                <a:cs typeface="Verdana"/>
              </a:rPr>
              <a:t>+</a:t>
            </a:r>
            <a:r>
              <a:rPr dirty="0" baseline="31250" sz="1200" spc="-15">
                <a:latin typeface="Verdana"/>
                <a:cs typeface="Verdana"/>
              </a:rPr>
              <a:t>1</a:t>
            </a:r>
            <a:r>
              <a:rPr dirty="0" baseline="31250" sz="1200" spc="-52">
                <a:latin typeface="Verdana"/>
                <a:cs typeface="Verdana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4183379" y="5350180"/>
            <a:ext cx="1022350" cy="6350"/>
          </a:xfrm>
          <a:custGeom>
            <a:avLst/>
            <a:gdLst/>
            <a:ahLst/>
            <a:cxnLst/>
            <a:rect l="l" t="t" r="r" b="b"/>
            <a:pathLst>
              <a:path w="1022350" h="6350">
                <a:moveTo>
                  <a:pt x="1021956" y="0"/>
                </a:moveTo>
                <a:lnTo>
                  <a:pt x="0" y="0"/>
                </a:lnTo>
                <a:lnTo>
                  <a:pt x="0" y="6171"/>
                </a:lnTo>
                <a:lnTo>
                  <a:pt x="1021956" y="6171"/>
                </a:lnTo>
                <a:lnTo>
                  <a:pt x="1021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 txBox="1"/>
          <p:nvPr/>
        </p:nvSpPr>
        <p:spPr>
          <a:xfrm>
            <a:off x="4379733" y="5330775"/>
            <a:ext cx="6299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024599" y="6288399"/>
            <a:ext cx="7302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10">
                <a:latin typeface="Verdana"/>
                <a:cs typeface="Verdana"/>
              </a:rPr>
              <a:t>4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895326" y="6234862"/>
            <a:ext cx="4279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latin typeface="Times New Roman"/>
                <a:cs typeface="Times New Roman"/>
              </a:rPr>
              <a:t>log</a:t>
            </a:r>
            <a:r>
              <a:rPr dirty="0" sz="800" spc="320">
                <a:latin typeface="Times New Roman"/>
                <a:cs typeface="Times New Roman"/>
              </a:rPr>
              <a:t> </a:t>
            </a:r>
            <a:r>
              <a:rPr dirty="0" sz="800" spc="-45">
                <a:latin typeface="Verdana"/>
                <a:cs typeface="Verdana"/>
              </a:rPr>
              <a:t>3−1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637352" y="6246888"/>
            <a:ext cx="840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11835" algn="l"/>
              </a:tabLst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863598" y="5546118"/>
            <a:ext cx="4441190" cy="75057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575"/>
              </a:spcBef>
            </a:pPr>
            <a:r>
              <a:rPr dirty="0" sz="1200" spc="-10">
                <a:latin typeface="Times New Roman"/>
                <a:cs typeface="Times New Roman"/>
              </a:rPr>
              <a:t>Applying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identity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once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endParaRPr sz="1200">
              <a:latin typeface="Times New Roman"/>
              <a:cs typeface="Times New Roman"/>
            </a:endParaRPr>
          </a:p>
          <a:p>
            <a:pPr marL="2114550">
              <a:lnSpc>
                <a:spcPct val="100000"/>
              </a:lnSpc>
              <a:spcBef>
                <a:spcPts val="475"/>
              </a:spcBef>
            </a:pPr>
            <a:r>
              <a:rPr dirty="0" baseline="-23148" sz="1800" spc="165">
                <a:latin typeface="Garamond"/>
                <a:cs typeface="Garamond"/>
              </a:rPr>
              <a:t>(</a:t>
            </a:r>
            <a:r>
              <a:rPr dirty="0" baseline="-23148" sz="1800" spc="-247">
                <a:latin typeface="Lucida Sans Unicode"/>
                <a:cs typeface="Lucida Sans Unicode"/>
              </a:rPr>
              <a:t>3</a:t>
            </a:r>
            <a:r>
              <a:rPr dirty="0" baseline="-23148" sz="1800" spc="-44">
                <a:latin typeface="Lucida Sans Unicode"/>
                <a:cs typeface="Lucida Sans Unicode"/>
              </a:rPr>
              <a:t>/</a:t>
            </a:r>
            <a:r>
              <a:rPr dirty="0" baseline="-23148" sz="1800" spc="-254">
                <a:latin typeface="Lucida Sans Unicode"/>
                <a:cs typeface="Lucida Sans Unicode"/>
              </a:rPr>
              <a:t>4</a:t>
            </a:r>
            <a:r>
              <a:rPr dirty="0" baseline="-23148" sz="1800" spc="165">
                <a:latin typeface="Garamond"/>
                <a:cs typeface="Garamond"/>
              </a:rPr>
              <a:t>)</a:t>
            </a:r>
            <a:r>
              <a:rPr dirty="0" sz="800" spc="-10">
                <a:latin typeface="Times New Roman"/>
                <a:cs typeface="Times New Roman"/>
              </a:rPr>
              <a:t>l</a:t>
            </a:r>
            <a:r>
              <a:rPr dirty="0" sz="800" spc="-5">
                <a:latin typeface="Times New Roman"/>
                <a:cs typeface="Times New Roman"/>
              </a:rPr>
              <a:t>o</a:t>
            </a:r>
            <a:r>
              <a:rPr dirty="0" sz="800" spc="-10">
                <a:latin typeface="Times New Roman"/>
                <a:cs typeface="Times New Roman"/>
              </a:rPr>
              <a:t>g</a:t>
            </a:r>
            <a:r>
              <a:rPr dirty="0" baseline="-18518" sz="900" spc="-15">
                <a:latin typeface="Verdana"/>
                <a:cs typeface="Verdana"/>
              </a:rPr>
              <a:t>4</a:t>
            </a:r>
            <a:r>
              <a:rPr dirty="0" baseline="-18518" sz="900" spc="7">
                <a:latin typeface="Verdana"/>
                <a:cs typeface="Verdana"/>
              </a:rPr>
              <a:t> </a:t>
            </a:r>
            <a:r>
              <a:rPr dirty="0" sz="800" spc="140">
                <a:latin typeface="Verdana"/>
                <a:cs typeface="Verdana"/>
              </a:rPr>
              <a:t>n</a:t>
            </a:r>
            <a:r>
              <a:rPr dirty="0" sz="800" spc="25">
                <a:latin typeface="Verdana"/>
                <a:cs typeface="Verdana"/>
              </a:rPr>
              <a:t> </a:t>
            </a:r>
            <a:r>
              <a:rPr dirty="0" baseline="-23148" sz="1800" spc="150">
                <a:latin typeface="Garamond"/>
                <a:cs typeface="Garamond"/>
              </a:rPr>
              <a:t>=</a:t>
            </a:r>
            <a:r>
              <a:rPr dirty="0" baseline="-23148" sz="1800" spc="44">
                <a:latin typeface="Garamond"/>
                <a:cs typeface="Garamond"/>
              </a:rPr>
              <a:t> </a:t>
            </a:r>
            <a:r>
              <a:rPr dirty="0" baseline="-23148" sz="1800" spc="67">
                <a:latin typeface="Lucida Sans Unicode"/>
                <a:cs typeface="Lucida Sans Unicode"/>
              </a:rPr>
              <a:t>n</a:t>
            </a:r>
            <a:r>
              <a:rPr dirty="0" sz="800" spc="-10">
                <a:latin typeface="Times New Roman"/>
                <a:cs typeface="Times New Roman"/>
              </a:rPr>
              <a:t>l</a:t>
            </a:r>
            <a:r>
              <a:rPr dirty="0" sz="800" spc="-5">
                <a:latin typeface="Times New Roman"/>
                <a:cs typeface="Times New Roman"/>
              </a:rPr>
              <a:t>o</a:t>
            </a:r>
            <a:r>
              <a:rPr dirty="0" sz="800" spc="-10">
                <a:latin typeface="Times New Roman"/>
                <a:cs typeface="Times New Roman"/>
              </a:rPr>
              <a:t>g</a:t>
            </a:r>
            <a:r>
              <a:rPr dirty="0" baseline="-18518" sz="900" spc="-15">
                <a:latin typeface="Verdana"/>
                <a:cs typeface="Verdana"/>
              </a:rPr>
              <a:t>4</a:t>
            </a:r>
            <a:r>
              <a:rPr dirty="0" baseline="-18518" sz="900" spc="-202">
                <a:latin typeface="Verdana"/>
                <a:cs typeface="Verdana"/>
              </a:rPr>
              <a:t> </a:t>
            </a:r>
            <a:r>
              <a:rPr dirty="0" sz="800" spc="-50">
                <a:latin typeface="Verdana"/>
                <a:cs typeface="Verdana"/>
              </a:rPr>
              <a:t>(</a:t>
            </a:r>
            <a:r>
              <a:rPr dirty="0" sz="800" spc="-80">
                <a:latin typeface="Verdana"/>
                <a:cs typeface="Verdana"/>
              </a:rPr>
              <a:t>3</a:t>
            </a:r>
            <a:r>
              <a:rPr dirty="0" sz="800" spc="65">
                <a:latin typeface="Verdana"/>
                <a:cs typeface="Verdana"/>
              </a:rPr>
              <a:t>/</a:t>
            </a:r>
            <a:r>
              <a:rPr dirty="0" sz="800" spc="-80">
                <a:latin typeface="Verdana"/>
                <a:cs typeface="Verdana"/>
              </a:rPr>
              <a:t>4</a:t>
            </a:r>
            <a:r>
              <a:rPr dirty="0" sz="800" spc="15">
                <a:latin typeface="Verdana"/>
                <a:cs typeface="Verdana"/>
              </a:rPr>
              <a:t>)</a:t>
            </a:r>
            <a:r>
              <a:rPr dirty="0" sz="800" spc="40">
                <a:latin typeface="Verdana"/>
                <a:cs typeface="Verdana"/>
              </a:rPr>
              <a:t> </a:t>
            </a:r>
            <a:r>
              <a:rPr dirty="0" baseline="-23148" sz="1800" spc="150">
                <a:latin typeface="Garamond"/>
                <a:cs typeface="Garamond"/>
              </a:rPr>
              <a:t>=</a:t>
            </a:r>
            <a:r>
              <a:rPr dirty="0" baseline="-23148" sz="1800" spc="44">
                <a:latin typeface="Garamond"/>
                <a:cs typeface="Garamond"/>
              </a:rPr>
              <a:t> </a:t>
            </a:r>
            <a:r>
              <a:rPr dirty="0" baseline="-23148" sz="1800" spc="67">
                <a:latin typeface="Lucida Sans Unicode"/>
                <a:cs typeface="Lucida Sans Unicode"/>
              </a:rPr>
              <a:t>n</a:t>
            </a:r>
            <a:r>
              <a:rPr dirty="0" sz="800" spc="-10">
                <a:latin typeface="Times New Roman"/>
                <a:cs typeface="Times New Roman"/>
              </a:rPr>
              <a:t>l</a:t>
            </a:r>
            <a:r>
              <a:rPr dirty="0" sz="800" spc="-5">
                <a:latin typeface="Times New Roman"/>
                <a:cs typeface="Times New Roman"/>
              </a:rPr>
              <a:t>o</a:t>
            </a:r>
            <a:r>
              <a:rPr dirty="0" sz="800" spc="-10">
                <a:latin typeface="Times New Roman"/>
                <a:cs typeface="Times New Roman"/>
              </a:rPr>
              <a:t>g</a:t>
            </a:r>
            <a:r>
              <a:rPr dirty="0" baseline="-18518" sz="900" spc="-15">
                <a:latin typeface="Verdana"/>
                <a:cs typeface="Verdana"/>
              </a:rPr>
              <a:t>4</a:t>
            </a:r>
            <a:r>
              <a:rPr dirty="0" baseline="-18518" sz="900" spc="7">
                <a:latin typeface="Verdana"/>
                <a:cs typeface="Verdana"/>
              </a:rPr>
              <a:t> </a:t>
            </a:r>
            <a:r>
              <a:rPr dirty="0" sz="800" spc="-80">
                <a:latin typeface="Verdana"/>
                <a:cs typeface="Verdana"/>
              </a:rPr>
              <a:t>3</a:t>
            </a:r>
            <a:r>
              <a:rPr dirty="0" sz="800" spc="-35">
                <a:latin typeface="Verdana"/>
                <a:cs typeface="Verdana"/>
              </a:rPr>
              <a:t>−</a:t>
            </a:r>
            <a:r>
              <a:rPr dirty="0" sz="800" spc="-10">
                <a:latin typeface="Times New Roman"/>
                <a:cs typeface="Times New Roman"/>
              </a:rPr>
              <a:t>l</a:t>
            </a:r>
            <a:r>
              <a:rPr dirty="0" sz="800" spc="-5">
                <a:latin typeface="Times New Roman"/>
                <a:cs typeface="Times New Roman"/>
              </a:rPr>
              <a:t>og</a:t>
            </a:r>
            <a:r>
              <a:rPr dirty="0" baseline="-18518" sz="900" spc="-15">
                <a:latin typeface="Verdana"/>
                <a:cs typeface="Verdana"/>
              </a:rPr>
              <a:t>4</a:t>
            </a:r>
            <a:r>
              <a:rPr dirty="0" baseline="-18518" sz="900" spc="7">
                <a:latin typeface="Verdana"/>
                <a:cs typeface="Verdana"/>
              </a:rPr>
              <a:t> </a:t>
            </a:r>
            <a:r>
              <a:rPr dirty="0" sz="800" spc="-10">
                <a:latin typeface="Verdana"/>
                <a:cs typeface="Verdana"/>
              </a:rPr>
              <a:t>4</a:t>
            </a:r>
            <a:endParaRPr sz="800">
              <a:latin typeface="Verdana"/>
              <a:cs typeface="Verdana"/>
            </a:endParaRPr>
          </a:p>
          <a:p>
            <a:pPr algn="r" marR="405765">
              <a:lnSpc>
                <a:spcPct val="100000"/>
              </a:lnSpc>
              <a:spcBef>
                <a:spcPts val="440"/>
              </a:spcBef>
            </a:pPr>
            <a:r>
              <a:rPr dirty="0" baseline="-20833" sz="1800" spc="7">
                <a:latin typeface="Lucida Sans Unicode"/>
                <a:cs typeface="Lucida Sans Unicode"/>
              </a:rPr>
              <a:t>n</a:t>
            </a:r>
            <a:r>
              <a:rPr dirty="0" sz="800" spc="5">
                <a:latin typeface="Times New Roman"/>
                <a:cs typeface="Times New Roman"/>
              </a:rPr>
              <a:t>log</a:t>
            </a:r>
            <a:r>
              <a:rPr dirty="0" baseline="-18518" sz="900" spc="7">
                <a:latin typeface="Verdana"/>
                <a:cs typeface="Verdana"/>
              </a:rPr>
              <a:t>4</a:t>
            </a:r>
            <a:r>
              <a:rPr dirty="0" baseline="-18518" sz="900" spc="-44">
                <a:latin typeface="Verdana"/>
                <a:cs typeface="Verdana"/>
              </a:rPr>
              <a:t> </a:t>
            </a:r>
            <a:r>
              <a:rPr dirty="0" sz="800" spc="-10">
                <a:latin typeface="Verdana"/>
                <a:cs typeface="Verdana"/>
              </a:rPr>
              <a:t>3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4521707" y="6369736"/>
            <a:ext cx="367030" cy="6350"/>
          </a:xfrm>
          <a:custGeom>
            <a:avLst/>
            <a:gdLst/>
            <a:ahLst/>
            <a:cxnLst/>
            <a:rect l="l" t="t" r="r" b="b"/>
            <a:pathLst>
              <a:path w="367029" h="6350">
                <a:moveTo>
                  <a:pt x="366560" y="0"/>
                </a:moveTo>
                <a:lnTo>
                  <a:pt x="0" y="0"/>
                </a:lnTo>
                <a:lnTo>
                  <a:pt x="0" y="6171"/>
                </a:lnTo>
                <a:lnTo>
                  <a:pt x="366560" y="6171"/>
                </a:lnTo>
                <a:lnTo>
                  <a:pt x="3665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 txBox="1"/>
          <p:nvPr/>
        </p:nvSpPr>
        <p:spPr>
          <a:xfrm>
            <a:off x="4642165" y="6351016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01699" y="6589674"/>
            <a:ext cx="17081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we plug this </a:t>
            </a:r>
            <a:r>
              <a:rPr dirty="0" sz="1200" spc="-5">
                <a:latin typeface="Times New Roman"/>
                <a:cs typeface="Times New Roman"/>
              </a:rPr>
              <a:t>back,</a:t>
            </a:r>
            <a:r>
              <a:rPr dirty="0" sz="1200" spc="-10">
                <a:latin typeface="Times New Roman"/>
                <a:cs typeface="Times New Roman"/>
              </a:rPr>
              <a:t> we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322899" y="6810044"/>
            <a:ext cx="650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200" spc="97">
                <a:latin typeface="Verdana"/>
                <a:cs typeface="Verdana"/>
              </a:rPr>
              <a:t>n</a:t>
            </a:r>
            <a:r>
              <a:rPr dirty="0" sz="600" spc="-5">
                <a:latin typeface="Times New Roman"/>
                <a:cs typeface="Times New Roman"/>
              </a:rPr>
              <a:t>l</a:t>
            </a:r>
            <a:r>
              <a:rPr dirty="0" sz="600" spc="-10">
                <a:latin typeface="Times New Roman"/>
                <a:cs typeface="Times New Roman"/>
              </a:rPr>
              <a:t>o</a:t>
            </a:r>
            <a:r>
              <a:rPr dirty="0" sz="600" spc="-5">
                <a:latin typeface="Times New Roman"/>
                <a:cs typeface="Times New Roman"/>
              </a:rPr>
              <a:t>g</a:t>
            </a:r>
            <a:r>
              <a:rPr dirty="0" baseline="-18518" sz="900" spc="-15">
                <a:latin typeface="Verdana"/>
                <a:cs typeface="Verdana"/>
              </a:rPr>
              <a:t>4</a:t>
            </a:r>
            <a:r>
              <a:rPr dirty="0" baseline="-18518" sz="900" spc="-15">
                <a:latin typeface="Verdana"/>
                <a:cs typeface="Verdana"/>
              </a:rPr>
              <a:t> </a:t>
            </a:r>
            <a:r>
              <a:rPr dirty="0" sz="600" spc="-10">
                <a:latin typeface="Verdana"/>
                <a:cs typeface="Verdana"/>
              </a:rPr>
              <a:t>3</a:t>
            </a:r>
            <a:r>
              <a:rPr dirty="0" sz="600">
                <a:latin typeface="Verdana"/>
                <a:cs typeface="Verdana"/>
              </a:rPr>
              <a:t> </a:t>
            </a:r>
            <a:r>
              <a:rPr dirty="0" sz="600" spc="40">
                <a:latin typeface="Verdana"/>
                <a:cs typeface="Verdana"/>
              </a:rPr>
              <a:t> </a:t>
            </a:r>
            <a:r>
              <a:rPr dirty="0" baseline="-34722" sz="1800" spc="-300">
                <a:latin typeface="Garamond"/>
                <a:cs typeface="Garamond"/>
              </a:rPr>
              <a:t>−</a:t>
            </a:r>
            <a:r>
              <a:rPr dirty="0" baseline="-34722" sz="1800" spc="-52">
                <a:latin typeface="Garamond"/>
                <a:cs typeface="Garamond"/>
              </a:rPr>
              <a:t> </a:t>
            </a:r>
            <a:r>
              <a:rPr dirty="0" baseline="-34722" sz="1800" spc="-247">
                <a:latin typeface="Lucida Sans Unicode"/>
                <a:cs typeface="Lucida Sans Unicode"/>
              </a:rPr>
              <a:t>1</a:t>
            </a:r>
            <a:endParaRPr baseline="-34722" sz="1800">
              <a:latin typeface="Lucida Sans Unicode"/>
              <a:cs typeface="Lucida Sans Unicode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4361688" y="7031152"/>
            <a:ext cx="300990" cy="6350"/>
          </a:xfrm>
          <a:custGeom>
            <a:avLst/>
            <a:gdLst/>
            <a:ahLst/>
            <a:cxnLst/>
            <a:rect l="l" t="t" r="r" b="b"/>
            <a:pathLst>
              <a:path w="300989" h="6350">
                <a:moveTo>
                  <a:pt x="300723" y="0"/>
                </a:moveTo>
                <a:lnTo>
                  <a:pt x="0" y="0"/>
                </a:lnTo>
                <a:lnTo>
                  <a:pt x="0" y="6171"/>
                </a:lnTo>
                <a:lnTo>
                  <a:pt x="300723" y="6171"/>
                </a:lnTo>
                <a:lnTo>
                  <a:pt x="3007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 txBox="1"/>
          <p:nvPr/>
        </p:nvSpPr>
        <p:spPr>
          <a:xfrm>
            <a:off x="3125608" y="7018528"/>
            <a:ext cx="1856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816735" algn="l"/>
              </a:tabLst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baseline="34722" sz="1200" spc="7">
                <a:latin typeface="Times New Roman"/>
                <a:cs typeface="Times New Roman"/>
              </a:rPr>
              <a:t>log</a:t>
            </a:r>
            <a:r>
              <a:rPr dirty="0" baseline="23148" sz="900" spc="7">
                <a:latin typeface="Verdana"/>
                <a:cs typeface="Verdana"/>
              </a:rPr>
              <a:t>4</a:t>
            </a:r>
            <a:r>
              <a:rPr dirty="0" baseline="23148" sz="900" spc="15">
                <a:latin typeface="Verdana"/>
                <a:cs typeface="Verdana"/>
              </a:rPr>
              <a:t> </a:t>
            </a:r>
            <a:r>
              <a:rPr dirty="0" baseline="34722" sz="1200" spc="-15">
                <a:latin typeface="Verdana"/>
                <a:cs typeface="Verdana"/>
              </a:rPr>
              <a:t>3</a:t>
            </a:r>
            <a:r>
              <a:rPr dirty="0" baseline="34722" sz="1200" spc="-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2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u="sng" baseline="20833" sz="1800" spc="67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baseline="20833" sz="1800" spc="577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baseline="31250" sz="1200" spc="209">
                <a:uFill>
                  <a:solidFill>
                    <a:srgbClr val="000000"/>
                  </a:solidFill>
                </a:uFill>
                <a:latin typeface="Verdana"/>
                <a:cs typeface="Verdana"/>
              </a:rPr>
              <a:t>n	</a:t>
            </a:r>
            <a:endParaRPr baseline="31250" sz="1200">
              <a:latin typeface="Verdana"/>
              <a:cs typeface="Verdan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325668" y="7122769"/>
            <a:ext cx="6299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890984" y="7480775"/>
            <a:ext cx="7302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10">
                <a:latin typeface="Verdana"/>
                <a:cs typeface="Verdana"/>
              </a:rPr>
              <a:t>4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761711" y="7427124"/>
            <a:ext cx="2933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latin typeface="Times New Roman"/>
                <a:cs typeface="Times New Roman"/>
              </a:rPr>
              <a:t>log</a:t>
            </a:r>
            <a:r>
              <a:rPr dirty="0" sz="800" spc="3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Verdana"/>
                <a:cs typeface="Verdana"/>
              </a:rPr>
              <a:t>3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503736" y="7439266"/>
            <a:ext cx="697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9595" algn="l"/>
              </a:tabLst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100">
                <a:latin typeface="Garamond"/>
                <a:cs typeface="Garamond"/>
              </a:rPr>
              <a:t>+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199339" y="7281417"/>
            <a:ext cx="726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67">
                <a:latin typeface="Lucida Sans Unicode"/>
                <a:cs typeface="Lucida Sans Unicode"/>
              </a:rPr>
              <a:t>n</a:t>
            </a:r>
            <a:r>
              <a:rPr dirty="0" sz="800" spc="-10">
                <a:latin typeface="Times New Roman"/>
                <a:cs typeface="Times New Roman"/>
              </a:rPr>
              <a:t>l</a:t>
            </a:r>
            <a:r>
              <a:rPr dirty="0" sz="800" spc="-5">
                <a:latin typeface="Times New Roman"/>
                <a:cs typeface="Times New Roman"/>
              </a:rPr>
              <a:t>og</a:t>
            </a:r>
            <a:r>
              <a:rPr dirty="0" baseline="-18518" sz="900" spc="-15">
                <a:latin typeface="Verdana"/>
                <a:cs typeface="Verdana"/>
              </a:rPr>
              <a:t>4</a:t>
            </a:r>
            <a:r>
              <a:rPr dirty="0" baseline="-18518" sz="900" spc="7">
                <a:latin typeface="Verdana"/>
                <a:cs typeface="Verdana"/>
              </a:rPr>
              <a:t> </a:t>
            </a:r>
            <a:r>
              <a:rPr dirty="0" sz="800" spc="-10">
                <a:latin typeface="Verdana"/>
                <a:cs typeface="Verdana"/>
              </a:rPr>
              <a:t>3</a:t>
            </a:r>
            <a:r>
              <a:rPr dirty="0" sz="800" spc="-35">
                <a:latin typeface="Verdana"/>
                <a:cs typeface="Verdana"/>
              </a:rPr>
              <a:t> </a:t>
            </a:r>
            <a:r>
              <a:rPr dirty="0" baseline="-20833" sz="1800" spc="-300">
                <a:latin typeface="Garamond"/>
                <a:cs typeface="Garamond"/>
              </a:rPr>
              <a:t>−</a:t>
            </a:r>
            <a:r>
              <a:rPr dirty="0" baseline="-20833" sz="1800" spc="-52">
                <a:latin typeface="Garamond"/>
                <a:cs typeface="Garamond"/>
              </a:rPr>
              <a:t> </a:t>
            </a:r>
            <a:r>
              <a:rPr dirty="0" baseline="-20833" sz="1800" spc="67">
                <a:latin typeface="Lucida Sans Unicode"/>
                <a:cs typeface="Lucida Sans Unicode"/>
              </a:rPr>
              <a:t>n</a:t>
            </a:r>
            <a:endParaRPr baseline="-20833" sz="1800">
              <a:latin typeface="Lucida Sans Unicode"/>
              <a:cs typeface="Lucida Sans Unicode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4236720" y="7563028"/>
            <a:ext cx="650240" cy="6350"/>
          </a:xfrm>
          <a:custGeom>
            <a:avLst/>
            <a:gdLst/>
            <a:ahLst/>
            <a:cxnLst/>
            <a:rect l="l" t="t" r="r" b="b"/>
            <a:pathLst>
              <a:path w="650239" h="6350">
                <a:moveTo>
                  <a:pt x="649795" y="0"/>
                </a:moveTo>
                <a:lnTo>
                  <a:pt x="0" y="0"/>
                </a:lnTo>
                <a:lnTo>
                  <a:pt x="0" y="6171"/>
                </a:lnTo>
                <a:lnTo>
                  <a:pt x="649795" y="6171"/>
                </a:lnTo>
                <a:lnTo>
                  <a:pt x="6497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 txBox="1"/>
          <p:nvPr/>
        </p:nvSpPr>
        <p:spPr>
          <a:xfrm>
            <a:off x="4378247" y="7543393"/>
            <a:ext cx="3689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40">
                <a:latin typeface="Garamond"/>
                <a:cs typeface="Garamond"/>
              </a:rPr>
              <a:t>−</a:t>
            </a:r>
            <a:r>
              <a:rPr dirty="0" sz="1200" spc="-140">
                <a:latin typeface="Lucida Sans Unicode"/>
                <a:cs typeface="Lucida Sans Unicode"/>
              </a:rPr>
              <a:t>1/4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76296" y="7708444"/>
            <a:ext cx="4661535" cy="1114425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 marL="2639695">
              <a:lnSpc>
                <a:spcPct val="100000"/>
              </a:lnSpc>
              <a:spcBef>
                <a:spcPts val="540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4722" sz="1200" spc="-15">
                <a:latin typeface="Times New Roman"/>
                <a:cs typeface="Times New Roman"/>
              </a:rPr>
              <a:t>l</a:t>
            </a:r>
            <a:r>
              <a:rPr dirty="0" baseline="34722" sz="1200" spc="-7">
                <a:latin typeface="Times New Roman"/>
                <a:cs typeface="Times New Roman"/>
              </a:rPr>
              <a:t>o</a:t>
            </a:r>
            <a:r>
              <a:rPr dirty="0" baseline="34722" sz="1200" spc="-15">
                <a:latin typeface="Times New Roman"/>
                <a:cs typeface="Times New Roman"/>
              </a:rPr>
              <a:t>g</a:t>
            </a:r>
            <a:r>
              <a:rPr dirty="0" baseline="23148" sz="900" spc="-15">
                <a:latin typeface="Verdana"/>
                <a:cs typeface="Verdana"/>
              </a:rPr>
              <a:t>4</a:t>
            </a:r>
            <a:r>
              <a:rPr dirty="0" baseline="23148" sz="900" spc="7">
                <a:latin typeface="Verdana"/>
                <a:cs typeface="Verdana"/>
              </a:rPr>
              <a:t> </a:t>
            </a:r>
            <a:r>
              <a:rPr dirty="0" baseline="34722" sz="1200" spc="-15">
                <a:latin typeface="Verdana"/>
                <a:cs typeface="Verdana"/>
              </a:rPr>
              <a:t>3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4722" sz="1200" spc="-15">
                <a:latin typeface="Times New Roman"/>
                <a:cs typeface="Times New Roman"/>
              </a:rPr>
              <a:t>l</a:t>
            </a:r>
            <a:r>
              <a:rPr dirty="0" baseline="34722" sz="1200" spc="-7">
                <a:latin typeface="Times New Roman"/>
                <a:cs typeface="Times New Roman"/>
              </a:rPr>
              <a:t>o</a:t>
            </a:r>
            <a:r>
              <a:rPr dirty="0" baseline="34722" sz="1200" spc="-15">
                <a:latin typeface="Times New Roman"/>
                <a:cs typeface="Times New Roman"/>
              </a:rPr>
              <a:t>g</a:t>
            </a:r>
            <a:r>
              <a:rPr dirty="0" baseline="23148" sz="900" spc="-15">
                <a:latin typeface="Verdana"/>
                <a:cs typeface="Verdana"/>
              </a:rPr>
              <a:t>4</a:t>
            </a:r>
            <a:r>
              <a:rPr dirty="0" baseline="23148" sz="900" spc="7">
                <a:latin typeface="Verdana"/>
                <a:cs typeface="Verdana"/>
              </a:rPr>
              <a:t> </a:t>
            </a:r>
            <a:r>
              <a:rPr dirty="0" baseline="34722" sz="1200" spc="-44">
                <a:latin typeface="Verdana"/>
                <a:cs typeface="Verdana"/>
              </a:rPr>
              <a:t>3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2639695">
              <a:lnSpc>
                <a:spcPct val="100000"/>
              </a:lnSpc>
              <a:spcBef>
                <a:spcPts val="434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4722" sz="1200" spc="-15">
                <a:latin typeface="Times New Roman"/>
                <a:cs typeface="Times New Roman"/>
              </a:rPr>
              <a:t>l</a:t>
            </a:r>
            <a:r>
              <a:rPr dirty="0" baseline="34722" sz="1200" spc="-7">
                <a:latin typeface="Times New Roman"/>
                <a:cs typeface="Times New Roman"/>
              </a:rPr>
              <a:t>o</a:t>
            </a:r>
            <a:r>
              <a:rPr dirty="0" baseline="34722" sz="1200" spc="-15">
                <a:latin typeface="Times New Roman"/>
                <a:cs typeface="Times New Roman"/>
              </a:rPr>
              <a:t>g</a:t>
            </a:r>
            <a:r>
              <a:rPr dirty="0" baseline="23148" sz="900" spc="-15">
                <a:latin typeface="Verdana"/>
                <a:cs typeface="Verdana"/>
              </a:rPr>
              <a:t>4</a:t>
            </a:r>
            <a:r>
              <a:rPr dirty="0" baseline="23148" sz="900" spc="7">
                <a:latin typeface="Verdana"/>
                <a:cs typeface="Verdana"/>
              </a:rPr>
              <a:t> </a:t>
            </a:r>
            <a:r>
              <a:rPr dirty="0" baseline="34722" sz="1200" spc="-15">
                <a:latin typeface="Verdana"/>
                <a:cs typeface="Verdana"/>
              </a:rPr>
              <a:t>3</a:t>
            </a:r>
            <a:endParaRPr baseline="34722" sz="1200">
              <a:latin typeface="Verdana"/>
              <a:cs typeface="Verdana"/>
            </a:endParaRPr>
          </a:p>
          <a:p>
            <a:pPr marL="38100">
              <a:lnSpc>
                <a:spcPct val="100000"/>
              </a:lnSpc>
              <a:spcBef>
                <a:spcPts val="969"/>
              </a:spcBef>
            </a:pPr>
            <a:r>
              <a:rPr dirty="0" sz="1200" spc="-55">
                <a:latin typeface="Times New Roman"/>
                <a:cs typeface="Times New Roman"/>
              </a:rPr>
              <a:t>W</a:t>
            </a:r>
            <a:r>
              <a:rPr dirty="0" sz="1200" spc="-1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baseline="-20833" sz="1200" spc="-15">
                <a:latin typeface="Verdana"/>
                <a:cs typeface="Verdana"/>
              </a:rPr>
              <a:t>4</a:t>
            </a:r>
            <a:r>
              <a:rPr dirty="0" baseline="-20833" sz="1200" spc="-157">
                <a:latin typeface="Verdana"/>
                <a:cs typeface="Verdana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Segoe UI Symbol"/>
                <a:cs typeface="Segoe UI Symbol"/>
              </a:rPr>
              <a:t>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170">
                <a:latin typeface="Lucida Sans Unicode"/>
                <a:cs typeface="Lucida Sans Unicode"/>
              </a:rPr>
              <a:t>9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10">
                <a:latin typeface="Times New Roman"/>
                <a:cs typeface="Times New Roman"/>
              </a:rPr>
              <a:t>ult</a:t>
            </a:r>
            <a:r>
              <a:rPr dirty="0" sz="1200" spc="-5">
                <a:latin typeface="Times New Roman"/>
                <a:cs typeface="Times New Roman"/>
              </a:rPr>
              <a:t>!</a:t>
            </a:r>
            <a:endParaRPr sz="1200">
              <a:latin typeface="Times New Roman"/>
              <a:cs typeface="Times New Roman"/>
            </a:endParaRPr>
          </a:p>
          <a:p>
            <a:pPr marL="1853564">
              <a:lnSpc>
                <a:spcPct val="100000"/>
              </a:lnSpc>
              <a:spcBef>
                <a:spcPts val="969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4722" sz="1200" spc="-15">
                <a:latin typeface="Times New Roman"/>
                <a:cs typeface="Times New Roman"/>
              </a:rPr>
              <a:t>l</a:t>
            </a:r>
            <a:r>
              <a:rPr dirty="0" baseline="34722" sz="1200" spc="-7">
                <a:latin typeface="Times New Roman"/>
                <a:cs typeface="Times New Roman"/>
              </a:rPr>
              <a:t>o</a:t>
            </a:r>
            <a:r>
              <a:rPr dirty="0" baseline="34722" sz="1200" spc="-15">
                <a:latin typeface="Times New Roman"/>
                <a:cs typeface="Times New Roman"/>
              </a:rPr>
              <a:t>g</a:t>
            </a:r>
            <a:r>
              <a:rPr dirty="0" baseline="23148" sz="900" spc="-15">
                <a:latin typeface="Verdana"/>
                <a:cs typeface="Verdana"/>
              </a:rPr>
              <a:t>4</a:t>
            </a:r>
            <a:r>
              <a:rPr dirty="0" baseline="23148" sz="900" spc="7">
                <a:latin typeface="Verdana"/>
                <a:cs typeface="Verdana"/>
              </a:rPr>
              <a:t> </a:t>
            </a:r>
            <a:r>
              <a:rPr dirty="0" baseline="34722" sz="1200" spc="-15">
                <a:latin typeface="Verdana"/>
                <a:cs typeface="Verdana"/>
              </a:rPr>
              <a:t>3</a:t>
            </a:r>
            <a:r>
              <a:rPr dirty="0" baseline="34722" sz="1200" spc="44">
                <a:latin typeface="Verdana"/>
                <a:cs typeface="Verdana"/>
              </a:rPr>
              <a:t> </a:t>
            </a:r>
            <a:r>
              <a:rPr dirty="0" sz="1200" spc="80">
                <a:latin typeface="Segoe UI Symbol"/>
                <a:cs typeface="Segoe UI Symbol"/>
              </a:rPr>
              <a:t>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baseline="34722" sz="1200" spc="-120">
                <a:latin typeface="Verdana"/>
                <a:cs typeface="Verdana"/>
              </a:rPr>
              <a:t>0</a:t>
            </a:r>
            <a:r>
              <a:rPr dirty="0" baseline="34722" sz="1200" spc="-82">
                <a:latin typeface="Verdana"/>
                <a:cs typeface="Verdana"/>
              </a:rPr>
              <a:t>.</a:t>
            </a:r>
            <a:r>
              <a:rPr dirty="0" baseline="34722" sz="1200" spc="-120">
                <a:latin typeface="Verdana"/>
                <a:cs typeface="Verdana"/>
              </a:rPr>
              <a:t>7</a:t>
            </a:r>
            <a:r>
              <a:rPr dirty="0" baseline="34722" sz="1200" spc="-15">
                <a:latin typeface="Verdana"/>
                <a:cs typeface="Verdana"/>
              </a:rPr>
              <a:t>9</a:t>
            </a:r>
            <a:r>
              <a:rPr dirty="0" baseline="34722" sz="1200" spc="37">
                <a:latin typeface="Verdana"/>
                <a:cs typeface="Verdana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Θ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415895"/>
            <a:ext cx="2207895" cy="731520"/>
          </a:xfrm>
          <a:prstGeom prst="rect">
            <a:avLst/>
          </a:prstGeom>
        </p:spPr>
        <p:txBody>
          <a:bodyPr wrap="square" lIns="0" tIns="1193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40"/>
              </a:spcBef>
            </a:pPr>
            <a:r>
              <a:rPr dirty="0" sz="1200" spc="-5">
                <a:latin typeface="Times New Roman"/>
                <a:cs typeface="Times New Roman"/>
              </a:rPr>
              <a:t>34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3.2	Selection</a:t>
            </a:r>
            <a:r>
              <a:rPr dirty="0" sz="1700" spc="-35" b="1">
                <a:latin typeface="Times New Roman"/>
                <a:cs typeface="Times New Roman"/>
              </a:rPr>
              <a:t> </a:t>
            </a:r>
            <a:r>
              <a:rPr dirty="0" sz="1700" b="1">
                <a:latin typeface="Times New Roman"/>
                <a:cs typeface="Times New Roman"/>
              </a:rPr>
              <a:t>Problem</a:t>
            </a:r>
            <a:endParaRPr sz="17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900130" y="520987"/>
            <a:ext cx="342836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3.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DIVIDE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CONQUER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STRATEGY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7" y="1333133"/>
            <a:ext cx="6231255" cy="1007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Suppose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rank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plus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 that are </a:t>
            </a:r>
            <a:r>
              <a:rPr dirty="0" sz="1200" spc="-15">
                <a:latin typeface="Times New Roman"/>
                <a:cs typeface="Times New Roman"/>
              </a:rPr>
              <a:t>smaller.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rank of an element is its final </a:t>
            </a:r>
            <a:r>
              <a:rPr dirty="0" sz="1200" spc="-10">
                <a:latin typeface="Times New Roman"/>
                <a:cs typeface="Times New Roman"/>
              </a:rPr>
              <a:t>position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set is sorted. 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 spc="-5">
                <a:latin typeface="Times New Roman"/>
                <a:cs typeface="Times New Roman"/>
              </a:rPr>
              <a:t> is of rank 1 and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of rank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73025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{</a:t>
            </a:r>
            <a:r>
              <a:rPr dirty="0" sz="1200" spc="70">
                <a:latin typeface="Times New Roman"/>
                <a:cs typeface="Times New Roman"/>
              </a:rPr>
              <a:t>5,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10,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15,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21,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37,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Times New Roman"/>
                <a:cs typeface="Times New Roman"/>
              </a:rPr>
              <a:t>41</a:t>
            </a:r>
            <a:r>
              <a:rPr dirty="0" sz="1200" spc="50">
                <a:latin typeface="Segoe UI Symbol"/>
                <a:cs typeface="Segoe UI Symbol"/>
              </a:rPr>
              <a:t>}</a:t>
            </a:r>
            <a:r>
              <a:rPr dirty="0" sz="1200" spc="5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rank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position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sorted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order.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482595" y="2505901"/>
          <a:ext cx="3267710" cy="3816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8180"/>
                <a:gridCol w="266700"/>
                <a:gridCol w="265430"/>
                <a:gridCol w="265430"/>
                <a:gridCol w="266700"/>
                <a:gridCol w="303530"/>
                <a:gridCol w="303530"/>
                <a:gridCol w="303530"/>
                <a:gridCol w="304800"/>
                <a:gridCol w="303529"/>
              </a:tblGrid>
              <a:tr h="188975">
                <a:tc>
                  <a:txBody>
                    <a:bodyPr/>
                    <a:lstStyle/>
                    <a:p>
                      <a:pPr algn="ctr" marL="37465">
                        <a:lnSpc>
                          <a:spcPts val="1270"/>
                        </a:lnSpc>
                      </a:pPr>
                      <a:r>
                        <a:rPr dirty="0" sz="1200" spc="-10" i="1">
                          <a:latin typeface="Times New Roman"/>
                          <a:cs typeface="Times New Roman"/>
                        </a:rPr>
                        <a:t>position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7465">
                        <a:lnSpc>
                          <a:spcPts val="1270"/>
                        </a:lnSpc>
                      </a:pPr>
                      <a:r>
                        <a:rPr dirty="0" sz="1200" i="1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270"/>
                        </a:lnSpc>
                      </a:pPr>
                      <a:r>
                        <a:rPr dirty="0" sz="1200" i="1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0">
                        <a:lnSpc>
                          <a:spcPts val="1270"/>
                        </a:lnSpc>
                      </a:pPr>
                      <a:r>
                        <a:rPr dirty="0" sz="1200" i="1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7465">
                        <a:lnSpc>
                          <a:spcPts val="1270"/>
                        </a:lnSpc>
                      </a:pPr>
                      <a:r>
                        <a:rPr dirty="0" sz="1200" i="1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7465">
                        <a:lnSpc>
                          <a:spcPts val="1270"/>
                        </a:lnSpc>
                      </a:pPr>
                      <a:r>
                        <a:rPr dirty="0" sz="1200" i="1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4290">
                        <a:lnSpc>
                          <a:spcPts val="1270"/>
                        </a:lnSpc>
                      </a:pPr>
                      <a:r>
                        <a:rPr dirty="0" sz="1200" i="1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3020">
                        <a:lnSpc>
                          <a:spcPts val="1270"/>
                        </a:lnSpc>
                      </a:pPr>
                      <a:r>
                        <a:rPr dirty="0" sz="1200" i="1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0">
                        <a:lnSpc>
                          <a:spcPts val="1270"/>
                        </a:lnSpc>
                      </a:pPr>
                      <a:r>
                        <a:rPr dirty="0" sz="1200" i="1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830">
                        <a:lnSpc>
                          <a:spcPts val="1270"/>
                        </a:lnSpc>
                      </a:pPr>
                      <a:r>
                        <a:rPr dirty="0" sz="1200" i="1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Number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ts val="12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6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37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41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901699" y="2967740"/>
            <a:ext cx="6426200" cy="6015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117600">
              <a:lnSpc>
                <a:spcPct val="136100"/>
              </a:lnSpc>
              <a:spcBef>
                <a:spcPts val="100"/>
              </a:spcBef>
            </a:pP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rank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8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4,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plus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 smaller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selection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-5">
                <a:latin typeface="Times New Roman"/>
                <a:cs typeface="Times New Roman"/>
              </a:rPr>
              <a:t> is stated as </a:t>
            </a:r>
            <a:r>
              <a:rPr dirty="0" sz="1200" spc="-10">
                <a:latin typeface="Times New Roman"/>
                <a:cs typeface="Times New Roman"/>
              </a:rPr>
              <a:t>follows: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Times New Roman"/>
              <a:cs typeface="Times New Roman"/>
            </a:endParaRPr>
          </a:p>
          <a:p>
            <a:pPr marL="384175">
              <a:lnSpc>
                <a:spcPct val="100000"/>
              </a:lnSpc>
            </a:pP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distinct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Times New Roman"/>
                <a:cs typeface="Times New Roman"/>
              </a:rPr>
              <a:t>integer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rank</a:t>
            </a:r>
            <a:endParaRPr sz="1200">
              <a:latin typeface="Times New Roman"/>
              <a:cs typeface="Times New Roman"/>
            </a:endParaRPr>
          </a:p>
          <a:p>
            <a:pPr marL="384175">
              <a:lnSpc>
                <a:spcPct val="100000"/>
              </a:lnSpc>
              <a:spcBef>
                <a:spcPts val="5"/>
              </a:spcBef>
            </a:pP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Of particular interest in statistics 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median</a:t>
            </a:r>
            <a:r>
              <a:rPr dirty="0" sz="1200" spc="-5">
                <a:latin typeface="Times New Roman"/>
                <a:cs typeface="Times New Roman"/>
              </a:rPr>
              <a:t>. If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odd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median is defined to be element 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rank 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1</a:t>
            </a:r>
            <a:r>
              <a:rPr dirty="0" sz="1200" spc="-55">
                <a:latin typeface="Garamond"/>
                <a:cs typeface="Garamond"/>
              </a:rPr>
              <a:t>)</a:t>
            </a:r>
            <a:r>
              <a:rPr dirty="0" sz="1200" spc="-55">
                <a:latin typeface="Lucida Sans Unicode"/>
                <a:cs typeface="Lucida Sans Unicode"/>
              </a:rPr>
              <a:t>/2</a:t>
            </a:r>
            <a:r>
              <a:rPr dirty="0" sz="1200" spc="-5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even,</a:t>
            </a:r>
            <a:r>
              <a:rPr dirty="0" sz="1200" spc="-5">
                <a:latin typeface="Times New Roman"/>
                <a:cs typeface="Times New Roman"/>
              </a:rPr>
              <a:t> 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choices: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n/2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1</a:t>
            </a:r>
            <a:r>
              <a:rPr dirty="0" sz="1200" spc="-55">
                <a:latin typeface="Garamond"/>
                <a:cs typeface="Garamond"/>
              </a:rPr>
              <a:t>)</a:t>
            </a:r>
            <a:r>
              <a:rPr dirty="0" sz="1200" spc="-55">
                <a:latin typeface="Lucida Sans Unicode"/>
                <a:cs typeface="Lucida Sans Unicode"/>
              </a:rPr>
              <a:t>/2</a:t>
            </a:r>
            <a:r>
              <a:rPr dirty="0" sz="1200" spc="-5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statistics,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common</a:t>
            </a:r>
            <a:r>
              <a:rPr dirty="0" sz="1200" spc="-5">
                <a:latin typeface="Times New Roman"/>
                <a:cs typeface="Times New Roman"/>
              </a:rPr>
              <a:t> 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return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average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elements.</a:t>
            </a:r>
            <a:endParaRPr sz="1200">
              <a:latin typeface="Times New Roman"/>
              <a:cs typeface="Times New Roman"/>
            </a:endParaRPr>
          </a:p>
          <a:p>
            <a:pPr marL="12700" marR="34290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Medians are useful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a measures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central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tendency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 especially 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highly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skewed.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median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income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community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meaningful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measure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 </a:t>
            </a:r>
            <a:r>
              <a:rPr dirty="0" sz="1200" spc="-10">
                <a:latin typeface="Times New Roman"/>
                <a:cs typeface="Times New Roman"/>
              </a:rPr>
              <a:t>average.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households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monthly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incomes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5000,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7000,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2000,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10000,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8000,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15000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15"/>
              </a:spcBef>
            </a:pPr>
            <a:r>
              <a:rPr dirty="0" sz="1200" spc="-10">
                <a:latin typeface="Times New Roman"/>
                <a:cs typeface="Times New Roman"/>
              </a:rPr>
              <a:t>16000.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order,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incomes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2000,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5000,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7000,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8000,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10000,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15000,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16000.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median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income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8000; </a:t>
            </a:r>
            <a:r>
              <a:rPr dirty="0" sz="1200" spc="-5">
                <a:latin typeface="Times New Roman"/>
                <a:cs typeface="Times New Roman"/>
              </a:rPr>
              <a:t>median is element </a:t>
            </a:r>
            <a:r>
              <a:rPr dirty="0" sz="1200" spc="-1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rank 4: 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7 </a:t>
            </a:r>
            <a:r>
              <a:rPr dirty="0" sz="1200" spc="100">
                <a:latin typeface="Garamond"/>
                <a:cs typeface="Garamond"/>
              </a:rPr>
              <a:t>+ </a:t>
            </a:r>
            <a:r>
              <a:rPr dirty="0" sz="1200" spc="-65">
                <a:latin typeface="Lucida Sans Unicode"/>
                <a:cs typeface="Lucida Sans Unicode"/>
              </a:rPr>
              <a:t>1</a:t>
            </a:r>
            <a:r>
              <a:rPr dirty="0" sz="1200" spc="-65">
                <a:latin typeface="Garamond"/>
                <a:cs typeface="Garamond"/>
              </a:rPr>
              <a:t>)</a:t>
            </a:r>
            <a:r>
              <a:rPr dirty="0" sz="1200" spc="-65">
                <a:latin typeface="Lucida Sans Unicode"/>
                <a:cs typeface="Lucida Sans Unicode"/>
              </a:rPr>
              <a:t>/2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85">
                <a:latin typeface="Lucida Sans Unicode"/>
                <a:cs typeface="Lucida Sans Unicode"/>
              </a:rPr>
              <a:t>4</a:t>
            </a:r>
            <a:r>
              <a:rPr dirty="0" sz="1200" spc="-8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average income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9000. </a:t>
            </a:r>
            <a:r>
              <a:rPr dirty="0" sz="1200" spc="-5">
                <a:latin typeface="Times New Roman"/>
                <a:cs typeface="Times New Roman"/>
              </a:rPr>
              <a:t>Suppose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income 16000 </a:t>
            </a:r>
            <a:r>
              <a:rPr dirty="0" sz="1200" spc="-5">
                <a:latin typeface="Times New Roman"/>
                <a:cs typeface="Times New Roman"/>
              </a:rPr>
              <a:t>goes up to </a:t>
            </a:r>
            <a:r>
              <a:rPr dirty="0" sz="1200" spc="-10">
                <a:latin typeface="Times New Roman"/>
                <a:cs typeface="Times New Roman"/>
              </a:rPr>
              <a:t>450,000.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median is still </a:t>
            </a:r>
            <a:r>
              <a:rPr dirty="0" sz="1200" spc="-10">
                <a:latin typeface="Times New Roman"/>
                <a:cs typeface="Times New Roman"/>
              </a:rPr>
              <a:t>8000 </a:t>
            </a:r>
            <a:r>
              <a:rPr dirty="0" sz="1200" spc="-15">
                <a:latin typeface="Times New Roman"/>
                <a:cs typeface="Times New Roman"/>
              </a:rPr>
              <a:t>but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average </a:t>
            </a:r>
            <a:r>
              <a:rPr dirty="0" sz="1200" spc="-5">
                <a:latin typeface="Times New Roman"/>
                <a:cs typeface="Times New Roman"/>
              </a:rPr>
              <a:t>goes up to </a:t>
            </a:r>
            <a:r>
              <a:rPr dirty="0" sz="1200" spc="-10">
                <a:latin typeface="Times New Roman"/>
                <a:cs typeface="Times New Roman"/>
              </a:rPr>
              <a:t>71,000.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Clearly, 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average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representative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majority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income </a:t>
            </a:r>
            <a:r>
              <a:rPr dirty="0" sz="1200" spc="-15">
                <a:latin typeface="Times New Roman"/>
                <a:cs typeface="Times New Roman"/>
              </a:rPr>
              <a:t>levels.</a:t>
            </a:r>
            <a:endParaRPr sz="1200">
              <a:latin typeface="Times New Roman"/>
              <a:cs typeface="Times New Roman"/>
            </a:endParaRPr>
          </a:p>
          <a:p>
            <a:pPr marL="12700" marR="38735" indent="-635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The selection </a:t>
            </a:r>
            <a:r>
              <a:rPr dirty="0" sz="1200" spc="-10">
                <a:latin typeface="Times New Roman"/>
                <a:cs typeface="Times New Roman"/>
              </a:rPr>
              <a:t>problem </a:t>
            </a:r>
            <a:r>
              <a:rPr dirty="0" sz="1200" spc="-5">
                <a:latin typeface="Times New Roman"/>
                <a:cs typeface="Times New Roman"/>
              </a:rPr>
              <a:t>can be easily </a:t>
            </a:r>
            <a:r>
              <a:rPr dirty="0" sz="1200" spc="-10">
                <a:latin typeface="Times New Roman"/>
                <a:cs typeface="Times New Roman"/>
              </a:rPr>
              <a:t>solved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simply sorting the numbers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90">
                <a:latin typeface="Lucida Sans Unicode"/>
                <a:cs typeface="Lucida Sans Unicode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returning </a:t>
            </a:r>
            <a:r>
              <a:rPr dirty="0" sz="1200" spc="10">
                <a:latin typeface="Lucida Sans Unicode"/>
                <a:cs typeface="Lucida Sans Unicode"/>
              </a:rPr>
              <a:t>A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k</a:t>
            </a:r>
            <a:r>
              <a:rPr dirty="0" sz="1200" spc="10">
                <a:latin typeface="Garamond"/>
                <a:cs typeface="Garamond"/>
              </a:rPr>
              <a:t>]</a:t>
            </a:r>
            <a:r>
              <a:rPr dirty="0" sz="1200" spc="10">
                <a:latin typeface="Times New Roman"/>
                <a:cs typeface="Times New Roman"/>
              </a:rPr>
              <a:t>. 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-17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question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that?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particular,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possible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selections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Θ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 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far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 obvious.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3.2.1	</a:t>
            </a:r>
            <a:r>
              <a:rPr dirty="0" sz="1400" spc="5" b="1">
                <a:latin typeface="Times New Roman"/>
                <a:cs typeface="Times New Roman"/>
              </a:rPr>
              <a:t>Sieve</a:t>
            </a:r>
            <a:r>
              <a:rPr dirty="0" sz="1400" spc="-20" b="1">
                <a:latin typeface="Times New Roman"/>
                <a:cs typeface="Times New Roman"/>
              </a:rPr>
              <a:t> </a:t>
            </a:r>
            <a:r>
              <a:rPr dirty="0" sz="1400" spc="-5" b="1">
                <a:latin typeface="Times New Roman"/>
                <a:cs typeface="Times New Roman"/>
              </a:rPr>
              <a:t>Technique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9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reason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illustrates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  <a:p>
            <a:pPr marL="12700" marR="266700">
              <a:lnSpc>
                <a:spcPct val="100000"/>
              </a:lnSpc>
              <a:spcBef>
                <a:spcPts val="5"/>
              </a:spcBef>
            </a:pPr>
            <a:r>
              <a:rPr dirty="0" sz="1200" spc="-10">
                <a:latin typeface="Times New Roman"/>
                <a:cs typeface="Times New Roman"/>
              </a:rPr>
              <a:t>divide-and-conquer,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sieve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technique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think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divide-and-conquer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breaking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 into </a:t>
            </a:r>
            <a:r>
              <a:rPr dirty="0" sz="1200" spc="-5">
                <a:latin typeface="Times New Roman"/>
                <a:cs typeface="Times New Roman"/>
              </a:rPr>
              <a:t>a small </a:t>
            </a:r>
            <a:r>
              <a:rPr dirty="0" sz="1200" spc="-10">
                <a:latin typeface="Times New Roman"/>
                <a:cs typeface="Times New Roman"/>
              </a:rPr>
              <a:t>number </a:t>
            </a:r>
            <a:r>
              <a:rPr dirty="0" sz="1200" spc="-5">
                <a:latin typeface="Times New Roman"/>
                <a:cs typeface="Times New Roman"/>
              </a:rPr>
              <a:t>of smaller </a:t>
            </a:r>
            <a:r>
              <a:rPr dirty="0" sz="1200" spc="-10">
                <a:latin typeface="Times New Roman"/>
                <a:cs typeface="Times New Roman"/>
              </a:rPr>
              <a:t>subproblems, which </a:t>
            </a:r>
            <a:r>
              <a:rPr dirty="0" sz="1200" spc="-5">
                <a:latin typeface="Times New Roman"/>
                <a:cs typeface="Times New Roman"/>
              </a:rPr>
              <a:t>are then </a:t>
            </a:r>
            <a:r>
              <a:rPr dirty="0" sz="1200" spc="-10">
                <a:latin typeface="Times New Roman"/>
                <a:cs typeface="Times New Roman"/>
              </a:rPr>
              <a:t>solved </a:t>
            </a:r>
            <a:r>
              <a:rPr dirty="0" sz="1200" spc="-15">
                <a:latin typeface="Times New Roman"/>
                <a:cs typeface="Times New Roman"/>
              </a:rPr>
              <a:t>recursively.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sieve </a:t>
            </a:r>
            <a:r>
              <a:rPr dirty="0" sz="1200" spc="-10">
                <a:latin typeface="Times New Roman"/>
                <a:cs typeface="Times New Roman"/>
              </a:rPr>
              <a:t> technique</a:t>
            </a:r>
            <a:r>
              <a:rPr dirty="0" sz="1200" spc="-5">
                <a:latin typeface="Times New Roman"/>
                <a:cs typeface="Times New Roman"/>
              </a:rPr>
              <a:t> is a special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case,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subproblems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just 1.</a:t>
            </a:r>
            <a:endParaRPr sz="1200">
              <a:latin typeface="Times New Roman"/>
              <a:cs typeface="Times New Roman"/>
            </a:endParaRPr>
          </a:p>
          <a:p>
            <a:pPr marL="12700" marR="2413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sieve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technique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phases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applies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interested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finding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single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interest,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doing </a:t>
            </a:r>
            <a:r>
              <a:rPr dirty="0" sz="1200" spc="-5">
                <a:latin typeface="Times New Roman"/>
                <a:cs typeface="Times New Roman"/>
              </a:rPr>
              <a:t> some </a:t>
            </a:r>
            <a:r>
              <a:rPr dirty="0" sz="1200" spc="-10">
                <a:latin typeface="Times New Roman"/>
                <a:cs typeface="Times New Roman"/>
              </a:rPr>
              <a:t>amount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analysis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data, </a:t>
            </a:r>
            <a:r>
              <a:rPr dirty="0" sz="1200" spc="-10">
                <a:latin typeface="Times New Roman"/>
                <a:cs typeface="Times New Roman"/>
              </a:rPr>
              <a:t>taking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nk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constant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find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959902" y="8588044"/>
            <a:ext cx="1277620" cy="135255"/>
          </a:xfrm>
          <a:custGeom>
            <a:avLst/>
            <a:gdLst/>
            <a:ahLst/>
            <a:cxnLst/>
            <a:rect l="l" t="t" r="r" b="b"/>
            <a:pathLst>
              <a:path w="1277620" h="135254">
                <a:moveTo>
                  <a:pt x="1277010" y="0"/>
                </a:moveTo>
                <a:lnTo>
                  <a:pt x="0" y="0"/>
                </a:lnTo>
                <a:lnTo>
                  <a:pt x="0" y="134670"/>
                </a:lnTo>
                <a:lnTo>
                  <a:pt x="1277010" y="134670"/>
                </a:lnTo>
                <a:lnTo>
                  <a:pt x="1277010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980006" y="8201176"/>
            <a:ext cx="1219200" cy="341630"/>
          </a:xfrm>
          <a:custGeom>
            <a:avLst/>
            <a:gdLst/>
            <a:ahLst/>
            <a:cxnLst/>
            <a:rect l="l" t="t" r="r" b="b"/>
            <a:pathLst>
              <a:path w="1219200" h="341629">
                <a:moveTo>
                  <a:pt x="1197724" y="196278"/>
                </a:moveTo>
                <a:lnTo>
                  <a:pt x="0" y="196278"/>
                </a:lnTo>
                <a:lnTo>
                  <a:pt x="0" y="341426"/>
                </a:lnTo>
                <a:lnTo>
                  <a:pt x="1197724" y="341426"/>
                </a:lnTo>
                <a:lnTo>
                  <a:pt x="1197724" y="196278"/>
                </a:lnTo>
                <a:close/>
              </a:path>
              <a:path w="1219200" h="341629">
                <a:moveTo>
                  <a:pt x="1218857" y="0"/>
                </a:moveTo>
                <a:lnTo>
                  <a:pt x="8928" y="0"/>
                </a:lnTo>
                <a:lnTo>
                  <a:pt x="8928" y="157670"/>
                </a:lnTo>
                <a:lnTo>
                  <a:pt x="1218857" y="157670"/>
                </a:lnTo>
                <a:lnTo>
                  <a:pt x="1218857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966988" y="7667828"/>
            <a:ext cx="1047750" cy="163195"/>
          </a:xfrm>
          <a:custGeom>
            <a:avLst/>
            <a:gdLst/>
            <a:ahLst/>
            <a:cxnLst/>
            <a:rect l="l" t="t" r="r" b="b"/>
            <a:pathLst>
              <a:path w="1047750" h="163195">
                <a:moveTo>
                  <a:pt x="1047546" y="0"/>
                </a:moveTo>
                <a:lnTo>
                  <a:pt x="0" y="0"/>
                </a:lnTo>
                <a:lnTo>
                  <a:pt x="0" y="162699"/>
                </a:lnTo>
                <a:lnTo>
                  <a:pt x="1047546" y="162699"/>
                </a:lnTo>
                <a:lnTo>
                  <a:pt x="1047546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01699" y="520987"/>
            <a:ext cx="6430645" cy="439039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lvl="1" marL="325120" indent="-313055">
              <a:lnSpc>
                <a:spcPct val="100000"/>
              </a:lnSpc>
              <a:spcBef>
                <a:spcPts val="110"/>
              </a:spcBef>
              <a:buAutoNum type="arabicPeriod" startAt="2"/>
              <a:tabLst>
                <a:tab pos="325755" algn="l"/>
                <a:tab pos="6261100" algn="l"/>
              </a:tabLst>
            </a:pP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 spc="-10">
                <a:latin typeface="Times New Roman"/>
                <a:cs typeface="Times New Roman"/>
              </a:rPr>
              <a:t>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</a:t>
            </a:r>
            <a:r>
              <a:rPr dirty="0" sz="1200" spc="-55">
                <a:latin typeface="Times New Roman"/>
                <a:cs typeface="Times New Roman"/>
              </a:rPr>
              <a:t>R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BLEM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10"/>
              </a:spcBef>
              <a:buFont typeface="Times New Roman"/>
              <a:buAutoNum type="arabicPeriod" startAt="2"/>
            </a:pPr>
            <a:endParaRPr sz="1500">
              <a:latin typeface="Times New Roman"/>
              <a:cs typeface="Times New Roman"/>
            </a:endParaRPr>
          </a:p>
          <a:p>
            <a:pPr marL="12700" marR="9525">
              <a:lnSpc>
                <a:spcPct val="100000"/>
              </a:lnSpc>
            </a:pP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 spc="-5">
                <a:latin typeface="Times New Roman"/>
                <a:cs typeface="Times New Roman"/>
              </a:rPr>
              <a:t> 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desired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identify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enough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desired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value,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eliminated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further</a:t>
            </a:r>
            <a:r>
              <a:rPr dirty="0" sz="1200" spc="-5">
                <a:latin typeface="Times New Roman"/>
                <a:cs typeface="Times New Roman"/>
              </a:rPr>
              <a:t> consideration.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particular </a:t>
            </a:r>
            <a:r>
              <a:rPr dirty="0" sz="1200" spc="-10">
                <a:latin typeface="Times New Roman"/>
                <a:cs typeface="Times New Roman"/>
              </a:rPr>
              <a:t>“large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enough”</a:t>
            </a:r>
            <a:r>
              <a:rPr dirty="0" sz="1200" spc="-5">
                <a:latin typeface="Times New Roman"/>
                <a:cs typeface="Times New Roman"/>
              </a:rPr>
              <a:t> means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 number </a:t>
            </a:r>
            <a:r>
              <a:rPr dirty="0" sz="1200" spc="-5">
                <a:latin typeface="Times New Roman"/>
                <a:cs typeface="Times New Roman"/>
              </a:rPr>
              <a:t>of items is at least some </a:t>
            </a:r>
            <a:r>
              <a:rPr dirty="0" sz="1200" spc="-10">
                <a:latin typeface="Times New Roman"/>
                <a:cs typeface="Times New Roman"/>
              </a:rPr>
              <a:t>fixed </a:t>
            </a:r>
            <a:r>
              <a:rPr dirty="0" sz="1200" spc="-5">
                <a:latin typeface="Times New Roman"/>
                <a:cs typeface="Times New Roman"/>
              </a:rPr>
              <a:t>constant </a:t>
            </a:r>
            <a:r>
              <a:rPr dirty="0" sz="1200" spc="-15">
                <a:latin typeface="Times New Roman"/>
                <a:cs typeface="Times New Roman"/>
              </a:rPr>
              <a:t>fraction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(e.g. </a:t>
            </a:r>
            <a:r>
              <a:rPr dirty="0" sz="1200" spc="-40">
                <a:latin typeface="Lucida Sans Unicode"/>
                <a:cs typeface="Lucida Sans Unicode"/>
              </a:rPr>
              <a:t>n/2</a:t>
            </a:r>
            <a:r>
              <a:rPr dirty="0" sz="1200" spc="-40">
                <a:latin typeface="Times New Roman"/>
                <a:cs typeface="Times New Roman"/>
              </a:rPr>
              <a:t>, </a:t>
            </a:r>
            <a:r>
              <a:rPr dirty="0" sz="1200" spc="-30">
                <a:latin typeface="Lucida Sans Unicode"/>
                <a:cs typeface="Lucida Sans Unicode"/>
              </a:rPr>
              <a:t>n/3</a:t>
            </a:r>
            <a:r>
              <a:rPr dirty="0" sz="1200" spc="-30">
                <a:latin typeface="Times New Roman"/>
                <a:cs typeface="Times New Roman"/>
              </a:rPr>
              <a:t>).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we solve 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whatever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remain.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resulting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thing,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eliminating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constant fraction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remaining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lvl="2" marL="558800" indent="-546735">
              <a:lnSpc>
                <a:spcPct val="100000"/>
              </a:lnSpc>
              <a:spcBef>
                <a:spcPts val="955"/>
              </a:spcBef>
              <a:buAutoNum type="arabicPeriod" startAt="2"/>
              <a:tabLst>
                <a:tab pos="558800" algn="l"/>
                <a:tab pos="559435" algn="l"/>
              </a:tabLst>
            </a:pPr>
            <a:r>
              <a:rPr dirty="0" sz="1400" spc="5" b="1">
                <a:latin typeface="Times New Roman"/>
                <a:cs typeface="Times New Roman"/>
              </a:rPr>
              <a:t>Applying </a:t>
            </a:r>
            <a:r>
              <a:rPr dirty="0" sz="1400" spc="10" b="1">
                <a:latin typeface="Times New Roman"/>
                <a:cs typeface="Times New Roman"/>
              </a:rPr>
              <a:t>the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5" b="1">
                <a:latin typeface="Times New Roman"/>
                <a:cs typeface="Times New Roman"/>
              </a:rPr>
              <a:t>Sieve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to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Selection</a:t>
            </a:r>
            <a:endParaRPr sz="1400">
              <a:latin typeface="Times New Roman"/>
              <a:cs typeface="Times New Roman"/>
            </a:endParaRPr>
          </a:p>
          <a:p>
            <a:pPr marL="12700" marR="8890">
              <a:lnSpc>
                <a:spcPct val="100000"/>
              </a:lnSpc>
              <a:spcBef>
                <a:spcPts val="1285"/>
              </a:spcBef>
            </a:pP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 spc="-5">
                <a:latin typeface="Times New Roman"/>
                <a:cs typeface="Times New Roman"/>
              </a:rPr>
              <a:t> concretely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sieve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technique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begin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A</a:t>
            </a:r>
            <a:r>
              <a:rPr dirty="0" sz="1200" spc="-15">
                <a:latin typeface="Garamond"/>
                <a:cs typeface="Garamond"/>
              </a:rPr>
              <a:t>[</a:t>
            </a:r>
            <a:r>
              <a:rPr dirty="0" sz="1200" spc="-15">
                <a:latin typeface="Lucida Sans Unicode"/>
                <a:cs typeface="Lucida Sans Unicode"/>
              </a:rPr>
              <a:t>1..n</a:t>
            </a:r>
            <a:r>
              <a:rPr dirty="0" sz="1200" spc="-15">
                <a:latin typeface="Garamond"/>
                <a:cs typeface="Garamond"/>
              </a:rPr>
              <a:t>]</a:t>
            </a:r>
            <a:r>
              <a:rPr dirty="0" sz="1200" spc="-1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item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array,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pivot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element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 will denote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55">
                <a:latin typeface="Lucida Sans Unicode"/>
                <a:cs typeface="Lucida Sans Unicode"/>
              </a:rPr>
              <a:t>x</a:t>
            </a:r>
            <a:r>
              <a:rPr dirty="0" sz="1200" spc="-55">
                <a:latin typeface="Times New Roman"/>
                <a:cs typeface="Times New Roman"/>
              </a:rPr>
              <a:t>.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talk about </a:t>
            </a:r>
            <a:r>
              <a:rPr dirty="0" sz="1200" spc="-15">
                <a:latin typeface="Times New Roman"/>
                <a:cs typeface="Times New Roman"/>
              </a:rPr>
              <a:t>how </a:t>
            </a:r>
            <a:r>
              <a:rPr dirty="0" sz="1200" spc="-5">
                <a:latin typeface="Times New Roman"/>
                <a:cs typeface="Times New Roman"/>
              </a:rPr>
              <a:t>an item is chosen as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pivot </a:t>
            </a:r>
            <a:r>
              <a:rPr dirty="0" sz="1200" spc="-5">
                <a:latin typeface="Times New Roman"/>
                <a:cs typeface="Times New Roman"/>
              </a:rPr>
              <a:t>later; for </a:t>
            </a:r>
            <a:r>
              <a:rPr dirty="0" sz="1200" spc="-15">
                <a:latin typeface="Times New Roman"/>
                <a:cs typeface="Times New Roman"/>
              </a:rPr>
              <a:t>now </a:t>
            </a:r>
            <a:r>
              <a:rPr dirty="0" sz="1200" spc="-5">
                <a:latin typeface="Times New Roman"/>
                <a:cs typeface="Times New Roman"/>
              </a:rPr>
              <a:t>just </a:t>
            </a:r>
            <a:r>
              <a:rPr dirty="0" sz="1200" spc="-10">
                <a:latin typeface="Times New Roman"/>
                <a:cs typeface="Times New Roman"/>
              </a:rPr>
              <a:t>think </a:t>
            </a:r>
            <a:r>
              <a:rPr dirty="0" sz="1200" spc="-5">
                <a:latin typeface="Times New Roman"/>
                <a:cs typeface="Times New Roman"/>
              </a:rPr>
              <a:t>of it as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random</a:t>
            </a:r>
            <a:r>
              <a:rPr dirty="0" sz="1200" spc="-5">
                <a:latin typeface="Times New Roman"/>
                <a:cs typeface="Times New Roman"/>
              </a:rPr>
              <a:t> element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 </a:t>
            </a:r>
            <a:r>
              <a:rPr dirty="0" sz="1200" spc="-10" i="1">
                <a:latin typeface="Times New Roman"/>
                <a:cs typeface="Times New Roman"/>
              </a:rPr>
              <a:t>partition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00">
              <a:latin typeface="Times New Roman"/>
              <a:cs typeface="Times New Roman"/>
            </a:endParaRPr>
          </a:p>
          <a:p>
            <a:pPr lvl="3" marL="384175" indent="-189230">
              <a:lnSpc>
                <a:spcPct val="100000"/>
              </a:lnSpc>
              <a:buFont typeface="Times New Roman"/>
              <a:buAutoNum type="arabicPeriod"/>
              <a:tabLst>
                <a:tab pos="38481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A</a:t>
            </a:r>
            <a:r>
              <a:rPr dirty="0" sz="1200" spc="15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q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-2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pivot </a:t>
            </a:r>
            <a:r>
              <a:rPr dirty="0" sz="1200" spc="-5">
                <a:latin typeface="Times New Roman"/>
                <a:cs typeface="Times New Roman"/>
              </a:rPr>
              <a:t>element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x</a:t>
            </a:r>
            <a:r>
              <a:rPr dirty="0" sz="1200" spc="-5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 lvl="3" marL="384175" indent="-189230">
              <a:lnSpc>
                <a:spcPct val="100000"/>
              </a:lnSpc>
              <a:spcBef>
                <a:spcPts val="1010"/>
              </a:spcBef>
              <a:buFont typeface="Times New Roman"/>
              <a:buAutoNum type="arabicPeriod"/>
              <a:tabLst>
                <a:tab pos="384810" algn="l"/>
              </a:tabLst>
            </a:pP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ess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  <a:p>
            <a:pPr lvl="3" marL="384175" indent="-189230">
              <a:lnSpc>
                <a:spcPct val="100000"/>
              </a:lnSpc>
              <a:spcBef>
                <a:spcPts val="1015"/>
              </a:spcBef>
              <a:buFont typeface="Times New Roman"/>
              <a:buAutoNum type="arabicPeriod"/>
              <a:tabLst>
                <a:tab pos="384810" algn="l"/>
              </a:tabLst>
            </a:pP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</a:t>
            </a:r>
            <a:r>
              <a:rPr dirty="0" sz="1200" spc="-5">
                <a:latin typeface="Times New Roman"/>
                <a:cs typeface="Times New Roman"/>
              </a:rPr>
              <a:t>ea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15">
                <a:latin typeface="Times New Roman"/>
                <a:cs typeface="Times New Roman"/>
              </a:rPr>
              <a:t>Within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array,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appear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order.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154935" y="5091374"/>
            <a:ext cx="3921760" cy="1905000"/>
          </a:xfrm>
          <a:custGeom>
            <a:avLst/>
            <a:gdLst/>
            <a:ahLst/>
            <a:cxnLst/>
            <a:rect l="l" t="t" r="r" b="b"/>
            <a:pathLst>
              <a:path w="3921760" h="1905000">
                <a:moveTo>
                  <a:pt x="3921282" y="0"/>
                </a:moveTo>
                <a:lnTo>
                  <a:pt x="0" y="0"/>
                </a:lnTo>
                <a:lnTo>
                  <a:pt x="0" y="1904801"/>
                </a:lnTo>
                <a:lnTo>
                  <a:pt x="3921282" y="1904801"/>
                </a:lnTo>
                <a:lnTo>
                  <a:pt x="3921282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2218075" y="5726118"/>
          <a:ext cx="1685289" cy="2393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0820"/>
                <a:gridCol w="210820"/>
                <a:gridCol w="209550"/>
                <a:gridCol w="210820"/>
                <a:gridCol w="210819"/>
                <a:gridCol w="210819"/>
                <a:gridCol w="209550"/>
                <a:gridCol w="210819"/>
              </a:tblGrid>
              <a:tr h="237349">
                <a:tc>
                  <a:txBody>
                    <a:bodyPr/>
                    <a:lstStyle/>
                    <a:p>
                      <a:pPr marL="61594">
                        <a:lnSpc>
                          <a:spcPts val="177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61594">
                        <a:lnSpc>
                          <a:spcPts val="177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177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45720">
                        <a:lnSpc>
                          <a:spcPts val="177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ts val="177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80"/>
                    </a:solidFill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ts val="177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45720">
                        <a:lnSpc>
                          <a:spcPts val="177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45720">
                        <a:lnSpc>
                          <a:spcPts val="177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2902736" y="5122691"/>
            <a:ext cx="465455" cy="2755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9F"/>
                </a:solidFill>
                <a:latin typeface="Arial"/>
                <a:cs typeface="Arial"/>
              </a:rPr>
              <a:t>pivot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3121883" y="5385612"/>
            <a:ext cx="87630" cy="262890"/>
            <a:chOff x="3121883" y="5385612"/>
            <a:chExt cx="87630" cy="262890"/>
          </a:xfrm>
        </p:grpSpPr>
        <p:sp>
          <p:nvSpPr>
            <p:cNvPr id="10" name="object 10"/>
            <p:cNvSpPr/>
            <p:nvPr/>
          </p:nvSpPr>
          <p:spPr>
            <a:xfrm>
              <a:off x="3165424" y="5385612"/>
              <a:ext cx="0" cy="198120"/>
            </a:xfrm>
            <a:custGeom>
              <a:avLst/>
              <a:gdLst/>
              <a:ahLst/>
              <a:cxnLst/>
              <a:rect l="l" t="t" r="r" b="b"/>
              <a:pathLst>
                <a:path w="0" h="198120">
                  <a:moveTo>
                    <a:pt x="0" y="0"/>
                  </a:moveTo>
                  <a:lnTo>
                    <a:pt x="0" y="198028"/>
                  </a:lnTo>
                </a:path>
              </a:pathLst>
            </a:custGeom>
            <a:ln w="1172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121883" y="5562564"/>
              <a:ext cx="87630" cy="85725"/>
            </a:xfrm>
            <a:custGeom>
              <a:avLst/>
              <a:gdLst/>
              <a:ahLst/>
              <a:cxnLst/>
              <a:rect l="l" t="t" r="r" b="b"/>
              <a:pathLst>
                <a:path w="87630" h="85725">
                  <a:moveTo>
                    <a:pt x="87081" y="0"/>
                  </a:moveTo>
                  <a:lnTo>
                    <a:pt x="82875" y="1417"/>
                  </a:lnTo>
                  <a:lnTo>
                    <a:pt x="77251" y="4221"/>
                  </a:lnTo>
                  <a:lnTo>
                    <a:pt x="71627" y="5623"/>
                  </a:lnTo>
                  <a:lnTo>
                    <a:pt x="67421" y="7025"/>
                  </a:lnTo>
                  <a:lnTo>
                    <a:pt x="56189" y="9829"/>
                  </a:lnTo>
                  <a:lnTo>
                    <a:pt x="30906" y="9829"/>
                  </a:lnTo>
                  <a:lnTo>
                    <a:pt x="14051" y="5623"/>
                  </a:lnTo>
                  <a:lnTo>
                    <a:pt x="9845" y="4221"/>
                  </a:lnTo>
                  <a:lnTo>
                    <a:pt x="4221" y="1417"/>
                  </a:lnTo>
                  <a:lnTo>
                    <a:pt x="0" y="0"/>
                  </a:lnTo>
                  <a:lnTo>
                    <a:pt x="43540" y="85679"/>
                  </a:lnTo>
                  <a:lnTo>
                    <a:pt x="870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2273553" y="5423250"/>
            <a:ext cx="141605" cy="2755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20" i="1">
                <a:solidFill>
                  <a:srgbClr val="FFFF9F"/>
                </a:solidFill>
                <a:latin typeface="Arial"/>
                <a:cs typeface="Arial"/>
              </a:rPr>
              <a:t>p</a:t>
            </a:r>
            <a:endParaRPr sz="1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753826" y="5437294"/>
            <a:ext cx="95250" cy="2755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0" i="1">
                <a:solidFill>
                  <a:srgbClr val="FFFF9F"/>
                </a:solidFill>
                <a:latin typeface="Arial"/>
                <a:cs typeface="Arial"/>
              </a:rPr>
              <a:t>r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168133" y="5690091"/>
            <a:ext cx="1714500" cy="2755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9F"/>
                </a:solidFill>
                <a:latin typeface="Arial"/>
                <a:cs typeface="Arial"/>
              </a:rPr>
              <a:t>Before</a:t>
            </a:r>
            <a:r>
              <a:rPr dirty="0" sz="1600" spc="-50">
                <a:solidFill>
                  <a:srgbClr val="FFFF9F"/>
                </a:solidFill>
                <a:latin typeface="Arial"/>
                <a:cs typeface="Arial"/>
              </a:rPr>
              <a:t> </a:t>
            </a:r>
            <a:r>
              <a:rPr dirty="0" sz="1600" spc="15">
                <a:solidFill>
                  <a:srgbClr val="FFFF9F"/>
                </a:solidFill>
                <a:latin typeface="Arial"/>
                <a:cs typeface="Arial"/>
              </a:rPr>
              <a:t>partitioning</a:t>
            </a:r>
            <a:endParaRPr sz="1600">
              <a:latin typeface="Arial"/>
              <a:cs typeface="Arial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2216673" y="6447302"/>
          <a:ext cx="1687195" cy="2374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0185"/>
                <a:gridCol w="210820"/>
                <a:gridCol w="210184"/>
                <a:gridCol w="210820"/>
                <a:gridCol w="209550"/>
                <a:gridCol w="210819"/>
                <a:gridCol w="209550"/>
                <a:gridCol w="211455"/>
              </a:tblGrid>
              <a:tr h="235943">
                <a:tc>
                  <a:txBody>
                    <a:bodyPr/>
                    <a:lstStyle/>
                    <a:p>
                      <a:pPr marL="59690">
                        <a:lnSpc>
                          <a:spcPts val="176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005B2D"/>
                    </a:solidFill>
                  </a:tcPr>
                </a:tc>
                <a:tc>
                  <a:txBody>
                    <a:bodyPr/>
                    <a:lstStyle/>
                    <a:p>
                      <a:pPr marL="61594">
                        <a:lnSpc>
                          <a:spcPts val="176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005B2D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176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005B2D"/>
                    </a:solidFill>
                  </a:tcPr>
                </a:tc>
                <a:tc>
                  <a:txBody>
                    <a:bodyPr/>
                    <a:lstStyle/>
                    <a:p>
                      <a:pPr marL="45085">
                        <a:lnSpc>
                          <a:spcPts val="176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80"/>
                    </a:solidFill>
                  </a:tcPr>
                </a:tc>
                <a:tc>
                  <a:txBody>
                    <a:bodyPr/>
                    <a:lstStyle/>
                    <a:p>
                      <a:pPr marL="61594">
                        <a:lnSpc>
                          <a:spcPts val="176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542B2B"/>
                    </a:solidFill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ts val="176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542B2B"/>
                    </a:solidFill>
                  </a:tcPr>
                </a:tc>
                <a:tc>
                  <a:txBody>
                    <a:bodyPr/>
                    <a:lstStyle/>
                    <a:p>
                      <a:pPr marL="45720">
                        <a:lnSpc>
                          <a:spcPts val="176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542B2B"/>
                    </a:solidFill>
                  </a:tcPr>
                </a:tc>
                <a:tc>
                  <a:txBody>
                    <a:bodyPr/>
                    <a:lstStyle/>
                    <a:p>
                      <a:pPr marL="45720">
                        <a:lnSpc>
                          <a:spcPts val="1760"/>
                        </a:lnSpc>
                      </a:pPr>
                      <a:r>
                        <a:rPr dirty="0" sz="16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542B2B"/>
                    </a:solidFill>
                  </a:tcPr>
                </a:tc>
              </a:tr>
            </a:tbl>
          </a:graphicData>
        </a:graphic>
      </p:graphicFrame>
      <p:sp>
        <p:nvSpPr>
          <p:cNvPr id="16" name="object 16"/>
          <p:cNvSpPr txBox="1"/>
          <p:nvPr/>
        </p:nvSpPr>
        <p:spPr>
          <a:xfrm>
            <a:off x="2272156" y="6142311"/>
            <a:ext cx="141605" cy="2755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20" i="1">
                <a:solidFill>
                  <a:srgbClr val="FFFF9F"/>
                </a:solidFill>
                <a:latin typeface="Arial"/>
                <a:cs typeface="Arial"/>
              </a:rPr>
              <a:t>p</a:t>
            </a:r>
            <a:endParaRPr sz="16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752429" y="6146524"/>
            <a:ext cx="95250" cy="2755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0" i="1">
                <a:solidFill>
                  <a:srgbClr val="FFFF9F"/>
                </a:solidFill>
                <a:latin typeface="Arial"/>
                <a:cs typeface="Arial"/>
              </a:rPr>
              <a:t>r</a:t>
            </a:r>
            <a:endParaRPr sz="16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883094" y="6131076"/>
            <a:ext cx="141605" cy="2755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20" i="1">
                <a:solidFill>
                  <a:srgbClr val="FFFF9F"/>
                </a:solidFill>
                <a:latin typeface="Arial"/>
                <a:cs typeface="Arial"/>
              </a:rPr>
              <a:t>q</a:t>
            </a:r>
            <a:endParaRPr sz="16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01697" y="6407748"/>
            <a:ext cx="4894580" cy="14331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366135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9F"/>
                </a:solidFill>
                <a:latin typeface="Arial"/>
                <a:cs typeface="Arial"/>
              </a:rPr>
              <a:t>After</a:t>
            </a:r>
            <a:r>
              <a:rPr dirty="0" sz="1600" spc="-65">
                <a:solidFill>
                  <a:srgbClr val="FFFF9F"/>
                </a:solidFill>
                <a:latin typeface="Arial"/>
                <a:cs typeface="Arial"/>
              </a:rPr>
              <a:t> </a:t>
            </a:r>
            <a:r>
              <a:rPr dirty="0" sz="1600" spc="15">
                <a:solidFill>
                  <a:srgbClr val="FFFF9F"/>
                </a:solidFill>
                <a:latin typeface="Arial"/>
                <a:cs typeface="Arial"/>
              </a:rPr>
              <a:t>partitioning</a:t>
            </a:r>
            <a:endParaRPr sz="1600">
              <a:latin typeface="Arial"/>
              <a:cs typeface="Arial"/>
            </a:endParaRPr>
          </a:p>
          <a:p>
            <a:pPr marL="1436370">
              <a:lnSpc>
                <a:spcPct val="100000"/>
              </a:lnSpc>
              <a:spcBef>
                <a:spcPts val="70"/>
              </a:spcBef>
              <a:tabLst>
                <a:tab pos="2004695" algn="l"/>
                <a:tab pos="2500630" algn="l"/>
              </a:tabLst>
            </a:pPr>
            <a:r>
              <a:rPr dirty="0" sz="1600" spc="20" i="1">
                <a:solidFill>
                  <a:srgbClr val="FFFF9F"/>
                </a:solidFill>
                <a:latin typeface="Arial"/>
                <a:cs typeface="Arial"/>
              </a:rPr>
              <a:t>&lt;</a:t>
            </a:r>
            <a:r>
              <a:rPr dirty="0" sz="1600" spc="10" i="1">
                <a:solidFill>
                  <a:srgbClr val="FFFF9F"/>
                </a:solidFill>
                <a:latin typeface="Arial"/>
                <a:cs typeface="Arial"/>
              </a:rPr>
              <a:t> </a:t>
            </a:r>
            <a:r>
              <a:rPr dirty="0" sz="1600" spc="15" i="1">
                <a:solidFill>
                  <a:srgbClr val="FFFF9F"/>
                </a:solidFill>
                <a:latin typeface="Arial"/>
                <a:cs typeface="Arial"/>
              </a:rPr>
              <a:t>x	x	</a:t>
            </a:r>
            <a:r>
              <a:rPr dirty="0" sz="1600" spc="20" i="1">
                <a:solidFill>
                  <a:srgbClr val="FFFF9F"/>
                </a:solidFill>
                <a:latin typeface="Arial"/>
                <a:cs typeface="Arial"/>
              </a:rPr>
              <a:t>&gt;</a:t>
            </a:r>
            <a:r>
              <a:rPr dirty="0" sz="1600" spc="-35" i="1">
                <a:solidFill>
                  <a:srgbClr val="FFFF9F"/>
                </a:solidFill>
                <a:latin typeface="Arial"/>
                <a:cs typeface="Arial"/>
              </a:rPr>
              <a:t> </a:t>
            </a:r>
            <a:r>
              <a:rPr dirty="0" sz="1600" spc="15" i="1">
                <a:solidFill>
                  <a:srgbClr val="FFFF9F"/>
                </a:solidFill>
                <a:latin typeface="Arial"/>
                <a:cs typeface="Arial"/>
              </a:rPr>
              <a:t>x</a:t>
            </a:r>
            <a:endParaRPr sz="1600">
              <a:latin typeface="Arial"/>
              <a:cs typeface="Arial"/>
            </a:endParaRPr>
          </a:p>
          <a:p>
            <a:pPr marL="1757680">
              <a:lnSpc>
                <a:spcPct val="100000"/>
              </a:lnSpc>
              <a:spcBef>
                <a:spcPts val="1280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3.4: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A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p..r</a:t>
            </a:r>
            <a:r>
              <a:rPr dirty="0" sz="1200" spc="-5">
                <a:latin typeface="Garamond"/>
                <a:cs typeface="Garamond"/>
              </a:rPr>
              <a:t>] </a:t>
            </a:r>
            <a:r>
              <a:rPr dirty="0" sz="1200" spc="-10">
                <a:latin typeface="Times New Roman"/>
                <a:cs typeface="Times New Roman"/>
              </a:rPr>
              <a:t>partitioned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pivot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75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3.2.3	Selection</a:t>
            </a:r>
            <a:r>
              <a:rPr dirty="0" sz="1400" spc="-2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01697" y="7978533"/>
            <a:ext cx="11093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easy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980006" y="8030553"/>
            <a:ext cx="1254125" cy="17081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 marL="17780">
              <a:lnSpc>
                <a:spcPts val="1125"/>
              </a:lnSpc>
            </a:pP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rank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Th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220634" y="7978533"/>
            <a:ext cx="2971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30">
                <a:latin typeface="Times New Roman"/>
                <a:cs typeface="Times New Roman"/>
              </a:rPr>
              <a:t>v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20">
                <a:latin typeface="Lucida Sans Unicode"/>
                <a:cs typeface="Lucida Sans Unicode"/>
              </a:rPr>
              <a:t>r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1266444" y="8321485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19" h="5715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901705" y="8161984"/>
            <a:ext cx="1066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ran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3073907" y="8321485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19" h="5715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1980006" y="8201177"/>
            <a:ext cx="1254125" cy="1968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8890">
              <a:lnSpc>
                <a:spcPts val="1225"/>
              </a:lnSpc>
            </a:pP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ran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5807963" y="8321485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5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3198747" y="8161984"/>
            <a:ext cx="34975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30">
                <a:latin typeface="Times New Roman"/>
                <a:cs typeface="Times New Roman"/>
              </a:rPr>
              <a:t>v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baseline="31250" sz="1200" spc="-15">
                <a:latin typeface="Times New Roman"/>
                <a:cs typeface="Times New Roman"/>
              </a:rPr>
              <a:t>t</a:t>
            </a:r>
            <a:r>
              <a:rPr dirty="0" baseline="31250" sz="1200" spc="-7">
                <a:latin typeface="Times New Roman"/>
                <a:cs typeface="Times New Roman"/>
              </a:rPr>
              <a:t>h</a:t>
            </a:r>
            <a:r>
              <a:rPr dirty="0" baseline="31250" sz="1200">
                <a:latin typeface="Times New Roman"/>
                <a:cs typeface="Times New Roman"/>
              </a:rPr>
              <a:t> </a:t>
            </a:r>
            <a:r>
              <a:rPr dirty="0" baseline="31250" sz="1200" spc="-82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ran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980006" y="8397455"/>
            <a:ext cx="1254125" cy="1454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5"/>
              </a:lnSpc>
            </a:pP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8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ran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3185159" y="8504364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19" h="5715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901699" y="8345436"/>
            <a:ext cx="642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29180" algn="l"/>
              </a:tabLst>
            </a:pP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5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7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ec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7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20">
                <a:latin typeface="Lucida Sans Unicode"/>
                <a:cs typeface="Lucida Sans Unicode"/>
              </a:rPr>
              <a:t>r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ec</a:t>
            </a:r>
            <a:r>
              <a:rPr dirty="0" sz="1200" spc="-10">
                <a:latin typeface="Times New Roman"/>
                <a:cs typeface="Times New Roman"/>
              </a:rPr>
              <a:t>ur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8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15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7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01707" y="8464423"/>
            <a:ext cx="2941955" cy="518795"/>
          </a:xfrm>
          <a:prstGeom prst="rect">
            <a:avLst/>
          </a:prstGeom>
        </p:spPr>
        <p:txBody>
          <a:bodyPr wrap="square" lIns="0" tIns="762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eca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limin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5875">
              <a:lnSpc>
                <a:spcPct val="100000"/>
              </a:lnSpc>
              <a:spcBef>
                <a:spcPts val="505"/>
              </a:spcBef>
            </a:pPr>
            <a:r>
              <a:rPr dirty="0" sz="950" spc="60">
                <a:latin typeface="Times New Roman"/>
                <a:cs typeface="Times New Roman"/>
              </a:rPr>
              <a:t>SELECT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A,</a:t>
            </a:r>
            <a:r>
              <a:rPr dirty="0" sz="1200" spc="11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p,</a:t>
            </a:r>
            <a:r>
              <a:rPr dirty="0" sz="1200" spc="11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r,</a:t>
            </a:r>
            <a:r>
              <a:rPr dirty="0" sz="1200" spc="11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k</a:t>
            </a:r>
            <a:r>
              <a:rPr dirty="0" sz="1200" spc="3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900130" y="520987"/>
            <a:ext cx="342836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3.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DIVIDE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CONQUER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STRATEGY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2567939" y="1452817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19" h="5715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2063495" y="1820101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19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2478023" y="2002981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19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2478023" y="2370265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19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863594" y="926454"/>
            <a:ext cx="4476115" cy="23736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92430" indent="-228600">
              <a:lnSpc>
                <a:spcPct val="100000"/>
              </a:lnSpc>
              <a:spcBef>
                <a:spcPts val="95"/>
              </a:spcBef>
              <a:buFont typeface="Times New Roman"/>
              <a:buAutoNum type="arabicPlain"/>
              <a:tabLst>
                <a:tab pos="391795" algn="l"/>
                <a:tab pos="3930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p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r</a:t>
            </a:r>
            <a:r>
              <a:rPr dirty="0" sz="1200" spc="7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22605" indent="-35877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22605" algn="l"/>
                <a:tab pos="52324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5" b="1">
                <a:latin typeface="Times New Roman"/>
                <a:cs typeface="Times New Roman"/>
              </a:rPr>
              <a:t>return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A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p</a:t>
            </a:r>
            <a:r>
              <a:rPr dirty="0" sz="1200" spc="10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522605" indent="-35877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22605" algn="l"/>
                <a:tab pos="52324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e</a:t>
            </a:r>
            <a:r>
              <a:rPr dirty="0" sz="1200" spc="-10" b="1">
                <a:latin typeface="Times New Roman"/>
                <a:cs typeface="Times New Roman"/>
              </a:rPr>
              <a:t>l</a:t>
            </a:r>
            <a:r>
              <a:rPr dirty="0" sz="1200" spc="-5" b="1">
                <a:latin typeface="Times New Roman"/>
                <a:cs typeface="Times New Roman"/>
              </a:rPr>
              <a:t>se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20">
                <a:latin typeface="Lucida Sans Unicode"/>
                <a:cs typeface="Lucida Sans Unicode"/>
              </a:rPr>
              <a:t> </a:t>
            </a:r>
            <a:r>
              <a:rPr dirty="0" sz="950" spc="55">
                <a:latin typeface="Times New Roman"/>
                <a:cs typeface="Times New Roman"/>
              </a:rPr>
              <a:t>CHOOS</a:t>
            </a:r>
            <a:r>
              <a:rPr dirty="0" sz="950">
                <a:latin typeface="Times New Roman"/>
                <a:cs typeface="Times New Roman"/>
              </a:rPr>
              <a:t>E</a:t>
            </a:r>
            <a:r>
              <a:rPr dirty="0" sz="950">
                <a:latin typeface="Times New Roman"/>
                <a:cs typeface="Times New Roman"/>
              </a:rPr>
              <a:t> </a:t>
            </a:r>
            <a:r>
              <a:rPr dirty="0" sz="950" spc="10">
                <a:latin typeface="Times New Roman"/>
                <a:cs typeface="Times New Roman"/>
              </a:rPr>
              <a:t> </a:t>
            </a:r>
            <a:r>
              <a:rPr dirty="0" sz="950" spc="55">
                <a:latin typeface="Times New Roman"/>
                <a:cs typeface="Times New Roman"/>
              </a:rPr>
              <a:t>PI</a:t>
            </a:r>
            <a:r>
              <a:rPr dirty="0" sz="950" spc="20">
                <a:latin typeface="Times New Roman"/>
                <a:cs typeface="Times New Roman"/>
              </a:rPr>
              <a:t>VO</a:t>
            </a:r>
            <a:r>
              <a:rPr dirty="0" sz="950" spc="25">
                <a:latin typeface="Times New Roman"/>
                <a:cs typeface="Times New Roman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r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847725" indent="-68389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847725" algn="l"/>
                <a:tab pos="848360" algn="l"/>
              </a:tabLst>
            </a:pP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20">
                <a:latin typeface="Lucida Sans Unicode"/>
                <a:cs typeface="Lucida Sans Unicode"/>
              </a:rPr>
              <a:t> </a:t>
            </a:r>
            <a:r>
              <a:rPr dirty="0" sz="950" spc="-30">
                <a:latin typeface="Times New Roman"/>
                <a:cs typeface="Times New Roman"/>
              </a:rPr>
              <a:t>P</a:t>
            </a:r>
            <a:r>
              <a:rPr dirty="0" sz="950" spc="55">
                <a:latin typeface="Times New Roman"/>
                <a:cs typeface="Times New Roman"/>
              </a:rPr>
              <a:t>A</a:t>
            </a:r>
            <a:r>
              <a:rPr dirty="0" sz="950">
                <a:latin typeface="Times New Roman"/>
                <a:cs typeface="Times New Roman"/>
              </a:rPr>
              <a:t>R</a:t>
            </a:r>
            <a:r>
              <a:rPr dirty="0" sz="950" spc="55">
                <a:latin typeface="Times New Roman"/>
                <a:cs typeface="Times New Roman"/>
              </a:rPr>
              <a:t>TITIO</a:t>
            </a:r>
            <a:r>
              <a:rPr dirty="0" sz="950" spc="25">
                <a:latin typeface="Times New Roman"/>
                <a:cs typeface="Times New Roman"/>
              </a:rPr>
              <a:t>N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r,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14">
                <a:latin typeface="Lucida Sans Unicode"/>
                <a:cs typeface="Lucida Sans Unicode"/>
              </a:rPr>
              <a:t>x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847725" indent="-683895">
              <a:lnSpc>
                <a:spcPct val="100000"/>
              </a:lnSpc>
              <a:buFont typeface="Times New Roman"/>
              <a:buAutoNum type="arabicPlain"/>
              <a:tabLst>
                <a:tab pos="847725" algn="l"/>
                <a:tab pos="848360" algn="l"/>
              </a:tabLst>
            </a:pPr>
            <a:r>
              <a:rPr dirty="0" sz="1200" spc="45">
                <a:latin typeface="Lucida Sans Unicode"/>
                <a:cs typeface="Lucida Sans Unicode"/>
              </a:rPr>
              <a:t>ran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847725" indent="-68389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847725" algn="l"/>
                <a:tab pos="848360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ran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  <a:p>
            <a:pPr marL="978535" indent="-81470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977900" algn="l"/>
                <a:tab pos="979169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5" b="1">
                <a:latin typeface="Times New Roman"/>
                <a:cs typeface="Times New Roman"/>
              </a:rPr>
              <a:t>return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  <a:p>
            <a:pPr marL="847725" indent="-68389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847725" algn="l"/>
                <a:tab pos="848360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ran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  <a:p>
            <a:pPr marL="978535" indent="-81470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977900" algn="l"/>
                <a:tab pos="979169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0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e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u</a:t>
            </a:r>
            <a:r>
              <a:rPr dirty="0" sz="1200" spc="-2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n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950" spc="55">
                <a:latin typeface="Times New Roman"/>
                <a:cs typeface="Times New Roman"/>
              </a:rPr>
              <a:t>SELEC</a:t>
            </a:r>
            <a:r>
              <a:rPr dirty="0" sz="950" spc="25">
                <a:latin typeface="Times New Roman"/>
                <a:cs typeface="Times New Roman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978535" indent="-89090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977900" algn="l"/>
                <a:tab pos="979169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e</a:t>
            </a:r>
            <a:r>
              <a:rPr dirty="0" sz="1200" spc="-10" b="1">
                <a:latin typeface="Times New Roman"/>
                <a:cs typeface="Times New Roman"/>
              </a:rPr>
              <a:t>l</a:t>
            </a:r>
            <a:r>
              <a:rPr dirty="0" sz="1200" spc="-5" b="1">
                <a:latin typeface="Times New Roman"/>
                <a:cs typeface="Times New Roman"/>
              </a:rPr>
              <a:t>se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30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e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u</a:t>
            </a:r>
            <a:r>
              <a:rPr dirty="0" sz="1200" spc="-2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n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950" spc="55">
                <a:latin typeface="Times New Roman"/>
                <a:cs typeface="Times New Roman"/>
              </a:rPr>
              <a:t>SELEC</a:t>
            </a:r>
            <a:r>
              <a:rPr dirty="0" sz="950" spc="25">
                <a:latin typeface="Times New Roman"/>
                <a:cs typeface="Times New Roman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r,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</a:pPr>
            <a:endParaRPr sz="1300">
              <a:latin typeface="Garamond"/>
              <a:cs typeface="Garamond"/>
            </a:endParaRPr>
          </a:p>
          <a:p>
            <a:pPr marL="50800">
              <a:lnSpc>
                <a:spcPct val="100000"/>
              </a:lnSpc>
              <a:spcBef>
                <a:spcPts val="1150"/>
              </a:spcBef>
            </a:pPr>
            <a:r>
              <a:rPr dirty="0" sz="1200" spc="-5">
                <a:latin typeface="Times New Roman"/>
                <a:cs typeface="Times New Roman"/>
              </a:rPr>
              <a:t>Example: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6</a:t>
            </a:r>
            <a:r>
              <a:rPr dirty="0" baseline="34722" sz="1200" spc="-7" i="1">
                <a:latin typeface="Times New Roman"/>
                <a:cs typeface="Times New Roman"/>
              </a:rPr>
              <a:t>th</a:t>
            </a:r>
            <a:r>
              <a:rPr dirty="0" baseline="34722" sz="1200" spc="217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smallest element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{</a:t>
            </a:r>
            <a:r>
              <a:rPr dirty="0" sz="1200" spc="70">
                <a:latin typeface="Times New Roman"/>
                <a:cs typeface="Times New Roman"/>
              </a:rPr>
              <a:t>5,</a:t>
            </a:r>
            <a:r>
              <a:rPr dirty="0" sz="1200" spc="-5">
                <a:latin typeface="Times New Roman"/>
                <a:cs typeface="Times New Roman"/>
              </a:rPr>
              <a:t> 9, 2, 6, 4, 1, 3, </a:t>
            </a:r>
            <a:r>
              <a:rPr dirty="0" sz="1200" spc="110">
                <a:latin typeface="Times New Roman"/>
                <a:cs typeface="Times New Roman"/>
              </a:rPr>
              <a:t>7</a:t>
            </a:r>
            <a:r>
              <a:rPr dirty="0" sz="1200" spc="110">
                <a:latin typeface="Segoe UI Symbol"/>
                <a:cs typeface="Segoe UI Symbol"/>
              </a:rPr>
              <a:t>}</a:t>
            </a:r>
            <a:endParaRPr sz="1200">
              <a:latin typeface="Segoe UI Symbol"/>
              <a:cs typeface="Segoe UI Symbo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1642872" y="3524702"/>
            <a:ext cx="4943475" cy="2590800"/>
            <a:chOff x="1642872" y="3524702"/>
            <a:chExt cx="4943475" cy="2590800"/>
          </a:xfrm>
        </p:grpSpPr>
        <p:sp>
          <p:nvSpPr>
            <p:cNvPr id="10" name="object 10"/>
            <p:cNvSpPr/>
            <p:nvPr/>
          </p:nvSpPr>
          <p:spPr>
            <a:xfrm>
              <a:off x="1642872" y="3524702"/>
              <a:ext cx="4943475" cy="2590800"/>
            </a:xfrm>
            <a:custGeom>
              <a:avLst/>
              <a:gdLst/>
              <a:ahLst/>
              <a:cxnLst/>
              <a:rect l="l" t="t" r="r" b="b"/>
              <a:pathLst>
                <a:path w="4943475" h="2590800">
                  <a:moveTo>
                    <a:pt x="4943474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4943474" y="2590601"/>
                  </a:lnTo>
                  <a:lnTo>
                    <a:pt x="4943474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116296" y="4602557"/>
              <a:ext cx="871855" cy="411480"/>
            </a:xfrm>
            <a:custGeom>
              <a:avLst/>
              <a:gdLst/>
              <a:ahLst/>
              <a:cxnLst/>
              <a:rect l="l" t="t" r="r" b="b"/>
              <a:pathLst>
                <a:path w="871854" h="411479">
                  <a:moveTo>
                    <a:pt x="677478" y="411153"/>
                  </a:moveTo>
                  <a:lnTo>
                    <a:pt x="871415" y="411153"/>
                  </a:lnTo>
                  <a:lnTo>
                    <a:pt x="871415" y="6"/>
                  </a:lnTo>
                  <a:lnTo>
                    <a:pt x="677478" y="6"/>
                  </a:lnTo>
                  <a:lnTo>
                    <a:pt x="677478" y="411153"/>
                  </a:lnTo>
                  <a:close/>
                </a:path>
                <a:path w="871854" h="411479">
                  <a:moveTo>
                    <a:pt x="6461" y="193938"/>
                  </a:moveTo>
                  <a:lnTo>
                    <a:pt x="200398" y="193938"/>
                  </a:lnTo>
                  <a:lnTo>
                    <a:pt x="200398" y="0"/>
                  </a:lnTo>
                  <a:lnTo>
                    <a:pt x="6461" y="0"/>
                  </a:lnTo>
                  <a:lnTo>
                    <a:pt x="6461" y="193938"/>
                  </a:lnTo>
                  <a:close/>
                </a:path>
                <a:path w="871854" h="411479">
                  <a:moveTo>
                    <a:pt x="0" y="411153"/>
                  </a:moveTo>
                  <a:lnTo>
                    <a:pt x="193936" y="411153"/>
                  </a:lnTo>
                  <a:lnTo>
                    <a:pt x="193936" y="6"/>
                  </a:lnTo>
                  <a:lnTo>
                    <a:pt x="0" y="6"/>
                  </a:lnTo>
                  <a:lnTo>
                    <a:pt x="0" y="411153"/>
                  </a:lnTo>
                  <a:close/>
                </a:path>
              </a:pathLst>
            </a:custGeom>
            <a:ln w="3175">
              <a:solidFill>
                <a:srgbClr val="FFFF9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2079756" y="3826042"/>
          <a:ext cx="196850" cy="15519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3675"/>
              </a:tblGrid>
              <a:tr h="193944">
                <a:tc>
                  <a:txBody>
                    <a:bodyPr/>
                    <a:lstStyle/>
                    <a:p>
                      <a:pPr algn="ctr" marL="26034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3928">
                <a:tc>
                  <a:txBody>
                    <a:bodyPr/>
                    <a:lstStyle/>
                    <a:p>
                      <a:pPr algn="ctr" marL="26034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3944">
                <a:tc>
                  <a:txBody>
                    <a:bodyPr/>
                    <a:lstStyle/>
                    <a:p>
                      <a:pPr algn="ctr" marL="26034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3935">
                <a:tc>
                  <a:txBody>
                    <a:bodyPr/>
                    <a:lstStyle/>
                    <a:p>
                      <a:pPr algn="ctr" marL="26034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3938">
                <a:tc>
                  <a:txBody>
                    <a:bodyPr/>
                    <a:lstStyle/>
                    <a:p>
                      <a:pPr algn="ctr" marL="26034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000080"/>
                    </a:solidFill>
                  </a:tcPr>
                </a:tc>
              </a:tr>
              <a:tr h="192648">
                <a:tc>
                  <a:txBody>
                    <a:bodyPr/>
                    <a:lstStyle/>
                    <a:p>
                      <a:pPr algn="ctr" marL="26034">
                        <a:lnSpc>
                          <a:spcPts val="141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3928">
                <a:tc>
                  <a:txBody>
                    <a:bodyPr/>
                    <a:lstStyle/>
                    <a:p>
                      <a:pPr algn="ctr" marL="26034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3944">
                <a:tc>
                  <a:txBody>
                    <a:bodyPr/>
                    <a:lstStyle/>
                    <a:p>
                      <a:pPr algn="ctr" marL="26034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grpSp>
        <p:nvGrpSpPr>
          <p:cNvPr id="13" name="object 13"/>
          <p:cNvGrpSpPr/>
          <p:nvPr/>
        </p:nvGrpSpPr>
        <p:grpSpPr>
          <a:xfrm>
            <a:off x="2293632" y="4530145"/>
            <a:ext cx="345440" cy="175260"/>
            <a:chOff x="2293632" y="4530145"/>
            <a:chExt cx="345440" cy="175260"/>
          </a:xfrm>
        </p:grpSpPr>
        <p:sp>
          <p:nvSpPr>
            <p:cNvPr id="14" name="object 14"/>
            <p:cNvSpPr/>
            <p:nvPr/>
          </p:nvSpPr>
          <p:spPr>
            <a:xfrm>
              <a:off x="2299030" y="4557303"/>
              <a:ext cx="285750" cy="142240"/>
            </a:xfrm>
            <a:custGeom>
              <a:avLst/>
              <a:gdLst/>
              <a:ahLst/>
              <a:cxnLst/>
              <a:rect l="l" t="t" r="r" b="b"/>
              <a:pathLst>
                <a:path w="285750" h="142239">
                  <a:moveTo>
                    <a:pt x="0" y="142219"/>
                  </a:moveTo>
                  <a:lnTo>
                    <a:pt x="285734" y="0"/>
                  </a:lnTo>
                </a:path>
              </a:pathLst>
            </a:custGeom>
            <a:ln w="10792">
              <a:solidFill>
                <a:srgbClr val="FFFF9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48554" y="4530145"/>
              <a:ext cx="90510" cy="71109"/>
            </a:xfrm>
            <a:prstGeom prst="rect">
              <a:avLst/>
            </a:prstGeom>
          </p:spPr>
        </p:pic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2662336" y="3826804"/>
          <a:ext cx="194310" cy="15506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3675"/>
              </a:tblGrid>
              <a:tr h="193944">
                <a:tc>
                  <a:txBody>
                    <a:bodyPr/>
                    <a:lstStyle/>
                    <a:p>
                      <a:pPr algn="r" marR="22860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3928">
                <a:tc>
                  <a:txBody>
                    <a:bodyPr/>
                    <a:lstStyle/>
                    <a:p>
                      <a:pPr algn="r" marR="22860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3940">
                <a:tc>
                  <a:txBody>
                    <a:bodyPr/>
                    <a:lstStyle/>
                    <a:p>
                      <a:pPr algn="r" marR="22860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3932">
                <a:tc>
                  <a:txBody>
                    <a:bodyPr/>
                    <a:lstStyle/>
                    <a:p>
                      <a:pPr algn="r" marR="22860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000080"/>
                    </a:solidFill>
                  </a:tcPr>
                </a:tc>
              </a:tr>
              <a:tr h="193944">
                <a:tc>
                  <a:txBody>
                    <a:bodyPr/>
                    <a:lstStyle/>
                    <a:p>
                      <a:pPr algn="r" marR="25400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2648">
                <a:tc>
                  <a:txBody>
                    <a:bodyPr/>
                    <a:lstStyle/>
                    <a:p>
                      <a:pPr algn="r" marR="22860">
                        <a:lnSpc>
                          <a:spcPts val="141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3928">
                <a:tc>
                  <a:txBody>
                    <a:bodyPr/>
                    <a:lstStyle/>
                    <a:p>
                      <a:pPr algn="r" marR="22860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3944">
                <a:tc>
                  <a:txBody>
                    <a:bodyPr/>
                    <a:lstStyle/>
                    <a:p>
                      <a:pPr algn="r" marR="22860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17" name="object 17"/>
          <p:cNvSpPr txBox="1"/>
          <p:nvPr/>
        </p:nvSpPr>
        <p:spPr>
          <a:xfrm>
            <a:off x="2010929" y="5408449"/>
            <a:ext cx="1053465" cy="342900"/>
          </a:xfrm>
          <a:prstGeom prst="rect">
            <a:avLst/>
          </a:prstGeom>
        </p:spPr>
        <p:txBody>
          <a:bodyPr wrap="square" lIns="0" tIns="57150" rIns="0" bIns="0" rtlCol="0" vert="horz">
            <a:spAutoFit/>
          </a:bodyPr>
          <a:lstStyle/>
          <a:p>
            <a:pPr marL="61594" marR="5080" indent="-49530">
              <a:lnSpc>
                <a:spcPct val="77500"/>
              </a:lnSpc>
              <a:spcBef>
                <a:spcPts val="450"/>
              </a:spcBef>
              <a:tabLst>
                <a:tab pos="502284" algn="l"/>
                <a:tab pos="527050" algn="l"/>
              </a:tabLst>
            </a:pPr>
            <a:r>
              <a:rPr dirty="0" sz="1150" spc="10">
                <a:solidFill>
                  <a:srgbClr val="FFFF9F"/>
                </a:solidFill>
                <a:latin typeface="Arial"/>
                <a:cs typeface="Arial"/>
              </a:rPr>
              <a:t>initial</a:t>
            </a:r>
            <a:r>
              <a:rPr dirty="0" sz="1150" spc="10">
                <a:solidFill>
                  <a:srgbClr val="FFFF9F"/>
                </a:solidFill>
                <a:latin typeface="Arial"/>
                <a:cs typeface="Arial"/>
              </a:rPr>
              <a:t>	</a:t>
            </a:r>
            <a:r>
              <a:rPr dirty="0" sz="1150" spc="10">
                <a:solidFill>
                  <a:srgbClr val="FFFF9F"/>
                </a:solidFill>
                <a:latin typeface="Arial"/>
                <a:cs typeface="Arial"/>
              </a:rPr>
              <a:t>partition  </a:t>
            </a:r>
            <a:r>
              <a:rPr dirty="0" sz="1150" spc="20">
                <a:solidFill>
                  <a:srgbClr val="FFFF9F"/>
                </a:solidFill>
                <a:latin typeface="Arial"/>
                <a:cs typeface="Arial"/>
              </a:rPr>
              <a:t>k=6		</a:t>
            </a:r>
            <a:r>
              <a:rPr dirty="0" sz="1150" spc="15">
                <a:solidFill>
                  <a:srgbClr val="FFFF9F"/>
                </a:solidFill>
                <a:latin typeface="Arial"/>
                <a:cs typeface="Arial"/>
              </a:rPr>
              <a:t>pivot=4</a:t>
            </a:r>
            <a:endParaRPr sz="11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443223" y="3560872"/>
            <a:ext cx="6578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15">
                <a:solidFill>
                  <a:srgbClr val="FFFF9F"/>
                </a:solidFill>
                <a:latin typeface="Arial"/>
                <a:cs typeface="Arial"/>
              </a:rPr>
              <a:t>rank</a:t>
            </a:r>
            <a:r>
              <a:rPr dirty="0" baseline="-27777" sz="1500" spc="22" b="1">
                <a:solidFill>
                  <a:srgbClr val="FFFF9F"/>
                </a:solidFill>
                <a:latin typeface="Arial"/>
                <a:cs typeface="Arial"/>
              </a:rPr>
              <a:t>x</a:t>
            </a:r>
            <a:r>
              <a:rPr dirty="0" sz="1150" spc="15">
                <a:solidFill>
                  <a:srgbClr val="FFFF9F"/>
                </a:solidFill>
                <a:latin typeface="Arial"/>
                <a:cs typeface="Arial"/>
              </a:rPr>
              <a:t>=</a:t>
            </a:r>
            <a:r>
              <a:rPr dirty="0" sz="1150" spc="-30">
                <a:solidFill>
                  <a:srgbClr val="FFFF9F"/>
                </a:solidFill>
                <a:latin typeface="Arial"/>
                <a:cs typeface="Arial"/>
              </a:rPr>
              <a:t> </a:t>
            </a:r>
            <a:r>
              <a:rPr dirty="0" sz="1150" spc="20">
                <a:solidFill>
                  <a:srgbClr val="FFFF9F"/>
                </a:solidFill>
                <a:latin typeface="Arial"/>
                <a:cs typeface="Arial"/>
              </a:rPr>
              <a:t>4</a:t>
            </a:r>
            <a:endParaRPr sz="1150">
              <a:latin typeface="Arial"/>
              <a:cs typeface="Arial"/>
            </a:endParaRPr>
          </a:p>
        </p:txBody>
      </p: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3522131" y="4602560"/>
          <a:ext cx="194310" cy="774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3675"/>
              </a:tblGrid>
              <a:tr h="193935">
                <a:tc>
                  <a:txBody>
                    <a:bodyPr/>
                    <a:lstStyle/>
                    <a:p>
                      <a:pPr algn="ctr" marL="20955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2648">
                <a:tc>
                  <a:txBody>
                    <a:bodyPr/>
                    <a:lstStyle/>
                    <a:p>
                      <a:pPr algn="ctr" marL="26034">
                        <a:lnSpc>
                          <a:spcPts val="141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3932">
                <a:tc>
                  <a:txBody>
                    <a:bodyPr/>
                    <a:lstStyle/>
                    <a:p>
                      <a:pPr algn="ctr" marL="26034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3940">
                <a:tc>
                  <a:txBody>
                    <a:bodyPr/>
                    <a:lstStyle/>
                    <a:p>
                      <a:pPr algn="ctr" marL="26034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000080"/>
                    </a:solidFill>
                  </a:tcPr>
                </a:tc>
              </a:tr>
            </a:tbl>
          </a:graphicData>
        </a:graphic>
      </p:graphicFrame>
      <p:sp>
        <p:nvSpPr>
          <p:cNvPr id="20" name="object 20"/>
          <p:cNvSpPr txBox="1"/>
          <p:nvPr/>
        </p:nvSpPr>
        <p:spPr>
          <a:xfrm>
            <a:off x="4034811" y="4323690"/>
            <a:ext cx="6578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15">
                <a:solidFill>
                  <a:srgbClr val="FFFF9F"/>
                </a:solidFill>
                <a:latin typeface="Arial"/>
                <a:cs typeface="Arial"/>
              </a:rPr>
              <a:t>rank</a:t>
            </a:r>
            <a:r>
              <a:rPr dirty="0" baseline="-27777" sz="1500" spc="22" b="1">
                <a:solidFill>
                  <a:srgbClr val="FFFF9F"/>
                </a:solidFill>
                <a:latin typeface="Arial"/>
                <a:cs typeface="Arial"/>
              </a:rPr>
              <a:t>x</a:t>
            </a:r>
            <a:r>
              <a:rPr dirty="0" sz="1150" spc="15">
                <a:solidFill>
                  <a:srgbClr val="FFFF9F"/>
                </a:solidFill>
                <a:latin typeface="Arial"/>
                <a:cs typeface="Arial"/>
              </a:rPr>
              <a:t>=</a:t>
            </a:r>
            <a:r>
              <a:rPr dirty="0" sz="1150" spc="-30">
                <a:solidFill>
                  <a:srgbClr val="FFFF9F"/>
                </a:solidFill>
                <a:latin typeface="Arial"/>
                <a:cs typeface="Arial"/>
              </a:rPr>
              <a:t> </a:t>
            </a:r>
            <a:r>
              <a:rPr dirty="0" sz="1150" spc="20">
                <a:solidFill>
                  <a:srgbClr val="FFFF9F"/>
                </a:solidFill>
                <a:latin typeface="Arial"/>
                <a:cs typeface="Arial"/>
              </a:rPr>
              <a:t>3</a:t>
            </a:r>
            <a:endParaRPr sz="1150">
              <a:latin typeface="Arial"/>
              <a:cs typeface="Arial"/>
            </a:endParaRPr>
          </a:p>
        </p:txBody>
      </p: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4243577" y="4602560"/>
          <a:ext cx="194310" cy="774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3675"/>
              </a:tblGrid>
              <a:tr h="193935">
                <a:tc>
                  <a:txBody>
                    <a:bodyPr/>
                    <a:lstStyle/>
                    <a:p>
                      <a:pPr algn="r" marR="26670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2644">
                <a:tc>
                  <a:txBody>
                    <a:bodyPr/>
                    <a:lstStyle/>
                    <a:p>
                      <a:pPr algn="r" marR="26670">
                        <a:lnSpc>
                          <a:spcPts val="141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3933">
                <a:tc>
                  <a:txBody>
                    <a:bodyPr/>
                    <a:lstStyle/>
                    <a:p>
                      <a:pPr algn="r" marR="26670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000080"/>
                    </a:solidFill>
                  </a:tcPr>
                </a:tc>
              </a:tr>
              <a:tr h="193944">
                <a:tc>
                  <a:txBody>
                    <a:bodyPr/>
                    <a:lstStyle/>
                    <a:p>
                      <a:pPr algn="r" marR="26670">
                        <a:lnSpc>
                          <a:spcPts val="1425"/>
                        </a:lnSpc>
                      </a:pPr>
                      <a:r>
                        <a:rPr dirty="0" sz="1500">
                          <a:solidFill>
                            <a:srgbClr val="FFFF9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FFFF9F"/>
                      </a:solidFill>
                      <a:prstDash val="solid"/>
                    </a:lnL>
                    <a:lnR w="3175">
                      <a:solidFill>
                        <a:srgbClr val="FFFF9F"/>
                      </a:solidFill>
                      <a:prstDash val="solid"/>
                    </a:lnR>
                    <a:lnT w="3175">
                      <a:solidFill>
                        <a:srgbClr val="FFFF9F"/>
                      </a:solidFill>
                      <a:prstDash val="solid"/>
                    </a:lnT>
                    <a:lnB w="3175">
                      <a:solidFill>
                        <a:srgbClr val="FFFF9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grpSp>
        <p:nvGrpSpPr>
          <p:cNvPr id="22" name="object 22"/>
          <p:cNvGrpSpPr/>
          <p:nvPr/>
        </p:nvGrpSpPr>
        <p:grpSpPr>
          <a:xfrm>
            <a:off x="3740396" y="5124902"/>
            <a:ext cx="467359" cy="185420"/>
            <a:chOff x="3740396" y="5124902"/>
            <a:chExt cx="467359" cy="185420"/>
          </a:xfrm>
        </p:grpSpPr>
        <p:sp>
          <p:nvSpPr>
            <p:cNvPr id="23" name="object 23"/>
            <p:cNvSpPr/>
            <p:nvPr/>
          </p:nvSpPr>
          <p:spPr>
            <a:xfrm>
              <a:off x="3745793" y="5155930"/>
              <a:ext cx="405130" cy="149225"/>
            </a:xfrm>
            <a:custGeom>
              <a:avLst/>
              <a:gdLst/>
              <a:ahLst/>
              <a:cxnLst/>
              <a:rect l="l" t="t" r="r" b="b"/>
              <a:pathLst>
                <a:path w="405129" h="149225">
                  <a:moveTo>
                    <a:pt x="0" y="148681"/>
                  </a:moveTo>
                  <a:lnTo>
                    <a:pt x="404682" y="0"/>
                  </a:lnTo>
                </a:path>
              </a:pathLst>
            </a:custGeom>
            <a:ln w="10792">
              <a:solidFill>
                <a:srgbClr val="FFFF9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18152" y="5124902"/>
              <a:ext cx="89214" cy="74980"/>
            </a:xfrm>
            <a:prstGeom prst="rect">
              <a:avLst/>
            </a:prstGeom>
          </p:spPr>
        </p:pic>
      </p:grpSp>
      <p:sp>
        <p:nvSpPr>
          <p:cNvPr id="25" name="object 25"/>
          <p:cNvSpPr txBox="1"/>
          <p:nvPr/>
        </p:nvSpPr>
        <p:spPr>
          <a:xfrm>
            <a:off x="5588899" y="4323691"/>
            <a:ext cx="6578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15">
                <a:solidFill>
                  <a:srgbClr val="FFFF9F"/>
                </a:solidFill>
                <a:latin typeface="Arial"/>
                <a:cs typeface="Arial"/>
              </a:rPr>
              <a:t>rank</a:t>
            </a:r>
            <a:r>
              <a:rPr dirty="0" baseline="-27777" sz="1500" spc="22" b="1">
                <a:solidFill>
                  <a:srgbClr val="FFFF9F"/>
                </a:solidFill>
                <a:latin typeface="Arial"/>
                <a:cs typeface="Arial"/>
              </a:rPr>
              <a:t>x</a:t>
            </a:r>
            <a:r>
              <a:rPr dirty="0" sz="1150" spc="15">
                <a:solidFill>
                  <a:srgbClr val="FFFF9F"/>
                </a:solidFill>
                <a:latin typeface="Arial"/>
                <a:cs typeface="Arial"/>
              </a:rPr>
              <a:t>=</a:t>
            </a:r>
            <a:r>
              <a:rPr dirty="0" sz="1150" spc="-30">
                <a:solidFill>
                  <a:srgbClr val="FFFF9F"/>
                </a:solidFill>
                <a:latin typeface="Arial"/>
                <a:cs typeface="Arial"/>
              </a:rPr>
              <a:t> </a:t>
            </a:r>
            <a:r>
              <a:rPr dirty="0" sz="1150" spc="20">
                <a:solidFill>
                  <a:srgbClr val="FFFF9F"/>
                </a:solidFill>
                <a:latin typeface="Arial"/>
                <a:cs typeface="Arial"/>
              </a:rPr>
              <a:t>2</a:t>
            </a:r>
            <a:endParaRPr sz="11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117058" y="4603325"/>
            <a:ext cx="193040" cy="192405"/>
          </a:xfrm>
          <a:prstGeom prst="rect">
            <a:avLst/>
          </a:prstGeom>
          <a:solidFill>
            <a:srgbClr val="000080"/>
          </a:solidFill>
        </p:spPr>
        <p:txBody>
          <a:bodyPr wrap="square" lIns="0" tIns="0" rIns="0" bIns="0" rtlCol="0" vert="horz">
            <a:spAutoFit/>
          </a:bodyPr>
          <a:lstStyle/>
          <a:p>
            <a:pPr marL="53340">
              <a:lnSpc>
                <a:spcPts val="1515"/>
              </a:lnSpc>
            </a:pPr>
            <a:r>
              <a:rPr dirty="0" sz="1500">
                <a:solidFill>
                  <a:srgbClr val="FFFF9F"/>
                </a:solidFill>
                <a:latin typeface="Arial"/>
                <a:cs typeface="Arial"/>
              </a:rPr>
              <a:t>6</a:t>
            </a:r>
            <a:endParaRPr sz="15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116296" y="4796495"/>
            <a:ext cx="194310" cy="217804"/>
          </a:xfrm>
          <a:prstGeom prst="rect">
            <a:avLst/>
          </a:prstGeom>
          <a:solidFill>
            <a:srgbClr val="7E0000"/>
          </a:solidFill>
          <a:ln w="3175">
            <a:solidFill>
              <a:srgbClr val="FFFF9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53975">
              <a:lnSpc>
                <a:spcPts val="1595"/>
              </a:lnSpc>
            </a:pPr>
            <a:r>
              <a:rPr dirty="0" sz="1500">
                <a:solidFill>
                  <a:srgbClr val="FFFF9F"/>
                </a:solidFill>
                <a:latin typeface="Arial"/>
                <a:cs typeface="Arial"/>
              </a:rPr>
              <a:t>5</a:t>
            </a:r>
            <a:endParaRPr sz="15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971717" y="5408449"/>
            <a:ext cx="529590" cy="342900"/>
          </a:xfrm>
          <a:prstGeom prst="rect">
            <a:avLst/>
          </a:prstGeom>
        </p:spPr>
        <p:txBody>
          <a:bodyPr wrap="square" lIns="0" tIns="57150" rIns="0" bIns="0" rtlCol="0" vert="horz">
            <a:spAutoFit/>
          </a:bodyPr>
          <a:lstStyle/>
          <a:p>
            <a:pPr marL="141605" marR="5080" indent="-129539">
              <a:lnSpc>
                <a:spcPct val="77500"/>
              </a:lnSpc>
              <a:spcBef>
                <a:spcPts val="450"/>
              </a:spcBef>
            </a:pPr>
            <a:r>
              <a:rPr dirty="0" sz="1150" spc="15">
                <a:solidFill>
                  <a:srgbClr val="FFFF9F"/>
                </a:solidFill>
                <a:latin typeface="Arial"/>
                <a:cs typeface="Arial"/>
              </a:rPr>
              <a:t>recurse  </a:t>
            </a:r>
            <a:r>
              <a:rPr dirty="0" sz="1150" spc="20">
                <a:solidFill>
                  <a:srgbClr val="FFFF9F"/>
                </a:solidFill>
                <a:latin typeface="Arial"/>
                <a:cs typeface="Arial"/>
              </a:rPr>
              <a:t>k=2</a:t>
            </a:r>
            <a:endParaRPr sz="1150">
              <a:latin typeface="Arial"/>
              <a:cs typeface="Arial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5793775" y="4796501"/>
            <a:ext cx="200660" cy="217804"/>
          </a:xfrm>
          <a:custGeom>
            <a:avLst/>
            <a:gdLst/>
            <a:ahLst/>
            <a:cxnLst/>
            <a:rect l="l" t="t" r="r" b="b"/>
            <a:pathLst>
              <a:path w="200660" h="217804">
                <a:moveTo>
                  <a:pt x="0" y="217209"/>
                </a:moveTo>
                <a:lnTo>
                  <a:pt x="200401" y="217209"/>
                </a:lnTo>
                <a:lnTo>
                  <a:pt x="200401" y="0"/>
                </a:lnTo>
                <a:lnTo>
                  <a:pt x="0" y="0"/>
                </a:lnTo>
                <a:lnTo>
                  <a:pt x="0" y="217209"/>
                </a:lnTo>
                <a:close/>
              </a:path>
            </a:pathLst>
          </a:custGeom>
          <a:ln w="3175">
            <a:solidFill>
              <a:srgbClr val="FFFF9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 txBox="1"/>
          <p:nvPr/>
        </p:nvSpPr>
        <p:spPr>
          <a:xfrm>
            <a:off x="5794537" y="4796498"/>
            <a:ext cx="193040" cy="216535"/>
          </a:xfrm>
          <a:prstGeom prst="rect">
            <a:avLst/>
          </a:prstGeom>
          <a:solidFill>
            <a:srgbClr val="000080"/>
          </a:solidFill>
        </p:spPr>
        <p:txBody>
          <a:bodyPr wrap="square" lIns="0" tIns="0" rIns="0" bIns="0" rtlCol="0" vert="horz">
            <a:spAutoFit/>
          </a:bodyPr>
          <a:lstStyle/>
          <a:p>
            <a:pPr marL="49530">
              <a:lnSpc>
                <a:spcPts val="1695"/>
              </a:lnSpc>
            </a:pPr>
            <a:r>
              <a:rPr dirty="0" sz="1500">
                <a:solidFill>
                  <a:srgbClr val="FFFF9F"/>
                </a:solidFill>
                <a:latin typeface="Arial"/>
                <a:cs typeface="Arial"/>
              </a:rPr>
              <a:t>6</a:t>
            </a:r>
            <a:endParaRPr sz="15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793775" y="4602563"/>
            <a:ext cx="194310" cy="194310"/>
          </a:xfrm>
          <a:prstGeom prst="rect">
            <a:avLst/>
          </a:prstGeom>
          <a:solidFill>
            <a:srgbClr val="7E0000"/>
          </a:solidFill>
          <a:ln w="3175">
            <a:solidFill>
              <a:srgbClr val="FFFF9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37465">
              <a:lnSpc>
                <a:spcPts val="1525"/>
              </a:lnSpc>
            </a:pPr>
            <a:r>
              <a:rPr dirty="0" sz="1500">
                <a:solidFill>
                  <a:srgbClr val="FFFF9F"/>
                </a:solidFill>
                <a:latin typeface="Arial"/>
                <a:cs typeface="Arial"/>
              </a:rPr>
              <a:t>5</a:t>
            </a:r>
            <a:endParaRPr sz="1500">
              <a:latin typeface="Arial"/>
              <a:cs typeface="Arial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5347501" y="4694127"/>
            <a:ext cx="640715" cy="200660"/>
            <a:chOff x="5347501" y="4694127"/>
            <a:chExt cx="640715" cy="200660"/>
          </a:xfrm>
        </p:grpSpPr>
        <p:sp>
          <p:nvSpPr>
            <p:cNvPr id="33" name="object 33"/>
            <p:cNvSpPr/>
            <p:nvPr/>
          </p:nvSpPr>
          <p:spPr>
            <a:xfrm>
              <a:off x="5793775" y="4796495"/>
              <a:ext cx="194310" cy="0"/>
            </a:xfrm>
            <a:custGeom>
              <a:avLst/>
              <a:gdLst/>
              <a:ahLst/>
              <a:cxnLst/>
              <a:rect l="l" t="t" r="r" b="b"/>
              <a:pathLst>
                <a:path w="194310" h="0">
                  <a:moveTo>
                    <a:pt x="0" y="0"/>
                  </a:moveTo>
                  <a:lnTo>
                    <a:pt x="193944" y="0"/>
                  </a:lnTo>
                </a:path>
              </a:pathLst>
            </a:custGeom>
            <a:ln w="3175">
              <a:solidFill>
                <a:srgbClr val="FFFF9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5352897" y="4699523"/>
              <a:ext cx="355600" cy="167005"/>
            </a:xfrm>
            <a:custGeom>
              <a:avLst/>
              <a:gdLst/>
              <a:ahLst/>
              <a:cxnLst/>
              <a:rect l="l" t="t" r="r" b="b"/>
              <a:pathLst>
                <a:path w="355600" h="167004">
                  <a:moveTo>
                    <a:pt x="0" y="0"/>
                  </a:moveTo>
                  <a:lnTo>
                    <a:pt x="355549" y="166786"/>
                  </a:lnTo>
                </a:path>
              </a:pathLst>
            </a:custGeom>
            <a:ln w="10792">
              <a:solidFill>
                <a:srgbClr val="FFFF9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73547" y="4823638"/>
              <a:ext cx="89199" cy="71109"/>
            </a:xfrm>
            <a:prstGeom prst="rect">
              <a:avLst/>
            </a:prstGeom>
          </p:spPr>
        </p:pic>
      </p:grpSp>
      <p:sp>
        <p:nvSpPr>
          <p:cNvPr id="36" name="object 36"/>
          <p:cNvSpPr txBox="1"/>
          <p:nvPr/>
        </p:nvSpPr>
        <p:spPr>
          <a:xfrm>
            <a:off x="5611708" y="5408449"/>
            <a:ext cx="685800" cy="649605"/>
          </a:xfrm>
          <a:prstGeom prst="rect">
            <a:avLst/>
          </a:prstGeom>
        </p:spPr>
        <p:txBody>
          <a:bodyPr wrap="square" lIns="0" tIns="57150" rIns="0" bIns="0" rtlCol="0" vert="horz">
            <a:spAutoFit/>
          </a:bodyPr>
          <a:lstStyle/>
          <a:p>
            <a:pPr marL="75565" marR="88265" indent="-24765">
              <a:lnSpc>
                <a:spcPct val="77500"/>
              </a:lnSpc>
              <a:spcBef>
                <a:spcPts val="450"/>
              </a:spcBef>
            </a:pPr>
            <a:r>
              <a:rPr dirty="0" sz="1150" spc="10">
                <a:solidFill>
                  <a:srgbClr val="FFFF9F"/>
                </a:solidFill>
                <a:latin typeface="Arial"/>
                <a:cs typeface="Arial"/>
              </a:rPr>
              <a:t>partition  </a:t>
            </a:r>
            <a:r>
              <a:rPr dirty="0" sz="1150" spc="15">
                <a:solidFill>
                  <a:srgbClr val="FFFF9F"/>
                </a:solidFill>
                <a:latin typeface="Arial"/>
                <a:cs typeface="Arial"/>
              </a:rPr>
              <a:t>pivot=6</a:t>
            </a:r>
            <a:endParaRPr sz="11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500">
                <a:solidFill>
                  <a:srgbClr val="FFFF9F"/>
                </a:solidFill>
                <a:latin typeface="Arial"/>
                <a:cs typeface="Arial"/>
              </a:rPr>
              <a:t>DONE!!</a:t>
            </a:r>
            <a:endParaRPr sz="15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302561" y="5408449"/>
            <a:ext cx="1318260" cy="342900"/>
          </a:xfrm>
          <a:prstGeom prst="rect">
            <a:avLst/>
          </a:prstGeom>
        </p:spPr>
        <p:txBody>
          <a:bodyPr wrap="square" lIns="0" tIns="57150" rIns="0" bIns="0" rtlCol="0" vert="horz">
            <a:spAutoFit/>
          </a:bodyPr>
          <a:lstStyle/>
          <a:p>
            <a:pPr marL="12700" marR="5080" indent="74930">
              <a:lnSpc>
                <a:spcPct val="77500"/>
              </a:lnSpc>
              <a:spcBef>
                <a:spcPts val="450"/>
              </a:spcBef>
              <a:tabLst>
                <a:tab pos="767080" algn="l"/>
              </a:tabLst>
            </a:pPr>
            <a:r>
              <a:rPr dirty="0" sz="1150" spc="15">
                <a:solidFill>
                  <a:srgbClr val="FFFF9F"/>
                </a:solidFill>
                <a:latin typeface="Arial"/>
                <a:cs typeface="Arial"/>
              </a:rPr>
              <a:t>recurse</a:t>
            </a:r>
            <a:r>
              <a:rPr dirty="0" sz="1150" spc="15">
                <a:solidFill>
                  <a:srgbClr val="FFFF9F"/>
                </a:solidFill>
                <a:latin typeface="Arial"/>
                <a:cs typeface="Arial"/>
              </a:rPr>
              <a:t>	</a:t>
            </a:r>
            <a:r>
              <a:rPr dirty="0" sz="1150" spc="10">
                <a:solidFill>
                  <a:srgbClr val="FFFF9F"/>
                </a:solidFill>
                <a:latin typeface="Arial"/>
                <a:cs typeface="Arial"/>
              </a:rPr>
              <a:t>partition  </a:t>
            </a:r>
            <a:r>
              <a:rPr dirty="0" sz="1150" spc="15">
                <a:solidFill>
                  <a:srgbClr val="FFFF9F"/>
                </a:solidFill>
                <a:latin typeface="Arial"/>
                <a:cs typeface="Arial"/>
              </a:rPr>
              <a:t>k=(6-4)=2</a:t>
            </a:r>
            <a:r>
              <a:rPr dirty="0" sz="1150" spc="295">
                <a:solidFill>
                  <a:srgbClr val="FFFF9F"/>
                </a:solidFill>
                <a:latin typeface="Arial"/>
                <a:cs typeface="Arial"/>
              </a:rPr>
              <a:t> </a:t>
            </a:r>
            <a:r>
              <a:rPr dirty="0" sz="1150" spc="15">
                <a:solidFill>
                  <a:srgbClr val="FFFF9F"/>
                </a:solidFill>
                <a:latin typeface="Arial"/>
                <a:cs typeface="Arial"/>
              </a:rPr>
              <a:t>pivot=7</a:t>
            </a:r>
            <a:endParaRPr sz="115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747176" y="4609150"/>
            <a:ext cx="2933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solidFill>
                  <a:srgbClr val="FFFF00"/>
                </a:solidFill>
                <a:latin typeface="Arial"/>
                <a:cs typeface="Arial"/>
              </a:rPr>
              <a:t>pivot</a:t>
            </a:r>
            <a:endParaRPr sz="10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214635" y="5193548"/>
            <a:ext cx="2933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solidFill>
                  <a:srgbClr val="FFFF00"/>
                </a:solidFill>
                <a:latin typeface="Arial"/>
                <a:cs typeface="Arial"/>
              </a:rPr>
              <a:t>pivot</a:t>
            </a:r>
            <a:endParaRPr sz="10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839828" y="4598805"/>
            <a:ext cx="2933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solidFill>
                  <a:srgbClr val="FFFF00"/>
                </a:solidFill>
                <a:latin typeface="Arial"/>
                <a:cs typeface="Arial"/>
              </a:rPr>
              <a:t>pivot</a:t>
            </a:r>
            <a:endParaRPr sz="10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88997" y="6210541"/>
            <a:ext cx="6226175" cy="15398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22479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3.5: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Sieve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 6</a:t>
            </a:r>
            <a:r>
              <a:rPr dirty="0" baseline="34722" sz="1200" spc="-7" i="1">
                <a:latin typeface="Times New Roman"/>
                <a:cs typeface="Times New Roman"/>
              </a:rPr>
              <a:t>th</a:t>
            </a:r>
            <a:r>
              <a:rPr dirty="0" baseline="34722" sz="1200" spc="22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smallest element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  <a:tabLst>
                <a:tab pos="5715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3.2.4	Analysis</a:t>
            </a:r>
            <a:r>
              <a:rPr dirty="0" sz="1400" spc="-1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of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Selection</a:t>
            </a:r>
            <a:endParaRPr sz="1400">
              <a:latin typeface="Times New Roman"/>
              <a:cs typeface="Times New Roman"/>
            </a:endParaRPr>
          </a:p>
          <a:p>
            <a:pPr algn="just" marL="25400" marR="17780">
              <a:lnSpc>
                <a:spcPct val="100000"/>
              </a:lnSpc>
              <a:spcBef>
                <a:spcPts val="1370"/>
              </a:spcBef>
            </a:pP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discuss </a:t>
            </a:r>
            <a:r>
              <a:rPr dirty="0" sz="1200" spc="-15">
                <a:latin typeface="Times New Roman"/>
                <a:cs typeface="Times New Roman"/>
              </a:rPr>
              <a:t>how </a:t>
            </a:r>
            <a:r>
              <a:rPr dirty="0" sz="1200" spc="-5">
                <a:latin typeface="Times New Roman"/>
                <a:cs typeface="Times New Roman"/>
              </a:rPr>
              <a:t>to choose a </a:t>
            </a:r>
            <a:r>
              <a:rPr dirty="0" sz="1200" spc="-15">
                <a:latin typeface="Times New Roman"/>
                <a:cs typeface="Times New Roman"/>
              </a:rPr>
              <a:t>pivot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the partitioning </a:t>
            </a:r>
            <a:r>
              <a:rPr dirty="0" sz="1200" spc="-15">
                <a:latin typeface="Times New Roman"/>
                <a:cs typeface="Times New Roman"/>
              </a:rPr>
              <a:t>later. For </a:t>
            </a:r>
            <a:r>
              <a:rPr dirty="0" sz="1200" spc="-10">
                <a:latin typeface="Times New Roman"/>
                <a:cs typeface="Times New Roman"/>
              </a:rPr>
              <a:t>the moment, we will </a:t>
            </a:r>
            <a:r>
              <a:rPr dirty="0" sz="1200" spc="-5">
                <a:latin typeface="Times New Roman"/>
                <a:cs typeface="Times New Roman"/>
              </a:rPr>
              <a:t>assume that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 both take </a:t>
            </a:r>
            <a:r>
              <a:rPr dirty="0" sz="1200" spc="60">
                <a:latin typeface="Lucida Sans Unicode"/>
                <a:cs typeface="Lucida Sans Unicode"/>
              </a:rPr>
              <a:t>Θ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6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time. </a:t>
            </a:r>
            <a:r>
              <a:rPr dirty="0" sz="1200" spc="-15">
                <a:latin typeface="Times New Roman"/>
                <a:cs typeface="Times New Roman"/>
              </a:rPr>
              <a:t>How </a:t>
            </a:r>
            <a:r>
              <a:rPr dirty="0" sz="1200" spc="-10">
                <a:latin typeface="Times New Roman"/>
                <a:cs typeface="Times New Roman"/>
              </a:rPr>
              <a:t>many </a:t>
            </a:r>
            <a:r>
              <a:rPr dirty="0" sz="1200" spc="-5">
                <a:latin typeface="Times New Roman"/>
                <a:cs typeface="Times New Roman"/>
              </a:rPr>
              <a:t>elements do </a:t>
            </a:r>
            <a:r>
              <a:rPr dirty="0" sz="1200" spc="-10">
                <a:latin typeface="Times New Roman"/>
                <a:cs typeface="Times New Roman"/>
              </a:rPr>
              <a:t>we eliminate </a:t>
            </a:r>
            <a:r>
              <a:rPr dirty="0" sz="1200" spc="-5">
                <a:latin typeface="Times New Roman"/>
                <a:cs typeface="Times New Roman"/>
              </a:rPr>
              <a:t>in each time? If </a:t>
            </a:r>
            <a:r>
              <a:rPr dirty="0" sz="1200" spc="-110">
                <a:latin typeface="Lucida Sans Unicode"/>
                <a:cs typeface="Lucida Sans Unicode"/>
              </a:rPr>
              <a:t>x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 largest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smallest then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may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succeed in </a:t>
            </a:r>
            <a:r>
              <a:rPr dirty="0" sz="1200" spc="-10">
                <a:latin typeface="Times New Roman"/>
                <a:cs typeface="Times New Roman"/>
              </a:rPr>
              <a:t>eliminating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element.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3681984" y="7926781"/>
            <a:ext cx="162560" cy="189865"/>
          </a:xfrm>
          <a:custGeom>
            <a:avLst/>
            <a:gdLst/>
            <a:ahLst/>
            <a:cxnLst/>
            <a:rect l="l" t="t" r="r" b="b"/>
            <a:pathLst>
              <a:path w="162560" h="189865">
                <a:moveTo>
                  <a:pt x="161963" y="0"/>
                </a:moveTo>
                <a:lnTo>
                  <a:pt x="0" y="0"/>
                </a:lnTo>
                <a:lnTo>
                  <a:pt x="0" y="5130"/>
                </a:lnTo>
                <a:lnTo>
                  <a:pt x="161963" y="5130"/>
                </a:lnTo>
                <a:lnTo>
                  <a:pt x="161963" y="0"/>
                </a:lnTo>
                <a:close/>
              </a:path>
              <a:path w="162560" h="189865">
                <a:moveTo>
                  <a:pt x="162102" y="5397"/>
                </a:moveTo>
                <a:lnTo>
                  <a:pt x="156972" y="5397"/>
                </a:lnTo>
                <a:lnTo>
                  <a:pt x="156972" y="184404"/>
                </a:lnTo>
                <a:lnTo>
                  <a:pt x="5130" y="184404"/>
                </a:lnTo>
                <a:lnTo>
                  <a:pt x="5130" y="5397"/>
                </a:lnTo>
                <a:lnTo>
                  <a:pt x="0" y="5397"/>
                </a:lnTo>
                <a:lnTo>
                  <a:pt x="0" y="184404"/>
                </a:lnTo>
                <a:lnTo>
                  <a:pt x="0" y="184962"/>
                </a:lnTo>
                <a:lnTo>
                  <a:pt x="0" y="189534"/>
                </a:lnTo>
                <a:lnTo>
                  <a:pt x="161963" y="189534"/>
                </a:lnTo>
                <a:lnTo>
                  <a:pt x="161963" y="184962"/>
                </a:lnTo>
                <a:lnTo>
                  <a:pt x="162102" y="184962"/>
                </a:lnTo>
                <a:lnTo>
                  <a:pt x="162102" y="5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 txBox="1"/>
          <p:nvPr/>
        </p:nvSpPr>
        <p:spPr>
          <a:xfrm>
            <a:off x="4421222" y="7838631"/>
            <a:ext cx="855980" cy="530225"/>
          </a:xfrm>
          <a:prstGeom prst="rect">
            <a:avLst/>
          </a:prstGeom>
        </p:spPr>
        <p:txBody>
          <a:bodyPr wrap="square" lIns="0" tIns="819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45"/>
              </a:spcBef>
            </a:pP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30">
                <a:latin typeface="Times New Roman"/>
                <a:cs typeface="Times New Roman"/>
              </a:rPr>
              <a:t>v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45"/>
              </a:spcBef>
            </a:pPr>
            <a:r>
              <a:rPr dirty="0" sz="1200" spc="-5">
                <a:latin typeface="Times New Roman"/>
                <a:cs typeface="Times New Roman"/>
              </a:rPr>
              <a:t>after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2965704" y="8178241"/>
            <a:ext cx="162560" cy="189865"/>
          </a:xfrm>
          <a:custGeom>
            <a:avLst/>
            <a:gdLst/>
            <a:ahLst/>
            <a:cxnLst/>
            <a:rect l="l" t="t" r="r" b="b"/>
            <a:pathLst>
              <a:path w="162560" h="189865">
                <a:moveTo>
                  <a:pt x="161963" y="0"/>
                </a:moveTo>
                <a:lnTo>
                  <a:pt x="0" y="0"/>
                </a:lnTo>
                <a:lnTo>
                  <a:pt x="0" y="5130"/>
                </a:lnTo>
                <a:lnTo>
                  <a:pt x="161963" y="5130"/>
                </a:lnTo>
                <a:lnTo>
                  <a:pt x="161963" y="0"/>
                </a:lnTo>
                <a:close/>
              </a:path>
              <a:path w="162560" h="189865">
                <a:moveTo>
                  <a:pt x="162102" y="5397"/>
                </a:moveTo>
                <a:lnTo>
                  <a:pt x="156972" y="5397"/>
                </a:lnTo>
                <a:lnTo>
                  <a:pt x="156972" y="184404"/>
                </a:lnTo>
                <a:lnTo>
                  <a:pt x="5130" y="184404"/>
                </a:lnTo>
                <a:lnTo>
                  <a:pt x="5130" y="5397"/>
                </a:lnTo>
                <a:lnTo>
                  <a:pt x="0" y="5397"/>
                </a:lnTo>
                <a:lnTo>
                  <a:pt x="0" y="184404"/>
                </a:lnTo>
                <a:lnTo>
                  <a:pt x="0" y="184962"/>
                </a:lnTo>
                <a:lnTo>
                  <a:pt x="0" y="189534"/>
                </a:lnTo>
                <a:lnTo>
                  <a:pt x="161963" y="189534"/>
                </a:lnTo>
                <a:lnTo>
                  <a:pt x="161963" y="184962"/>
                </a:lnTo>
                <a:lnTo>
                  <a:pt x="162102" y="184962"/>
                </a:lnTo>
                <a:lnTo>
                  <a:pt x="162102" y="5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 txBox="1"/>
          <p:nvPr/>
        </p:nvSpPr>
        <p:spPr>
          <a:xfrm>
            <a:off x="2952352" y="7838631"/>
            <a:ext cx="1191895" cy="530225"/>
          </a:xfrm>
          <a:prstGeom prst="rect">
            <a:avLst/>
          </a:prstGeom>
        </p:spPr>
        <p:txBody>
          <a:bodyPr wrap="square" lIns="0" tIns="819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45"/>
              </a:spcBef>
            </a:pP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9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15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endParaRPr sz="1200">
              <a:latin typeface="Lucida Sans Unicode"/>
              <a:cs typeface="Lucida Sans Unicode"/>
            </a:endParaRPr>
          </a:p>
          <a:p>
            <a:pPr marL="55244">
              <a:lnSpc>
                <a:spcPct val="100000"/>
              </a:lnSpc>
              <a:spcBef>
                <a:spcPts val="545"/>
              </a:spcBef>
            </a:pP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9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01699" y="8460080"/>
            <a:ext cx="6426200" cy="523240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10">
                <a:latin typeface="Times New Roman"/>
                <a:cs typeface="Times New Roman"/>
              </a:rPr>
              <a:t>Id</a:t>
            </a:r>
            <a:r>
              <a:rPr dirty="0" sz="1200" spc="-5">
                <a:latin typeface="Times New Roman"/>
                <a:cs typeface="Times New Roman"/>
              </a:rPr>
              <a:t>ea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8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houl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ith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r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Suppose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are able to choose a </a:t>
            </a:r>
            <a:r>
              <a:rPr dirty="0" sz="1200" spc="-15">
                <a:latin typeface="Times New Roman"/>
                <a:cs typeface="Times New Roman"/>
              </a:rPr>
              <a:t>pivot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causes </a:t>
            </a:r>
            <a:r>
              <a:rPr dirty="0" sz="1200" spc="-10">
                <a:latin typeface="Times New Roman"/>
                <a:cs typeface="Times New Roman"/>
              </a:rPr>
              <a:t>exactly</a:t>
            </a:r>
            <a:r>
              <a:rPr dirty="0" sz="1200" spc="-5">
                <a:latin typeface="Times New Roman"/>
                <a:cs typeface="Times New Roman"/>
              </a:rPr>
              <a:t> half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array to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eliminated in each phase.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913889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3.2.</a:t>
            </a:r>
            <a:r>
              <a:rPr dirty="0" sz="1200" spc="3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SELECTION</a:t>
            </a:r>
            <a:r>
              <a:rPr dirty="0" sz="1200" spc="-15">
                <a:latin typeface="Times New Roman"/>
                <a:cs typeface="Times New Roman"/>
              </a:rPr>
              <a:t> PROBLEM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9" y="900167"/>
            <a:ext cx="6043295" cy="442595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1200" spc="-5">
                <a:latin typeface="Times New Roman"/>
                <a:cs typeface="Times New Roman"/>
              </a:rPr>
              <a:t>This means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recurse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remaining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n/2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leads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recurrence:</a:t>
            </a:r>
            <a:endParaRPr sz="1200">
              <a:latin typeface="Times New Roman"/>
              <a:cs typeface="Times New Roman"/>
            </a:endParaRPr>
          </a:p>
          <a:p>
            <a:pPr algn="ctr" marR="602615">
              <a:lnSpc>
                <a:spcPct val="100000"/>
              </a:lnSpc>
              <a:spcBef>
                <a:spcPts val="204"/>
              </a:spcBef>
            </a:pPr>
            <a:r>
              <a:rPr dirty="0" sz="1200" spc="58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4540" y="1394513"/>
            <a:ext cx="493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666618" y="1290500"/>
            <a:ext cx="14681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09955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1	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666617" y="1510641"/>
            <a:ext cx="15132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09955" algn="l"/>
              </a:tabLst>
            </a:pPr>
            <a:r>
              <a:rPr dirty="0" sz="1200" spc="5">
                <a:latin typeface="Lucida Sans Unicode"/>
                <a:cs typeface="Lucida Sans Unicode"/>
              </a:rPr>
              <a:t>T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n/2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	</a:t>
            </a:r>
            <a:r>
              <a:rPr dirty="0" sz="1200" spc="-10">
                <a:latin typeface="Times New Roman"/>
                <a:cs typeface="Times New Roman"/>
              </a:rPr>
              <a:t>otherwise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01699" y="1852399"/>
            <a:ext cx="22282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we expand this </a:t>
            </a:r>
            <a:r>
              <a:rPr dirty="0" sz="1200" spc="-5">
                <a:latin typeface="Times New Roman"/>
                <a:cs typeface="Times New Roman"/>
              </a:rPr>
              <a:t>recurrence,</a:t>
            </a:r>
            <a:r>
              <a:rPr dirty="0" sz="1200" spc="-10">
                <a:latin typeface="Times New Roman"/>
                <a:cs typeface="Times New Roman"/>
              </a:rPr>
              <a:t> we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4123944" y="2344852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4437888" y="2344852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3278199" y="2222159"/>
            <a:ext cx="16738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85">
                <a:latin typeface="Garamond"/>
                <a:cs typeface="Garamond"/>
              </a:rPr>
              <a:t> </a:t>
            </a:r>
            <a:r>
              <a:rPr dirty="0" baseline="37037" sz="1800" spc="67">
                <a:latin typeface="Lucida Sans Unicode"/>
                <a:cs typeface="Lucida Sans Unicode"/>
              </a:rPr>
              <a:t>n</a:t>
            </a:r>
            <a:r>
              <a:rPr dirty="0" baseline="37037" sz="1800" spc="7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85">
                <a:latin typeface="Garamond"/>
                <a:cs typeface="Garamond"/>
              </a:rPr>
              <a:t> </a:t>
            </a:r>
            <a:r>
              <a:rPr dirty="0" baseline="37037" sz="1800" spc="67">
                <a:latin typeface="Lucida Sans Unicode"/>
                <a:cs typeface="Lucida Sans Unicode"/>
              </a:rPr>
              <a:t>n</a:t>
            </a:r>
            <a:r>
              <a:rPr dirty="0" baseline="37037" sz="1800" spc="7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656328" y="2625410"/>
            <a:ext cx="1441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Segoe UI Symbol"/>
                <a:cs typeface="Segoe UI Symbol"/>
              </a:rPr>
              <a:t>≤</a:t>
            </a:r>
            <a:endParaRPr sz="1200">
              <a:latin typeface="Segoe UI Symbol"/>
              <a:cs typeface="Segoe UI Symbo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791177" y="2435672"/>
            <a:ext cx="2336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02">
                <a:latin typeface="Lucida Sans Unicode"/>
                <a:cs typeface="Lucida Sans Unicode"/>
              </a:rPr>
              <a:t>X</a:t>
            </a:r>
            <a:r>
              <a:rPr dirty="0" sz="800" spc="-135">
                <a:latin typeface="Lucida Sans Unicode"/>
                <a:cs typeface="Lucida Sans Unicode"/>
              </a:rPr>
              <a:t>∞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839551" y="2855012"/>
            <a:ext cx="2076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4088891" y="2748712"/>
            <a:ext cx="121920" cy="6350"/>
          </a:xfrm>
          <a:custGeom>
            <a:avLst/>
            <a:gdLst/>
            <a:ahLst/>
            <a:cxnLst/>
            <a:rect l="l" t="t" r="r" b="b"/>
            <a:pathLst>
              <a:path w="121920" h="6350">
                <a:moveTo>
                  <a:pt x="121614" y="0"/>
                </a:moveTo>
                <a:lnTo>
                  <a:pt x="0" y="0"/>
                </a:lnTo>
                <a:lnTo>
                  <a:pt x="0" y="6171"/>
                </a:lnTo>
                <a:lnTo>
                  <a:pt x="121614" y="6171"/>
                </a:lnTo>
                <a:lnTo>
                  <a:pt x="1216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4050981" y="2312001"/>
            <a:ext cx="513715" cy="58166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85725">
              <a:lnSpc>
                <a:spcPct val="100000"/>
              </a:lnSpc>
              <a:spcBef>
                <a:spcPts val="204"/>
              </a:spcBef>
              <a:tabLst>
                <a:tab pos="398780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2	4</a:t>
            </a:r>
            <a:endParaRPr sz="1200">
              <a:latin typeface="Lucida Sans Unicode"/>
              <a:cs typeface="Lucida Sans Unicode"/>
            </a:endParaRPr>
          </a:p>
          <a:p>
            <a:pPr marL="38100" marR="344170" indent="10160">
              <a:lnSpc>
                <a:spcPts val="1280"/>
              </a:lnSpc>
              <a:spcBef>
                <a:spcPts val="285"/>
              </a:spcBef>
            </a:pPr>
            <a:r>
              <a:rPr dirty="0" sz="1200" spc="30">
                <a:latin typeface="Lucida Sans Unicode"/>
                <a:cs typeface="Lucida Sans Unicode"/>
              </a:rPr>
              <a:t>n  </a:t>
            </a:r>
            <a:r>
              <a:rPr dirty="0" baseline="-16203" sz="1800" spc="-254">
                <a:latin typeface="Lucida Sans Unicode"/>
                <a:cs typeface="Lucida Sans Unicode"/>
              </a:rPr>
              <a:t>2</a:t>
            </a:r>
            <a:r>
              <a:rPr dirty="0" sz="800" spc="150">
                <a:latin typeface="Verdana"/>
                <a:cs typeface="Verdana"/>
              </a:rPr>
              <a:t>i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656328" y="3118841"/>
            <a:ext cx="2832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914049" y="2928990"/>
            <a:ext cx="2336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02">
                <a:latin typeface="Lucida Sans Unicode"/>
                <a:cs typeface="Lucida Sans Unicode"/>
              </a:rPr>
              <a:t>X</a:t>
            </a:r>
            <a:r>
              <a:rPr dirty="0" sz="800" spc="-135">
                <a:latin typeface="Lucida Sans Unicode"/>
                <a:cs typeface="Lucida Sans Unicode"/>
              </a:rPr>
              <a:t>∞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962424" y="3348445"/>
            <a:ext cx="2076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4212335" y="3242488"/>
            <a:ext cx="121920" cy="6350"/>
          </a:xfrm>
          <a:custGeom>
            <a:avLst/>
            <a:gdLst/>
            <a:ahLst/>
            <a:cxnLst/>
            <a:rect l="l" t="t" r="r" b="b"/>
            <a:pathLst>
              <a:path w="121920" h="6350">
                <a:moveTo>
                  <a:pt x="121614" y="0"/>
                </a:moveTo>
                <a:lnTo>
                  <a:pt x="0" y="0"/>
                </a:lnTo>
                <a:lnTo>
                  <a:pt x="0" y="6171"/>
                </a:lnTo>
                <a:lnTo>
                  <a:pt x="121614" y="6171"/>
                </a:lnTo>
                <a:lnTo>
                  <a:pt x="1216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4173853" y="3016087"/>
            <a:ext cx="200025" cy="3708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0325">
              <a:lnSpc>
                <a:spcPts val="136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38100">
              <a:lnSpc>
                <a:spcPts val="1360"/>
              </a:lnSpc>
            </a:pPr>
            <a:r>
              <a:rPr dirty="0" baseline="-16203" sz="1800" spc="-15">
                <a:latin typeface="Lucida Sans Unicode"/>
                <a:cs typeface="Lucida Sans Unicode"/>
              </a:rPr>
              <a:t>2</a:t>
            </a:r>
            <a:r>
              <a:rPr dirty="0" sz="800" spc="-10">
                <a:latin typeface="Verdana"/>
                <a:cs typeface="Verdana"/>
              </a:rPr>
              <a:t>i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01699" y="3591243"/>
            <a:ext cx="38696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Recall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infinite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geometric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series;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140">
                <a:latin typeface="Lucida Sans Unicode"/>
                <a:cs typeface="Lucida Sans Unicode"/>
              </a:rPr>
              <a:t>|c|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613786" y="3852419"/>
            <a:ext cx="2336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02">
                <a:latin typeface="Lucida Sans Unicode"/>
                <a:cs typeface="Lucida Sans Unicode"/>
              </a:rPr>
              <a:t>X</a:t>
            </a:r>
            <a:r>
              <a:rPr dirty="0" sz="800" spc="-135">
                <a:latin typeface="Lucida Sans Unicode"/>
                <a:cs typeface="Lucida Sans Unicode"/>
              </a:rPr>
              <a:t>∞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662046" y="4271874"/>
            <a:ext cx="2076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858388" y="4042271"/>
            <a:ext cx="353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Lucida Sans Unicode"/>
                <a:cs typeface="Lucida Sans Unicode"/>
              </a:rPr>
              <a:t>c</a:t>
            </a:r>
            <a:r>
              <a:rPr dirty="0" baseline="34722" sz="1200" spc="89">
                <a:latin typeface="Verdana"/>
                <a:cs typeface="Verdana"/>
              </a:rPr>
              <a:t>i</a:t>
            </a:r>
            <a:r>
              <a:rPr dirty="0" baseline="34722" sz="1200" spc="-2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345902" y="3939514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4230623" y="4166032"/>
            <a:ext cx="332740" cy="6350"/>
          </a:xfrm>
          <a:custGeom>
            <a:avLst/>
            <a:gdLst/>
            <a:ahLst/>
            <a:cxnLst/>
            <a:rect l="l" t="t" r="r" b="b"/>
            <a:pathLst>
              <a:path w="332739" h="6350">
                <a:moveTo>
                  <a:pt x="332155" y="0"/>
                </a:moveTo>
                <a:lnTo>
                  <a:pt x="0" y="0"/>
                </a:lnTo>
                <a:lnTo>
                  <a:pt x="0" y="6171"/>
                </a:lnTo>
                <a:lnTo>
                  <a:pt x="332155" y="6171"/>
                </a:lnTo>
                <a:lnTo>
                  <a:pt x="3321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4217770" y="4146398"/>
            <a:ext cx="3581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01696" y="4504386"/>
            <a:ext cx="6398895" cy="18884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Using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have</a:t>
            </a:r>
            <a:endParaRPr sz="1200">
              <a:latin typeface="Times New Roman"/>
              <a:cs typeface="Times New Roman"/>
            </a:endParaRPr>
          </a:p>
          <a:p>
            <a:pPr algn="ctr" marL="27305">
              <a:lnSpc>
                <a:spcPct val="100000"/>
              </a:lnSpc>
              <a:spcBef>
                <a:spcPts val="5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Θ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2700" marR="63500" indent="-635">
              <a:lnSpc>
                <a:spcPct val="100000"/>
              </a:lnSpc>
              <a:spcBef>
                <a:spcPts val="1165"/>
              </a:spcBef>
            </a:pPr>
            <a:r>
              <a:rPr dirty="0" sz="1200" spc="-20">
                <a:latin typeface="Times New Roman"/>
                <a:cs typeface="Times New Roman"/>
              </a:rPr>
              <a:t>Let’s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think</a:t>
            </a:r>
            <a:r>
              <a:rPr dirty="0" sz="1200" spc="-5">
                <a:latin typeface="Times New Roman"/>
                <a:cs typeface="Times New Roman"/>
              </a:rPr>
              <a:t> 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ended up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Θ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selection.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Normally,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Θ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single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perhaps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algorithm,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make</a:t>
            </a:r>
            <a:r>
              <a:rPr dirty="0" sz="1200" spc="-5">
                <a:latin typeface="Times New Roman"/>
                <a:cs typeface="Times New Roman"/>
              </a:rPr>
              <a:t> a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of passes.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fact</a:t>
            </a:r>
            <a:r>
              <a:rPr dirty="0" sz="1200" spc="-5">
                <a:latin typeface="Times New Roman"/>
                <a:cs typeface="Times New Roman"/>
              </a:rPr>
              <a:t> it could be as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30"/>
              </a:spcBef>
            </a:pP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 spc="-5">
                <a:latin typeface="Times New Roman"/>
                <a:cs typeface="Times New Roman"/>
              </a:rPr>
              <a:t> 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eliminate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fraction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phase,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convergent </a:t>
            </a:r>
            <a:r>
              <a:rPr dirty="0" sz="1200" spc="-10">
                <a:latin typeface="Times New Roman"/>
                <a:cs typeface="Times New Roman"/>
              </a:rPr>
              <a:t> geometric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analysis.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indeed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linear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lesson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well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worth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remembering.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achieve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linear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 expect.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900130" y="520987"/>
            <a:ext cx="342836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3.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DIVIDE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CONQUER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STRATEGY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699" y="1840994"/>
            <a:ext cx="1381125" cy="403225"/>
          </a:xfrm>
          <a:prstGeom prst="rect"/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Chapter</a:t>
            </a:r>
            <a:r>
              <a:rPr dirty="0" sz="2450" spc="-70" b="1" i="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4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1699" y="2539025"/>
            <a:ext cx="1022350" cy="4032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10" b="1">
                <a:latin typeface="Times New Roman"/>
                <a:cs typeface="Times New Roman"/>
              </a:rPr>
              <a:t>So</a:t>
            </a:r>
            <a:r>
              <a:rPr dirty="0" sz="2450" spc="10" b="1">
                <a:latin typeface="Times New Roman"/>
                <a:cs typeface="Times New Roman"/>
              </a:rPr>
              <a:t>r</a:t>
            </a:r>
            <a:r>
              <a:rPr dirty="0" sz="2450" b="1">
                <a:latin typeface="Times New Roman"/>
                <a:cs typeface="Times New Roman"/>
              </a:rPr>
              <a:t>t</a:t>
            </a:r>
            <a:r>
              <a:rPr dirty="0" sz="2450" spc="5" b="1">
                <a:latin typeface="Times New Roman"/>
                <a:cs typeface="Times New Roman"/>
              </a:rPr>
              <a:t>i</a:t>
            </a:r>
            <a:r>
              <a:rPr dirty="0" sz="2450" spc="10" b="1">
                <a:latin typeface="Times New Roman"/>
                <a:cs typeface="Times New Roman"/>
              </a:rPr>
              <a:t>n</a:t>
            </a:r>
            <a:r>
              <a:rPr dirty="0" sz="2450" spc="10" b="1">
                <a:latin typeface="Times New Roman"/>
                <a:cs typeface="Times New Roman"/>
              </a:rPr>
              <a:t>g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9" y="3456942"/>
            <a:ext cx="6426200" cy="18065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next</a:t>
            </a:r>
            <a:r>
              <a:rPr dirty="0" sz="1200" spc="-5">
                <a:latin typeface="Times New Roman"/>
                <a:cs typeface="Times New Roman"/>
              </a:rPr>
              <a:t> series of lectures,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focus on </a:t>
            </a:r>
            <a:r>
              <a:rPr dirty="0" sz="1200" spc="-10">
                <a:latin typeface="Times New Roman"/>
                <a:cs typeface="Times New Roman"/>
              </a:rPr>
              <a:t>sorting.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a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of reasons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 are 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Procedures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software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necessary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achieve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overall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efficiency</a:t>
            </a:r>
            <a:r>
              <a:rPr dirty="0" sz="1200" spc="-5">
                <a:latin typeface="Times New Roman"/>
                <a:cs typeface="Times New Roman"/>
              </a:rPr>
              <a:t> of 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200" spc="-10">
                <a:latin typeface="Times New Roman"/>
                <a:cs typeface="Times New Roman"/>
              </a:rPr>
              <a:t>Sorting </a:t>
            </a:r>
            <a:r>
              <a:rPr dirty="0" sz="1200" spc="-5">
                <a:latin typeface="Times New Roman"/>
                <a:cs typeface="Times New Roman"/>
              </a:rPr>
              <a:t>is well studied </a:t>
            </a:r>
            <a:r>
              <a:rPr dirty="0" sz="1200" spc="-10">
                <a:latin typeface="Times New Roman"/>
                <a:cs typeface="Times New Roman"/>
              </a:rPr>
              <a:t>problem from the </a:t>
            </a:r>
            <a:r>
              <a:rPr dirty="0" sz="1200" spc="-5">
                <a:latin typeface="Times New Roman"/>
                <a:cs typeface="Times New Roman"/>
              </a:rPr>
              <a:t>analysis </a:t>
            </a:r>
            <a:r>
              <a:rPr dirty="0" sz="1200" spc="-10">
                <a:latin typeface="Times New Roman"/>
                <a:cs typeface="Times New Roman"/>
              </a:rPr>
              <a:t>point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25">
                <a:latin typeface="Times New Roman"/>
                <a:cs typeface="Times New Roman"/>
              </a:rPr>
              <a:t>view.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few </a:t>
            </a:r>
            <a:r>
              <a:rPr dirty="0" sz="1200" spc="-10">
                <a:latin typeface="Times New Roman"/>
                <a:cs typeface="Times New Roman"/>
              </a:rPr>
              <a:t>problems where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provable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lower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exist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sort.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sorting,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array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1..n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are to reorder these elements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increasing </a:t>
            </a:r>
            <a:r>
              <a:rPr dirty="0" sz="1200" spc="-10">
                <a:latin typeface="Times New Roman"/>
                <a:cs typeface="Times New Roman"/>
              </a:rPr>
              <a:t>(or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decreasing)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order.</a:t>
            </a:r>
            <a:endParaRPr sz="1200">
              <a:latin typeface="Times New Roman"/>
              <a:cs typeface="Times New Roman"/>
            </a:endParaRPr>
          </a:p>
          <a:p>
            <a:pPr marL="12700" marR="66040" indent="-635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More </a:t>
            </a:r>
            <a:r>
              <a:rPr dirty="0" sz="1200" spc="-15">
                <a:latin typeface="Times New Roman"/>
                <a:cs typeface="Times New Roman"/>
              </a:rPr>
              <a:t>generally, </a:t>
            </a:r>
            <a:r>
              <a:rPr dirty="0" sz="1200" spc="90">
                <a:latin typeface="Lucida Sans Unicode"/>
                <a:cs typeface="Lucida Sans Unicode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is an array of objects and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sort them based on </a:t>
            </a:r>
            <a:r>
              <a:rPr dirty="0" sz="1200" spc="-1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attributes </a:t>
            </a:r>
            <a:r>
              <a:rPr dirty="0" sz="1200" spc="-5">
                <a:latin typeface="Times New Roman"/>
                <a:cs typeface="Times New Roman"/>
              </a:rPr>
              <a:t>-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5" i="1">
                <a:latin typeface="Times New Roman"/>
                <a:cs typeface="Times New Roman"/>
              </a:rPr>
              <a:t>key </a:t>
            </a:r>
            <a:r>
              <a:rPr dirty="0" sz="1200" spc="-5" i="1">
                <a:latin typeface="Times New Roman"/>
                <a:cs typeface="Times New Roman"/>
              </a:rPr>
              <a:t>value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 spc="-5">
                <a:latin typeface="Times New Roman"/>
                <a:cs typeface="Times New Roman"/>
              </a:rPr>
              <a:t> 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number.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object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totally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ordered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domain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Totally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ordered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domain</a:t>
            </a:r>
            <a:r>
              <a:rPr dirty="0" sz="1200" spc="-5">
                <a:latin typeface="Times New Roman"/>
                <a:cs typeface="Times New Roman"/>
              </a:rPr>
              <a:t> means that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elements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domain,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40">
                <a:latin typeface="Lucida Sans Unicode"/>
                <a:cs typeface="Lucida Sans Unicode"/>
              </a:rPr>
              <a:t>y</a:t>
            </a:r>
            <a:r>
              <a:rPr dirty="0" sz="1200" spc="4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either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y</a:t>
            </a:r>
            <a:r>
              <a:rPr dirty="0" sz="1200" spc="4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y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63599" y="5710652"/>
            <a:ext cx="5940425" cy="70866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5422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4.1	Slow</a:t>
            </a:r>
            <a:r>
              <a:rPr dirty="0" sz="1700" spc="-1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Sorting</a:t>
            </a:r>
            <a:r>
              <a:rPr dirty="0" sz="1700" spc="-1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Algorithms</a:t>
            </a:r>
            <a:endParaRPr sz="1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6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well-known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slow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O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baseline="31250" sz="1200" spc="75">
                <a:latin typeface="Verdana"/>
                <a:cs typeface="Verdana"/>
              </a:rPr>
              <a:t>2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include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4400" y="6838454"/>
            <a:ext cx="527050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 b="1">
                <a:latin typeface="Times New Roman"/>
                <a:cs typeface="Times New Roman"/>
              </a:rPr>
              <a:t>Bubble</a:t>
            </a:r>
            <a:r>
              <a:rPr dirty="0" sz="1200" spc="-5" b="1">
                <a:latin typeface="Times New Roman"/>
                <a:cs typeface="Times New Roman"/>
              </a:rPr>
              <a:t> sort:</a:t>
            </a:r>
            <a:r>
              <a:rPr dirty="0" sz="1200" spc="28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array.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Whenever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consecutive</a:t>
            </a:r>
            <a:r>
              <a:rPr dirty="0" sz="1200" spc="-5">
                <a:latin typeface="Times New Roman"/>
                <a:cs typeface="Times New Roman"/>
              </a:rPr>
              <a:t> items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found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171653" y="6779298"/>
            <a:ext cx="815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order,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swap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286103" y="7021906"/>
            <a:ext cx="3199765" cy="13779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them.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Repeat </a:t>
            </a:r>
            <a:r>
              <a:rPr dirty="0" sz="1200" spc="-10">
                <a:latin typeface="Times New Roman"/>
                <a:cs typeface="Times New Roman"/>
              </a:rPr>
              <a:t>until</a:t>
            </a:r>
            <a:r>
              <a:rPr dirty="0" sz="1200" spc="-5">
                <a:latin typeface="Times New Roman"/>
                <a:cs typeface="Times New Roman"/>
              </a:rPr>
              <a:t> all</a:t>
            </a:r>
            <a:r>
              <a:rPr dirty="0" sz="1200" spc="-10">
                <a:latin typeface="Times New Roman"/>
                <a:cs typeface="Times New Roman"/>
              </a:rPr>
              <a:t> consecutive</a:t>
            </a:r>
            <a:r>
              <a:rPr dirty="0" sz="1200" spc="-5">
                <a:latin typeface="Times New Roman"/>
                <a:cs typeface="Times New Roman"/>
              </a:rPr>
              <a:t> items are 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order.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14400" y="7453795"/>
            <a:ext cx="5191760" cy="14541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5"/>
              </a:lnSpc>
            </a:pPr>
            <a:r>
              <a:rPr dirty="0" sz="1200" spc="-5" b="1">
                <a:latin typeface="Times New Roman"/>
                <a:cs typeface="Times New Roman"/>
              </a:rPr>
              <a:t>Inser</a:t>
            </a:r>
            <a:r>
              <a:rPr dirty="0" sz="1200" spc="-10" b="1">
                <a:latin typeface="Times New Roman"/>
                <a:cs typeface="Times New Roman"/>
              </a:rPr>
              <a:t>tio</a:t>
            </a:r>
            <a:r>
              <a:rPr dirty="0" sz="1200" spc="-5" b="1">
                <a:latin typeface="Times New Roman"/>
                <a:cs typeface="Times New Roman"/>
              </a:rPr>
              <a:t>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: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ss</a:t>
            </a:r>
            <a:r>
              <a:rPr dirty="0" sz="1200" spc="-10">
                <a:latin typeface="Times New Roman"/>
                <a:cs typeface="Times New Roman"/>
              </a:rPr>
              <a:t>um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lr</a:t>
            </a:r>
            <a:r>
              <a:rPr dirty="0" sz="1200" spc="-5">
                <a:latin typeface="Times New Roman"/>
                <a:cs typeface="Times New Roman"/>
              </a:rPr>
              <a:t>ea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ort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130950" y="7401776"/>
            <a:ext cx="11055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proper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position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286103" y="7644383"/>
            <a:ext cx="466471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array.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Create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position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shifting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14400" y="8076158"/>
            <a:ext cx="5203190" cy="13271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45"/>
              </a:lnSpc>
            </a:pPr>
            <a:r>
              <a:rPr dirty="0" sz="1200" spc="-5" b="1">
                <a:latin typeface="Times New Roman"/>
                <a:cs typeface="Times New Roman"/>
              </a:rPr>
              <a:t>Se</a:t>
            </a:r>
            <a:r>
              <a:rPr dirty="0" sz="1200" spc="-10" b="1">
                <a:latin typeface="Times New Roman"/>
                <a:cs typeface="Times New Roman"/>
              </a:rPr>
              <a:t>l</a:t>
            </a:r>
            <a:r>
              <a:rPr dirty="0" sz="1200" spc="-5" b="1">
                <a:latin typeface="Times New Roman"/>
                <a:cs typeface="Times New Roman"/>
              </a:rPr>
              <a:t>ec</a:t>
            </a:r>
            <a:r>
              <a:rPr dirty="0" sz="1200" spc="-10" b="1">
                <a:latin typeface="Times New Roman"/>
                <a:cs typeface="Times New Roman"/>
              </a:rPr>
              <a:t>tio</a:t>
            </a:r>
            <a:r>
              <a:rPr dirty="0" sz="1200" spc="-5" b="1">
                <a:latin typeface="Times New Roman"/>
                <a:cs typeface="Times New Roman"/>
              </a:rPr>
              <a:t>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: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ss</a:t>
            </a:r>
            <a:r>
              <a:rPr dirty="0" sz="1200" spc="-10">
                <a:latin typeface="Times New Roman"/>
                <a:cs typeface="Times New Roman"/>
              </a:rPr>
              <a:t>um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5">
                <a:latin typeface="Times New Roman"/>
                <a:cs typeface="Times New Roman"/>
              </a:rPr>
              <a:t>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ort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141956" y="8024138"/>
            <a:ext cx="9245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Times New Roman"/>
                <a:cs typeface="Times New Roman"/>
              </a:rPr>
              <a:t>order.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86116" y="8259609"/>
            <a:ext cx="2800350" cy="14541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5"/>
              </a:lnSpc>
            </a:pPr>
            <a:r>
              <a:rPr dirty="0" sz="1200" spc="-5">
                <a:latin typeface="Times New Roman"/>
                <a:cs typeface="Times New Roman"/>
              </a:rPr>
              <a:t>smallest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A</a:t>
            </a:r>
            <a:r>
              <a:rPr dirty="0" sz="1200" spc="15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i..n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Swap</a:t>
            </a:r>
            <a:r>
              <a:rPr dirty="0" sz="1200" spc="-5">
                <a:latin typeface="Times New Roman"/>
                <a:cs typeface="Times New Roman"/>
              </a:rPr>
              <a:t> it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A</a:t>
            </a:r>
            <a:r>
              <a:rPr dirty="0" sz="1200" spc="3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i</a:t>
            </a:r>
            <a:r>
              <a:rPr dirty="0" sz="1200" spc="30">
                <a:latin typeface="Garamond"/>
                <a:cs typeface="Garamond"/>
              </a:rPr>
              <a:t>]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63605" y="8775547"/>
            <a:ext cx="5355590" cy="5873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easy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implement.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baseline="31250" sz="1200" spc="60">
                <a:latin typeface="Verdana"/>
                <a:cs typeface="Verdana"/>
              </a:rPr>
              <a:t>2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00">
              <a:latin typeface="Times New Roman"/>
              <a:cs typeface="Times New Roman"/>
            </a:endParaRPr>
          </a:p>
          <a:p>
            <a:pPr algn="ctr" marL="114681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39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4412" y="2958198"/>
            <a:ext cx="4928870" cy="138430"/>
          </a:xfrm>
          <a:custGeom>
            <a:avLst/>
            <a:gdLst/>
            <a:ahLst/>
            <a:cxnLst/>
            <a:rect l="l" t="t" r="r" b="b"/>
            <a:pathLst>
              <a:path w="4928870" h="138430">
                <a:moveTo>
                  <a:pt x="4928349" y="0"/>
                </a:moveTo>
                <a:lnTo>
                  <a:pt x="0" y="0"/>
                </a:lnTo>
                <a:lnTo>
                  <a:pt x="0" y="138023"/>
                </a:lnTo>
                <a:lnTo>
                  <a:pt x="4928349" y="138023"/>
                </a:lnTo>
                <a:lnTo>
                  <a:pt x="4928349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6732955" y="2774746"/>
            <a:ext cx="194945" cy="138430"/>
          </a:xfrm>
          <a:custGeom>
            <a:avLst/>
            <a:gdLst/>
            <a:ahLst/>
            <a:cxnLst/>
            <a:rect l="l" t="t" r="r" b="b"/>
            <a:pathLst>
              <a:path w="194945" h="138430">
                <a:moveTo>
                  <a:pt x="194792" y="0"/>
                </a:moveTo>
                <a:lnTo>
                  <a:pt x="0" y="0"/>
                </a:lnTo>
                <a:lnTo>
                  <a:pt x="0" y="138023"/>
                </a:lnTo>
                <a:lnTo>
                  <a:pt x="194792" y="138023"/>
                </a:lnTo>
                <a:lnTo>
                  <a:pt x="194792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901699" y="523090"/>
            <a:ext cx="2957195" cy="6369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40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04190" algn="l"/>
              </a:tabLst>
            </a:pPr>
            <a:r>
              <a:rPr dirty="0" sz="1700" b="1">
                <a:latin typeface="Times New Roman"/>
                <a:cs typeface="Times New Roman"/>
              </a:rPr>
              <a:t>4.</a:t>
            </a:r>
            <a:r>
              <a:rPr dirty="0" sz="1700" spc="10" b="1">
                <a:latin typeface="Times New Roman"/>
                <a:cs typeface="Times New Roman"/>
              </a:rPr>
              <a:t>2</a:t>
            </a:r>
            <a:r>
              <a:rPr dirty="0" sz="1700" b="1">
                <a:latin typeface="Times New Roman"/>
                <a:cs typeface="Times New Roman"/>
              </a:rPr>
              <a:t>	</a:t>
            </a:r>
            <a:r>
              <a:rPr dirty="0" sz="1700" spc="10" b="1">
                <a:latin typeface="Times New Roman"/>
                <a:cs typeface="Times New Roman"/>
              </a:rPr>
              <a:t>S</a:t>
            </a:r>
            <a:r>
              <a:rPr dirty="0" sz="1700" spc="5" b="1">
                <a:latin typeface="Times New Roman"/>
                <a:cs typeface="Times New Roman"/>
              </a:rPr>
              <a:t>or</a:t>
            </a:r>
            <a:r>
              <a:rPr dirty="0" sz="1700" spc="5" b="1">
                <a:latin typeface="Times New Roman"/>
                <a:cs typeface="Times New Roman"/>
              </a:rPr>
              <a:t>ting</a:t>
            </a:r>
            <a:r>
              <a:rPr dirty="0" sz="170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in</a:t>
            </a:r>
            <a:r>
              <a:rPr dirty="0" sz="1700" b="1">
                <a:latin typeface="Times New Roman"/>
                <a:cs typeface="Times New Roman"/>
              </a:rPr>
              <a:t> </a:t>
            </a:r>
            <a:r>
              <a:rPr dirty="0" sz="1700" spc="60">
                <a:latin typeface="Lucida Sans Unicode"/>
                <a:cs typeface="Lucida Sans Unicode"/>
              </a:rPr>
              <a:t>O</a:t>
            </a:r>
            <a:r>
              <a:rPr dirty="0" sz="1700" spc="165">
                <a:latin typeface="Garamond"/>
                <a:cs typeface="Garamond"/>
              </a:rPr>
              <a:t>(</a:t>
            </a:r>
            <a:r>
              <a:rPr dirty="0" sz="1700" spc="85">
                <a:latin typeface="Lucida Sans Unicode"/>
                <a:cs typeface="Lucida Sans Unicode"/>
              </a:rPr>
              <a:t>n</a:t>
            </a:r>
            <a:r>
              <a:rPr dirty="0" sz="1700" spc="-250">
                <a:latin typeface="Lucida Sans Unicode"/>
                <a:cs typeface="Lucida Sans Unicode"/>
              </a:rPr>
              <a:t> </a:t>
            </a:r>
            <a:r>
              <a:rPr dirty="0" sz="1700" spc="5">
                <a:latin typeface="Times New Roman"/>
                <a:cs typeface="Times New Roman"/>
              </a:rPr>
              <a:t>l</a:t>
            </a:r>
            <a:r>
              <a:rPr dirty="0" sz="1700" spc="5">
                <a:latin typeface="Times New Roman"/>
                <a:cs typeface="Times New Roman"/>
              </a:rPr>
              <a:t>o</a:t>
            </a:r>
            <a:r>
              <a:rPr dirty="0" sz="1700" spc="10">
                <a:latin typeface="Times New Roman"/>
                <a:cs typeface="Times New Roman"/>
              </a:rPr>
              <a:t>g</a:t>
            </a:r>
            <a:r>
              <a:rPr dirty="0" sz="1700" spc="-140">
                <a:latin typeface="Times New Roman"/>
                <a:cs typeface="Times New Roman"/>
              </a:rPr>
              <a:t> </a:t>
            </a:r>
            <a:r>
              <a:rPr dirty="0" sz="1700" spc="85">
                <a:latin typeface="Lucida Sans Unicode"/>
                <a:cs typeface="Lucida Sans Unicode"/>
              </a:rPr>
              <a:t>n</a:t>
            </a:r>
            <a:r>
              <a:rPr dirty="0" sz="1700" spc="170">
                <a:latin typeface="Garamond"/>
                <a:cs typeface="Garamond"/>
              </a:rPr>
              <a:t>)</a:t>
            </a:r>
            <a:r>
              <a:rPr dirty="0" sz="1700" spc="5">
                <a:latin typeface="Garamond"/>
                <a:cs typeface="Garamond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ti</a:t>
            </a:r>
            <a:r>
              <a:rPr dirty="0" sz="1700" spc="10" b="1">
                <a:latin typeface="Times New Roman"/>
                <a:cs typeface="Times New Roman"/>
              </a:rPr>
              <a:t>m</a:t>
            </a:r>
            <a:r>
              <a:rPr dirty="0" sz="1700" spc="5" b="1">
                <a:latin typeface="Times New Roman"/>
                <a:cs typeface="Times New Roman"/>
              </a:rPr>
              <a:t>e</a:t>
            </a:r>
            <a:endParaRPr sz="17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25157" y="520987"/>
            <a:ext cx="16033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01698" y="1364109"/>
            <a:ext cx="6212205" cy="10109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already seen that </a:t>
            </a:r>
            <a:r>
              <a:rPr dirty="0" sz="1200" spc="-10">
                <a:latin typeface="Times New Roman"/>
                <a:cs typeface="Times New Roman"/>
              </a:rPr>
              <a:t>Mergesort </a:t>
            </a:r>
            <a:r>
              <a:rPr dirty="0" sz="1200" spc="-5">
                <a:latin typeface="Times New Roman"/>
                <a:cs typeface="Times New Roman"/>
              </a:rPr>
              <a:t>sorts an array of </a:t>
            </a:r>
            <a:r>
              <a:rPr dirty="0" sz="1200" spc="-10">
                <a:latin typeface="Times New Roman"/>
                <a:cs typeface="Times New Roman"/>
              </a:rPr>
              <a:t>numbers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 </a:t>
            </a:r>
            <a:r>
              <a:rPr dirty="0" sz="1200" spc="-10">
                <a:latin typeface="Times New Roman"/>
                <a:cs typeface="Times New Roman"/>
              </a:rPr>
              <a:t>log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time.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study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others: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Heapsort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 i="1">
                <a:latin typeface="Times New Roman"/>
                <a:cs typeface="Times New Roman"/>
              </a:rPr>
              <a:t>Quicksort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4.2.1	</a:t>
            </a:r>
            <a:r>
              <a:rPr dirty="0" sz="1400" spc="15" b="1">
                <a:latin typeface="Times New Roman"/>
                <a:cs typeface="Times New Roman"/>
              </a:rPr>
              <a:t>Heaps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4400" y="2591295"/>
            <a:ext cx="594995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heap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left-complete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conforms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heap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order</a:t>
            </a:r>
            <a:r>
              <a:rPr dirty="0" sz="1200" spc="-1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property: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888964" y="2532140"/>
            <a:ext cx="933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01698" y="2715592"/>
            <a:ext cx="6416040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(min)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words,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parent </a:t>
            </a:r>
            <a:r>
              <a:rPr dirty="0" sz="1200" spc="-10">
                <a:latin typeface="Times New Roman"/>
                <a:cs typeface="Times New Roman"/>
              </a:rPr>
              <a:t>node</a:t>
            </a:r>
            <a:r>
              <a:rPr dirty="0" sz="1200" spc="-5">
                <a:latin typeface="Times New Roman"/>
                <a:cs typeface="Times New Roman"/>
              </a:rPr>
              <a:t> 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 spc="-5">
                <a:latin typeface="Times New Roman"/>
                <a:cs typeface="Times New Roman"/>
              </a:rPr>
              <a:t> smaller than or equal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both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children nodes.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Similarly,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max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heap,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parent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 or equal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both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children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smallest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root</a:t>
            </a:r>
            <a:r>
              <a:rPr dirty="0" sz="1200" spc="-5">
                <a:latin typeface="Times New Roman"/>
                <a:cs typeface="Times New Roman"/>
              </a:rPr>
              <a:t> in 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</a:t>
            </a:r>
            <a:r>
              <a:rPr dirty="0" sz="1200" spc="-5">
                <a:latin typeface="Times New Roman"/>
                <a:cs typeface="Times New Roman"/>
              </a:rPr>
              <a:t> heap;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max heap,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largest</a:t>
            </a:r>
            <a:r>
              <a:rPr dirty="0" sz="1200" spc="-5">
                <a:latin typeface="Times New Roman"/>
                <a:cs typeface="Times New Roman"/>
              </a:rPr>
              <a:t> is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root.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2398775" y="3725870"/>
            <a:ext cx="3432810" cy="2590800"/>
            <a:chOff x="2398775" y="3725870"/>
            <a:chExt cx="3432810" cy="2590800"/>
          </a:xfrm>
        </p:grpSpPr>
        <p:sp>
          <p:nvSpPr>
            <p:cNvPr id="11" name="object 11"/>
            <p:cNvSpPr/>
            <p:nvPr/>
          </p:nvSpPr>
          <p:spPr>
            <a:xfrm>
              <a:off x="2398775" y="3725870"/>
              <a:ext cx="3432810" cy="2590800"/>
            </a:xfrm>
            <a:custGeom>
              <a:avLst/>
              <a:gdLst/>
              <a:ahLst/>
              <a:cxnLst/>
              <a:rect l="l" t="t" r="r" b="b"/>
              <a:pathLst>
                <a:path w="3432810" h="2590800">
                  <a:moveTo>
                    <a:pt x="3432764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432764" y="2590601"/>
                  </a:lnTo>
                  <a:lnTo>
                    <a:pt x="3432764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090763" y="3971599"/>
              <a:ext cx="2172970" cy="1089660"/>
            </a:xfrm>
            <a:custGeom>
              <a:avLst/>
              <a:gdLst/>
              <a:ahLst/>
              <a:cxnLst/>
              <a:rect l="l" t="t" r="r" b="b"/>
              <a:pathLst>
                <a:path w="2172970" h="1089660">
                  <a:moveTo>
                    <a:pt x="1902820" y="384428"/>
                  </a:moveTo>
                  <a:lnTo>
                    <a:pt x="2172400" y="632947"/>
                  </a:lnTo>
                </a:path>
                <a:path w="2172970" h="1089660">
                  <a:moveTo>
                    <a:pt x="1757888" y="384428"/>
                  </a:moveTo>
                  <a:lnTo>
                    <a:pt x="1487561" y="632947"/>
                  </a:lnTo>
                </a:path>
                <a:path w="2172970" h="1089660">
                  <a:moveTo>
                    <a:pt x="511378" y="384428"/>
                  </a:moveTo>
                  <a:lnTo>
                    <a:pt x="226024" y="596905"/>
                  </a:lnTo>
                </a:path>
                <a:path w="2172970" h="1089660">
                  <a:moveTo>
                    <a:pt x="656295" y="384428"/>
                  </a:moveTo>
                  <a:lnTo>
                    <a:pt x="946906" y="596905"/>
                  </a:lnTo>
                </a:path>
                <a:path w="2172970" h="1089660">
                  <a:moveTo>
                    <a:pt x="1293830" y="0"/>
                  </a:moveTo>
                  <a:lnTo>
                    <a:pt x="1757888" y="256778"/>
                  </a:lnTo>
                </a:path>
                <a:path w="2172970" h="1089660">
                  <a:moveTo>
                    <a:pt x="941649" y="768857"/>
                  </a:moveTo>
                  <a:lnTo>
                    <a:pt x="796716" y="1057168"/>
                  </a:lnTo>
                </a:path>
                <a:path w="2172970" h="1089660">
                  <a:moveTo>
                    <a:pt x="144932" y="768857"/>
                  </a:moveTo>
                  <a:lnTo>
                    <a:pt x="0" y="1057168"/>
                  </a:lnTo>
                </a:path>
                <a:path w="2172970" h="1089660">
                  <a:moveTo>
                    <a:pt x="232028" y="768857"/>
                  </a:moveTo>
                  <a:lnTo>
                    <a:pt x="405490" y="1089461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213153" y="3811945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90222" y="0"/>
                  </a:moveTo>
                  <a:lnTo>
                    <a:pt x="48544" y="14782"/>
                  </a:lnTo>
                  <a:lnTo>
                    <a:pt x="16160" y="47402"/>
                  </a:lnTo>
                  <a:lnTo>
                    <a:pt x="0" y="89272"/>
                  </a:lnTo>
                  <a:lnTo>
                    <a:pt x="54" y="134211"/>
                  </a:lnTo>
                  <a:lnTo>
                    <a:pt x="16315" y="176035"/>
                  </a:lnTo>
                  <a:lnTo>
                    <a:pt x="48772" y="208559"/>
                  </a:lnTo>
                  <a:lnTo>
                    <a:pt x="90636" y="223184"/>
                  </a:lnTo>
                  <a:lnTo>
                    <a:pt x="131600" y="217668"/>
                  </a:lnTo>
                  <a:lnTo>
                    <a:pt x="166827" y="195118"/>
                  </a:lnTo>
                  <a:lnTo>
                    <a:pt x="191478" y="158641"/>
                  </a:lnTo>
                  <a:lnTo>
                    <a:pt x="200715" y="111328"/>
                  </a:lnTo>
                  <a:lnTo>
                    <a:pt x="191254" y="64077"/>
                  </a:lnTo>
                  <a:lnTo>
                    <a:pt x="166441" y="27722"/>
                  </a:lnTo>
                  <a:lnTo>
                    <a:pt x="131142" y="5338"/>
                  </a:lnTo>
                  <a:lnTo>
                    <a:pt x="90222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213153" y="3811945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200715" y="111328"/>
                  </a:moveTo>
                  <a:lnTo>
                    <a:pt x="191254" y="64077"/>
                  </a:lnTo>
                  <a:lnTo>
                    <a:pt x="166441" y="27722"/>
                  </a:lnTo>
                  <a:lnTo>
                    <a:pt x="131142" y="5338"/>
                  </a:lnTo>
                  <a:lnTo>
                    <a:pt x="90222" y="0"/>
                  </a:lnTo>
                  <a:lnTo>
                    <a:pt x="48544" y="14782"/>
                  </a:lnTo>
                  <a:lnTo>
                    <a:pt x="16160" y="47402"/>
                  </a:lnTo>
                  <a:lnTo>
                    <a:pt x="0" y="89272"/>
                  </a:lnTo>
                  <a:lnTo>
                    <a:pt x="54" y="134211"/>
                  </a:lnTo>
                  <a:lnTo>
                    <a:pt x="16315" y="176035"/>
                  </a:lnTo>
                  <a:lnTo>
                    <a:pt x="48772" y="208559"/>
                  </a:lnTo>
                  <a:lnTo>
                    <a:pt x="90636" y="223184"/>
                  </a:lnTo>
                  <a:lnTo>
                    <a:pt x="131600" y="217668"/>
                  </a:lnTo>
                  <a:lnTo>
                    <a:pt x="166827" y="195118"/>
                  </a:lnTo>
                  <a:lnTo>
                    <a:pt x="191478" y="158641"/>
                  </a:lnTo>
                  <a:lnTo>
                    <a:pt x="200715" y="111343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213153" y="3811945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90222" y="0"/>
                  </a:moveTo>
                  <a:lnTo>
                    <a:pt x="48544" y="14782"/>
                  </a:lnTo>
                  <a:lnTo>
                    <a:pt x="16160" y="47402"/>
                  </a:lnTo>
                  <a:lnTo>
                    <a:pt x="0" y="89272"/>
                  </a:lnTo>
                  <a:lnTo>
                    <a:pt x="54" y="134211"/>
                  </a:lnTo>
                  <a:lnTo>
                    <a:pt x="16315" y="176035"/>
                  </a:lnTo>
                  <a:lnTo>
                    <a:pt x="48772" y="208559"/>
                  </a:lnTo>
                  <a:lnTo>
                    <a:pt x="90636" y="223184"/>
                  </a:lnTo>
                  <a:lnTo>
                    <a:pt x="131600" y="217668"/>
                  </a:lnTo>
                  <a:lnTo>
                    <a:pt x="166827" y="195118"/>
                  </a:lnTo>
                  <a:lnTo>
                    <a:pt x="191478" y="158641"/>
                  </a:lnTo>
                  <a:lnTo>
                    <a:pt x="200715" y="111328"/>
                  </a:lnTo>
                  <a:lnTo>
                    <a:pt x="191254" y="64077"/>
                  </a:lnTo>
                  <a:lnTo>
                    <a:pt x="166441" y="27722"/>
                  </a:lnTo>
                  <a:lnTo>
                    <a:pt x="131142" y="5338"/>
                  </a:lnTo>
                  <a:lnTo>
                    <a:pt x="90222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213153" y="3811945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200715" y="111328"/>
                  </a:moveTo>
                  <a:lnTo>
                    <a:pt x="191254" y="64077"/>
                  </a:lnTo>
                  <a:lnTo>
                    <a:pt x="166441" y="27722"/>
                  </a:lnTo>
                  <a:lnTo>
                    <a:pt x="131142" y="5338"/>
                  </a:lnTo>
                  <a:lnTo>
                    <a:pt x="90222" y="0"/>
                  </a:lnTo>
                  <a:lnTo>
                    <a:pt x="48544" y="14782"/>
                  </a:lnTo>
                  <a:lnTo>
                    <a:pt x="16160" y="47402"/>
                  </a:lnTo>
                  <a:lnTo>
                    <a:pt x="0" y="89272"/>
                  </a:lnTo>
                  <a:lnTo>
                    <a:pt x="54" y="134211"/>
                  </a:lnTo>
                  <a:lnTo>
                    <a:pt x="16315" y="176035"/>
                  </a:lnTo>
                  <a:lnTo>
                    <a:pt x="48772" y="208559"/>
                  </a:lnTo>
                  <a:lnTo>
                    <a:pt x="90636" y="223184"/>
                  </a:lnTo>
                  <a:lnTo>
                    <a:pt x="131600" y="217668"/>
                  </a:lnTo>
                  <a:lnTo>
                    <a:pt x="166827" y="195118"/>
                  </a:lnTo>
                  <a:lnTo>
                    <a:pt x="191478" y="158641"/>
                  </a:lnTo>
                  <a:lnTo>
                    <a:pt x="200715" y="111343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822126" y="416409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89556" y="0"/>
                  </a:moveTo>
                  <a:lnTo>
                    <a:pt x="48181" y="14788"/>
                  </a:lnTo>
                  <a:lnTo>
                    <a:pt x="16038" y="47400"/>
                  </a:lnTo>
                  <a:lnTo>
                    <a:pt x="0" y="89266"/>
                  </a:lnTo>
                  <a:lnTo>
                    <a:pt x="56" y="134203"/>
                  </a:lnTo>
                  <a:lnTo>
                    <a:pt x="16201" y="176025"/>
                  </a:lnTo>
                  <a:lnTo>
                    <a:pt x="48425" y="208550"/>
                  </a:lnTo>
                  <a:lnTo>
                    <a:pt x="89977" y="223175"/>
                  </a:lnTo>
                  <a:lnTo>
                    <a:pt x="130638" y="217660"/>
                  </a:lnTo>
                  <a:lnTo>
                    <a:pt x="165603" y="195112"/>
                  </a:lnTo>
                  <a:lnTo>
                    <a:pt x="190071" y="158639"/>
                  </a:lnTo>
                  <a:lnTo>
                    <a:pt x="199240" y="111318"/>
                  </a:lnTo>
                  <a:lnTo>
                    <a:pt x="189847" y="64074"/>
                  </a:lnTo>
                  <a:lnTo>
                    <a:pt x="165217" y="27721"/>
                  </a:lnTo>
                  <a:lnTo>
                    <a:pt x="130177" y="5336"/>
                  </a:lnTo>
                  <a:lnTo>
                    <a:pt x="8955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822126" y="416409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199240" y="111318"/>
                  </a:moveTo>
                  <a:lnTo>
                    <a:pt x="189847" y="64074"/>
                  </a:lnTo>
                  <a:lnTo>
                    <a:pt x="165217" y="27721"/>
                  </a:lnTo>
                  <a:lnTo>
                    <a:pt x="130177" y="5336"/>
                  </a:lnTo>
                  <a:lnTo>
                    <a:pt x="89556" y="0"/>
                  </a:lnTo>
                  <a:lnTo>
                    <a:pt x="48181" y="14788"/>
                  </a:lnTo>
                  <a:lnTo>
                    <a:pt x="16038" y="47400"/>
                  </a:lnTo>
                  <a:lnTo>
                    <a:pt x="0" y="89266"/>
                  </a:lnTo>
                  <a:lnTo>
                    <a:pt x="56" y="134203"/>
                  </a:lnTo>
                  <a:lnTo>
                    <a:pt x="16201" y="176025"/>
                  </a:lnTo>
                  <a:lnTo>
                    <a:pt x="48425" y="208550"/>
                  </a:lnTo>
                  <a:lnTo>
                    <a:pt x="89977" y="223175"/>
                  </a:lnTo>
                  <a:lnTo>
                    <a:pt x="130638" y="217660"/>
                  </a:lnTo>
                  <a:lnTo>
                    <a:pt x="165603" y="195112"/>
                  </a:lnTo>
                  <a:lnTo>
                    <a:pt x="190071" y="158639"/>
                  </a:lnTo>
                  <a:lnTo>
                    <a:pt x="199240" y="111349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822126" y="416409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89556" y="0"/>
                  </a:moveTo>
                  <a:lnTo>
                    <a:pt x="48181" y="14788"/>
                  </a:lnTo>
                  <a:lnTo>
                    <a:pt x="16038" y="47400"/>
                  </a:lnTo>
                  <a:lnTo>
                    <a:pt x="0" y="89266"/>
                  </a:lnTo>
                  <a:lnTo>
                    <a:pt x="56" y="134203"/>
                  </a:lnTo>
                  <a:lnTo>
                    <a:pt x="16201" y="176025"/>
                  </a:lnTo>
                  <a:lnTo>
                    <a:pt x="48425" y="208550"/>
                  </a:lnTo>
                  <a:lnTo>
                    <a:pt x="89977" y="223175"/>
                  </a:lnTo>
                  <a:lnTo>
                    <a:pt x="130638" y="217660"/>
                  </a:lnTo>
                  <a:lnTo>
                    <a:pt x="165603" y="195112"/>
                  </a:lnTo>
                  <a:lnTo>
                    <a:pt x="190071" y="158639"/>
                  </a:lnTo>
                  <a:lnTo>
                    <a:pt x="199240" y="111318"/>
                  </a:lnTo>
                  <a:lnTo>
                    <a:pt x="189847" y="64074"/>
                  </a:lnTo>
                  <a:lnTo>
                    <a:pt x="165217" y="27721"/>
                  </a:lnTo>
                  <a:lnTo>
                    <a:pt x="130177" y="5336"/>
                  </a:lnTo>
                  <a:lnTo>
                    <a:pt x="8955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822126" y="416409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199240" y="111318"/>
                  </a:moveTo>
                  <a:lnTo>
                    <a:pt x="189847" y="64074"/>
                  </a:lnTo>
                  <a:lnTo>
                    <a:pt x="165217" y="27721"/>
                  </a:lnTo>
                  <a:lnTo>
                    <a:pt x="130177" y="5336"/>
                  </a:lnTo>
                  <a:lnTo>
                    <a:pt x="89556" y="0"/>
                  </a:lnTo>
                  <a:lnTo>
                    <a:pt x="48181" y="14788"/>
                  </a:lnTo>
                  <a:lnTo>
                    <a:pt x="16038" y="47400"/>
                  </a:lnTo>
                  <a:lnTo>
                    <a:pt x="0" y="89266"/>
                  </a:lnTo>
                  <a:lnTo>
                    <a:pt x="56" y="134203"/>
                  </a:lnTo>
                  <a:lnTo>
                    <a:pt x="16201" y="176025"/>
                  </a:lnTo>
                  <a:lnTo>
                    <a:pt x="48425" y="208550"/>
                  </a:lnTo>
                  <a:lnTo>
                    <a:pt x="89977" y="223175"/>
                  </a:lnTo>
                  <a:lnTo>
                    <a:pt x="130638" y="217660"/>
                  </a:lnTo>
                  <a:lnTo>
                    <a:pt x="165603" y="195112"/>
                  </a:lnTo>
                  <a:lnTo>
                    <a:pt x="190071" y="158639"/>
                  </a:lnTo>
                  <a:lnTo>
                    <a:pt x="199240" y="111349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575610" y="416409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89554" y="0"/>
                  </a:moveTo>
                  <a:lnTo>
                    <a:pt x="48186" y="14788"/>
                  </a:lnTo>
                  <a:lnTo>
                    <a:pt x="16042" y="47400"/>
                  </a:lnTo>
                  <a:lnTo>
                    <a:pt x="0" y="89266"/>
                  </a:lnTo>
                  <a:lnTo>
                    <a:pt x="52" y="134203"/>
                  </a:lnTo>
                  <a:lnTo>
                    <a:pt x="16192" y="176025"/>
                  </a:lnTo>
                  <a:lnTo>
                    <a:pt x="48415" y="208550"/>
                  </a:lnTo>
                  <a:lnTo>
                    <a:pt x="89968" y="223175"/>
                  </a:lnTo>
                  <a:lnTo>
                    <a:pt x="130628" y="217660"/>
                  </a:lnTo>
                  <a:lnTo>
                    <a:pt x="165593" y="195112"/>
                  </a:lnTo>
                  <a:lnTo>
                    <a:pt x="190061" y="158639"/>
                  </a:lnTo>
                  <a:lnTo>
                    <a:pt x="199230" y="111318"/>
                  </a:lnTo>
                  <a:lnTo>
                    <a:pt x="189837" y="64074"/>
                  </a:lnTo>
                  <a:lnTo>
                    <a:pt x="165208" y="27721"/>
                  </a:lnTo>
                  <a:lnTo>
                    <a:pt x="130170" y="5336"/>
                  </a:lnTo>
                  <a:lnTo>
                    <a:pt x="89554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575610" y="416409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199230" y="111318"/>
                  </a:moveTo>
                  <a:lnTo>
                    <a:pt x="189837" y="64074"/>
                  </a:lnTo>
                  <a:lnTo>
                    <a:pt x="165208" y="27721"/>
                  </a:lnTo>
                  <a:lnTo>
                    <a:pt x="130170" y="5336"/>
                  </a:lnTo>
                  <a:lnTo>
                    <a:pt x="89554" y="0"/>
                  </a:lnTo>
                  <a:lnTo>
                    <a:pt x="48186" y="14788"/>
                  </a:lnTo>
                  <a:lnTo>
                    <a:pt x="16042" y="47400"/>
                  </a:lnTo>
                  <a:lnTo>
                    <a:pt x="0" y="89266"/>
                  </a:lnTo>
                  <a:lnTo>
                    <a:pt x="52" y="134203"/>
                  </a:lnTo>
                  <a:lnTo>
                    <a:pt x="16192" y="176025"/>
                  </a:lnTo>
                  <a:lnTo>
                    <a:pt x="48415" y="208550"/>
                  </a:lnTo>
                  <a:lnTo>
                    <a:pt x="89968" y="223175"/>
                  </a:lnTo>
                  <a:lnTo>
                    <a:pt x="130628" y="217660"/>
                  </a:lnTo>
                  <a:lnTo>
                    <a:pt x="165593" y="195112"/>
                  </a:lnTo>
                  <a:lnTo>
                    <a:pt x="190061" y="158639"/>
                  </a:lnTo>
                  <a:lnTo>
                    <a:pt x="199230" y="111349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575610" y="416409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89554" y="0"/>
                  </a:moveTo>
                  <a:lnTo>
                    <a:pt x="48186" y="14788"/>
                  </a:lnTo>
                  <a:lnTo>
                    <a:pt x="16042" y="47400"/>
                  </a:lnTo>
                  <a:lnTo>
                    <a:pt x="0" y="89266"/>
                  </a:lnTo>
                  <a:lnTo>
                    <a:pt x="52" y="134203"/>
                  </a:lnTo>
                  <a:lnTo>
                    <a:pt x="16192" y="176025"/>
                  </a:lnTo>
                  <a:lnTo>
                    <a:pt x="48415" y="208550"/>
                  </a:lnTo>
                  <a:lnTo>
                    <a:pt x="89968" y="223175"/>
                  </a:lnTo>
                  <a:lnTo>
                    <a:pt x="130628" y="217660"/>
                  </a:lnTo>
                  <a:lnTo>
                    <a:pt x="165593" y="195112"/>
                  </a:lnTo>
                  <a:lnTo>
                    <a:pt x="190061" y="158639"/>
                  </a:lnTo>
                  <a:lnTo>
                    <a:pt x="199230" y="111318"/>
                  </a:lnTo>
                  <a:lnTo>
                    <a:pt x="189837" y="64074"/>
                  </a:lnTo>
                  <a:lnTo>
                    <a:pt x="165208" y="27721"/>
                  </a:lnTo>
                  <a:lnTo>
                    <a:pt x="130170" y="5336"/>
                  </a:lnTo>
                  <a:lnTo>
                    <a:pt x="89554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575610" y="3971599"/>
              <a:ext cx="635635" cy="415925"/>
            </a:xfrm>
            <a:custGeom>
              <a:avLst/>
              <a:gdLst/>
              <a:ahLst/>
              <a:cxnLst/>
              <a:rect l="l" t="t" r="r" b="b"/>
              <a:pathLst>
                <a:path w="635635" h="415925">
                  <a:moveTo>
                    <a:pt x="199230" y="303809"/>
                  </a:moveTo>
                  <a:lnTo>
                    <a:pt x="189837" y="256565"/>
                  </a:lnTo>
                  <a:lnTo>
                    <a:pt x="165208" y="220211"/>
                  </a:lnTo>
                  <a:lnTo>
                    <a:pt x="130170" y="197827"/>
                  </a:lnTo>
                  <a:lnTo>
                    <a:pt x="89554" y="192490"/>
                  </a:lnTo>
                  <a:lnTo>
                    <a:pt x="48186" y="207279"/>
                  </a:lnTo>
                  <a:lnTo>
                    <a:pt x="16042" y="239891"/>
                  </a:lnTo>
                  <a:lnTo>
                    <a:pt x="0" y="281757"/>
                  </a:lnTo>
                  <a:lnTo>
                    <a:pt x="52" y="326694"/>
                  </a:lnTo>
                  <a:lnTo>
                    <a:pt x="16192" y="368516"/>
                  </a:lnTo>
                  <a:lnTo>
                    <a:pt x="48415" y="401040"/>
                  </a:lnTo>
                  <a:lnTo>
                    <a:pt x="89968" y="415665"/>
                  </a:lnTo>
                  <a:lnTo>
                    <a:pt x="130628" y="410150"/>
                  </a:lnTo>
                  <a:lnTo>
                    <a:pt x="165593" y="387603"/>
                  </a:lnTo>
                  <a:lnTo>
                    <a:pt x="190061" y="351130"/>
                  </a:lnTo>
                  <a:lnTo>
                    <a:pt x="199230" y="303839"/>
                  </a:lnTo>
                </a:path>
                <a:path w="635635" h="415925">
                  <a:moveTo>
                    <a:pt x="635521" y="0"/>
                  </a:moveTo>
                  <a:lnTo>
                    <a:pt x="171447" y="224500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976613" y="454851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90223" y="0"/>
                  </a:moveTo>
                  <a:lnTo>
                    <a:pt x="48544" y="14782"/>
                  </a:lnTo>
                  <a:lnTo>
                    <a:pt x="16160" y="47402"/>
                  </a:lnTo>
                  <a:lnTo>
                    <a:pt x="0" y="89272"/>
                  </a:lnTo>
                  <a:lnTo>
                    <a:pt x="54" y="134211"/>
                  </a:lnTo>
                  <a:lnTo>
                    <a:pt x="16315" y="176035"/>
                  </a:lnTo>
                  <a:lnTo>
                    <a:pt x="48772" y="208559"/>
                  </a:lnTo>
                  <a:lnTo>
                    <a:pt x="90637" y="223184"/>
                  </a:lnTo>
                  <a:lnTo>
                    <a:pt x="131605" y="217668"/>
                  </a:lnTo>
                  <a:lnTo>
                    <a:pt x="166837" y="195118"/>
                  </a:lnTo>
                  <a:lnTo>
                    <a:pt x="191492" y="158641"/>
                  </a:lnTo>
                  <a:lnTo>
                    <a:pt x="200731" y="111328"/>
                  </a:lnTo>
                  <a:lnTo>
                    <a:pt x="191267" y="64077"/>
                  </a:lnTo>
                  <a:lnTo>
                    <a:pt x="166451" y="27722"/>
                  </a:lnTo>
                  <a:lnTo>
                    <a:pt x="131148" y="5338"/>
                  </a:lnTo>
                  <a:lnTo>
                    <a:pt x="90223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976613" y="454851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200731" y="111328"/>
                  </a:moveTo>
                  <a:lnTo>
                    <a:pt x="191267" y="64077"/>
                  </a:lnTo>
                  <a:lnTo>
                    <a:pt x="166451" y="27722"/>
                  </a:lnTo>
                  <a:lnTo>
                    <a:pt x="131148" y="5338"/>
                  </a:lnTo>
                  <a:lnTo>
                    <a:pt x="90223" y="0"/>
                  </a:lnTo>
                  <a:lnTo>
                    <a:pt x="48544" y="14782"/>
                  </a:lnTo>
                  <a:lnTo>
                    <a:pt x="16160" y="47402"/>
                  </a:lnTo>
                  <a:lnTo>
                    <a:pt x="0" y="89272"/>
                  </a:lnTo>
                  <a:lnTo>
                    <a:pt x="54" y="134211"/>
                  </a:lnTo>
                  <a:lnTo>
                    <a:pt x="16315" y="176035"/>
                  </a:lnTo>
                  <a:lnTo>
                    <a:pt x="48772" y="208559"/>
                  </a:lnTo>
                  <a:lnTo>
                    <a:pt x="90637" y="223184"/>
                  </a:lnTo>
                  <a:lnTo>
                    <a:pt x="131605" y="217668"/>
                  </a:lnTo>
                  <a:lnTo>
                    <a:pt x="166837" y="195118"/>
                  </a:lnTo>
                  <a:lnTo>
                    <a:pt x="191492" y="158641"/>
                  </a:lnTo>
                  <a:lnTo>
                    <a:pt x="200731" y="111343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976613" y="454851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90223" y="0"/>
                  </a:moveTo>
                  <a:lnTo>
                    <a:pt x="48544" y="14782"/>
                  </a:lnTo>
                  <a:lnTo>
                    <a:pt x="16160" y="47402"/>
                  </a:lnTo>
                  <a:lnTo>
                    <a:pt x="0" y="89272"/>
                  </a:lnTo>
                  <a:lnTo>
                    <a:pt x="54" y="134211"/>
                  </a:lnTo>
                  <a:lnTo>
                    <a:pt x="16315" y="176035"/>
                  </a:lnTo>
                  <a:lnTo>
                    <a:pt x="48772" y="208559"/>
                  </a:lnTo>
                  <a:lnTo>
                    <a:pt x="90637" y="223184"/>
                  </a:lnTo>
                  <a:lnTo>
                    <a:pt x="131605" y="217668"/>
                  </a:lnTo>
                  <a:lnTo>
                    <a:pt x="166837" y="195118"/>
                  </a:lnTo>
                  <a:lnTo>
                    <a:pt x="191492" y="158641"/>
                  </a:lnTo>
                  <a:lnTo>
                    <a:pt x="200731" y="111328"/>
                  </a:lnTo>
                  <a:lnTo>
                    <a:pt x="191267" y="64077"/>
                  </a:lnTo>
                  <a:lnTo>
                    <a:pt x="166451" y="27722"/>
                  </a:lnTo>
                  <a:lnTo>
                    <a:pt x="131148" y="5338"/>
                  </a:lnTo>
                  <a:lnTo>
                    <a:pt x="90223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976613" y="454851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200731" y="111328"/>
                  </a:moveTo>
                  <a:lnTo>
                    <a:pt x="191267" y="64077"/>
                  </a:lnTo>
                  <a:lnTo>
                    <a:pt x="166451" y="27722"/>
                  </a:lnTo>
                  <a:lnTo>
                    <a:pt x="131148" y="5338"/>
                  </a:lnTo>
                  <a:lnTo>
                    <a:pt x="90223" y="0"/>
                  </a:lnTo>
                  <a:lnTo>
                    <a:pt x="48544" y="14782"/>
                  </a:lnTo>
                  <a:lnTo>
                    <a:pt x="16160" y="47402"/>
                  </a:lnTo>
                  <a:lnTo>
                    <a:pt x="0" y="89272"/>
                  </a:lnTo>
                  <a:lnTo>
                    <a:pt x="54" y="134211"/>
                  </a:lnTo>
                  <a:lnTo>
                    <a:pt x="16315" y="176035"/>
                  </a:lnTo>
                  <a:lnTo>
                    <a:pt x="48772" y="208559"/>
                  </a:lnTo>
                  <a:lnTo>
                    <a:pt x="90637" y="223184"/>
                  </a:lnTo>
                  <a:lnTo>
                    <a:pt x="131605" y="217668"/>
                  </a:lnTo>
                  <a:lnTo>
                    <a:pt x="166837" y="195118"/>
                  </a:lnTo>
                  <a:lnTo>
                    <a:pt x="191492" y="158641"/>
                  </a:lnTo>
                  <a:lnTo>
                    <a:pt x="200731" y="111343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411908" y="502905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89556" y="0"/>
                  </a:moveTo>
                  <a:lnTo>
                    <a:pt x="48181" y="14790"/>
                  </a:lnTo>
                  <a:lnTo>
                    <a:pt x="16038" y="47402"/>
                  </a:lnTo>
                  <a:lnTo>
                    <a:pt x="0" y="89268"/>
                  </a:lnTo>
                  <a:lnTo>
                    <a:pt x="56" y="134204"/>
                  </a:lnTo>
                  <a:lnTo>
                    <a:pt x="16201" y="176027"/>
                  </a:lnTo>
                  <a:lnTo>
                    <a:pt x="48425" y="208551"/>
                  </a:lnTo>
                  <a:lnTo>
                    <a:pt x="89972" y="223176"/>
                  </a:lnTo>
                  <a:lnTo>
                    <a:pt x="130631" y="217661"/>
                  </a:lnTo>
                  <a:lnTo>
                    <a:pt x="165599" y="195114"/>
                  </a:lnTo>
                  <a:lnTo>
                    <a:pt x="190070" y="158641"/>
                  </a:lnTo>
                  <a:lnTo>
                    <a:pt x="199240" y="111320"/>
                  </a:lnTo>
                  <a:lnTo>
                    <a:pt x="189847" y="64070"/>
                  </a:lnTo>
                  <a:lnTo>
                    <a:pt x="165217" y="27716"/>
                  </a:lnTo>
                  <a:lnTo>
                    <a:pt x="130177" y="5333"/>
                  </a:lnTo>
                  <a:lnTo>
                    <a:pt x="8955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411908" y="502905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199240" y="111320"/>
                  </a:moveTo>
                  <a:lnTo>
                    <a:pt x="189847" y="64070"/>
                  </a:lnTo>
                  <a:lnTo>
                    <a:pt x="165217" y="27716"/>
                  </a:lnTo>
                  <a:lnTo>
                    <a:pt x="130177" y="5333"/>
                  </a:lnTo>
                  <a:lnTo>
                    <a:pt x="89556" y="0"/>
                  </a:lnTo>
                  <a:lnTo>
                    <a:pt x="48181" y="14790"/>
                  </a:lnTo>
                  <a:lnTo>
                    <a:pt x="16038" y="47402"/>
                  </a:lnTo>
                  <a:lnTo>
                    <a:pt x="0" y="89268"/>
                  </a:lnTo>
                  <a:lnTo>
                    <a:pt x="56" y="134204"/>
                  </a:lnTo>
                  <a:lnTo>
                    <a:pt x="16201" y="176027"/>
                  </a:lnTo>
                  <a:lnTo>
                    <a:pt x="48425" y="208551"/>
                  </a:lnTo>
                  <a:lnTo>
                    <a:pt x="89972" y="223176"/>
                  </a:lnTo>
                  <a:lnTo>
                    <a:pt x="130631" y="217661"/>
                  </a:lnTo>
                  <a:lnTo>
                    <a:pt x="165599" y="195114"/>
                  </a:lnTo>
                  <a:lnTo>
                    <a:pt x="190070" y="158641"/>
                  </a:lnTo>
                  <a:lnTo>
                    <a:pt x="199240" y="111350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411908" y="502905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89556" y="0"/>
                  </a:moveTo>
                  <a:lnTo>
                    <a:pt x="48181" y="14790"/>
                  </a:lnTo>
                  <a:lnTo>
                    <a:pt x="16038" y="47402"/>
                  </a:lnTo>
                  <a:lnTo>
                    <a:pt x="0" y="89268"/>
                  </a:lnTo>
                  <a:lnTo>
                    <a:pt x="56" y="134204"/>
                  </a:lnTo>
                  <a:lnTo>
                    <a:pt x="16201" y="176027"/>
                  </a:lnTo>
                  <a:lnTo>
                    <a:pt x="48425" y="208551"/>
                  </a:lnTo>
                  <a:lnTo>
                    <a:pt x="89972" y="223176"/>
                  </a:lnTo>
                  <a:lnTo>
                    <a:pt x="130631" y="217661"/>
                  </a:lnTo>
                  <a:lnTo>
                    <a:pt x="165599" y="195114"/>
                  </a:lnTo>
                  <a:lnTo>
                    <a:pt x="190070" y="158641"/>
                  </a:lnTo>
                  <a:lnTo>
                    <a:pt x="199240" y="111320"/>
                  </a:lnTo>
                  <a:lnTo>
                    <a:pt x="189847" y="64070"/>
                  </a:lnTo>
                  <a:lnTo>
                    <a:pt x="165217" y="27716"/>
                  </a:lnTo>
                  <a:lnTo>
                    <a:pt x="130177" y="5333"/>
                  </a:lnTo>
                  <a:lnTo>
                    <a:pt x="8955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411908" y="502905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199240" y="111320"/>
                  </a:moveTo>
                  <a:lnTo>
                    <a:pt x="189847" y="64070"/>
                  </a:lnTo>
                  <a:lnTo>
                    <a:pt x="165217" y="27716"/>
                  </a:lnTo>
                  <a:lnTo>
                    <a:pt x="130177" y="5333"/>
                  </a:lnTo>
                  <a:lnTo>
                    <a:pt x="89556" y="0"/>
                  </a:lnTo>
                  <a:lnTo>
                    <a:pt x="48181" y="14790"/>
                  </a:lnTo>
                  <a:lnTo>
                    <a:pt x="16038" y="47402"/>
                  </a:lnTo>
                  <a:lnTo>
                    <a:pt x="0" y="89268"/>
                  </a:lnTo>
                  <a:lnTo>
                    <a:pt x="56" y="134204"/>
                  </a:lnTo>
                  <a:lnTo>
                    <a:pt x="16201" y="176027"/>
                  </a:lnTo>
                  <a:lnTo>
                    <a:pt x="48425" y="208551"/>
                  </a:lnTo>
                  <a:lnTo>
                    <a:pt x="89972" y="223176"/>
                  </a:lnTo>
                  <a:lnTo>
                    <a:pt x="130631" y="217661"/>
                  </a:lnTo>
                  <a:lnTo>
                    <a:pt x="165599" y="195114"/>
                  </a:lnTo>
                  <a:lnTo>
                    <a:pt x="190070" y="158641"/>
                  </a:lnTo>
                  <a:lnTo>
                    <a:pt x="199240" y="111350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179878" y="454851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89551" y="0"/>
                  </a:moveTo>
                  <a:lnTo>
                    <a:pt x="48182" y="14782"/>
                  </a:lnTo>
                  <a:lnTo>
                    <a:pt x="16039" y="47402"/>
                  </a:lnTo>
                  <a:lnTo>
                    <a:pt x="0" y="89272"/>
                  </a:lnTo>
                  <a:lnTo>
                    <a:pt x="54" y="134211"/>
                  </a:lnTo>
                  <a:lnTo>
                    <a:pt x="16194" y="176035"/>
                  </a:lnTo>
                  <a:lnTo>
                    <a:pt x="48410" y="208559"/>
                  </a:lnTo>
                  <a:lnTo>
                    <a:pt x="89965" y="223184"/>
                  </a:lnTo>
                  <a:lnTo>
                    <a:pt x="130629" y="217668"/>
                  </a:lnTo>
                  <a:lnTo>
                    <a:pt x="165599" y="195118"/>
                  </a:lnTo>
                  <a:lnTo>
                    <a:pt x="190071" y="158641"/>
                  </a:lnTo>
                  <a:lnTo>
                    <a:pt x="199241" y="111328"/>
                  </a:lnTo>
                  <a:lnTo>
                    <a:pt x="189846" y="64077"/>
                  </a:lnTo>
                  <a:lnTo>
                    <a:pt x="165213" y="27722"/>
                  </a:lnTo>
                  <a:lnTo>
                    <a:pt x="130171" y="5338"/>
                  </a:lnTo>
                  <a:lnTo>
                    <a:pt x="89551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179878" y="454851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199241" y="111328"/>
                  </a:moveTo>
                  <a:lnTo>
                    <a:pt x="189846" y="64077"/>
                  </a:lnTo>
                  <a:lnTo>
                    <a:pt x="165213" y="27722"/>
                  </a:lnTo>
                  <a:lnTo>
                    <a:pt x="130171" y="5338"/>
                  </a:lnTo>
                  <a:lnTo>
                    <a:pt x="89551" y="0"/>
                  </a:lnTo>
                  <a:lnTo>
                    <a:pt x="48182" y="14782"/>
                  </a:lnTo>
                  <a:lnTo>
                    <a:pt x="16039" y="47402"/>
                  </a:lnTo>
                  <a:lnTo>
                    <a:pt x="0" y="89272"/>
                  </a:lnTo>
                  <a:lnTo>
                    <a:pt x="54" y="134211"/>
                  </a:lnTo>
                  <a:lnTo>
                    <a:pt x="16194" y="176035"/>
                  </a:lnTo>
                  <a:lnTo>
                    <a:pt x="48410" y="208559"/>
                  </a:lnTo>
                  <a:lnTo>
                    <a:pt x="89965" y="223184"/>
                  </a:lnTo>
                  <a:lnTo>
                    <a:pt x="130629" y="217668"/>
                  </a:lnTo>
                  <a:lnTo>
                    <a:pt x="165599" y="195118"/>
                  </a:lnTo>
                  <a:lnTo>
                    <a:pt x="190071" y="158641"/>
                  </a:lnTo>
                  <a:lnTo>
                    <a:pt x="199241" y="111343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179878" y="454851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89551" y="0"/>
                  </a:moveTo>
                  <a:lnTo>
                    <a:pt x="48182" y="14782"/>
                  </a:lnTo>
                  <a:lnTo>
                    <a:pt x="16039" y="47402"/>
                  </a:lnTo>
                  <a:lnTo>
                    <a:pt x="0" y="89272"/>
                  </a:lnTo>
                  <a:lnTo>
                    <a:pt x="54" y="134211"/>
                  </a:lnTo>
                  <a:lnTo>
                    <a:pt x="16194" y="176035"/>
                  </a:lnTo>
                  <a:lnTo>
                    <a:pt x="48410" y="208559"/>
                  </a:lnTo>
                  <a:lnTo>
                    <a:pt x="89965" y="223184"/>
                  </a:lnTo>
                  <a:lnTo>
                    <a:pt x="130629" y="217668"/>
                  </a:lnTo>
                  <a:lnTo>
                    <a:pt x="165599" y="195118"/>
                  </a:lnTo>
                  <a:lnTo>
                    <a:pt x="190071" y="158641"/>
                  </a:lnTo>
                  <a:lnTo>
                    <a:pt x="199241" y="111328"/>
                  </a:lnTo>
                  <a:lnTo>
                    <a:pt x="189846" y="64077"/>
                  </a:lnTo>
                  <a:lnTo>
                    <a:pt x="165213" y="27722"/>
                  </a:lnTo>
                  <a:lnTo>
                    <a:pt x="130171" y="5338"/>
                  </a:lnTo>
                  <a:lnTo>
                    <a:pt x="89551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179878" y="4548510"/>
              <a:ext cx="199390" cy="223520"/>
            </a:xfrm>
            <a:custGeom>
              <a:avLst/>
              <a:gdLst/>
              <a:ahLst/>
              <a:cxnLst/>
              <a:rect l="l" t="t" r="r" b="b"/>
              <a:pathLst>
                <a:path w="199389" h="223520">
                  <a:moveTo>
                    <a:pt x="199241" y="111328"/>
                  </a:moveTo>
                  <a:lnTo>
                    <a:pt x="189846" y="64077"/>
                  </a:lnTo>
                  <a:lnTo>
                    <a:pt x="165213" y="27722"/>
                  </a:lnTo>
                  <a:lnTo>
                    <a:pt x="130171" y="5338"/>
                  </a:lnTo>
                  <a:lnTo>
                    <a:pt x="89551" y="0"/>
                  </a:lnTo>
                  <a:lnTo>
                    <a:pt x="48182" y="14782"/>
                  </a:lnTo>
                  <a:lnTo>
                    <a:pt x="16039" y="47402"/>
                  </a:lnTo>
                  <a:lnTo>
                    <a:pt x="0" y="89272"/>
                  </a:lnTo>
                  <a:lnTo>
                    <a:pt x="54" y="134211"/>
                  </a:lnTo>
                  <a:lnTo>
                    <a:pt x="16194" y="176035"/>
                  </a:lnTo>
                  <a:lnTo>
                    <a:pt x="48410" y="208559"/>
                  </a:lnTo>
                  <a:lnTo>
                    <a:pt x="89965" y="223184"/>
                  </a:lnTo>
                  <a:lnTo>
                    <a:pt x="130629" y="217668"/>
                  </a:lnTo>
                  <a:lnTo>
                    <a:pt x="165599" y="195118"/>
                  </a:lnTo>
                  <a:lnTo>
                    <a:pt x="190071" y="158641"/>
                  </a:lnTo>
                  <a:lnTo>
                    <a:pt x="199241" y="111343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947860" y="502905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4" h="223520">
                  <a:moveTo>
                    <a:pt x="90216" y="0"/>
                  </a:moveTo>
                  <a:lnTo>
                    <a:pt x="48536" y="14790"/>
                  </a:lnTo>
                  <a:lnTo>
                    <a:pt x="16158" y="47402"/>
                  </a:lnTo>
                  <a:lnTo>
                    <a:pt x="0" y="89268"/>
                  </a:lnTo>
                  <a:lnTo>
                    <a:pt x="54" y="134204"/>
                  </a:lnTo>
                  <a:lnTo>
                    <a:pt x="16316" y="176027"/>
                  </a:lnTo>
                  <a:lnTo>
                    <a:pt x="48780" y="208551"/>
                  </a:lnTo>
                  <a:lnTo>
                    <a:pt x="90638" y="223176"/>
                  </a:lnTo>
                  <a:lnTo>
                    <a:pt x="131601" y="217660"/>
                  </a:lnTo>
                  <a:lnTo>
                    <a:pt x="166830" y="195110"/>
                  </a:lnTo>
                  <a:lnTo>
                    <a:pt x="191484" y="158633"/>
                  </a:lnTo>
                  <a:lnTo>
                    <a:pt x="200723" y="111320"/>
                  </a:lnTo>
                  <a:lnTo>
                    <a:pt x="191260" y="64070"/>
                  </a:lnTo>
                  <a:lnTo>
                    <a:pt x="166443" y="27716"/>
                  </a:lnTo>
                  <a:lnTo>
                    <a:pt x="131140" y="5333"/>
                  </a:lnTo>
                  <a:lnTo>
                    <a:pt x="9021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947860" y="502905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4" h="223520">
                  <a:moveTo>
                    <a:pt x="200723" y="111320"/>
                  </a:moveTo>
                  <a:lnTo>
                    <a:pt x="191260" y="64070"/>
                  </a:lnTo>
                  <a:lnTo>
                    <a:pt x="166443" y="27716"/>
                  </a:lnTo>
                  <a:lnTo>
                    <a:pt x="131140" y="5333"/>
                  </a:lnTo>
                  <a:lnTo>
                    <a:pt x="90216" y="0"/>
                  </a:lnTo>
                  <a:lnTo>
                    <a:pt x="48536" y="14790"/>
                  </a:lnTo>
                  <a:lnTo>
                    <a:pt x="16158" y="47402"/>
                  </a:lnTo>
                  <a:lnTo>
                    <a:pt x="0" y="89268"/>
                  </a:lnTo>
                  <a:lnTo>
                    <a:pt x="54" y="134204"/>
                  </a:lnTo>
                  <a:lnTo>
                    <a:pt x="16316" y="176027"/>
                  </a:lnTo>
                  <a:lnTo>
                    <a:pt x="48780" y="208551"/>
                  </a:lnTo>
                  <a:lnTo>
                    <a:pt x="90638" y="223176"/>
                  </a:lnTo>
                  <a:lnTo>
                    <a:pt x="131601" y="217660"/>
                  </a:lnTo>
                  <a:lnTo>
                    <a:pt x="166830" y="195110"/>
                  </a:lnTo>
                  <a:lnTo>
                    <a:pt x="191484" y="158633"/>
                  </a:lnTo>
                  <a:lnTo>
                    <a:pt x="200723" y="111335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947860" y="502905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4" h="223520">
                  <a:moveTo>
                    <a:pt x="90216" y="0"/>
                  </a:moveTo>
                  <a:lnTo>
                    <a:pt x="48536" y="14790"/>
                  </a:lnTo>
                  <a:lnTo>
                    <a:pt x="16158" y="47402"/>
                  </a:lnTo>
                  <a:lnTo>
                    <a:pt x="0" y="89268"/>
                  </a:lnTo>
                  <a:lnTo>
                    <a:pt x="54" y="134204"/>
                  </a:lnTo>
                  <a:lnTo>
                    <a:pt x="16316" y="176027"/>
                  </a:lnTo>
                  <a:lnTo>
                    <a:pt x="48780" y="208551"/>
                  </a:lnTo>
                  <a:lnTo>
                    <a:pt x="90638" y="223176"/>
                  </a:lnTo>
                  <a:lnTo>
                    <a:pt x="131601" y="217660"/>
                  </a:lnTo>
                  <a:lnTo>
                    <a:pt x="166830" y="195110"/>
                  </a:lnTo>
                  <a:lnTo>
                    <a:pt x="191484" y="158633"/>
                  </a:lnTo>
                  <a:lnTo>
                    <a:pt x="200723" y="111320"/>
                  </a:lnTo>
                  <a:lnTo>
                    <a:pt x="191260" y="64070"/>
                  </a:lnTo>
                  <a:lnTo>
                    <a:pt x="166443" y="27716"/>
                  </a:lnTo>
                  <a:lnTo>
                    <a:pt x="131140" y="5333"/>
                  </a:lnTo>
                  <a:lnTo>
                    <a:pt x="9021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947860" y="502905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4" h="223520">
                  <a:moveTo>
                    <a:pt x="200723" y="111320"/>
                  </a:moveTo>
                  <a:lnTo>
                    <a:pt x="191260" y="64070"/>
                  </a:lnTo>
                  <a:lnTo>
                    <a:pt x="166443" y="27716"/>
                  </a:lnTo>
                  <a:lnTo>
                    <a:pt x="131140" y="5333"/>
                  </a:lnTo>
                  <a:lnTo>
                    <a:pt x="90216" y="0"/>
                  </a:lnTo>
                  <a:lnTo>
                    <a:pt x="48536" y="14790"/>
                  </a:lnTo>
                  <a:lnTo>
                    <a:pt x="16158" y="47402"/>
                  </a:lnTo>
                  <a:lnTo>
                    <a:pt x="0" y="89268"/>
                  </a:lnTo>
                  <a:lnTo>
                    <a:pt x="54" y="134204"/>
                  </a:lnTo>
                  <a:lnTo>
                    <a:pt x="16316" y="176027"/>
                  </a:lnTo>
                  <a:lnTo>
                    <a:pt x="48780" y="208551"/>
                  </a:lnTo>
                  <a:lnTo>
                    <a:pt x="90638" y="223176"/>
                  </a:lnTo>
                  <a:lnTo>
                    <a:pt x="131601" y="217660"/>
                  </a:lnTo>
                  <a:lnTo>
                    <a:pt x="166830" y="195110"/>
                  </a:lnTo>
                  <a:lnTo>
                    <a:pt x="191484" y="158633"/>
                  </a:lnTo>
                  <a:lnTo>
                    <a:pt x="200723" y="111335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744580" y="502905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90226" y="0"/>
                  </a:moveTo>
                  <a:lnTo>
                    <a:pt x="48548" y="14790"/>
                  </a:lnTo>
                  <a:lnTo>
                    <a:pt x="16163" y="47402"/>
                  </a:lnTo>
                  <a:lnTo>
                    <a:pt x="0" y="89268"/>
                  </a:lnTo>
                  <a:lnTo>
                    <a:pt x="52" y="134204"/>
                  </a:lnTo>
                  <a:lnTo>
                    <a:pt x="16313" y="176027"/>
                  </a:lnTo>
                  <a:lnTo>
                    <a:pt x="48777" y="208551"/>
                  </a:lnTo>
                  <a:lnTo>
                    <a:pt x="90640" y="223176"/>
                  </a:lnTo>
                  <a:lnTo>
                    <a:pt x="131604" y="217660"/>
                  </a:lnTo>
                  <a:lnTo>
                    <a:pt x="166831" y="195110"/>
                  </a:lnTo>
                  <a:lnTo>
                    <a:pt x="191482" y="158633"/>
                  </a:lnTo>
                  <a:lnTo>
                    <a:pt x="200720" y="111320"/>
                  </a:lnTo>
                  <a:lnTo>
                    <a:pt x="191258" y="64070"/>
                  </a:lnTo>
                  <a:lnTo>
                    <a:pt x="166446" y="27716"/>
                  </a:lnTo>
                  <a:lnTo>
                    <a:pt x="131147" y="5333"/>
                  </a:lnTo>
                  <a:lnTo>
                    <a:pt x="9022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744580" y="502905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200720" y="111320"/>
                  </a:moveTo>
                  <a:lnTo>
                    <a:pt x="191258" y="64070"/>
                  </a:lnTo>
                  <a:lnTo>
                    <a:pt x="166446" y="27716"/>
                  </a:lnTo>
                  <a:lnTo>
                    <a:pt x="131147" y="5333"/>
                  </a:lnTo>
                  <a:lnTo>
                    <a:pt x="90226" y="0"/>
                  </a:lnTo>
                  <a:lnTo>
                    <a:pt x="48548" y="14790"/>
                  </a:lnTo>
                  <a:lnTo>
                    <a:pt x="16163" y="47402"/>
                  </a:lnTo>
                  <a:lnTo>
                    <a:pt x="0" y="89268"/>
                  </a:lnTo>
                  <a:lnTo>
                    <a:pt x="52" y="134204"/>
                  </a:lnTo>
                  <a:lnTo>
                    <a:pt x="16313" y="176027"/>
                  </a:lnTo>
                  <a:lnTo>
                    <a:pt x="48777" y="208551"/>
                  </a:lnTo>
                  <a:lnTo>
                    <a:pt x="90640" y="223176"/>
                  </a:lnTo>
                  <a:lnTo>
                    <a:pt x="131604" y="217660"/>
                  </a:lnTo>
                  <a:lnTo>
                    <a:pt x="166831" y="195110"/>
                  </a:lnTo>
                  <a:lnTo>
                    <a:pt x="191482" y="158633"/>
                  </a:lnTo>
                  <a:lnTo>
                    <a:pt x="200720" y="111335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744580" y="502905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90226" y="0"/>
                  </a:moveTo>
                  <a:lnTo>
                    <a:pt x="48548" y="14790"/>
                  </a:lnTo>
                  <a:lnTo>
                    <a:pt x="16163" y="47402"/>
                  </a:lnTo>
                  <a:lnTo>
                    <a:pt x="0" y="89268"/>
                  </a:lnTo>
                  <a:lnTo>
                    <a:pt x="52" y="134204"/>
                  </a:lnTo>
                  <a:lnTo>
                    <a:pt x="16313" y="176027"/>
                  </a:lnTo>
                  <a:lnTo>
                    <a:pt x="48777" y="208551"/>
                  </a:lnTo>
                  <a:lnTo>
                    <a:pt x="90640" y="223176"/>
                  </a:lnTo>
                  <a:lnTo>
                    <a:pt x="131604" y="217660"/>
                  </a:lnTo>
                  <a:lnTo>
                    <a:pt x="166831" y="195110"/>
                  </a:lnTo>
                  <a:lnTo>
                    <a:pt x="191482" y="158633"/>
                  </a:lnTo>
                  <a:lnTo>
                    <a:pt x="200720" y="111320"/>
                  </a:lnTo>
                  <a:lnTo>
                    <a:pt x="191258" y="64070"/>
                  </a:lnTo>
                  <a:lnTo>
                    <a:pt x="166446" y="27716"/>
                  </a:lnTo>
                  <a:lnTo>
                    <a:pt x="131147" y="5333"/>
                  </a:lnTo>
                  <a:lnTo>
                    <a:pt x="9022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744580" y="502905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200720" y="111320"/>
                  </a:moveTo>
                  <a:lnTo>
                    <a:pt x="191258" y="64070"/>
                  </a:lnTo>
                  <a:lnTo>
                    <a:pt x="166446" y="27716"/>
                  </a:lnTo>
                  <a:lnTo>
                    <a:pt x="131147" y="5333"/>
                  </a:lnTo>
                  <a:lnTo>
                    <a:pt x="90226" y="0"/>
                  </a:lnTo>
                  <a:lnTo>
                    <a:pt x="48548" y="14790"/>
                  </a:lnTo>
                  <a:lnTo>
                    <a:pt x="16163" y="47402"/>
                  </a:lnTo>
                  <a:lnTo>
                    <a:pt x="0" y="89268"/>
                  </a:lnTo>
                  <a:lnTo>
                    <a:pt x="52" y="134204"/>
                  </a:lnTo>
                  <a:lnTo>
                    <a:pt x="16313" y="176027"/>
                  </a:lnTo>
                  <a:lnTo>
                    <a:pt x="48777" y="208551"/>
                  </a:lnTo>
                  <a:lnTo>
                    <a:pt x="90640" y="223176"/>
                  </a:lnTo>
                  <a:lnTo>
                    <a:pt x="131604" y="217660"/>
                  </a:lnTo>
                  <a:lnTo>
                    <a:pt x="166831" y="195110"/>
                  </a:lnTo>
                  <a:lnTo>
                    <a:pt x="191482" y="158633"/>
                  </a:lnTo>
                  <a:lnTo>
                    <a:pt x="200720" y="111335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185588" y="454851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90222" y="0"/>
                  </a:moveTo>
                  <a:lnTo>
                    <a:pt x="48543" y="14782"/>
                  </a:lnTo>
                  <a:lnTo>
                    <a:pt x="16159" y="47402"/>
                  </a:lnTo>
                  <a:lnTo>
                    <a:pt x="0" y="89272"/>
                  </a:lnTo>
                  <a:lnTo>
                    <a:pt x="56" y="134211"/>
                  </a:lnTo>
                  <a:lnTo>
                    <a:pt x="16321" y="176035"/>
                  </a:lnTo>
                  <a:lnTo>
                    <a:pt x="48787" y="208559"/>
                  </a:lnTo>
                  <a:lnTo>
                    <a:pt x="90644" y="223184"/>
                  </a:lnTo>
                  <a:lnTo>
                    <a:pt x="131608" y="217668"/>
                  </a:lnTo>
                  <a:lnTo>
                    <a:pt x="166837" y="195118"/>
                  </a:lnTo>
                  <a:lnTo>
                    <a:pt x="191491" y="158641"/>
                  </a:lnTo>
                  <a:lnTo>
                    <a:pt x="200730" y="111328"/>
                  </a:lnTo>
                  <a:lnTo>
                    <a:pt x="191266" y="64077"/>
                  </a:lnTo>
                  <a:lnTo>
                    <a:pt x="166450" y="27722"/>
                  </a:lnTo>
                  <a:lnTo>
                    <a:pt x="131147" y="5338"/>
                  </a:lnTo>
                  <a:lnTo>
                    <a:pt x="90222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185588" y="454851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200730" y="111328"/>
                  </a:moveTo>
                  <a:lnTo>
                    <a:pt x="191266" y="64077"/>
                  </a:lnTo>
                  <a:lnTo>
                    <a:pt x="166450" y="27722"/>
                  </a:lnTo>
                  <a:lnTo>
                    <a:pt x="131147" y="5338"/>
                  </a:lnTo>
                  <a:lnTo>
                    <a:pt x="90222" y="0"/>
                  </a:lnTo>
                  <a:lnTo>
                    <a:pt x="48543" y="14782"/>
                  </a:lnTo>
                  <a:lnTo>
                    <a:pt x="16159" y="47402"/>
                  </a:lnTo>
                  <a:lnTo>
                    <a:pt x="0" y="89272"/>
                  </a:lnTo>
                  <a:lnTo>
                    <a:pt x="56" y="134211"/>
                  </a:lnTo>
                  <a:lnTo>
                    <a:pt x="16321" y="176035"/>
                  </a:lnTo>
                  <a:lnTo>
                    <a:pt x="48787" y="208559"/>
                  </a:lnTo>
                  <a:lnTo>
                    <a:pt x="90644" y="223184"/>
                  </a:lnTo>
                  <a:lnTo>
                    <a:pt x="131608" y="217668"/>
                  </a:lnTo>
                  <a:lnTo>
                    <a:pt x="166837" y="195118"/>
                  </a:lnTo>
                  <a:lnTo>
                    <a:pt x="191491" y="158641"/>
                  </a:lnTo>
                  <a:lnTo>
                    <a:pt x="200730" y="111343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185588" y="454851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90222" y="0"/>
                  </a:moveTo>
                  <a:lnTo>
                    <a:pt x="48543" y="14782"/>
                  </a:lnTo>
                  <a:lnTo>
                    <a:pt x="16159" y="47402"/>
                  </a:lnTo>
                  <a:lnTo>
                    <a:pt x="0" y="89272"/>
                  </a:lnTo>
                  <a:lnTo>
                    <a:pt x="56" y="134211"/>
                  </a:lnTo>
                  <a:lnTo>
                    <a:pt x="16321" y="176035"/>
                  </a:lnTo>
                  <a:lnTo>
                    <a:pt x="48787" y="208559"/>
                  </a:lnTo>
                  <a:lnTo>
                    <a:pt x="90644" y="223184"/>
                  </a:lnTo>
                  <a:lnTo>
                    <a:pt x="131608" y="217668"/>
                  </a:lnTo>
                  <a:lnTo>
                    <a:pt x="166837" y="195118"/>
                  </a:lnTo>
                  <a:lnTo>
                    <a:pt x="191491" y="158641"/>
                  </a:lnTo>
                  <a:lnTo>
                    <a:pt x="200730" y="111328"/>
                  </a:lnTo>
                  <a:lnTo>
                    <a:pt x="191266" y="64077"/>
                  </a:lnTo>
                  <a:lnTo>
                    <a:pt x="166450" y="27722"/>
                  </a:lnTo>
                  <a:lnTo>
                    <a:pt x="131147" y="5338"/>
                  </a:lnTo>
                  <a:lnTo>
                    <a:pt x="90222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185588" y="454851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200730" y="111328"/>
                  </a:moveTo>
                  <a:lnTo>
                    <a:pt x="191266" y="64077"/>
                  </a:lnTo>
                  <a:lnTo>
                    <a:pt x="166450" y="27722"/>
                  </a:lnTo>
                  <a:lnTo>
                    <a:pt x="131147" y="5338"/>
                  </a:lnTo>
                  <a:lnTo>
                    <a:pt x="90222" y="0"/>
                  </a:lnTo>
                  <a:lnTo>
                    <a:pt x="48543" y="14782"/>
                  </a:lnTo>
                  <a:lnTo>
                    <a:pt x="16159" y="47402"/>
                  </a:lnTo>
                  <a:lnTo>
                    <a:pt x="0" y="89272"/>
                  </a:lnTo>
                  <a:lnTo>
                    <a:pt x="56" y="134211"/>
                  </a:lnTo>
                  <a:lnTo>
                    <a:pt x="16321" y="176035"/>
                  </a:lnTo>
                  <a:lnTo>
                    <a:pt x="48787" y="208559"/>
                  </a:lnTo>
                  <a:lnTo>
                    <a:pt x="90644" y="223184"/>
                  </a:lnTo>
                  <a:lnTo>
                    <a:pt x="131608" y="217668"/>
                  </a:lnTo>
                  <a:lnTo>
                    <a:pt x="166837" y="195118"/>
                  </a:lnTo>
                  <a:lnTo>
                    <a:pt x="191491" y="158641"/>
                  </a:lnTo>
                  <a:lnTo>
                    <a:pt x="200730" y="111343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456446" y="454851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90222" y="0"/>
                  </a:moveTo>
                  <a:lnTo>
                    <a:pt x="48543" y="14782"/>
                  </a:lnTo>
                  <a:lnTo>
                    <a:pt x="16159" y="47402"/>
                  </a:lnTo>
                  <a:lnTo>
                    <a:pt x="0" y="89272"/>
                  </a:lnTo>
                  <a:lnTo>
                    <a:pt x="56" y="134211"/>
                  </a:lnTo>
                  <a:lnTo>
                    <a:pt x="16321" y="176035"/>
                  </a:lnTo>
                  <a:lnTo>
                    <a:pt x="48787" y="208559"/>
                  </a:lnTo>
                  <a:lnTo>
                    <a:pt x="90644" y="223184"/>
                  </a:lnTo>
                  <a:lnTo>
                    <a:pt x="131608" y="217668"/>
                  </a:lnTo>
                  <a:lnTo>
                    <a:pt x="166837" y="195118"/>
                  </a:lnTo>
                  <a:lnTo>
                    <a:pt x="191491" y="158641"/>
                  </a:lnTo>
                  <a:lnTo>
                    <a:pt x="200730" y="111328"/>
                  </a:lnTo>
                  <a:lnTo>
                    <a:pt x="191266" y="64077"/>
                  </a:lnTo>
                  <a:lnTo>
                    <a:pt x="166450" y="27722"/>
                  </a:lnTo>
                  <a:lnTo>
                    <a:pt x="131147" y="5338"/>
                  </a:lnTo>
                  <a:lnTo>
                    <a:pt x="90222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456446" y="454851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200730" y="111328"/>
                  </a:moveTo>
                  <a:lnTo>
                    <a:pt x="191266" y="64077"/>
                  </a:lnTo>
                  <a:lnTo>
                    <a:pt x="166450" y="27722"/>
                  </a:lnTo>
                  <a:lnTo>
                    <a:pt x="131147" y="5338"/>
                  </a:lnTo>
                  <a:lnTo>
                    <a:pt x="90222" y="0"/>
                  </a:lnTo>
                  <a:lnTo>
                    <a:pt x="48543" y="14782"/>
                  </a:lnTo>
                  <a:lnTo>
                    <a:pt x="16159" y="47402"/>
                  </a:lnTo>
                  <a:lnTo>
                    <a:pt x="0" y="89272"/>
                  </a:lnTo>
                  <a:lnTo>
                    <a:pt x="56" y="134211"/>
                  </a:lnTo>
                  <a:lnTo>
                    <a:pt x="16321" y="176035"/>
                  </a:lnTo>
                  <a:lnTo>
                    <a:pt x="48787" y="208559"/>
                  </a:lnTo>
                  <a:lnTo>
                    <a:pt x="90644" y="223184"/>
                  </a:lnTo>
                  <a:lnTo>
                    <a:pt x="131608" y="217668"/>
                  </a:lnTo>
                  <a:lnTo>
                    <a:pt x="166837" y="195118"/>
                  </a:lnTo>
                  <a:lnTo>
                    <a:pt x="191491" y="158641"/>
                  </a:lnTo>
                  <a:lnTo>
                    <a:pt x="200730" y="111343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456446" y="454851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90222" y="0"/>
                  </a:moveTo>
                  <a:lnTo>
                    <a:pt x="48543" y="14782"/>
                  </a:lnTo>
                  <a:lnTo>
                    <a:pt x="16159" y="47402"/>
                  </a:lnTo>
                  <a:lnTo>
                    <a:pt x="0" y="89272"/>
                  </a:lnTo>
                  <a:lnTo>
                    <a:pt x="56" y="134211"/>
                  </a:lnTo>
                  <a:lnTo>
                    <a:pt x="16321" y="176035"/>
                  </a:lnTo>
                  <a:lnTo>
                    <a:pt x="48787" y="208559"/>
                  </a:lnTo>
                  <a:lnTo>
                    <a:pt x="90644" y="223184"/>
                  </a:lnTo>
                  <a:lnTo>
                    <a:pt x="131608" y="217668"/>
                  </a:lnTo>
                  <a:lnTo>
                    <a:pt x="166837" y="195118"/>
                  </a:lnTo>
                  <a:lnTo>
                    <a:pt x="191491" y="158641"/>
                  </a:lnTo>
                  <a:lnTo>
                    <a:pt x="200730" y="111328"/>
                  </a:lnTo>
                  <a:lnTo>
                    <a:pt x="191266" y="64077"/>
                  </a:lnTo>
                  <a:lnTo>
                    <a:pt x="166450" y="27722"/>
                  </a:lnTo>
                  <a:lnTo>
                    <a:pt x="131147" y="5338"/>
                  </a:lnTo>
                  <a:lnTo>
                    <a:pt x="90222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456446" y="4548510"/>
              <a:ext cx="201295" cy="223520"/>
            </a:xfrm>
            <a:custGeom>
              <a:avLst/>
              <a:gdLst/>
              <a:ahLst/>
              <a:cxnLst/>
              <a:rect l="l" t="t" r="r" b="b"/>
              <a:pathLst>
                <a:path w="201295" h="223520">
                  <a:moveTo>
                    <a:pt x="200730" y="111328"/>
                  </a:moveTo>
                  <a:lnTo>
                    <a:pt x="191266" y="64077"/>
                  </a:lnTo>
                  <a:lnTo>
                    <a:pt x="166450" y="27722"/>
                  </a:lnTo>
                  <a:lnTo>
                    <a:pt x="131147" y="5338"/>
                  </a:lnTo>
                  <a:lnTo>
                    <a:pt x="90222" y="0"/>
                  </a:lnTo>
                  <a:lnTo>
                    <a:pt x="48543" y="14782"/>
                  </a:lnTo>
                  <a:lnTo>
                    <a:pt x="16159" y="47402"/>
                  </a:lnTo>
                  <a:lnTo>
                    <a:pt x="0" y="89272"/>
                  </a:lnTo>
                  <a:lnTo>
                    <a:pt x="56" y="134211"/>
                  </a:lnTo>
                  <a:lnTo>
                    <a:pt x="16321" y="176035"/>
                  </a:lnTo>
                  <a:lnTo>
                    <a:pt x="48787" y="208559"/>
                  </a:lnTo>
                  <a:lnTo>
                    <a:pt x="90644" y="223184"/>
                  </a:lnTo>
                  <a:lnTo>
                    <a:pt x="131608" y="217668"/>
                  </a:lnTo>
                  <a:lnTo>
                    <a:pt x="166837" y="195118"/>
                  </a:lnTo>
                  <a:lnTo>
                    <a:pt x="191491" y="158641"/>
                  </a:lnTo>
                  <a:lnTo>
                    <a:pt x="200730" y="111343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53" name="object 53"/>
          <p:cNvGraphicFramePr>
            <a:graphicFrameLocks noGrp="1"/>
          </p:cNvGraphicFramePr>
          <p:nvPr/>
        </p:nvGraphicFramePr>
        <p:xfrm>
          <a:off x="2485521" y="5647454"/>
          <a:ext cx="3251200" cy="2571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6535"/>
                <a:gridCol w="216535"/>
                <a:gridCol w="216535"/>
                <a:gridCol w="216534"/>
                <a:gridCol w="216534"/>
                <a:gridCol w="216534"/>
                <a:gridCol w="216534"/>
                <a:gridCol w="216535"/>
                <a:gridCol w="216535"/>
                <a:gridCol w="216535"/>
                <a:gridCol w="216535"/>
                <a:gridCol w="216535"/>
                <a:gridCol w="216535"/>
                <a:gridCol w="216535"/>
                <a:gridCol w="216535"/>
              </a:tblGrid>
              <a:tr h="2522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9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9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21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9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9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24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9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31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9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9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68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9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65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9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9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</a:tr>
            </a:tbl>
          </a:graphicData>
        </a:graphic>
      </p:graphicFrame>
      <p:sp>
        <p:nvSpPr>
          <p:cNvPr id="54" name="object 54"/>
          <p:cNvSpPr txBox="1"/>
          <p:nvPr/>
        </p:nvSpPr>
        <p:spPr>
          <a:xfrm>
            <a:off x="2547161" y="5907131"/>
            <a:ext cx="315404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3045" algn="l"/>
                <a:tab pos="445134" algn="l"/>
                <a:tab pos="665480" algn="l"/>
                <a:tab pos="877569" algn="l"/>
                <a:tab pos="1093470" algn="l"/>
                <a:tab pos="1310005" algn="l"/>
                <a:tab pos="1525905" algn="l"/>
                <a:tab pos="1742439" algn="l"/>
                <a:tab pos="1958975" algn="l"/>
              </a:tabLst>
            </a:pPr>
            <a:r>
              <a:rPr dirty="0" baseline="2923" sz="1425" spc="-7">
                <a:solidFill>
                  <a:srgbClr val="FFFFFF"/>
                </a:solidFill>
                <a:latin typeface="Arial"/>
                <a:cs typeface="Arial"/>
              </a:rPr>
              <a:t>0	1	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2	</a:t>
            </a:r>
            <a:r>
              <a:rPr dirty="0" baseline="2923" sz="1425" spc="-7">
                <a:solidFill>
                  <a:srgbClr val="FFFFFF"/>
                </a:solidFill>
                <a:latin typeface="Arial"/>
                <a:cs typeface="Arial"/>
              </a:rPr>
              <a:t>3	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4	5	6	7	8	9</a:t>
            </a:r>
            <a:r>
              <a:rPr dirty="0" sz="950" spc="63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dirty="0" sz="950" spc="3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dirty="0" sz="950" spc="409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950" spc="3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13</a:t>
            </a:r>
            <a:r>
              <a:rPr dirty="0" sz="950" spc="3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55" name="object 55"/>
          <p:cNvGrpSpPr/>
          <p:nvPr/>
        </p:nvGrpSpPr>
        <p:grpSpPr>
          <a:xfrm>
            <a:off x="2809920" y="5335107"/>
            <a:ext cx="1912620" cy="916940"/>
            <a:chOff x="2809920" y="5335107"/>
            <a:chExt cx="1912620" cy="916940"/>
          </a:xfrm>
        </p:grpSpPr>
        <p:sp>
          <p:nvSpPr>
            <p:cNvPr id="56" name="object 56"/>
            <p:cNvSpPr/>
            <p:nvPr/>
          </p:nvSpPr>
          <p:spPr>
            <a:xfrm>
              <a:off x="2829443" y="5569376"/>
              <a:ext cx="180975" cy="69215"/>
            </a:xfrm>
            <a:custGeom>
              <a:avLst/>
              <a:gdLst/>
              <a:ahLst/>
              <a:cxnLst/>
              <a:rect l="l" t="t" r="r" b="b"/>
              <a:pathLst>
                <a:path w="180975" h="69214">
                  <a:moveTo>
                    <a:pt x="0" y="69067"/>
                  </a:moveTo>
                  <a:lnTo>
                    <a:pt x="9768" y="52547"/>
                  </a:lnTo>
                  <a:lnTo>
                    <a:pt x="19522" y="36027"/>
                  </a:lnTo>
                  <a:lnTo>
                    <a:pt x="24780" y="28529"/>
                  </a:lnTo>
                  <a:lnTo>
                    <a:pt x="54818" y="7498"/>
                  </a:lnTo>
                  <a:lnTo>
                    <a:pt x="64587" y="3749"/>
                  </a:lnTo>
                  <a:lnTo>
                    <a:pt x="69082" y="2240"/>
                  </a:lnTo>
                  <a:lnTo>
                    <a:pt x="72847" y="746"/>
                  </a:lnTo>
                  <a:lnTo>
                    <a:pt x="75849" y="0"/>
                  </a:lnTo>
                  <a:lnTo>
                    <a:pt x="76596" y="0"/>
                  </a:lnTo>
                  <a:lnTo>
                    <a:pt x="90860" y="746"/>
                  </a:lnTo>
                  <a:lnTo>
                    <a:pt x="103631" y="1493"/>
                  </a:lnTo>
                  <a:lnTo>
                    <a:pt x="114147" y="2240"/>
                  </a:lnTo>
                  <a:lnTo>
                    <a:pt x="129905" y="2240"/>
                  </a:lnTo>
                  <a:lnTo>
                    <a:pt x="156941" y="10500"/>
                  </a:lnTo>
                  <a:lnTo>
                    <a:pt x="160690" y="13502"/>
                  </a:lnTo>
                  <a:lnTo>
                    <a:pt x="164454" y="17266"/>
                  </a:lnTo>
                  <a:lnTo>
                    <a:pt x="168950" y="22524"/>
                  </a:lnTo>
                  <a:lnTo>
                    <a:pt x="174208" y="28529"/>
                  </a:lnTo>
                  <a:lnTo>
                    <a:pt x="180974" y="36027"/>
                  </a:lnTo>
                  <a:lnTo>
                    <a:pt x="180974" y="38282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988640" y="5597144"/>
              <a:ext cx="44450" cy="52705"/>
            </a:xfrm>
            <a:custGeom>
              <a:avLst/>
              <a:gdLst/>
              <a:ahLst/>
              <a:cxnLst/>
              <a:rect l="l" t="t" r="r" b="b"/>
              <a:pathLst>
                <a:path w="44450" h="52704">
                  <a:moveTo>
                    <a:pt x="44302" y="0"/>
                  </a:moveTo>
                  <a:lnTo>
                    <a:pt x="0" y="18028"/>
                  </a:lnTo>
                  <a:lnTo>
                    <a:pt x="39791" y="52562"/>
                  </a:lnTo>
                  <a:lnTo>
                    <a:pt x="443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812176" y="5446984"/>
              <a:ext cx="416559" cy="203200"/>
            </a:xfrm>
            <a:custGeom>
              <a:avLst/>
              <a:gdLst/>
              <a:ahLst/>
              <a:cxnLst/>
              <a:rect l="l" t="t" r="r" b="b"/>
              <a:pathLst>
                <a:path w="416560" h="203200">
                  <a:moveTo>
                    <a:pt x="0" y="202722"/>
                  </a:moveTo>
                  <a:lnTo>
                    <a:pt x="10515" y="174939"/>
                  </a:lnTo>
                  <a:lnTo>
                    <a:pt x="21015" y="147157"/>
                  </a:lnTo>
                  <a:lnTo>
                    <a:pt x="31531" y="120883"/>
                  </a:lnTo>
                  <a:lnTo>
                    <a:pt x="57073" y="72831"/>
                  </a:lnTo>
                  <a:lnTo>
                    <a:pt x="89352" y="36042"/>
                  </a:lnTo>
                  <a:lnTo>
                    <a:pt x="130652" y="12771"/>
                  </a:lnTo>
                  <a:lnTo>
                    <a:pt x="186217" y="1508"/>
                  </a:lnTo>
                  <a:lnTo>
                    <a:pt x="216255" y="0"/>
                  </a:lnTo>
                  <a:lnTo>
                    <a:pt x="246293" y="1508"/>
                  </a:lnTo>
                  <a:lnTo>
                    <a:pt x="289102" y="9006"/>
                  </a:lnTo>
                  <a:lnTo>
                    <a:pt x="339410" y="33040"/>
                  </a:lnTo>
                  <a:lnTo>
                    <a:pt x="366445" y="60822"/>
                  </a:lnTo>
                  <a:lnTo>
                    <a:pt x="388223" y="96103"/>
                  </a:lnTo>
                  <a:lnTo>
                    <a:pt x="407746" y="136657"/>
                  </a:lnTo>
                  <a:lnTo>
                    <a:pt x="416006" y="158419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206404" y="5597906"/>
              <a:ext cx="45085" cy="52069"/>
            </a:xfrm>
            <a:custGeom>
              <a:avLst/>
              <a:gdLst/>
              <a:ahLst/>
              <a:cxnLst/>
              <a:rect l="l" t="t" r="r" b="b"/>
              <a:pathLst>
                <a:path w="45085" h="52070">
                  <a:moveTo>
                    <a:pt x="45049" y="0"/>
                  </a:moveTo>
                  <a:lnTo>
                    <a:pt x="0" y="15758"/>
                  </a:lnTo>
                  <a:lnTo>
                    <a:pt x="38298" y="51800"/>
                  </a:lnTo>
                  <a:lnTo>
                    <a:pt x="450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028431" y="5901989"/>
              <a:ext cx="417830" cy="243840"/>
            </a:xfrm>
            <a:custGeom>
              <a:avLst/>
              <a:gdLst/>
              <a:ahLst/>
              <a:cxnLst/>
              <a:rect l="l" t="t" r="r" b="b"/>
              <a:pathLst>
                <a:path w="417829" h="243839">
                  <a:moveTo>
                    <a:pt x="0" y="0"/>
                  </a:moveTo>
                  <a:lnTo>
                    <a:pt x="17282" y="33787"/>
                  </a:lnTo>
                  <a:lnTo>
                    <a:pt x="33802" y="66827"/>
                  </a:lnTo>
                  <a:lnTo>
                    <a:pt x="51069" y="98358"/>
                  </a:lnTo>
                  <a:lnTo>
                    <a:pt x="69082" y="128396"/>
                  </a:lnTo>
                  <a:lnTo>
                    <a:pt x="77342" y="142661"/>
                  </a:lnTo>
                  <a:lnTo>
                    <a:pt x="86365" y="155417"/>
                  </a:lnTo>
                  <a:lnTo>
                    <a:pt x="96118" y="168188"/>
                  </a:lnTo>
                  <a:lnTo>
                    <a:pt x="105140" y="180197"/>
                  </a:lnTo>
                  <a:lnTo>
                    <a:pt x="114894" y="190713"/>
                  </a:lnTo>
                  <a:lnTo>
                    <a:pt x="124663" y="200466"/>
                  </a:lnTo>
                  <a:lnTo>
                    <a:pt x="134416" y="208727"/>
                  </a:lnTo>
                  <a:lnTo>
                    <a:pt x="144185" y="216240"/>
                  </a:lnTo>
                  <a:lnTo>
                    <a:pt x="154701" y="222244"/>
                  </a:lnTo>
                  <a:lnTo>
                    <a:pt x="165201" y="228249"/>
                  </a:lnTo>
                  <a:lnTo>
                    <a:pt x="212521" y="241767"/>
                  </a:lnTo>
                  <a:lnTo>
                    <a:pt x="224530" y="242514"/>
                  </a:lnTo>
                  <a:lnTo>
                    <a:pt x="236540" y="243276"/>
                  </a:lnTo>
                  <a:lnTo>
                    <a:pt x="248564" y="242514"/>
                  </a:lnTo>
                  <a:lnTo>
                    <a:pt x="260573" y="241767"/>
                  </a:lnTo>
                  <a:lnTo>
                    <a:pt x="272582" y="239511"/>
                  </a:lnTo>
                  <a:lnTo>
                    <a:pt x="315391" y="222244"/>
                  </a:lnTo>
                  <a:lnTo>
                    <a:pt x="338663" y="202722"/>
                  </a:lnTo>
                  <a:lnTo>
                    <a:pt x="345429" y="195209"/>
                  </a:lnTo>
                  <a:lnTo>
                    <a:pt x="376214" y="146410"/>
                  </a:lnTo>
                  <a:lnTo>
                    <a:pt x="397992" y="97612"/>
                  </a:lnTo>
                  <a:lnTo>
                    <a:pt x="407746" y="71323"/>
                  </a:lnTo>
                  <a:lnTo>
                    <a:pt x="417515" y="43540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423422" y="5901989"/>
              <a:ext cx="45085" cy="52705"/>
            </a:xfrm>
            <a:custGeom>
              <a:avLst/>
              <a:gdLst/>
              <a:ahLst/>
              <a:cxnLst/>
              <a:rect l="l" t="t" r="r" b="b"/>
              <a:pathLst>
                <a:path w="45085" h="52704">
                  <a:moveTo>
                    <a:pt x="37536" y="0"/>
                  </a:moveTo>
                  <a:lnTo>
                    <a:pt x="0" y="37536"/>
                  </a:lnTo>
                  <a:lnTo>
                    <a:pt x="45049" y="52562"/>
                  </a:lnTo>
                  <a:lnTo>
                    <a:pt x="375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028431" y="5901989"/>
              <a:ext cx="627380" cy="243840"/>
            </a:xfrm>
            <a:custGeom>
              <a:avLst/>
              <a:gdLst/>
              <a:ahLst/>
              <a:cxnLst/>
              <a:rect l="l" t="t" r="r" b="b"/>
              <a:pathLst>
                <a:path w="627379" h="243839">
                  <a:moveTo>
                    <a:pt x="0" y="0"/>
                  </a:moveTo>
                  <a:lnTo>
                    <a:pt x="25542" y="33787"/>
                  </a:lnTo>
                  <a:lnTo>
                    <a:pt x="51069" y="66827"/>
                  </a:lnTo>
                  <a:lnTo>
                    <a:pt x="76596" y="98358"/>
                  </a:lnTo>
                  <a:lnTo>
                    <a:pt x="102885" y="128396"/>
                  </a:lnTo>
                  <a:lnTo>
                    <a:pt x="129920" y="155417"/>
                  </a:lnTo>
                  <a:lnTo>
                    <a:pt x="171968" y="190713"/>
                  </a:lnTo>
                  <a:lnTo>
                    <a:pt x="216270" y="216240"/>
                  </a:lnTo>
                  <a:lnTo>
                    <a:pt x="265084" y="232760"/>
                  </a:lnTo>
                  <a:lnTo>
                    <a:pt x="318394" y="241767"/>
                  </a:lnTo>
                  <a:lnTo>
                    <a:pt x="355183" y="243276"/>
                  </a:lnTo>
                  <a:lnTo>
                    <a:pt x="373212" y="242514"/>
                  </a:lnTo>
                  <a:lnTo>
                    <a:pt x="425028" y="236509"/>
                  </a:lnTo>
                  <a:lnTo>
                    <a:pt x="472333" y="222244"/>
                  </a:lnTo>
                  <a:lnTo>
                    <a:pt x="508375" y="202722"/>
                  </a:lnTo>
                  <a:lnTo>
                    <a:pt x="547420" y="167441"/>
                  </a:lnTo>
                  <a:lnTo>
                    <a:pt x="581969" y="121630"/>
                  </a:lnTo>
                  <a:lnTo>
                    <a:pt x="612754" y="69082"/>
                  </a:lnTo>
                  <a:lnTo>
                    <a:pt x="627019" y="41300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635181" y="5901989"/>
              <a:ext cx="42545" cy="53340"/>
            </a:xfrm>
            <a:custGeom>
              <a:avLst/>
              <a:gdLst/>
              <a:ahLst/>
              <a:cxnLst/>
              <a:rect l="l" t="t" r="r" b="b"/>
              <a:pathLst>
                <a:path w="42545" h="53339">
                  <a:moveTo>
                    <a:pt x="42047" y="0"/>
                  </a:moveTo>
                  <a:lnTo>
                    <a:pt x="0" y="32293"/>
                  </a:lnTo>
                  <a:lnTo>
                    <a:pt x="42047" y="53309"/>
                  </a:lnTo>
                  <a:lnTo>
                    <a:pt x="420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280745" y="5406446"/>
              <a:ext cx="593090" cy="243840"/>
            </a:xfrm>
            <a:custGeom>
              <a:avLst/>
              <a:gdLst/>
              <a:ahLst/>
              <a:cxnLst/>
              <a:rect l="l" t="t" r="r" b="b"/>
              <a:pathLst>
                <a:path w="593089" h="243839">
                  <a:moveTo>
                    <a:pt x="0" y="243260"/>
                  </a:moveTo>
                  <a:lnTo>
                    <a:pt x="24033" y="209473"/>
                  </a:lnTo>
                  <a:lnTo>
                    <a:pt x="48051" y="176433"/>
                  </a:lnTo>
                  <a:lnTo>
                    <a:pt x="72831" y="144901"/>
                  </a:lnTo>
                  <a:lnTo>
                    <a:pt x="97612" y="114879"/>
                  </a:lnTo>
                  <a:lnTo>
                    <a:pt x="123154" y="87843"/>
                  </a:lnTo>
                  <a:lnTo>
                    <a:pt x="135910" y="75072"/>
                  </a:lnTo>
                  <a:lnTo>
                    <a:pt x="176463" y="42793"/>
                  </a:lnTo>
                  <a:lnTo>
                    <a:pt x="219273" y="21015"/>
                  </a:lnTo>
                  <a:lnTo>
                    <a:pt x="234284" y="15011"/>
                  </a:lnTo>
                  <a:lnTo>
                    <a:pt x="283844" y="3749"/>
                  </a:lnTo>
                  <a:lnTo>
                    <a:pt x="334914" y="0"/>
                  </a:lnTo>
                  <a:lnTo>
                    <a:pt x="352181" y="746"/>
                  </a:lnTo>
                  <a:lnTo>
                    <a:pt x="401741" y="6751"/>
                  </a:lnTo>
                  <a:lnTo>
                    <a:pt x="446044" y="21015"/>
                  </a:lnTo>
                  <a:lnTo>
                    <a:pt x="479831" y="39791"/>
                  </a:lnTo>
                  <a:lnTo>
                    <a:pt x="517382" y="75834"/>
                  </a:lnTo>
                  <a:lnTo>
                    <a:pt x="549676" y="120883"/>
                  </a:lnTo>
                  <a:lnTo>
                    <a:pt x="578205" y="173431"/>
                  </a:lnTo>
                  <a:lnTo>
                    <a:pt x="592470" y="201213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852199" y="5597144"/>
              <a:ext cx="43180" cy="52705"/>
            </a:xfrm>
            <a:custGeom>
              <a:avLst/>
              <a:gdLst/>
              <a:ahLst/>
              <a:cxnLst/>
              <a:rect l="l" t="t" r="r" b="b"/>
              <a:pathLst>
                <a:path w="43179" h="52704">
                  <a:moveTo>
                    <a:pt x="42793" y="0"/>
                  </a:moveTo>
                  <a:lnTo>
                    <a:pt x="0" y="20284"/>
                  </a:lnTo>
                  <a:lnTo>
                    <a:pt x="41300" y="52562"/>
                  </a:lnTo>
                  <a:lnTo>
                    <a:pt x="427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280745" y="5406446"/>
              <a:ext cx="803275" cy="243840"/>
            </a:xfrm>
            <a:custGeom>
              <a:avLst/>
              <a:gdLst/>
              <a:ahLst/>
              <a:cxnLst/>
              <a:rect l="l" t="t" r="r" b="b"/>
              <a:pathLst>
                <a:path w="803275" h="243839">
                  <a:moveTo>
                    <a:pt x="0" y="243260"/>
                  </a:moveTo>
                  <a:lnTo>
                    <a:pt x="32293" y="209473"/>
                  </a:lnTo>
                  <a:lnTo>
                    <a:pt x="65333" y="176433"/>
                  </a:lnTo>
                  <a:lnTo>
                    <a:pt x="98374" y="144901"/>
                  </a:lnTo>
                  <a:lnTo>
                    <a:pt x="131414" y="114879"/>
                  </a:lnTo>
                  <a:lnTo>
                    <a:pt x="165948" y="87843"/>
                  </a:lnTo>
                  <a:lnTo>
                    <a:pt x="201244" y="63063"/>
                  </a:lnTo>
                  <a:lnTo>
                    <a:pt x="238033" y="42793"/>
                  </a:lnTo>
                  <a:lnTo>
                    <a:pt x="276331" y="27020"/>
                  </a:lnTo>
                  <a:lnTo>
                    <a:pt x="296616" y="21015"/>
                  </a:lnTo>
                  <a:lnTo>
                    <a:pt x="316885" y="15011"/>
                  </a:lnTo>
                  <a:lnTo>
                    <a:pt x="361187" y="6751"/>
                  </a:lnTo>
                  <a:lnTo>
                    <a:pt x="406999" y="1493"/>
                  </a:lnTo>
                  <a:lnTo>
                    <a:pt x="453557" y="0"/>
                  </a:lnTo>
                  <a:lnTo>
                    <a:pt x="476082" y="746"/>
                  </a:lnTo>
                  <a:lnTo>
                    <a:pt x="499353" y="1493"/>
                  </a:lnTo>
                  <a:lnTo>
                    <a:pt x="543656" y="6751"/>
                  </a:lnTo>
                  <a:lnTo>
                    <a:pt x="584956" y="15011"/>
                  </a:lnTo>
                  <a:lnTo>
                    <a:pt x="621761" y="27020"/>
                  </a:lnTo>
                  <a:lnTo>
                    <a:pt x="663061" y="48051"/>
                  </a:lnTo>
                  <a:lnTo>
                    <a:pt x="700598" y="75834"/>
                  </a:lnTo>
                  <a:lnTo>
                    <a:pt x="744153" y="121630"/>
                  </a:lnTo>
                  <a:lnTo>
                    <a:pt x="783960" y="174939"/>
                  </a:lnTo>
                  <a:lnTo>
                    <a:pt x="802736" y="202722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064706" y="5597144"/>
              <a:ext cx="45085" cy="52705"/>
            </a:xfrm>
            <a:custGeom>
              <a:avLst/>
              <a:gdLst/>
              <a:ahLst/>
              <a:cxnLst/>
              <a:rect l="l" t="t" r="r" b="b"/>
              <a:pathLst>
                <a:path w="45085" h="52704">
                  <a:moveTo>
                    <a:pt x="39791" y="0"/>
                  </a:moveTo>
                  <a:lnTo>
                    <a:pt x="0" y="25542"/>
                  </a:lnTo>
                  <a:lnTo>
                    <a:pt x="45049" y="52562"/>
                  </a:lnTo>
                  <a:lnTo>
                    <a:pt x="397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497016" y="5901989"/>
              <a:ext cx="807720" cy="313690"/>
            </a:xfrm>
            <a:custGeom>
              <a:avLst/>
              <a:gdLst/>
              <a:ahLst/>
              <a:cxnLst/>
              <a:rect l="l" t="t" r="r" b="b"/>
              <a:pathLst>
                <a:path w="807720" h="313689">
                  <a:moveTo>
                    <a:pt x="0" y="0"/>
                  </a:moveTo>
                  <a:lnTo>
                    <a:pt x="32278" y="43540"/>
                  </a:lnTo>
                  <a:lnTo>
                    <a:pt x="65318" y="85587"/>
                  </a:lnTo>
                  <a:lnTo>
                    <a:pt x="98358" y="126888"/>
                  </a:lnTo>
                  <a:lnTo>
                    <a:pt x="131399" y="165186"/>
                  </a:lnTo>
                  <a:lnTo>
                    <a:pt x="165948" y="200466"/>
                  </a:lnTo>
                  <a:lnTo>
                    <a:pt x="201244" y="231251"/>
                  </a:lnTo>
                  <a:lnTo>
                    <a:pt x="238033" y="257540"/>
                  </a:lnTo>
                  <a:lnTo>
                    <a:pt x="276331" y="277809"/>
                  </a:lnTo>
                  <a:lnTo>
                    <a:pt x="316885" y="292821"/>
                  </a:lnTo>
                  <a:lnTo>
                    <a:pt x="361187" y="304083"/>
                  </a:lnTo>
                  <a:lnTo>
                    <a:pt x="406984" y="310850"/>
                  </a:lnTo>
                  <a:lnTo>
                    <a:pt x="453542" y="313090"/>
                  </a:lnTo>
                  <a:lnTo>
                    <a:pt x="476067" y="312343"/>
                  </a:lnTo>
                  <a:lnTo>
                    <a:pt x="521878" y="307847"/>
                  </a:lnTo>
                  <a:lnTo>
                    <a:pt x="564687" y="298825"/>
                  </a:lnTo>
                  <a:lnTo>
                    <a:pt x="603732" y="286070"/>
                  </a:lnTo>
                  <a:lnTo>
                    <a:pt x="651037" y="260543"/>
                  </a:lnTo>
                  <a:lnTo>
                    <a:pt x="664555" y="249280"/>
                  </a:lnTo>
                  <a:lnTo>
                    <a:pt x="678073" y="238018"/>
                  </a:lnTo>
                  <a:lnTo>
                    <a:pt x="690082" y="225247"/>
                  </a:lnTo>
                  <a:lnTo>
                    <a:pt x="702853" y="211729"/>
                  </a:lnTo>
                  <a:lnTo>
                    <a:pt x="714115" y="197464"/>
                  </a:lnTo>
                  <a:lnTo>
                    <a:pt x="726125" y="182453"/>
                  </a:lnTo>
                  <a:lnTo>
                    <a:pt x="747156" y="150159"/>
                  </a:lnTo>
                  <a:lnTo>
                    <a:pt x="768187" y="115625"/>
                  </a:lnTo>
                  <a:lnTo>
                    <a:pt x="787709" y="78836"/>
                  </a:lnTo>
                  <a:lnTo>
                    <a:pt x="807232" y="41300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283963" y="5901989"/>
              <a:ext cx="42545" cy="53340"/>
            </a:xfrm>
            <a:custGeom>
              <a:avLst/>
              <a:gdLst/>
              <a:ahLst/>
              <a:cxnLst/>
              <a:rect l="l" t="t" r="r" b="b"/>
              <a:pathLst>
                <a:path w="42545" h="53339">
                  <a:moveTo>
                    <a:pt x="42062" y="0"/>
                  </a:moveTo>
                  <a:lnTo>
                    <a:pt x="0" y="32293"/>
                  </a:lnTo>
                  <a:lnTo>
                    <a:pt x="42062" y="53309"/>
                  </a:lnTo>
                  <a:lnTo>
                    <a:pt x="420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497016" y="5901989"/>
              <a:ext cx="1022350" cy="347980"/>
            </a:xfrm>
            <a:custGeom>
              <a:avLst/>
              <a:gdLst/>
              <a:ahLst/>
              <a:cxnLst/>
              <a:rect l="l" t="t" r="r" b="b"/>
              <a:pathLst>
                <a:path w="1022350" h="347979">
                  <a:moveTo>
                    <a:pt x="0" y="0"/>
                  </a:moveTo>
                  <a:lnTo>
                    <a:pt x="40538" y="48051"/>
                  </a:lnTo>
                  <a:lnTo>
                    <a:pt x="81838" y="95356"/>
                  </a:lnTo>
                  <a:lnTo>
                    <a:pt x="123901" y="140406"/>
                  </a:lnTo>
                  <a:lnTo>
                    <a:pt x="165948" y="183200"/>
                  </a:lnTo>
                  <a:lnTo>
                    <a:pt x="209504" y="222244"/>
                  </a:lnTo>
                  <a:lnTo>
                    <a:pt x="254553" y="256778"/>
                  </a:lnTo>
                  <a:lnTo>
                    <a:pt x="300365" y="286070"/>
                  </a:lnTo>
                  <a:lnTo>
                    <a:pt x="348416" y="308594"/>
                  </a:lnTo>
                  <a:lnTo>
                    <a:pt x="400232" y="325861"/>
                  </a:lnTo>
                  <a:lnTo>
                    <a:pt x="455051" y="337870"/>
                  </a:lnTo>
                  <a:lnTo>
                    <a:pt x="512871" y="345384"/>
                  </a:lnTo>
                  <a:lnTo>
                    <a:pt x="571439" y="347639"/>
                  </a:lnTo>
                  <a:lnTo>
                    <a:pt x="600730" y="346877"/>
                  </a:lnTo>
                  <a:lnTo>
                    <a:pt x="657788" y="342381"/>
                  </a:lnTo>
                  <a:lnTo>
                    <a:pt x="711860" y="332612"/>
                  </a:lnTo>
                  <a:lnTo>
                    <a:pt x="761420" y="317601"/>
                  </a:lnTo>
                  <a:lnTo>
                    <a:pt x="802721" y="299587"/>
                  </a:lnTo>
                  <a:lnTo>
                    <a:pt x="838763" y="276301"/>
                  </a:lnTo>
                  <a:lnTo>
                    <a:pt x="871804" y="249280"/>
                  </a:lnTo>
                  <a:lnTo>
                    <a:pt x="902588" y="217749"/>
                  </a:lnTo>
                  <a:lnTo>
                    <a:pt x="931880" y="182453"/>
                  </a:lnTo>
                  <a:lnTo>
                    <a:pt x="971671" y="123885"/>
                  </a:lnTo>
                  <a:lnTo>
                    <a:pt x="997214" y="83347"/>
                  </a:lnTo>
                  <a:lnTo>
                    <a:pt x="1021994" y="40538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498725" y="5901989"/>
              <a:ext cx="43815" cy="53340"/>
            </a:xfrm>
            <a:custGeom>
              <a:avLst/>
              <a:gdLst/>
              <a:ahLst/>
              <a:cxnLst/>
              <a:rect l="l" t="t" r="r" b="b"/>
              <a:pathLst>
                <a:path w="43814" h="53339">
                  <a:moveTo>
                    <a:pt x="43555" y="0"/>
                  </a:moveTo>
                  <a:lnTo>
                    <a:pt x="0" y="29276"/>
                  </a:lnTo>
                  <a:lnTo>
                    <a:pt x="40553" y="53309"/>
                  </a:lnTo>
                  <a:lnTo>
                    <a:pt x="435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677229" y="5337363"/>
              <a:ext cx="1019810" cy="312420"/>
            </a:xfrm>
            <a:custGeom>
              <a:avLst/>
              <a:gdLst/>
              <a:ahLst/>
              <a:cxnLst/>
              <a:rect l="l" t="t" r="r" b="b"/>
              <a:pathLst>
                <a:path w="1019810" h="312420">
                  <a:moveTo>
                    <a:pt x="0" y="312343"/>
                  </a:moveTo>
                  <a:lnTo>
                    <a:pt x="40553" y="268803"/>
                  </a:lnTo>
                  <a:lnTo>
                    <a:pt x="81854" y="226755"/>
                  </a:lnTo>
                  <a:lnTo>
                    <a:pt x="123901" y="185455"/>
                  </a:lnTo>
                  <a:lnTo>
                    <a:pt x="165948" y="147157"/>
                  </a:lnTo>
                  <a:lnTo>
                    <a:pt x="209504" y="111876"/>
                  </a:lnTo>
                  <a:lnTo>
                    <a:pt x="254553" y="81092"/>
                  </a:lnTo>
                  <a:lnTo>
                    <a:pt x="300365" y="54818"/>
                  </a:lnTo>
                  <a:lnTo>
                    <a:pt x="348432" y="34533"/>
                  </a:lnTo>
                  <a:lnTo>
                    <a:pt x="400232" y="19522"/>
                  </a:lnTo>
                  <a:lnTo>
                    <a:pt x="455051" y="8260"/>
                  </a:lnTo>
                  <a:lnTo>
                    <a:pt x="512871" y="1508"/>
                  </a:lnTo>
                  <a:lnTo>
                    <a:pt x="542162" y="0"/>
                  </a:lnTo>
                  <a:lnTo>
                    <a:pt x="600730" y="0"/>
                  </a:lnTo>
                  <a:lnTo>
                    <a:pt x="657804" y="4511"/>
                  </a:lnTo>
                  <a:lnTo>
                    <a:pt x="711875" y="13517"/>
                  </a:lnTo>
                  <a:lnTo>
                    <a:pt x="761436" y="26273"/>
                  </a:lnTo>
                  <a:lnTo>
                    <a:pt x="802736" y="42793"/>
                  </a:lnTo>
                  <a:lnTo>
                    <a:pt x="838779" y="63063"/>
                  </a:lnTo>
                  <a:lnTo>
                    <a:pt x="871057" y="87096"/>
                  </a:lnTo>
                  <a:lnTo>
                    <a:pt x="901857" y="115625"/>
                  </a:lnTo>
                  <a:lnTo>
                    <a:pt x="943904" y="163677"/>
                  </a:lnTo>
                  <a:lnTo>
                    <a:pt x="970178" y="198226"/>
                  </a:lnTo>
                  <a:lnTo>
                    <a:pt x="994958" y="235016"/>
                  </a:lnTo>
                  <a:lnTo>
                    <a:pt x="1019738" y="272552"/>
                  </a:lnTo>
                </a:path>
              </a:pathLst>
            </a:custGeom>
            <a:ln w="451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677445" y="5597144"/>
              <a:ext cx="45085" cy="52705"/>
            </a:xfrm>
            <a:custGeom>
              <a:avLst/>
              <a:gdLst/>
              <a:ahLst/>
              <a:cxnLst/>
              <a:rect l="l" t="t" r="r" b="b"/>
              <a:pathLst>
                <a:path w="45085" h="52704">
                  <a:moveTo>
                    <a:pt x="39806" y="0"/>
                  </a:moveTo>
                  <a:lnTo>
                    <a:pt x="0" y="25542"/>
                  </a:lnTo>
                  <a:lnTo>
                    <a:pt x="45064" y="52562"/>
                  </a:lnTo>
                  <a:lnTo>
                    <a:pt x="398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4" name="object 74"/>
          <p:cNvSpPr txBox="1"/>
          <p:nvPr/>
        </p:nvSpPr>
        <p:spPr>
          <a:xfrm>
            <a:off x="4089677" y="3842341"/>
            <a:ext cx="32766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9239" sz="1425" spc="-7">
                <a:solidFill>
                  <a:srgbClr val="99FF66"/>
                </a:solidFill>
                <a:latin typeface="Arial"/>
                <a:cs typeface="Arial"/>
              </a:rPr>
              <a:t>1</a:t>
            </a:r>
            <a:r>
              <a:rPr dirty="0" baseline="29239" sz="1425" spc="112">
                <a:solidFill>
                  <a:srgbClr val="99FF66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95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445394" y="4194473"/>
            <a:ext cx="33401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8771" sz="1425" spc="-7">
                <a:solidFill>
                  <a:srgbClr val="99FF66"/>
                </a:solidFill>
                <a:latin typeface="Arial"/>
                <a:cs typeface="Arial"/>
              </a:rPr>
              <a:t>2</a:t>
            </a:r>
            <a:r>
              <a:rPr dirty="0" baseline="8771" sz="1425" spc="195">
                <a:solidFill>
                  <a:srgbClr val="99FF66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21</a:t>
            </a:r>
            <a:endParaRPr sz="95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702426" y="4194473"/>
            <a:ext cx="32385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8771" sz="1425" spc="-7">
                <a:solidFill>
                  <a:srgbClr val="99FF66"/>
                </a:solidFill>
                <a:latin typeface="Arial"/>
                <a:cs typeface="Arial"/>
              </a:rPr>
              <a:t>3</a:t>
            </a:r>
            <a:r>
              <a:rPr dirty="0" baseline="8771" sz="1425" spc="75">
                <a:solidFill>
                  <a:srgbClr val="99FF66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95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067374" y="4578902"/>
            <a:ext cx="32321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3391" sz="1425" spc="-7">
                <a:solidFill>
                  <a:srgbClr val="99FF66"/>
                </a:solidFill>
                <a:latin typeface="Arial"/>
                <a:cs typeface="Arial"/>
              </a:rPr>
              <a:t>7</a:t>
            </a:r>
            <a:r>
              <a:rPr dirty="0" baseline="23391" sz="1425" spc="67">
                <a:solidFill>
                  <a:srgbClr val="99FF66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68</a:t>
            </a:r>
            <a:endParaRPr sz="95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873409" y="4578902"/>
            <a:ext cx="78803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06095" algn="l"/>
              </a:tabLst>
            </a:pPr>
            <a:r>
              <a:rPr dirty="0" baseline="23391" sz="1425" spc="-7">
                <a:solidFill>
                  <a:srgbClr val="99FF66"/>
                </a:solidFill>
                <a:latin typeface="Arial"/>
                <a:cs typeface="Arial"/>
              </a:rPr>
              <a:t>5</a:t>
            </a:r>
            <a:r>
              <a:rPr dirty="0" baseline="23391" sz="1425" spc="-37">
                <a:solidFill>
                  <a:srgbClr val="99FF66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31	</a:t>
            </a:r>
            <a:r>
              <a:rPr dirty="0" baseline="23391" sz="1425" spc="-7">
                <a:solidFill>
                  <a:srgbClr val="99FF66"/>
                </a:solidFill>
                <a:latin typeface="Arial"/>
                <a:cs typeface="Arial"/>
              </a:rPr>
              <a:t>6</a:t>
            </a:r>
            <a:r>
              <a:rPr dirty="0" baseline="23391" sz="1425" spc="30">
                <a:solidFill>
                  <a:srgbClr val="99FF66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19</a:t>
            </a:r>
            <a:endParaRPr sz="95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048913" y="4578902"/>
            <a:ext cx="33464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3391" sz="1425" spc="-7">
                <a:solidFill>
                  <a:srgbClr val="99FF66"/>
                </a:solidFill>
                <a:latin typeface="Arial"/>
                <a:cs typeface="Arial"/>
              </a:rPr>
              <a:t>4</a:t>
            </a:r>
            <a:r>
              <a:rPr dirty="0" baseline="23391" sz="1425" spc="202">
                <a:solidFill>
                  <a:srgbClr val="99FF66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24</a:t>
            </a:r>
            <a:endParaRPr sz="95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2832644" y="5059445"/>
            <a:ext cx="111696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01650" algn="l"/>
              </a:tabLst>
            </a:pPr>
            <a:r>
              <a:rPr dirty="0" baseline="29239" sz="1425" spc="-7">
                <a:solidFill>
                  <a:srgbClr val="99FF66"/>
                </a:solidFill>
                <a:latin typeface="Arial"/>
                <a:cs typeface="Arial"/>
              </a:rPr>
              <a:t>8</a:t>
            </a:r>
            <a:r>
              <a:rPr dirty="0" baseline="29239" sz="1425" spc="97">
                <a:solidFill>
                  <a:srgbClr val="99FF66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65	</a:t>
            </a:r>
            <a:r>
              <a:rPr dirty="0" baseline="23391" sz="1425" spc="-7">
                <a:solidFill>
                  <a:srgbClr val="99FF66"/>
                </a:solidFill>
                <a:latin typeface="Arial"/>
                <a:cs typeface="Arial"/>
              </a:rPr>
              <a:t>9</a:t>
            </a:r>
            <a:r>
              <a:rPr dirty="0" baseline="23391" sz="1425" spc="67">
                <a:solidFill>
                  <a:srgbClr val="99FF66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26</a:t>
            </a:r>
            <a:r>
              <a:rPr dirty="0" sz="950" spc="-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23391" sz="1425" spc="-7">
                <a:solidFill>
                  <a:srgbClr val="99FF66"/>
                </a:solidFill>
                <a:latin typeface="Arial"/>
                <a:cs typeface="Arial"/>
              </a:rPr>
              <a:t>10</a:t>
            </a:r>
            <a:r>
              <a:rPr dirty="0" baseline="23391" sz="1425" spc="-30">
                <a:solidFill>
                  <a:srgbClr val="99FF66"/>
                </a:solidFill>
                <a:latin typeface="Arial"/>
                <a:cs typeface="Arial"/>
              </a:rPr>
              <a:t> </a:t>
            </a:r>
            <a:r>
              <a:rPr dirty="0" sz="950" spc="-5">
                <a:solidFill>
                  <a:srgbClr val="FFFFFF"/>
                </a:solidFill>
                <a:latin typeface="Arial"/>
                <a:cs typeface="Arial"/>
              </a:rPr>
              <a:t>32</a:t>
            </a:r>
            <a:endParaRPr sz="95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838199" y="6382105"/>
            <a:ext cx="6466840" cy="26015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8572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4.1: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min-heap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height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h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Times New Roman"/>
              <a:cs typeface="Times New Roman"/>
            </a:endParaRPr>
          </a:p>
          <a:p>
            <a:pPr marL="3705225">
              <a:lnSpc>
                <a:spcPct val="100000"/>
              </a:lnSpc>
            </a:pPr>
            <a:r>
              <a:rPr dirty="0" baseline="-16203" sz="1800" spc="-44">
                <a:latin typeface="Lucida Sans Unicode"/>
                <a:cs typeface="Lucida Sans Unicode"/>
              </a:rPr>
              <a:t>X</a:t>
            </a:r>
            <a:r>
              <a:rPr dirty="0" sz="800" spc="-30">
                <a:latin typeface="Verdana"/>
                <a:cs typeface="Verdana"/>
              </a:rPr>
              <a:t>h</a:t>
            </a:r>
            <a:endParaRPr sz="800">
              <a:latin typeface="Verdana"/>
              <a:cs typeface="Verdana"/>
            </a:endParaRPr>
          </a:p>
          <a:p>
            <a:pPr algn="ctr" marL="86360">
              <a:lnSpc>
                <a:spcPct val="100000"/>
              </a:lnSpc>
              <a:spcBef>
                <a:spcPts val="55"/>
              </a:spcBef>
              <a:tabLst>
                <a:tab pos="2296795" algn="l"/>
              </a:tabLst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baseline="34722" sz="1200" spc="-15">
                <a:latin typeface="Verdana"/>
                <a:cs typeface="Verdana"/>
              </a:rPr>
              <a:t>0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baseline="34722" sz="1200" spc="-15">
                <a:latin typeface="Verdana"/>
                <a:cs typeface="Verdana"/>
              </a:rPr>
              <a:t>1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baseline="34722" sz="1200" spc="-15">
                <a:latin typeface="Verdana"/>
                <a:cs typeface="Verdana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baseline="34722" sz="1200" spc="150">
                <a:latin typeface="Verdana"/>
                <a:cs typeface="Verdana"/>
              </a:rPr>
              <a:t>h</a:t>
            </a:r>
            <a:r>
              <a:rPr dirty="0" baseline="34722" sz="1200" spc="37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baseline="34722" sz="1200" spc="225">
                <a:latin typeface="Verdana"/>
                <a:cs typeface="Verdana"/>
              </a:rPr>
              <a:t>i</a:t>
            </a:r>
            <a:r>
              <a:rPr dirty="0" baseline="34722" sz="1200" spc="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baseline="34722" sz="1200" spc="37">
                <a:latin typeface="Verdana"/>
                <a:cs typeface="Verdana"/>
              </a:rPr>
              <a:t>h</a:t>
            </a:r>
            <a:r>
              <a:rPr dirty="0" baseline="34722" sz="1200" spc="-52">
                <a:latin typeface="Verdana"/>
                <a:cs typeface="Verdana"/>
              </a:rPr>
              <a:t>+</a:t>
            </a:r>
            <a:r>
              <a:rPr dirty="0" baseline="34722" sz="1200" spc="-15">
                <a:latin typeface="Verdana"/>
                <a:cs typeface="Verdana"/>
              </a:rPr>
              <a:t>1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3728720">
              <a:lnSpc>
                <a:spcPct val="100000"/>
              </a:lnSpc>
              <a:spcBef>
                <a:spcPts val="370"/>
              </a:spcBef>
            </a:pPr>
            <a:r>
              <a:rPr dirty="0" sz="800" spc="15">
                <a:latin typeface="Verdana"/>
                <a:cs typeface="Verdana"/>
              </a:rPr>
              <a:t>i=0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50">
              <a:latin typeface="Verdana"/>
              <a:cs typeface="Verdana"/>
            </a:endParaRPr>
          </a:p>
          <a:p>
            <a:pPr marL="75565">
              <a:lnSpc>
                <a:spcPct val="100000"/>
              </a:lnSpc>
            </a:pPr>
            <a:r>
              <a:rPr dirty="0" sz="1200" spc="-5">
                <a:latin typeface="Lucida Sans Unicode"/>
                <a:cs typeface="Lucida Sans Unicode"/>
              </a:rPr>
              <a:t>h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rm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  <a:p>
            <a:pPr algn="ctr" marL="86360">
              <a:lnSpc>
                <a:spcPct val="100000"/>
              </a:lnSpc>
              <a:spcBef>
                <a:spcPts val="434"/>
              </a:spcBef>
            </a:pPr>
            <a:r>
              <a:rPr dirty="0" sz="1200" spc="-5">
                <a:latin typeface="Lucida Sans Unicode"/>
                <a:cs typeface="Lucida Sans Unicode"/>
              </a:rPr>
              <a:t>h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Segoe UI Symbol"/>
                <a:cs typeface="Segoe UI Symbol"/>
              </a:rPr>
              <a:t>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Θ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76200" marR="17780">
              <a:lnSpc>
                <a:spcPct val="100000"/>
              </a:lnSpc>
              <a:spcBef>
                <a:spcPts val="1670"/>
              </a:spcBef>
            </a:pP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clever</a:t>
            </a:r>
            <a:r>
              <a:rPr dirty="0" sz="1200" spc="-5">
                <a:latin typeface="Times New Roman"/>
                <a:cs typeface="Times New Roman"/>
              </a:rPr>
              <a:t> aspects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heaps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stored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pointers.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left-complete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nature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level-order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traversal.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48666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4.2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8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O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9" y="926454"/>
            <a:ext cx="28860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involves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arithmetic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operations: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27611" y="2028422"/>
            <a:ext cx="3174365" cy="6896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5890" marR="5080" indent="105410">
              <a:lnSpc>
                <a:spcPct val="121100"/>
              </a:lnSpc>
              <a:spcBef>
                <a:spcPts val="100"/>
              </a:spcBef>
            </a:pPr>
            <a:r>
              <a:rPr dirty="0" sz="1200" spc="60">
                <a:latin typeface="Lucida Sans Unicode"/>
                <a:cs typeface="Lucida Sans Unicode"/>
              </a:rPr>
              <a:t>left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i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-5">
                <a:latin typeface="Garamond"/>
                <a:cs typeface="Garamond"/>
              </a:rPr>
              <a:t>: </a:t>
            </a:r>
            <a:r>
              <a:rPr dirty="0" sz="1200" spc="-10">
                <a:latin typeface="Times New Roman"/>
                <a:cs typeface="Times New Roman"/>
              </a:rPr>
              <a:t>returns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2i</a:t>
            </a:r>
            <a:r>
              <a:rPr dirty="0" sz="1200" spc="-30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index</a:t>
            </a:r>
            <a:r>
              <a:rPr dirty="0" sz="1200" spc="-5">
                <a:latin typeface="Times New Roman"/>
                <a:cs typeface="Times New Roman"/>
              </a:rPr>
              <a:t> of left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child of </a:t>
            </a:r>
            <a:r>
              <a:rPr dirty="0" sz="1200" spc="-10">
                <a:latin typeface="Times New Roman"/>
                <a:cs typeface="Times New Roman"/>
              </a:rPr>
              <a:t>node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>
                <a:latin typeface="Times New Roman"/>
                <a:cs typeface="Times New Roman"/>
              </a:rPr>
              <a:t>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right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i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">
                <a:latin typeface="Garamond"/>
                <a:cs typeface="Garamond"/>
              </a:rPr>
              <a:t>: </a:t>
            </a:r>
            <a:r>
              <a:rPr dirty="0" sz="1200" spc="-10">
                <a:latin typeface="Times New Roman"/>
                <a:cs typeface="Times New Roman"/>
              </a:rPr>
              <a:t>returns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2i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child.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1200" spc="40">
                <a:latin typeface="Lucida Sans Unicode"/>
                <a:cs typeface="Lucida Sans Unicode"/>
              </a:rPr>
              <a:t>parent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i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-5">
                <a:latin typeface="Garamond"/>
                <a:cs typeface="Garamond"/>
              </a:rPr>
              <a:t>: </a:t>
            </a:r>
            <a:r>
              <a:rPr dirty="0" sz="1200" spc="-10">
                <a:latin typeface="Times New Roman"/>
                <a:cs typeface="Times New Roman"/>
              </a:rPr>
              <a:t>returns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Segoe UI Symbol"/>
                <a:cs typeface="Segoe UI Symbol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i/2</a:t>
            </a:r>
            <a:r>
              <a:rPr dirty="0" sz="1200" spc="15">
                <a:latin typeface="Segoe UI Symbol"/>
                <a:cs typeface="Segoe UI Symbol"/>
              </a:rPr>
              <a:t>♩</a:t>
            </a:r>
            <a:r>
              <a:rPr dirty="0" sz="1200" spc="1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parent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01691" y="3873107"/>
            <a:ext cx="2237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root</a:t>
            </a:r>
            <a:r>
              <a:rPr dirty="0" sz="1200" spc="-5">
                <a:latin typeface="Times New Roman"/>
                <a:cs typeface="Times New Roman"/>
              </a:rPr>
              <a:t> is at </a:t>
            </a:r>
            <a:r>
              <a:rPr dirty="0" sz="1200" spc="-10">
                <a:latin typeface="Times New Roman"/>
                <a:cs typeface="Times New Roman"/>
              </a:rPr>
              <a:t>position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array.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914400" y="7477200"/>
            <a:ext cx="5486400" cy="1534160"/>
          </a:xfrm>
          <a:custGeom>
            <a:avLst/>
            <a:gdLst/>
            <a:ahLst/>
            <a:cxnLst/>
            <a:rect l="l" t="t" r="r" b="b"/>
            <a:pathLst>
              <a:path w="5486400" h="1534159">
                <a:moveTo>
                  <a:pt x="5486400" y="0"/>
                </a:moveTo>
                <a:lnTo>
                  <a:pt x="0" y="0"/>
                </a:lnTo>
                <a:lnTo>
                  <a:pt x="0" y="4724"/>
                </a:lnTo>
                <a:lnTo>
                  <a:pt x="0" y="5130"/>
                </a:lnTo>
                <a:lnTo>
                  <a:pt x="0" y="1533702"/>
                </a:lnTo>
                <a:lnTo>
                  <a:pt x="5130" y="1533702"/>
                </a:lnTo>
                <a:lnTo>
                  <a:pt x="513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901690" y="5808471"/>
            <a:ext cx="6431915" cy="296926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lvl="2" marL="558800" indent="-546735">
              <a:lnSpc>
                <a:spcPct val="100000"/>
              </a:lnSpc>
              <a:spcBef>
                <a:spcPts val="135"/>
              </a:spcBef>
              <a:buAutoNum type="arabicPeriod" startAt="2"/>
              <a:tabLst>
                <a:tab pos="558800" algn="l"/>
                <a:tab pos="559435" algn="l"/>
              </a:tabLst>
            </a:pPr>
            <a:r>
              <a:rPr dirty="0" sz="1400" spc="15" b="1">
                <a:latin typeface="Times New Roman"/>
                <a:cs typeface="Times New Roman"/>
              </a:rPr>
              <a:t>Heapsort</a:t>
            </a:r>
            <a:r>
              <a:rPr dirty="0" sz="1400" spc="-40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  <a:p>
            <a:pPr lvl="2">
              <a:lnSpc>
                <a:spcPct val="100000"/>
              </a:lnSpc>
              <a:buFont typeface="Times New Roman"/>
              <a:buAutoNum type="arabicPeriod" startAt="2"/>
            </a:pPr>
            <a:endParaRPr sz="1600">
              <a:latin typeface="Times New Roman"/>
              <a:cs typeface="Times New Roman"/>
            </a:endParaRPr>
          </a:p>
          <a:p>
            <a:pPr lvl="2">
              <a:lnSpc>
                <a:spcPct val="100000"/>
              </a:lnSpc>
              <a:spcBef>
                <a:spcPts val="5"/>
              </a:spcBef>
              <a:buFont typeface="Times New Roman"/>
              <a:buAutoNum type="arabicPeriod" startAt="2"/>
            </a:pPr>
            <a:endParaRPr sz="15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build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A</a:t>
            </a:r>
            <a:r>
              <a:rPr dirty="0" sz="1200" spc="-15">
                <a:latin typeface="Garamond"/>
                <a:cs typeface="Garamond"/>
              </a:rPr>
              <a:t>[</a:t>
            </a:r>
            <a:r>
              <a:rPr dirty="0" sz="1200" spc="-15">
                <a:latin typeface="Lucida Sans Unicode"/>
                <a:cs typeface="Lucida Sans Unicode"/>
              </a:rPr>
              <a:t>1..n</a:t>
            </a:r>
            <a:r>
              <a:rPr dirty="0" sz="1200" spc="-15">
                <a:latin typeface="Garamond"/>
                <a:cs typeface="Garamond"/>
              </a:rPr>
              <a:t>]</a:t>
            </a:r>
            <a:r>
              <a:rPr dirty="0" sz="1200" spc="-1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repeatedly </a:t>
            </a:r>
            <a:r>
              <a:rPr dirty="0" sz="1200" spc="-10">
                <a:latin typeface="Times New Roman"/>
                <a:cs typeface="Times New Roman"/>
              </a:rPr>
              <a:t>extract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 </a:t>
            </a:r>
            <a:r>
              <a:rPr dirty="0" sz="1200" spc="-5">
                <a:latin typeface="Times New Roman"/>
                <a:cs typeface="Times New Roman"/>
              </a:rPr>
              <a:t> item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removed,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hole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root.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fix this,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 replace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last leaf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 </a:t>
            </a: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 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destroyed.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heapify </a:t>
            </a:r>
            <a:r>
              <a:rPr dirty="0" sz="1200" spc="-10">
                <a:latin typeface="Times New Roman"/>
                <a:cs typeface="Times New Roman"/>
              </a:rPr>
              <a:t>procedure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root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restore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4.2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 spc="-5">
                <a:latin typeface="Times New Roman"/>
                <a:cs typeface="Times New Roman"/>
              </a:rPr>
              <a:t>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 being sorted.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750">
              <a:latin typeface="Times New Roman"/>
              <a:cs typeface="Times New Roman"/>
            </a:endParaRPr>
          </a:p>
          <a:p>
            <a:pPr marL="59055">
              <a:lnSpc>
                <a:spcPct val="100000"/>
              </a:lnSpc>
            </a:pPr>
            <a:r>
              <a:rPr dirty="0" sz="950" spc="55">
                <a:latin typeface="Times New Roman"/>
                <a:cs typeface="Times New Roman"/>
              </a:rPr>
              <a:t>HEAPSORT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-2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A,</a:t>
            </a:r>
            <a:r>
              <a:rPr dirty="0" sz="1200" spc="9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lvl="3" marL="325120" indent="-232410">
              <a:lnSpc>
                <a:spcPct val="100000"/>
              </a:lnSpc>
              <a:spcBef>
                <a:spcPts val="5"/>
              </a:spcBef>
              <a:buSzPct val="126315"/>
              <a:buAutoNum type="arabicPlain"/>
              <a:tabLst>
                <a:tab pos="325120" algn="l"/>
                <a:tab pos="325755" algn="l"/>
              </a:tabLst>
            </a:pPr>
            <a:r>
              <a:rPr dirty="0" sz="950" spc="45">
                <a:latin typeface="Times New Roman"/>
                <a:cs typeface="Times New Roman"/>
              </a:rPr>
              <a:t>B</a:t>
            </a:r>
            <a:r>
              <a:rPr dirty="0" sz="950" spc="55">
                <a:latin typeface="Times New Roman"/>
                <a:cs typeface="Times New Roman"/>
              </a:rPr>
              <a:t>UILD</a:t>
            </a:r>
            <a:r>
              <a:rPr dirty="0" sz="1200" spc="50">
                <a:latin typeface="Times New Roman"/>
                <a:cs typeface="Times New Roman"/>
              </a:rPr>
              <a:t>-</a:t>
            </a:r>
            <a:r>
              <a:rPr dirty="0" sz="950" spc="55">
                <a:latin typeface="Times New Roman"/>
                <a:cs typeface="Times New Roman"/>
              </a:rPr>
              <a:t>HEA</a:t>
            </a:r>
            <a:r>
              <a:rPr dirty="0" sz="950" spc="25">
                <a:latin typeface="Times New Roman"/>
                <a:cs typeface="Times New Roman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lvl="3"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lvl="3" marL="321310" indent="-228600">
              <a:lnSpc>
                <a:spcPct val="100000"/>
              </a:lnSpc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m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20">
                <a:latin typeface="Segoe UI Symbol"/>
                <a:cs typeface="Segoe UI Symbol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2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lvl="3"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950" spc="55">
                <a:latin typeface="Times New Roman"/>
                <a:cs typeface="Times New Roman"/>
              </a:rPr>
              <a:t>S</a:t>
            </a:r>
            <a:r>
              <a:rPr dirty="0" sz="950" spc="-55">
                <a:latin typeface="Times New Roman"/>
                <a:cs typeface="Times New Roman"/>
              </a:rPr>
              <a:t>W</a:t>
            </a:r>
            <a:r>
              <a:rPr dirty="0" sz="950" spc="55">
                <a:latin typeface="Times New Roman"/>
                <a:cs typeface="Times New Roman"/>
              </a:rPr>
              <a:t>A</a:t>
            </a:r>
            <a:r>
              <a:rPr dirty="0" sz="950" spc="25">
                <a:latin typeface="Times New Roman"/>
                <a:cs typeface="Times New Roman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93345">
              <a:lnSpc>
                <a:spcPct val="100000"/>
              </a:lnSpc>
              <a:spcBef>
                <a:spcPts val="5"/>
              </a:spcBef>
              <a:tabLst>
                <a:tab pos="519430" algn="l"/>
              </a:tabLst>
            </a:pPr>
            <a:r>
              <a:rPr dirty="0" sz="1200" spc="-5">
                <a:latin typeface="Times New Roman"/>
                <a:cs typeface="Times New Roman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93345">
              <a:lnSpc>
                <a:spcPct val="100000"/>
              </a:lnSpc>
              <a:spcBef>
                <a:spcPts val="5"/>
              </a:spcBef>
              <a:tabLst>
                <a:tab pos="523240" algn="l"/>
              </a:tabLst>
            </a:pPr>
            <a:r>
              <a:rPr dirty="0" sz="1200" spc="-5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950" spc="55">
                <a:latin typeface="Times New Roman"/>
                <a:cs typeface="Times New Roman"/>
              </a:rPr>
              <a:t>HEAPIF</a:t>
            </a:r>
            <a:r>
              <a:rPr dirty="0" sz="950" spc="25">
                <a:latin typeface="Times New Roman"/>
                <a:cs typeface="Times New Roman"/>
              </a:rPr>
              <a:t>Y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m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914400" y="7481925"/>
            <a:ext cx="5487035" cy="1534160"/>
          </a:xfrm>
          <a:custGeom>
            <a:avLst/>
            <a:gdLst/>
            <a:ahLst/>
            <a:cxnLst/>
            <a:rect l="l" t="t" r="r" b="b"/>
            <a:pathLst>
              <a:path w="5487035" h="1534159">
                <a:moveTo>
                  <a:pt x="5486959" y="0"/>
                </a:moveTo>
                <a:lnTo>
                  <a:pt x="5481828" y="0"/>
                </a:lnTo>
                <a:lnTo>
                  <a:pt x="5481828" y="1528419"/>
                </a:lnTo>
                <a:lnTo>
                  <a:pt x="0" y="1528419"/>
                </a:lnTo>
                <a:lnTo>
                  <a:pt x="0" y="1533550"/>
                </a:lnTo>
                <a:lnTo>
                  <a:pt x="5486400" y="1533550"/>
                </a:lnTo>
                <a:lnTo>
                  <a:pt x="5486400" y="1528978"/>
                </a:lnTo>
                <a:lnTo>
                  <a:pt x="5486959" y="1528978"/>
                </a:lnTo>
                <a:lnTo>
                  <a:pt x="5486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25157" y="520987"/>
            <a:ext cx="16033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76172" y="938466"/>
            <a:ext cx="1410233" cy="121900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607425" y="1945995"/>
            <a:ext cx="1107440" cy="1352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87 </a:t>
            </a:r>
            <a:r>
              <a:rPr dirty="0" sz="700" spc="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57 </a:t>
            </a:r>
            <a:r>
              <a:rPr dirty="0" sz="700" spc="9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44 </a:t>
            </a:r>
            <a:r>
              <a:rPr dirty="0" sz="700" spc="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12 </a:t>
            </a:r>
            <a:r>
              <a:rPr dirty="0" sz="700" spc="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15 </a:t>
            </a:r>
            <a:r>
              <a:rPr dirty="0" sz="700" spc="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19 </a:t>
            </a:r>
            <a:r>
              <a:rPr dirty="0" sz="700" spc="9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23</a:t>
            </a:r>
            <a:endParaRPr sz="7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65039" y="1775239"/>
            <a:ext cx="243840" cy="1352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sz="700" spc="-5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519605" y="1546656"/>
            <a:ext cx="127000" cy="1352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00" spc="-39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700" spc="5">
                <a:latin typeface="Arial"/>
                <a:cs typeface="Arial"/>
              </a:rPr>
              <a:t>2</a:t>
            </a:r>
            <a:r>
              <a:rPr dirty="0" sz="700" spc="-39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700" spc="5"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76170" y="1259700"/>
            <a:ext cx="127000" cy="1352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00" spc="-39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700" spc="5">
                <a:latin typeface="Arial"/>
                <a:cs typeface="Arial"/>
              </a:rPr>
              <a:t>2</a:t>
            </a:r>
            <a:r>
              <a:rPr dirty="0" sz="700" spc="-395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dirty="0" sz="700" spc="5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323730" y="1264056"/>
            <a:ext cx="127000" cy="1352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00" spc="-39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700" spc="5">
                <a:latin typeface="Arial"/>
                <a:cs typeface="Arial"/>
              </a:rPr>
              <a:t>1</a:t>
            </a:r>
            <a:r>
              <a:rPr dirty="0" sz="700" spc="-39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700" spc="5">
                <a:latin typeface="Arial"/>
                <a:cs typeface="Arial"/>
              </a:rPr>
              <a:t>6</a:t>
            </a:r>
            <a:endParaRPr sz="7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792911" y="1546656"/>
            <a:ext cx="896619" cy="368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14"/>
              </a:spcBef>
              <a:tabLst>
                <a:tab pos="387985" algn="l"/>
                <a:tab pos="701040" algn="l"/>
              </a:tabLst>
            </a:pPr>
            <a:r>
              <a:rPr dirty="0" sz="700" spc="-19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700" spc="-195">
                <a:latin typeface="Arial"/>
                <a:cs typeface="Arial"/>
              </a:rPr>
              <a:t>3</a:t>
            </a:r>
            <a:r>
              <a:rPr dirty="0" sz="700" spc="-19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700" spc="-195">
                <a:latin typeface="Arial"/>
                <a:cs typeface="Arial"/>
              </a:rPr>
              <a:t>1	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19	</a:t>
            </a:r>
            <a:r>
              <a:rPr dirty="0" sz="700" spc="-19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700" spc="-195">
                <a:latin typeface="Arial"/>
                <a:cs typeface="Arial"/>
              </a:rPr>
              <a:t>6</a:t>
            </a:r>
            <a:r>
              <a:rPr dirty="0" sz="700" spc="-195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dirty="0" sz="700" spc="-195">
                <a:latin typeface="Arial"/>
                <a:cs typeface="Arial"/>
              </a:rPr>
              <a:t>8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sz="700" spc="-5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3968" sz="1050" spc="7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dirty="0" baseline="3968" sz="1050">
                <a:solidFill>
                  <a:srgbClr val="FFFFFF"/>
                </a:solidFill>
                <a:latin typeface="Arial"/>
                <a:cs typeface="Arial"/>
              </a:rPr>
              <a:t>   </a:t>
            </a:r>
            <a:r>
              <a:rPr dirty="0" baseline="3968" sz="1050" spc="127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700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sz="700" spc="-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700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sz="7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dirty="0" sz="700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sz="700" spc="-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999131" y="1006563"/>
            <a:ext cx="127000" cy="1352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00" spc="-395">
                <a:latin typeface="Arial"/>
                <a:cs typeface="Arial"/>
              </a:rPr>
              <a:t>1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dirty="0" sz="700" spc="-395">
                <a:latin typeface="Arial"/>
                <a:cs typeface="Arial"/>
              </a:rPr>
              <a:t>3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925837" y="1955611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255264" y="938466"/>
            <a:ext cx="1410233" cy="1219009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3486631" y="1945995"/>
            <a:ext cx="1107440" cy="1352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87 </a:t>
            </a:r>
            <a:r>
              <a:rPr dirty="0" sz="700" spc="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57 </a:t>
            </a:r>
            <a:r>
              <a:rPr dirty="0" sz="700" spc="9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44 </a:t>
            </a:r>
            <a:r>
              <a:rPr dirty="0" sz="700" spc="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12 </a:t>
            </a:r>
            <a:r>
              <a:rPr dirty="0" sz="700" spc="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15 </a:t>
            </a:r>
            <a:r>
              <a:rPr dirty="0" sz="700" spc="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19 </a:t>
            </a:r>
            <a:r>
              <a:rPr dirty="0" sz="700" spc="9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23</a:t>
            </a:r>
            <a:endParaRPr sz="7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344245" y="1775239"/>
            <a:ext cx="243840" cy="1352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sz="700" spc="-5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398797" y="1546656"/>
            <a:ext cx="127000" cy="1352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00" spc="-395">
                <a:latin typeface="Arial"/>
                <a:cs typeface="Arial"/>
              </a:rPr>
              <a:t>2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700" spc="-395">
                <a:latin typeface="Arial"/>
                <a:cs typeface="Arial"/>
              </a:rPr>
              <a:t>4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555376" y="1259700"/>
            <a:ext cx="127000" cy="1352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00" spc="-39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700" spc="5">
                <a:latin typeface="Arial"/>
                <a:cs typeface="Arial"/>
              </a:rPr>
              <a:t>2</a:t>
            </a:r>
            <a:r>
              <a:rPr dirty="0" sz="700" spc="-395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dirty="0" sz="700" spc="5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202936" y="1264056"/>
            <a:ext cx="127000" cy="1352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00" spc="-395">
                <a:latin typeface="Arial"/>
                <a:cs typeface="Arial"/>
              </a:rPr>
              <a:t>1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700" spc="-395">
                <a:latin typeface="Arial"/>
                <a:cs typeface="Arial"/>
              </a:rPr>
              <a:t>6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672116" y="1546656"/>
            <a:ext cx="896619" cy="368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14"/>
              </a:spcBef>
              <a:tabLst>
                <a:tab pos="387985" algn="l"/>
                <a:tab pos="701040" algn="l"/>
              </a:tabLst>
            </a:pPr>
            <a:r>
              <a:rPr dirty="0" sz="700" spc="-19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700" spc="-195">
                <a:latin typeface="Arial"/>
                <a:cs typeface="Arial"/>
              </a:rPr>
              <a:t>3</a:t>
            </a:r>
            <a:r>
              <a:rPr dirty="0" sz="700" spc="-19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700" spc="-195">
                <a:latin typeface="Arial"/>
                <a:cs typeface="Arial"/>
              </a:rPr>
              <a:t>1	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19	</a:t>
            </a:r>
            <a:r>
              <a:rPr dirty="0" sz="700" spc="-195">
                <a:latin typeface="Arial"/>
                <a:cs typeface="Arial"/>
              </a:rPr>
              <a:t>6</a:t>
            </a:r>
            <a:r>
              <a:rPr dirty="0" sz="700" spc="-19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700" spc="-195">
                <a:latin typeface="Arial"/>
                <a:cs typeface="Arial"/>
              </a:rPr>
              <a:t>8</a:t>
            </a:r>
            <a:r>
              <a:rPr dirty="0" sz="700" spc="-195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sz="700" spc="-5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3968" sz="1050" spc="7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dirty="0" baseline="3968" sz="1050">
                <a:solidFill>
                  <a:srgbClr val="FFFFFF"/>
                </a:solidFill>
                <a:latin typeface="Arial"/>
                <a:cs typeface="Arial"/>
              </a:rPr>
              <a:t>   </a:t>
            </a:r>
            <a:r>
              <a:rPr dirty="0" baseline="3968" sz="1050" spc="127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700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sz="700" spc="-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700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sz="7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dirty="0" sz="700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sz="700" spc="-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878337" y="1006563"/>
            <a:ext cx="127000" cy="1352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00" spc="-395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dirty="0" sz="700" spc="5">
                <a:latin typeface="Arial"/>
                <a:cs typeface="Arial"/>
              </a:rPr>
              <a:t>1</a:t>
            </a:r>
            <a:r>
              <a:rPr dirty="0" sz="700" spc="-395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dirty="0" sz="700" spc="5"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818530" y="1955611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pic>
        <p:nvPicPr>
          <p:cNvPr id="22" name="object 2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138927" y="938466"/>
            <a:ext cx="1329651" cy="1219009"/>
          </a:xfrm>
          <a:prstGeom prst="rect">
            <a:avLst/>
          </a:prstGeom>
        </p:spPr>
      </p:pic>
      <p:sp>
        <p:nvSpPr>
          <p:cNvPr id="23" name="object 23"/>
          <p:cNvSpPr txBox="1"/>
          <p:nvPr/>
        </p:nvSpPr>
        <p:spPr>
          <a:xfrm>
            <a:off x="5221182" y="1691271"/>
            <a:ext cx="7112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0</a:t>
            </a:r>
            <a:endParaRPr sz="6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270751" y="1485629"/>
            <a:ext cx="116839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-5">
                <a:latin typeface="Arial"/>
                <a:cs typeface="Arial"/>
              </a:rPr>
              <a:t>2</a:t>
            </a: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-5">
                <a:latin typeface="Arial"/>
                <a:cs typeface="Arial"/>
              </a:rPr>
              <a:t>4</a:t>
            </a:r>
            <a:endParaRPr sz="65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411607" y="1227476"/>
            <a:ext cx="116839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650" spc="-5">
                <a:latin typeface="Arial"/>
                <a:cs typeface="Arial"/>
              </a:rPr>
              <a:t>2</a:t>
            </a: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dirty="0" sz="650" spc="-5">
                <a:latin typeface="Arial"/>
                <a:cs typeface="Arial"/>
              </a:rPr>
              <a:t>1</a:t>
            </a:r>
            <a:endParaRPr sz="6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994181" y="1231400"/>
            <a:ext cx="116839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65">
                <a:latin typeface="Arial"/>
                <a:cs typeface="Arial"/>
              </a:rPr>
              <a:t>1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650" spc="-365">
                <a:latin typeface="Arial"/>
                <a:cs typeface="Arial"/>
              </a:rPr>
              <a:t>6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65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706577" y="1002686"/>
            <a:ext cx="116839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65">
                <a:latin typeface="Arial"/>
                <a:cs typeface="Arial"/>
              </a:rPr>
              <a:t>6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-365">
                <a:latin typeface="Arial"/>
                <a:cs typeface="Arial"/>
              </a:rPr>
              <a:t>8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372347" y="1485629"/>
            <a:ext cx="952500" cy="334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9865">
              <a:lnSpc>
                <a:spcPct val="100000"/>
              </a:lnSpc>
              <a:spcBef>
                <a:spcPts val="95"/>
              </a:spcBef>
              <a:tabLst>
                <a:tab pos="494030" algn="l"/>
                <a:tab pos="772160" algn="l"/>
              </a:tabLst>
            </a:pPr>
            <a:r>
              <a:rPr dirty="0" sz="650" spc="-18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-185">
                <a:latin typeface="Arial"/>
                <a:cs typeface="Arial"/>
              </a:rPr>
              <a:t>3</a:t>
            </a:r>
            <a:r>
              <a:rPr dirty="0" sz="650" spc="-18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650" spc="-185">
                <a:latin typeface="Arial"/>
                <a:cs typeface="Arial"/>
              </a:rPr>
              <a:t>1	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19	</a:t>
            </a:r>
            <a:r>
              <a:rPr dirty="0" sz="650" spc="-185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dirty="0" sz="650" spc="-185">
                <a:latin typeface="Arial"/>
                <a:cs typeface="Arial"/>
              </a:rPr>
              <a:t>1</a:t>
            </a:r>
            <a:r>
              <a:rPr dirty="0" sz="650" spc="-185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dirty="0" sz="650" spc="-185">
                <a:latin typeface="Arial"/>
                <a:cs typeface="Arial"/>
              </a:rPr>
              <a:t>3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7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baseline="4273" sz="975" spc="307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307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229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dirty="0" baseline="4273" sz="975" spc="29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29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650" spc="20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650" spc="20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dirty="0" sz="650" spc="20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0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6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351734" y="1845381"/>
            <a:ext cx="1063625" cy="250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23</a:t>
            </a:r>
            <a:r>
              <a:rPr dirty="0" baseline="4273" sz="975" spc="35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57</a:t>
            </a:r>
            <a:r>
              <a:rPr dirty="0" sz="650" spc="2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44</a:t>
            </a:r>
            <a:r>
              <a:rPr dirty="0" sz="650" spc="2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650" spc="2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15</a:t>
            </a:r>
            <a:r>
              <a:rPr dirty="0" sz="650" spc="2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19</a:t>
            </a:r>
            <a:r>
              <a:rPr dirty="0" sz="650" spc="2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87</a:t>
            </a:r>
            <a:endParaRPr sz="6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55"/>
              </a:spcBef>
            </a:pPr>
            <a:r>
              <a:rPr dirty="0" sz="450">
                <a:solidFill>
                  <a:srgbClr val="FFFF00"/>
                </a:solidFill>
                <a:latin typeface="Arial"/>
                <a:cs typeface="Arial"/>
              </a:rPr>
              <a:t>sorted</a:t>
            </a:r>
            <a:endParaRPr sz="45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612582" y="1955611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pic>
        <p:nvPicPr>
          <p:cNvPr id="31" name="object 3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417319" y="2358834"/>
            <a:ext cx="1329651" cy="1219009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1629099" y="3264758"/>
            <a:ext cx="1063625" cy="250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23</a:t>
            </a:r>
            <a:r>
              <a:rPr dirty="0" baseline="4273" sz="975" spc="35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57</a:t>
            </a:r>
            <a:r>
              <a:rPr dirty="0" sz="650" spc="2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44</a:t>
            </a:r>
            <a:r>
              <a:rPr dirty="0" sz="650" spc="2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650" spc="2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15</a:t>
            </a:r>
            <a:r>
              <a:rPr dirty="0" sz="650" spc="2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19</a:t>
            </a:r>
            <a:r>
              <a:rPr dirty="0" sz="650" spc="2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87</a:t>
            </a:r>
            <a:endParaRPr sz="6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55"/>
              </a:spcBef>
            </a:pPr>
            <a:r>
              <a:rPr dirty="0" sz="450">
                <a:solidFill>
                  <a:srgbClr val="FFFF00"/>
                </a:solidFill>
                <a:latin typeface="Arial"/>
                <a:cs typeface="Arial"/>
              </a:rPr>
              <a:t>sorted</a:t>
            </a:r>
            <a:endParaRPr sz="45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925837" y="3374988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pic>
        <p:nvPicPr>
          <p:cNvPr id="34" name="object 3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291839" y="2358834"/>
            <a:ext cx="1338567" cy="1219009"/>
          </a:xfrm>
          <a:prstGeom prst="rect">
            <a:avLst/>
          </a:prstGeom>
        </p:spPr>
      </p:pic>
      <p:sp>
        <p:nvSpPr>
          <p:cNvPr id="35" name="object 35"/>
          <p:cNvSpPr txBox="1"/>
          <p:nvPr/>
        </p:nvSpPr>
        <p:spPr>
          <a:xfrm>
            <a:off x="3505090" y="3264846"/>
            <a:ext cx="1071245" cy="2508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57</a:t>
            </a:r>
            <a:r>
              <a:rPr dirty="0" sz="650" spc="3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23</a:t>
            </a:r>
            <a:r>
              <a:rPr dirty="0" sz="650" spc="1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44</a:t>
            </a:r>
            <a:r>
              <a:rPr dirty="0" sz="650" spc="2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650" spc="25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15</a:t>
            </a:r>
            <a:r>
              <a:rPr dirty="0" sz="650" spc="2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19</a:t>
            </a:r>
            <a:r>
              <a:rPr dirty="0" sz="650" spc="30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87</a:t>
            </a:r>
            <a:endParaRPr sz="6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50"/>
              </a:spcBef>
            </a:pPr>
            <a:r>
              <a:rPr dirty="0" sz="450">
                <a:solidFill>
                  <a:srgbClr val="FFFF00"/>
                </a:solidFill>
                <a:latin typeface="Arial"/>
                <a:cs typeface="Arial"/>
              </a:rPr>
              <a:t>sorted</a:t>
            </a:r>
            <a:endParaRPr sz="450">
              <a:latin typeface="Arial"/>
              <a:cs typeface="Arial"/>
            </a:endParaRPr>
          </a:p>
        </p:txBody>
      </p:sp>
      <p:graphicFrame>
        <p:nvGraphicFramePr>
          <p:cNvPr id="36" name="object 36"/>
          <p:cNvGraphicFramePr>
            <a:graphicFrameLocks noGrp="1"/>
          </p:cNvGraphicFramePr>
          <p:nvPr/>
        </p:nvGraphicFramePr>
        <p:xfrm>
          <a:off x="1489656" y="2452842"/>
          <a:ext cx="4848225" cy="7759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05155"/>
                <a:gridCol w="147954"/>
                <a:gridCol w="745490"/>
                <a:gridCol w="446405"/>
                <a:gridCol w="99060"/>
                <a:gridCol w="139064"/>
                <a:gridCol w="150494"/>
                <a:gridCol w="60960"/>
                <a:gridCol w="95885"/>
                <a:gridCol w="144144"/>
                <a:gridCol w="728344"/>
                <a:gridCol w="426720"/>
                <a:gridCol w="99060"/>
                <a:gridCol w="139064"/>
                <a:gridCol w="150495"/>
                <a:gridCol w="60960"/>
                <a:gridCol w="95885"/>
                <a:gridCol w="144145"/>
                <a:gridCol w="252729"/>
                <a:gridCol w="118745"/>
              </a:tblGrid>
              <a:tr h="148600">
                <a:tc>
                  <a:txBody>
                    <a:bodyPr/>
                    <a:lstStyle/>
                    <a:p>
                      <a:pPr marL="126364">
                        <a:lnSpc>
                          <a:spcPts val="635"/>
                        </a:lnSpc>
                      </a:pPr>
                      <a:r>
                        <a:rPr dirty="0" baseline="6172" sz="675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heap</a:t>
                      </a:r>
                      <a:r>
                        <a:rPr dirty="0" baseline="6172" sz="675" spc="-15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6172" sz="675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violated</a:t>
                      </a:r>
                      <a:r>
                        <a:rPr dirty="0" baseline="6172" sz="675" spc="217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185">
                          <a:latin typeface="Arial"/>
                          <a:cs typeface="Arial"/>
                        </a:rPr>
                        <a:t>6</a:t>
                      </a:r>
                      <a:r>
                        <a:rPr dirty="0" sz="650" spc="-18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 spc="-185">
                          <a:latin typeface="Arial"/>
                          <a:cs typeface="Arial"/>
                        </a:rPr>
                        <a:t>8</a:t>
                      </a:r>
                      <a:r>
                        <a:rPr dirty="0" sz="650" spc="-18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70">
                        <a:lnSpc>
                          <a:spcPts val="655"/>
                        </a:lnSpc>
                      </a:pPr>
                      <a:r>
                        <a:rPr dirty="0" sz="650" spc="-36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 spc="-36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70">
                        <a:lnSpc>
                          <a:spcPts val="655"/>
                        </a:lnSpc>
                      </a:pPr>
                      <a:r>
                        <a:rPr dirty="0" sz="650" spc="-36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 spc="-36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46263">
                <a:tc>
                  <a:txBody>
                    <a:bodyPr/>
                    <a:lstStyle/>
                    <a:p>
                      <a:pPr algn="ctr" marR="81915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650" spc="-185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 spc="-18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650" spc="-185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 spc="-18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5715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dirty="0" sz="650" spc="-185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 spc="-18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650" spc="-185">
                          <a:latin typeface="Arial"/>
                          <a:cs typeface="Arial"/>
                        </a:rPr>
                        <a:t>6</a:t>
                      </a:r>
                      <a:r>
                        <a:rPr dirty="0" sz="650" spc="-18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6096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650" spc="-36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6</a:t>
                      </a:r>
                      <a:r>
                        <a:rPr dirty="0" sz="650" spc="-36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572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910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dirty="0" sz="650" spc="-18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650" spc="-185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 spc="-18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650" spc="-185">
                          <a:latin typeface="Arial"/>
                          <a:cs typeface="Arial"/>
                        </a:rPr>
                        <a:t>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5588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650" spc="-36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6</a:t>
                      </a:r>
                      <a:r>
                        <a:rPr dirty="0" sz="650" spc="-36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572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68580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dirty="0" sz="650" spc="-18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650" spc="-185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 spc="-18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650" spc="-185">
                          <a:latin typeface="Arial"/>
                          <a:cs typeface="Arial"/>
                        </a:rPr>
                        <a:t>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5588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3043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71120">
                        <a:lnSpc>
                          <a:spcPct val="100000"/>
                        </a:lnSpc>
                        <a:tabLst>
                          <a:tab pos="349885" algn="l"/>
                        </a:tabLst>
                      </a:pPr>
                      <a:r>
                        <a:rPr dirty="0" sz="650" spc="-185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 spc="-18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 spc="-185">
                          <a:latin typeface="Arial"/>
                          <a:cs typeface="Arial"/>
                        </a:rPr>
                        <a:t>4</a:t>
                      </a:r>
                      <a:r>
                        <a:rPr dirty="0" sz="650" spc="-18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	1</a:t>
                      </a:r>
                      <a:r>
                        <a:rPr dirty="0" sz="650" spc="-185">
                          <a:latin typeface="Arial"/>
                          <a:cs typeface="Arial"/>
                        </a:rPr>
                        <a:t>3</a:t>
                      </a:r>
                      <a:r>
                        <a:rPr dirty="0" sz="650" spc="-18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650" spc="-185"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dirty="0" sz="650" spc="-36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 spc="-36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6604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dirty="0" sz="650" spc="-36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3</a:t>
                      </a:r>
                      <a:r>
                        <a:rPr dirty="0" sz="650" spc="-36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6604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6604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dirty="0" sz="650" spc="-36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 spc="-36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6604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dirty="0" sz="650" spc="-365">
                          <a:latin typeface="Arial"/>
                          <a:cs typeface="Arial"/>
                        </a:rPr>
                        <a:t>3</a:t>
                      </a: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 spc="-365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6604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6604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50132">
                <a:tc>
                  <a:txBody>
                    <a:bodyPr/>
                    <a:lstStyle/>
                    <a:p>
                      <a:pPr marL="21590">
                        <a:lnSpc>
                          <a:spcPts val="690"/>
                        </a:lnSpc>
                        <a:spcBef>
                          <a:spcPts val="390"/>
                        </a:spcBef>
                      </a:pPr>
                      <a:r>
                        <a:rPr dirty="0" baseline="4273" sz="975" spc="-7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baseline="4273" sz="975" spc="34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4273" sz="975" spc="34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4273" sz="975" spc="-7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baseline="4273" sz="975" spc="307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4273" sz="975" spc="3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 spc="229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23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4273" sz="975" spc="-7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4273" sz="975">
                        <a:latin typeface="Arial"/>
                        <a:cs typeface="Arial"/>
                      </a:endParaRPr>
                    </a:p>
                  </a:txBody>
                  <a:tcPr marL="0" marR="0" marB="0" marT="49530"/>
                </a:tc>
                <a:tc>
                  <a:txBody>
                    <a:bodyPr/>
                    <a:lstStyle/>
                    <a:p>
                      <a:pPr marL="6350">
                        <a:lnSpc>
                          <a:spcPts val="690"/>
                        </a:lnSpc>
                        <a:spcBef>
                          <a:spcPts val="390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9530"/>
                </a:tc>
                <a:tc>
                  <a:txBody>
                    <a:bodyPr/>
                    <a:lstStyle/>
                    <a:p>
                      <a:pPr marL="6350">
                        <a:lnSpc>
                          <a:spcPts val="690"/>
                        </a:lnSpc>
                        <a:spcBef>
                          <a:spcPts val="390"/>
                        </a:spcBef>
                      </a:pPr>
                      <a:r>
                        <a:rPr dirty="0" sz="6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650" spc="19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19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650" spc="19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2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9530"/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750"/>
                        </a:lnSpc>
                        <a:spcBef>
                          <a:spcPts val="330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191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80">
                        <a:lnSpc>
                          <a:spcPts val="750"/>
                        </a:lnSpc>
                        <a:spcBef>
                          <a:spcPts val="330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1910"/>
                </a:tc>
                <a:tc>
                  <a:txBody>
                    <a:bodyPr/>
                    <a:lstStyle/>
                    <a:p>
                      <a:pPr marL="10795">
                        <a:lnSpc>
                          <a:spcPts val="705"/>
                        </a:lnSpc>
                        <a:spcBef>
                          <a:spcPts val="375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7625"/>
                </a:tc>
                <a:tc>
                  <a:txBody>
                    <a:bodyPr/>
                    <a:lstStyle/>
                    <a:p>
                      <a:pPr marL="12700">
                        <a:lnSpc>
                          <a:spcPts val="750"/>
                        </a:lnSpc>
                        <a:spcBef>
                          <a:spcPts val="330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191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05">
                        <a:lnSpc>
                          <a:spcPts val="705"/>
                        </a:lnSpc>
                        <a:spcBef>
                          <a:spcPts val="375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7625"/>
                </a:tc>
                <a:tc>
                  <a:txBody>
                    <a:bodyPr/>
                    <a:lstStyle/>
                    <a:p>
                      <a:pPr marL="6985">
                        <a:lnSpc>
                          <a:spcPts val="705"/>
                        </a:lnSpc>
                        <a:spcBef>
                          <a:spcPts val="375"/>
                        </a:spcBef>
                      </a:pPr>
                      <a:r>
                        <a:rPr dirty="0" sz="6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650" spc="2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2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650" spc="2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2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7625"/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750"/>
                        </a:lnSpc>
                        <a:spcBef>
                          <a:spcPts val="330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191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80">
                        <a:lnSpc>
                          <a:spcPts val="750"/>
                        </a:lnSpc>
                        <a:spcBef>
                          <a:spcPts val="330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1910"/>
                </a:tc>
                <a:tc>
                  <a:txBody>
                    <a:bodyPr/>
                    <a:lstStyle/>
                    <a:p>
                      <a:pPr marL="10795">
                        <a:lnSpc>
                          <a:spcPts val="705"/>
                        </a:lnSpc>
                        <a:spcBef>
                          <a:spcPts val="375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7625"/>
                </a:tc>
                <a:tc>
                  <a:txBody>
                    <a:bodyPr/>
                    <a:lstStyle/>
                    <a:p>
                      <a:pPr marL="12700">
                        <a:lnSpc>
                          <a:spcPts val="750"/>
                        </a:lnSpc>
                        <a:spcBef>
                          <a:spcPts val="330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191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05">
                        <a:lnSpc>
                          <a:spcPts val="705"/>
                        </a:lnSpc>
                        <a:spcBef>
                          <a:spcPts val="375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7625"/>
                </a:tc>
                <a:tc>
                  <a:txBody>
                    <a:bodyPr/>
                    <a:lstStyle/>
                    <a:p>
                      <a:pPr algn="ctr" marR="36195">
                        <a:lnSpc>
                          <a:spcPts val="705"/>
                        </a:lnSpc>
                        <a:spcBef>
                          <a:spcPts val="375"/>
                        </a:spcBef>
                      </a:pPr>
                      <a:r>
                        <a:rPr dirty="0" sz="6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650" spc="18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18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7625"/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ts val="705"/>
                        </a:lnSpc>
                        <a:spcBef>
                          <a:spcPts val="375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7625"/>
                </a:tc>
              </a:tr>
            </a:tbl>
          </a:graphicData>
        </a:graphic>
      </p:graphicFrame>
      <p:sp>
        <p:nvSpPr>
          <p:cNvPr id="37" name="object 37"/>
          <p:cNvSpPr txBox="1"/>
          <p:nvPr/>
        </p:nvSpPr>
        <p:spPr>
          <a:xfrm>
            <a:off x="4818530" y="3374988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pic>
        <p:nvPicPr>
          <p:cNvPr id="38" name="object 3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134355" y="2358834"/>
            <a:ext cx="1338567" cy="1219009"/>
          </a:xfrm>
          <a:prstGeom prst="rect">
            <a:avLst/>
          </a:prstGeom>
        </p:spPr>
      </p:pic>
      <p:sp>
        <p:nvSpPr>
          <p:cNvPr id="39" name="object 39"/>
          <p:cNvSpPr txBox="1"/>
          <p:nvPr/>
        </p:nvSpPr>
        <p:spPr>
          <a:xfrm>
            <a:off x="5348507" y="3264846"/>
            <a:ext cx="1071245" cy="2508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57</a:t>
            </a:r>
            <a:r>
              <a:rPr dirty="0" sz="650" spc="3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23</a:t>
            </a:r>
            <a:r>
              <a:rPr dirty="0" sz="650" spc="1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44</a:t>
            </a:r>
            <a:r>
              <a:rPr dirty="0" sz="650" spc="2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650" spc="25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15</a:t>
            </a:r>
            <a:r>
              <a:rPr dirty="0" sz="650" spc="2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19</a:t>
            </a:r>
            <a:r>
              <a:rPr dirty="0" baseline="4273" sz="975" spc="49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87</a:t>
            </a:r>
            <a:endParaRPr sz="6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50"/>
              </a:spcBef>
            </a:pPr>
            <a:r>
              <a:rPr dirty="0" sz="450">
                <a:solidFill>
                  <a:srgbClr val="FFFF00"/>
                </a:solidFill>
                <a:latin typeface="Arial"/>
                <a:cs typeface="Arial"/>
              </a:rPr>
              <a:t>sorted</a:t>
            </a:r>
            <a:endParaRPr sz="45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612582" y="3374988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pic>
        <p:nvPicPr>
          <p:cNvPr id="41" name="object 41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426463" y="3777678"/>
            <a:ext cx="1311706" cy="1219009"/>
          </a:xfrm>
          <a:prstGeom prst="rect">
            <a:avLst/>
          </a:prstGeom>
        </p:spPr>
      </p:pic>
      <p:sp>
        <p:nvSpPr>
          <p:cNvPr id="42" name="object 42"/>
          <p:cNvSpPr txBox="1"/>
          <p:nvPr/>
        </p:nvSpPr>
        <p:spPr>
          <a:xfrm>
            <a:off x="2008859" y="3844317"/>
            <a:ext cx="119380" cy="12700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19</a:t>
            </a:r>
            <a:endParaRPr sz="65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304947" y="4044913"/>
            <a:ext cx="119380" cy="12700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650" spc="5">
                <a:latin typeface="Arial"/>
                <a:cs typeface="Arial"/>
              </a:rPr>
              <a:t>1</a:t>
            </a: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650" spc="5">
                <a:latin typeface="Arial"/>
                <a:cs typeface="Arial"/>
              </a:rPr>
              <a:t>6</a:t>
            </a:r>
            <a:endParaRPr sz="65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696592" y="4034296"/>
            <a:ext cx="119380" cy="12700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50" spc="-365">
                <a:latin typeface="Arial"/>
                <a:cs typeface="Arial"/>
              </a:rPr>
              <a:t>6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-365">
                <a:latin typeface="Arial"/>
                <a:cs typeface="Arial"/>
              </a:rPr>
              <a:t>8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5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634447" y="4676517"/>
            <a:ext cx="1040130" cy="25781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baseline="4273" sz="975" spc="7">
                <a:solidFill>
                  <a:srgbClr val="FFFFFF"/>
                </a:solidFill>
                <a:latin typeface="Arial"/>
                <a:cs typeface="Arial"/>
              </a:rPr>
              <a:t>19 </a:t>
            </a:r>
            <a:r>
              <a:rPr dirty="0" baseline="4273" sz="975" spc="2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23 </a:t>
            </a:r>
            <a:r>
              <a:rPr dirty="0" sz="650" spc="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44 </a:t>
            </a:r>
            <a:r>
              <a:rPr dirty="0" sz="650" spc="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12 </a:t>
            </a:r>
            <a:r>
              <a:rPr dirty="0" sz="650" spc="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15 </a:t>
            </a:r>
            <a:r>
              <a:rPr dirty="0" sz="650" spc="1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7">
                <a:solidFill>
                  <a:srgbClr val="FFFFFF"/>
                </a:solidFill>
                <a:latin typeface="Arial"/>
                <a:cs typeface="Arial"/>
              </a:rPr>
              <a:t>57 </a:t>
            </a:r>
            <a:r>
              <a:rPr dirty="0" baseline="4273" sz="975" spc="11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87</a:t>
            </a:r>
            <a:endParaRPr sz="650">
              <a:latin typeface="Arial"/>
              <a:cs typeface="Arial"/>
            </a:endParaRPr>
          </a:p>
          <a:p>
            <a:pPr algn="r" marR="93345">
              <a:lnSpc>
                <a:spcPct val="100000"/>
              </a:lnSpc>
              <a:spcBef>
                <a:spcPts val="489"/>
              </a:spcBef>
            </a:pPr>
            <a:r>
              <a:rPr dirty="0" sz="450" spc="5">
                <a:solidFill>
                  <a:srgbClr val="FFFF00"/>
                </a:solidFill>
                <a:latin typeface="Arial"/>
                <a:cs typeface="Arial"/>
              </a:rPr>
              <a:t>sorted</a:t>
            </a:r>
            <a:endParaRPr sz="45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925837" y="4794479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pic>
        <p:nvPicPr>
          <p:cNvPr id="47" name="object 4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3305555" y="3777678"/>
            <a:ext cx="1311706" cy="1219009"/>
          </a:xfrm>
          <a:prstGeom prst="rect">
            <a:avLst/>
          </a:prstGeom>
        </p:spPr>
      </p:pic>
      <p:sp>
        <p:nvSpPr>
          <p:cNvPr id="48" name="object 48"/>
          <p:cNvSpPr txBox="1"/>
          <p:nvPr/>
        </p:nvSpPr>
        <p:spPr>
          <a:xfrm>
            <a:off x="4126050" y="4040875"/>
            <a:ext cx="119380" cy="12700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19</a:t>
            </a:r>
            <a:endParaRPr sz="65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883518" y="3844317"/>
            <a:ext cx="119380" cy="12700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650" spc="5">
                <a:latin typeface="Arial"/>
                <a:cs typeface="Arial"/>
              </a:rPr>
              <a:t>1</a:t>
            </a: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650" spc="5">
                <a:latin typeface="Arial"/>
                <a:cs typeface="Arial"/>
              </a:rPr>
              <a:t>6</a:t>
            </a:r>
            <a:endParaRPr sz="65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575798" y="4034296"/>
            <a:ext cx="119380" cy="12700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5">
                <a:latin typeface="Arial"/>
                <a:cs typeface="Arial"/>
              </a:rPr>
              <a:t>6</a:t>
            </a: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dirty="0" sz="650" spc="5">
                <a:latin typeface="Arial"/>
                <a:cs typeface="Arial"/>
              </a:rPr>
              <a:t>8</a:t>
            </a:r>
            <a:endParaRPr sz="65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522737" y="4678538"/>
            <a:ext cx="1031240" cy="255904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baseline="4273" sz="975" spc="7">
                <a:solidFill>
                  <a:srgbClr val="FFFFFF"/>
                </a:solidFill>
                <a:latin typeface="Arial"/>
                <a:cs typeface="Arial"/>
              </a:rPr>
              <a:t>44 </a:t>
            </a:r>
            <a:r>
              <a:rPr dirty="0" baseline="4273" sz="975" spc="127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23 </a:t>
            </a:r>
            <a:r>
              <a:rPr dirty="0" sz="650" spc="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19 </a:t>
            </a:r>
            <a:r>
              <a:rPr dirty="0" sz="650" spc="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12 </a:t>
            </a:r>
            <a:r>
              <a:rPr dirty="0" sz="650" spc="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15 </a:t>
            </a:r>
            <a:r>
              <a:rPr dirty="0" sz="650" spc="1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7">
                <a:solidFill>
                  <a:srgbClr val="FFFFFF"/>
                </a:solidFill>
                <a:latin typeface="Arial"/>
                <a:cs typeface="Arial"/>
              </a:rPr>
              <a:t>57 </a:t>
            </a:r>
            <a:r>
              <a:rPr dirty="0" baseline="4273" sz="975" spc="11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87</a:t>
            </a:r>
            <a:endParaRPr sz="650">
              <a:latin typeface="Arial"/>
              <a:cs typeface="Arial"/>
            </a:endParaRPr>
          </a:p>
          <a:p>
            <a:pPr algn="r" marR="93345">
              <a:lnSpc>
                <a:spcPct val="100000"/>
              </a:lnSpc>
              <a:spcBef>
                <a:spcPts val="470"/>
              </a:spcBef>
            </a:pPr>
            <a:r>
              <a:rPr dirty="0" sz="450" spc="5">
                <a:solidFill>
                  <a:srgbClr val="FFFF00"/>
                </a:solidFill>
                <a:latin typeface="Arial"/>
                <a:cs typeface="Arial"/>
              </a:rPr>
              <a:t>sorted</a:t>
            </a:r>
            <a:endParaRPr sz="450">
              <a:latin typeface="Arial"/>
              <a:cs typeface="Arial"/>
            </a:endParaRPr>
          </a:p>
        </p:txBody>
      </p:sp>
      <p:graphicFrame>
        <p:nvGraphicFramePr>
          <p:cNvPr id="52" name="object 52"/>
          <p:cNvGraphicFramePr>
            <a:graphicFrameLocks noGrp="1"/>
          </p:cNvGraphicFramePr>
          <p:nvPr/>
        </p:nvGraphicFramePr>
        <p:xfrm>
          <a:off x="1500748" y="4334430"/>
          <a:ext cx="4876165" cy="304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4320"/>
                <a:gridCol w="192404"/>
                <a:gridCol w="110490"/>
                <a:gridCol w="937894"/>
                <a:gridCol w="433070"/>
                <a:gridCol w="100964"/>
                <a:gridCol w="102869"/>
                <a:gridCol w="192405"/>
                <a:gridCol w="110489"/>
                <a:gridCol w="149860"/>
                <a:gridCol w="151130"/>
                <a:gridCol w="617220"/>
                <a:gridCol w="414654"/>
                <a:gridCol w="100329"/>
                <a:gridCol w="102235"/>
                <a:gridCol w="191770"/>
                <a:gridCol w="109854"/>
                <a:gridCol w="300989"/>
                <a:gridCol w="271779"/>
              </a:tblGrid>
              <a:tr h="151312">
                <a:tc>
                  <a:txBody>
                    <a:bodyPr/>
                    <a:lstStyle/>
                    <a:p>
                      <a:pPr algn="ctr" marR="28575">
                        <a:lnSpc>
                          <a:spcPts val="675"/>
                        </a:lnSpc>
                      </a:pPr>
                      <a:r>
                        <a:rPr dirty="0" sz="650" spc="-18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 spc="-18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 spc="-18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 spc="-180">
                          <a:latin typeface="Arial"/>
                          <a:cs typeface="Arial"/>
                        </a:rPr>
                        <a:t>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ts val="675"/>
                        </a:lnSpc>
                      </a:pPr>
                      <a:r>
                        <a:rPr dirty="0" sz="650" spc="-37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3</a:t>
                      </a:r>
                      <a:r>
                        <a:rPr dirty="0" sz="650" spc="-37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650"/>
                        </a:lnSpc>
                      </a:pPr>
                      <a:r>
                        <a:rPr dirty="0" sz="650" spc="-18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650" spc="-18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 spc="-18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650" spc="-180"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70">
                        <a:lnSpc>
                          <a:spcPts val="675"/>
                        </a:lnSpc>
                      </a:pPr>
                      <a:r>
                        <a:rPr dirty="0" sz="650" spc="-37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 spc="-370">
                          <a:latin typeface="Arial"/>
                          <a:cs typeface="Arial"/>
                        </a:rPr>
                        <a:t>4</a:t>
                      </a: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ts val="675"/>
                        </a:lnSpc>
                      </a:pPr>
                      <a:r>
                        <a:rPr dirty="0" sz="650" spc="-37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3</a:t>
                      </a:r>
                      <a:r>
                        <a:rPr dirty="0" sz="650" spc="-37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70">
                        <a:lnSpc>
                          <a:spcPts val="675"/>
                        </a:lnSpc>
                      </a:pPr>
                      <a:r>
                        <a:rPr dirty="0" sz="650" spc="-37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 spc="-37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ts val="675"/>
                        </a:lnSpc>
                      </a:pPr>
                      <a:r>
                        <a:rPr dirty="0" sz="650" spc="-37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3</a:t>
                      </a:r>
                      <a:r>
                        <a:rPr dirty="0" sz="650" spc="-37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650"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3340">
                <a:tc>
                  <a:txBody>
                    <a:bodyPr/>
                    <a:lstStyle/>
                    <a:p>
                      <a:pPr algn="ctr" marR="21590">
                        <a:lnSpc>
                          <a:spcPts val="740"/>
                        </a:lnSpc>
                        <a:spcBef>
                          <a:spcPts val="365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   </a:t>
                      </a:r>
                      <a:r>
                        <a:rPr dirty="0" sz="650" spc="11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6355"/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ts val="695"/>
                        </a:lnSpc>
                        <a:spcBef>
                          <a:spcPts val="409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52069"/>
                </a:tc>
                <a:tc>
                  <a:txBody>
                    <a:bodyPr/>
                    <a:lstStyle/>
                    <a:p>
                      <a:pPr marL="12700">
                        <a:lnSpc>
                          <a:spcPts val="740"/>
                        </a:lnSpc>
                        <a:spcBef>
                          <a:spcPts val="365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6355"/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ts val="695"/>
                        </a:lnSpc>
                        <a:spcBef>
                          <a:spcPts val="409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   </a:t>
                      </a:r>
                      <a:r>
                        <a:rPr dirty="0" sz="650" spc="9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   </a:t>
                      </a:r>
                      <a:r>
                        <a:rPr dirty="0" sz="650" spc="9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   </a:t>
                      </a:r>
                      <a:r>
                        <a:rPr dirty="0" sz="650" spc="9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52069"/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740"/>
                        </a:lnSpc>
                        <a:spcBef>
                          <a:spcPts val="365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635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80">
                        <a:lnSpc>
                          <a:spcPts val="740"/>
                        </a:lnSpc>
                        <a:spcBef>
                          <a:spcPts val="365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6355"/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ts val="695"/>
                        </a:lnSpc>
                        <a:spcBef>
                          <a:spcPts val="409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52069"/>
                </a:tc>
                <a:tc>
                  <a:txBody>
                    <a:bodyPr/>
                    <a:lstStyle/>
                    <a:p>
                      <a:pPr marL="12700">
                        <a:lnSpc>
                          <a:spcPts val="740"/>
                        </a:lnSpc>
                        <a:spcBef>
                          <a:spcPts val="365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635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95"/>
                        </a:lnSpc>
                        <a:spcBef>
                          <a:spcPts val="409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52069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95"/>
                        </a:lnSpc>
                        <a:spcBef>
                          <a:spcPts val="409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52069"/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ts val="695"/>
                        </a:lnSpc>
                        <a:spcBef>
                          <a:spcPts val="409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   </a:t>
                      </a:r>
                      <a:r>
                        <a:rPr dirty="0" sz="650" spc="9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52069"/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740"/>
                        </a:lnSpc>
                        <a:spcBef>
                          <a:spcPts val="365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635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80">
                        <a:lnSpc>
                          <a:spcPts val="740"/>
                        </a:lnSpc>
                        <a:spcBef>
                          <a:spcPts val="365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6355"/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ts val="695"/>
                        </a:lnSpc>
                        <a:spcBef>
                          <a:spcPts val="409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52069"/>
                </a:tc>
                <a:tc>
                  <a:txBody>
                    <a:bodyPr/>
                    <a:lstStyle/>
                    <a:p>
                      <a:pPr marL="12700">
                        <a:lnSpc>
                          <a:spcPts val="740"/>
                        </a:lnSpc>
                        <a:spcBef>
                          <a:spcPts val="365"/>
                        </a:spcBef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6355"/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ts val="695"/>
                        </a:lnSpc>
                        <a:spcBef>
                          <a:spcPts val="409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   </a:t>
                      </a:r>
                      <a:r>
                        <a:rPr dirty="0" sz="650" spc="9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52069"/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ts val="695"/>
                        </a:lnSpc>
                        <a:spcBef>
                          <a:spcPts val="409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   </a:t>
                      </a:r>
                      <a:r>
                        <a:rPr dirty="0" sz="650" spc="9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52069"/>
                </a:tc>
              </a:tr>
            </a:tbl>
          </a:graphicData>
        </a:graphic>
      </p:graphicFrame>
      <p:sp>
        <p:nvSpPr>
          <p:cNvPr id="53" name="object 53"/>
          <p:cNvSpPr txBox="1"/>
          <p:nvPr/>
        </p:nvSpPr>
        <p:spPr>
          <a:xfrm>
            <a:off x="4818530" y="4794479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pic>
        <p:nvPicPr>
          <p:cNvPr id="54" name="object 54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148071" y="3777678"/>
            <a:ext cx="1311706" cy="1219009"/>
          </a:xfrm>
          <a:prstGeom prst="rect">
            <a:avLst/>
          </a:prstGeom>
        </p:spPr>
      </p:pic>
      <p:sp>
        <p:nvSpPr>
          <p:cNvPr id="55" name="object 55"/>
          <p:cNvSpPr txBox="1"/>
          <p:nvPr/>
        </p:nvSpPr>
        <p:spPr>
          <a:xfrm>
            <a:off x="5969480" y="4040875"/>
            <a:ext cx="119380" cy="12700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19</a:t>
            </a:r>
            <a:endParaRPr sz="65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726948" y="3844317"/>
            <a:ext cx="119380" cy="12700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650" spc="5">
                <a:latin typeface="Arial"/>
                <a:cs typeface="Arial"/>
              </a:rPr>
              <a:t>1</a:t>
            </a: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650" spc="5">
                <a:latin typeface="Arial"/>
                <a:cs typeface="Arial"/>
              </a:rPr>
              <a:t>6</a:t>
            </a:r>
            <a:endParaRPr sz="65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419227" y="4034296"/>
            <a:ext cx="119380" cy="12700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5">
                <a:latin typeface="Arial"/>
                <a:cs typeface="Arial"/>
              </a:rPr>
              <a:t>6</a:t>
            </a: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dirty="0" sz="650" spc="5">
                <a:latin typeface="Arial"/>
                <a:cs typeface="Arial"/>
              </a:rPr>
              <a:t>8</a:t>
            </a:r>
            <a:endParaRPr sz="65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366167" y="4678538"/>
            <a:ext cx="1031240" cy="255904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baseline="4273" sz="975" spc="7">
                <a:solidFill>
                  <a:srgbClr val="FFFFFF"/>
                </a:solidFill>
                <a:latin typeface="Arial"/>
                <a:cs typeface="Arial"/>
              </a:rPr>
              <a:t>44 </a:t>
            </a:r>
            <a:r>
              <a:rPr dirty="0" baseline="4273" sz="975" spc="127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23 </a:t>
            </a:r>
            <a:r>
              <a:rPr dirty="0" sz="650" spc="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19 </a:t>
            </a:r>
            <a:r>
              <a:rPr dirty="0" sz="650" spc="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12 </a:t>
            </a:r>
            <a:r>
              <a:rPr dirty="0" sz="650" spc="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15 </a:t>
            </a:r>
            <a:r>
              <a:rPr dirty="0" sz="650" spc="1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7">
                <a:solidFill>
                  <a:srgbClr val="FFFFFF"/>
                </a:solidFill>
                <a:latin typeface="Arial"/>
                <a:cs typeface="Arial"/>
              </a:rPr>
              <a:t>57 </a:t>
            </a:r>
            <a:r>
              <a:rPr dirty="0" baseline="4273" sz="975" spc="11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87</a:t>
            </a:r>
            <a:endParaRPr sz="650">
              <a:latin typeface="Arial"/>
              <a:cs typeface="Arial"/>
            </a:endParaRPr>
          </a:p>
          <a:p>
            <a:pPr algn="r" marR="93345">
              <a:lnSpc>
                <a:spcPct val="100000"/>
              </a:lnSpc>
              <a:spcBef>
                <a:spcPts val="470"/>
              </a:spcBef>
            </a:pPr>
            <a:r>
              <a:rPr dirty="0" sz="450" spc="5">
                <a:solidFill>
                  <a:srgbClr val="FFFF00"/>
                </a:solidFill>
                <a:latin typeface="Arial"/>
                <a:cs typeface="Arial"/>
              </a:rPr>
              <a:t>sorted</a:t>
            </a:r>
            <a:endParaRPr sz="45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612582" y="4794479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pic>
        <p:nvPicPr>
          <p:cNvPr id="60" name="object 60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429511" y="5198046"/>
            <a:ext cx="1302677" cy="1219009"/>
          </a:xfrm>
          <a:prstGeom prst="rect">
            <a:avLst/>
          </a:prstGeom>
        </p:spPr>
      </p:pic>
      <p:sp>
        <p:nvSpPr>
          <p:cNvPr id="61" name="object 61"/>
          <p:cNvSpPr txBox="1"/>
          <p:nvPr/>
        </p:nvSpPr>
        <p:spPr>
          <a:xfrm>
            <a:off x="1563940" y="5730820"/>
            <a:ext cx="118745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365">
                <a:latin typeface="Arial"/>
                <a:cs typeface="Arial"/>
              </a:rPr>
              <a:t>2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-365">
                <a:latin typeface="Arial"/>
                <a:cs typeface="Arial"/>
              </a:rPr>
              <a:t>4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65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2009342" y="5262851"/>
            <a:ext cx="118745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5">
                <a:latin typeface="Arial"/>
                <a:cs typeface="Arial"/>
              </a:rPr>
              <a:t>3</a:t>
            </a: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650" spc="5">
                <a:latin typeface="Arial"/>
                <a:cs typeface="Arial"/>
              </a:rPr>
              <a:t>1</a:t>
            </a:r>
            <a:endParaRPr sz="65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245587" y="5466991"/>
            <a:ext cx="118745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19</a:t>
            </a:r>
            <a:endParaRPr sz="65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858364" y="5724305"/>
            <a:ext cx="118745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650" spc="5">
                <a:latin typeface="Arial"/>
                <a:cs typeface="Arial"/>
              </a:rPr>
              <a:t>1</a:t>
            </a: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650" spc="5">
                <a:latin typeface="Arial"/>
                <a:cs typeface="Arial"/>
              </a:rPr>
              <a:t>6</a:t>
            </a:r>
            <a:endParaRPr sz="65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699361" y="5460476"/>
            <a:ext cx="118745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5">
                <a:latin typeface="Arial"/>
                <a:cs typeface="Arial"/>
              </a:rPr>
              <a:t>6</a:t>
            </a: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dirty="0" sz="650" spc="5">
                <a:latin typeface="Arial"/>
                <a:cs typeface="Arial"/>
              </a:rPr>
              <a:t>8</a:t>
            </a:r>
            <a:endParaRPr sz="65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513783" y="5892497"/>
            <a:ext cx="1156335" cy="462280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algn="r" marR="33655">
              <a:lnSpc>
                <a:spcPct val="100000"/>
              </a:lnSpc>
              <a:spcBef>
                <a:spcPts val="530"/>
              </a:spcBef>
            </a:pPr>
            <a:r>
              <a:rPr dirty="0" baseline="4273" sz="975" spc="7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dirty="0" baseline="4273" sz="975" spc="7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baseline="4273" sz="975" spc="-89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7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baseline="4273" sz="975">
                <a:solidFill>
                  <a:srgbClr val="FFFFFF"/>
                </a:solidFill>
                <a:latin typeface="Arial"/>
                <a:cs typeface="Arial"/>
              </a:rPr>
              <a:t>   </a:t>
            </a:r>
            <a:r>
              <a:rPr dirty="0" baseline="4273" sz="975" spc="10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sz="650" spc="-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7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dirty="0" baseline="4273" sz="975">
                <a:solidFill>
                  <a:srgbClr val="FFFFFF"/>
                </a:solidFill>
                <a:latin typeface="Arial"/>
                <a:cs typeface="Arial"/>
              </a:rPr>
              <a:t>   </a:t>
            </a:r>
            <a:r>
              <a:rPr dirty="0" baseline="4273" sz="975" spc="10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650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sz="65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650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sz="65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dirty="0" sz="650">
                <a:solidFill>
                  <a:srgbClr val="FFFFFF"/>
                </a:solidFill>
                <a:latin typeface="Arial"/>
                <a:cs typeface="Arial"/>
              </a:rPr>
              <a:t>    </a:t>
            </a:r>
            <a:r>
              <a:rPr dirty="0" sz="65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6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30"/>
              </a:spcBef>
            </a:pPr>
            <a:r>
              <a:rPr dirty="0" baseline="4273" sz="975" spc="7">
                <a:solidFill>
                  <a:srgbClr val="FFFFFF"/>
                </a:solidFill>
                <a:latin typeface="Arial"/>
                <a:cs typeface="Arial"/>
              </a:rPr>
              <a:t>15 </a:t>
            </a:r>
            <a:r>
              <a:rPr dirty="0" baseline="4273" sz="975" spc="209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23 </a:t>
            </a:r>
            <a:r>
              <a:rPr dirty="0" sz="650" spc="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19 </a:t>
            </a:r>
            <a:r>
              <a:rPr dirty="0" sz="650" spc="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12 </a:t>
            </a:r>
            <a:r>
              <a:rPr dirty="0" sz="650" spc="1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7">
                <a:solidFill>
                  <a:srgbClr val="FFFFFF"/>
                </a:solidFill>
                <a:latin typeface="Arial"/>
                <a:cs typeface="Arial"/>
              </a:rPr>
              <a:t>44 </a:t>
            </a:r>
            <a:r>
              <a:rPr dirty="0" baseline="4273" sz="975" spc="10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7">
                <a:solidFill>
                  <a:srgbClr val="FFFFFF"/>
                </a:solidFill>
                <a:latin typeface="Arial"/>
                <a:cs typeface="Arial"/>
              </a:rPr>
              <a:t>57 </a:t>
            </a:r>
            <a:r>
              <a:rPr dirty="0" baseline="4273" sz="975" spc="10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87</a:t>
            </a:r>
            <a:endParaRPr sz="650">
              <a:latin typeface="Arial"/>
              <a:cs typeface="Arial"/>
            </a:endParaRPr>
          </a:p>
          <a:p>
            <a:pPr marL="741680">
              <a:lnSpc>
                <a:spcPct val="100000"/>
              </a:lnSpc>
              <a:spcBef>
                <a:spcPts val="470"/>
              </a:spcBef>
            </a:pPr>
            <a:r>
              <a:rPr dirty="0" sz="450" spc="5">
                <a:solidFill>
                  <a:srgbClr val="FFFF00"/>
                </a:solidFill>
                <a:latin typeface="Arial"/>
                <a:cs typeface="Arial"/>
              </a:rPr>
              <a:t>sorted</a:t>
            </a:r>
            <a:endParaRPr sz="45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2925837" y="621397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pic>
        <p:nvPicPr>
          <p:cNvPr id="68" name="object 68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3317747" y="5198046"/>
            <a:ext cx="1284960" cy="1219009"/>
          </a:xfrm>
          <a:prstGeom prst="rect">
            <a:avLst/>
          </a:prstGeom>
        </p:spPr>
      </p:pic>
      <p:sp>
        <p:nvSpPr>
          <p:cNvPr id="69" name="object 69"/>
          <p:cNvSpPr txBox="1"/>
          <p:nvPr/>
        </p:nvSpPr>
        <p:spPr>
          <a:xfrm>
            <a:off x="3400950" y="5946630"/>
            <a:ext cx="71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0</a:t>
            </a:r>
            <a:endParaRPr sz="65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3450385" y="5739993"/>
            <a:ext cx="117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7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-5">
                <a:latin typeface="Arial"/>
                <a:cs typeface="Arial"/>
              </a:rPr>
              <a:t>2</a:t>
            </a:r>
            <a:r>
              <a:rPr dirty="0" sz="650" spc="-37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-5">
                <a:latin typeface="Arial"/>
                <a:cs typeface="Arial"/>
              </a:rPr>
              <a:t>4</a:t>
            </a:r>
            <a:endParaRPr sz="65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583849" y="5476518"/>
            <a:ext cx="117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70">
                <a:latin typeface="Arial"/>
                <a:cs typeface="Arial"/>
              </a:rPr>
              <a:t>3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-370">
                <a:latin typeface="Arial"/>
                <a:cs typeface="Arial"/>
              </a:rPr>
              <a:t>1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65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4122189" y="5479973"/>
            <a:ext cx="117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19</a:t>
            </a:r>
            <a:endParaRPr sz="65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3889347" y="5262955"/>
            <a:ext cx="117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7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-5">
                <a:latin typeface="Arial"/>
                <a:cs typeface="Arial"/>
              </a:rPr>
              <a:t>6</a:t>
            </a:r>
            <a:r>
              <a:rPr dirty="0" sz="650" spc="-37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dirty="0" sz="650" spc="-5">
                <a:latin typeface="Arial"/>
                <a:cs typeface="Arial"/>
              </a:rPr>
              <a:t>8</a:t>
            </a:r>
            <a:endParaRPr sz="65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531951" y="5899339"/>
            <a:ext cx="1009015" cy="455295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33020">
              <a:lnSpc>
                <a:spcPct val="100000"/>
              </a:lnSpc>
              <a:spcBef>
                <a:spcPts val="515"/>
              </a:spcBef>
            </a:pP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baseline="4273" sz="975" spc="32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32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2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dirty="0" baseline="4273" sz="975" spc="3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3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650" spc="2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650" spc="2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dirty="0" sz="650" spc="2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14"/>
              </a:spcBef>
            </a:pP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23</a:t>
            </a:r>
            <a:r>
              <a:rPr dirty="0" baseline="4273" sz="975" spc="38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15</a:t>
            </a:r>
            <a:r>
              <a:rPr dirty="0" sz="650" spc="2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19</a:t>
            </a:r>
            <a:r>
              <a:rPr dirty="0" sz="650" spc="2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650" spc="30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44</a:t>
            </a:r>
            <a:r>
              <a:rPr dirty="0" baseline="4273" sz="975" spc="3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57</a:t>
            </a:r>
            <a:r>
              <a:rPr dirty="0" baseline="4273" sz="975" spc="38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87</a:t>
            </a:r>
            <a:endParaRPr sz="650">
              <a:latin typeface="Arial"/>
              <a:cs typeface="Arial"/>
            </a:endParaRPr>
          </a:p>
          <a:p>
            <a:pPr marL="600075">
              <a:lnSpc>
                <a:spcPct val="100000"/>
              </a:lnSpc>
              <a:spcBef>
                <a:spcPts val="450"/>
              </a:spcBef>
            </a:pPr>
            <a:r>
              <a:rPr dirty="0" sz="450">
                <a:solidFill>
                  <a:srgbClr val="FFFF00"/>
                </a:solidFill>
                <a:latin typeface="Arial"/>
                <a:cs typeface="Arial"/>
              </a:rPr>
              <a:t>sorted</a:t>
            </a:r>
            <a:endParaRPr sz="45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4818530" y="621397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pic>
        <p:nvPicPr>
          <p:cNvPr id="76" name="object 76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5140451" y="5198046"/>
            <a:ext cx="1326222" cy="1219009"/>
          </a:xfrm>
          <a:prstGeom prst="rect">
            <a:avLst/>
          </a:prstGeom>
        </p:spPr>
      </p:pic>
      <p:sp>
        <p:nvSpPr>
          <p:cNvPr id="77" name="object 77"/>
          <p:cNvSpPr txBox="1"/>
          <p:nvPr/>
        </p:nvSpPr>
        <p:spPr>
          <a:xfrm>
            <a:off x="5262734" y="5946630"/>
            <a:ext cx="71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0</a:t>
            </a:r>
            <a:endParaRPr sz="65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312661" y="5739993"/>
            <a:ext cx="117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7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-5">
                <a:latin typeface="Arial"/>
                <a:cs typeface="Arial"/>
              </a:rPr>
              <a:t>2</a:t>
            </a:r>
            <a:r>
              <a:rPr dirty="0" sz="650" spc="-37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-5">
                <a:latin typeface="Arial"/>
                <a:cs typeface="Arial"/>
              </a:rPr>
              <a:t>4</a:t>
            </a:r>
            <a:endParaRPr sz="65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445643" y="5476518"/>
            <a:ext cx="117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70">
                <a:latin typeface="Arial"/>
                <a:cs typeface="Arial"/>
              </a:rPr>
              <a:t>3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-370">
                <a:latin typeface="Arial"/>
                <a:cs typeface="Arial"/>
              </a:rPr>
              <a:t>1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65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984478" y="5479477"/>
            <a:ext cx="117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19</a:t>
            </a:r>
            <a:endParaRPr sz="65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5751637" y="5262955"/>
            <a:ext cx="117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7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-5">
                <a:latin typeface="Arial"/>
                <a:cs typeface="Arial"/>
              </a:rPr>
              <a:t>6</a:t>
            </a:r>
            <a:r>
              <a:rPr dirty="0" sz="650" spc="-37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dirty="0" sz="650" spc="-5">
                <a:latin typeface="Arial"/>
                <a:cs typeface="Arial"/>
              </a:rPr>
              <a:t>8</a:t>
            </a:r>
            <a:endParaRPr sz="65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394228" y="5899339"/>
            <a:ext cx="1009015" cy="455295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33020">
              <a:lnSpc>
                <a:spcPct val="100000"/>
              </a:lnSpc>
              <a:spcBef>
                <a:spcPts val="515"/>
              </a:spcBef>
            </a:pP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baseline="4273" sz="975" spc="3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3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2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dirty="0" baseline="4273" sz="975" spc="3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307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650" spc="2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650" spc="6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dirty="0" sz="650" spc="2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14"/>
              </a:spcBef>
            </a:pP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23</a:t>
            </a:r>
            <a:r>
              <a:rPr dirty="0" baseline="4273" sz="975" spc="38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15</a:t>
            </a:r>
            <a:r>
              <a:rPr dirty="0" sz="650" spc="2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19</a:t>
            </a:r>
            <a:r>
              <a:rPr dirty="0" sz="650" spc="2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sz="650" spc="3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44</a:t>
            </a:r>
            <a:r>
              <a:rPr dirty="0" baseline="4273" sz="975" spc="397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57</a:t>
            </a:r>
            <a:r>
              <a:rPr dirty="0" baseline="4273" sz="975" spc="38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87</a:t>
            </a:r>
            <a:endParaRPr sz="650">
              <a:latin typeface="Arial"/>
              <a:cs typeface="Arial"/>
            </a:endParaRPr>
          </a:p>
          <a:p>
            <a:pPr marL="600075">
              <a:lnSpc>
                <a:spcPct val="100000"/>
              </a:lnSpc>
              <a:spcBef>
                <a:spcPts val="450"/>
              </a:spcBef>
            </a:pPr>
            <a:r>
              <a:rPr dirty="0" sz="450">
                <a:solidFill>
                  <a:srgbClr val="FFFF00"/>
                </a:solidFill>
                <a:latin typeface="Arial"/>
                <a:cs typeface="Arial"/>
              </a:rPr>
              <a:t>sorted</a:t>
            </a:r>
            <a:endParaRPr sz="45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6612582" y="621397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pic>
        <p:nvPicPr>
          <p:cNvPr id="84" name="object 84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441703" y="6616890"/>
            <a:ext cx="1280617" cy="1219009"/>
          </a:xfrm>
          <a:prstGeom prst="rect">
            <a:avLst/>
          </a:prstGeom>
        </p:spPr>
      </p:pic>
      <p:sp>
        <p:nvSpPr>
          <p:cNvPr id="85" name="object 85"/>
          <p:cNvSpPr txBox="1"/>
          <p:nvPr/>
        </p:nvSpPr>
        <p:spPr>
          <a:xfrm>
            <a:off x="2005926" y="6680394"/>
            <a:ext cx="116839" cy="124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-5">
                <a:latin typeface="Arial"/>
                <a:cs typeface="Arial"/>
              </a:rPr>
              <a:t>2</a:t>
            </a: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-5">
                <a:latin typeface="Arial"/>
                <a:cs typeface="Arial"/>
              </a:rPr>
              <a:t>4</a:t>
            </a:r>
            <a:endParaRPr sz="65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705952" y="6899583"/>
            <a:ext cx="116839" cy="124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-5">
                <a:latin typeface="Arial"/>
                <a:cs typeface="Arial"/>
              </a:rPr>
              <a:t>3</a:t>
            </a:r>
            <a:r>
              <a:rPr dirty="0" sz="650" spc="-36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650" spc="-5">
                <a:latin typeface="Arial"/>
                <a:cs typeface="Arial"/>
              </a:rPr>
              <a:t>1</a:t>
            </a:r>
            <a:endParaRPr sz="65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2242349" y="6902543"/>
            <a:ext cx="116839" cy="124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19</a:t>
            </a:r>
            <a:endParaRPr sz="65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523712" y="7155222"/>
            <a:ext cx="1136015" cy="6191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4610">
              <a:lnSpc>
                <a:spcPct val="100000"/>
              </a:lnSpc>
              <a:spcBef>
                <a:spcPts val="95"/>
              </a:spcBef>
            </a:pPr>
            <a:r>
              <a:rPr dirty="0" sz="650" spc="-185">
                <a:latin typeface="Arial"/>
                <a:cs typeface="Arial"/>
              </a:rPr>
              <a:t>6</a:t>
            </a:r>
            <a:r>
              <a:rPr dirty="0" sz="650" spc="-18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-185">
                <a:latin typeface="Arial"/>
                <a:cs typeface="Arial"/>
              </a:rPr>
              <a:t>8</a:t>
            </a:r>
            <a:r>
              <a:rPr dirty="0" sz="650" spc="-185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dirty="0" baseline="4273" sz="975" spc="35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35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baseline="4273" sz="975" spc="3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3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229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dirty="0" baseline="4273" sz="975" spc="29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29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dirty="0" sz="650" spc="2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650" spc="2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dirty="0" sz="650" spc="2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2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650">
              <a:latin typeface="Arial"/>
              <a:cs typeface="Arial"/>
            </a:endParaRPr>
          </a:p>
          <a:p>
            <a:pPr marL="133985">
              <a:lnSpc>
                <a:spcPct val="100000"/>
              </a:lnSpc>
              <a:spcBef>
                <a:spcPts val="409"/>
              </a:spcBef>
            </a:pP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dirty="0" baseline="4273" sz="975" spc="4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15</a:t>
            </a:r>
            <a:r>
              <a:rPr dirty="0" sz="650" spc="25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19</a:t>
            </a:r>
            <a:r>
              <a:rPr dirty="0" sz="650" spc="2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23</a:t>
            </a:r>
            <a:r>
              <a:rPr dirty="0" baseline="4273" sz="975" spc="3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44</a:t>
            </a:r>
            <a:r>
              <a:rPr dirty="0" baseline="4273" sz="975" spc="3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4273" sz="975" spc="-7">
                <a:solidFill>
                  <a:srgbClr val="FFFFFF"/>
                </a:solidFill>
                <a:latin typeface="Arial"/>
                <a:cs typeface="Arial"/>
              </a:rPr>
              <a:t>57</a:t>
            </a:r>
            <a:r>
              <a:rPr dirty="0" baseline="4273" sz="975" spc="382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650" spc="-5">
                <a:solidFill>
                  <a:srgbClr val="FFFFFF"/>
                </a:solidFill>
                <a:latin typeface="Arial"/>
                <a:cs typeface="Arial"/>
              </a:rPr>
              <a:t>87</a:t>
            </a:r>
            <a:endParaRPr sz="650">
              <a:latin typeface="Arial"/>
              <a:cs typeface="Arial"/>
            </a:endParaRPr>
          </a:p>
          <a:p>
            <a:pPr algn="ctr" marL="184785">
              <a:lnSpc>
                <a:spcPct val="100000"/>
              </a:lnSpc>
              <a:spcBef>
                <a:spcPts val="455"/>
              </a:spcBef>
            </a:pPr>
            <a:r>
              <a:rPr dirty="0" sz="450">
                <a:solidFill>
                  <a:srgbClr val="FFFF00"/>
                </a:solidFill>
                <a:latin typeface="Arial"/>
                <a:cs typeface="Arial"/>
              </a:rPr>
              <a:t>sorted</a:t>
            </a:r>
            <a:endParaRPr sz="450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2925837" y="7633347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grpSp>
        <p:nvGrpSpPr>
          <p:cNvPr id="90" name="object 90"/>
          <p:cNvGrpSpPr/>
          <p:nvPr/>
        </p:nvGrpSpPr>
        <p:grpSpPr>
          <a:xfrm>
            <a:off x="3302508" y="6616890"/>
            <a:ext cx="1316355" cy="1219200"/>
            <a:chOff x="3302508" y="6616890"/>
            <a:chExt cx="1316355" cy="1219200"/>
          </a:xfrm>
        </p:grpSpPr>
        <p:sp>
          <p:nvSpPr>
            <p:cNvPr id="91" name="object 91"/>
            <p:cNvSpPr/>
            <p:nvPr/>
          </p:nvSpPr>
          <p:spPr>
            <a:xfrm>
              <a:off x="3302508" y="6616890"/>
              <a:ext cx="1316355" cy="1219200"/>
            </a:xfrm>
            <a:custGeom>
              <a:avLst/>
              <a:gdLst/>
              <a:ahLst/>
              <a:cxnLst/>
              <a:rect l="l" t="t" r="r" b="b"/>
              <a:pathLst>
                <a:path w="1316354" h="1219200">
                  <a:moveTo>
                    <a:pt x="1316278" y="0"/>
                  </a:moveTo>
                  <a:lnTo>
                    <a:pt x="0" y="0"/>
                  </a:lnTo>
                  <a:lnTo>
                    <a:pt x="0" y="1219009"/>
                  </a:lnTo>
                  <a:lnTo>
                    <a:pt x="1316278" y="1219009"/>
                  </a:lnTo>
                  <a:lnTo>
                    <a:pt x="1316278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3694130" y="6753143"/>
              <a:ext cx="506730" cy="128905"/>
            </a:xfrm>
            <a:custGeom>
              <a:avLst/>
              <a:gdLst/>
              <a:ahLst/>
              <a:cxnLst/>
              <a:rect l="l" t="t" r="r" b="b"/>
              <a:pathLst>
                <a:path w="506729" h="128904">
                  <a:moveTo>
                    <a:pt x="197784" y="4053"/>
                  </a:moveTo>
                  <a:lnTo>
                    <a:pt x="0" y="128808"/>
                  </a:lnTo>
                </a:path>
                <a:path w="506729" h="128904">
                  <a:moveTo>
                    <a:pt x="308853" y="0"/>
                  </a:moveTo>
                  <a:lnTo>
                    <a:pt x="506653" y="124754"/>
                  </a:lnTo>
                </a:path>
              </a:pathLst>
            </a:custGeom>
            <a:ln w="95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4153113" y="6858117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71506" y="0"/>
                  </a:moveTo>
                  <a:lnTo>
                    <a:pt x="29413" y="15209"/>
                  </a:lnTo>
                  <a:lnTo>
                    <a:pt x="3550" y="54772"/>
                  </a:lnTo>
                  <a:lnTo>
                    <a:pt x="0" y="79628"/>
                  </a:lnTo>
                  <a:lnTo>
                    <a:pt x="1005" y="91790"/>
                  </a:lnTo>
                  <a:lnTo>
                    <a:pt x="20787" y="135407"/>
                  </a:lnTo>
                  <a:lnTo>
                    <a:pt x="60350" y="157733"/>
                  </a:lnTo>
                  <a:lnTo>
                    <a:pt x="71506" y="158739"/>
                  </a:lnTo>
                  <a:lnTo>
                    <a:pt x="82661" y="157733"/>
                  </a:lnTo>
                  <a:lnTo>
                    <a:pt x="121706" y="135407"/>
                  </a:lnTo>
                  <a:lnTo>
                    <a:pt x="141991" y="91790"/>
                  </a:lnTo>
                  <a:lnTo>
                    <a:pt x="143012" y="79628"/>
                  </a:lnTo>
                  <a:lnTo>
                    <a:pt x="141991" y="66949"/>
                  </a:lnTo>
                  <a:lnTo>
                    <a:pt x="121706" y="23332"/>
                  </a:lnTo>
                  <a:lnTo>
                    <a:pt x="82661" y="1021"/>
                  </a:lnTo>
                  <a:lnTo>
                    <a:pt x="7150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4153113" y="6858117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143012" y="79628"/>
                  </a:moveTo>
                  <a:lnTo>
                    <a:pt x="129311" y="125775"/>
                  </a:lnTo>
                  <a:lnTo>
                    <a:pt x="93314" y="154685"/>
                  </a:lnTo>
                  <a:lnTo>
                    <a:pt x="71506" y="158739"/>
                  </a:lnTo>
                  <a:lnTo>
                    <a:pt x="60350" y="157733"/>
                  </a:lnTo>
                  <a:lnTo>
                    <a:pt x="20787" y="135407"/>
                  </a:lnTo>
                  <a:lnTo>
                    <a:pt x="1005" y="91790"/>
                  </a:lnTo>
                  <a:lnTo>
                    <a:pt x="0" y="79628"/>
                  </a:lnTo>
                  <a:lnTo>
                    <a:pt x="1005" y="66949"/>
                  </a:lnTo>
                  <a:lnTo>
                    <a:pt x="20787" y="23332"/>
                  </a:lnTo>
                  <a:lnTo>
                    <a:pt x="60350" y="1021"/>
                  </a:lnTo>
                  <a:lnTo>
                    <a:pt x="71506" y="0"/>
                  </a:lnTo>
                  <a:lnTo>
                    <a:pt x="82661" y="1021"/>
                  </a:lnTo>
                  <a:lnTo>
                    <a:pt x="121706" y="23332"/>
                  </a:lnTo>
                  <a:lnTo>
                    <a:pt x="141991" y="66949"/>
                  </a:lnTo>
                  <a:lnTo>
                    <a:pt x="143012" y="79628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153113" y="6858117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71506" y="0"/>
                  </a:moveTo>
                  <a:lnTo>
                    <a:pt x="29413" y="15209"/>
                  </a:lnTo>
                  <a:lnTo>
                    <a:pt x="3550" y="54772"/>
                  </a:lnTo>
                  <a:lnTo>
                    <a:pt x="0" y="79628"/>
                  </a:lnTo>
                  <a:lnTo>
                    <a:pt x="1005" y="91790"/>
                  </a:lnTo>
                  <a:lnTo>
                    <a:pt x="20787" y="135407"/>
                  </a:lnTo>
                  <a:lnTo>
                    <a:pt x="60350" y="157733"/>
                  </a:lnTo>
                  <a:lnTo>
                    <a:pt x="71506" y="158739"/>
                  </a:lnTo>
                  <a:lnTo>
                    <a:pt x="82661" y="157733"/>
                  </a:lnTo>
                  <a:lnTo>
                    <a:pt x="121706" y="135407"/>
                  </a:lnTo>
                  <a:lnTo>
                    <a:pt x="141991" y="91790"/>
                  </a:lnTo>
                  <a:lnTo>
                    <a:pt x="143012" y="79628"/>
                  </a:lnTo>
                  <a:lnTo>
                    <a:pt x="141991" y="66949"/>
                  </a:lnTo>
                  <a:lnTo>
                    <a:pt x="121706" y="23332"/>
                  </a:lnTo>
                  <a:lnTo>
                    <a:pt x="82661" y="1021"/>
                  </a:lnTo>
                  <a:lnTo>
                    <a:pt x="7150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4153113" y="6858117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143012" y="79628"/>
                  </a:moveTo>
                  <a:lnTo>
                    <a:pt x="129311" y="125775"/>
                  </a:lnTo>
                  <a:lnTo>
                    <a:pt x="93314" y="154685"/>
                  </a:lnTo>
                  <a:lnTo>
                    <a:pt x="71506" y="158739"/>
                  </a:lnTo>
                  <a:lnTo>
                    <a:pt x="60350" y="157733"/>
                  </a:lnTo>
                  <a:lnTo>
                    <a:pt x="20787" y="135407"/>
                  </a:lnTo>
                  <a:lnTo>
                    <a:pt x="1005" y="91790"/>
                  </a:lnTo>
                  <a:lnTo>
                    <a:pt x="0" y="79628"/>
                  </a:lnTo>
                  <a:lnTo>
                    <a:pt x="1005" y="66949"/>
                  </a:lnTo>
                  <a:lnTo>
                    <a:pt x="20787" y="23332"/>
                  </a:lnTo>
                  <a:lnTo>
                    <a:pt x="60350" y="1021"/>
                  </a:lnTo>
                  <a:lnTo>
                    <a:pt x="71506" y="0"/>
                  </a:lnTo>
                  <a:lnTo>
                    <a:pt x="82661" y="1021"/>
                  </a:lnTo>
                  <a:lnTo>
                    <a:pt x="121706" y="23332"/>
                  </a:lnTo>
                  <a:lnTo>
                    <a:pt x="141991" y="66949"/>
                  </a:lnTo>
                  <a:lnTo>
                    <a:pt x="143012" y="79628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7" name="object 97"/>
          <p:cNvSpPr txBox="1"/>
          <p:nvPr/>
        </p:nvSpPr>
        <p:spPr>
          <a:xfrm>
            <a:off x="4164239" y="6875874"/>
            <a:ext cx="120014" cy="1270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50" spc="-37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5">
                <a:latin typeface="Arial"/>
                <a:cs typeface="Arial"/>
              </a:rPr>
              <a:t>2</a:t>
            </a:r>
            <a:r>
              <a:rPr dirty="0" sz="650" spc="-37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5">
                <a:latin typeface="Arial"/>
                <a:cs typeface="Arial"/>
              </a:rPr>
              <a:t>4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98" name="object 98"/>
          <p:cNvGrpSpPr/>
          <p:nvPr/>
        </p:nvGrpSpPr>
        <p:grpSpPr>
          <a:xfrm>
            <a:off x="3561189" y="6853481"/>
            <a:ext cx="146685" cy="161925"/>
            <a:chOff x="3561189" y="6853481"/>
            <a:chExt cx="146685" cy="161925"/>
          </a:xfrm>
        </p:grpSpPr>
        <p:sp>
          <p:nvSpPr>
            <p:cNvPr id="99" name="object 99"/>
            <p:cNvSpPr/>
            <p:nvPr/>
          </p:nvSpPr>
          <p:spPr>
            <a:xfrm>
              <a:off x="3562776" y="6855069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71506" y="0"/>
                  </a:moveTo>
                  <a:lnTo>
                    <a:pt x="29413" y="15224"/>
                  </a:lnTo>
                  <a:lnTo>
                    <a:pt x="3550" y="54772"/>
                  </a:lnTo>
                  <a:lnTo>
                    <a:pt x="0" y="79126"/>
                  </a:lnTo>
                  <a:lnTo>
                    <a:pt x="502" y="91805"/>
                  </a:lnTo>
                  <a:lnTo>
                    <a:pt x="20802" y="135422"/>
                  </a:lnTo>
                  <a:lnTo>
                    <a:pt x="60350" y="157733"/>
                  </a:lnTo>
                  <a:lnTo>
                    <a:pt x="71506" y="158739"/>
                  </a:lnTo>
                  <a:lnTo>
                    <a:pt x="82661" y="157733"/>
                  </a:lnTo>
                  <a:lnTo>
                    <a:pt x="122224" y="135422"/>
                  </a:lnTo>
                  <a:lnTo>
                    <a:pt x="142006" y="91805"/>
                  </a:lnTo>
                  <a:lnTo>
                    <a:pt x="143012" y="79126"/>
                  </a:lnTo>
                  <a:lnTo>
                    <a:pt x="142006" y="66949"/>
                  </a:lnTo>
                  <a:lnTo>
                    <a:pt x="122224" y="23332"/>
                  </a:lnTo>
                  <a:lnTo>
                    <a:pt x="82661" y="1021"/>
                  </a:lnTo>
                  <a:lnTo>
                    <a:pt x="7150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3562776" y="6855069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143012" y="79126"/>
                  </a:moveTo>
                  <a:lnTo>
                    <a:pt x="129326" y="125775"/>
                  </a:lnTo>
                  <a:lnTo>
                    <a:pt x="93314" y="154685"/>
                  </a:lnTo>
                  <a:lnTo>
                    <a:pt x="71506" y="158739"/>
                  </a:lnTo>
                  <a:lnTo>
                    <a:pt x="60350" y="157733"/>
                  </a:lnTo>
                  <a:lnTo>
                    <a:pt x="20802" y="135422"/>
                  </a:lnTo>
                  <a:lnTo>
                    <a:pt x="502" y="91805"/>
                  </a:lnTo>
                  <a:lnTo>
                    <a:pt x="0" y="79126"/>
                  </a:lnTo>
                  <a:lnTo>
                    <a:pt x="502" y="66949"/>
                  </a:lnTo>
                  <a:lnTo>
                    <a:pt x="20802" y="23332"/>
                  </a:lnTo>
                  <a:lnTo>
                    <a:pt x="60350" y="1021"/>
                  </a:lnTo>
                  <a:lnTo>
                    <a:pt x="71506" y="0"/>
                  </a:lnTo>
                  <a:lnTo>
                    <a:pt x="82661" y="1021"/>
                  </a:lnTo>
                  <a:lnTo>
                    <a:pt x="122224" y="23332"/>
                  </a:lnTo>
                  <a:lnTo>
                    <a:pt x="142006" y="66949"/>
                  </a:lnTo>
                  <a:lnTo>
                    <a:pt x="143012" y="79126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3562776" y="6855069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71506" y="0"/>
                  </a:moveTo>
                  <a:lnTo>
                    <a:pt x="29413" y="15224"/>
                  </a:lnTo>
                  <a:lnTo>
                    <a:pt x="3550" y="54772"/>
                  </a:lnTo>
                  <a:lnTo>
                    <a:pt x="0" y="79126"/>
                  </a:lnTo>
                  <a:lnTo>
                    <a:pt x="502" y="91805"/>
                  </a:lnTo>
                  <a:lnTo>
                    <a:pt x="20802" y="135422"/>
                  </a:lnTo>
                  <a:lnTo>
                    <a:pt x="60350" y="157733"/>
                  </a:lnTo>
                  <a:lnTo>
                    <a:pt x="71506" y="158739"/>
                  </a:lnTo>
                  <a:lnTo>
                    <a:pt x="82661" y="157733"/>
                  </a:lnTo>
                  <a:lnTo>
                    <a:pt x="122224" y="135422"/>
                  </a:lnTo>
                  <a:lnTo>
                    <a:pt x="142006" y="91805"/>
                  </a:lnTo>
                  <a:lnTo>
                    <a:pt x="143012" y="79126"/>
                  </a:lnTo>
                  <a:lnTo>
                    <a:pt x="142006" y="66949"/>
                  </a:lnTo>
                  <a:lnTo>
                    <a:pt x="122224" y="23332"/>
                  </a:lnTo>
                  <a:lnTo>
                    <a:pt x="82661" y="1021"/>
                  </a:lnTo>
                  <a:lnTo>
                    <a:pt x="7150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3562776" y="6855069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143012" y="79126"/>
                  </a:moveTo>
                  <a:lnTo>
                    <a:pt x="129326" y="125775"/>
                  </a:lnTo>
                  <a:lnTo>
                    <a:pt x="93314" y="154685"/>
                  </a:lnTo>
                  <a:lnTo>
                    <a:pt x="71506" y="158739"/>
                  </a:lnTo>
                  <a:lnTo>
                    <a:pt x="60350" y="157733"/>
                  </a:lnTo>
                  <a:lnTo>
                    <a:pt x="20802" y="135422"/>
                  </a:lnTo>
                  <a:lnTo>
                    <a:pt x="502" y="91805"/>
                  </a:lnTo>
                  <a:lnTo>
                    <a:pt x="0" y="79126"/>
                  </a:lnTo>
                  <a:lnTo>
                    <a:pt x="502" y="66949"/>
                  </a:lnTo>
                  <a:lnTo>
                    <a:pt x="20802" y="23332"/>
                  </a:lnTo>
                  <a:lnTo>
                    <a:pt x="60350" y="1021"/>
                  </a:lnTo>
                  <a:lnTo>
                    <a:pt x="71506" y="0"/>
                  </a:lnTo>
                  <a:lnTo>
                    <a:pt x="82661" y="1021"/>
                  </a:lnTo>
                  <a:lnTo>
                    <a:pt x="122224" y="23332"/>
                  </a:lnTo>
                  <a:lnTo>
                    <a:pt x="142006" y="66949"/>
                  </a:lnTo>
                  <a:lnTo>
                    <a:pt x="143012" y="79126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3" name="object 103"/>
          <p:cNvSpPr txBox="1"/>
          <p:nvPr/>
        </p:nvSpPr>
        <p:spPr>
          <a:xfrm>
            <a:off x="3574426" y="6872839"/>
            <a:ext cx="120014" cy="1270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50" spc="-370">
                <a:latin typeface="Arial"/>
                <a:cs typeface="Arial"/>
              </a:rPr>
              <a:t>3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-370">
                <a:latin typeface="Arial"/>
                <a:cs typeface="Arial"/>
              </a:rPr>
              <a:t>1</a:t>
            </a: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104" name="object 104"/>
          <p:cNvGrpSpPr/>
          <p:nvPr/>
        </p:nvGrpSpPr>
        <p:grpSpPr>
          <a:xfrm>
            <a:off x="3870561" y="6662798"/>
            <a:ext cx="146685" cy="162560"/>
            <a:chOff x="3870561" y="6662798"/>
            <a:chExt cx="146685" cy="162560"/>
          </a:xfrm>
        </p:grpSpPr>
        <p:sp>
          <p:nvSpPr>
            <p:cNvPr id="105" name="object 105"/>
            <p:cNvSpPr/>
            <p:nvPr/>
          </p:nvSpPr>
          <p:spPr>
            <a:xfrm>
              <a:off x="3872148" y="6664386"/>
              <a:ext cx="143510" cy="159385"/>
            </a:xfrm>
            <a:custGeom>
              <a:avLst/>
              <a:gdLst/>
              <a:ahLst/>
              <a:cxnLst/>
              <a:rect l="l" t="t" r="r" b="b"/>
              <a:pathLst>
                <a:path w="143510" h="159384">
                  <a:moveTo>
                    <a:pt x="71506" y="0"/>
                  </a:moveTo>
                  <a:lnTo>
                    <a:pt x="29413" y="15209"/>
                  </a:lnTo>
                  <a:lnTo>
                    <a:pt x="3550" y="54772"/>
                  </a:lnTo>
                  <a:lnTo>
                    <a:pt x="0" y="79110"/>
                  </a:lnTo>
                  <a:lnTo>
                    <a:pt x="502" y="91790"/>
                  </a:lnTo>
                  <a:lnTo>
                    <a:pt x="20787" y="135407"/>
                  </a:lnTo>
                  <a:lnTo>
                    <a:pt x="60350" y="158236"/>
                  </a:lnTo>
                  <a:lnTo>
                    <a:pt x="71506" y="159242"/>
                  </a:lnTo>
                  <a:lnTo>
                    <a:pt x="82661" y="158236"/>
                  </a:lnTo>
                  <a:lnTo>
                    <a:pt x="122224" y="135407"/>
                  </a:lnTo>
                  <a:lnTo>
                    <a:pt x="141991" y="91790"/>
                  </a:lnTo>
                  <a:lnTo>
                    <a:pt x="143012" y="79110"/>
                  </a:lnTo>
                  <a:lnTo>
                    <a:pt x="141991" y="66949"/>
                  </a:lnTo>
                  <a:lnTo>
                    <a:pt x="122224" y="23332"/>
                  </a:lnTo>
                  <a:lnTo>
                    <a:pt x="82661" y="1021"/>
                  </a:lnTo>
                  <a:lnTo>
                    <a:pt x="7150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3872148" y="6664386"/>
              <a:ext cx="143510" cy="159385"/>
            </a:xfrm>
            <a:custGeom>
              <a:avLst/>
              <a:gdLst/>
              <a:ahLst/>
              <a:cxnLst/>
              <a:rect l="l" t="t" r="r" b="b"/>
              <a:pathLst>
                <a:path w="143510" h="159384">
                  <a:moveTo>
                    <a:pt x="143012" y="79110"/>
                  </a:moveTo>
                  <a:lnTo>
                    <a:pt x="129311" y="125775"/>
                  </a:lnTo>
                  <a:lnTo>
                    <a:pt x="93314" y="155188"/>
                  </a:lnTo>
                  <a:lnTo>
                    <a:pt x="71506" y="159242"/>
                  </a:lnTo>
                  <a:lnTo>
                    <a:pt x="60350" y="158236"/>
                  </a:lnTo>
                  <a:lnTo>
                    <a:pt x="20787" y="135407"/>
                  </a:lnTo>
                  <a:lnTo>
                    <a:pt x="502" y="91790"/>
                  </a:lnTo>
                  <a:lnTo>
                    <a:pt x="0" y="79110"/>
                  </a:lnTo>
                  <a:lnTo>
                    <a:pt x="502" y="66949"/>
                  </a:lnTo>
                  <a:lnTo>
                    <a:pt x="20787" y="23332"/>
                  </a:lnTo>
                  <a:lnTo>
                    <a:pt x="60350" y="1021"/>
                  </a:lnTo>
                  <a:lnTo>
                    <a:pt x="71506" y="0"/>
                  </a:lnTo>
                  <a:lnTo>
                    <a:pt x="82661" y="1021"/>
                  </a:lnTo>
                  <a:lnTo>
                    <a:pt x="122224" y="23332"/>
                  </a:lnTo>
                  <a:lnTo>
                    <a:pt x="141991" y="66949"/>
                  </a:lnTo>
                  <a:lnTo>
                    <a:pt x="143012" y="7911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3872148" y="6664386"/>
              <a:ext cx="143510" cy="159385"/>
            </a:xfrm>
            <a:custGeom>
              <a:avLst/>
              <a:gdLst/>
              <a:ahLst/>
              <a:cxnLst/>
              <a:rect l="l" t="t" r="r" b="b"/>
              <a:pathLst>
                <a:path w="143510" h="159384">
                  <a:moveTo>
                    <a:pt x="71506" y="0"/>
                  </a:moveTo>
                  <a:lnTo>
                    <a:pt x="29413" y="15209"/>
                  </a:lnTo>
                  <a:lnTo>
                    <a:pt x="3550" y="54772"/>
                  </a:lnTo>
                  <a:lnTo>
                    <a:pt x="0" y="79110"/>
                  </a:lnTo>
                  <a:lnTo>
                    <a:pt x="502" y="91790"/>
                  </a:lnTo>
                  <a:lnTo>
                    <a:pt x="20787" y="135407"/>
                  </a:lnTo>
                  <a:lnTo>
                    <a:pt x="60350" y="158236"/>
                  </a:lnTo>
                  <a:lnTo>
                    <a:pt x="71506" y="159242"/>
                  </a:lnTo>
                  <a:lnTo>
                    <a:pt x="82661" y="158236"/>
                  </a:lnTo>
                  <a:lnTo>
                    <a:pt x="122224" y="135407"/>
                  </a:lnTo>
                  <a:lnTo>
                    <a:pt x="141991" y="91790"/>
                  </a:lnTo>
                  <a:lnTo>
                    <a:pt x="143012" y="79110"/>
                  </a:lnTo>
                  <a:lnTo>
                    <a:pt x="141991" y="66949"/>
                  </a:lnTo>
                  <a:lnTo>
                    <a:pt x="122224" y="23332"/>
                  </a:lnTo>
                  <a:lnTo>
                    <a:pt x="82661" y="1021"/>
                  </a:lnTo>
                  <a:lnTo>
                    <a:pt x="7150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3872148" y="6664386"/>
              <a:ext cx="143510" cy="159385"/>
            </a:xfrm>
            <a:custGeom>
              <a:avLst/>
              <a:gdLst/>
              <a:ahLst/>
              <a:cxnLst/>
              <a:rect l="l" t="t" r="r" b="b"/>
              <a:pathLst>
                <a:path w="143510" h="159384">
                  <a:moveTo>
                    <a:pt x="143012" y="79110"/>
                  </a:moveTo>
                  <a:lnTo>
                    <a:pt x="129311" y="125775"/>
                  </a:lnTo>
                  <a:lnTo>
                    <a:pt x="93314" y="155188"/>
                  </a:lnTo>
                  <a:lnTo>
                    <a:pt x="71506" y="159242"/>
                  </a:lnTo>
                  <a:lnTo>
                    <a:pt x="60350" y="158236"/>
                  </a:lnTo>
                  <a:lnTo>
                    <a:pt x="20787" y="135407"/>
                  </a:lnTo>
                  <a:lnTo>
                    <a:pt x="502" y="91790"/>
                  </a:lnTo>
                  <a:lnTo>
                    <a:pt x="0" y="79110"/>
                  </a:lnTo>
                  <a:lnTo>
                    <a:pt x="502" y="66949"/>
                  </a:lnTo>
                  <a:lnTo>
                    <a:pt x="20787" y="23332"/>
                  </a:lnTo>
                  <a:lnTo>
                    <a:pt x="60350" y="1021"/>
                  </a:lnTo>
                  <a:lnTo>
                    <a:pt x="71506" y="0"/>
                  </a:lnTo>
                  <a:lnTo>
                    <a:pt x="82661" y="1021"/>
                  </a:lnTo>
                  <a:lnTo>
                    <a:pt x="122224" y="23332"/>
                  </a:lnTo>
                  <a:lnTo>
                    <a:pt x="141991" y="66949"/>
                  </a:lnTo>
                  <a:lnTo>
                    <a:pt x="143012" y="7911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9" name="object 109"/>
          <p:cNvSpPr txBox="1"/>
          <p:nvPr/>
        </p:nvSpPr>
        <p:spPr>
          <a:xfrm>
            <a:off x="3883785" y="6682148"/>
            <a:ext cx="120014" cy="1270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19</a:t>
            </a:r>
            <a:endParaRPr sz="650">
              <a:latin typeface="Arial"/>
              <a:cs typeface="Arial"/>
            </a:endParaRPr>
          </a:p>
        </p:txBody>
      </p:sp>
      <p:graphicFrame>
        <p:nvGraphicFramePr>
          <p:cNvPr id="110" name="object 110"/>
          <p:cNvGraphicFramePr>
            <a:graphicFrameLocks noGrp="1"/>
          </p:cNvGraphicFramePr>
          <p:nvPr/>
        </p:nvGraphicFramePr>
        <p:xfrm>
          <a:off x="3345145" y="7382006"/>
          <a:ext cx="1232535" cy="4038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2400"/>
                <a:gridCol w="151765"/>
                <a:gridCol w="152400"/>
                <a:gridCol w="156209"/>
                <a:gridCol w="147954"/>
                <a:gridCol w="152400"/>
                <a:gridCol w="151765"/>
                <a:gridCol w="154305"/>
              </a:tblGrid>
              <a:tr h="107007">
                <a:tc>
                  <a:txBody>
                    <a:bodyPr/>
                    <a:lstStyle/>
                    <a:p>
                      <a:pPr marL="50165">
                        <a:lnSpc>
                          <a:spcPts val="685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ts val="685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0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85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9525">
                      <a:solidFill>
                        <a:srgbClr val="CDCDCD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0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CDCDCD"/>
                      </a:solidFill>
                      <a:prstDash val="solid"/>
                    </a:lnL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0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0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0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80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2286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556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5560">
                    <a:lnL w="3175">
                      <a:solidFill>
                        <a:srgbClr val="FFFF00"/>
                      </a:solidFill>
                      <a:prstDash val="solid"/>
                    </a:lnL>
                    <a:lnR w="12700">
                      <a:solidFill>
                        <a:srgbClr val="CDCDCD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5560">
                    <a:lnL w="12700">
                      <a:solidFill>
                        <a:srgbClr val="CDCDCD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556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556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3175">
                      <a:solidFill>
                        <a:srgbClr val="FFFF00"/>
                      </a:solidFill>
                      <a:prstDash val="solid"/>
                    </a:lnL>
                    <a:lnR w="952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</a:tr>
              <a:tr h="115122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CDCDCD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4"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450" spc="5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sorted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23495">
                    <a:lnL w="9525">
                      <a:solidFill>
                        <a:srgbClr val="CDCDCD"/>
                      </a:solidFill>
                      <a:prstDash val="solid"/>
                    </a:lnL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11" name="object 111"/>
          <p:cNvSpPr/>
          <p:nvPr/>
        </p:nvSpPr>
        <p:spPr>
          <a:xfrm>
            <a:off x="4429505" y="6762775"/>
            <a:ext cx="0" cy="10160"/>
          </a:xfrm>
          <a:custGeom>
            <a:avLst/>
            <a:gdLst/>
            <a:ahLst/>
            <a:cxnLst/>
            <a:rect l="l" t="t" r="r" b="b"/>
            <a:pathLst>
              <a:path w="0" h="10159">
                <a:moveTo>
                  <a:pt x="0" y="0"/>
                </a:moveTo>
                <a:lnTo>
                  <a:pt x="0" y="96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" name="object 112"/>
          <p:cNvSpPr txBox="1"/>
          <p:nvPr/>
        </p:nvSpPr>
        <p:spPr>
          <a:xfrm>
            <a:off x="4818530" y="7633347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grpSp>
        <p:nvGrpSpPr>
          <p:cNvPr id="113" name="object 113"/>
          <p:cNvGrpSpPr/>
          <p:nvPr/>
        </p:nvGrpSpPr>
        <p:grpSpPr>
          <a:xfrm>
            <a:off x="5146547" y="6616890"/>
            <a:ext cx="1316355" cy="1219200"/>
            <a:chOff x="5146547" y="6616890"/>
            <a:chExt cx="1316355" cy="1219200"/>
          </a:xfrm>
        </p:grpSpPr>
        <p:sp>
          <p:nvSpPr>
            <p:cNvPr id="114" name="object 114"/>
            <p:cNvSpPr/>
            <p:nvPr/>
          </p:nvSpPr>
          <p:spPr>
            <a:xfrm>
              <a:off x="5146547" y="6616890"/>
              <a:ext cx="1316355" cy="1219200"/>
            </a:xfrm>
            <a:custGeom>
              <a:avLst/>
              <a:gdLst/>
              <a:ahLst/>
              <a:cxnLst/>
              <a:rect l="l" t="t" r="r" b="b"/>
              <a:pathLst>
                <a:path w="1316354" h="1219200">
                  <a:moveTo>
                    <a:pt x="1316278" y="0"/>
                  </a:moveTo>
                  <a:lnTo>
                    <a:pt x="0" y="0"/>
                  </a:lnTo>
                  <a:lnTo>
                    <a:pt x="0" y="1219009"/>
                  </a:lnTo>
                  <a:lnTo>
                    <a:pt x="1316278" y="1219009"/>
                  </a:lnTo>
                  <a:lnTo>
                    <a:pt x="1316278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5537560" y="6753143"/>
              <a:ext cx="506730" cy="128905"/>
            </a:xfrm>
            <a:custGeom>
              <a:avLst/>
              <a:gdLst/>
              <a:ahLst/>
              <a:cxnLst/>
              <a:rect l="l" t="t" r="r" b="b"/>
              <a:pathLst>
                <a:path w="506729" h="128904">
                  <a:moveTo>
                    <a:pt x="197784" y="4053"/>
                  </a:moveTo>
                  <a:lnTo>
                    <a:pt x="0" y="128808"/>
                  </a:lnTo>
                </a:path>
                <a:path w="506729" h="128904">
                  <a:moveTo>
                    <a:pt x="308853" y="0"/>
                  </a:moveTo>
                  <a:lnTo>
                    <a:pt x="506653" y="124754"/>
                  </a:lnTo>
                </a:path>
              </a:pathLst>
            </a:custGeom>
            <a:ln w="95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5996528" y="6858117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71521" y="0"/>
                  </a:moveTo>
                  <a:lnTo>
                    <a:pt x="29428" y="15209"/>
                  </a:lnTo>
                  <a:lnTo>
                    <a:pt x="3550" y="54772"/>
                  </a:lnTo>
                  <a:lnTo>
                    <a:pt x="0" y="79628"/>
                  </a:lnTo>
                  <a:lnTo>
                    <a:pt x="1021" y="91790"/>
                  </a:lnTo>
                  <a:lnTo>
                    <a:pt x="20802" y="135407"/>
                  </a:lnTo>
                  <a:lnTo>
                    <a:pt x="60365" y="157733"/>
                  </a:lnTo>
                  <a:lnTo>
                    <a:pt x="71521" y="158739"/>
                  </a:lnTo>
                  <a:lnTo>
                    <a:pt x="82676" y="157733"/>
                  </a:lnTo>
                  <a:lnTo>
                    <a:pt x="121721" y="135407"/>
                  </a:lnTo>
                  <a:lnTo>
                    <a:pt x="142006" y="91790"/>
                  </a:lnTo>
                  <a:lnTo>
                    <a:pt x="143027" y="79628"/>
                  </a:lnTo>
                  <a:lnTo>
                    <a:pt x="142006" y="66949"/>
                  </a:lnTo>
                  <a:lnTo>
                    <a:pt x="121721" y="23332"/>
                  </a:lnTo>
                  <a:lnTo>
                    <a:pt x="82676" y="1021"/>
                  </a:lnTo>
                  <a:lnTo>
                    <a:pt x="71521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996528" y="6858117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143027" y="79628"/>
                  </a:moveTo>
                  <a:lnTo>
                    <a:pt x="129326" y="125775"/>
                  </a:lnTo>
                  <a:lnTo>
                    <a:pt x="93329" y="154685"/>
                  </a:lnTo>
                  <a:lnTo>
                    <a:pt x="71521" y="158739"/>
                  </a:lnTo>
                  <a:lnTo>
                    <a:pt x="60365" y="157733"/>
                  </a:lnTo>
                  <a:lnTo>
                    <a:pt x="20802" y="135407"/>
                  </a:lnTo>
                  <a:lnTo>
                    <a:pt x="1021" y="91790"/>
                  </a:lnTo>
                  <a:lnTo>
                    <a:pt x="0" y="79628"/>
                  </a:lnTo>
                  <a:lnTo>
                    <a:pt x="1021" y="66949"/>
                  </a:lnTo>
                  <a:lnTo>
                    <a:pt x="20802" y="23332"/>
                  </a:lnTo>
                  <a:lnTo>
                    <a:pt x="60365" y="1021"/>
                  </a:lnTo>
                  <a:lnTo>
                    <a:pt x="71521" y="0"/>
                  </a:lnTo>
                  <a:lnTo>
                    <a:pt x="82676" y="1021"/>
                  </a:lnTo>
                  <a:lnTo>
                    <a:pt x="121721" y="23332"/>
                  </a:lnTo>
                  <a:lnTo>
                    <a:pt x="142006" y="66949"/>
                  </a:lnTo>
                  <a:lnTo>
                    <a:pt x="143027" y="79628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5996528" y="6858117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71521" y="0"/>
                  </a:moveTo>
                  <a:lnTo>
                    <a:pt x="29428" y="15209"/>
                  </a:lnTo>
                  <a:lnTo>
                    <a:pt x="3550" y="54772"/>
                  </a:lnTo>
                  <a:lnTo>
                    <a:pt x="0" y="79628"/>
                  </a:lnTo>
                  <a:lnTo>
                    <a:pt x="1021" y="91790"/>
                  </a:lnTo>
                  <a:lnTo>
                    <a:pt x="20802" y="135407"/>
                  </a:lnTo>
                  <a:lnTo>
                    <a:pt x="60365" y="157733"/>
                  </a:lnTo>
                  <a:lnTo>
                    <a:pt x="71521" y="158739"/>
                  </a:lnTo>
                  <a:lnTo>
                    <a:pt x="82676" y="157733"/>
                  </a:lnTo>
                  <a:lnTo>
                    <a:pt x="121721" y="135407"/>
                  </a:lnTo>
                  <a:lnTo>
                    <a:pt x="142006" y="91790"/>
                  </a:lnTo>
                  <a:lnTo>
                    <a:pt x="143027" y="79628"/>
                  </a:lnTo>
                  <a:lnTo>
                    <a:pt x="142006" y="66949"/>
                  </a:lnTo>
                  <a:lnTo>
                    <a:pt x="121721" y="23332"/>
                  </a:lnTo>
                  <a:lnTo>
                    <a:pt x="82676" y="1021"/>
                  </a:lnTo>
                  <a:lnTo>
                    <a:pt x="71521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5996528" y="6858117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143027" y="79628"/>
                  </a:moveTo>
                  <a:lnTo>
                    <a:pt x="129326" y="125775"/>
                  </a:lnTo>
                  <a:lnTo>
                    <a:pt x="93329" y="154685"/>
                  </a:lnTo>
                  <a:lnTo>
                    <a:pt x="71521" y="158739"/>
                  </a:lnTo>
                  <a:lnTo>
                    <a:pt x="60365" y="157733"/>
                  </a:lnTo>
                  <a:lnTo>
                    <a:pt x="20802" y="135407"/>
                  </a:lnTo>
                  <a:lnTo>
                    <a:pt x="1021" y="91790"/>
                  </a:lnTo>
                  <a:lnTo>
                    <a:pt x="0" y="79628"/>
                  </a:lnTo>
                  <a:lnTo>
                    <a:pt x="1021" y="66949"/>
                  </a:lnTo>
                  <a:lnTo>
                    <a:pt x="20802" y="23332"/>
                  </a:lnTo>
                  <a:lnTo>
                    <a:pt x="60365" y="1021"/>
                  </a:lnTo>
                  <a:lnTo>
                    <a:pt x="71521" y="0"/>
                  </a:lnTo>
                  <a:lnTo>
                    <a:pt x="82676" y="1021"/>
                  </a:lnTo>
                  <a:lnTo>
                    <a:pt x="121721" y="23332"/>
                  </a:lnTo>
                  <a:lnTo>
                    <a:pt x="142006" y="66949"/>
                  </a:lnTo>
                  <a:lnTo>
                    <a:pt x="143027" y="79628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0" name="object 120"/>
          <p:cNvSpPr txBox="1"/>
          <p:nvPr/>
        </p:nvSpPr>
        <p:spPr>
          <a:xfrm>
            <a:off x="6007668" y="6875874"/>
            <a:ext cx="120014" cy="1270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50" spc="-37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5">
                <a:latin typeface="Arial"/>
                <a:cs typeface="Arial"/>
              </a:rPr>
              <a:t>2</a:t>
            </a:r>
            <a:r>
              <a:rPr dirty="0" sz="650" spc="-37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5">
                <a:latin typeface="Arial"/>
                <a:cs typeface="Arial"/>
              </a:rPr>
              <a:t>4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121" name="object 121"/>
          <p:cNvGrpSpPr/>
          <p:nvPr/>
        </p:nvGrpSpPr>
        <p:grpSpPr>
          <a:xfrm>
            <a:off x="5404619" y="6853481"/>
            <a:ext cx="146685" cy="161925"/>
            <a:chOff x="5404619" y="6853481"/>
            <a:chExt cx="146685" cy="161925"/>
          </a:xfrm>
        </p:grpSpPr>
        <p:sp>
          <p:nvSpPr>
            <p:cNvPr id="122" name="object 122"/>
            <p:cNvSpPr/>
            <p:nvPr/>
          </p:nvSpPr>
          <p:spPr>
            <a:xfrm>
              <a:off x="5406206" y="6855069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71506" y="0"/>
                  </a:moveTo>
                  <a:lnTo>
                    <a:pt x="29413" y="15224"/>
                  </a:lnTo>
                  <a:lnTo>
                    <a:pt x="3550" y="54772"/>
                  </a:lnTo>
                  <a:lnTo>
                    <a:pt x="0" y="79126"/>
                  </a:lnTo>
                  <a:lnTo>
                    <a:pt x="502" y="91805"/>
                  </a:lnTo>
                  <a:lnTo>
                    <a:pt x="20787" y="135422"/>
                  </a:lnTo>
                  <a:lnTo>
                    <a:pt x="60350" y="157733"/>
                  </a:lnTo>
                  <a:lnTo>
                    <a:pt x="71506" y="158739"/>
                  </a:lnTo>
                  <a:lnTo>
                    <a:pt x="82661" y="157733"/>
                  </a:lnTo>
                  <a:lnTo>
                    <a:pt x="122224" y="135422"/>
                  </a:lnTo>
                  <a:lnTo>
                    <a:pt x="142006" y="91805"/>
                  </a:lnTo>
                  <a:lnTo>
                    <a:pt x="143012" y="79126"/>
                  </a:lnTo>
                  <a:lnTo>
                    <a:pt x="142006" y="66949"/>
                  </a:lnTo>
                  <a:lnTo>
                    <a:pt x="122224" y="23332"/>
                  </a:lnTo>
                  <a:lnTo>
                    <a:pt x="82661" y="1021"/>
                  </a:lnTo>
                  <a:lnTo>
                    <a:pt x="7150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5406206" y="6855069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143012" y="79126"/>
                  </a:moveTo>
                  <a:lnTo>
                    <a:pt x="129326" y="125775"/>
                  </a:lnTo>
                  <a:lnTo>
                    <a:pt x="93314" y="154685"/>
                  </a:lnTo>
                  <a:lnTo>
                    <a:pt x="71506" y="158739"/>
                  </a:lnTo>
                  <a:lnTo>
                    <a:pt x="60350" y="157733"/>
                  </a:lnTo>
                  <a:lnTo>
                    <a:pt x="20787" y="135422"/>
                  </a:lnTo>
                  <a:lnTo>
                    <a:pt x="502" y="91805"/>
                  </a:lnTo>
                  <a:lnTo>
                    <a:pt x="0" y="79126"/>
                  </a:lnTo>
                  <a:lnTo>
                    <a:pt x="502" y="66949"/>
                  </a:lnTo>
                  <a:lnTo>
                    <a:pt x="20787" y="23332"/>
                  </a:lnTo>
                  <a:lnTo>
                    <a:pt x="60350" y="1021"/>
                  </a:lnTo>
                  <a:lnTo>
                    <a:pt x="71506" y="0"/>
                  </a:lnTo>
                  <a:lnTo>
                    <a:pt x="82661" y="1021"/>
                  </a:lnTo>
                  <a:lnTo>
                    <a:pt x="122224" y="23332"/>
                  </a:lnTo>
                  <a:lnTo>
                    <a:pt x="142006" y="66949"/>
                  </a:lnTo>
                  <a:lnTo>
                    <a:pt x="143012" y="79126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5406206" y="6855069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71506" y="0"/>
                  </a:moveTo>
                  <a:lnTo>
                    <a:pt x="29413" y="15224"/>
                  </a:lnTo>
                  <a:lnTo>
                    <a:pt x="3550" y="54772"/>
                  </a:lnTo>
                  <a:lnTo>
                    <a:pt x="0" y="79126"/>
                  </a:lnTo>
                  <a:lnTo>
                    <a:pt x="502" y="91805"/>
                  </a:lnTo>
                  <a:lnTo>
                    <a:pt x="20787" y="135422"/>
                  </a:lnTo>
                  <a:lnTo>
                    <a:pt x="60350" y="157733"/>
                  </a:lnTo>
                  <a:lnTo>
                    <a:pt x="71506" y="158739"/>
                  </a:lnTo>
                  <a:lnTo>
                    <a:pt x="82661" y="157733"/>
                  </a:lnTo>
                  <a:lnTo>
                    <a:pt x="122224" y="135422"/>
                  </a:lnTo>
                  <a:lnTo>
                    <a:pt x="142006" y="91805"/>
                  </a:lnTo>
                  <a:lnTo>
                    <a:pt x="143012" y="79126"/>
                  </a:lnTo>
                  <a:lnTo>
                    <a:pt x="142006" y="66949"/>
                  </a:lnTo>
                  <a:lnTo>
                    <a:pt x="122224" y="23332"/>
                  </a:lnTo>
                  <a:lnTo>
                    <a:pt x="82661" y="1021"/>
                  </a:lnTo>
                  <a:lnTo>
                    <a:pt x="7150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5406206" y="6855069"/>
              <a:ext cx="143510" cy="158750"/>
            </a:xfrm>
            <a:custGeom>
              <a:avLst/>
              <a:gdLst/>
              <a:ahLst/>
              <a:cxnLst/>
              <a:rect l="l" t="t" r="r" b="b"/>
              <a:pathLst>
                <a:path w="143510" h="158750">
                  <a:moveTo>
                    <a:pt x="143012" y="79126"/>
                  </a:moveTo>
                  <a:lnTo>
                    <a:pt x="129326" y="125775"/>
                  </a:lnTo>
                  <a:lnTo>
                    <a:pt x="93314" y="154685"/>
                  </a:lnTo>
                  <a:lnTo>
                    <a:pt x="71506" y="158739"/>
                  </a:lnTo>
                  <a:lnTo>
                    <a:pt x="60350" y="157733"/>
                  </a:lnTo>
                  <a:lnTo>
                    <a:pt x="20787" y="135422"/>
                  </a:lnTo>
                  <a:lnTo>
                    <a:pt x="502" y="91805"/>
                  </a:lnTo>
                  <a:lnTo>
                    <a:pt x="0" y="79126"/>
                  </a:lnTo>
                  <a:lnTo>
                    <a:pt x="502" y="66949"/>
                  </a:lnTo>
                  <a:lnTo>
                    <a:pt x="20787" y="23332"/>
                  </a:lnTo>
                  <a:lnTo>
                    <a:pt x="60350" y="1021"/>
                  </a:lnTo>
                  <a:lnTo>
                    <a:pt x="71506" y="0"/>
                  </a:lnTo>
                  <a:lnTo>
                    <a:pt x="82661" y="1021"/>
                  </a:lnTo>
                  <a:lnTo>
                    <a:pt x="122224" y="23332"/>
                  </a:lnTo>
                  <a:lnTo>
                    <a:pt x="142006" y="66949"/>
                  </a:lnTo>
                  <a:lnTo>
                    <a:pt x="143012" y="79126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6" name="object 126"/>
          <p:cNvSpPr txBox="1"/>
          <p:nvPr/>
        </p:nvSpPr>
        <p:spPr>
          <a:xfrm>
            <a:off x="5417843" y="6872839"/>
            <a:ext cx="120014" cy="1270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50" spc="-37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5">
                <a:latin typeface="Arial"/>
                <a:cs typeface="Arial"/>
              </a:rPr>
              <a:t>3</a:t>
            </a:r>
            <a:r>
              <a:rPr dirty="0" sz="650" spc="-37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dirty="0" sz="650" spc="5">
                <a:latin typeface="Arial"/>
                <a:cs typeface="Arial"/>
              </a:rPr>
              <a:t>1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127" name="object 127"/>
          <p:cNvGrpSpPr/>
          <p:nvPr/>
        </p:nvGrpSpPr>
        <p:grpSpPr>
          <a:xfrm>
            <a:off x="5713991" y="6662798"/>
            <a:ext cx="146685" cy="162560"/>
            <a:chOff x="5713991" y="6662798"/>
            <a:chExt cx="146685" cy="162560"/>
          </a:xfrm>
        </p:grpSpPr>
        <p:sp>
          <p:nvSpPr>
            <p:cNvPr id="128" name="object 128"/>
            <p:cNvSpPr/>
            <p:nvPr/>
          </p:nvSpPr>
          <p:spPr>
            <a:xfrm>
              <a:off x="5715579" y="6664386"/>
              <a:ext cx="143510" cy="159385"/>
            </a:xfrm>
            <a:custGeom>
              <a:avLst/>
              <a:gdLst/>
              <a:ahLst/>
              <a:cxnLst/>
              <a:rect l="l" t="t" r="r" b="b"/>
              <a:pathLst>
                <a:path w="143510" h="159384">
                  <a:moveTo>
                    <a:pt x="71506" y="0"/>
                  </a:moveTo>
                  <a:lnTo>
                    <a:pt x="29413" y="15209"/>
                  </a:lnTo>
                  <a:lnTo>
                    <a:pt x="3550" y="54772"/>
                  </a:lnTo>
                  <a:lnTo>
                    <a:pt x="0" y="79110"/>
                  </a:lnTo>
                  <a:lnTo>
                    <a:pt x="502" y="91790"/>
                  </a:lnTo>
                  <a:lnTo>
                    <a:pt x="20787" y="135407"/>
                  </a:lnTo>
                  <a:lnTo>
                    <a:pt x="60350" y="158236"/>
                  </a:lnTo>
                  <a:lnTo>
                    <a:pt x="71506" y="159242"/>
                  </a:lnTo>
                  <a:lnTo>
                    <a:pt x="82661" y="158236"/>
                  </a:lnTo>
                  <a:lnTo>
                    <a:pt x="122224" y="135407"/>
                  </a:lnTo>
                  <a:lnTo>
                    <a:pt x="141991" y="91790"/>
                  </a:lnTo>
                  <a:lnTo>
                    <a:pt x="143012" y="79110"/>
                  </a:lnTo>
                  <a:lnTo>
                    <a:pt x="141991" y="66949"/>
                  </a:lnTo>
                  <a:lnTo>
                    <a:pt x="122224" y="23332"/>
                  </a:lnTo>
                  <a:lnTo>
                    <a:pt x="82661" y="1021"/>
                  </a:lnTo>
                  <a:lnTo>
                    <a:pt x="7150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5715579" y="6664386"/>
              <a:ext cx="143510" cy="159385"/>
            </a:xfrm>
            <a:custGeom>
              <a:avLst/>
              <a:gdLst/>
              <a:ahLst/>
              <a:cxnLst/>
              <a:rect l="l" t="t" r="r" b="b"/>
              <a:pathLst>
                <a:path w="143510" h="159384">
                  <a:moveTo>
                    <a:pt x="143012" y="79110"/>
                  </a:moveTo>
                  <a:lnTo>
                    <a:pt x="129311" y="125775"/>
                  </a:lnTo>
                  <a:lnTo>
                    <a:pt x="93314" y="155188"/>
                  </a:lnTo>
                  <a:lnTo>
                    <a:pt x="71506" y="159242"/>
                  </a:lnTo>
                  <a:lnTo>
                    <a:pt x="60350" y="158236"/>
                  </a:lnTo>
                  <a:lnTo>
                    <a:pt x="20787" y="135407"/>
                  </a:lnTo>
                  <a:lnTo>
                    <a:pt x="502" y="91790"/>
                  </a:lnTo>
                  <a:lnTo>
                    <a:pt x="0" y="79110"/>
                  </a:lnTo>
                  <a:lnTo>
                    <a:pt x="502" y="66949"/>
                  </a:lnTo>
                  <a:lnTo>
                    <a:pt x="20787" y="23332"/>
                  </a:lnTo>
                  <a:lnTo>
                    <a:pt x="60350" y="1021"/>
                  </a:lnTo>
                  <a:lnTo>
                    <a:pt x="71506" y="0"/>
                  </a:lnTo>
                  <a:lnTo>
                    <a:pt x="82661" y="1021"/>
                  </a:lnTo>
                  <a:lnTo>
                    <a:pt x="122224" y="23332"/>
                  </a:lnTo>
                  <a:lnTo>
                    <a:pt x="141991" y="66949"/>
                  </a:lnTo>
                  <a:lnTo>
                    <a:pt x="143012" y="7911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5715579" y="6664386"/>
              <a:ext cx="143510" cy="159385"/>
            </a:xfrm>
            <a:custGeom>
              <a:avLst/>
              <a:gdLst/>
              <a:ahLst/>
              <a:cxnLst/>
              <a:rect l="l" t="t" r="r" b="b"/>
              <a:pathLst>
                <a:path w="143510" h="159384">
                  <a:moveTo>
                    <a:pt x="71506" y="0"/>
                  </a:moveTo>
                  <a:lnTo>
                    <a:pt x="29413" y="15209"/>
                  </a:lnTo>
                  <a:lnTo>
                    <a:pt x="3550" y="54772"/>
                  </a:lnTo>
                  <a:lnTo>
                    <a:pt x="0" y="79110"/>
                  </a:lnTo>
                  <a:lnTo>
                    <a:pt x="502" y="91790"/>
                  </a:lnTo>
                  <a:lnTo>
                    <a:pt x="20787" y="135407"/>
                  </a:lnTo>
                  <a:lnTo>
                    <a:pt x="60350" y="158236"/>
                  </a:lnTo>
                  <a:lnTo>
                    <a:pt x="71506" y="159242"/>
                  </a:lnTo>
                  <a:lnTo>
                    <a:pt x="82661" y="158236"/>
                  </a:lnTo>
                  <a:lnTo>
                    <a:pt x="122224" y="135407"/>
                  </a:lnTo>
                  <a:lnTo>
                    <a:pt x="141991" y="91790"/>
                  </a:lnTo>
                  <a:lnTo>
                    <a:pt x="143012" y="79110"/>
                  </a:lnTo>
                  <a:lnTo>
                    <a:pt x="141991" y="66949"/>
                  </a:lnTo>
                  <a:lnTo>
                    <a:pt x="122224" y="23332"/>
                  </a:lnTo>
                  <a:lnTo>
                    <a:pt x="82661" y="1021"/>
                  </a:lnTo>
                  <a:lnTo>
                    <a:pt x="7150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5715579" y="6664386"/>
              <a:ext cx="143510" cy="159385"/>
            </a:xfrm>
            <a:custGeom>
              <a:avLst/>
              <a:gdLst/>
              <a:ahLst/>
              <a:cxnLst/>
              <a:rect l="l" t="t" r="r" b="b"/>
              <a:pathLst>
                <a:path w="143510" h="159384">
                  <a:moveTo>
                    <a:pt x="143012" y="79110"/>
                  </a:moveTo>
                  <a:lnTo>
                    <a:pt x="129311" y="125775"/>
                  </a:lnTo>
                  <a:lnTo>
                    <a:pt x="93314" y="155188"/>
                  </a:lnTo>
                  <a:lnTo>
                    <a:pt x="71506" y="159242"/>
                  </a:lnTo>
                  <a:lnTo>
                    <a:pt x="60350" y="158236"/>
                  </a:lnTo>
                  <a:lnTo>
                    <a:pt x="20787" y="135407"/>
                  </a:lnTo>
                  <a:lnTo>
                    <a:pt x="502" y="91790"/>
                  </a:lnTo>
                  <a:lnTo>
                    <a:pt x="0" y="79110"/>
                  </a:lnTo>
                  <a:lnTo>
                    <a:pt x="502" y="66949"/>
                  </a:lnTo>
                  <a:lnTo>
                    <a:pt x="20787" y="23332"/>
                  </a:lnTo>
                  <a:lnTo>
                    <a:pt x="60350" y="1021"/>
                  </a:lnTo>
                  <a:lnTo>
                    <a:pt x="71506" y="0"/>
                  </a:lnTo>
                  <a:lnTo>
                    <a:pt x="82661" y="1021"/>
                  </a:lnTo>
                  <a:lnTo>
                    <a:pt x="122224" y="23332"/>
                  </a:lnTo>
                  <a:lnTo>
                    <a:pt x="141991" y="66949"/>
                  </a:lnTo>
                  <a:lnTo>
                    <a:pt x="143012" y="7911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2" name="object 132"/>
          <p:cNvSpPr txBox="1"/>
          <p:nvPr/>
        </p:nvSpPr>
        <p:spPr>
          <a:xfrm>
            <a:off x="5727215" y="6682148"/>
            <a:ext cx="120014" cy="1270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50" spc="5">
                <a:solidFill>
                  <a:srgbClr val="FFFFFF"/>
                </a:solidFill>
                <a:latin typeface="Arial"/>
                <a:cs typeface="Arial"/>
              </a:rPr>
              <a:t>19</a:t>
            </a:r>
            <a:endParaRPr sz="650">
              <a:latin typeface="Arial"/>
              <a:cs typeface="Arial"/>
            </a:endParaRPr>
          </a:p>
        </p:txBody>
      </p:sp>
      <p:graphicFrame>
        <p:nvGraphicFramePr>
          <p:cNvPr id="133" name="object 133"/>
          <p:cNvGraphicFramePr>
            <a:graphicFrameLocks noGrp="1"/>
          </p:cNvGraphicFramePr>
          <p:nvPr/>
        </p:nvGraphicFramePr>
        <p:xfrm>
          <a:off x="5188575" y="7382006"/>
          <a:ext cx="1232535" cy="4038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2400"/>
                <a:gridCol w="151765"/>
                <a:gridCol w="152400"/>
                <a:gridCol w="156209"/>
                <a:gridCol w="147954"/>
                <a:gridCol w="152400"/>
                <a:gridCol w="151765"/>
                <a:gridCol w="154305"/>
              </a:tblGrid>
              <a:tr h="107007">
                <a:tc>
                  <a:txBody>
                    <a:bodyPr/>
                    <a:lstStyle/>
                    <a:p>
                      <a:pPr marL="50165">
                        <a:lnSpc>
                          <a:spcPts val="685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685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0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85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9525">
                      <a:solidFill>
                        <a:srgbClr val="CDCDCD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0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CDCDCD"/>
                      </a:solidFill>
                      <a:prstDash val="solid"/>
                    </a:lnL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0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0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0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80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31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556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5560">
                    <a:lnL w="3175">
                      <a:solidFill>
                        <a:srgbClr val="FFFF00"/>
                      </a:solidFill>
                      <a:prstDash val="solid"/>
                    </a:lnL>
                    <a:lnR w="12700">
                      <a:solidFill>
                        <a:srgbClr val="CDCDCD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5560">
                    <a:lnL w="12700">
                      <a:solidFill>
                        <a:srgbClr val="CDCDCD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556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556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3175">
                      <a:solidFill>
                        <a:srgbClr val="FFFF00"/>
                      </a:solidFill>
                      <a:prstDash val="solid"/>
                    </a:lnL>
                    <a:lnR w="952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</a:tr>
              <a:tr h="115122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CDCDCD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4"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450" spc="5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sorted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23495">
                    <a:lnL w="9525">
                      <a:solidFill>
                        <a:srgbClr val="CDCDCD"/>
                      </a:solidFill>
                      <a:prstDash val="solid"/>
                    </a:lnL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grpSp>
        <p:nvGrpSpPr>
          <p:cNvPr id="134" name="object 134"/>
          <p:cNvGrpSpPr/>
          <p:nvPr/>
        </p:nvGrpSpPr>
        <p:grpSpPr>
          <a:xfrm>
            <a:off x="5853013" y="6695826"/>
            <a:ext cx="421005" cy="163830"/>
            <a:chOff x="5853013" y="6695826"/>
            <a:chExt cx="421005" cy="163830"/>
          </a:xfrm>
        </p:grpSpPr>
        <p:sp>
          <p:nvSpPr>
            <p:cNvPr id="135" name="object 135"/>
            <p:cNvSpPr/>
            <p:nvPr/>
          </p:nvSpPr>
          <p:spPr>
            <a:xfrm>
              <a:off x="6272936" y="6762775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59">
                  <a:moveTo>
                    <a:pt x="0" y="0"/>
                  </a:moveTo>
                  <a:lnTo>
                    <a:pt x="0" y="96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6" name="object 13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853013" y="6695826"/>
              <a:ext cx="242422" cy="163311"/>
            </a:xfrm>
            <a:prstGeom prst="rect">
              <a:avLst/>
            </a:prstGeom>
          </p:spPr>
        </p:pic>
      </p:grpSp>
      <p:sp>
        <p:nvSpPr>
          <p:cNvPr id="137" name="object 137"/>
          <p:cNvSpPr txBox="1"/>
          <p:nvPr/>
        </p:nvSpPr>
        <p:spPr>
          <a:xfrm>
            <a:off x="6612582" y="7633347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grpSp>
        <p:nvGrpSpPr>
          <p:cNvPr id="138" name="object 138"/>
          <p:cNvGrpSpPr/>
          <p:nvPr/>
        </p:nvGrpSpPr>
        <p:grpSpPr>
          <a:xfrm>
            <a:off x="1426463" y="8035734"/>
            <a:ext cx="1311910" cy="1219200"/>
            <a:chOff x="1426463" y="8035734"/>
            <a:chExt cx="1311910" cy="1219200"/>
          </a:xfrm>
        </p:grpSpPr>
        <p:sp>
          <p:nvSpPr>
            <p:cNvPr id="139" name="object 139"/>
            <p:cNvSpPr/>
            <p:nvPr/>
          </p:nvSpPr>
          <p:spPr>
            <a:xfrm>
              <a:off x="1426463" y="8035734"/>
              <a:ext cx="1311910" cy="1219200"/>
            </a:xfrm>
            <a:custGeom>
              <a:avLst/>
              <a:gdLst/>
              <a:ahLst/>
              <a:cxnLst/>
              <a:rect l="l" t="t" r="r" b="b"/>
              <a:pathLst>
                <a:path w="1311910" h="1219200">
                  <a:moveTo>
                    <a:pt x="1311706" y="0"/>
                  </a:moveTo>
                  <a:lnTo>
                    <a:pt x="0" y="0"/>
                  </a:lnTo>
                  <a:lnTo>
                    <a:pt x="0" y="1219009"/>
                  </a:lnTo>
                  <a:lnTo>
                    <a:pt x="1311706" y="1219009"/>
                  </a:lnTo>
                  <a:lnTo>
                    <a:pt x="131170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1815906" y="8180521"/>
              <a:ext cx="197485" cy="124460"/>
            </a:xfrm>
            <a:custGeom>
              <a:avLst/>
              <a:gdLst/>
              <a:ahLst/>
              <a:cxnLst/>
              <a:rect l="l" t="t" r="r" b="b"/>
              <a:pathLst>
                <a:path w="197485" h="124459">
                  <a:moveTo>
                    <a:pt x="197068" y="0"/>
                  </a:moveTo>
                  <a:lnTo>
                    <a:pt x="0" y="124297"/>
                  </a:lnTo>
                </a:path>
              </a:pathLst>
            </a:custGeom>
            <a:ln w="948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1727484" y="8287643"/>
              <a:ext cx="142240" cy="158115"/>
            </a:xfrm>
            <a:custGeom>
              <a:avLst/>
              <a:gdLst/>
              <a:ahLst/>
              <a:cxnLst/>
              <a:rect l="l" t="t" r="r" b="b"/>
              <a:pathLst>
                <a:path w="142239" h="158115">
                  <a:moveTo>
                    <a:pt x="71246" y="0"/>
                  </a:moveTo>
                  <a:lnTo>
                    <a:pt x="29306" y="15163"/>
                  </a:lnTo>
                  <a:lnTo>
                    <a:pt x="3535" y="54574"/>
                  </a:lnTo>
                  <a:lnTo>
                    <a:pt x="0" y="78821"/>
                  </a:lnTo>
                  <a:lnTo>
                    <a:pt x="1005" y="91455"/>
                  </a:lnTo>
                  <a:lnTo>
                    <a:pt x="20711" y="134919"/>
                  </a:lnTo>
                  <a:lnTo>
                    <a:pt x="60121" y="157139"/>
                  </a:lnTo>
                  <a:lnTo>
                    <a:pt x="71246" y="157657"/>
                  </a:lnTo>
                  <a:lnTo>
                    <a:pt x="82356" y="157139"/>
                  </a:lnTo>
                  <a:lnTo>
                    <a:pt x="121264" y="134919"/>
                  </a:lnTo>
                  <a:lnTo>
                    <a:pt x="141472" y="91455"/>
                  </a:lnTo>
                  <a:lnTo>
                    <a:pt x="141975" y="78821"/>
                  </a:lnTo>
                  <a:lnTo>
                    <a:pt x="141472" y="66705"/>
                  </a:lnTo>
                  <a:lnTo>
                    <a:pt x="121264" y="23240"/>
                  </a:lnTo>
                  <a:lnTo>
                    <a:pt x="82356" y="1005"/>
                  </a:lnTo>
                  <a:lnTo>
                    <a:pt x="7124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1727484" y="8287643"/>
              <a:ext cx="142240" cy="158115"/>
            </a:xfrm>
            <a:custGeom>
              <a:avLst/>
              <a:gdLst/>
              <a:ahLst/>
              <a:cxnLst/>
              <a:rect l="l" t="t" r="r" b="b"/>
              <a:pathLst>
                <a:path w="142239" h="158115">
                  <a:moveTo>
                    <a:pt x="141975" y="78821"/>
                  </a:moveTo>
                  <a:lnTo>
                    <a:pt x="128336" y="125318"/>
                  </a:lnTo>
                  <a:lnTo>
                    <a:pt x="92963" y="154106"/>
                  </a:lnTo>
                  <a:lnTo>
                    <a:pt x="71246" y="157657"/>
                  </a:lnTo>
                  <a:lnTo>
                    <a:pt x="60121" y="157139"/>
                  </a:lnTo>
                  <a:lnTo>
                    <a:pt x="20711" y="134919"/>
                  </a:lnTo>
                  <a:lnTo>
                    <a:pt x="1005" y="91455"/>
                  </a:lnTo>
                  <a:lnTo>
                    <a:pt x="0" y="78821"/>
                  </a:lnTo>
                  <a:lnTo>
                    <a:pt x="1005" y="66705"/>
                  </a:lnTo>
                  <a:lnTo>
                    <a:pt x="20711" y="23240"/>
                  </a:lnTo>
                  <a:lnTo>
                    <a:pt x="60121" y="1005"/>
                  </a:lnTo>
                  <a:lnTo>
                    <a:pt x="71246" y="0"/>
                  </a:lnTo>
                  <a:lnTo>
                    <a:pt x="82356" y="1005"/>
                  </a:lnTo>
                  <a:lnTo>
                    <a:pt x="121264" y="23240"/>
                  </a:lnTo>
                  <a:lnTo>
                    <a:pt x="141472" y="66705"/>
                  </a:lnTo>
                  <a:lnTo>
                    <a:pt x="141975" y="78821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1727484" y="8287643"/>
              <a:ext cx="142240" cy="158115"/>
            </a:xfrm>
            <a:custGeom>
              <a:avLst/>
              <a:gdLst/>
              <a:ahLst/>
              <a:cxnLst/>
              <a:rect l="l" t="t" r="r" b="b"/>
              <a:pathLst>
                <a:path w="142239" h="158115">
                  <a:moveTo>
                    <a:pt x="71246" y="0"/>
                  </a:moveTo>
                  <a:lnTo>
                    <a:pt x="29306" y="15163"/>
                  </a:lnTo>
                  <a:lnTo>
                    <a:pt x="3535" y="54574"/>
                  </a:lnTo>
                  <a:lnTo>
                    <a:pt x="0" y="78821"/>
                  </a:lnTo>
                  <a:lnTo>
                    <a:pt x="1005" y="91455"/>
                  </a:lnTo>
                  <a:lnTo>
                    <a:pt x="20711" y="134919"/>
                  </a:lnTo>
                  <a:lnTo>
                    <a:pt x="60121" y="157139"/>
                  </a:lnTo>
                  <a:lnTo>
                    <a:pt x="71246" y="157657"/>
                  </a:lnTo>
                  <a:lnTo>
                    <a:pt x="82356" y="157139"/>
                  </a:lnTo>
                  <a:lnTo>
                    <a:pt x="121264" y="134919"/>
                  </a:lnTo>
                  <a:lnTo>
                    <a:pt x="141472" y="91455"/>
                  </a:lnTo>
                  <a:lnTo>
                    <a:pt x="141975" y="78821"/>
                  </a:lnTo>
                  <a:lnTo>
                    <a:pt x="141472" y="66705"/>
                  </a:lnTo>
                  <a:lnTo>
                    <a:pt x="121264" y="23240"/>
                  </a:lnTo>
                  <a:lnTo>
                    <a:pt x="82356" y="1005"/>
                  </a:lnTo>
                  <a:lnTo>
                    <a:pt x="7124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1727484" y="8287643"/>
              <a:ext cx="142240" cy="158115"/>
            </a:xfrm>
            <a:custGeom>
              <a:avLst/>
              <a:gdLst/>
              <a:ahLst/>
              <a:cxnLst/>
              <a:rect l="l" t="t" r="r" b="b"/>
              <a:pathLst>
                <a:path w="142239" h="158115">
                  <a:moveTo>
                    <a:pt x="141975" y="78821"/>
                  </a:moveTo>
                  <a:lnTo>
                    <a:pt x="128336" y="125318"/>
                  </a:lnTo>
                  <a:lnTo>
                    <a:pt x="92963" y="154106"/>
                  </a:lnTo>
                  <a:lnTo>
                    <a:pt x="71246" y="157657"/>
                  </a:lnTo>
                  <a:lnTo>
                    <a:pt x="60121" y="157139"/>
                  </a:lnTo>
                  <a:lnTo>
                    <a:pt x="20711" y="134919"/>
                  </a:lnTo>
                  <a:lnTo>
                    <a:pt x="1005" y="91455"/>
                  </a:lnTo>
                  <a:lnTo>
                    <a:pt x="0" y="78821"/>
                  </a:lnTo>
                  <a:lnTo>
                    <a:pt x="1005" y="66705"/>
                  </a:lnTo>
                  <a:lnTo>
                    <a:pt x="20711" y="23240"/>
                  </a:lnTo>
                  <a:lnTo>
                    <a:pt x="60121" y="1005"/>
                  </a:lnTo>
                  <a:lnTo>
                    <a:pt x="71246" y="0"/>
                  </a:lnTo>
                  <a:lnTo>
                    <a:pt x="82356" y="1005"/>
                  </a:lnTo>
                  <a:lnTo>
                    <a:pt x="121264" y="23240"/>
                  </a:lnTo>
                  <a:lnTo>
                    <a:pt x="141472" y="66705"/>
                  </a:lnTo>
                  <a:lnTo>
                    <a:pt x="141975" y="78821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2011954" y="8085028"/>
              <a:ext cx="142875" cy="158750"/>
            </a:xfrm>
            <a:custGeom>
              <a:avLst/>
              <a:gdLst/>
              <a:ahLst/>
              <a:cxnLst/>
              <a:rect l="l" t="t" r="r" b="b"/>
              <a:pathLst>
                <a:path w="142875" h="158750">
                  <a:moveTo>
                    <a:pt x="71246" y="0"/>
                  </a:moveTo>
                  <a:lnTo>
                    <a:pt x="29306" y="15163"/>
                  </a:lnTo>
                  <a:lnTo>
                    <a:pt x="3535" y="54574"/>
                  </a:lnTo>
                  <a:lnTo>
                    <a:pt x="0" y="78821"/>
                  </a:lnTo>
                  <a:lnTo>
                    <a:pt x="1021" y="91455"/>
                  </a:lnTo>
                  <a:lnTo>
                    <a:pt x="20726" y="134904"/>
                  </a:lnTo>
                  <a:lnTo>
                    <a:pt x="60137" y="157642"/>
                  </a:lnTo>
                  <a:lnTo>
                    <a:pt x="71246" y="158160"/>
                  </a:lnTo>
                  <a:lnTo>
                    <a:pt x="82356" y="157642"/>
                  </a:lnTo>
                  <a:lnTo>
                    <a:pt x="121782" y="134904"/>
                  </a:lnTo>
                  <a:lnTo>
                    <a:pt x="141991" y="91455"/>
                  </a:lnTo>
                  <a:lnTo>
                    <a:pt x="142493" y="78821"/>
                  </a:lnTo>
                  <a:lnTo>
                    <a:pt x="141991" y="66690"/>
                  </a:lnTo>
                  <a:lnTo>
                    <a:pt x="121782" y="23240"/>
                  </a:lnTo>
                  <a:lnTo>
                    <a:pt x="82356" y="1005"/>
                  </a:lnTo>
                  <a:lnTo>
                    <a:pt x="7124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2011954" y="8085028"/>
              <a:ext cx="142875" cy="158750"/>
            </a:xfrm>
            <a:custGeom>
              <a:avLst/>
              <a:gdLst/>
              <a:ahLst/>
              <a:cxnLst/>
              <a:rect l="l" t="t" r="r" b="b"/>
              <a:pathLst>
                <a:path w="142875" h="158750">
                  <a:moveTo>
                    <a:pt x="142493" y="78821"/>
                  </a:moveTo>
                  <a:lnTo>
                    <a:pt x="128854" y="125303"/>
                  </a:lnTo>
                  <a:lnTo>
                    <a:pt x="93482" y="154609"/>
                  </a:lnTo>
                  <a:lnTo>
                    <a:pt x="71246" y="158160"/>
                  </a:lnTo>
                  <a:lnTo>
                    <a:pt x="60137" y="157642"/>
                  </a:lnTo>
                  <a:lnTo>
                    <a:pt x="20726" y="134904"/>
                  </a:lnTo>
                  <a:lnTo>
                    <a:pt x="1021" y="91455"/>
                  </a:lnTo>
                  <a:lnTo>
                    <a:pt x="0" y="78821"/>
                  </a:lnTo>
                  <a:lnTo>
                    <a:pt x="1021" y="66690"/>
                  </a:lnTo>
                  <a:lnTo>
                    <a:pt x="20726" y="23240"/>
                  </a:lnTo>
                  <a:lnTo>
                    <a:pt x="60137" y="1005"/>
                  </a:lnTo>
                  <a:lnTo>
                    <a:pt x="71246" y="0"/>
                  </a:lnTo>
                  <a:lnTo>
                    <a:pt x="82356" y="1005"/>
                  </a:lnTo>
                  <a:lnTo>
                    <a:pt x="121782" y="23240"/>
                  </a:lnTo>
                  <a:lnTo>
                    <a:pt x="141991" y="66690"/>
                  </a:lnTo>
                  <a:lnTo>
                    <a:pt x="142493" y="78821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2011954" y="8085028"/>
              <a:ext cx="142875" cy="158750"/>
            </a:xfrm>
            <a:custGeom>
              <a:avLst/>
              <a:gdLst/>
              <a:ahLst/>
              <a:cxnLst/>
              <a:rect l="l" t="t" r="r" b="b"/>
              <a:pathLst>
                <a:path w="142875" h="158750">
                  <a:moveTo>
                    <a:pt x="71246" y="0"/>
                  </a:moveTo>
                  <a:lnTo>
                    <a:pt x="29306" y="15163"/>
                  </a:lnTo>
                  <a:lnTo>
                    <a:pt x="3535" y="54574"/>
                  </a:lnTo>
                  <a:lnTo>
                    <a:pt x="0" y="78821"/>
                  </a:lnTo>
                  <a:lnTo>
                    <a:pt x="1021" y="91455"/>
                  </a:lnTo>
                  <a:lnTo>
                    <a:pt x="20726" y="134904"/>
                  </a:lnTo>
                  <a:lnTo>
                    <a:pt x="60137" y="157642"/>
                  </a:lnTo>
                  <a:lnTo>
                    <a:pt x="71246" y="158160"/>
                  </a:lnTo>
                  <a:lnTo>
                    <a:pt x="82356" y="157642"/>
                  </a:lnTo>
                  <a:lnTo>
                    <a:pt x="121782" y="134904"/>
                  </a:lnTo>
                  <a:lnTo>
                    <a:pt x="141991" y="91455"/>
                  </a:lnTo>
                  <a:lnTo>
                    <a:pt x="142493" y="78821"/>
                  </a:lnTo>
                  <a:lnTo>
                    <a:pt x="141991" y="66690"/>
                  </a:lnTo>
                  <a:lnTo>
                    <a:pt x="121782" y="23240"/>
                  </a:lnTo>
                  <a:lnTo>
                    <a:pt x="82356" y="1005"/>
                  </a:lnTo>
                  <a:lnTo>
                    <a:pt x="71246" y="0"/>
                  </a:lnTo>
                  <a:close/>
                </a:path>
              </a:pathLst>
            </a:custGeom>
            <a:solidFill>
              <a:srgbClr val="A40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2011954" y="8085028"/>
              <a:ext cx="142875" cy="158750"/>
            </a:xfrm>
            <a:custGeom>
              <a:avLst/>
              <a:gdLst/>
              <a:ahLst/>
              <a:cxnLst/>
              <a:rect l="l" t="t" r="r" b="b"/>
              <a:pathLst>
                <a:path w="142875" h="158750">
                  <a:moveTo>
                    <a:pt x="142493" y="78821"/>
                  </a:moveTo>
                  <a:lnTo>
                    <a:pt x="128854" y="125303"/>
                  </a:lnTo>
                  <a:lnTo>
                    <a:pt x="93482" y="154609"/>
                  </a:lnTo>
                  <a:lnTo>
                    <a:pt x="71246" y="158160"/>
                  </a:lnTo>
                  <a:lnTo>
                    <a:pt x="60137" y="157642"/>
                  </a:lnTo>
                  <a:lnTo>
                    <a:pt x="20726" y="134904"/>
                  </a:lnTo>
                  <a:lnTo>
                    <a:pt x="1021" y="91455"/>
                  </a:lnTo>
                  <a:lnTo>
                    <a:pt x="0" y="78821"/>
                  </a:lnTo>
                  <a:lnTo>
                    <a:pt x="1021" y="66690"/>
                  </a:lnTo>
                  <a:lnTo>
                    <a:pt x="20726" y="23240"/>
                  </a:lnTo>
                  <a:lnTo>
                    <a:pt x="60137" y="1005"/>
                  </a:lnTo>
                  <a:lnTo>
                    <a:pt x="71246" y="0"/>
                  </a:lnTo>
                  <a:lnTo>
                    <a:pt x="82356" y="1005"/>
                  </a:lnTo>
                  <a:lnTo>
                    <a:pt x="121782" y="23240"/>
                  </a:lnTo>
                  <a:lnTo>
                    <a:pt x="141991" y="66690"/>
                  </a:lnTo>
                  <a:lnTo>
                    <a:pt x="142493" y="78821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9" name="object 149"/>
          <p:cNvSpPr txBox="1"/>
          <p:nvPr/>
        </p:nvSpPr>
        <p:spPr>
          <a:xfrm>
            <a:off x="1738527" y="8102675"/>
            <a:ext cx="404495" cy="329565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15"/>
              </a:spcBef>
            </a:pPr>
            <a:r>
              <a:rPr dirty="0" sz="650" spc="-180">
                <a:latin typeface="Arial"/>
                <a:cs typeface="Arial"/>
              </a:rPr>
              <a:t>3</a:t>
            </a:r>
            <a:r>
              <a:rPr dirty="0" sz="650" spc="-18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-180">
                <a:latin typeface="Arial"/>
                <a:cs typeface="Arial"/>
              </a:rPr>
              <a:t>1</a:t>
            </a:r>
            <a:r>
              <a:rPr dirty="0" sz="650" spc="-180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650" spc="-18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650" spc="-180">
                <a:latin typeface="Arial"/>
                <a:cs typeface="Arial"/>
              </a:rPr>
              <a:t>2</a:t>
            </a:r>
            <a:r>
              <a:rPr dirty="0" sz="650" spc="-18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650" spc="-180">
                <a:latin typeface="Arial"/>
                <a:cs typeface="Arial"/>
              </a:rPr>
              <a:t>4</a:t>
            </a:r>
            <a:endParaRPr sz="650">
              <a:latin typeface="Arial"/>
              <a:cs typeface="Arial"/>
            </a:endParaRPr>
          </a:p>
        </p:txBody>
      </p:sp>
      <p:graphicFrame>
        <p:nvGraphicFramePr>
          <p:cNvPr id="150" name="object 150"/>
          <p:cNvGraphicFramePr>
            <a:graphicFrameLocks noGrp="1"/>
          </p:cNvGraphicFramePr>
          <p:nvPr/>
        </p:nvGraphicFramePr>
        <p:xfrm>
          <a:off x="1468205" y="8803030"/>
          <a:ext cx="1228090" cy="4025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2400"/>
                <a:gridCol w="151765"/>
                <a:gridCol w="156210"/>
                <a:gridCol w="147320"/>
                <a:gridCol w="151129"/>
                <a:gridCol w="151765"/>
                <a:gridCol w="151130"/>
                <a:gridCol w="153669"/>
              </a:tblGrid>
              <a:tr h="106612">
                <a:tc>
                  <a:txBody>
                    <a:bodyPr/>
                    <a:lstStyle/>
                    <a:p>
                      <a:pPr marL="50165">
                        <a:lnSpc>
                          <a:spcPts val="685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685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25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9525">
                      <a:solidFill>
                        <a:srgbClr val="CDCDCD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ts val="685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CDCDCD"/>
                      </a:solidFill>
                      <a:prstDash val="solid"/>
                    </a:lnL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25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25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25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25"/>
                        </a:lnSpc>
                      </a:pPr>
                      <a:r>
                        <a:rPr dirty="0" sz="6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73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127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41275">
                    <a:lnL w="3175">
                      <a:solidFill>
                        <a:srgbClr val="FFFF00"/>
                      </a:solidFill>
                      <a:prstDash val="solid"/>
                    </a:lnL>
                    <a:lnR w="12700">
                      <a:solidFill>
                        <a:srgbClr val="CDCDCD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12700">
                      <a:solidFill>
                        <a:srgbClr val="CDCDCD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556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556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556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6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3175">
                      <a:solidFill>
                        <a:srgbClr val="FFFF00"/>
                      </a:solidFill>
                      <a:prstDash val="solid"/>
                    </a:lnL>
                    <a:lnR w="952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</a:tr>
              <a:tr h="114706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CDCDCD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5"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450" spc="5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sorted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23495">
                    <a:lnL w="9525">
                      <a:solidFill>
                        <a:srgbClr val="CDCDCD"/>
                      </a:solidFill>
                      <a:prstDash val="solid"/>
                    </a:lnL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51" name="object 151"/>
          <p:cNvSpPr/>
          <p:nvPr/>
        </p:nvSpPr>
        <p:spPr>
          <a:xfrm>
            <a:off x="2548569" y="8186084"/>
            <a:ext cx="0" cy="10160"/>
          </a:xfrm>
          <a:custGeom>
            <a:avLst/>
            <a:gdLst/>
            <a:ahLst/>
            <a:cxnLst/>
            <a:rect l="l" t="t" r="r" b="b"/>
            <a:pathLst>
              <a:path w="0" h="10159">
                <a:moveTo>
                  <a:pt x="0" y="0"/>
                </a:moveTo>
                <a:lnTo>
                  <a:pt x="0" y="96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152" name="object 152"/>
          <p:cNvGraphicFramePr>
            <a:graphicFrameLocks noGrp="1"/>
          </p:cNvGraphicFramePr>
          <p:nvPr/>
        </p:nvGraphicFramePr>
        <p:xfrm>
          <a:off x="3285113" y="8760922"/>
          <a:ext cx="1352550" cy="4425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2085"/>
                <a:gridCol w="162560"/>
                <a:gridCol w="167639"/>
                <a:gridCol w="167004"/>
                <a:gridCol w="167004"/>
                <a:gridCol w="167640"/>
                <a:gridCol w="167005"/>
                <a:gridCol w="169544"/>
              </a:tblGrid>
              <a:tr h="116896">
                <a:tc>
                  <a:txBody>
                    <a:bodyPr/>
                    <a:lstStyle/>
                    <a:p>
                      <a:pPr marL="55244">
                        <a:lnSpc>
                          <a:spcPts val="745"/>
                        </a:lnSpc>
                      </a:pPr>
                      <a:r>
                        <a:rPr dirty="0" sz="7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2700">
                      <a:solidFill>
                        <a:srgbClr val="CDCDCD"/>
                      </a:solidFill>
                      <a:prstDash val="solid"/>
                    </a:lnR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45"/>
                        </a:lnSpc>
                      </a:pPr>
                      <a:r>
                        <a:rPr dirty="0" sz="7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CDCDCD"/>
                      </a:solidFill>
                      <a:prstDash val="solid"/>
                    </a:lnL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95"/>
                        </a:lnSpc>
                      </a:pPr>
                      <a:r>
                        <a:rPr dirty="0" sz="7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58419">
                        <a:lnSpc>
                          <a:spcPts val="745"/>
                        </a:lnSpc>
                      </a:pPr>
                      <a:r>
                        <a:rPr dirty="0" sz="7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95"/>
                        </a:lnSpc>
                      </a:pPr>
                      <a:r>
                        <a:rPr dirty="0" sz="7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55880">
                        <a:lnSpc>
                          <a:spcPts val="795"/>
                        </a:lnSpc>
                      </a:pPr>
                      <a:r>
                        <a:rPr dirty="0" sz="7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ts val="795"/>
                        </a:lnSpc>
                      </a:pPr>
                      <a:r>
                        <a:rPr dirty="0" sz="7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55880">
                        <a:lnSpc>
                          <a:spcPts val="795"/>
                        </a:lnSpc>
                      </a:pPr>
                      <a:r>
                        <a:rPr dirty="0" sz="7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959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12700">
                      <a:solidFill>
                        <a:srgbClr val="CDCDCD"/>
                      </a:solidFill>
                      <a:prstDash val="solid"/>
                    </a:lnR>
                    <a:lnT w="6350">
                      <a:solidFill>
                        <a:srgbClr val="FFFF00"/>
                      </a:solidFill>
                      <a:prstDash val="solid"/>
                    </a:lnT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7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41275">
                    <a:lnL w="12700">
                      <a:solidFill>
                        <a:srgbClr val="CDCDCD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6350">
                      <a:solidFill>
                        <a:srgbClr val="FFFF00"/>
                      </a:solidFill>
                      <a:prstDash val="solid"/>
                    </a:lnT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7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41275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6350">
                      <a:solidFill>
                        <a:srgbClr val="FFFF00"/>
                      </a:solidFill>
                      <a:prstDash val="solid"/>
                    </a:lnT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26034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7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41275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6350">
                      <a:solidFill>
                        <a:srgbClr val="FFFF00"/>
                      </a:solidFill>
                      <a:prstDash val="solid"/>
                    </a:lnT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7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23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41275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6350">
                      <a:solidFill>
                        <a:srgbClr val="FFFF00"/>
                      </a:solidFill>
                      <a:prstDash val="solid"/>
                    </a:lnT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7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44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41275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6350">
                      <a:solidFill>
                        <a:srgbClr val="FFFF00"/>
                      </a:solidFill>
                      <a:prstDash val="solid"/>
                    </a:lnT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7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57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41275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6350">
                      <a:solidFill>
                        <a:srgbClr val="FFFF00"/>
                      </a:solidFill>
                      <a:prstDash val="solid"/>
                    </a:lnT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7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87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B="0" marT="41275">
                    <a:lnL w="6350">
                      <a:solidFill>
                        <a:srgbClr val="FFFF00"/>
                      </a:solidFill>
                      <a:prstDash val="solid"/>
                    </a:lnL>
                    <a:lnR w="9525">
                      <a:solidFill>
                        <a:srgbClr val="FFFF00"/>
                      </a:solidFill>
                      <a:prstDash val="solid"/>
                    </a:lnR>
                    <a:lnT w="6350">
                      <a:solidFill>
                        <a:srgbClr val="FFFF00"/>
                      </a:solidFill>
                      <a:prstDash val="solid"/>
                    </a:lnT>
                    <a:lnB w="6350">
                      <a:solidFill>
                        <a:srgbClr val="FFFF00"/>
                      </a:solidFill>
                      <a:prstDash val="solid"/>
                    </a:lnB>
                    <a:solidFill>
                      <a:srgbClr val="A40020"/>
                    </a:solidFill>
                  </a:tcPr>
                </a:tc>
              </a:tr>
              <a:tr h="12580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CDCDCD"/>
                      </a:solidFill>
                      <a:prstDash val="solid"/>
                    </a:lnR>
                    <a:lnT w="6350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500" spc="5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sorted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12700">
                      <a:solidFill>
                        <a:srgbClr val="CDCDCD"/>
                      </a:solidFill>
                      <a:prstDash val="solid"/>
                    </a:lnL>
                    <a:lnT w="6350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grpSp>
        <p:nvGrpSpPr>
          <p:cNvPr id="153" name="object 153"/>
          <p:cNvGrpSpPr/>
          <p:nvPr/>
        </p:nvGrpSpPr>
        <p:grpSpPr>
          <a:xfrm>
            <a:off x="3241547" y="8035734"/>
            <a:ext cx="1437640" cy="1219200"/>
            <a:chOff x="3241547" y="8035734"/>
            <a:chExt cx="1437640" cy="1219200"/>
          </a:xfrm>
        </p:grpSpPr>
        <p:sp>
          <p:nvSpPr>
            <p:cNvPr id="154" name="object 154"/>
            <p:cNvSpPr/>
            <p:nvPr/>
          </p:nvSpPr>
          <p:spPr>
            <a:xfrm>
              <a:off x="3241547" y="8035734"/>
              <a:ext cx="1437640" cy="1219200"/>
            </a:xfrm>
            <a:custGeom>
              <a:avLst/>
              <a:gdLst/>
              <a:ahLst/>
              <a:cxnLst/>
              <a:rect l="l" t="t" r="r" b="b"/>
              <a:pathLst>
                <a:path w="1437639" h="1219200">
                  <a:moveTo>
                    <a:pt x="1437322" y="0"/>
                  </a:moveTo>
                  <a:lnTo>
                    <a:pt x="0" y="0"/>
                  </a:lnTo>
                  <a:lnTo>
                    <a:pt x="0" y="1219009"/>
                  </a:lnTo>
                  <a:lnTo>
                    <a:pt x="1437322" y="1219009"/>
                  </a:lnTo>
                  <a:lnTo>
                    <a:pt x="1437322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4475271" y="8081279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w="0" h="10795">
                  <a:moveTo>
                    <a:pt x="0" y="0"/>
                  </a:moveTo>
                  <a:lnTo>
                    <a:pt x="0" y="105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6" name="object 156"/>
          <p:cNvSpPr txBox="1"/>
          <p:nvPr/>
        </p:nvSpPr>
        <p:spPr>
          <a:xfrm>
            <a:off x="2925837" y="8949969"/>
            <a:ext cx="2205355" cy="595630"/>
          </a:xfrm>
          <a:prstGeom prst="rect">
            <a:avLst/>
          </a:prstGeom>
        </p:spPr>
        <p:txBody>
          <a:bodyPr wrap="square" lIns="0" tIns="1149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5"/>
              </a:spcBef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184785">
              <a:lnSpc>
                <a:spcPct val="100000"/>
              </a:lnSpc>
              <a:spcBef>
                <a:spcPts val="805"/>
              </a:spcBef>
            </a:pPr>
            <a:r>
              <a:rPr dirty="0" sz="1200" spc="-10">
                <a:latin typeface="Times New Roman"/>
                <a:cs typeface="Times New Roman"/>
              </a:rPr>
              <a:t>Figure 4.2: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 sort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486660" cy="6197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4.2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8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O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4.2.3	Heapify</a:t>
            </a:r>
            <a:r>
              <a:rPr dirty="0" sz="1400" spc="-10" b="1">
                <a:latin typeface="Times New Roman"/>
                <a:cs typeface="Times New Roman"/>
              </a:rPr>
              <a:t> </a:t>
            </a:r>
            <a:r>
              <a:rPr dirty="0" sz="1400" spc="5" b="1">
                <a:latin typeface="Times New Roman"/>
                <a:cs typeface="Times New Roman"/>
              </a:rPr>
              <a:t>Procedure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14400" y="3286200"/>
            <a:ext cx="5486400" cy="2268855"/>
          </a:xfrm>
          <a:custGeom>
            <a:avLst/>
            <a:gdLst/>
            <a:ahLst/>
            <a:cxnLst/>
            <a:rect l="l" t="t" r="r" b="b"/>
            <a:pathLst>
              <a:path w="5486400" h="2268854">
                <a:moveTo>
                  <a:pt x="5130" y="5359"/>
                </a:moveTo>
                <a:lnTo>
                  <a:pt x="0" y="5359"/>
                </a:lnTo>
                <a:lnTo>
                  <a:pt x="0" y="2268270"/>
                </a:lnTo>
                <a:lnTo>
                  <a:pt x="5130" y="2268270"/>
                </a:lnTo>
                <a:lnTo>
                  <a:pt x="5130" y="5359"/>
                </a:lnTo>
                <a:close/>
              </a:path>
              <a:path w="5486400" h="2268854">
                <a:moveTo>
                  <a:pt x="5486400" y="0"/>
                </a:moveTo>
                <a:lnTo>
                  <a:pt x="0" y="0"/>
                </a:lnTo>
                <a:lnTo>
                  <a:pt x="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01696" y="1292786"/>
            <a:ext cx="6409055" cy="40290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There is </a:t>
            </a:r>
            <a:r>
              <a:rPr dirty="0" sz="1200" spc="-10">
                <a:latin typeface="Times New Roman"/>
                <a:cs typeface="Times New Roman"/>
              </a:rPr>
              <a:t>one principal operation for maintaining the </a:t>
            </a:r>
            <a:r>
              <a:rPr dirty="0" sz="1200" spc="-5">
                <a:latin typeface="Times New Roman"/>
                <a:cs typeface="Times New Roman"/>
              </a:rPr>
              <a:t>heap </a:t>
            </a:r>
            <a:r>
              <a:rPr dirty="0" sz="1200" spc="-15">
                <a:latin typeface="Times New Roman"/>
                <a:cs typeface="Times New Roman"/>
              </a:rPr>
              <a:t>property.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 called </a:t>
            </a:r>
            <a:r>
              <a:rPr dirty="0" sz="1200" spc="-15">
                <a:latin typeface="Times New Roman"/>
                <a:cs typeface="Times New Roman"/>
              </a:rPr>
              <a:t>Heapify.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(In </a:t>
            </a:r>
            <a:r>
              <a:rPr dirty="0" sz="1200" spc="-5">
                <a:latin typeface="Times New Roman"/>
                <a:cs typeface="Times New Roman"/>
              </a:rPr>
              <a:t>other </a:t>
            </a:r>
            <a:r>
              <a:rPr dirty="0" sz="1200" spc="-10">
                <a:latin typeface="Times New Roman"/>
                <a:cs typeface="Times New Roman"/>
              </a:rPr>
              <a:t>books </a:t>
            </a: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sometimes called </a:t>
            </a:r>
            <a:r>
              <a:rPr dirty="0" sz="1200" spc="-10">
                <a:latin typeface="Times New Roman"/>
                <a:cs typeface="Times New Roman"/>
              </a:rPr>
              <a:t>sifting </a:t>
            </a:r>
            <a:r>
              <a:rPr dirty="0" sz="1200" spc="-15">
                <a:latin typeface="Times New Roman"/>
                <a:cs typeface="Times New Roman"/>
              </a:rPr>
              <a:t>down.)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idea is that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5">
                <a:latin typeface="Times New Roman"/>
                <a:cs typeface="Times New Roman"/>
              </a:rPr>
              <a:t>an element 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heap </a:t>
            </a:r>
            <a:r>
              <a:rPr dirty="0" sz="1200" spc="-10">
                <a:latin typeface="Times New Roman"/>
                <a:cs typeface="Times New Roman"/>
              </a:rPr>
              <a:t>which we </a:t>
            </a:r>
            <a:r>
              <a:rPr dirty="0" sz="1200" spc="-5">
                <a:latin typeface="Times New Roman"/>
                <a:cs typeface="Times New Roman"/>
              </a:rPr>
              <a:t>suspect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valid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 </a:t>
            </a:r>
            <a:r>
              <a:rPr dirty="0" sz="1200" spc="-15">
                <a:latin typeface="Times New Roman"/>
                <a:cs typeface="Times New Roman"/>
              </a:rPr>
              <a:t>order,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assume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 the elements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subtree </a:t>
            </a:r>
            <a:r>
              <a:rPr dirty="0" sz="1200" spc="-10">
                <a:latin typeface="Times New Roman"/>
                <a:cs typeface="Times New Roman"/>
              </a:rPr>
              <a:t>rooted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 element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heap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order.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particular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root</a:t>
            </a:r>
            <a:r>
              <a:rPr dirty="0" sz="1200" spc="-5">
                <a:latin typeface="Times New Roman"/>
                <a:cs typeface="Times New Roman"/>
              </a:rPr>
              <a:t> element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too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fix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“sift”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down 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swapping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children.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child?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 children to satisfy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heap </a:t>
            </a:r>
            <a:r>
              <a:rPr dirty="0" sz="1200" spc="-10">
                <a:latin typeface="Times New Roman"/>
                <a:cs typeface="Times New Roman"/>
              </a:rPr>
              <a:t>ordering </a:t>
            </a:r>
            <a:r>
              <a:rPr dirty="0" sz="1200" spc="-15">
                <a:latin typeface="Times New Roman"/>
                <a:cs typeface="Times New Roman"/>
              </a:rPr>
              <a:t>property.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continues </a:t>
            </a:r>
            <a:r>
              <a:rPr dirty="0" sz="1200" spc="-10">
                <a:latin typeface="Times New Roman"/>
                <a:cs typeface="Times New Roman"/>
              </a:rPr>
              <a:t>recursively until the </a:t>
            </a:r>
            <a:r>
              <a:rPr dirty="0" sz="1200" spc="-5">
                <a:latin typeface="Times New Roman"/>
                <a:cs typeface="Times New Roman"/>
              </a:rPr>
              <a:t>element is either </a:t>
            </a:r>
            <a:r>
              <a:rPr dirty="0" sz="1200" spc="-10">
                <a:latin typeface="Times New Roman"/>
                <a:cs typeface="Times New Roman"/>
              </a:rPr>
              <a:t>larger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 </a:t>
            </a:r>
            <a:r>
              <a:rPr dirty="0" sz="1200" spc="-10">
                <a:latin typeface="Times New Roman"/>
                <a:cs typeface="Times New Roman"/>
              </a:rPr>
              <a:t>both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children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until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falls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heap 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array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the index </a:t>
            </a:r>
            <a:r>
              <a:rPr dirty="0" sz="1200" spc="80">
                <a:latin typeface="Lucida Sans Unicode"/>
                <a:cs typeface="Lucida Sans Unicode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suspected element, and </a:t>
            </a:r>
            <a:r>
              <a:rPr dirty="0" sz="1200" spc="-30">
                <a:latin typeface="Lucida Sans Unicode"/>
                <a:cs typeface="Lucida Sans Unicode"/>
              </a:rPr>
              <a:t>m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current </a:t>
            </a:r>
            <a:r>
              <a:rPr dirty="0" sz="1200" spc="-15">
                <a:latin typeface="Times New Roman"/>
                <a:cs typeface="Times New Roman"/>
              </a:rPr>
              <a:t>active </a:t>
            </a:r>
            <a:r>
              <a:rPr dirty="0" sz="1200" spc="-5">
                <a:latin typeface="Times New Roman"/>
                <a:cs typeface="Times New Roman"/>
              </a:rPr>
              <a:t>size 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heap.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element </a:t>
            </a:r>
            <a:r>
              <a:rPr dirty="0" sz="1200" spc="5">
                <a:latin typeface="Lucida Sans Unicode"/>
                <a:cs typeface="Lucida Sans Unicode"/>
              </a:rPr>
              <a:t>A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max</a:t>
            </a:r>
            <a:r>
              <a:rPr dirty="0" sz="1200" spc="5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is set to </a:t>
            </a:r>
            <a:r>
              <a:rPr dirty="0" sz="1200" spc="-10">
                <a:latin typeface="Times New Roman"/>
                <a:cs typeface="Times New Roman"/>
              </a:rPr>
              <a:t>the maximum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Garamond"/>
                <a:cs typeface="Garamond"/>
              </a:rPr>
              <a:t>[</a:t>
            </a:r>
            <a:r>
              <a:rPr dirty="0" sz="1200" spc="40">
                <a:latin typeface="Lucida Sans Unicode"/>
                <a:cs typeface="Lucida Sans Unicode"/>
              </a:rPr>
              <a:t>i</a:t>
            </a:r>
            <a:r>
              <a:rPr dirty="0" sz="1200" spc="40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and it </a:t>
            </a:r>
            <a:r>
              <a:rPr dirty="0" sz="1200" spc="-10">
                <a:latin typeface="Times New Roman"/>
                <a:cs typeface="Times New Roman"/>
              </a:rPr>
              <a:t>two children.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25">
                <a:latin typeface="Lucida Sans Unicode"/>
                <a:cs typeface="Lucida Sans Unicode"/>
              </a:rPr>
              <a:t>max </a:t>
            </a:r>
            <a:r>
              <a:rPr dirty="0" sz="1200" spc="50">
                <a:latin typeface="Segoe UI Symbol"/>
                <a:cs typeface="Segoe UI Symbol"/>
              </a:rPr>
              <a:t>/</a:t>
            </a:r>
            <a:r>
              <a:rPr dirty="0" sz="1200" spc="50">
                <a:latin typeface="Garamond"/>
                <a:cs typeface="Garamond"/>
              </a:rPr>
              <a:t>= </a:t>
            </a:r>
            <a:r>
              <a:rPr dirty="0" sz="1200" spc="80">
                <a:latin typeface="Lucida Sans Unicode"/>
                <a:cs typeface="Lucida Sans Unicode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we swap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Garamond"/>
                <a:cs typeface="Garamond"/>
              </a:rPr>
              <a:t>[</a:t>
            </a:r>
            <a:r>
              <a:rPr dirty="0" sz="1200" spc="40">
                <a:latin typeface="Lucida Sans Unicode"/>
                <a:cs typeface="Lucida Sans Unicode"/>
              </a:rPr>
              <a:t>i</a:t>
            </a:r>
            <a:r>
              <a:rPr dirty="0" sz="1200" spc="40">
                <a:latin typeface="Garamond"/>
                <a:cs typeface="Garamond"/>
              </a:rPr>
              <a:t>] </a:t>
            </a:r>
            <a:r>
              <a:rPr dirty="0" sz="1200" spc="4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A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max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then recurse on </a:t>
            </a:r>
            <a:r>
              <a:rPr dirty="0" sz="1200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max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Times New Roman"/>
              <a:cs typeface="Times New Roman"/>
            </a:endParaRPr>
          </a:p>
          <a:p>
            <a:pPr marL="59055">
              <a:lnSpc>
                <a:spcPct val="100000"/>
              </a:lnSpc>
              <a:spcBef>
                <a:spcPts val="5"/>
              </a:spcBef>
            </a:pPr>
            <a:r>
              <a:rPr dirty="0" sz="950" spc="60">
                <a:latin typeface="Times New Roman"/>
                <a:cs typeface="Times New Roman"/>
              </a:rPr>
              <a:t>HEAPIFY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A,</a:t>
            </a:r>
            <a:r>
              <a:rPr dirty="0" sz="1200" spc="10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i,</a:t>
            </a:r>
            <a:r>
              <a:rPr dirty="0" sz="1200" spc="10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m</a:t>
            </a:r>
            <a:r>
              <a:rPr dirty="0" sz="1200" spc="4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96875" indent="-227965">
              <a:lnSpc>
                <a:spcPct val="100000"/>
              </a:lnSpc>
              <a:buFont typeface="Times New Roman"/>
              <a:buAutoNum type="arabicPlain"/>
              <a:tabLst>
                <a:tab pos="396875" algn="l"/>
                <a:tab pos="397510" algn="l"/>
              </a:tabLst>
            </a:pPr>
            <a:r>
              <a:rPr dirty="0" sz="1200" spc="85">
                <a:latin typeface="Lucida Sans Unicode"/>
                <a:cs typeface="Lucida Sans Unicode"/>
              </a:rPr>
              <a:t>l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950" spc="70">
                <a:latin typeface="Times New Roman"/>
                <a:cs typeface="Times New Roman"/>
              </a:rPr>
              <a:t>LEFT</a:t>
            </a:r>
            <a:r>
              <a:rPr dirty="0" sz="1200" spc="70">
                <a:latin typeface="Garamond"/>
                <a:cs typeface="Garamond"/>
              </a:rPr>
              <a:t>(</a:t>
            </a:r>
            <a:r>
              <a:rPr dirty="0" sz="1200" spc="70">
                <a:latin typeface="Lucida Sans Unicode"/>
                <a:cs typeface="Lucida Sans Unicode"/>
              </a:rPr>
              <a:t>i</a:t>
            </a:r>
            <a:r>
              <a:rPr dirty="0" sz="1200" spc="7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96875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96875" algn="l"/>
                <a:tab pos="397510" algn="l"/>
              </a:tabLst>
            </a:pPr>
            <a:r>
              <a:rPr dirty="0" sz="1200" spc="25">
                <a:latin typeface="Lucida Sans Unicode"/>
                <a:cs typeface="Lucida Sans Unicode"/>
              </a:rPr>
              <a:t>r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950" spc="70">
                <a:latin typeface="Times New Roman"/>
                <a:cs typeface="Times New Roman"/>
              </a:rPr>
              <a:t>RIGHT</a:t>
            </a:r>
            <a:r>
              <a:rPr dirty="0" sz="1200" spc="70">
                <a:latin typeface="Garamond"/>
                <a:cs typeface="Garamond"/>
              </a:rPr>
              <a:t>(</a:t>
            </a:r>
            <a:r>
              <a:rPr dirty="0" sz="1200" spc="70">
                <a:latin typeface="Lucida Sans Unicode"/>
                <a:cs typeface="Lucida Sans Unicode"/>
              </a:rPr>
              <a:t>i</a:t>
            </a:r>
            <a:r>
              <a:rPr dirty="0" sz="1200" spc="7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96875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96875" algn="l"/>
                <a:tab pos="397510" algn="l"/>
              </a:tabLst>
            </a:pP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25">
                <a:latin typeface="Lucida Sans Unicode"/>
                <a:cs typeface="Lucida Sans Unicode"/>
              </a:rPr>
              <a:t>ax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endParaRPr sz="1200">
              <a:latin typeface="Lucida Sans Unicode"/>
              <a:cs typeface="Lucida Sans Unicode"/>
            </a:endParaRPr>
          </a:p>
          <a:p>
            <a:pPr marL="396875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96875" algn="l"/>
                <a:tab pos="397510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l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55">
                <a:latin typeface="Lucida Sans Unicode"/>
                <a:cs typeface="Lucida Sans Unicode"/>
              </a:rPr>
              <a:t>an</a:t>
            </a:r>
            <a:r>
              <a:rPr dirty="0" sz="1200" spc="-35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5">
                <a:latin typeface="Lucida Sans Unicode"/>
                <a:cs typeface="Lucida Sans Unicode"/>
              </a:rPr>
              <a:t>l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25">
                <a:latin typeface="Lucida Sans Unicode"/>
                <a:cs typeface="Lucida Sans Unicode"/>
              </a:rPr>
              <a:t>ax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27685" indent="-35877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27685" algn="l"/>
                <a:tab pos="52832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max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l</a:t>
            </a:r>
            <a:endParaRPr sz="1200">
              <a:latin typeface="Lucida Sans Unicode"/>
              <a:cs typeface="Lucida Sans Unicode"/>
            </a:endParaRPr>
          </a:p>
          <a:p>
            <a:pPr marL="396875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96875" algn="l"/>
                <a:tab pos="397510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r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55">
                <a:latin typeface="Lucida Sans Unicode"/>
                <a:cs typeface="Lucida Sans Unicode"/>
              </a:rPr>
              <a:t>an</a:t>
            </a:r>
            <a:r>
              <a:rPr dirty="0" sz="1200" spc="-35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r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25">
                <a:latin typeface="Lucida Sans Unicode"/>
                <a:cs typeface="Lucida Sans Unicode"/>
              </a:rPr>
              <a:t>ax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27685" indent="-35877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27685" algn="l"/>
                <a:tab pos="52832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max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r</a:t>
            </a:r>
            <a:endParaRPr sz="1200">
              <a:latin typeface="Lucida Sans Unicode"/>
              <a:cs typeface="Lucida Sans Unicode"/>
            </a:endParaRPr>
          </a:p>
          <a:p>
            <a:pPr marL="396875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96875" algn="l"/>
                <a:tab pos="39751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Lucida Sans Unicode"/>
                <a:cs typeface="Lucida Sans Unicode"/>
              </a:rPr>
              <a:t>max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Segoe UI Symbol"/>
                <a:cs typeface="Segoe UI Symbol"/>
              </a:rPr>
              <a:t>/</a:t>
            </a:r>
            <a:r>
              <a:rPr dirty="0" sz="1200" spc="50">
                <a:latin typeface="Garamond"/>
                <a:cs typeface="Garamond"/>
              </a:rPr>
              <a:t>=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i</a:t>
            </a:r>
            <a:r>
              <a:rPr dirty="0" sz="1200" spc="9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27685" indent="-35877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27685" algn="l"/>
                <a:tab pos="528320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950" spc="55">
                <a:latin typeface="Times New Roman"/>
                <a:cs typeface="Times New Roman"/>
              </a:rPr>
              <a:t>S</a:t>
            </a:r>
            <a:r>
              <a:rPr dirty="0" sz="950" spc="-55">
                <a:latin typeface="Times New Roman"/>
                <a:cs typeface="Times New Roman"/>
              </a:rPr>
              <a:t>W</a:t>
            </a:r>
            <a:r>
              <a:rPr dirty="0" sz="950" spc="55">
                <a:latin typeface="Times New Roman"/>
                <a:cs typeface="Times New Roman"/>
              </a:rPr>
              <a:t>A</a:t>
            </a:r>
            <a:r>
              <a:rPr dirty="0" sz="950" spc="25">
                <a:latin typeface="Times New Roman"/>
                <a:cs typeface="Times New Roman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25">
                <a:latin typeface="Lucida Sans Unicode"/>
                <a:cs typeface="Lucida Sans Unicode"/>
              </a:rPr>
              <a:t>ax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855980" indent="-763270">
              <a:lnSpc>
                <a:spcPct val="100000"/>
              </a:lnSpc>
              <a:spcBef>
                <a:spcPts val="5"/>
              </a:spcBef>
              <a:buSzPct val="126315"/>
              <a:buAutoNum type="arabicPlain"/>
              <a:tabLst>
                <a:tab pos="855980" algn="l"/>
                <a:tab pos="856615" algn="l"/>
              </a:tabLst>
            </a:pPr>
            <a:r>
              <a:rPr dirty="0" sz="950" spc="55">
                <a:latin typeface="Times New Roman"/>
                <a:cs typeface="Times New Roman"/>
              </a:rPr>
              <a:t>HEAPIF</a:t>
            </a:r>
            <a:r>
              <a:rPr dirty="0" sz="950" spc="25">
                <a:latin typeface="Times New Roman"/>
                <a:cs typeface="Times New Roman"/>
              </a:rPr>
              <a:t>Y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25">
                <a:latin typeface="Lucida Sans Unicode"/>
                <a:cs typeface="Lucida Sans Unicode"/>
              </a:rPr>
              <a:t>ax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m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914400" y="3291560"/>
            <a:ext cx="5487035" cy="2267585"/>
          </a:xfrm>
          <a:custGeom>
            <a:avLst/>
            <a:gdLst/>
            <a:ahLst/>
            <a:cxnLst/>
            <a:rect l="l" t="t" r="r" b="b"/>
            <a:pathLst>
              <a:path w="5487035" h="2267585">
                <a:moveTo>
                  <a:pt x="5486959" y="0"/>
                </a:moveTo>
                <a:lnTo>
                  <a:pt x="5481828" y="0"/>
                </a:lnTo>
                <a:lnTo>
                  <a:pt x="5481828" y="2262352"/>
                </a:lnTo>
                <a:lnTo>
                  <a:pt x="0" y="2262352"/>
                </a:lnTo>
                <a:lnTo>
                  <a:pt x="0" y="2267483"/>
                </a:lnTo>
                <a:lnTo>
                  <a:pt x="5486400" y="2267483"/>
                </a:lnTo>
                <a:lnTo>
                  <a:pt x="5486400" y="2262911"/>
                </a:lnTo>
                <a:lnTo>
                  <a:pt x="5486959" y="2262911"/>
                </a:lnTo>
                <a:lnTo>
                  <a:pt x="5486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901699" y="5954318"/>
            <a:ext cx="6426200" cy="30289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lvl="2" marL="558800" indent="-546735">
              <a:lnSpc>
                <a:spcPct val="100000"/>
              </a:lnSpc>
              <a:spcBef>
                <a:spcPts val="135"/>
              </a:spcBef>
              <a:buAutoNum type="arabicPeriod" startAt="4"/>
              <a:tabLst>
                <a:tab pos="558800" algn="l"/>
                <a:tab pos="559435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Analysis</a:t>
            </a:r>
            <a:r>
              <a:rPr dirty="0" sz="1400" spc="-1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of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Heapify</a:t>
            </a:r>
            <a:endParaRPr sz="1400">
              <a:latin typeface="Times New Roman"/>
              <a:cs typeface="Times New Roman"/>
            </a:endParaRPr>
          </a:p>
          <a:p>
            <a:pPr marL="12700" marR="5080" indent="-635">
              <a:lnSpc>
                <a:spcPct val="100000"/>
              </a:lnSpc>
              <a:spcBef>
                <a:spcPts val="140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heapify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root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move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Θ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Times New Roman"/>
                <a:cs typeface="Times New Roman"/>
              </a:rPr>
              <a:t>log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-20">
                <a:latin typeface="Garamond"/>
                <a:cs typeface="Garamond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levels.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comparison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O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1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heapify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thus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O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Notice </a:t>
            </a:r>
            <a:r>
              <a:rPr dirty="0" sz="1200" spc="-5">
                <a:latin typeface="Times New Roman"/>
                <a:cs typeface="Times New Roman"/>
              </a:rPr>
              <a:t> that it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Θ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since,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 heapify 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leaf,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terminate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Θ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00">
              <a:latin typeface="Times New Roman"/>
              <a:cs typeface="Times New Roman"/>
            </a:endParaRPr>
          </a:p>
          <a:p>
            <a:pPr lvl="2" marL="558800" indent="-546735">
              <a:lnSpc>
                <a:spcPct val="100000"/>
              </a:lnSpc>
              <a:buAutoNum type="arabicPeriod" startAt="5"/>
              <a:tabLst>
                <a:tab pos="558800" algn="l"/>
                <a:tab pos="559435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BuildHeap</a:t>
            </a: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140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can 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Heapify to </a:t>
            </a:r>
            <a:r>
              <a:rPr dirty="0" sz="1200" spc="-10">
                <a:latin typeface="Times New Roman"/>
                <a:cs typeface="Times New Roman"/>
              </a:rPr>
              <a:t>build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heap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10">
                <a:latin typeface="Times New Roman"/>
                <a:cs typeface="Times New Roman"/>
              </a:rPr>
              <a:t>follows.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start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 a heap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elements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 </a:t>
            </a:r>
            <a:r>
              <a:rPr dirty="0" sz="1200" spc="-20">
                <a:latin typeface="Times New Roman"/>
                <a:cs typeface="Times New Roman"/>
              </a:rPr>
              <a:t>order. </a:t>
            </a:r>
            <a:r>
              <a:rPr dirty="0" sz="1200" spc="-1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are just 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 order that </a:t>
            </a:r>
            <a:r>
              <a:rPr dirty="0" sz="1200" spc="-1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were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5">
                <a:latin typeface="Times New Roman"/>
                <a:cs typeface="Times New Roman"/>
              </a:rPr>
              <a:t>to us 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array A.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build the </a:t>
            </a:r>
            <a:r>
              <a:rPr dirty="0" sz="1200" spc="-5">
                <a:latin typeface="Times New Roman"/>
                <a:cs typeface="Times New Roman"/>
              </a:rPr>
              <a:t>heap by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starting 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leaf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20">
                <a:latin typeface="Times New Roman"/>
                <a:cs typeface="Times New Roman"/>
              </a:rPr>
              <a:t>invoke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Heapify 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node.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(Note: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cannot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 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tree. </a:t>
            </a:r>
            <a:r>
              <a:rPr dirty="0" sz="1200" spc="-10">
                <a:latin typeface="Times New Roman"/>
                <a:cs typeface="Times New Roman"/>
              </a:rPr>
              <a:t>Why not?</a:t>
            </a:r>
            <a:r>
              <a:rPr dirty="0" sz="1200" spc="-5">
                <a:latin typeface="Times New Roman"/>
                <a:cs typeface="Times New Roman"/>
              </a:rPr>
              <a:t> Because </a:t>
            </a:r>
            <a:r>
              <a:rPr dirty="0" sz="1200" spc="-10">
                <a:latin typeface="Times New Roman"/>
                <a:cs typeface="Times New Roman"/>
              </a:rPr>
              <a:t>the precondition which </a:t>
            </a:r>
            <a:r>
              <a:rPr dirty="0" sz="1200" spc="-5">
                <a:latin typeface="Times New Roman"/>
                <a:cs typeface="Times New Roman"/>
              </a:rPr>
              <a:t>Heapify assumes is that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entire tree </a:t>
            </a:r>
            <a:r>
              <a:rPr dirty="0" sz="1200" spc="-10">
                <a:latin typeface="Times New Roman"/>
                <a:cs typeface="Times New Roman"/>
              </a:rPr>
              <a:t>rooted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 spc="-10">
                <a:latin typeface="Times New Roman"/>
                <a:cs typeface="Times New Roman"/>
              </a:rPr>
              <a:t>node </a:t>
            </a:r>
            <a:r>
              <a:rPr dirty="0" sz="1200" spc="80">
                <a:latin typeface="Lucida Sans Unicode"/>
                <a:cs typeface="Lucida Sans Unicode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already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order,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except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i</a:t>
            </a:r>
            <a:r>
              <a:rPr dirty="0" sz="1200" spc="20">
                <a:latin typeface="Times New Roman"/>
                <a:cs typeface="Times New Roman"/>
              </a:rPr>
              <a:t>.)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Actually,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each 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leaf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already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 </a:t>
            </a:r>
            <a:r>
              <a:rPr dirty="0" sz="1200" spc="-15">
                <a:latin typeface="Times New Roman"/>
                <a:cs typeface="Times New Roman"/>
              </a:rPr>
              <a:t>order,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well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skip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leaves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 non-leaf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node.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be in </a:t>
            </a:r>
            <a:r>
              <a:rPr dirty="0" sz="1200" spc="-10">
                <a:latin typeface="Times New Roman"/>
                <a:cs typeface="Times New Roman"/>
              </a:rPr>
              <a:t>position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n/2</a:t>
            </a:r>
            <a:r>
              <a:rPr dirty="0" sz="1200" spc="-40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(Can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see </a:t>
            </a:r>
            <a:r>
              <a:rPr dirty="0" sz="1200" spc="-10">
                <a:latin typeface="Times New Roman"/>
                <a:cs typeface="Times New Roman"/>
              </a:rPr>
              <a:t>why?)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6426835" cy="7969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835525" algn="l"/>
              </a:tabLst>
            </a:pPr>
            <a:r>
              <a:rPr dirty="0" sz="1200" spc="-5">
                <a:latin typeface="Times New Roman"/>
                <a:cs typeface="Times New Roman"/>
              </a:rPr>
              <a:t>44	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685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Here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code.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entire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array,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parameter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Heapify,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indicates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current heap size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be equal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 of array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in all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calls.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16971" y="1455388"/>
            <a:ext cx="5481955" cy="982980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1905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15"/>
              </a:spcBef>
            </a:pPr>
            <a:r>
              <a:rPr dirty="0" sz="950" spc="60">
                <a:latin typeface="Times New Roman"/>
                <a:cs typeface="Times New Roman"/>
              </a:rPr>
              <a:t>BUILDHEAP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A,</a:t>
            </a:r>
            <a:r>
              <a:rPr dirty="0" sz="1200" spc="9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</a:t>
            </a:r>
            <a:r>
              <a:rPr dirty="0" sz="1200" spc="-20" b="1">
                <a:latin typeface="Times New Roman"/>
                <a:cs typeface="Times New Roman"/>
              </a:rPr>
              <a:t>o</a:t>
            </a:r>
            <a:r>
              <a:rPr dirty="0" sz="1200" spc="-10" b="1">
                <a:latin typeface="Times New Roman"/>
                <a:cs typeface="Times New Roman"/>
              </a:rPr>
              <a:t>w</a:t>
            </a:r>
            <a:r>
              <a:rPr dirty="0" sz="1200" spc="-5" b="1">
                <a:latin typeface="Times New Roman"/>
                <a:cs typeface="Times New Roman"/>
              </a:rPr>
              <a:t>n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306070" indent="-228600">
              <a:lnSpc>
                <a:spcPct val="100000"/>
              </a:lnSpc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endParaRPr sz="1200">
              <a:latin typeface="Times New Roman"/>
              <a:cs typeface="Times New Roman"/>
            </a:endParaRPr>
          </a:p>
          <a:p>
            <a:pPr marL="508000" indent="-430530">
              <a:lnSpc>
                <a:spcPct val="100000"/>
              </a:lnSpc>
              <a:spcBef>
                <a:spcPts val="5"/>
              </a:spcBef>
              <a:buSzPct val="126315"/>
              <a:buAutoNum type="arabicPlain"/>
              <a:tabLst>
                <a:tab pos="508000" algn="l"/>
                <a:tab pos="508634" algn="l"/>
              </a:tabLst>
            </a:pPr>
            <a:r>
              <a:rPr dirty="0" sz="950" spc="55">
                <a:latin typeface="Times New Roman"/>
                <a:cs typeface="Times New Roman"/>
              </a:rPr>
              <a:t>HEAPIF</a:t>
            </a:r>
            <a:r>
              <a:rPr dirty="0" sz="950" spc="25">
                <a:latin typeface="Times New Roman"/>
                <a:cs typeface="Times New Roman"/>
              </a:rPr>
              <a:t>Y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395983" y="3840170"/>
            <a:ext cx="5399405" cy="2590800"/>
            <a:chOff x="1395983" y="3840170"/>
            <a:chExt cx="5399405" cy="2590800"/>
          </a:xfrm>
        </p:grpSpPr>
        <p:sp>
          <p:nvSpPr>
            <p:cNvPr id="5" name="object 5"/>
            <p:cNvSpPr/>
            <p:nvPr/>
          </p:nvSpPr>
          <p:spPr>
            <a:xfrm>
              <a:off x="1395983" y="3840170"/>
              <a:ext cx="5399405" cy="2590800"/>
            </a:xfrm>
            <a:custGeom>
              <a:avLst/>
              <a:gdLst/>
              <a:ahLst/>
              <a:cxnLst/>
              <a:rect l="l" t="t" r="r" b="b"/>
              <a:pathLst>
                <a:path w="5399405" h="2590800">
                  <a:moveTo>
                    <a:pt x="5399303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5399303" y="2590601"/>
                  </a:lnTo>
                  <a:lnTo>
                    <a:pt x="5399303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55032" y="3905506"/>
              <a:ext cx="4245916" cy="2463297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2443567" y="4719506"/>
            <a:ext cx="127635" cy="2730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86876" y="5360767"/>
            <a:ext cx="127635" cy="2730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82101" y="6042541"/>
            <a:ext cx="127635" cy="2730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972078" y="5360767"/>
            <a:ext cx="127635" cy="2730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76989" y="4719506"/>
            <a:ext cx="127635" cy="2730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053762" y="5360767"/>
            <a:ext cx="127635" cy="2730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158344" y="5360767"/>
            <a:ext cx="127635" cy="2730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50899" y="2748890"/>
            <a:ext cx="6505575" cy="147002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35"/>
              </a:spcBef>
              <a:tabLst>
                <a:tab pos="6096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4.2.6	Analysis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of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BuildHeap</a:t>
            </a:r>
            <a:endParaRPr sz="1400">
              <a:latin typeface="Times New Roman"/>
              <a:cs typeface="Times New Roman"/>
            </a:endParaRPr>
          </a:p>
          <a:p>
            <a:pPr marL="63500" marR="55880">
              <a:lnSpc>
                <a:spcPct val="100000"/>
              </a:lnSpc>
              <a:spcBef>
                <a:spcPts val="1285"/>
              </a:spcBef>
            </a:pP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convenience, we will </a:t>
            </a:r>
            <a:r>
              <a:rPr dirty="0" sz="1200" spc="-5">
                <a:latin typeface="Times New Roman"/>
                <a:cs typeface="Times New Roman"/>
              </a:rPr>
              <a:t>assume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45">
                <a:latin typeface="Lucida Sans Unicode"/>
                <a:cs typeface="Lucida Sans Unicode"/>
              </a:rPr>
              <a:t>2</a:t>
            </a:r>
            <a:r>
              <a:rPr dirty="0" baseline="31250" sz="1200" spc="-67">
                <a:latin typeface="Verdana"/>
                <a:cs typeface="Verdana"/>
              </a:rPr>
              <a:t>h+1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 </a:t>
            </a:r>
            <a:r>
              <a:rPr dirty="0" sz="1200" spc="-5">
                <a:latin typeface="Lucida Sans Unicode"/>
                <a:cs typeface="Lucida Sans Unicode"/>
              </a:rPr>
              <a:t>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 height </a:t>
            </a:r>
            <a:r>
              <a:rPr dirty="0" sz="1200" spc="-5">
                <a:latin typeface="Times New Roman"/>
                <a:cs typeface="Times New Roman"/>
              </a:rPr>
              <a:t>of tree. The heap is a </a:t>
            </a:r>
            <a:r>
              <a:rPr dirty="0" sz="1200" spc="-10">
                <a:latin typeface="Times New Roman"/>
                <a:cs typeface="Times New Roman"/>
              </a:rPr>
              <a:t>left-complete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 spc="-5">
                <a:latin typeface="Times New Roman"/>
                <a:cs typeface="Times New Roman"/>
              </a:rPr>
              <a:t> tree.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j,</a:t>
            </a:r>
            <a:r>
              <a:rPr dirty="0" sz="1200" spc="160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2</a:t>
            </a:r>
            <a:r>
              <a:rPr dirty="0" baseline="31250" sz="1200" spc="-75">
                <a:latin typeface="Verdana"/>
                <a:cs typeface="Verdana"/>
              </a:rPr>
              <a:t>j</a:t>
            </a:r>
            <a:r>
              <a:rPr dirty="0" baseline="31250" sz="1200" spc="7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tree.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2</a:t>
            </a:r>
            <a:r>
              <a:rPr dirty="0" baseline="31250" sz="1200" spc="-52">
                <a:latin typeface="Verdana"/>
                <a:cs typeface="Verdana"/>
              </a:rPr>
              <a:t>h</a:t>
            </a:r>
            <a:r>
              <a:rPr dirty="0" baseline="31250" sz="1200" spc="-15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nodes.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much </a:t>
            </a:r>
            <a:r>
              <a:rPr dirty="0" sz="1200" spc="-10">
                <a:latin typeface="Times New Roman"/>
                <a:cs typeface="Times New Roman"/>
              </a:rPr>
              <a:t>work</a:t>
            </a:r>
            <a:r>
              <a:rPr dirty="0" sz="1200" spc="-5">
                <a:latin typeface="Times New Roman"/>
                <a:cs typeface="Times New Roman"/>
              </a:rPr>
              <a:t> does </a:t>
            </a:r>
            <a:r>
              <a:rPr dirty="0" sz="1200" spc="-10">
                <a:latin typeface="Times New Roman"/>
                <a:cs typeface="Times New Roman"/>
              </a:rPr>
              <a:t>buildHeap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carry </a:t>
            </a:r>
            <a:r>
              <a:rPr dirty="0" sz="1200" spc="-10">
                <a:latin typeface="Times New Roman"/>
                <a:cs typeface="Times New Roman"/>
              </a:rPr>
              <a:t>out?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heap in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4.3: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50">
              <a:latin typeface="Times New Roman"/>
              <a:cs typeface="Times New Roman"/>
            </a:endParaRPr>
          </a:p>
          <a:p>
            <a:pPr marL="2658110">
              <a:lnSpc>
                <a:spcPct val="100000"/>
              </a:lnSpc>
              <a:tabLst>
                <a:tab pos="5267325" algn="l"/>
              </a:tabLst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3	3</a:t>
            </a:r>
            <a:r>
              <a:rPr dirty="0" sz="1600" spc="-3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dirty="0" sz="1600" spc="-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146650" y="5344917"/>
            <a:ext cx="459105" cy="2730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16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dirty="0" sz="16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136079" y="4705423"/>
            <a:ext cx="459105" cy="2730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16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dirty="0" sz="16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136079" y="6028458"/>
            <a:ext cx="459105" cy="2730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dirty="0" sz="16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dirty="0" sz="16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600">
              <a:latin typeface="Arial"/>
              <a:cs typeface="Arial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5655136" y="4067810"/>
            <a:ext cx="387985" cy="2117725"/>
          </a:xfrm>
          <a:custGeom>
            <a:avLst/>
            <a:gdLst/>
            <a:ahLst/>
            <a:cxnLst/>
            <a:rect l="l" t="t" r="r" b="b"/>
            <a:pathLst>
              <a:path w="387985" h="2117725">
                <a:moveTo>
                  <a:pt x="0" y="0"/>
                </a:moveTo>
                <a:lnTo>
                  <a:pt x="35234" y="0"/>
                </a:lnTo>
              </a:path>
              <a:path w="387985" h="2117725">
                <a:moveTo>
                  <a:pt x="70469" y="0"/>
                </a:moveTo>
                <a:lnTo>
                  <a:pt x="105704" y="0"/>
                </a:lnTo>
              </a:path>
              <a:path w="387985" h="2117725">
                <a:moveTo>
                  <a:pt x="140939" y="0"/>
                </a:moveTo>
                <a:lnTo>
                  <a:pt x="176174" y="0"/>
                </a:lnTo>
              </a:path>
              <a:path w="387985" h="2117725">
                <a:moveTo>
                  <a:pt x="211409" y="0"/>
                </a:moveTo>
                <a:lnTo>
                  <a:pt x="246644" y="0"/>
                </a:lnTo>
              </a:path>
              <a:path w="387985" h="2117725">
                <a:moveTo>
                  <a:pt x="281879" y="0"/>
                </a:moveTo>
                <a:lnTo>
                  <a:pt x="317113" y="0"/>
                </a:lnTo>
              </a:path>
              <a:path w="387985" h="2117725">
                <a:moveTo>
                  <a:pt x="352348" y="0"/>
                </a:moveTo>
                <a:lnTo>
                  <a:pt x="387583" y="0"/>
                </a:lnTo>
              </a:path>
              <a:path w="387985" h="2117725">
                <a:moveTo>
                  <a:pt x="63428" y="794522"/>
                </a:moveTo>
                <a:lnTo>
                  <a:pt x="98663" y="794522"/>
                </a:lnTo>
              </a:path>
              <a:path w="387985" h="2117725">
                <a:moveTo>
                  <a:pt x="133898" y="794522"/>
                </a:moveTo>
                <a:lnTo>
                  <a:pt x="169133" y="794522"/>
                </a:lnTo>
              </a:path>
              <a:path w="387985" h="2117725">
                <a:moveTo>
                  <a:pt x="204368" y="794522"/>
                </a:moveTo>
                <a:lnTo>
                  <a:pt x="239603" y="794522"/>
                </a:lnTo>
              </a:path>
              <a:path w="387985" h="2117725">
                <a:moveTo>
                  <a:pt x="274822" y="794522"/>
                </a:moveTo>
                <a:lnTo>
                  <a:pt x="310057" y="794522"/>
                </a:lnTo>
              </a:path>
              <a:path w="387985" h="2117725">
                <a:moveTo>
                  <a:pt x="345292" y="794522"/>
                </a:moveTo>
                <a:lnTo>
                  <a:pt x="380527" y="794522"/>
                </a:lnTo>
              </a:path>
              <a:path w="387985" h="2117725">
                <a:moveTo>
                  <a:pt x="81046" y="1456913"/>
                </a:moveTo>
                <a:lnTo>
                  <a:pt x="116281" y="1456913"/>
                </a:lnTo>
              </a:path>
              <a:path w="387985" h="2117725">
                <a:moveTo>
                  <a:pt x="151516" y="1456913"/>
                </a:moveTo>
                <a:lnTo>
                  <a:pt x="186750" y="1456913"/>
                </a:lnTo>
              </a:path>
              <a:path w="387985" h="2117725">
                <a:moveTo>
                  <a:pt x="221985" y="1456913"/>
                </a:moveTo>
                <a:lnTo>
                  <a:pt x="257205" y="1456913"/>
                </a:lnTo>
              </a:path>
              <a:path w="387985" h="2117725">
                <a:moveTo>
                  <a:pt x="292455" y="1456913"/>
                </a:moveTo>
                <a:lnTo>
                  <a:pt x="327675" y="1456913"/>
                </a:lnTo>
              </a:path>
              <a:path w="387985" h="2117725">
                <a:moveTo>
                  <a:pt x="362910" y="1456913"/>
                </a:moveTo>
                <a:lnTo>
                  <a:pt x="387583" y="1456913"/>
                </a:lnTo>
              </a:path>
              <a:path w="387985" h="2117725">
                <a:moveTo>
                  <a:pt x="56387" y="2117552"/>
                </a:moveTo>
                <a:lnTo>
                  <a:pt x="91607" y="2117552"/>
                </a:lnTo>
              </a:path>
              <a:path w="387985" h="2117725">
                <a:moveTo>
                  <a:pt x="126842" y="2117552"/>
                </a:moveTo>
                <a:lnTo>
                  <a:pt x="162077" y="2117552"/>
                </a:lnTo>
              </a:path>
              <a:path w="387985" h="2117725">
                <a:moveTo>
                  <a:pt x="197312" y="2117552"/>
                </a:moveTo>
                <a:lnTo>
                  <a:pt x="232547" y="2117552"/>
                </a:lnTo>
              </a:path>
              <a:path w="387985" h="2117725">
                <a:moveTo>
                  <a:pt x="267782" y="2117552"/>
                </a:moveTo>
                <a:lnTo>
                  <a:pt x="303016" y="2117552"/>
                </a:lnTo>
              </a:path>
              <a:path w="387985" h="2117725">
                <a:moveTo>
                  <a:pt x="338251" y="2117552"/>
                </a:moveTo>
                <a:lnTo>
                  <a:pt x="373486" y="2117552"/>
                </a:lnTo>
              </a:path>
            </a:pathLst>
          </a:custGeom>
          <a:ln w="18381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2226880" y="6042541"/>
            <a:ext cx="3322954" cy="66230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  <a:tabLst>
                <a:tab pos="480695" algn="l"/>
                <a:tab pos="1010919" algn="l"/>
                <a:tab pos="1521460" algn="l"/>
                <a:tab pos="2166620" algn="l"/>
                <a:tab pos="2665095" algn="l"/>
                <a:tab pos="3195320" algn="l"/>
              </a:tabLst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400">
              <a:latin typeface="Arial"/>
              <a:cs typeface="Arial"/>
            </a:endParaRPr>
          </a:p>
          <a:p>
            <a:pPr marL="47244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4.3: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performed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buildheap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76299" y="6911429"/>
            <a:ext cx="6349365" cy="82359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bottom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2</a:t>
            </a:r>
            <a:r>
              <a:rPr dirty="0" baseline="31250" sz="1200" spc="-52">
                <a:latin typeface="Verdana"/>
                <a:cs typeface="Verdana"/>
              </a:rPr>
              <a:t>h</a:t>
            </a:r>
            <a:r>
              <a:rPr dirty="0" baseline="31250" sz="1200" spc="-7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heapify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next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up,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are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2</a:t>
            </a:r>
            <a:r>
              <a:rPr dirty="0" baseline="31250" sz="1200" spc="-67">
                <a:latin typeface="Verdana"/>
                <a:cs typeface="Verdana"/>
              </a:rPr>
              <a:t>h−1</a:t>
            </a:r>
            <a:r>
              <a:rPr dirty="0" baseline="31250" sz="1200" spc="-7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nodes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 spc="-10">
                <a:latin typeface="Times New Roman"/>
                <a:cs typeface="Times New Roman"/>
              </a:rPr>
              <a:t>might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shift </a:t>
            </a:r>
            <a:r>
              <a:rPr dirty="0" sz="1200" spc="-15">
                <a:latin typeface="Times New Roman"/>
                <a:cs typeface="Times New Roman"/>
              </a:rPr>
              <a:t>down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general, 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25">
                <a:latin typeface="Lucida Sans Unicode"/>
                <a:cs typeface="Lucida Sans Unicode"/>
              </a:rPr>
              <a:t>2</a:t>
            </a:r>
            <a:r>
              <a:rPr dirty="0" baseline="31250" sz="1200" spc="-37">
                <a:latin typeface="Verdana"/>
                <a:cs typeface="Verdana"/>
              </a:rPr>
              <a:t>h−j</a:t>
            </a:r>
            <a:r>
              <a:rPr dirty="0" baseline="31250" sz="1200" spc="15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nodes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shift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down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levels.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So, 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bottom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level-by-level,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 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763551" y="8152244"/>
            <a:ext cx="9652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72795" algn="l"/>
              </a:tabLst>
            </a:pPr>
            <a:r>
              <a:rPr dirty="0" sz="800" spc="5">
                <a:latin typeface="Verdana"/>
                <a:cs typeface="Verdana"/>
              </a:rPr>
              <a:t>j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r>
              <a:rPr dirty="0" sz="800">
                <a:latin typeface="Verdana"/>
                <a:cs typeface="Verdana"/>
              </a:rPr>
              <a:t>	</a:t>
            </a:r>
            <a:r>
              <a:rPr dirty="0" sz="800" spc="5">
                <a:latin typeface="Verdana"/>
                <a:cs typeface="Verdana"/>
              </a:rPr>
              <a:t>j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958292" y="7859890"/>
            <a:ext cx="5499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-22">
                <a:latin typeface="Lucida Sans Unicode"/>
                <a:cs typeface="Lucida Sans Unicode"/>
              </a:rPr>
              <a:t>j2</a:t>
            </a:r>
            <a:r>
              <a:rPr dirty="0" sz="800" spc="-15">
                <a:latin typeface="Verdana"/>
                <a:cs typeface="Verdana"/>
              </a:rPr>
              <a:t>h−j</a:t>
            </a:r>
            <a:r>
              <a:rPr dirty="0" sz="800" spc="-10">
                <a:latin typeface="Verdana"/>
                <a:cs typeface="Verdana"/>
              </a:rPr>
              <a:t> </a:t>
            </a:r>
            <a:r>
              <a:rPr dirty="0" baseline="-23148" sz="1800" spc="150">
                <a:latin typeface="Garamond"/>
                <a:cs typeface="Garamond"/>
              </a:rPr>
              <a:t>=</a:t>
            </a:r>
            <a:endParaRPr baseline="-23148" sz="1800">
              <a:latin typeface="Garamond"/>
              <a:cs typeface="Garamond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700991" y="7732788"/>
            <a:ext cx="1015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810895" algn="l"/>
              </a:tabLst>
            </a:pPr>
            <a:r>
              <a:rPr dirty="0" baseline="-16203" sz="1800" spc="-44">
                <a:latin typeface="Lucida Sans Unicode"/>
                <a:cs typeface="Lucida Sans Unicode"/>
              </a:rPr>
              <a:t>X</a:t>
            </a:r>
            <a:r>
              <a:rPr dirty="0" sz="800" spc="-30">
                <a:latin typeface="Verdana"/>
                <a:cs typeface="Verdana"/>
              </a:rPr>
              <a:t>h	</a:t>
            </a:r>
            <a:r>
              <a:rPr dirty="0" baseline="-16203" sz="1800" spc="-44">
                <a:latin typeface="Lucida Sans Unicode"/>
                <a:cs typeface="Lucida Sans Unicode"/>
              </a:rPr>
              <a:t>X</a:t>
            </a:r>
            <a:r>
              <a:rPr dirty="0" sz="800" spc="-30">
                <a:latin typeface="Verdana"/>
                <a:cs typeface="Verdana"/>
              </a:rPr>
              <a:t>h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229428" y="7922640"/>
            <a:ext cx="1590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526540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4821935" y="8046136"/>
            <a:ext cx="150495" cy="6350"/>
          </a:xfrm>
          <a:custGeom>
            <a:avLst/>
            <a:gdLst/>
            <a:ahLst/>
            <a:cxnLst/>
            <a:rect l="l" t="t" r="r" b="b"/>
            <a:pathLst>
              <a:path w="150495" h="6350">
                <a:moveTo>
                  <a:pt x="150189" y="0"/>
                </a:moveTo>
                <a:lnTo>
                  <a:pt x="0" y="0"/>
                </a:lnTo>
                <a:lnTo>
                  <a:pt x="0" y="6171"/>
                </a:lnTo>
                <a:lnTo>
                  <a:pt x="150189" y="6171"/>
                </a:lnTo>
                <a:lnTo>
                  <a:pt x="1501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4784110" y="7728904"/>
            <a:ext cx="229870" cy="461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3975" marR="30480" indent="-15875">
              <a:lnSpc>
                <a:spcPct val="119200"/>
              </a:lnSpc>
              <a:spcBef>
                <a:spcPts val="100"/>
              </a:spcBef>
            </a:pPr>
            <a:r>
              <a:rPr dirty="0" baseline="-20833" sz="1800" spc="-254">
                <a:latin typeface="Lucida Sans Unicode"/>
                <a:cs typeface="Lucida Sans Unicode"/>
              </a:rPr>
              <a:t>2</a:t>
            </a:r>
            <a:r>
              <a:rPr dirty="0" sz="800" spc="70">
                <a:latin typeface="Verdana"/>
                <a:cs typeface="Verdana"/>
              </a:rPr>
              <a:t>h  </a:t>
            </a:r>
            <a:r>
              <a:rPr dirty="0" baseline="-16203" sz="1800" spc="-75">
                <a:latin typeface="Lucida Sans Unicode"/>
                <a:cs typeface="Lucida Sans Unicode"/>
              </a:rPr>
              <a:t>2</a:t>
            </a:r>
            <a:r>
              <a:rPr dirty="0" sz="800" spc="-50">
                <a:latin typeface="Verdana"/>
                <a:cs typeface="Verdana"/>
              </a:rPr>
              <a:t>j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76299" y="8348636"/>
            <a:ext cx="19164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factor 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2</a:t>
            </a:r>
            <a:r>
              <a:rPr dirty="0" baseline="31250" sz="1200" spc="-52">
                <a:latin typeface="Verdana"/>
                <a:cs typeface="Verdana"/>
              </a:rPr>
              <a:t>h</a:t>
            </a:r>
            <a:r>
              <a:rPr dirty="0" baseline="31250" sz="1200" spc="-22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537318" y="8638158"/>
            <a:ext cx="739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h</a:t>
            </a:r>
            <a:endParaRPr baseline="34722" sz="1200">
              <a:latin typeface="Verdana"/>
              <a:cs typeface="Verdan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222546" y="8448306"/>
            <a:ext cx="2292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44">
                <a:latin typeface="Lucida Sans Unicode"/>
                <a:cs typeface="Lucida Sans Unicode"/>
              </a:rPr>
              <a:t>X</a:t>
            </a:r>
            <a:r>
              <a:rPr dirty="0" sz="800" spc="-30">
                <a:latin typeface="Verdana"/>
                <a:cs typeface="Verdana"/>
              </a:rPr>
              <a:t>h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272406" y="8867761"/>
            <a:ext cx="2051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">
                <a:latin typeface="Verdana"/>
                <a:cs typeface="Verdana"/>
              </a:rPr>
              <a:t>j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541811" y="8535403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">
                <a:latin typeface="Lucida Sans Unicode"/>
                <a:cs typeface="Lucida Sans Unicode"/>
              </a:rPr>
              <a:t>j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482083" y="8626016"/>
            <a:ext cx="217170" cy="2800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765"/>
              </a:lnSpc>
              <a:spcBef>
                <a:spcPts val="95"/>
              </a:spcBef>
            </a:pPr>
            <a:r>
              <a:rPr dirty="0" u="sng" sz="8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ts val="1245"/>
              </a:lnSpc>
            </a:pPr>
            <a:r>
              <a:rPr dirty="0" baseline="-16203" sz="1800" spc="-75">
                <a:latin typeface="Lucida Sans Unicode"/>
                <a:cs typeface="Lucida Sans Unicode"/>
              </a:rPr>
              <a:t>2</a:t>
            </a:r>
            <a:r>
              <a:rPr dirty="0" sz="800" spc="-50">
                <a:latin typeface="Verdana"/>
                <a:cs typeface="Verdana"/>
              </a:rPr>
              <a:t>j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48666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4.2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8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O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9" y="926454"/>
            <a:ext cx="4826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geometric</a:t>
            </a:r>
            <a:r>
              <a:rPr dirty="0" sz="1200" spc="-5">
                <a:latin typeface="Times New Roman"/>
                <a:cs typeface="Times New Roman"/>
              </a:rPr>
              <a:t> series,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constant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609325" y="1188428"/>
            <a:ext cx="2336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02">
                <a:latin typeface="Lucida Sans Unicode"/>
                <a:cs typeface="Lucida Sans Unicode"/>
              </a:rPr>
              <a:t>X</a:t>
            </a:r>
            <a:r>
              <a:rPr dirty="0" sz="800" spc="-135">
                <a:latin typeface="Lucida Sans Unicode"/>
                <a:cs typeface="Lucida Sans Unicode"/>
              </a:rPr>
              <a:t>∞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659185" y="1607770"/>
            <a:ext cx="2051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">
                <a:latin typeface="Verdana"/>
                <a:cs typeface="Verdana"/>
              </a:rPr>
              <a:t>j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53927" y="1378167"/>
            <a:ext cx="3562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x</a:t>
            </a:r>
            <a:r>
              <a:rPr dirty="0" baseline="34722" sz="1200" spc="-30">
                <a:latin typeface="Verdana"/>
                <a:cs typeface="Verdana"/>
              </a:rPr>
              <a:t>j</a:t>
            </a:r>
            <a:r>
              <a:rPr dirty="0" baseline="34722" sz="1200" spc="-2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347271" y="1275527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4229100" y="1502080"/>
            <a:ext cx="338455" cy="6350"/>
          </a:xfrm>
          <a:custGeom>
            <a:avLst/>
            <a:gdLst/>
            <a:ahLst/>
            <a:cxnLst/>
            <a:rect l="l" t="t" r="r" b="b"/>
            <a:pathLst>
              <a:path w="338454" h="6350">
                <a:moveTo>
                  <a:pt x="338099" y="0"/>
                </a:moveTo>
                <a:lnTo>
                  <a:pt x="0" y="0"/>
                </a:lnTo>
                <a:lnTo>
                  <a:pt x="0" y="6171"/>
                </a:lnTo>
                <a:lnTo>
                  <a:pt x="338099" y="6171"/>
                </a:lnTo>
                <a:lnTo>
                  <a:pt x="3380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4216169" y="1482295"/>
            <a:ext cx="3638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01697" y="1865429"/>
            <a:ext cx="33375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5">
                <a:latin typeface="Times New Roman"/>
                <a:cs typeface="Times New Roman"/>
              </a:rPr>
              <a:t>Take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derivative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respect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multiply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681092" y="2127403"/>
            <a:ext cx="2336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02">
                <a:latin typeface="Lucida Sans Unicode"/>
                <a:cs typeface="Lucida Sans Unicode"/>
              </a:rPr>
              <a:t>X</a:t>
            </a:r>
            <a:r>
              <a:rPr dirty="0" sz="800" spc="-135">
                <a:latin typeface="Lucida Sans Unicode"/>
                <a:cs typeface="Lucida Sans Unicode"/>
              </a:rPr>
              <a:t>∞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30952" y="2546859"/>
            <a:ext cx="2051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">
                <a:latin typeface="Verdana"/>
                <a:cs typeface="Verdana"/>
              </a:rPr>
              <a:t>j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925694" y="2254505"/>
            <a:ext cx="5403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-37">
                <a:latin typeface="Lucida Sans Unicode"/>
                <a:cs typeface="Lucida Sans Unicode"/>
              </a:rPr>
              <a:t>jx</a:t>
            </a:r>
            <a:r>
              <a:rPr dirty="0" sz="800" spc="-25">
                <a:latin typeface="Verdana"/>
                <a:cs typeface="Verdana"/>
              </a:rPr>
              <a:t>j−1</a:t>
            </a:r>
            <a:r>
              <a:rPr dirty="0" sz="800" spc="-15">
                <a:latin typeface="Verdana"/>
                <a:cs typeface="Verdana"/>
              </a:rPr>
              <a:t> </a:t>
            </a:r>
            <a:r>
              <a:rPr dirty="0" baseline="-23148" sz="1800" spc="150">
                <a:latin typeface="Garamond"/>
                <a:cs typeface="Garamond"/>
              </a:rPr>
              <a:t>=</a:t>
            </a:r>
            <a:endParaRPr baseline="-23148" sz="1800">
              <a:latin typeface="Garamond"/>
              <a:cs typeface="Garamond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693015" y="2214500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485388" y="2440864"/>
            <a:ext cx="517525" cy="6350"/>
          </a:xfrm>
          <a:custGeom>
            <a:avLst/>
            <a:gdLst/>
            <a:ahLst/>
            <a:cxnLst/>
            <a:rect l="l" t="t" r="r" b="b"/>
            <a:pathLst>
              <a:path w="517525" h="6350">
                <a:moveTo>
                  <a:pt x="517093" y="0"/>
                </a:moveTo>
                <a:lnTo>
                  <a:pt x="0" y="0"/>
                </a:lnTo>
                <a:lnTo>
                  <a:pt x="0" y="6171"/>
                </a:lnTo>
                <a:lnTo>
                  <a:pt x="517093" y="6171"/>
                </a:lnTo>
                <a:lnTo>
                  <a:pt x="5170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3447019" y="2421383"/>
            <a:ext cx="5956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baseline="24305" sz="1200" spc="-15">
                <a:latin typeface="Verdana"/>
                <a:cs typeface="Verdana"/>
              </a:rPr>
              <a:t>2</a:t>
            </a:r>
            <a:endParaRPr baseline="24305" sz="1200">
              <a:latin typeface="Verdana"/>
              <a:cs typeface="Verdan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308269" y="2127404"/>
            <a:ext cx="2336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02">
                <a:latin typeface="Lucida Sans Unicode"/>
                <a:cs typeface="Lucida Sans Unicode"/>
              </a:rPr>
              <a:t>X</a:t>
            </a:r>
            <a:r>
              <a:rPr dirty="0" sz="800" spc="-135">
                <a:latin typeface="Lucida Sans Unicode"/>
                <a:cs typeface="Lucida Sans Unicode"/>
              </a:rPr>
              <a:t>∞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358129" y="2546859"/>
            <a:ext cx="2051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">
                <a:latin typeface="Verdana"/>
                <a:cs typeface="Verdana"/>
              </a:rPr>
              <a:t>j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552871" y="2317256"/>
            <a:ext cx="406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Lucida Sans Unicode"/>
                <a:cs typeface="Lucida Sans Unicode"/>
              </a:rPr>
              <a:t>jx</a:t>
            </a:r>
            <a:r>
              <a:rPr dirty="0" baseline="34722" sz="1200" spc="-7">
                <a:latin typeface="Verdana"/>
                <a:cs typeface="Verdana"/>
              </a:rPr>
              <a:t>j</a:t>
            </a:r>
            <a:r>
              <a:rPr dirty="0" baseline="34722" sz="1200" spc="-15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184061" y="2214501"/>
            <a:ext cx="1054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10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4978907" y="2440864"/>
            <a:ext cx="517525" cy="6350"/>
          </a:xfrm>
          <a:custGeom>
            <a:avLst/>
            <a:gdLst/>
            <a:ahLst/>
            <a:cxnLst/>
            <a:rect l="l" t="t" r="r" b="b"/>
            <a:pathLst>
              <a:path w="517525" h="6350">
                <a:moveTo>
                  <a:pt x="517093" y="0"/>
                </a:moveTo>
                <a:lnTo>
                  <a:pt x="0" y="0"/>
                </a:lnTo>
                <a:lnTo>
                  <a:pt x="0" y="6171"/>
                </a:lnTo>
                <a:lnTo>
                  <a:pt x="517093" y="6171"/>
                </a:lnTo>
                <a:lnTo>
                  <a:pt x="5170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4940120" y="2421383"/>
            <a:ext cx="5956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baseline="24305" sz="1200" spc="-15">
                <a:latin typeface="Verdana"/>
                <a:cs typeface="Verdana"/>
              </a:rPr>
              <a:t>2</a:t>
            </a:r>
            <a:endParaRPr baseline="24305" sz="1200">
              <a:latin typeface="Verdana"/>
              <a:cs typeface="Verdan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01699" y="2814803"/>
            <a:ext cx="31286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plug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20">
                <a:latin typeface="Lucida Sans Unicode"/>
                <a:cs typeface="Lucida Sans Unicode"/>
              </a:rPr>
              <a:t>1/2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desired </a:t>
            </a:r>
            <a:r>
              <a:rPr dirty="0" sz="1200" spc="-10">
                <a:latin typeface="Times New Roman"/>
                <a:cs typeface="Times New Roman"/>
              </a:rPr>
              <a:t>formula: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007422" y="3081808"/>
            <a:ext cx="2336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02">
                <a:latin typeface="Lucida Sans Unicode"/>
                <a:cs typeface="Lucida Sans Unicode"/>
              </a:rPr>
              <a:t>X</a:t>
            </a:r>
            <a:r>
              <a:rPr dirty="0" sz="800" spc="-135">
                <a:latin typeface="Lucida Sans Unicode"/>
                <a:cs typeface="Lucida Sans Unicode"/>
              </a:rPr>
              <a:t>∞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057282" y="3501149"/>
            <a:ext cx="2051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">
                <a:latin typeface="Verdana"/>
                <a:cs typeface="Verdana"/>
              </a:rPr>
              <a:t>j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3305555" y="3394888"/>
            <a:ext cx="118745" cy="6350"/>
          </a:xfrm>
          <a:custGeom>
            <a:avLst/>
            <a:gdLst/>
            <a:ahLst/>
            <a:cxnLst/>
            <a:rect l="l" t="t" r="r" b="b"/>
            <a:pathLst>
              <a:path w="118745" h="6350">
                <a:moveTo>
                  <a:pt x="118528" y="0"/>
                </a:moveTo>
                <a:lnTo>
                  <a:pt x="0" y="0"/>
                </a:lnTo>
                <a:lnTo>
                  <a:pt x="0" y="6171"/>
                </a:lnTo>
                <a:lnTo>
                  <a:pt x="118528" y="6171"/>
                </a:lnTo>
                <a:lnTo>
                  <a:pt x="1185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3267226" y="3168905"/>
            <a:ext cx="196850" cy="370840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38100" marR="30480" indent="33655">
              <a:lnSpc>
                <a:spcPts val="1280"/>
              </a:lnSpc>
              <a:spcBef>
                <a:spcPts val="270"/>
              </a:spcBef>
            </a:pPr>
            <a:r>
              <a:rPr dirty="0" sz="1200" spc="30">
                <a:latin typeface="Lucida Sans Unicode"/>
                <a:cs typeface="Lucida Sans Unicode"/>
              </a:rPr>
              <a:t>j </a:t>
            </a:r>
            <a:r>
              <a:rPr dirty="0" sz="1200" spc="-365">
                <a:latin typeface="Lucida Sans Unicode"/>
                <a:cs typeface="Lucida Sans Unicode"/>
              </a:rPr>
              <a:t> </a:t>
            </a:r>
            <a:r>
              <a:rPr dirty="0" baseline="-16203" sz="1800" spc="-254">
                <a:latin typeface="Lucida Sans Unicode"/>
                <a:cs typeface="Lucida Sans Unicode"/>
              </a:rPr>
              <a:t>2</a:t>
            </a:r>
            <a:r>
              <a:rPr dirty="0" sz="800" spc="70">
                <a:latin typeface="Verdana"/>
                <a:cs typeface="Verdana"/>
              </a:rPr>
              <a:t>j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468419" y="3271546"/>
            <a:ext cx="140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3653027" y="3394888"/>
            <a:ext cx="783590" cy="6350"/>
          </a:xfrm>
          <a:custGeom>
            <a:avLst/>
            <a:gdLst/>
            <a:ahLst/>
            <a:cxnLst/>
            <a:rect l="l" t="t" r="r" b="b"/>
            <a:pathLst>
              <a:path w="783589" h="6350">
                <a:moveTo>
                  <a:pt x="783183" y="0"/>
                </a:moveTo>
                <a:lnTo>
                  <a:pt x="0" y="0"/>
                </a:lnTo>
                <a:lnTo>
                  <a:pt x="0" y="6171"/>
                </a:lnTo>
                <a:lnTo>
                  <a:pt x="783183" y="6171"/>
                </a:lnTo>
                <a:lnTo>
                  <a:pt x="7831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4481116" y="3271546"/>
            <a:ext cx="140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918189" y="3168905"/>
            <a:ext cx="98869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47395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65">
                <a:latin typeface="Lucida Sans Unicode"/>
                <a:cs typeface="Lucida Sans Unicode"/>
              </a:rPr>
              <a:t>	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Lucida Sans Unicode"/>
                <a:cs typeface="Lucida Sans Unicode"/>
              </a:rPr>
              <a:t>/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4666488" y="3394888"/>
            <a:ext cx="227965" cy="6350"/>
          </a:xfrm>
          <a:custGeom>
            <a:avLst/>
            <a:gdLst/>
            <a:ahLst/>
            <a:cxnLst/>
            <a:rect l="l" t="t" r="r" b="b"/>
            <a:pathLst>
              <a:path w="227964" h="6350">
                <a:moveTo>
                  <a:pt x="227914" y="0"/>
                </a:moveTo>
                <a:lnTo>
                  <a:pt x="0" y="0"/>
                </a:lnTo>
                <a:lnTo>
                  <a:pt x="0" y="6171"/>
                </a:lnTo>
                <a:lnTo>
                  <a:pt x="227914" y="6171"/>
                </a:lnTo>
                <a:lnTo>
                  <a:pt x="2279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 txBox="1"/>
          <p:nvPr/>
        </p:nvSpPr>
        <p:spPr>
          <a:xfrm>
            <a:off x="3615269" y="3375788"/>
            <a:ext cx="13169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050290" algn="l"/>
              </a:tabLst>
            </a:pP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">
                <a:latin typeface="Garamond"/>
                <a:cs typeface="Garamond"/>
              </a:rPr>
              <a:t>(</a:t>
            </a:r>
            <a:r>
              <a:rPr dirty="0" sz="1200" spc="-5">
                <a:latin typeface="Lucida Sans Unicode"/>
                <a:cs typeface="Lucida Sans Unicode"/>
              </a:rPr>
              <a:t>1/2</a:t>
            </a:r>
            <a:r>
              <a:rPr dirty="0" sz="1200" spc="-5">
                <a:latin typeface="Garamond"/>
                <a:cs typeface="Garamond"/>
              </a:rPr>
              <a:t>))</a:t>
            </a:r>
            <a:r>
              <a:rPr dirty="0" baseline="24305" sz="1200" spc="-7">
                <a:latin typeface="Verdana"/>
                <a:cs typeface="Verdana"/>
              </a:rPr>
              <a:t>2	</a:t>
            </a:r>
            <a:r>
              <a:rPr dirty="0" sz="1200" spc="-120">
                <a:latin typeface="Lucida Sans Unicode"/>
                <a:cs typeface="Lucida Sans Unicode"/>
              </a:rPr>
              <a:t>1/4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938545" y="3271546"/>
            <a:ext cx="2584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01699" y="3824186"/>
            <a:ext cx="634619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bounded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infinite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series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bounded,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easy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approximation: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410558" y="4486097"/>
            <a:ext cx="739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h</a:t>
            </a:r>
            <a:endParaRPr baseline="34722" sz="1200">
              <a:latin typeface="Verdana"/>
              <a:cs typeface="Verdan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095900" y="4296245"/>
            <a:ext cx="2292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44">
                <a:latin typeface="Lucida Sans Unicode"/>
                <a:cs typeface="Lucida Sans Unicode"/>
              </a:rPr>
              <a:t>X</a:t>
            </a:r>
            <a:r>
              <a:rPr dirty="0" sz="800" spc="-30">
                <a:latin typeface="Verdana"/>
                <a:cs typeface="Verdana"/>
              </a:rPr>
              <a:t>h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145646" y="4715700"/>
            <a:ext cx="2051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">
                <a:latin typeface="Verdana"/>
                <a:cs typeface="Verdana"/>
              </a:rPr>
              <a:t>j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415051" y="4383341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">
                <a:latin typeface="Lucida Sans Unicode"/>
                <a:cs typeface="Lucida Sans Unicode"/>
              </a:rPr>
              <a:t>j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355590" y="4473956"/>
            <a:ext cx="217170" cy="2800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765"/>
              </a:lnSpc>
              <a:spcBef>
                <a:spcPts val="95"/>
              </a:spcBef>
            </a:pPr>
            <a:r>
              <a:rPr dirty="0" u="sng" sz="8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ts val="1245"/>
              </a:lnSpc>
            </a:pPr>
            <a:r>
              <a:rPr dirty="0" baseline="-16203" sz="1800" spc="-75">
                <a:latin typeface="Lucida Sans Unicode"/>
                <a:cs typeface="Lucida Sans Unicode"/>
              </a:rPr>
              <a:t>2</a:t>
            </a:r>
            <a:r>
              <a:rPr dirty="0" sz="800" spc="-50">
                <a:latin typeface="Verdana"/>
                <a:cs typeface="Verdana"/>
              </a:rPr>
              <a:t>j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788802" y="4998618"/>
            <a:ext cx="2616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7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024946" y="4986478"/>
            <a:ext cx="1028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>
                <a:latin typeface="Verdana"/>
                <a:cs typeface="Verdana"/>
              </a:rPr>
              <a:t>h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099101" y="4808766"/>
            <a:ext cx="2336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02">
                <a:latin typeface="Lucida Sans Unicode"/>
                <a:cs typeface="Lucida Sans Unicode"/>
              </a:rPr>
              <a:t>X</a:t>
            </a:r>
            <a:r>
              <a:rPr dirty="0" sz="800" spc="-135">
                <a:latin typeface="Lucida Sans Unicode"/>
                <a:cs typeface="Lucida Sans Unicode"/>
              </a:rPr>
              <a:t>∞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418366" y="4895863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">
                <a:latin typeface="Lucida Sans Unicode"/>
                <a:cs typeface="Lucida Sans Unicode"/>
              </a:rPr>
              <a:t>j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358639" y="4986478"/>
            <a:ext cx="217170" cy="2800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765"/>
              </a:lnSpc>
              <a:spcBef>
                <a:spcPts val="95"/>
              </a:spcBef>
            </a:pPr>
            <a:r>
              <a:rPr dirty="0" u="sng" sz="8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ts val="1245"/>
              </a:lnSpc>
            </a:pPr>
            <a:r>
              <a:rPr dirty="0" baseline="-16203" sz="1800" spc="-75">
                <a:latin typeface="Lucida Sans Unicode"/>
                <a:cs typeface="Lucida Sans Unicode"/>
              </a:rPr>
              <a:t>2</a:t>
            </a:r>
            <a:r>
              <a:rPr dirty="0" sz="800" spc="-50">
                <a:latin typeface="Verdana"/>
                <a:cs typeface="Verdana"/>
              </a:rPr>
              <a:t>j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788802" y="5194582"/>
            <a:ext cx="1007744" cy="40894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algn="ctr" marR="74295">
              <a:lnSpc>
                <a:spcPct val="100000"/>
              </a:lnSpc>
              <a:spcBef>
                <a:spcPts val="360"/>
              </a:spcBef>
            </a:pPr>
            <a:r>
              <a:rPr dirty="0" sz="800" spc="-15">
                <a:latin typeface="Verdana"/>
                <a:cs typeface="Verdana"/>
              </a:rPr>
              <a:t>j=0</a:t>
            </a:r>
            <a:endParaRPr sz="800">
              <a:latin typeface="Verdana"/>
              <a:cs typeface="Verdana"/>
            </a:endParaRPr>
          </a:p>
          <a:p>
            <a:pPr algn="ctr" marL="235585">
              <a:lnSpc>
                <a:spcPts val="525"/>
              </a:lnSpc>
              <a:spcBef>
                <a:spcPts val="260"/>
              </a:spcBef>
              <a:tabLst>
                <a:tab pos="770890" algn="l"/>
              </a:tabLst>
            </a:pPr>
            <a:r>
              <a:rPr dirty="0" sz="800" spc="100">
                <a:latin typeface="Verdana"/>
                <a:cs typeface="Verdana"/>
              </a:rPr>
              <a:t>h	</a:t>
            </a:r>
            <a:r>
              <a:rPr dirty="0" sz="800" spc="-5">
                <a:latin typeface="Verdana"/>
                <a:cs typeface="Verdana"/>
              </a:rPr>
              <a:t>h+1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ts val="1005"/>
              </a:lnSpc>
            </a:pP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0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65">
                <a:latin typeface="Lucida Sans Unicode"/>
                <a:cs typeface="Lucida Sans Unicode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63595" y="5736653"/>
            <a:ext cx="6440805" cy="21215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Reca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baseline="31250" sz="1200" spc="37">
                <a:latin typeface="Verdana"/>
                <a:cs typeface="Verdana"/>
              </a:rPr>
              <a:t>h</a:t>
            </a:r>
            <a:r>
              <a:rPr dirty="0" baseline="31250" sz="1200" spc="-52">
                <a:latin typeface="Verdana"/>
                <a:cs typeface="Verdana"/>
              </a:rPr>
              <a:t>+</a:t>
            </a:r>
            <a:r>
              <a:rPr dirty="0" baseline="31250" sz="1200" spc="-15">
                <a:latin typeface="Verdana"/>
                <a:cs typeface="Verdana"/>
              </a:rPr>
              <a:t>1</a:t>
            </a:r>
            <a:r>
              <a:rPr dirty="0" baseline="31250" sz="1200" spc="-52">
                <a:latin typeface="Verdana"/>
                <a:cs typeface="Verdana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50">
              <a:latin typeface="Times New Roman"/>
              <a:cs typeface="Times New Roman"/>
            </a:endParaRPr>
          </a:p>
          <a:p>
            <a:pPr algn="ctr" marL="62230">
              <a:lnSpc>
                <a:spcPct val="100000"/>
              </a:lnSpc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O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0800" marR="116205" indent="-635">
              <a:lnSpc>
                <a:spcPct val="100000"/>
              </a:lnSpc>
              <a:spcBef>
                <a:spcPts val="1250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Ω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n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once.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BuildHeap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45">
                <a:latin typeface="Lucida Sans Unicode"/>
                <a:cs typeface="Lucida Sans Unicode"/>
              </a:rPr>
              <a:t>Θ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50800" marR="4318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BuildHeap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relatively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Yet,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yield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Θ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intuitive </a:t>
            </a:r>
            <a:r>
              <a:rPr dirty="0" sz="1200" spc="-10">
                <a:latin typeface="Times New Roman"/>
                <a:cs typeface="Times New Roman"/>
              </a:rPr>
              <a:t> way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why</a:t>
            </a:r>
            <a:r>
              <a:rPr dirty="0" sz="1200" spc="-5">
                <a:latin typeface="Times New Roman"/>
                <a:cs typeface="Times New Roman"/>
              </a:rPr>
              <a:t>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observe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trees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vast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majority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lowest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height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is a total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Segoe UI Symbol"/>
                <a:cs typeface="Segoe UI Symbol"/>
              </a:rPr>
              <a:t>≈</a:t>
            </a:r>
            <a:r>
              <a:rPr dirty="0" sz="1200" spc="-5">
                <a:latin typeface="Segoe UI Symbol"/>
                <a:cs typeface="Segoe UI Symbol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2</a:t>
            </a:r>
            <a:r>
              <a:rPr dirty="0" baseline="31250" sz="1200" spc="-67">
                <a:latin typeface="Verdana"/>
                <a:cs typeface="Verdana"/>
              </a:rPr>
              <a:t>h+1</a:t>
            </a:r>
            <a:r>
              <a:rPr dirty="0" baseline="31250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nodes.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nodes</a:t>
            </a:r>
            <a:r>
              <a:rPr dirty="0" sz="1200" spc="-5">
                <a:latin typeface="Times New Roman"/>
                <a:cs typeface="Times New Roman"/>
              </a:rPr>
              <a:t> 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bottom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levels</a:t>
            </a:r>
            <a:r>
              <a:rPr dirty="0" sz="1200" spc="-5">
                <a:latin typeface="Times New Roman"/>
                <a:cs typeface="Times New Roman"/>
              </a:rPr>
              <a:t> alone 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3866388" y="8154340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4180332" y="8154340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/>
          <p:nvPr/>
        </p:nvSpPr>
        <p:spPr>
          <a:xfrm>
            <a:off x="4492751" y="8154340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/>
          <p:nvPr/>
        </p:nvSpPr>
        <p:spPr>
          <a:xfrm>
            <a:off x="4823459" y="8154340"/>
            <a:ext cx="177165" cy="6350"/>
          </a:xfrm>
          <a:custGeom>
            <a:avLst/>
            <a:gdLst/>
            <a:ahLst/>
            <a:cxnLst/>
            <a:rect l="l" t="t" r="r" b="b"/>
            <a:pathLst>
              <a:path w="177164" h="6350">
                <a:moveTo>
                  <a:pt x="176822" y="0"/>
                </a:moveTo>
                <a:lnTo>
                  <a:pt x="0" y="0"/>
                </a:lnTo>
                <a:lnTo>
                  <a:pt x="0" y="6171"/>
                </a:lnTo>
                <a:lnTo>
                  <a:pt x="176822" y="6171"/>
                </a:lnTo>
                <a:lnTo>
                  <a:pt x="1768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 txBox="1"/>
          <p:nvPr/>
        </p:nvSpPr>
        <p:spPr>
          <a:xfrm>
            <a:off x="2530341" y="8030654"/>
            <a:ext cx="31699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baseline="34722" sz="1200" spc="150">
                <a:latin typeface="Verdana"/>
                <a:cs typeface="Verdana"/>
              </a:rPr>
              <a:t>h</a:t>
            </a:r>
            <a:r>
              <a:rPr dirty="0" baseline="34722" sz="1200" spc="-60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baseline="34722" sz="1200" spc="37">
                <a:latin typeface="Verdana"/>
                <a:cs typeface="Verdana"/>
              </a:rPr>
              <a:t>h</a:t>
            </a:r>
            <a:r>
              <a:rPr dirty="0" baseline="34722" sz="1200" spc="-52">
                <a:latin typeface="Verdana"/>
                <a:cs typeface="Verdana"/>
              </a:rPr>
              <a:t>−</a:t>
            </a:r>
            <a:r>
              <a:rPr dirty="0" baseline="34722" sz="1200" spc="-15">
                <a:latin typeface="Verdana"/>
                <a:cs typeface="Verdana"/>
              </a:rPr>
              <a:t>1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baseline="34722" sz="1200" spc="37">
                <a:latin typeface="Verdana"/>
                <a:cs typeface="Verdana"/>
              </a:rPr>
              <a:t>h</a:t>
            </a:r>
            <a:r>
              <a:rPr dirty="0" baseline="34722" sz="1200" spc="-52">
                <a:latin typeface="Verdana"/>
                <a:cs typeface="Verdana"/>
              </a:rPr>
              <a:t>−</a:t>
            </a:r>
            <a:r>
              <a:rPr dirty="0" baseline="34722" sz="1200" spc="-15">
                <a:latin typeface="Verdana"/>
                <a:cs typeface="Verdana"/>
              </a:rPr>
              <a:t>2</a:t>
            </a:r>
            <a:r>
              <a:rPr dirty="0" baseline="34722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50">
                <a:latin typeface="Garamond"/>
                <a:cs typeface="Garamond"/>
              </a:rPr>
              <a:t> </a:t>
            </a:r>
            <a:r>
              <a:rPr dirty="0" baseline="37037" sz="1800" spc="67">
                <a:latin typeface="Lucida Sans Unicode"/>
                <a:cs typeface="Lucida Sans Unicode"/>
              </a:rPr>
              <a:t>n</a:t>
            </a:r>
            <a:r>
              <a:rPr dirty="0" baseline="37037" sz="1800" spc="7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85">
                <a:latin typeface="Garamond"/>
                <a:cs typeface="Garamond"/>
              </a:rPr>
              <a:t> </a:t>
            </a:r>
            <a:r>
              <a:rPr dirty="0" baseline="37037" sz="1800" spc="67">
                <a:latin typeface="Lucida Sans Unicode"/>
                <a:cs typeface="Lucida Sans Unicode"/>
              </a:rPr>
              <a:t>n</a:t>
            </a:r>
            <a:r>
              <a:rPr dirty="0" baseline="37037" sz="1800" spc="7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85">
                <a:latin typeface="Garamond"/>
                <a:cs typeface="Garamond"/>
              </a:rPr>
              <a:t> </a:t>
            </a:r>
            <a:r>
              <a:rPr dirty="0" baseline="37037" sz="1800" spc="67">
                <a:latin typeface="Lucida Sans Unicode"/>
                <a:cs typeface="Lucida Sans Unicode"/>
              </a:rPr>
              <a:t>n</a:t>
            </a:r>
            <a:r>
              <a:rPr dirty="0" baseline="37037" sz="1800" spc="10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50">
                <a:latin typeface="Garamond"/>
                <a:cs typeface="Garamond"/>
              </a:rPr>
              <a:t> </a:t>
            </a:r>
            <a:r>
              <a:rPr dirty="0" baseline="37037" sz="1800" spc="-247">
                <a:latin typeface="Lucida Sans Unicode"/>
                <a:cs typeface="Lucida Sans Unicode"/>
              </a:rPr>
              <a:t>7</a:t>
            </a:r>
            <a:r>
              <a:rPr dirty="0" baseline="37037" sz="1800" spc="67">
                <a:latin typeface="Lucida Sans Unicode"/>
                <a:cs typeface="Lucida Sans Unicode"/>
              </a:rPr>
              <a:t>n</a:t>
            </a:r>
            <a:r>
              <a:rPr dirty="0" baseline="37037" sz="1800" spc="10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65">
                <a:latin typeface="Lucida Sans Unicode"/>
                <a:cs typeface="Lucida Sans Unicode"/>
              </a:rPr>
              <a:t>875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01699" y="8043114"/>
            <a:ext cx="6353175" cy="940435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algn="ctr" marL="671830">
              <a:lnSpc>
                <a:spcPct val="100000"/>
              </a:lnSpc>
              <a:spcBef>
                <a:spcPts val="815"/>
              </a:spcBef>
              <a:tabLst>
                <a:tab pos="985519" algn="l"/>
                <a:tab pos="1298575" algn="l"/>
                <a:tab pos="1666875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2	4	8	8</a:t>
            </a:r>
            <a:endParaRPr sz="1200">
              <a:latin typeface="Lucida Sans Unicode"/>
              <a:cs typeface="Lucida Sans Unicode"/>
            </a:endParaRPr>
          </a:p>
          <a:p>
            <a:pPr marL="12700" marR="5080">
              <a:lnSpc>
                <a:spcPct val="100000"/>
              </a:lnSpc>
              <a:spcBef>
                <a:spcPts val="715"/>
              </a:spcBef>
            </a:pPr>
            <a:r>
              <a:rPr dirty="0" sz="1200" spc="-10">
                <a:latin typeface="Times New Roman"/>
                <a:cs typeface="Times New Roman"/>
              </a:rPr>
              <a:t>Almost 90%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nodes </a:t>
            </a:r>
            <a:r>
              <a:rPr dirty="0" sz="1200" spc="-5">
                <a:latin typeface="Times New Roman"/>
                <a:cs typeface="Times New Roman"/>
              </a:rPr>
              <a:t>of a </a:t>
            </a:r>
            <a:r>
              <a:rPr dirty="0" sz="1200" spc="-10">
                <a:latin typeface="Times New Roman"/>
                <a:cs typeface="Times New Roman"/>
              </a:rPr>
              <a:t>complete binary </a:t>
            </a:r>
            <a:r>
              <a:rPr dirty="0" sz="1200" spc="-5">
                <a:latin typeface="Times New Roman"/>
                <a:cs typeface="Times New Roman"/>
              </a:rPr>
              <a:t>tree reside 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3 </a:t>
            </a:r>
            <a:r>
              <a:rPr dirty="0" sz="1200" spc="-10">
                <a:latin typeface="Times New Roman"/>
                <a:cs typeface="Times New Roman"/>
              </a:rPr>
              <a:t>lowest </a:t>
            </a:r>
            <a:r>
              <a:rPr dirty="0" sz="1200" spc="-15">
                <a:latin typeface="Times New Roman"/>
                <a:cs typeface="Times New Roman"/>
              </a:rPr>
              <a:t>levels.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 </a:t>
            </a:r>
            <a:r>
              <a:rPr dirty="0" sz="1200" spc="-10">
                <a:latin typeface="Times New Roman"/>
                <a:cs typeface="Times New Roman"/>
              </a:rPr>
              <a:t>algorithms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BuildHeap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bottom-most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tree resides.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192020" cy="617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46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4.2.7	Analysis</a:t>
            </a:r>
            <a:r>
              <a:rPr dirty="0" sz="1400" spc="-2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of</a:t>
            </a:r>
            <a:r>
              <a:rPr dirty="0" sz="1400" spc="-20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Heapsort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25157" y="520987"/>
            <a:ext cx="16033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3" y="1347993"/>
            <a:ext cx="6412230" cy="11906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10604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Heapsort calls BuildHeap once. This </a:t>
            </a:r>
            <a:r>
              <a:rPr dirty="0" sz="1200" spc="-10">
                <a:latin typeface="Times New Roman"/>
                <a:cs typeface="Times New Roman"/>
              </a:rPr>
              <a:t>takes </a:t>
            </a:r>
            <a:r>
              <a:rPr dirty="0" sz="1200" spc="45">
                <a:latin typeface="Lucida Sans Unicode"/>
                <a:cs typeface="Lucida Sans Unicode"/>
              </a:rPr>
              <a:t>Θ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Heapsort then </a:t>
            </a:r>
            <a:r>
              <a:rPr dirty="0" sz="1200" spc="-10">
                <a:latin typeface="Times New Roman"/>
                <a:cs typeface="Times New Roman"/>
              </a:rPr>
              <a:t>extracts roughly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10">
                <a:latin typeface="Times New Roman"/>
                <a:cs typeface="Times New Roman"/>
              </a:rPr>
              <a:t>maximum </a:t>
            </a:r>
            <a:r>
              <a:rPr dirty="0" sz="1200" spc="-5">
                <a:latin typeface="Times New Roman"/>
                <a:cs typeface="Times New Roman"/>
              </a:rPr>
              <a:t>elements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 the </a:t>
            </a:r>
            <a:r>
              <a:rPr dirty="0" sz="1200" spc="-5">
                <a:latin typeface="Times New Roman"/>
                <a:cs typeface="Times New Roman"/>
              </a:rPr>
              <a:t>heap. Each </a:t>
            </a:r>
            <a:r>
              <a:rPr dirty="0" sz="1200" spc="-10">
                <a:latin typeface="Times New Roman"/>
                <a:cs typeface="Times New Roman"/>
              </a:rPr>
              <a:t>extract </a:t>
            </a:r>
            <a:r>
              <a:rPr dirty="0" sz="1200" spc="-5">
                <a:latin typeface="Times New Roman"/>
                <a:cs typeface="Times New Roman"/>
              </a:rPr>
              <a:t>requires a constant </a:t>
            </a:r>
            <a:r>
              <a:rPr dirty="0" sz="1200" spc="-10">
                <a:latin typeface="Times New Roman"/>
                <a:cs typeface="Times New Roman"/>
              </a:rPr>
              <a:t>amount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work (swap)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20">
                <a:latin typeface="Lucida Sans Unicode"/>
                <a:cs typeface="Lucida Sans Unicode"/>
              </a:rPr>
              <a:t>O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Times New Roman"/>
                <a:cs typeface="Times New Roman"/>
              </a:rPr>
              <a:t>log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 </a:t>
            </a:r>
            <a:r>
              <a:rPr dirty="0" sz="1200" spc="-15">
                <a:latin typeface="Times New Roman"/>
                <a:cs typeface="Times New Roman"/>
              </a:rPr>
              <a:t>heapify. </a:t>
            </a:r>
            <a:r>
              <a:rPr dirty="0" sz="1200" spc="-5">
                <a:latin typeface="Times New Roman"/>
                <a:cs typeface="Times New Roman"/>
              </a:rPr>
              <a:t>Heapsort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thus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O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Is HeapSort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 </a:t>
            </a:r>
            <a:r>
              <a:rPr dirty="0" sz="1200" spc="-10">
                <a:latin typeface="Times New Roman"/>
                <a:cs typeface="Times New Roman"/>
              </a:rPr>
              <a:t>log 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? </a:t>
            </a:r>
            <a:r>
              <a:rPr dirty="0" sz="1200" spc="-5">
                <a:latin typeface="Times New Roman"/>
                <a:cs typeface="Times New Roman"/>
              </a:rPr>
              <a:t>The answer is yes. In </a:t>
            </a:r>
            <a:r>
              <a:rPr dirty="0" sz="1200" spc="-10">
                <a:latin typeface="Times New Roman"/>
                <a:cs typeface="Times New Roman"/>
              </a:rPr>
              <a:t>fact, </a:t>
            </a:r>
            <a:r>
              <a:rPr dirty="0" sz="1200" spc="-5">
                <a:latin typeface="Times New Roman"/>
                <a:cs typeface="Times New Roman"/>
              </a:rPr>
              <a:t>later </a:t>
            </a:r>
            <a:r>
              <a:rPr dirty="0" sz="1200" spc="-10">
                <a:latin typeface="Times New Roman"/>
                <a:cs typeface="Times New Roman"/>
              </a:rPr>
              <a:t>we will </a:t>
            </a:r>
            <a:r>
              <a:rPr dirty="0" sz="1200" spc="-15">
                <a:latin typeface="Times New Roman"/>
                <a:cs typeface="Times New Roman"/>
              </a:rPr>
              <a:t>show </a:t>
            </a:r>
            <a:r>
              <a:rPr dirty="0" sz="1200" spc="-5">
                <a:latin typeface="Times New Roman"/>
                <a:cs typeface="Times New Roman"/>
              </a:rPr>
              <a:t>that comparison based </a:t>
            </a:r>
            <a:r>
              <a:rPr dirty="0" sz="1200" spc="-10">
                <a:latin typeface="Times New Roman"/>
                <a:cs typeface="Times New Roman"/>
              </a:rPr>
              <a:t>sorting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0">
                <a:latin typeface="Times New Roman"/>
                <a:cs typeface="Times New Roman"/>
              </a:rPr>
              <a:t>not run </a:t>
            </a:r>
            <a:r>
              <a:rPr dirty="0" sz="1200" spc="-5">
                <a:latin typeface="Times New Roman"/>
                <a:cs typeface="Times New Roman"/>
              </a:rPr>
              <a:t>faster than </a:t>
            </a:r>
            <a:r>
              <a:rPr dirty="0" sz="1200" spc="50">
                <a:latin typeface="Lucida Sans Unicode"/>
                <a:cs typeface="Lucida Sans Unicode"/>
              </a:rPr>
              <a:t>Ω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n </a:t>
            </a:r>
            <a:r>
              <a:rPr dirty="0" sz="1200" spc="-10">
                <a:latin typeface="Times New Roman"/>
                <a:cs typeface="Times New Roman"/>
              </a:rPr>
              <a:t>log 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Heapsort is such an </a:t>
            </a:r>
            <a:r>
              <a:rPr dirty="0" sz="1200" spc="-10">
                <a:latin typeface="Times New Roman"/>
                <a:cs typeface="Times New Roman"/>
              </a:rPr>
              <a:t>algorithm </a:t>
            </a:r>
            <a:r>
              <a:rPr dirty="0" sz="1200" spc="-5">
                <a:latin typeface="Times New Roman"/>
                <a:cs typeface="Times New Roman"/>
              </a:rPr>
              <a:t>and so is </a:t>
            </a:r>
            <a:r>
              <a:rPr dirty="0" sz="1200" spc="-10">
                <a:latin typeface="Times New Roman"/>
                <a:cs typeface="Times New Roman"/>
              </a:rPr>
              <a:t>Mergesort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saw </a:t>
            </a:r>
            <a:r>
              <a:rPr dirty="0" sz="1200" spc="-15">
                <a:latin typeface="Times New Roman"/>
                <a:cs typeface="Times New Roman"/>
              </a:rPr>
              <a:t>ealier.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699" y="3197653"/>
            <a:ext cx="6407785" cy="111760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4.3	Quicksort</a:t>
            </a:r>
            <a:endParaRPr sz="1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9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Our next sorting algorithm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Quicksort.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 </a:t>
            </a:r>
            <a:r>
              <a:rPr dirty="0" sz="1200" spc="-1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fastest </a:t>
            </a:r>
            <a:r>
              <a:rPr dirty="0" sz="1200" spc="-10">
                <a:latin typeface="Times New Roman"/>
                <a:cs typeface="Times New Roman"/>
              </a:rPr>
              <a:t>sorting algorithms </a:t>
            </a:r>
            <a:r>
              <a:rPr dirty="0" sz="1200" spc="-15">
                <a:latin typeface="Times New Roman"/>
                <a:cs typeface="Times New Roman"/>
              </a:rPr>
              <a:t>known </a:t>
            </a:r>
            <a:r>
              <a:rPr dirty="0" sz="1200" spc="-5">
                <a:latin typeface="Times New Roman"/>
                <a:cs typeface="Times New Roman"/>
              </a:rPr>
              <a:t>and is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method </a:t>
            </a:r>
            <a:r>
              <a:rPr dirty="0" sz="1200" spc="-5">
                <a:latin typeface="Times New Roman"/>
                <a:cs typeface="Times New Roman"/>
              </a:rPr>
              <a:t>of choice in most </a:t>
            </a:r>
            <a:r>
              <a:rPr dirty="0" sz="1200" spc="-10">
                <a:latin typeface="Times New Roman"/>
                <a:cs typeface="Times New Roman"/>
              </a:rPr>
              <a:t>sorting </a:t>
            </a:r>
            <a:r>
              <a:rPr dirty="0" sz="1200" spc="-5">
                <a:latin typeface="Times New Roman"/>
                <a:cs typeface="Times New Roman"/>
              </a:rPr>
              <a:t>libraries. </a:t>
            </a:r>
            <a:r>
              <a:rPr dirty="0" sz="1200" spc="-10">
                <a:latin typeface="Times New Roman"/>
                <a:cs typeface="Times New Roman"/>
              </a:rPr>
              <a:t>Quicksort </a:t>
            </a:r>
            <a:r>
              <a:rPr dirty="0" sz="1200" spc="-5">
                <a:latin typeface="Times New Roman"/>
                <a:cs typeface="Times New Roman"/>
              </a:rPr>
              <a:t>is based on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divide </a:t>
            </a:r>
            <a:r>
              <a:rPr dirty="0" sz="1200" spc="-5">
                <a:latin typeface="Times New Roman"/>
                <a:cs typeface="Times New Roman"/>
              </a:rPr>
              <a:t>and conquer </a:t>
            </a:r>
            <a:r>
              <a:rPr dirty="0" sz="1200" spc="-15">
                <a:latin typeface="Times New Roman"/>
                <a:cs typeface="Times New Roman"/>
              </a:rPr>
              <a:t>strategy.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 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algorithm: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6971" y="4607020"/>
            <a:ext cx="5481955" cy="1717675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1905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15"/>
              </a:spcBef>
            </a:pPr>
            <a:r>
              <a:rPr dirty="0" sz="950" spc="55">
                <a:latin typeface="Times New Roman"/>
                <a:cs typeface="Times New Roman"/>
              </a:rPr>
              <a:t>QUICKSORT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A,</a:t>
            </a:r>
            <a:r>
              <a:rPr dirty="0" sz="1200" spc="10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p,</a:t>
            </a:r>
            <a:r>
              <a:rPr dirty="0" sz="1200" spc="10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r</a:t>
            </a:r>
            <a:r>
              <a:rPr dirty="0" sz="1200" spc="7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r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36880" indent="-359410">
              <a:lnSpc>
                <a:spcPct val="100000"/>
              </a:lnSpc>
              <a:buFont typeface="Times New Roman"/>
              <a:buAutoNum type="arabicPlain"/>
              <a:tabLst>
                <a:tab pos="436245" algn="l"/>
                <a:tab pos="43751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endParaRPr sz="1200">
              <a:latin typeface="Times New Roman"/>
              <a:cs typeface="Times New Roman"/>
            </a:endParaRPr>
          </a:p>
          <a:p>
            <a:pPr marL="761365" indent="-68389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761365" algn="l"/>
                <a:tab pos="762000" algn="l"/>
              </a:tabLst>
            </a:pP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24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random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index from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p..r</a:t>
            </a:r>
            <a:r>
              <a:rPr dirty="0" sz="1200" spc="-20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799465" indent="-721995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799465" algn="l"/>
                <a:tab pos="800100" algn="l"/>
              </a:tabLst>
            </a:pPr>
            <a:r>
              <a:rPr dirty="0" sz="1200" spc="-10">
                <a:latin typeface="Times New Roman"/>
                <a:cs typeface="Times New Roman"/>
              </a:rPr>
              <a:t>swap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Garamond"/>
                <a:cs typeface="Garamond"/>
              </a:rPr>
              <a:t>[</a:t>
            </a:r>
            <a:r>
              <a:rPr dirty="0" sz="1200" spc="40">
                <a:latin typeface="Lucida Sans Unicode"/>
                <a:cs typeface="Lucida Sans Unicode"/>
              </a:rPr>
              <a:t>i</a:t>
            </a:r>
            <a:r>
              <a:rPr dirty="0" sz="1200" spc="40">
                <a:latin typeface="Garamond"/>
                <a:cs typeface="Garamond"/>
              </a:rPr>
              <a:t>]</a:t>
            </a:r>
            <a:r>
              <a:rPr dirty="0" sz="1200" spc="18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A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p</a:t>
            </a:r>
            <a:r>
              <a:rPr dirty="0" sz="1200" spc="10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761365" indent="-68389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761365" algn="l"/>
                <a:tab pos="762000" algn="l"/>
              </a:tabLst>
            </a:pP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20">
                <a:latin typeface="Lucida Sans Unicode"/>
                <a:cs typeface="Lucida Sans Unicode"/>
              </a:rPr>
              <a:t> </a:t>
            </a:r>
            <a:r>
              <a:rPr dirty="0" sz="950" spc="-30">
                <a:latin typeface="Times New Roman"/>
                <a:cs typeface="Times New Roman"/>
              </a:rPr>
              <a:t>P</a:t>
            </a:r>
            <a:r>
              <a:rPr dirty="0" sz="950" spc="55">
                <a:latin typeface="Times New Roman"/>
                <a:cs typeface="Times New Roman"/>
              </a:rPr>
              <a:t>A</a:t>
            </a:r>
            <a:r>
              <a:rPr dirty="0" sz="950">
                <a:latin typeface="Times New Roman"/>
                <a:cs typeface="Times New Roman"/>
              </a:rPr>
              <a:t>R</a:t>
            </a:r>
            <a:r>
              <a:rPr dirty="0" sz="950" spc="55">
                <a:latin typeface="Times New Roman"/>
                <a:cs typeface="Times New Roman"/>
              </a:rPr>
              <a:t>TITIO</a:t>
            </a:r>
            <a:r>
              <a:rPr dirty="0" sz="950" spc="25">
                <a:latin typeface="Times New Roman"/>
                <a:cs typeface="Times New Roman"/>
              </a:rPr>
              <a:t>N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r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765175" indent="-687705">
              <a:lnSpc>
                <a:spcPct val="100000"/>
              </a:lnSpc>
              <a:spcBef>
                <a:spcPts val="5"/>
              </a:spcBef>
              <a:buSzPct val="126315"/>
              <a:buAutoNum type="arabicPlain"/>
              <a:tabLst>
                <a:tab pos="765175" algn="l"/>
                <a:tab pos="765810" algn="l"/>
              </a:tabLst>
            </a:pPr>
            <a:r>
              <a:rPr dirty="0" sz="950" spc="45">
                <a:latin typeface="Times New Roman"/>
                <a:cs typeface="Times New Roman"/>
              </a:rPr>
              <a:t>Q</a:t>
            </a:r>
            <a:r>
              <a:rPr dirty="0" sz="950" spc="55">
                <a:latin typeface="Times New Roman"/>
                <a:cs typeface="Times New Roman"/>
              </a:rPr>
              <a:t>UICKSO</a:t>
            </a:r>
            <a:r>
              <a:rPr dirty="0" sz="950">
                <a:latin typeface="Times New Roman"/>
                <a:cs typeface="Times New Roman"/>
              </a:rPr>
              <a:t>R</a:t>
            </a:r>
            <a:r>
              <a:rPr dirty="0" sz="950" spc="25">
                <a:latin typeface="Times New Roman"/>
                <a:cs typeface="Times New Roman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765175" indent="-687705">
              <a:lnSpc>
                <a:spcPct val="100000"/>
              </a:lnSpc>
              <a:spcBef>
                <a:spcPts val="5"/>
              </a:spcBef>
              <a:buSzPct val="126315"/>
              <a:buAutoNum type="arabicPlain"/>
              <a:tabLst>
                <a:tab pos="765175" algn="l"/>
                <a:tab pos="765810" algn="l"/>
              </a:tabLst>
            </a:pPr>
            <a:r>
              <a:rPr dirty="0" sz="950" spc="45">
                <a:latin typeface="Times New Roman"/>
                <a:cs typeface="Times New Roman"/>
              </a:rPr>
              <a:t>Q</a:t>
            </a:r>
            <a:r>
              <a:rPr dirty="0" sz="950" spc="55">
                <a:latin typeface="Times New Roman"/>
                <a:cs typeface="Times New Roman"/>
              </a:rPr>
              <a:t>UICKSO</a:t>
            </a:r>
            <a:r>
              <a:rPr dirty="0" sz="950">
                <a:latin typeface="Times New Roman"/>
                <a:cs typeface="Times New Roman"/>
              </a:rPr>
              <a:t>R</a:t>
            </a:r>
            <a:r>
              <a:rPr dirty="0" sz="950" spc="25">
                <a:latin typeface="Times New Roman"/>
                <a:cs typeface="Times New Roman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r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1698" y="6908722"/>
            <a:ext cx="6426200" cy="207454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4.3.1	Partition</a:t>
            </a:r>
            <a:r>
              <a:rPr dirty="0" sz="1400" spc="-30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Recall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A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p..r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pivot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</a:t>
            </a:r>
            <a:endParaRPr sz="1200">
              <a:latin typeface="Times New Roman"/>
              <a:cs typeface="Times New Roman"/>
            </a:endParaRPr>
          </a:p>
          <a:p>
            <a:pPr marL="12700" marR="265430">
              <a:lnSpc>
                <a:spcPct val="100000"/>
              </a:lnSpc>
              <a:spcBef>
                <a:spcPts val="5"/>
              </a:spcBef>
            </a:pPr>
            <a:r>
              <a:rPr dirty="0" sz="1200" spc="-55">
                <a:latin typeface="Lucida Sans Unicode"/>
                <a:cs typeface="Lucida Sans Unicode"/>
              </a:rPr>
              <a:t>x</a:t>
            </a:r>
            <a:r>
              <a:rPr dirty="0" sz="1200" spc="-55">
                <a:latin typeface="Times New Roman"/>
                <a:cs typeface="Times New Roman"/>
              </a:rPr>
              <a:t>. </a:t>
            </a:r>
            <a:r>
              <a:rPr dirty="0" sz="1200" spc="-15">
                <a:latin typeface="Lucida Sans Unicode"/>
                <a:cs typeface="Lucida Sans Unicode"/>
              </a:rPr>
              <a:t>A</a:t>
            </a:r>
            <a:r>
              <a:rPr dirty="0" sz="1200" spc="-15">
                <a:latin typeface="Garamond"/>
                <a:cs typeface="Garamond"/>
              </a:rPr>
              <a:t>[</a:t>
            </a:r>
            <a:r>
              <a:rPr dirty="0" sz="1200" spc="-15">
                <a:latin typeface="Lucida Sans Unicode"/>
                <a:cs typeface="Lucida Sans Unicode"/>
              </a:rPr>
              <a:t>p..q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1</a:t>
            </a:r>
            <a:r>
              <a:rPr dirty="0" sz="1200" spc="-80">
                <a:latin typeface="Garamond"/>
                <a:cs typeface="Garamond"/>
              </a:rPr>
              <a:t>] </a:t>
            </a:r>
            <a:r>
              <a:rPr dirty="0" sz="1200" spc="-10">
                <a:latin typeface="Times New Roman"/>
                <a:cs typeface="Times New Roman"/>
              </a:rPr>
              <a:t>whose </a:t>
            </a:r>
            <a:r>
              <a:rPr dirty="0" sz="1200" spc="-5">
                <a:latin typeface="Times New Roman"/>
                <a:cs typeface="Times New Roman"/>
              </a:rPr>
              <a:t>elements are less than or equal to </a:t>
            </a:r>
            <a:r>
              <a:rPr dirty="0" sz="1200" spc="-55">
                <a:latin typeface="Lucida Sans Unicode"/>
                <a:cs typeface="Lucida Sans Unicode"/>
              </a:rPr>
              <a:t>x</a:t>
            </a:r>
            <a:r>
              <a:rPr dirty="0" sz="1200" spc="-55">
                <a:latin typeface="Times New Roman"/>
                <a:cs typeface="Times New Roman"/>
              </a:rPr>
              <a:t>, </a:t>
            </a:r>
            <a:r>
              <a:rPr dirty="0" sz="1200" spc="15">
                <a:latin typeface="Lucida Sans Unicode"/>
                <a:cs typeface="Lucida Sans Unicode"/>
              </a:rPr>
              <a:t>A</a:t>
            </a:r>
            <a:r>
              <a:rPr dirty="0" sz="1200" spc="15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q</a:t>
            </a:r>
            <a:r>
              <a:rPr dirty="0" sz="1200" spc="15">
                <a:latin typeface="Garamond"/>
                <a:cs typeface="Garamond"/>
              </a:rPr>
              <a:t>]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55">
                <a:latin typeface="Lucida Sans Unicode"/>
                <a:cs typeface="Lucida Sans Unicode"/>
              </a:rPr>
              <a:t>x</a:t>
            </a:r>
            <a:r>
              <a:rPr dirty="0" sz="1200" spc="-55">
                <a:latin typeface="Times New Roman"/>
                <a:cs typeface="Times New Roman"/>
              </a:rPr>
              <a:t>, 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q </a:t>
            </a:r>
            <a:r>
              <a:rPr dirty="0" sz="1200" spc="100">
                <a:latin typeface="Garamond"/>
                <a:cs typeface="Garamond"/>
              </a:rPr>
              <a:t>+ </a:t>
            </a:r>
            <a:r>
              <a:rPr dirty="0" sz="1200" spc="-50">
                <a:latin typeface="Lucida Sans Unicode"/>
                <a:cs typeface="Lucida Sans Unicode"/>
              </a:rPr>
              <a:t>1..r</a:t>
            </a:r>
            <a:r>
              <a:rPr dirty="0" sz="1200" spc="-50">
                <a:latin typeface="Garamond"/>
                <a:cs typeface="Garamond"/>
              </a:rPr>
              <a:t>] </a:t>
            </a:r>
            <a:r>
              <a:rPr dirty="0" sz="1200" spc="-10">
                <a:latin typeface="Times New Roman"/>
                <a:cs typeface="Times New Roman"/>
              </a:rPr>
              <a:t>whose </a:t>
            </a:r>
            <a:r>
              <a:rPr dirty="0" sz="1200" spc="-5">
                <a:latin typeface="Times New Roman"/>
                <a:cs typeface="Times New Roman"/>
              </a:rPr>
              <a:t>elements are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greater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  <a:p>
            <a:pPr algn="just" marL="12700" marR="316230" indent="-635">
              <a:lnSpc>
                <a:spcPct val="100000"/>
              </a:lnSpc>
              <a:spcBef>
                <a:spcPts val="525"/>
              </a:spcBef>
            </a:pP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choose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first element 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array as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pivot, </a:t>
            </a:r>
            <a:r>
              <a:rPr dirty="0" sz="1200" spc="-5">
                <a:latin typeface="Times New Roman"/>
                <a:cs typeface="Times New Roman"/>
              </a:rPr>
              <a:t>i.e. </a:t>
            </a:r>
            <a:r>
              <a:rPr dirty="0" sz="1200" spc="-110">
                <a:latin typeface="Lucida Sans Unicode"/>
                <a:cs typeface="Lucida Sans Unicode"/>
              </a:rPr>
              <a:t>x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5">
                <a:latin typeface="Lucida Sans Unicode"/>
                <a:cs typeface="Lucida Sans Unicode"/>
              </a:rPr>
              <a:t>A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p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If a </a:t>
            </a:r>
            <a:r>
              <a:rPr dirty="0" sz="1200" spc="-10">
                <a:latin typeface="Times New Roman"/>
                <a:cs typeface="Times New Roman"/>
              </a:rPr>
              <a:t>different rule </a:t>
            </a:r>
            <a:r>
              <a:rPr dirty="0" sz="1200" spc="-5">
                <a:latin typeface="Times New Roman"/>
                <a:cs typeface="Times New Roman"/>
              </a:rPr>
              <a:t>is used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 selecting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pivot,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0">
                <a:latin typeface="Times New Roman"/>
                <a:cs typeface="Times New Roman"/>
              </a:rPr>
              <a:t>swap the </a:t>
            </a:r>
            <a:r>
              <a:rPr dirty="0" sz="1200" spc="-5">
                <a:latin typeface="Times New Roman"/>
                <a:cs typeface="Times New Roman"/>
              </a:rPr>
              <a:t>chosen element </a:t>
            </a:r>
            <a:r>
              <a:rPr dirty="0" sz="1200" spc="-10">
                <a:latin typeface="Times New Roman"/>
                <a:cs typeface="Times New Roman"/>
              </a:rPr>
              <a:t>with the </a:t>
            </a:r>
            <a:r>
              <a:rPr dirty="0" sz="1200" spc="-20">
                <a:latin typeface="Times New Roman"/>
                <a:cs typeface="Times New Roman"/>
              </a:rPr>
              <a:t>first </a:t>
            </a:r>
            <a:r>
              <a:rPr dirty="0" sz="1200" spc="-5">
                <a:latin typeface="Times New Roman"/>
                <a:cs typeface="Times New Roman"/>
              </a:rPr>
              <a:t>element.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choose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pivot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randomly.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maintaining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invariant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condition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A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p</a:t>
            </a:r>
            <a:r>
              <a:rPr dirty="0" sz="1200" spc="10">
                <a:latin typeface="Garamond"/>
                <a:cs typeface="Garamond"/>
              </a:rPr>
              <a:t>]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pivot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4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6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4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6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14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6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</a:t>
            </a:r>
            <a:r>
              <a:rPr dirty="0" sz="1200" spc="-5">
                <a:latin typeface="Times New Roman"/>
                <a:cs typeface="Times New Roman"/>
              </a:rPr>
              <a:t>ea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19634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4.3.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QUICKSORT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9" y="926454"/>
            <a:ext cx="4667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or equal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sz="1200" spc="-10">
                <a:latin typeface="Garamond"/>
                <a:cs typeface="Garamond"/>
              </a:rPr>
              <a:t>[</a:t>
            </a:r>
            <a:r>
              <a:rPr dirty="0" sz="1200" spc="-10">
                <a:latin typeface="Lucida Sans Unicode"/>
                <a:cs typeface="Lucida Sans Unicode"/>
              </a:rPr>
              <a:t>s..r</a:t>
            </a:r>
            <a:r>
              <a:rPr dirty="0" sz="1200" spc="-10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contains elements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whose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currently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unknown.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6971" y="1374616"/>
            <a:ext cx="5481955" cy="1902460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2540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20"/>
              </a:spcBef>
            </a:pPr>
            <a:r>
              <a:rPr dirty="0" sz="950" spc="45">
                <a:latin typeface="Times New Roman"/>
                <a:cs typeface="Times New Roman"/>
              </a:rPr>
              <a:t>PARTITION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A,</a:t>
            </a:r>
            <a:r>
              <a:rPr dirty="0" sz="1200" spc="10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p,</a:t>
            </a:r>
            <a:r>
              <a:rPr dirty="0" sz="1200" spc="11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r</a:t>
            </a:r>
            <a:r>
              <a:rPr dirty="0" sz="1200" spc="7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306070" indent="-228600">
              <a:lnSpc>
                <a:spcPct val="100000"/>
              </a:lnSpc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endParaRPr sz="1200">
              <a:latin typeface="Lucida Sans Unicode"/>
              <a:cs typeface="Lucida Sans Unicode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r</a:t>
            </a:r>
            <a:endParaRPr sz="1200">
              <a:latin typeface="Lucida Sans Unicode"/>
              <a:cs typeface="Lucida Sans Unicode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635000" indent="-55753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635000" algn="l"/>
                <a:tab pos="635635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997585" indent="-920115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997585" algn="l"/>
                <a:tab pos="998219" algn="l"/>
              </a:tabLst>
            </a:pPr>
            <a:r>
              <a:rPr dirty="0" sz="1200" spc="-10">
                <a:latin typeface="Times New Roman"/>
                <a:cs typeface="Times New Roman"/>
              </a:rPr>
              <a:t>swap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A</a:t>
            </a:r>
            <a:r>
              <a:rPr dirty="0" sz="1200" spc="15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q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18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A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343535" indent="-266065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343535" algn="l"/>
                <a:tab pos="344170" algn="l"/>
              </a:tabLst>
            </a:pPr>
            <a:r>
              <a:rPr dirty="0" sz="1200" spc="-10">
                <a:latin typeface="Times New Roman"/>
                <a:cs typeface="Times New Roman"/>
              </a:rPr>
              <a:t>swap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A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p</a:t>
            </a:r>
            <a:r>
              <a:rPr dirty="0" sz="1200" spc="10">
                <a:latin typeface="Garamond"/>
                <a:cs typeface="Garamond"/>
              </a:rPr>
              <a:t>]</a:t>
            </a:r>
            <a:r>
              <a:rPr dirty="0" sz="1200" spc="18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A</a:t>
            </a:r>
            <a:r>
              <a:rPr dirty="0" sz="1200" spc="15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q</a:t>
            </a:r>
            <a:r>
              <a:rPr dirty="0" sz="1200" spc="1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return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01699" y="3295778"/>
            <a:ext cx="3462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4.4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330195" y="3884366"/>
            <a:ext cx="3533140" cy="3048000"/>
          </a:xfrm>
          <a:custGeom>
            <a:avLst/>
            <a:gdLst/>
            <a:ahLst/>
            <a:cxnLst/>
            <a:rect l="l" t="t" r="r" b="b"/>
            <a:pathLst>
              <a:path w="3533140" h="3048000">
                <a:moveTo>
                  <a:pt x="3532784" y="0"/>
                </a:moveTo>
                <a:lnTo>
                  <a:pt x="0" y="0"/>
                </a:lnTo>
                <a:lnTo>
                  <a:pt x="0" y="3047801"/>
                </a:lnTo>
                <a:lnTo>
                  <a:pt x="3532784" y="3047801"/>
                </a:lnTo>
                <a:lnTo>
                  <a:pt x="3532784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2428975" y="3969229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p</a:t>
            </a:r>
            <a:endParaRPr sz="12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729141" y="3981607"/>
            <a:ext cx="857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5" b="1" i="1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411021" y="4312220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q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2468300" y="4332970"/>
            <a:ext cx="0" cy="48260"/>
          </a:xfrm>
          <a:custGeom>
            <a:avLst/>
            <a:gdLst/>
            <a:ahLst/>
            <a:cxnLst/>
            <a:rect l="l" t="t" r="r" b="b"/>
            <a:pathLst>
              <a:path w="0" h="48260">
                <a:moveTo>
                  <a:pt x="0" y="0"/>
                </a:moveTo>
                <a:lnTo>
                  <a:pt x="0" y="47670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2612236" y="4319024"/>
            <a:ext cx="1117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2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2670748" y="433729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295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2428975" y="4597015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p</a:t>
            </a:r>
            <a:endParaRPr sz="1200">
              <a:latin typeface="Arial"/>
              <a:cs typeface="Arial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2376567" y="4791018"/>
          <a:ext cx="1474470" cy="1720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3515"/>
                <a:gridCol w="183515"/>
                <a:gridCol w="184150"/>
                <a:gridCol w="183514"/>
                <a:gridCol w="182880"/>
                <a:gridCol w="184150"/>
                <a:gridCol w="183515"/>
                <a:gridCol w="183515"/>
              </a:tblGrid>
              <a:tr h="166544">
                <a:tc>
                  <a:txBody>
                    <a:bodyPr/>
                    <a:lstStyle/>
                    <a:p>
                      <a:pPr marL="48895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41910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</a:tr>
            </a:tbl>
          </a:graphicData>
        </a:graphic>
      </p:graphicFrame>
      <p:sp>
        <p:nvSpPr>
          <p:cNvPr id="16" name="object 16"/>
          <p:cNvSpPr txBox="1"/>
          <p:nvPr/>
        </p:nvSpPr>
        <p:spPr>
          <a:xfrm>
            <a:off x="3729141" y="4609403"/>
            <a:ext cx="857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5" b="1" i="1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200">
              <a:latin typeface="Arial"/>
              <a:cs typeface="Arial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2660233" y="4960142"/>
            <a:ext cx="0" cy="48260"/>
          </a:xfrm>
          <a:custGeom>
            <a:avLst/>
            <a:gdLst/>
            <a:ahLst/>
            <a:cxnLst/>
            <a:rect l="l" t="t" r="r" b="b"/>
            <a:pathLst>
              <a:path w="0" h="48260">
                <a:moveTo>
                  <a:pt x="0" y="0"/>
                </a:moveTo>
                <a:lnTo>
                  <a:pt x="0" y="47670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2602952" y="4946201"/>
            <a:ext cx="31305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baseline="2314" sz="1800" spc="15" b="1" i="1">
                <a:solidFill>
                  <a:srgbClr val="FFFFFF"/>
                </a:solidFill>
                <a:latin typeface="Arial"/>
                <a:cs typeface="Arial"/>
              </a:rPr>
              <a:t>q </a:t>
            </a:r>
            <a:r>
              <a:rPr dirty="0" baseline="2314" sz="1800" spc="104" b="1" i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200">
              <a:latin typeface="Arial"/>
              <a:cs typeface="Arial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2862056" y="4964470"/>
            <a:ext cx="0" cy="48260"/>
          </a:xfrm>
          <a:custGeom>
            <a:avLst/>
            <a:gdLst/>
            <a:ahLst/>
            <a:cxnLst/>
            <a:rect l="l" t="t" r="r" b="b"/>
            <a:pathLst>
              <a:path w="0" h="48260">
                <a:moveTo>
                  <a:pt x="0" y="0"/>
                </a:moveTo>
                <a:lnTo>
                  <a:pt x="0" y="47670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2428975" y="5224191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p</a:t>
            </a:r>
            <a:endParaRPr sz="1200">
              <a:latin typeface="Arial"/>
              <a:cs typeface="Arial"/>
            </a:endParaRPr>
          </a:p>
        </p:txBody>
      </p: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2376567" y="5418194"/>
          <a:ext cx="1474470" cy="17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3515"/>
                <a:gridCol w="183515"/>
                <a:gridCol w="186054"/>
                <a:gridCol w="180975"/>
                <a:gridCol w="182244"/>
                <a:gridCol w="183515"/>
                <a:gridCol w="182880"/>
                <a:gridCol w="182880"/>
              </a:tblGrid>
              <a:tr h="167164">
                <a:tc>
                  <a:txBody>
                    <a:bodyPr/>
                    <a:lstStyle/>
                    <a:p>
                      <a:pPr marL="48895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9690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9525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8260">
                        <a:lnSpc>
                          <a:spcPts val="1215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ts val="1215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41910">
                        <a:lnSpc>
                          <a:spcPts val="1215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ts val="1215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5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</a:tr>
            </a:tbl>
          </a:graphicData>
        </a:graphic>
      </p:graphicFrame>
      <p:sp>
        <p:nvSpPr>
          <p:cNvPr id="22" name="object 22"/>
          <p:cNvSpPr txBox="1"/>
          <p:nvPr/>
        </p:nvSpPr>
        <p:spPr>
          <a:xfrm>
            <a:off x="3729131" y="5236570"/>
            <a:ext cx="857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5" b="1" i="1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602942" y="5566564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q</a:t>
            </a:r>
            <a:endParaRPr sz="12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2660233" y="5587939"/>
            <a:ext cx="0" cy="48260"/>
          </a:xfrm>
          <a:custGeom>
            <a:avLst/>
            <a:gdLst/>
            <a:ahLst/>
            <a:cxnLst/>
            <a:rect l="l" t="t" r="r" b="b"/>
            <a:pathLst>
              <a:path w="0" h="48260">
                <a:moveTo>
                  <a:pt x="0" y="0"/>
                </a:moveTo>
                <a:lnTo>
                  <a:pt x="0" y="47670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2965131" y="5574000"/>
            <a:ext cx="1117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2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3023646" y="5592267"/>
            <a:ext cx="0" cy="48260"/>
          </a:xfrm>
          <a:custGeom>
            <a:avLst/>
            <a:gdLst/>
            <a:ahLst/>
            <a:cxnLst/>
            <a:rect l="l" t="t" r="r" b="b"/>
            <a:pathLst>
              <a:path w="0" h="48260">
                <a:moveTo>
                  <a:pt x="0" y="0"/>
                </a:moveTo>
                <a:lnTo>
                  <a:pt x="0" y="47670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 txBox="1"/>
          <p:nvPr/>
        </p:nvSpPr>
        <p:spPr>
          <a:xfrm>
            <a:off x="2428975" y="5851977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p</a:t>
            </a:r>
            <a:endParaRPr sz="12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729135" y="5864369"/>
            <a:ext cx="857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5" b="1" i="1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2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607899" y="6194363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q</a:t>
            </a:r>
            <a:endParaRPr sz="1200">
              <a:latin typeface="Arial"/>
              <a:cs typeface="Arial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2665186" y="6215720"/>
            <a:ext cx="0" cy="48260"/>
          </a:xfrm>
          <a:custGeom>
            <a:avLst/>
            <a:gdLst/>
            <a:ahLst/>
            <a:cxnLst/>
            <a:rect l="l" t="t" r="r" b="b"/>
            <a:pathLst>
              <a:path w="0" h="48260">
                <a:moveTo>
                  <a:pt x="0" y="0"/>
                </a:moveTo>
                <a:lnTo>
                  <a:pt x="0" y="47670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3162019" y="6201786"/>
            <a:ext cx="1117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200">
              <a:latin typeface="Arial"/>
              <a:cs typeface="Arial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3220531" y="6220063"/>
            <a:ext cx="0" cy="48260"/>
          </a:xfrm>
          <a:custGeom>
            <a:avLst/>
            <a:gdLst/>
            <a:ahLst/>
            <a:cxnLst/>
            <a:rect l="l" t="t" r="r" b="b"/>
            <a:pathLst>
              <a:path w="0" h="48260">
                <a:moveTo>
                  <a:pt x="0" y="0"/>
                </a:moveTo>
                <a:lnTo>
                  <a:pt x="0" y="47670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 txBox="1"/>
          <p:nvPr/>
        </p:nvSpPr>
        <p:spPr>
          <a:xfrm>
            <a:off x="4384165" y="3969229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p</a:t>
            </a:r>
            <a:endParaRPr sz="1200">
              <a:latin typeface="Arial"/>
              <a:cs typeface="Arial"/>
            </a:endParaRPr>
          </a:p>
        </p:txBody>
      </p:sp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4331767" y="4163847"/>
          <a:ext cx="1475105" cy="1720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3515"/>
                <a:gridCol w="184150"/>
                <a:gridCol w="183515"/>
                <a:gridCol w="182879"/>
                <a:gridCol w="183515"/>
                <a:gridCol w="183515"/>
                <a:gridCol w="183515"/>
                <a:gridCol w="184150"/>
              </a:tblGrid>
              <a:tr h="166544">
                <a:tc>
                  <a:txBody>
                    <a:bodyPr/>
                    <a:lstStyle/>
                    <a:p>
                      <a:pPr marL="48895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9690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1275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</a:tr>
            </a:tbl>
          </a:graphicData>
        </a:graphic>
      </p:graphicFrame>
      <p:sp>
        <p:nvSpPr>
          <p:cNvPr id="35" name="object 35"/>
          <p:cNvSpPr txBox="1"/>
          <p:nvPr/>
        </p:nvSpPr>
        <p:spPr>
          <a:xfrm>
            <a:off x="5684335" y="3981607"/>
            <a:ext cx="857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5" b="1" i="1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2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737075" y="4312220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q</a:t>
            </a:r>
            <a:endParaRPr sz="1200">
              <a:latin typeface="Arial"/>
              <a:cs typeface="Arial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4794351" y="4332970"/>
            <a:ext cx="0" cy="48260"/>
          </a:xfrm>
          <a:custGeom>
            <a:avLst/>
            <a:gdLst/>
            <a:ahLst/>
            <a:cxnLst/>
            <a:rect l="l" t="t" r="r" b="b"/>
            <a:pathLst>
              <a:path w="0" h="48260">
                <a:moveTo>
                  <a:pt x="0" y="0"/>
                </a:moveTo>
                <a:lnTo>
                  <a:pt x="0" y="47670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 txBox="1"/>
          <p:nvPr/>
        </p:nvSpPr>
        <p:spPr>
          <a:xfrm>
            <a:off x="5275095" y="4313462"/>
            <a:ext cx="1117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200">
              <a:latin typeface="Arial"/>
              <a:cs typeface="Arial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5333603" y="4332970"/>
            <a:ext cx="0" cy="48260"/>
          </a:xfrm>
          <a:custGeom>
            <a:avLst/>
            <a:gdLst/>
            <a:ahLst/>
            <a:cxnLst/>
            <a:rect l="l" t="t" r="r" b="b"/>
            <a:pathLst>
              <a:path w="0" h="48260">
                <a:moveTo>
                  <a:pt x="0" y="0"/>
                </a:moveTo>
                <a:lnTo>
                  <a:pt x="0" y="47670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 txBox="1"/>
          <p:nvPr/>
        </p:nvSpPr>
        <p:spPr>
          <a:xfrm>
            <a:off x="4384165" y="4597015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p</a:t>
            </a:r>
            <a:endParaRPr sz="12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684333" y="4609403"/>
            <a:ext cx="857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5" b="1" i="1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2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737072" y="4938778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q</a:t>
            </a:r>
            <a:endParaRPr sz="1200">
              <a:latin typeface="Arial"/>
              <a:cs typeface="Arial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4794351" y="4959517"/>
            <a:ext cx="0" cy="48260"/>
          </a:xfrm>
          <a:custGeom>
            <a:avLst/>
            <a:gdLst/>
            <a:ahLst/>
            <a:cxnLst/>
            <a:rect l="l" t="t" r="r" b="b"/>
            <a:pathLst>
              <a:path w="0" h="48260">
                <a:moveTo>
                  <a:pt x="0" y="0"/>
                </a:moveTo>
                <a:lnTo>
                  <a:pt x="0" y="47670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 txBox="1"/>
          <p:nvPr/>
        </p:nvSpPr>
        <p:spPr>
          <a:xfrm>
            <a:off x="5471970" y="4941248"/>
            <a:ext cx="1117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5530489" y="4959517"/>
            <a:ext cx="0" cy="48260"/>
          </a:xfrm>
          <a:custGeom>
            <a:avLst/>
            <a:gdLst/>
            <a:ahLst/>
            <a:cxnLst/>
            <a:rect l="l" t="t" r="r" b="b"/>
            <a:pathLst>
              <a:path w="0" h="48260">
                <a:moveTo>
                  <a:pt x="0" y="0"/>
                </a:moveTo>
                <a:lnTo>
                  <a:pt x="0" y="47670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 txBox="1"/>
          <p:nvPr/>
        </p:nvSpPr>
        <p:spPr>
          <a:xfrm>
            <a:off x="4384165" y="5224191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p</a:t>
            </a:r>
            <a:endParaRPr sz="12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684327" y="5236574"/>
            <a:ext cx="857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5" b="1" i="1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2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922185" y="5566568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q</a:t>
            </a:r>
            <a:endParaRPr sz="1200">
              <a:latin typeface="Arial"/>
              <a:cs typeface="Arial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4979471" y="5587939"/>
            <a:ext cx="0" cy="48260"/>
          </a:xfrm>
          <a:custGeom>
            <a:avLst/>
            <a:gdLst/>
            <a:ahLst/>
            <a:cxnLst/>
            <a:rect l="l" t="t" r="r" b="b"/>
            <a:pathLst>
              <a:path w="0" h="48260">
                <a:moveTo>
                  <a:pt x="0" y="0"/>
                </a:moveTo>
                <a:lnTo>
                  <a:pt x="0" y="47670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 txBox="1"/>
          <p:nvPr/>
        </p:nvSpPr>
        <p:spPr>
          <a:xfrm>
            <a:off x="5471970" y="5571523"/>
            <a:ext cx="1117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200">
              <a:latin typeface="Arial"/>
              <a:cs typeface="Arial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5530489" y="5590407"/>
            <a:ext cx="0" cy="48260"/>
          </a:xfrm>
          <a:custGeom>
            <a:avLst/>
            <a:gdLst/>
            <a:ahLst/>
            <a:cxnLst/>
            <a:rect l="l" t="t" r="r" b="b"/>
            <a:pathLst>
              <a:path w="0" h="48260">
                <a:moveTo>
                  <a:pt x="0" y="0"/>
                </a:moveTo>
                <a:lnTo>
                  <a:pt x="0" y="47670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 txBox="1"/>
          <p:nvPr/>
        </p:nvSpPr>
        <p:spPr>
          <a:xfrm>
            <a:off x="4384165" y="5851977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p</a:t>
            </a:r>
            <a:endParaRPr sz="12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684327" y="5864360"/>
            <a:ext cx="857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5" b="1" i="1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2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094301" y="6194354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q</a:t>
            </a:r>
            <a:endParaRPr sz="1200">
              <a:latin typeface="Arial"/>
              <a:cs typeface="Arial"/>
            </a:endParaRPr>
          </a:p>
        </p:txBody>
      </p:sp>
      <p:graphicFrame>
        <p:nvGraphicFramePr>
          <p:cNvPr id="55" name="object 55"/>
          <p:cNvGraphicFramePr>
            <a:graphicFrameLocks noGrp="1"/>
          </p:cNvGraphicFramePr>
          <p:nvPr/>
        </p:nvGraphicFramePr>
        <p:xfrm>
          <a:off x="4331767" y="6045976"/>
          <a:ext cx="1475105" cy="17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3515"/>
                <a:gridCol w="184150"/>
                <a:gridCol w="183515"/>
                <a:gridCol w="182879"/>
                <a:gridCol w="184150"/>
                <a:gridCol w="183515"/>
                <a:gridCol w="183515"/>
                <a:gridCol w="184150"/>
              </a:tblGrid>
              <a:tr h="167164">
                <a:tc>
                  <a:txBody>
                    <a:bodyPr/>
                    <a:lstStyle/>
                    <a:p>
                      <a:pPr marL="50800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2230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56" name="object 56"/>
          <p:cNvSpPr/>
          <p:nvPr/>
        </p:nvSpPr>
        <p:spPr>
          <a:xfrm>
            <a:off x="5152201" y="6213251"/>
            <a:ext cx="563880" cy="50165"/>
          </a:xfrm>
          <a:custGeom>
            <a:avLst/>
            <a:gdLst/>
            <a:ahLst/>
            <a:cxnLst/>
            <a:rect l="l" t="t" r="r" b="b"/>
            <a:pathLst>
              <a:path w="563879" h="50164">
                <a:moveTo>
                  <a:pt x="0" y="2468"/>
                </a:moveTo>
                <a:lnTo>
                  <a:pt x="0" y="50139"/>
                </a:lnTo>
              </a:path>
              <a:path w="563879" h="50164">
                <a:moveTo>
                  <a:pt x="563407" y="0"/>
                </a:moveTo>
                <a:lnTo>
                  <a:pt x="563407" y="47670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 txBox="1"/>
          <p:nvPr/>
        </p:nvSpPr>
        <p:spPr>
          <a:xfrm>
            <a:off x="4382311" y="6328710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p</a:t>
            </a:r>
            <a:endParaRPr sz="12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657085" y="6194356"/>
            <a:ext cx="111760" cy="358140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 marL="37465" marR="5080" indent="-25400">
              <a:lnSpc>
                <a:spcPts val="1160"/>
              </a:lnSpc>
              <a:spcBef>
                <a:spcPts val="390"/>
              </a:spcBef>
            </a:pPr>
            <a:r>
              <a:rPr dirty="0" sz="1200" spc="5" b="1" i="1">
                <a:solidFill>
                  <a:srgbClr val="FFFFFF"/>
                </a:solidFill>
                <a:latin typeface="Arial"/>
                <a:cs typeface="Arial"/>
              </a:rPr>
              <a:t>s </a:t>
            </a:r>
            <a:r>
              <a:rPr dirty="0" sz="1200" spc="5" b="1" i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200" spc="5" b="1" i="1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2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092446" y="6671086"/>
            <a:ext cx="12001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q</a:t>
            </a:r>
            <a:endParaRPr sz="120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5149732" y="6691833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295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/>
          <p:cNvSpPr txBox="1"/>
          <p:nvPr/>
        </p:nvSpPr>
        <p:spPr>
          <a:xfrm>
            <a:off x="5655231" y="6671089"/>
            <a:ext cx="1117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10" b="1" i="1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200">
              <a:latin typeface="Arial"/>
              <a:cs typeface="Arial"/>
            </a:endParaRPr>
          </a:p>
        </p:txBody>
      </p:sp>
      <p:graphicFrame>
        <p:nvGraphicFramePr>
          <p:cNvPr id="62" name="object 62"/>
          <p:cNvGraphicFramePr>
            <a:graphicFrameLocks noGrp="1"/>
          </p:cNvGraphicFramePr>
          <p:nvPr/>
        </p:nvGraphicFramePr>
        <p:xfrm>
          <a:off x="4329908" y="6522709"/>
          <a:ext cx="1474470" cy="1720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3515"/>
                <a:gridCol w="184150"/>
                <a:gridCol w="183515"/>
                <a:gridCol w="184785"/>
                <a:gridCol w="181609"/>
                <a:gridCol w="184150"/>
                <a:gridCol w="183515"/>
                <a:gridCol w="183515"/>
              </a:tblGrid>
              <a:tr h="166544">
                <a:tc>
                  <a:txBody>
                    <a:bodyPr/>
                    <a:lstStyle/>
                    <a:p>
                      <a:pPr marL="41275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2230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9525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8260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0000FF"/>
                      </a:solidFill>
                      <a:prstDash val="solid"/>
                    </a:lnL>
                    <a:lnR w="9525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3" name="object 63"/>
          <p:cNvGraphicFramePr>
            <a:graphicFrameLocks noGrp="1"/>
          </p:cNvGraphicFramePr>
          <p:nvPr/>
        </p:nvGraphicFramePr>
        <p:xfrm>
          <a:off x="2376567" y="4163847"/>
          <a:ext cx="1474470" cy="1720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0975"/>
                <a:gridCol w="185420"/>
                <a:gridCol w="184150"/>
                <a:gridCol w="183514"/>
                <a:gridCol w="182880"/>
                <a:gridCol w="184150"/>
                <a:gridCol w="183515"/>
                <a:gridCol w="183515"/>
              </a:tblGrid>
              <a:tr h="166544">
                <a:tc>
                  <a:txBody>
                    <a:bodyPr/>
                    <a:lstStyle/>
                    <a:p>
                      <a:pPr marL="48895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9525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41910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4" name="object 64"/>
          <p:cNvGraphicFramePr>
            <a:graphicFrameLocks noGrp="1"/>
          </p:cNvGraphicFramePr>
          <p:nvPr/>
        </p:nvGraphicFramePr>
        <p:xfrm>
          <a:off x="2376567" y="6045976"/>
          <a:ext cx="1474470" cy="17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3515"/>
                <a:gridCol w="183515"/>
                <a:gridCol w="184150"/>
                <a:gridCol w="183514"/>
                <a:gridCol w="182880"/>
                <a:gridCol w="184150"/>
                <a:gridCol w="183515"/>
                <a:gridCol w="183515"/>
              </a:tblGrid>
              <a:tr h="167164">
                <a:tc>
                  <a:txBody>
                    <a:bodyPr/>
                    <a:lstStyle/>
                    <a:p>
                      <a:pPr marL="48895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9690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ts val="1215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1910">
                        <a:lnSpc>
                          <a:spcPts val="1215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ts val="1215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5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5" name="object 65"/>
          <p:cNvGraphicFramePr>
            <a:graphicFrameLocks noGrp="1"/>
          </p:cNvGraphicFramePr>
          <p:nvPr/>
        </p:nvGraphicFramePr>
        <p:xfrm>
          <a:off x="4331767" y="4791018"/>
          <a:ext cx="1475105" cy="1720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3515"/>
                <a:gridCol w="184150"/>
                <a:gridCol w="183515"/>
                <a:gridCol w="182879"/>
                <a:gridCol w="184150"/>
                <a:gridCol w="185419"/>
                <a:gridCol w="181609"/>
                <a:gridCol w="184150"/>
              </a:tblGrid>
              <a:tr h="166544">
                <a:tc>
                  <a:txBody>
                    <a:bodyPr/>
                    <a:lstStyle/>
                    <a:p>
                      <a:pPr marL="48895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9690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1275">
                        <a:lnSpc>
                          <a:spcPts val="1210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9525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ts val="1210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534704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6" name="object 66"/>
          <p:cNvGraphicFramePr>
            <a:graphicFrameLocks noGrp="1"/>
          </p:cNvGraphicFramePr>
          <p:nvPr/>
        </p:nvGraphicFramePr>
        <p:xfrm>
          <a:off x="4331767" y="5418194"/>
          <a:ext cx="1475105" cy="17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3515"/>
                <a:gridCol w="184150"/>
                <a:gridCol w="183515"/>
                <a:gridCol w="182879"/>
                <a:gridCol w="184150"/>
                <a:gridCol w="183515"/>
                <a:gridCol w="183515"/>
                <a:gridCol w="184784"/>
              </a:tblGrid>
              <a:tr h="167164">
                <a:tc>
                  <a:txBody>
                    <a:bodyPr/>
                    <a:lstStyle/>
                    <a:p>
                      <a:pPr marL="48895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9690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7625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8260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1275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ts val="1215"/>
                        </a:lnSpc>
                      </a:pPr>
                      <a:r>
                        <a:rPr dirty="0" sz="1200" b="1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ts val="1215"/>
                        </a:lnSpc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FF"/>
                      </a:solidFill>
                      <a:prstDash val="solid"/>
                    </a:lnL>
                    <a:lnR w="6350">
                      <a:solidFill>
                        <a:srgbClr val="0000FF"/>
                      </a:solidFill>
                      <a:prstDash val="solid"/>
                    </a:lnR>
                    <a:lnT w="6350">
                      <a:solidFill>
                        <a:srgbClr val="0000FF"/>
                      </a:solidFill>
                      <a:prstDash val="solid"/>
                    </a:lnT>
                    <a:lnB w="6350">
                      <a:solidFill>
                        <a:srgbClr val="0000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</a:tbl>
          </a:graphicData>
        </a:graphic>
      </p:graphicFrame>
      <p:sp>
        <p:nvSpPr>
          <p:cNvPr id="67" name="object 67"/>
          <p:cNvSpPr/>
          <p:nvPr/>
        </p:nvSpPr>
        <p:spPr>
          <a:xfrm>
            <a:off x="5713750" y="6689349"/>
            <a:ext cx="0" cy="48260"/>
          </a:xfrm>
          <a:custGeom>
            <a:avLst/>
            <a:gdLst/>
            <a:ahLst/>
            <a:cxnLst/>
            <a:rect l="l" t="t" r="r" b="b"/>
            <a:pathLst>
              <a:path w="0" h="48259">
                <a:moveTo>
                  <a:pt x="0" y="0"/>
                </a:moveTo>
                <a:lnTo>
                  <a:pt x="0" y="47685"/>
                </a:lnTo>
              </a:path>
            </a:pathLst>
          </a:custGeom>
          <a:ln w="5159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/>
          <p:cNvSpPr/>
          <p:nvPr/>
        </p:nvSpPr>
        <p:spPr>
          <a:xfrm>
            <a:off x="3736878" y="3997401"/>
            <a:ext cx="1183640" cy="2338705"/>
          </a:xfrm>
          <a:custGeom>
            <a:avLst/>
            <a:gdLst/>
            <a:ahLst/>
            <a:cxnLst/>
            <a:rect l="l" t="t" r="r" b="b"/>
            <a:pathLst>
              <a:path w="1183639" h="2338704">
                <a:moveTo>
                  <a:pt x="0" y="2202225"/>
                </a:moveTo>
                <a:lnTo>
                  <a:pt x="0" y="2338440"/>
                </a:lnTo>
                <a:lnTo>
                  <a:pt x="300288" y="2338440"/>
                </a:lnTo>
                <a:lnTo>
                  <a:pt x="309570" y="0"/>
                </a:lnTo>
                <a:lnTo>
                  <a:pt x="1183157" y="0"/>
                </a:lnTo>
                <a:lnTo>
                  <a:pt x="1183157" y="106481"/>
                </a:lnTo>
              </a:path>
            </a:pathLst>
          </a:custGeom>
          <a:ln w="15478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4890927" y="4089649"/>
            <a:ext cx="58419" cy="58419"/>
          </a:xfrm>
          <a:custGeom>
            <a:avLst/>
            <a:gdLst/>
            <a:ahLst/>
            <a:cxnLst/>
            <a:rect l="l" t="t" r="r" b="b"/>
            <a:pathLst>
              <a:path w="58420" h="58420">
                <a:moveTo>
                  <a:pt x="58201" y="0"/>
                </a:moveTo>
                <a:lnTo>
                  <a:pt x="55107" y="1859"/>
                </a:lnTo>
                <a:lnTo>
                  <a:pt x="51389" y="3093"/>
                </a:lnTo>
                <a:lnTo>
                  <a:pt x="48295" y="4328"/>
                </a:lnTo>
                <a:lnTo>
                  <a:pt x="44576" y="4952"/>
                </a:lnTo>
                <a:lnTo>
                  <a:pt x="41483" y="6187"/>
                </a:lnTo>
                <a:lnTo>
                  <a:pt x="37779" y="6187"/>
                </a:lnTo>
                <a:lnTo>
                  <a:pt x="34061" y="6812"/>
                </a:lnTo>
                <a:lnTo>
                  <a:pt x="23530" y="6812"/>
                </a:lnTo>
                <a:lnTo>
                  <a:pt x="19811" y="6187"/>
                </a:lnTo>
                <a:lnTo>
                  <a:pt x="16718" y="6187"/>
                </a:lnTo>
                <a:lnTo>
                  <a:pt x="13014" y="4952"/>
                </a:lnTo>
                <a:lnTo>
                  <a:pt x="9905" y="4328"/>
                </a:lnTo>
                <a:lnTo>
                  <a:pt x="6202" y="3093"/>
                </a:lnTo>
                <a:lnTo>
                  <a:pt x="3108" y="1859"/>
                </a:lnTo>
                <a:lnTo>
                  <a:pt x="0" y="0"/>
                </a:lnTo>
                <a:lnTo>
                  <a:pt x="29108" y="58201"/>
                </a:lnTo>
                <a:lnTo>
                  <a:pt x="5820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0" name="object 70"/>
          <p:cNvGrpSpPr/>
          <p:nvPr/>
        </p:nvGrpSpPr>
        <p:grpSpPr>
          <a:xfrm>
            <a:off x="2569220" y="3976868"/>
            <a:ext cx="3134995" cy="2545080"/>
            <a:chOff x="2569220" y="3976868"/>
            <a:chExt cx="3134995" cy="2545080"/>
          </a:xfrm>
        </p:grpSpPr>
        <p:pic>
          <p:nvPicPr>
            <p:cNvPr id="71" name="object 7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69220" y="3976868"/>
              <a:ext cx="136824" cy="188934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2851541" y="5891916"/>
              <a:ext cx="361315" cy="113664"/>
            </a:xfrm>
            <a:custGeom>
              <a:avLst/>
              <a:gdLst/>
              <a:ahLst/>
              <a:cxnLst/>
              <a:rect l="l" t="t" r="r" b="b"/>
              <a:pathLst>
                <a:path w="361314" h="113664">
                  <a:moveTo>
                    <a:pt x="360944" y="103403"/>
                  </a:moveTo>
                  <a:lnTo>
                    <a:pt x="325038" y="68107"/>
                  </a:lnTo>
                  <a:lnTo>
                    <a:pt x="289742" y="40248"/>
                  </a:lnTo>
                  <a:lnTo>
                    <a:pt x="254462" y="19811"/>
                  </a:lnTo>
                  <a:lnTo>
                    <a:pt x="203682" y="2484"/>
                  </a:lnTo>
                  <a:lnTo>
                    <a:pt x="170261" y="0"/>
                  </a:lnTo>
                  <a:lnTo>
                    <a:pt x="154152" y="1249"/>
                  </a:lnTo>
                  <a:lnTo>
                    <a:pt x="105872" y="16108"/>
                  </a:lnTo>
                  <a:lnTo>
                    <a:pt x="59435" y="47061"/>
                  </a:lnTo>
                  <a:lnTo>
                    <a:pt x="29717" y="76779"/>
                  </a:lnTo>
                  <a:lnTo>
                    <a:pt x="14858" y="94106"/>
                  </a:lnTo>
                  <a:lnTo>
                    <a:pt x="0" y="113309"/>
                  </a:lnTo>
                </a:path>
              </a:pathLst>
            </a:custGeom>
            <a:ln w="51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835427" y="5975514"/>
              <a:ext cx="396240" cy="53975"/>
            </a:xfrm>
            <a:custGeom>
              <a:avLst/>
              <a:gdLst/>
              <a:ahLst/>
              <a:cxnLst/>
              <a:rect l="l" t="t" r="r" b="b"/>
              <a:pathLst>
                <a:path w="396239" h="53975">
                  <a:moveTo>
                    <a:pt x="37160" y="32804"/>
                  </a:moveTo>
                  <a:lnTo>
                    <a:pt x="35293" y="32804"/>
                  </a:lnTo>
                  <a:lnTo>
                    <a:pt x="30340" y="31572"/>
                  </a:lnTo>
                  <a:lnTo>
                    <a:pt x="28486" y="30949"/>
                  </a:lnTo>
                  <a:lnTo>
                    <a:pt x="26009" y="29718"/>
                  </a:lnTo>
                  <a:lnTo>
                    <a:pt x="24155" y="29095"/>
                  </a:lnTo>
                  <a:lnTo>
                    <a:pt x="21666" y="27851"/>
                  </a:lnTo>
                  <a:lnTo>
                    <a:pt x="16103" y="24142"/>
                  </a:lnTo>
                  <a:lnTo>
                    <a:pt x="14249" y="22275"/>
                  </a:lnTo>
                  <a:lnTo>
                    <a:pt x="12395" y="21043"/>
                  </a:lnTo>
                  <a:lnTo>
                    <a:pt x="11150" y="19189"/>
                  </a:lnTo>
                  <a:lnTo>
                    <a:pt x="9296" y="17322"/>
                  </a:lnTo>
                  <a:lnTo>
                    <a:pt x="5575" y="11760"/>
                  </a:lnTo>
                  <a:lnTo>
                    <a:pt x="0" y="53860"/>
                  </a:lnTo>
                  <a:lnTo>
                    <a:pt x="37160" y="32804"/>
                  </a:lnTo>
                  <a:close/>
                </a:path>
                <a:path w="396239" h="53975">
                  <a:moveTo>
                    <a:pt x="396240" y="40855"/>
                  </a:moveTo>
                  <a:lnTo>
                    <a:pt x="385102" y="0"/>
                  </a:lnTo>
                  <a:lnTo>
                    <a:pt x="384492" y="1854"/>
                  </a:lnTo>
                  <a:lnTo>
                    <a:pt x="383235" y="3721"/>
                  </a:lnTo>
                  <a:lnTo>
                    <a:pt x="382003" y="6184"/>
                  </a:lnTo>
                  <a:lnTo>
                    <a:pt x="378282" y="11760"/>
                  </a:lnTo>
                  <a:lnTo>
                    <a:pt x="373329" y="16713"/>
                  </a:lnTo>
                  <a:lnTo>
                    <a:pt x="371475" y="17945"/>
                  </a:lnTo>
                  <a:lnTo>
                    <a:pt x="369633" y="19812"/>
                  </a:lnTo>
                  <a:lnTo>
                    <a:pt x="367766" y="21043"/>
                  </a:lnTo>
                  <a:lnTo>
                    <a:pt x="365290" y="22275"/>
                  </a:lnTo>
                  <a:lnTo>
                    <a:pt x="363423" y="22898"/>
                  </a:lnTo>
                  <a:lnTo>
                    <a:pt x="361569" y="24142"/>
                  </a:lnTo>
                  <a:lnTo>
                    <a:pt x="356616" y="25374"/>
                  </a:lnTo>
                  <a:lnTo>
                    <a:pt x="396240" y="40855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986893" y="4600432"/>
              <a:ext cx="546735" cy="165735"/>
            </a:xfrm>
            <a:custGeom>
              <a:avLst/>
              <a:gdLst/>
              <a:ahLst/>
              <a:cxnLst/>
              <a:rect l="l" t="t" r="r" b="b"/>
              <a:pathLst>
                <a:path w="546735" h="165735">
                  <a:moveTo>
                    <a:pt x="546689" y="162199"/>
                  </a:moveTo>
                  <a:lnTo>
                    <a:pt x="511408" y="115778"/>
                  </a:lnTo>
                  <a:lnTo>
                    <a:pt x="474878" y="77388"/>
                  </a:lnTo>
                  <a:lnTo>
                    <a:pt x="437113" y="46436"/>
                  </a:lnTo>
                  <a:lnTo>
                    <a:pt x="398099" y="23515"/>
                  </a:lnTo>
                  <a:lnTo>
                    <a:pt x="357865" y="8656"/>
                  </a:lnTo>
                  <a:lnTo>
                    <a:pt x="316991" y="1234"/>
                  </a:lnTo>
                  <a:lnTo>
                    <a:pt x="295945" y="0"/>
                  </a:lnTo>
                  <a:lnTo>
                    <a:pt x="274899" y="1234"/>
                  </a:lnTo>
                  <a:lnTo>
                    <a:pt x="232181" y="9281"/>
                  </a:lnTo>
                  <a:lnTo>
                    <a:pt x="187604" y="24764"/>
                  </a:lnTo>
                  <a:lnTo>
                    <a:pt x="142402" y="48280"/>
                  </a:lnTo>
                  <a:lnTo>
                    <a:pt x="95966" y="79247"/>
                  </a:lnTo>
                  <a:lnTo>
                    <a:pt x="48295" y="118247"/>
                  </a:lnTo>
                  <a:lnTo>
                    <a:pt x="24155" y="140543"/>
                  </a:lnTo>
                  <a:lnTo>
                    <a:pt x="0" y="165308"/>
                  </a:lnTo>
                </a:path>
              </a:pathLst>
            </a:custGeom>
            <a:ln w="51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966462" y="4744071"/>
              <a:ext cx="584200" cy="43180"/>
            </a:xfrm>
            <a:custGeom>
              <a:avLst/>
              <a:gdLst/>
              <a:ahLst/>
              <a:cxnLst/>
              <a:rect l="l" t="t" r="r" b="b"/>
              <a:pathLst>
                <a:path w="584200" h="43179">
                  <a:moveTo>
                    <a:pt x="40233" y="27863"/>
                  </a:moveTo>
                  <a:lnTo>
                    <a:pt x="38379" y="27241"/>
                  </a:lnTo>
                  <a:lnTo>
                    <a:pt x="35915" y="25996"/>
                  </a:lnTo>
                  <a:lnTo>
                    <a:pt x="34048" y="25374"/>
                  </a:lnTo>
                  <a:lnTo>
                    <a:pt x="32194" y="24142"/>
                  </a:lnTo>
                  <a:lnTo>
                    <a:pt x="29718" y="22910"/>
                  </a:lnTo>
                  <a:lnTo>
                    <a:pt x="26009" y="20421"/>
                  </a:lnTo>
                  <a:lnTo>
                    <a:pt x="21056" y="15468"/>
                  </a:lnTo>
                  <a:lnTo>
                    <a:pt x="19812" y="13614"/>
                  </a:lnTo>
                  <a:lnTo>
                    <a:pt x="17957" y="11772"/>
                  </a:lnTo>
                  <a:lnTo>
                    <a:pt x="15468" y="8051"/>
                  </a:lnTo>
                  <a:lnTo>
                    <a:pt x="14236" y="5562"/>
                  </a:lnTo>
                  <a:lnTo>
                    <a:pt x="13614" y="3708"/>
                  </a:lnTo>
                  <a:lnTo>
                    <a:pt x="12382" y="1231"/>
                  </a:lnTo>
                  <a:lnTo>
                    <a:pt x="0" y="42722"/>
                  </a:lnTo>
                  <a:lnTo>
                    <a:pt x="40233" y="27863"/>
                  </a:lnTo>
                  <a:close/>
                </a:path>
                <a:path w="584200" h="43179">
                  <a:moveTo>
                    <a:pt x="583831" y="42722"/>
                  </a:moveTo>
                  <a:lnTo>
                    <a:pt x="578256" y="0"/>
                  </a:lnTo>
                  <a:lnTo>
                    <a:pt x="575792" y="3708"/>
                  </a:lnTo>
                  <a:lnTo>
                    <a:pt x="573925" y="5562"/>
                  </a:lnTo>
                  <a:lnTo>
                    <a:pt x="572693" y="7429"/>
                  </a:lnTo>
                  <a:lnTo>
                    <a:pt x="567740" y="12382"/>
                  </a:lnTo>
                  <a:lnTo>
                    <a:pt x="565886" y="13614"/>
                  </a:lnTo>
                  <a:lnTo>
                    <a:pt x="563397" y="14859"/>
                  </a:lnTo>
                  <a:lnTo>
                    <a:pt x="559689" y="17335"/>
                  </a:lnTo>
                  <a:lnTo>
                    <a:pt x="557212" y="18567"/>
                  </a:lnTo>
                  <a:lnTo>
                    <a:pt x="555345" y="19189"/>
                  </a:lnTo>
                  <a:lnTo>
                    <a:pt x="552881" y="19812"/>
                  </a:lnTo>
                  <a:lnTo>
                    <a:pt x="551027" y="20421"/>
                  </a:lnTo>
                  <a:lnTo>
                    <a:pt x="548538" y="21043"/>
                  </a:lnTo>
                  <a:lnTo>
                    <a:pt x="546074" y="21043"/>
                  </a:lnTo>
                  <a:lnTo>
                    <a:pt x="583831" y="42722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5202966" y="5221417"/>
              <a:ext cx="486409" cy="164465"/>
            </a:xfrm>
            <a:custGeom>
              <a:avLst/>
              <a:gdLst/>
              <a:ahLst/>
              <a:cxnLst/>
              <a:rect l="l" t="t" r="r" b="b"/>
              <a:pathLst>
                <a:path w="486410" h="164464">
                  <a:moveTo>
                    <a:pt x="486018" y="160964"/>
                  </a:moveTo>
                  <a:lnTo>
                    <a:pt x="454441" y="114528"/>
                  </a:lnTo>
                  <a:lnTo>
                    <a:pt x="421629" y="76763"/>
                  </a:lnTo>
                  <a:lnTo>
                    <a:pt x="388193" y="46421"/>
                  </a:lnTo>
                  <a:lnTo>
                    <a:pt x="353522" y="23515"/>
                  </a:lnTo>
                  <a:lnTo>
                    <a:pt x="318241" y="8046"/>
                  </a:lnTo>
                  <a:lnTo>
                    <a:pt x="263133" y="0"/>
                  </a:lnTo>
                  <a:lnTo>
                    <a:pt x="243946" y="1234"/>
                  </a:lnTo>
                  <a:lnTo>
                    <a:pt x="205557" y="9281"/>
                  </a:lnTo>
                  <a:lnTo>
                    <a:pt x="166557" y="24764"/>
                  </a:lnTo>
                  <a:lnTo>
                    <a:pt x="126309" y="48280"/>
                  </a:lnTo>
                  <a:lnTo>
                    <a:pt x="85450" y="79247"/>
                  </a:lnTo>
                  <a:lnTo>
                    <a:pt x="43342" y="117622"/>
                  </a:lnTo>
                  <a:lnTo>
                    <a:pt x="21671" y="139918"/>
                  </a:lnTo>
                  <a:lnTo>
                    <a:pt x="0" y="164058"/>
                  </a:lnTo>
                </a:path>
              </a:pathLst>
            </a:custGeom>
            <a:ln w="51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5184394" y="5364428"/>
              <a:ext cx="520065" cy="43815"/>
            </a:xfrm>
            <a:custGeom>
              <a:avLst/>
              <a:gdLst/>
              <a:ahLst/>
              <a:cxnLst/>
              <a:rect l="l" t="t" r="r" b="b"/>
              <a:pathLst>
                <a:path w="520064" h="43814">
                  <a:moveTo>
                    <a:pt x="39001" y="26631"/>
                  </a:moveTo>
                  <a:lnTo>
                    <a:pt x="37147" y="26009"/>
                  </a:lnTo>
                  <a:lnTo>
                    <a:pt x="34671" y="25400"/>
                  </a:lnTo>
                  <a:lnTo>
                    <a:pt x="32816" y="24142"/>
                  </a:lnTo>
                  <a:lnTo>
                    <a:pt x="30327" y="23533"/>
                  </a:lnTo>
                  <a:lnTo>
                    <a:pt x="26631" y="21056"/>
                  </a:lnTo>
                  <a:lnTo>
                    <a:pt x="24142" y="19812"/>
                  </a:lnTo>
                  <a:lnTo>
                    <a:pt x="22288" y="18580"/>
                  </a:lnTo>
                  <a:lnTo>
                    <a:pt x="21056" y="16725"/>
                  </a:lnTo>
                  <a:lnTo>
                    <a:pt x="19189" y="15494"/>
                  </a:lnTo>
                  <a:lnTo>
                    <a:pt x="17335" y="13627"/>
                  </a:lnTo>
                  <a:lnTo>
                    <a:pt x="16103" y="11772"/>
                  </a:lnTo>
                  <a:lnTo>
                    <a:pt x="14236" y="9906"/>
                  </a:lnTo>
                  <a:lnTo>
                    <a:pt x="11772" y="6197"/>
                  </a:lnTo>
                  <a:lnTo>
                    <a:pt x="11150" y="3721"/>
                  </a:lnTo>
                  <a:lnTo>
                    <a:pt x="9906" y="1866"/>
                  </a:lnTo>
                  <a:lnTo>
                    <a:pt x="0" y="43345"/>
                  </a:lnTo>
                  <a:lnTo>
                    <a:pt x="39001" y="26631"/>
                  </a:lnTo>
                  <a:close/>
                </a:path>
                <a:path w="520064" h="43814">
                  <a:moveTo>
                    <a:pt x="519442" y="42722"/>
                  </a:moveTo>
                  <a:lnTo>
                    <a:pt x="516356" y="0"/>
                  </a:lnTo>
                  <a:lnTo>
                    <a:pt x="515112" y="1866"/>
                  </a:lnTo>
                  <a:lnTo>
                    <a:pt x="513257" y="3721"/>
                  </a:lnTo>
                  <a:lnTo>
                    <a:pt x="512025" y="5588"/>
                  </a:lnTo>
                  <a:lnTo>
                    <a:pt x="510159" y="6819"/>
                  </a:lnTo>
                  <a:lnTo>
                    <a:pt x="508304" y="8674"/>
                  </a:lnTo>
                  <a:lnTo>
                    <a:pt x="507072" y="10541"/>
                  </a:lnTo>
                  <a:lnTo>
                    <a:pt x="505206" y="11772"/>
                  </a:lnTo>
                  <a:lnTo>
                    <a:pt x="502729" y="13004"/>
                  </a:lnTo>
                  <a:lnTo>
                    <a:pt x="499008" y="15494"/>
                  </a:lnTo>
                  <a:lnTo>
                    <a:pt x="496544" y="16103"/>
                  </a:lnTo>
                  <a:lnTo>
                    <a:pt x="494677" y="17335"/>
                  </a:lnTo>
                  <a:lnTo>
                    <a:pt x="492213" y="17957"/>
                  </a:lnTo>
                  <a:lnTo>
                    <a:pt x="490347" y="18580"/>
                  </a:lnTo>
                  <a:lnTo>
                    <a:pt x="487870" y="19189"/>
                  </a:lnTo>
                  <a:lnTo>
                    <a:pt x="485394" y="19189"/>
                  </a:lnTo>
                  <a:lnTo>
                    <a:pt x="482917" y="19812"/>
                  </a:lnTo>
                  <a:lnTo>
                    <a:pt x="519442" y="42722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442688" y="6376700"/>
              <a:ext cx="699135" cy="129539"/>
            </a:xfrm>
            <a:custGeom>
              <a:avLst/>
              <a:gdLst/>
              <a:ahLst/>
              <a:cxnLst/>
              <a:rect l="l" t="t" r="r" b="b"/>
              <a:pathLst>
                <a:path w="699135" h="129540">
                  <a:moveTo>
                    <a:pt x="698997" y="120106"/>
                  </a:moveTo>
                  <a:lnTo>
                    <a:pt x="645124" y="81107"/>
                  </a:lnTo>
                  <a:lnTo>
                    <a:pt x="590031" y="50139"/>
                  </a:lnTo>
                  <a:lnTo>
                    <a:pt x="533064" y="25999"/>
                  </a:lnTo>
                  <a:lnTo>
                    <a:pt x="476112" y="9905"/>
                  </a:lnTo>
                  <a:lnTo>
                    <a:pt x="416676" y="1234"/>
                  </a:lnTo>
                  <a:lnTo>
                    <a:pt x="386958" y="0"/>
                  </a:lnTo>
                  <a:lnTo>
                    <a:pt x="356615" y="0"/>
                  </a:lnTo>
                  <a:lnTo>
                    <a:pt x="294695" y="6812"/>
                  </a:lnTo>
                  <a:lnTo>
                    <a:pt x="231556" y="20421"/>
                  </a:lnTo>
                  <a:lnTo>
                    <a:pt x="166542" y="42092"/>
                  </a:lnTo>
                  <a:lnTo>
                    <a:pt x="100919" y="71201"/>
                  </a:lnTo>
                  <a:lnTo>
                    <a:pt x="34046" y="107731"/>
                  </a:lnTo>
                  <a:lnTo>
                    <a:pt x="0" y="129387"/>
                  </a:lnTo>
                </a:path>
              </a:pathLst>
            </a:custGeom>
            <a:ln w="51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417923" y="6476377"/>
              <a:ext cx="746125" cy="45720"/>
            </a:xfrm>
            <a:custGeom>
              <a:avLst/>
              <a:gdLst/>
              <a:ahLst/>
              <a:cxnLst/>
              <a:rect l="l" t="t" r="r" b="b"/>
              <a:pathLst>
                <a:path w="746125" h="45720">
                  <a:moveTo>
                    <a:pt x="42710" y="39624"/>
                  </a:moveTo>
                  <a:lnTo>
                    <a:pt x="40855" y="39014"/>
                  </a:lnTo>
                  <a:lnTo>
                    <a:pt x="37134" y="36525"/>
                  </a:lnTo>
                  <a:lnTo>
                    <a:pt x="35293" y="34671"/>
                  </a:lnTo>
                  <a:lnTo>
                    <a:pt x="33426" y="33439"/>
                  </a:lnTo>
                  <a:lnTo>
                    <a:pt x="32181" y="31572"/>
                  </a:lnTo>
                  <a:lnTo>
                    <a:pt x="30340" y="29718"/>
                  </a:lnTo>
                  <a:lnTo>
                    <a:pt x="26619" y="24155"/>
                  </a:lnTo>
                  <a:lnTo>
                    <a:pt x="25387" y="21666"/>
                  </a:lnTo>
                  <a:lnTo>
                    <a:pt x="24765" y="19812"/>
                  </a:lnTo>
                  <a:lnTo>
                    <a:pt x="23520" y="17335"/>
                  </a:lnTo>
                  <a:lnTo>
                    <a:pt x="22898" y="15481"/>
                  </a:lnTo>
                  <a:lnTo>
                    <a:pt x="22275" y="13017"/>
                  </a:lnTo>
                  <a:lnTo>
                    <a:pt x="22275" y="10528"/>
                  </a:lnTo>
                  <a:lnTo>
                    <a:pt x="21666" y="8674"/>
                  </a:lnTo>
                  <a:lnTo>
                    <a:pt x="0" y="45199"/>
                  </a:lnTo>
                  <a:lnTo>
                    <a:pt x="42710" y="39624"/>
                  </a:lnTo>
                  <a:close/>
                </a:path>
                <a:path w="746125" h="45720">
                  <a:moveTo>
                    <a:pt x="746036" y="39624"/>
                  </a:moveTo>
                  <a:lnTo>
                    <a:pt x="728713" y="0"/>
                  </a:lnTo>
                  <a:lnTo>
                    <a:pt x="728091" y="2476"/>
                  </a:lnTo>
                  <a:lnTo>
                    <a:pt x="727456" y="4343"/>
                  </a:lnTo>
                  <a:lnTo>
                    <a:pt x="726846" y="6807"/>
                  </a:lnTo>
                  <a:lnTo>
                    <a:pt x="725601" y="8674"/>
                  </a:lnTo>
                  <a:lnTo>
                    <a:pt x="724992" y="11150"/>
                  </a:lnTo>
                  <a:lnTo>
                    <a:pt x="722503" y="14859"/>
                  </a:lnTo>
                  <a:lnTo>
                    <a:pt x="720648" y="16713"/>
                  </a:lnTo>
                  <a:lnTo>
                    <a:pt x="719416" y="18580"/>
                  </a:lnTo>
                  <a:lnTo>
                    <a:pt x="714463" y="23533"/>
                  </a:lnTo>
                  <a:lnTo>
                    <a:pt x="710742" y="26009"/>
                  </a:lnTo>
                  <a:lnTo>
                    <a:pt x="708279" y="27241"/>
                  </a:lnTo>
                  <a:lnTo>
                    <a:pt x="706412" y="28486"/>
                  </a:lnTo>
                  <a:lnTo>
                    <a:pt x="704557" y="29108"/>
                  </a:lnTo>
                  <a:lnTo>
                    <a:pt x="746036" y="39624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0" name="object 80"/>
          <p:cNvSpPr txBox="1"/>
          <p:nvPr/>
        </p:nvSpPr>
        <p:spPr>
          <a:xfrm>
            <a:off x="2805594" y="6998411"/>
            <a:ext cx="2618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4.4: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901699" y="7788946"/>
            <a:ext cx="6390005" cy="11944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4.3.2	</a:t>
            </a:r>
            <a:r>
              <a:rPr dirty="0" sz="1400" spc="15" b="1">
                <a:latin typeface="Times New Roman"/>
                <a:cs typeface="Times New Roman"/>
              </a:rPr>
              <a:t>Quick</a:t>
            </a:r>
            <a:r>
              <a:rPr dirty="0" sz="1400" spc="-2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Sort</a:t>
            </a:r>
            <a:r>
              <a:rPr dirty="0" sz="1400" spc="-1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Example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50">
              <a:latin typeface="Times New Roman"/>
              <a:cs typeface="Times New Roma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4.5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partition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10</a:t>
            </a:r>
            <a:r>
              <a:rPr dirty="0" sz="1200" spc="-11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array.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portion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portion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13</a:t>
            </a:r>
            <a:r>
              <a:rPr dirty="0" sz="1200" spc="-11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54990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Times New Roman"/>
                <a:cs typeface="Times New Roman"/>
              </a:rPr>
              <a:t>Notice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65">
                <a:latin typeface="Lucida Sans Unicode"/>
                <a:cs typeface="Lucida Sans Unicode"/>
              </a:rPr>
              <a:t>10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5">
                <a:latin typeface="Times New Roman"/>
                <a:cs typeface="Times New Roman"/>
              </a:rPr>
              <a:t>now </a:t>
            </a:r>
            <a:r>
              <a:rPr dirty="0" sz="1200" spc="-5">
                <a:latin typeface="Times New Roman"/>
                <a:cs typeface="Times New Roman"/>
              </a:rPr>
              <a:t>at its final </a:t>
            </a:r>
            <a:r>
              <a:rPr dirty="0" sz="1200" spc="-10">
                <a:latin typeface="Times New Roman"/>
                <a:cs typeface="Times New Roman"/>
              </a:rPr>
              <a:t>position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 eventual </a:t>
            </a:r>
            <a:r>
              <a:rPr dirty="0" sz="1200" spc="-5">
                <a:latin typeface="Times New Roman"/>
                <a:cs typeface="Times New Roman"/>
              </a:rPr>
              <a:t>sorted </a:t>
            </a:r>
            <a:r>
              <a:rPr dirty="0" sz="1200" spc="-20">
                <a:latin typeface="Times New Roman"/>
                <a:cs typeface="Times New Roman"/>
              </a:rPr>
              <a:t>order.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process </a:t>
            </a:r>
            <a:r>
              <a:rPr dirty="0" sz="1200" spc="-5">
                <a:latin typeface="Times New Roman"/>
                <a:cs typeface="Times New Roman"/>
              </a:rPr>
              <a:t>repeats as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array </a:t>
            </a:r>
            <a:r>
              <a:rPr dirty="0" sz="1200" spc="-10">
                <a:latin typeface="Times New Roman"/>
                <a:cs typeface="Times New Roman"/>
              </a:rPr>
              <a:t>eventually</a:t>
            </a:r>
            <a:r>
              <a:rPr dirty="0" sz="1200" spc="-5">
                <a:latin typeface="Times New Roman"/>
                <a:cs typeface="Times New Roman"/>
              </a:rPr>
              <a:t> sorting it.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25157" y="520987"/>
            <a:ext cx="16033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52600" y="939228"/>
            <a:ext cx="4648200" cy="361950"/>
          </a:xfrm>
          <a:custGeom>
            <a:avLst/>
            <a:gdLst/>
            <a:ahLst/>
            <a:cxnLst/>
            <a:rect l="l" t="t" r="r" b="b"/>
            <a:pathLst>
              <a:path w="4648200" h="361950">
                <a:moveTo>
                  <a:pt x="4648001" y="0"/>
                </a:moveTo>
                <a:lnTo>
                  <a:pt x="0" y="0"/>
                </a:lnTo>
                <a:lnTo>
                  <a:pt x="0" y="361759"/>
                </a:lnTo>
                <a:lnTo>
                  <a:pt x="4648001" y="361759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905697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171826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400413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702990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234155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500283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766424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995011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828754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057341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323469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626046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26176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931577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260035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120762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892175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905697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171826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400413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702990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234155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500283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766424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995011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828754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057341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323469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626046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526176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931577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260035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120762" y="1063147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892175" y="1063147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39" name="object 39"/>
          <p:cNvGraphicFramePr>
            <a:graphicFrameLocks noGrp="1"/>
          </p:cNvGraphicFramePr>
          <p:nvPr/>
        </p:nvGraphicFramePr>
        <p:xfrm>
          <a:off x="1805019" y="997670"/>
          <a:ext cx="4532630" cy="2501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6700"/>
                <a:gridCol w="264795"/>
                <a:gridCol w="266064"/>
                <a:gridCol w="266065"/>
                <a:gridCol w="264794"/>
                <a:gridCol w="266065"/>
                <a:gridCol w="265429"/>
                <a:gridCol w="265430"/>
                <a:gridCol w="266064"/>
                <a:gridCol w="265430"/>
                <a:gridCol w="265430"/>
                <a:gridCol w="266064"/>
                <a:gridCol w="264794"/>
                <a:gridCol w="266064"/>
                <a:gridCol w="266064"/>
                <a:gridCol w="264795"/>
                <a:gridCol w="266700"/>
              </a:tblGrid>
              <a:tr h="24073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</a:tbl>
          </a:graphicData>
        </a:graphic>
      </p:graphicFrame>
      <p:sp>
        <p:nvSpPr>
          <p:cNvPr id="40" name="object 40"/>
          <p:cNvSpPr txBox="1"/>
          <p:nvPr/>
        </p:nvSpPr>
        <p:spPr>
          <a:xfrm>
            <a:off x="4013515" y="1281813"/>
            <a:ext cx="127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30">
                <a:latin typeface="Lucida Sans Unicode"/>
                <a:cs typeface="Lucida Sans Unicode"/>
              </a:rPr>
              <a:t>⇓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1752600" y="1501165"/>
            <a:ext cx="4648200" cy="601980"/>
          </a:xfrm>
          <a:custGeom>
            <a:avLst/>
            <a:gdLst/>
            <a:ahLst/>
            <a:cxnLst/>
            <a:rect l="l" t="t" r="r" b="b"/>
            <a:pathLst>
              <a:path w="4648200" h="601980">
                <a:moveTo>
                  <a:pt x="4648001" y="0"/>
                </a:moveTo>
                <a:lnTo>
                  <a:pt x="0" y="0"/>
                </a:lnTo>
                <a:lnTo>
                  <a:pt x="0" y="601446"/>
                </a:lnTo>
                <a:lnTo>
                  <a:pt x="4648001" y="601446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/>
          <p:nvPr/>
        </p:nvSpPr>
        <p:spPr>
          <a:xfrm>
            <a:off x="4205935" y="1804091"/>
            <a:ext cx="267335" cy="238760"/>
          </a:xfrm>
          <a:custGeom>
            <a:avLst/>
            <a:gdLst/>
            <a:ahLst/>
            <a:cxnLst/>
            <a:rect l="l" t="t" r="r" b="b"/>
            <a:pathLst>
              <a:path w="267335" h="238760">
                <a:moveTo>
                  <a:pt x="0" y="238521"/>
                </a:moveTo>
                <a:lnTo>
                  <a:pt x="267237" y="238521"/>
                </a:lnTo>
                <a:lnTo>
                  <a:pt x="267237" y="0"/>
                </a:lnTo>
                <a:lnTo>
                  <a:pt x="0" y="0"/>
                </a:lnTo>
                <a:lnTo>
                  <a:pt x="0" y="23852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 txBox="1"/>
          <p:nvPr/>
        </p:nvSpPr>
        <p:spPr>
          <a:xfrm>
            <a:off x="1905697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172931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401518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705200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237470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503598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769739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999431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834265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063957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330099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633768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531688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2933787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264455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129601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899909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905697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2172931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2401518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705200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237470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503598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769739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999431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834265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063957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330099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633768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4531688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933787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4264455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129601" y="16253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899909" y="16253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905697" y="186496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172931" y="186496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2437967" y="186496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2705200" y="186496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3237470" y="186496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3503598" y="186496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769739" y="186496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4035867" y="186496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4797829" y="186496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5063957" y="186496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5330099" y="186496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5597332" y="186496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4531688" y="186496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2971341" y="186496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6129601" y="186496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5862355" y="186496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93" name="object 93"/>
          <p:cNvGraphicFramePr>
            <a:graphicFrameLocks noGrp="1"/>
          </p:cNvGraphicFramePr>
          <p:nvPr/>
        </p:nvGraphicFramePr>
        <p:xfrm>
          <a:off x="1805019" y="1559851"/>
          <a:ext cx="4541520" cy="4895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7970"/>
                <a:gridCol w="265430"/>
                <a:gridCol w="266700"/>
                <a:gridCol w="267969"/>
                <a:gridCol w="266065"/>
                <a:gridCol w="267970"/>
                <a:gridCol w="266064"/>
                <a:gridCol w="267335"/>
                <a:gridCol w="266700"/>
                <a:gridCol w="267335"/>
                <a:gridCol w="266064"/>
                <a:gridCol w="267969"/>
                <a:gridCol w="266064"/>
                <a:gridCol w="267970"/>
                <a:gridCol w="266700"/>
                <a:gridCol w="265429"/>
                <a:gridCol w="267970"/>
              </a:tblGrid>
              <a:tr h="239628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  <a:tr h="240733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</a:tbl>
          </a:graphicData>
        </a:graphic>
      </p:graphicFrame>
      <p:sp>
        <p:nvSpPr>
          <p:cNvPr id="94" name="object 94"/>
          <p:cNvSpPr txBox="1"/>
          <p:nvPr/>
        </p:nvSpPr>
        <p:spPr>
          <a:xfrm>
            <a:off x="4013515" y="2083627"/>
            <a:ext cx="127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30">
                <a:latin typeface="Lucida Sans Unicode"/>
                <a:cs typeface="Lucida Sans Unicode"/>
              </a:rPr>
              <a:t>⇓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1752600" y="2302789"/>
            <a:ext cx="4648200" cy="601980"/>
          </a:xfrm>
          <a:custGeom>
            <a:avLst/>
            <a:gdLst/>
            <a:ahLst/>
            <a:cxnLst/>
            <a:rect l="l" t="t" r="r" b="b"/>
            <a:pathLst>
              <a:path w="4648200" h="601980">
                <a:moveTo>
                  <a:pt x="4648001" y="0"/>
                </a:moveTo>
                <a:lnTo>
                  <a:pt x="0" y="0"/>
                </a:lnTo>
                <a:lnTo>
                  <a:pt x="0" y="601446"/>
                </a:lnTo>
                <a:lnTo>
                  <a:pt x="4648001" y="601446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" name="object 96"/>
          <p:cNvSpPr/>
          <p:nvPr/>
        </p:nvSpPr>
        <p:spPr>
          <a:xfrm>
            <a:off x="4205935" y="2606019"/>
            <a:ext cx="267335" cy="238760"/>
          </a:xfrm>
          <a:custGeom>
            <a:avLst/>
            <a:gdLst/>
            <a:ahLst/>
            <a:cxnLst/>
            <a:rect l="l" t="t" r="r" b="b"/>
            <a:pathLst>
              <a:path w="267335" h="238760">
                <a:moveTo>
                  <a:pt x="0" y="238521"/>
                </a:moveTo>
                <a:lnTo>
                  <a:pt x="267237" y="238521"/>
                </a:lnTo>
                <a:lnTo>
                  <a:pt x="267237" y="0"/>
                </a:lnTo>
                <a:lnTo>
                  <a:pt x="0" y="0"/>
                </a:lnTo>
                <a:lnTo>
                  <a:pt x="0" y="23852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" name="object 97"/>
          <p:cNvSpPr txBox="1"/>
          <p:nvPr/>
        </p:nvSpPr>
        <p:spPr>
          <a:xfrm>
            <a:off x="1905697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2172931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2401518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2705200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3237470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3503598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3769739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3999431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4834265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5063957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5330099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5633768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4531688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2933787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4264455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6129601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5899909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905697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2172931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2401518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2705200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3237470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3503598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3769739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3999431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4834265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5063957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5330099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5633768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4531688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933787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4264455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6129601" y="242725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5899909" y="242725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905697" y="266688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2172931" y="266688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2437967" y="266688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2705200" y="266688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3237470" y="266688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3503598" y="266688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3769739" y="266688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4035867" y="266688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4797829" y="266688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5063957" y="266688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5330099" y="266688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5597332" y="266688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4531688" y="266688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2971341" y="266688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6129601" y="266688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5862355" y="266688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147" name="object 147"/>
          <p:cNvGraphicFramePr>
            <a:graphicFrameLocks noGrp="1"/>
          </p:cNvGraphicFramePr>
          <p:nvPr/>
        </p:nvGraphicFramePr>
        <p:xfrm>
          <a:off x="1805019" y="2361780"/>
          <a:ext cx="4541520" cy="4895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7970"/>
                <a:gridCol w="265430"/>
                <a:gridCol w="266700"/>
                <a:gridCol w="267969"/>
                <a:gridCol w="266065"/>
                <a:gridCol w="267970"/>
                <a:gridCol w="266064"/>
                <a:gridCol w="267335"/>
                <a:gridCol w="266700"/>
                <a:gridCol w="267335"/>
                <a:gridCol w="266064"/>
                <a:gridCol w="267969"/>
                <a:gridCol w="266064"/>
                <a:gridCol w="267970"/>
                <a:gridCol w="266700"/>
                <a:gridCol w="265429"/>
                <a:gridCol w="267970"/>
              </a:tblGrid>
              <a:tr h="239628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  <a:tr h="240733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</a:tbl>
          </a:graphicData>
        </a:graphic>
      </p:graphicFrame>
      <p:sp>
        <p:nvSpPr>
          <p:cNvPr id="148" name="object 148"/>
          <p:cNvSpPr txBox="1"/>
          <p:nvPr/>
        </p:nvSpPr>
        <p:spPr>
          <a:xfrm>
            <a:off x="4013515" y="2885556"/>
            <a:ext cx="127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30">
                <a:latin typeface="Lucida Sans Unicode"/>
                <a:cs typeface="Lucida Sans Unicode"/>
              </a:rPr>
              <a:t>⇓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49" name="object 149"/>
          <p:cNvSpPr/>
          <p:nvPr/>
        </p:nvSpPr>
        <p:spPr>
          <a:xfrm>
            <a:off x="1752600" y="3105632"/>
            <a:ext cx="4648200" cy="841375"/>
          </a:xfrm>
          <a:custGeom>
            <a:avLst/>
            <a:gdLst/>
            <a:ahLst/>
            <a:cxnLst/>
            <a:rect l="l" t="t" r="r" b="b"/>
            <a:pathLst>
              <a:path w="4648200" h="841375">
                <a:moveTo>
                  <a:pt x="4648001" y="0"/>
                </a:moveTo>
                <a:lnTo>
                  <a:pt x="0" y="0"/>
                </a:lnTo>
                <a:lnTo>
                  <a:pt x="0" y="841019"/>
                </a:lnTo>
                <a:lnTo>
                  <a:pt x="4648001" y="841019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" name="object 150"/>
          <p:cNvSpPr txBox="1"/>
          <p:nvPr/>
        </p:nvSpPr>
        <p:spPr>
          <a:xfrm>
            <a:off x="1905697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2172931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2401518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2704095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3236365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3502493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3769739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3998326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4833160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5061748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5328994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5631571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4530596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2933787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4263350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6127391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5897699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1905697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2172931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2401518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2704095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3236365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3502493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3769739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3998326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4833160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5061748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5328994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5631571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4530596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2933787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4263350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6127391" y="323023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5897699" y="323023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4" name="object 184"/>
          <p:cNvSpPr/>
          <p:nvPr/>
        </p:nvSpPr>
        <p:spPr>
          <a:xfrm>
            <a:off x="6067760" y="3169369"/>
            <a:ext cx="267335" cy="240029"/>
          </a:xfrm>
          <a:custGeom>
            <a:avLst/>
            <a:gdLst/>
            <a:ahLst/>
            <a:cxnLst/>
            <a:rect l="l" t="t" r="r" b="b"/>
            <a:pathLst>
              <a:path w="267335" h="240029">
                <a:moveTo>
                  <a:pt x="267237" y="0"/>
                </a:moveTo>
                <a:lnTo>
                  <a:pt x="0" y="0"/>
                </a:lnTo>
                <a:lnTo>
                  <a:pt x="0" y="239630"/>
                </a:lnTo>
                <a:lnTo>
                  <a:pt x="267237" y="239630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" name="object 185"/>
          <p:cNvSpPr txBox="1"/>
          <p:nvPr/>
        </p:nvSpPr>
        <p:spPr>
          <a:xfrm>
            <a:off x="1905697" y="346985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2172931" y="346985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2437967" y="346985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2704095" y="346985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3236365" y="346985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3502493" y="346985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3769739" y="346985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4034763" y="346985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4796724" y="346985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5061748" y="346985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5328994" y="346985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5595122" y="346985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4530596" y="346985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2971341" y="346985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6127391" y="346985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4263350" y="346985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5860158" y="346985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2" name="object 202"/>
          <p:cNvSpPr/>
          <p:nvPr/>
        </p:nvSpPr>
        <p:spPr>
          <a:xfrm>
            <a:off x="4204822" y="3407892"/>
            <a:ext cx="267335" cy="241935"/>
          </a:xfrm>
          <a:custGeom>
            <a:avLst/>
            <a:gdLst/>
            <a:ahLst/>
            <a:cxnLst/>
            <a:rect l="l" t="t" r="r" b="b"/>
            <a:pathLst>
              <a:path w="267335" h="241935">
                <a:moveTo>
                  <a:pt x="267237" y="0"/>
                </a:moveTo>
                <a:lnTo>
                  <a:pt x="0" y="0"/>
                </a:lnTo>
                <a:lnTo>
                  <a:pt x="0" y="241838"/>
                </a:lnTo>
                <a:lnTo>
                  <a:pt x="267237" y="241838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" name="object 203"/>
          <p:cNvSpPr txBox="1"/>
          <p:nvPr/>
        </p:nvSpPr>
        <p:spPr>
          <a:xfrm>
            <a:off x="1905697" y="370839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2172931" y="370839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2437967" y="370839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2704095" y="370839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3236365" y="370839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3502493" y="370839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3769739" y="370839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4034763" y="370839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4796724" y="370839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6127391" y="370839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5328994" y="370839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5595122" y="370839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4530596" y="370839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5061748" y="370839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4263350" y="370839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5860158" y="370839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2971341" y="370839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220" name="object 220"/>
          <p:cNvGraphicFramePr>
            <a:graphicFrameLocks noGrp="1"/>
          </p:cNvGraphicFramePr>
          <p:nvPr/>
        </p:nvGraphicFramePr>
        <p:xfrm>
          <a:off x="1805019" y="3164760"/>
          <a:ext cx="4539615" cy="7283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6700"/>
                <a:gridCol w="266065"/>
                <a:gridCol w="266065"/>
                <a:gridCol w="266065"/>
                <a:gridCol w="266065"/>
                <a:gridCol w="266065"/>
                <a:gridCol w="265429"/>
                <a:gridCol w="266700"/>
                <a:gridCol w="266064"/>
                <a:gridCol w="266700"/>
                <a:gridCol w="265430"/>
                <a:gridCol w="266064"/>
                <a:gridCol w="266064"/>
                <a:gridCol w="266064"/>
                <a:gridCol w="266064"/>
                <a:gridCol w="266064"/>
                <a:gridCol w="266700"/>
              </a:tblGrid>
              <a:tr h="239076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</a:tr>
              <a:tr h="24073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  <a:tr h="23907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</a:tbl>
          </a:graphicData>
        </a:graphic>
      </p:graphicFrame>
      <p:sp>
        <p:nvSpPr>
          <p:cNvPr id="221" name="object 221"/>
          <p:cNvSpPr/>
          <p:nvPr/>
        </p:nvSpPr>
        <p:spPr>
          <a:xfrm>
            <a:off x="4204822" y="3648621"/>
            <a:ext cx="267335" cy="240029"/>
          </a:xfrm>
          <a:custGeom>
            <a:avLst/>
            <a:gdLst/>
            <a:ahLst/>
            <a:cxnLst/>
            <a:rect l="l" t="t" r="r" b="b"/>
            <a:pathLst>
              <a:path w="267335" h="240029">
                <a:moveTo>
                  <a:pt x="267237" y="0"/>
                </a:moveTo>
                <a:lnTo>
                  <a:pt x="0" y="0"/>
                </a:lnTo>
                <a:lnTo>
                  <a:pt x="0" y="239630"/>
                </a:lnTo>
                <a:lnTo>
                  <a:pt x="267237" y="239630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" name="object 222"/>
          <p:cNvSpPr txBox="1"/>
          <p:nvPr/>
        </p:nvSpPr>
        <p:spPr>
          <a:xfrm>
            <a:off x="4013515" y="3927056"/>
            <a:ext cx="127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30">
                <a:latin typeface="Lucida Sans Unicode"/>
                <a:cs typeface="Lucida Sans Unicode"/>
              </a:rPr>
              <a:t>⇓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23" name="object 223"/>
          <p:cNvSpPr/>
          <p:nvPr/>
        </p:nvSpPr>
        <p:spPr>
          <a:xfrm>
            <a:off x="1752600" y="4146524"/>
            <a:ext cx="4648200" cy="841375"/>
          </a:xfrm>
          <a:custGeom>
            <a:avLst/>
            <a:gdLst/>
            <a:ahLst/>
            <a:cxnLst/>
            <a:rect l="l" t="t" r="r" b="b"/>
            <a:pathLst>
              <a:path w="4648200" h="841375">
                <a:moveTo>
                  <a:pt x="4648001" y="0"/>
                </a:moveTo>
                <a:lnTo>
                  <a:pt x="0" y="0"/>
                </a:lnTo>
                <a:lnTo>
                  <a:pt x="0" y="841019"/>
                </a:lnTo>
                <a:lnTo>
                  <a:pt x="4648001" y="841019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" name="object 224"/>
          <p:cNvSpPr txBox="1"/>
          <p:nvPr/>
        </p:nvSpPr>
        <p:spPr>
          <a:xfrm>
            <a:off x="1905697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2172931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2401518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2704095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3236365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3502493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3769739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3998326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4833160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5061748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5328994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5631571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4530596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2933787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4263350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6127391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5897699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1905697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2172931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2401518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2704095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3236365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3502493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3769739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3998326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4833160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5061748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5328994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5631571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4530596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2933787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4263350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6127391" y="4271851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5897699" y="4271851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8" name="object 258"/>
          <p:cNvSpPr/>
          <p:nvPr/>
        </p:nvSpPr>
        <p:spPr>
          <a:xfrm>
            <a:off x="6067760" y="4210977"/>
            <a:ext cx="267335" cy="240029"/>
          </a:xfrm>
          <a:custGeom>
            <a:avLst/>
            <a:gdLst/>
            <a:ahLst/>
            <a:cxnLst/>
            <a:rect l="l" t="t" r="r" b="b"/>
            <a:pathLst>
              <a:path w="267335" h="240029">
                <a:moveTo>
                  <a:pt x="267237" y="0"/>
                </a:moveTo>
                <a:lnTo>
                  <a:pt x="0" y="0"/>
                </a:lnTo>
                <a:lnTo>
                  <a:pt x="0" y="239630"/>
                </a:lnTo>
                <a:lnTo>
                  <a:pt x="267237" y="239630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" name="object 259"/>
          <p:cNvSpPr txBox="1"/>
          <p:nvPr/>
        </p:nvSpPr>
        <p:spPr>
          <a:xfrm>
            <a:off x="1905697" y="451147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2172931" y="451147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2437967" y="451147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2704095" y="451147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3236365" y="451147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3502493" y="451147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3769739" y="451147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4034763" y="451147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4796724" y="451147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5061748" y="451147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5328994" y="451147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5595122" y="451147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4530596" y="451147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2971341" y="451147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6127391" y="451147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4263350" y="451147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5860158" y="451147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6" name="object 276"/>
          <p:cNvSpPr/>
          <p:nvPr/>
        </p:nvSpPr>
        <p:spPr>
          <a:xfrm>
            <a:off x="6067760" y="4449500"/>
            <a:ext cx="267335" cy="241935"/>
          </a:xfrm>
          <a:custGeom>
            <a:avLst/>
            <a:gdLst/>
            <a:ahLst/>
            <a:cxnLst/>
            <a:rect l="l" t="t" r="r" b="b"/>
            <a:pathLst>
              <a:path w="267335" h="241935">
                <a:moveTo>
                  <a:pt x="267237" y="0"/>
                </a:moveTo>
                <a:lnTo>
                  <a:pt x="0" y="0"/>
                </a:lnTo>
                <a:lnTo>
                  <a:pt x="0" y="241838"/>
                </a:lnTo>
                <a:lnTo>
                  <a:pt x="267237" y="241838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" name="object 277"/>
          <p:cNvSpPr/>
          <p:nvPr/>
        </p:nvSpPr>
        <p:spPr>
          <a:xfrm>
            <a:off x="3938676" y="4449508"/>
            <a:ext cx="533400" cy="241935"/>
          </a:xfrm>
          <a:custGeom>
            <a:avLst/>
            <a:gdLst/>
            <a:ahLst/>
            <a:cxnLst/>
            <a:rect l="l" t="t" r="r" b="b"/>
            <a:pathLst>
              <a:path w="533400" h="241935">
                <a:moveTo>
                  <a:pt x="533374" y="0"/>
                </a:moveTo>
                <a:lnTo>
                  <a:pt x="267246" y="0"/>
                </a:lnTo>
                <a:lnTo>
                  <a:pt x="266141" y="0"/>
                </a:lnTo>
                <a:lnTo>
                  <a:pt x="0" y="0"/>
                </a:lnTo>
                <a:lnTo>
                  <a:pt x="0" y="241833"/>
                </a:lnTo>
                <a:lnTo>
                  <a:pt x="266141" y="241833"/>
                </a:lnTo>
                <a:lnTo>
                  <a:pt x="267246" y="241833"/>
                </a:lnTo>
                <a:lnTo>
                  <a:pt x="533374" y="241833"/>
                </a:lnTo>
                <a:lnTo>
                  <a:pt x="533374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" name="object 278"/>
          <p:cNvSpPr txBox="1"/>
          <p:nvPr/>
        </p:nvSpPr>
        <p:spPr>
          <a:xfrm>
            <a:off x="1905697" y="475000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2172931" y="475000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2437967" y="475000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2704095" y="475000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3236365" y="475000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3502493" y="475000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3769739" y="475000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4034763" y="475000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4796724" y="475000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6127391" y="475000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5328994" y="475000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5595122" y="475000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4530596" y="475000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5061748" y="475000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4263350" y="475000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5860158" y="4750006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2971341" y="4750006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295" name="object 295"/>
          <p:cNvGraphicFramePr>
            <a:graphicFrameLocks noGrp="1"/>
          </p:cNvGraphicFramePr>
          <p:nvPr/>
        </p:nvGraphicFramePr>
        <p:xfrm>
          <a:off x="1805019" y="4206368"/>
          <a:ext cx="4539615" cy="7283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6700"/>
                <a:gridCol w="266065"/>
                <a:gridCol w="266065"/>
                <a:gridCol w="266065"/>
                <a:gridCol w="266065"/>
                <a:gridCol w="266065"/>
                <a:gridCol w="265429"/>
                <a:gridCol w="266700"/>
                <a:gridCol w="266064"/>
                <a:gridCol w="266700"/>
                <a:gridCol w="265430"/>
                <a:gridCol w="266064"/>
                <a:gridCol w="266064"/>
                <a:gridCol w="266064"/>
                <a:gridCol w="266064"/>
                <a:gridCol w="266064"/>
                <a:gridCol w="266700"/>
              </a:tblGrid>
              <a:tr h="239076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</a:tr>
              <a:tr h="240737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</a:tr>
              <a:tr h="239083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</a:tbl>
          </a:graphicData>
        </a:graphic>
      </p:graphicFrame>
      <p:sp>
        <p:nvSpPr>
          <p:cNvPr id="296" name="object 296"/>
          <p:cNvSpPr/>
          <p:nvPr/>
        </p:nvSpPr>
        <p:spPr>
          <a:xfrm>
            <a:off x="5003231" y="4690245"/>
            <a:ext cx="267335" cy="240029"/>
          </a:xfrm>
          <a:custGeom>
            <a:avLst/>
            <a:gdLst/>
            <a:ahLst/>
            <a:cxnLst/>
            <a:rect l="l" t="t" r="r" b="b"/>
            <a:pathLst>
              <a:path w="267335" h="240029">
                <a:moveTo>
                  <a:pt x="267237" y="0"/>
                </a:moveTo>
                <a:lnTo>
                  <a:pt x="0" y="0"/>
                </a:lnTo>
                <a:lnTo>
                  <a:pt x="0" y="239630"/>
                </a:lnTo>
                <a:lnTo>
                  <a:pt x="267237" y="239630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7" name="object 297"/>
          <p:cNvSpPr/>
          <p:nvPr/>
        </p:nvSpPr>
        <p:spPr>
          <a:xfrm>
            <a:off x="4204822" y="4690245"/>
            <a:ext cx="267335" cy="240029"/>
          </a:xfrm>
          <a:custGeom>
            <a:avLst/>
            <a:gdLst/>
            <a:ahLst/>
            <a:cxnLst/>
            <a:rect l="l" t="t" r="r" b="b"/>
            <a:pathLst>
              <a:path w="267335" h="240029">
                <a:moveTo>
                  <a:pt x="267237" y="0"/>
                </a:moveTo>
                <a:lnTo>
                  <a:pt x="0" y="0"/>
                </a:lnTo>
                <a:lnTo>
                  <a:pt x="0" y="239630"/>
                </a:lnTo>
                <a:lnTo>
                  <a:pt x="267237" y="239630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8" name="object 298"/>
          <p:cNvSpPr/>
          <p:nvPr/>
        </p:nvSpPr>
        <p:spPr>
          <a:xfrm>
            <a:off x="2874157" y="4690245"/>
            <a:ext cx="267335" cy="240029"/>
          </a:xfrm>
          <a:custGeom>
            <a:avLst/>
            <a:gdLst/>
            <a:ahLst/>
            <a:cxnLst/>
            <a:rect l="l" t="t" r="r" b="b"/>
            <a:pathLst>
              <a:path w="267335" h="240029">
                <a:moveTo>
                  <a:pt x="267237" y="0"/>
                </a:moveTo>
                <a:lnTo>
                  <a:pt x="0" y="0"/>
                </a:lnTo>
                <a:lnTo>
                  <a:pt x="0" y="239630"/>
                </a:lnTo>
                <a:lnTo>
                  <a:pt x="267237" y="239630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9" name="object 299"/>
          <p:cNvSpPr txBox="1"/>
          <p:nvPr/>
        </p:nvSpPr>
        <p:spPr>
          <a:xfrm>
            <a:off x="4013515" y="4968672"/>
            <a:ext cx="127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30">
                <a:latin typeface="Lucida Sans Unicode"/>
                <a:cs typeface="Lucida Sans Unicode"/>
              </a:rPr>
              <a:t>⇓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00" name="object 300"/>
          <p:cNvSpPr/>
          <p:nvPr/>
        </p:nvSpPr>
        <p:spPr>
          <a:xfrm>
            <a:off x="1752600" y="5188521"/>
            <a:ext cx="4648200" cy="1080770"/>
          </a:xfrm>
          <a:custGeom>
            <a:avLst/>
            <a:gdLst/>
            <a:ahLst/>
            <a:cxnLst/>
            <a:rect l="l" t="t" r="r" b="b"/>
            <a:pathLst>
              <a:path w="4648200" h="1080770">
                <a:moveTo>
                  <a:pt x="4648001" y="0"/>
                </a:moveTo>
                <a:lnTo>
                  <a:pt x="0" y="0"/>
                </a:lnTo>
                <a:lnTo>
                  <a:pt x="0" y="1080706"/>
                </a:lnTo>
                <a:lnTo>
                  <a:pt x="4648001" y="1080706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1" name="object 301"/>
          <p:cNvSpPr txBox="1"/>
          <p:nvPr/>
        </p:nvSpPr>
        <p:spPr>
          <a:xfrm>
            <a:off x="1905697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2172931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2401518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2705200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3237470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3503598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3769739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3999431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4834265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5063957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5330099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5633768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4531688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2933787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4264455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6129601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5899909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1905697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2172931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2401518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2705200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3237470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3503598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3769739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3999431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4834265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5063957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328" name="object 328"/>
          <p:cNvSpPr txBox="1"/>
          <p:nvPr/>
        </p:nvSpPr>
        <p:spPr>
          <a:xfrm>
            <a:off x="5330099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329" name="object 329"/>
          <p:cNvSpPr txBox="1"/>
          <p:nvPr/>
        </p:nvSpPr>
        <p:spPr>
          <a:xfrm>
            <a:off x="5633768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330" name="object 330"/>
          <p:cNvSpPr txBox="1"/>
          <p:nvPr/>
        </p:nvSpPr>
        <p:spPr>
          <a:xfrm>
            <a:off x="4531688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2933787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4264455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6129601" y="531340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334" name="object 334"/>
          <p:cNvSpPr txBox="1"/>
          <p:nvPr/>
        </p:nvSpPr>
        <p:spPr>
          <a:xfrm>
            <a:off x="5899909" y="531340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335" name="object 335"/>
          <p:cNvSpPr/>
          <p:nvPr/>
        </p:nvSpPr>
        <p:spPr>
          <a:xfrm>
            <a:off x="6068872" y="5252540"/>
            <a:ext cx="268605" cy="240029"/>
          </a:xfrm>
          <a:custGeom>
            <a:avLst/>
            <a:gdLst/>
            <a:ahLst/>
            <a:cxnLst/>
            <a:rect l="l" t="t" r="r" b="b"/>
            <a:pathLst>
              <a:path w="268604" h="240029">
                <a:moveTo>
                  <a:pt x="268341" y="0"/>
                </a:moveTo>
                <a:lnTo>
                  <a:pt x="0" y="0"/>
                </a:lnTo>
                <a:lnTo>
                  <a:pt x="0" y="239630"/>
                </a:lnTo>
                <a:lnTo>
                  <a:pt x="268341" y="239630"/>
                </a:lnTo>
                <a:lnTo>
                  <a:pt x="268341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" name="object 336"/>
          <p:cNvSpPr txBox="1"/>
          <p:nvPr/>
        </p:nvSpPr>
        <p:spPr>
          <a:xfrm>
            <a:off x="1905697" y="555303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2172931" y="555303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2437967" y="555303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2705200" y="555303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3237470" y="555303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3503598" y="555303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3769739" y="555303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4035867" y="555303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344" name="object 344"/>
          <p:cNvSpPr txBox="1"/>
          <p:nvPr/>
        </p:nvSpPr>
        <p:spPr>
          <a:xfrm>
            <a:off x="4797829" y="555303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345" name="object 345"/>
          <p:cNvSpPr txBox="1"/>
          <p:nvPr/>
        </p:nvSpPr>
        <p:spPr>
          <a:xfrm>
            <a:off x="5063957" y="555303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5330099" y="555303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5597332" y="555303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4531688" y="555303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2971341" y="555303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6129601" y="555303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4264455" y="555303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5862355" y="555303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353" name="object 353"/>
          <p:cNvSpPr/>
          <p:nvPr/>
        </p:nvSpPr>
        <p:spPr>
          <a:xfrm>
            <a:off x="6068872" y="5491070"/>
            <a:ext cx="268605" cy="241300"/>
          </a:xfrm>
          <a:custGeom>
            <a:avLst/>
            <a:gdLst/>
            <a:ahLst/>
            <a:cxnLst/>
            <a:rect l="l" t="t" r="r" b="b"/>
            <a:pathLst>
              <a:path w="268604" h="241300">
                <a:moveTo>
                  <a:pt x="268341" y="0"/>
                </a:moveTo>
                <a:lnTo>
                  <a:pt x="0" y="0"/>
                </a:lnTo>
                <a:lnTo>
                  <a:pt x="0" y="240734"/>
                </a:lnTo>
                <a:lnTo>
                  <a:pt x="268341" y="240734"/>
                </a:lnTo>
                <a:lnTo>
                  <a:pt x="268341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4" name="object 354"/>
          <p:cNvSpPr/>
          <p:nvPr/>
        </p:nvSpPr>
        <p:spPr>
          <a:xfrm>
            <a:off x="3939794" y="5491073"/>
            <a:ext cx="533400" cy="241300"/>
          </a:xfrm>
          <a:custGeom>
            <a:avLst/>
            <a:gdLst/>
            <a:ahLst/>
            <a:cxnLst/>
            <a:rect l="l" t="t" r="r" b="b"/>
            <a:pathLst>
              <a:path w="533400" h="241300">
                <a:moveTo>
                  <a:pt x="533374" y="0"/>
                </a:moveTo>
                <a:lnTo>
                  <a:pt x="267233" y="0"/>
                </a:lnTo>
                <a:lnTo>
                  <a:pt x="266141" y="0"/>
                </a:lnTo>
                <a:lnTo>
                  <a:pt x="0" y="0"/>
                </a:lnTo>
                <a:lnTo>
                  <a:pt x="0" y="240741"/>
                </a:lnTo>
                <a:lnTo>
                  <a:pt x="266141" y="240741"/>
                </a:lnTo>
                <a:lnTo>
                  <a:pt x="267233" y="240741"/>
                </a:lnTo>
                <a:lnTo>
                  <a:pt x="533374" y="240741"/>
                </a:lnTo>
                <a:lnTo>
                  <a:pt x="533374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5" name="object 355"/>
          <p:cNvSpPr txBox="1"/>
          <p:nvPr/>
        </p:nvSpPr>
        <p:spPr>
          <a:xfrm>
            <a:off x="1905697" y="579155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56" name="object 356"/>
          <p:cNvSpPr txBox="1"/>
          <p:nvPr/>
        </p:nvSpPr>
        <p:spPr>
          <a:xfrm>
            <a:off x="2172931" y="579155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357" name="object 357"/>
          <p:cNvSpPr txBox="1"/>
          <p:nvPr/>
        </p:nvSpPr>
        <p:spPr>
          <a:xfrm>
            <a:off x="2437967" y="579155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358" name="object 358"/>
          <p:cNvSpPr txBox="1"/>
          <p:nvPr/>
        </p:nvSpPr>
        <p:spPr>
          <a:xfrm>
            <a:off x="2705200" y="579155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359" name="object 359"/>
          <p:cNvSpPr txBox="1"/>
          <p:nvPr/>
        </p:nvSpPr>
        <p:spPr>
          <a:xfrm>
            <a:off x="3237470" y="579155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0" name="object 360"/>
          <p:cNvSpPr txBox="1"/>
          <p:nvPr/>
        </p:nvSpPr>
        <p:spPr>
          <a:xfrm>
            <a:off x="3503598" y="579155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1" name="object 361"/>
          <p:cNvSpPr txBox="1"/>
          <p:nvPr/>
        </p:nvSpPr>
        <p:spPr>
          <a:xfrm>
            <a:off x="3769739" y="579155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2" name="object 362"/>
          <p:cNvSpPr txBox="1"/>
          <p:nvPr/>
        </p:nvSpPr>
        <p:spPr>
          <a:xfrm>
            <a:off x="4035867" y="579155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3" name="object 363"/>
          <p:cNvSpPr txBox="1"/>
          <p:nvPr/>
        </p:nvSpPr>
        <p:spPr>
          <a:xfrm>
            <a:off x="4797829" y="579155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6129601" y="579155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5" name="object 365"/>
          <p:cNvSpPr txBox="1"/>
          <p:nvPr/>
        </p:nvSpPr>
        <p:spPr>
          <a:xfrm>
            <a:off x="5330099" y="579155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6" name="object 366"/>
          <p:cNvSpPr txBox="1"/>
          <p:nvPr/>
        </p:nvSpPr>
        <p:spPr>
          <a:xfrm>
            <a:off x="5597332" y="579155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7" name="object 367"/>
          <p:cNvSpPr txBox="1"/>
          <p:nvPr/>
        </p:nvSpPr>
        <p:spPr>
          <a:xfrm>
            <a:off x="4531688" y="579155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8" name="object 368"/>
          <p:cNvSpPr txBox="1"/>
          <p:nvPr/>
        </p:nvSpPr>
        <p:spPr>
          <a:xfrm>
            <a:off x="5063957" y="579155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9" name="object 369"/>
          <p:cNvSpPr txBox="1"/>
          <p:nvPr/>
        </p:nvSpPr>
        <p:spPr>
          <a:xfrm>
            <a:off x="4264455" y="579155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370" name="object 370"/>
          <p:cNvSpPr txBox="1"/>
          <p:nvPr/>
        </p:nvSpPr>
        <p:spPr>
          <a:xfrm>
            <a:off x="5862355" y="579155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371" name="object 371"/>
          <p:cNvSpPr txBox="1"/>
          <p:nvPr/>
        </p:nvSpPr>
        <p:spPr>
          <a:xfrm>
            <a:off x="2971341" y="579155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372" name="object 372"/>
          <p:cNvSpPr/>
          <p:nvPr/>
        </p:nvSpPr>
        <p:spPr>
          <a:xfrm>
            <a:off x="5005440" y="5731792"/>
            <a:ext cx="266700" cy="240029"/>
          </a:xfrm>
          <a:custGeom>
            <a:avLst/>
            <a:gdLst/>
            <a:ahLst/>
            <a:cxnLst/>
            <a:rect l="l" t="t" r="r" b="b"/>
            <a:pathLst>
              <a:path w="266700" h="240029">
                <a:moveTo>
                  <a:pt x="266133" y="0"/>
                </a:moveTo>
                <a:lnTo>
                  <a:pt x="0" y="0"/>
                </a:lnTo>
                <a:lnTo>
                  <a:pt x="0" y="239630"/>
                </a:lnTo>
                <a:lnTo>
                  <a:pt x="266133" y="239630"/>
                </a:lnTo>
                <a:lnTo>
                  <a:pt x="266133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" name="object 373"/>
          <p:cNvSpPr/>
          <p:nvPr/>
        </p:nvSpPr>
        <p:spPr>
          <a:xfrm>
            <a:off x="4205935" y="5731792"/>
            <a:ext cx="267335" cy="240029"/>
          </a:xfrm>
          <a:custGeom>
            <a:avLst/>
            <a:gdLst/>
            <a:ahLst/>
            <a:cxnLst/>
            <a:rect l="l" t="t" r="r" b="b"/>
            <a:pathLst>
              <a:path w="267335" h="240029">
                <a:moveTo>
                  <a:pt x="267237" y="0"/>
                </a:moveTo>
                <a:lnTo>
                  <a:pt x="0" y="0"/>
                </a:lnTo>
                <a:lnTo>
                  <a:pt x="0" y="239630"/>
                </a:lnTo>
                <a:lnTo>
                  <a:pt x="267237" y="239630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4" name="object 374"/>
          <p:cNvSpPr/>
          <p:nvPr/>
        </p:nvSpPr>
        <p:spPr>
          <a:xfrm>
            <a:off x="2875269" y="5731792"/>
            <a:ext cx="266700" cy="240029"/>
          </a:xfrm>
          <a:custGeom>
            <a:avLst/>
            <a:gdLst/>
            <a:ahLst/>
            <a:cxnLst/>
            <a:rect l="l" t="t" r="r" b="b"/>
            <a:pathLst>
              <a:path w="266700" h="240029">
                <a:moveTo>
                  <a:pt x="266133" y="0"/>
                </a:moveTo>
                <a:lnTo>
                  <a:pt x="0" y="0"/>
                </a:lnTo>
                <a:lnTo>
                  <a:pt x="0" y="239630"/>
                </a:lnTo>
                <a:lnTo>
                  <a:pt x="266133" y="239630"/>
                </a:lnTo>
                <a:lnTo>
                  <a:pt x="266133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5" name="object 375"/>
          <p:cNvSpPr txBox="1"/>
          <p:nvPr/>
        </p:nvSpPr>
        <p:spPr>
          <a:xfrm>
            <a:off x="1905697" y="603229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76" name="object 376"/>
          <p:cNvSpPr txBox="1"/>
          <p:nvPr/>
        </p:nvSpPr>
        <p:spPr>
          <a:xfrm>
            <a:off x="2172931" y="603229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377" name="object 377"/>
          <p:cNvSpPr txBox="1"/>
          <p:nvPr/>
        </p:nvSpPr>
        <p:spPr>
          <a:xfrm>
            <a:off x="2437967" y="603229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2705200" y="603229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379" name="object 379"/>
          <p:cNvSpPr txBox="1"/>
          <p:nvPr/>
        </p:nvSpPr>
        <p:spPr>
          <a:xfrm>
            <a:off x="3237470" y="603229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380" name="object 380"/>
          <p:cNvSpPr txBox="1"/>
          <p:nvPr/>
        </p:nvSpPr>
        <p:spPr>
          <a:xfrm>
            <a:off x="3503598" y="603229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3769739" y="603229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4035867" y="603229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4797829" y="603229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6129601" y="603229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385" name="object 385"/>
          <p:cNvSpPr txBox="1"/>
          <p:nvPr/>
        </p:nvSpPr>
        <p:spPr>
          <a:xfrm>
            <a:off x="5330099" y="603229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386" name="object 386"/>
          <p:cNvSpPr txBox="1"/>
          <p:nvPr/>
        </p:nvSpPr>
        <p:spPr>
          <a:xfrm>
            <a:off x="5597332" y="603229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387" name="object 387"/>
          <p:cNvSpPr txBox="1"/>
          <p:nvPr/>
        </p:nvSpPr>
        <p:spPr>
          <a:xfrm>
            <a:off x="4531688" y="603229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88" name="object 388"/>
          <p:cNvSpPr txBox="1"/>
          <p:nvPr/>
        </p:nvSpPr>
        <p:spPr>
          <a:xfrm>
            <a:off x="5063957" y="603229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389" name="object 389"/>
          <p:cNvSpPr txBox="1"/>
          <p:nvPr/>
        </p:nvSpPr>
        <p:spPr>
          <a:xfrm>
            <a:off x="4264455" y="603229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390" name="object 390"/>
          <p:cNvSpPr txBox="1"/>
          <p:nvPr/>
        </p:nvSpPr>
        <p:spPr>
          <a:xfrm>
            <a:off x="5862355" y="6032299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391" name="object 391"/>
          <p:cNvSpPr txBox="1"/>
          <p:nvPr/>
        </p:nvSpPr>
        <p:spPr>
          <a:xfrm>
            <a:off x="2971341" y="6032299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392" name="object 392"/>
          <p:cNvGraphicFramePr>
            <a:graphicFrameLocks noGrp="1"/>
          </p:cNvGraphicFramePr>
          <p:nvPr/>
        </p:nvGraphicFramePr>
        <p:xfrm>
          <a:off x="1805019" y="5247931"/>
          <a:ext cx="4541520" cy="967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7970"/>
                <a:gridCol w="265430"/>
                <a:gridCol w="266700"/>
                <a:gridCol w="267969"/>
                <a:gridCol w="266065"/>
                <a:gridCol w="267970"/>
                <a:gridCol w="266064"/>
                <a:gridCol w="267335"/>
                <a:gridCol w="266700"/>
                <a:gridCol w="267335"/>
                <a:gridCol w="266064"/>
                <a:gridCol w="267969"/>
                <a:gridCol w="266064"/>
                <a:gridCol w="267970"/>
                <a:gridCol w="266700"/>
                <a:gridCol w="265429"/>
                <a:gridCol w="267970"/>
              </a:tblGrid>
              <a:tr h="23908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</a:tr>
              <a:tr h="240177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</a:tr>
              <a:tr h="239073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2384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  <a:tr h="240184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</a:tbl>
          </a:graphicData>
        </a:graphic>
      </p:graphicFrame>
      <p:sp>
        <p:nvSpPr>
          <p:cNvPr id="393" name="object 393"/>
          <p:cNvSpPr/>
          <p:nvPr/>
        </p:nvSpPr>
        <p:spPr>
          <a:xfrm>
            <a:off x="5005440" y="5970321"/>
            <a:ext cx="266700" cy="241300"/>
          </a:xfrm>
          <a:custGeom>
            <a:avLst/>
            <a:gdLst/>
            <a:ahLst/>
            <a:cxnLst/>
            <a:rect l="l" t="t" r="r" b="b"/>
            <a:pathLst>
              <a:path w="266700" h="241300">
                <a:moveTo>
                  <a:pt x="266133" y="0"/>
                </a:moveTo>
                <a:lnTo>
                  <a:pt x="0" y="0"/>
                </a:lnTo>
                <a:lnTo>
                  <a:pt x="0" y="240735"/>
                </a:lnTo>
                <a:lnTo>
                  <a:pt x="266133" y="240735"/>
                </a:lnTo>
                <a:lnTo>
                  <a:pt x="266133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" name="object 394"/>
          <p:cNvSpPr/>
          <p:nvPr/>
        </p:nvSpPr>
        <p:spPr>
          <a:xfrm>
            <a:off x="4205935" y="5970321"/>
            <a:ext cx="267335" cy="241300"/>
          </a:xfrm>
          <a:custGeom>
            <a:avLst/>
            <a:gdLst/>
            <a:ahLst/>
            <a:cxnLst/>
            <a:rect l="l" t="t" r="r" b="b"/>
            <a:pathLst>
              <a:path w="267335" h="241300">
                <a:moveTo>
                  <a:pt x="267237" y="0"/>
                </a:moveTo>
                <a:lnTo>
                  <a:pt x="0" y="0"/>
                </a:lnTo>
                <a:lnTo>
                  <a:pt x="0" y="240735"/>
                </a:lnTo>
                <a:lnTo>
                  <a:pt x="267237" y="240735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" name="object 395"/>
          <p:cNvSpPr/>
          <p:nvPr/>
        </p:nvSpPr>
        <p:spPr>
          <a:xfrm>
            <a:off x="2875269" y="5970321"/>
            <a:ext cx="266700" cy="241300"/>
          </a:xfrm>
          <a:custGeom>
            <a:avLst/>
            <a:gdLst/>
            <a:ahLst/>
            <a:cxnLst/>
            <a:rect l="l" t="t" r="r" b="b"/>
            <a:pathLst>
              <a:path w="266700" h="241300">
                <a:moveTo>
                  <a:pt x="266133" y="0"/>
                </a:moveTo>
                <a:lnTo>
                  <a:pt x="0" y="0"/>
                </a:lnTo>
                <a:lnTo>
                  <a:pt x="0" y="240735"/>
                </a:lnTo>
                <a:lnTo>
                  <a:pt x="266133" y="240735"/>
                </a:lnTo>
                <a:lnTo>
                  <a:pt x="266133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" name="object 396"/>
          <p:cNvSpPr txBox="1"/>
          <p:nvPr/>
        </p:nvSpPr>
        <p:spPr>
          <a:xfrm>
            <a:off x="4013515" y="6249860"/>
            <a:ext cx="127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30">
                <a:latin typeface="Lucida Sans Unicode"/>
                <a:cs typeface="Lucida Sans Unicode"/>
              </a:rPr>
              <a:t>⇓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97" name="object 397"/>
          <p:cNvSpPr/>
          <p:nvPr/>
        </p:nvSpPr>
        <p:spPr>
          <a:xfrm>
            <a:off x="1752600" y="6469786"/>
            <a:ext cx="4648200" cy="1320800"/>
          </a:xfrm>
          <a:custGeom>
            <a:avLst/>
            <a:gdLst/>
            <a:ahLst/>
            <a:cxnLst/>
            <a:rect l="l" t="t" r="r" b="b"/>
            <a:pathLst>
              <a:path w="4648200" h="1320800">
                <a:moveTo>
                  <a:pt x="4648001" y="0"/>
                </a:moveTo>
                <a:lnTo>
                  <a:pt x="0" y="0"/>
                </a:lnTo>
                <a:lnTo>
                  <a:pt x="0" y="1320393"/>
                </a:lnTo>
                <a:lnTo>
                  <a:pt x="4648001" y="1320393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" name="object 398"/>
          <p:cNvSpPr txBox="1"/>
          <p:nvPr/>
        </p:nvSpPr>
        <p:spPr>
          <a:xfrm>
            <a:off x="1905697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399" name="object 399"/>
          <p:cNvSpPr txBox="1"/>
          <p:nvPr/>
        </p:nvSpPr>
        <p:spPr>
          <a:xfrm>
            <a:off x="2172931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400" name="object 400"/>
          <p:cNvSpPr txBox="1"/>
          <p:nvPr/>
        </p:nvSpPr>
        <p:spPr>
          <a:xfrm>
            <a:off x="2401518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401" name="object 401"/>
          <p:cNvSpPr txBox="1"/>
          <p:nvPr/>
        </p:nvSpPr>
        <p:spPr>
          <a:xfrm>
            <a:off x="2704095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402" name="object 402"/>
          <p:cNvSpPr txBox="1"/>
          <p:nvPr/>
        </p:nvSpPr>
        <p:spPr>
          <a:xfrm>
            <a:off x="3236365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403" name="object 403"/>
          <p:cNvSpPr txBox="1"/>
          <p:nvPr/>
        </p:nvSpPr>
        <p:spPr>
          <a:xfrm>
            <a:off x="3503598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04" name="object 404"/>
          <p:cNvSpPr txBox="1"/>
          <p:nvPr/>
        </p:nvSpPr>
        <p:spPr>
          <a:xfrm>
            <a:off x="3769739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405" name="object 405"/>
          <p:cNvSpPr txBox="1"/>
          <p:nvPr/>
        </p:nvSpPr>
        <p:spPr>
          <a:xfrm>
            <a:off x="3999431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406" name="object 406"/>
          <p:cNvSpPr txBox="1"/>
          <p:nvPr/>
        </p:nvSpPr>
        <p:spPr>
          <a:xfrm>
            <a:off x="4834265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407" name="object 407"/>
          <p:cNvSpPr txBox="1"/>
          <p:nvPr/>
        </p:nvSpPr>
        <p:spPr>
          <a:xfrm>
            <a:off x="5062852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408" name="object 408"/>
          <p:cNvSpPr txBox="1"/>
          <p:nvPr/>
        </p:nvSpPr>
        <p:spPr>
          <a:xfrm>
            <a:off x="5330099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409" name="object 409"/>
          <p:cNvSpPr txBox="1"/>
          <p:nvPr/>
        </p:nvSpPr>
        <p:spPr>
          <a:xfrm>
            <a:off x="5632676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410" name="object 410"/>
          <p:cNvSpPr txBox="1"/>
          <p:nvPr/>
        </p:nvSpPr>
        <p:spPr>
          <a:xfrm>
            <a:off x="4530596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11" name="object 411"/>
          <p:cNvSpPr txBox="1"/>
          <p:nvPr/>
        </p:nvSpPr>
        <p:spPr>
          <a:xfrm>
            <a:off x="2933787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412" name="object 412"/>
          <p:cNvSpPr txBox="1"/>
          <p:nvPr/>
        </p:nvSpPr>
        <p:spPr>
          <a:xfrm>
            <a:off x="4264455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413" name="object 413"/>
          <p:cNvSpPr txBox="1"/>
          <p:nvPr/>
        </p:nvSpPr>
        <p:spPr>
          <a:xfrm>
            <a:off x="6128496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414" name="object 414"/>
          <p:cNvSpPr txBox="1"/>
          <p:nvPr/>
        </p:nvSpPr>
        <p:spPr>
          <a:xfrm>
            <a:off x="5899909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415" name="object 415"/>
          <p:cNvSpPr txBox="1"/>
          <p:nvPr/>
        </p:nvSpPr>
        <p:spPr>
          <a:xfrm>
            <a:off x="1905697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16" name="object 416"/>
          <p:cNvSpPr txBox="1"/>
          <p:nvPr/>
        </p:nvSpPr>
        <p:spPr>
          <a:xfrm>
            <a:off x="2172931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417" name="object 417"/>
          <p:cNvSpPr txBox="1"/>
          <p:nvPr/>
        </p:nvSpPr>
        <p:spPr>
          <a:xfrm>
            <a:off x="2401518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418" name="object 418"/>
          <p:cNvSpPr txBox="1"/>
          <p:nvPr/>
        </p:nvSpPr>
        <p:spPr>
          <a:xfrm>
            <a:off x="2704095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419" name="object 419"/>
          <p:cNvSpPr txBox="1"/>
          <p:nvPr/>
        </p:nvSpPr>
        <p:spPr>
          <a:xfrm>
            <a:off x="3236365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0" name="object 420"/>
          <p:cNvSpPr txBox="1"/>
          <p:nvPr/>
        </p:nvSpPr>
        <p:spPr>
          <a:xfrm>
            <a:off x="3503598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1" name="object 421"/>
          <p:cNvSpPr txBox="1"/>
          <p:nvPr/>
        </p:nvSpPr>
        <p:spPr>
          <a:xfrm>
            <a:off x="3769739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2" name="object 422"/>
          <p:cNvSpPr txBox="1"/>
          <p:nvPr/>
        </p:nvSpPr>
        <p:spPr>
          <a:xfrm>
            <a:off x="3999431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3" name="object 423"/>
          <p:cNvSpPr txBox="1"/>
          <p:nvPr/>
        </p:nvSpPr>
        <p:spPr>
          <a:xfrm>
            <a:off x="4834265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4" name="object 424"/>
          <p:cNvSpPr txBox="1"/>
          <p:nvPr/>
        </p:nvSpPr>
        <p:spPr>
          <a:xfrm>
            <a:off x="5062852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5" name="object 425"/>
          <p:cNvSpPr txBox="1"/>
          <p:nvPr/>
        </p:nvSpPr>
        <p:spPr>
          <a:xfrm>
            <a:off x="5330099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6" name="object 426"/>
          <p:cNvSpPr txBox="1"/>
          <p:nvPr/>
        </p:nvSpPr>
        <p:spPr>
          <a:xfrm>
            <a:off x="5632676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7" name="object 427"/>
          <p:cNvSpPr txBox="1"/>
          <p:nvPr/>
        </p:nvSpPr>
        <p:spPr>
          <a:xfrm>
            <a:off x="4530596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8" name="object 428"/>
          <p:cNvSpPr txBox="1"/>
          <p:nvPr/>
        </p:nvSpPr>
        <p:spPr>
          <a:xfrm>
            <a:off x="2933787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9" name="object 429"/>
          <p:cNvSpPr txBox="1"/>
          <p:nvPr/>
        </p:nvSpPr>
        <p:spPr>
          <a:xfrm>
            <a:off x="4264455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0" name="object 430"/>
          <p:cNvSpPr txBox="1"/>
          <p:nvPr/>
        </p:nvSpPr>
        <p:spPr>
          <a:xfrm>
            <a:off x="6128496" y="659355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1" name="object 431"/>
          <p:cNvSpPr txBox="1"/>
          <p:nvPr/>
        </p:nvSpPr>
        <p:spPr>
          <a:xfrm>
            <a:off x="5899909" y="659355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2" name="object 432"/>
          <p:cNvSpPr/>
          <p:nvPr/>
        </p:nvSpPr>
        <p:spPr>
          <a:xfrm>
            <a:off x="6068872" y="6532684"/>
            <a:ext cx="267335" cy="240029"/>
          </a:xfrm>
          <a:custGeom>
            <a:avLst/>
            <a:gdLst/>
            <a:ahLst/>
            <a:cxnLst/>
            <a:rect l="l" t="t" r="r" b="b"/>
            <a:pathLst>
              <a:path w="267335" h="240029">
                <a:moveTo>
                  <a:pt x="267237" y="0"/>
                </a:moveTo>
                <a:lnTo>
                  <a:pt x="0" y="0"/>
                </a:lnTo>
                <a:lnTo>
                  <a:pt x="0" y="239630"/>
                </a:lnTo>
                <a:lnTo>
                  <a:pt x="267237" y="239630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3" name="object 433"/>
          <p:cNvSpPr txBox="1"/>
          <p:nvPr/>
        </p:nvSpPr>
        <p:spPr>
          <a:xfrm>
            <a:off x="1905697" y="683317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2172931" y="683317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2437967" y="683317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6" name="object 436"/>
          <p:cNvSpPr txBox="1"/>
          <p:nvPr/>
        </p:nvSpPr>
        <p:spPr>
          <a:xfrm>
            <a:off x="2704095" y="683317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7" name="object 437"/>
          <p:cNvSpPr txBox="1"/>
          <p:nvPr/>
        </p:nvSpPr>
        <p:spPr>
          <a:xfrm>
            <a:off x="3236365" y="683317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8" name="object 438"/>
          <p:cNvSpPr txBox="1"/>
          <p:nvPr/>
        </p:nvSpPr>
        <p:spPr>
          <a:xfrm>
            <a:off x="3503598" y="683317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9" name="object 439"/>
          <p:cNvSpPr txBox="1"/>
          <p:nvPr/>
        </p:nvSpPr>
        <p:spPr>
          <a:xfrm>
            <a:off x="3769739" y="683317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4035867" y="683317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4797829" y="683317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2" name="object 442"/>
          <p:cNvSpPr txBox="1"/>
          <p:nvPr/>
        </p:nvSpPr>
        <p:spPr>
          <a:xfrm>
            <a:off x="5062852" y="683317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3" name="object 443"/>
          <p:cNvSpPr txBox="1"/>
          <p:nvPr/>
        </p:nvSpPr>
        <p:spPr>
          <a:xfrm>
            <a:off x="5330099" y="683317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4" name="object 444"/>
          <p:cNvSpPr txBox="1"/>
          <p:nvPr/>
        </p:nvSpPr>
        <p:spPr>
          <a:xfrm>
            <a:off x="5596227" y="683317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4530596" y="683317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2971341" y="6833173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6128496" y="683317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4264455" y="683317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5862355" y="6833173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0" name="object 450"/>
          <p:cNvSpPr/>
          <p:nvPr/>
        </p:nvSpPr>
        <p:spPr>
          <a:xfrm>
            <a:off x="6068872" y="6771207"/>
            <a:ext cx="267335" cy="241935"/>
          </a:xfrm>
          <a:custGeom>
            <a:avLst/>
            <a:gdLst/>
            <a:ahLst/>
            <a:cxnLst/>
            <a:rect l="l" t="t" r="r" b="b"/>
            <a:pathLst>
              <a:path w="267335" h="241934">
                <a:moveTo>
                  <a:pt x="267237" y="0"/>
                </a:moveTo>
                <a:lnTo>
                  <a:pt x="0" y="0"/>
                </a:lnTo>
                <a:lnTo>
                  <a:pt x="0" y="241838"/>
                </a:lnTo>
                <a:lnTo>
                  <a:pt x="267237" y="241838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1" name="object 451"/>
          <p:cNvSpPr/>
          <p:nvPr/>
        </p:nvSpPr>
        <p:spPr>
          <a:xfrm>
            <a:off x="3938676" y="6771208"/>
            <a:ext cx="533400" cy="241935"/>
          </a:xfrm>
          <a:custGeom>
            <a:avLst/>
            <a:gdLst/>
            <a:ahLst/>
            <a:cxnLst/>
            <a:rect l="l" t="t" r="r" b="b"/>
            <a:pathLst>
              <a:path w="533400" h="241934">
                <a:moveTo>
                  <a:pt x="533387" y="0"/>
                </a:moveTo>
                <a:lnTo>
                  <a:pt x="268351" y="0"/>
                </a:lnTo>
                <a:lnTo>
                  <a:pt x="267258" y="0"/>
                </a:lnTo>
                <a:lnTo>
                  <a:pt x="0" y="0"/>
                </a:lnTo>
                <a:lnTo>
                  <a:pt x="0" y="241846"/>
                </a:lnTo>
                <a:lnTo>
                  <a:pt x="267258" y="241846"/>
                </a:lnTo>
                <a:lnTo>
                  <a:pt x="268351" y="241846"/>
                </a:lnTo>
                <a:lnTo>
                  <a:pt x="533387" y="241846"/>
                </a:lnTo>
                <a:lnTo>
                  <a:pt x="53338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" name="object 452"/>
          <p:cNvSpPr txBox="1"/>
          <p:nvPr/>
        </p:nvSpPr>
        <p:spPr>
          <a:xfrm>
            <a:off x="1905697" y="707281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2172931" y="707281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2437967" y="707281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2704095" y="707281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3236365" y="707281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3503598" y="707281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8" name="object 458"/>
          <p:cNvSpPr txBox="1"/>
          <p:nvPr/>
        </p:nvSpPr>
        <p:spPr>
          <a:xfrm>
            <a:off x="3769739" y="707281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9" name="object 459"/>
          <p:cNvSpPr txBox="1"/>
          <p:nvPr/>
        </p:nvSpPr>
        <p:spPr>
          <a:xfrm>
            <a:off x="4035867" y="707281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0" name="object 460"/>
          <p:cNvSpPr txBox="1"/>
          <p:nvPr/>
        </p:nvSpPr>
        <p:spPr>
          <a:xfrm>
            <a:off x="4797829" y="707281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1" name="object 461"/>
          <p:cNvSpPr txBox="1"/>
          <p:nvPr/>
        </p:nvSpPr>
        <p:spPr>
          <a:xfrm>
            <a:off x="6128496" y="707281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2" name="object 462"/>
          <p:cNvSpPr txBox="1"/>
          <p:nvPr/>
        </p:nvSpPr>
        <p:spPr>
          <a:xfrm>
            <a:off x="5330099" y="707281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3" name="object 463"/>
          <p:cNvSpPr txBox="1"/>
          <p:nvPr/>
        </p:nvSpPr>
        <p:spPr>
          <a:xfrm>
            <a:off x="5596227" y="707281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4" name="object 464"/>
          <p:cNvSpPr txBox="1"/>
          <p:nvPr/>
        </p:nvSpPr>
        <p:spPr>
          <a:xfrm>
            <a:off x="4530596" y="707281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5" name="object 465"/>
          <p:cNvSpPr txBox="1"/>
          <p:nvPr/>
        </p:nvSpPr>
        <p:spPr>
          <a:xfrm>
            <a:off x="5062852" y="707281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6" name="object 466"/>
          <p:cNvSpPr txBox="1"/>
          <p:nvPr/>
        </p:nvSpPr>
        <p:spPr>
          <a:xfrm>
            <a:off x="4264455" y="707281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5862355" y="707281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2971341" y="707281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9" name="object 469"/>
          <p:cNvSpPr/>
          <p:nvPr/>
        </p:nvSpPr>
        <p:spPr>
          <a:xfrm>
            <a:off x="6068872" y="7011937"/>
            <a:ext cx="267335" cy="240029"/>
          </a:xfrm>
          <a:custGeom>
            <a:avLst/>
            <a:gdLst/>
            <a:ahLst/>
            <a:cxnLst/>
            <a:rect l="l" t="t" r="r" b="b"/>
            <a:pathLst>
              <a:path w="267335" h="240029">
                <a:moveTo>
                  <a:pt x="267237" y="0"/>
                </a:moveTo>
                <a:lnTo>
                  <a:pt x="0" y="0"/>
                </a:lnTo>
                <a:lnTo>
                  <a:pt x="0" y="239630"/>
                </a:lnTo>
                <a:lnTo>
                  <a:pt x="267237" y="239630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0" name="object 470"/>
          <p:cNvSpPr/>
          <p:nvPr/>
        </p:nvSpPr>
        <p:spPr>
          <a:xfrm>
            <a:off x="3938676" y="7011949"/>
            <a:ext cx="1333500" cy="240029"/>
          </a:xfrm>
          <a:custGeom>
            <a:avLst/>
            <a:gdLst/>
            <a:ahLst/>
            <a:cxnLst/>
            <a:rect l="l" t="t" r="r" b="b"/>
            <a:pathLst>
              <a:path w="1333500" h="240029">
                <a:moveTo>
                  <a:pt x="533387" y="0"/>
                </a:moveTo>
                <a:lnTo>
                  <a:pt x="268351" y="0"/>
                </a:lnTo>
                <a:lnTo>
                  <a:pt x="267258" y="0"/>
                </a:lnTo>
                <a:lnTo>
                  <a:pt x="0" y="0"/>
                </a:lnTo>
                <a:lnTo>
                  <a:pt x="0" y="239623"/>
                </a:lnTo>
                <a:lnTo>
                  <a:pt x="267258" y="239623"/>
                </a:lnTo>
                <a:lnTo>
                  <a:pt x="268351" y="239623"/>
                </a:lnTo>
                <a:lnTo>
                  <a:pt x="533387" y="239623"/>
                </a:lnTo>
                <a:lnTo>
                  <a:pt x="533387" y="0"/>
                </a:lnTo>
                <a:close/>
              </a:path>
              <a:path w="1333500" h="240029">
                <a:moveTo>
                  <a:pt x="1332877" y="0"/>
                </a:moveTo>
                <a:lnTo>
                  <a:pt x="1066749" y="0"/>
                </a:lnTo>
                <a:lnTo>
                  <a:pt x="1065644" y="0"/>
                </a:lnTo>
                <a:lnTo>
                  <a:pt x="799515" y="0"/>
                </a:lnTo>
                <a:lnTo>
                  <a:pt x="799515" y="239623"/>
                </a:lnTo>
                <a:lnTo>
                  <a:pt x="1065644" y="239623"/>
                </a:lnTo>
                <a:lnTo>
                  <a:pt x="1066749" y="239623"/>
                </a:lnTo>
                <a:lnTo>
                  <a:pt x="1332877" y="239623"/>
                </a:lnTo>
                <a:lnTo>
                  <a:pt x="133287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1" name="object 471"/>
          <p:cNvSpPr/>
          <p:nvPr/>
        </p:nvSpPr>
        <p:spPr>
          <a:xfrm>
            <a:off x="2608021" y="7011949"/>
            <a:ext cx="533400" cy="240029"/>
          </a:xfrm>
          <a:custGeom>
            <a:avLst/>
            <a:gdLst/>
            <a:ahLst/>
            <a:cxnLst/>
            <a:rect l="l" t="t" r="r" b="b"/>
            <a:pathLst>
              <a:path w="533400" h="240029">
                <a:moveTo>
                  <a:pt x="533374" y="0"/>
                </a:moveTo>
                <a:lnTo>
                  <a:pt x="268338" y="0"/>
                </a:lnTo>
                <a:lnTo>
                  <a:pt x="267246" y="0"/>
                </a:lnTo>
                <a:lnTo>
                  <a:pt x="0" y="0"/>
                </a:lnTo>
                <a:lnTo>
                  <a:pt x="0" y="239623"/>
                </a:lnTo>
                <a:lnTo>
                  <a:pt x="267246" y="239623"/>
                </a:lnTo>
                <a:lnTo>
                  <a:pt x="268338" y="239623"/>
                </a:lnTo>
                <a:lnTo>
                  <a:pt x="533374" y="239623"/>
                </a:lnTo>
                <a:lnTo>
                  <a:pt x="533374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2" name="object 472"/>
          <p:cNvSpPr txBox="1"/>
          <p:nvPr/>
        </p:nvSpPr>
        <p:spPr>
          <a:xfrm>
            <a:off x="1905697" y="731132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2172931" y="731132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2437967" y="731132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2704095" y="731132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3236365" y="731132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3503598" y="731132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478" name="object 478"/>
          <p:cNvSpPr txBox="1"/>
          <p:nvPr/>
        </p:nvSpPr>
        <p:spPr>
          <a:xfrm>
            <a:off x="3769739" y="731132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79" name="object 479"/>
          <p:cNvSpPr txBox="1"/>
          <p:nvPr/>
        </p:nvSpPr>
        <p:spPr>
          <a:xfrm>
            <a:off x="4035867" y="731132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0" name="object 480"/>
          <p:cNvSpPr txBox="1"/>
          <p:nvPr/>
        </p:nvSpPr>
        <p:spPr>
          <a:xfrm>
            <a:off x="4797829" y="731132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1" name="object 481"/>
          <p:cNvSpPr txBox="1"/>
          <p:nvPr/>
        </p:nvSpPr>
        <p:spPr>
          <a:xfrm>
            <a:off x="6128496" y="731132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2" name="object 482"/>
          <p:cNvSpPr txBox="1"/>
          <p:nvPr/>
        </p:nvSpPr>
        <p:spPr>
          <a:xfrm>
            <a:off x="5330099" y="731132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3" name="object 483"/>
          <p:cNvSpPr txBox="1"/>
          <p:nvPr/>
        </p:nvSpPr>
        <p:spPr>
          <a:xfrm>
            <a:off x="5596227" y="731132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4" name="object 484"/>
          <p:cNvSpPr txBox="1"/>
          <p:nvPr/>
        </p:nvSpPr>
        <p:spPr>
          <a:xfrm>
            <a:off x="4530596" y="731132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5" name="object 485"/>
          <p:cNvSpPr txBox="1"/>
          <p:nvPr/>
        </p:nvSpPr>
        <p:spPr>
          <a:xfrm>
            <a:off x="5062852" y="731132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6" name="object 486"/>
          <p:cNvSpPr txBox="1"/>
          <p:nvPr/>
        </p:nvSpPr>
        <p:spPr>
          <a:xfrm>
            <a:off x="4264455" y="731132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7" name="object 487"/>
          <p:cNvSpPr txBox="1"/>
          <p:nvPr/>
        </p:nvSpPr>
        <p:spPr>
          <a:xfrm>
            <a:off x="5862355" y="731132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8" name="object 488"/>
          <p:cNvSpPr txBox="1"/>
          <p:nvPr/>
        </p:nvSpPr>
        <p:spPr>
          <a:xfrm>
            <a:off x="2971341" y="731132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9" name="object 489"/>
          <p:cNvSpPr/>
          <p:nvPr/>
        </p:nvSpPr>
        <p:spPr>
          <a:xfrm>
            <a:off x="3938676" y="7250468"/>
            <a:ext cx="1333500" cy="241300"/>
          </a:xfrm>
          <a:custGeom>
            <a:avLst/>
            <a:gdLst/>
            <a:ahLst/>
            <a:cxnLst/>
            <a:rect l="l" t="t" r="r" b="b"/>
            <a:pathLst>
              <a:path w="1333500" h="241300">
                <a:moveTo>
                  <a:pt x="800620" y="0"/>
                </a:moveTo>
                <a:lnTo>
                  <a:pt x="533387" y="0"/>
                </a:lnTo>
                <a:lnTo>
                  <a:pt x="268351" y="0"/>
                </a:lnTo>
                <a:lnTo>
                  <a:pt x="267258" y="0"/>
                </a:lnTo>
                <a:lnTo>
                  <a:pt x="0" y="0"/>
                </a:lnTo>
                <a:lnTo>
                  <a:pt x="0" y="240741"/>
                </a:lnTo>
                <a:lnTo>
                  <a:pt x="267258" y="240741"/>
                </a:lnTo>
                <a:lnTo>
                  <a:pt x="268351" y="240741"/>
                </a:lnTo>
                <a:lnTo>
                  <a:pt x="533387" y="240741"/>
                </a:lnTo>
                <a:lnTo>
                  <a:pt x="800620" y="240741"/>
                </a:lnTo>
                <a:lnTo>
                  <a:pt x="800620" y="0"/>
                </a:lnTo>
                <a:close/>
              </a:path>
              <a:path w="1333500" h="241300">
                <a:moveTo>
                  <a:pt x="1332877" y="0"/>
                </a:moveTo>
                <a:lnTo>
                  <a:pt x="1065644" y="0"/>
                </a:lnTo>
                <a:lnTo>
                  <a:pt x="1065644" y="240741"/>
                </a:lnTo>
                <a:lnTo>
                  <a:pt x="1332877" y="240741"/>
                </a:lnTo>
                <a:lnTo>
                  <a:pt x="133287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" name="object 490"/>
          <p:cNvSpPr/>
          <p:nvPr/>
        </p:nvSpPr>
        <p:spPr>
          <a:xfrm>
            <a:off x="5802736" y="7250465"/>
            <a:ext cx="267335" cy="241300"/>
          </a:xfrm>
          <a:custGeom>
            <a:avLst/>
            <a:gdLst/>
            <a:ahLst/>
            <a:cxnLst/>
            <a:rect l="l" t="t" r="r" b="b"/>
            <a:pathLst>
              <a:path w="267335" h="241300">
                <a:moveTo>
                  <a:pt x="267237" y="0"/>
                </a:moveTo>
                <a:lnTo>
                  <a:pt x="0" y="0"/>
                </a:lnTo>
                <a:lnTo>
                  <a:pt x="0" y="240735"/>
                </a:lnTo>
                <a:lnTo>
                  <a:pt x="267237" y="240735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" name="object 491"/>
          <p:cNvSpPr/>
          <p:nvPr/>
        </p:nvSpPr>
        <p:spPr>
          <a:xfrm>
            <a:off x="2341880" y="7250468"/>
            <a:ext cx="800100" cy="241300"/>
          </a:xfrm>
          <a:custGeom>
            <a:avLst/>
            <a:gdLst/>
            <a:ahLst/>
            <a:cxnLst/>
            <a:rect l="l" t="t" r="r" b="b"/>
            <a:pathLst>
              <a:path w="800100" h="241300">
                <a:moveTo>
                  <a:pt x="267233" y="0"/>
                </a:moveTo>
                <a:lnTo>
                  <a:pt x="0" y="0"/>
                </a:lnTo>
                <a:lnTo>
                  <a:pt x="0" y="240741"/>
                </a:lnTo>
                <a:lnTo>
                  <a:pt x="267233" y="240741"/>
                </a:lnTo>
                <a:lnTo>
                  <a:pt x="267233" y="0"/>
                </a:lnTo>
                <a:close/>
              </a:path>
              <a:path w="800100" h="241300">
                <a:moveTo>
                  <a:pt x="799515" y="0"/>
                </a:moveTo>
                <a:lnTo>
                  <a:pt x="533387" y="0"/>
                </a:lnTo>
                <a:lnTo>
                  <a:pt x="533387" y="240741"/>
                </a:lnTo>
                <a:lnTo>
                  <a:pt x="799515" y="240741"/>
                </a:lnTo>
                <a:lnTo>
                  <a:pt x="799515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2" name="object 492"/>
          <p:cNvSpPr txBox="1"/>
          <p:nvPr/>
        </p:nvSpPr>
        <p:spPr>
          <a:xfrm>
            <a:off x="1905697" y="755207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2172931" y="755207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2437967" y="755207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2704095" y="755207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3503598" y="755207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97" name="object 497"/>
          <p:cNvSpPr txBox="1"/>
          <p:nvPr/>
        </p:nvSpPr>
        <p:spPr>
          <a:xfrm>
            <a:off x="3236365" y="755207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3769739" y="755207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4035867" y="755207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4797829" y="755207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6128496" y="755207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5330099" y="755207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5596227" y="755207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4530596" y="755207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5062852" y="755207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4264455" y="755207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5862355" y="7552070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2971341" y="7552070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509" name="object 509"/>
          <p:cNvGraphicFramePr>
            <a:graphicFrameLocks noGrp="1"/>
          </p:cNvGraphicFramePr>
          <p:nvPr/>
        </p:nvGraphicFramePr>
        <p:xfrm>
          <a:off x="1805019" y="6528075"/>
          <a:ext cx="4540885" cy="12090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6700"/>
                <a:gridCol w="266065"/>
                <a:gridCol w="266065"/>
                <a:gridCol w="267334"/>
                <a:gridCol w="265429"/>
                <a:gridCol w="267334"/>
                <a:gridCol w="265429"/>
                <a:gridCol w="265430"/>
                <a:gridCol w="267335"/>
                <a:gridCol w="265430"/>
                <a:gridCol w="266700"/>
                <a:gridCol w="266064"/>
                <a:gridCol w="266065"/>
                <a:gridCol w="266064"/>
                <a:gridCol w="266064"/>
                <a:gridCol w="266064"/>
                <a:gridCol w="266700"/>
              </a:tblGrid>
              <a:tr h="239076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969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</a:tr>
              <a:tr h="24073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</a:tr>
              <a:tr h="23852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</a:tr>
              <a:tr h="240734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  <a:tr h="24018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</a:tbl>
          </a:graphicData>
        </a:graphic>
      </p:graphicFrame>
      <p:sp>
        <p:nvSpPr>
          <p:cNvPr id="510" name="object 510"/>
          <p:cNvSpPr/>
          <p:nvPr/>
        </p:nvSpPr>
        <p:spPr>
          <a:xfrm>
            <a:off x="3938676" y="7492313"/>
            <a:ext cx="1333500" cy="240029"/>
          </a:xfrm>
          <a:custGeom>
            <a:avLst/>
            <a:gdLst/>
            <a:ahLst/>
            <a:cxnLst/>
            <a:rect l="l" t="t" r="r" b="b"/>
            <a:pathLst>
              <a:path w="1333500" h="240029">
                <a:moveTo>
                  <a:pt x="800620" y="0"/>
                </a:moveTo>
                <a:lnTo>
                  <a:pt x="533387" y="0"/>
                </a:lnTo>
                <a:lnTo>
                  <a:pt x="268351" y="0"/>
                </a:lnTo>
                <a:lnTo>
                  <a:pt x="267258" y="0"/>
                </a:lnTo>
                <a:lnTo>
                  <a:pt x="0" y="0"/>
                </a:lnTo>
                <a:lnTo>
                  <a:pt x="0" y="239623"/>
                </a:lnTo>
                <a:lnTo>
                  <a:pt x="267258" y="239623"/>
                </a:lnTo>
                <a:lnTo>
                  <a:pt x="268351" y="239623"/>
                </a:lnTo>
                <a:lnTo>
                  <a:pt x="533387" y="239623"/>
                </a:lnTo>
                <a:lnTo>
                  <a:pt x="800620" y="239623"/>
                </a:lnTo>
                <a:lnTo>
                  <a:pt x="800620" y="0"/>
                </a:lnTo>
                <a:close/>
              </a:path>
              <a:path w="1333500" h="240029">
                <a:moveTo>
                  <a:pt x="1332877" y="0"/>
                </a:moveTo>
                <a:lnTo>
                  <a:pt x="1065644" y="0"/>
                </a:lnTo>
                <a:lnTo>
                  <a:pt x="1065644" y="239623"/>
                </a:lnTo>
                <a:lnTo>
                  <a:pt x="1332877" y="239623"/>
                </a:lnTo>
                <a:lnTo>
                  <a:pt x="133287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1" name="object 511"/>
          <p:cNvSpPr/>
          <p:nvPr/>
        </p:nvSpPr>
        <p:spPr>
          <a:xfrm>
            <a:off x="5802736" y="7492302"/>
            <a:ext cx="267335" cy="240029"/>
          </a:xfrm>
          <a:custGeom>
            <a:avLst/>
            <a:gdLst/>
            <a:ahLst/>
            <a:cxnLst/>
            <a:rect l="l" t="t" r="r" b="b"/>
            <a:pathLst>
              <a:path w="267335" h="240029">
                <a:moveTo>
                  <a:pt x="267237" y="0"/>
                </a:moveTo>
                <a:lnTo>
                  <a:pt x="0" y="0"/>
                </a:lnTo>
                <a:lnTo>
                  <a:pt x="0" y="239630"/>
                </a:lnTo>
                <a:lnTo>
                  <a:pt x="267237" y="239630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2" name="object 512"/>
          <p:cNvSpPr/>
          <p:nvPr/>
        </p:nvSpPr>
        <p:spPr>
          <a:xfrm>
            <a:off x="2341880" y="7492313"/>
            <a:ext cx="800100" cy="240029"/>
          </a:xfrm>
          <a:custGeom>
            <a:avLst/>
            <a:gdLst/>
            <a:ahLst/>
            <a:cxnLst/>
            <a:rect l="l" t="t" r="r" b="b"/>
            <a:pathLst>
              <a:path w="800100" h="240029">
                <a:moveTo>
                  <a:pt x="267233" y="0"/>
                </a:moveTo>
                <a:lnTo>
                  <a:pt x="0" y="0"/>
                </a:lnTo>
                <a:lnTo>
                  <a:pt x="0" y="239623"/>
                </a:lnTo>
                <a:lnTo>
                  <a:pt x="267233" y="239623"/>
                </a:lnTo>
                <a:lnTo>
                  <a:pt x="267233" y="0"/>
                </a:lnTo>
                <a:close/>
              </a:path>
              <a:path w="800100" h="240029">
                <a:moveTo>
                  <a:pt x="799515" y="0"/>
                </a:moveTo>
                <a:lnTo>
                  <a:pt x="533387" y="0"/>
                </a:lnTo>
                <a:lnTo>
                  <a:pt x="533387" y="239623"/>
                </a:lnTo>
                <a:lnTo>
                  <a:pt x="799515" y="239623"/>
                </a:lnTo>
                <a:lnTo>
                  <a:pt x="799515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3" name="object 513"/>
          <p:cNvSpPr txBox="1"/>
          <p:nvPr/>
        </p:nvSpPr>
        <p:spPr>
          <a:xfrm>
            <a:off x="4013515" y="7770735"/>
            <a:ext cx="127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30">
                <a:latin typeface="Lucida Sans Unicode"/>
                <a:cs typeface="Lucida Sans Unicode"/>
              </a:rPr>
              <a:t>⇓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14" name="object 514"/>
          <p:cNvSpPr/>
          <p:nvPr/>
        </p:nvSpPr>
        <p:spPr>
          <a:xfrm>
            <a:off x="1752600" y="7990738"/>
            <a:ext cx="4648200" cy="1320800"/>
          </a:xfrm>
          <a:custGeom>
            <a:avLst/>
            <a:gdLst/>
            <a:ahLst/>
            <a:cxnLst/>
            <a:rect l="l" t="t" r="r" b="b"/>
            <a:pathLst>
              <a:path w="4648200" h="1320800">
                <a:moveTo>
                  <a:pt x="4648001" y="0"/>
                </a:moveTo>
                <a:lnTo>
                  <a:pt x="0" y="0"/>
                </a:lnTo>
                <a:lnTo>
                  <a:pt x="0" y="1320393"/>
                </a:lnTo>
                <a:lnTo>
                  <a:pt x="4648001" y="1320393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5" name="object 515"/>
          <p:cNvSpPr txBox="1"/>
          <p:nvPr/>
        </p:nvSpPr>
        <p:spPr>
          <a:xfrm>
            <a:off x="1905697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516" name="object 516"/>
          <p:cNvSpPr txBox="1"/>
          <p:nvPr/>
        </p:nvSpPr>
        <p:spPr>
          <a:xfrm>
            <a:off x="2172931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517" name="object 517"/>
          <p:cNvSpPr txBox="1"/>
          <p:nvPr/>
        </p:nvSpPr>
        <p:spPr>
          <a:xfrm>
            <a:off x="2401518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518" name="object 518"/>
          <p:cNvSpPr txBox="1"/>
          <p:nvPr/>
        </p:nvSpPr>
        <p:spPr>
          <a:xfrm>
            <a:off x="2704095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519" name="object 519"/>
          <p:cNvSpPr txBox="1"/>
          <p:nvPr/>
        </p:nvSpPr>
        <p:spPr>
          <a:xfrm>
            <a:off x="3236365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520" name="object 520"/>
          <p:cNvSpPr txBox="1"/>
          <p:nvPr/>
        </p:nvSpPr>
        <p:spPr>
          <a:xfrm>
            <a:off x="3503598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521" name="object 521"/>
          <p:cNvSpPr txBox="1"/>
          <p:nvPr/>
        </p:nvSpPr>
        <p:spPr>
          <a:xfrm>
            <a:off x="3769739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522" name="object 522"/>
          <p:cNvSpPr txBox="1"/>
          <p:nvPr/>
        </p:nvSpPr>
        <p:spPr>
          <a:xfrm>
            <a:off x="3999431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523" name="object 523"/>
          <p:cNvSpPr txBox="1"/>
          <p:nvPr/>
        </p:nvSpPr>
        <p:spPr>
          <a:xfrm>
            <a:off x="4834265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524" name="object 524"/>
          <p:cNvSpPr txBox="1"/>
          <p:nvPr/>
        </p:nvSpPr>
        <p:spPr>
          <a:xfrm>
            <a:off x="5062852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525" name="object 525"/>
          <p:cNvSpPr txBox="1"/>
          <p:nvPr/>
        </p:nvSpPr>
        <p:spPr>
          <a:xfrm>
            <a:off x="5330099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526" name="object 526"/>
          <p:cNvSpPr txBox="1"/>
          <p:nvPr/>
        </p:nvSpPr>
        <p:spPr>
          <a:xfrm>
            <a:off x="5632676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527" name="object 527"/>
          <p:cNvSpPr txBox="1"/>
          <p:nvPr/>
        </p:nvSpPr>
        <p:spPr>
          <a:xfrm>
            <a:off x="4530596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528" name="object 528"/>
          <p:cNvSpPr txBox="1"/>
          <p:nvPr/>
        </p:nvSpPr>
        <p:spPr>
          <a:xfrm>
            <a:off x="2933787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529" name="object 529"/>
          <p:cNvSpPr txBox="1"/>
          <p:nvPr/>
        </p:nvSpPr>
        <p:spPr>
          <a:xfrm>
            <a:off x="4264455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530" name="object 530"/>
          <p:cNvSpPr txBox="1"/>
          <p:nvPr/>
        </p:nvSpPr>
        <p:spPr>
          <a:xfrm>
            <a:off x="6128496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531" name="object 531"/>
          <p:cNvSpPr txBox="1"/>
          <p:nvPr/>
        </p:nvSpPr>
        <p:spPr>
          <a:xfrm>
            <a:off x="5899909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532" name="object 532"/>
          <p:cNvSpPr txBox="1"/>
          <p:nvPr/>
        </p:nvSpPr>
        <p:spPr>
          <a:xfrm>
            <a:off x="1905697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533" name="object 533"/>
          <p:cNvSpPr txBox="1"/>
          <p:nvPr/>
        </p:nvSpPr>
        <p:spPr>
          <a:xfrm>
            <a:off x="2172931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534" name="object 534"/>
          <p:cNvSpPr txBox="1"/>
          <p:nvPr/>
        </p:nvSpPr>
        <p:spPr>
          <a:xfrm>
            <a:off x="2401518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535" name="object 535"/>
          <p:cNvSpPr txBox="1"/>
          <p:nvPr/>
        </p:nvSpPr>
        <p:spPr>
          <a:xfrm>
            <a:off x="2704095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536" name="object 536"/>
          <p:cNvSpPr txBox="1"/>
          <p:nvPr/>
        </p:nvSpPr>
        <p:spPr>
          <a:xfrm>
            <a:off x="3236365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537" name="object 537"/>
          <p:cNvSpPr txBox="1"/>
          <p:nvPr/>
        </p:nvSpPr>
        <p:spPr>
          <a:xfrm>
            <a:off x="3503598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538" name="object 538"/>
          <p:cNvSpPr txBox="1"/>
          <p:nvPr/>
        </p:nvSpPr>
        <p:spPr>
          <a:xfrm>
            <a:off x="3769739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539" name="object 539"/>
          <p:cNvSpPr txBox="1"/>
          <p:nvPr/>
        </p:nvSpPr>
        <p:spPr>
          <a:xfrm>
            <a:off x="3999431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540" name="object 540"/>
          <p:cNvSpPr txBox="1"/>
          <p:nvPr/>
        </p:nvSpPr>
        <p:spPr>
          <a:xfrm>
            <a:off x="4834265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541" name="object 541"/>
          <p:cNvSpPr txBox="1"/>
          <p:nvPr/>
        </p:nvSpPr>
        <p:spPr>
          <a:xfrm>
            <a:off x="5062852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542" name="object 542"/>
          <p:cNvSpPr txBox="1"/>
          <p:nvPr/>
        </p:nvSpPr>
        <p:spPr>
          <a:xfrm>
            <a:off x="5330099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543" name="object 543"/>
          <p:cNvSpPr txBox="1"/>
          <p:nvPr/>
        </p:nvSpPr>
        <p:spPr>
          <a:xfrm>
            <a:off x="5632676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544" name="object 544"/>
          <p:cNvSpPr txBox="1"/>
          <p:nvPr/>
        </p:nvSpPr>
        <p:spPr>
          <a:xfrm>
            <a:off x="4530596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545" name="object 545"/>
          <p:cNvSpPr txBox="1"/>
          <p:nvPr/>
        </p:nvSpPr>
        <p:spPr>
          <a:xfrm>
            <a:off x="2933787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546" name="object 546"/>
          <p:cNvSpPr txBox="1"/>
          <p:nvPr/>
        </p:nvSpPr>
        <p:spPr>
          <a:xfrm>
            <a:off x="4264455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547" name="object 547"/>
          <p:cNvSpPr txBox="1"/>
          <p:nvPr/>
        </p:nvSpPr>
        <p:spPr>
          <a:xfrm>
            <a:off x="6128496" y="811442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548" name="object 548"/>
          <p:cNvSpPr txBox="1"/>
          <p:nvPr/>
        </p:nvSpPr>
        <p:spPr>
          <a:xfrm>
            <a:off x="5899909" y="811442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549" name="object 549"/>
          <p:cNvSpPr/>
          <p:nvPr/>
        </p:nvSpPr>
        <p:spPr>
          <a:xfrm>
            <a:off x="6068872" y="8053561"/>
            <a:ext cx="267335" cy="240029"/>
          </a:xfrm>
          <a:custGeom>
            <a:avLst/>
            <a:gdLst/>
            <a:ahLst/>
            <a:cxnLst/>
            <a:rect l="l" t="t" r="r" b="b"/>
            <a:pathLst>
              <a:path w="267335" h="240029">
                <a:moveTo>
                  <a:pt x="267237" y="0"/>
                </a:moveTo>
                <a:lnTo>
                  <a:pt x="0" y="0"/>
                </a:lnTo>
                <a:lnTo>
                  <a:pt x="0" y="239630"/>
                </a:lnTo>
                <a:lnTo>
                  <a:pt x="267237" y="239630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0" name="object 550"/>
          <p:cNvSpPr txBox="1"/>
          <p:nvPr/>
        </p:nvSpPr>
        <p:spPr>
          <a:xfrm>
            <a:off x="1905697" y="835404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551" name="object 551"/>
          <p:cNvSpPr txBox="1"/>
          <p:nvPr/>
        </p:nvSpPr>
        <p:spPr>
          <a:xfrm>
            <a:off x="2172931" y="835404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552" name="object 552"/>
          <p:cNvSpPr txBox="1"/>
          <p:nvPr/>
        </p:nvSpPr>
        <p:spPr>
          <a:xfrm>
            <a:off x="2437967" y="835404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553" name="object 553"/>
          <p:cNvSpPr txBox="1"/>
          <p:nvPr/>
        </p:nvSpPr>
        <p:spPr>
          <a:xfrm>
            <a:off x="2704095" y="835404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554" name="object 554"/>
          <p:cNvSpPr txBox="1"/>
          <p:nvPr/>
        </p:nvSpPr>
        <p:spPr>
          <a:xfrm>
            <a:off x="3236365" y="835404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555" name="object 555"/>
          <p:cNvSpPr txBox="1"/>
          <p:nvPr/>
        </p:nvSpPr>
        <p:spPr>
          <a:xfrm>
            <a:off x="3503598" y="835404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3769739" y="835404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557" name="object 557"/>
          <p:cNvSpPr txBox="1"/>
          <p:nvPr/>
        </p:nvSpPr>
        <p:spPr>
          <a:xfrm>
            <a:off x="4035867" y="835404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558" name="object 558"/>
          <p:cNvSpPr txBox="1"/>
          <p:nvPr/>
        </p:nvSpPr>
        <p:spPr>
          <a:xfrm>
            <a:off x="4797829" y="835404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559" name="object 559"/>
          <p:cNvSpPr txBox="1"/>
          <p:nvPr/>
        </p:nvSpPr>
        <p:spPr>
          <a:xfrm>
            <a:off x="5062852" y="835404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560" name="object 560"/>
          <p:cNvSpPr txBox="1"/>
          <p:nvPr/>
        </p:nvSpPr>
        <p:spPr>
          <a:xfrm>
            <a:off x="5330099" y="835404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561" name="object 561"/>
          <p:cNvSpPr txBox="1"/>
          <p:nvPr/>
        </p:nvSpPr>
        <p:spPr>
          <a:xfrm>
            <a:off x="5596227" y="835404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562" name="object 562"/>
          <p:cNvSpPr txBox="1"/>
          <p:nvPr/>
        </p:nvSpPr>
        <p:spPr>
          <a:xfrm>
            <a:off x="4530596" y="835404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563" name="object 563"/>
          <p:cNvSpPr txBox="1"/>
          <p:nvPr/>
        </p:nvSpPr>
        <p:spPr>
          <a:xfrm>
            <a:off x="2971341" y="8354048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564" name="object 564"/>
          <p:cNvSpPr txBox="1"/>
          <p:nvPr/>
        </p:nvSpPr>
        <p:spPr>
          <a:xfrm>
            <a:off x="6128496" y="835404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565" name="object 565"/>
          <p:cNvSpPr txBox="1"/>
          <p:nvPr/>
        </p:nvSpPr>
        <p:spPr>
          <a:xfrm>
            <a:off x="4264455" y="835404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566" name="object 566"/>
          <p:cNvSpPr txBox="1"/>
          <p:nvPr/>
        </p:nvSpPr>
        <p:spPr>
          <a:xfrm>
            <a:off x="5862355" y="8354048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567" name="object 567"/>
          <p:cNvSpPr/>
          <p:nvPr/>
        </p:nvSpPr>
        <p:spPr>
          <a:xfrm>
            <a:off x="6068872" y="8292083"/>
            <a:ext cx="267335" cy="241935"/>
          </a:xfrm>
          <a:custGeom>
            <a:avLst/>
            <a:gdLst/>
            <a:ahLst/>
            <a:cxnLst/>
            <a:rect l="l" t="t" r="r" b="b"/>
            <a:pathLst>
              <a:path w="267335" h="241934">
                <a:moveTo>
                  <a:pt x="267237" y="0"/>
                </a:moveTo>
                <a:lnTo>
                  <a:pt x="0" y="0"/>
                </a:lnTo>
                <a:lnTo>
                  <a:pt x="0" y="241838"/>
                </a:lnTo>
                <a:lnTo>
                  <a:pt x="267237" y="241838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8" name="object 568"/>
          <p:cNvSpPr/>
          <p:nvPr/>
        </p:nvSpPr>
        <p:spPr>
          <a:xfrm>
            <a:off x="3938676" y="8292083"/>
            <a:ext cx="533400" cy="241935"/>
          </a:xfrm>
          <a:custGeom>
            <a:avLst/>
            <a:gdLst/>
            <a:ahLst/>
            <a:cxnLst/>
            <a:rect l="l" t="t" r="r" b="b"/>
            <a:pathLst>
              <a:path w="533400" h="241934">
                <a:moveTo>
                  <a:pt x="533387" y="0"/>
                </a:moveTo>
                <a:lnTo>
                  <a:pt x="268351" y="0"/>
                </a:lnTo>
                <a:lnTo>
                  <a:pt x="267258" y="0"/>
                </a:lnTo>
                <a:lnTo>
                  <a:pt x="0" y="0"/>
                </a:lnTo>
                <a:lnTo>
                  <a:pt x="0" y="241846"/>
                </a:lnTo>
                <a:lnTo>
                  <a:pt x="267258" y="241846"/>
                </a:lnTo>
                <a:lnTo>
                  <a:pt x="268351" y="241846"/>
                </a:lnTo>
                <a:lnTo>
                  <a:pt x="533387" y="241846"/>
                </a:lnTo>
                <a:lnTo>
                  <a:pt x="53338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9" name="object 569"/>
          <p:cNvSpPr txBox="1"/>
          <p:nvPr/>
        </p:nvSpPr>
        <p:spPr>
          <a:xfrm>
            <a:off x="1905697" y="859368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570" name="object 570"/>
          <p:cNvSpPr txBox="1"/>
          <p:nvPr/>
        </p:nvSpPr>
        <p:spPr>
          <a:xfrm>
            <a:off x="2172931" y="859368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571" name="object 571"/>
          <p:cNvSpPr txBox="1"/>
          <p:nvPr/>
        </p:nvSpPr>
        <p:spPr>
          <a:xfrm>
            <a:off x="2437967" y="859368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572" name="object 572"/>
          <p:cNvSpPr txBox="1"/>
          <p:nvPr/>
        </p:nvSpPr>
        <p:spPr>
          <a:xfrm>
            <a:off x="2704095" y="859368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573" name="object 573"/>
          <p:cNvSpPr txBox="1"/>
          <p:nvPr/>
        </p:nvSpPr>
        <p:spPr>
          <a:xfrm>
            <a:off x="3236365" y="859368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574" name="object 574"/>
          <p:cNvSpPr txBox="1"/>
          <p:nvPr/>
        </p:nvSpPr>
        <p:spPr>
          <a:xfrm>
            <a:off x="3503598" y="859368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575" name="object 575"/>
          <p:cNvSpPr txBox="1"/>
          <p:nvPr/>
        </p:nvSpPr>
        <p:spPr>
          <a:xfrm>
            <a:off x="3769739" y="859368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576" name="object 576"/>
          <p:cNvSpPr txBox="1"/>
          <p:nvPr/>
        </p:nvSpPr>
        <p:spPr>
          <a:xfrm>
            <a:off x="4035867" y="859368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577" name="object 577"/>
          <p:cNvSpPr txBox="1"/>
          <p:nvPr/>
        </p:nvSpPr>
        <p:spPr>
          <a:xfrm>
            <a:off x="4797829" y="859368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578" name="object 578"/>
          <p:cNvSpPr txBox="1"/>
          <p:nvPr/>
        </p:nvSpPr>
        <p:spPr>
          <a:xfrm>
            <a:off x="6128496" y="859368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579" name="object 579"/>
          <p:cNvSpPr txBox="1"/>
          <p:nvPr/>
        </p:nvSpPr>
        <p:spPr>
          <a:xfrm>
            <a:off x="5330099" y="859368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580" name="object 580"/>
          <p:cNvSpPr txBox="1"/>
          <p:nvPr/>
        </p:nvSpPr>
        <p:spPr>
          <a:xfrm>
            <a:off x="5596227" y="859368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581" name="object 581"/>
          <p:cNvSpPr txBox="1"/>
          <p:nvPr/>
        </p:nvSpPr>
        <p:spPr>
          <a:xfrm>
            <a:off x="4530596" y="859368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582" name="object 582"/>
          <p:cNvSpPr txBox="1"/>
          <p:nvPr/>
        </p:nvSpPr>
        <p:spPr>
          <a:xfrm>
            <a:off x="5062852" y="859368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583" name="object 583"/>
          <p:cNvSpPr txBox="1"/>
          <p:nvPr/>
        </p:nvSpPr>
        <p:spPr>
          <a:xfrm>
            <a:off x="4264455" y="859368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584" name="object 584"/>
          <p:cNvSpPr txBox="1"/>
          <p:nvPr/>
        </p:nvSpPr>
        <p:spPr>
          <a:xfrm>
            <a:off x="5862355" y="859368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585" name="object 585"/>
          <p:cNvSpPr txBox="1"/>
          <p:nvPr/>
        </p:nvSpPr>
        <p:spPr>
          <a:xfrm>
            <a:off x="2971341" y="859368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586" name="object 586"/>
          <p:cNvSpPr/>
          <p:nvPr/>
        </p:nvSpPr>
        <p:spPr>
          <a:xfrm>
            <a:off x="6068872" y="8532813"/>
            <a:ext cx="267335" cy="240029"/>
          </a:xfrm>
          <a:custGeom>
            <a:avLst/>
            <a:gdLst/>
            <a:ahLst/>
            <a:cxnLst/>
            <a:rect l="l" t="t" r="r" b="b"/>
            <a:pathLst>
              <a:path w="267335" h="240029">
                <a:moveTo>
                  <a:pt x="267237" y="0"/>
                </a:moveTo>
                <a:lnTo>
                  <a:pt x="0" y="0"/>
                </a:lnTo>
                <a:lnTo>
                  <a:pt x="0" y="239630"/>
                </a:lnTo>
                <a:lnTo>
                  <a:pt x="267237" y="239630"/>
                </a:lnTo>
                <a:lnTo>
                  <a:pt x="26723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7" name="object 587"/>
          <p:cNvSpPr/>
          <p:nvPr/>
        </p:nvSpPr>
        <p:spPr>
          <a:xfrm>
            <a:off x="3938676" y="8532824"/>
            <a:ext cx="1333500" cy="240029"/>
          </a:xfrm>
          <a:custGeom>
            <a:avLst/>
            <a:gdLst/>
            <a:ahLst/>
            <a:cxnLst/>
            <a:rect l="l" t="t" r="r" b="b"/>
            <a:pathLst>
              <a:path w="1333500" h="240029">
                <a:moveTo>
                  <a:pt x="533387" y="0"/>
                </a:moveTo>
                <a:lnTo>
                  <a:pt x="268351" y="0"/>
                </a:lnTo>
                <a:lnTo>
                  <a:pt x="267258" y="0"/>
                </a:lnTo>
                <a:lnTo>
                  <a:pt x="0" y="0"/>
                </a:lnTo>
                <a:lnTo>
                  <a:pt x="0" y="239623"/>
                </a:lnTo>
                <a:lnTo>
                  <a:pt x="267258" y="239623"/>
                </a:lnTo>
                <a:lnTo>
                  <a:pt x="268351" y="239623"/>
                </a:lnTo>
                <a:lnTo>
                  <a:pt x="533387" y="239623"/>
                </a:lnTo>
                <a:lnTo>
                  <a:pt x="533387" y="0"/>
                </a:lnTo>
                <a:close/>
              </a:path>
              <a:path w="1333500" h="240029">
                <a:moveTo>
                  <a:pt x="1332877" y="0"/>
                </a:moveTo>
                <a:lnTo>
                  <a:pt x="1066749" y="0"/>
                </a:lnTo>
                <a:lnTo>
                  <a:pt x="1065644" y="0"/>
                </a:lnTo>
                <a:lnTo>
                  <a:pt x="799515" y="0"/>
                </a:lnTo>
                <a:lnTo>
                  <a:pt x="799515" y="239623"/>
                </a:lnTo>
                <a:lnTo>
                  <a:pt x="1065644" y="239623"/>
                </a:lnTo>
                <a:lnTo>
                  <a:pt x="1066749" y="239623"/>
                </a:lnTo>
                <a:lnTo>
                  <a:pt x="1332877" y="239623"/>
                </a:lnTo>
                <a:lnTo>
                  <a:pt x="1332877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8" name="object 588"/>
          <p:cNvSpPr/>
          <p:nvPr/>
        </p:nvSpPr>
        <p:spPr>
          <a:xfrm>
            <a:off x="2608021" y="8532824"/>
            <a:ext cx="533400" cy="240029"/>
          </a:xfrm>
          <a:custGeom>
            <a:avLst/>
            <a:gdLst/>
            <a:ahLst/>
            <a:cxnLst/>
            <a:rect l="l" t="t" r="r" b="b"/>
            <a:pathLst>
              <a:path w="533400" h="240029">
                <a:moveTo>
                  <a:pt x="533374" y="0"/>
                </a:moveTo>
                <a:lnTo>
                  <a:pt x="268338" y="0"/>
                </a:lnTo>
                <a:lnTo>
                  <a:pt x="267246" y="0"/>
                </a:lnTo>
                <a:lnTo>
                  <a:pt x="0" y="0"/>
                </a:lnTo>
                <a:lnTo>
                  <a:pt x="0" y="239623"/>
                </a:lnTo>
                <a:lnTo>
                  <a:pt x="267246" y="239623"/>
                </a:lnTo>
                <a:lnTo>
                  <a:pt x="268338" y="239623"/>
                </a:lnTo>
                <a:lnTo>
                  <a:pt x="533374" y="239623"/>
                </a:lnTo>
                <a:lnTo>
                  <a:pt x="533374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9" name="object 589"/>
          <p:cNvSpPr txBox="1"/>
          <p:nvPr/>
        </p:nvSpPr>
        <p:spPr>
          <a:xfrm>
            <a:off x="1905697" y="8832204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2172931" y="8832204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591" name="object 591"/>
          <p:cNvSpPr txBox="1"/>
          <p:nvPr/>
        </p:nvSpPr>
        <p:spPr>
          <a:xfrm>
            <a:off x="2437967" y="8832204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592" name="object 592"/>
          <p:cNvSpPr txBox="1"/>
          <p:nvPr/>
        </p:nvSpPr>
        <p:spPr>
          <a:xfrm>
            <a:off x="2704095" y="8832204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3236365" y="8832204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594" name="object 594"/>
          <p:cNvSpPr txBox="1"/>
          <p:nvPr/>
        </p:nvSpPr>
        <p:spPr>
          <a:xfrm>
            <a:off x="3503598" y="8832204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595" name="object 595"/>
          <p:cNvSpPr txBox="1"/>
          <p:nvPr/>
        </p:nvSpPr>
        <p:spPr>
          <a:xfrm>
            <a:off x="3769739" y="8832204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4035867" y="8832204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4797829" y="8832204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598" name="object 598"/>
          <p:cNvSpPr txBox="1"/>
          <p:nvPr/>
        </p:nvSpPr>
        <p:spPr>
          <a:xfrm>
            <a:off x="6128496" y="8832204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599" name="object 599"/>
          <p:cNvSpPr txBox="1"/>
          <p:nvPr/>
        </p:nvSpPr>
        <p:spPr>
          <a:xfrm>
            <a:off x="5330099" y="8832204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0" name="object 600"/>
          <p:cNvSpPr txBox="1"/>
          <p:nvPr/>
        </p:nvSpPr>
        <p:spPr>
          <a:xfrm>
            <a:off x="5596227" y="8832204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1" name="object 601"/>
          <p:cNvSpPr txBox="1"/>
          <p:nvPr/>
        </p:nvSpPr>
        <p:spPr>
          <a:xfrm>
            <a:off x="4530596" y="8832204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2" name="object 602"/>
          <p:cNvSpPr txBox="1"/>
          <p:nvPr/>
        </p:nvSpPr>
        <p:spPr>
          <a:xfrm>
            <a:off x="5062852" y="8832204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3" name="object 603"/>
          <p:cNvSpPr txBox="1"/>
          <p:nvPr/>
        </p:nvSpPr>
        <p:spPr>
          <a:xfrm>
            <a:off x="4264455" y="8832204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4" name="object 604"/>
          <p:cNvSpPr txBox="1"/>
          <p:nvPr/>
        </p:nvSpPr>
        <p:spPr>
          <a:xfrm>
            <a:off x="5862355" y="8832204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5" name="object 605"/>
          <p:cNvSpPr txBox="1"/>
          <p:nvPr/>
        </p:nvSpPr>
        <p:spPr>
          <a:xfrm>
            <a:off x="2971341" y="8832204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3673652" y="8771343"/>
            <a:ext cx="1598295" cy="241300"/>
          </a:xfrm>
          <a:custGeom>
            <a:avLst/>
            <a:gdLst/>
            <a:ahLst/>
            <a:cxnLst/>
            <a:rect l="l" t="t" r="r" b="b"/>
            <a:pathLst>
              <a:path w="1598295" h="241300">
                <a:moveTo>
                  <a:pt x="1597901" y="0"/>
                </a:moveTo>
                <a:lnTo>
                  <a:pt x="1597901" y="0"/>
                </a:lnTo>
                <a:lnTo>
                  <a:pt x="0" y="0"/>
                </a:lnTo>
                <a:lnTo>
                  <a:pt x="0" y="240741"/>
                </a:lnTo>
                <a:lnTo>
                  <a:pt x="1597901" y="240741"/>
                </a:lnTo>
                <a:lnTo>
                  <a:pt x="1597901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7" name="object 607"/>
          <p:cNvSpPr/>
          <p:nvPr/>
        </p:nvSpPr>
        <p:spPr>
          <a:xfrm>
            <a:off x="5536590" y="8771343"/>
            <a:ext cx="800100" cy="241300"/>
          </a:xfrm>
          <a:custGeom>
            <a:avLst/>
            <a:gdLst/>
            <a:ahLst/>
            <a:cxnLst/>
            <a:rect l="l" t="t" r="r" b="b"/>
            <a:pathLst>
              <a:path w="800100" h="241300">
                <a:moveTo>
                  <a:pt x="799515" y="0"/>
                </a:moveTo>
                <a:lnTo>
                  <a:pt x="799515" y="0"/>
                </a:lnTo>
                <a:lnTo>
                  <a:pt x="0" y="0"/>
                </a:lnTo>
                <a:lnTo>
                  <a:pt x="0" y="240741"/>
                </a:lnTo>
                <a:lnTo>
                  <a:pt x="799515" y="240741"/>
                </a:lnTo>
                <a:lnTo>
                  <a:pt x="799515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8" name="object 608"/>
          <p:cNvSpPr/>
          <p:nvPr/>
        </p:nvSpPr>
        <p:spPr>
          <a:xfrm>
            <a:off x="2075764" y="8771343"/>
            <a:ext cx="1066165" cy="241300"/>
          </a:xfrm>
          <a:custGeom>
            <a:avLst/>
            <a:gdLst/>
            <a:ahLst/>
            <a:cxnLst/>
            <a:rect l="l" t="t" r="r" b="b"/>
            <a:pathLst>
              <a:path w="1066164" h="241300">
                <a:moveTo>
                  <a:pt x="1065631" y="0"/>
                </a:moveTo>
                <a:lnTo>
                  <a:pt x="1065631" y="0"/>
                </a:lnTo>
                <a:lnTo>
                  <a:pt x="0" y="0"/>
                </a:lnTo>
                <a:lnTo>
                  <a:pt x="0" y="240741"/>
                </a:lnTo>
                <a:lnTo>
                  <a:pt x="1065631" y="240741"/>
                </a:lnTo>
                <a:lnTo>
                  <a:pt x="1065631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9" name="object 609"/>
          <p:cNvSpPr txBox="1"/>
          <p:nvPr/>
        </p:nvSpPr>
        <p:spPr>
          <a:xfrm>
            <a:off x="1905697" y="907294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0" name="object 610"/>
          <p:cNvSpPr txBox="1"/>
          <p:nvPr/>
        </p:nvSpPr>
        <p:spPr>
          <a:xfrm>
            <a:off x="2172931" y="907294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1" name="object 611"/>
          <p:cNvSpPr txBox="1"/>
          <p:nvPr/>
        </p:nvSpPr>
        <p:spPr>
          <a:xfrm>
            <a:off x="2437967" y="907294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2" name="object 612"/>
          <p:cNvSpPr txBox="1"/>
          <p:nvPr/>
        </p:nvSpPr>
        <p:spPr>
          <a:xfrm>
            <a:off x="2704095" y="907294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3" name="object 613"/>
          <p:cNvSpPr txBox="1"/>
          <p:nvPr/>
        </p:nvSpPr>
        <p:spPr>
          <a:xfrm>
            <a:off x="3503598" y="907294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4" name="object 614"/>
          <p:cNvSpPr txBox="1"/>
          <p:nvPr/>
        </p:nvSpPr>
        <p:spPr>
          <a:xfrm>
            <a:off x="3236365" y="907294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5" name="object 615"/>
          <p:cNvSpPr txBox="1"/>
          <p:nvPr/>
        </p:nvSpPr>
        <p:spPr>
          <a:xfrm>
            <a:off x="3769739" y="907294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6" name="object 616"/>
          <p:cNvSpPr txBox="1"/>
          <p:nvPr/>
        </p:nvSpPr>
        <p:spPr>
          <a:xfrm>
            <a:off x="4035867" y="907294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7" name="object 617"/>
          <p:cNvSpPr txBox="1"/>
          <p:nvPr/>
        </p:nvSpPr>
        <p:spPr>
          <a:xfrm>
            <a:off x="4797829" y="907294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12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8" name="object 618"/>
          <p:cNvSpPr txBox="1"/>
          <p:nvPr/>
        </p:nvSpPr>
        <p:spPr>
          <a:xfrm>
            <a:off x="6128496" y="907294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17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9" name="object 619"/>
          <p:cNvSpPr txBox="1"/>
          <p:nvPr/>
        </p:nvSpPr>
        <p:spPr>
          <a:xfrm>
            <a:off x="5330099" y="907294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14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0" name="object 620"/>
          <p:cNvSpPr txBox="1"/>
          <p:nvPr/>
        </p:nvSpPr>
        <p:spPr>
          <a:xfrm>
            <a:off x="5596227" y="907294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15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1" name="object 621"/>
          <p:cNvSpPr txBox="1"/>
          <p:nvPr/>
        </p:nvSpPr>
        <p:spPr>
          <a:xfrm>
            <a:off x="4530596" y="907294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2" name="object 622"/>
          <p:cNvSpPr txBox="1"/>
          <p:nvPr/>
        </p:nvSpPr>
        <p:spPr>
          <a:xfrm>
            <a:off x="5062852" y="907294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13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3" name="object 623"/>
          <p:cNvSpPr txBox="1"/>
          <p:nvPr/>
        </p:nvSpPr>
        <p:spPr>
          <a:xfrm>
            <a:off x="4264455" y="907294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4" name="object 624"/>
          <p:cNvSpPr txBox="1"/>
          <p:nvPr/>
        </p:nvSpPr>
        <p:spPr>
          <a:xfrm>
            <a:off x="5862355" y="9072945"/>
            <a:ext cx="159385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16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5" name="object 625"/>
          <p:cNvSpPr txBox="1"/>
          <p:nvPr/>
        </p:nvSpPr>
        <p:spPr>
          <a:xfrm>
            <a:off x="2971341" y="9072945"/>
            <a:ext cx="80010" cy="142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100" spc="10" b="1">
                <a:solidFill>
                  <a:srgbClr val="A4002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626" name="object 626"/>
          <p:cNvGraphicFramePr>
            <a:graphicFrameLocks noGrp="1"/>
          </p:cNvGraphicFramePr>
          <p:nvPr/>
        </p:nvGraphicFramePr>
        <p:xfrm>
          <a:off x="1805019" y="8048952"/>
          <a:ext cx="4540885" cy="12090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6700"/>
                <a:gridCol w="266065"/>
                <a:gridCol w="266065"/>
                <a:gridCol w="267334"/>
                <a:gridCol w="265429"/>
                <a:gridCol w="267334"/>
                <a:gridCol w="265429"/>
                <a:gridCol w="265430"/>
                <a:gridCol w="267335"/>
                <a:gridCol w="265430"/>
                <a:gridCol w="266700"/>
                <a:gridCol w="266064"/>
                <a:gridCol w="266065"/>
                <a:gridCol w="266064"/>
                <a:gridCol w="266064"/>
                <a:gridCol w="266064"/>
                <a:gridCol w="266700"/>
              </a:tblGrid>
              <a:tr h="239076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5969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</a:tr>
              <a:tr h="24073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</a:tr>
              <a:tr h="23852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</a:tr>
              <a:tr h="240736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</a:tr>
              <a:tr h="240182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25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952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1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800000"/>
                    </a:solidFill>
                  </a:tcPr>
                </a:tc>
              </a:tr>
            </a:tbl>
          </a:graphicData>
        </a:graphic>
      </p:graphicFrame>
      <p:sp>
        <p:nvSpPr>
          <p:cNvPr id="627" name="object 627"/>
          <p:cNvSpPr/>
          <p:nvPr/>
        </p:nvSpPr>
        <p:spPr>
          <a:xfrm>
            <a:off x="3407524" y="9013190"/>
            <a:ext cx="1864360" cy="240029"/>
          </a:xfrm>
          <a:custGeom>
            <a:avLst/>
            <a:gdLst/>
            <a:ahLst/>
            <a:cxnLst/>
            <a:rect l="l" t="t" r="r" b="b"/>
            <a:pathLst>
              <a:path w="1864360" h="240029">
                <a:moveTo>
                  <a:pt x="266128" y="0"/>
                </a:moveTo>
                <a:lnTo>
                  <a:pt x="0" y="0"/>
                </a:lnTo>
                <a:lnTo>
                  <a:pt x="0" y="239623"/>
                </a:lnTo>
                <a:lnTo>
                  <a:pt x="266128" y="239623"/>
                </a:lnTo>
                <a:lnTo>
                  <a:pt x="266128" y="0"/>
                </a:lnTo>
                <a:close/>
              </a:path>
              <a:path w="1864360" h="240029">
                <a:moveTo>
                  <a:pt x="1864029" y="0"/>
                </a:moveTo>
                <a:lnTo>
                  <a:pt x="1864029" y="0"/>
                </a:lnTo>
                <a:lnTo>
                  <a:pt x="531152" y="0"/>
                </a:lnTo>
                <a:lnTo>
                  <a:pt x="531152" y="239623"/>
                </a:lnTo>
                <a:lnTo>
                  <a:pt x="1864029" y="239623"/>
                </a:lnTo>
                <a:lnTo>
                  <a:pt x="1864029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" name="object 628"/>
          <p:cNvSpPr/>
          <p:nvPr/>
        </p:nvSpPr>
        <p:spPr>
          <a:xfrm>
            <a:off x="5536590" y="9013190"/>
            <a:ext cx="800100" cy="240029"/>
          </a:xfrm>
          <a:custGeom>
            <a:avLst/>
            <a:gdLst/>
            <a:ahLst/>
            <a:cxnLst/>
            <a:rect l="l" t="t" r="r" b="b"/>
            <a:pathLst>
              <a:path w="800100" h="240029">
                <a:moveTo>
                  <a:pt x="799515" y="0"/>
                </a:moveTo>
                <a:lnTo>
                  <a:pt x="799515" y="0"/>
                </a:lnTo>
                <a:lnTo>
                  <a:pt x="0" y="0"/>
                </a:lnTo>
                <a:lnTo>
                  <a:pt x="0" y="239623"/>
                </a:lnTo>
                <a:lnTo>
                  <a:pt x="799515" y="239623"/>
                </a:lnTo>
                <a:lnTo>
                  <a:pt x="799515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" name="object 629"/>
          <p:cNvSpPr/>
          <p:nvPr/>
        </p:nvSpPr>
        <p:spPr>
          <a:xfrm>
            <a:off x="2075764" y="9013190"/>
            <a:ext cx="1066165" cy="240029"/>
          </a:xfrm>
          <a:custGeom>
            <a:avLst/>
            <a:gdLst/>
            <a:ahLst/>
            <a:cxnLst/>
            <a:rect l="l" t="t" r="r" b="b"/>
            <a:pathLst>
              <a:path w="1066164" h="240029">
                <a:moveTo>
                  <a:pt x="1065631" y="0"/>
                </a:moveTo>
                <a:lnTo>
                  <a:pt x="1065631" y="0"/>
                </a:lnTo>
                <a:lnTo>
                  <a:pt x="0" y="0"/>
                </a:lnTo>
                <a:lnTo>
                  <a:pt x="0" y="239623"/>
                </a:lnTo>
                <a:lnTo>
                  <a:pt x="1065631" y="239623"/>
                </a:lnTo>
                <a:lnTo>
                  <a:pt x="1065631" y="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" name="object 630"/>
          <p:cNvSpPr txBox="1"/>
          <p:nvPr/>
        </p:nvSpPr>
        <p:spPr>
          <a:xfrm>
            <a:off x="3072827" y="9393338"/>
            <a:ext cx="20840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4.5: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quick sort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6426835" cy="7969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261100" algn="l"/>
              </a:tabLst>
            </a:pPr>
            <a:r>
              <a:rPr dirty="0" sz="1200" spc="-10">
                <a:latin typeface="Times New Roman"/>
                <a:cs typeface="Times New Roman"/>
              </a:rPr>
              <a:t>4.3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Q</a:t>
            </a:r>
            <a:r>
              <a:rPr dirty="0" sz="1200" spc="-10">
                <a:latin typeface="Times New Roman"/>
                <a:cs typeface="Times New Roman"/>
              </a:rPr>
              <a:t>UI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8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8953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interesting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(but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surprising)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pivots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search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illustrated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 4.6.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35380" y="1634942"/>
            <a:ext cx="5922010" cy="2590800"/>
          </a:xfrm>
          <a:custGeom>
            <a:avLst/>
            <a:gdLst/>
            <a:ahLst/>
            <a:cxnLst/>
            <a:rect l="l" t="t" r="r" b="b"/>
            <a:pathLst>
              <a:path w="5922009" h="2590800">
                <a:moveTo>
                  <a:pt x="5921532" y="0"/>
                </a:moveTo>
                <a:lnTo>
                  <a:pt x="0" y="0"/>
                </a:lnTo>
                <a:lnTo>
                  <a:pt x="0" y="2590601"/>
                </a:lnTo>
                <a:lnTo>
                  <a:pt x="5921532" y="2590601"/>
                </a:lnTo>
                <a:lnTo>
                  <a:pt x="5921532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046416" y="1655885"/>
            <a:ext cx="445134" cy="2641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550" spc="5">
                <a:solidFill>
                  <a:srgbClr val="FFFF00"/>
                </a:solidFill>
                <a:latin typeface="Arial"/>
                <a:cs typeface="Arial"/>
              </a:rPr>
              <a:t>pivot</a:t>
            </a:r>
            <a:endParaRPr sz="1550">
              <a:latin typeface="Arial"/>
              <a:cs typeface="Arial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911861" y="1773067"/>
            <a:ext cx="2591435" cy="624205"/>
            <a:chOff x="2911861" y="1773067"/>
            <a:chExt cx="2591435" cy="624205"/>
          </a:xfrm>
        </p:grpSpPr>
        <p:sp>
          <p:nvSpPr>
            <p:cNvPr id="6" name="object 6"/>
            <p:cNvSpPr/>
            <p:nvPr/>
          </p:nvSpPr>
          <p:spPr>
            <a:xfrm>
              <a:off x="4407529" y="1872381"/>
              <a:ext cx="81915" cy="87630"/>
            </a:xfrm>
            <a:custGeom>
              <a:avLst/>
              <a:gdLst/>
              <a:ahLst/>
              <a:cxnLst/>
              <a:rect l="l" t="t" r="r" b="b"/>
              <a:pathLst>
                <a:path w="81914" h="87630">
                  <a:moveTo>
                    <a:pt x="81914" y="0"/>
                  </a:moveTo>
                  <a:lnTo>
                    <a:pt x="0" y="43601"/>
                  </a:lnTo>
                  <a:lnTo>
                    <a:pt x="81914" y="87203"/>
                  </a:lnTo>
                  <a:lnTo>
                    <a:pt x="8191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020403" y="1778582"/>
              <a:ext cx="382270" cy="276225"/>
            </a:xfrm>
            <a:custGeom>
              <a:avLst/>
              <a:gdLst/>
              <a:ahLst/>
              <a:cxnLst/>
              <a:rect l="l" t="t" r="r" b="b"/>
              <a:pathLst>
                <a:path w="382270" h="276225">
                  <a:moveTo>
                    <a:pt x="0" y="276145"/>
                  </a:moveTo>
                  <a:lnTo>
                    <a:pt x="381847" y="276145"/>
                  </a:lnTo>
                  <a:lnTo>
                    <a:pt x="381847" y="0"/>
                  </a:lnTo>
                  <a:lnTo>
                    <a:pt x="0" y="0"/>
                  </a:lnTo>
                  <a:lnTo>
                    <a:pt x="0" y="276145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911856" y="2054732"/>
              <a:ext cx="2591435" cy="342265"/>
            </a:xfrm>
            <a:custGeom>
              <a:avLst/>
              <a:gdLst/>
              <a:ahLst/>
              <a:cxnLst/>
              <a:rect l="l" t="t" r="r" b="b"/>
              <a:pathLst>
                <a:path w="2591435" h="342264">
                  <a:moveTo>
                    <a:pt x="2591016" y="319735"/>
                  </a:moveTo>
                  <a:lnTo>
                    <a:pt x="2519654" y="257644"/>
                  </a:lnTo>
                  <a:lnTo>
                    <a:pt x="2512301" y="293827"/>
                  </a:lnTo>
                  <a:lnTo>
                    <a:pt x="1301445" y="0"/>
                  </a:lnTo>
                  <a:lnTo>
                    <a:pt x="1300124" y="5283"/>
                  </a:lnTo>
                  <a:lnTo>
                    <a:pt x="1298803" y="0"/>
                  </a:lnTo>
                  <a:lnTo>
                    <a:pt x="76581" y="293700"/>
                  </a:lnTo>
                  <a:lnTo>
                    <a:pt x="68707" y="257644"/>
                  </a:lnTo>
                  <a:lnTo>
                    <a:pt x="0" y="319735"/>
                  </a:lnTo>
                  <a:lnTo>
                    <a:pt x="87198" y="342201"/>
                  </a:lnTo>
                  <a:lnTo>
                    <a:pt x="78905" y="304342"/>
                  </a:lnTo>
                  <a:lnTo>
                    <a:pt x="1300111" y="10896"/>
                  </a:lnTo>
                  <a:lnTo>
                    <a:pt x="2510129" y="304507"/>
                  </a:lnTo>
                  <a:lnTo>
                    <a:pt x="2502484" y="342201"/>
                  </a:lnTo>
                  <a:lnTo>
                    <a:pt x="2591016" y="3197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020403" y="1778582"/>
              <a:ext cx="382270" cy="276225"/>
            </a:xfrm>
            <a:custGeom>
              <a:avLst/>
              <a:gdLst/>
              <a:ahLst/>
              <a:cxnLst/>
              <a:rect l="l" t="t" r="r" b="b"/>
              <a:pathLst>
                <a:path w="382270" h="276225">
                  <a:moveTo>
                    <a:pt x="0" y="276145"/>
                  </a:moveTo>
                  <a:lnTo>
                    <a:pt x="381847" y="276145"/>
                  </a:lnTo>
                  <a:lnTo>
                    <a:pt x="381847" y="0"/>
                  </a:lnTo>
                  <a:lnTo>
                    <a:pt x="0" y="0"/>
                  </a:lnTo>
                  <a:lnTo>
                    <a:pt x="0" y="276145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911856" y="2054732"/>
              <a:ext cx="2591435" cy="342265"/>
            </a:xfrm>
            <a:custGeom>
              <a:avLst/>
              <a:gdLst/>
              <a:ahLst/>
              <a:cxnLst/>
              <a:rect l="l" t="t" r="r" b="b"/>
              <a:pathLst>
                <a:path w="2591435" h="342264">
                  <a:moveTo>
                    <a:pt x="2591016" y="319735"/>
                  </a:moveTo>
                  <a:lnTo>
                    <a:pt x="2519654" y="257644"/>
                  </a:lnTo>
                  <a:lnTo>
                    <a:pt x="2512301" y="293827"/>
                  </a:lnTo>
                  <a:lnTo>
                    <a:pt x="1301445" y="0"/>
                  </a:lnTo>
                  <a:lnTo>
                    <a:pt x="1300124" y="5283"/>
                  </a:lnTo>
                  <a:lnTo>
                    <a:pt x="1298803" y="0"/>
                  </a:lnTo>
                  <a:lnTo>
                    <a:pt x="76581" y="293700"/>
                  </a:lnTo>
                  <a:lnTo>
                    <a:pt x="68707" y="257644"/>
                  </a:lnTo>
                  <a:lnTo>
                    <a:pt x="0" y="319735"/>
                  </a:lnTo>
                  <a:lnTo>
                    <a:pt x="87198" y="342201"/>
                  </a:lnTo>
                  <a:lnTo>
                    <a:pt x="78905" y="304342"/>
                  </a:lnTo>
                  <a:lnTo>
                    <a:pt x="1300111" y="10896"/>
                  </a:lnTo>
                  <a:lnTo>
                    <a:pt x="2510129" y="304507"/>
                  </a:lnTo>
                  <a:lnTo>
                    <a:pt x="2502484" y="342201"/>
                  </a:lnTo>
                  <a:lnTo>
                    <a:pt x="2591016" y="3197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020403" y="1778582"/>
              <a:ext cx="382270" cy="276225"/>
            </a:xfrm>
            <a:custGeom>
              <a:avLst/>
              <a:gdLst/>
              <a:ahLst/>
              <a:cxnLst/>
              <a:rect l="l" t="t" r="r" b="b"/>
              <a:pathLst>
                <a:path w="382270" h="276225">
                  <a:moveTo>
                    <a:pt x="381847" y="0"/>
                  </a:moveTo>
                  <a:lnTo>
                    <a:pt x="0" y="0"/>
                  </a:lnTo>
                  <a:lnTo>
                    <a:pt x="0" y="276145"/>
                  </a:lnTo>
                  <a:lnTo>
                    <a:pt x="381847" y="276145"/>
                  </a:lnTo>
                  <a:lnTo>
                    <a:pt x="381847" y="0"/>
                  </a:lnTo>
                  <a:close/>
                </a:path>
              </a:pathLst>
            </a:custGeom>
            <a:solidFill>
              <a:srgbClr val="4D4D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020403" y="1778582"/>
              <a:ext cx="382270" cy="276225"/>
            </a:xfrm>
            <a:custGeom>
              <a:avLst/>
              <a:gdLst/>
              <a:ahLst/>
              <a:cxnLst/>
              <a:rect l="l" t="t" r="r" b="b"/>
              <a:pathLst>
                <a:path w="382270" h="276225">
                  <a:moveTo>
                    <a:pt x="0" y="276145"/>
                  </a:moveTo>
                  <a:lnTo>
                    <a:pt x="381847" y="276145"/>
                  </a:lnTo>
                  <a:lnTo>
                    <a:pt x="381847" y="0"/>
                  </a:lnTo>
                  <a:lnTo>
                    <a:pt x="0" y="0"/>
                  </a:lnTo>
                  <a:lnTo>
                    <a:pt x="0" y="276145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2519004" y="2054728"/>
            <a:ext cx="3375660" cy="462915"/>
            <a:chOff x="2519004" y="2054728"/>
            <a:chExt cx="3375660" cy="462915"/>
          </a:xfrm>
        </p:grpSpPr>
        <p:sp>
          <p:nvSpPr>
            <p:cNvPr id="14" name="object 14"/>
            <p:cNvSpPr/>
            <p:nvPr/>
          </p:nvSpPr>
          <p:spPr>
            <a:xfrm>
              <a:off x="2984525" y="2054728"/>
              <a:ext cx="1229360" cy="305435"/>
            </a:xfrm>
            <a:custGeom>
              <a:avLst/>
              <a:gdLst/>
              <a:ahLst/>
              <a:cxnLst/>
              <a:rect l="l" t="t" r="r" b="b"/>
              <a:pathLst>
                <a:path w="1229360" h="305435">
                  <a:moveTo>
                    <a:pt x="1226134" y="0"/>
                  </a:moveTo>
                  <a:lnTo>
                    <a:pt x="0" y="294634"/>
                  </a:lnTo>
                  <a:lnTo>
                    <a:pt x="2636" y="305211"/>
                  </a:lnTo>
                  <a:lnTo>
                    <a:pt x="1228785" y="10561"/>
                  </a:lnTo>
                  <a:lnTo>
                    <a:pt x="1226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984525" y="2054728"/>
              <a:ext cx="1229360" cy="305435"/>
            </a:xfrm>
            <a:custGeom>
              <a:avLst/>
              <a:gdLst/>
              <a:ahLst/>
              <a:cxnLst/>
              <a:rect l="l" t="t" r="r" b="b"/>
              <a:pathLst>
                <a:path w="1229360" h="305435">
                  <a:moveTo>
                    <a:pt x="1228785" y="10561"/>
                  </a:moveTo>
                  <a:lnTo>
                    <a:pt x="1226134" y="0"/>
                  </a:lnTo>
                  <a:lnTo>
                    <a:pt x="0" y="294634"/>
                  </a:lnTo>
                  <a:lnTo>
                    <a:pt x="2636" y="305211"/>
                  </a:lnTo>
                  <a:lnTo>
                    <a:pt x="1228785" y="1056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1861" y="2312375"/>
              <a:ext cx="87203" cy="84551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4210659" y="2054728"/>
              <a:ext cx="1217295" cy="305435"/>
            </a:xfrm>
            <a:custGeom>
              <a:avLst/>
              <a:gdLst/>
              <a:ahLst/>
              <a:cxnLst/>
              <a:rect l="l" t="t" r="r" b="b"/>
              <a:pathLst>
                <a:path w="1217295" h="305435">
                  <a:moveTo>
                    <a:pt x="2651" y="0"/>
                  </a:moveTo>
                  <a:lnTo>
                    <a:pt x="0" y="10561"/>
                  </a:lnTo>
                  <a:lnTo>
                    <a:pt x="1214246" y="305211"/>
                  </a:lnTo>
                  <a:lnTo>
                    <a:pt x="1216898" y="294634"/>
                  </a:lnTo>
                  <a:lnTo>
                    <a:pt x="26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210659" y="2054728"/>
              <a:ext cx="1217295" cy="305435"/>
            </a:xfrm>
            <a:custGeom>
              <a:avLst/>
              <a:gdLst/>
              <a:ahLst/>
              <a:cxnLst/>
              <a:rect l="l" t="t" r="r" b="b"/>
              <a:pathLst>
                <a:path w="1217295" h="305435">
                  <a:moveTo>
                    <a:pt x="2651" y="0"/>
                  </a:moveTo>
                  <a:lnTo>
                    <a:pt x="0" y="10561"/>
                  </a:lnTo>
                  <a:lnTo>
                    <a:pt x="1214246" y="305211"/>
                  </a:lnTo>
                  <a:lnTo>
                    <a:pt x="1216898" y="294634"/>
                  </a:lnTo>
                  <a:lnTo>
                    <a:pt x="2651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414345" y="2312375"/>
              <a:ext cx="88529" cy="8455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524719" y="2237057"/>
              <a:ext cx="3364229" cy="274955"/>
            </a:xfrm>
            <a:custGeom>
              <a:avLst/>
              <a:gdLst/>
              <a:ahLst/>
              <a:cxnLst/>
              <a:rect l="l" t="t" r="r" b="b"/>
              <a:pathLst>
                <a:path w="3364229" h="274955">
                  <a:moveTo>
                    <a:pt x="2982117" y="274824"/>
                  </a:moveTo>
                  <a:lnTo>
                    <a:pt x="3363964" y="274824"/>
                  </a:lnTo>
                  <a:lnTo>
                    <a:pt x="3363964" y="0"/>
                  </a:lnTo>
                  <a:lnTo>
                    <a:pt x="2982117" y="0"/>
                  </a:lnTo>
                  <a:lnTo>
                    <a:pt x="2982117" y="274824"/>
                  </a:lnTo>
                  <a:close/>
                </a:path>
                <a:path w="3364229" h="274955">
                  <a:moveTo>
                    <a:pt x="0" y="274824"/>
                  </a:moveTo>
                  <a:lnTo>
                    <a:pt x="381847" y="274824"/>
                  </a:lnTo>
                  <a:lnTo>
                    <a:pt x="381847" y="0"/>
                  </a:lnTo>
                  <a:lnTo>
                    <a:pt x="0" y="0"/>
                  </a:lnTo>
                  <a:lnTo>
                    <a:pt x="0" y="274824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2670059" y="2297706"/>
            <a:ext cx="110489" cy="1987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530"/>
              </a:lnSpc>
            </a:pPr>
            <a:r>
              <a:rPr dirty="0" sz="1550" spc="5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550">
              <a:latin typeface="Arial"/>
              <a:cs typeface="Arial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1865406" y="2231342"/>
            <a:ext cx="4871085" cy="916940"/>
            <a:chOff x="1865406" y="2231342"/>
            <a:chExt cx="4871085" cy="916940"/>
          </a:xfrm>
        </p:grpSpPr>
        <p:sp>
          <p:nvSpPr>
            <p:cNvPr id="23" name="object 23"/>
            <p:cNvSpPr/>
            <p:nvPr/>
          </p:nvSpPr>
          <p:spPr>
            <a:xfrm>
              <a:off x="4892433" y="2511881"/>
              <a:ext cx="1575435" cy="358140"/>
            </a:xfrm>
            <a:custGeom>
              <a:avLst/>
              <a:gdLst/>
              <a:ahLst/>
              <a:cxnLst/>
              <a:rect l="l" t="t" r="r" b="b"/>
              <a:pathLst>
                <a:path w="1575435" h="358139">
                  <a:moveTo>
                    <a:pt x="1574965" y="313143"/>
                  </a:moveTo>
                  <a:lnTo>
                    <a:pt x="808621" y="0"/>
                  </a:lnTo>
                  <a:lnTo>
                    <a:pt x="806640" y="5295"/>
                  </a:lnTo>
                  <a:lnTo>
                    <a:pt x="804659" y="0"/>
                  </a:lnTo>
                  <a:lnTo>
                    <a:pt x="73152" y="311810"/>
                  </a:lnTo>
                  <a:lnTo>
                    <a:pt x="60769" y="277469"/>
                  </a:lnTo>
                  <a:lnTo>
                    <a:pt x="0" y="350139"/>
                  </a:lnTo>
                  <a:lnTo>
                    <a:pt x="89852" y="358063"/>
                  </a:lnTo>
                  <a:lnTo>
                    <a:pt x="76987" y="322453"/>
                  </a:lnTo>
                  <a:lnTo>
                    <a:pt x="806678" y="11417"/>
                  </a:lnTo>
                  <a:lnTo>
                    <a:pt x="1572310" y="323723"/>
                  </a:lnTo>
                  <a:lnTo>
                    <a:pt x="1574965" y="3131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447571" y="2789341"/>
              <a:ext cx="89855" cy="80604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1865401" y="2511881"/>
              <a:ext cx="1593850" cy="359410"/>
            </a:xfrm>
            <a:custGeom>
              <a:avLst/>
              <a:gdLst/>
              <a:ahLst/>
              <a:cxnLst/>
              <a:rect l="l" t="t" r="r" b="b"/>
              <a:pathLst>
                <a:path w="1593850" h="359410">
                  <a:moveTo>
                    <a:pt x="1593443" y="350139"/>
                  </a:moveTo>
                  <a:lnTo>
                    <a:pt x="1535328" y="274828"/>
                  </a:lnTo>
                  <a:lnTo>
                    <a:pt x="1521815" y="309156"/>
                  </a:lnTo>
                  <a:lnTo>
                    <a:pt x="852220" y="0"/>
                  </a:lnTo>
                  <a:lnTo>
                    <a:pt x="849947" y="4533"/>
                  </a:lnTo>
                  <a:lnTo>
                    <a:pt x="848258" y="0"/>
                  </a:lnTo>
                  <a:lnTo>
                    <a:pt x="74498" y="313194"/>
                  </a:lnTo>
                  <a:lnTo>
                    <a:pt x="62103" y="278790"/>
                  </a:lnTo>
                  <a:lnTo>
                    <a:pt x="0" y="350139"/>
                  </a:lnTo>
                  <a:lnTo>
                    <a:pt x="91160" y="359397"/>
                  </a:lnTo>
                  <a:lnTo>
                    <a:pt x="78155" y="323367"/>
                  </a:lnTo>
                  <a:lnTo>
                    <a:pt x="849401" y="11722"/>
                  </a:lnTo>
                  <a:lnTo>
                    <a:pt x="1517688" y="319646"/>
                  </a:lnTo>
                  <a:lnTo>
                    <a:pt x="1503603" y="355434"/>
                  </a:lnTo>
                  <a:lnTo>
                    <a:pt x="1593443" y="3501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506836" y="2237057"/>
              <a:ext cx="382270" cy="274955"/>
            </a:xfrm>
            <a:custGeom>
              <a:avLst/>
              <a:gdLst/>
              <a:ahLst/>
              <a:cxnLst/>
              <a:rect l="l" t="t" r="r" b="b"/>
              <a:pathLst>
                <a:path w="382270" h="274955">
                  <a:moveTo>
                    <a:pt x="381847" y="0"/>
                  </a:moveTo>
                  <a:lnTo>
                    <a:pt x="0" y="0"/>
                  </a:lnTo>
                  <a:lnTo>
                    <a:pt x="0" y="274824"/>
                  </a:lnTo>
                  <a:lnTo>
                    <a:pt x="381847" y="274824"/>
                  </a:lnTo>
                  <a:lnTo>
                    <a:pt x="381847" y="0"/>
                  </a:lnTo>
                  <a:close/>
                </a:path>
              </a:pathLst>
            </a:custGeom>
            <a:solidFill>
              <a:srgbClr val="4D4D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506836" y="2237057"/>
              <a:ext cx="382270" cy="274955"/>
            </a:xfrm>
            <a:custGeom>
              <a:avLst/>
              <a:gdLst/>
              <a:ahLst/>
              <a:cxnLst/>
              <a:rect l="l" t="t" r="r" b="b"/>
              <a:pathLst>
                <a:path w="382270" h="274955">
                  <a:moveTo>
                    <a:pt x="0" y="274824"/>
                  </a:moveTo>
                  <a:lnTo>
                    <a:pt x="381847" y="274824"/>
                  </a:lnTo>
                  <a:lnTo>
                    <a:pt x="381847" y="0"/>
                  </a:lnTo>
                  <a:lnTo>
                    <a:pt x="0" y="0"/>
                  </a:lnTo>
                  <a:lnTo>
                    <a:pt x="0" y="274824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524719" y="2237057"/>
              <a:ext cx="382270" cy="274955"/>
            </a:xfrm>
            <a:custGeom>
              <a:avLst/>
              <a:gdLst/>
              <a:ahLst/>
              <a:cxnLst/>
              <a:rect l="l" t="t" r="r" b="b"/>
              <a:pathLst>
                <a:path w="382269" h="274955">
                  <a:moveTo>
                    <a:pt x="381847" y="0"/>
                  </a:moveTo>
                  <a:lnTo>
                    <a:pt x="0" y="0"/>
                  </a:lnTo>
                  <a:lnTo>
                    <a:pt x="0" y="274824"/>
                  </a:lnTo>
                  <a:lnTo>
                    <a:pt x="381847" y="274824"/>
                  </a:lnTo>
                  <a:lnTo>
                    <a:pt x="381847" y="0"/>
                  </a:lnTo>
                  <a:close/>
                </a:path>
              </a:pathLst>
            </a:custGeom>
            <a:solidFill>
              <a:srgbClr val="4D4D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524719" y="2237057"/>
              <a:ext cx="382270" cy="274955"/>
            </a:xfrm>
            <a:custGeom>
              <a:avLst/>
              <a:gdLst/>
              <a:ahLst/>
              <a:cxnLst/>
              <a:rect l="l" t="t" r="r" b="b"/>
              <a:pathLst>
                <a:path w="382269" h="274955">
                  <a:moveTo>
                    <a:pt x="0" y="274824"/>
                  </a:moveTo>
                  <a:lnTo>
                    <a:pt x="381847" y="274824"/>
                  </a:lnTo>
                  <a:lnTo>
                    <a:pt x="381847" y="0"/>
                  </a:lnTo>
                  <a:lnTo>
                    <a:pt x="0" y="0"/>
                  </a:lnTo>
                  <a:lnTo>
                    <a:pt x="0" y="274824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962463" y="2511882"/>
              <a:ext cx="739140" cy="323850"/>
            </a:xfrm>
            <a:custGeom>
              <a:avLst/>
              <a:gdLst/>
              <a:ahLst/>
              <a:cxnLst/>
              <a:rect l="l" t="t" r="r" b="b"/>
              <a:pathLst>
                <a:path w="739139" h="323850">
                  <a:moveTo>
                    <a:pt x="734628" y="0"/>
                  </a:moveTo>
                  <a:lnTo>
                    <a:pt x="0" y="313136"/>
                  </a:lnTo>
                  <a:lnTo>
                    <a:pt x="3962" y="323712"/>
                  </a:lnTo>
                  <a:lnTo>
                    <a:pt x="738591" y="10576"/>
                  </a:lnTo>
                  <a:lnTo>
                    <a:pt x="7346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962463" y="2511882"/>
              <a:ext cx="739140" cy="323850"/>
            </a:xfrm>
            <a:custGeom>
              <a:avLst/>
              <a:gdLst/>
              <a:ahLst/>
              <a:cxnLst/>
              <a:rect l="l" t="t" r="r" b="b"/>
              <a:pathLst>
                <a:path w="739139" h="323850">
                  <a:moveTo>
                    <a:pt x="738591" y="10576"/>
                  </a:moveTo>
                  <a:lnTo>
                    <a:pt x="734628" y="0"/>
                  </a:lnTo>
                  <a:lnTo>
                    <a:pt x="0" y="313136"/>
                  </a:lnTo>
                  <a:lnTo>
                    <a:pt x="3962" y="323712"/>
                  </a:lnTo>
                  <a:lnTo>
                    <a:pt x="738591" y="1057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92436" y="2789341"/>
              <a:ext cx="89855" cy="80604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697092" y="2511882"/>
              <a:ext cx="770890" cy="323850"/>
            </a:xfrm>
            <a:custGeom>
              <a:avLst/>
              <a:gdLst/>
              <a:ahLst/>
              <a:cxnLst/>
              <a:rect l="l" t="t" r="r" b="b"/>
              <a:pathLst>
                <a:path w="770889" h="323850">
                  <a:moveTo>
                    <a:pt x="3962" y="0"/>
                  </a:moveTo>
                  <a:lnTo>
                    <a:pt x="0" y="10576"/>
                  </a:lnTo>
                  <a:lnTo>
                    <a:pt x="767654" y="323712"/>
                  </a:lnTo>
                  <a:lnTo>
                    <a:pt x="770305" y="313136"/>
                  </a:lnTo>
                  <a:lnTo>
                    <a:pt x="39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5697092" y="2511882"/>
              <a:ext cx="770890" cy="323850"/>
            </a:xfrm>
            <a:custGeom>
              <a:avLst/>
              <a:gdLst/>
              <a:ahLst/>
              <a:cxnLst/>
              <a:rect l="l" t="t" r="r" b="b"/>
              <a:pathLst>
                <a:path w="770889" h="323850">
                  <a:moveTo>
                    <a:pt x="3962" y="0"/>
                  </a:moveTo>
                  <a:lnTo>
                    <a:pt x="0" y="10576"/>
                  </a:lnTo>
                  <a:lnTo>
                    <a:pt x="767654" y="323712"/>
                  </a:lnTo>
                  <a:lnTo>
                    <a:pt x="770305" y="313136"/>
                  </a:lnTo>
                  <a:lnTo>
                    <a:pt x="3962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1936750" y="2511881"/>
              <a:ext cx="4601210" cy="358140"/>
            </a:xfrm>
            <a:custGeom>
              <a:avLst/>
              <a:gdLst/>
              <a:ahLst/>
              <a:cxnLst/>
              <a:rect l="l" t="t" r="r" b="b"/>
              <a:pathLst>
                <a:path w="4601209" h="358139">
                  <a:moveTo>
                    <a:pt x="780872" y="10579"/>
                  </a:moveTo>
                  <a:lnTo>
                    <a:pt x="776909" y="0"/>
                  </a:lnTo>
                  <a:lnTo>
                    <a:pt x="0" y="314464"/>
                  </a:lnTo>
                  <a:lnTo>
                    <a:pt x="2641" y="325043"/>
                  </a:lnTo>
                  <a:lnTo>
                    <a:pt x="780872" y="10579"/>
                  </a:lnTo>
                  <a:close/>
                </a:path>
                <a:path w="4601209" h="358139">
                  <a:moveTo>
                    <a:pt x="4600664" y="350139"/>
                  </a:moveTo>
                  <a:lnTo>
                    <a:pt x="4541202" y="277469"/>
                  </a:lnTo>
                  <a:lnTo>
                    <a:pt x="4510811" y="358063"/>
                  </a:lnTo>
                  <a:lnTo>
                    <a:pt x="4600664" y="3501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1936760" y="2511882"/>
              <a:ext cx="781050" cy="325120"/>
            </a:xfrm>
            <a:custGeom>
              <a:avLst/>
              <a:gdLst/>
              <a:ahLst/>
              <a:cxnLst/>
              <a:rect l="l" t="t" r="r" b="b"/>
              <a:pathLst>
                <a:path w="781050" h="325119">
                  <a:moveTo>
                    <a:pt x="780867" y="10576"/>
                  </a:moveTo>
                  <a:lnTo>
                    <a:pt x="776904" y="0"/>
                  </a:lnTo>
                  <a:lnTo>
                    <a:pt x="0" y="314462"/>
                  </a:lnTo>
                  <a:lnTo>
                    <a:pt x="2636" y="325038"/>
                  </a:lnTo>
                  <a:lnTo>
                    <a:pt x="780867" y="1057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65406" y="2790667"/>
              <a:ext cx="91165" cy="80604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2712338" y="2511882"/>
              <a:ext cx="678180" cy="321310"/>
            </a:xfrm>
            <a:custGeom>
              <a:avLst/>
              <a:gdLst/>
              <a:ahLst/>
              <a:cxnLst/>
              <a:rect l="l" t="t" r="r" b="b"/>
              <a:pathLst>
                <a:path w="678179" h="321310">
                  <a:moveTo>
                    <a:pt x="5288" y="0"/>
                  </a:moveTo>
                  <a:lnTo>
                    <a:pt x="0" y="10576"/>
                  </a:lnTo>
                  <a:lnTo>
                    <a:pt x="673851" y="321061"/>
                  </a:lnTo>
                  <a:lnTo>
                    <a:pt x="677814" y="310499"/>
                  </a:lnTo>
                  <a:lnTo>
                    <a:pt x="52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712338" y="2511882"/>
              <a:ext cx="678180" cy="321310"/>
            </a:xfrm>
            <a:custGeom>
              <a:avLst/>
              <a:gdLst/>
              <a:ahLst/>
              <a:cxnLst/>
              <a:rect l="l" t="t" r="r" b="b"/>
              <a:pathLst>
                <a:path w="678179" h="321310">
                  <a:moveTo>
                    <a:pt x="5288" y="0"/>
                  </a:moveTo>
                  <a:lnTo>
                    <a:pt x="0" y="10576"/>
                  </a:lnTo>
                  <a:lnTo>
                    <a:pt x="673851" y="321061"/>
                  </a:lnTo>
                  <a:lnTo>
                    <a:pt x="677814" y="310499"/>
                  </a:lnTo>
                  <a:lnTo>
                    <a:pt x="5288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69015" y="2786705"/>
              <a:ext cx="89839" cy="80604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4700854" y="2865986"/>
              <a:ext cx="2030095" cy="276225"/>
            </a:xfrm>
            <a:custGeom>
              <a:avLst/>
              <a:gdLst/>
              <a:ahLst/>
              <a:cxnLst/>
              <a:rect l="l" t="t" r="r" b="b"/>
              <a:pathLst>
                <a:path w="2030095" h="276225">
                  <a:moveTo>
                    <a:pt x="1646300" y="276145"/>
                  </a:moveTo>
                  <a:lnTo>
                    <a:pt x="2029469" y="276145"/>
                  </a:lnTo>
                  <a:lnTo>
                    <a:pt x="2029469" y="0"/>
                  </a:lnTo>
                  <a:lnTo>
                    <a:pt x="1646300" y="0"/>
                  </a:lnTo>
                  <a:lnTo>
                    <a:pt x="1646300" y="276145"/>
                  </a:lnTo>
                  <a:close/>
                </a:path>
                <a:path w="2030095" h="276225">
                  <a:moveTo>
                    <a:pt x="0" y="276145"/>
                  </a:moveTo>
                  <a:lnTo>
                    <a:pt x="381847" y="276145"/>
                  </a:lnTo>
                  <a:lnTo>
                    <a:pt x="381847" y="0"/>
                  </a:lnTo>
                  <a:lnTo>
                    <a:pt x="0" y="0"/>
                  </a:lnTo>
                  <a:lnTo>
                    <a:pt x="0" y="276145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/>
          <p:cNvSpPr txBox="1"/>
          <p:nvPr/>
        </p:nvSpPr>
        <p:spPr>
          <a:xfrm>
            <a:off x="1820480" y="2914748"/>
            <a:ext cx="110489" cy="1987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530"/>
              </a:lnSpc>
            </a:pPr>
            <a:r>
              <a:rPr dirty="0" sz="1550" spc="5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55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412615" y="2926635"/>
            <a:ext cx="110489" cy="1987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530"/>
              </a:lnSpc>
            </a:pPr>
            <a:r>
              <a:rPr dirty="0" sz="1550" spc="5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550">
              <a:latin typeface="Arial"/>
              <a:cs typeface="Arial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1684385" y="2860271"/>
            <a:ext cx="5120005" cy="566420"/>
            <a:chOff x="1684385" y="2860271"/>
            <a:chExt cx="5120005" cy="566420"/>
          </a:xfrm>
        </p:grpSpPr>
        <p:pic>
          <p:nvPicPr>
            <p:cNvPr id="45" name="object 4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684385" y="3131555"/>
              <a:ext cx="446592" cy="294650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3150997" y="3143452"/>
              <a:ext cx="310515" cy="277495"/>
            </a:xfrm>
            <a:custGeom>
              <a:avLst/>
              <a:gdLst/>
              <a:ahLst/>
              <a:cxnLst/>
              <a:rect l="l" t="t" r="r" b="b"/>
              <a:pathLst>
                <a:path w="310514" h="277495">
                  <a:moveTo>
                    <a:pt x="310502" y="7937"/>
                  </a:moveTo>
                  <a:lnTo>
                    <a:pt x="303885" y="0"/>
                  </a:lnTo>
                  <a:lnTo>
                    <a:pt x="58839" y="217690"/>
                  </a:lnTo>
                  <a:lnTo>
                    <a:pt x="36995" y="188937"/>
                  </a:lnTo>
                  <a:lnTo>
                    <a:pt x="0" y="277469"/>
                  </a:lnTo>
                  <a:lnTo>
                    <a:pt x="87210" y="255003"/>
                  </a:lnTo>
                  <a:lnTo>
                    <a:pt x="65684" y="226707"/>
                  </a:lnTo>
                  <a:lnTo>
                    <a:pt x="310502" y="793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888473" y="3143443"/>
              <a:ext cx="225932" cy="277474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6125184" y="3142131"/>
              <a:ext cx="416559" cy="279400"/>
            </a:xfrm>
            <a:custGeom>
              <a:avLst/>
              <a:gdLst/>
              <a:ahLst/>
              <a:cxnLst/>
              <a:rect l="l" t="t" r="r" b="b"/>
              <a:pathLst>
                <a:path w="416559" h="279400">
                  <a:moveTo>
                    <a:pt x="416204" y="9258"/>
                  </a:moveTo>
                  <a:lnTo>
                    <a:pt x="409587" y="0"/>
                  </a:lnTo>
                  <a:lnTo>
                    <a:pt x="65011" y="228422"/>
                  </a:lnTo>
                  <a:lnTo>
                    <a:pt x="46253" y="195554"/>
                  </a:lnTo>
                  <a:lnTo>
                    <a:pt x="0" y="278790"/>
                  </a:lnTo>
                  <a:lnTo>
                    <a:pt x="88519" y="269544"/>
                  </a:lnTo>
                  <a:lnTo>
                    <a:pt x="70662" y="238302"/>
                  </a:lnTo>
                  <a:lnTo>
                    <a:pt x="416204" y="92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534774" y="3143443"/>
              <a:ext cx="269549" cy="277474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6347155" y="2865986"/>
              <a:ext cx="383540" cy="276225"/>
            </a:xfrm>
            <a:custGeom>
              <a:avLst/>
              <a:gdLst/>
              <a:ahLst/>
              <a:cxnLst/>
              <a:rect l="l" t="t" r="r" b="b"/>
              <a:pathLst>
                <a:path w="383540" h="276225">
                  <a:moveTo>
                    <a:pt x="383168" y="0"/>
                  </a:moveTo>
                  <a:lnTo>
                    <a:pt x="0" y="0"/>
                  </a:lnTo>
                  <a:lnTo>
                    <a:pt x="0" y="276145"/>
                  </a:lnTo>
                  <a:lnTo>
                    <a:pt x="383168" y="276145"/>
                  </a:lnTo>
                  <a:lnTo>
                    <a:pt x="383168" y="0"/>
                  </a:lnTo>
                  <a:close/>
                </a:path>
              </a:pathLst>
            </a:custGeom>
            <a:solidFill>
              <a:srgbClr val="4D4D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6347155" y="2865986"/>
              <a:ext cx="383540" cy="276225"/>
            </a:xfrm>
            <a:custGeom>
              <a:avLst/>
              <a:gdLst/>
              <a:ahLst/>
              <a:cxnLst/>
              <a:rect l="l" t="t" r="r" b="b"/>
              <a:pathLst>
                <a:path w="383540" h="276225">
                  <a:moveTo>
                    <a:pt x="0" y="276145"/>
                  </a:moveTo>
                  <a:lnTo>
                    <a:pt x="383168" y="276145"/>
                  </a:lnTo>
                  <a:lnTo>
                    <a:pt x="383168" y="0"/>
                  </a:lnTo>
                  <a:lnTo>
                    <a:pt x="0" y="0"/>
                  </a:lnTo>
                  <a:lnTo>
                    <a:pt x="0" y="276145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700854" y="2865986"/>
              <a:ext cx="382270" cy="276225"/>
            </a:xfrm>
            <a:custGeom>
              <a:avLst/>
              <a:gdLst/>
              <a:ahLst/>
              <a:cxnLst/>
              <a:rect l="l" t="t" r="r" b="b"/>
              <a:pathLst>
                <a:path w="382270" h="276225">
                  <a:moveTo>
                    <a:pt x="381847" y="0"/>
                  </a:moveTo>
                  <a:lnTo>
                    <a:pt x="0" y="0"/>
                  </a:lnTo>
                  <a:lnTo>
                    <a:pt x="0" y="276145"/>
                  </a:lnTo>
                  <a:lnTo>
                    <a:pt x="381847" y="276145"/>
                  </a:lnTo>
                  <a:lnTo>
                    <a:pt x="381847" y="0"/>
                  </a:lnTo>
                  <a:close/>
                </a:path>
              </a:pathLst>
            </a:custGeom>
            <a:solidFill>
              <a:srgbClr val="4D4D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700854" y="2865986"/>
              <a:ext cx="382270" cy="276225"/>
            </a:xfrm>
            <a:custGeom>
              <a:avLst/>
              <a:gdLst/>
              <a:ahLst/>
              <a:cxnLst/>
              <a:rect l="l" t="t" r="r" b="b"/>
              <a:pathLst>
                <a:path w="382270" h="276225">
                  <a:moveTo>
                    <a:pt x="0" y="276145"/>
                  </a:moveTo>
                  <a:lnTo>
                    <a:pt x="381847" y="276145"/>
                  </a:lnTo>
                  <a:lnTo>
                    <a:pt x="381847" y="0"/>
                  </a:lnTo>
                  <a:lnTo>
                    <a:pt x="0" y="0"/>
                  </a:lnTo>
                  <a:lnTo>
                    <a:pt x="0" y="276145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684385" y="3131555"/>
              <a:ext cx="446592" cy="294650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3206495" y="3143443"/>
              <a:ext cx="255270" cy="230504"/>
            </a:xfrm>
            <a:custGeom>
              <a:avLst/>
              <a:gdLst/>
              <a:ahLst/>
              <a:cxnLst/>
              <a:rect l="l" t="t" r="r" b="b"/>
              <a:pathLst>
                <a:path w="255270" h="230504">
                  <a:moveTo>
                    <a:pt x="248396" y="0"/>
                  </a:moveTo>
                  <a:lnTo>
                    <a:pt x="0" y="220659"/>
                  </a:lnTo>
                  <a:lnTo>
                    <a:pt x="6614" y="229910"/>
                  </a:lnTo>
                  <a:lnTo>
                    <a:pt x="255010" y="7940"/>
                  </a:lnTo>
                  <a:lnTo>
                    <a:pt x="248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206495" y="3143443"/>
              <a:ext cx="255270" cy="230504"/>
            </a:xfrm>
            <a:custGeom>
              <a:avLst/>
              <a:gdLst/>
              <a:ahLst/>
              <a:cxnLst/>
              <a:rect l="l" t="t" r="r" b="b"/>
              <a:pathLst>
                <a:path w="255270" h="230504">
                  <a:moveTo>
                    <a:pt x="255010" y="7940"/>
                  </a:moveTo>
                  <a:lnTo>
                    <a:pt x="248396" y="0"/>
                  </a:lnTo>
                  <a:lnTo>
                    <a:pt x="0" y="220659"/>
                  </a:lnTo>
                  <a:lnTo>
                    <a:pt x="6614" y="229910"/>
                  </a:lnTo>
                  <a:lnTo>
                    <a:pt x="255010" y="794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51007" y="3332388"/>
              <a:ext cx="87203" cy="88529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888473" y="3143443"/>
              <a:ext cx="225932" cy="277474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6185961" y="3142132"/>
              <a:ext cx="355600" cy="240665"/>
            </a:xfrm>
            <a:custGeom>
              <a:avLst/>
              <a:gdLst/>
              <a:ahLst/>
              <a:cxnLst/>
              <a:rect l="l" t="t" r="r" b="b"/>
              <a:pathLst>
                <a:path w="355600" h="240664">
                  <a:moveTo>
                    <a:pt x="348813" y="0"/>
                  </a:moveTo>
                  <a:lnTo>
                    <a:pt x="0" y="231221"/>
                  </a:lnTo>
                  <a:lnTo>
                    <a:pt x="6614" y="240471"/>
                  </a:lnTo>
                  <a:lnTo>
                    <a:pt x="355427" y="9250"/>
                  </a:lnTo>
                  <a:lnTo>
                    <a:pt x="3488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6185961" y="3142132"/>
              <a:ext cx="355600" cy="240665"/>
            </a:xfrm>
            <a:custGeom>
              <a:avLst/>
              <a:gdLst/>
              <a:ahLst/>
              <a:cxnLst/>
              <a:rect l="l" t="t" r="r" b="b"/>
              <a:pathLst>
                <a:path w="355600" h="240664">
                  <a:moveTo>
                    <a:pt x="355427" y="9250"/>
                  </a:moveTo>
                  <a:lnTo>
                    <a:pt x="348813" y="0"/>
                  </a:lnTo>
                  <a:lnTo>
                    <a:pt x="0" y="231221"/>
                  </a:lnTo>
                  <a:lnTo>
                    <a:pt x="6614" y="240471"/>
                  </a:lnTo>
                  <a:lnTo>
                    <a:pt x="355427" y="925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1" name="object 6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125184" y="3337676"/>
              <a:ext cx="88529" cy="83240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534774" y="3143443"/>
              <a:ext cx="269549" cy="277474"/>
            </a:xfrm>
            <a:prstGeom prst="rect">
              <a:avLst/>
            </a:prstGeom>
          </p:spPr>
        </p:pic>
      </p:grpSp>
      <p:sp>
        <p:nvSpPr>
          <p:cNvPr id="63" name="object 63"/>
          <p:cNvSpPr txBox="1"/>
          <p:nvPr/>
        </p:nvSpPr>
        <p:spPr>
          <a:xfrm>
            <a:off x="1511299" y="3488178"/>
            <a:ext cx="110489" cy="1987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530"/>
              </a:lnSpc>
            </a:pPr>
            <a:r>
              <a:rPr dirty="0" sz="1550" spc="5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55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2086062" y="3488178"/>
            <a:ext cx="110489" cy="1987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530"/>
              </a:lnSpc>
            </a:pPr>
            <a:r>
              <a:rPr dirty="0" sz="1550" spc="5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55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104755" y="3488178"/>
            <a:ext cx="110489" cy="1987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530"/>
              </a:lnSpc>
            </a:pPr>
            <a:r>
              <a:rPr dirty="0" sz="1550" spc="5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550">
              <a:latin typeface="Arial"/>
              <a:cs typeface="Arial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1418818" y="3704991"/>
            <a:ext cx="144145" cy="236854"/>
            <a:chOff x="1418818" y="3704991"/>
            <a:chExt cx="144145" cy="236854"/>
          </a:xfrm>
        </p:grpSpPr>
        <p:pic>
          <p:nvPicPr>
            <p:cNvPr id="67" name="object 6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18818" y="3704991"/>
              <a:ext cx="144013" cy="236509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418818" y="3704991"/>
              <a:ext cx="144013" cy="236509"/>
            </a:xfrm>
            <a:prstGeom prst="rect">
              <a:avLst/>
            </a:prstGeom>
          </p:spPr>
        </p:pic>
      </p:grpSp>
      <p:sp>
        <p:nvSpPr>
          <p:cNvPr id="69" name="object 69"/>
          <p:cNvSpPr txBox="1"/>
          <p:nvPr/>
        </p:nvSpPr>
        <p:spPr>
          <a:xfrm>
            <a:off x="1342186" y="3945339"/>
            <a:ext cx="110489" cy="1987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530"/>
              </a:lnSpc>
            </a:pPr>
            <a:r>
              <a:rPr dirty="0" sz="1550" spc="5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55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839185" y="3945339"/>
            <a:ext cx="110489" cy="1987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530"/>
              </a:lnSpc>
            </a:pPr>
            <a:r>
              <a:rPr dirty="0" sz="1550" spc="5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55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359758" y="3945339"/>
            <a:ext cx="110489" cy="1987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530"/>
              </a:lnSpc>
            </a:pPr>
            <a:r>
              <a:rPr dirty="0" sz="1550" spc="5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550">
              <a:latin typeface="Arial"/>
              <a:cs typeface="Arial"/>
            </a:endParaRPr>
          </a:p>
        </p:txBody>
      </p:sp>
      <p:graphicFrame>
        <p:nvGraphicFramePr>
          <p:cNvPr id="72" name="object 72"/>
          <p:cNvGraphicFramePr>
            <a:graphicFrameLocks noGrp="1"/>
          </p:cNvGraphicFramePr>
          <p:nvPr/>
        </p:nvGraphicFramePr>
        <p:xfrm>
          <a:off x="1135380" y="1915325"/>
          <a:ext cx="5931535" cy="23107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594"/>
                <a:gridCol w="169545"/>
                <a:gridCol w="214629"/>
                <a:gridCol w="42545"/>
                <a:gridCol w="54609"/>
                <a:gridCol w="74929"/>
                <a:gridCol w="191134"/>
                <a:gridCol w="118744"/>
                <a:gridCol w="266700"/>
                <a:gridCol w="203200"/>
                <a:gridCol w="168909"/>
                <a:gridCol w="118109"/>
                <a:gridCol w="149225"/>
                <a:gridCol w="120014"/>
                <a:gridCol w="147955"/>
                <a:gridCol w="53339"/>
                <a:gridCol w="74930"/>
                <a:gridCol w="255905"/>
                <a:gridCol w="53975"/>
                <a:gridCol w="1052830"/>
                <a:gridCol w="606425"/>
                <a:gridCol w="201929"/>
                <a:gridCol w="1217929"/>
                <a:gridCol w="272414"/>
                <a:gridCol w="63500"/>
              </a:tblGrid>
              <a:tr h="321732">
                <a:tc gridSpan="10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3975">
                        <a:lnSpc>
                          <a:spcPts val="919"/>
                        </a:lnSpc>
                      </a:pPr>
                      <a:r>
                        <a:rPr dirty="0" sz="15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T w="12700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ts val="1814"/>
                        </a:lnSpc>
                      </a:pPr>
                      <a:r>
                        <a:rPr dirty="0" sz="1550" spc="5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elements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 row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</a:tr>
              <a:tr h="274824">
                <a:tc gridSpan="10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5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8415"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5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8415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</a:tr>
              <a:tr h="35410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</a:tr>
              <a:tr h="27019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5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8415"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5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8415"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5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8415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71120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5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8415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</a:tr>
              <a:tr h="2900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FFFFFF"/>
                      </a:solidFill>
                      <a:prstDash val="solid"/>
                    </a:lnR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</a:tr>
              <a:tr h="2761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7E00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5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9685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 marL="285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5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9685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 marL="2730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5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9685"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5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9685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5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9685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5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9685">
                    <a:solidFill>
                      <a:srgbClr val="4D4D4D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</a:tr>
              <a:tr h="1823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</a:tr>
              <a:tr h="27482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5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8415"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5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8415"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55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18415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4D4D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226695">
                        <a:lnSpc>
                          <a:spcPct val="100000"/>
                        </a:lnSpc>
                      </a:pPr>
                      <a:r>
                        <a:rPr dirty="0" sz="1550" spc="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5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</a:tr>
              <a:tr h="660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grpSp>
        <p:nvGrpSpPr>
          <p:cNvPr id="73" name="object 73"/>
          <p:cNvGrpSpPr/>
          <p:nvPr/>
        </p:nvGrpSpPr>
        <p:grpSpPr>
          <a:xfrm>
            <a:off x="2885434" y="3420694"/>
            <a:ext cx="4114800" cy="744855"/>
            <a:chOff x="2885434" y="3420694"/>
            <a:chExt cx="4114800" cy="744855"/>
          </a:xfrm>
        </p:grpSpPr>
        <p:sp>
          <p:nvSpPr>
            <p:cNvPr id="74" name="object 74"/>
            <p:cNvSpPr/>
            <p:nvPr/>
          </p:nvSpPr>
          <p:spPr>
            <a:xfrm>
              <a:off x="4922824" y="3426209"/>
              <a:ext cx="2072005" cy="276225"/>
            </a:xfrm>
            <a:custGeom>
              <a:avLst/>
              <a:gdLst/>
              <a:ahLst/>
              <a:cxnLst/>
              <a:rect l="l" t="t" r="r" b="b"/>
              <a:pathLst>
                <a:path w="2072004" h="276225">
                  <a:moveTo>
                    <a:pt x="0" y="276145"/>
                  </a:moveTo>
                  <a:lnTo>
                    <a:pt x="383168" y="276145"/>
                  </a:lnTo>
                  <a:lnTo>
                    <a:pt x="383168" y="0"/>
                  </a:lnTo>
                  <a:lnTo>
                    <a:pt x="0" y="0"/>
                  </a:lnTo>
                  <a:lnTo>
                    <a:pt x="0" y="276145"/>
                  </a:lnTo>
                  <a:close/>
                </a:path>
                <a:path w="2072004" h="276225">
                  <a:moveTo>
                    <a:pt x="1009451" y="276145"/>
                  </a:moveTo>
                  <a:lnTo>
                    <a:pt x="1391299" y="276145"/>
                  </a:lnTo>
                  <a:lnTo>
                    <a:pt x="1391299" y="0"/>
                  </a:lnTo>
                  <a:lnTo>
                    <a:pt x="1009451" y="0"/>
                  </a:lnTo>
                  <a:lnTo>
                    <a:pt x="1009451" y="276145"/>
                  </a:lnTo>
                  <a:close/>
                </a:path>
                <a:path w="2072004" h="276225">
                  <a:moveTo>
                    <a:pt x="1688591" y="276145"/>
                  </a:moveTo>
                  <a:lnTo>
                    <a:pt x="2071760" y="276145"/>
                  </a:lnTo>
                  <a:lnTo>
                    <a:pt x="2071760" y="0"/>
                  </a:lnTo>
                  <a:lnTo>
                    <a:pt x="1688591" y="0"/>
                  </a:lnTo>
                  <a:lnTo>
                    <a:pt x="1688591" y="276145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885427" y="3702354"/>
              <a:ext cx="520700" cy="178435"/>
            </a:xfrm>
            <a:custGeom>
              <a:avLst/>
              <a:gdLst/>
              <a:ahLst/>
              <a:cxnLst/>
              <a:rect l="l" t="t" r="r" b="b"/>
              <a:pathLst>
                <a:path w="520700" h="178435">
                  <a:moveTo>
                    <a:pt x="520573" y="178371"/>
                  </a:moveTo>
                  <a:lnTo>
                    <a:pt x="473011" y="93802"/>
                  </a:lnTo>
                  <a:lnTo>
                    <a:pt x="454253" y="126619"/>
                  </a:lnTo>
                  <a:lnTo>
                    <a:pt x="268211" y="0"/>
                  </a:lnTo>
                  <a:lnTo>
                    <a:pt x="265569" y="4622"/>
                  </a:lnTo>
                  <a:lnTo>
                    <a:pt x="262928" y="0"/>
                  </a:lnTo>
                  <a:lnTo>
                    <a:pt x="65925" y="128320"/>
                  </a:lnTo>
                  <a:lnTo>
                    <a:pt x="47561" y="95135"/>
                  </a:lnTo>
                  <a:lnTo>
                    <a:pt x="0" y="178371"/>
                  </a:lnTo>
                  <a:lnTo>
                    <a:pt x="88519" y="169125"/>
                  </a:lnTo>
                  <a:lnTo>
                    <a:pt x="71424" y="138264"/>
                  </a:lnTo>
                  <a:lnTo>
                    <a:pt x="265518" y="11010"/>
                  </a:lnTo>
                  <a:lnTo>
                    <a:pt x="448970" y="135864"/>
                  </a:lnTo>
                  <a:lnTo>
                    <a:pt x="430733" y="167792"/>
                  </a:lnTo>
                  <a:lnTo>
                    <a:pt x="520573" y="1783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858286" y="3702354"/>
              <a:ext cx="268223" cy="178368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4922824" y="3426209"/>
              <a:ext cx="383540" cy="276225"/>
            </a:xfrm>
            <a:custGeom>
              <a:avLst/>
              <a:gdLst/>
              <a:ahLst/>
              <a:cxnLst/>
              <a:rect l="l" t="t" r="r" b="b"/>
              <a:pathLst>
                <a:path w="383539" h="276225">
                  <a:moveTo>
                    <a:pt x="383168" y="0"/>
                  </a:moveTo>
                  <a:lnTo>
                    <a:pt x="0" y="0"/>
                  </a:lnTo>
                  <a:lnTo>
                    <a:pt x="0" y="276145"/>
                  </a:lnTo>
                  <a:lnTo>
                    <a:pt x="383168" y="276145"/>
                  </a:lnTo>
                  <a:lnTo>
                    <a:pt x="383168" y="0"/>
                  </a:lnTo>
                  <a:close/>
                </a:path>
              </a:pathLst>
            </a:custGeom>
            <a:solidFill>
              <a:srgbClr val="4D4D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922824" y="3426209"/>
              <a:ext cx="383540" cy="276225"/>
            </a:xfrm>
            <a:custGeom>
              <a:avLst/>
              <a:gdLst/>
              <a:ahLst/>
              <a:cxnLst/>
              <a:rect l="l" t="t" r="r" b="b"/>
              <a:pathLst>
                <a:path w="383539" h="276225">
                  <a:moveTo>
                    <a:pt x="0" y="276145"/>
                  </a:moveTo>
                  <a:lnTo>
                    <a:pt x="383168" y="276145"/>
                  </a:lnTo>
                  <a:lnTo>
                    <a:pt x="383168" y="0"/>
                  </a:lnTo>
                  <a:lnTo>
                    <a:pt x="0" y="0"/>
                  </a:lnTo>
                  <a:lnTo>
                    <a:pt x="0" y="276145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5932276" y="3426209"/>
              <a:ext cx="382270" cy="276225"/>
            </a:xfrm>
            <a:custGeom>
              <a:avLst/>
              <a:gdLst/>
              <a:ahLst/>
              <a:cxnLst/>
              <a:rect l="l" t="t" r="r" b="b"/>
              <a:pathLst>
                <a:path w="382270" h="276225">
                  <a:moveTo>
                    <a:pt x="381847" y="0"/>
                  </a:moveTo>
                  <a:lnTo>
                    <a:pt x="0" y="0"/>
                  </a:lnTo>
                  <a:lnTo>
                    <a:pt x="0" y="276145"/>
                  </a:lnTo>
                  <a:lnTo>
                    <a:pt x="381847" y="276145"/>
                  </a:lnTo>
                  <a:lnTo>
                    <a:pt x="381847" y="0"/>
                  </a:lnTo>
                  <a:close/>
                </a:path>
              </a:pathLst>
            </a:custGeom>
            <a:solidFill>
              <a:srgbClr val="4D4D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5932276" y="3426209"/>
              <a:ext cx="382270" cy="276225"/>
            </a:xfrm>
            <a:custGeom>
              <a:avLst/>
              <a:gdLst/>
              <a:ahLst/>
              <a:cxnLst/>
              <a:rect l="l" t="t" r="r" b="b"/>
              <a:pathLst>
                <a:path w="382270" h="276225">
                  <a:moveTo>
                    <a:pt x="0" y="276145"/>
                  </a:moveTo>
                  <a:lnTo>
                    <a:pt x="381847" y="276145"/>
                  </a:lnTo>
                  <a:lnTo>
                    <a:pt x="381847" y="0"/>
                  </a:lnTo>
                  <a:lnTo>
                    <a:pt x="0" y="0"/>
                  </a:lnTo>
                  <a:lnTo>
                    <a:pt x="0" y="276145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6611416" y="3426209"/>
              <a:ext cx="383540" cy="276225"/>
            </a:xfrm>
            <a:custGeom>
              <a:avLst/>
              <a:gdLst/>
              <a:ahLst/>
              <a:cxnLst/>
              <a:rect l="l" t="t" r="r" b="b"/>
              <a:pathLst>
                <a:path w="383540" h="276225">
                  <a:moveTo>
                    <a:pt x="383168" y="0"/>
                  </a:moveTo>
                  <a:lnTo>
                    <a:pt x="0" y="0"/>
                  </a:lnTo>
                  <a:lnTo>
                    <a:pt x="0" y="276145"/>
                  </a:lnTo>
                  <a:lnTo>
                    <a:pt x="383168" y="276145"/>
                  </a:lnTo>
                  <a:lnTo>
                    <a:pt x="383168" y="0"/>
                  </a:lnTo>
                  <a:close/>
                </a:path>
              </a:pathLst>
            </a:custGeom>
            <a:solidFill>
              <a:srgbClr val="4D4D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6611416" y="3426209"/>
              <a:ext cx="383540" cy="276225"/>
            </a:xfrm>
            <a:custGeom>
              <a:avLst/>
              <a:gdLst/>
              <a:ahLst/>
              <a:cxnLst/>
              <a:rect l="l" t="t" r="r" b="b"/>
              <a:pathLst>
                <a:path w="383540" h="276225">
                  <a:moveTo>
                    <a:pt x="0" y="276145"/>
                  </a:moveTo>
                  <a:lnTo>
                    <a:pt x="383168" y="276145"/>
                  </a:lnTo>
                  <a:lnTo>
                    <a:pt x="383168" y="0"/>
                  </a:lnTo>
                  <a:lnTo>
                    <a:pt x="0" y="0"/>
                  </a:lnTo>
                  <a:lnTo>
                    <a:pt x="0" y="276145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947522" y="3702354"/>
              <a:ext cx="206375" cy="140335"/>
            </a:xfrm>
            <a:custGeom>
              <a:avLst/>
              <a:gdLst/>
              <a:ahLst/>
              <a:cxnLst/>
              <a:rect l="l" t="t" r="r" b="b"/>
              <a:pathLst>
                <a:path w="206375" h="140335">
                  <a:moveTo>
                    <a:pt x="200832" y="0"/>
                  </a:moveTo>
                  <a:lnTo>
                    <a:pt x="0" y="130804"/>
                  </a:lnTo>
                  <a:lnTo>
                    <a:pt x="6614" y="140040"/>
                  </a:lnTo>
                  <a:lnTo>
                    <a:pt x="206120" y="9235"/>
                  </a:lnTo>
                  <a:lnTo>
                    <a:pt x="2008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947522" y="3702354"/>
              <a:ext cx="206375" cy="140335"/>
            </a:xfrm>
            <a:custGeom>
              <a:avLst/>
              <a:gdLst/>
              <a:ahLst/>
              <a:cxnLst/>
              <a:rect l="l" t="t" r="r" b="b"/>
              <a:pathLst>
                <a:path w="206375" h="140335">
                  <a:moveTo>
                    <a:pt x="206120" y="9235"/>
                  </a:moveTo>
                  <a:lnTo>
                    <a:pt x="200832" y="0"/>
                  </a:lnTo>
                  <a:lnTo>
                    <a:pt x="0" y="130804"/>
                  </a:lnTo>
                  <a:lnTo>
                    <a:pt x="6614" y="140040"/>
                  </a:lnTo>
                  <a:lnTo>
                    <a:pt x="206120" y="923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885434" y="3797482"/>
              <a:ext cx="88900" cy="83820"/>
            </a:xfrm>
            <a:custGeom>
              <a:avLst/>
              <a:gdLst/>
              <a:ahLst/>
              <a:cxnLst/>
              <a:rect l="l" t="t" r="r" b="b"/>
              <a:pathLst>
                <a:path w="88900" h="83820">
                  <a:moveTo>
                    <a:pt x="47564" y="0"/>
                  </a:moveTo>
                  <a:lnTo>
                    <a:pt x="0" y="83240"/>
                  </a:lnTo>
                  <a:lnTo>
                    <a:pt x="88513" y="73990"/>
                  </a:lnTo>
                  <a:lnTo>
                    <a:pt x="475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885434" y="3797482"/>
              <a:ext cx="88900" cy="83820"/>
            </a:xfrm>
            <a:custGeom>
              <a:avLst/>
              <a:gdLst/>
              <a:ahLst/>
              <a:cxnLst/>
              <a:rect l="l" t="t" r="r" b="b"/>
              <a:pathLst>
                <a:path w="88900" h="83820">
                  <a:moveTo>
                    <a:pt x="47564" y="0"/>
                  </a:moveTo>
                  <a:lnTo>
                    <a:pt x="0" y="83240"/>
                  </a:lnTo>
                  <a:lnTo>
                    <a:pt x="88513" y="73990"/>
                  </a:lnTo>
                  <a:lnTo>
                    <a:pt x="4756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3148355" y="3702354"/>
              <a:ext cx="195580" cy="139065"/>
            </a:xfrm>
            <a:custGeom>
              <a:avLst/>
              <a:gdLst/>
              <a:ahLst/>
              <a:cxnLst/>
              <a:rect l="l" t="t" r="r" b="b"/>
              <a:pathLst>
                <a:path w="195579" h="139064">
                  <a:moveTo>
                    <a:pt x="5288" y="0"/>
                  </a:moveTo>
                  <a:lnTo>
                    <a:pt x="0" y="9235"/>
                  </a:lnTo>
                  <a:lnTo>
                    <a:pt x="190271" y="138729"/>
                  </a:lnTo>
                  <a:lnTo>
                    <a:pt x="195559" y="129479"/>
                  </a:lnTo>
                  <a:lnTo>
                    <a:pt x="52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3148355" y="3702354"/>
              <a:ext cx="195580" cy="139065"/>
            </a:xfrm>
            <a:custGeom>
              <a:avLst/>
              <a:gdLst/>
              <a:ahLst/>
              <a:cxnLst/>
              <a:rect l="l" t="t" r="r" b="b"/>
              <a:pathLst>
                <a:path w="195579" h="139064">
                  <a:moveTo>
                    <a:pt x="5288" y="0"/>
                  </a:moveTo>
                  <a:lnTo>
                    <a:pt x="0" y="9235"/>
                  </a:lnTo>
                  <a:lnTo>
                    <a:pt x="190271" y="138729"/>
                  </a:lnTo>
                  <a:lnTo>
                    <a:pt x="195559" y="129479"/>
                  </a:lnTo>
                  <a:lnTo>
                    <a:pt x="5288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316163" y="3796157"/>
              <a:ext cx="90170" cy="85090"/>
            </a:xfrm>
            <a:custGeom>
              <a:avLst/>
              <a:gdLst/>
              <a:ahLst/>
              <a:cxnLst/>
              <a:rect l="l" t="t" r="r" b="b"/>
              <a:pathLst>
                <a:path w="90170" h="85089">
                  <a:moveTo>
                    <a:pt x="42275" y="0"/>
                  </a:moveTo>
                  <a:lnTo>
                    <a:pt x="0" y="73990"/>
                  </a:lnTo>
                  <a:lnTo>
                    <a:pt x="89839" y="84566"/>
                  </a:lnTo>
                  <a:lnTo>
                    <a:pt x="42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3316163" y="3796157"/>
              <a:ext cx="90170" cy="85090"/>
            </a:xfrm>
            <a:custGeom>
              <a:avLst/>
              <a:gdLst/>
              <a:ahLst/>
              <a:cxnLst/>
              <a:rect l="l" t="t" r="r" b="b"/>
              <a:pathLst>
                <a:path w="90170" h="85089">
                  <a:moveTo>
                    <a:pt x="0" y="73990"/>
                  </a:moveTo>
                  <a:lnTo>
                    <a:pt x="89839" y="84566"/>
                  </a:lnTo>
                  <a:lnTo>
                    <a:pt x="42275" y="0"/>
                  </a:lnTo>
                  <a:lnTo>
                    <a:pt x="0" y="739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1" name="object 9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858286" y="3702354"/>
              <a:ext cx="268223" cy="178368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5666704" y="3884684"/>
              <a:ext cx="383540" cy="274955"/>
            </a:xfrm>
            <a:custGeom>
              <a:avLst/>
              <a:gdLst/>
              <a:ahLst/>
              <a:cxnLst/>
              <a:rect l="l" t="t" r="r" b="b"/>
              <a:pathLst>
                <a:path w="383539" h="274954">
                  <a:moveTo>
                    <a:pt x="0" y="274824"/>
                  </a:moveTo>
                  <a:lnTo>
                    <a:pt x="383168" y="274824"/>
                  </a:lnTo>
                  <a:lnTo>
                    <a:pt x="383168" y="0"/>
                  </a:lnTo>
                  <a:lnTo>
                    <a:pt x="0" y="0"/>
                  </a:lnTo>
                  <a:lnTo>
                    <a:pt x="0" y="274824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5666704" y="3884684"/>
              <a:ext cx="383540" cy="274955"/>
            </a:xfrm>
            <a:custGeom>
              <a:avLst/>
              <a:gdLst/>
              <a:ahLst/>
              <a:cxnLst/>
              <a:rect l="l" t="t" r="r" b="b"/>
              <a:pathLst>
                <a:path w="383539" h="274954">
                  <a:moveTo>
                    <a:pt x="383168" y="0"/>
                  </a:moveTo>
                  <a:lnTo>
                    <a:pt x="0" y="0"/>
                  </a:lnTo>
                  <a:lnTo>
                    <a:pt x="0" y="274824"/>
                  </a:lnTo>
                  <a:lnTo>
                    <a:pt x="383168" y="274824"/>
                  </a:lnTo>
                  <a:lnTo>
                    <a:pt x="383168" y="0"/>
                  </a:lnTo>
                  <a:close/>
                </a:path>
              </a:pathLst>
            </a:custGeom>
            <a:solidFill>
              <a:srgbClr val="4D4D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5666704" y="3884684"/>
              <a:ext cx="383540" cy="274955"/>
            </a:xfrm>
            <a:custGeom>
              <a:avLst/>
              <a:gdLst/>
              <a:ahLst/>
              <a:cxnLst/>
              <a:rect l="l" t="t" r="r" b="b"/>
              <a:pathLst>
                <a:path w="383539" h="274954">
                  <a:moveTo>
                    <a:pt x="0" y="274824"/>
                  </a:moveTo>
                  <a:lnTo>
                    <a:pt x="383168" y="274824"/>
                  </a:lnTo>
                  <a:lnTo>
                    <a:pt x="383168" y="0"/>
                  </a:lnTo>
                  <a:lnTo>
                    <a:pt x="0" y="0"/>
                  </a:lnTo>
                  <a:lnTo>
                    <a:pt x="0" y="274824"/>
                  </a:lnTo>
                  <a:close/>
                </a:path>
              </a:pathLst>
            </a:custGeom>
            <a:ln w="110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5" name="object 95"/>
          <p:cNvSpPr txBox="1"/>
          <p:nvPr/>
        </p:nvSpPr>
        <p:spPr>
          <a:xfrm>
            <a:off x="3287711" y="4290759"/>
            <a:ext cx="16541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4.6: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Quicksort</a:t>
            </a:r>
            <a:r>
              <a:rPr dirty="0" sz="1200" spc="-5">
                <a:latin typeface="Times New Roman"/>
                <a:cs typeface="Times New Roman"/>
              </a:rPr>
              <a:t> BST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863599" y="4994198"/>
            <a:ext cx="6430010" cy="11772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5969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4.3.3	Analysis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of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Quicksort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50">
              <a:latin typeface="Times New Roman"/>
              <a:cs typeface="Times New Roman"/>
            </a:endParaRPr>
          </a:p>
          <a:p>
            <a:pPr marL="50800" marR="431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running time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quicksort </a:t>
            </a:r>
            <a:r>
              <a:rPr dirty="0" sz="1200" spc="-5">
                <a:latin typeface="Times New Roman"/>
                <a:cs typeface="Times New Roman"/>
              </a:rPr>
              <a:t>depends </a:t>
            </a:r>
            <a:r>
              <a:rPr dirty="0" sz="1200" spc="-10">
                <a:latin typeface="Times New Roman"/>
                <a:cs typeface="Times New Roman"/>
              </a:rPr>
              <a:t>heavily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selection 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pivot.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rank 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pivot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(BST)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unbalanced.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pivot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chosen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randomly 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expected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O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-17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O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baseline="31250" sz="1200" spc="60">
                <a:latin typeface="Verdana"/>
                <a:cs typeface="Verdana"/>
              </a:rPr>
              <a:t>2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5"/>
              </a:spcBef>
            </a:pPr>
            <a:r>
              <a:rPr dirty="0" sz="1200" spc="-15">
                <a:latin typeface="Times New Roman"/>
                <a:cs typeface="Times New Roman"/>
              </a:rPr>
              <a:t>Luckily,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happens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rarely.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01704" y="6634060"/>
            <a:ext cx="6384290" cy="234950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4.3.4	</a:t>
            </a:r>
            <a:r>
              <a:rPr dirty="0" sz="1400" spc="-5" b="1">
                <a:latin typeface="Times New Roman"/>
                <a:cs typeface="Times New Roman"/>
              </a:rPr>
              <a:t>Worst </a:t>
            </a:r>
            <a:r>
              <a:rPr dirty="0" sz="1400" spc="15" b="1">
                <a:latin typeface="Times New Roman"/>
                <a:cs typeface="Times New Roman"/>
              </a:rPr>
              <a:t>Case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Analysis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of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Quick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Sort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20">
                <a:latin typeface="Times New Roman"/>
                <a:cs typeface="Times New Roman"/>
              </a:rPr>
              <a:t>Let’s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begin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considering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worst-case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performance,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easier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average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is a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program,</a:t>
            </a:r>
            <a:r>
              <a:rPr dirty="0" sz="1200" spc="-5">
                <a:latin typeface="Times New Roman"/>
                <a:cs typeface="Times New Roman"/>
              </a:rPr>
              <a:t> it is natural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use a recurrence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describe its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 </a:t>
            </a:r>
            <a:r>
              <a:rPr dirty="0" sz="1200" spc="-10">
                <a:latin typeface="Times New Roman"/>
                <a:cs typeface="Times New Roman"/>
              </a:rPr>
              <a:t>unlike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MergeSort, where we </a:t>
            </a:r>
            <a:r>
              <a:rPr dirty="0" sz="1200" spc="-5">
                <a:latin typeface="Times New Roman"/>
                <a:cs typeface="Times New Roman"/>
              </a:rPr>
              <a:t>had </a:t>
            </a:r>
            <a:r>
              <a:rPr dirty="0" sz="1200" spc="-10">
                <a:latin typeface="Times New Roman"/>
                <a:cs typeface="Times New Roman"/>
              </a:rPr>
              <a:t>control </a:t>
            </a:r>
            <a:r>
              <a:rPr dirty="0" sz="1200" spc="-15">
                <a:latin typeface="Times New Roman"/>
                <a:cs typeface="Times New Roman"/>
              </a:rPr>
              <a:t>over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sizes of </a:t>
            </a:r>
            <a:r>
              <a:rPr dirty="0" sz="1200" spc="-10">
                <a:latin typeface="Times New Roman"/>
                <a:cs typeface="Times New Roman"/>
              </a:rPr>
              <a:t>the recursive </a:t>
            </a:r>
            <a:r>
              <a:rPr dirty="0" sz="1200" spc="-5">
                <a:latin typeface="Times New Roman"/>
                <a:cs typeface="Times New Roman"/>
              </a:rPr>
              <a:t>calls, here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 spc="-10">
                <a:latin typeface="Times New Roman"/>
                <a:cs typeface="Times New Roman"/>
              </a:rPr>
              <a:t>not.</a:t>
            </a:r>
            <a:r>
              <a:rPr dirty="0" sz="1200" spc="-5">
                <a:latin typeface="Times New Roman"/>
                <a:cs typeface="Times New Roman"/>
              </a:rPr>
              <a:t> It depends on </a:t>
            </a:r>
            <a:r>
              <a:rPr dirty="0" sz="1200" spc="-15">
                <a:latin typeface="Times New Roman"/>
                <a:cs typeface="Times New Roman"/>
              </a:rPr>
              <a:t>how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pivot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chosen.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 spc="-5">
                <a:latin typeface="Times New Roman"/>
                <a:cs typeface="Times New Roman"/>
              </a:rPr>
              <a:t>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size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A</a:t>
            </a:r>
            <a:r>
              <a:rPr dirty="0" sz="1200" spc="-25">
                <a:latin typeface="Garamond"/>
                <a:cs typeface="Garamond"/>
              </a:rPr>
              <a:t>[</a:t>
            </a:r>
            <a:r>
              <a:rPr dirty="0" sz="1200" spc="-25">
                <a:latin typeface="Lucida Sans Unicode"/>
                <a:cs typeface="Lucida Sans Unicode"/>
              </a:rPr>
              <a:t>1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Garamond"/>
                <a:cs typeface="Garamond"/>
              </a:rPr>
              <a:t>: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1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further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suppose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pivot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select is of rank </a:t>
            </a:r>
            <a:r>
              <a:rPr dirty="0" sz="1200" spc="-20">
                <a:latin typeface="Lucida Sans Unicode"/>
                <a:cs typeface="Lucida Sans Unicode"/>
              </a:rPr>
              <a:t>q</a:t>
            </a:r>
            <a:r>
              <a:rPr dirty="0" sz="1200" spc="-20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 spc="-35">
                <a:latin typeface="Lucida Sans Unicode"/>
                <a:cs typeface="Lucida Sans Unicode"/>
              </a:rPr>
              <a:t>q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range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 spc="-10">
                <a:latin typeface="Times New Roman"/>
                <a:cs typeface="Times New Roman"/>
              </a:rPr>
              <a:t>takes </a:t>
            </a:r>
            <a:r>
              <a:rPr dirty="0" sz="1200" spc="60">
                <a:latin typeface="Lucida Sans Unicode"/>
                <a:cs typeface="Lucida Sans Unicode"/>
              </a:rPr>
              <a:t>Θ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60">
                <a:latin typeface="Garamond"/>
                <a:cs typeface="Garamond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to do </a:t>
            </a:r>
            <a:r>
              <a:rPr dirty="0" sz="1200" spc="-10">
                <a:latin typeface="Times New Roman"/>
                <a:cs typeface="Times New Roman"/>
              </a:rPr>
              <a:t>the partitioning 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overhead,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subarray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A</a:t>
            </a:r>
            <a:r>
              <a:rPr dirty="0" sz="1200" spc="-25">
                <a:latin typeface="Garamond"/>
                <a:cs typeface="Garamond"/>
              </a:rPr>
              <a:t>[</a:t>
            </a:r>
            <a:r>
              <a:rPr dirty="0" sz="1200" spc="-25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Garamond"/>
                <a:cs typeface="Garamond"/>
              </a:rPr>
              <a:t>:</a:t>
            </a:r>
            <a:r>
              <a:rPr dirty="0" sz="1200" spc="4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20">
                <a:latin typeface="Garamond"/>
                <a:cs typeface="Garamond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1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 </a:t>
            </a:r>
            <a:r>
              <a:rPr dirty="0" sz="1200" spc="-5">
                <a:latin typeface="Times New Roman"/>
                <a:cs typeface="Times New Roman"/>
              </a:rPr>
              <a:t>elements, and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other is to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subarray 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q </a:t>
            </a:r>
            <a:r>
              <a:rPr dirty="0" sz="1200" spc="100">
                <a:latin typeface="Garamond"/>
                <a:cs typeface="Garamond"/>
              </a:rPr>
              <a:t>+ </a:t>
            </a:r>
            <a:r>
              <a:rPr dirty="0" sz="1200" spc="-165">
                <a:latin typeface="Lucida Sans Unicode"/>
                <a:cs typeface="Lucida Sans Unicode"/>
              </a:rPr>
              <a:t>1 </a:t>
            </a:r>
            <a:r>
              <a:rPr dirty="0" sz="1200" spc="-5">
                <a:latin typeface="Garamond"/>
                <a:cs typeface="Garamond"/>
              </a:rPr>
              <a:t>: </a:t>
            </a:r>
            <a:r>
              <a:rPr dirty="0" sz="1200" spc="25">
                <a:latin typeface="Lucida Sans Unicode"/>
                <a:cs typeface="Lucida Sans Unicode"/>
              </a:rPr>
              <a:t>n</a:t>
            </a:r>
            <a:r>
              <a:rPr dirty="0" sz="1200" spc="25">
                <a:latin typeface="Garamond"/>
                <a:cs typeface="Garamond"/>
              </a:rPr>
              <a:t>]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 </a:t>
            </a:r>
            <a:r>
              <a:rPr dirty="0" sz="1200" spc="-5">
                <a:latin typeface="Times New Roman"/>
                <a:cs typeface="Times New Roman"/>
              </a:rPr>
              <a:t>elements. So if </a:t>
            </a:r>
            <a:r>
              <a:rPr dirty="0" sz="1200" spc="-10">
                <a:latin typeface="Times New Roman"/>
                <a:cs typeface="Times New Roman"/>
              </a:rPr>
              <a:t>we ignore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60">
                <a:latin typeface="Lucida Sans Unicode"/>
                <a:cs typeface="Lucida Sans Unicode"/>
              </a:rPr>
              <a:t>Θ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(as usual)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get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recurrence: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750">
              <a:latin typeface="Times New Roman"/>
              <a:cs typeface="Times New Roman"/>
            </a:endParaRPr>
          </a:p>
          <a:p>
            <a:pPr algn="ctr" marL="41910">
              <a:lnSpc>
                <a:spcPct val="100000"/>
              </a:lnSpc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642683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835525" algn="l"/>
              </a:tabLst>
            </a:pPr>
            <a:r>
              <a:rPr dirty="0" sz="1200" spc="-5">
                <a:latin typeface="Times New Roman"/>
                <a:cs typeface="Times New Roman"/>
              </a:rPr>
              <a:t>50	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76299" y="926454"/>
            <a:ext cx="6456680" cy="6896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This depends 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q.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get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case,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maximize </a:t>
            </a:r>
            <a:r>
              <a:rPr dirty="0" sz="1200" spc="-15">
                <a:latin typeface="Times New Roman"/>
                <a:cs typeface="Times New Roman"/>
              </a:rPr>
              <a:t>over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 possible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q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Putting 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together,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get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recurrence</a:t>
            </a:r>
            <a:endParaRPr sz="1200">
              <a:latin typeface="Times New Roman"/>
              <a:cs typeface="Times New Roman"/>
            </a:endParaRPr>
          </a:p>
          <a:p>
            <a:pPr marL="2002789">
              <a:lnSpc>
                <a:spcPts val="1095"/>
              </a:lnSpc>
            </a:pPr>
            <a:r>
              <a:rPr dirty="0" sz="1200" spc="215">
                <a:latin typeface="Lucida Sans Unicode"/>
                <a:cs typeface="Lucida Sans Unicode"/>
              </a:rPr>
              <a:t></a:t>
            </a:r>
            <a:endParaRPr sz="1200">
              <a:latin typeface="Lucida Sans Unicode"/>
              <a:cs typeface="Lucida Sans Unicode"/>
            </a:endParaRPr>
          </a:p>
          <a:p>
            <a:pPr marL="2002789">
              <a:lnSpc>
                <a:spcPts val="1260"/>
              </a:lnSpc>
            </a:pPr>
            <a:r>
              <a:rPr dirty="0" sz="1200" spc="25">
                <a:latin typeface="Lucida Sans Unicode"/>
                <a:cs typeface="Lucida Sans Unicode"/>
              </a:rPr>
              <a:t></a:t>
            </a:r>
            <a:r>
              <a:rPr dirty="0" baseline="-13888" sz="1800" spc="37">
                <a:latin typeface="Lucida Sans Unicode"/>
                <a:cs typeface="Lucida Sans Unicode"/>
              </a:rPr>
              <a:t>1</a:t>
            </a:r>
            <a:endParaRPr baseline="-13888" sz="180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242138" y="1445947"/>
            <a:ext cx="5359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3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8217" y="1582763"/>
            <a:ext cx="6553200" cy="4521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30985">
              <a:lnSpc>
                <a:spcPts val="105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  <a:p>
            <a:pPr marL="2040889">
              <a:lnSpc>
                <a:spcPts val="910"/>
              </a:lnSpc>
              <a:tabLst>
                <a:tab pos="4416425" algn="l"/>
              </a:tabLst>
            </a:pPr>
            <a:r>
              <a:rPr dirty="0" baseline="-4629" sz="1800" spc="322">
                <a:latin typeface="Lucida Sans Unicode"/>
                <a:cs typeface="Lucida Sans Unicode"/>
              </a:rPr>
              <a:t></a:t>
            </a:r>
            <a:r>
              <a:rPr dirty="0" baseline="-4629" sz="1800" spc="22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max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T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q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Garamond"/>
                <a:cs typeface="Garamond"/>
              </a:rPr>
              <a:t>)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T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q</a:t>
            </a:r>
            <a:r>
              <a:rPr dirty="0" sz="1200" spc="3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	</a:t>
            </a:r>
            <a:r>
              <a:rPr dirty="0" sz="1200" spc="-10">
                <a:latin typeface="Times New Roman"/>
                <a:cs typeface="Times New Roman"/>
              </a:rPr>
              <a:t>otherwise</a:t>
            </a:r>
            <a:endParaRPr sz="1200">
              <a:latin typeface="Times New Roman"/>
              <a:cs typeface="Times New Roman"/>
            </a:endParaRPr>
          </a:p>
          <a:p>
            <a:pPr marL="2175510">
              <a:lnSpc>
                <a:spcPts val="825"/>
              </a:lnSpc>
            </a:pPr>
            <a:r>
              <a:rPr dirty="0" sz="800" spc="100">
                <a:latin typeface="Verdana"/>
                <a:cs typeface="Verdana"/>
              </a:rPr>
              <a:t>1</a:t>
            </a:r>
            <a:r>
              <a:rPr dirty="0" sz="800" spc="100">
                <a:latin typeface="Cambria"/>
                <a:cs typeface="Cambria"/>
              </a:rPr>
              <a:t>≤</a:t>
            </a:r>
            <a:r>
              <a:rPr dirty="0" sz="800" spc="100">
                <a:latin typeface="Verdana"/>
                <a:cs typeface="Verdana"/>
              </a:rPr>
              <a:t>q</a:t>
            </a:r>
            <a:r>
              <a:rPr dirty="0" sz="800" spc="100">
                <a:latin typeface="Cambria"/>
                <a:cs typeface="Cambria"/>
              </a:rPr>
              <a:t>≤</a:t>
            </a:r>
            <a:r>
              <a:rPr dirty="0" sz="800" spc="10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  <a:p>
            <a:pPr marL="76200" marR="68580">
              <a:lnSpc>
                <a:spcPct val="100000"/>
              </a:lnSpc>
              <a:spcBef>
                <a:spcPts val="900"/>
              </a:spcBef>
            </a:pPr>
            <a:r>
              <a:rPr dirty="0" sz="1200" spc="-5">
                <a:latin typeface="Times New Roman"/>
                <a:cs typeface="Times New Roman"/>
              </a:rPr>
              <a:t>Recurrences that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20">
                <a:latin typeface="Times New Roman"/>
                <a:cs typeface="Times New Roman"/>
              </a:rPr>
              <a:t>max’s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20">
                <a:latin typeface="Times New Roman"/>
                <a:cs typeface="Times New Roman"/>
              </a:rPr>
              <a:t>min’s </a:t>
            </a:r>
            <a:r>
              <a:rPr dirty="0" sz="1200" spc="-5">
                <a:latin typeface="Times New Roman"/>
                <a:cs typeface="Times New Roman"/>
              </a:rPr>
              <a:t>embedded in them are </a:t>
            </a:r>
            <a:r>
              <a:rPr dirty="0" sz="1200" spc="-10">
                <a:latin typeface="Times New Roman"/>
                <a:cs typeface="Times New Roman"/>
              </a:rPr>
              <a:t>very </a:t>
            </a:r>
            <a:r>
              <a:rPr dirty="0" sz="1200" spc="-5">
                <a:latin typeface="Times New Roman"/>
                <a:cs typeface="Times New Roman"/>
              </a:rPr>
              <a:t>messy to </a:t>
            </a:r>
            <a:r>
              <a:rPr dirty="0" sz="1200" spc="-10">
                <a:latin typeface="Times New Roman"/>
                <a:cs typeface="Times New Roman"/>
              </a:rPr>
              <a:t>solve.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key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determining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rule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thumb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analysis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worst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tends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happen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either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extremes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middle.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plug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65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 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n/2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out.)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happens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either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extremes.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 expand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recurrence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get:</a:t>
            </a:r>
            <a:endParaRPr sz="1200">
              <a:latin typeface="Times New Roman"/>
              <a:cs typeface="Times New Roman"/>
            </a:endParaRPr>
          </a:p>
          <a:p>
            <a:pPr marL="1606550">
              <a:lnSpc>
                <a:spcPct val="100000"/>
              </a:lnSpc>
              <a:spcBef>
                <a:spcPts val="860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0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1958975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1958975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958975">
              <a:lnSpc>
                <a:spcPct val="100000"/>
              </a:lnSpc>
              <a:spcBef>
                <a:spcPts val="300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958975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958975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T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4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2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ctr" marR="543560">
              <a:lnSpc>
                <a:spcPct val="100000"/>
              </a:lnSpc>
              <a:spcBef>
                <a:spcPts val="60"/>
              </a:spcBef>
            </a:pPr>
            <a:r>
              <a:rPr dirty="0" baseline="-16203" sz="1800" spc="-262">
                <a:latin typeface="Lucida Sans Unicode"/>
                <a:cs typeface="Lucida Sans Unicode"/>
              </a:rPr>
              <a:t>X</a:t>
            </a:r>
            <a:r>
              <a:rPr dirty="0" sz="800" spc="-175">
                <a:latin typeface="Verdana"/>
                <a:cs typeface="Verdana"/>
              </a:rPr>
              <a:t>k−2</a:t>
            </a:r>
            <a:endParaRPr sz="800">
              <a:latin typeface="Verdana"/>
              <a:cs typeface="Verdana"/>
            </a:endParaRPr>
          </a:p>
          <a:p>
            <a:pPr marL="1958975">
              <a:lnSpc>
                <a:spcPct val="100000"/>
              </a:lnSpc>
              <a:spcBef>
                <a:spcPts val="55"/>
              </a:spcBef>
              <a:tabLst>
                <a:tab pos="3128645" algn="l"/>
              </a:tabLst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ctr" marR="530860">
              <a:lnSpc>
                <a:spcPct val="100000"/>
              </a:lnSpc>
              <a:spcBef>
                <a:spcPts val="370"/>
              </a:spcBef>
            </a:pPr>
            <a:r>
              <a:rPr dirty="0" sz="800">
                <a:latin typeface="Verdana"/>
                <a:cs typeface="Verdana"/>
              </a:rPr>
              <a:t>i=−1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Verdana"/>
              <a:cs typeface="Verdana"/>
            </a:endParaRPr>
          </a:p>
          <a:p>
            <a:pPr marL="76200">
              <a:lnSpc>
                <a:spcPct val="100000"/>
              </a:lnSpc>
            </a:pPr>
            <a:r>
              <a:rPr dirty="0" sz="1200" spc="-2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et</a:t>
            </a:r>
            <a:endParaRPr sz="1200">
              <a:latin typeface="Times New Roman"/>
              <a:cs typeface="Times New Roman"/>
            </a:endParaRPr>
          </a:p>
          <a:p>
            <a:pPr algn="ctr" marR="1214120">
              <a:lnSpc>
                <a:spcPct val="100000"/>
              </a:lnSpc>
              <a:spcBef>
                <a:spcPts val="545"/>
              </a:spcBef>
            </a:pPr>
            <a:r>
              <a:rPr dirty="0" baseline="-16203" sz="1800" spc="-254">
                <a:latin typeface="Lucida Sans Unicode"/>
                <a:cs typeface="Lucida Sans Unicode"/>
              </a:rPr>
              <a:t>X</a:t>
            </a:r>
            <a:r>
              <a:rPr dirty="0" sz="800" spc="-170">
                <a:latin typeface="Verdana"/>
                <a:cs typeface="Verdana"/>
              </a:rPr>
              <a:t>n−3</a:t>
            </a:r>
            <a:endParaRPr sz="800">
              <a:latin typeface="Verdana"/>
              <a:cs typeface="Verdana"/>
            </a:endParaRPr>
          </a:p>
          <a:p>
            <a:pPr marL="1556385">
              <a:lnSpc>
                <a:spcPct val="100000"/>
              </a:lnSpc>
              <a:spcBef>
                <a:spcPts val="55"/>
              </a:spcBef>
              <a:tabLst>
                <a:tab pos="2790190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ctr" marR="1207770">
              <a:lnSpc>
                <a:spcPct val="100000"/>
              </a:lnSpc>
              <a:spcBef>
                <a:spcPts val="370"/>
              </a:spcBef>
            </a:pPr>
            <a:r>
              <a:rPr dirty="0" sz="800">
                <a:latin typeface="Verdana"/>
                <a:cs typeface="Verdana"/>
              </a:rPr>
              <a:t>i=−1</a:t>
            </a:r>
            <a:endParaRPr sz="800">
              <a:latin typeface="Verdana"/>
              <a:cs typeface="Verdana"/>
            </a:endParaRPr>
          </a:p>
          <a:p>
            <a:pPr marL="1909445">
              <a:lnSpc>
                <a:spcPct val="100000"/>
              </a:lnSpc>
              <a:spcBef>
                <a:spcPts val="23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1</a:t>
            </a:r>
            <a:r>
              <a:rPr dirty="0" sz="1200" spc="15">
                <a:latin typeface="Garamond"/>
                <a:cs typeface="Garamond"/>
              </a:rPr>
              <a:t>))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70055" y="6087096"/>
            <a:ext cx="2984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54">
                <a:latin typeface="Lucida Sans Unicode"/>
                <a:cs typeface="Lucida Sans Unicode"/>
              </a:rPr>
              <a:t>X</a:t>
            </a:r>
            <a:r>
              <a:rPr dirty="0" sz="800" spc="-170">
                <a:latin typeface="Verdana"/>
                <a:cs typeface="Verdana"/>
              </a:rPr>
              <a:t>n+1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735207" y="6276948"/>
            <a:ext cx="6419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7195" algn="l"/>
              </a:tabLst>
            </a:pP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05">
                <a:latin typeface="Segoe UI Symbol"/>
                <a:cs typeface="Segoe UI Symbol"/>
              </a:rPr>
              <a:t>	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918315" y="6506551"/>
            <a:ext cx="2076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409119" y="6174192"/>
            <a:ext cx="9798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0">
                <a:latin typeface="Garamond"/>
                <a:cs typeface="Garamond"/>
              </a:rPr>
              <a:t>)(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08679" y="6264809"/>
            <a:ext cx="1002030" cy="3244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935"/>
              </a:lnSpc>
              <a:spcBef>
                <a:spcPts val="95"/>
              </a:spcBef>
              <a:tabLst>
                <a:tab pos="975994" algn="l"/>
              </a:tabLst>
            </a:pPr>
            <a:r>
              <a:rPr dirty="0" u="sng" sz="8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800">
              <a:latin typeface="Times New Roman"/>
              <a:cs typeface="Times New Roman"/>
            </a:endParaRPr>
          </a:p>
          <a:p>
            <a:pPr algn="ctr" marR="13335">
              <a:lnSpc>
                <a:spcPts val="1415"/>
              </a:lnSpc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838761" y="6264809"/>
            <a:ext cx="88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420537" y="6276950"/>
            <a:ext cx="563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Θ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00">
                <a:latin typeface="Lucida Sans Unicode"/>
                <a:cs typeface="Lucida Sans Unicode"/>
              </a:rPr>
              <a:t> 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01698" y="6860830"/>
            <a:ext cx="6426200" cy="212280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4.3.5	</a:t>
            </a:r>
            <a:r>
              <a:rPr dirty="0" sz="1400" b="1">
                <a:latin typeface="Times New Roman"/>
                <a:cs typeface="Times New Roman"/>
              </a:rPr>
              <a:t>Average-case </a:t>
            </a:r>
            <a:r>
              <a:rPr dirty="0" sz="1400" spc="10" b="1">
                <a:latin typeface="Times New Roman"/>
                <a:cs typeface="Times New Roman"/>
              </a:rPr>
              <a:t>Analysis</a:t>
            </a:r>
            <a:r>
              <a:rPr dirty="0" sz="1400" spc="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of</a:t>
            </a:r>
            <a:r>
              <a:rPr dirty="0" sz="1400" spc="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Quicksort</a:t>
            </a: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128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will </a:t>
            </a: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the average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case,</a:t>
            </a:r>
            <a:r>
              <a:rPr dirty="0" sz="1200" spc="-10">
                <a:latin typeface="Times New Roman"/>
                <a:cs typeface="Times New Roman"/>
              </a:rPr>
              <a:t> quicksort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runs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-17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 spc="-10">
                <a:latin typeface="Times New Roman"/>
                <a:cs typeface="Times New Roman"/>
              </a:rPr>
              <a:t>we talked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average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beginning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semester,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said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depends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assumption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case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quicksort,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analysis does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depend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depends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upon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random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pivots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makes. </a:t>
            </a:r>
            <a:r>
              <a:rPr dirty="0" sz="1200" spc="-5">
                <a:latin typeface="Times New Roman"/>
                <a:cs typeface="Times New Roman"/>
              </a:rPr>
              <a:t> 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analysis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algorithm’s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performance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inputs. 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average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random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might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choice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pivot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index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second step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QuickSort </a:t>
            </a:r>
            <a:r>
              <a:rPr dirty="0" sz="1200" spc="-10">
                <a:latin typeface="Times New Roman"/>
                <a:cs typeface="Times New Roman"/>
              </a:rPr>
              <a:t>procedure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above.</a:t>
            </a:r>
            <a:endParaRPr sz="1200">
              <a:latin typeface="Times New Roman"/>
              <a:cs typeface="Times New Roman"/>
            </a:endParaRPr>
          </a:p>
          <a:p>
            <a:pPr marL="12700" marR="45085">
              <a:lnSpc>
                <a:spcPct val="100000"/>
              </a:lnSpc>
              <a:spcBef>
                <a:spcPts val="545"/>
              </a:spcBef>
            </a:pP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analyze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average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average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QuickSort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size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simplify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analysis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distinct.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19634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4.3.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QUICKSORT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8" y="926454"/>
            <a:ext cx="6256020" cy="669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random </a:t>
            </a:r>
            <a:r>
              <a:rPr dirty="0" sz="1200" spc="-5">
                <a:latin typeface="Times New Roman"/>
                <a:cs typeface="Times New Roman"/>
              </a:rPr>
              <a:t>choices </a:t>
            </a:r>
            <a:r>
              <a:rPr dirty="0" sz="1200" spc="-10">
                <a:latin typeface="Times New Roman"/>
                <a:cs typeface="Times New Roman"/>
              </a:rPr>
              <a:t>for the </a:t>
            </a:r>
            <a:r>
              <a:rPr dirty="0" sz="1200" spc="-15">
                <a:latin typeface="Times New Roman"/>
                <a:cs typeface="Times New Roman"/>
              </a:rPr>
              <a:t>pivot </a:t>
            </a:r>
            <a:r>
              <a:rPr dirty="0" sz="1200" spc="-5">
                <a:latin typeface="Times New Roman"/>
                <a:cs typeface="Times New Roman"/>
              </a:rPr>
              <a:t>element, and each choice has an equal </a:t>
            </a:r>
            <a:r>
              <a:rPr dirty="0" sz="1200" spc="-10">
                <a:latin typeface="Times New Roman"/>
                <a:cs typeface="Times New Roman"/>
              </a:rPr>
              <a:t>probability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50">
                <a:latin typeface="Lucida Sans Unicode"/>
                <a:cs typeface="Lucida Sans Unicode"/>
              </a:rPr>
              <a:t>1/n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occuring.</a:t>
            </a:r>
            <a:r>
              <a:rPr dirty="0" sz="1200" spc="-5">
                <a:latin typeface="Times New Roman"/>
                <a:cs typeface="Times New Roman"/>
              </a:rPr>
              <a:t> So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can </a:t>
            </a:r>
            <a:r>
              <a:rPr dirty="0" sz="1200" spc="-10">
                <a:latin typeface="Times New Roman"/>
                <a:cs typeface="Times New Roman"/>
              </a:rPr>
              <a:t>modify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above</a:t>
            </a:r>
            <a:r>
              <a:rPr dirty="0" sz="1200" spc="-5">
                <a:latin typeface="Times New Roman"/>
                <a:cs typeface="Times New Roman"/>
              </a:rPr>
              <a:t> recurrence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 spc="-5">
                <a:latin typeface="Times New Roman"/>
                <a:cs typeface="Times New Roman"/>
              </a:rPr>
              <a:t> an </a:t>
            </a:r>
            <a:r>
              <a:rPr dirty="0" sz="1200" spc="-10">
                <a:latin typeface="Times New Roman"/>
                <a:cs typeface="Times New Roman"/>
              </a:rPr>
              <a:t>average</a:t>
            </a:r>
            <a:r>
              <a:rPr dirty="0" sz="1200" spc="-5">
                <a:latin typeface="Times New Roman"/>
                <a:cs typeface="Times New Roman"/>
              </a:rPr>
              <a:t> rather than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max, </a:t>
            </a:r>
            <a:r>
              <a:rPr dirty="0" sz="1200" spc="-10">
                <a:latin typeface="Times New Roman"/>
                <a:cs typeface="Times New Roman"/>
              </a:rPr>
              <a:t>giving:</a:t>
            </a:r>
            <a:endParaRPr sz="1200">
              <a:latin typeface="Times New Roman"/>
              <a:cs typeface="Times New Roman"/>
            </a:endParaRPr>
          </a:p>
          <a:p>
            <a:pPr marL="1916430">
              <a:lnSpc>
                <a:spcPct val="100000"/>
              </a:lnSpc>
              <a:spcBef>
                <a:spcPts val="755"/>
              </a:spcBef>
            </a:pPr>
            <a:r>
              <a:rPr dirty="0" sz="1200" spc="58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95700" y="1648030"/>
            <a:ext cx="493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942982" y="1754989"/>
            <a:ext cx="107950" cy="2590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590">
              <a:lnSpc>
                <a:spcPts val="919"/>
              </a:lnSpc>
              <a:spcBef>
                <a:spcPts val="95"/>
              </a:spcBef>
            </a:pPr>
            <a:r>
              <a:rPr dirty="0" u="sng" sz="800" spc="-10">
                <a:uFill>
                  <a:solidFill>
                    <a:srgbClr val="000000"/>
                  </a:solidFill>
                </a:uFill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ts val="919"/>
              </a:lnSpc>
            </a:pPr>
            <a:r>
              <a:rPr dirty="0" sz="800" spc="14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927778" y="1544017"/>
            <a:ext cx="2910840" cy="3143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140"/>
              </a:lnSpc>
              <a:spcBef>
                <a:spcPts val="95"/>
              </a:spcBef>
              <a:tabLst>
                <a:tab pos="2387600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1	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3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140970">
              <a:lnSpc>
                <a:spcPts val="1140"/>
              </a:lnSpc>
            </a:pPr>
            <a:r>
              <a:rPr dirty="0" sz="1200" spc="880"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216387" y="1740930"/>
            <a:ext cx="107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216387" y="1859002"/>
            <a:ext cx="234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23042" y="1764159"/>
            <a:ext cx="2495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892300" algn="l"/>
              </a:tabLst>
            </a:pP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T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q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Garamond"/>
                <a:cs typeface="Garamond"/>
              </a:rPr>
              <a:t>)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T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q</a:t>
            </a:r>
            <a:r>
              <a:rPr dirty="0" sz="1200" spc="35">
                <a:latin typeface="Garamond"/>
                <a:cs typeface="Garamond"/>
              </a:rPr>
              <a:t>)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	</a:t>
            </a:r>
            <a:r>
              <a:rPr dirty="0" sz="1200" spc="-10">
                <a:latin typeface="Times New Roman"/>
                <a:cs typeface="Times New Roman"/>
              </a:rPr>
              <a:t>otherwise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88992" y="2191069"/>
            <a:ext cx="5113020" cy="524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q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I.e.,</a:t>
            </a:r>
            <a:endParaRPr sz="1200">
              <a:latin typeface="Times New Roman"/>
              <a:cs typeface="Times New Roman"/>
            </a:endParaRPr>
          </a:p>
          <a:p>
            <a:pPr algn="ctr" marR="254635">
              <a:lnSpc>
                <a:spcPct val="100000"/>
              </a:lnSpc>
              <a:spcBef>
                <a:spcPts val="1050"/>
              </a:spcBef>
            </a:pPr>
            <a:r>
              <a:rPr dirty="0" sz="1200" spc="-125">
                <a:latin typeface="Gulim"/>
                <a:cs typeface="Gulim"/>
              </a:rPr>
              <a:t>h</a:t>
            </a:r>
            <a:r>
              <a:rPr dirty="0" sz="1200" spc="-185">
                <a:latin typeface="Gulim"/>
                <a:cs typeface="Gulim"/>
              </a:rPr>
              <a:t> </a:t>
            </a:r>
            <a:r>
              <a:rPr dirty="0" baseline="-23148" sz="1800" spc="-247">
                <a:latin typeface="Lucida Sans Unicode"/>
                <a:cs typeface="Lucida Sans Unicode"/>
              </a:rPr>
              <a:t>1</a:t>
            </a:r>
            <a:endParaRPr baseline="-23148" sz="18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313176" y="2799004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3300398" y="2780399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703745" y="2676272"/>
            <a:ext cx="21761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25170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0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375659" y="3161716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3363606" y="3142845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174523" y="3038718"/>
            <a:ext cx="1793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100">
                <a:latin typeface="Garamond"/>
                <a:cs typeface="Garamond"/>
              </a:rPr>
              <a:t> </a:t>
            </a:r>
            <a:r>
              <a:rPr dirty="0" sz="1200" spc="-120">
                <a:latin typeface="Garamond"/>
                <a:cs typeface="Garamond"/>
              </a:rPr>
              <a:t> </a:t>
            </a:r>
            <a:r>
              <a:rPr dirty="0" baseline="37037" sz="1800" spc="-247">
                <a:latin typeface="Lucida Sans Unicode"/>
                <a:cs typeface="Lucida Sans Unicode"/>
              </a:rPr>
              <a:t>1</a:t>
            </a:r>
            <a:r>
              <a:rPr dirty="0" baseline="37037" sz="1800" spc="-247">
                <a:latin typeface="Lucida Sans Unicode"/>
                <a:cs typeface="Lucida Sans Unicode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3418332" y="3524428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3405783" y="3505290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216700" y="3401162"/>
            <a:ext cx="1793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100">
                <a:latin typeface="Garamond"/>
                <a:cs typeface="Garamond"/>
              </a:rPr>
              <a:t> </a:t>
            </a:r>
            <a:r>
              <a:rPr dirty="0" sz="1200" spc="-120">
                <a:latin typeface="Garamond"/>
                <a:cs typeface="Garamond"/>
              </a:rPr>
              <a:t> </a:t>
            </a:r>
            <a:r>
              <a:rPr dirty="0" baseline="37037" sz="1800" spc="-247">
                <a:latin typeface="Lucida Sans Unicode"/>
                <a:cs typeface="Lucida Sans Unicode"/>
              </a:rPr>
              <a:t>1</a:t>
            </a:r>
            <a:r>
              <a:rPr dirty="0" baseline="37037" sz="1800" spc="-247">
                <a:latin typeface="Lucida Sans Unicode"/>
                <a:cs typeface="Lucida Sans Unicode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887436" y="3660852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3887723" y="3887140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3874870" y="3867735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351713" y="3763607"/>
            <a:ext cx="21031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1510" algn="l"/>
              </a:tabLst>
            </a:pP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0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428777" y="3595015"/>
            <a:ext cx="97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70">
                <a:latin typeface="Gulim"/>
                <a:cs typeface="Gulim"/>
              </a:rPr>
              <a:t>i</a:t>
            </a:r>
            <a:endParaRPr sz="1200">
              <a:latin typeface="Gulim"/>
              <a:cs typeface="Gulim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501667" y="5408728"/>
            <a:ext cx="493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88995" y="4276128"/>
            <a:ext cx="6407150" cy="11506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 marR="1778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seen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 a recurrence before.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 spc="-5">
                <a:latin typeface="Times New Roman"/>
                <a:cs typeface="Times New Roman"/>
              </a:rPr>
              <a:t> it, </a:t>
            </a:r>
            <a:r>
              <a:rPr dirty="0" sz="1200" spc="-10">
                <a:latin typeface="Times New Roman"/>
                <a:cs typeface="Times New Roman"/>
              </a:rPr>
              <a:t>expansion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possible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rather </a:t>
            </a:r>
            <a:r>
              <a:rPr dirty="0" sz="1200" spc="-20">
                <a:latin typeface="Times New Roman"/>
                <a:cs typeface="Times New Roman"/>
              </a:rPr>
              <a:t>tricky.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attempt a </a:t>
            </a:r>
            <a:r>
              <a:rPr dirty="0" sz="1200" spc="-10">
                <a:latin typeface="Times New Roman"/>
                <a:cs typeface="Times New Roman"/>
              </a:rPr>
              <a:t>constructive induction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solve </a:t>
            </a:r>
            <a:r>
              <a:rPr dirty="0" sz="1200" spc="-5">
                <a:latin typeface="Times New Roman"/>
                <a:cs typeface="Times New Roman"/>
              </a:rPr>
              <a:t>it.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5">
                <a:latin typeface="Times New Roman"/>
                <a:cs typeface="Times New Roman"/>
              </a:rPr>
              <a:t>know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we want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 </a:t>
            </a:r>
            <a:r>
              <a:rPr dirty="0" sz="1200" spc="-10">
                <a:latin typeface="Times New Roman"/>
                <a:cs typeface="Times New Roman"/>
              </a:rPr>
              <a:t>log 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Let us assume 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cn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 constant.</a:t>
            </a: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530"/>
              </a:spcBef>
            </a:pPr>
            <a:r>
              <a:rPr dirty="0" sz="1200" spc="-2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ase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  <a:p>
            <a:pPr algn="ctr" marR="1836420">
              <a:lnSpc>
                <a:spcPct val="100000"/>
              </a:lnSpc>
              <a:spcBef>
                <a:spcPts val="1135"/>
              </a:spcBef>
            </a:pPr>
            <a:r>
              <a:rPr dirty="0" baseline="-32407" sz="1800" spc="-247">
                <a:latin typeface="Lucida Sans Unicode"/>
                <a:cs typeface="Lucida Sans Unicode"/>
              </a:rPr>
              <a:t>1</a:t>
            </a:r>
            <a:r>
              <a:rPr dirty="0" baseline="-32407" sz="1800" spc="-97">
                <a:latin typeface="Lucida Sans Unicode"/>
                <a:cs typeface="Lucida Sans Unicode"/>
              </a:rPr>
              <a:t> </a:t>
            </a:r>
            <a:r>
              <a:rPr dirty="0" baseline="-16203" sz="1800" spc="-157">
                <a:latin typeface="Lucida Sans Unicode"/>
                <a:cs typeface="Lucida Sans Unicode"/>
              </a:rPr>
              <a:t>X</a:t>
            </a: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038855" y="5531536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3026535" y="5512854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152379" y="5638331"/>
            <a:ext cx="234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362235" y="5408727"/>
            <a:ext cx="17037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3038855" y="6003976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 txBox="1"/>
          <p:nvPr/>
        </p:nvSpPr>
        <p:spPr>
          <a:xfrm>
            <a:off x="3026535" y="5984570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854392" y="5880443"/>
            <a:ext cx="28022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7345" algn="l"/>
              </a:tabLst>
            </a:pPr>
            <a:r>
              <a:rPr dirty="0" sz="1200" spc="100">
                <a:latin typeface="Garamond"/>
                <a:cs typeface="Garamond"/>
              </a:rPr>
              <a:t>=	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T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0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T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2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T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1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T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0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2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988428" y="5711850"/>
            <a:ext cx="2765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2654935" algn="l"/>
              </a:tabLst>
            </a:pPr>
            <a:r>
              <a:rPr dirty="0" baseline="-23148" sz="1800" spc="-247">
                <a:latin typeface="Lucida Sans Unicode"/>
                <a:cs typeface="Lucida Sans Unicode"/>
              </a:rPr>
              <a:t>1</a:t>
            </a:r>
            <a:r>
              <a:rPr dirty="0" baseline="-23148" sz="1800" spc="-397">
                <a:latin typeface="Lucida Sans Unicode"/>
                <a:cs typeface="Lucida Sans Unicode"/>
              </a:rPr>
              <a:t> </a:t>
            </a:r>
            <a:r>
              <a:rPr dirty="0" sz="1200" spc="-125">
                <a:latin typeface="Gulim"/>
                <a:cs typeface="Gulim"/>
              </a:rPr>
              <a:t>h	</a:t>
            </a:r>
            <a:r>
              <a:rPr dirty="0" sz="1200" spc="270">
                <a:latin typeface="Gulim"/>
                <a:cs typeface="Gulim"/>
              </a:rPr>
              <a:t>i</a:t>
            </a:r>
            <a:endParaRPr sz="1200">
              <a:latin typeface="Gulim"/>
              <a:cs typeface="Gulim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3038855" y="6366688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 txBox="1"/>
          <p:nvPr/>
        </p:nvSpPr>
        <p:spPr>
          <a:xfrm>
            <a:off x="3026535" y="6347015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828999" y="6242888"/>
            <a:ext cx="657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00">
                <a:latin typeface="Garamond"/>
                <a:cs typeface="Garamond"/>
              </a:rPr>
              <a:t> </a:t>
            </a:r>
            <a:r>
              <a:rPr dirty="0" sz="1200" spc="-150">
                <a:latin typeface="Garamond"/>
                <a:cs typeface="Garamond"/>
              </a:rPr>
              <a:t> </a:t>
            </a:r>
            <a:r>
              <a:rPr dirty="0" baseline="37037" sz="1800" spc="-247">
                <a:latin typeface="Lucida Sans Unicode"/>
                <a:cs typeface="Lucida Sans Unicode"/>
              </a:rPr>
              <a:t>8</a:t>
            </a:r>
            <a:r>
              <a:rPr dirty="0" baseline="37037" sz="1800" spc="10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50900" y="6615164"/>
            <a:ext cx="6384290" cy="236855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62865">
              <a:lnSpc>
                <a:spcPct val="100000"/>
              </a:lnSpc>
              <a:spcBef>
                <a:spcPts val="695"/>
              </a:spcBef>
            </a:pP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i.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 algn="ctr" marL="143510">
              <a:lnSpc>
                <a:spcPct val="100000"/>
              </a:lnSpc>
              <a:spcBef>
                <a:spcPts val="595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  <a:p>
            <a:pPr marL="63500">
              <a:lnSpc>
                <a:spcPct val="100000"/>
              </a:lnSpc>
              <a:spcBef>
                <a:spcPts val="1340"/>
              </a:spcBef>
            </a:pPr>
            <a:r>
              <a:rPr dirty="0" sz="1200" spc="-5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  <a:p>
            <a:pPr algn="ctr" marL="143510">
              <a:lnSpc>
                <a:spcPct val="100000"/>
              </a:lnSpc>
              <a:spcBef>
                <a:spcPts val="600"/>
              </a:spcBef>
            </a:pP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  <a:p>
            <a:pPr marL="63500">
              <a:lnSpc>
                <a:spcPct val="100000"/>
              </a:lnSpc>
              <a:spcBef>
                <a:spcPts val="1340"/>
              </a:spcBef>
            </a:pPr>
            <a:r>
              <a:rPr dirty="0" sz="1200" spc="-10">
                <a:latin typeface="Times New Roman"/>
                <a:cs typeface="Times New Roman"/>
              </a:rPr>
              <a:t>therefore</a:t>
            </a:r>
            <a:endParaRPr sz="1200">
              <a:latin typeface="Times New Roman"/>
              <a:cs typeface="Times New Roman"/>
            </a:endParaRPr>
          </a:p>
          <a:p>
            <a:pPr algn="ctr" marL="144145">
              <a:lnSpc>
                <a:spcPct val="100000"/>
              </a:lnSpc>
              <a:spcBef>
                <a:spcPts val="595"/>
              </a:spcBef>
            </a:pP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35">
                <a:latin typeface="Lucida Sans Unicode"/>
                <a:cs typeface="Lucida Sans Unicode"/>
              </a:rPr>
              <a:t>/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80">
                <a:latin typeface="Segoe UI Symbol"/>
                <a:cs typeface="Segoe UI Symbol"/>
              </a:rPr>
              <a:t>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65">
                <a:latin typeface="Lucida Sans Unicode"/>
                <a:cs typeface="Lucida Sans Unicode"/>
              </a:rPr>
              <a:t>88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  <a:p>
            <a:pPr marL="63500" marR="43180">
              <a:lnSpc>
                <a:spcPct val="100000"/>
              </a:lnSpc>
              <a:spcBef>
                <a:spcPts val="1855"/>
              </a:spcBef>
            </a:pPr>
            <a:r>
              <a:rPr dirty="0" sz="1200" spc="-2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</a:t>
            </a:r>
            <a:r>
              <a:rPr dirty="0" sz="1200" spc="-10">
                <a:latin typeface="Times New Roman"/>
                <a:cs typeface="Times New Roman"/>
              </a:rPr>
              <a:t>um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</a:t>
            </a:r>
            <a:r>
              <a:rPr dirty="0" sz="1200" spc="-10">
                <a:latin typeface="Times New Roman"/>
                <a:cs typeface="Times New Roman"/>
              </a:rPr>
              <a:t>ypoth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40">
                <a:latin typeface="Lucida Sans Unicode"/>
                <a:cs typeface="Lucida Sans Unicode"/>
              </a:rPr>
              <a:t>n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37">
                <a:latin typeface="Cambria"/>
                <a:cs typeface="Cambria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40">
                <a:latin typeface="Lucida Sans Unicode"/>
                <a:cs typeface="Lucida Sans Unicode"/>
              </a:rPr>
              <a:t>n</a:t>
            </a:r>
            <a:r>
              <a:rPr dirty="0" cap="small" baseline="31250" sz="1200" spc="112">
                <a:latin typeface="Cambria"/>
                <a:cs typeface="Cambria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140">
                <a:latin typeface="Lucida Sans Unicode"/>
                <a:cs typeface="Lucida Sans Unicode"/>
              </a:rPr>
              <a:t>n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 spc="104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140">
                <a:latin typeface="Lucida Sans Unicode"/>
                <a:cs typeface="Lucida Sans Unicode"/>
              </a:rPr>
              <a:t>n</a:t>
            </a:r>
            <a:r>
              <a:rPr dirty="0" cap="small" baseline="31250" sz="1200" spc="112">
                <a:latin typeface="Cambria"/>
                <a:cs typeface="Cambria"/>
              </a:rPr>
              <a:t>j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</a:t>
            </a:r>
            <a:r>
              <a:rPr dirty="0" sz="1200" spc="-25">
                <a:latin typeface="Times New Roman"/>
                <a:cs typeface="Times New Roman"/>
              </a:rPr>
              <a:t>ov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xp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ndin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2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vin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25157" y="520987"/>
            <a:ext cx="16033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641001" y="1345020"/>
            <a:ext cx="493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88999" y="879821"/>
            <a:ext cx="2637790" cy="483234"/>
          </a:xfrm>
          <a:prstGeom prst="rect">
            <a:avLst/>
          </a:prstGeom>
        </p:spPr>
        <p:txBody>
          <a:bodyPr wrap="square" lIns="0" tIns="58419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459"/>
              </a:spcBef>
            </a:pPr>
            <a:r>
              <a:rPr dirty="0" sz="1200" spc="-10">
                <a:latin typeface="Times New Roman"/>
                <a:cs typeface="Times New Roman"/>
              </a:rPr>
              <a:t>factor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outside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sum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  <a:p>
            <a:pPr algn="r" marR="43180">
              <a:lnSpc>
                <a:spcPct val="100000"/>
              </a:lnSpc>
              <a:spcBef>
                <a:spcPts val="365"/>
              </a:spcBef>
            </a:pPr>
            <a:r>
              <a:rPr dirty="0" baseline="-32407" sz="1800" spc="-247">
                <a:latin typeface="Lucida Sans Unicode"/>
                <a:cs typeface="Lucida Sans Unicode"/>
              </a:rPr>
              <a:t>1</a:t>
            </a:r>
            <a:r>
              <a:rPr dirty="0" baseline="-32407" sz="1800" spc="52">
                <a:latin typeface="Lucida Sans Unicode"/>
                <a:cs typeface="Lucida Sans Unicode"/>
              </a:rPr>
              <a:t> </a:t>
            </a:r>
            <a:r>
              <a:rPr dirty="0" baseline="-16203" sz="1800" spc="-262">
                <a:latin typeface="Lucida Sans Unicode"/>
                <a:cs typeface="Lucida Sans Unicode"/>
              </a:rPr>
              <a:t>X</a:t>
            </a:r>
            <a:r>
              <a:rPr dirty="0" sz="800" spc="14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179063" y="1468552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3165981" y="1449263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16743" y="1574625"/>
            <a:ext cx="234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526597" y="1345022"/>
            <a:ext cx="17538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993724" y="1860629"/>
            <a:ext cx="140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53033" y="1670776"/>
            <a:ext cx="360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2407" sz="1800" spc="-247">
                <a:latin typeface="Lucida Sans Unicode"/>
                <a:cs typeface="Lucida Sans Unicode"/>
              </a:rPr>
              <a:t>1</a:t>
            </a:r>
            <a:r>
              <a:rPr dirty="0" baseline="-32407" sz="1800" spc="52">
                <a:latin typeface="Lucida Sans Unicode"/>
                <a:cs typeface="Lucida Sans Unicode"/>
              </a:rPr>
              <a:t> </a:t>
            </a:r>
            <a:r>
              <a:rPr dirty="0" baseline="-16203" sz="1800" spc="-262">
                <a:latin typeface="Lucida Sans Unicode"/>
                <a:cs typeface="Lucida Sans Unicode"/>
              </a:rPr>
              <a:t>X</a:t>
            </a:r>
            <a:r>
              <a:rPr dirty="0" sz="800" spc="14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179063" y="1983664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3165981" y="1964755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316743" y="2090231"/>
            <a:ext cx="234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26597" y="1860628"/>
            <a:ext cx="17538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993725" y="2376121"/>
            <a:ext cx="140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153033" y="2186383"/>
            <a:ext cx="360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2407" sz="1800" spc="-247">
                <a:latin typeface="Lucida Sans Unicode"/>
                <a:cs typeface="Lucida Sans Unicode"/>
              </a:rPr>
              <a:t>1</a:t>
            </a:r>
            <a:r>
              <a:rPr dirty="0" baseline="-32407" sz="1800" spc="52">
                <a:latin typeface="Lucida Sans Unicode"/>
                <a:cs typeface="Lucida Sans Unicode"/>
              </a:rPr>
              <a:t> </a:t>
            </a:r>
            <a:r>
              <a:rPr dirty="0" baseline="-16203" sz="1800" spc="-262">
                <a:latin typeface="Lucida Sans Unicode"/>
                <a:cs typeface="Lucida Sans Unicode"/>
              </a:rPr>
              <a:t>X</a:t>
            </a:r>
            <a:r>
              <a:rPr dirty="0" sz="800" spc="14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3179063" y="2500300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3165981" y="2480363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316743" y="2605724"/>
            <a:ext cx="234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51972" y="2376121"/>
            <a:ext cx="734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296267" y="2186383"/>
            <a:ext cx="360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2407" sz="1800" spc="-247">
                <a:latin typeface="Lucida Sans Unicode"/>
                <a:cs typeface="Lucida Sans Unicode"/>
              </a:rPr>
              <a:t>1</a:t>
            </a:r>
            <a:r>
              <a:rPr dirty="0" baseline="-32407" sz="1800" spc="52">
                <a:latin typeface="Lucida Sans Unicode"/>
                <a:cs typeface="Lucida Sans Unicode"/>
              </a:rPr>
              <a:t> </a:t>
            </a:r>
            <a:r>
              <a:rPr dirty="0" baseline="-16203" sz="1800" spc="-262">
                <a:latin typeface="Lucida Sans Unicode"/>
                <a:cs typeface="Lucida Sans Unicode"/>
              </a:rPr>
              <a:t>X</a:t>
            </a:r>
            <a:r>
              <a:rPr dirty="0" sz="800" spc="14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4322064" y="2500300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4309209" y="2480363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460085" y="2605724"/>
            <a:ext cx="234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695201" y="2376121"/>
            <a:ext cx="8934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3179063" y="3207436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3153036" y="2894699"/>
            <a:ext cx="360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2407" sz="1800" spc="-247">
                <a:latin typeface="Lucida Sans Unicode"/>
                <a:cs typeface="Lucida Sans Unicode"/>
              </a:rPr>
              <a:t>1</a:t>
            </a:r>
            <a:r>
              <a:rPr dirty="0" baseline="-32407" sz="1800" spc="52">
                <a:latin typeface="Lucida Sans Unicode"/>
                <a:cs typeface="Lucida Sans Unicode"/>
              </a:rPr>
              <a:t> </a:t>
            </a:r>
            <a:r>
              <a:rPr dirty="0" baseline="-16203" sz="1800" spc="-262">
                <a:latin typeface="Lucida Sans Unicode"/>
                <a:cs typeface="Lucida Sans Unicode"/>
              </a:rPr>
              <a:t>X</a:t>
            </a:r>
            <a:r>
              <a:rPr dirty="0" sz="800" spc="14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640999" y="3084552"/>
            <a:ext cx="16446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23290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296267" y="2894699"/>
            <a:ext cx="360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2407" sz="1800" spc="-247">
                <a:latin typeface="Lucida Sans Unicode"/>
                <a:cs typeface="Lucida Sans Unicode"/>
              </a:rPr>
              <a:t>1</a:t>
            </a:r>
            <a:r>
              <a:rPr dirty="0" baseline="-32407" sz="1800" spc="52">
                <a:latin typeface="Lucida Sans Unicode"/>
                <a:cs typeface="Lucida Sans Unicode"/>
              </a:rPr>
              <a:t> </a:t>
            </a:r>
            <a:r>
              <a:rPr dirty="0" baseline="-16203" sz="1800" spc="-262">
                <a:latin typeface="Lucida Sans Unicode"/>
                <a:cs typeface="Lucida Sans Unicode"/>
              </a:rPr>
              <a:t>X</a:t>
            </a:r>
            <a:r>
              <a:rPr dirty="0" sz="800" spc="14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4322064" y="3207436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3165981" y="3188679"/>
            <a:ext cx="1270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55700" algn="l"/>
              </a:tabLst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Lucida Sans Unicode"/>
                <a:cs typeface="Lucida Sans Unicode"/>
              </a:rPr>
              <a:t>	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316743" y="3314155"/>
            <a:ext cx="1377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55700" algn="l"/>
              </a:tabLst>
            </a:pP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r>
              <a:rPr dirty="0" sz="800">
                <a:latin typeface="Verdana"/>
                <a:cs typeface="Verdana"/>
              </a:rPr>
              <a:t>	</a:t>
            </a: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695201" y="3084552"/>
            <a:ext cx="8934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01696" y="3507119"/>
            <a:ext cx="61963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Observe</a:t>
            </a:r>
            <a:r>
              <a:rPr dirty="0" sz="1200" spc="-5">
                <a:latin typeface="Times New Roman"/>
                <a:cs typeface="Times New Roman"/>
              </a:rPr>
              <a:t> 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sums add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T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0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T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25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T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1</a:t>
            </a:r>
            <a:r>
              <a:rPr dirty="0" sz="1200" spc="-20">
                <a:latin typeface="Garamond"/>
                <a:cs typeface="Garamond"/>
              </a:rPr>
              <a:t>)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counts</a:t>
            </a:r>
            <a:r>
              <a:rPr dirty="0" sz="1200" spc="-5">
                <a:latin typeface="Times New Roman"/>
                <a:cs typeface="Times New Roman"/>
              </a:rPr>
              <a:t> up and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291612" y="3785414"/>
            <a:ext cx="234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76301" y="3690571"/>
            <a:ext cx="6477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 spc="-10">
                <a:latin typeface="Times New Roman"/>
                <a:cs typeface="Times New Roman"/>
              </a:rPr>
              <a:t> counts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down.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can replace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baseline="41666" sz="1800" spc="337">
                <a:latin typeface="Lucida Sans Unicode"/>
                <a:cs typeface="Lucida Sans Unicode"/>
              </a:rPr>
              <a:t>.</a:t>
            </a:r>
            <a:r>
              <a:rPr dirty="0" baseline="41666" sz="1200" spc="337">
                <a:latin typeface="Verdana"/>
                <a:cs typeface="Verdana"/>
              </a:rPr>
              <a:t>n−1</a:t>
            </a:r>
            <a:r>
              <a:rPr dirty="0" baseline="41666" sz="1200" spc="-157">
                <a:latin typeface="Verdana"/>
                <a:cs typeface="Verdana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T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q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extract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T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0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5">
                <a:latin typeface="Lucida Sans Unicode"/>
                <a:cs typeface="Lucida Sans Unicode"/>
              </a:rPr>
              <a:t>T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treat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01701" y="3874022"/>
            <a:ext cx="32410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them </a:t>
            </a:r>
            <a:r>
              <a:rPr dirty="0" sz="1200" spc="-15">
                <a:latin typeface="Times New Roman"/>
                <a:cs typeface="Times New Roman"/>
              </a:rPr>
              <a:t>specially.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follow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808338" y="4346995"/>
            <a:ext cx="493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320377" y="4157142"/>
            <a:ext cx="49275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2407" sz="1800" spc="-247">
                <a:latin typeface="Lucida Sans Unicode"/>
                <a:cs typeface="Lucida Sans Unicode"/>
              </a:rPr>
              <a:t>2</a:t>
            </a:r>
            <a:r>
              <a:rPr dirty="0" baseline="-6944" sz="1800" spc="397">
                <a:latin typeface="Lucida Sans Unicode"/>
                <a:cs typeface="Lucida Sans Unicode"/>
              </a:rPr>
              <a:t> </a:t>
            </a:r>
            <a:r>
              <a:rPr dirty="0" baseline="-16203" sz="1800" spc="-254">
                <a:latin typeface="Lucida Sans Unicode"/>
                <a:cs typeface="Lucida Sans Unicode"/>
              </a:rPr>
              <a:t>X</a:t>
            </a:r>
            <a:r>
              <a:rPr dirty="0" sz="800" spc="-170">
                <a:latin typeface="Verdana"/>
                <a:cs typeface="Verdana"/>
              </a:rPr>
              <a:t>n−1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3346703" y="4470832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 txBox="1"/>
          <p:nvPr/>
        </p:nvSpPr>
        <p:spPr>
          <a:xfrm>
            <a:off x="3333316" y="4451122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549457" y="4576598"/>
            <a:ext cx="234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784572" y="4178402"/>
            <a:ext cx="701040" cy="3765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7780">
              <a:lnSpc>
                <a:spcPts val="1385"/>
              </a:lnSpc>
              <a:spcBef>
                <a:spcPts val="95"/>
              </a:spcBef>
            </a:pPr>
            <a:r>
              <a:rPr dirty="0" sz="1200" spc="310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  <a:p>
            <a:pPr algn="ctr">
              <a:lnSpc>
                <a:spcPts val="1385"/>
              </a:lnSpc>
            </a:pPr>
            <a:r>
              <a:rPr dirty="0" sz="1200" spc="35">
                <a:latin typeface="Lucida Sans Unicode"/>
                <a:cs typeface="Lucida Sans Unicode"/>
              </a:rPr>
              <a:t>T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q</a:t>
            </a:r>
            <a:r>
              <a:rPr dirty="0" sz="1200" spc="35">
                <a:latin typeface="Garamond"/>
                <a:cs typeface="Garamond"/>
              </a:rPr>
              <a:t>) </a:t>
            </a:r>
            <a:r>
              <a:rPr dirty="0" sz="1200" spc="29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5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3346703" y="5008804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 txBox="1"/>
          <p:nvPr/>
        </p:nvSpPr>
        <p:spPr>
          <a:xfrm>
            <a:off x="3333316" y="4990275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450344" y="4696295"/>
            <a:ext cx="2984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54">
                <a:latin typeface="Lucida Sans Unicode"/>
                <a:cs typeface="Lucida Sans Unicode"/>
              </a:rPr>
              <a:t>X</a:t>
            </a:r>
            <a:r>
              <a:rPr dirty="0" sz="800" spc="-170">
                <a:latin typeface="Verdana"/>
                <a:cs typeface="Verdana"/>
              </a:rPr>
              <a:t>n−1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307674" y="4717555"/>
            <a:ext cx="1856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726564" algn="l"/>
              </a:tabLst>
            </a:pPr>
            <a:r>
              <a:rPr dirty="0" baseline="-23148" sz="1800" spc="-247">
                <a:latin typeface="Lucida Sans Unicode"/>
                <a:cs typeface="Lucida Sans Unicode"/>
              </a:rPr>
              <a:t>2 </a:t>
            </a:r>
            <a:r>
              <a:rPr dirty="0" sz="1200" spc="310">
                <a:latin typeface="Gulim"/>
                <a:cs typeface="Gulim"/>
              </a:rPr>
              <a:t> </a:t>
            </a:r>
            <a:r>
              <a:rPr dirty="0" sz="1200">
                <a:latin typeface="Gulim"/>
                <a:cs typeface="Gulim"/>
              </a:rPr>
              <a:t>	</a:t>
            </a:r>
            <a:r>
              <a:rPr dirty="0" sz="1200" spc="310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161066" y="4886147"/>
            <a:ext cx="2260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1160" algn="l"/>
                <a:tab pos="1571625" algn="l"/>
              </a:tabLst>
            </a:pPr>
            <a:r>
              <a:rPr dirty="0" sz="1200" spc="100">
                <a:latin typeface="Garamond"/>
                <a:cs typeface="Garamond"/>
              </a:rPr>
              <a:t>=	</a:t>
            </a:r>
            <a:r>
              <a:rPr dirty="0" sz="1200" spc="5">
                <a:latin typeface="Lucida Sans Unicode"/>
                <a:cs typeface="Lucida Sans Unicode"/>
              </a:rPr>
              <a:t>T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0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T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	</a:t>
            </a:r>
            <a:r>
              <a:rPr dirty="0" sz="1200" spc="35">
                <a:latin typeface="Lucida Sans Unicode"/>
                <a:cs typeface="Lucida Sans Unicode"/>
              </a:rPr>
              <a:t>T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q</a:t>
            </a:r>
            <a:r>
              <a:rPr dirty="0" sz="1200" spc="35">
                <a:latin typeface="Garamond"/>
                <a:cs typeface="Garamond"/>
              </a:rPr>
              <a:t>) </a:t>
            </a:r>
            <a:r>
              <a:rPr dirty="0" sz="1200" spc="29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5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485230" y="5115751"/>
            <a:ext cx="234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01697" y="5433302"/>
            <a:ext cx="3574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hypothesis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3346703" y="6029884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 txBox="1"/>
          <p:nvPr/>
        </p:nvSpPr>
        <p:spPr>
          <a:xfrm>
            <a:off x="3333316" y="6010402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450344" y="5716422"/>
            <a:ext cx="2984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54">
                <a:latin typeface="Lucida Sans Unicode"/>
                <a:cs typeface="Lucida Sans Unicode"/>
              </a:rPr>
              <a:t>X</a:t>
            </a:r>
            <a:r>
              <a:rPr dirty="0" sz="800" spc="-170">
                <a:latin typeface="Verdana"/>
                <a:cs typeface="Verdana"/>
              </a:rPr>
              <a:t>n−1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307676" y="5737682"/>
            <a:ext cx="1856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726564" algn="l"/>
              </a:tabLst>
            </a:pPr>
            <a:r>
              <a:rPr dirty="0" baseline="-23148" sz="1800" spc="-247">
                <a:latin typeface="Lucida Sans Unicode"/>
                <a:cs typeface="Lucida Sans Unicode"/>
              </a:rPr>
              <a:t>2 </a:t>
            </a:r>
            <a:r>
              <a:rPr dirty="0" sz="1200" spc="310">
                <a:latin typeface="Gulim"/>
                <a:cs typeface="Gulim"/>
              </a:rPr>
              <a:t> </a:t>
            </a:r>
            <a:r>
              <a:rPr dirty="0" sz="1200">
                <a:latin typeface="Gulim"/>
                <a:cs typeface="Gulim"/>
              </a:rPr>
              <a:t>	</a:t>
            </a:r>
            <a:r>
              <a:rPr dirty="0" sz="1200" spc="310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2808337" y="5906275"/>
            <a:ext cx="26130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44220" algn="l"/>
                <a:tab pos="1924050" algn="l"/>
              </a:tabLst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	</a:t>
            </a:r>
            <a:r>
              <a:rPr dirty="0" sz="1200" spc="5">
                <a:latin typeface="Lucida Sans Unicode"/>
                <a:cs typeface="Lucida Sans Unicode"/>
              </a:rPr>
              <a:t>T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0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T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	</a:t>
            </a:r>
            <a:r>
              <a:rPr dirty="0" sz="1200" spc="35">
                <a:latin typeface="Lucida Sans Unicode"/>
                <a:cs typeface="Lucida Sans Unicode"/>
              </a:rPr>
              <a:t>T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q</a:t>
            </a:r>
            <a:r>
              <a:rPr dirty="0" sz="1200" spc="35">
                <a:latin typeface="Garamond"/>
                <a:cs typeface="Garamond"/>
              </a:rPr>
              <a:t>) </a:t>
            </a:r>
            <a:r>
              <a:rPr dirty="0" sz="1200" spc="29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5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485230" y="6135878"/>
            <a:ext cx="234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3349751" y="6569380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 txBox="1"/>
          <p:nvPr/>
        </p:nvSpPr>
        <p:spPr>
          <a:xfrm>
            <a:off x="4034177" y="6255575"/>
            <a:ext cx="2984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54">
                <a:latin typeface="Lucida Sans Unicode"/>
                <a:cs typeface="Lucida Sans Unicode"/>
              </a:rPr>
              <a:t>X</a:t>
            </a:r>
            <a:r>
              <a:rPr dirty="0" sz="800" spc="-170">
                <a:latin typeface="Verdana"/>
                <a:cs typeface="Verdana"/>
              </a:rPr>
              <a:t>n−1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310988" y="6276835"/>
            <a:ext cx="17303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600835" algn="l"/>
              </a:tabLst>
            </a:pPr>
            <a:r>
              <a:rPr dirty="0" baseline="-23148" sz="1800" spc="-247">
                <a:latin typeface="Lucida Sans Unicode"/>
                <a:cs typeface="Lucida Sans Unicode"/>
              </a:rPr>
              <a:t>2 </a:t>
            </a:r>
            <a:r>
              <a:rPr dirty="0" sz="1200" spc="310">
                <a:latin typeface="Gulim"/>
                <a:cs typeface="Gulim"/>
              </a:rPr>
              <a:t> </a:t>
            </a:r>
            <a:r>
              <a:rPr dirty="0" sz="1200">
                <a:latin typeface="Gulim"/>
                <a:cs typeface="Gulim"/>
              </a:rPr>
              <a:t>	</a:t>
            </a:r>
            <a:r>
              <a:rPr dirty="0" sz="1200" spc="310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135664" y="6445428"/>
            <a:ext cx="21888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155700" algn="l"/>
              </a:tabLst>
            </a:pP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20">
                <a:latin typeface="Segoe UI Symbol"/>
                <a:cs typeface="Segoe UI Symbol"/>
              </a:rPr>
              <a:t> </a:t>
            </a:r>
            <a:r>
              <a:rPr dirty="0" baseline="-37037" sz="1800" spc="67">
                <a:latin typeface="Lucida Sans Unicode"/>
                <a:cs typeface="Lucida Sans Unicode"/>
              </a:rPr>
              <a:t>n</a:t>
            </a:r>
            <a:r>
              <a:rPr dirty="0" baseline="-37037" sz="1800">
                <a:latin typeface="Lucida Sans Unicode"/>
                <a:cs typeface="Lucida Sans Unicode"/>
              </a:rPr>
              <a:t> </a:t>
            </a:r>
            <a:r>
              <a:rPr dirty="0" baseline="-37037" sz="1800" spc="104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 </a:t>
            </a:r>
            <a:r>
              <a:rPr dirty="0" sz="1200" spc="7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069064" y="6675031"/>
            <a:ext cx="234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161065" y="6984580"/>
            <a:ext cx="140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307915" y="6794728"/>
            <a:ext cx="553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2407" sz="1800" spc="-60">
                <a:latin typeface="Lucida Sans Unicode"/>
                <a:cs typeface="Lucida Sans Unicode"/>
              </a:rPr>
              <a:t>2c</a:t>
            </a:r>
            <a:r>
              <a:rPr dirty="0" baseline="-6944" sz="1800" spc="397">
                <a:latin typeface="Lucida Sans Unicode"/>
                <a:cs typeface="Lucida Sans Unicode"/>
              </a:rPr>
              <a:t> </a:t>
            </a:r>
            <a:r>
              <a:rPr dirty="0" baseline="-16203" sz="1800" spc="-254">
                <a:latin typeface="Lucida Sans Unicode"/>
                <a:cs typeface="Lucida Sans Unicode"/>
              </a:rPr>
              <a:t>X</a:t>
            </a:r>
            <a:r>
              <a:rPr dirty="0" sz="800" spc="-170">
                <a:latin typeface="Verdana"/>
                <a:cs typeface="Verdana"/>
              </a:rPr>
              <a:t>n−1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3346703" y="7107352"/>
            <a:ext cx="149860" cy="6350"/>
          </a:xfrm>
          <a:custGeom>
            <a:avLst/>
            <a:gdLst/>
            <a:ahLst/>
            <a:cxnLst/>
            <a:rect l="l" t="t" r="r" b="b"/>
            <a:pathLst>
              <a:path w="149860" h="6350">
                <a:moveTo>
                  <a:pt x="149847" y="0"/>
                </a:moveTo>
                <a:lnTo>
                  <a:pt x="0" y="0"/>
                </a:lnTo>
                <a:lnTo>
                  <a:pt x="0" y="6171"/>
                </a:lnTo>
                <a:lnTo>
                  <a:pt x="149847" y="6171"/>
                </a:lnTo>
                <a:lnTo>
                  <a:pt x="1498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" name="object 66"/>
          <p:cNvSpPr txBox="1"/>
          <p:nvPr/>
        </p:nvSpPr>
        <p:spPr>
          <a:xfrm>
            <a:off x="3357777" y="7088708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598378" y="7214184"/>
            <a:ext cx="234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327383" y="6815988"/>
            <a:ext cx="1162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10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808233" y="6984581"/>
            <a:ext cx="10674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 </a:t>
            </a:r>
            <a:r>
              <a:rPr dirty="0" sz="1200" spc="7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4911851" y="7107352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 txBox="1"/>
          <p:nvPr/>
        </p:nvSpPr>
        <p:spPr>
          <a:xfrm>
            <a:off x="4898769" y="6857138"/>
            <a:ext cx="126364" cy="43942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24765">
              <a:lnSpc>
                <a:spcPct val="100000"/>
              </a:lnSpc>
              <a:spcBef>
                <a:spcPts val="290"/>
              </a:spcBef>
            </a:pPr>
            <a:r>
              <a:rPr dirty="0" sz="1200" spc="-165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901699" y="7466355"/>
            <a:ext cx="22364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never </a:t>
            </a:r>
            <a:r>
              <a:rPr dirty="0" sz="1200" spc="-5">
                <a:latin typeface="Times New Roman"/>
                <a:cs typeface="Times New Roman"/>
              </a:rPr>
              <a:t>seen</a:t>
            </a:r>
            <a:r>
              <a:rPr dirty="0" sz="1200" spc="-10">
                <a:latin typeface="Times New Roman"/>
                <a:cs typeface="Times New Roman"/>
              </a:rPr>
              <a:t> this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before: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3456049" y="7566939"/>
            <a:ext cx="1317625" cy="566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635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54">
                <a:latin typeface="Lucida Sans Unicode"/>
                <a:cs typeface="Lucida Sans Unicode"/>
              </a:rPr>
              <a:t>X</a:t>
            </a:r>
            <a:r>
              <a:rPr dirty="0" sz="800" spc="-170">
                <a:latin typeface="Verdana"/>
                <a:cs typeface="Verdana"/>
              </a:rPr>
              <a:t>n−1</a:t>
            </a:r>
            <a:endParaRPr sz="800">
              <a:latin typeface="Verdana"/>
              <a:cs typeface="Verdana"/>
            </a:endParaRPr>
          </a:p>
          <a:p>
            <a:pPr algn="ctr">
              <a:lnSpc>
                <a:spcPct val="100000"/>
              </a:lnSpc>
              <a:spcBef>
                <a:spcPts val="55"/>
              </a:spcBef>
              <a:tabLst>
                <a:tab pos="72136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ctr">
              <a:lnSpc>
                <a:spcPct val="100000"/>
              </a:lnSpc>
              <a:spcBef>
                <a:spcPts val="370"/>
              </a:spcBef>
            </a:pPr>
            <a:r>
              <a:rPr dirty="0" sz="800" spc="-10">
                <a:latin typeface="Verdana"/>
                <a:cs typeface="Verdana"/>
              </a:rPr>
              <a:t>q=2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901699" y="8179358"/>
            <a:ext cx="44386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Recall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calculus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monotonically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increasing function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f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x</a:t>
            </a:r>
            <a:r>
              <a:rPr dirty="0" sz="1200" spc="4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428159" y="8467508"/>
            <a:ext cx="2940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70">
                <a:latin typeface="Lucida Sans Unicode"/>
                <a:cs typeface="Lucida Sans Unicode"/>
              </a:rPr>
              <a:t>X</a:t>
            </a:r>
            <a:r>
              <a:rPr dirty="0" sz="800" spc="-180">
                <a:latin typeface="Verdana"/>
                <a:cs typeface="Verdana"/>
              </a:rPr>
              <a:t>b−1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3470476" y="8886963"/>
            <a:ext cx="2203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114">
                <a:latin typeface="Verdana"/>
                <a:cs typeface="Verdana"/>
              </a:rPr>
              <a:t>a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111673" y="8450706"/>
            <a:ext cx="2343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0">
                <a:latin typeface="Lucida Sans Unicode"/>
                <a:cs typeface="Lucida Sans Unicode"/>
              </a:rPr>
              <a:t>∫</a:t>
            </a:r>
            <a:r>
              <a:rPr dirty="0" baseline="-20833" sz="1200" spc="30">
                <a:latin typeface="Verdana"/>
                <a:cs typeface="Verdana"/>
              </a:rPr>
              <a:t>b</a:t>
            </a:r>
            <a:endParaRPr baseline="-20833" sz="1200">
              <a:latin typeface="Verdana"/>
              <a:cs typeface="Verdan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4204510" y="8845015"/>
            <a:ext cx="1016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14">
                <a:latin typeface="Verdana"/>
                <a:cs typeface="Verdana"/>
              </a:rPr>
              <a:t>a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698161" y="8657360"/>
            <a:ext cx="10782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1825" algn="l"/>
              </a:tabLst>
            </a:pPr>
            <a:r>
              <a:rPr dirty="0" sz="1200" spc="90">
                <a:latin typeface="Lucida Sans Unicode"/>
                <a:cs typeface="Lucida Sans Unicode"/>
              </a:rPr>
              <a:t>f</a:t>
            </a:r>
            <a:r>
              <a:rPr dirty="0" sz="1200" spc="9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i</a:t>
            </a:r>
            <a:r>
              <a:rPr dirty="0" sz="1200" spc="9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	</a:t>
            </a:r>
            <a:r>
              <a:rPr dirty="0" sz="1200">
                <a:latin typeface="Lucida Sans Unicode"/>
                <a:cs typeface="Lucida Sans Unicode"/>
              </a:rPr>
              <a:t>f</a:t>
            </a:r>
            <a:r>
              <a:rPr dirty="0" sz="1200">
                <a:latin typeface="Garamond"/>
                <a:cs typeface="Garamond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x</a:t>
            </a:r>
            <a:r>
              <a:rPr dirty="0" sz="1200">
                <a:latin typeface="Garamond"/>
                <a:cs typeface="Garamond"/>
              </a:rPr>
              <a:t>)</a:t>
            </a:r>
            <a:r>
              <a:rPr dirty="0" sz="1200">
                <a:latin typeface="Lucida Sans Unicode"/>
                <a:cs typeface="Lucida Sans Unicode"/>
              </a:rPr>
              <a:t>dx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19634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4.3.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QUICKSORT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9" y="926454"/>
            <a:ext cx="37922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function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f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x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x</a:t>
            </a:r>
            <a:r>
              <a:rPr dirty="0" sz="1200" spc="-40">
                <a:latin typeface="Times New Roman"/>
                <a:cs typeface="Times New Roman"/>
              </a:rPr>
              <a:t>ln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monotonically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increasing,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513198" y="1143395"/>
            <a:ext cx="2984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54">
                <a:latin typeface="Lucida Sans Unicode"/>
                <a:cs typeface="Lucida Sans Unicode"/>
              </a:rPr>
              <a:t>X</a:t>
            </a:r>
            <a:r>
              <a:rPr dirty="0" sz="800" spc="-170">
                <a:latin typeface="Verdana"/>
                <a:cs typeface="Verdana"/>
              </a:rPr>
              <a:t>n−1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5908" y="1333248"/>
            <a:ext cx="14274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3406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endParaRPr sz="1200">
              <a:latin typeface="Segoe UI Symbol"/>
              <a:cs typeface="Segoe UI Symbo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548085" y="1562852"/>
            <a:ext cx="234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">
                <a:latin typeface="Verdana"/>
                <a:cs typeface="Verdana"/>
              </a:rPr>
              <a:t>q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454116" y="1126595"/>
            <a:ext cx="2432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0">
                <a:latin typeface="Lucida Sans Unicode"/>
                <a:cs typeface="Lucida Sans Unicode"/>
              </a:rPr>
              <a:t>∫</a:t>
            </a:r>
            <a:r>
              <a:rPr dirty="0" baseline="-20833" sz="1200" spc="75">
                <a:latin typeface="Verdana"/>
                <a:cs typeface="Verdana"/>
              </a:rPr>
              <a:t>n</a:t>
            </a:r>
            <a:endParaRPr baseline="-20833" sz="1200">
              <a:latin typeface="Verdana"/>
              <a:cs typeface="Verdan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47067" y="1520904"/>
            <a:ext cx="88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668225" y="1333249"/>
            <a:ext cx="5257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11603" y="1333249"/>
            <a:ext cx="3162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(4.1)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01698" y="1743815"/>
            <a:ext cx="18618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integrate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134408" y="1810680"/>
            <a:ext cx="2432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0">
                <a:latin typeface="Lucida Sans Unicode"/>
                <a:cs typeface="Lucida Sans Unicode"/>
              </a:rPr>
              <a:t>∫</a:t>
            </a:r>
            <a:r>
              <a:rPr dirty="0" baseline="-20833" sz="1200" spc="75">
                <a:latin typeface="Verdana"/>
                <a:cs typeface="Verdana"/>
              </a:rPr>
              <a:t>n</a:t>
            </a:r>
            <a:endParaRPr baseline="-20833" sz="1200">
              <a:latin typeface="Verdana"/>
              <a:cs typeface="Verdan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227359" y="2205103"/>
            <a:ext cx="88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037492" y="1859600"/>
            <a:ext cx="2197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-89">
                <a:latin typeface="Lucida Sans Unicode"/>
                <a:cs typeface="Lucida Sans Unicode"/>
              </a:rPr>
              <a:t>x</a:t>
            </a:r>
            <a:r>
              <a:rPr dirty="0" sz="800" spc="-6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4075176" y="2140636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4652771" y="2140636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4795785" y="1842797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Gulim"/>
                <a:cs typeface="Gulim"/>
              </a:rPr>
              <a:t>.</a:t>
            </a:r>
            <a:endParaRPr sz="1200">
              <a:latin typeface="Gulim"/>
              <a:cs typeface="Gulim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348518" y="2024993"/>
            <a:ext cx="152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82650" algn="l"/>
                <a:tab pos="1459865" algn="l"/>
              </a:tabLst>
            </a:pPr>
            <a:r>
              <a:rPr dirty="0" baseline="2314" sz="1800" spc="-165">
                <a:latin typeface="Lucida Sans Unicode"/>
                <a:cs typeface="Lucida Sans Unicode"/>
              </a:rPr>
              <a:t>x</a:t>
            </a:r>
            <a:r>
              <a:rPr dirty="0" baseline="2314" sz="1800" spc="-15">
                <a:latin typeface="Times New Roman"/>
                <a:cs typeface="Times New Roman"/>
              </a:rPr>
              <a:t>l</a:t>
            </a:r>
            <a:r>
              <a:rPr dirty="0" baseline="2314" sz="1800" spc="-7">
                <a:latin typeface="Times New Roman"/>
                <a:cs typeface="Times New Roman"/>
              </a:rPr>
              <a:t>n</a:t>
            </a:r>
            <a:r>
              <a:rPr dirty="0" baseline="2314" sz="1800" spc="-157">
                <a:latin typeface="Times New Roman"/>
                <a:cs typeface="Times New Roman"/>
              </a:rPr>
              <a:t> </a:t>
            </a:r>
            <a:r>
              <a:rPr dirty="0" baseline="2314" sz="1800" spc="-165">
                <a:latin typeface="Lucida Sans Unicode"/>
                <a:cs typeface="Lucida Sans Unicode"/>
              </a:rPr>
              <a:t>x</a:t>
            </a:r>
            <a:r>
              <a:rPr dirty="0" baseline="2314" sz="1800" spc="-277">
                <a:latin typeface="Lucida Sans Unicode"/>
                <a:cs typeface="Lucida Sans Unicode"/>
              </a:rPr>
              <a:t> </a:t>
            </a:r>
            <a:r>
              <a:rPr dirty="0" baseline="2314" sz="1800" spc="-60">
                <a:latin typeface="Lucida Sans Unicode"/>
                <a:cs typeface="Lucida Sans Unicode"/>
              </a:rPr>
              <a:t>d</a:t>
            </a:r>
            <a:r>
              <a:rPr dirty="0" baseline="2314" sz="1800" spc="-165">
                <a:latin typeface="Lucida Sans Unicode"/>
                <a:cs typeface="Lucida Sans Unicode"/>
              </a:rPr>
              <a:t>x</a:t>
            </a:r>
            <a:r>
              <a:rPr dirty="0" baseline="2314" sz="1800" spc="-75">
                <a:latin typeface="Lucida Sans Unicode"/>
                <a:cs typeface="Lucida Sans Unicode"/>
              </a:rPr>
              <a:t> </a:t>
            </a:r>
            <a:r>
              <a:rPr dirty="0" baseline="2314" sz="1800" spc="150">
                <a:latin typeface="Garamond"/>
                <a:cs typeface="Garamond"/>
              </a:rPr>
              <a:t>=</a:t>
            </a:r>
            <a:r>
              <a:rPr dirty="0" baseline="2314" sz="1800">
                <a:latin typeface="Garamond"/>
                <a:cs typeface="Garamond"/>
              </a:rPr>
              <a:t>	</a:t>
            </a:r>
            <a:r>
              <a:rPr dirty="0" baseline="2314" sz="1800" spc="-15">
                <a:latin typeface="Times New Roman"/>
                <a:cs typeface="Times New Roman"/>
              </a:rPr>
              <a:t>l</a:t>
            </a:r>
            <a:r>
              <a:rPr dirty="0" baseline="2314" sz="1800" spc="-7">
                <a:latin typeface="Times New Roman"/>
                <a:cs typeface="Times New Roman"/>
              </a:rPr>
              <a:t>n</a:t>
            </a:r>
            <a:r>
              <a:rPr dirty="0" baseline="2314" sz="1800" spc="-157">
                <a:latin typeface="Times New Roman"/>
                <a:cs typeface="Times New Roman"/>
              </a:rPr>
              <a:t> </a:t>
            </a:r>
            <a:r>
              <a:rPr dirty="0" baseline="2314" sz="1800" spc="-165">
                <a:latin typeface="Lucida Sans Unicode"/>
                <a:cs typeface="Lucida Sans Unicode"/>
              </a:rPr>
              <a:t>x</a:t>
            </a:r>
            <a:r>
              <a:rPr dirty="0" baseline="2314" sz="1800" spc="-172">
                <a:latin typeface="Lucida Sans Unicode"/>
                <a:cs typeface="Lucida Sans Unicode"/>
              </a:rPr>
              <a:t> </a:t>
            </a:r>
            <a:r>
              <a:rPr dirty="0" baseline="2314" sz="1800" spc="-300">
                <a:latin typeface="Garamond"/>
                <a:cs typeface="Garamond"/>
              </a:rPr>
              <a:t>−</a:t>
            </a:r>
            <a:r>
              <a:rPr dirty="0" baseline="2314" sz="1800">
                <a:latin typeface="Garamond"/>
                <a:cs typeface="Garamond"/>
              </a:rPr>
              <a:t>	</a:t>
            </a:r>
            <a:r>
              <a:rPr dirty="0" sz="1200" spc="-5">
                <a:latin typeface="Gulim"/>
                <a:cs typeface="Gulim"/>
              </a:rPr>
              <a:t>.</a:t>
            </a:r>
            <a:endParaRPr sz="1200">
              <a:latin typeface="Gulim"/>
              <a:cs typeface="Gulim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614366" y="1859600"/>
            <a:ext cx="3651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-165">
                <a:latin typeface="Lucida Sans Unicode"/>
                <a:cs typeface="Lucida Sans Unicode"/>
              </a:rPr>
              <a:t>x</a:t>
            </a:r>
            <a:r>
              <a:rPr dirty="0" sz="800" spc="-10">
                <a:latin typeface="Verdana"/>
                <a:cs typeface="Verdana"/>
              </a:rPr>
              <a:t>2</a:t>
            </a:r>
            <a:r>
              <a:rPr dirty="0" sz="800" spc="-185">
                <a:latin typeface="Verdana"/>
                <a:cs typeface="Verdana"/>
              </a:rPr>
              <a:t> </a:t>
            </a:r>
            <a:r>
              <a:rPr dirty="0" baseline="-27777" sz="1800" spc="-7">
                <a:latin typeface="Gulim"/>
                <a:cs typeface="Gulim"/>
              </a:rPr>
              <a:t>.</a:t>
            </a:r>
            <a:r>
              <a:rPr dirty="0" baseline="-13888" sz="1200" spc="209">
                <a:latin typeface="Verdana"/>
                <a:cs typeface="Verdana"/>
              </a:rPr>
              <a:t>n</a:t>
            </a:r>
            <a:endParaRPr baseline="-13888" sz="1200">
              <a:latin typeface="Verdana"/>
              <a:cs typeface="Verdan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095354" y="2122376"/>
            <a:ext cx="977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9280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2	4</a:t>
            </a:r>
            <a:r>
              <a:rPr dirty="0" sz="1200" spc="310">
                <a:latin typeface="Lucida Sans Unicode"/>
                <a:cs typeface="Lucida Sans Unicode"/>
              </a:rPr>
              <a:t> </a:t>
            </a:r>
            <a:r>
              <a:rPr dirty="0" sz="800" spc="-25">
                <a:latin typeface="Verdana"/>
                <a:cs typeface="Verdana"/>
              </a:rPr>
              <a:t>x=2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709784" y="2433158"/>
            <a:ext cx="2432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0">
                <a:latin typeface="Lucida Sans Unicode"/>
                <a:cs typeface="Lucida Sans Unicode"/>
              </a:rPr>
              <a:t>∫</a:t>
            </a:r>
            <a:r>
              <a:rPr dirty="0" baseline="-20833" sz="1200" spc="75">
                <a:latin typeface="Verdana"/>
                <a:cs typeface="Verdana"/>
              </a:rPr>
              <a:t>n</a:t>
            </a:r>
            <a:endParaRPr baseline="-20833" sz="1200">
              <a:latin typeface="Verdana"/>
              <a:cs typeface="Verdan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802621" y="2827467"/>
            <a:ext cx="88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612868" y="2482078"/>
            <a:ext cx="2197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-89">
                <a:latin typeface="Lucida Sans Unicode"/>
                <a:cs typeface="Lucida Sans Unicode"/>
              </a:rPr>
              <a:t>x</a:t>
            </a:r>
            <a:r>
              <a:rPr dirty="0" sz="800" spc="-6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3651503" y="2763952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3670730" y="2743938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923779" y="2639813"/>
            <a:ext cx="12680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82650" algn="l"/>
              </a:tabLst>
            </a:pP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215027" y="2537169"/>
            <a:ext cx="1054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10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294922" y="2532686"/>
            <a:ext cx="88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4227576" y="2763952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4371046" y="2465274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Gulim"/>
                <a:cs typeface="Gulim"/>
              </a:rPr>
              <a:t>.</a:t>
            </a:r>
            <a:endParaRPr sz="1200">
              <a:latin typeface="Gulim"/>
              <a:cs typeface="Gulim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371046" y="2556372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Gulim"/>
                <a:cs typeface="Gulim"/>
              </a:rPr>
              <a:t>.</a:t>
            </a:r>
            <a:endParaRPr sz="1200">
              <a:latin typeface="Gulim"/>
              <a:cs typeface="Gulim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421680" y="2555889"/>
            <a:ext cx="107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222088" y="2744852"/>
            <a:ext cx="4508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5">
                <a:latin typeface="Lucida Sans Unicode"/>
                <a:cs typeface="Lucida Sans Unicode"/>
              </a:rPr>
              <a:t> </a:t>
            </a:r>
            <a:r>
              <a:rPr dirty="0" baseline="34722" sz="1800" spc="-7">
                <a:latin typeface="Gulim"/>
                <a:cs typeface="Gulim"/>
              </a:rPr>
              <a:t>.</a:t>
            </a:r>
            <a:r>
              <a:rPr dirty="0" sz="800" spc="-30">
                <a:latin typeface="Verdana"/>
                <a:cs typeface="Verdana"/>
              </a:rPr>
              <a:t>x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466018" y="3055520"/>
            <a:ext cx="140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3741420" y="3178480"/>
            <a:ext cx="161925" cy="6350"/>
          </a:xfrm>
          <a:custGeom>
            <a:avLst/>
            <a:gdLst/>
            <a:ahLst/>
            <a:cxnLst/>
            <a:rect l="l" t="t" r="r" b="b"/>
            <a:pathLst>
              <a:path w="161925" h="6350">
                <a:moveTo>
                  <a:pt x="161848" y="0"/>
                </a:moveTo>
                <a:lnTo>
                  <a:pt x="0" y="0"/>
                </a:lnTo>
                <a:lnTo>
                  <a:pt x="0" y="6171"/>
                </a:lnTo>
                <a:lnTo>
                  <a:pt x="161848" y="6171"/>
                </a:lnTo>
                <a:lnTo>
                  <a:pt x="161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 txBox="1"/>
          <p:nvPr/>
        </p:nvSpPr>
        <p:spPr>
          <a:xfrm>
            <a:off x="3597666" y="2817891"/>
            <a:ext cx="346710" cy="549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6690" marR="30480" indent="-149225">
              <a:lnSpc>
                <a:spcPct val="143200"/>
              </a:lnSpc>
              <a:spcBef>
                <a:spcPts val="100"/>
              </a:spcBef>
            </a:pPr>
            <a:r>
              <a:rPr dirty="0" baseline="4629" sz="1800" spc="637">
                <a:latin typeface="Gulim"/>
                <a:cs typeface="Gulim"/>
              </a:rPr>
              <a:t> </a:t>
            </a:r>
            <a:r>
              <a:rPr dirty="0" baseline="-20833" sz="1800" spc="67">
                <a:latin typeface="Lucida Sans Unicode"/>
                <a:cs typeface="Lucida Sans Unicode"/>
              </a:rPr>
              <a:t>n</a:t>
            </a:r>
            <a:r>
              <a:rPr dirty="0" sz="800" spc="-10">
                <a:latin typeface="Verdana"/>
                <a:cs typeface="Verdana"/>
              </a:rPr>
              <a:t>2 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905959" y="3055520"/>
            <a:ext cx="4184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4360164" y="3178480"/>
            <a:ext cx="161925" cy="6350"/>
          </a:xfrm>
          <a:custGeom>
            <a:avLst/>
            <a:gdLst/>
            <a:ahLst/>
            <a:cxnLst/>
            <a:rect l="l" t="t" r="r" b="b"/>
            <a:pathLst>
              <a:path w="161925" h="6350">
                <a:moveTo>
                  <a:pt x="161848" y="0"/>
                </a:moveTo>
                <a:lnTo>
                  <a:pt x="0" y="0"/>
                </a:lnTo>
                <a:lnTo>
                  <a:pt x="0" y="6171"/>
                </a:lnTo>
                <a:lnTo>
                  <a:pt x="161848" y="6171"/>
                </a:lnTo>
                <a:lnTo>
                  <a:pt x="161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 txBox="1"/>
          <p:nvPr/>
        </p:nvSpPr>
        <p:spPr>
          <a:xfrm>
            <a:off x="4322330" y="2817891"/>
            <a:ext cx="344170" cy="549910"/>
          </a:xfrm>
          <a:prstGeom prst="rect">
            <a:avLst/>
          </a:prstGeom>
        </p:spPr>
        <p:txBody>
          <a:bodyPr wrap="square" lIns="0" tIns="914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20"/>
              </a:spcBef>
            </a:pPr>
            <a:r>
              <a:rPr dirty="0" baseline="-20833" sz="1800" spc="22">
                <a:latin typeface="Lucida Sans Unicode"/>
                <a:cs typeface="Lucida Sans Unicode"/>
              </a:rPr>
              <a:t>n</a:t>
            </a:r>
            <a:r>
              <a:rPr dirty="0" sz="800" spc="15">
                <a:latin typeface="Verdana"/>
                <a:cs typeface="Verdana"/>
              </a:rPr>
              <a:t>2</a:t>
            </a:r>
            <a:r>
              <a:rPr dirty="0" sz="800" spc="-185">
                <a:latin typeface="Verdana"/>
                <a:cs typeface="Verdana"/>
              </a:rPr>
              <a:t> </a:t>
            </a:r>
            <a:r>
              <a:rPr dirty="0" baseline="4629" sz="1800" spc="465">
                <a:latin typeface="Gulim"/>
                <a:cs typeface="Gulim"/>
              </a:rPr>
              <a:t> </a:t>
            </a:r>
            <a:endParaRPr baseline="4629" sz="1800">
              <a:latin typeface="Gulim"/>
              <a:cs typeface="Gulim"/>
            </a:endParaRPr>
          </a:p>
          <a:p>
            <a:pPr marL="80645">
              <a:lnSpc>
                <a:spcPct val="100000"/>
              </a:lnSpc>
              <a:spcBef>
                <a:spcPts val="625"/>
              </a:spcBef>
            </a:pPr>
            <a:r>
              <a:rPr dirty="0" sz="1200" spc="-165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649137" y="3055520"/>
            <a:ext cx="84581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00">
                <a:latin typeface="Garamond"/>
                <a:cs typeface="Garamond"/>
              </a:rPr>
              <a:t>—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616065" y="3280462"/>
            <a:ext cx="240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22">
                <a:latin typeface="Lucida Sans Unicode"/>
                <a:cs typeface="Lucida Sans Unicode"/>
              </a:rPr>
              <a:t>n</a:t>
            </a:r>
            <a:r>
              <a:rPr dirty="0" sz="800" spc="15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3654551" y="3561004"/>
            <a:ext cx="161925" cy="6350"/>
          </a:xfrm>
          <a:custGeom>
            <a:avLst/>
            <a:gdLst/>
            <a:ahLst/>
            <a:cxnLst/>
            <a:rect l="l" t="t" r="r" b="b"/>
            <a:pathLst>
              <a:path w="161925" h="6350">
                <a:moveTo>
                  <a:pt x="161848" y="0"/>
                </a:moveTo>
                <a:lnTo>
                  <a:pt x="0" y="0"/>
                </a:lnTo>
                <a:lnTo>
                  <a:pt x="0" y="6171"/>
                </a:lnTo>
                <a:lnTo>
                  <a:pt x="161848" y="6171"/>
                </a:lnTo>
                <a:lnTo>
                  <a:pt x="161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 txBox="1"/>
          <p:nvPr/>
        </p:nvSpPr>
        <p:spPr>
          <a:xfrm>
            <a:off x="3440615" y="3438310"/>
            <a:ext cx="8216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05">
                <a:latin typeface="Segoe UI Symbol"/>
                <a:cs typeface="Segoe UI Symbol"/>
              </a:rPr>
              <a:t> </a:t>
            </a:r>
            <a:r>
              <a:rPr dirty="0" sz="1200" spc="130">
                <a:latin typeface="Segoe UI Symbol"/>
                <a:cs typeface="Segoe UI Symbol"/>
              </a:rPr>
              <a:t> </a:t>
            </a:r>
            <a:r>
              <a:rPr dirty="0" baseline="-37037" sz="1800" spc="-247">
                <a:latin typeface="Lucida Sans Unicode"/>
                <a:cs typeface="Lucida Sans Unicode"/>
              </a:rPr>
              <a:t>2</a:t>
            </a:r>
            <a:r>
              <a:rPr dirty="0" baseline="-37037" sz="1800" spc="112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4273295" y="3561004"/>
            <a:ext cx="161925" cy="6350"/>
          </a:xfrm>
          <a:custGeom>
            <a:avLst/>
            <a:gdLst/>
            <a:ahLst/>
            <a:cxnLst/>
            <a:rect l="l" t="t" r="r" b="b"/>
            <a:pathLst>
              <a:path w="161925" h="6350">
                <a:moveTo>
                  <a:pt x="161848" y="0"/>
                </a:moveTo>
                <a:lnTo>
                  <a:pt x="0" y="0"/>
                </a:lnTo>
                <a:lnTo>
                  <a:pt x="0" y="6171"/>
                </a:lnTo>
                <a:lnTo>
                  <a:pt x="161848" y="6171"/>
                </a:lnTo>
                <a:lnTo>
                  <a:pt x="161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 txBox="1"/>
          <p:nvPr/>
        </p:nvSpPr>
        <p:spPr>
          <a:xfrm>
            <a:off x="4234890" y="3200682"/>
            <a:ext cx="240665" cy="549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0645" marR="30480" indent="-43180">
              <a:lnSpc>
                <a:spcPct val="143200"/>
              </a:lnSpc>
              <a:spcBef>
                <a:spcPts val="100"/>
              </a:spcBef>
            </a:pPr>
            <a:r>
              <a:rPr dirty="0" baseline="-20833" sz="1800" spc="67">
                <a:latin typeface="Lucida Sans Unicode"/>
                <a:cs typeface="Lucida Sans Unicode"/>
              </a:rPr>
              <a:t>n</a:t>
            </a:r>
            <a:r>
              <a:rPr dirty="0" sz="800" spc="-10">
                <a:latin typeface="Verdana"/>
                <a:cs typeface="Verdana"/>
              </a:rPr>
              <a:t>2 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01699" y="3739719"/>
            <a:ext cx="8343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452047" y="3839846"/>
            <a:ext cx="2984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254">
                <a:latin typeface="Lucida Sans Unicode"/>
                <a:cs typeface="Lucida Sans Unicode"/>
              </a:rPr>
              <a:t>X</a:t>
            </a:r>
            <a:r>
              <a:rPr dirty="0" sz="800" spc="-170">
                <a:latin typeface="Verdana"/>
                <a:cs typeface="Verdana"/>
              </a:rPr>
              <a:t>n−1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408167" y="3871849"/>
            <a:ext cx="240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22">
                <a:latin typeface="Lucida Sans Unicode"/>
                <a:cs typeface="Lucida Sans Unicode"/>
              </a:rPr>
              <a:t>n</a:t>
            </a:r>
            <a:r>
              <a:rPr dirty="0" sz="800" spc="15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4445507" y="4152316"/>
            <a:ext cx="161925" cy="6350"/>
          </a:xfrm>
          <a:custGeom>
            <a:avLst/>
            <a:gdLst/>
            <a:ahLst/>
            <a:cxnLst/>
            <a:rect l="l" t="t" r="r" b="b"/>
            <a:pathLst>
              <a:path w="161925" h="6350">
                <a:moveTo>
                  <a:pt x="161848" y="0"/>
                </a:moveTo>
                <a:lnTo>
                  <a:pt x="0" y="0"/>
                </a:lnTo>
                <a:lnTo>
                  <a:pt x="0" y="6171"/>
                </a:lnTo>
                <a:lnTo>
                  <a:pt x="161848" y="6171"/>
                </a:lnTo>
                <a:lnTo>
                  <a:pt x="161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 txBox="1"/>
          <p:nvPr/>
        </p:nvSpPr>
        <p:spPr>
          <a:xfrm>
            <a:off x="2949357" y="4029584"/>
            <a:ext cx="21050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5946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130">
                <a:latin typeface="Segoe UI Symbol"/>
                <a:cs typeface="Segoe UI Symbol"/>
              </a:rPr>
              <a:t> </a:t>
            </a:r>
            <a:r>
              <a:rPr dirty="0" baseline="-37037" sz="1800" spc="-247">
                <a:latin typeface="Lucida Sans Unicode"/>
                <a:cs typeface="Lucida Sans Unicode"/>
              </a:rPr>
              <a:t>2</a:t>
            </a:r>
            <a:r>
              <a:rPr dirty="0" baseline="-37037" sz="1800" spc="112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5065776" y="4152316"/>
            <a:ext cx="161925" cy="6350"/>
          </a:xfrm>
          <a:custGeom>
            <a:avLst/>
            <a:gdLst/>
            <a:ahLst/>
            <a:cxnLst/>
            <a:rect l="l" t="t" r="r" b="b"/>
            <a:pathLst>
              <a:path w="161925" h="6350">
                <a:moveTo>
                  <a:pt x="161848" y="0"/>
                </a:moveTo>
                <a:lnTo>
                  <a:pt x="0" y="0"/>
                </a:lnTo>
                <a:lnTo>
                  <a:pt x="0" y="6171"/>
                </a:lnTo>
                <a:lnTo>
                  <a:pt x="161848" y="6171"/>
                </a:lnTo>
                <a:lnTo>
                  <a:pt x="161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 txBox="1"/>
          <p:nvPr/>
        </p:nvSpPr>
        <p:spPr>
          <a:xfrm>
            <a:off x="5026989" y="3792185"/>
            <a:ext cx="240665" cy="549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0645" marR="30480" indent="-43180">
              <a:lnSpc>
                <a:spcPct val="143200"/>
              </a:lnSpc>
              <a:spcBef>
                <a:spcPts val="100"/>
              </a:spcBef>
            </a:pPr>
            <a:r>
              <a:rPr dirty="0" baseline="-20833" sz="1800" spc="67">
                <a:latin typeface="Lucida Sans Unicode"/>
                <a:cs typeface="Lucida Sans Unicode"/>
              </a:rPr>
              <a:t>n</a:t>
            </a:r>
            <a:r>
              <a:rPr dirty="0" sz="800" spc="-10">
                <a:latin typeface="Verdana"/>
                <a:cs typeface="Verdana"/>
              </a:rPr>
              <a:t>2 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01699" y="4232093"/>
            <a:ext cx="3011805" cy="396875"/>
          </a:xfrm>
          <a:prstGeom prst="rect">
            <a:avLst/>
          </a:prstGeom>
        </p:spPr>
        <p:txBody>
          <a:bodyPr wrap="square" lIns="0" tIns="39370" rIns="0" bIns="0" rtlCol="0" vert="horz">
            <a:spAutoFit/>
          </a:bodyPr>
          <a:lstStyle/>
          <a:p>
            <a:pPr algn="r" marR="196850">
              <a:lnSpc>
                <a:spcPct val="100000"/>
              </a:lnSpc>
              <a:spcBef>
                <a:spcPts val="310"/>
              </a:spcBef>
            </a:pPr>
            <a:r>
              <a:rPr dirty="0" sz="800" spc="-10">
                <a:latin typeface="Verdana"/>
                <a:cs typeface="Verdana"/>
              </a:rPr>
              <a:t>q=2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315"/>
              </a:spcBef>
            </a:pPr>
            <a:r>
              <a:rPr dirty="0" sz="1200" spc="-5">
                <a:latin typeface="Times New Roman"/>
                <a:cs typeface="Times New Roman"/>
              </a:rPr>
              <a:t>Plug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back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expression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2962643" y="4780992"/>
            <a:ext cx="493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3500627" y="4903648"/>
            <a:ext cx="149860" cy="6350"/>
          </a:xfrm>
          <a:custGeom>
            <a:avLst/>
            <a:gdLst/>
            <a:ahLst/>
            <a:cxnLst/>
            <a:rect l="l" t="t" r="r" b="b"/>
            <a:pathLst>
              <a:path w="149860" h="6350">
                <a:moveTo>
                  <a:pt x="149847" y="0"/>
                </a:moveTo>
                <a:lnTo>
                  <a:pt x="0" y="0"/>
                </a:lnTo>
                <a:lnTo>
                  <a:pt x="0" y="6171"/>
                </a:lnTo>
                <a:lnTo>
                  <a:pt x="149847" y="6171"/>
                </a:lnTo>
                <a:lnTo>
                  <a:pt x="1498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3770376" y="4903648"/>
            <a:ext cx="161925" cy="6350"/>
          </a:xfrm>
          <a:custGeom>
            <a:avLst/>
            <a:gdLst/>
            <a:ahLst/>
            <a:cxnLst/>
            <a:rect l="l" t="t" r="r" b="b"/>
            <a:pathLst>
              <a:path w="161925" h="6350">
                <a:moveTo>
                  <a:pt x="161848" y="0"/>
                </a:moveTo>
                <a:lnTo>
                  <a:pt x="0" y="0"/>
                </a:lnTo>
                <a:lnTo>
                  <a:pt x="0" y="6171"/>
                </a:lnTo>
                <a:lnTo>
                  <a:pt x="161848" y="6171"/>
                </a:lnTo>
                <a:lnTo>
                  <a:pt x="161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 txBox="1"/>
          <p:nvPr/>
        </p:nvSpPr>
        <p:spPr>
          <a:xfrm>
            <a:off x="3935448" y="4780992"/>
            <a:ext cx="4184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4390644" y="4903648"/>
            <a:ext cx="161925" cy="6350"/>
          </a:xfrm>
          <a:custGeom>
            <a:avLst/>
            <a:gdLst/>
            <a:ahLst/>
            <a:cxnLst/>
            <a:rect l="l" t="t" r="r" b="b"/>
            <a:pathLst>
              <a:path w="161925" h="6350">
                <a:moveTo>
                  <a:pt x="161848" y="0"/>
                </a:moveTo>
                <a:lnTo>
                  <a:pt x="0" y="0"/>
                </a:lnTo>
                <a:lnTo>
                  <a:pt x="0" y="6171"/>
                </a:lnTo>
                <a:lnTo>
                  <a:pt x="161848" y="6171"/>
                </a:lnTo>
                <a:lnTo>
                  <a:pt x="161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 txBox="1"/>
          <p:nvPr/>
        </p:nvSpPr>
        <p:spPr>
          <a:xfrm>
            <a:off x="4351819" y="4543364"/>
            <a:ext cx="344170" cy="549910"/>
          </a:xfrm>
          <a:prstGeom prst="rect">
            <a:avLst/>
          </a:prstGeom>
        </p:spPr>
        <p:txBody>
          <a:bodyPr wrap="square" lIns="0" tIns="914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20"/>
              </a:spcBef>
            </a:pPr>
            <a:r>
              <a:rPr dirty="0" baseline="-20833" sz="1800" spc="22">
                <a:latin typeface="Lucida Sans Unicode"/>
                <a:cs typeface="Lucida Sans Unicode"/>
              </a:rPr>
              <a:t>n</a:t>
            </a:r>
            <a:r>
              <a:rPr dirty="0" sz="800" spc="15">
                <a:latin typeface="Verdana"/>
                <a:cs typeface="Verdana"/>
              </a:rPr>
              <a:t>2</a:t>
            </a:r>
            <a:r>
              <a:rPr dirty="0" sz="800" spc="-185">
                <a:latin typeface="Verdana"/>
                <a:cs typeface="Verdana"/>
              </a:rPr>
              <a:t> </a:t>
            </a:r>
            <a:r>
              <a:rPr dirty="0" baseline="4629" sz="1800" spc="465">
                <a:latin typeface="Gulim"/>
                <a:cs typeface="Gulim"/>
              </a:rPr>
              <a:t> </a:t>
            </a:r>
            <a:endParaRPr baseline="4629" sz="1800">
              <a:latin typeface="Gulim"/>
              <a:cs typeface="Gulim"/>
            </a:endParaRPr>
          </a:p>
          <a:p>
            <a:pPr marL="80645">
              <a:lnSpc>
                <a:spcPct val="100000"/>
              </a:lnSpc>
              <a:spcBef>
                <a:spcPts val="625"/>
              </a:spcBef>
            </a:pPr>
            <a:r>
              <a:rPr dirty="0" sz="1200" spc="-165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678627" y="4780992"/>
            <a:ext cx="4235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5138927" y="4903648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 txBox="1"/>
          <p:nvPr/>
        </p:nvSpPr>
        <p:spPr>
          <a:xfrm>
            <a:off x="5125540" y="4653548"/>
            <a:ext cx="126364" cy="43942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24765">
              <a:lnSpc>
                <a:spcPct val="100000"/>
              </a:lnSpc>
              <a:spcBef>
                <a:spcPts val="290"/>
              </a:spcBef>
            </a:pPr>
            <a:r>
              <a:rPr dirty="0" sz="1200" spc="-165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2962642" y="5432616"/>
            <a:ext cx="493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3500627" y="5555920"/>
            <a:ext cx="149860" cy="6350"/>
          </a:xfrm>
          <a:custGeom>
            <a:avLst/>
            <a:gdLst/>
            <a:ahLst/>
            <a:cxnLst/>
            <a:rect l="l" t="t" r="r" b="b"/>
            <a:pathLst>
              <a:path w="149860" h="6350">
                <a:moveTo>
                  <a:pt x="149847" y="0"/>
                </a:moveTo>
                <a:lnTo>
                  <a:pt x="0" y="0"/>
                </a:lnTo>
                <a:lnTo>
                  <a:pt x="0" y="6171"/>
                </a:lnTo>
                <a:lnTo>
                  <a:pt x="149847" y="6171"/>
                </a:lnTo>
                <a:lnTo>
                  <a:pt x="1498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" name="object 66"/>
          <p:cNvSpPr/>
          <p:nvPr/>
        </p:nvSpPr>
        <p:spPr>
          <a:xfrm>
            <a:off x="3770376" y="5555920"/>
            <a:ext cx="161925" cy="6350"/>
          </a:xfrm>
          <a:custGeom>
            <a:avLst/>
            <a:gdLst/>
            <a:ahLst/>
            <a:cxnLst/>
            <a:rect l="l" t="t" r="r" b="b"/>
            <a:pathLst>
              <a:path w="161925" h="6350">
                <a:moveTo>
                  <a:pt x="161848" y="0"/>
                </a:moveTo>
                <a:lnTo>
                  <a:pt x="0" y="0"/>
                </a:lnTo>
                <a:lnTo>
                  <a:pt x="0" y="6171"/>
                </a:lnTo>
                <a:lnTo>
                  <a:pt x="161848" y="6171"/>
                </a:lnTo>
                <a:lnTo>
                  <a:pt x="161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" name="object 67"/>
          <p:cNvSpPr txBox="1"/>
          <p:nvPr/>
        </p:nvSpPr>
        <p:spPr>
          <a:xfrm>
            <a:off x="3424009" y="4653548"/>
            <a:ext cx="588010" cy="10909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0330" marR="68580" indent="-24765">
              <a:lnSpc>
                <a:spcPct val="113100"/>
              </a:lnSpc>
              <a:spcBef>
                <a:spcPts val="100"/>
              </a:spcBef>
              <a:tabLst>
                <a:tab pos="389890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2c</a:t>
            </a:r>
            <a:r>
              <a:rPr dirty="0" baseline="23148" sz="1800" spc="37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baseline="31250" sz="1200" spc="22">
                <a:latin typeface="Verdana"/>
                <a:cs typeface="Verdana"/>
              </a:rPr>
              <a:t>2 </a:t>
            </a:r>
            <a:r>
              <a:rPr dirty="0" baseline="31250" sz="1200" spc="-405">
                <a:latin typeface="Verdana"/>
                <a:cs typeface="Verdana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	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Lucida Sans Unicode"/>
              <a:cs typeface="Lucida Sans Unicode"/>
            </a:endParaRPr>
          </a:p>
          <a:p>
            <a:pPr marL="100330" marR="68580" indent="-24765">
              <a:lnSpc>
                <a:spcPct val="113100"/>
              </a:lnSpc>
              <a:tabLst>
                <a:tab pos="389890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2c</a:t>
            </a:r>
            <a:r>
              <a:rPr dirty="0" baseline="23148" sz="1800" spc="37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baseline="31250" sz="1200" spc="22">
                <a:latin typeface="Verdana"/>
                <a:cs typeface="Verdana"/>
              </a:rPr>
              <a:t>2 </a:t>
            </a:r>
            <a:r>
              <a:rPr dirty="0" baseline="31250" sz="1200" spc="-405">
                <a:latin typeface="Verdana"/>
                <a:cs typeface="Verdana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	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935448" y="5432616"/>
            <a:ext cx="4184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4390644" y="5555920"/>
            <a:ext cx="161925" cy="6350"/>
          </a:xfrm>
          <a:custGeom>
            <a:avLst/>
            <a:gdLst/>
            <a:ahLst/>
            <a:cxnLst/>
            <a:rect l="l" t="t" r="r" b="b"/>
            <a:pathLst>
              <a:path w="161925" h="6350">
                <a:moveTo>
                  <a:pt x="161848" y="0"/>
                </a:moveTo>
                <a:lnTo>
                  <a:pt x="0" y="0"/>
                </a:lnTo>
                <a:lnTo>
                  <a:pt x="0" y="6171"/>
                </a:lnTo>
                <a:lnTo>
                  <a:pt x="161848" y="6171"/>
                </a:lnTo>
                <a:lnTo>
                  <a:pt x="161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 txBox="1"/>
          <p:nvPr/>
        </p:nvSpPr>
        <p:spPr>
          <a:xfrm>
            <a:off x="4351819" y="5194988"/>
            <a:ext cx="344170" cy="549910"/>
          </a:xfrm>
          <a:prstGeom prst="rect">
            <a:avLst/>
          </a:prstGeom>
        </p:spPr>
        <p:txBody>
          <a:bodyPr wrap="square" lIns="0" tIns="914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20"/>
              </a:spcBef>
            </a:pPr>
            <a:r>
              <a:rPr dirty="0" baseline="-20833" sz="1800" spc="22">
                <a:latin typeface="Lucida Sans Unicode"/>
                <a:cs typeface="Lucida Sans Unicode"/>
              </a:rPr>
              <a:t>n</a:t>
            </a:r>
            <a:r>
              <a:rPr dirty="0" sz="800" spc="15">
                <a:latin typeface="Verdana"/>
                <a:cs typeface="Verdana"/>
              </a:rPr>
              <a:t>2</a:t>
            </a:r>
            <a:r>
              <a:rPr dirty="0" sz="800" spc="-185">
                <a:latin typeface="Verdana"/>
                <a:cs typeface="Verdana"/>
              </a:rPr>
              <a:t> </a:t>
            </a:r>
            <a:r>
              <a:rPr dirty="0" baseline="4629" sz="1800" spc="465">
                <a:latin typeface="Gulim"/>
                <a:cs typeface="Gulim"/>
              </a:rPr>
              <a:t> </a:t>
            </a:r>
            <a:endParaRPr baseline="4629" sz="1800">
              <a:latin typeface="Gulim"/>
              <a:cs typeface="Gulim"/>
            </a:endParaRPr>
          </a:p>
          <a:p>
            <a:pPr marL="80645">
              <a:lnSpc>
                <a:spcPct val="100000"/>
              </a:lnSpc>
              <a:spcBef>
                <a:spcPts val="625"/>
              </a:spcBef>
            </a:pPr>
            <a:r>
              <a:rPr dirty="0" sz="1200" spc="-165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4678627" y="5432616"/>
            <a:ext cx="4235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5138927" y="5555920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" name="object 73"/>
          <p:cNvSpPr txBox="1"/>
          <p:nvPr/>
        </p:nvSpPr>
        <p:spPr>
          <a:xfrm>
            <a:off x="5125540" y="5305173"/>
            <a:ext cx="126364" cy="43942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24765">
              <a:lnSpc>
                <a:spcPct val="100000"/>
              </a:lnSpc>
              <a:spcBef>
                <a:spcPts val="290"/>
              </a:spcBef>
            </a:pPr>
            <a:r>
              <a:rPr dirty="0" sz="1200" spc="-165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4101083" y="5918632"/>
            <a:ext cx="175260" cy="6350"/>
          </a:xfrm>
          <a:custGeom>
            <a:avLst/>
            <a:gdLst/>
            <a:ahLst/>
            <a:cxnLst/>
            <a:rect l="l" t="t" r="r" b="b"/>
            <a:pathLst>
              <a:path w="175260" h="6350">
                <a:moveTo>
                  <a:pt x="174878" y="0"/>
                </a:moveTo>
                <a:lnTo>
                  <a:pt x="0" y="0"/>
                </a:lnTo>
                <a:lnTo>
                  <a:pt x="0" y="6171"/>
                </a:lnTo>
                <a:lnTo>
                  <a:pt x="174878" y="6171"/>
                </a:lnTo>
                <a:lnTo>
                  <a:pt x="1748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" name="object 75"/>
          <p:cNvSpPr txBox="1"/>
          <p:nvPr/>
        </p:nvSpPr>
        <p:spPr>
          <a:xfrm>
            <a:off x="3289971" y="5795061"/>
            <a:ext cx="1609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85">
                <a:latin typeface="Garamond"/>
                <a:cs typeface="Garamond"/>
              </a:rPr>
              <a:t> </a:t>
            </a:r>
            <a:r>
              <a:rPr dirty="0" baseline="37037" sz="1800" spc="-52">
                <a:latin typeface="Lucida Sans Unicode"/>
                <a:cs typeface="Lucida Sans Unicode"/>
              </a:rPr>
              <a:t>c</a:t>
            </a:r>
            <a:r>
              <a:rPr dirty="0" baseline="37037" sz="1800" spc="67">
                <a:latin typeface="Lucida Sans Unicode"/>
                <a:cs typeface="Lucida Sans Unicode"/>
              </a:rPr>
              <a:t>n</a:t>
            </a:r>
            <a:r>
              <a:rPr dirty="0" baseline="37037" sz="1800" spc="7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20">
                <a:latin typeface="Garamond"/>
                <a:cs typeface="Garamond"/>
              </a:rPr>
              <a:t> </a:t>
            </a:r>
            <a:r>
              <a:rPr dirty="0" baseline="37037" sz="1800" spc="-247">
                <a:latin typeface="Lucida Sans Unicode"/>
                <a:cs typeface="Lucida Sans Unicode"/>
              </a:rPr>
              <a:t>4</a:t>
            </a:r>
            <a:endParaRPr baseline="37037" sz="1800">
              <a:latin typeface="Lucida Sans Unicode"/>
              <a:cs typeface="Lucida Sans Unicode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4771644" y="5918632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 txBox="1"/>
          <p:nvPr/>
        </p:nvSpPr>
        <p:spPr>
          <a:xfrm>
            <a:off x="4138445" y="5899188"/>
            <a:ext cx="747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3730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65">
                <a:latin typeface="Lucida Sans Unicode"/>
                <a:cs typeface="Lucida Sans Unicode"/>
              </a:rPr>
              <a:t>	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4530851" y="6281344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 txBox="1"/>
          <p:nvPr/>
        </p:nvSpPr>
        <p:spPr>
          <a:xfrm>
            <a:off x="4149280" y="6034520"/>
            <a:ext cx="5924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81635" algn="l"/>
              </a:tabLst>
            </a:pPr>
            <a:r>
              <a:rPr dirty="0" sz="1200" spc="145">
                <a:latin typeface="Gulim"/>
                <a:cs typeface="Gulim"/>
              </a:rPr>
              <a:t> </a:t>
            </a:r>
            <a:r>
              <a:rPr dirty="0" sz="1200" spc="145">
                <a:latin typeface="Gulim"/>
                <a:cs typeface="Gulim"/>
              </a:rPr>
              <a:t>	</a:t>
            </a:r>
            <a:r>
              <a:rPr dirty="0" baseline="-6944" sz="1800" spc="135">
                <a:latin typeface="Lucida Sans Unicode"/>
                <a:cs typeface="Lucida Sans Unicode"/>
              </a:rPr>
              <a:t>c</a:t>
            </a:r>
            <a:r>
              <a:rPr dirty="0" sz="1200" spc="145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3315371" y="6157506"/>
            <a:ext cx="15367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09065" algn="l"/>
              </a:tabLst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6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100">
                <a:latin typeface="Garamond"/>
                <a:cs typeface="Garamond"/>
              </a:rPr>
              <a:t>+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888139" y="6054750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4888991" y="6281344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" name="object 83"/>
          <p:cNvSpPr txBox="1"/>
          <p:nvPr/>
        </p:nvSpPr>
        <p:spPr>
          <a:xfrm>
            <a:off x="4517578" y="6261633"/>
            <a:ext cx="484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0205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65">
                <a:latin typeface="Lucida Sans Unicode"/>
                <a:cs typeface="Lucida Sans Unicode"/>
              </a:rPr>
              <a:t>	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4655820" y="6764452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 txBox="1"/>
          <p:nvPr/>
        </p:nvSpPr>
        <p:spPr>
          <a:xfrm>
            <a:off x="4274209" y="6518123"/>
            <a:ext cx="5924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81635" algn="l"/>
              </a:tabLst>
            </a:pPr>
            <a:r>
              <a:rPr dirty="0" sz="1200" spc="145">
                <a:latin typeface="Gulim"/>
                <a:cs typeface="Gulim"/>
              </a:rPr>
              <a:t> </a:t>
            </a:r>
            <a:r>
              <a:rPr dirty="0" sz="1200" spc="145">
                <a:latin typeface="Gulim"/>
                <a:cs typeface="Gulim"/>
              </a:rPr>
              <a:t>	</a:t>
            </a:r>
            <a:r>
              <a:rPr dirty="0" baseline="-6944" sz="1800" spc="135">
                <a:latin typeface="Lucida Sans Unicode"/>
                <a:cs typeface="Lucida Sans Unicode"/>
              </a:rPr>
              <a:t>c</a:t>
            </a:r>
            <a:r>
              <a:rPr dirty="0" sz="1200" spc="145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087572" y="6641110"/>
            <a:ext cx="1889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761489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6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100">
                <a:latin typeface="Garamond"/>
                <a:cs typeface="Garamond"/>
              </a:rPr>
              <a:t>+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5013068" y="6538353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5013959" y="6764452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 txBox="1"/>
          <p:nvPr/>
        </p:nvSpPr>
        <p:spPr>
          <a:xfrm>
            <a:off x="4642508" y="6745237"/>
            <a:ext cx="484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0205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65">
                <a:latin typeface="Lucida Sans Unicode"/>
                <a:cs typeface="Lucida Sans Unicode"/>
              </a:rPr>
              <a:t>	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901699" y="6913372"/>
            <a:ext cx="626872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finish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proof,we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 most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cn</a:t>
            </a:r>
            <a:r>
              <a:rPr dirty="0" sz="1200">
                <a:latin typeface="Times New Roman"/>
                <a:cs typeface="Times New Roman"/>
              </a:rPr>
              <a:t>ln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happen,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3960876" y="7442632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" name="object 92"/>
          <p:cNvSpPr txBox="1"/>
          <p:nvPr/>
        </p:nvSpPr>
        <p:spPr>
          <a:xfrm>
            <a:off x="3579506" y="7195922"/>
            <a:ext cx="579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81635" algn="l"/>
              </a:tabLst>
            </a:pPr>
            <a:r>
              <a:rPr dirty="0" sz="1200" spc="145">
                <a:latin typeface="Gulim"/>
                <a:cs typeface="Gulim"/>
              </a:rPr>
              <a:t> </a:t>
            </a:r>
            <a:r>
              <a:rPr dirty="0" sz="1200" spc="145">
                <a:latin typeface="Gulim"/>
                <a:cs typeface="Gulim"/>
              </a:rPr>
              <a:t>	</a:t>
            </a:r>
            <a:r>
              <a:rPr dirty="0" baseline="-6944" sz="1800" spc="135">
                <a:latin typeface="Lucida Sans Unicode"/>
                <a:cs typeface="Lucida Sans Unicode"/>
              </a:rPr>
              <a:t>c</a:t>
            </a:r>
            <a:r>
              <a:rPr dirty="0" sz="1200" spc="145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4318353" y="7216152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4319015" y="7442632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" name="object 95"/>
          <p:cNvSpPr txBox="1"/>
          <p:nvPr/>
        </p:nvSpPr>
        <p:spPr>
          <a:xfrm>
            <a:off x="901699" y="7318908"/>
            <a:ext cx="382397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ts val="1130"/>
              </a:lnSpc>
              <a:spcBef>
                <a:spcPts val="95"/>
              </a:spcBef>
              <a:tabLst>
                <a:tab pos="637540" algn="l"/>
                <a:tab pos="959485" algn="l"/>
              </a:tabLst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6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	</a:t>
            </a:r>
            <a:r>
              <a:rPr dirty="0" sz="1200" spc="100">
                <a:latin typeface="Garamond"/>
                <a:cs typeface="Garamond"/>
              </a:rPr>
              <a:t>+	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4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 algn="r" marR="298450">
              <a:lnSpc>
                <a:spcPts val="1075"/>
              </a:lnSpc>
              <a:tabLst>
                <a:tab pos="357505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2	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ts val="1385"/>
              </a:lnSpc>
            </a:pP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select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3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and use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fact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3602735" y="8050707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" name="object 97"/>
          <p:cNvSpPr txBox="1"/>
          <p:nvPr/>
        </p:nvSpPr>
        <p:spPr>
          <a:xfrm>
            <a:off x="3221623" y="7803883"/>
            <a:ext cx="579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81635" algn="l"/>
              </a:tabLst>
            </a:pPr>
            <a:r>
              <a:rPr dirty="0" sz="1200" spc="145">
                <a:latin typeface="Gulim"/>
                <a:cs typeface="Gulim"/>
              </a:rPr>
              <a:t> </a:t>
            </a:r>
            <a:r>
              <a:rPr dirty="0" sz="1200" spc="145">
                <a:latin typeface="Gulim"/>
                <a:cs typeface="Gulim"/>
              </a:rPr>
              <a:t>	</a:t>
            </a:r>
            <a:r>
              <a:rPr dirty="0" baseline="-6944" sz="1800" spc="135">
                <a:latin typeface="Lucida Sans Unicode"/>
                <a:cs typeface="Lucida Sans Unicode"/>
              </a:rPr>
              <a:t>c</a:t>
            </a:r>
            <a:r>
              <a:rPr dirty="0" sz="1200" spc="145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3960876" y="8050707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" name="object 99"/>
          <p:cNvSpPr/>
          <p:nvPr/>
        </p:nvSpPr>
        <p:spPr>
          <a:xfrm>
            <a:off x="4291583" y="8050707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" name="object 100"/>
          <p:cNvSpPr txBox="1"/>
          <p:nvPr/>
        </p:nvSpPr>
        <p:spPr>
          <a:xfrm>
            <a:off x="3146096" y="7926869"/>
            <a:ext cx="1422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0875" algn="l"/>
                <a:tab pos="972819" algn="l"/>
                <a:tab pos="1294765" algn="l"/>
              </a:tabLst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6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	</a:t>
            </a:r>
            <a:r>
              <a:rPr dirty="0" sz="1200" spc="100">
                <a:latin typeface="Garamond"/>
                <a:cs typeface="Garamond"/>
              </a:rPr>
              <a:t>+	=	</a:t>
            </a:r>
            <a:r>
              <a:rPr dirty="0" sz="1200" spc="-200">
                <a:latin typeface="Garamond"/>
                <a:cs typeface="Garamond"/>
              </a:rPr>
              <a:t>−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3960595" y="7824113"/>
            <a:ext cx="7581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2900" algn="l"/>
                <a:tab pos="643890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65">
                <a:latin typeface="Lucida Sans Unicode"/>
                <a:cs typeface="Lucida Sans Unicode"/>
              </a:rPr>
              <a:t>	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165">
                <a:latin typeface="Lucida Sans Unicode"/>
                <a:cs typeface="Lucida Sans Unicode"/>
              </a:rPr>
              <a:t>	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4604003" y="8050707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" name="object 103"/>
          <p:cNvSpPr txBox="1"/>
          <p:nvPr/>
        </p:nvSpPr>
        <p:spPr>
          <a:xfrm>
            <a:off x="3589920" y="8030997"/>
            <a:ext cx="11163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0205" algn="l"/>
                <a:tab pos="701040" algn="l"/>
                <a:tab pos="1026794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65">
                <a:latin typeface="Lucida Sans Unicode"/>
                <a:cs typeface="Lucida Sans Unicode"/>
              </a:rPr>
              <a:t>	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Lucida Sans Unicode"/>
                <a:cs typeface="Lucida Sans Unicode"/>
              </a:rPr>
              <a:t>	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Lucida Sans Unicode"/>
                <a:cs typeface="Lucida Sans Unicode"/>
              </a:rPr>
              <a:t>	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4239767" y="8413419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" name="object 105"/>
          <p:cNvSpPr txBox="1"/>
          <p:nvPr/>
        </p:nvSpPr>
        <p:spPr>
          <a:xfrm>
            <a:off x="4226343" y="8186559"/>
            <a:ext cx="521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2434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165">
                <a:latin typeface="Lucida Sans Unicode"/>
                <a:cs typeface="Lucida Sans Unicode"/>
              </a:rPr>
              <a:t>	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6" name="object 106"/>
          <p:cNvSpPr/>
          <p:nvPr/>
        </p:nvSpPr>
        <p:spPr>
          <a:xfrm>
            <a:off x="4658867" y="8413419"/>
            <a:ext cx="76200" cy="6350"/>
          </a:xfrm>
          <a:custGeom>
            <a:avLst/>
            <a:gdLst/>
            <a:ahLst/>
            <a:cxnLst/>
            <a:rect l="l" t="t" r="r" b="b"/>
            <a:pathLst>
              <a:path w="76200" h="6350">
                <a:moveTo>
                  <a:pt x="75894" y="0"/>
                </a:moveTo>
                <a:lnTo>
                  <a:pt x="0" y="0"/>
                </a:lnTo>
                <a:lnTo>
                  <a:pt x="0" y="6171"/>
                </a:lnTo>
                <a:lnTo>
                  <a:pt x="75894" y="6171"/>
                </a:lnTo>
                <a:lnTo>
                  <a:pt x="75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" name="object 107"/>
          <p:cNvSpPr txBox="1"/>
          <p:nvPr/>
        </p:nvSpPr>
        <p:spPr>
          <a:xfrm>
            <a:off x="3767288" y="8289314"/>
            <a:ext cx="1341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0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85">
                <a:latin typeface="Garamond"/>
                <a:cs typeface="Garamond"/>
              </a:rPr>
              <a:t> </a:t>
            </a:r>
            <a:r>
              <a:rPr dirty="0" baseline="-37037" sz="1800" spc="-247">
                <a:latin typeface="Lucida Sans Unicode"/>
                <a:cs typeface="Lucida Sans Unicode"/>
              </a:rPr>
              <a:t>2</a:t>
            </a:r>
            <a:r>
              <a:rPr dirty="0" baseline="-37037" sz="1800" spc="10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80">
                <a:latin typeface="Garamond"/>
                <a:cs typeface="Garamond"/>
              </a:rPr>
              <a:t> </a:t>
            </a:r>
            <a:r>
              <a:rPr dirty="0" baseline="-37037" sz="1800" spc="-247">
                <a:latin typeface="Lucida Sans Unicode"/>
                <a:cs typeface="Lucida Sans Unicode"/>
              </a:rPr>
              <a:t>2</a:t>
            </a:r>
            <a:r>
              <a:rPr dirty="0" baseline="-37037" sz="1800" spc="104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901698" y="8592095"/>
            <a:ext cx="535432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From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basis case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2.88</a:t>
            </a:r>
            <a:r>
              <a:rPr dirty="0" sz="1200" spc="-11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Choosing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satisfies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constraints.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Θ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14400" y="3860025"/>
          <a:ext cx="6419215" cy="50545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21735"/>
                <a:gridCol w="915035"/>
                <a:gridCol w="1554479"/>
                <a:gridCol w="227965"/>
              </a:tblGrid>
              <a:tr h="160737">
                <a:tc gridSpan="2">
                  <a:txBody>
                    <a:bodyPr/>
                    <a:lstStyle/>
                    <a:p>
                      <a:pPr>
                        <a:lnSpc>
                          <a:spcPts val="10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Bubble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sort,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insertion</a:t>
                      </a:r>
                      <a:r>
                        <a:rPr dirty="0" sz="1200" spc="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sort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selection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sort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are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in-place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sorting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algorithms.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53975">
                      <a:solidFill>
                        <a:srgbClr val="FFFFFF"/>
                      </a:solidFill>
                      <a:prstDash val="solid"/>
                    </a:lnR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3495">
                        <a:lnSpc>
                          <a:spcPts val="10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Bubble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sort and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insertion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53975">
                      <a:solidFill>
                        <a:srgbClr val="FFFFFF"/>
                      </a:solidFill>
                      <a:prstDash val="solid"/>
                    </a:lnL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53975">
                      <a:solidFill>
                        <a:srgbClr val="FFFFFF"/>
                      </a:solidFill>
                      <a:prstDash val="solid"/>
                    </a:lnB>
                  </a:tcPr>
                </a:tc>
              </a:tr>
              <a:tr h="183451">
                <a:tc gridSpan="4">
                  <a:txBody>
                    <a:bodyPr/>
                    <a:lstStyle/>
                    <a:p>
                      <a:pPr>
                        <a:lnSpc>
                          <a:spcPts val="125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sort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can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implemented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stable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algorithms 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but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selection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sort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cannot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(without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significant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modifications).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53975">
                      <a:solidFill>
                        <a:srgbClr val="FFFFFF"/>
                      </a:solidFill>
                      <a:prstDash val="solid"/>
                    </a:lnT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60737">
                <a:tc>
                  <a:txBody>
                    <a:bodyPr/>
                    <a:lstStyle/>
                    <a:p>
                      <a:pPr>
                        <a:lnSpc>
                          <a:spcPts val="116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Mergesort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stable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algorithm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but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not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an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in-place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algorithm.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53975">
                      <a:solidFill>
                        <a:srgbClr val="FFFFFF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53975">
                      <a:solidFill>
                        <a:srgbClr val="FFFFFF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901699" y="415895"/>
            <a:ext cx="2722245" cy="731520"/>
          </a:xfrm>
          <a:prstGeom prst="rect">
            <a:avLst/>
          </a:prstGeom>
        </p:spPr>
        <p:txBody>
          <a:bodyPr wrap="square" lIns="0" tIns="1193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40"/>
              </a:spcBef>
            </a:pPr>
            <a:r>
              <a:rPr dirty="0" sz="1200" spc="-5">
                <a:latin typeface="Times New Roman"/>
                <a:cs typeface="Times New Roman"/>
              </a:rPr>
              <a:t>54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4.4	In-place,</a:t>
            </a:r>
            <a:r>
              <a:rPr dirty="0" sz="1700" spc="-1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Stable</a:t>
            </a:r>
            <a:r>
              <a:rPr dirty="0" sz="1700" spc="-1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Sorting</a:t>
            </a:r>
            <a:endParaRPr sz="17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725157" y="520987"/>
            <a:ext cx="16033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3180" y="1520990"/>
            <a:ext cx="465899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 marL="635"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in-place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additional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storage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548631" y="1461836"/>
            <a:ext cx="144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sorting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3180" y="1704441"/>
            <a:ext cx="464629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 marL="635">
              <a:lnSpc>
                <a:spcPts val="1070"/>
              </a:lnSpc>
            </a:pPr>
            <a:r>
              <a:rPr dirty="0" sz="1200" spc="-10" i="1">
                <a:latin typeface="Times New Roman"/>
                <a:cs typeface="Times New Roman"/>
              </a:rPr>
              <a:t>stable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duplicate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remain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relative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position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546660" y="1645287"/>
            <a:ext cx="635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2778252" y="2367228"/>
            <a:ext cx="1750695" cy="262890"/>
          </a:xfrm>
          <a:custGeom>
            <a:avLst/>
            <a:gdLst/>
            <a:ahLst/>
            <a:cxnLst/>
            <a:rect l="l" t="t" r="r" b="b"/>
            <a:pathLst>
              <a:path w="1750695" h="262889">
                <a:moveTo>
                  <a:pt x="1750161" y="0"/>
                </a:moveTo>
                <a:lnTo>
                  <a:pt x="0" y="0"/>
                </a:lnTo>
                <a:lnTo>
                  <a:pt x="0" y="4483"/>
                </a:lnTo>
                <a:lnTo>
                  <a:pt x="0" y="5130"/>
                </a:lnTo>
                <a:lnTo>
                  <a:pt x="0" y="262686"/>
                </a:lnTo>
                <a:lnTo>
                  <a:pt x="5130" y="262686"/>
                </a:lnTo>
                <a:lnTo>
                  <a:pt x="5130" y="5130"/>
                </a:lnTo>
                <a:lnTo>
                  <a:pt x="1750161" y="5130"/>
                </a:lnTo>
                <a:lnTo>
                  <a:pt x="17501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2909492" y="2245133"/>
            <a:ext cx="141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4020" algn="l"/>
                <a:tab pos="992505" algn="l"/>
              </a:tabLst>
            </a:pPr>
            <a:r>
              <a:rPr dirty="0" sz="1200" spc="-5">
                <a:latin typeface="Gulim"/>
                <a:cs typeface="Gulim"/>
              </a:rPr>
              <a:t>.</a:t>
            </a:r>
            <a:r>
              <a:rPr dirty="0" sz="1200" spc="595">
                <a:latin typeface="Gulim"/>
                <a:cs typeface="Gulim"/>
              </a:rPr>
              <a:t> </a:t>
            </a:r>
            <a:r>
              <a:rPr dirty="0" sz="1200" spc="-5">
                <a:latin typeface="Gulim"/>
                <a:cs typeface="Gulim"/>
              </a:rPr>
              <a:t>.	.</a:t>
            </a:r>
            <a:r>
              <a:rPr dirty="0" sz="1200" spc="595">
                <a:latin typeface="Gulim"/>
                <a:cs typeface="Gulim"/>
              </a:rPr>
              <a:t> </a:t>
            </a:r>
            <a:r>
              <a:rPr dirty="0" sz="1200" spc="-5">
                <a:latin typeface="Gulim"/>
                <a:cs typeface="Gulim"/>
              </a:rPr>
              <a:t>.</a:t>
            </a:r>
            <a:r>
              <a:rPr dirty="0" sz="1200" spc="600">
                <a:latin typeface="Gulim"/>
                <a:cs typeface="Gulim"/>
              </a:rPr>
              <a:t> </a:t>
            </a:r>
            <a:r>
              <a:rPr dirty="0" sz="1200" spc="-5">
                <a:latin typeface="Gulim"/>
                <a:cs typeface="Gulim"/>
              </a:rPr>
              <a:t>.	.</a:t>
            </a:r>
            <a:r>
              <a:rPr dirty="0" sz="1200" spc="550">
                <a:latin typeface="Gulim"/>
                <a:cs typeface="Gulim"/>
              </a:rPr>
              <a:t> </a:t>
            </a:r>
            <a:r>
              <a:rPr dirty="0" sz="1200" spc="-5">
                <a:latin typeface="Gulim"/>
                <a:cs typeface="Gulim"/>
              </a:rPr>
              <a:t>.</a:t>
            </a:r>
            <a:r>
              <a:rPr dirty="0" sz="1200" spc="550">
                <a:latin typeface="Gulim"/>
                <a:cs typeface="Gulim"/>
              </a:rPr>
              <a:t> </a:t>
            </a:r>
            <a:r>
              <a:rPr dirty="0" sz="1200" spc="-5">
                <a:latin typeface="Gulim"/>
                <a:cs typeface="Gulim"/>
              </a:rPr>
              <a:t>.</a:t>
            </a:r>
            <a:endParaRPr sz="1200">
              <a:latin typeface="Gulim"/>
              <a:cs typeface="Gulim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782937" y="2374178"/>
            <a:ext cx="17341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9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3</a:t>
            </a:r>
            <a:r>
              <a:rPr dirty="0" cap="small" baseline="34722" sz="1200" spc="44">
                <a:latin typeface="Cambria"/>
                <a:cs typeface="Cambria"/>
              </a:rPr>
              <a:t>j</a:t>
            </a:r>
            <a:r>
              <a:rPr dirty="0" baseline="34722" sz="1200" spc="104">
                <a:latin typeface="Cambria"/>
                <a:cs typeface="Cambria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0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5</a:t>
            </a:r>
            <a:r>
              <a:rPr dirty="0" cap="small" baseline="34722" sz="1200" spc="44">
                <a:latin typeface="Cambria"/>
                <a:cs typeface="Cambria"/>
              </a:rPr>
              <a:t>j</a:t>
            </a:r>
            <a:r>
              <a:rPr dirty="0" baseline="34722" sz="1200" spc="104">
                <a:latin typeface="Cambria"/>
                <a:cs typeface="Cambria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0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3</a:t>
            </a:r>
            <a:r>
              <a:rPr dirty="0" cap="small" baseline="34722" sz="1200" spc="37">
                <a:latin typeface="Cambria"/>
                <a:cs typeface="Cambria"/>
              </a:rPr>
              <a:t>j</a:t>
            </a:r>
            <a:r>
              <a:rPr dirty="0" cap="small" baseline="34722" sz="1200" spc="44">
                <a:latin typeface="Cambria"/>
                <a:cs typeface="Cambria"/>
              </a:rPr>
              <a:t>j</a:t>
            </a:r>
            <a:endParaRPr baseline="34722" sz="1200">
              <a:latin typeface="Cambria"/>
              <a:cs typeface="Cambri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2778252" y="2371711"/>
            <a:ext cx="1750695" cy="262890"/>
          </a:xfrm>
          <a:custGeom>
            <a:avLst/>
            <a:gdLst/>
            <a:ahLst/>
            <a:cxnLst/>
            <a:rect l="l" t="t" r="r" b="b"/>
            <a:pathLst>
              <a:path w="1750695" h="262889">
                <a:moveTo>
                  <a:pt x="1750161" y="257644"/>
                </a:moveTo>
                <a:lnTo>
                  <a:pt x="1750110" y="0"/>
                </a:lnTo>
                <a:lnTo>
                  <a:pt x="1744980" y="0"/>
                </a:lnTo>
                <a:lnTo>
                  <a:pt x="1744980" y="257644"/>
                </a:lnTo>
                <a:lnTo>
                  <a:pt x="0" y="257644"/>
                </a:lnTo>
                <a:lnTo>
                  <a:pt x="0" y="262775"/>
                </a:lnTo>
                <a:lnTo>
                  <a:pt x="1750161" y="262775"/>
                </a:lnTo>
                <a:lnTo>
                  <a:pt x="1750161" y="257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4818987" y="2374178"/>
            <a:ext cx="5486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unsorted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2778252" y="2685744"/>
            <a:ext cx="1750695" cy="262890"/>
          </a:xfrm>
          <a:custGeom>
            <a:avLst/>
            <a:gdLst/>
            <a:ahLst/>
            <a:cxnLst/>
            <a:rect l="l" t="t" r="r" b="b"/>
            <a:pathLst>
              <a:path w="1750695" h="262889">
                <a:moveTo>
                  <a:pt x="1750161" y="0"/>
                </a:moveTo>
                <a:lnTo>
                  <a:pt x="0" y="0"/>
                </a:lnTo>
                <a:lnTo>
                  <a:pt x="0" y="4483"/>
                </a:lnTo>
                <a:lnTo>
                  <a:pt x="0" y="5130"/>
                </a:lnTo>
                <a:lnTo>
                  <a:pt x="0" y="262686"/>
                </a:lnTo>
                <a:lnTo>
                  <a:pt x="5130" y="262686"/>
                </a:lnTo>
                <a:lnTo>
                  <a:pt x="5130" y="5130"/>
                </a:lnTo>
                <a:lnTo>
                  <a:pt x="1750161" y="5130"/>
                </a:lnTo>
                <a:lnTo>
                  <a:pt x="17501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2909492" y="2563916"/>
            <a:ext cx="1487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1185" algn="l"/>
                <a:tab pos="844550" algn="l"/>
                <a:tab pos="1246505" algn="l"/>
              </a:tabLst>
            </a:pPr>
            <a:r>
              <a:rPr dirty="0" sz="1200" spc="-5">
                <a:latin typeface="Gulim"/>
                <a:cs typeface="Gulim"/>
              </a:rPr>
              <a:t>.</a:t>
            </a:r>
            <a:r>
              <a:rPr dirty="0" sz="1200" spc="595">
                <a:latin typeface="Gulim"/>
                <a:cs typeface="Gulim"/>
              </a:rPr>
              <a:t> </a:t>
            </a:r>
            <a:r>
              <a:rPr dirty="0" sz="1200" spc="-5">
                <a:latin typeface="Gulim"/>
                <a:cs typeface="Gulim"/>
              </a:rPr>
              <a:t>.</a:t>
            </a:r>
            <a:r>
              <a:rPr dirty="0" sz="1200" spc="595">
                <a:latin typeface="Gulim"/>
                <a:cs typeface="Gulim"/>
              </a:rPr>
              <a:t> </a:t>
            </a:r>
            <a:r>
              <a:rPr dirty="0" sz="1200" spc="-5">
                <a:latin typeface="Gulim"/>
                <a:cs typeface="Gulim"/>
              </a:rPr>
              <a:t>.	.	.</a:t>
            </a:r>
            <a:r>
              <a:rPr dirty="0" sz="1200" spc="600">
                <a:latin typeface="Gulim"/>
                <a:cs typeface="Gulim"/>
              </a:rPr>
              <a:t> </a:t>
            </a:r>
            <a:r>
              <a:rPr dirty="0" sz="1200" spc="-5">
                <a:latin typeface="Gulim"/>
                <a:cs typeface="Gulim"/>
              </a:rPr>
              <a:t>.	.</a:t>
            </a:r>
            <a:r>
              <a:rPr dirty="0" sz="1200" spc="505">
                <a:latin typeface="Gulim"/>
                <a:cs typeface="Gulim"/>
              </a:rPr>
              <a:t> </a:t>
            </a:r>
            <a:r>
              <a:rPr dirty="0" sz="1200" spc="-5">
                <a:latin typeface="Gulim"/>
                <a:cs typeface="Gulim"/>
              </a:rPr>
              <a:t>.</a:t>
            </a:r>
            <a:endParaRPr sz="1200">
              <a:latin typeface="Gulim"/>
              <a:cs typeface="Gulim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782937" y="2693074"/>
            <a:ext cx="17405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3</a:t>
            </a:r>
            <a:r>
              <a:rPr dirty="0" cap="small" baseline="34722" sz="1200" spc="44">
                <a:latin typeface="Cambria"/>
                <a:cs typeface="Cambria"/>
              </a:rPr>
              <a:t>j</a:t>
            </a:r>
            <a:r>
              <a:rPr dirty="0" baseline="34722" sz="1200" spc="104">
                <a:latin typeface="Cambria"/>
                <a:cs typeface="Cambria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3</a:t>
            </a:r>
            <a:r>
              <a:rPr dirty="0" cap="small" baseline="34722" sz="1200" spc="37">
                <a:latin typeface="Cambria"/>
                <a:cs typeface="Cambria"/>
              </a:rPr>
              <a:t>j</a:t>
            </a:r>
            <a:r>
              <a:rPr dirty="0" cap="small" baseline="34722" sz="1200" spc="44">
                <a:latin typeface="Cambria"/>
                <a:cs typeface="Cambria"/>
              </a:rPr>
              <a:t>j</a:t>
            </a:r>
            <a:r>
              <a:rPr dirty="0" baseline="34722" sz="1200" spc="104">
                <a:latin typeface="Cambria"/>
                <a:cs typeface="Cambria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0">
                <a:latin typeface="Gulim"/>
                <a:cs typeface="Gulim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5</a:t>
            </a:r>
            <a:r>
              <a:rPr dirty="0" cap="small" baseline="34722" sz="1200" spc="44">
                <a:latin typeface="Cambria"/>
                <a:cs typeface="Cambria"/>
              </a:rPr>
              <a:t>j</a:t>
            </a:r>
            <a:r>
              <a:rPr dirty="0" baseline="34722" sz="1200" spc="104">
                <a:latin typeface="Cambria"/>
                <a:cs typeface="Cambria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9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2778252" y="2690227"/>
            <a:ext cx="1750695" cy="262890"/>
          </a:xfrm>
          <a:custGeom>
            <a:avLst/>
            <a:gdLst/>
            <a:ahLst/>
            <a:cxnLst/>
            <a:rect l="l" t="t" r="r" b="b"/>
            <a:pathLst>
              <a:path w="1750695" h="262889">
                <a:moveTo>
                  <a:pt x="1750161" y="257644"/>
                </a:moveTo>
                <a:lnTo>
                  <a:pt x="1750110" y="0"/>
                </a:lnTo>
                <a:lnTo>
                  <a:pt x="1744980" y="0"/>
                </a:lnTo>
                <a:lnTo>
                  <a:pt x="1744980" y="257644"/>
                </a:lnTo>
                <a:lnTo>
                  <a:pt x="0" y="257644"/>
                </a:lnTo>
                <a:lnTo>
                  <a:pt x="0" y="262775"/>
                </a:lnTo>
                <a:lnTo>
                  <a:pt x="1750161" y="262775"/>
                </a:lnTo>
                <a:lnTo>
                  <a:pt x="1750161" y="257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4818987" y="2693074"/>
            <a:ext cx="6457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stable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2778252" y="3004260"/>
            <a:ext cx="1750695" cy="262890"/>
          </a:xfrm>
          <a:custGeom>
            <a:avLst/>
            <a:gdLst/>
            <a:ahLst/>
            <a:cxnLst/>
            <a:rect l="l" t="t" r="r" b="b"/>
            <a:pathLst>
              <a:path w="1750695" h="262889">
                <a:moveTo>
                  <a:pt x="1750161" y="0"/>
                </a:moveTo>
                <a:lnTo>
                  <a:pt x="0" y="0"/>
                </a:lnTo>
                <a:lnTo>
                  <a:pt x="0" y="4483"/>
                </a:lnTo>
                <a:lnTo>
                  <a:pt x="0" y="5130"/>
                </a:lnTo>
                <a:lnTo>
                  <a:pt x="0" y="262686"/>
                </a:lnTo>
                <a:lnTo>
                  <a:pt x="5130" y="262686"/>
                </a:lnTo>
                <a:lnTo>
                  <a:pt x="5130" y="5130"/>
                </a:lnTo>
                <a:lnTo>
                  <a:pt x="1750161" y="5130"/>
                </a:lnTo>
                <a:lnTo>
                  <a:pt x="17501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2909492" y="2882812"/>
            <a:ext cx="1487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4020" algn="l"/>
                <a:tab pos="844550" algn="l"/>
                <a:tab pos="1069340" algn="l"/>
              </a:tabLst>
            </a:pPr>
            <a:r>
              <a:rPr dirty="0" sz="1200" spc="-5">
                <a:latin typeface="Gulim"/>
                <a:cs typeface="Gulim"/>
              </a:rPr>
              <a:t>.</a:t>
            </a:r>
            <a:r>
              <a:rPr dirty="0" sz="1200" spc="595">
                <a:latin typeface="Gulim"/>
                <a:cs typeface="Gulim"/>
              </a:rPr>
              <a:t> </a:t>
            </a:r>
            <a:r>
              <a:rPr dirty="0" sz="1200" spc="-5">
                <a:latin typeface="Gulim"/>
                <a:cs typeface="Gulim"/>
              </a:rPr>
              <a:t>.	.</a:t>
            </a:r>
            <a:r>
              <a:rPr dirty="0" sz="1200" spc="595">
                <a:latin typeface="Gulim"/>
                <a:cs typeface="Gulim"/>
              </a:rPr>
              <a:t> </a:t>
            </a:r>
            <a:r>
              <a:rPr dirty="0" sz="1200" spc="-5">
                <a:latin typeface="Gulim"/>
                <a:cs typeface="Gulim"/>
              </a:rPr>
              <a:t>.	.	.</a:t>
            </a:r>
            <a:r>
              <a:rPr dirty="0" sz="1200" spc="550">
                <a:latin typeface="Gulim"/>
                <a:cs typeface="Gulim"/>
              </a:rPr>
              <a:t> </a:t>
            </a:r>
            <a:r>
              <a:rPr dirty="0" sz="1200" spc="-5">
                <a:latin typeface="Gulim"/>
                <a:cs typeface="Gulim"/>
              </a:rPr>
              <a:t>.</a:t>
            </a:r>
            <a:r>
              <a:rPr dirty="0" sz="1200" spc="555">
                <a:latin typeface="Gulim"/>
                <a:cs typeface="Gulim"/>
              </a:rPr>
              <a:t> </a:t>
            </a:r>
            <a:r>
              <a:rPr dirty="0" sz="1200" spc="-5">
                <a:latin typeface="Gulim"/>
                <a:cs typeface="Gulim"/>
              </a:rPr>
              <a:t>.</a:t>
            </a:r>
            <a:endParaRPr sz="1200">
              <a:latin typeface="Gulim"/>
              <a:cs typeface="Gulim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782937" y="3011857"/>
            <a:ext cx="17405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3</a:t>
            </a:r>
            <a:r>
              <a:rPr dirty="0" cap="small" baseline="34722" sz="1200" spc="44">
                <a:latin typeface="Cambria"/>
                <a:cs typeface="Cambria"/>
              </a:rPr>
              <a:t>j</a:t>
            </a:r>
            <a:r>
              <a:rPr dirty="0" baseline="34722" sz="1200" spc="104">
                <a:latin typeface="Cambria"/>
                <a:cs typeface="Cambria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0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3</a:t>
            </a:r>
            <a:r>
              <a:rPr dirty="0" cap="small" baseline="34722" sz="1200" spc="37">
                <a:latin typeface="Cambria"/>
                <a:cs typeface="Cambria"/>
              </a:rPr>
              <a:t>j</a:t>
            </a:r>
            <a:r>
              <a:rPr dirty="0" cap="small" baseline="34722" sz="1200" spc="44">
                <a:latin typeface="Cambria"/>
                <a:cs typeface="Cambria"/>
              </a:rPr>
              <a:t>j</a:t>
            </a:r>
            <a:r>
              <a:rPr dirty="0" baseline="34722" sz="1200" spc="104">
                <a:latin typeface="Cambria"/>
                <a:cs typeface="Cambria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5</a:t>
            </a:r>
            <a:r>
              <a:rPr dirty="0" cap="small" baseline="34722" sz="1200" spc="44">
                <a:latin typeface="Cambria"/>
                <a:cs typeface="Cambria"/>
              </a:rPr>
              <a:t>j</a:t>
            </a:r>
            <a:r>
              <a:rPr dirty="0" baseline="34722" sz="1200" spc="104">
                <a:latin typeface="Cambria"/>
                <a:cs typeface="Cambria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baseline="13888" sz="1800" spc="-7">
                <a:latin typeface="Gulim"/>
                <a:cs typeface="Gulim"/>
              </a:rPr>
              <a:t>.</a:t>
            </a:r>
            <a:r>
              <a:rPr dirty="0" baseline="13888" sz="1800" spc="-307">
                <a:latin typeface="Gulim"/>
                <a:cs typeface="Gulim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9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2778252" y="3008743"/>
            <a:ext cx="1750695" cy="264795"/>
          </a:xfrm>
          <a:custGeom>
            <a:avLst/>
            <a:gdLst/>
            <a:ahLst/>
            <a:cxnLst/>
            <a:rect l="l" t="t" r="r" b="b"/>
            <a:pathLst>
              <a:path w="1750695" h="264795">
                <a:moveTo>
                  <a:pt x="1750110" y="0"/>
                </a:moveTo>
                <a:lnTo>
                  <a:pt x="1744980" y="0"/>
                </a:lnTo>
                <a:lnTo>
                  <a:pt x="1744980" y="258203"/>
                </a:lnTo>
                <a:lnTo>
                  <a:pt x="1750110" y="258203"/>
                </a:lnTo>
                <a:lnTo>
                  <a:pt x="1750110" y="0"/>
                </a:lnTo>
                <a:close/>
              </a:path>
              <a:path w="1750695" h="264795">
                <a:moveTo>
                  <a:pt x="1750161" y="259168"/>
                </a:moveTo>
                <a:lnTo>
                  <a:pt x="0" y="259168"/>
                </a:lnTo>
                <a:lnTo>
                  <a:pt x="0" y="264299"/>
                </a:lnTo>
                <a:lnTo>
                  <a:pt x="1750161" y="264299"/>
                </a:lnTo>
                <a:lnTo>
                  <a:pt x="1750161" y="259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4818987" y="3011857"/>
            <a:ext cx="5314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un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bl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01699" y="4167772"/>
            <a:ext cx="640270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376872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requires</a:t>
            </a:r>
            <a:r>
              <a:rPr dirty="0" sz="1200" spc="-10">
                <a:latin typeface="Times New Roman"/>
                <a:cs typeface="Times New Roman"/>
              </a:rPr>
              <a:t> extra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storage.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Quicksort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stable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in-place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Heapsort is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in-place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stable.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63598" y="5514399"/>
            <a:ext cx="6502400" cy="1609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5422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4.5	Lower</a:t>
            </a:r>
            <a:r>
              <a:rPr dirty="0" sz="1700" spc="-10" b="1">
                <a:latin typeface="Times New Roman"/>
                <a:cs typeface="Times New Roman"/>
              </a:rPr>
              <a:t> </a:t>
            </a:r>
            <a:r>
              <a:rPr dirty="0" sz="1700" spc="10" b="1">
                <a:latin typeface="Times New Roman"/>
                <a:cs typeface="Times New Roman"/>
              </a:rPr>
              <a:t>Bounds</a:t>
            </a:r>
            <a:r>
              <a:rPr dirty="0" sz="1700" spc="-15" b="1">
                <a:latin typeface="Times New Roman"/>
                <a:cs typeface="Times New Roman"/>
              </a:rPr>
              <a:t> </a:t>
            </a:r>
            <a:r>
              <a:rPr dirty="0" sz="1700" spc="-10" b="1">
                <a:latin typeface="Times New Roman"/>
                <a:cs typeface="Times New Roman"/>
              </a:rPr>
              <a:t>for </a:t>
            </a:r>
            <a:r>
              <a:rPr dirty="0" sz="1700" spc="5" b="1">
                <a:latin typeface="Times New Roman"/>
                <a:cs typeface="Times New Roman"/>
              </a:rPr>
              <a:t>Sorting</a:t>
            </a:r>
            <a:endParaRPr sz="1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23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 best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seen 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O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 better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endParaRPr sz="1200">
              <a:latin typeface="Times New Roman"/>
              <a:cs typeface="Times New Roman"/>
            </a:endParaRPr>
          </a:p>
          <a:p>
            <a:pPr marL="50800" marR="43180" indent="-635">
              <a:lnSpc>
                <a:spcPct val="100000"/>
              </a:lnSpc>
              <a:spcBef>
                <a:spcPts val="5"/>
              </a:spcBef>
            </a:pPr>
            <a:r>
              <a:rPr dirty="0" sz="1200" spc="60">
                <a:latin typeface="Lucida Sans Unicode"/>
                <a:cs typeface="Lucida Sans Unicode"/>
              </a:rPr>
              <a:t>O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 </a:t>
            </a:r>
            <a:r>
              <a:rPr dirty="0" sz="1200" spc="-10">
                <a:latin typeface="Times New Roman"/>
                <a:cs typeface="Times New Roman"/>
              </a:rPr>
              <a:t>log 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? </a:t>
            </a:r>
            <a:r>
              <a:rPr dirty="0" sz="1200" spc="-5">
                <a:latin typeface="Times New Roman"/>
                <a:cs typeface="Times New Roman"/>
              </a:rPr>
              <a:t>If a </a:t>
            </a:r>
            <a:r>
              <a:rPr dirty="0" sz="1200" spc="-10">
                <a:latin typeface="Times New Roman"/>
                <a:cs typeface="Times New Roman"/>
              </a:rPr>
              <a:t>sorting algorithm </a:t>
            </a:r>
            <a:r>
              <a:rPr dirty="0" sz="1200" spc="-5">
                <a:latin typeface="Times New Roman"/>
                <a:cs typeface="Times New Roman"/>
              </a:rPr>
              <a:t>is solely based on </a:t>
            </a:r>
            <a:r>
              <a:rPr dirty="0" sz="1200" spc="-10">
                <a:latin typeface="Times New Roman"/>
                <a:cs typeface="Times New Roman"/>
              </a:rPr>
              <a:t>comparison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5">
                <a:latin typeface="Times New Roman"/>
                <a:cs typeface="Times New Roman"/>
              </a:rPr>
              <a:t>keys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array then it is </a:t>
            </a:r>
            <a:r>
              <a:rPr dirty="0" sz="1200" spc="-10" i="1">
                <a:latin typeface="Times New Roman"/>
                <a:cs typeface="Times New Roman"/>
              </a:rPr>
              <a:t>impossible </a:t>
            </a:r>
            <a:r>
              <a:rPr dirty="0" sz="1200" spc="-28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sort </a:t>
            </a:r>
            <a:r>
              <a:rPr dirty="0" sz="1200" spc="-10">
                <a:latin typeface="Times New Roman"/>
                <a:cs typeface="Times New Roman"/>
              </a:rPr>
              <a:t>more efficiently </a:t>
            </a:r>
            <a:r>
              <a:rPr dirty="0" sz="1200" spc="-5">
                <a:latin typeface="Times New Roman"/>
                <a:cs typeface="Times New Roman"/>
              </a:rPr>
              <a:t>than </a:t>
            </a:r>
            <a:r>
              <a:rPr dirty="0" sz="1200" spc="50">
                <a:latin typeface="Lucida Sans Unicode"/>
                <a:cs typeface="Lucida Sans Unicode"/>
              </a:rPr>
              <a:t>Ω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n </a:t>
            </a:r>
            <a:r>
              <a:rPr dirty="0" sz="1200" spc="-10">
                <a:latin typeface="Times New Roman"/>
                <a:cs typeface="Times New Roman"/>
              </a:rPr>
              <a:t>log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time. </a:t>
            </a:r>
            <a:r>
              <a:rPr dirty="0" sz="1200" spc="-10">
                <a:latin typeface="Times New Roman"/>
                <a:cs typeface="Times New Roman"/>
              </a:rPr>
              <a:t>All algorithms we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seen so </a:t>
            </a:r>
            <a:r>
              <a:rPr dirty="0" sz="1200" spc="-10">
                <a:latin typeface="Times New Roman"/>
                <a:cs typeface="Times New Roman"/>
              </a:rPr>
              <a:t>far </a:t>
            </a:r>
            <a:r>
              <a:rPr dirty="0" sz="1200" spc="-5">
                <a:latin typeface="Times New Roman"/>
                <a:cs typeface="Times New Roman"/>
              </a:rPr>
              <a:t>are comparison-based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 algorithms.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a</a:t>
            </a:r>
            <a:r>
              <a:rPr dirty="0" baseline="-13888" sz="1200" spc="-7">
                <a:latin typeface="Verdana"/>
                <a:cs typeface="Verdana"/>
              </a:rPr>
              <a:t>1</a:t>
            </a:r>
            <a:r>
              <a:rPr dirty="0" sz="1200" spc="-5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sz="1200" spc="-1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a</a:t>
            </a:r>
            <a:r>
              <a:rPr dirty="0" baseline="-13888" sz="1200" spc="7">
                <a:latin typeface="Verdana"/>
                <a:cs typeface="Verdana"/>
              </a:rPr>
              <a:t>3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3</a:t>
            </a:r>
            <a:r>
              <a:rPr dirty="0" sz="1200" spc="-40">
                <a:latin typeface="Garamond"/>
                <a:cs typeface="Garamond"/>
              </a:rPr>
              <a:t>!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combinations: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909818" y="7571398"/>
            <a:ext cx="2410460" cy="468630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05"/>
              </a:spcBef>
            </a:pP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baseline="-13888" sz="1200" spc="30">
                <a:latin typeface="Verdana"/>
                <a:cs typeface="Verdana"/>
              </a:rPr>
              <a:t>1</a:t>
            </a:r>
            <a:r>
              <a:rPr dirty="0" sz="1200" spc="2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sz="1200" spc="-1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baseline="-13888" sz="1200" spc="30">
                <a:latin typeface="Verdana"/>
                <a:cs typeface="Verdana"/>
              </a:rPr>
              <a:t>3</a:t>
            </a:r>
            <a:r>
              <a:rPr dirty="0" sz="1200" spc="20">
                <a:latin typeface="Garamond"/>
                <a:cs typeface="Garamond"/>
              </a:rPr>
              <a:t>)</a:t>
            </a:r>
            <a:r>
              <a:rPr dirty="0" sz="1200" spc="20">
                <a:latin typeface="Lucida Sans Unicode"/>
                <a:cs typeface="Lucida Sans Unicode"/>
              </a:rPr>
              <a:t>,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baseline="-13888" sz="1200" spc="30">
                <a:latin typeface="Verdana"/>
                <a:cs typeface="Verdana"/>
              </a:rPr>
              <a:t>1</a:t>
            </a:r>
            <a:r>
              <a:rPr dirty="0" sz="1200" spc="2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3</a:t>
            </a:r>
            <a:r>
              <a:rPr dirty="0" sz="1200" spc="-1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a</a:t>
            </a:r>
            <a:r>
              <a:rPr dirty="0" baseline="-13888" sz="1200" spc="67">
                <a:latin typeface="Verdana"/>
                <a:cs typeface="Verdana"/>
              </a:rPr>
              <a:t>2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baseline="-13888" sz="1200" spc="30">
                <a:latin typeface="Verdana"/>
                <a:cs typeface="Verdana"/>
              </a:rPr>
              <a:t>3</a:t>
            </a:r>
            <a:r>
              <a:rPr dirty="0" sz="1200" spc="2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sz="1200" spc="-1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a</a:t>
            </a:r>
            <a:r>
              <a:rPr dirty="0" baseline="-13888" sz="1200" spc="67">
                <a:latin typeface="Verdana"/>
                <a:cs typeface="Verdana"/>
              </a:rPr>
              <a:t>1</a:t>
            </a:r>
            <a:r>
              <a:rPr dirty="0" sz="1200" spc="4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8100">
              <a:lnSpc>
                <a:spcPct val="100000"/>
              </a:lnSpc>
              <a:spcBef>
                <a:spcPts val="300"/>
              </a:spcBef>
            </a:pP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baseline="-13888" sz="1200" spc="30">
                <a:latin typeface="Verdana"/>
                <a:cs typeface="Verdana"/>
              </a:rPr>
              <a:t>3</a:t>
            </a:r>
            <a:r>
              <a:rPr dirty="0" sz="1200" spc="2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sz="1200" spc="-1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baseline="-13888" sz="1200" spc="30">
                <a:latin typeface="Verdana"/>
                <a:cs typeface="Verdana"/>
              </a:rPr>
              <a:t>2</a:t>
            </a:r>
            <a:r>
              <a:rPr dirty="0" sz="1200" spc="20">
                <a:latin typeface="Garamond"/>
                <a:cs typeface="Garamond"/>
              </a:rPr>
              <a:t>)</a:t>
            </a:r>
            <a:r>
              <a:rPr dirty="0" sz="1200" spc="20">
                <a:latin typeface="Lucida Sans Unicode"/>
                <a:cs typeface="Lucida Sans Unicode"/>
              </a:rPr>
              <a:t>,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baseline="-13888" sz="1200" spc="30">
                <a:latin typeface="Verdana"/>
                <a:cs typeface="Verdana"/>
              </a:rPr>
              <a:t>2</a:t>
            </a:r>
            <a:r>
              <a:rPr dirty="0" sz="1200" spc="2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sz="1200" spc="-1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a</a:t>
            </a:r>
            <a:r>
              <a:rPr dirty="0" baseline="-13888" sz="1200" spc="67">
                <a:latin typeface="Verdana"/>
                <a:cs typeface="Verdana"/>
              </a:rPr>
              <a:t>3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baseline="-13888" sz="1200" spc="30">
                <a:latin typeface="Verdana"/>
                <a:cs typeface="Verdana"/>
              </a:rPr>
              <a:t>2</a:t>
            </a:r>
            <a:r>
              <a:rPr dirty="0" sz="1200" spc="2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3</a:t>
            </a:r>
            <a:r>
              <a:rPr dirty="0" sz="1200" spc="-1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a</a:t>
            </a:r>
            <a:r>
              <a:rPr dirty="0" baseline="-13888" sz="1200" spc="67">
                <a:latin typeface="Verdana"/>
                <a:cs typeface="Verdana"/>
              </a:rPr>
              <a:t>1</a:t>
            </a:r>
            <a:r>
              <a:rPr dirty="0" sz="1200" spc="4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01708" y="8460080"/>
            <a:ext cx="5793105" cy="523240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permutations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order.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comparison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decision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tree</a:t>
            </a:r>
            <a:r>
              <a:rPr dirty="0" sz="1200" spc="-1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55524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4.5.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LOWER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BOUNDS </a:t>
            </a:r>
            <a:r>
              <a:rPr dirty="0" sz="1200" spc="-5">
                <a:latin typeface="Times New Roman"/>
                <a:cs typeface="Times New Roman"/>
              </a:rPr>
              <a:t>FOR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821179" y="938474"/>
            <a:ext cx="4587240" cy="2590800"/>
            <a:chOff x="1821179" y="938474"/>
            <a:chExt cx="4587240" cy="2590800"/>
          </a:xfrm>
        </p:grpSpPr>
        <p:sp>
          <p:nvSpPr>
            <p:cNvPr id="5" name="object 5"/>
            <p:cNvSpPr/>
            <p:nvPr/>
          </p:nvSpPr>
          <p:spPr>
            <a:xfrm>
              <a:off x="1821179" y="938474"/>
              <a:ext cx="4587240" cy="2590800"/>
            </a:xfrm>
            <a:custGeom>
              <a:avLst/>
              <a:gdLst/>
              <a:ahLst/>
              <a:cxnLst/>
              <a:rect l="l" t="t" r="r" b="b"/>
              <a:pathLst>
                <a:path w="4587240" h="2590800">
                  <a:moveTo>
                    <a:pt x="4586736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4586736" y="2590601"/>
                  </a:lnTo>
                  <a:lnTo>
                    <a:pt x="458673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74058" y="996259"/>
              <a:ext cx="4467249" cy="2470657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3525112" y="1040080"/>
            <a:ext cx="48133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a1</a:t>
            </a:r>
            <a:r>
              <a:rPr dirty="0" sz="1100" spc="-4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&lt;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a2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968026" y="2525929"/>
            <a:ext cx="48133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a1</a:t>
            </a:r>
            <a:r>
              <a:rPr dirty="0" sz="1100" spc="-4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&lt;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a3</a:t>
            </a:r>
            <a:endParaRPr sz="11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503638" y="1783462"/>
            <a:ext cx="48133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a2</a:t>
            </a:r>
            <a:r>
              <a:rPr dirty="0" sz="1100" spc="-4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&lt;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a3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92927" y="1829816"/>
            <a:ext cx="48133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a1</a:t>
            </a:r>
            <a:r>
              <a:rPr dirty="0" sz="1100" spc="-4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&lt;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a3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289967" y="2525929"/>
            <a:ext cx="48133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a2</a:t>
            </a:r>
            <a:r>
              <a:rPr dirty="0" sz="1100" spc="-4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&lt;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a3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170246" y="2525002"/>
            <a:ext cx="40005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2,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1,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912713" y="3222053"/>
            <a:ext cx="40005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2,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3,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841489" y="3222053"/>
            <a:ext cx="40005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3,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2,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637115" y="3222053"/>
            <a:ext cx="40005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1,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3,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72280" y="3222053"/>
            <a:ext cx="40005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3,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1,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986418" y="2525002"/>
            <a:ext cx="40005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1,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2,</a:t>
            </a:r>
            <a:r>
              <a:rPr dirty="0" sz="11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002329" y="1291273"/>
            <a:ext cx="29146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00"/>
                </a:solidFill>
                <a:latin typeface="Arial"/>
                <a:cs typeface="Arial"/>
              </a:rPr>
              <a:t>YES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859881" y="2823477"/>
            <a:ext cx="29146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00"/>
                </a:solidFill>
                <a:latin typeface="Arial"/>
                <a:cs typeface="Arial"/>
              </a:rPr>
              <a:t>YES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210108" y="2080084"/>
            <a:ext cx="29146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00"/>
                </a:solidFill>
                <a:latin typeface="Arial"/>
                <a:cs typeface="Arial"/>
              </a:rPr>
              <a:t>YES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584292" y="2823477"/>
            <a:ext cx="29146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00"/>
                </a:solidFill>
                <a:latin typeface="Arial"/>
                <a:cs typeface="Arial"/>
              </a:rPr>
              <a:t>YES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027212" y="2080084"/>
            <a:ext cx="29146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FF00"/>
                </a:solidFill>
                <a:latin typeface="Arial"/>
                <a:cs typeface="Arial"/>
              </a:rPr>
              <a:t>YES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349138" y="1337615"/>
            <a:ext cx="22161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NO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188632" y="2080079"/>
            <a:ext cx="22161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NO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974033" y="2823472"/>
            <a:ext cx="22161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NO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277914" y="2033734"/>
            <a:ext cx="22161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NO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653013" y="2823472"/>
            <a:ext cx="22161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NO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63599" y="3595129"/>
            <a:ext cx="6417310" cy="14662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8509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4.7: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Decision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Tree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850">
              <a:latin typeface="Times New Roman"/>
              <a:cs typeface="Times New Roman"/>
            </a:endParaRPr>
          </a:p>
          <a:p>
            <a:pPr marL="50800" marR="133350" indent="-635">
              <a:lnSpc>
                <a:spcPct val="100000"/>
              </a:lnSpc>
            </a:pP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n</a:t>
            </a:r>
            <a:r>
              <a:rPr dirty="0" sz="1200" spc="70">
                <a:latin typeface="Garamond"/>
                <a:cs typeface="Garamond"/>
              </a:rPr>
              <a:t>!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permutations.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exactly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T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height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root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corresponds</a:t>
            </a:r>
            <a:r>
              <a:rPr dirty="0" sz="1200" spc="-5">
                <a:latin typeface="Times New Roman"/>
                <a:cs typeface="Times New Roman"/>
              </a:rPr>
              <a:t> to a sequence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comparisons</a:t>
            </a:r>
            <a:r>
              <a:rPr dirty="0" sz="1200" spc="-5">
                <a:latin typeface="Times New Roman"/>
                <a:cs typeface="Times New Roman"/>
              </a:rPr>
              <a:t> made by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endParaRPr sz="1200">
              <a:latin typeface="Times New Roman"/>
              <a:cs typeface="Times New Roman"/>
            </a:endParaRPr>
          </a:p>
          <a:p>
            <a:pPr marL="50800" marR="43180">
              <a:lnSpc>
                <a:spcPct val="100000"/>
              </a:lnSpc>
              <a:spcBef>
                <a:spcPts val="530"/>
              </a:spcBef>
            </a:pPr>
            <a:r>
              <a:rPr dirty="0" sz="1200" spc="-15">
                <a:latin typeface="Times New Roman"/>
                <a:cs typeface="Times New Roman"/>
              </a:rPr>
              <a:t>Any </a:t>
            </a:r>
            <a:r>
              <a:rPr dirty="0" sz="1200" spc="-10">
                <a:latin typeface="Times New Roman"/>
                <a:cs typeface="Times New Roman"/>
              </a:rPr>
              <a:t>binary </a:t>
            </a:r>
            <a:r>
              <a:rPr dirty="0" sz="1200" spc="-5">
                <a:latin typeface="Times New Roman"/>
                <a:cs typeface="Times New Roman"/>
              </a:rPr>
              <a:t>tree of </a:t>
            </a:r>
            <a:r>
              <a:rPr dirty="0" sz="1200" spc="-10">
                <a:latin typeface="Times New Roman"/>
                <a:cs typeface="Times New Roman"/>
              </a:rPr>
              <a:t>height </a:t>
            </a: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has at most </a:t>
            </a:r>
            <a:r>
              <a:rPr dirty="0" sz="1200" spc="-25">
                <a:latin typeface="Lucida Sans Unicode"/>
                <a:cs typeface="Lucida Sans Unicode"/>
              </a:rPr>
              <a:t>2</a:t>
            </a:r>
            <a:r>
              <a:rPr dirty="0" baseline="31250" sz="1200" spc="-37">
                <a:latin typeface="Verdana"/>
                <a:cs typeface="Verdana"/>
              </a:rPr>
              <a:t>T(n) </a:t>
            </a:r>
            <a:r>
              <a:rPr dirty="0" sz="1200" spc="-10">
                <a:latin typeface="Times New Roman"/>
                <a:cs typeface="Times New Roman"/>
              </a:rPr>
              <a:t>leaves.</a:t>
            </a:r>
            <a:r>
              <a:rPr dirty="0" sz="1200" spc="-5">
                <a:latin typeface="Times New Roman"/>
                <a:cs typeface="Times New Roman"/>
              </a:rPr>
              <a:t> Thus a </a:t>
            </a:r>
            <a:r>
              <a:rPr dirty="0" sz="1200" spc="-10">
                <a:latin typeface="Times New Roman"/>
                <a:cs typeface="Times New Roman"/>
              </a:rPr>
              <a:t>comparison </a:t>
            </a:r>
            <a:r>
              <a:rPr dirty="0" sz="1200" spc="-5">
                <a:latin typeface="Times New Roman"/>
                <a:cs typeface="Times New Roman"/>
              </a:rPr>
              <a:t>based </a:t>
            </a:r>
            <a:r>
              <a:rPr dirty="0" sz="1200" spc="-10">
                <a:latin typeface="Times New Roman"/>
                <a:cs typeface="Times New Roman"/>
              </a:rPr>
              <a:t>sorting algorithm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distinguish</a:t>
            </a:r>
            <a:r>
              <a:rPr dirty="0" sz="1200" spc="-5">
                <a:latin typeface="Times New Roman"/>
                <a:cs typeface="Times New Roman"/>
              </a:rPr>
              <a:t> between at 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2</a:t>
            </a:r>
            <a:r>
              <a:rPr dirty="0" baseline="31250" sz="1200" spc="-37">
                <a:latin typeface="Verdana"/>
                <a:cs typeface="Verdana"/>
              </a:rPr>
              <a:t>T(n)</a:t>
            </a:r>
            <a:r>
              <a:rPr dirty="0" baseline="31250" sz="1200" spc="7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different</a:t>
            </a:r>
            <a:r>
              <a:rPr dirty="0" sz="1200" spc="-5">
                <a:latin typeface="Times New Roman"/>
                <a:cs typeface="Times New Roman"/>
              </a:rPr>
              <a:t> final outcomes.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200944" y="5125834"/>
            <a:ext cx="7270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-37">
                <a:latin typeface="Lucida Sans Unicode"/>
                <a:cs typeface="Lucida Sans Unicode"/>
              </a:rPr>
              <a:t>2</a:t>
            </a:r>
            <a:r>
              <a:rPr dirty="0" sz="800" spc="-25">
                <a:latin typeface="Verdana"/>
                <a:cs typeface="Verdana"/>
              </a:rPr>
              <a:t>T(n)</a:t>
            </a:r>
            <a:r>
              <a:rPr dirty="0" sz="800" spc="10">
                <a:latin typeface="Verdana"/>
                <a:cs typeface="Verdana"/>
              </a:rPr>
              <a:t> </a:t>
            </a:r>
            <a:r>
              <a:rPr dirty="0" baseline="-23148" sz="1800" spc="157">
                <a:latin typeface="Segoe UI Symbol"/>
                <a:cs typeface="Segoe UI Symbol"/>
              </a:rPr>
              <a:t>≥</a:t>
            </a:r>
            <a:r>
              <a:rPr dirty="0" baseline="-23148" sz="1800" spc="-37">
                <a:latin typeface="Segoe UI Symbol"/>
                <a:cs typeface="Segoe UI Symbol"/>
              </a:rPr>
              <a:t> </a:t>
            </a:r>
            <a:r>
              <a:rPr dirty="0" baseline="-23148" sz="1800" spc="104">
                <a:latin typeface="Lucida Sans Unicode"/>
                <a:cs typeface="Lucida Sans Unicode"/>
              </a:rPr>
              <a:t>n</a:t>
            </a:r>
            <a:r>
              <a:rPr dirty="0" baseline="-23148" sz="1800" spc="104">
                <a:latin typeface="Garamond"/>
                <a:cs typeface="Garamond"/>
              </a:rPr>
              <a:t>!</a:t>
            </a:r>
            <a:endParaRPr baseline="-23148" sz="1800">
              <a:latin typeface="Garamond"/>
              <a:cs typeface="Garamond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180748" y="5188585"/>
            <a:ext cx="8305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therefore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01711" y="5409984"/>
            <a:ext cx="3313429" cy="608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25">
                <a:latin typeface="Segoe UI Symbol"/>
                <a:cs typeface="Segoe UI Symbol"/>
              </a:rPr>
              <a:t> </a:t>
            </a:r>
            <a:r>
              <a:rPr dirty="0" sz="1200" spc="50">
                <a:latin typeface="Times New Roman"/>
                <a:cs typeface="Times New Roman"/>
              </a:rPr>
              <a:t>log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!)</a:t>
            </a:r>
            <a:endParaRPr sz="1200">
              <a:latin typeface="Garamond"/>
              <a:cs typeface="Garamond"/>
            </a:endParaRPr>
          </a:p>
          <a:p>
            <a:pPr marL="12700">
              <a:lnSpc>
                <a:spcPct val="100000"/>
              </a:lnSpc>
              <a:spcBef>
                <a:spcPts val="1714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Stirling’s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approximation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40">
                <a:latin typeface="Garamond"/>
                <a:cs typeface="Garamond"/>
              </a:rPr>
              <a:t>!</a:t>
            </a:r>
            <a:r>
              <a:rPr dirty="0" sz="1200" spc="4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882539" y="6050979"/>
            <a:ext cx="152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5">
                <a:latin typeface="Segoe UI Symbol"/>
                <a:cs typeface="Segoe UI Symbol"/>
              </a:rPr>
              <a:t>√</a:t>
            </a:r>
            <a:endParaRPr sz="1200">
              <a:latin typeface="Segoe UI Symbol"/>
              <a:cs typeface="Segoe UI Symbo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534382" y="6187567"/>
            <a:ext cx="7696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87045" algn="l"/>
              </a:tabLst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90">
                <a:latin typeface="Garamond"/>
                <a:cs typeface="Garamond"/>
              </a:rPr>
              <a:t>!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	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80">
                <a:latin typeface="Lucida Sans Unicode"/>
                <a:cs typeface="Lucida Sans Unicode"/>
              </a:rPr>
              <a:t>πn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4396739" y="6310300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 txBox="1"/>
          <p:nvPr/>
        </p:nvSpPr>
        <p:spPr>
          <a:xfrm>
            <a:off x="4384190" y="6060352"/>
            <a:ext cx="126364" cy="439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765" marR="5080" indent="-12700">
              <a:lnSpc>
                <a:spcPct val="113100"/>
              </a:lnSpc>
              <a:spcBef>
                <a:spcPts val="100"/>
              </a:spcBef>
            </a:pPr>
            <a:r>
              <a:rPr dirty="0" sz="1200" spc="30">
                <a:latin typeface="Lucida Sans Unicode"/>
                <a:cs typeface="Lucida Sans Unicode"/>
              </a:rPr>
              <a:t>n  </a:t>
            </a:r>
            <a:r>
              <a:rPr dirty="0" sz="1200" spc="-75">
                <a:latin typeface="Lucida Sans Unicode"/>
                <a:cs typeface="Lucida Sans Unicode"/>
              </a:rPr>
              <a:t>e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009135" y="6019089"/>
            <a:ext cx="607695" cy="207645"/>
          </a:xfrm>
          <a:prstGeom prst="rect">
            <a:avLst/>
          </a:prstGeom>
        </p:spPr>
        <p:txBody>
          <a:bodyPr wrap="square" lIns="0" tIns="38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281305" algn="l"/>
                <a:tab pos="503555" algn="l"/>
              </a:tabLst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310">
                <a:latin typeface="Gulim"/>
                <a:cs typeface="Gulim"/>
              </a:rPr>
              <a:t> </a:t>
            </a:r>
            <a:r>
              <a:rPr dirty="0" sz="1200" spc="310">
                <a:latin typeface="Gulim"/>
                <a:cs typeface="Gulim"/>
              </a:rPr>
              <a:t>	</a:t>
            </a:r>
            <a:r>
              <a:rPr dirty="0" sz="1200" spc="310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590844" y="6103646"/>
            <a:ext cx="107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01699" y="6559728"/>
            <a:ext cx="6997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ofor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674845" y="6758495"/>
            <a:ext cx="152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5">
                <a:latin typeface="Segoe UI Symbol"/>
                <a:cs typeface="Segoe UI Symbol"/>
              </a:rPr>
              <a:t>√</a:t>
            </a:r>
            <a:endParaRPr sz="1200">
              <a:latin typeface="Segoe UI Symbol"/>
              <a:cs typeface="Segoe UI Symbo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877145" y="6895083"/>
            <a:ext cx="1219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36625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80">
                <a:latin typeface="Lucida Sans Unicode"/>
                <a:cs typeface="Lucida Sans Unicode"/>
              </a:rPr>
              <a:t>πn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176507" y="6792328"/>
            <a:ext cx="1263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4189476" y="7018959"/>
            <a:ext cx="100965" cy="6350"/>
          </a:xfrm>
          <a:custGeom>
            <a:avLst/>
            <a:gdLst/>
            <a:ahLst/>
            <a:cxnLst/>
            <a:rect l="l" t="t" r="r" b="b"/>
            <a:pathLst>
              <a:path w="100964" h="6350">
                <a:moveTo>
                  <a:pt x="100926" y="0"/>
                </a:moveTo>
                <a:lnTo>
                  <a:pt x="0" y="0"/>
                </a:lnTo>
                <a:lnTo>
                  <a:pt x="0" y="6171"/>
                </a:lnTo>
                <a:lnTo>
                  <a:pt x="100926" y="6171"/>
                </a:lnTo>
                <a:lnTo>
                  <a:pt x="100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 txBox="1"/>
          <p:nvPr/>
        </p:nvSpPr>
        <p:spPr>
          <a:xfrm>
            <a:off x="4188966" y="6999211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75">
                <a:latin typeface="Lucida Sans Unicode"/>
                <a:cs typeface="Lucida Sans Unicode"/>
              </a:rPr>
              <a:t>e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383161" y="6811162"/>
            <a:ext cx="107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0">
                <a:latin typeface="Verdana"/>
                <a:cs typeface="Verdana"/>
              </a:rPr>
              <a:t>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584205" y="6726491"/>
            <a:ext cx="994410" cy="207645"/>
          </a:xfrm>
          <a:prstGeom prst="rect">
            <a:avLst/>
          </a:prstGeom>
        </p:spPr>
        <p:txBody>
          <a:bodyPr wrap="square" lIns="0" tIns="38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98475" algn="l"/>
                <a:tab pos="720725" algn="l"/>
              </a:tabLst>
            </a:pPr>
            <a:r>
              <a:rPr dirty="0" sz="1200" spc="310">
                <a:latin typeface="Gulim"/>
                <a:cs typeface="Gulim"/>
              </a:rPr>
              <a:t> </a:t>
            </a:r>
            <a:r>
              <a:rPr dirty="0" sz="1200" spc="310">
                <a:latin typeface="Gulim"/>
                <a:cs typeface="Gulim"/>
              </a:rPr>
              <a:t>  </a:t>
            </a:r>
            <a:r>
              <a:rPr dirty="0" sz="1200" spc="-200">
                <a:latin typeface="Gulim"/>
                <a:cs typeface="Gulim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310">
                <a:latin typeface="Gulim"/>
                <a:cs typeface="Gulim"/>
              </a:rPr>
              <a:t> </a:t>
            </a:r>
            <a:r>
              <a:rPr dirty="0" sz="1200">
                <a:latin typeface="Gulim"/>
                <a:cs typeface="Gulim"/>
              </a:rPr>
              <a:t>	</a:t>
            </a:r>
            <a:r>
              <a:rPr dirty="0" sz="1200" spc="310">
                <a:latin typeface="Gulim"/>
                <a:cs typeface="Gulim"/>
              </a:rPr>
              <a:t> </a:t>
            </a:r>
            <a:r>
              <a:rPr dirty="0" sz="1200">
                <a:latin typeface="Gulim"/>
                <a:cs typeface="Gulim"/>
              </a:rPr>
              <a:t> </a:t>
            </a:r>
            <a:r>
              <a:rPr dirty="0" sz="1200" spc="-180">
                <a:latin typeface="Gulim"/>
                <a:cs typeface="Gulim"/>
              </a:rPr>
              <a:t> </a:t>
            </a:r>
            <a:r>
              <a:rPr dirty="0" sz="1200" spc="310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3779520" y="7220128"/>
            <a:ext cx="269875" cy="6350"/>
          </a:xfrm>
          <a:custGeom>
            <a:avLst/>
            <a:gdLst/>
            <a:ahLst/>
            <a:cxnLst/>
            <a:rect l="l" t="t" r="r" b="b"/>
            <a:pathLst>
              <a:path w="269875" h="6350">
                <a:moveTo>
                  <a:pt x="269290" y="0"/>
                </a:moveTo>
                <a:lnTo>
                  <a:pt x="0" y="0"/>
                </a:lnTo>
                <a:lnTo>
                  <a:pt x="0" y="6171"/>
                </a:lnTo>
                <a:lnTo>
                  <a:pt x="269290" y="6171"/>
                </a:lnTo>
                <a:lnTo>
                  <a:pt x="2692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" name="object 47"/>
          <p:cNvSpPr txBox="1"/>
          <p:nvPr/>
        </p:nvSpPr>
        <p:spPr>
          <a:xfrm>
            <a:off x="888995" y="7159347"/>
            <a:ext cx="5058410" cy="1355090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2353310">
              <a:lnSpc>
                <a:spcPct val="100000"/>
              </a:lnSpc>
              <a:spcBef>
                <a:spcPts val="4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baseline="50925" sz="1800" spc="-52">
                <a:latin typeface="Segoe UI Symbol"/>
                <a:cs typeface="Segoe UI Symbol"/>
              </a:rPr>
              <a:t>√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90">
                <a:latin typeface="Lucida Sans Unicode"/>
                <a:cs typeface="Lucida Sans Unicode"/>
              </a:rPr>
              <a:t>π</a:t>
            </a:r>
            <a:r>
              <a:rPr dirty="0" sz="1200" spc="-80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e</a:t>
            </a:r>
            <a:endParaRPr sz="1200">
              <a:latin typeface="Lucida Sans Unicode"/>
              <a:cs typeface="Lucida Sans Unicode"/>
            </a:endParaRPr>
          </a:p>
          <a:p>
            <a:pPr marL="2353310">
              <a:lnSpc>
                <a:spcPct val="100000"/>
              </a:lnSpc>
              <a:spcBef>
                <a:spcPts val="300"/>
              </a:spcBef>
            </a:pP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Ω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25400">
              <a:lnSpc>
                <a:spcPct val="100000"/>
              </a:lnSpc>
              <a:spcBef>
                <a:spcPts val="1714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thus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theorem.</a:t>
            </a: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940"/>
              </a:spcBef>
            </a:pPr>
            <a:r>
              <a:rPr dirty="0" sz="1200" spc="-10" b="1">
                <a:latin typeface="Times New Roman"/>
                <a:cs typeface="Times New Roman"/>
              </a:rPr>
              <a:t>Theorem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</a:pPr>
            <a:r>
              <a:rPr dirty="0" sz="1200" spc="-15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comparison-based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worst-case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Ω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-17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25157" y="520987"/>
            <a:ext cx="16033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699" y="1840994"/>
            <a:ext cx="1381125" cy="403225"/>
          </a:xfrm>
          <a:prstGeom prst="rect"/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Chapter</a:t>
            </a:r>
            <a:r>
              <a:rPr dirty="0" sz="2450" spc="-70" b="1" i="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5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1699" y="2539025"/>
            <a:ext cx="2783205" cy="4032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10" b="1">
                <a:latin typeface="Times New Roman"/>
                <a:cs typeface="Times New Roman"/>
              </a:rPr>
              <a:t>Linear</a:t>
            </a:r>
            <a:r>
              <a:rPr dirty="0" sz="2450" spc="-30" b="1">
                <a:latin typeface="Times New Roman"/>
                <a:cs typeface="Times New Roman"/>
              </a:rPr>
              <a:t> </a:t>
            </a:r>
            <a:r>
              <a:rPr dirty="0" sz="2450" b="1">
                <a:latin typeface="Times New Roman"/>
                <a:cs typeface="Times New Roman"/>
              </a:rPr>
              <a:t>Time</a:t>
            </a:r>
            <a:r>
              <a:rPr dirty="0" sz="2450" spc="-25" b="1">
                <a:latin typeface="Times New Roman"/>
                <a:cs typeface="Times New Roman"/>
              </a:rPr>
              <a:t> </a:t>
            </a:r>
            <a:r>
              <a:rPr dirty="0" sz="2450" spc="10" b="1">
                <a:latin typeface="Times New Roman"/>
                <a:cs typeface="Times New Roman"/>
              </a:rPr>
              <a:t>Sorting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8" y="3456942"/>
            <a:ext cx="6344920" cy="9417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lower bound implies </a:t>
            </a:r>
            <a:r>
              <a:rPr dirty="0" sz="1200" spc="-5">
                <a:latin typeface="Times New Roman"/>
                <a:cs typeface="Times New Roman"/>
              </a:rPr>
              <a:t>that if </a:t>
            </a:r>
            <a:r>
              <a:rPr dirty="0" sz="1200" spc="-10">
                <a:latin typeface="Times New Roman"/>
                <a:cs typeface="Times New Roman"/>
              </a:rPr>
              <a:t>we hope </a:t>
            </a:r>
            <a:r>
              <a:rPr dirty="0" sz="1200" spc="-5">
                <a:latin typeface="Times New Roman"/>
                <a:cs typeface="Times New Roman"/>
              </a:rPr>
              <a:t>to sort </a:t>
            </a:r>
            <a:r>
              <a:rPr dirty="0" sz="1200" spc="-10">
                <a:latin typeface="Times New Roman"/>
                <a:cs typeface="Times New Roman"/>
              </a:rPr>
              <a:t>numbers </a:t>
            </a:r>
            <a:r>
              <a:rPr dirty="0" sz="1200" spc="-5">
                <a:latin typeface="Times New Roman"/>
                <a:cs typeface="Times New Roman"/>
              </a:rPr>
              <a:t>faster than </a:t>
            </a:r>
            <a:r>
              <a:rPr dirty="0" sz="1200" spc="60">
                <a:latin typeface="Lucida Sans Unicode"/>
                <a:cs typeface="Lucida Sans Unicode"/>
              </a:rPr>
              <a:t>O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 </a:t>
            </a:r>
            <a:r>
              <a:rPr dirty="0" sz="1200" spc="-10">
                <a:latin typeface="Times New Roman"/>
                <a:cs typeface="Times New Roman"/>
              </a:rPr>
              <a:t>log 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cannot do it by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comparisons</a:t>
            </a:r>
            <a:r>
              <a:rPr dirty="0" sz="1200" spc="-5">
                <a:latin typeface="Times New Roman"/>
                <a:cs typeface="Times New Roman"/>
              </a:rPr>
              <a:t> alone.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possible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making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comparisons?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yes, </a:t>
            </a:r>
            <a:r>
              <a:rPr dirty="0" sz="1200" spc="-15">
                <a:latin typeface="Times New Roman"/>
                <a:cs typeface="Times New Roman"/>
              </a:rPr>
              <a:t>but </a:t>
            </a:r>
            <a:r>
              <a:rPr dirty="0" sz="1200" spc="-10">
                <a:latin typeface="Times New Roman"/>
                <a:cs typeface="Times New Roman"/>
              </a:rPr>
              <a:t> 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restrictive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circumstances.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applications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involve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integers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(e.g.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 </a:t>
            </a:r>
            <a:r>
              <a:rPr dirty="0" sz="1200" spc="-5">
                <a:latin typeface="Times New Roman"/>
                <a:cs typeface="Times New Roman"/>
              </a:rPr>
              <a:t> characters,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scores,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etc.).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cases, by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making</a:t>
            </a:r>
            <a:r>
              <a:rPr dirty="0" sz="1200" spc="-5">
                <a:latin typeface="Times New Roman"/>
                <a:cs typeface="Times New Roman"/>
              </a:rPr>
              <a:t> comparisons.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699" y="5093889"/>
            <a:ext cx="6426200" cy="426910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5.1	Counting</a:t>
            </a:r>
            <a:r>
              <a:rPr dirty="0" sz="1700" spc="-2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Sort</a:t>
            </a:r>
            <a:endParaRPr sz="1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950">
              <a:latin typeface="Times New Roman"/>
              <a:cs typeface="Times New Roman"/>
            </a:endParaRPr>
          </a:p>
          <a:p>
            <a:pPr marL="12700" marR="246379">
              <a:lnSpc>
                <a:spcPct val="100000"/>
              </a:lnSpc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</a:t>
            </a:r>
            <a:r>
              <a:rPr dirty="0" sz="1200" spc="-5">
                <a:latin typeface="Times New Roman"/>
                <a:cs typeface="Times New Roman"/>
              </a:rPr>
              <a:t> 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comparisons.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Counting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assumes that </a:t>
            </a:r>
            <a:r>
              <a:rPr dirty="0" sz="1200" spc="-10">
                <a:latin typeface="Times New Roman"/>
                <a:cs typeface="Times New Roman"/>
              </a:rPr>
              <a:t>the numbers </a:t>
            </a:r>
            <a:r>
              <a:rPr dirty="0" sz="1200" spc="-5">
                <a:latin typeface="Times New Roman"/>
                <a:cs typeface="Times New Roman"/>
              </a:rPr>
              <a:t>to be sorted are 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range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40">
                <a:latin typeface="Lucida Sans Unicode"/>
                <a:cs typeface="Lucida Sans Unicode"/>
              </a:rPr>
              <a:t>k </a:t>
            </a:r>
            <a:r>
              <a:rPr dirty="0" sz="1200" spc="-10">
                <a:latin typeface="Times New Roman"/>
                <a:cs typeface="Times New Roman"/>
              </a:rPr>
              <a:t>where </a:t>
            </a:r>
            <a:r>
              <a:rPr dirty="0" sz="1200" spc="-40">
                <a:latin typeface="Lucida Sans Unicode"/>
                <a:cs typeface="Lucida Sans Unicode"/>
              </a:rPr>
              <a:t>k </a:t>
            </a:r>
            <a:r>
              <a:rPr dirty="0" sz="1200" spc="-5">
                <a:latin typeface="Times New Roman"/>
                <a:cs typeface="Times New Roman"/>
              </a:rPr>
              <a:t>is small. The basic idea is 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determine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rank of each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in final sorted </a:t>
            </a:r>
            <a:r>
              <a:rPr dirty="0" sz="1200" spc="-20">
                <a:latin typeface="Times New Roman"/>
                <a:cs typeface="Times New Roman"/>
              </a:rPr>
              <a:t>array.</a:t>
            </a:r>
            <a:endParaRPr sz="1200">
              <a:latin typeface="Times New Roman"/>
              <a:cs typeface="Times New Roman"/>
            </a:endParaRPr>
          </a:p>
          <a:p>
            <a:pPr marL="12700" marR="104775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Recall 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rank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item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elements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are less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equal to it.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Once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 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ranks,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copy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their final </a:t>
            </a:r>
            <a:r>
              <a:rPr dirty="0" sz="1200" spc="-10">
                <a:latin typeface="Times New Roman"/>
                <a:cs typeface="Times New Roman"/>
              </a:rPr>
              <a:t>position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an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array.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The question is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rank of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 </a:t>
            </a:r>
            <a:r>
              <a:rPr dirty="0" sz="1200" spc="-10">
                <a:latin typeface="Times New Roman"/>
                <a:cs typeface="Times New Roman"/>
              </a:rPr>
              <a:t>without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comparing</a:t>
            </a:r>
            <a:r>
              <a:rPr dirty="0" sz="1200" spc="-5">
                <a:latin typeface="Times New Roman"/>
                <a:cs typeface="Times New Roman"/>
              </a:rPr>
              <a:t>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other elements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array?.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usual,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1..n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holds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initial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B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1..n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holds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sorted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C</a:t>
            </a:r>
            <a:r>
              <a:rPr dirty="0" sz="1200" spc="-40">
                <a:latin typeface="Garamond"/>
                <a:cs typeface="Garamond"/>
              </a:rPr>
              <a:t>[</a:t>
            </a:r>
            <a:r>
              <a:rPr dirty="0" sz="1200" spc="-40">
                <a:latin typeface="Lucida Sans Unicode"/>
                <a:cs typeface="Lucida Sans Unicode"/>
              </a:rPr>
              <a:t>1..k</a:t>
            </a:r>
            <a:r>
              <a:rPr dirty="0" sz="1200" spc="-40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integers.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C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x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rank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45">
                <a:latin typeface="Garamond"/>
                <a:cs typeface="Garamond"/>
              </a:rPr>
              <a:t>[</a:t>
            </a:r>
            <a:r>
              <a:rPr dirty="0" sz="1200" spc="-45">
                <a:latin typeface="Lucida Sans Unicode"/>
                <a:cs typeface="Lucida Sans Unicode"/>
              </a:rPr>
              <a:t>1..k</a:t>
            </a:r>
            <a:r>
              <a:rPr dirty="0" sz="1200" spc="-45">
                <a:latin typeface="Garamond"/>
                <a:cs typeface="Garamond"/>
              </a:rPr>
              <a:t>]</a:t>
            </a:r>
            <a:r>
              <a:rPr dirty="0" sz="1200" spc="-4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remarkably simple, </a:t>
            </a:r>
            <a:r>
              <a:rPr dirty="0" sz="1200" spc="-15">
                <a:latin typeface="Times New Roman"/>
                <a:cs typeface="Times New Roman"/>
              </a:rPr>
              <a:t>but </a:t>
            </a:r>
            <a:r>
              <a:rPr dirty="0" sz="1200" spc="-10">
                <a:latin typeface="Times New Roman"/>
                <a:cs typeface="Times New Roman"/>
              </a:rPr>
              <a:t>deceptively </a:t>
            </a:r>
            <a:r>
              <a:rPr dirty="0" sz="1200" spc="-20">
                <a:latin typeface="Times New Roman"/>
                <a:cs typeface="Times New Roman"/>
              </a:rPr>
              <a:t>clever.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algorithm </a:t>
            </a:r>
            <a:r>
              <a:rPr dirty="0" sz="1200" spc="-5">
                <a:latin typeface="Times New Roman"/>
                <a:cs typeface="Times New Roman"/>
              </a:rPr>
              <a:t>operates by first </a:t>
            </a:r>
            <a:r>
              <a:rPr dirty="0" sz="1200" spc="-10">
                <a:latin typeface="Times New Roman"/>
                <a:cs typeface="Times New Roman"/>
              </a:rPr>
              <a:t>constructing </a:t>
            </a:r>
            <a:r>
              <a:rPr dirty="0" sz="1200" spc="5">
                <a:latin typeface="Lucida Sans Unicode"/>
                <a:cs typeface="Lucida Sans Unicode"/>
              </a:rPr>
              <a:t>C</a:t>
            </a:r>
            <a:r>
              <a:rPr dirty="0" sz="1200" spc="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This is </a:t>
            </a:r>
            <a:r>
              <a:rPr dirty="0" sz="1200" spc="-10">
                <a:latin typeface="Times New Roman"/>
                <a:cs typeface="Times New Roman"/>
              </a:rPr>
              <a:t>done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steps.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 spc="-20">
                <a:latin typeface="Lucida Sans Unicode"/>
                <a:cs typeface="Lucida Sans Unicode"/>
              </a:rPr>
              <a:t>C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x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elements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A</a:t>
            </a:r>
            <a:r>
              <a:rPr dirty="0" sz="1200" spc="3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30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are equal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x</a:t>
            </a:r>
            <a:r>
              <a:rPr dirty="0" sz="1200" spc="-5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do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initializing </a:t>
            </a:r>
            <a:r>
              <a:rPr dirty="0" sz="1200" spc="20">
                <a:latin typeface="Lucida Sans Unicode"/>
                <a:cs typeface="Lucida Sans Unicode"/>
              </a:rPr>
              <a:t>C </a:t>
            </a:r>
            <a:r>
              <a:rPr dirty="0" sz="1200" spc="-5">
                <a:latin typeface="Times New Roman"/>
                <a:cs typeface="Times New Roman"/>
              </a:rPr>
              <a:t>to zero, and then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-165">
                <a:latin typeface="Lucida Sans Unicode"/>
                <a:cs typeface="Lucida Sans Unicode"/>
              </a:rPr>
              <a:t>1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increment 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j</a:t>
            </a:r>
            <a:r>
              <a:rPr dirty="0" sz="1200" spc="20">
                <a:latin typeface="Garamond"/>
                <a:cs typeface="Garamond"/>
              </a:rPr>
              <a:t>]]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.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 if </a:t>
            </a:r>
            <a:r>
              <a:rPr dirty="0" sz="1200" spc="30">
                <a:latin typeface="Lucida Sans Unicode"/>
                <a:cs typeface="Lucida Sans Unicode"/>
              </a:rPr>
              <a:t>A</a:t>
            </a:r>
            <a:r>
              <a:rPr dirty="0" sz="1200" spc="3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30">
                <a:latin typeface="Garamond"/>
                <a:cs typeface="Garamond"/>
              </a:rPr>
              <a:t>]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85">
                <a:latin typeface="Lucida Sans Unicode"/>
                <a:cs typeface="Lucida Sans Unicode"/>
              </a:rPr>
              <a:t>5</a:t>
            </a:r>
            <a:r>
              <a:rPr dirty="0" sz="1200" spc="-85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5th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incremented,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indicating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determine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 </a:t>
            </a:r>
            <a:r>
              <a:rPr dirty="0" sz="1200" spc="-5">
                <a:latin typeface="Times New Roman"/>
                <a:cs typeface="Times New Roman"/>
              </a:rPr>
              <a:t> of elements that are less than or equal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x</a:t>
            </a:r>
            <a:r>
              <a:rPr dirty="0" sz="1200" spc="-5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replace </a:t>
            </a:r>
            <a:r>
              <a:rPr dirty="0" sz="1200" spc="-20">
                <a:latin typeface="Lucida Sans Unicode"/>
                <a:cs typeface="Lucida Sans Unicode"/>
              </a:rPr>
              <a:t>C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x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sum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sub array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1200" spc="-65">
                <a:latin typeface="Lucida Sans Unicode"/>
                <a:cs typeface="Lucida Sans Unicode"/>
              </a:rPr>
              <a:t>R</a:t>
            </a:r>
            <a:r>
              <a:rPr dirty="0" sz="1200" spc="-65">
                <a:latin typeface="Garamond"/>
                <a:cs typeface="Garamond"/>
              </a:rPr>
              <a:t>[</a:t>
            </a:r>
            <a:r>
              <a:rPr dirty="0" sz="1200" spc="-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Garamond"/>
                <a:cs typeface="Garamond"/>
              </a:rPr>
              <a:t>: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x</a:t>
            </a:r>
            <a:r>
              <a:rPr dirty="0" sz="1200" spc="-40">
                <a:latin typeface="Garamond"/>
                <a:cs typeface="Garamond"/>
              </a:rPr>
              <a:t>]</a:t>
            </a:r>
            <a:r>
              <a:rPr dirty="0" sz="1200" spc="-4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done</a:t>
            </a:r>
            <a:r>
              <a:rPr dirty="0" sz="1200" spc="-5">
                <a:latin typeface="Times New Roman"/>
                <a:cs typeface="Times New Roman"/>
              </a:rPr>
              <a:t>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just </a:t>
            </a:r>
            <a:r>
              <a:rPr dirty="0" sz="1200" spc="-10">
                <a:latin typeface="Times New Roman"/>
                <a:cs typeface="Times New Roman"/>
              </a:rPr>
              <a:t>keeping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-5">
                <a:latin typeface="Times New Roman"/>
                <a:cs typeface="Times New Roman"/>
              </a:rPr>
              <a:t> 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elements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5">
                <a:latin typeface="Lucida Sans Unicode"/>
                <a:cs typeface="Lucida Sans Unicode"/>
              </a:rPr>
              <a:t>C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5880" indent="-635">
              <a:lnSpc>
                <a:spcPct val="100000"/>
              </a:lnSpc>
              <a:spcBef>
                <a:spcPts val="515"/>
              </a:spcBef>
            </a:pPr>
            <a:r>
              <a:rPr dirty="0" sz="1200" spc="-20">
                <a:latin typeface="Lucida Sans Unicode"/>
                <a:cs typeface="Lucida Sans Unicode"/>
              </a:rPr>
              <a:t>C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x</a:t>
            </a:r>
            <a:r>
              <a:rPr dirty="0" sz="1200" spc="-20">
                <a:latin typeface="Garamond"/>
                <a:cs typeface="Garamond"/>
              </a:rPr>
              <a:t>] </a:t>
            </a:r>
            <a:r>
              <a:rPr dirty="0" sz="1200" spc="-15">
                <a:latin typeface="Times New Roman"/>
                <a:cs typeface="Times New Roman"/>
              </a:rPr>
              <a:t>now </a:t>
            </a:r>
            <a:r>
              <a:rPr dirty="0" sz="1200" spc="-5">
                <a:latin typeface="Times New Roman"/>
                <a:cs typeface="Times New Roman"/>
              </a:rPr>
              <a:t>contains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rank of </a:t>
            </a:r>
            <a:r>
              <a:rPr dirty="0" sz="1200" spc="-55">
                <a:latin typeface="Lucida Sans Unicode"/>
                <a:cs typeface="Lucida Sans Unicode"/>
              </a:rPr>
              <a:t>x</a:t>
            </a:r>
            <a:r>
              <a:rPr dirty="0" sz="1200" spc="-55">
                <a:latin typeface="Times New Roman"/>
                <a:cs typeface="Times New Roman"/>
              </a:rPr>
              <a:t>.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means that if </a:t>
            </a:r>
            <a:r>
              <a:rPr dirty="0" sz="1200" spc="-110">
                <a:latin typeface="Lucida Sans Unicode"/>
                <a:cs typeface="Lucida Sans Unicode"/>
              </a:rPr>
              <a:t>x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30">
                <a:latin typeface="Lucida Sans Unicode"/>
                <a:cs typeface="Lucida Sans Unicode"/>
              </a:rPr>
              <a:t>A</a:t>
            </a:r>
            <a:r>
              <a:rPr dirty="0" sz="1200" spc="3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30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final </a:t>
            </a:r>
            <a:r>
              <a:rPr dirty="0" sz="1200" spc="-10">
                <a:latin typeface="Times New Roman"/>
                <a:cs typeface="Times New Roman"/>
              </a:rPr>
              <a:t>position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30">
                <a:latin typeface="Lucida Sans Unicode"/>
                <a:cs typeface="Lucida Sans Unicode"/>
              </a:rPr>
              <a:t>A</a:t>
            </a:r>
            <a:r>
              <a:rPr dirty="0" sz="1200" spc="3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30">
                <a:latin typeface="Garamond"/>
                <a:cs typeface="Garamond"/>
              </a:rPr>
              <a:t>] </a:t>
            </a:r>
            <a:r>
              <a:rPr dirty="0" sz="1200" spc="-10">
                <a:latin typeface="Times New Roman"/>
                <a:cs typeface="Times New Roman"/>
              </a:rPr>
              <a:t>should </a:t>
            </a:r>
            <a:r>
              <a:rPr dirty="0" sz="1200" spc="-5">
                <a:latin typeface="Times New Roman"/>
                <a:cs typeface="Times New Roman"/>
              </a:rPr>
              <a:t>be 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position </a:t>
            </a:r>
            <a:r>
              <a:rPr dirty="0" sz="1200" spc="-20">
                <a:latin typeface="Lucida Sans Unicode"/>
                <a:cs typeface="Lucida Sans Unicode"/>
              </a:rPr>
              <a:t>C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x</a:t>
            </a:r>
            <a:r>
              <a:rPr dirty="0" sz="1200" spc="-20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final sorted </a:t>
            </a:r>
            <a:r>
              <a:rPr dirty="0" sz="1200" spc="-20">
                <a:latin typeface="Times New Roman"/>
                <a:cs typeface="Times New Roman"/>
              </a:rPr>
              <a:t>array.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>
                <a:latin typeface="Lucida Sans Unicode"/>
                <a:cs typeface="Lucida Sans Unicode"/>
              </a:rPr>
              <a:t>B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x</a:t>
            </a:r>
            <a:r>
              <a:rPr dirty="0" sz="1200">
                <a:latin typeface="Garamond"/>
                <a:cs typeface="Garamond"/>
              </a:rPr>
              <a:t>]]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j</a:t>
            </a:r>
            <a:r>
              <a:rPr dirty="0" sz="1200" spc="20">
                <a:latin typeface="Garamond"/>
                <a:cs typeface="Garamond"/>
              </a:rPr>
              <a:t>]</a:t>
            </a:r>
            <a:r>
              <a:rPr dirty="0" sz="1200" spc="20">
                <a:latin typeface="Times New Roman"/>
                <a:cs typeface="Times New Roman"/>
              </a:rPr>
              <a:t>. </a:t>
            </a:r>
            <a:r>
              <a:rPr dirty="0" sz="1200" spc="-10">
                <a:latin typeface="Times New Roman"/>
                <a:cs typeface="Times New Roman"/>
              </a:rPr>
              <a:t>Notice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need to be careful if there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duplicates, since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do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 to </a:t>
            </a:r>
            <a:r>
              <a:rPr dirty="0" sz="1200" spc="-10">
                <a:latin typeface="Times New Roman"/>
                <a:cs typeface="Times New Roman"/>
              </a:rPr>
              <a:t>overwrite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 location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B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do this,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decrement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57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21489" y="520987"/>
            <a:ext cx="26066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5.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LINEAR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14400" y="1410156"/>
            <a:ext cx="5486400" cy="2479040"/>
          </a:xfrm>
          <a:custGeom>
            <a:avLst/>
            <a:gdLst/>
            <a:ahLst/>
            <a:cxnLst/>
            <a:rect l="l" t="t" r="r" b="b"/>
            <a:pathLst>
              <a:path w="5486400" h="2479040">
                <a:moveTo>
                  <a:pt x="5486400" y="0"/>
                </a:moveTo>
                <a:lnTo>
                  <a:pt x="0" y="0"/>
                </a:lnTo>
                <a:lnTo>
                  <a:pt x="0" y="4902"/>
                </a:lnTo>
                <a:lnTo>
                  <a:pt x="0" y="5130"/>
                </a:lnTo>
                <a:lnTo>
                  <a:pt x="0" y="2478582"/>
                </a:lnTo>
                <a:lnTo>
                  <a:pt x="5130" y="2478582"/>
                </a:lnTo>
                <a:lnTo>
                  <a:pt x="513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01699" y="926454"/>
            <a:ext cx="2846070" cy="684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">
                <a:latin typeface="Lucida Sans Unicode"/>
                <a:cs typeface="Lucida Sans Unicode"/>
              </a:rPr>
              <a:t>C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</a:t>
            </a:r>
            <a:r>
              <a:rPr dirty="0" sz="1200" spc="25">
                <a:latin typeface="Garamond"/>
                <a:cs typeface="Garamond"/>
              </a:rPr>
              <a:t>]</a:t>
            </a:r>
            <a:r>
              <a:rPr dirty="0" sz="1200" spc="-2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copying.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59055">
              <a:lnSpc>
                <a:spcPct val="100000"/>
              </a:lnSpc>
              <a:spcBef>
                <a:spcPts val="815"/>
              </a:spcBef>
            </a:pPr>
            <a:r>
              <a:rPr dirty="0" sz="950" spc="55">
                <a:latin typeface="Times New Roman"/>
                <a:cs typeface="Times New Roman"/>
              </a:rPr>
              <a:t>COUNTING</a:t>
            </a:r>
            <a:r>
              <a:rPr dirty="0" sz="1200" spc="55">
                <a:latin typeface="Times New Roman"/>
                <a:cs typeface="Times New Roman"/>
              </a:rPr>
              <a:t>-</a:t>
            </a:r>
            <a:r>
              <a:rPr dirty="0" sz="950" spc="55">
                <a:latin typeface="Times New Roman"/>
                <a:cs typeface="Times New Roman"/>
              </a:rPr>
              <a:t>SORT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A,</a:t>
            </a:r>
            <a:r>
              <a:rPr dirty="0" sz="1200" spc="10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B,</a:t>
            </a:r>
            <a:r>
              <a:rPr dirty="0" sz="1200" spc="10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k</a:t>
            </a:r>
            <a:r>
              <a:rPr dirty="0" sz="1200" spc="3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63247" y="1789144"/>
            <a:ext cx="608330" cy="187960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78105">
              <a:lnSpc>
                <a:spcPts val="1385"/>
              </a:lnSpc>
            </a:pP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187731" y="2171668"/>
            <a:ext cx="623570" cy="186055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77470">
              <a:lnSpc>
                <a:spcPts val="1370"/>
              </a:lnSpc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222783" y="2720308"/>
            <a:ext cx="608330" cy="187960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78105">
              <a:lnSpc>
                <a:spcPts val="1380"/>
              </a:lnSpc>
            </a:pP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95318" y="1586423"/>
            <a:ext cx="3246120" cy="20701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3530" indent="-228600">
              <a:lnSpc>
                <a:spcPct val="100000"/>
              </a:lnSpc>
              <a:spcBef>
                <a:spcPts val="95"/>
              </a:spcBef>
              <a:buFont typeface="Times New Roman"/>
              <a:buAutoNum type="arabicPlain"/>
              <a:tabLst>
                <a:tab pos="303530" algn="l"/>
                <a:tab pos="30416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20">
                <a:latin typeface="Lucida Sans Unicode"/>
                <a:cs typeface="Lucida Sans Unicode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</a:t>
            </a:r>
            <a:r>
              <a:rPr dirty="0" sz="1200" spc="310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endParaRPr sz="1200">
              <a:latin typeface="Lucida Sans Unicode"/>
              <a:cs typeface="Lucida Sans Unicode"/>
            </a:endParaRPr>
          </a:p>
          <a:p>
            <a:pPr marL="3035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3530" algn="l"/>
                <a:tab pos="3041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C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</a:t>
            </a:r>
            <a:r>
              <a:rPr dirty="0" sz="1200" spc="25">
                <a:latin typeface="Garamond"/>
                <a:cs typeface="Garamond"/>
              </a:rPr>
              <a:t>]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 marL="3035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3530" algn="l"/>
                <a:tab pos="30416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20">
                <a:latin typeface="Lucida Sans Unicode"/>
                <a:cs typeface="Lucida Sans Unicode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</a:t>
            </a:r>
            <a:r>
              <a:rPr dirty="0" sz="1200" spc="310" b="1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length</a:t>
            </a:r>
            <a:r>
              <a:rPr dirty="0" sz="1200" spc="15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A</a:t>
            </a:r>
            <a:r>
              <a:rPr dirty="0" sz="1200" spc="1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75565">
              <a:lnSpc>
                <a:spcPct val="100000"/>
              </a:lnSpc>
              <a:spcBef>
                <a:spcPts val="110"/>
              </a:spcBef>
              <a:tabLst>
                <a:tab pos="303530" algn="l"/>
              </a:tabLst>
            </a:pPr>
            <a:r>
              <a:rPr dirty="0" sz="1200" spc="-5">
                <a:latin typeface="Times New Roman"/>
                <a:cs typeface="Times New Roman"/>
              </a:rPr>
              <a:t>4	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j</a:t>
            </a:r>
            <a:r>
              <a:rPr dirty="0" sz="1200" spc="20">
                <a:latin typeface="Garamond"/>
                <a:cs typeface="Garamond"/>
              </a:rPr>
              <a:t>]]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j</a:t>
            </a:r>
            <a:r>
              <a:rPr dirty="0" sz="1200" spc="20">
                <a:latin typeface="Garamond"/>
                <a:cs typeface="Garamond"/>
              </a:rPr>
              <a:t>]]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316230" indent="-2413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5"/>
              <a:tabLst>
                <a:tab pos="316230" algn="l"/>
                <a:tab pos="31686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// </a:t>
            </a:r>
            <a:r>
              <a:rPr dirty="0" sz="1200" spc="25">
                <a:latin typeface="Lucida Sans Unicode"/>
                <a:cs typeface="Lucida Sans Unicode"/>
              </a:rPr>
              <a:t>C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</a:t>
            </a:r>
            <a:r>
              <a:rPr dirty="0" sz="1200" spc="2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now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contains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the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number</a:t>
            </a:r>
            <a:r>
              <a:rPr dirty="0" sz="1200" spc="-5" i="1">
                <a:latin typeface="Times New Roman"/>
                <a:cs typeface="Times New Roman"/>
              </a:rPr>
              <a:t> of elements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endParaRPr sz="1200">
              <a:latin typeface="Lucida Sans Unicode"/>
              <a:cs typeface="Lucida Sans Unicode"/>
            </a:endParaRPr>
          </a:p>
          <a:p>
            <a:pPr marL="3035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5"/>
              <a:tabLst>
                <a:tab pos="303530" algn="l"/>
                <a:tab pos="30416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20">
                <a:latin typeface="Lucida Sans Unicode"/>
                <a:cs typeface="Lucida Sans Unicode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</a:t>
            </a:r>
            <a:r>
              <a:rPr dirty="0" sz="1200" spc="310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endParaRPr sz="1200">
              <a:latin typeface="Lucida Sans Unicode"/>
              <a:cs typeface="Lucida Sans Unicode"/>
            </a:endParaRPr>
          </a:p>
          <a:p>
            <a:pPr marL="75565">
              <a:lnSpc>
                <a:spcPct val="100000"/>
              </a:lnSpc>
              <a:spcBef>
                <a:spcPts val="5"/>
              </a:spcBef>
              <a:tabLst>
                <a:tab pos="303530" algn="l"/>
              </a:tabLst>
            </a:pPr>
            <a:r>
              <a:rPr dirty="0" sz="1200" spc="-5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316230" indent="-2413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8"/>
              <a:tabLst>
                <a:tab pos="316230" algn="l"/>
                <a:tab pos="31686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// </a:t>
            </a:r>
            <a:r>
              <a:rPr dirty="0" sz="1200" spc="25">
                <a:latin typeface="Lucida Sans Unicode"/>
                <a:cs typeface="Lucida Sans Unicode"/>
              </a:rPr>
              <a:t>C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</a:t>
            </a:r>
            <a:r>
              <a:rPr dirty="0" sz="1200" spc="2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now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contains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the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number</a:t>
            </a:r>
            <a:r>
              <a:rPr dirty="0" sz="1200" spc="-5" i="1">
                <a:latin typeface="Times New Roman"/>
                <a:cs typeface="Times New Roman"/>
              </a:rPr>
              <a:t> of elements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endParaRPr sz="1200">
              <a:latin typeface="Lucida Sans Unicode"/>
              <a:cs typeface="Lucida Sans Unicode"/>
            </a:endParaRPr>
          </a:p>
          <a:p>
            <a:pPr marL="3035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8"/>
              <a:tabLst>
                <a:tab pos="303530" algn="l"/>
                <a:tab pos="30416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length</a:t>
            </a:r>
            <a:r>
              <a:rPr dirty="0" sz="1200" spc="15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A</a:t>
            </a:r>
            <a:r>
              <a:rPr dirty="0" sz="1200" spc="15">
                <a:latin typeface="Garamond"/>
                <a:cs typeface="Garamond"/>
              </a:rPr>
              <a:t>] </a:t>
            </a:r>
            <a:r>
              <a:rPr dirty="0" sz="1200" spc="-10" b="1">
                <a:latin typeface="Times New Roman"/>
                <a:cs typeface="Times New Roman"/>
              </a:rPr>
              <a:t>downto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tabLst>
                <a:tab pos="303530" algn="l"/>
              </a:tabLst>
            </a:pPr>
            <a:r>
              <a:rPr dirty="0" sz="1200" spc="-5">
                <a:latin typeface="Times New Roman"/>
                <a:cs typeface="Times New Roman"/>
              </a:rPr>
              <a:t>10	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B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C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25">
                <a:latin typeface="Garamond"/>
                <a:cs typeface="Garamond"/>
              </a:rPr>
              <a:t>]]]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A</a:t>
            </a:r>
            <a:r>
              <a:rPr dirty="0" sz="1200" spc="3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30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114"/>
              </a:spcBef>
              <a:tabLst>
                <a:tab pos="501650" algn="l"/>
              </a:tabLst>
            </a:pP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87731" y="3468592"/>
            <a:ext cx="623570" cy="186055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77470">
              <a:lnSpc>
                <a:spcPts val="1375"/>
              </a:lnSpc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914400" y="1415058"/>
            <a:ext cx="5487035" cy="2480310"/>
          </a:xfrm>
          <a:custGeom>
            <a:avLst/>
            <a:gdLst/>
            <a:ahLst/>
            <a:cxnLst/>
            <a:rect l="l" t="t" r="r" b="b"/>
            <a:pathLst>
              <a:path w="5487035" h="2480310">
                <a:moveTo>
                  <a:pt x="5486400" y="2474645"/>
                </a:moveTo>
                <a:lnTo>
                  <a:pt x="0" y="2474645"/>
                </a:lnTo>
                <a:lnTo>
                  <a:pt x="0" y="2479776"/>
                </a:lnTo>
                <a:lnTo>
                  <a:pt x="5486400" y="2479776"/>
                </a:lnTo>
                <a:lnTo>
                  <a:pt x="5486400" y="2474645"/>
                </a:lnTo>
                <a:close/>
              </a:path>
              <a:path w="5487035" h="2480310">
                <a:moveTo>
                  <a:pt x="5486959" y="0"/>
                </a:moveTo>
                <a:lnTo>
                  <a:pt x="5481828" y="0"/>
                </a:lnTo>
                <a:lnTo>
                  <a:pt x="5481828" y="2473680"/>
                </a:lnTo>
                <a:lnTo>
                  <a:pt x="5486959" y="2473680"/>
                </a:lnTo>
                <a:lnTo>
                  <a:pt x="5486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914400" y="3969308"/>
            <a:ext cx="6372860" cy="17970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90"/>
              </a:lnSpc>
            </a:pPr>
            <a:r>
              <a:rPr dirty="0" sz="1200" spc="-5">
                <a:latin typeface="Times New Roman"/>
                <a:cs typeface="Times New Roman"/>
              </a:rPr>
              <a:t>There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four</a:t>
            </a:r>
            <a:r>
              <a:rPr dirty="0" sz="1200" spc="-5">
                <a:latin typeface="Times New Roman"/>
                <a:cs typeface="Times New Roman"/>
              </a:rPr>
              <a:t> (unnested)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times, </a:t>
            </a:r>
            <a:r>
              <a:rPr dirty="0" sz="1200" spc="-15">
                <a:latin typeface="Times New Roman"/>
                <a:cs typeface="Times New Roman"/>
              </a:rPr>
              <a:t>respectively,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14400" y="4148810"/>
            <a:ext cx="5220970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-5">
                <a:latin typeface="Times New Roman"/>
                <a:cs typeface="Times New Roman"/>
              </a:rPr>
              <a:t>total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k</a:t>
            </a:r>
            <a:r>
              <a:rPr dirty="0" sz="1200" spc="3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O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5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Θ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6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122111" y="4096335"/>
            <a:ext cx="635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01702" y="4345166"/>
            <a:ext cx="617029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5.1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5.19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You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convince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yourself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it </a:t>
            </a:r>
            <a:r>
              <a:rPr dirty="0" sz="1200" spc="-10">
                <a:latin typeface="Times New Roman"/>
                <a:cs typeface="Times New Roman"/>
              </a:rPr>
              <a:t>works.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772411" y="6969582"/>
            <a:ext cx="4648200" cy="1706245"/>
          </a:xfrm>
          <a:custGeom>
            <a:avLst/>
            <a:gdLst/>
            <a:ahLst/>
            <a:cxnLst/>
            <a:rect l="l" t="t" r="r" b="b"/>
            <a:pathLst>
              <a:path w="4648200" h="1706245">
                <a:moveTo>
                  <a:pt x="4648001" y="0"/>
                </a:moveTo>
                <a:lnTo>
                  <a:pt x="0" y="0"/>
                </a:lnTo>
                <a:lnTo>
                  <a:pt x="0" y="1706041"/>
                </a:lnTo>
                <a:lnTo>
                  <a:pt x="4648001" y="1706041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2414701" y="7258833"/>
          <a:ext cx="3937635" cy="3625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7505"/>
                <a:gridCol w="357505"/>
                <a:gridCol w="357504"/>
                <a:gridCol w="357505"/>
                <a:gridCol w="357505"/>
                <a:gridCol w="357505"/>
                <a:gridCol w="357505"/>
                <a:gridCol w="357505"/>
                <a:gridCol w="357505"/>
                <a:gridCol w="357504"/>
                <a:gridCol w="357504"/>
              </a:tblGrid>
              <a:tr h="35724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18" name="object 18"/>
          <p:cNvSpPr txBox="1"/>
          <p:nvPr/>
        </p:nvSpPr>
        <p:spPr>
          <a:xfrm>
            <a:off x="2531858" y="7031764"/>
            <a:ext cx="84455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884697" y="7031764"/>
            <a:ext cx="437515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65125" algn="l"/>
              </a:tabLst>
            </a:pP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619778" y="7031764"/>
            <a:ext cx="1140460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65125" algn="l"/>
                <a:tab pos="718185" algn="l"/>
                <a:tab pos="1068070" algn="l"/>
              </a:tabLst>
            </a:pP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057758" y="7031764"/>
            <a:ext cx="437515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65125" algn="l"/>
              </a:tabLst>
            </a:pP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734032" y="7031764"/>
            <a:ext cx="143510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116275" y="7031764"/>
            <a:ext cx="143510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857006" y="7069583"/>
            <a:ext cx="474980" cy="452755"/>
          </a:xfrm>
          <a:prstGeom prst="rect">
            <a:avLst/>
          </a:prstGeom>
        </p:spPr>
        <p:txBody>
          <a:bodyPr wrap="square" lIns="0" tIns="57150" rIns="0" bIns="0" rtlCol="0" vert="horz">
            <a:spAutoFit/>
          </a:bodyPr>
          <a:lstStyle/>
          <a:p>
            <a:pPr algn="ctr" marL="36830">
              <a:lnSpc>
                <a:spcPct val="100000"/>
              </a:lnSpc>
              <a:spcBef>
                <a:spcPts val="450"/>
              </a:spcBef>
            </a:pP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84"/>
              </a:spcBef>
            </a:pPr>
            <a:r>
              <a:rPr dirty="0" sz="1200" spc="1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00" spc="1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00" spc="1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00" spc="1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00" spc="1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2930773" y="8251170"/>
          <a:ext cx="2508885" cy="3625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7505"/>
                <a:gridCol w="357505"/>
                <a:gridCol w="357504"/>
                <a:gridCol w="357505"/>
                <a:gridCol w="357505"/>
                <a:gridCol w="357505"/>
                <a:gridCol w="357505"/>
              </a:tblGrid>
              <a:tr h="35724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</a:tbl>
          </a:graphicData>
        </a:graphic>
      </p:graphicFrame>
      <p:sp>
        <p:nvSpPr>
          <p:cNvPr id="26" name="object 26"/>
          <p:cNvSpPr txBox="1"/>
          <p:nvPr/>
        </p:nvSpPr>
        <p:spPr>
          <a:xfrm>
            <a:off x="3079342" y="8083653"/>
            <a:ext cx="84455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402777" y="8083653"/>
            <a:ext cx="84455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785020" y="8083653"/>
            <a:ext cx="84455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137859" y="8083653"/>
            <a:ext cx="84455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490698" y="8083653"/>
            <a:ext cx="84455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843537" y="8083653"/>
            <a:ext cx="84455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222999" y="8083653"/>
            <a:ext cx="84455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900" spc="1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127439" y="7863621"/>
            <a:ext cx="359410" cy="214629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00" spc="15" i="1">
                <a:solidFill>
                  <a:srgbClr val="FFFFFF"/>
                </a:solidFill>
                <a:latin typeface="Times New Roman"/>
                <a:cs typeface="Times New Roman"/>
              </a:rPr>
              <a:t>k</a:t>
            </a:r>
            <a:r>
              <a:rPr dirty="0" sz="1200" spc="-35" i="1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200" spc="25" i="1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dirty="0" sz="1200" spc="-35" i="1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200" spc="15" i="1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412757" y="8339947"/>
            <a:ext cx="2755900" cy="61087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0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200" spc="1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00" spc="15" i="1">
                <a:solidFill>
                  <a:srgbClr val="FFFFFF"/>
                </a:solidFill>
                <a:latin typeface="Times New Roman"/>
                <a:cs typeface="Times New Roman"/>
              </a:rPr>
              <a:t>..k</a:t>
            </a:r>
            <a:r>
              <a:rPr dirty="0" sz="1200" spc="1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50">
              <a:latin typeface="Times New Roman"/>
              <a:cs typeface="Times New Roman"/>
            </a:endParaRPr>
          </a:p>
          <a:p>
            <a:pPr marL="661035">
              <a:lnSpc>
                <a:spcPct val="100000"/>
              </a:lnSpc>
              <a:spcBef>
                <a:spcPts val="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5.1: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Initial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54813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5.1.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COUNTING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SORT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90700" y="939114"/>
            <a:ext cx="4648200" cy="1706245"/>
          </a:xfrm>
          <a:custGeom>
            <a:avLst/>
            <a:gdLst/>
            <a:ahLst/>
            <a:cxnLst/>
            <a:rect l="l" t="t" r="r" b="b"/>
            <a:pathLst>
              <a:path w="4648200" h="1706245">
                <a:moveTo>
                  <a:pt x="4648001" y="0"/>
                </a:moveTo>
                <a:lnTo>
                  <a:pt x="0" y="0"/>
                </a:lnTo>
                <a:lnTo>
                  <a:pt x="0" y="1706041"/>
                </a:lnTo>
                <a:lnTo>
                  <a:pt x="4648001" y="1706041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434375" y="1229019"/>
          <a:ext cx="3946525" cy="363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7504"/>
                <a:gridCol w="357505"/>
                <a:gridCol w="357505"/>
                <a:gridCol w="357505"/>
                <a:gridCol w="357505"/>
                <a:gridCol w="356869"/>
                <a:gridCol w="357505"/>
                <a:gridCol w="358139"/>
                <a:gridCol w="357505"/>
                <a:gridCol w="358139"/>
              </a:tblGrid>
              <a:tr h="3580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9525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2551960" y="999517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909769" y="999517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267577" y="999517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655203" y="999517"/>
            <a:ext cx="113030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70205" algn="l"/>
                <a:tab pos="727710" algn="l"/>
                <a:tab pos="1057275" algn="l"/>
              </a:tabLst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087627" y="999517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45435" y="999517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73426" y="999517"/>
            <a:ext cx="1447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161052" y="999517"/>
            <a:ext cx="1447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875636" y="1039435"/>
            <a:ext cx="476250" cy="45339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algn="ctr" marL="38735">
              <a:lnSpc>
                <a:spcPct val="100000"/>
              </a:lnSpc>
              <a:spcBef>
                <a:spcPts val="455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30"/>
              </a:spcBef>
            </a:pPr>
            <a:r>
              <a:rPr dirty="0" sz="1250" spc="-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-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-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-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-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2951926" y="2222864"/>
          <a:ext cx="2514600" cy="363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6870"/>
                <a:gridCol w="357504"/>
                <a:gridCol w="357505"/>
                <a:gridCol w="357505"/>
                <a:gridCol w="357505"/>
                <a:gridCol w="358775"/>
              </a:tblGrid>
              <a:tr h="35880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</a:tbl>
          </a:graphicData>
        </a:graphic>
      </p:graphicFrame>
      <p:sp>
        <p:nvSpPr>
          <p:cNvPr id="16" name="object 16"/>
          <p:cNvSpPr txBox="1"/>
          <p:nvPr/>
        </p:nvSpPr>
        <p:spPr>
          <a:xfrm>
            <a:off x="3100485" y="205369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428476" y="205369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816101" y="205369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173910" y="205369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531718" y="205369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889527" y="205369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247732" y="205369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010386" y="1713875"/>
            <a:ext cx="9652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i="1">
                <a:solidFill>
                  <a:srgbClr val="FFFFFF"/>
                </a:solidFill>
                <a:latin typeface="Times New Roman"/>
                <a:cs typeface="Times New Roman"/>
              </a:rPr>
              <a:t>k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2675000" y="1462501"/>
            <a:ext cx="2183130" cy="326390"/>
          </a:xfrm>
          <a:custGeom>
            <a:avLst/>
            <a:gdLst/>
            <a:ahLst/>
            <a:cxnLst/>
            <a:rect l="l" t="t" r="r" b="b"/>
            <a:pathLst>
              <a:path w="2183129" h="326389">
                <a:moveTo>
                  <a:pt x="1584" y="0"/>
                </a:moveTo>
                <a:lnTo>
                  <a:pt x="0" y="15087"/>
                </a:lnTo>
                <a:lnTo>
                  <a:pt x="2181377" y="326257"/>
                </a:lnTo>
                <a:lnTo>
                  <a:pt x="2182962" y="311962"/>
                </a:lnTo>
                <a:lnTo>
                  <a:pt x="158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" name="object 25"/>
          <p:cNvGrpSpPr/>
          <p:nvPr/>
        </p:nvGrpSpPr>
        <p:grpSpPr>
          <a:xfrm>
            <a:off x="4851623" y="1757791"/>
            <a:ext cx="408940" cy="309245"/>
            <a:chOff x="4851623" y="1757791"/>
            <a:chExt cx="408940" cy="309245"/>
          </a:xfrm>
        </p:grpSpPr>
        <p:sp>
          <p:nvSpPr>
            <p:cNvPr id="26" name="object 26"/>
            <p:cNvSpPr/>
            <p:nvPr/>
          </p:nvSpPr>
          <p:spPr>
            <a:xfrm>
              <a:off x="4851623" y="1757791"/>
              <a:ext cx="50800" cy="48895"/>
            </a:xfrm>
            <a:custGeom>
              <a:avLst/>
              <a:gdLst/>
              <a:ahLst/>
              <a:cxnLst/>
              <a:rect l="l" t="t" r="r" b="b"/>
              <a:pathLst>
                <a:path w="50800" h="48894">
                  <a:moveTo>
                    <a:pt x="6339" y="0"/>
                  </a:moveTo>
                  <a:lnTo>
                    <a:pt x="0" y="48432"/>
                  </a:lnTo>
                  <a:lnTo>
                    <a:pt x="50794" y="30175"/>
                  </a:lnTo>
                  <a:lnTo>
                    <a:pt x="63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35803" y="1864167"/>
              <a:ext cx="124617" cy="202417"/>
            </a:xfrm>
            <a:prstGeom prst="rect">
              <a:avLst/>
            </a:prstGeom>
          </p:spPr>
        </p:pic>
      </p:grpSp>
      <p:sp>
        <p:nvSpPr>
          <p:cNvPr id="28" name="object 28"/>
          <p:cNvSpPr txBox="1"/>
          <p:nvPr/>
        </p:nvSpPr>
        <p:spPr>
          <a:xfrm>
            <a:off x="2432099" y="2310818"/>
            <a:ext cx="2646680" cy="617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250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i="1">
                <a:solidFill>
                  <a:srgbClr val="FFFFFF"/>
                </a:solidFill>
                <a:latin typeface="Times New Roman"/>
                <a:cs typeface="Times New Roman"/>
              </a:rPr>
              <a:t>..k</a:t>
            </a:r>
            <a:r>
              <a:rPr dirty="0" sz="1250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450">
              <a:latin typeface="Times New Roman"/>
              <a:cs typeface="Times New Roman"/>
            </a:endParaRPr>
          </a:p>
          <a:p>
            <a:pPr marL="73152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5.2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</a:t>
            </a:r>
            <a:r>
              <a:rPr dirty="0" sz="1200" spc="-5">
                <a:latin typeface="Times New Roman"/>
                <a:cs typeface="Times New Roman"/>
              </a:rPr>
              <a:t>cessed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1790700" y="3947490"/>
            <a:ext cx="4648200" cy="1706245"/>
          </a:xfrm>
          <a:custGeom>
            <a:avLst/>
            <a:gdLst/>
            <a:ahLst/>
            <a:cxnLst/>
            <a:rect l="l" t="t" r="r" b="b"/>
            <a:pathLst>
              <a:path w="4648200" h="1706245">
                <a:moveTo>
                  <a:pt x="4648001" y="0"/>
                </a:moveTo>
                <a:lnTo>
                  <a:pt x="0" y="0"/>
                </a:lnTo>
                <a:lnTo>
                  <a:pt x="0" y="1706041"/>
                </a:lnTo>
                <a:lnTo>
                  <a:pt x="4648001" y="1706041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2434375" y="4237395"/>
          <a:ext cx="3946525" cy="363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7504"/>
                <a:gridCol w="357505"/>
                <a:gridCol w="357505"/>
                <a:gridCol w="357505"/>
                <a:gridCol w="357505"/>
                <a:gridCol w="356869"/>
                <a:gridCol w="357505"/>
                <a:gridCol w="358139"/>
                <a:gridCol w="357505"/>
                <a:gridCol w="358139"/>
              </a:tblGrid>
              <a:tr h="3580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9525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31" name="object 31"/>
          <p:cNvSpPr txBox="1"/>
          <p:nvPr/>
        </p:nvSpPr>
        <p:spPr>
          <a:xfrm>
            <a:off x="2551960" y="4007891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909769" y="4007891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267577" y="4007891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655203" y="4007891"/>
            <a:ext cx="113030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70205" algn="l"/>
                <a:tab pos="727710" algn="l"/>
                <a:tab pos="1057275" algn="l"/>
              </a:tabLst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087627" y="4007891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445435" y="4007891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773426" y="4007891"/>
            <a:ext cx="1447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161052" y="4007891"/>
            <a:ext cx="1447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875636" y="4047809"/>
            <a:ext cx="476250" cy="45339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algn="ctr" marL="38735">
              <a:lnSpc>
                <a:spcPct val="100000"/>
              </a:lnSpc>
              <a:spcBef>
                <a:spcPts val="455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30"/>
              </a:spcBef>
            </a:pPr>
            <a:r>
              <a:rPr dirty="0" sz="1250" spc="-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-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-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-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-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40" name="object 40"/>
          <p:cNvGraphicFramePr>
            <a:graphicFrameLocks noGrp="1"/>
          </p:cNvGraphicFramePr>
          <p:nvPr/>
        </p:nvGraphicFramePr>
        <p:xfrm>
          <a:off x="2951926" y="5231240"/>
          <a:ext cx="2514600" cy="363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6870"/>
                <a:gridCol w="357504"/>
                <a:gridCol w="357505"/>
                <a:gridCol w="357505"/>
                <a:gridCol w="357505"/>
                <a:gridCol w="358775"/>
              </a:tblGrid>
              <a:tr h="35880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</a:tbl>
          </a:graphicData>
        </a:graphic>
      </p:graphicFrame>
      <p:sp>
        <p:nvSpPr>
          <p:cNvPr id="41" name="object 41"/>
          <p:cNvSpPr txBox="1"/>
          <p:nvPr/>
        </p:nvSpPr>
        <p:spPr>
          <a:xfrm>
            <a:off x="3100485" y="5062065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428476" y="5062065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816101" y="5062065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73910" y="5062065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531718" y="5062065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889527" y="5062065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247732" y="5062065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790107" y="4841319"/>
            <a:ext cx="9652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i="1">
                <a:solidFill>
                  <a:srgbClr val="FFFFFF"/>
                </a:solidFill>
                <a:latin typeface="Times New Roman"/>
                <a:cs typeface="Times New Roman"/>
              </a:rPr>
              <a:t>k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2885358" y="4515332"/>
            <a:ext cx="116205" cy="280670"/>
          </a:xfrm>
          <a:custGeom>
            <a:avLst/>
            <a:gdLst/>
            <a:ahLst/>
            <a:cxnLst/>
            <a:rect l="l" t="t" r="r" b="b"/>
            <a:pathLst>
              <a:path w="116205" h="280670">
                <a:moveTo>
                  <a:pt x="102397" y="0"/>
                </a:moveTo>
                <a:lnTo>
                  <a:pt x="0" y="275447"/>
                </a:lnTo>
                <a:lnTo>
                  <a:pt x="13487" y="280217"/>
                </a:lnTo>
                <a:lnTo>
                  <a:pt x="115900" y="4754"/>
                </a:lnTo>
                <a:lnTo>
                  <a:pt x="10239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0" name="object 50"/>
          <p:cNvGrpSpPr/>
          <p:nvPr/>
        </p:nvGrpSpPr>
        <p:grpSpPr>
          <a:xfrm>
            <a:off x="2869478" y="4782840"/>
            <a:ext cx="204470" cy="292735"/>
            <a:chOff x="2869478" y="4782840"/>
            <a:chExt cx="204470" cy="292735"/>
          </a:xfrm>
        </p:grpSpPr>
        <p:sp>
          <p:nvSpPr>
            <p:cNvPr id="51" name="object 51"/>
            <p:cNvSpPr/>
            <p:nvPr/>
          </p:nvSpPr>
          <p:spPr>
            <a:xfrm>
              <a:off x="2869478" y="4782840"/>
              <a:ext cx="46355" cy="53340"/>
            </a:xfrm>
            <a:custGeom>
              <a:avLst/>
              <a:gdLst/>
              <a:ahLst/>
              <a:cxnLst/>
              <a:rect l="l" t="t" r="r" b="b"/>
              <a:pathLst>
                <a:path w="46355" h="53339">
                  <a:moveTo>
                    <a:pt x="0" y="0"/>
                  </a:moveTo>
                  <a:lnTo>
                    <a:pt x="5562" y="53187"/>
                  </a:lnTo>
                  <a:lnTo>
                    <a:pt x="46040" y="158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" name="object 5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11556" y="4988443"/>
              <a:ext cx="161940" cy="86517"/>
            </a:xfrm>
            <a:prstGeom prst="rect">
              <a:avLst/>
            </a:prstGeom>
          </p:spPr>
        </p:pic>
      </p:grpSp>
      <p:sp>
        <p:nvSpPr>
          <p:cNvPr id="53" name="object 53"/>
          <p:cNvSpPr txBox="1"/>
          <p:nvPr/>
        </p:nvSpPr>
        <p:spPr>
          <a:xfrm>
            <a:off x="2432099" y="5319192"/>
            <a:ext cx="2646680" cy="617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250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i="1">
                <a:solidFill>
                  <a:srgbClr val="FFFFFF"/>
                </a:solidFill>
                <a:latin typeface="Times New Roman"/>
                <a:cs typeface="Times New Roman"/>
              </a:rPr>
              <a:t>..k</a:t>
            </a:r>
            <a:r>
              <a:rPr dirty="0" sz="1250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450">
              <a:latin typeface="Times New Roman"/>
              <a:cs typeface="Times New Roman"/>
            </a:endParaRPr>
          </a:p>
          <a:p>
            <a:pPr marL="73152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5.3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</a:t>
            </a:r>
            <a:r>
              <a:rPr dirty="0" sz="1200" spc="-5">
                <a:latin typeface="Times New Roman"/>
                <a:cs typeface="Times New Roman"/>
              </a:rPr>
              <a:t>cessed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1790700" y="6955866"/>
            <a:ext cx="4648200" cy="1706245"/>
          </a:xfrm>
          <a:custGeom>
            <a:avLst/>
            <a:gdLst/>
            <a:ahLst/>
            <a:cxnLst/>
            <a:rect l="l" t="t" r="r" b="b"/>
            <a:pathLst>
              <a:path w="4648200" h="1706245">
                <a:moveTo>
                  <a:pt x="4648001" y="0"/>
                </a:moveTo>
                <a:lnTo>
                  <a:pt x="0" y="0"/>
                </a:lnTo>
                <a:lnTo>
                  <a:pt x="0" y="1706041"/>
                </a:lnTo>
                <a:lnTo>
                  <a:pt x="4648001" y="1706041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5" name="object 55"/>
          <p:cNvGraphicFramePr>
            <a:graphicFrameLocks noGrp="1"/>
          </p:cNvGraphicFramePr>
          <p:nvPr/>
        </p:nvGraphicFramePr>
        <p:xfrm>
          <a:off x="2434375" y="7245771"/>
          <a:ext cx="3946525" cy="363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7504"/>
                <a:gridCol w="357505"/>
                <a:gridCol w="357505"/>
                <a:gridCol w="357505"/>
                <a:gridCol w="357505"/>
                <a:gridCol w="356869"/>
                <a:gridCol w="357505"/>
                <a:gridCol w="358139"/>
                <a:gridCol w="357505"/>
                <a:gridCol w="358139"/>
              </a:tblGrid>
              <a:tr h="3580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9525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56" name="object 56"/>
          <p:cNvSpPr txBox="1"/>
          <p:nvPr/>
        </p:nvSpPr>
        <p:spPr>
          <a:xfrm>
            <a:off x="2551960" y="7016266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909769" y="7016266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267577" y="7016266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655203" y="7016266"/>
            <a:ext cx="113030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70205" algn="l"/>
                <a:tab pos="727710" algn="l"/>
                <a:tab pos="1057275" algn="l"/>
              </a:tabLst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087627" y="7016266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445435" y="7016266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773426" y="7016266"/>
            <a:ext cx="1447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161052" y="7016266"/>
            <a:ext cx="1447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875636" y="7056184"/>
            <a:ext cx="476250" cy="45339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algn="ctr" marL="38735">
              <a:lnSpc>
                <a:spcPct val="100000"/>
              </a:lnSpc>
              <a:spcBef>
                <a:spcPts val="455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30"/>
              </a:spcBef>
            </a:pPr>
            <a:r>
              <a:rPr dirty="0" sz="1250" spc="-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-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-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-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-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65" name="object 65"/>
          <p:cNvGraphicFramePr>
            <a:graphicFrameLocks noGrp="1"/>
          </p:cNvGraphicFramePr>
          <p:nvPr/>
        </p:nvGraphicFramePr>
        <p:xfrm>
          <a:off x="2951926" y="8239616"/>
          <a:ext cx="2514600" cy="363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6870"/>
                <a:gridCol w="357504"/>
                <a:gridCol w="357505"/>
                <a:gridCol w="357505"/>
                <a:gridCol w="357505"/>
                <a:gridCol w="358775"/>
              </a:tblGrid>
              <a:tr h="35880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</a:tbl>
          </a:graphicData>
        </a:graphic>
      </p:graphicFrame>
      <p:sp>
        <p:nvSpPr>
          <p:cNvPr id="66" name="object 66"/>
          <p:cNvSpPr txBox="1"/>
          <p:nvPr/>
        </p:nvSpPr>
        <p:spPr>
          <a:xfrm>
            <a:off x="3100485" y="8070439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816101" y="8070439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173910" y="8070439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4531718" y="8070439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4889527" y="8070439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247732" y="8070439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428476" y="7717198"/>
            <a:ext cx="135255" cy="521970"/>
          </a:xfrm>
          <a:prstGeom prst="rect">
            <a:avLst/>
          </a:prstGeom>
        </p:spPr>
        <p:txBody>
          <a:bodyPr wrap="square" lIns="0" tIns="105410" rIns="0" bIns="0" rtlCol="0" vert="horz">
            <a:spAutoFit/>
          </a:bodyPr>
          <a:lstStyle/>
          <a:p>
            <a:pPr marL="51435">
              <a:lnSpc>
                <a:spcPct val="100000"/>
              </a:lnSpc>
              <a:spcBef>
                <a:spcPts val="830"/>
              </a:spcBef>
            </a:pPr>
            <a:r>
              <a:rPr dirty="0" sz="1250" i="1">
                <a:solidFill>
                  <a:srgbClr val="FFFFFF"/>
                </a:solidFill>
                <a:latin typeface="Times New Roman"/>
                <a:cs typeface="Times New Roman"/>
              </a:rPr>
              <a:t>k</a:t>
            </a: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9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3345758" y="7523708"/>
            <a:ext cx="116839" cy="280670"/>
          </a:xfrm>
          <a:custGeom>
            <a:avLst/>
            <a:gdLst/>
            <a:ahLst/>
            <a:cxnLst/>
            <a:rect l="l" t="t" r="r" b="b"/>
            <a:pathLst>
              <a:path w="116839" h="280670">
                <a:moveTo>
                  <a:pt x="14295" y="0"/>
                </a:moveTo>
                <a:lnTo>
                  <a:pt x="0" y="4754"/>
                </a:lnTo>
                <a:lnTo>
                  <a:pt x="102412" y="280217"/>
                </a:lnTo>
                <a:lnTo>
                  <a:pt x="116692" y="275447"/>
                </a:lnTo>
                <a:lnTo>
                  <a:pt x="142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4" name="object 74"/>
          <p:cNvGrpSpPr/>
          <p:nvPr/>
        </p:nvGrpSpPr>
        <p:grpSpPr>
          <a:xfrm>
            <a:off x="3431499" y="7791216"/>
            <a:ext cx="358140" cy="297815"/>
            <a:chOff x="3431499" y="7791216"/>
            <a:chExt cx="358140" cy="297815"/>
          </a:xfrm>
        </p:grpSpPr>
        <p:sp>
          <p:nvSpPr>
            <p:cNvPr id="75" name="object 75"/>
            <p:cNvSpPr/>
            <p:nvPr/>
          </p:nvSpPr>
          <p:spPr>
            <a:xfrm>
              <a:off x="3431499" y="7791216"/>
              <a:ext cx="46355" cy="53340"/>
            </a:xfrm>
            <a:custGeom>
              <a:avLst/>
              <a:gdLst/>
              <a:ahLst/>
              <a:cxnLst/>
              <a:rect l="l" t="t" r="r" b="b"/>
              <a:pathLst>
                <a:path w="46354" h="53340">
                  <a:moveTo>
                    <a:pt x="46040" y="0"/>
                  </a:moveTo>
                  <a:lnTo>
                    <a:pt x="0" y="15880"/>
                  </a:lnTo>
                  <a:lnTo>
                    <a:pt x="39684" y="53187"/>
                  </a:lnTo>
                  <a:lnTo>
                    <a:pt x="460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87877" y="7996819"/>
              <a:ext cx="201625" cy="92080"/>
            </a:xfrm>
            <a:prstGeom prst="rect">
              <a:avLst/>
            </a:prstGeom>
          </p:spPr>
        </p:pic>
      </p:grpSp>
      <p:sp>
        <p:nvSpPr>
          <p:cNvPr id="77" name="object 77"/>
          <p:cNvSpPr txBox="1"/>
          <p:nvPr/>
        </p:nvSpPr>
        <p:spPr>
          <a:xfrm>
            <a:off x="2432099" y="8327567"/>
            <a:ext cx="2646680" cy="617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250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i="1">
                <a:solidFill>
                  <a:srgbClr val="FFFFFF"/>
                </a:solidFill>
                <a:latin typeface="Times New Roman"/>
                <a:cs typeface="Times New Roman"/>
              </a:rPr>
              <a:t>..k</a:t>
            </a:r>
            <a:r>
              <a:rPr dirty="0" sz="1250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 marL="73152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5.4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</a:t>
            </a:r>
            <a:r>
              <a:rPr dirty="0" sz="1200" spc="-5">
                <a:latin typeface="Times New Roman"/>
                <a:cs typeface="Times New Roman"/>
              </a:rPr>
              <a:t>cessed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21489" y="520987"/>
            <a:ext cx="26066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5.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LINEAR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90700" y="939114"/>
            <a:ext cx="4648200" cy="1706245"/>
          </a:xfrm>
          <a:custGeom>
            <a:avLst/>
            <a:gdLst/>
            <a:ahLst/>
            <a:cxnLst/>
            <a:rect l="l" t="t" r="r" b="b"/>
            <a:pathLst>
              <a:path w="4648200" h="1706245">
                <a:moveTo>
                  <a:pt x="4648001" y="0"/>
                </a:moveTo>
                <a:lnTo>
                  <a:pt x="0" y="0"/>
                </a:lnTo>
                <a:lnTo>
                  <a:pt x="0" y="1706041"/>
                </a:lnTo>
                <a:lnTo>
                  <a:pt x="4648001" y="1706041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434375" y="1229019"/>
          <a:ext cx="3946525" cy="363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7504"/>
                <a:gridCol w="357505"/>
                <a:gridCol w="357505"/>
                <a:gridCol w="357505"/>
                <a:gridCol w="357505"/>
                <a:gridCol w="356869"/>
                <a:gridCol w="357505"/>
                <a:gridCol w="358139"/>
                <a:gridCol w="357505"/>
                <a:gridCol w="358139"/>
              </a:tblGrid>
              <a:tr h="3580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9525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2551960" y="999517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909769" y="999517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267577" y="999517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655203" y="999517"/>
            <a:ext cx="113030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70205" algn="l"/>
                <a:tab pos="727710" algn="l"/>
                <a:tab pos="1057275" algn="l"/>
              </a:tabLst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087627" y="999517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45435" y="999517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73426" y="999517"/>
            <a:ext cx="1447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161052" y="999517"/>
            <a:ext cx="1447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875636" y="1039435"/>
            <a:ext cx="476250" cy="45339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algn="ctr" marL="38735">
              <a:lnSpc>
                <a:spcPct val="100000"/>
              </a:lnSpc>
              <a:spcBef>
                <a:spcPts val="455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30"/>
              </a:spcBef>
            </a:pPr>
            <a:r>
              <a:rPr dirty="0" sz="1250" spc="-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-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-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-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-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2951926" y="2222864"/>
          <a:ext cx="2514600" cy="363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6870"/>
                <a:gridCol w="357504"/>
                <a:gridCol w="357505"/>
                <a:gridCol w="357505"/>
                <a:gridCol w="357505"/>
                <a:gridCol w="358775"/>
              </a:tblGrid>
              <a:tr h="35880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</a:tbl>
          </a:graphicData>
        </a:graphic>
      </p:graphicFrame>
      <p:sp>
        <p:nvSpPr>
          <p:cNvPr id="16" name="object 16"/>
          <p:cNvSpPr txBox="1"/>
          <p:nvPr/>
        </p:nvSpPr>
        <p:spPr>
          <a:xfrm>
            <a:off x="3100485" y="205369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428476" y="205369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816101" y="205369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173910" y="205369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531718" y="205369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889527" y="205369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247732" y="205369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829797" y="1753565"/>
            <a:ext cx="9652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i="1">
                <a:solidFill>
                  <a:srgbClr val="FFFFFF"/>
                </a:solidFill>
                <a:latin typeface="Times New Roman"/>
                <a:cs typeface="Times New Roman"/>
              </a:rPr>
              <a:t>k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3072688" y="1502979"/>
            <a:ext cx="560705" cy="271780"/>
          </a:xfrm>
          <a:custGeom>
            <a:avLst/>
            <a:gdLst/>
            <a:ahLst/>
            <a:cxnLst/>
            <a:rect l="l" t="t" r="r" b="b"/>
            <a:pathLst>
              <a:path w="560704" h="271780">
                <a:moveTo>
                  <a:pt x="554080" y="0"/>
                </a:moveTo>
                <a:lnTo>
                  <a:pt x="0" y="257997"/>
                </a:lnTo>
                <a:lnTo>
                  <a:pt x="6355" y="271485"/>
                </a:lnTo>
                <a:lnTo>
                  <a:pt x="560435" y="13502"/>
                </a:lnTo>
                <a:lnTo>
                  <a:pt x="5540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" name="object 25"/>
          <p:cNvGrpSpPr/>
          <p:nvPr/>
        </p:nvGrpSpPr>
        <p:grpSpPr>
          <a:xfrm>
            <a:off x="2911556" y="1745889"/>
            <a:ext cx="201930" cy="321310"/>
            <a:chOff x="2911556" y="1745889"/>
            <a:chExt cx="201930" cy="321310"/>
          </a:xfrm>
        </p:grpSpPr>
        <p:sp>
          <p:nvSpPr>
            <p:cNvPr id="26" name="object 26"/>
            <p:cNvSpPr/>
            <p:nvPr/>
          </p:nvSpPr>
          <p:spPr>
            <a:xfrm>
              <a:off x="3033796" y="1745889"/>
              <a:ext cx="55244" cy="43815"/>
            </a:xfrm>
            <a:custGeom>
              <a:avLst/>
              <a:gdLst/>
              <a:ahLst/>
              <a:cxnLst/>
              <a:rect l="l" t="t" r="r" b="b"/>
              <a:pathLst>
                <a:path w="55244" h="43814">
                  <a:moveTo>
                    <a:pt x="34137" y="0"/>
                  </a:moveTo>
                  <a:lnTo>
                    <a:pt x="0" y="42077"/>
                  </a:lnTo>
                  <a:lnTo>
                    <a:pt x="54772" y="43662"/>
                  </a:lnTo>
                  <a:lnTo>
                    <a:pt x="341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1556" y="1941159"/>
              <a:ext cx="201625" cy="125425"/>
            </a:xfrm>
            <a:prstGeom prst="rect">
              <a:avLst/>
            </a:prstGeom>
          </p:spPr>
        </p:pic>
      </p:grpSp>
      <p:sp>
        <p:nvSpPr>
          <p:cNvPr id="28" name="object 28"/>
          <p:cNvSpPr txBox="1"/>
          <p:nvPr/>
        </p:nvSpPr>
        <p:spPr>
          <a:xfrm>
            <a:off x="2432099" y="2310818"/>
            <a:ext cx="2646680" cy="617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250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i="1">
                <a:solidFill>
                  <a:srgbClr val="FFFFFF"/>
                </a:solidFill>
                <a:latin typeface="Times New Roman"/>
                <a:cs typeface="Times New Roman"/>
              </a:rPr>
              <a:t>..k</a:t>
            </a:r>
            <a:r>
              <a:rPr dirty="0" sz="1250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450">
              <a:latin typeface="Times New Roman"/>
              <a:cs typeface="Times New Roman"/>
            </a:endParaRPr>
          </a:p>
          <a:p>
            <a:pPr marL="73152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5.5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</a:t>
            </a:r>
            <a:r>
              <a:rPr dirty="0" sz="1200" spc="-5">
                <a:latin typeface="Times New Roman"/>
                <a:cs typeface="Times New Roman"/>
              </a:rPr>
              <a:t>cessed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1790700" y="3955110"/>
            <a:ext cx="4648200" cy="1706245"/>
          </a:xfrm>
          <a:custGeom>
            <a:avLst/>
            <a:gdLst/>
            <a:ahLst/>
            <a:cxnLst/>
            <a:rect l="l" t="t" r="r" b="b"/>
            <a:pathLst>
              <a:path w="4648200" h="1706245">
                <a:moveTo>
                  <a:pt x="4648001" y="0"/>
                </a:moveTo>
                <a:lnTo>
                  <a:pt x="0" y="0"/>
                </a:lnTo>
                <a:lnTo>
                  <a:pt x="0" y="1706041"/>
                </a:lnTo>
                <a:lnTo>
                  <a:pt x="4648001" y="1706041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2434375" y="4244253"/>
          <a:ext cx="3946525" cy="363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7504"/>
                <a:gridCol w="357505"/>
                <a:gridCol w="357505"/>
                <a:gridCol w="357505"/>
                <a:gridCol w="357505"/>
                <a:gridCol w="356869"/>
                <a:gridCol w="357505"/>
                <a:gridCol w="358139"/>
                <a:gridCol w="357505"/>
                <a:gridCol w="358139"/>
              </a:tblGrid>
              <a:tr h="3580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9525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31" name="object 31"/>
          <p:cNvSpPr txBox="1"/>
          <p:nvPr/>
        </p:nvSpPr>
        <p:spPr>
          <a:xfrm>
            <a:off x="2551960" y="4014749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909769" y="4014749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267577" y="4014749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655203" y="4014749"/>
            <a:ext cx="113030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70205" algn="l"/>
                <a:tab pos="727710" algn="l"/>
                <a:tab pos="1057275" algn="l"/>
              </a:tabLst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087627" y="4014749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445435" y="4014749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773426" y="4014749"/>
            <a:ext cx="1447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161052" y="4014749"/>
            <a:ext cx="1447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875636" y="4054667"/>
            <a:ext cx="476250" cy="45339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algn="ctr" marL="38735">
              <a:lnSpc>
                <a:spcPct val="100000"/>
              </a:lnSpc>
              <a:spcBef>
                <a:spcPts val="455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30"/>
              </a:spcBef>
            </a:pPr>
            <a:r>
              <a:rPr dirty="0" sz="1250" spc="-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-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-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-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-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40" name="object 40"/>
          <p:cNvGraphicFramePr>
            <a:graphicFrameLocks noGrp="1"/>
          </p:cNvGraphicFramePr>
          <p:nvPr/>
        </p:nvGraphicFramePr>
        <p:xfrm>
          <a:off x="2951926" y="5238098"/>
          <a:ext cx="2514600" cy="363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6870"/>
                <a:gridCol w="357504"/>
                <a:gridCol w="357505"/>
                <a:gridCol w="357505"/>
                <a:gridCol w="357505"/>
                <a:gridCol w="358775"/>
              </a:tblGrid>
              <a:tr h="35880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</a:tbl>
          </a:graphicData>
        </a:graphic>
      </p:graphicFrame>
      <p:sp>
        <p:nvSpPr>
          <p:cNvPr id="41" name="object 41"/>
          <p:cNvSpPr txBox="1"/>
          <p:nvPr/>
        </p:nvSpPr>
        <p:spPr>
          <a:xfrm>
            <a:off x="3100485" y="5068922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428476" y="5068922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816101" y="5068922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73910" y="5068922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531718" y="5068922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889527" y="5068922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247732" y="5068922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267979" y="4768797"/>
            <a:ext cx="9652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i="1">
                <a:solidFill>
                  <a:srgbClr val="FFFFFF"/>
                </a:solidFill>
                <a:latin typeface="Times New Roman"/>
                <a:cs typeface="Times New Roman"/>
              </a:rPr>
              <a:t>k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3430706" y="4518212"/>
            <a:ext cx="560705" cy="271780"/>
          </a:xfrm>
          <a:custGeom>
            <a:avLst/>
            <a:gdLst/>
            <a:ahLst/>
            <a:cxnLst/>
            <a:rect l="l" t="t" r="r" b="b"/>
            <a:pathLst>
              <a:path w="560704" h="271779">
                <a:moveTo>
                  <a:pt x="554080" y="0"/>
                </a:moveTo>
                <a:lnTo>
                  <a:pt x="0" y="257997"/>
                </a:lnTo>
                <a:lnTo>
                  <a:pt x="6339" y="271485"/>
                </a:lnTo>
                <a:lnTo>
                  <a:pt x="560420" y="13502"/>
                </a:lnTo>
                <a:lnTo>
                  <a:pt x="5540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0" name="object 50"/>
          <p:cNvGrpSpPr/>
          <p:nvPr/>
        </p:nvGrpSpPr>
        <p:grpSpPr>
          <a:xfrm>
            <a:off x="3346551" y="4761123"/>
            <a:ext cx="100330" cy="321310"/>
            <a:chOff x="3346551" y="4761123"/>
            <a:chExt cx="100330" cy="321310"/>
          </a:xfrm>
        </p:grpSpPr>
        <p:sp>
          <p:nvSpPr>
            <p:cNvPr id="51" name="object 51"/>
            <p:cNvSpPr/>
            <p:nvPr/>
          </p:nvSpPr>
          <p:spPr>
            <a:xfrm>
              <a:off x="3391799" y="4761123"/>
              <a:ext cx="55244" cy="43815"/>
            </a:xfrm>
            <a:custGeom>
              <a:avLst/>
              <a:gdLst/>
              <a:ahLst/>
              <a:cxnLst/>
              <a:rect l="l" t="t" r="r" b="b"/>
              <a:pathLst>
                <a:path w="55245" h="43814">
                  <a:moveTo>
                    <a:pt x="34137" y="0"/>
                  </a:moveTo>
                  <a:lnTo>
                    <a:pt x="0" y="42077"/>
                  </a:lnTo>
                  <a:lnTo>
                    <a:pt x="54772" y="43662"/>
                  </a:lnTo>
                  <a:lnTo>
                    <a:pt x="341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" name="object 5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46551" y="4957993"/>
              <a:ext cx="84947" cy="123824"/>
            </a:xfrm>
            <a:prstGeom prst="rect">
              <a:avLst/>
            </a:prstGeom>
          </p:spPr>
        </p:pic>
      </p:grpSp>
      <p:sp>
        <p:nvSpPr>
          <p:cNvPr id="53" name="object 53"/>
          <p:cNvSpPr txBox="1"/>
          <p:nvPr/>
        </p:nvSpPr>
        <p:spPr>
          <a:xfrm>
            <a:off x="2432099" y="5326050"/>
            <a:ext cx="2646680" cy="617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250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i="1">
                <a:solidFill>
                  <a:srgbClr val="FFFFFF"/>
                </a:solidFill>
                <a:latin typeface="Times New Roman"/>
                <a:cs typeface="Times New Roman"/>
              </a:rPr>
              <a:t>..k</a:t>
            </a:r>
            <a:r>
              <a:rPr dirty="0" sz="1250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 marL="73152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5.6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70">
                <a:latin typeface="Lucida Sans Unicode"/>
                <a:cs typeface="Lucida Sans Unicode"/>
              </a:rPr>
              <a:t>5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</a:t>
            </a:r>
            <a:r>
              <a:rPr dirty="0" sz="1200" spc="-5">
                <a:latin typeface="Times New Roman"/>
                <a:cs typeface="Times New Roman"/>
              </a:rPr>
              <a:t>cessed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1790700" y="6969582"/>
            <a:ext cx="4648200" cy="1706245"/>
          </a:xfrm>
          <a:custGeom>
            <a:avLst/>
            <a:gdLst/>
            <a:ahLst/>
            <a:cxnLst/>
            <a:rect l="l" t="t" r="r" b="b"/>
            <a:pathLst>
              <a:path w="4648200" h="1706245">
                <a:moveTo>
                  <a:pt x="4648001" y="0"/>
                </a:moveTo>
                <a:lnTo>
                  <a:pt x="0" y="0"/>
                </a:lnTo>
                <a:lnTo>
                  <a:pt x="0" y="1706041"/>
                </a:lnTo>
                <a:lnTo>
                  <a:pt x="4648001" y="1706041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5" name="object 55"/>
          <p:cNvGraphicFramePr>
            <a:graphicFrameLocks noGrp="1"/>
          </p:cNvGraphicFramePr>
          <p:nvPr/>
        </p:nvGraphicFramePr>
        <p:xfrm>
          <a:off x="2434375" y="7259594"/>
          <a:ext cx="3946525" cy="363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7504"/>
                <a:gridCol w="357505"/>
                <a:gridCol w="357505"/>
                <a:gridCol w="357505"/>
                <a:gridCol w="357505"/>
                <a:gridCol w="356869"/>
                <a:gridCol w="357505"/>
                <a:gridCol w="358139"/>
                <a:gridCol w="357505"/>
                <a:gridCol w="358139"/>
              </a:tblGrid>
              <a:tr h="3580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9525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56" name="object 56"/>
          <p:cNvSpPr txBox="1"/>
          <p:nvPr/>
        </p:nvSpPr>
        <p:spPr>
          <a:xfrm>
            <a:off x="2551960" y="7030096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909769" y="7030096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267577" y="7030096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655203" y="7030096"/>
            <a:ext cx="113030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70205" algn="l"/>
                <a:tab pos="727710" algn="l"/>
                <a:tab pos="1057275" algn="l"/>
              </a:tabLst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087627" y="7030096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445435" y="7030096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773426" y="7030096"/>
            <a:ext cx="1447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161052" y="7030096"/>
            <a:ext cx="1447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875636" y="7070014"/>
            <a:ext cx="476250" cy="45339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algn="ctr" marL="38735">
              <a:lnSpc>
                <a:spcPct val="100000"/>
              </a:lnSpc>
              <a:spcBef>
                <a:spcPts val="455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30"/>
              </a:spcBef>
            </a:pPr>
            <a:r>
              <a:rPr dirty="0" sz="1250" spc="-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-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-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-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-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65" name="object 65"/>
          <p:cNvGraphicFramePr>
            <a:graphicFrameLocks noGrp="1"/>
          </p:cNvGraphicFramePr>
          <p:nvPr/>
        </p:nvGraphicFramePr>
        <p:xfrm>
          <a:off x="2951926" y="8253438"/>
          <a:ext cx="2514600" cy="363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6870"/>
                <a:gridCol w="357504"/>
                <a:gridCol w="357505"/>
                <a:gridCol w="357505"/>
                <a:gridCol w="357505"/>
                <a:gridCol w="358775"/>
              </a:tblGrid>
              <a:tr h="35880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</a:tbl>
          </a:graphicData>
        </a:graphic>
      </p:graphicFrame>
      <p:sp>
        <p:nvSpPr>
          <p:cNvPr id="66" name="object 66"/>
          <p:cNvSpPr txBox="1"/>
          <p:nvPr/>
        </p:nvSpPr>
        <p:spPr>
          <a:xfrm>
            <a:off x="3100485" y="808427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428476" y="808427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816101" y="808427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4173910" y="808427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4531718" y="808427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4889527" y="808427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247732" y="808427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147123" y="7863525"/>
            <a:ext cx="432434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i="1">
                <a:solidFill>
                  <a:srgbClr val="FFFFFF"/>
                </a:solidFill>
                <a:latin typeface="Times New Roman"/>
                <a:cs typeface="Times New Roman"/>
              </a:rPr>
              <a:t>finally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2432099" y="8341397"/>
            <a:ext cx="3244850" cy="6089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250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i="1">
                <a:solidFill>
                  <a:srgbClr val="FFFFFF"/>
                </a:solidFill>
                <a:latin typeface="Times New Roman"/>
                <a:cs typeface="Times New Roman"/>
              </a:rPr>
              <a:t>..k</a:t>
            </a:r>
            <a:r>
              <a:rPr dirty="0" sz="1250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00">
              <a:latin typeface="Times New Roman"/>
              <a:cs typeface="Times New Roman"/>
            </a:endParaRPr>
          </a:p>
          <a:p>
            <a:pPr marL="13335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 5.7: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contains count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 of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54813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5.1.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COUNTING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SORT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90700" y="939769"/>
            <a:ext cx="4648200" cy="2746375"/>
          </a:xfrm>
          <a:custGeom>
            <a:avLst/>
            <a:gdLst/>
            <a:ahLst/>
            <a:cxnLst/>
            <a:rect l="l" t="t" r="r" b="b"/>
            <a:pathLst>
              <a:path w="4648200" h="2746375">
                <a:moveTo>
                  <a:pt x="4648001" y="0"/>
                </a:moveTo>
                <a:lnTo>
                  <a:pt x="0" y="0"/>
                </a:lnTo>
                <a:lnTo>
                  <a:pt x="0" y="2746278"/>
                </a:lnTo>
                <a:lnTo>
                  <a:pt x="4648001" y="2746278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434375" y="1229370"/>
          <a:ext cx="3946525" cy="363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7504"/>
                <a:gridCol w="357505"/>
                <a:gridCol w="357505"/>
                <a:gridCol w="357505"/>
                <a:gridCol w="357505"/>
                <a:gridCol w="356869"/>
                <a:gridCol w="357505"/>
                <a:gridCol w="358139"/>
                <a:gridCol w="357505"/>
                <a:gridCol w="358139"/>
              </a:tblGrid>
              <a:tr h="35879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9525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2551960" y="999871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909769" y="999871"/>
            <a:ext cx="44323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70205" algn="l"/>
              </a:tabLst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655203" y="999871"/>
            <a:ext cx="44323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70205" algn="l"/>
              </a:tabLst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370820" y="999871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700001" y="999871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087627" y="999871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45435" y="999871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773426" y="999871"/>
            <a:ext cx="1447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161052" y="999871"/>
            <a:ext cx="1447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2991626" y="3019413"/>
          <a:ext cx="2514600" cy="363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7504"/>
                <a:gridCol w="356869"/>
                <a:gridCol w="357505"/>
                <a:gridCol w="357505"/>
                <a:gridCol w="357505"/>
                <a:gridCol w="358775"/>
              </a:tblGrid>
              <a:tr h="35880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</a:tbl>
          </a:graphicData>
        </a:graphic>
      </p:graphicFrame>
      <p:sp>
        <p:nvSpPr>
          <p:cNvPr id="16" name="object 16"/>
          <p:cNvSpPr txBox="1"/>
          <p:nvPr/>
        </p:nvSpPr>
        <p:spPr>
          <a:xfrm>
            <a:off x="4212446" y="2830394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70254" y="2830394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928063" y="2830394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285822" y="2830394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330487" y="2391353"/>
            <a:ext cx="1781810" cy="6076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95"/>
              </a:lnSpc>
              <a:spcBef>
                <a:spcPts val="100"/>
              </a:spcBef>
            </a:pPr>
            <a:r>
              <a:rPr dirty="0" sz="1250" b="1">
                <a:solidFill>
                  <a:srgbClr val="FFFF00"/>
                </a:solidFill>
                <a:latin typeface="Arial"/>
                <a:cs typeface="Arial"/>
              </a:rPr>
              <a:t>for</a:t>
            </a:r>
            <a:r>
              <a:rPr dirty="0" sz="1250" spc="-15" b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b="1" i="1">
                <a:solidFill>
                  <a:srgbClr val="FFFF00"/>
                </a:solidFill>
                <a:latin typeface="Arial"/>
                <a:cs typeface="Arial"/>
              </a:rPr>
              <a:t>i</a:t>
            </a:r>
            <a:r>
              <a:rPr dirty="0" sz="1250" spc="-20" b="1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b="1">
                <a:solidFill>
                  <a:srgbClr val="FFFF00"/>
                </a:solidFill>
                <a:latin typeface="Arial"/>
                <a:cs typeface="Arial"/>
              </a:rPr>
              <a:t>=</a:t>
            </a:r>
            <a:r>
              <a:rPr dirty="0" sz="1250" spc="-15" b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b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r>
              <a:rPr dirty="0" sz="1250" spc="-15" b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b="1">
                <a:solidFill>
                  <a:srgbClr val="FFFF00"/>
                </a:solidFill>
                <a:latin typeface="Arial"/>
                <a:cs typeface="Arial"/>
              </a:rPr>
              <a:t>to</a:t>
            </a:r>
            <a:r>
              <a:rPr dirty="0" sz="1250" spc="-15" b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b="1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250">
              <a:latin typeface="Arial"/>
              <a:cs typeface="Arial"/>
            </a:endParaRPr>
          </a:p>
          <a:p>
            <a:pPr marL="232410">
              <a:lnSpc>
                <a:spcPts val="1495"/>
              </a:lnSpc>
            </a:pPr>
            <a:r>
              <a:rPr dirty="0" sz="1250" b="1">
                <a:solidFill>
                  <a:srgbClr val="FFFF00"/>
                </a:solidFill>
                <a:latin typeface="Arial"/>
                <a:cs typeface="Arial"/>
              </a:rPr>
              <a:t>do</a:t>
            </a:r>
            <a:r>
              <a:rPr dirty="0" sz="1250" spc="-25" b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b="1" i="1">
                <a:solidFill>
                  <a:srgbClr val="FFFF00"/>
                </a:solidFill>
                <a:latin typeface="Arial"/>
                <a:cs typeface="Arial"/>
              </a:rPr>
              <a:t>C</a:t>
            </a:r>
            <a:r>
              <a:rPr dirty="0" sz="1250" b="1">
                <a:solidFill>
                  <a:srgbClr val="FFFF00"/>
                </a:solidFill>
                <a:latin typeface="Arial"/>
                <a:cs typeface="Arial"/>
              </a:rPr>
              <a:t>[</a:t>
            </a:r>
            <a:r>
              <a:rPr dirty="0" sz="1250" b="1" i="1">
                <a:solidFill>
                  <a:srgbClr val="FFFF00"/>
                </a:solidFill>
                <a:latin typeface="Arial"/>
                <a:cs typeface="Arial"/>
              </a:rPr>
              <a:t>i</a:t>
            </a:r>
            <a:r>
              <a:rPr dirty="0" sz="1250" b="1">
                <a:solidFill>
                  <a:srgbClr val="FFFF00"/>
                </a:solidFill>
                <a:latin typeface="Arial"/>
                <a:cs typeface="Arial"/>
              </a:rPr>
              <a:t>]</a:t>
            </a:r>
            <a:r>
              <a:rPr dirty="0" sz="1250" spc="-20" b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b="1">
                <a:solidFill>
                  <a:srgbClr val="FFFF00"/>
                </a:solidFill>
                <a:latin typeface="Arial"/>
                <a:cs typeface="Arial"/>
              </a:rPr>
              <a:t>=</a:t>
            </a:r>
            <a:r>
              <a:rPr dirty="0" sz="1250" spc="-25" b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b="1" i="1">
                <a:solidFill>
                  <a:srgbClr val="FFFF00"/>
                </a:solidFill>
                <a:latin typeface="Arial"/>
                <a:cs typeface="Arial"/>
              </a:rPr>
              <a:t>C</a:t>
            </a:r>
            <a:r>
              <a:rPr dirty="0" sz="1250" b="1">
                <a:solidFill>
                  <a:srgbClr val="FFFF00"/>
                </a:solidFill>
                <a:latin typeface="Arial"/>
                <a:cs typeface="Arial"/>
              </a:rPr>
              <a:t>[</a:t>
            </a:r>
            <a:r>
              <a:rPr dirty="0" sz="1250" b="1" i="1">
                <a:solidFill>
                  <a:srgbClr val="FFFF00"/>
                </a:solidFill>
                <a:latin typeface="Arial"/>
                <a:cs typeface="Arial"/>
              </a:rPr>
              <a:t>i</a:t>
            </a:r>
            <a:r>
              <a:rPr dirty="0" sz="1250" b="1">
                <a:solidFill>
                  <a:srgbClr val="FFFF00"/>
                </a:solidFill>
                <a:latin typeface="Arial"/>
                <a:cs typeface="Arial"/>
              </a:rPr>
              <a:t>]</a:t>
            </a:r>
            <a:r>
              <a:rPr dirty="0" sz="1250" spc="-15" b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b="1">
                <a:solidFill>
                  <a:srgbClr val="FFFF00"/>
                </a:solidFill>
                <a:latin typeface="Arial"/>
                <a:cs typeface="Arial"/>
              </a:rPr>
              <a:t>+</a:t>
            </a:r>
            <a:r>
              <a:rPr dirty="0" sz="1250" spc="-30" b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b="1" i="1">
                <a:solidFill>
                  <a:srgbClr val="FFFF00"/>
                </a:solidFill>
                <a:latin typeface="Arial"/>
                <a:cs typeface="Arial"/>
              </a:rPr>
              <a:t>C</a:t>
            </a:r>
            <a:r>
              <a:rPr dirty="0" sz="1250" b="1">
                <a:solidFill>
                  <a:srgbClr val="FFFF00"/>
                </a:solidFill>
                <a:latin typeface="Arial"/>
                <a:cs typeface="Arial"/>
              </a:rPr>
              <a:t>[</a:t>
            </a:r>
            <a:r>
              <a:rPr dirty="0" sz="1250" b="1" i="1">
                <a:solidFill>
                  <a:srgbClr val="FFFF00"/>
                </a:solidFill>
                <a:latin typeface="Arial"/>
                <a:cs typeface="Arial"/>
              </a:rPr>
              <a:t>i</a:t>
            </a:r>
            <a:r>
              <a:rPr dirty="0" sz="1250" b="1">
                <a:solidFill>
                  <a:srgbClr val="FFFF00"/>
                </a:solidFill>
                <a:latin typeface="Arial"/>
                <a:cs typeface="Arial"/>
              </a:rPr>
              <a:t>-1]</a:t>
            </a:r>
            <a:endParaRPr sz="1250">
              <a:latin typeface="Arial"/>
              <a:cs typeface="Arial"/>
            </a:endParaRPr>
          </a:p>
          <a:p>
            <a:pPr marL="791210">
              <a:lnSpc>
                <a:spcPct val="100000"/>
              </a:lnSpc>
              <a:spcBef>
                <a:spcPts val="500"/>
              </a:spcBef>
              <a:tabLst>
                <a:tab pos="1148715" algn="l"/>
                <a:tab pos="1536700" algn="l"/>
              </a:tabLst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	2	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875636" y="1039789"/>
            <a:ext cx="476250" cy="45339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algn="ctr" marL="38735">
              <a:lnSpc>
                <a:spcPct val="100000"/>
              </a:lnSpc>
              <a:spcBef>
                <a:spcPts val="455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30"/>
              </a:spcBef>
            </a:pPr>
            <a:r>
              <a:rPr dirty="0" sz="1250" spc="-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-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-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-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-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2951926" y="1905689"/>
          <a:ext cx="2514600" cy="363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140"/>
                <a:gridCol w="356870"/>
                <a:gridCol w="357504"/>
                <a:gridCol w="357505"/>
                <a:gridCol w="357505"/>
                <a:gridCol w="357505"/>
                <a:gridCol w="358775"/>
              </a:tblGrid>
              <a:tr h="35880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</a:tr>
            </a:tbl>
          </a:graphicData>
        </a:graphic>
      </p:graphicFrame>
      <p:sp>
        <p:nvSpPr>
          <p:cNvPr id="23" name="object 23"/>
          <p:cNvSpPr txBox="1"/>
          <p:nvPr/>
        </p:nvSpPr>
        <p:spPr>
          <a:xfrm>
            <a:off x="2432099" y="1993647"/>
            <a:ext cx="467359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2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250" spc="-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dirty="0" sz="1250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k</a:t>
            </a:r>
            <a:r>
              <a:rPr dirty="0" sz="1250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100485" y="173652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428476" y="173652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816101" y="173652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173910" y="173652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531718" y="173652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889527" y="173652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247732" y="1736520"/>
            <a:ext cx="8509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00" spc="1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866402" y="3337722"/>
            <a:ext cx="84354" cy="124039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2671023" y="3006882"/>
            <a:ext cx="2771775" cy="953135"/>
          </a:xfrm>
          <a:prstGeom prst="rect">
            <a:avLst/>
          </a:prstGeom>
        </p:spPr>
        <p:txBody>
          <a:bodyPr wrap="square" lIns="0" tIns="1130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90"/>
              </a:spcBef>
            </a:pPr>
            <a:r>
              <a:rPr dirty="0" sz="12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 algn="ctr" marL="149860">
              <a:lnSpc>
                <a:spcPct val="100000"/>
              </a:lnSpc>
              <a:spcBef>
                <a:spcPts val="795"/>
              </a:spcBef>
            </a:pPr>
            <a:r>
              <a:rPr dirty="0" baseline="2222" sz="187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r>
              <a:rPr dirty="0" baseline="2222" sz="1875" spc="-3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baseline="2222" sz="1875">
                <a:solidFill>
                  <a:srgbClr val="FFFFFF"/>
                </a:solidFill>
                <a:latin typeface="Times New Roman"/>
                <a:cs typeface="Times New Roman"/>
              </a:rPr>
              <a:t>elements</a:t>
            </a:r>
            <a:r>
              <a:rPr dirty="0" baseline="2222" sz="1875" spc="16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250" b="1">
                <a:solidFill>
                  <a:srgbClr val="FFFFFF"/>
                </a:solidFill>
                <a:latin typeface="Times New Roman"/>
                <a:cs typeface="Times New Roman"/>
              </a:rPr>
              <a:t>&lt;=</a:t>
            </a:r>
            <a:r>
              <a:rPr dirty="0" sz="1250" spc="155" b="1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baseline="2222" sz="187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baseline="2222" sz="1875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algn="ctr" marL="11557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5.8: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 to rank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endParaRPr sz="1200">
              <a:latin typeface="Lucida Sans Unicode"/>
              <a:cs typeface="Lucida Sans Unicode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1790700" y="5834583"/>
            <a:ext cx="4648200" cy="2827655"/>
            <a:chOff x="1790700" y="5834583"/>
            <a:chExt cx="4648200" cy="2827655"/>
          </a:xfrm>
        </p:grpSpPr>
        <p:sp>
          <p:nvSpPr>
            <p:cNvPr id="34" name="object 34"/>
            <p:cNvSpPr/>
            <p:nvPr/>
          </p:nvSpPr>
          <p:spPr>
            <a:xfrm>
              <a:off x="1790700" y="5834583"/>
              <a:ext cx="4648200" cy="2827655"/>
            </a:xfrm>
            <a:custGeom>
              <a:avLst/>
              <a:gdLst/>
              <a:ahLst/>
              <a:cxnLst/>
              <a:rect l="l" t="t" r="r" b="b"/>
              <a:pathLst>
                <a:path w="4648200" h="2827654">
                  <a:moveTo>
                    <a:pt x="4648001" y="0"/>
                  </a:moveTo>
                  <a:lnTo>
                    <a:pt x="0" y="0"/>
                  </a:lnTo>
                  <a:lnTo>
                    <a:pt x="0" y="2827324"/>
                  </a:lnTo>
                  <a:lnTo>
                    <a:pt x="4648001" y="2827324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904983" y="6243167"/>
              <a:ext cx="2230120" cy="1062355"/>
            </a:xfrm>
            <a:custGeom>
              <a:avLst/>
              <a:gdLst/>
              <a:ahLst/>
              <a:cxnLst/>
              <a:rect l="l" t="t" r="r" b="b"/>
              <a:pathLst>
                <a:path w="2230120" h="1062354">
                  <a:moveTo>
                    <a:pt x="2229688" y="17780"/>
                  </a:moveTo>
                  <a:lnTo>
                    <a:pt x="2220811" y="0"/>
                  </a:lnTo>
                  <a:lnTo>
                    <a:pt x="78117" y="1012037"/>
                  </a:lnTo>
                  <a:lnTo>
                    <a:pt x="63017" y="979932"/>
                  </a:lnTo>
                  <a:lnTo>
                    <a:pt x="0" y="1059916"/>
                  </a:lnTo>
                  <a:lnTo>
                    <a:pt x="101790" y="1062342"/>
                  </a:lnTo>
                  <a:lnTo>
                    <a:pt x="86423" y="1029690"/>
                  </a:lnTo>
                  <a:lnTo>
                    <a:pt x="2229688" y="177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36" name="object 36"/>
          <p:cNvGraphicFramePr>
            <a:graphicFrameLocks noGrp="1"/>
          </p:cNvGraphicFramePr>
          <p:nvPr/>
        </p:nvGraphicFramePr>
        <p:xfrm>
          <a:off x="2938684" y="7462123"/>
          <a:ext cx="255905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760"/>
                <a:gridCol w="364490"/>
                <a:gridCol w="364490"/>
                <a:gridCol w="364490"/>
                <a:gridCol w="363855"/>
                <a:gridCol w="364489"/>
                <a:gridCol w="365125"/>
              </a:tblGrid>
              <a:tr h="365151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7" name="object 37"/>
          <p:cNvGraphicFramePr>
            <a:graphicFrameLocks noGrp="1"/>
          </p:cNvGraphicFramePr>
          <p:nvPr/>
        </p:nvGraphicFramePr>
        <p:xfrm>
          <a:off x="2930607" y="8231194"/>
          <a:ext cx="2559050" cy="371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855"/>
                <a:gridCol w="363219"/>
                <a:gridCol w="363855"/>
                <a:gridCol w="365125"/>
              </a:tblGrid>
              <a:tr h="36595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pSp>
        <p:nvGrpSpPr>
          <p:cNvPr id="38" name="object 38"/>
          <p:cNvGrpSpPr/>
          <p:nvPr/>
        </p:nvGrpSpPr>
        <p:grpSpPr>
          <a:xfrm>
            <a:off x="2364292" y="6491065"/>
            <a:ext cx="4013200" cy="1745614"/>
            <a:chOff x="2364292" y="6491065"/>
            <a:chExt cx="4013200" cy="1745614"/>
          </a:xfrm>
        </p:grpSpPr>
        <p:sp>
          <p:nvSpPr>
            <p:cNvPr id="39" name="object 39"/>
            <p:cNvSpPr/>
            <p:nvPr/>
          </p:nvSpPr>
          <p:spPr>
            <a:xfrm>
              <a:off x="3823395" y="7869382"/>
              <a:ext cx="81915" cy="364490"/>
            </a:xfrm>
            <a:custGeom>
              <a:avLst/>
              <a:gdLst/>
              <a:ahLst/>
              <a:cxnLst/>
              <a:rect l="l" t="t" r="r" b="b"/>
              <a:pathLst>
                <a:path w="81914" h="364490">
                  <a:moveTo>
                    <a:pt x="61401" y="0"/>
                  </a:moveTo>
                  <a:lnTo>
                    <a:pt x="20192" y="0"/>
                  </a:lnTo>
                  <a:lnTo>
                    <a:pt x="20192" y="273862"/>
                  </a:lnTo>
                  <a:lnTo>
                    <a:pt x="0" y="273862"/>
                  </a:lnTo>
                  <a:lnTo>
                    <a:pt x="40401" y="364342"/>
                  </a:lnTo>
                  <a:lnTo>
                    <a:pt x="81594" y="273862"/>
                  </a:lnTo>
                  <a:lnTo>
                    <a:pt x="61401" y="273862"/>
                  </a:lnTo>
                  <a:lnTo>
                    <a:pt x="61401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823395" y="7869382"/>
              <a:ext cx="81915" cy="364490"/>
            </a:xfrm>
            <a:custGeom>
              <a:avLst/>
              <a:gdLst/>
              <a:ahLst/>
              <a:cxnLst/>
              <a:rect l="l" t="t" r="r" b="b"/>
              <a:pathLst>
                <a:path w="81914" h="364490">
                  <a:moveTo>
                    <a:pt x="0" y="273862"/>
                  </a:moveTo>
                  <a:lnTo>
                    <a:pt x="20192" y="273862"/>
                  </a:lnTo>
                  <a:lnTo>
                    <a:pt x="20192" y="0"/>
                  </a:lnTo>
                  <a:lnTo>
                    <a:pt x="61401" y="0"/>
                  </a:lnTo>
                  <a:lnTo>
                    <a:pt x="61401" y="273862"/>
                  </a:lnTo>
                  <a:lnTo>
                    <a:pt x="81594" y="273862"/>
                  </a:lnTo>
                  <a:lnTo>
                    <a:pt x="40401" y="364342"/>
                  </a:lnTo>
                  <a:lnTo>
                    <a:pt x="0" y="273862"/>
                  </a:lnTo>
                </a:path>
              </a:pathLst>
            </a:custGeom>
            <a:ln w="50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366832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366832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731175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731175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095518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095518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459860" y="6493605"/>
              <a:ext cx="364490" cy="365760"/>
            </a:xfrm>
            <a:custGeom>
              <a:avLst/>
              <a:gdLst/>
              <a:ahLst/>
              <a:cxnLst/>
              <a:rect l="l" t="t" r="r" b="b"/>
              <a:pathLst>
                <a:path w="364489" h="365759">
                  <a:moveTo>
                    <a:pt x="364342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4342" y="365151"/>
                  </a:lnTo>
                  <a:lnTo>
                    <a:pt x="364342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459860" y="6493605"/>
              <a:ext cx="364490" cy="365760"/>
            </a:xfrm>
            <a:custGeom>
              <a:avLst/>
              <a:gdLst/>
              <a:ahLst/>
              <a:cxnLst/>
              <a:rect l="l" t="t" r="r" b="b"/>
              <a:pathLst>
                <a:path w="364489" h="365759">
                  <a:moveTo>
                    <a:pt x="0" y="365151"/>
                  </a:moveTo>
                  <a:lnTo>
                    <a:pt x="364342" y="365151"/>
                  </a:lnTo>
                  <a:lnTo>
                    <a:pt x="364342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3823395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823395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552081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552081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916423" y="6493605"/>
              <a:ext cx="366395" cy="365760"/>
            </a:xfrm>
            <a:custGeom>
              <a:avLst/>
              <a:gdLst/>
              <a:ahLst/>
              <a:cxnLst/>
              <a:rect l="l" t="t" r="r" b="b"/>
              <a:pathLst>
                <a:path w="366395" h="365759">
                  <a:moveTo>
                    <a:pt x="365959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959" y="365151"/>
                  </a:lnTo>
                  <a:lnTo>
                    <a:pt x="365959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916423" y="6493605"/>
              <a:ext cx="366395" cy="365760"/>
            </a:xfrm>
            <a:custGeom>
              <a:avLst/>
              <a:gdLst/>
              <a:ahLst/>
              <a:cxnLst/>
              <a:rect l="l" t="t" r="r" b="b"/>
              <a:pathLst>
                <a:path w="366395" h="365759">
                  <a:moveTo>
                    <a:pt x="0" y="365151"/>
                  </a:moveTo>
                  <a:lnTo>
                    <a:pt x="365959" y="365151"/>
                  </a:lnTo>
                  <a:lnTo>
                    <a:pt x="365959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280766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280766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645109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150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0" y="365151"/>
                  </a:lnTo>
                  <a:lnTo>
                    <a:pt x="365150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645109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0" y="365151"/>
                  </a:moveTo>
                  <a:lnTo>
                    <a:pt x="365150" y="365151"/>
                  </a:lnTo>
                  <a:lnTo>
                    <a:pt x="365150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6009451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6009451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" name="object 61"/>
          <p:cNvSpPr txBox="1"/>
          <p:nvPr/>
        </p:nvSpPr>
        <p:spPr>
          <a:xfrm>
            <a:off x="2497123" y="6298928"/>
            <a:ext cx="784225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76555" algn="l"/>
                <a:tab pos="71056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3589547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923344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287485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621786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016273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380414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714210" y="6298928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108697" y="6298928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876689" y="6450635"/>
            <a:ext cx="484505" cy="39052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4185198" y="6491065"/>
            <a:ext cx="370840" cy="370840"/>
            <a:chOff x="4185198" y="6491065"/>
            <a:chExt cx="370840" cy="370840"/>
          </a:xfrm>
        </p:grpSpPr>
        <p:sp>
          <p:nvSpPr>
            <p:cNvPr id="72" name="object 72"/>
            <p:cNvSpPr/>
            <p:nvPr/>
          </p:nvSpPr>
          <p:spPr>
            <a:xfrm>
              <a:off x="4187738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6600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187738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4" name="object 74"/>
          <p:cNvSpPr txBox="1"/>
          <p:nvPr/>
        </p:nvSpPr>
        <p:spPr>
          <a:xfrm>
            <a:off x="4191076" y="6560613"/>
            <a:ext cx="361950" cy="2197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25"/>
              </a:spcBef>
            </a:pPr>
            <a:r>
              <a:rPr dirty="0" sz="1250" spc="10" b="1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75" name="object 75"/>
          <p:cNvGraphicFramePr>
            <a:graphicFrameLocks noGrp="1"/>
          </p:cNvGraphicFramePr>
          <p:nvPr/>
        </p:nvGraphicFramePr>
        <p:xfrm>
          <a:off x="2364304" y="5924759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363855"/>
                <a:gridCol w="363855"/>
                <a:gridCol w="363855"/>
                <a:gridCol w="364489"/>
                <a:gridCol w="363854"/>
                <a:gridCol w="364489"/>
                <a:gridCol w="365125"/>
              </a:tblGrid>
              <a:tr h="365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76" name="object 76"/>
          <p:cNvSpPr txBox="1"/>
          <p:nvPr/>
        </p:nvSpPr>
        <p:spPr>
          <a:xfrm>
            <a:off x="1876690" y="5852628"/>
            <a:ext cx="484505" cy="462280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algn="ctr" marL="39370">
              <a:lnSpc>
                <a:spcPct val="100000"/>
              </a:lnSpc>
              <a:spcBef>
                <a:spcPts val="43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6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3937299" y="6943583"/>
            <a:ext cx="316865" cy="648335"/>
          </a:xfrm>
          <a:custGeom>
            <a:avLst/>
            <a:gdLst/>
            <a:ahLst/>
            <a:cxnLst/>
            <a:rect l="l" t="t" r="r" b="b"/>
            <a:pathLst>
              <a:path w="316864" h="648334">
                <a:moveTo>
                  <a:pt x="298917" y="0"/>
                </a:moveTo>
                <a:lnTo>
                  <a:pt x="0" y="639013"/>
                </a:lnTo>
                <a:lnTo>
                  <a:pt x="17785" y="647898"/>
                </a:lnTo>
                <a:lnTo>
                  <a:pt x="316687" y="8884"/>
                </a:lnTo>
                <a:lnTo>
                  <a:pt x="29891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4219254" y="6898335"/>
            <a:ext cx="51435" cy="64769"/>
          </a:xfrm>
          <a:custGeom>
            <a:avLst/>
            <a:gdLst/>
            <a:ahLst/>
            <a:cxnLst/>
            <a:rect l="l" t="t" r="r" b="b"/>
            <a:pathLst>
              <a:path w="51435" h="64770">
                <a:moveTo>
                  <a:pt x="49270" y="0"/>
                </a:moveTo>
                <a:lnTo>
                  <a:pt x="0" y="39593"/>
                </a:lnTo>
                <a:lnTo>
                  <a:pt x="50886" y="64632"/>
                </a:lnTo>
                <a:lnTo>
                  <a:pt x="4927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 txBox="1"/>
          <p:nvPr/>
        </p:nvSpPr>
        <p:spPr>
          <a:xfrm>
            <a:off x="2605376" y="6950808"/>
            <a:ext cx="3196590" cy="159004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417195">
              <a:lnSpc>
                <a:spcPct val="100000"/>
              </a:lnSpc>
              <a:spcBef>
                <a:spcPts val="125"/>
              </a:spcBef>
            </a:pP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[6]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[3]]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[11]]]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[11]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3</a:t>
            </a:r>
            <a:endParaRPr sz="1250">
              <a:latin typeface="Times New Roman"/>
              <a:cs typeface="Times New Roman"/>
            </a:endParaRPr>
          </a:p>
          <a:p>
            <a:pPr marL="506730">
              <a:lnSpc>
                <a:spcPct val="100000"/>
              </a:lnSpc>
              <a:spcBef>
                <a:spcPts val="990"/>
              </a:spcBef>
              <a:tabLst>
                <a:tab pos="840740" algn="l"/>
                <a:tab pos="1235075" algn="l"/>
                <a:tab pos="1598930" algn="l"/>
                <a:tab pos="1963420" algn="l"/>
                <a:tab pos="2327275" algn="l"/>
                <a:tab pos="269176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	2	3	4	5	6	7</a:t>
            </a:r>
            <a:endParaRPr sz="950">
              <a:latin typeface="Times New Roman"/>
              <a:cs typeface="Times New Roman"/>
            </a:endParaRPr>
          </a:p>
          <a:p>
            <a:pPr marL="52705">
              <a:lnSpc>
                <a:spcPct val="100000"/>
              </a:lnSpc>
              <a:spcBef>
                <a:spcPts val="780"/>
              </a:spcBef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Times New Roman"/>
              <a:cs typeface="Times New Roman"/>
            </a:endParaRPr>
          </a:p>
          <a:p>
            <a:pPr marL="1420495">
              <a:lnSpc>
                <a:spcPct val="100000"/>
              </a:lnSpc>
            </a:pP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[11]]</a:t>
            </a:r>
            <a:r>
              <a:rPr dirty="0" sz="105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[11]]</a:t>
            </a:r>
            <a:r>
              <a:rPr dirty="0" sz="1050" spc="-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-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7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2817023" y="8737713"/>
            <a:ext cx="2595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5.9: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Garamond"/>
                <a:cs typeface="Garamond"/>
              </a:rPr>
              <a:t>[</a:t>
            </a:r>
            <a:r>
              <a:rPr dirty="0" sz="1200" spc="-50">
                <a:latin typeface="Lucida Sans Unicode"/>
                <a:cs typeface="Lucida Sans Unicode"/>
              </a:rPr>
              <a:t>11</a:t>
            </a:r>
            <a:r>
              <a:rPr dirty="0" sz="1200" spc="-5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21489" y="520987"/>
            <a:ext cx="26066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5.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LINEAR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90700" y="939495"/>
            <a:ext cx="4648200" cy="2827655"/>
          </a:xfrm>
          <a:custGeom>
            <a:avLst/>
            <a:gdLst/>
            <a:ahLst/>
            <a:cxnLst/>
            <a:rect l="l" t="t" r="r" b="b"/>
            <a:pathLst>
              <a:path w="4648200" h="2827654">
                <a:moveTo>
                  <a:pt x="4648001" y="0"/>
                </a:moveTo>
                <a:lnTo>
                  <a:pt x="0" y="0"/>
                </a:lnTo>
                <a:lnTo>
                  <a:pt x="0" y="2827324"/>
                </a:lnTo>
                <a:lnTo>
                  <a:pt x="4648001" y="2827324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938684" y="2566532"/>
          <a:ext cx="255905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760"/>
                <a:gridCol w="364490"/>
                <a:gridCol w="364490"/>
                <a:gridCol w="364490"/>
                <a:gridCol w="363855"/>
                <a:gridCol w="364489"/>
                <a:gridCol w="365125"/>
              </a:tblGrid>
              <a:tr h="365151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930607" y="3335619"/>
          <a:ext cx="2559050" cy="371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855"/>
                <a:gridCol w="363219"/>
                <a:gridCol w="363855"/>
                <a:gridCol w="365125"/>
              </a:tblGrid>
              <a:tr h="36595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4160966" y="1595474"/>
            <a:ext cx="1487805" cy="1745614"/>
            <a:chOff x="4160966" y="1595474"/>
            <a:chExt cx="1487805" cy="1745614"/>
          </a:xfrm>
        </p:grpSpPr>
        <p:sp>
          <p:nvSpPr>
            <p:cNvPr id="8" name="object 8"/>
            <p:cNvSpPr/>
            <p:nvPr/>
          </p:nvSpPr>
          <p:spPr>
            <a:xfrm>
              <a:off x="4163506" y="2973806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79" h="364489">
                  <a:moveTo>
                    <a:pt x="60594" y="0"/>
                  </a:moveTo>
                  <a:lnTo>
                    <a:pt x="20192" y="0"/>
                  </a:lnTo>
                  <a:lnTo>
                    <a:pt x="20192" y="273862"/>
                  </a:lnTo>
                  <a:lnTo>
                    <a:pt x="0" y="273862"/>
                  </a:lnTo>
                  <a:lnTo>
                    <a:pt x="40385" y="364342"/>
                  </a:lnTo>
                  <a:lnTo>
                    <a:pt x="80787" y="273862"/>
                  </a:lnTo>
                  <a:lnTo>
                    <a:pt x="60594" y="273862"/>
                  </a:lnTo>
                  <a:lnTo>
                    <a:pt x="6059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163506" y="2973806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79" h="364489">
                  <a:moveTo>
                    <a:pt x="0" y="273862"/>
                  </a:moveTo>
                  <a:lnTo>
                    <a:pt x="20192" y="273862"/>
                  </a:lnTo>
                  <a:lnTo>
                    <a:pt x="20192" y="0"/>
                  </a:lnTo>
                  <a:lnTo>
                    <a:pt x="60594" y="0"/>
                  </a:lnTo>
                  <a:lnTo>
                    <a:pt x="60594" y="273862"/>
                  </a:lnTo>
                  <a:lnTo>
                    <a:pt x="80787" y="273862"/>
                  </a:lnTo>
                  <a:lnTo>
                    <a:pt x="40385" y="364342"/>
                  </a:lnTo>
                  <a:lnTo>
                    <a:pt x="0" y="273862"/>
                  </a:lnTo>
                </a:path>
              </a:pathLst>
            </a:custGeom>
            <a:ln w="50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552081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552081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916423" y="1598014"/>
              <a:ext cx="366395" cy="365760"/>
            </a:xfrm>
            <a:custGeom>
              <a:avLst/>
              <a:gdLst/>
              <a:ahLst/>
              <a:cxnLst/>
              <a:rect l="l" t="t" r="r" b="b"/>
              <a:pathLst>
                <a:path w="366395" h="365760">
                  <a:moveTo>
                    <a:pt x="365959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959" y="365151"/>
                  </a:lnTo>
                  <a:lnTo>
                    <a:pt x="365959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916423" y="1598014"/>
              <a:ext cx="366395" cy="365760"/>
            </a:xfrm>
            <a:custGeom>
              <a:avLst/>
              <a:gdLst/>
              <a:ahLst/>
              <a:cxnLst/>
              <a:rect l="l" t="t" r="r" b="b"/>
              <a:pathLst>
                <a:path w="366395" h="365760">
                  <a:moveTo>
                    <a:pt x="0" y="365151"/>
                  </a:moveTo>
                  <a:lnTo>
                    <a:pt x="365959" y="365151"/>
                  </a:lnTo>
                  <a:lnTo>
                    <a:pt x="365959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5280766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280766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2497123" y="1403359"/>
            <a:ext cx="784225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76555" algn="l"/>
                <a:tab pos="71056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589547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923344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287485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621786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016273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380414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714210" y="1403359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108697" y="1403359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50">
              <a:latin typeface="Times New Roman"/>
              <a:cs typeface="Times New Roman"/>
            </a:endParaRPr>
          </a:p>
        </p:txBody>
      </p:sp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2364304" y="1029183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363855"/>
                <a:gridCol w="363855"/>
                <a:gridCol w="363855"/>
                <a:gridCol w="364489"/>
                <a:gridCol w="363854"/>
                <a:gridCol w="364489"/>
                <a:gridCol w="365125"/>
              </a:tblGrid>
              <a:tr h="365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26" name="object 26"/>
          <p:cNvSpPr txBox="1"/>
          <p:nvPr/>
        </p:nvSpPr>
        <p:spPr>
          <a:xfrm>
            <a:off x="1876690" y="957046"/>
            <a:ext cx="484505" cy="462280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algn="ctr" marL="39370">
              <a:lnSpc>
                <a:spcPct val="100000"/>
              </a:lnSpc>
              <a:spcBef>
                <a:spcPts val="43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6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4333966" y="1307998"/>
            <a:ext cx="1438910" cy="1057275"/>
          </a:xfrm>
          <a:custGeom>
            <a:avLst/>
            <a:gdLst/>
            <a:ahLst/>
            <a:cxnLst/>
            <a:rect l="l" t="t" r="r" b="b"/>
            <a:pathLst>
              <a:path w="1438910" h="1057275">
                <a:moveTo>
                  <a:pt x="1426677" y="0"/>
                </a:moveTo>
                <a:lnTo>
                  <a:pt x="0" y="1040526"/>
                </a:lnTo>
                <a:lnTo>
                  <a:pt x="12115" y="1056680"/>
                </a:lnTo>
                <a:lnTo>
                  <a:pt x="1438793" y="16154"/>
                </a:lnTo>
                <a:lnTo>
                  <a:pt x="142667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4268520" y="2002764"/>
            <a:ext cx="728980" cy="615950"/>
          </a:xfrm>
          <a:custGeom>
            <a:avLst/>
            <a:gdLst/>
            <a:ahLst/>
            <a:cxnLst/>
            <a:rect l="l" t="t" r="r" b="b"/>
            <a:pathLst>
              <a:path w="728979" h="615950">
                <a:moveTo>
                  <a:pt x="101790" y="387769"/>
                </a:moveTo>
                <a:lnTo>
                  <a:pt x="47675" y="315061"/>
                </a:lnTo>
                <a:lnTo>
                  <a:pt x="0" y="404723"/>
                </a:lnTo>
                <a:lnTo>
                  <a:pt x="101790" y="387769"/>
                </a:lnTo>
                <a:close/>
              </a:path>
              <a:path w="728979" h="615950">
                <a:moveTo>
                  <a:pt x="728687" y="0"/>
                </a:moveTo>
                <a:lnTo>
                  <a:pt x="667296" y="16967"/>
                </a:lnTo>
                <a:lnTo>
                  <a:pt x="679297" y="30518"/>
                </a:lnTo>
                <a:lnTo>
                  <a:pt x="33934" y="600227"/>
                </a:lnTo>
                <a:lnTo>
                  <a:pt x="47675" y="615594"/>
                </a:lnTo>
                <a:lnTo>
                  <a:pt x="692556" y="45466"/>
                </a:lnTo>
                <a:lnTo>
                  <a:pt x="705256" y="59766"/>
                </a:lnTo>
                <a:lnTo>
                  <a:pt x="72868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1876689" y="1555065"/>
            <a:ext cx="3925570" cy="209042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 marL="1145540">
              <a:lnSpc>
                <a:spcPct val="100000"/>
              </a:lnSpc>
              <a:spcBef>
                <a:spcPts val="1095"/>
              </a:spcBef>
            </a:pP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[8]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[4]]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[10]]]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[10]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4</a:t>
            </a:r>
            <a:endParaRPr sz="1250">
              <a:latin typeface="Times New Roman"/>
              <a:cs typeface="Times New Roman"/>
            </a:endParaRPr>
          </a:p>
          <a:p>
            <a:pPr marL="1235710">
              <a:lnSpc>
                <a:spcPct val="100000"/>
              </a:lnSpc>
              <a:spcBef>
                <a:spcPts val="994"/>
              </a:spcBef>
              <a:tabLst>
                <a:tab pos="1569085" algn="l"/>
                <a:tab pos="1963420" algn="l"/>
                <a:tab pos="2327910" algn="l"/>
                <a:tab pos="2691765" algn="l"/>
                <a:tab pos="3056255" algn="l"/>
                <a:tab pos="342074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	2	3	4	5	6	7</a:t>
            </a:r>
            <a:endParaRPr sz="950">
              <a:latin typeface="Times New Roman"/>
              <a:cs typeface="Times New Roman"/>
            </a:endParaRPr>
          </a:p>
          <a:p>
            <a:pPr marL="781685">
              <a:lnSpc>
                <a:spcPct val="100000"/>
              </a:lnSpc>
              <a:spcBef>
                <a:spcPts val="780"/>
              </a:spcBef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Times New Roman"/>
              <a:cs typeface="Times New Roman"/>
            </a:endParaRPr>
          </a:p>
          <a:p>
            <a:pPr marL="2489200">
              <a:lnSpc>
                <a:spcPct val="100000"/>
              </a:lnSpc>
            </a:pP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[10]]</a:t>
            </a:r>
            <a:r>
              <a:rPr dirty="0" sz="105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[10]] -</a:t>
            </a:r>
            <a:r>
              <a:rPr dirty="0" sz="1050" spc="-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700">
              <a:latin typeface="Times New Roman"/>
              <a:cs typeface="Times New Roman"/>
            </a:endParaRPr>
          </a:p>
          <a:p>
            <a:pPr marL="741045">
              <a:lnSpc>
                <a:spcPct val="100000"/>
              </a:lnSpc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2364304" y="1595485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363855"/>
                <a:gridCol w="363219"/>
                <a:gridCol w="363855"/>
                <a:gridCol w="365760"/>
                <a:gridCol w="727075"/>
                <a:gridCol w="364489"/>
              </a:tblGrid>
              <a:tr h="3651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</a:tr>
            </a:tbl>
          </a:graphicData>
        </a:graphic>
      </p:graphicFrame>
      <p:grpSp>
        <p:nvGrpSpPr>
          <p:cNvPr id="31" name="object 31"/>
          <p:cNvGrpSpPr/>
          <p:nvPr/>
        </p:nvGrpSpPr>
        <p:grpSpPr>
          <a:xfrm>
            <a:off x="4913895" y="1595485"/>
            <a:ext cx="371475" cy="370205"/>
            <a:chOff x="4913895" y="1595485"/>
            <a:chExt cx="371475" cy="370205"/>
          </a:xfrm>
        </p:grpSpPr>
        <p:sp>
          <p:nvSpPr>
            <p:cNvPr id="32" name="object 32"/>
            <p:cNvSpPr/>
            <p:nvPr/>
          </p:nvSpPr>
          <p:spPr>
            <a:xfrm>
              <a:off x="4916423" y="1598014"/>
              <a:ext cx="366395" cy="365760"/>
            </a:xfrm>
            <a:custGeom>
              <a:avLst/>
              <a:gdLst/>
              <a:ahLst/>
              <a:cxnLst/>
              <a:rect l="l" t="t" r="r" b="b"/>
              <a:pathLst>
                <a:path w="366395" h="365760">
                  <a:moveTo>
                    <a:pt x="365959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959" y="365151"/>
                  </a:lnTo>
                  <a:lnTo>
                    <a:pt x="365959" y="0"/>
                  </a:lnTo>
                  <a:close/>
                </a:path>
              </a:pathLst>
            </a:custGeom>
            <a:solidFill>
              <a:srgbClr val="6600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916423" y="1598014"/>
              <a:ext cx="366395" cy="365760"/>
            </a:xfrm>
            <a:custGeom>
              <a:avLst/>
              <a:gdLst/>
              <a:ahLst/>
              <a:cxnLst/>
              <a:rect l="l" t="t" r="r" b="b"/>
              <a:pathLst>
                <a:path w="366395" h="365760">
                  <a:moveTo>
                    <a:pt x="0" y="365151"/>
                  </a:moveTo>
                  <a:lnTo>
                    <a:pt x="365959" y="365151"/>
                  </a:lnTo>
                  <a:lnTo>
                    <a:pt x="365959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B1B1B1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/>
          <p:cNvSpPr txBox="1"/>
          <p:nvPr/>
        </p:nvSpPr>
        <p:spPr>
          <a:xfrm>
            <a:off x="2779076" y="3842132"/>
            <a:ext cx="26714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5.10: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Garamond"/>
                <a:cs typeface="Garamond"/>
              </a:rPr>
              <a:t>[</a:t>
            </a:r>
            <a:r>
              <a:rPr dirty="0" sz="1200" spc="-50">
                <a:latin typeface="Lucida Sans Unicode"/>
                <a:cs typeface="Lucida Sans Unicode"/>
              </a:rPr>
              <a:t>10</a:t>
            </a:r>
            <a:r>
              <a:rPr dirty="0" sz="1200" spc="-5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endParaRPr sz="1200">
              <a:latin typeface="Lucida Sans Unicode"/>
              <a:cs typeface="Lucida Sans Unicode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790700" y="5834583"/>
            <a:ext cx="4648200" cy="2827655"/>
            <a:chOff x="1790700" y="5834583"/>
            <a:chExt cx="4648200" cy="2827655"/>
          </a:xfrm>
        </p:grpSpPr>
        <p:sp>
          <p:nvSpPr>
            <p:cNvPr id="36" name="object 36"/>
            <p:cNvSpPr/>
            <p:nvPr/>
          </p:nvSpPr>
          <p:spPr>
            <a:xfrm>
              <a:off x="1790700" y="5834583"/>
              <a:ext cx="4648200" cy="2827655"/>
            </a:xfrm>
            <a:custGeom>
              <a:avLst/>
              <a:gdLst/>
              <a:ahLst/>
              <a:cxnLst/>
              <a:rect l="l" t="t" r="r" b="b"/>
              <a:pathLst>
                <a:path w="4648200" h="2827654">
                  <a:moveTo>
                    <a:pt x="4648001" y="0"/>
                  </a:moveTo>
                  <a:lnTo>
                    <a:pt x="0" y="0"/>
                  </a:lnTo>
                  <a:lnTo>
                    <a:pt x="0" y="2827324"/>
                  </a:lnTo>
                  <a:lnTo>
                    <a:pt x="4648001" y="2827324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540645" y="6202781"/>
              <a:ext cx="1826895" cy="1141095"/>
            </a:xfrm>
            <a:custGeom>
              <a:avLst/>
              <a:gdLst/>
              <a:ahLst/>
              <a:cxnLst/>
              <a:rect l="l" t="t" r="r" b="b"/>
              <a:pathLst>
                <a:path w="1826895" h="1141095">
                  <a:moveTo>
                    <a:pt x="1826552" y="16967"/>
                  </a:moveTo>
                  <a:lnTo>
                    <a:pt x="1816061" y="0"/>
                  </a:lnTo>
                  <a:lnTo>
                    <a:pt x="72605" y="1085126"/>
                  </a:lnTo>
                  <a:lnTo>
                    <a:pt x="53327" y="1054252"/>
                  </a:lnTo>
                  <a:lnTo>
                    <a:pt x="0" y="1140688"/>
                  </a:lnTo>
                  <a:lnTo>
                    <a:pt x="101790" y="1131798"/>
                  </a:lnTo>
                  <a:lnTo>
                    <a:pt x="82600" y="1101102"/>
                  </a:lnTo>
                  <a:lnTo>
                    <a:pt x="1826552" y="1696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38" name="object 38"/>
          <p:cNvGraphicFramePr>
            <a:graphicFrameLocks noGrp="1"/>
          </p:cNvGraphicFramePr>
          <p:nvPr/>
        </p:nvGraphicFramePr>
        <p:xfrm>
          <a:off x="2938684" y="7462123"/>
          <a:ext cx="255905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760"/>
                <a:gridCol w="364490"/>
                <a:gridCol w="364490"/>
                <a:gridCol w="364490"/>
                <a:gridCol w="363855"/>
                <a:gridCol w="364489"/>
                <a:gridCol w="365125"/>
              </a:tblGrid>
              <a:tr h="365151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9" name="object 39"/>
          <p:cNvGraphicFramePr>
            <a:graphicFrameLocks noGrp="1"/>
          </p:cNvGraphicFramePr>
          <p:nvPr/>
        </p:nvGraphicFramePr>
        <p:xfrm>
          <a:off x="2930607" y="8231194"/>
          <a:ext cx="2559050" cy="371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855"/>
                <a:gridCol w="363219"/>
                <a:gridCol w="363855"/>
                <a:gridCol w="365125"/>
              </a:tblGrid>
              <a:tr h="36595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sp>
        <p:nvSpPr>
          <p:cNvPr id="40" name="object 40"/>
          <p:cNvSpPr/>
          <p:nvPr/>
        </p:nvSpPr>
        <p:spPr>
          <a:xfrm>
            <a:off x="3823395" y="6493605"/>
            <a:ext cx="365760" cy="365760"/>
          </a:xfrm>
          <a:custGeom>
            <a:avLst/>
            <a:gdLst/>
            <a:ahLst/>
            <a:cxnLst/>
            <a:rect l="l" t="t" r="r" b="b"/>
            <a:pathLst>
              <a:path w="365760" h="365759">
                <a:moveTo>
                  <a:pt x="0" y="365151"/>
                </a:moveTo>
                <a:lnTo>
                  <a:pt x="365151" y="365151"/>
                </a:lnTo>
                <a:lnTo>
                  <a:pt x="365151" y="0"/>
                </a:lnTo>
                <a:lnTo>
                  <a:pt x="0" y="0"/>
                </a:lnTo>
                <a:lnTo>
                  <a:pt x="0" y="365151"/>
                </a:lnTo>
                <a:close/>
              </a:path>
            </a:pathLst>
          </a:custGeom>
          <a:ln w="5057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4552081" y="6493605"/>
            <a:ext cx="365760" cy="365760"/>
          </a:xfrm>
          <a:custGeom>
            <a:avLst/>
            <a:gdLst/>
            <a:ahLst/>
            <a:cxnLst/>
            <a:rect l="l" t="t" r="r" b="b"/>
            <a:pathLst>
              <a:path w="365760" h="365759">
                <a:moveTo>
                  <a:pt x="0" y="365151"/>
                </a:moveTo>
                <a:lnTo>
                  <a:pt x="365151" y="365151"/>
                </a:lnTo>
                <a:lnTo>
                  <a:pt x="365151" y="0"/>
                </a:lnTo>
                <a:lnTo>
                  <a:pt x="0" y="0"/>
                </a:lnTo>
                <a:lnTo>
                  <a:pt x="0" y="365151"/>
                </a:lnTo>
                <a:close/>
              </a:path>
            </a:pathLst>
          </a:custGeom>
          <a:ln w="5057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2" name="object 42"/>
          <p:cNvGrpSpPr/>
          <p:nvPr/>
        </p:nvGrpSpPr>
        <p:grpSpPr>
          <a:xfrm>
            <a:off x="3409782" y="6857949"/>
            <a:ext cx="149860" cy="1378585"/>
            <a:chOff x="3409782" y="6857949"/>
            <a:chExt cx="149860" cy="1378585"/>
          </a:xfrm>
        </p:grpSpPr>
        <p:sp>
          <p:nvSpPr>
            <p:cNvPr id="43" name="object 43"/>
            <p:cNvSpPr/>
            <p:nvPr/>
          </p:nvSpPr>
          <p:spPr>
            <a:xfrm>
              <a:off x="3418667" y="7869382"/>
              <a:ext cx="81915" cy="364490"/>
            </a:xfrm>
            <a:custGeom>
              <a:avLst/>
              <a:gdLst/>
              <a:ahLst/>
              <a:cxnLst/>
              <a:rect l="l" t="t" r="r" b="b"/>
              <a:pathLst>
                <a:path w="81914" h="364490">
                  <a:moveTo>
                    <a:pt x="61386" y="0"/>
                  </a:moveTo>
                  <a:lnTo>
                    <a:pt x="21000" y="0"/>
                  </a:lnTo>
                  <a:lnTo>
                    <a:pt x="21000" y="273862"/>
                  </a:lnTo>
                  <a:lnTo>
                    <a:pt x="0" y="273862"/>
                  </a:lnTo>
                  <a:lnTo>
                    <a:pt x="41193" y="364342"/>
                  </a:lnTo>
                  <a:lnTo>
                    <a:pt x="81594" y="273862"/>
                  </a:lnTo>
                  <a:lnTo>
                    <a:pt x="61386" y="273862"/>
                  </a:lnTo>
                  <a:lnTo>
                    <a:pt x="6138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418667" y="7869382"/>
              <a:ext cx="81915" cy="364490"/>
            </a:xfrm>
            <a:custGeom>
              <a:avLst/>
              <a:gdLst/>
              <a:ahLst/>
              <a:cxnLst/>
              <a:rect l="l" t="t" r="r" b="b"/>
              <a:pathLst>
                <a:path w="81914" h="364490">
                  <a:moveTo>
                    <a:pt x="0" y="273862"/>
                  </a:moveTo>
                  <a:lnTo>
                    <a:pt x="21000" y="273862"/>
                  </a:lnTo>
                  <a:lnTo>
                    <a:pt x="21000" y="0"/>
                  </a:lnTo>
                  <a:lnTo>
                    <a:pt x="61386" y="0"/>
                  </a:lnTo>
                  <a:lnTo>
                    <a:pt x="61386" y="273862"/>
                  </a:lnTo>
                  <a:lnTo>
                    <a:pt x="81594" y="273862"/>
                  </a:lnTo>
                  <a:lnTo>
                    <a:pt x="41193" y="364342"/>
                  </a:lnTo>
                  <a:lnTo>
                    <a:pt x="0" y="273862"/>
                  </a:lnTo>
                </a:path>
              </a:pathLst>
            </a:custGeom>
            <a:ln w="50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409772" y="6857949"/>
              <a:ext cx="149860" cy="650875"/>
            </a:xfrm>
            <a:custGeom>
              <a:avLst/>
              <a:gdLst/>
              <a:ahLst/>
              <a:cxnLst/>
              <a:rect l="l" t="t" r="r" b="b"/>
              <a:pathLst>
                <a:path w="149860" h="650875">
                  <a:moveTo>
                    <a:pt x="149453" y="61391"/>
                  </a:moveTo>
                  <a:lnTo>
                    <a:pt x="130873" y="0"/>
                  </a:lnTo>
                  <a:lnTo>
                    <a:pt x="92913" y="51701"/>
                  </a:lnTo>
                  <a:lnTo>
                    <a:pt x="111036" y="54813"/>
                  </a:lnTo>
                  <a:lnTo>
                    <a:pt x="0" y="646290"/>
                  </a:lnTo>
                  <a:lnTo>
                    <a:pt x="20193" y="650328"/>
                  </a:lnTo>
                  <a:lnTo>
                    <a:pt x="130568" y="58166"/>
                  </a:lnTo>
                  <a:lnTo>
                    <a:pt x="149453" y="613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/>
          <p:cNvSpPr txBox="1"/>
          <p:nvPr/>
        </p:nvSpPr>
        <p:spPr>
          <a:xfrm>
            <a:off x="2497123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861265" y="6298928"/>
            <a:ext cx="42037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4607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589547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923344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287485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621786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016273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380414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714210" y="6298928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108697" y="6298928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50">
              <a:latin typeface="Times New Roman"/>
              <a:cs typeface="Times New Roman"/>
            </a:endParaRPr>
          </a:p>
        </p:txBody>
      </p:sp>
      <p:graphicFrame>
        <p:nvGraphicFramePr>
          <p:cNvPr id="56" name="object 56"/>
          <p:cNvGraphicFramePr>
            <a:graphicFrameLocks noGrp="1"/>
          </p:cNvGraphicFramePr>
          <p:nvPr/>
        </p:nvGraphicFramePr>
        <p:xfrm>
          <a:off x="2364304" y="5924759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363855"/>
                <a:gridCol w="363855"/>
                <a:gridCol w="363855"/>
                <a:gridCol w="364489"/>
                <a:gridCol w="363854"/>
                <a:gridCol w="364489"/>
                <a:gridCol w="365125"/>
              </a:tblGrid>
              <a:tr h="365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grpSp>
        <p:nvGrpSpPr>
          <p:cNvPr id="57" name="object 57"/>
          <p:cNvGrpSpPr/>
          <p:nvPr/>
        </p:nvGrpSpPr>
        <p:grpSpPr>
          <a:xfrm>
            <a:off x="4185209" y="6491076"/>
            <a:ext cx="370205" cy="370205"/>
            <a:chOff x="4185209" y="6491076"/>
            <a:chExt cx="370205" cy="370205"/>
          </a:xfrm>
        </p:grpSpPr>
        <p:sp>
          <p:nvSpPr>
            <p:cNvPr id="58" name="object 58"/>
            <p:cNvSpPr/>
            <p:nvPr/>
          </p:nvSpPr>
          <p:spPr>
            <a:xfrm>
              <a:off x="4187738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6600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187738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0" name="object 60"/>
          <p:cNvSpPr txBox="1"/>
          <p:nvPr/>
        </p:nvSpPr>
        <p:spPr>
          <a:xfrm>
            <a:off x="1876690" y="5852628"/>
            <a:ext cx="484505" cy="462280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algn="ctr" marL="39370">
              <a:lnSpc>
                <a:spcPct val="100000"/>
              </a:lnSpc>
              <a:spcBef>
                <a:spcPts val="43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6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876689" y="6450635"/>
            <a:ext cx="3763010" cy="209042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 marL="1145540">
              <a:lnSpc>
                <a:spcPct val="100000"/>
              </a:lnSpc>
              <a:spcBef>
                <a:spcPts val="1095"/>
              </a:spcBef>
            </a:pP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[4]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[2]]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[9]]]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[9]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  <a:p>
            <a:pPr algn="ctr" marL="955040">
              <a:lnSpc>
                <a:spcPct val="100000"/>
              </a:lnSpc>
              <a:spcBef>
                <a:spcPts val="994"/>
              </a:spcBef>
              <a:tabLst>
                <a:tab pos="1288415" algn="l"/>
                <a:tab pos="1682750" algn="l"/>
                <a:tab pos="2047239" algn="l"/>
                <a:tab pos="2411095" algn="l"/>
                <a:tab pos="2775585" algn="l"/>
                <a:tab pos="314007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	2	3	4	5	6	7</a:t>
            </a:r>
            <a:endParaRPr sz="950">
              <a:latin typeface="Times New Roman"/>
              <a:cs typeface="Times New Roman"/>
            </a:endParaRPr>
          </a:p>
          <a:p>
            <a:pPr marL="781685">
              <a:lnSpc>
                <a:spcPct val="100000"/>
              </a:lnSpc>
              <a:spcBef>
                <a:spcPts val="780"/>
              </a:spcBef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Times New Roman"/>
              <a:cs typeface="Times New Roman"/>
            </a:endParaRPr>
          </a:p>
          <a:p>
            <a:pPr algn="ctr" marL="902335">
              <a:lnSpc>
                <a:spcPct val="100000"/>
              </a:lnSpc>
            </a:pP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[9]]</a:t>
            </a:r>
            <a:r>
              <a:rPr dirty="0" sz="105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dirty="0" sz="1050" spc="-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[9]]</a:t>
            </a:r>
            <a:r>
              <a:rPr dirty="0" sz="1050" spc="-1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dirty="0" sz="1050" spc="-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700">
              <a:latin typeface="Times New Roman"/>
              <a:cs typeface="Times New Roman"/>
            </a:endParaRPr>
          </a:p>
          <a:p>
            <a:pPr marL="741045">
              <a:lnSpc>
                <a:spcPct val="100000"/>
              </a:lnSpc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62" name="object 62"/>
          <p:cNvGraphicFramePr>
            <a:graphicFrameLocks noGrp="1"/>
          </p:cNvGraphicFramePr>
          <p:nvPr/>
        </p:nvGraphicFramePr>
        <p:xfrm>
          <a:off x="2364304" y="6491076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4490"/>
                <a:gridCol w="360679"/>
                <a:gridCol w="365760"/>
                <a:gridCol w="363855"/>
                <a:gridCol w="363855"/>
                <a:gridCol w="363855"/>
                <a:gridCol w="364490"/>
                <a:gridCol w="363854"/>
                <a:gridCol w="364489"/>
              </a:tblGrid>
              <a:tr h="3651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</a:tr>
            </a:tbl>
          </a:graphicData>
        </a:graphic>
      </p:graphicFrame>
      <p:sp>
        <p:nvSpPr>
          <p:cNvPr id="63" name="object 63"/>
          <p:cNvSpPr txBox="1"/>
          <p:nvPr/>
        </p:nvSpPr>
        <p:spPr>
          <a:xfrm>
            <a:off x="2817023" y="8737713"/>
            <a:ext cx="2595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5.11: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9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placed in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 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54813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5.1.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COUNTING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SORT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90700" y="938657"/>
            <a:ext cx="4648200" cy="2703195"/>
          </a:xfrm>
          <a:custGeom>
            <a:avLst/>
            <a:gdLst/>
            <a:ahLst/>
            <a:cxnLst/>
            <a:rect l="l" t="t" r="r" b="b"/>
            <a:pathLst>
              <a:path w="4648200" h="2703195">
                <a:moveTo>
                  <a:pt x="4648001" y="0"/>
                </a:moveTo>
                <a:lnTo>
                  <a:pt x="0" y="0"/>
                </a:lnTo>
                <a:lnTo>
                  <a:pt x="0" y="2703194"/>
                </a:lnTo>
                <a:lnTo>
                  <a:pt x="4648001" y="2703194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890213" y="2495650"/>
          <a:ext cx="2442845" cy="3530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7345"/>
                <a:gridCol w="347980"/>
                <a:gridCol w="347980"/>
                <a:gridCol w="347980"/>
                <a:gridCol w="347980"/>
                <a:gridCol w="347980"/>
                <a:gridCol w="348614"/>
              </a:tblGrid>
              <a:tr h="34792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95885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 spc="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882501" y="3229301"/>
          <a:ext cx="2442210" cy="3543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7345"/>
                <a:gridCol w="347980"/>
                <a:gridCol w="347980"/>
                <a:gridCol w="347980"/>
                <a:gridCol w="347980"/>
                <a:gridCol w="347980"/>
                <a:gridCol w="347344"/>
              </a:tblGrid>
              <a:tr h="3494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9588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spc="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5065013" y="1956521"/>
            <a:ext cx="911225" cy="1277620"/>
            <a:chOff x="5065013" y="1956521"/>
            <a:chExt cx="911225" cy="1277620"/>
          </a:xfrm>
        </p:grpSpPr>
        <p:sp>
          <p:nvSpPr>
            <p:cNvPr id="8" name="object 8"/>
            <p:cNvSpPr/>
            <p:nvPr/>
          </p:nvSpPr>
          <p:spPr>
            <a:xfrm>
              <a:off x="5115930" y="2884561"/>
              <a:ext cx="77470" cy="347345"/>
            </a:xfrm>
            <a:custGeom>
              <a:avLst/>
              <a:gdLst/>
              <a:ahLst/>
              <a:cxnLst/>
              <a:rect l="l" t="t" r="r" b="b"/>
              <a:pathLst>
                <a:path w="77470" h="347344">
                  <a:moveTo>
                    <a:pt x="57866" y="0"/>
                  </a:moveTo>
                  <a:lnTo>
                    <a:pt x="19293" y="0"/>
                  </a:lnTo>
                  <a:lnTo>
                    <a:pt x="19293" y="260756"/>
                  </a:lnTo>
                  <a:lnTo>
                    <a:pt x="0" y="260756"/>
                  </a:lnTo>
                  <a:lnTo>
                    <a:pt x="38572" y="347151"/>
                  </a:lnTo>
                  <a:lnTo>
                    <a:pt x="77144" y="260756"/>
                  </a:lnTo>
                  <a:lnTo>
                    <a:pt x="57866" y="260756"/>
                  </a:lnTo>
                  <a:lnTo>
                    <a:pt x="5786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115930" y="2884561"/>
              <a:ext cx="77470" cy="347345"/>
            </a:xfrm>
            <a:custGeom>
              <a:avLst/>
              <a:gdLst/>
              <a:ahLst/>
              <a:cxnLst/>
              <a:rect l="l" t="t" r="r" b="b"/>
              <a:pathLst>
                <a:path w="77470" h="347344">
                  <a:moveTo>
                    <a:pt x="0" y="260756"/>
                  </a:moveTo>
                  <a:lnTo>
                    <a:pt x="19293" y="260756"/>
                  </a:lnTo>
                  <a:lnTo>
                    <a:pt x="19293" y="0"/>
                  </a:lnTo>
                  <a:lnTo>
                    <a:pt x="57866" y="0"/>
                  </a:lnTo>
                  <a:lnTo>
                    <a:pt x="57866" y="260756"/>
                  </a:lnTo>
                  <a:lnTo>
                    <a:pt x="77144" y="260756"/>
                  </a:lnTo>
                  <a:lnTo>
                    <a:pt x="38572" y="347151"/>
                  </a:lnTo>
                  <a:lnTo>
                    <a:pt x="0" y="260756"/>
                  </a:lnTo>
                </a:path>
              </a:pathLst>
            </a:custGeom>
            <a:ln w="482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065014" y="1956523"/>
              <a:ext cx="911225" cy="386715"/>
            </a:xfrm>
            <a:custGeom>
              <a:avLst/>
              <a:gdLst/>
              <a:ahLst/>
              <a:cxnLst/>
              <a:rect l="l" t="t" r="r" b="b"/>
              <a:pathLst>
                <a:path w="911225" h="386714">
                  <a:moveTo>
                    <a:pt x="84848" y="292366"/>
                  </a:moveTo>
                  <a:lnTo>
                    <a:pt x="0" y="311658"/>
                  </a:lnTo>
                  <a:lnTo>
                    <a:pt x="60934" y="386486"/>
                  </a:lnTo>
                  <a:lnTo>
                    <a:pt x="84848" y="292366"/>
                  </a:lnTo>
                  <a:close/>
                </a:path>
                <a:path w="911225" h="386714">
                  <a:moveTo>
                    <a:pt x="911072" y="0"/>
                  </a:moveTo>
                  <a:lnTo>
                    <a:pt x="852449" y="14643"/>
                  </a:lnTo>
                  <a:lnTo>
                    <a:pt x="887158" y="56311"/>
                  </a:lnTo>
                  <a:lnTo>
                    <a:pt x="9110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2467977" y="1383557"/>
            <a:ext cx="749935" cy="1651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60045" algn="l"/>
                <a:tab pos="678815" algn="l"/>
              </a:tabLst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511165" y="1383557"/>
            <a:ext cx="83820" cy="1651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829917" y="1383557"/>
            <a:ext cx="83820" cy="1651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177646" y="1383557"/>
            <a:ext cx="83820" cy="1651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496109" y="1383557"/>
            <a:ext cx="83820" cy="1651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872816" y="1383557"/>
            <a:ext cx="83820" cy="1651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220545" y="1383557"/>
            <a:ext cx="83820" cy="1651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539297" y="1383557"/>
            <a:ext cx="141605" cy="1651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916004" y="1383557"/>
            <a:ext cx="141605" cy="1651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2340171" y="1026825"/>
          <a:ext cx="3834765" cy="3536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9250"/>
                <a:gridCol w="347980"/>
                <a:gridCol w="347980"/>
                <a:gridCol w="347979"/>
                <a:gridCol w="347344"/>
                <a:gridCol w="347980"/>
                <a:gridCol w="347980"/>
                <a:gridCol w="347980"/>
                <a:gridCol w="347980"/>
                <a:gridCol w="347980"/>
                <a:gridCol w="347345"/>
              </a:tblGrid>
              <a:tr h="348694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21" name="object 21"/>
          <p:cNvSpPr txBox="1"/>
          <p:nvPr/>
        </p:nvSpPr>
        <p:spPr>
          <a:xfrm>
            <a:off x="1874722" y="957364"/>
            <a:ext cx="463550" cy="442595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algn="ctr" marL="38100">
              <a:lnSpc>
                <a:spcPct val="100000"/>
              </a:lnSpc>
              <a:spcBef>
                <a:spcPts val="425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34"/>
              </a:spcBef>
            </a:pPr>
            <a:r>
              <a:rPr dirty="0" sz="120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0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0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0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0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4885273" y="1298473"/>
            <a:ext cx="232410" cy="965200"/>
          </a:xfrm>
          <a:custGeom>
            <a:avLst/>
            <a:gdLst/>
            <a:ahLst/>
            <a:cxnLst/>
            <a:rect l="l" t="t" r="r" b="b"/>
            <a:pathLst>
              <a:path w="232410" h="965200">
                <a:moveTo>
                  <a:pt x="18516" y="0"/>
                </a:moveTo>
                <a:lnTo>
                  <a:pt x="0" y="3855"/>
                </a:lnTo>
                <a:lnTo>
                  <a:pt x="213695" y="965072"/>
                </a:lnTo>
                <a:lnTo>
                  <a:pt x="232196" y="961217"/>
                </a:lnTo>
                <a:lnTo>
                  <a:pt x="1851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5236281" y="1982749"/>
            <a:ext cx="708025" cy="600710"/>
          </a:xfrm>
          <a:custGeom>
            <a:avLst/>
            <a:gdLst/>
            <a:ahLst/>
            <a:cxnLst/>
            <a:rect l="l" t="t" r="r" b="b"/>
            <a:pathLst>
              <a:path w="708025" h="600710">
                <a:moveTo>
                  <a:pt x="695065" y="0"/>
                </a:moveTo>
                <a:lnTo>
                  <a:pt x="0" y="585520"/>
                </a:lnTo>
                <a:lnTo>
                  <a:pt x="11567" y="600181"/>
                </a:lnTo>
                <a:lnTo>
                  <a:pt x="707410" y="13883"/>
                </a:lnTo>
                <a:lnTo>
                  <a:pt x="69506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1874735" y="1528424"/>
            <a:ext cx="4473575" cy="199707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 spc="5" b="1" i="1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dirty="0" sz="120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0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0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0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00">
              <a:latin typeface="Times New Roman"/>
              <a:cs typeface="Times New Roman"/>
            </a:endParaRPr>
          </a:p>
          <a:p>
            <a:pPr algn="ctr" marL="280035">
              <a:lnSpc>
                <a:spcPct val="100000"/>
              </a:lnSpc>
              <a:spcBef>
                <a:spcPts val="1035"/>
              </a:spcBef>
            </a:pPr>
            <a:r>
              <a:rPr dirty="0" sz="1200" spc="5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[11]</a:t>
            </a:r>
            <a:r>
              <a:rPr dirty="0" sz="120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0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00" spc="5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[7]]</a:t>
            </a:r>
            <a:r>
              <a:rPr dirty="0" sz="120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0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00" spc="5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00" spc="5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[8]]]</a:t>
            </a:r>
            <a:r>
              <a:rPr dirty="0" sz="120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0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[8]</a:t>
            </a:r>
            <a:r>
              <a:rPr dirty="0" sz="120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0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 marL="1179830">
              <a:lnSpc>
                <a:spcPct val="100000"/>
              </a:lnSpc>
              <a:spcBef>
                <a:spcPts val="965"/>
              </a:spcBef>
              <a:tabLst>
                <a:tab pos="1497965" algn="l"/>
                <a:tab pos="1875155" algn="l"/>
                <a:tab pos="2222500" algn="l"/>
                <a:tab pos="2570480" algn="l"/>
                <a:tab pos="2918460" algn="l"/>
                <a:tab pos="3267075" algn="l"/>
              </a:tabLst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1	2	3	4	5	6	7</a:t>
            </a:r>
            <a:endParaRPr sz="900">
              <a:latin typeface="Times New Roman"/>
              <a:cs typeface="Times New Roman"/>
            </a:endParaRPr>
          </a:p>
          <a:p>
            <a:pPr marL="746760">
              <a:lnSpc>
                <a:spcPct val="100000"/>
              </a:lnSpc>
              <a:spcBef>
                <a:spcPts val="730"/>
              </a:spcBef>
            </a:pPr>
            <a:r>
              <a:rPr dirty="0" sz="1200" spc="1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</a:pPr>
            <a:r>
              <a:rPr dirty="0" sz="1000" spc="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00" spc="5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0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00" spc="5">
                <a:solidFill>
                  <a:srgbClr val="FFFFFF"/>
                </a:solidFill>
                <a:latin typeface="Times New Roman"/>
                <a:cs typeface="Times New Roman"/>
              </a:rPr>
              <a:t>[8]]</a:t>
            </a:r>
            <a:r>
              <a:rPr dirty="0" sz="100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00" spc="5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dirty="0" sz="1000" spc="-1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0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0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0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00">
                <a:solidFill>
                  <a:srgbClr val="FFFFFF"/>
                </a:solidFill>
                <a:latin typeface="Times New Roman"/>
                <a:cs typeface="Times New Roman"/>
              </a:rPr>
              <a:t>[8]]</a:t>
            </a:r>
            <a:r>
              <a:rPr dirty="0" sz="100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dirty="0" sz="100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0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650">
              <a:latin typeface="Times New Roman"/>
              <a:cs typeface="Times New Roman"/>
            </a:endParaRPr>
          </a:p>
          <a:p>
            <a:pPr marL="708025">
              <a:lnSpc>
                <a:spcPct val="100000"/>
              </a:lnSpc>
            </a:pPr>
            <a:r>
              <a:rPr dirty="0" sz="1200" spc="1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2340171" y="1567602"/>
          <a:ext cx="3834765" cy="3536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9250"/>
                <a:gridCol w="347980"/>
                <a:gridCol w="349885"/>
                <a:gridCol w="343534"/>
                <a:gridCol w="348614"/>
                <a:gridCol w="347344"/>
                <a:gridCol w="347344"/>
                <a:gridCol w="347344"/>
                <a:gridCol w="347344"/>
                <a:gridCol w="346710"/>
                <a:gridCol w="347345"/>
              </a:tblGrid>
              <a:tr h="34869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8105">
                    <a:lnL w="6350">
                      <a:solidFill>
                        <a:srgbClr val="B1B1B1"/>
                      </a:solidFill>
                      <a:prstDash val="solid"/>
                    </a:lnL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26" name="object 26"/>
          <p:cNvSpPr txBox="1"/>
          <p:nvPr/>
        </p:nvSpPr>
        <p:spPr>
          <a:xfrm>
            <a:off x="2817023" y="3718116"/>
            <a:ext cx="2595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5.12: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8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placed in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 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1790700" y="5834583"/>
            <a:ext cx="4648200" cy="2827655"/>
          </a:xfrm>
          <a:custGeom>
            <a:avLst/>
            <a:gdLst/>
            <a:ahLst/>
            <a:cxnLst/>
            <a:rect l="l" t="t" r="r" b="b"/>
            <a:pathLst>
              <a:path w="4648200" h="2827654">
                <a:moveTo>
                  <a:pt x="4648001" y="0"/>
                </a:moveTo>
                <a:lnTo>
                  <a:pt x="0" y="0"/>
                </a:lnTo>
                <a:lnTo>
                  <a:pt x="0" y="2827324"/>
                </a:lnTo>
                <a:lnTo>
                  <a:pt x="4648001" y="2827324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28" name="object 28"/>
          <p:cNvGraphicFramePr>
            <a:graphicFrameLocks noGrp="1"/>
          </p:cNvGraphicFramePr>
          <p:nvPr/>
        </p:nvGraphicFramePr>
        <p:xfrm>
          <a:off x="2938684" y="7462123"/>
          <a:ext cx="255905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760"/>
                <a:gridCol w="364490"/>
                <a:gridCol w="364490"/>
                <a:gridCol w="364490"/>
                <a:gridCol w="363855"/>
                <a:gridCol w="364489"/>
                <a:gridCol w="365125"/>
              </a:tblGrid>
              <a:tr h="365151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9" name="object 29"/>
          <p:cNvGraphicFramePr>
            <a:graphicFrameLocks noGrp="1"/>
          </p:cNvGraphicFramePr>
          <p:nvPr/>
        </p:nvGraphicFramePr>
        <p:xfrm>
          <a:off x="2930607" y="8231194"/>
          <a:ext cx="2559050" cy="371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855"/>
                <a:gridCol w="363219"/>
                <a:gridCol w="363855"/>
                <a:gridCol w="365125"/>
              </a:tblGrid>
              <a:tr h="36595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pSp>
        <p:nvGrpSpPr>
          <p:cNvPr id="30" name="object 30"/>
          <p:cNvGrpSpPr/>
          <p:nvPr/>
        </p:nvGrpSpPr>
        <p:grpSpPr>
          <a:xfrm>
            <a:off x="4560041" y="7866842"/>
            <a:ext cx="86360" cy="369570"/>
            <a:chOff x="4560041" y="7866842"/>
            <a:chExt cx="86360" cy="369570"/>
          </a:xfrm>
        </p:grpSpPr>
        <p:sp>
          <p:nvSpPr>
            <p:cNvPr id="31" name="object 31"/>
            <p:cNvSpPr/>
            <p:nvPr/>
          </p:nvSpPr>
          <p:spPr>
            <a:xfrm>
              <a:off x="4562581" y="7869382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79" h="364490">
                  <a:moveTo>
                    <a:pt x="60594" y="0"/>
                  </a:moveTo>
                  <a:lnTo>
                    <a:pt x="20208" y="0"/>
                  </a:lnTo>
                  <a:lnTo>
                    <a:pt x="20208" y="273862"/>
                  </a:lnTo>
                  <a:lnTo>
                    <a:pt x="0" y="273862"/>
                  </a:lnTo>
                  <a:lnTo>
                    <a:pt x="40401" y="364342"/>
                  </a:lnTo>
                  <a:lnTo>
                    <a:pt x="80787" y="273862"/>
                  </a:lnTo>
                  <a:lnTo>
                    <a:pt x="60594" y="273862"/>
                  </a:lnTo>
                  <a:lnTo>
                    <a:pt x="6059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562581" y="7869382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79" h="364490">
                  <a:moveTo>
                    <a:pt x="0" y="273862"/>
                  </a:moveTo>
                  <a:lnTo>
                    <a:pt x="20208" y="273862"/>
                  </a:lnTo>
                  <a:lnTo>
                    <a:pt x="20208" y="0"/>
                  </a:lnTo>
                  <a:lnTo>
                    <a:pt x="60594" y="0"/>
                  </a:lnTo>
                  <a:lnTo>
                    <a:pt x="60594" y="273862"/>
                  </a:lnTo>
                  <a:lnTo>
                    <a:pt x="80787" y="273862"/>
                  </a:lnTo>
                  <a:lnTo>
                    <a:pt x="40401" y="364342"/>
                  </a:lnTo>
                  <a:lnTo>
                    <a:pt x="0" y="273862"/>
                  </a:lnTo>
                </a:path>
              </a:pathLst>
            </a:custGeom>
            <a:ln w="50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/>
          <p:cNvSpPr/>
          <p:nvPr/>
        </p:nvSpPr>
        <p:spPr>
          <a:xfrm>
            <a:off x="2731175" y="6493605"/>
            <a:ext cx="729615" cy="365760"/>
          </a:xfrm>
          <a:custGeom>
            <a:avLst/>
            <a:gdLst/>
            <a:ahLst/>
            <a:cxnLst/>
            <a:rect l="l" t="t" r="r" b="b"/>
            <a:pathLst>
              <a:path w="729614" h="365759">
                <a:moveTo>
                  <a:pt x="0" y="365151"/>
                </a:moveTo>
                <a:lnTo>
                  <a:pt x="365151" y="365151"/>
                </a:lnTo>
                <a:lnTo>
                  <a:pt x="365151" y="0"/>
                </a:lnTo>
                <a:lnTo>
                  <a:pt x="0" y="0"/>
                </a:lnTo>
                <a:lnTo>
                  <a:pt x="0" y="365151"/>
                </a:lnTo>
                <a:close/>
              </a:path>
              <a:path w="729614" h="365759">
                <a:moveTo>
                  <a:pt x="364342" y="365151"/>
                </a:moveTo>
                <a:lnTo>
                  <a:pt x="729494" y="365151"/>
                </a:lnTo>
                <a:lnTo>
                  <a:pt x="729494" y="0"/>
                </a:lnTo>
                <a:lnTo>
                  <a:pt x="364342" y="0"/>
                </a:lnTo>
                <a:lnTo>
                  <a:pt x="364342" y="365151"/>
                </a:lnTo>
                <a:close/>
              </a:path>
            </a:pathLst>
          </a:custGeom>
          <a:ln w="5057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3823395" y="6493605"/>
            <a:ext cx="365760" cy="365760"/>
          </a:xfrm>
          <a:custGeom>
            <a:avLst/>
            <a:gdLst/>
            <a:ahLst/>
            <a:cxnLst/>
            <a:rect l="l" t="t" r="r" b="b"/>
            <a:pathLst>
              <a:path w="365760" h="365759">
                <a:moveTo>
                  <a:pt x="0" y="365151"/>
                </a:moveTo>
                <a:lnTo>
                  <a:pt x="365151" y="365151"/>
                </a:lnTo>
                <a:lnTo>
                  <a:pt x="365151" y="0"/>
                </a:lnTo>
                <a:lnTo>
                  <a:pt x="0" y="0"/>
                </a:lnTo>
                <a:lnTo>
                  <a:pt x="0" y="365151"/>
                </a:lnTo>
                <a:close/>
              </a:path>
            </a:pathLst>
          </a:custGeom>
          <a:ln w="5057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5645109" y="6493605"/>
            <a:ext cx="365760" cy="365760"/>
          </a:xfrm>
          <a:custGeom>
            <a:avLst/>
            <a:gdLst/>
            <a:ahLst/>
            <a:cxnLst/>
            <a:rect l="l" t="t" r="r" b="b"/>
            <a:pathLst>
              <a:path w="365760" h="365759">
                <a:moveTo>
                  <a:pt x="0" y="365151"/>
                </a:moveTo>
                <a:lnTo>
                  <a:pt x="365150" y="365151"/>
                </a:lnTo>
                <a:lnTo>
                  <a:pt x="365150" y="0"/>
                </a:lnTo>
                <a:lnTo>
                  <a:pt x="0" y="0"/>
                </a:lnTo>
                <a:lnTo>
                  <a:pt x="0" y="365151"/>
                </a:lnTo>
                <a:close/>
              </a:path>
            </a:pathLst>
          </a:custGeom>
          <a:ln w="5057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36" name="object 36"/>
          <p:cNvGraphicFramePr>
            <a:graphicFrameLocks noGrp="1"/>
          </p:cNvGraphicFramePr>
          <p:nvPr/>
        </p:nvGraphicFramePr>
        <p:xfrm>
          <a:off x="2364304" y="5924759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363855"/>
                <a:gridCol w="363855"/>
                <a:gridCol w="363855"/>
                <a:gridCol w="364489"/>
                <a:gridCol w="363854"/>
                <a:gridCol w="364489"/>
                <a:gridCol w="365125"/>
              </a:tblGrid>
              <a:tr h="365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7" name="object 37"/>
          <p:cNvGraphicFramePr>
            <a:graphicFrameLocks noGrp="1"/>
          </p:cNvGraphicFramePr>
          <p:nvPr/>
        </p:nvGraphicFramePr>
        <p:xfrm>
          <a:off x="2364304" y="6340733"/>
          <a:ext cx="4013200" cy="51815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730250"/>
                <a:gridCol w="417829"/>
                <a:gridCol w="306705"/>
                <a:gridCol w="363855"/>
                <a:gridCol w="364489"/>
                <a:gridCol w="363855"/>
                <a:gridCol w="361314"/>
                <a:gridCol w="422910"/>
                <a:gridCol w="306704"/>
              </a:tblGrid>
              <a:tr h="135861">
                <a:tc>
                  <a:txBody>
                    <a:bodyPr/>
                    <a:lstStyle/>
                    <a:p>
                      <a:pPr algn="ctr" marR="10160">
                        <a:lnSpc>
                          <a:spcPts val="915"/>
                        </a:lnSpc>
                      </a:pPr>
                      <a:r>
                        <a:rPr dirty="0" sz="9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9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ts val="915"/>
                        </a:lnSpc>
                        <a:tabLst>
                          <a:tab pos="475615" algn="l"/>
                        </a:tabLst>
                      </a:pPr>
                      <a:r>
                        <a:rPr dirty="0" sz="9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	3</a:t>
                      </a:r>
                      <a:endParaRPr sz="9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ts val="915"/>
                        </a:lnSpc>
                      </a:pPr>
                      <a:r>
                        <a:rPr dirty="0" sz="9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9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54610">
                        <a:lnSpc>
                          <a:spcPts val="915"/>
                        </a:lnSpc>
                      </a:pPr>
                      <a:r>
                        <a:rPr dirty="0" sz="9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9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11760">
                        <a:lnSpc>
                          <a:spcPts val="915"/>
                        </a:lnSpc>
                      </a:pPr>
                      <a:r>
                        <a:rPr dirty="0" sz="9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9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ts val="915"/>
                        </a:lnSpc>
                      </a:pPr>
                      <a:r>
                        <a:rPr dirty="0" sz="9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9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11125">
                        <a:lnSpc>
                          <a:spcPts val="915"/>
                        </a:lnSpc>
                      </a:pPr>
                      <a:r>
                        <a:rPr dirty="0" sz="9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9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11125">
                        <a:lnSpc>
                          <a:spcPts val="915"/>
                        </a:lnSpc>
                      </a:pPr>
                      <a:r>
                        <a:rPr dirty="0" sz="9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9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83185">
                        <a:lnSpc>
                          <a:spcPts val="915"/>
                        </a:lnSpc>
                      </a:pPr>
                      <a:r>
                        <a:rPr dirty="0" sz="9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9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53975">
                        <a:lnSpc>
                          <a:spcPts val="915"/>
                        </a:lnSpc>
                      </a:pPr>
                      <a:r>
                        <a:rPr dirty="0" sz="9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9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</a:tr>
              <a:tr h="38216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8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9969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78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9969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99695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78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99695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5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99695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38" name="object 38"/>
          <p:cNvSpPr/>
          <p:nvPr/>
        </p:nvSpPr>
        <p:spPr>
          <a:xfrm>
            <a:off x="4627214" y="6925812"/>
            <a:ext cx="741045" cy="628650"/>
          </a:xfrm>
          <a:custGeom>
            <a:avLst/>
            <a:gdLst/>
            <a:ahLst/>
            <a:cxnLst/>
            <a:rect l="l" t="t" r="r" b="b"/>
            <a:pathLst>
              <a:path w="741045" h="628650">
                <a:moveTo>
                  <a:pt x="727877" y="0"/>
                </a:moveTo>
                <a:lnTo>
                  <a:pt x="0" y="613150"/>
                </a:lnTo>
                <a:lnTo>
                  <a:pt x="12923" y="628512"/>
                </a:lnTo>
                <a:lnTo>
                  <a:pt x="740801" y="14538"/>
                </a:lnTo>
                <a:lnTo>
                  <a:pt x="72787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4562576" y="6249631"/>
            <a:ext cx="839469" cy="1013460"/>
          </a:xfrm>
          <a:custGeom>
            <a:avLst/>
            <a:gdLst/>
            <a:ahLst/>
            <a:cxnLst/>
            <a:rect l="l" t="t" r="r" b="b"/>
            <a:pathLst>
              <a:path w="839470" h="1013459">
                <a:moveTo>
                  <a:pt x="201980" y="3238"/>
                </a:moveTo>
                <a:lnTo>
                  <a:pt x="182575" y="0"/>
                </a:lnTo>
                <a:lnTo>
                  <a:pt x="35915" y="921943"/>
                </a:lnTo>
                <a:lnTo>
                  <a:pt x="0" y="916114"/>
                </a:lnTo>
                <a:lnTo>
                  <a:pt x="29895" y="1013053"/>
                </a:lnTo>
                <a:lnTo>
                  <a:pt x="89674" y="930643"/>
                </a:lnTo>
                <a:lnTo>
                  <a:pt x="55308" y="925080"/>
                </a:lnTo>
                <a:lnTo>
                  <a:pt x="201980" y="3238"/>
                </a:lnTo>
                <a:close/>
              </a:path>
              <a:path w="839470" h="1013459">
                <a:moveTo>
                  <a:pt x="839368" y="648703"/>
                </a:moveTo>
                <a:lnTo>
                  <a:pt x="777976" y="664057"/>
                </a:lnTo>
                <a:lnTo>
                  <a:pt x="814324" y="707682"/>
                </a:lnTo>
                <a:lnTo>
                  <a:pt x="839368" y="64870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 txBox="1"/>
          <p:nvPr/>
        </p:nvSpPr>
        <p:spPr>
          <a:xfrm>
            <a:off x="1876689" y="5852628"/>
            <a:ext cx="3975735" cy="309308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algn="r" marR="3577590">
              <a:lnSpc>
                <a:spcPct val="100000"/>
              </a:lnSpc>
              <a:spcBef>
                <a:spcPts val="43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50">
              <a:latin typeface="Times New Roman"/>
              <a:cs typeface="Times New Roman"/>
            </a:endParaRPr>
          </a:p>
          <a:p>
            <a:pPr algn="r" marR="3617595">
              <a:lnSpc>
                <a:spcPct val="100000"/>
              </a:lnSpc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 marL="1145540">
              <a:lnSpc>
                <a:spcPct val="100000"/>
              </a:lnSpc>
              <a:spcBef>
                <a:spcPts val="1100"/>
              </a:spcBef>
            </a:pP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[9]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[5]]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[7]]]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[7]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5</a:t>
            </a:r>
            <a:endParaRPr sz="1250">
              <a:latin typeface="Times New Roman"/>
              <a:cs typeface="Times New Roman"/>
            </a:endParaRPr>
          </a:p>
          <a:p>
            <a:pPr marL="1235710">
              <a:lnSpc>
                <a:spcPct val="100000"/>
              </a:lnSpc>
              <a:spcBef>
                <a:spcPts val="990"/>
              </a:spcBef>
              <a:tabLst>
                <a:tab pos="1569085" algn="l"/>
                <a:tab pos="1963420" algn="l"/>
                <a:tab pos="2327910" algn="l"/>
                <a:tab pos="2691765" algn="l"/>
                <a:tab pos="3056255" algn="l"/>
                <a:tab pos="342074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	2	3	4	5	6	7</a:t>
            </a:r>
            <a:endParaRPr sz="950">
              <a:latin typeface="Times New Roman"/>
              <a:cs typeface="Times New Roman"/>
            </a:endParaRPr>
          </a:p>
          <a:p>
            <a:pPr marL="781685">
              <a:lnSpc>
                <a:spcPct val="100000"/>
              </a:lnSpc>
              <a:spcBef>
                <a:spcPts val="780"/>
              </a:spcBef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</a:pPr>
            <a:r>
              <a:rPr dirty="0" sz="1050" spc="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[5]]</a:t>
            </a:r>
            <a:r>
              <a:rPr dirty="0" sz="1050" spc="-1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dirty="0" sz="1050" spc="-1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[5]]</a:t>
            </a:r>
            <a:r>
              <a:rPr dirty="0" sz="1050" spc="-1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dirty="0" sz="105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700">
              <a:latin typeface="Times New Roman"/>
              <a:cs typeface="Times New Roman"/>
            </a:endParaRPr>
          </a:p>
          <a:p>
            <a:pPr marL="741045">
              <a:lnSpc>
                <a:spcPct val="100000"/>
              </a:lnSpc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00">
              <a:latin typeface="Times New Roman"/>
              <a:cs typeface="Times New Roman"/>
            </a:endParaRPr>
          </a:p>
          <a:p>
            <a:pPr marL="95250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5.13: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7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placed in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 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21489" y="520987"/>
            <a:ext cx="26066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5.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LINEAR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90700" y="939495"/>
            <a:ext cx="4648200" cy="2827655"/>
          </a:xfrm>
          <a:custGeom>
            <a:avLst/>
            <a:gdLst/>
            <a:ahLst/>
            <a:cxnLst/>
            <a:rect l="l" t="t" r="r" b="b"/>
            <a:pathLst>
              <a:path w="4648200" h="2827654">
                <a:moveTo>
                  <a:pt x="4648001" y="0"/>
                </a:moveTo>
                <a:lnTo>
                  <a:pt x="0" y="0"/>
                </a:lnTo>
                <a:lnTo>
                  <a:pt x="0" y="2827324"/>
                </a:lnTo>
                <a:lnTo>
                  <a:pt x="4648001" y="2827324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938684" y="2566532"/>
          <a:ext cx="255905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760"/>
                <a:gridCol w="364490"/>
                <a:gridCol w="364490"/>
                <a:gridCol w="364490"/>
                <a:gridCol w="363855"/>
                <a:gridCol w="364489"/>
                <a:gridCol w="365125"/>
              </a:tblGrid>
              <a:tr h="365151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930607" y="3335619"/>
          <a:ext cx="2559050" cy="371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855"/>
                <a:gridCol w="363219"/>
                <a:gridCol w="363855"/>
                <a:gridCol w="365125"/>
              </a:tblGrid>
              <a:tr h="36595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2364292" y="1595474"/>
            <a:ext cx="3648710" cy="1745614"/>
            <a:chOff x="2364292" y="1595474"/>
            <a:chExt cx="3648710" cy="1745614"/>
          </a:xfrm>
        </p:grpSpPr>
        <p:sp>
          <p:nvSpPr>
            <p:cNvPr id="8" name="object 8"/>
            <p:cNvSpPr/>
            <p:nvPr/>
          </p:nvSpPr>
          <p:spPr>
            <a:xfrm>
              <a:off x="4147352" y="2973806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79" h="364489">
                  <a:moveTo>
                    <a:pt x="60578" y="0"/>
                  </a:moveTo>
                  <a:lnTo>
                    <a:pt x="20192" y="0"/>
                  </a:lnTo>
                  <a:lnTo>
                    <a:pt x="20192" y="273862"/>
                  </a:lnTo>
                  <a:lnTo>
                    <a:pt x="0" y="273862"/>
                  </a:lnTo>
                  <a:lnTo>
                    <a:pt x="40385" y="364342"/>
                  </a:lnTo>
                  <a:lnTo>
                    <a:pt x="80787" y="273862"/>
                  </a:lnTo>
                  <a:lnTo>
                    <a:pt x="60578" y="273862"/>
                  </a:lnTo>
                  <a:lnTo>
                    <a:pt x="6057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147352" y="2973806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79" h="364489">
                  <a:moveTo>
                    <a:pt x="0" y="273862"/>
                  </a:moveTo>
                  <a:lnTo>
                    <a:pt x="20192" y="273862"/>
                  </a:lnTo>
                  <a:lnTo>
                    <a:pt x="20192" y="0"/>
                  </a:lnTo>
                  <a:lnTo>
                    <a:pt x="60578" y="0"/>
                  </a:lnTo>
                  <a:lnTo>
                    <a:pt x="60578" y="273862"/>
                  </a:lnTo>
                  <a:lnTo>
                    <a:pt x="80787" y="273862"/>
                  </a:lnTo>
                  <a:lnTo>
                    <a:pt x="40385" y="364342"/>
                  </a:lnTo>
                  <a:lnTo>
                    <a:pt x="0" y="273862"/>
                  </a:lnTo>
                </a:path>
              </a:pathLst>
            </a:custGeom>
            <a:ln w="50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366832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366832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731175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731175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095518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095518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823395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823395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5645109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0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0" y="365151"/>
                  </a:lnTo>
                  <a:lnTo>
                    <a:pt x="365150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5645109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0" y="365151"/>
                  </a:lnTo>
                  <a:lnTo>
                    <a:pt x="365150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2497123" y="1403359"/>
            <a:ext cx="784225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76555" algn="l"/>
                <a:tab pos="71056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89547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923344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287485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621786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016273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380414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714210" y="1403359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108697" y="1403359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876689" y="1555065"/>
            <a:ext cx="484505" cy="39052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4185198" y="1595474"/>
            <a:ext cx="370840" cy="370840"/>
            <a:chOff x="4185198" y="1595474"/>
            <a:chExt cx="370840" cy="370840"/>
          </a:xfrm>
        </p:grpSpPr>
        <p:sp>
          <p:nvSpPr>
            <p:cNvPr id="31" name="object 31"/>
            <p:cNvSpPr/>
            <p:nvPr/>
          </p:nvSpPr>
          <p:spPr>
            <a:xfrm>
              <a:off x="4187738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6600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187738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/>
          <p:cNvSpPr txBox="1"/>
          <p:nvPr/>
        </p:nvSpPr>
        <p:spPr>
          <a:xfrm>
            <a:off x="4191076" y="1665031"/>
            <a:ext cx="358775" cy="2197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25"/>
              </a:spcBef>
            </a:pPr>
            <a:r>
              <a:rPr dirty="0" sz="1250" spc="10" b="1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2364304" y="1029183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363855"/>
                <a:gridCol w="363855"/>
                <a:gridCol w="363855"/>
                <a:gridCol w="364489"/>
                <a:gridCol w="363854"/>
                <a:gridCol w="364489"/>
                <a:gridCol w="365125"/>
              </a:tblGrid>
              <a:tr h="365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35" name="object 35"/>
          <p:cNvSpPr txBox="1"/>
          <p:nvPr/>
        </p:nvSpPr>
        <p:spPr>
          <a:xfrm>
            <a:off x="1876690" y="957046"/>
            <a:ext cx="484505" cy="462280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algn="ctr" marL="39370">
              <a:lnSpc>
                <a:spcPct val="100000"/>
              </a:lnSpc>
              <a:spcBef>
                <a:spcPts val="43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6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4260448" y="2044761"/>
            <a:ext cx="354965" cy="612140"/>
          </a:xfrm>
          <a:custGeom>
            <a:avLst/>
            <a:gdLst/>
            <a:ahLst/>
            <a:cxnLst/>
            <a:rect l="l" t="t" r="r" b="b"/>
            <a:pathLst>
              <a:path w="354964" h="612139">
                <a:moveTo>
                  <a:pt x="338495" y="0"/>
                </a:moveTo>
                <a:lnTo>
                  <a:pt x="0" y="601050"/>
                </a:lnTo>
                <a:lnTo>
                  <a:pt x="16962" y="611550"/>
                </a:lnTo>
                <a:lnTo>
                  <a:pt x="354650" y="10500"/>
                </a:lnTo>
                <a:lnTo>
                  <a:pt x="3384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/>
          <p:nvPr/>
        </p:nvSpPr>
        <p:spPr>
          <a:xfrm>
            <a:off x="4198239" y="1354060"/>
            <a:ext cx="434975" cy="1013460"/>
          </a:xfrm>
          <a:custGeom>
            <a:avLst/>
            <a:gdLst/>
            <a:ahLst/>
            <a:cxnLst/>
            <a:rect l="l" t="t" r="r" b="b"/>
            <a:pathLst>
              <a:path w="434975" h="1013460">
                <a:moveTo>
                  <a:pt x="202780" y="3225"/>
                </a:moveTo>
                <a:lnTo>
                  <a:pt x="183375" y="0"/>
                </a:lnTo>
                <a:lnTo>
                  <a:pt x="35902" y="921931"/>
                </a:lnTo>
                <a:lnTo>
                  <a:pt x="0" y="916101"/>
                </a:lnTo>
                <a:lnTo>
                  <a:pt x="29895" y="1013040"/>
                </a:lnTo>
                <a:lnTo>
                  <a:pt x="89662" y="930643"/>
                </a:lnTo>
                <a:lnTo>
                  <a:pt x="55308" y="925080"/>
                </a:lnTo>
                <a:lnTo>
                  <a:pt x="202780" y="3225"/>
                </a:lnTo>
                <a:close/>
              </a:path>
              <a:path w="434975" h="1013460">
                <a:moveTo>
                  <a:pt x="434619" y="648703"/>
                </a:moveTo>
                <a:lnTo>
                  <a:pt x="382117" y="685050"/>
                </a:lnTo>
                <a:lnTo>
                  <a:pt x="431393" y="712508"/>
                </a:lnTo>
                <a:lnTo>
                  <a:pt x="434619" y="64870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 txBox="1"/>
          <p:nvPr/>
        </p:nvSpPr>
        <p:spPr>
          <a:xfrm>
            <a:off x="2605376" y="2055226"/>
            <a:ext cx="3034030" cy="159004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417195">
              <a:lnSpc>
                <a:spcPct val="100000"/>
              </a:lnSpc>
              <a:spcBef>
                <a:spcPts val="125"/>
              </a:spcBef>
            </a:pP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[7]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[4]]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[6]]]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[6]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4</a:t>
            </a:r>
            <a:endParaRPr sz="1250">
              <a:latin typeface="Times New Roman"/>
              <a:cs typeface="Times New Roman"/>
            </a:endParaRPr>
          </a:p>
          <a:p>
            <a:pPr marL="506730">
              <a:lnSpc>
                <a:spcPct val="100000"/>
              </a:lnSpc>
              <a:spcBef>
                <a:spcPts val="990"/>
              </a:spcBef>
              <a:tabLst>
                <a:tab pos="840740" algn="l"/>
                <a:tab pos="1235075" algn="l"/>
                <a:tab pos="1598930" algn="l"/>
                <a:tab pos="1963420" algn="l"/>
                <a:tab pos="2327275" algn="l"/>
                <a:tab pos="269176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	2	3	4	5	6	7</a:t>
            </a:r>
            <a:endParaRPr sz="950">
              <a:latin typeface="Times New Roman"/>
              <a:cs typeface="Times New Roman"/>
            </a:endParaRPr>
          </a:p>
          <a:p>
            <a:pPr marL="52705">
              <a:lnSpc>
                <a:spcPct val="100000"/>
              </a:lnSpc>
              <a:spcBef>
                <a:spcPts val="780"/>
              </a:spcBef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Times New Roman"/>
              <a:cs typeface="Times New Roman"/>
            </a:endParaRPr>
          </a:p>
          <a:p>
            <a:pPr marL="1642110">
              <a:lnSpc>
                <a:spcPct val="100000"/>
              </a:lnSpc>
            </a:pP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[6]]</a:t>
            </a:r>
            <a:r>
              <a:rPr dirty="0" sz="105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= 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[6]]</a:t>
            </a:r>
            <a:r>
              <a:rPr dirty="0" sz="1050" spc="-1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dirty="0" sz="1050" spc="-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7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916828" y="1598014"/>
            <a:ext cx="365125" cy="365760"/>
          </a:xfrm>
          <a:prstGeom prst="rect">
            <a:avLst/>
          </a:prstGeom>
          <a:solidFill>
            <a:srgbClr val="660033"/>
          </a:solidFill>
          <a:ln w="6674">
            <a:solidFill>
              <a:srgbClr val="B1B1B1"/>
            </a:solidFill>
          </a:ln>
        </p:spPr>
        <p:txBody>
          <a:bodyPr wrap="square" lIns="0" tIns="8255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50"/>
              </a:spcBef>
            </a:pPr>
            <a:r>
              <a:rPr dirty="0" sz="1250" spc="10" b="1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462389" y="1598014"/>
            <a:ext cx="359410" cy="365760"/>
          </a:xfrm>
          <a:prstGeom prst="rect">
            <a:avLst/>
          </a:prstGeom>
          <a:solidFill>
            <a:srgbClr val="7E0000"/>
          </a:solidFill>
          <a:ln w="5057">
            <a:solidFill>
              <a:srgbClr val="B1B1B1"/>
            </a:solidFill>
          </a:ln>
        </p:spPr>
        <p:txBody>
          <a:bodyPr wrap="square" lIns="0" tIns="8255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50"/>
              </a:spcBef>
            </a:pPr>
            <a:r>
              <a:rPr dirty="0" sz="1250" spc="10" b="1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009451" y="1598014"/>
            <a:ext cx="365760" cy="365760"/>
          </a:xfrm>
          <a:prstGeom prst="rect">
            <a:avLst/>
          </a:prstGeom>
          <a:solidFill>
            <a:srgbClr val="7E0000"/>
          </a:solidFill>
          <a:ln w="5057">
            <a:solidFill>
              <a:srgbClr val="B1B1B1"/>
            </a:solidFill>
          </a:ln>
        </p:spPr>
        <p:txBody>
          <a:bodyPr wrap="square" lIns="0" tIns="8255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50"/>
              </a:spcBef>
            </a:pPr>
            <a:r>
              <a:rPr dirty="0" sz="1250" spc="10" b="1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281574" y="1598014"/>
            <a:ext cx="361950" cy="365760"/>
          </a:xfrm>
          <a:prstGeom prst="rect">
            <a:avLst/>
          </a:prstGeom>
          <a:solidFill>
            <a:srgbClr val="660033"/>
          </a:solidFill>
          <a:ln w="5057">
            <a:solidFill>
              <a:srgbClr val="B1B1B1"/>
            </a:solidFill>
          </a:ln>
        </p:spPr>
        <p:txBody>
          <a:bodyPr wrap="square" lIns="0" tIns="8255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50"/>
              </a:spcBef>
            </a:pPr>
            <a:r>
              <a:rPr dirty="0" sz="1250" spc="10" b="1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552485" y="1598014"/>
            <a:ext cx="364490" cy="365760"/>
          </a:xfrm>
          <a:prstGeom prst="rect">
            <a:avLst/>
          </a:prstGeom>
          <a:solidFill>
            <a:srgbClr val="660033"/>
          </a:solidFill>
          <a:ln w="5866">
            <a:solidFill>
              <a:srgbClr val="B1B1B1"/>
            </a:solidFill>
          </a:ln>
        </p:spPr>
        <p:txBody>
          <a:bodyPr wrap="square" lIns="0" tIns="8255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50"/>
              </a:spcBef>
            </a:pPr>
            <a:r>
              <a:rPr dirty="0" sz="1250" spc="10" b="1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817023" y="3842132"/>
            <a:ext cx="2595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5.14: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6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placed in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 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1790700" y="5834583"/>
            <a:ext cx="4648200" cy="2827655"/>
          </a:xfrm>
          <a:custGeom>
            <a:avLst/>
            <a:gdLst/>
            <a:ahLst/>
            <a:cxnLst/>
            <a:rect l="l" t="t" r="r" b="b"/>
            <a:pathLst>
              <a:path w="4648200" h="2827654">
                <a:moveTo>
                  <a:pt x="4648001" y="0"/>
                </a:moveTo>
                <a:lnTo>
                  <a:pt x="0" y="0"/>
                </a:lnTo>
                <a:lnTo>
                  <a:pt x="0" y="2827324"/>
                </a:lnTo>
                <a:lnTo>
                  <a:pt x="4648001" y="2827324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46" name="object 46"/>
          <p:cNvGraphicFramePr>
            <a:graphicFrameLocks noGrp="1"/>
          </p:cNvGraphicFramePr>
          <p:nvPr/>
        </p:nvGraphicFramePr>
        <p:xfrm>
          <a:off x="2938684" y="7462123"/>
          <a:ext cx="255905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760"/>
                <a:gridCol w="364490"/>
                <a:gridCol w="364490"/>
                <a:gridCol w="364490"/>
                <a:gridCol w="363855"/>
                <a:gridCol w="364489"/>
                <a:gridCol w="365125"/>
              </a:tblGrid>
              <a:tr h="365151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7" name="object 47"/>
          <p:cNvGraphicFramePr>
            <a:graphicFrameLocks noGrp="1"/>
          </p:cNvGraphicFramePr>
          <p:nvPr/>
        </p:nvGraphicFramePr>
        <p:xfrm>
          <a:off x="2930607" y="8231194"/>
          <a:ext cx="2559050" cy="371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855"/>
                <a:gridCol w="363219"/>
                <a:gridCol w="363855"/>
                <a:gridCol w="365125"/>
              </a:tblGrid>
              <a:tr h="36595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pSp>
        <p:nvGrpSpPr>
          <p:cNvPr id="48" name="object 48"/>
          <p:cNvGrpSpPr/>
          <p:nvPr/>
        </p:nvGrpSpPr>
        <p:grpSpPr>
          <a:xfrm>
            <a:off x="3457320" y="7866842"/>
            <a:ext cx="86360" cy="369570"/>
            <a:chOff x="3457320" y="7866842"/>
            <a:chExt cx="86360" cy="369570"/>
          </a:xfrm>
        </p:grpSpPr>
        <p:sp>
          <p:nvSpPr>
            <p:cNvPr id="49" name="object 49"/>
            <p:cNvSpPr/>
            <p:nvPr/>
          </p:nvSpPr>
          <p:spPr>
            <a:xfrm>
              <a:off x="3459860" y="7869382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79" h="364490">
                  <a:moveTo>
                    <a:pt x="60594" y="0"/>
                  </a:moveTo>
                  <a:lnTo>
                    <a:pt x="20192" y="0"/>
                  </a:lnTo>
                  <a:lnTo>
                    <a:pt x="20192" y="273862"/>
                  </a:lnTo>
                  <a:lnTo>
                    <a:pt x="0" y="273862"/>
                  </a:lnTo>
                  <a:lnTo>
                    <a:pt x="40401" y="364342"/>
                  </a:lnTo>
                  <a:lnTo>
                    <a:pt x="80787" y="273862"/>
                  </a:lnTo>
                  <a:lnTo>
                    <a:pt x="60594" y="273862"/>
                  </a:lnTo>
                  <a:lnTo>
                    <a:pt x="6059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459860" y="7869382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79" h="364490">
                  <a:moveTo>
                    <a:pt x="0" y="273862"/>
                  </a:moveTo>
                  <a:lnTo>
                    <a:pt x="20192" y="273862"/>
                  </a:lnTo>
                  <a:lnTo>
                    <a:pt x="20192" y="0"/>
                  </a:lnTo>
                  <a:lnTo>
                    <a:pt x="60594" y="0"/>
                  </a:lnTo>
                  <a:lnTo>
                    <a:pt x="60594" y="273862"/>
                  </a:lnTo>
                  <a:lnTo>
                    <a:pt x="80787" y="273862"/>
                  </a:lnTo>
                  <a:lnTo>
                    <a:pt x="40401" y="364342"/>
                  </a:lnTo>
                  <a:lnTo>
                    <a:pt x="0" y="273862"/>
                  </a:lnTo>
                </a:path>
              </a:pathLst>
            </a:custGeom>
            <a:ln w="50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" name="object 51"/>
          <p:cNvSpPr txBox="1"/>
          <p:nvPr/>
        </p:nvSpPr>
        <p:spPr>
          <a:xfrm>
            <a:off x="2497123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861265" y="6298928"/>
            <a:ext cx="42037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4607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589547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923344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287485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4621786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016273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380414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714210" y="6298928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108697" y="6298928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50">
              <a:latin typeface="Times New Roman"/>
              <a:cs typeface="Times New Roman"/>
            </a:endParaRPr>
          </a:p>
        </p:txBody>
      </p:sp>
      <p:graphicFrame>
        <p:nvGraphicFramePr>
          <p:cNvPr id="61" name="object 61"/>
          <p:cNvGraphicFramePr>
            <a:graphicFrameLocks noGrp="1"/>
          </p:cNvGraphicFramePr>
          <p:nvPr/>
        </p:nvGraphicFramePr>
        <p:xfrm>
          <a:off x="2364304" y="5924759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363855"/>
                <a:gridCol w="363855"/>
                <a:gridCol w="363855"/>
                <a:gridCol w="364489"/>
                <a:gridCol w="363854"/>
                <a:gridCol w="364489"/>
                <a:gridCol w="365125"/>
              </a:tblGrid>
              <a:tr h="365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62" name="object 62"/>
          <p:cNvSpPr txBox="1"/>
          <p:nvPr/>
        </p:nvSpPr>
        <p:spPr>
          <a:xfrm>
            <a:off x="1876690" y="5852628"/>
            <a:ext cx="484505" cy="462280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algn="ctr" marL="39370">
              <a:lnSpc>
                <a:spcPct val="100000"/>
              </a:lnSpc>
              <a:spcBef>
                <a:spcPts val="43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6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3301517" y="6949237"/>
            <a:ext cx="168910" cy="599440"/>
          </a:xfrm>
          <a:custGeom>
            <a:avLst/>
            <a:gdLst/>
            <a:ahLst/>
            <a:cxnLst/>
            <a:rect l="l" t="t" r="r" b="b"/>
            <a:pathLst>
              <a:path w="168910" h="599440">
                <a:moveTo>
                  <a:pt x="19400" y="0"/>
                </a:moveTo>
                <a:lnTo>
                  <a:pt x="0" y="4846"/>
                </a:lnTo>
                <a:lnTo>
                  <a:pt x="149458" y="599434"/>
                </a:lnTo>
                <a:lnTo>
                  <a:pt x="168843" y="594573"/>
                </a:lnTo>
                <a:lnTo>
                  <a:pt x="194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" name="object 64"/>
          <p:cNvSpPr/>
          <p:nvPr/>
        </p:nvSpPr>
        <p:spPr>
          <a:xfrm>
            <a:off x="3283737" y="6247205"/>
            <a:ext cx="752475" cy="1016000"/>
          </a:xfrm>
          <a:custGeom>
            <a:avLst/>
            <a:gdLst/>
            <a:ahLst/>
            <a:cxnLst/>
            <a:rect l="l" t="t" r="r" b="b"/>
            <a:pathLst>
              <a:path w="752475" h="1016000">
                <a:moveTo>
                  <a:pt x="55753" y="700417"/>
                </a:moveTo>
                <a:lnTo>
                  <a:pt x="13728" y="651129"/>
                </a:lnTo>
                <a:lnTo>
                  <a:pt x="0" y="714146"/>
                </a:lnTo>
                <a:lnTo>
                  <a:pt x="55753" y="700417"/>
                </a:lnTo>
                <a:close/>
              </a:path>
              <a:path w="752475" h="1016000">
                <a:moveTo>
                  <a:pt x="752132" y="8890"/>
                </a:moveTo>
                <a:lnTo>
                  <a:pt x="734339" y="0"/>
                </a:lnTo>
                <a:lnTo>
                  <a:pt x="249377" y="930452"/>
                </a:lnTo>
                <a:lnTo>
                  <a:pt x="218135" y="914501"/>
                </a:lnTo>
                <a:lnTo>
                  <a:pt x="216522" y="1015479"/>
                </a:lnTo>
                <a:lnTo>
                  <a:pt x="298907" y="955700"/>
                </a:lnTo>
                <a:lnTo>
                  <a:pt x="267411" y="939647"/>
                </a:lnTo>
                <a:lnTo>
                  <a:pt x="752132" y="889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" name="object 65"/>
          <p:cNvSpPr txBox="1"/>
          <p:nvPr/>
        </p:nvSpPr>
        <p:spPr>
          <a:xfrm>
            <a:off x="1876689" y="6450635"/>
            <a:ext cx="3763010" cy="209042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 marL="1145540">
              <a:lnSpc>
                <a:spcPct val="100000"/>
              </a:lnSpc>
              <a:spcBef>
                <a:spcPts val="1095"/>
              </a:spcBef>
            </a:pP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[3]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[2]]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[5]]]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[5]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  <a:p>
            <a:pPr marL="1235710">
              <a:lnSpc>
                <a:spcPct val="100000"/>
              </a:lnSpc>
              <a:spcBef>
                <a:spcPts val="994"/>
              </a:spcBef>
              <a:tabLst>
                <a:tab pos="1569085" algn="l"/>
                <a:tab pos="1963420" algn="l"/>
                <a:tab pos="2327910" algn="l"/>
                <a:tab pos="2691765" algn="l"/>
                <a:tab pos="3056255" algn="l"/>
                <a:tab pos="342074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	2	3	4	5	6	7</a:t>
            </a:r>
            <a:endParaRPr sz="950">
              <a:latin typeface="Times New Roman"/>
              <a:cs typeface="Times New Roman"/>
            </a:endParaRPr>
          </a:p>
          <a:p>
            <a:pPr marL="781685">
              <a:lnSpc>
                <a:spcPct val="100000"/>
              </a:lnSpc>
              <a:spcBef>
                <a:spcPts val="780"/>
              </a:spcBef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Times New Roman"/>
              <a:cs typeface="Times New Roman"/>
            </a:endParaRPr>
          </a:p>
          <a:p>
            <a:pPr marL="1682750">
              <a:lnSpc>
                <a:spcPct val="100000"/>
              </a:lnSpc>
            </a:pP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[5]]</a:t>
            </a:r>
            <a:r>
              <a:rPr dirty="0" sz="105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dirty="0" sz="1050" spc="-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[5]]</a:t>
            </a:r>
            <a:r>
              <a:rPr dirty="0" sz="1050" spc="-1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dirty="0" sz="1050" spc="-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700">
              <a:latin typeface="Times New Roman"/>
              <a:cs typeface="Times New Roman"/>
            </a:endParaRPr>
          </a:p>
          <a:p>
            <a:pPr marL="741045">
              <a:lnSpc>
                <a:spcPct val="100000"/>
              </a:lnSpc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66" name="object 66"/>
          <p:cNvGraphicFramePr>
            <a:graphicFrameLocks noGrp="1"/>
          </p:cNvGraphicFramePr>
          <p:nvPr/>
        </p:nvGraphicFramePr>
        <p:xfrm>
          <a:off x="2364304" y="6491076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4490"/>
                <a:gridCol w="363220"/>
                <a:gridCol w="363855"/>
                <a:gridCol w="363219"/>
                <a:gridCol w="363855"/>
                <a:gridCol w="363855"/>
                <a:gridCol w="364489"/>
                <a:gridCol w="363220"/>
                <a:gridCol w="365125"/>
                <a:gridCol w="364489"/>
              </a:tblGrid>
              <a:tr h="3651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67" name="object 67"/>
          <p:cNvSpPr txBox="1"/>
          <p:nvPr/>
        </p:nvSpPr>
        <p:spPr>
          <a:xfrm>
            <a:off x="2817023" y="8737713"/>
            <a:ext cx="2595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5.15: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5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placed in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 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54813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5.1.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COUNTING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SORT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90700" y="939495"/>
            <a:ext cx="4648200" cy="2827655"/>
          </a:xfrm>
          <a:custGeom>
            <a:avLst/>
            <a:gdLst/>
            <a:ahLst/>
            <a:cxnLst/>
            <a:rect l="l" t="t" r="r" b="b"/>
            <a:pathLst>
              <a:path w="4648200" h="2827654">
                <a:moveTo>
                  <a:pt x="4648001" y="0"/>
                </a:moveTo>
                <a:lnTo>
                  <a:pt x="0" y="0"/>
                </a:lnTo>
                <a:lnTo>
                  <a:pt x="0" y="2827324"/>
                </a:lnTo>
                <a:lnTo>
                  <a:pt x="4648001" y="2827324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938684" y="2566532"/>
          <a:ext cx="255905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760"/>
                <a:gridCol w="364490"/>
                <a:gridCol w="364490"/>
                <a:gridCol w="364490"/>
                <a:gridCol w="363855"/>
                <a:gridCol w="364489"/>
                <a:gridCol w="365125"/>
              </a:tblGrid>
              <a:tr h="365151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930607" y="3335619"/>
          <a:ext cx="2559050" cy="371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855"/>
                <a:gridCol w="363219"/>
                <a:gridCol w="363855"/>
                <a:gridCol w="365125"/>
              </a:tblGrid>
              <a:tr h="36595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2364292" y="1595474"/>
            <a:ext cx="814705" cy="1745614"/>
            <a:chOff x="2364292" y="1595474"/>
            <a:chExt cx="814705" cy="1745614"/>
          </a:xfrm>
        </p:grpSpPr>
        <p:sp>
          <p:nvSpPr>
            <p:cNvPr id="8" name="object 8"/>
            <p:cNvSpPr/>
            <p:nvPr/>
          </p:nvSpPr>
          <p:spPr>
            <a:xfrm>
              <a:off x="3095518" y="2973806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80" h="364489">
                  <a:moveTo>
                    <a:pt x="60594" y="0"/>
                  </a:moveTo>
                  <a:lnTo>
                    <a:pt x="20192" y="0"/>
                  </a:lnTo>
                  <a:lnTo>
                    <a:pt x="20192" y="273862"/>
                  </a:lnTo>
                  <a:lnTo>
                    <a:pt x="0" y="273862"/>
                  </a:lnTo>
                  <a:lnTo>
                    <a:pt x="40401" y="364342"/>
                  </a:lnTo>
                  <a:lnTo>
                    <a:pt x="80787" y="273862"/>
                  </a:lnTo>
                  <a:lnTo>
                    <a:pt x="60594" y="273862"/>
                  </a:lnTo>
                  <a:lnTo>
                    <a:pt x="6059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095518" y="2973806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80" h="364489">
                  <a:moveTo>
                    <a:pt x="0" y="273862"/>
                  </a:moveTo>
                  <a:lnTo>
                    <a:pt x="20192" y="273862"/>
                  </a:lnTo>
                  <a:lnTo>
                    <a:pt x="20192" y="0"/>
                  </a:lnTo>
                  <a:lnTo>
                    <a:pt x="60594" y="0"/>
                  </a:lnTo>
                  <a:lnTo>
                    <a:pt x="60594" y="273862"/>
                  </a:lnTo>
                  <a:lnTo>
                    <a:pt x="80787" y="273862"/>
                  </a:lnTo>
                  <a:lnTo>
                    <a:pt x="40401" y="364342"/>
                  </a:lnTo>
                  <a:lnTo>
                    <a:pt x="0" y="273862"/>
                  </a:lnTo>
                </a:path>
              </a:pathLst>
            </a:custGeom>
            <a:ln w="50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366832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366832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2497123" y="1403359"/>
            <a:ext cx="784225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76555" algn="l"/>
                <a:tab pos="71056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89547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923344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287485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621786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016273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380414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714210" y="1403359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108697" y="1403359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50">
              <a:latin typeface="Times New Roman"/>
              <a:cs typeface="Times New Roman"/>
            </a:endParaRPr>
          </a:p>
        </p:txBody>
      </p: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2364304" y="1029183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363855"/>
                <a:gridCol w="363855"/>
                <a:gridCol w="363855"/>
                <a:gridCol w="364489"/>
                <a:gridCol w="363854"/>
                <a:gridCol w="364489"/>
                <a:gridCol w="365125"/>
              </a:tblGrid>
              <a:tr h="365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22" name="object 22"/>
          <p:cNvSpPr txBox="1"/>
          <p:nvPr/>
        </p:nvSpPr>
        <p:spPr>
          <a:xfrm>
            <a:off x="1876690" y="957046"/>
            <a:ext cx="484505" cy="462280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algn="ctr" marL="39370">
              <a:lnSpc>
                <a:spcPct val="100000"/>
              </a:lnSpc>
              <a:spcBef>
                <a:spcPts val="43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6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3165805" y="1311229"/>
            <a:ext cx="465455" cy="981075"/>
          </a:xfrm>
          <a:custGeom>
            <a:avLst/>
            <a:gdLst/>
            <a:ahLst/>
            <a:cxnLst/>
            <a:rect l="l" t="t" r="r" b="b"/>
            <a:pathLst>
              <a:path w="465454" h="981075">
                <a:moveTo>
                  <a:pt x="447553" y="0"/>
                </a:moveTo>
                <a:lnTo>
                  <a:pt x="0" y="971854"/>
                </a:lnTo>
                <a:lnTo>
                  <a:pt x="16962" y="980739"/>
                </a:lnTo>
                <a:lnTo>
                  <a:pt x="465322" y="8077"/>
                </a:lnTo>
                <a:lnTo>
                  <a:pt x="44755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2937174" y="2053646"/>
            <a:ext cx="168910" cy="599440"/>
          </a:xfrm>
          <a:custGeom>
            <a:avLst/>
            <a:gdLst/>
            <a:ahLst/>
            <a:cxnLst/>
            <a:rect l="l" t="t" r="r" b="b"/>
            <a:pathLst>
              <a:path w="168910" h="599439">
                <a:moveTo>
                  <a:pt x="19400" y="0"/>
                </a:moveTo>
                <a:lnTo>
                  <a:pt x="0" y="4846"/>
                </a:lnTo>
                <a:lnTo>
                  <a:pt x="149458" y="599434"/>
                </a:lnTo>
                <a:lnTo>
                  <a:pt x="168843" y="594588"/>
                </a:lnTo>
                <a:lnTo>
                  <a:pt x="194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2919399" y="2002764"/>
            <a:ext cx="296545" cy="364490"/>
          </a:xfrm>
          <a:custGeom>
            <a:avLst/>
            <a:gdLst/>
            <a:ahLst/>
            <a:cxnLst/>
            <a:rect l="l" t="t" r="r" b="b"/>
            <a:pathLst>
              <a:path w="296544" h="364489">
                <a:moveTo>
                  <a:pt x="56553" y="49276"/>
                </a:moveTo>
                <a:lnTo>
                  <a:pt x="13728" y="0"/>
                </a:lnTo>
                <a:lnTo>
                  <a:pt x="0" y="63004"/>
                </a:lnTo>
                <a:lnTo>
                  <a:pt x="56553" y="49276"/>
                </a:lnTo>
                <a:close/>
              </a:path>
              <a:path w="296544" h="364489">
                <a:moveTo>
                  <a:pt x="296481" y="301320"/>
                </a:moveTo>
                <a:lnTo>
                  <a:pt x="214071" y="263359"/>
                </a:lnTo>
                <a:lnTo>
                  <a:pt x="216509" y="364337"/>
                </a:lnTo>
                <a:lnTo>
                  <a:pt x="296481" y="30132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1876689" y="1555065"/>
            <a:ext cx="3763010" cy="209042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 marL="1145540">
              <a:lnSpc>
                <a:spcPct val="100000"/>
              </a:lnSpc>
              <a:spcBef>
                <a:spcPts val="1095"/>
              </a:spcBef>
            </a:pP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[2]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[1]]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[4]]]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[4]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  <a:p>
            <a:pPr marL="1235710">
              <a:lnSpc>
                <a:spcPct val="100000"/>
              </a:lnSpc>
              <a:spcBef>
                <a:spcPts val="994"/>
              </a:spcBef>
              <a:tabLst>
                <a:tab pos="1569085" algn="l"/>
                <a:tab pos="1963420" algn="l"/>
                <a:tab pos="2327910" algn="l"/>
                <a:tab pos="2691765" algn="l"/>
                <a:tab pos="3056255" algn="l"/>
                <a:tab pos="342074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	2	3	4	5	6	7</a:t>
            </a:r>
            <a:endParaRPr sz="950">
              <a:latin typeface="Times New Roman"/>
              <a:cs typeface="Times New Roman"/>
            </a:endParaRPr>
          </a:p>
          <a:p>
            <a:pPr marL="781685">
              <a:lnSpc>
                <a:spcPct val="100000"/>
              </a:lnSpc>
              <a:spcBef>
                <a:spcPts val="780"/>
              </a:spcBef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Times New Roman"/>
              <a:cs typeface="Times New Roman"/>
            </a:endParaRPr>
          </a:p>
          <a:p>
            <a:pPr algn="ctr" marL="50800">
              <a:lnSpc>
                <a:spcPct val="100000"/>
              </a:lnSpc>
            </a:pP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[4]]</a:t>
            </a:r>
            <a:r>
              <a:rPr dirty="0" sz="105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dirty="0" sz="1050" spc="-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[4]]</a:t>
            </a:r>
            <a:r>
              <a:rPr dirty="0" sz="1050" spc="-1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dirty="0" sz="1050" spc="-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700">
              <a:latin typeface="Times New Roman"/>
              <a:cs typeface="Times New Roman"/>
            </a:endParaRPr>
          </a:p>
          <a:p>
            <a:pPr marL="741045">
              <a:lnSpc>
                <a:spcPct val="100000"/>
              </a:lnSpc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27" name="object 27"/>
          <p:cNvGraphicFramePr>
            <a:graphicFrameLocks noGrp="1"/>
          </p:cNvGraphicFramePr>
          <p:nvPr/>
        </p:nvGraphicFramePr>
        <p:xfrm>
          <a:off x="2731175" y="1595485"/>
          <a:ext cx="364871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728344"/>
                <a:gridCol w="364490"/>
                <a:gridCol w="364489"/>
                <a:gridCol w="364489"/>
                <a:gridCol w="365125"/>
                <a:gridCol w="363855"/>
                <a:gridCol w="365759"/>
                <a:gridCol w="365125"/>
              </a:tblGrid>
              <a:tr h="36515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650"/>
                        </a:spcBef>
                        <a:tabLst>
                          <a:tab pos="505459" algn="l"/>
                        </a:tabLst>
                      </a:pPr>
                      <a:r>
                        <a:rPr dirty="0" sz="12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	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28" name="object 28"/>
          <p:cNvSpPr txBox="1"/>
          <p:nvPr/>
        </p:nvSpPr>
        <p:spPr>
          <a:xfrm>
            <a:off x="2817023" y="3842132"/>
            <a:ext cx="2595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5.16: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4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placed in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 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1790700" y="5834583"/>
            <a:ext cx="4648200" cy="2827655"/>
          </a:xfrm>
          <a:custGeom>
            <a:avLst/>
            <a:gdLst/>
            <a:ahLst/>
            <a:cxnLst/>
            <a:rect l="l" t="t" r="r" b="b"/>
            <a:pathLst>
              <a:path w="4648200" h="2827654">
                <a:moveTo>
                  <a:pt x="4648001" y="0"/>
                </a:moveTo>
                <a:lnTo>
                  <a:pt x="0" y="0"/>
                </a:lnTo>
                <a:lnTo>
                  <a:pt x="0" y="2827324"/>
                </a:lnTo>
                <a:lnTo>
                  <a:pt x="4648001" y="2827324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2938684" y="7462123"/>
          <a:ext cx="255905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760"/>
                <a:gridCol w="364490"/>
                <a:gridCol w="364490"/>
                <a:gridCol w="364490"/>
                <a:gridCol w="363855"/>
                <a:gridCol w="364489"/>
                <a:gridCol w="365125"/>
              </a:tblGrid>
              <a:tr h="365151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1" name="object 31"/>
          <p:cNvGraphicFramePr>
            <a:graphicFrameLocks noGrp="1"/>
          </p:cNvGraphicFramePr>
          <p:nvPr/>
        </p:nvGraphicFramePr>
        <p:xfrm>
          <a:off x="2930607" y="8231194"/>
          <a:ext cx="2559050" cy="371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855"/>
                <a:gridCol w="363219"/>
                <a:gridCol w="363855"/>
                <a:gridCol w="365125"/>
              </a:tblGrid>
              <a:tr h="36595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pSp>
        <p:nvGrpSpPr>
          <p:cNvPr id="32" name="object 32"/>
          <p:cNvGrpSpPr/>
          <p:nvPr/>
        </p:nvGrpSpPr>
        <p:grpSpPr>
          <a:xfrm>
            <a:off x="2364292" y="6491065"/>
            <a:ext cx="1543685" cy="1745614"/>
            <a:chOff x="2364292" y="6491065"/>
            <a:chExt cx="1543685" cy="1745614"/>
          </a:xfrm>
        </p:grpSpPr>
        <p:sp>
          <p:nvSpPr>
            <p:cNvPr id="33" name="object 33"/>
            <p:cNvSpPr/>
            <p:nvPr/>
          </p:nvSpPr>
          <p:spPr>
            <a:xfrm>
              <a:off x="3823395" y="7869382"/>
              <a:ext cx="81915" cy="364490"/>
            </a:xfrm>
            <a:custGeom>
              <a:avLst/>
              <a:gdLst/>
              <a:ahLst/>
              <a:cxnLst/>
              <a:rect l="l" t="t" r="r" b="b"/>
              <a:pathLst>
                <a:path w="81914" h="364490">
                  <a:moveTo>
                    <a:pt x="61401" y="0"/>
                  </a:moveTo>
                  <a:lnTo>
                    <a:pt x="20192" y="0"/>
                  </a:lnTo>
                  <a:lnTo>
                    <a:pt x="20192" y="273862"/>
                  </a:lnTo>
                  <a:lnTo>
                    <a:pt x="0" y="273862"/>
                  </a:lnTo>
                  <a:lnTo>
                    <a:pt x="40401" y="364342"/>
                  </a:lnTo>
                  <a:lnTo>
                    <a:pt x="81594" y="273862"/>
                  </a:lnTo>
                  <a:lnTo>
                    <a:pt x="61401" y="273862"/>
                  </a:lnTo>
                  <a:lnTo>
                    <a:pt x="61401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823395" y="7869382"/>
              <a:ext cx="81915" cy="364490"/>
            </a:xfrm>
            <a:custGeom>
              <a:avLst/>
              <a:gdLst/>
              <a:ahLst/>
              <a:cxnLst/>
              <a:rect l="l" t="t" r="r" b="b"/>
              <a:pathLst>
                <a:path w="81914" h="364490">
                  <a:moveTo>
                    <a:pt x="0" y="273862"/>
                  </a:moveTo>
                  <a:lnTo>
                    <a:pt x="20192" y="273862"/>
                  </a:lnTo>
                  <a:lnTo>
                    <a:pt x="20192" y="0"/>
                  </a:lnTo>
                  <a:lnTo>
                    <a:pt x="61401" y="0"/>
                  </a:lnTo>
                  <a:lnTo>
                    <a:pt x="61401" y="273862"/>
                  </a:lnTo>
                  <a:lnTo>
                    <a:pt x="81594" y="273862"/>
                  </a:lnTo>
                  <a:lnTo>
                    <a:pt x="40401" y="364342"/>
                  </a:lnTo>
                  <a:lnTo>
                    <a:pt x="0" y="273862"/>
                  </a:lnTo>
                </a:path>
              </a:pathLst>
            </a:custGeom>
            <a:ln w="50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366832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366832" y="6493605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/>
          <p:cNvSpPr txBox="1"/>
          <p:nvPr/>
        </p:nvSpPr>
        <p:spPr>
          <a:xfrm>
            <a:off x="2497123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861265" y="6298928"/>
            <a:ext cx="42037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4607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589547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923344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287485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621786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016273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380414" y="6298928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5714210" y="6298928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108697" y="6298928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50">
              <a:latin typeface="Times New Roman"/>
              <a:cs typeface="Times New Roman"/>
            </a:endParaRPr>
          </a:p>
        </p:txBody>
      </p:sp>
      <p:graphicFrame>
        <p:nvGraphicFramePr>
          <p:cNvPr id="47" name="object 47"/>
          <p:cNvGraphicFramePr>
            <a:graphicFrameLocks noGrp="1"/>
          </p:cNvGraphicFramePr>
          <p:nvPr/>
        </p:nvGraphicFramePr>
        <p:xfrm>
          <a:off x="2364304" y="5924759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363855"/>
                <a:gridCol w="363855"/>
                <a:gridCol w="363855"/>
                <a:gridCol w="364489"/>
                <a:gridCol w="363854"/>
                <a:gridCol w="364489"/>
                <a:gridCol w="365125"/>
              </a:tblGrid>
              <a:tr h="365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48" name="object 48"/>
          <p:cNvSpPr txBox="1"/>
          <p:nvPr/>
        </p:nvSpPr>
        <p:spPr>
          <a:xfrm>
            <a:off x="1876690" y="5852628"/>
            <a:ext cx="484505" cy="462280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algn="ctr" marL="39370">
              <a:lnSpc>
                <a:spcPct val="100000"/>
              </a:lnSpc>
              <a:spcBef>
                <a:spcPts val="43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6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3288593" y="6206820"/>
            <a:ext cx="466725" cy="981075"/>
          </a:xfrm>
          <a:custGeom>
            <a:avLst/>
            <a:gdLst/>
            <a:ahLst/>
            <a:cxnLst/>
            <a:rect l="l" t="t" r="r" b="b"/>
            <a:pathLst>
              <a:path w="466725" h="981075">
                <a:moveTo>
                  <a:pt x="18577" y="0"/>
                </a:moveTo>
                <a:lnTo>
                  <a:pt x="0" y="8077"/>
                </a:lnTo>
                <a:lnTo>
                  <a:pt x="447553" y="980724"/>
                </a:lnTo>
                <a:lnTo>
                  <a:pt x="466130" y="971839"/>
                </a:lnTo>
                <a:lnTo>
                  <a:pt x="1857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3814510" y="6910451"/>
            <a:ext cx="131445" cy="637540"/>
          </a:xfrm>
          <a:custGeom>
            <a:avLst/>
            <a:gdLst/>
            <a:ahLst/>
            <a:cxnLst/>
            <a:rect l="l" t="t" r="r" b="b"/>
            <a:pathLst>
              <a:path w="131445" h="637540">
                <a:moveTo>
                  <a:pt x="111480" y="0"/>
                </a:moveTo>
                <a:lnTo>
                  <a:pt x="0" y="634166"/>
                </a:lnTo>
                <a:lnTo>
                  <a:pt x="19385" y="637397"/>
                </a:lnTo>
                <a:lnTo>
                  <a:pt x="130881" y="3230"/>
                </a:lnTo>
                <a:lnTo>
                  <a:pt x="1114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/>
          <p:nvPr/>
        </p:nvSpPr>
        <p:spPr>
          <a:xfrm>
            <a:off x="3703828" y="6857948"/>
            <a:ext cx="260350" cy="405130"/>
          </a:xfrm>
          <a:custGeom>
            <a:avLst/>
            <a:gdLst/>
            <a:ahLst/>
            <a:cxnLst/>
            <a:rect l="l" t="t" r="r" b="b"/>
            <a:pathLst>
              <a:path w="260350" h="405129">
                <a:moveTo>
                  <a:pt x="82410" y="303758"/>
                </a:moveTo>
                <a:lnTo>
                  <a:pt x="0" y="341731"/>
                </a:lnTo>
                <a:lnTo>
                  <a:pt x="79171" y="404736"/>
                </a:lnTo>
                <a:lnTo>
                  <a:pt x="82410" y="303758"/>
                </a:lnTo>
                <a:close/>
              </a:path>
              <a:path w="260350" h="405129">
                <a:moveTo>
                  <a:pt x="260134" y="61391"/>
                </a:moveTo>
                <a:lnTo>
                  <a:pt x="241554" y="0"/>
                </a:lnTo>
                <a:lnTo>
                  <a:pt x="203581" y="51701"/>
                </a:lnTo>
                <a:lnTo>
                  <a:pt x="260134" y="6139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 txBox="1"/>
          <p:nvPr/>
        </p:nvSpPr>
        <p:spPr>
          <a:xfrm>
            <a:off x="1876689" y="6450635"/>
            <a:ext cx="3763010" cy="209042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 marL="1145540">
              <a:lnSpc>
                <a:spcPct val="100000"/>
              </a:lnSpc>
              <a:spcBef>
                <a:spcPts val="1095"/>
              </a:spcBef>
            </a:pP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[5]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[3]]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[3]]]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[3]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3</a:t>
            </a:r>
            <a:endParaRPr sz="1250">
              <a:latin typeface="Times New Roman"/>
              <a:cs typeface="Times New Roman"/>
            </a:endParaRPr>
          </a:p>
          <a:p>
            <a:pPr marL="1235710">
              <a:lnSpc>
                <a:spcPct val="100000"/>
              </a:lnSpc>
              <a:spcBef>
                <a:spcPts val="994"/>
              </a:spcBef>
              <a:tabLst>
                <a:tab pos="1569085" algn="l"/>
                <a:tab pos="1963420" algn="l"/>
                <a:tab pos="2327910" algn="l"/>
                <a:tab pos="2691765" algn="l"/>
                <a:tab pos="3056255" algn="l"/>
                <a:tab pos="342074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	2	3	4	5	6	7</a:t>
            </a:r>
            <a:endParaRPr sz="950">
              <a:latin typeface="Times New Roman"/>
              <a:cs typeface="Times New Roman"/>
            </a:endParaRPr>
          </a:p>
          <a:p>
            <a:pPr marL="781685">
              <a:lnSpc>
                <a:spcPct val="100000"/>
              </a:lnSpc>
              <a:spcBef>
                <a:spcPts val="780"/>
              </a:spcBef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Times New Roman"/>
              <a:cs typeface="Times New Roman"/>
            </a:endParaRPr>
          </a:p>
          <a:p>
            <a:pPr marL="2047239">
              <a:lnSpc>
                <a:spcPct val="100000"/>
              </a:lnSpc>
            </a:pP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[3]]</a:t>
            </a:r>
            <a:r>
              <a:rPr dirty="0" sz="105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[3]]</a:t>
            </a:r>
            <a:r>
              <a:rPr dirty="0" sz="105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dirty="0" sz="105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700">
              <a:latin typeface="Times New Roman"/>
              <a:cs typeface="Times New Roman"/>
            </a:endParaRPr>
          </a:p>
          <a:p>
            <a:pPr marL="741045">
              <a:lnSpc>
                <a:spcPct val="100000"/>
              </a:lnSpc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53" name="object 53"/>
          <p:cNvGraphicFramePr>
            <a:graphicFrameLocks noGrp="1"/>
          </p:cNvGraphicFramePr>
          <p:nvPr/>
        </p:nvGraphicFramePr>
        <p:xfrm>
          <a:off x="2731175" y="6491076"/>
          <a:ext cx="364871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728979"/>
                <a:gridCol w="364490"/>
                <a:gridCol w="365125"/>
                <a:gridCol w="365125"/>
                <a:gridCol w="365760"/>
                <a:gridCol w="364489"/>
                <a:gridCol w="366395"/>
                <a:gridCol w="365760"/>
              </a:tblGrid>
              <a:tr h="36515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650"/>
                        </a:spcBef>
                        <a:tabLst>
                          <a:tab pos="505459" algn="l"/>
                        </a:tabLst>
                      </a:pPr>
                      <a:r>
                        <a:rPr dirty="0" sz="12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	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54" name="object 54"/>
          <p:cNvSpPr txBox="1"/>
          <p:nvPr/>
        </p:nvSpPr>
        <p:spPr>
          <a:xfrm>
            <a:off x="2817023" y="8737713"/>
            <a:ext cx="2595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5.17: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3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placed in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 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21489" y="520987"/>
            <a:ext cx="26066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5.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LINEAR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90700" y="939495"/>
            <a:ext cx="4648200" cy="2827655"/>
          </a:xfrm>
          <a:custGeom>
            <a:avLst/>
            <a:gdLst/>
            <a:ahLst/>
            <a:cxnLst/>
            <a:rect l="l" t="t" r="r" b="b"/>
            <a:pathLst>
              <a:path w="4648200" h="2827654">
                <a:moveTo>
                  <a:pt x="4648001" y="0"/>
                </a:moveTo>
                <a:lnTo>
                  <a:pt x="0" y="0"/>
                </a:lnTo>
                <a:lnTo>
                  <a:pt x="0" y="2827324"/>
                </a:lnTo>
                <a:lnTo>
                  <a:pt x="4648001" y="2827324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938684" y="2566532"/>
          <a:ext cx="255905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760"/>
                <a:gridCol w="364490"/>
                <a:gridCol w="364490"/>
                <a:gridCol w="364490"/>
                <a:gridCol w="363855"/>
                <a:gridCol w="364489"/>
                <a:gridCol w="365125"/>
              </a:tblGrid>
              <a:tr h="365151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930607" y="3335619"/>
          <a:ext cx="2559050" cy="371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855"/>
                <a:gridCol w="363219"/>
                <a:gridCol w="363855"/>
                <a:gridCol w="365125"/>
              </a:tblGrid>
              <a:tr h="36595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2569601" y="2043145"/>
            <a:ext cx="609600" cy="1297940"/>
            <a:chOff x="2569601" y="2043145"/>
            <a:chExt cx="609600" cy="1297940"/>
          </a:xfrm>
        </p:grpSpPr>
        <p:sp>
          <p:nvSpPr>
            <p:cNvPr id="8" name="object 8"/>
            <p:cNvSpPr/>
            <p:nvPr/>
          </p:nvSpPr>
          <p:spPr>
            <a:xfrm>
              <a:off x="3095518" y="2973806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80" h="364489">
                  <a:moveTo>
                    <a:pt x="60594" y="0"/>
                  </a:moveTo>
                  <a:lnTo>
                    <a:pt x="20192" y="0"/>
                  </a:lnTo>
                  <a:lnTo>
                    <a:pt x="20192" y="273862"/>
                  </a:lnTo>
                  <a:lnTo>
                    <a:pt x="0" y="273862"/>
                  </a:lnTo>
                  <a:lnTo>
                    <a:pt x="40401" y="364342"/>
                  </a:lnTo>
                  <a:lnTo>
                    <a:pt x="80787" y="273862"/>
                  </a:lnTo>
                  <a:lnTo>
                    <a:pt x="60594" y="273862"/>
                  </a:lnTo>
                  <a:lnTo>
                    <a:pt x="6059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095518" y="2973806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80" h="364489">
                  <a:moveTo>
                    <a:pt x="0" y="273862"/>
                  </a:moveTo>
                  <a:lnTo>
                    <a:pt x="20192" y="273862"/>
                  </a:lnTo>
                  <a:lnTo>
                    <a:pt x="20192" y="0"/>
                  </a:lnTo>
                  <a:lnTo>
                    <a:pt x="60594" y="0"/>
                  </a:lnTo>
                  <a:lnTo>
                    <a:pt x="60594" y="273862"/>
                  </a:lnTo>
                  <a:lnTo>
                    <a:pt x="80787" y="273862"/>
                  </a:lnTo>
                  <a:lnTo>
                    <a:pt x="40401" y="364342"/>
                  </a:lnTo>
                  <a:lnTo>
                    <a:pt x="0" y="273862"/>
                  </a:lnTo>
                </a:path>
              </a:pathLst>
            </a:custGeom>
            <a:ln w="50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569591" y="2043150"/>
              <a:ext cx="598805" cy="364490"/>
            </a:xfrm>
            <a:custGeom>
              <a:avLst/>
              <a:gdLst/>
              <a:ahLst/>
              <a:cxnLst/>
              <a:rect l="l" t="t" r="r" b="b"/>
              <a:pathLst>
                <a:path w="598805" h="364489">
                  <a:moveTo>
                    <a:pt x="59791" y="25057"/>
                  </a:moveTo>
                  <a:lnTo>
                    <a:pt x="0" y="0"/>
                  </a:lnTo>
                  <a:lnTo>
                    <a:pt x="16154" y="62204"/>
                  </a:lnTo>
                  <a:lnTo>
                    <a:pt x="59791" y="25057"/>
                  </a:lnTo>
                  <a:close/>
                </a:path>
                <a:path w="598805" h="364489">
                  <a:moveTo>
                    <a:pt x="598627" y="269011"/>
                  </a:moveTo>
                  <a:lnTo>
                    <a:pt x="508152" y="281940"/>
                  </a:lnTo>
                  <a:lnTo>
                    <a:pt x="566318" y="364337"/>
                  </a:lnTo>
                  <a:lnTo>
                    <a:pt x="598627" y="2690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2497123" y="1403359"/>
            <a:ext cx="784225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76555" algn="l"/>
                <a:tab pos="71056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589547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923344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287485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621786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016273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380414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714210" y="1403359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108697" y="1403359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50">
              <a:latin typeface="Times New Roman"/>
              <a:cs typeface="Times New Roman"/>
            </a:endParaRPr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2364304" y="1029183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363855"/>
                <a:gridCol w="363855"/>
                <a:gridCol w="363855"/>
                <a:gridCol w="364489"/>
                <a:gridCol w="363854"/>
                <a:gridCol w="364489"/>
                <a:gridCol w="365125"/>
              </a:tblGrid>
              <a:tr h="365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21" name="object 21"/>
          <p:cNvSpPr txBox="1"/>
          <p:nvPr/>
        </p:nvSpPr>
        <p:spPr>
          <a:xfrm>
            <a:off x="1876690" y="957046"/>
            <a:ext cx="484505" cy="462280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algn="ctr" marL="39370">
              <a:lnSpc>
                <a:spcPct val="100000"/>
              </a:lnSpc>
              <a:spcBef>
                <a:spcPts val="43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6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2597061" y="1314462"/>
            <a:ext cx="535940" cy="1343660"/>
          </a:xfrm>
          <a:custGeom>
            <a:avLst/>
            <a:gdLst/>
            <a:ahLst/>
            <a:cxnLst/>
            <a:rect l="l" t="t" r="r" b="b"/>
            <a:pathLst>
              <a:path w="535939" h="1343660">
                <a:moveTo>
                  <a:pt x="505726" y="1329740"/>
                </a:moveTo>
                <a:lnTo>
                  <a:pt x="15354" y="763435"/>
                </a:lnTo>
                <a:lnTo>
                  <a:pt x="0" y="777163"/>
                </a:lnTo>
                <a:lnTo>
                  <a:pt x="491185" y="1343469"/>
                </a:lnTo>
                <a:lnTo>
                  <a:pt x="505726" y="1329740"/>
                </a:lnTo>
                <a:close/>
              </a:path>
              <a:path w="535939" h="1343660">
                <a:moveTo>
                  <a:pt x="535609" y="1004976"/>
                </a:moveTo>
                <a:lnTo>
                  <a:pt x="387781" y="0"/>
                </a:lnTo>
                <a:lnTo>
                  <a:pt x="367588" y="2425"/>
                </a:lnTo>
                <a:lnTo>
                  <a:pt x="516216" y="1007402"/>
                </a:lnTo>
                <a:lnTo>
                  <a:pt x="535609" y="100497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1876689" y="1555065"/>
            <a:ext cx="3763010" cy="209042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 marL="1145540">
              <a:lnSpc>
                <a:spcPct val="100000"/>
              </a:lnSpc>
              <a:spcBef>
                <a:spcPts val="1095"/>
              </a:spcBef>
            </a:pP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[1]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[1]]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[2]]]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[2]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  <a:p>
            <a:pPr marL="1235710">
              <a:lnSpc>
                <a:spcPct val="100000"/>
              </a:lnSpc>
              <a:spcBef>
                <a:spcPts val="994"/>
              </a:spcBef>
              <a:tabLst>
                <a:tab pos="1569085" algn="l"/>
                <a:tab pos="1963420" algn="l"/>
                <a:tab pos="2327910" algn="l"/>
                <a:tab pos="2691765" algn="l"/>
                <a:tab pos="3056255" algn="l"/>
                <a:tab pos="342074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	2	3	4	5	6	7</a:t>
            </a:r>
            <a:endParaRPr sz="950">
              <a:latin typeface="Times New Roman"/>
              <a:cs typeface="Times New Roman"/>
            </a:endParaRPr>
          </a:p>
          <a:p>
            <a:pPr marL="781685">
              <a:lnSpc>
                <a:spcPct val="100000"/>
              </a:lnSpc>
              <a:spcBef>
                <a:spcPts val="780"/>
              </a:spcBef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Times New Roman"/>
              <a:cs typeface="Times New Roman"/>
            </a:endParaRPr>
          </a:p>
          <a:p>
            <a:pPr algn="ctr" marL="50800">
              <a:lnSpc>
                <a:spcPct val="100000"/>
              </a:lnSpc>
            </a:pP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[3]]</a:t>
            </a:r>
            <a:r>
              <a:rPr dirty="0" sz="105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dirty="0" sz="1050" spc="-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[3]]</a:t>
            </a:r>
            <a:r>
              <a:rPr dirty="0" sz="1050" spc="-1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dirty="0" sz="1050" spc="-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700">
              <a:latin typeface="Times New Roman"/>
              <a:cs typeface="Times New Roman"/>
            </a:endParaRPr>
          </a:p>
          <a:p>
            <a:pPr marL="741045">
              <a:lnSpc>
                <a:spcPct val="100000"/>
              </a:lnSpc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2364304" y="1595485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729615"/>
                <a:gridCol w="363219"/>
                <a:gridCol w="364489"/>
                <a:gridCol w="364489"/>
                <a:gridCol w="364489"/>
                <a:gridCol w="365125"/>
                <a:gridCol w="363854"/>
                <a:gridCol w="365760"/>
                <a:gridCol w="365125"/>
              </a:tblGrid>
              <a:tr h="36515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650"/>
                        </a:spcBef>
                        <a:tabLst>
                          <a:tab pos="505459" algn="l"/>
                        </a:tabLst>
                      </a:pPr>
                      <a:r>
                        <a:rPr dirty="0" sz="12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	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25" name="object 25"/>
          <p:cNvSpPr txBox="1"/>
          <p:nvPr/>
        </p:nvSpPr>
        <p:spPr>
          <a:xfrm>
            <a:off x="2817023" y="3842132"/>
            <a:ext cx="2595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5.18: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2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placed in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 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1772411" y="4928184"/>
            <a:ext cx="4648200" cy="2696210"/>
          </a:xfrm>
          <a:custGeom>
            <a:avLst/>
            <a:gdLst/>
            <a:ahLst/>
            <a:cxnLst/>
            <a:rect l="l" t="t" r="r" b="b"/>
            <a:pathLst>
              <a:path w="4648200" h="2696209">
                <a:moveTo>
                  <a:pt x="4648001" y="0"/>
                </a:moveTo>
                <a:lnTo>
                  <a:pt x="0" y="0"/>
                </a:lnTo>
                <a:lnTo>
                  <a:pt x="0" y="2695879"/>
                </a:lnTo>
                <a:lnTo>
                  <a:pt x="4648001" y="2695879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27" name="object 27"/>
          <p:cNvGraphicFramePr>
            <a:graphicFrameLocks noGrp="1"/>
          </p:cNvGraphicFramePr>
          <p:nvPr/>
        </p:nvGraphicFramePr>
        <p:xfrm>
          <a:off x="2867482" y="6480859"/>
          <a:ext cx="2435860" cy="3517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6710"/>
                <a:gridCol w="347345"/>
                <a:gridCol w="347980"/>
                <a:gridCol w="347980"/>
                <a:gridCol w="347344"/>
                <a:gridCol w="347344"/>
                <a:gridCol w="346710"/>
              </a:tblGrid>
              <a:tr h="34694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683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683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6835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6835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683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683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200" spc="5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683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8" name="object 28"/>
          <p:cNvGraphicFramePr>
            <a:graphicFrameLocks noGrp="1"/>
          </p:cNvGraphicFramePr>
          <p:nvPr/>
        </p:nvGraphicFramePr>
        <p:xfrm>
          <a:off x="2859785" y="7212448"/>
          <a:ext cx="2435225" cy="3530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6710"/>
                <a:gridCol w="347345"/>
                <a:gridCol w="347344"/>
                <a:gridCol w="347344"/>
                <a:gridCol w="347344"/>
                <a:gridCol w="347344"/>
                <a:gridCol w="346710"/>
              </a:tblGrid>
              <a:tr h="34771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pSp>
        <p:nvGrpSpPr>
          <p:cNvPr id="29" name="object 29"/>
          <p:cNvGrpSpPr/>
          <p:nvPr/>
        </p:nvGrpSpPr>
        <p:grpSpPr>
          <a:xfrm>
            <a:off x="2319624" y="5555286"/>
            <a:ext cx="2856865" cy="1662430"/>
            <a:chOff x="2319624" y="5555286"/>
            <a:chExt cx="2856865" cy="1662430"/>
          </a:xfrm>
        </p:grpSpPr>
        <p:sp>
          <p:nvSpPr>
            <p:cNvPr id="30" name="object 30"/>
            <p:cNvSpPr/>
            <p:nvPr/>
          </p:nvSpPr>
          <p:spPr>
            <a:xfrm>
              <a:off x="5096956" y="6868678"/>
              <a:ext cx="77470" cy="346710"/>
            </a:xfrm>
            <a:custGeom>
              <a:avLst/>
              <a:gdLst/>
              <a:ahLst/>
              <a:cxnLst/>
              <a:rect l="l" t="t" r="r" b="b"/>
              <a:pathLst>
                <a:path w="77470" h="346709">
                  <a:moveTo>
                    <a:pt x="57698" y="0"/>
                  </a:moveTo>
                  <a:lnTo>
                    <a:pt x="19232" y="0"/>
                  </a:lnTo>
                  <a:lnTo>
                    <a:pt x="19232" y="260024"/>
                  </a:lnTo>
                  <a:lnTo>
                    <a:pt x="0" y="260024"/>
                  </a:lnTo>
                  <a:lnTo>
                    <a:pt x="38465" y="346176"/>
                  </a:lnTo>
                  <a:lnTo>
                    <a:pt x="76931" y="260024"/>
                  </a:lnTo>
                  <a:lnTo>
                    <a:pt x="57698" y="260024"/>
                  </a:lnTo>
                  <a:lnTo>
                    <a:pt x="5769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5096956" y="6868678"/>
              <a:ext cx="77470" cy="346710"/>
            </a:xfrm>
            <a:custGeom>
              <a:avLst/>
              <a:gdLst/>
              <a:ahLst/>
              <a:cxnLst/>
              <a:rect l="l" t="t" r="r" b="b"/>
              <a:pathLst>
                <a:path w="77470" h="346709">
                  <a:moveTo>
                    <a:pt x="0" y="260024"/>
                  </a:moveTo>
                  <a:lnTo>
                    <a:pt x="19232" y="260024"/>
                  </a:lnTo>
                  <a:lnTo>
                    <a:pt x="19232" y="0"/>
                  </a:lnTo>
                  <a:lnTo>
                    <a:pt x="57698" y="0"/>
                  </a:lnTo>
                  <a:lnTo>
                    <a:pt x="57698" y="260024"/>
                  </a:lnTo>
                  <a:lnTo>
                    <a:pt x="76931" y="260024"/>
                  </a:lnTo>
                  <a:lnTo>
                    <a:pt x="38465" y="346176"/>
                  </a:lnTo>
                  <a:lnTo>
                    <a:pt x="0" y="260024"/>
                  </a:lnTo>
                </a:path>
              </a:pathLst>
            </a:custGeom>
            <a:ln w="481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322164" y="5557826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80" h="347979">
                  <a:moveTo>
                    <a:pt x="347714" y="0"/>
                  </a:moveTo>
                  <a:lnTo>
                    <a:pt x="0" y="0"/>
                  </a:lnTo>
                  <a:lnTo>
                    <a:pt x="0" y="347714"/>
                  </a:lnTo>
                  <a:lnTo>
                    <a:pt x="347714" y="347714"/>
                  </a:lnTo>
                  <a:lnTo>
                    <a:pt x="347714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322164" y="5557826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80" h="347979">
                  <a:moveTo>
                    <a:pt x="0" y="347714"/>
                  </a:moveTo>
                  <a:lnTo>
                    <a:pt x="347714" y="347714"/>
                  </a:lnTo>
                  <a:lnTo>
                    <a:pt x="347714" y="0"/>
                  </a:lnTo>
                  <a:lnTo>
                    <a:pt x="0" y="0"/>
                  </a:lnTo>
                  <a:lnTo>
                    <a:pt x="0" y="347714"/>
                  </a:lnTo>
                  <a:close/>
                </a:path>
              </a:pathLst>
            </a:custGeom>
            <a:ln w="481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669118" y="5557826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80" h="347979">
                  <a:moveTo>
                    <a:pt x="347714" y="0"/>
                  </a:moveTo>
                  <a:lnTo>
                    <a:pt x="0" y="0"/>
                  </a:lnTo>
                  <a:lnTo>
                    <a:pt x="0" y="347714"/>
                  </a:lnTo>
                  <a:lnTo>
                    <a:pt x="347714" y="347714"/>
                  </a:lnTo>
                  <a:lnTo>
                    <a:pt x="347714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669118" y="5557826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80" h="347979">
                  <a:moveTo>
                    <a:pt x="0" y="347714"/>
                  </a:moveTo>
                  <a:lnTo>
                    <a:pt x="347714" y="347714"/>
                  </a:lnTo>
                  <a:lnTo>
                    <a:pt x="347714" y="0"/>
                  </a:lnTo>
                  <a:lnTo>
                    <a:pt x="0" y="0"/>
                  </a:lnTo>
                  <a:lnTo>
                    <a:pt x="0" y="347714"/>
                  </a:lnTo>
                  <a:close/>
                </a:path>
              </a:pathLst>
            </a:custGeom>
            <a:ln w="481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016056" y="5557826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79" h="347979">
                  <a:moveTo>
                    <a:pt x="347714" y="0"/>
                  </a:moveTo>
                  <a:lnTo>
                    <a:pt x="0" y="0"/>
                  </a:lnTo>
                  <a:lnTo>
                    <a:pt x="0" y="347714"/>
                  </a:lnTo>
                  <a:lnTo>
                    <a:pt x="347714" y="347714"/>
                  </a:lnTo>
                  <a:lnTo>
                    <a:pt x="347714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016056" y="5557826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79" h="347979">
                  <a:moveTo>
                    <a:pt x="0" y="347714"/>
                  </a:moveTo>
                  <a:lnTo>
                    <a:pt x="347714" y="347714"/>
                  </a:lnTo>
                  <a:lnTo>
                    <a:pt x="347714" y="0"/>
                  </a:lnTo>
                  <a:lnTo>
                    <a:pt x="0" y="0"/>
                  </a:lnTo>
                  <a:lnTo>
                    <a:pt x="0" y="347714"/>
                  </a:lnTo>
                  <a:close/>
                </a:path>
              </a:pathLst>
            </a:custGeom>
            <a:ln w="481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362995" y="5557826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79" h="347979">
                  <a:moveTo>
                    <a:pt x="347714" y="0"/>
                  </a:moveTo>
                  <a:lnTo>
                    <a:pt x="0" y="0"/>
                  </a:lnTo>
                  <a:lnTo>
                    <a:pt x="0" y="347714"/>
                  </a:lnTo>
                  <a:lnTo>
                    <a:pt x="347714" y="347714"/>
                  </a:lnTo>
                  <a:lnTo>
                    <a:pt x="347714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362995" y="5557826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79" h="347979">
                  <a:moveTo>
                    <a:pt x="0" y="347714"/>
                  </a:moveTo>
                  <a:lnTo>
                    <a:pt x="347714" y="347714"/>
                  </a:lnTo>
                  <a:lnTo>
                    <a:pt x="347714" y="0"/>
                  </a:lnTo>
                  <a:lnTo>
                    <a:pt x="0" y="0"/>
                  </a:lnTo>
                  <a:lnTo>
                    <a:pt x="0" y="347714"/>
                  </a:lnTo>
                  <a:close/>
                </a:path>
              </a:pathLst>
            </a:custGeom>
            <a:ln w="481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709949" y="5557826"/>
              <a:ext cx="347345" cy="347980"/>
            </a:xfrm>
            <a:custGeom>
              <a:avLst/>
              <a:gdLst/>
              <a:ahLst/>
              <a:cxnLst/>
              <a:rect l="l" t="t" r="r" b="b"/>
              <a:pathLst>
                <a:path w="347345" h="347979">
                  <a:moveTo>
                    <a:pt x="346946" y="0"/>
                  </a:moveTo>
                  <a:lnTo>
                    <a:pt x="0" y="0"/>
                  </a:lnTo>
                  <a:lnTo>
                    <a:pt x="0" y="347714"/>
                  </a:lnTo>
                  <a:lnTo>
                    <a:pt x="346946" y="347714"/>
                  </a:lnTo>
                  <a:lnTo>
                    <a:pt x="346946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709949" y="5557826"/>
              <a:ext cx="347345" cy="347980"/>
            </a:xfrm>
            <a:custGeom>
              <a:avLst/>
              <a:gdLst/>
              <a:ahLst/>
              <a:cxnLst/>
              <a:rect l="l" t="t" r="r" b="b"/>
              <a:pathLst>
                <a:path w="347345" h="347979">
                  <a:moveTo>
                    <a:pt x="0" y="347714"/>
                  </a:moveTo>
                  <a:lnTo>
                    <a:pt x="346946" y="347714"/>
                  </a:lnTo>
                  <a:lnTo>
                    <a:pt x="346946" y="0"/>
                  </a:lnTo>
                  <a:lnTo>
                    <a:pt x="0" y="0"/>
                  </a:lnTo>
                  <a:lnTo>
                    <a:pt x="0" y="347714"/>
                  </a:lnTo>
                  <a:close/>
                </a:path>
              </a:pathLst>
            </a:custGeom>
            <a:ln w="481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403064" y="5557826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79" h="347979">
                  <a:moveTo>
                    <a:pt x="347714" y="0"/>
                  </a:moveTo>
                  <a:lnTo>
                    <a:pt x="0" y="0"/>
                  </a:lnTo>
                  <a:lnTo>
                    <a:pt x="0" y="347714"/>
                  </a:lnTo>
                  <a:lnTo>
                    <a:pt x="347714" y="347714"/>
                  </a:lnTo>
                  <a:lnTo>
                    <a:pt x="347714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403064" y="5557826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79" h="347979">
                  <a:moveTo>
                    <a:pt x="0" y="347714"/>
                  </a:moveTo>
                  <a:lnTo>
                    <a:pt x="347714" y="347714"/>
                  </a:lnTo>
                  <a:lnTo>
                    <a:pt x="347714" y="0"/>
                  </a:lnTo>
                  <a:lnTo>
                    <a:pt x="0" y="0"/>
                  </a:lnTo>
                  <a:lnTo>
                    <a:pt x="0" y="347714"/>
                  </a:lnTo>
                  <a:close/>
                </a:path>
              </a:pathLst>
            </a:custGeom>
            <a:ln w="481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750018" y="5557826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79" h="347979">
                  <a:moveTo>
                    <a:pt x="347714" y="0"/>
                  </a:moveTo>
                  <a:lnTo>
                    <a:pt x="0" y="0"/>
                  </a:lnTo>
                  <a:lnTo>
                    <a:pt x="0" y="347714"/>
                  </a:lnTo>
                  <a:lnTo>
                    <a:pt x="347714" y="347714"/>
                  </a:lnTo>
                  <a:lnTo>
                    <a:pt x="347714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/>
          <p:cNvSpPr txBox="1"/>
          <p:nvPr/>
        </p:nvSpPr>
        <p:spPr>
          <a:xfrm>
            <a:off x="2446400" y="5371846"/>
            <a:ext cx="83820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793152" y="5371846"/>
            <a:ext cx="401320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30200" algn="l"/>
              </a:tabLst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486657" y="5371846"/>
            <a:ext cx="83820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804514" y="5371846"/>
            <a:ext cx="83820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151266" y="5371846"/>
            <a:ext cx="77660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30200" algn="l"/>
                <a:tab pos="705485" algn="l"/>
              </a:tabLst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191235" y="5371846"/>
            <a:ext cx="83820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509092" y="5371846"/>
            <a:ext cx="14160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884740" y="5371846"/>
            <a:ext cx="14160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854823" y="5516309"/>
            <a:ext cx="462280" cy="37274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900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b="1" i="1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dirty="0" sz="1200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00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00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00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4053585" y="5555286"/>
            <a:ext cx="353060" cy="353060"/>
            <a:chOff x="4053585" y="5555286"/>
            <a:chExt cx="353060" cy="353060"/>
          </a:xfrm>
        </p:grpSpPr>
        <p:sp>
          <p:nvSpPr>
            <p:cNvPr id="55" name="object 55"/>
            <p:cNvSpPr/>
            <p:nvPr/>
          </p:nvSpPr>
          <p:spPr>
            <a:xfrm>
              <a:off x="4056125" y="5557826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79" h="347979">
                  <a:moveTo>
                    <a:pt x="347714" y="0"/>
                  </a:moveTo>
                  <a:lnTo>
                    <a:pt x="0" y="0"/>
                  </a:lnTo>
                  <a:lnTo>
                    <a:pt x="0" y="347714"/>
                  </a:lnTo>
                  <a:lnTo>
                    <a:pt x="347714" y="347714"/>
                  </a:lnTo>
                  <a:lnTo>
                    <a:pt x="347714" y="0"/>
                  </a:lnTo>
                  <a:close/>
                </a:path>
              </a:pathLst>
            </a:custGeom>
            <a:solidFill>
              <a:srgbClr val="6600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056125" y="5557826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79" h="347979">
                  <a:moveTo>
                    <a:pt x="0" y="347714"/>
                  </a:moveTo>
                  <a:lnTo>
                    <a:pt x="347714" y="347714"/>
                  </a:lnTo>
                  <a:lnTo>
                    <a:pt x="347714" y="0"/>
                  </a:lnTo>
                  <a:lnTo>
                    <a:pt x="0" y="0"/>
                  </a:lnTo>
                  <a:lnTo>
                    <a:pt x="0" y="347714"/>
                  </a:lnTo>
                  <a:close/>
                </a:path>
              </a:pathLst>
            </a:custGeom>
            <a:ln w="481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57" name="object 57"/>
          <p:cNvGraphicFramePr>
            <a:graphicFrameLocks noGrp="1"/>
          </p:cNvGraphicFramePr>
          <p:nvPr/>
        </p:nvGraphicFramePr>
        <p:xfrm>
          <a:off x="2319756" y="5016151"/>
          <a:ext cx="3823335" cy="3530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7345"/>
                <a:gridCol w="346710"/>
                <a:gridCol w="346709"/>
                <a:gridCol w="346709"/>
                <a:gridCol w="346075"/>
                <a:gridCol w="346710"/>
                <a:gridCol w="346710"/>
                <a:gridCol w="346710"/>
                <a:gridCol w="346710"/>
                <a:gridCol w="346710"/>
                <a:gridCol w="346075"/>
              </a:tblGrid>
              <a:tr h="34771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747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58" name="object 58"/>
          <p:cNvSpPr txBox="1"/>
          <p:nvPr/>
        </p:nvSpPr>
        <p:spPr>
          <a:xfrm>
            <a:off x="1854821" y="4946853"/>
            <a:ext cx="462280" cy="441959"/>
          </a:xfrm>
          <a:prstGeom prst="rect">
            <a:avLst/>
          </a:prstGeom>
        </p:spPr>
        <p:txBody>
          <a:bodyPr wrap="square" lIns="0" tIns="53340" rIns="0" bIns="0" rtlCol="0" vert="horz">
            <a:spAutoFit/>
          </a:bodyPr>
          <a:lstStyle/>
          <a:p>
            <a:pPr algn="ctr" marL="37465">
              <a:lnSpc>
                <a:spcPct val="100000"/>
              </a:lnSpc>
              <a:spcBef>
                <a:spcPts val="420"/>
              </a:spcBef>
            </a:pPr>
            <a:r>
              <a:rPr dirty="0" sz="900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30"/>
              </a:spcBef>
            </a:pPr>
            <a:r>
              <a:rPr dirty="0" sz="120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00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00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00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00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5166969" y="5980932"/>
            <a:ext cx="410209" cy="585470"/>
          </a:xfrm>
          <a:custGeom>
            <a:avLst/>
            <a:gdLst/>
            <a:ahLst/>
            <a:cxnLst/>
            <a:rect l="l" t="t" r="r" b="b"/>
            <a:pathLst>
              <a:path w="410210" h="585470">
                <a:moveTo>
                  <a:pt x="394639" y="0"/>
                </a:moveTo>
                <a:lnTo>
                  <a:pt x="0" y="574654"/>
                </a:lnTo>
                <a:lnTo>
                  <a:pt x="15377" y="585429"/>
                </a:lnTo>
                <a:lnTo>
                  <a:pt x="410016" y="10774"/>
                </a:lnTo>
                <a:lnTo>
                  <a:pt x="39463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0" name="object 60"/>
          <p:cNvGrpSpPr/>
          <p:nvPr/>
        </p:nvGrpSpPr>
        <p:grpSpPr>
          <a:xfrm>
            <a:off x="2550642" y="5318587"/>
            <a:ext cx="3047365" cy="1020444"/>
            <a:chOff x="2550642" y="5318587"/>
            <a:chExt cx="3047365" cy="1020444"/>
          </a:xfrm>
        </p:grpSpPr>
        <p:sp>
          <p:nvSpPr>
            <p:cNvPr id="61" name="object 61"/>
            <p:cNvSpPr/>
            <p:nvPr/>
          </p:nvSpPr>
          <p:spPr>
            <a:xfrm>
              <a:off x="2550642" y="5318594"/>
              <a:ext cx="3047365" cy="1020444"/>
            </a:xfrm>
            <a:custGeom>
              <a:avLst/>
              <a:gdLst/>
              <a:ahLst/>
              <a:cxnLst/>
              <a:rect l="l" t="t" r="r" b="b"/>
              <a:pathLst>
                <a:path w="3047365" h="1020445">
                  <a:moveTo>
                    <a:pt x="2546312" y="1010056"/>
                  </a:moveTo>
                  <a:lnTo>
                    <a:pt x="2482456" y="939279"/>
                  </a:lnTo>
                  <a:lnTo>
                    <a:pt x="2470353" y="969530"/>
                  </a:lnTo>
                  <a:lnTo>
                    <a:pt x="6908" y="0"/>
                  </a:lnTo>
                  <a:lnTo>
                    <a:pt x="0" y="17691"/>
                  </a:lnTo>
                  <a:lnTo>
                    <a:pt x="2463292" y="987171"/>
                  </a:lnTo>
                  <a:lnTo>
                    <a:pt x="2450147" y="1020051"/>
                  </a:lnTo>
                  <a:lnTo>
                    <a:pt x="2546312" y="1010056"/>
                  </a:lnTo>
                  <a:close/>
                </a:path>
                <a:path w="3047365" h="1020445">
                  <a:moveTo>
                    <a:pt x="3047111" y="624649"/>
                  </a:moveTo>
                  <a:lnTo>
                    <a:pt x="2994025" y="654646"/>
                  </a:lnTo>
                  <a:lnTo>
                    <a:pt x="3039414" y="685419"/>
                  </a:lnTo>
                  <a:lnTo>
                    <a:pt x="3047111" y="6246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362985" y="5557837"/>
              <a:ext cx="1734820" cy="347980"/>
            </a:xfrm>
            <a:custGeom>
              <a:avLst/>
              <a:gdLst/>
              <a:ahLst/>
              <a:cxnLst/>
              <a:rect l="l" t="t" r="r" b="b"/>
              <a:pathLst>
                <a:path w="1734820" h="347979">
                  <a:moveTo>
                    <a:pt x="347713" y="0"/>
                  </a:moveTo>
                  <a:lnTo>
                    <a:pt x="0" y="0"/>
                  </a:lnTo>
                  <a:lnTo>
                    <a:pt x="0" y="347713"/>
                  </a:lnTo>
                  <a:lnTo>
                    <a:pt x="347713" y="347713"/>
                  </a:lnTo>
                  <a:lnTo>
                    <a:pt x="347713" y="0"/>
                  </a:lnTo>
                  <a:close/>
                </a:path>
                <a:path w="1734820" h="347979">
                  <a:moveTo>
                    <a:pt x="1734743" y="0"/>
                  </a:moveTo>
                  <a:lnTo>
                    <a:pt x="1387030" y="0"/>
                  </a:lnTo>
                  <a:lnTo>
                    <a:pt x="1387030" y="347713"/>
                  </a:lnTo>
                  <a:lnTo>
                    <a:pt x="1734743" y="347713"/>
                  </a:lnTo>
                  <a:lnTo>
                    <a:pt x="1734743" y="0"/>
                  </a:lnTo>
                  <a:close/>
                </a:path>
              </a:pathLst>
            </a:custGeom>
            <a:solidFill>
              <a:srgbClr val="66003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/>
          <p:cNvSpPr txBox="1"/>
          <p:nvPr/>
        </p:nvSpPr>
        <p:spPr>
          <a:xfrm>
            <a:off x="3363383" y="5557826"/>
            <a:ext cx="347345" cy="347980"/>
          </a:xfrm>
          <a:prstGeom prst="rect">
            <a:avLst/>
          </a:prstGeom>
          <a:ln w="5576">
            <a:solidFill>
              <a:srgbClr val="B1B1B1"/>
            </a:solidFill>
          </a:ln>
        </p:spPr>
        <p:txBody>
          <a:bodyPr wrap="square" lIns="0" tIns="774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10"/>
              </a:spcBef>
            </a:pPr>
            <a:r>
              <a:rPr dirty="0" sz="1200" spc="5" b="1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791229" y="5557826"/>
            <a:ext cx="346710" cy="347980"/>
          </a:xfrm>
          <a:prstGeom prst="rect">
            <a:avLst/>
          </a:prstGeom>
          <a:solidFill>
            <a:srgbClr val="660033"/>
          </a:solidFill>
          <a:ln w="4816">
            <a:solidFill>
              <a:srgbClr val="B1B1B1"/>
            </a:solidFill>
          </a:ln>
        </p:spPr>
        <p:txBody>
          <a:bodyPr wrap="square" lIns="0" tIns="774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10"/>
              </a:spcBef>
            </a:pPr>
            <a:r>
              <a:rPr dirty="0" sz="1200" spc="5" b="1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097732" y="5557826"/>
            <a:ext cx="346710" cy="347980"/>
          </a:xfrm>
          <a:prstGeom prst="rect">
            <a:avLst/>
          </a:prstGeom>
          <a:solidFill>
            <a:srgbClr val="660033"/>
          </a:solidFill>
          <a:ln w="5591">
            <a:solidFill>
              <a:srgbClr val="B1B1B1"/>
            </a:solidFill>
          </a:ln>
        </p:spPr>
        <p:txBody>
          <a:bodyPr wrap="square" lIns="0" tIns="774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10"/>
              </a:spcBef>
            </a:pPr>
            <a:r>
              <a:rPr dirty="0" sz="1200" spc="5" b="1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4403064" y="5557826"/>
            <a:ext cx="347980" cy="347980"/>
          </a:xfrm>
          <a:custGeom>
            <a:avLst/>
            <a:gdLst/>
            <a:ahLst/>
            <a:cxnLst/>
            <a:rect l="l" t="t" r="r" b="b"/>
            <a:pathLst>
              <a:path w="347979" h="347979">
                <a:moveTo>
                  <a:pt x="347714" y="0"/>
                </a:moveTo>
                <a:lnTo>
                  <a:pt x="0" y="0"/>
                </a:lnTo>
                <a:lnTo>
                  <a:pt x="0" y="347714"/>
                </a:lnTo>
                <a:lnTo>
                  <a:pt x="347714" y="347714"/>
                </a:lnTo>
                <a:lnTo>
                  <a:pt x="347714" y="0"/>
                </a:lnTo>
                <a:close/>
              </a:path>
            </a:pathLst>
          </a:custGeom>
          <a:solidFill>
            <a:srgbClr val="66003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" name="object 67"/>
          <p:cNvSpPr txBox="1"/>
          <p:nvPr/>
        </p:nvSpPr>
        <p:spPr>
          <a:xfrm>
            <a:off x="4056895" y="5557826"/>
            <a:ext cx="1041400" cy="347980"/>
          </a:xfrm>
          <a:prstGeom prst="rect">
            <a:avLst/>
          </a:prstGeom>
          <a:ln w="5591">
            <a:solidFill>
              <a:srgbClr val="B1B1B1"/>
            </a:solidFill>
          </a:ln>
        </p:spPr>
        <p:txBody>
          <a:bodyPr wrap="square" lIns="0" tIns="77470" rIns="0" bIns="0" rtlCol="0" vert="horz">
            <a:spAutoFit/>
          </a:bodyPr>
          <a:lstStyle/>
          <a:p>
            <a:pPr marL="134620">
              <a:lnSpc>
                <a:spcPct val="100000"/>
              </a:lnSpc>
              <a:spcBef>
                <a:spcPts val="610"/>
              </a:spcBef>
              <a:tabLst>
                <a:tab pos="481330" algn="l"/>
                <a:tab pos="827405" algn="l"/>
              </a:tabLst>
            </a:pPr>
            <a:r>
              <a:rPr dirty="0" sz="1200" spc="5" b="1">
                <a:solidFill>
                  <a:srgbClr val="FFFFFF"/>
                </a:solidFill>
                <a:latin typeface="Times New Roman"/>
                <a:cs typeface="Times New Roman"/>
              </a:rPr>
              <a:t>3	4	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3016056" y="5557826"/>
            <a:ext cx="347980" cy="347980"/>
          </a:xfrm>
          <a:custGeom>
            <a:avLst/>
            <a:gdLst/>
            <a:ahLst/>
            <a:cxnLst/>
            <a:rect l="l" t="t" r="r" b="b"/>
            <a:pathLst>
              <a:path w="347979" h="347979">
                <a:moveTo>
                  <a:pt x="347714" y="0"/>
                </a:moveTo>
                <a:lnTo>
                  <a:pt x="0" y="0"/>
                </a:lnTo>
                <a:lnTo>
                  <a:pt x="0" y="347714"/>
                </a:lnTo>
                <a:lnTo>
                  <a:pt x="347714" y="347714"/>
                </a:lnTo>
                <a:lnTo>
                  <a:pt x="347714" y="0"/>
                </a:lnTo>
                <a:close/>
              </a:path>
            </a:pathLst>
          </a:custGeom>
          <a:solidFill>
            <a:srgbClr val="66003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 txBox="1"/>
          <p:nvPr/>
        </p:nvSpPr>
        <p:spPr>
          <a:xfrm>
            <a:off x="3016444" y="5557826"/>
            <a:ext cx="347345" cy="347980"/>
          </a:xfrm>
          <a:prstGeom prst="rect">
            <a:avLst/>
          </a:prstGeom>
          <a:ln w="5591">
            <a:solidFill>
              <a:srgbClr val="B1B1B1"/>
            </a:solidFill>
          </a:ln>
        </p:spPr>
        <p:txBody>
          <a:bodyPr wrap="square" lIns="0" tIns="774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10"/>
              </a:spcBef>
            </a:pPr>
            <a:r>
              <a:rPr dirty="0" sz="1200" spc="5" b="1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2669108" y="5557837"/>
            <a:ext cx="1388110" cy="347980"/>
          </a:xfrm>
          <a:custGeom>
            <a:avLst/>
            <a:gdLst/>
            <a:ahLst/>
            <a:cxnLst/>
            <a:rect l="l" t="t" r="r" b="b"/>
            <a:pathLst>
              <a:path w="1388110" h="347979">
                <a:moveTo>
                  <a:pt x="347713" y="0"/>
                </a:moveTo>
                <a:lnTo>
                  <a:pt x="0" y="0"/>
                </a:lnTo>
                <a:lnTo>
                  <a:pt x="0" y="347713"/>
                </a:lnTo>
                <a:lnTo>
                  <a:pt x="347713" y="347713"/>
                </a:lnTo>
                <a:lnTo>
                  <a:pt x="347713" y="0"/>
                </a:lnTo>
                <a:close/>
              </a:path>
              <a:path w="1388110" h="347979">
                <a:moveTo>
                  <a:pt x="1387779" y="0"/>
                </a:moveTo>
                <a:lnTo>
                  <a:pt x="1040841" y="0"/>
                </a:lnTo>
                <a:lnTo>
                  <a:pt x="1040841" y="347713"/>
                </a:lnTo>
                <a:lnTo>
                  <a:pt x="1387779" y="347713"/>
                </a:lnTo>
                <a:lnTo>
                  <a:pt x="1387779" y="0"/>
                </a:lnTo>
                <a:close/>
              </a:path>
            </a:pathLst>
          </a:custGeom>
          <a:solidFill>
            <a:srgbClr val="66003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 txBox="1"/>
          <p:nvPr/>
        </p:nvSpPr>
        <p:spPr>
          <a:xfrm>
            <a:off x="3710329" y="5557826"/>
            <a:ext cx="346710" cy="347980"/>
          </a:xfrm>
          <a:prstGeom prst="rect">
            <a:avLst/>
          </a:prstGeom>
          <a:ln w="4816">
            <a:solidFill>
              <a:srgbClr val="B1B1B1"/>
            </a:solidFill>
          </a:ln>
        </p:spPr>
        <p:txBody>
          <a:bodyPr wrap="square" lIns="0" tIns="774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10"/>
              </a:spcBef>
            </a:pPr>
            <a:r>
              <a:rPr dirty="0" sz="1200" spc="5" b="1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2322164" y="5557826"/>
            <a:ext cx="347980" cy="347980"/>
          </a:xfrm>
          <a:custGeom>
            <a:avLst/>
            <a:gdLst/>
            <a:ahLst/>
            <a:cxnLst/>
            <a:rect l="l" t="t" r="r" b="b"/>
            <a:pathLst>
              <a:path w="347980" h="347979">
                <a:moveTo>
                  <a:pt x="347714" y="0"/>
                </a:moveTo>
                <a:lnTo>
                  <a:pt x="0" y="0"/>
                </a:lnTo>
                <a:lnTo>
                  <a:pt x="0" y="347714"/>
                </a:lnTo>
                <a:lnTo>
                  <a:pt x="347714" y="347714"/>
                </a:lnTo>
                <a:lnTo>
                  <a:pt x="347714" y="0"/>
                </a:lnTo>
                <a:close/>
              </a:path>
            </a:pathLst>
          </a:custGeom>
          <a:solidFill>
            <a:srgbClr val="66003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" name="object 73"/>
          <p:cNvSpPr txBox="1"/>
          <p:nvPr/>
        </p:nvSpPr>
        <p:spPr>
          <a:xfrm>
            <a:off x="2322164" y="5557826"/>
            <a:ext cx="694690" cy="347980"/>
          </a:xfrm>
          <a:prstGeom prst="rect">
            <a:avLst/>
          </a:prstGeom>
          <a:ln w="5591">
            <a:solidFill>
              <a:srgbClr val="B1B1B1"/>
            </a:solidFill>
          </a:ln>
        </p:spPr>
        <p:txBody>
          <a:bodyPr wrap="square" lIns="0" tIns="77470" rIns="0" bIns="0" rtlCol="0" vert="horz">
            <a:spAutoFit/>
          </a:bodyPr>
          <a:lstStyle/>
          <a:p>
            <a:pPr marL="135255">
              <a:lnSpc>
                <a:spcPct val="100000"/>
              </a:lnSpc>
              <a:spcBef>
                <a:spcPts val="610"/>
              </a:spcBef>
              <a:tabLst>
                <a:tab pos="481330" algn="l"/>
              </a:tabLst>
            </a:pPr>
            <a:r>
              <a:rPr dirty="0" sz="1200" spc="5" b="1">
                <a:solidFill>
                  <a:srgbClr val="FFFFFF"/>
                </a:solidFill>
                <a:latin typeface="Times New Roman"/>
                <a:cs typeface="Times New Roman"/>
              </a:rPr>
              <a:t>1	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444283" y="5557826"/>
            <a:ext cx="347345" cy="347980"/>
          </a:xfrm>
          <a:prstGeom prst="rect">
            <a:avLst/>
          </a:prstGeom>
          <a:solidFill>
            <a:srgbClr val="660033"/>
          </a:solidFill>
          <a:ln w="5576">
            <a:solidFill>
              <a:srgbClr val="B1B1B1"/>
            </a:solidFill>
          </a:ln>
        </p:spPr>
        <p:txBody>
          <a:bodyPr wrap="square" lIns="0" tIns="774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10"/>
              </a:spcBef>
            </a:pPr>
            <a:r>
              <a:rPr dirty="0" sz="1200" spc="5" b="1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548711" y="5992600"/>
            <a:ext cx="3776979" cy="19069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97510">
              <a:lnSpc>
                <a:spcPct val="100000"/>
              </a:lnSpc>
              <a:spcBef>
                <a:spcPts val="110"/>
              </a:spcBef>
            </a:pPr>
            <a:r>
              <a:rPr dirty="0" sz="1200" spc="5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[10]</a:t>
            </a:r>
            <a:r>
              <a:rPr dirty="0" sz="120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0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00" spc="5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[7]]</a:t>
            </a:r>
            <a:r>
              <a:rPr dirty="0" sz="120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00" spc="-1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00" spc="5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00" spc="5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[1]]]</a:t>
            </a:r>
            <a:r>
              <a:rPr dirty="0" sz="120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0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[1]</a:t>
            </a:r>
            <a:r>
              <a:rPr dirty="0" sz="120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0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00" spc="5">
                <a:solidFill>
                  <a:srgbClr val="FFFF00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 marL="483234">
              <a:lnSpc>
                <a:spcPct val="100000"/>
              </a:lnSpc>
              <a:spcBef>
                <a:spcPts val="960"/>
              </a:spcBef>
              <a:tabLst>
                <a:tab pos="800735" algn="l"/>
                <a:tab pos="1176655" algn="l"/>
                <a:tab pos="1523365" algn="l"/>
                <a:tab pos="1870075" algn="l"/>
                <a:tab pos="2216785" algn="l"/>
                <a:tab pos="2564130" algn="l"/>
              </a:tabLst>
            </a:pPr>
            <a:r>
              <a:rPr dirty="0" sz="900" spc="5">
                <a:solidFill>
                  <a:srgbClr val="FFFFFF"/>
                </a:solidFill>
                <a:latin typeface="Times New Roman"/>
                <a:cs typeface="Times New Roman"/>
              </a:rPr>
              <a:t>1	2	3	4	5	6	7</a:t>
            </a:r>
            <a:endParaRPr sz="9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725"/>
              </a:spcBef>
            </a:pPr>
            <a:r>
              <a:rPr dirty="0" sz="1200" spc="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3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</a:pPr>
            <a:r>
              <a:rPr dirty="0" sz="100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0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0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00">
                <a:solidFill>
                  <a:srgbClr val="FFFFFF"/>
                </a:solidFill>
                <a:latin typeface="Times New Roman"/>
                <a:cs typeface="Times New Roman"/>
              </a:rPr>
              <a:t>[1]]</a:t>
            </a:r>
            <a:r>
              <a:rPr dirty="0" sz="100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00" spc="5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dirty="0" sz="100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0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0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0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00">
                <a:solidFill>
                  <a:srgbClr val="FFFFFF"/>
                </a:solidFill>
                <a:latin typeface="Times New Roman"/>
                <a:cs typeface="Times New Roman"/>
              </a:rPr>
              <a:t>[1]]</a:t>
            </a:r>
            <a:r>
              <a:rPr dirty="0" sz="100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dirty="0" sz="1000" spc="-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0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00">
              <a:latin typeface="Times New Roman"/>
              <a:cs typeface="Times New Roman"/>
            </a:endParaRPr>
          </a:p>
          <a:p>
            <a:pPr marL="66675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 5.19: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 spc="-5">
                <a:latin typeface="Times New Roman"/>
                <a:cs typeface="Times New Roman"/>
              </a:rPr>
              <a:t> contains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final sorted data.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914400" y="8467800"/>
            <a:ext cx="628205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Counting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in-place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stable.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Stability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901698" y="8592095"/>
            <a:ext cx="642620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often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carried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sorted.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radix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counting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subroutine)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correctly.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Stability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achieved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around: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54813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5.1.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COUNTING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SORT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6971" y="1088104"/>
            <a:ext cx="5481955" cy="1226820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1905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15"/>
              </a:spcBef>
            </a:pPr>
            <a:r>
              <a:rPr dirty="0" sz="950" spc="55">
                <a:latin typeface="Times New Roman"/>
                <a:cs typeface="Times New Roman"/>
              </a:rPr>
              <a:t>COUNTING</a:t>
            </a:r>
            <a:r>
              <a:rPr dirty="0" sz="1200" spc="55">
                <a:latin typeface="Times New Roman"/>
                <a:cs typeface="Times New Roman"/>
              </a:rPr>
              <a:t>-</a:t>
            </a:r>
            <a:r>
              <a:rPr dirty="0" sz="950" spc="55">
                <a:latin typeface="Times New Roman"/>
                <a:cs typeface="Times New Roman"/>
              </a:rPr>
              <a:t>SORT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A,</a:t>
            </a:r>
            <a:r>
              <a:rPr dirty="0" sz="1200" spc="11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B,</a:t>
            </a:r>
            <a:r>
              <a:rPr dirty="0" sz="1200" spc="10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k</a:t>
            </a:r>
            <a:r>
              <a:rPr dirty="0" sz="1200" spc="3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78105">
              <a:lnSpc>
                <a:spcPct val="100000"/>
              </a:lnSpc>
              <a:spcBef>
                <a:spcPts val="475"/>
              </a:spcBef>
              <a:tabLst>
                <a:tab pos="306070" algn="l"/>
              </a:tabLst>
            </a:pPr>
            <a:r>
              <a:rPr dirty="0" sz="1200" spc="-5">
                <a:latin typeface="Times New Roman"/>
                <a:cs typeface="Times New Roman"/>
              </a:rPr>
              <a:t>1	.</a:t>
            </a:r>
            <a:endParaRPr sz="1200">
              <a:latin typeface="Times New Roman"/>
              <a:cs typeface="Times New Roman"/>
            </a:endParaRPr>
          </a:p>
          <a:p>
            <a:pPr marL="78105">
              <a:lnSpc>
                <a:spcPct val="100000"/>
              </a:lnSpc>
              <a:spcBef>
                <a:spcPts val="5"/>
              </a:spcBef>
              <a:tabLst>
                <a:tab pos="306070" algn="l"/>
              </a:tabLst>
            </a:pPr>
            <a:r>
              <a:rPr dirty="0" sz="1200" spc="-5">
                <a:latin typeface="Times New Roman"/>
                <a:cs typeface="Times New Roman"/>
              </a:rPr>
              <a:t>2	</a:t>
            </a: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length</a:t>
            </a:r>
            <a:r>
              <a:rPr dirty="0" sz="1200" spc="15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A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downto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78105">
              <a:lnSpc>
                <a:spcPct val="100000"/>
              </a:lnSpc>
              <a:spcBef>
                <a:spcPts val="5"/>
              </a:spcBef>
              <a:tabLst>
                <a:tab pos="306070" algn="l"/>
              </a:tabLst>
            </a:pPr>
            <a:r>
              <a:rPr dirty="0" sz="1200" spc="-5">
                <a:latin typeface="Times New Roman"/>
                <a:cs typeface="Times New Roman"/>
              </a:rPr>
              <a:t>3	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B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C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25">
                <a:latin typeface="Garamond"/>
                <a:cs typeface="Garamond"/>
              </a:rPr>
              <a:t>]]]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A</a:t>
            </a:r>
            <a:r>
              <a:rPr dirty="0" sz="1200" spc="3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30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78105">
              <a:lnSpc>
                <a:spcPct val="100000"/>
              </a:lnSpc>
              <a:spcBef>
                <a:spcPts val="5"/>
              </a:spcBef>
              <a:tabLst>
                <a:tab pos="504190" algn="l"/>
              </a:tabLst>
            </a:pPr>
            <a:r>
              <a:rPr dirty="0" sz="1200" spc="-5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76299" y="2372692"/>
            <a:ext cx="6461125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5.20 </a:t>
            </a:r>
            <a:r>
              <a:rPr dirty="0" sz="1200" spc="-5">
                <a:latin typeface="Times New Roman"/>
                <a:cs typeface="Times New Roman"/>
              </a:rPr>
              <a:t>illustrates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stability.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numbers </a:t>
            </a:r>
            <a:r>
              <a:rPr dirty="0" sz="1200" spc="-5">
                <a:latin typeface="Times New Roman"/>
                <a:cs typeface="Times New Roman"/>
              </a:rPr>
              <a:t>1, 2, 3, 4, and 7, each appear twice. The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30">
                <a:latin typeface="Times New Roman"/>
                <a:cs typeface="Times New Roman"/>
              </a:rPr>
              <a:t>4’s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superscript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</a:t>
            </a:r>
            <a:r>
              <a:rPr dirty="0" sz="1200" spc="-5" b="1">
                <a:latin typeface="Times New Roman"/>
                <a:cs typeface="Times New Roman"/>
              </a:rPr>
              <a:t>*</a:t>
            </a:r>
            <a:r>
              <a:rPr dirty="0" sz="1200" spc="-5">
                <a:latin typeface="Times New Roman"/>
                <a:cs typeface="Times New Roman"/>
              </a:rPr>
              <a:t>”.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4’s </a:t>
            </a:r>
            <a:r>
              <a:rPr dirty="0" sz="1200" spc="-10">
                <a:latin typeface="Times New Roman"/>
                <a:cs typeface="Times New Roman"/>
              </a:rPr>
              <a:t>maintain </a:t>
            </a:r>
            <a:r>
              <a:rPr dirty="0" sz="1200" spc="-5">
                <a:latin typeface="Times New Roman"/>
                <a:cs typeface="Times New Roman"/>
              </a:rPr>
              <a:t>their </a:t>
            </a:r>
            <a:r>
              <a:rPr dirty="0" sz="1200" spc="-10">
                <a:latin typeface="Times New Roman"/>
                <a:cs typeface="Times New Roman"/>
              </a:rPr>
              <a:t>relative position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90">
                <a:latin typeface="Lucida Sans Unicode"/>
                <a:cs typeface="Lucida Sans Unicode"/>
              </a:rPr>
              <a:t>B </a:t>
            </a:r>
            <a:r>
              <a:rPr dirty="0" sz="1200" spc="-20">
                <a:latin typeface="Times New Roman"/>
                <a:cs typeface="Times New Roman"/>
              </a:rPr>
              <a:t>array.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the sorting algorithm </a:t>
            </a:r>
            <a:r>
              <a:rPr dirty="0" sz="1200" spc="-5">
                <a:latin typeface="Times New Roman"/>
                <a:cs typeface="Times New Roman"/>
              </a:rPr>
              <a:t>had caused </a:t>
            </a:r>
            <a:r>
              <a:rPr dirty="0" sz="1200" spc="-35">
                <a:latin typeface="Lucida Sans Unicode"/>
                <a:cs typeface="Lucida Sans Unicode"/>
              </a:rPr>
              <a:t>4</a:t>
            </a:r>
            <a:r>
              <a:rPr dirty="0" baseline="31250" sz="1200" spc="-52">
                <a:latin typeface="Cambria"/>
                <a:cs typeface="Cambria"/>
              </a:rPr>
              <a:t>∗∗</a:t>
            </a:r>
            <a:r>
              <a:rPr dirty="0" baseline="31250" sz="1200" spc="165">
                <a:latin typeface="Cambria"/>
                <a:cs typeface="Cambri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end up on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30">
                <a:latin typeface="Lucida Sans Unicode"/>
                <a:cs typeface="Lucida Sans Unicode"/>
              </a:rPr>
              <a:t>4</a:t>
            </a:r>
            <a:r>
              <a:rPr dirty="0" baseline="31250" sz="1200" spc="-44">
                <a:latin typeface="Cambria"/>
                <a:cs typeface="Cambria"/>
              </a:rPr>
              <a:t>∗</a:t>
            </a:r>
            <a:r>
              <a:rPr dirty="0" sz="1200" spc="-3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be termed unstable.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21489" y="520987"/>
            <a:ext cx="26066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5.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LINEAR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52600" y="939495"/>
            <a:ext cx="4648200" cy="2827655"/>
          </a:xfrm>
          <a:custGeom>
            <a:avLst/>
            <a:gdLst/>
            <a:ahLst/>
            <a:cxnLst/>
            <a:rect l="l" t="t" r="r" b="b"/>
            <a:pathLst>
              <a:path w="4648200" h="2827654">
                <a:moveTo>
                  <a:pt x="4648001" y="0"/>
                </a:moveTo>
                <a:lnTo>
                  <a:pt x="0" y="0"/>
                </a:lnTo>
                <a:lnTo>
                  <a:pt x="0" y="2827324"/>
                </a:lnTo>
                <a:lnTo>
                  <a:pt x="4648001" y="2827324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900736" y="2566532"/>
          <a:ext cx="255905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760"/>
                <a:gridCol w="364490"/>
                <a:gridCol w="364490"/>
                <a:gridCol w="364490"/>
                <a:gridCol w="363855"/>
                <a:gridCol w="364489"/>
                <a:gridCol w="365125"/>
              </a:tblGrid>
              <a:tr h="365151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892659" y="3335619"/>
          <a:ext cx="2559050" cy="371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855"/>
                <a:gridCol w="363219"/>
                <a:gridCol w="363855"/>
                <a:gridCol w="365125"/>
              </a:tblGrid>
              <a:tr h="36595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4123019" y="1595474"/>
            <a:ext cx="1487805" cy="1745614"/>
            <a:chOff x="4123019" y="1595474"/>
            <a:chExt cx="1487805" cy="1745614"/>
          </a:xfrm>
        </p:grpSpPr>
        <p:sp>
          <p:nvSpPr>
            <p:cNvPr id="8" name="object 8"/>
            <p:cNvSpPr/>
            <p:nvPr/>
          </p:nvSpPr>
          <p:spPr>
            <a:xfrm>
              <a:off x="4125559" y="2973806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79" h="364489">
                  <a:moveTo>
                    <a:pt x="60594" y="0"/>
                  </a:moveTo>
                  <a:lnTo>
                    <a:pt x="20192" y="0"/>
                  </a:lnTo>
                  <a:lnTo>
                    <a:pt x="20192" y="273862"/>
                  </a:lnTo>
                  <a:lnTo>
                    <a:pt x="0" y="273862"/>
                  </a:lnTo>
                  <a:lnTo>
                    <a:pt x="40385" y="364342"/>
                  </a:lnTo>
                  <a:lnTo>
                    <a:pt x="80787" y="273862"/>
                  </a:lnTo>
                  <a:lnTo>
                    <a:pt x="60594" y="273862"/>
                  </a:lnTo>
                  <a:lnTo>
                    <a:pt x="6059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125559" y="2973806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79" h="364489">
                  <a:moveTo>
                    <a:pt x="0" y="273862"/>
                  </a:moveTo>
                  <a:lnTo>
                    <a:pt x="20192" y="273862"/>
                  </a:lnTo>
                  <a:lnTo>
                    <a:pt x="20192" y="0"/>
                  </a:lnTo>
                  <a:lnTo>
                    <a:pt x="60594" y="0"/>
                  </a:lnTo>
                  <a:lnTo>
                    <a:pt x="60594" y="273862"/>
                  </a:lnTo>
                  <a:lnTo>
                    <a:pt x="80787" y="273862"/>
                  </a:lnTo>
                  <a:lnTo>
                    <a:pt x="40385" y="364342"/>
                  </a:lnTo>
                  <a:lnTo>
                    <a:pt x="0" y="273862"/>
                  </a:lnTo>
                </a:path>
              </a:pathLst>
            </a:custGeom>
            <a:ln w="50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514133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514133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878476" y="1598014"/>
              <a:ext cx="366395" cy="365760"/>
            </a:xfrm>
            <a:custGeom>
              <a:avLst/>
              <a:gdLst/>
              <a:ahLst/>
              <a:cxnLst/>
              <a:rect l="l" t="t" r="r" b="b"/>
              <a:pathLst>
                <a:path w="366395" h="365760">
                  <a:moveTo>
                    <a:pt x="365959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959" y="365151"/>
                  </a:lnTo>
                  <a:lnTo>
                    <a:pt x="365959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878476" y="1598014"/>
              <a:ext cx="366395" cy="365760"/>
            </a:xfrm>
            <a:custGeom>
              <a:avLst/>
              <a:gdLst/>
              <a:ahLst/>
              <a:cxnLst/>
              <a:rect l="l" t="t" r="r" b="b"/>
              <a:pathLst>
                <a:path w="366395" h="365760">
                  <a:moveTo>
                    <a:pt x="0" y="365151"/>
                  </a:moveTo>
                  <a:lnTo>
                    <a:pt x="365959" y="365151"/>
                  </a:lnTo>
                  <a:lnTo>
                    <a:pt x="365959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5242818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242818" y="1598014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2459176" y="1403359"/>
            <a:ext cx="45085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7655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157113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551600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885396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249537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583839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978325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342466" y="1403359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676263" y="1403359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070749" y="1403359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50">
              <a:latin typeface="Times New Roman"/>
              <a:cs typeface="Times New Roman"/>
            </a:endParaRPr>
          </a:p>
        </p:txBody>
      </p:sp>
      <p:graphicFrame>
        <p:nvGraphicFramePr>
          <p:cNvPr id="26" name="object 26"/>
          <p:cNvGraphicFramePr>
            <a:graphicFrameLocks noGrp="1"/>
          </p:cNvGraphicFramePr>
          <p:nvPr/>
        </p:nvGraphicFramePr>
        <p:xfrm>
          <a:off x="2326356" y="1029183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363855"/>
                <a:gridCol w="363855"/>
                <a:gridCol w="363855"/>
                <a:gridCol w="364489"/>
                <a:gridCol w="363854"/>
                <a:gridCol w="364489"/>
                <a:gridCol w="365125"/>
              </a:tblGrid>
              <a:tr h="365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22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r>
                        <a:rPr dirty="0" sz="800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*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r>
                        <a:rPr dirty="0" sz="80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**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27" name="object 27"/>
          <p:cNvSpPr txBox="1"/>
          <p:nvPr/>
        </p:nvSpPr>
        <p:spPr>
          <a:xfrm>
            <a:off x="1838743" y="957046"/>
            <a:ext cx="484505" cy="462280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algn="ctr" marL="39370">
              <a:lnSpc>
                <a:spcPct val="100000"/>
              </a:lnSpc>
              <a:spcBef>
                <a:spcPts val="43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6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28" name="object 28"/>
          <p:cNvGraphicFramePr>
            <a:graphicFrameLocks noGrp="1"/>
          </p:cNvGraphicFramePr>
          <p:nvPr/>
        </p:nvGraphicFramePr>
        <p:xfrm>
          <a:off x="2326356" y="1595485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363855"/>
                <a:gridCol w="363219"/>
                <a:gridCol w="363855"/>
                <a:gridCol w="365760"/>
                <a:gridCol w="727075"/>
                <a:gridCol w="364489"/>
              </a:tblGrid>
              <a:tr h="3651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r>
                        <a:rPr dirty="0" sz="80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**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B1B1B1"/>
                    </a:solidFill>
                  </a:tcPr>
                </a:tc>
              </a:tr>
            </a:tbl>
          </a:graphicData>
        </a:graphic>
      </p:graphicFrame>
      <p:sp>
        <p:nvSpPr>
          <p:cNvPr id="29" name="object 29"/>
          <p:cNvSpPr/>
          <p:nvPr/>
        </p:nvSpPr>
        <p:spPr>
          <a:xfrm>
            <a:off x="4296018" y="1307998"/>
            <a:ext cx="1438910" cy="1057275"/>
          </a:xfrm>
          <a:custGeom>
            <a:avLst/>
            <a:gdLst/>
            <a:ahLst/>
            <a:cxnLst/>
            <a:rect l="l" t="t" r="r" b="b"/>
            <a:pathLst>
              <a:path w="1438910" h="1057275">
                <a:moveTo>
                  <a:pt x="1426677" y="0"/>
                </a:moveTo>
                <a:lnTo>
                  <a:pt x="0" y="1040526"/>
                </a:lnTo>
                <a:lnTo>
                  <a:pt x="12115" y="1056680"/>
                </a:lnTo>
                <a:lnTo>
                  <a:pt x="1438793" y="16154"/>
                </a:lnTo>
                <a:lnTo>
                  <a:pt x="142667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4230573" y="2002764"/>
            <a:ext cx="728980" cy="615950"/>
          </a:xfrm>
          <a:custGeom>
            <a:avLst/>
            <a:gdLst/>
            <a:ahLst/>
            <a:cxnLst/>
            <a:rect l="l" t="t" r="r" b="b"/>
            <a:pathLst>
              <a:path w="728979" h="615950">
                <a:moveTo>
                  <a:pt x="101790" y="387769"/>
                </a:moveTo>
                <a:lnTo>
                  <a:pt x="47675" y="315061"/>
                </a:lnTo>
                <a:lnTo>
                  <a:pt x="0" y="404723"/>
                </a:lnTo>
                <a:lnTo>
                  <a:pt x="101790" y="387769"/>
                </a:lnTo>
                <a:close/>
              </a:path>
              <a:path w="728979" h="615950">
                <a:moveTo>
                  <a:pt x="728687" y="0"/>
                </a:moveTo>
                <a:lnTo>
                  <a:pt x="667296" y="16967"/>
                </a:lnTo>
                <a:lnTo>
                  <a:pt x="679297" y="30518"/>
                </a:lnTo>
                <a:lnTo>
                  <a:pt x="33934" y="600227"/>
                </a:lnTo>
                <a:lnTo>
                  <a:pt x="47675" y="615594"/>
                </a:lnTo>
                <a:lnTo>
                  <a:pt x="692556" y="45466"/>
                </a:lnTo>
                <a:lnTo>
                  <a:pt x="705256" y="59766"/>
                </a:lnTo>
                <a:lnTo>
                  <a:pt x="72868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1" name="object 31"/>
          <p:cNvGrpSpPr/>
          <p:nvPr/>
        </p:nvGrpSpPr>
        <p:grpSpPr>
          <a:xfrm>
            <a:off x="4875947" y="1595485"/>
            <a:ext cx="371475" cy="370205"/>
            <a:chOff x="4875947" y="1595485"/>
            <a:chExt cx="371475" cy="370205"/>
          </a:xfrm>
        </p:grpSpPr>
        <p:sp>
          <p:nvSpPr>
            <p:cNvPr id="32" name="object 32"/>
            <p:cNvSpPr/>
            <p:nvPr/>
          </p:nvSpPr>
          <p:spPr>
            <a:xfrm>
              <a:off x="4878476" y="1598014"/>
              <a:ext cx="366395" cy="365760"/>
            </a:xfrm>
            <a:custGeom>
              <a:avLst/>
              <a:gdLst/>
              <a:ahLst/>
              <a:cxnLst/>
              <a:rect l="l" t="t" r="r" b="b"/>
              <a:pathLst>
                <a:path w="366395" h="365760">
                  <a:moveTo>
                    <a:pt x="365959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959" y="365151"/>
                  </a:lnTo>
                  <a:lnTo>
                    <a:pt x="365959" y="0"/>
                  </a:lnTo>
                  <a:close/>
                </a:path>
              </a:pathLst>
            </a:custGeom>
            <a:solidFill>
              <a:srgbClr val="6600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878476" y="1598014"/>
              <a:ext cx="366395" cy="365760"/>
            </a:xfrm>
            <a:custGeom>
              <a:avLst/>
              <a:gdLst/>
              <a:ahLst/>
              <a:cxnLst/>
              <a:rect l="l" t="t" r="r" b="b"/>
              <a:pathLst>
                <a:path w="366395" h="365760">
                  <a:moveTo>
                    <a:pt x="0" y="365151"/>
                  </a:moveTo>
                  <a:lnTo>
                    <a:pt x="365959" y="365151"/>
                  </a:lnTo>
                  <a:lnTo>
                    <a:pt x="365959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B1B1B1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/>
          <p:cNvSpPr/>
          <p:nvPr/>
        </p:nvSpPr>
        <p:spPr>
          <a:xfrm>
            <a:off x="1752600" y="3966159"/>
            <a:ext cx="4648200" cy="2827655"/>
          </a:xfrm>
          <a:custGeom>
            <a:avLst/>
            <a:gdLst/>
            <a:ahLst/>
            <a:cxnLst/>
            <a:rect l="l" t="t" r="r" b="b"/>
            <a:pathLst>
              <a:path w="4648200" h="2827654">
                <a:moveTo>
                  <a:pt x="4648001" y="0"/>
                </a:moveTo>
                <a:lnTo>
                  <a:pt x="0" y="0"/>
                </a:lnTo>
                <a:lnTo>
                  <a:pt x="0" y="2827324"/>
                </a:lnTo>
                <a:lnTo>
                  <a:pt x="4648001" y="2827324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2900736" y="5594339"/>
          <a:ext cx="255905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760"/>
                <a:gridCol w="364490"/>
                <a:gridCol w="364490"/>
                <a:gridCol w="364490"/>
                <a:gridCol w="363855"/>
                <a:gridCol w="364489"/>
                <a:gridCol w="365125"/>
              </a:tblGrid>
              <a:tr h="365151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6" name="object 36"/>
          <p:cNvGraphicFramePr>
            <a:graphicFrameLocks noGrp="1"/>
          </p:cNvGraphicFramePr>
          <p:nvPr/>
        </p:nvGraphicFramePr>
        <p:xfrm>
          <a:off x="2892659" y="6363425"/>
          <a:ext cx="2559050" cy="371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855"/>
                <a:gridCol w="363219"/>
                <a:gridCol w="363855"/>
                <a:gridCol w="365125"/>
              </a:tblGrid>
              <a:tr h="36595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</a:tr>
            </a:tbl>
          </a:graphicData>
        </a:graphic>
      </p:graphicFrame>
      <p:grpSp>
        <p:nvGrpSpPr>
          <p:cNvPr id="37" name="object 37"/>
          <p:cNvGrpSpPr/>
          <p:nvPr/>
        </p:nvGrpSpPr>
        <p:grpSpPr>
          <a:xfrm>
            <a:off x="2326345" y="4623281"/>
            <a:ext cx="3648710" cy="1745614"/>
            <a:chOff x="2326345" y="4623281"/>
            <a:chExt cx="3648710" cy="1745614"/>
          </a:xfrm>
        </p:grpSpPr>
        <p:sp>
          <p:nvSpPr>
            <p:cNvPr id="38" name="object 38"/>
            <p:cNvSpPr/>
            <p:nvPr/>
          </p:nvSpPr>
          <p:spPr>
            <a:xfrm>
              <a:off x="4109404" y="6001613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79" h="364489">
                  <a:moveTo>
                    <a:pt x="60578" y="0"/>
                  </a:moveTo>
                  <a:lnTo>
                    <a:pt x="20192" y="0"/>
                  </a:lnTo>
                  <a:lnTo>
                    <a:pt x="20192" y="273862"/>
                  </a:lnTo>
                  <a:lnTo>
                    <a:pt x="0" y="273862"/>
                  </a:lnTo>
                  <a:lnTo>
                    <a:pt x="40385" y="364342"/>
                  </a:lnTo>
                  <a:lnTo>
                    <a:pt x="80787" y="273862"/>
                  </a:lnTo>
                  <a:lnTo>
                    <a:pt x="60578" y="273862"/>
                  </a:lnTo>
                  <a:lnTo>
                    <a:pt x="6057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109404" y="6001613"/>
              <a:ext cx="81280" cy="364490"/>
            </a:xfrm>
            <a:custGeom>
              <a:avLst/>
              <a:gdLst/>
              <a:ahLst/>
              <a:cxnLst/>
              <a:rect l="l" t="t" r="r" b="b"/>
              <a:pathLst>
                <a:path w="81279" h="364489">
                  <a:moveTo>
                    <a:pt x="0" y="273862"/>
                  </a:moveTo>
                  <a:lnTo>
                    <a:pt x="20192" y="273862"/>
                  </a:lnTo>
                  <a:lnTo>
                    <a:pt x="20192" y="0"/>
                  </a:lnTo>
                  <a:lnTo>
                    <a:pt x="60578" y="0"/>
                  </a:lnTo>
                  <a:lnTo>
                    <a:pt x="60578" y="273862"/>
                  </a:lnTo>
                  <a:lnTo>
                    <a:pt x="80787" y="273862"/>
                  </a:lnTo>
                  <a:lnTo>
                    <a:pt x="40385" y="364342"/>
                  </a:lnTo>
                  <a:lnTo>
                    <a:pt x="0" y="273862"/>
                  </a:lnTo>
                </a:path>
              </a:pathLst>
            </a:custGeom>
            <a:ln w="50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328885" y="4625821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328885" y="4625821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693227" y="4625821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693227" y="4625821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057570" y="4625821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057570" y="4625821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785448" y="4625821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785448" y="4625821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607161" y="4625821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0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0" y="365151"/>
                  </a:lnTo>
                  <a:lnTo>
                    <a:pt x="365150" y="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607161" y="4625821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0" y="365151"/>
                  </a:lnTo>
                  <a:lnTo>
                    <a:pt x="365150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" name="object 50"/>
          <p:cNvSpPr txBox="1"/>
          <p:nvPr/>
        </p:nvSpPr>
        <p:spPr>
          <a:xfrm>
            <a:off x="2459176" y="4431165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823317" y="4431165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157113" y="4431165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551600" y="4431165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885396" y="4431165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249537" y="4431165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4583839" y="4431165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978325" y="4431165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342466" y="4431165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676263" y="4431165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070749" y="4431165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838742" y="4582872"/>
            <a:ext cx="484505" cy="39052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4147251" y="4623281"/>
            <a:ext cx="370840" cy="370840"/>
            <a:chOff x="4147251" y="4623281"/>
            <a:chExt cx="370840" cy="370840"/>
          </a:xfrm>
        </p:grpSpPr>
        <p:sp>
          <p:nvSpPr>
            <p:cNvPr id="63" name="object 63"/>
            <p:cNvSpPr/>
            <p:nvPr/>
          </p:nvSpPr>
          <p:spPr>
            <a:xfrm>
              <a:off x="4149791" y="4625821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151" y="0"/>
                  </a:moveTo>
                  <a:lnTo>
                    <a:pt x="0" y="0"/>
                  </a:lnTo>
                  <a:lnTo>
                    <a:pt x="0" y="365151"/>
                  </a:lnTo>
                  <a:lnTo>
                    <a:pt x="365151" y="365151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6600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149791" y="4625821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0" y="365151"/>
                  </a:moveTo>
                  <a:lnTo>
                    <a:pt x="365151" y="365151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151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5" name="object 65"/>
          <p:cNvSpPr txBox="1"/>
          <p:nvPr/>
        </p:nvSpPr>
        <p:spPr>
          <a:xfrm>
            <a:off x="4153129" y="4692837"/>
            <a:ext cx="358775" cy="2197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25"/>
              </a:spcBef>
            </a:pPr>
            <a:r>
              <a:rPr dirty="0" sz="1250" spc="10" b="1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66" name="object 66"/>
          <p:cNvGraphicFramePr>
            <a:graphicFrameLocks noGrp="1"/>
          </p:cNvGraphicFramePr>
          <p:nvPr/>
        </p:nvGraphicFramePr>
        <p:xfrm>
          <a:off x="2326356" y="4056990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363855"/>
                <a:gridCol w="363855"/>
                <a:gridCol w="363855"/>
                <a:gridCol w="364489"/>
                <a:gridCol w="363854"/>
                <a:gridCol w="364489"/>
                <a:gridCol w="365125"/>
              </a:tblGrid>
              <a:tr h="365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22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r>
                        <a:rPr dirty="0" sz="800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*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r>
                        <a:rPr dirty="0" sz="80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**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67" name="object 67"/>
          <p:cNvSpPr txBox="1"/>
          <p:nvPr/>
        </p:nvSpPr>
        <p:spPr>
          <a:xfrm>
            <a:off x="1838742" y="1555065"/>
            <a:ext cx="3925570" cy="289242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algn="r" marR="3567429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 marL="1145540">
              <a:lnSpc>
                <a:spcPct val="100000"/>
              </a:lnSpc>
              <a:spcBef>
                <a:spcPts val="1095"/>
              </a:spcBef>
            </a:pP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[8]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[4]]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[10]]]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[10]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4</a:t>
            </a:r>
            <a:endParaRPr sz="1250">
              <a:latin typeface="Times New Roman"/>
              <a:cs typeface="Times New Roman"/>
            </a:endParaRPr>
          </a:p>
          <a:p>
            <a:pPr marL="1235710">
              <a:lnSpc>
                <a:spcPct val="100000"/>
              </a:lnSpc>
              <a:spcBef>
                <a:spcPts val="994"/>
              </a:spcBef>
              <a:tabLst>
                <a:tab pos="1569085" algn="l"/>
                <a:tab pos="1963420" algn="l"/>
                <a:tab pos="2327910" algn="l"/>
                <a:tab pos="2691765" algn="l"/>
                <a:tab pos="3056255" algn="l"/>
                <a:tab pos="342074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	2	3	4	5	6	7</a:t>
            </a:r>
            <a:endParaRPr sz="950">
              <a:latin typeface="Times New Roman"/>
              <a:cs typeface="Times New Roman"/>
            </a:endParaRPr>
          </a:p>
          <a:p>
            <a:pPr marL="781685">
              <a:lnSpc>
                <a:spcPct val="100000"/>
              </a:lnSpc>
              <a:spcBef>
                <a:spcPts val="780"/>
              </a:spcBef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Times New Roman"/>
              <a:cs typeface="Times New Roman"/>
            </a:endParaRPr>
          </a:p>
          <a:p>
            <a:pPr marL="2489200">
              <a:lnSpc>
                <a:spcPct val="100000"/>
              </a:lnSpc>
            </a:pP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[10]]</a:t>
            </a:r>
            <a:r>
              <a:rPr dirty="0" sz="105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[10]] -</a:t>
            </a:r>
            <a:r>
              <a:rPr dirty="0" sz="1050" spc="-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700">
              <a:latin typeface="Times New Roman"/>
              <a:cs typeface="Times New Roman"/>
            </a:endParaRPr>
          </a:p>
          <a:p>
            <a:pPr marL="741045">
              <a:lnSpc>
                <a:spcPct val="100000"/>
              </a:lnSpc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50">
              <a:latin typeface="Times New Roman"/>
              <a:cs typeface="Times New Roman"/>
            </a:endParaRPr>
          </a:p>
          <a:p>
            <a:pPr algn="r" marR="3526790">
              <a:lnSpc>
                <a:spcPct val="100000"/>
              </a:lnSpc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4222501" y="5072567"/>
            <a:ext cx="354965" cy="612140"/>
          </a:xfrm>
          <a:custGeom>
            <a:avLst/>
            <a:gdLst/>
            <a:ahLst/>
            <a:cxnLst/>
            <a:rect l="l" t="t" r="r" b="b"/>
            <a:pathLst>
              <a:path w="354964" h="612139">
                <a:moveTo>
                  <a:pt x="338495" y="0"/>
                </a:moveTo>
                <a:lnTo>
                  <a:pt x="0" y="601050"/>
                </a:lnTo>
                <a:lnTo>
                  <a:pt x="16962" y="611550"/>
                </a:lnTo>
                <a:lnTo>
                  <a:pt x="354650" y="10500"/>
                </a:lnTo>
                <a:lnTo>
                  <a:pt x="3384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4160291" y="4381867"/>
            <a:ext cx="434975" cy="1013460"/>
          </a:xfrm>
          <a:custGeom>
            <a:avLst/>
            <a:gdLst/>
            <a:ahLst/>
            <a:cxnLst/>
            <a:rect l="l" t="t" r="r" b="b"/>
            <a:pathLst>
              <a:path w="434975" h="1013460">
                <a:moveTo>
                  <a:pt x="202780" y="3225"/>
                </a:moveTo>
                <a:lnTo>
                  <a:pt x="183375" y="0"/>
                </a:lnTo>
                <a:lnTo>
                  <a:pt x="35902" y="921931"/>
                </a:lnTo>
                <a:lnTo>
                  <a:pt x="0" y="916101"/>
                </a:lnTo>
                <a:lnTo>
                  <a:pt x="29895" y="1013040"/>
                </a:lnTo>
                <a:lnTo>
                  <a:pt x="89662" y="930643"/>
                </a:lnTo>
                <a:lnTo>
                  <a:pt x="55308" y="925080"/>
                </a:lnTo>
                <a:lnTo>
                  <a:pt x="202780" y="3225"/>
                </a:lnTo>
                <a:close/>
              </a:path>
              <a:path w="434975" h="1013460">
                <a:moveTo>
                  <a:pt x="434619" y="648703"/>
                </a:moveTo>
                <a:lnTo>
                  <a:pt x="382117" y="685050"/>
                </a:lnTo>
                <a:lnTo>
                  <a:pt x="431393" y="712508"/>
                </a:lnTo>
                <a:lnTo>
                  <a:pt x="434619" y="64870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 txBox="1"/>
          <p:nvPr/>
        </p:nvSpPr>
        <p:spPr>
          <a:xfrm>
            <a:off x="4878880" y="4625821"/>
            <a:ext cx="365125" cy="365760"/>
          </a:xfrm>
          <a:prstGeom prst="rect">
            <a:avLst/>
          </a:prstGeom>
          <a:solidFill>
            <a:srgbClr val="660033"/>
          </a:solidFill>
          <a:ln w="6674">
            <a:solidFill>
              <a:srgbClr val="B1B1B1"/>
            </a:solidFill>
          </a:ln>
        </p:spPr>
        <p:txBody>
          <a:bodyPr wrap="square" lIns="0" tIns="35560" rIns="0" bIns="0" rtlCol="0" vert="horz">
            <a:spAutoFit/>
          </a:bodyPr>
          <a:lstStyle/>
          <a:p>
            <a:pPr marL="87630">
              <a:lnSpc>
                <a:spcPct val="100000"/>
              </a:lnSpc>
              <a:spcBef>
                <a:spcPts val="280"/>
              </a:spcBef>
            </a:pPr>
            <a:r>
              <a:rPr dirty="0" baseline="-15555" sz="1875" spc="15" b="1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r>
              <a:rPr dirty="0" sz="800" spc="10" b="1">
                <a:solidFill>
                  <a:srgbClr val="FFFFFF"/>
                </a:solidFill>
                <a:latin typeface="Times New Roman"/>
                <a:cs typeface="Times New Roman"/>
              </a:rPr>
              <a:t>**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424442" y="4625821"/>
            <a:ext cx="359410" cy="365760"/>
          </a:xfrm>
          <a:prstGeom prst="rect">
            <a:avLst/>
          </a:prstGeom>
          <a:solidFill>
            <a:srgbClr val="7E0000"/>
          </a:solidFill>
          <a:ln w="5057">
            <a:solidFill>
              <a:srgbClr val="B1B1B1"/>
            </a:solidFill>
          </a:ln>
        </p:spPr>
        <p:txBody>
          <a:bodyPr wrap="square" lIns="0" tIns="8255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50"/>
              </a:spcBef>
            </a:pPr>
            <a:r>
              <a:rPr dirty="0" sz="1250" spc="10" b="1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971504" y="4625821"/>
            <a:ext cx="365760" cy="365760"/>
          </a:xfrm>
          <a:prstGeom prst="rect">
            <a:avLst/>
          </a:prstGeom>
          <a:solidFill>
            <a:srgbClr val="7E0000"/>
          </a:solidFill>
          <a:ln w="5057">
            <a:solidFill>
              <a:srgbClr val="B1B1B1"/>
            </a:solidFill>
          </a:ln>
        </p:spPr>
        <p:txBody>
          <a:bodyPr wrap="square" lIns="0" tIns="8255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50"/>
              </a:spcBef>
            </a:pPr>
            <a:r>
              <a:rPr dirty="0" sz="1250" spc="10" b="1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243627" y="4625821"/>
            <a:ext cx="361950" cy="365760"/>
          </a:xfrm>
          <a:prstGeom prst="rect">
            <a:avLst/>
          </a:prstGeom>
          <a:solidFill>
            <a:srgbClr val="660033"/>
          </a:solidFill>
          <a:ln w="5057">
            <a:solidFill>
              <a:srgbClr val="B1B1B1"/>
            </a:solidFill>
          </a:ln>
        </p:spPr>
        <p:txBody>
          <a:bodyPr wrap="square" lIns="0" tIns="8255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50"/>
              </a:spcBef>
            </a:pPr>
            <a:r>
              <a:rPr dirty="0" sz="1250" spc="10" b="1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4514538" y="4625821"/>
            <a:ext cx="364490" cy="365760"/>
          </a:xfrm>
          <a:prstGeom prst="rect">
            <a:avLst/>
          </a:prstGeom>
          <a:solidFill>
            <a:srgbClr val="660033"/>
          </a:solidFill>
          <a:ln w="5866">
            <a:solidFill>
              <a:srgbClr val="B1B1B1"/>
            </a:solidFill>
          </a:ln>
        </p:spPr>
        <p:txBody>
          <a:bodyPr wrap="square" lIns="0" tIns="35560" rIns="0" bIns="0" rtlCol="0" vert="horz">
            <a:spAutoFit/>
          </a:bodyPr>
          <a:lstStyle/>
          <a:p>
            <a:pPr marL="114300">
              <a:lnSpc>
                <a:spcPct val="100000"/>
              </a:lnSpc>
              <a:spcBef>
                <a:spcPts val="280"/>
              </a:spcBef>
            </a:pPr>
            <a:r>
              <a:rPr dirty="0" baseline="-15555" sz="1875" spc="15" b="1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r>
              <a:rPr dirty="0" sz="800" spc="10" b="1">
                <a:solidFill>
                  <a:srgbClr val="FFFFFF"/>
                </a:solidFill>
                <a:latin typeface="Times New Roman"/>
                <a:cs typeface="Times New Roman"/>
              </a:rPr>
              <a:t>*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1752600" y="6994423"/>
            <a:ext cx="4648200" cy="1573530"/>
          </a:xfrm>
          <a:custGeom>
            <a:avLst/>
            <a:gdLst/>
            <a:ahLst/>
            <a:cxnLst/>
            <a:rect l="l" t="t" r="r" b="b"/>
            <a:pathLst>
              <a:path w="4648200" h="1573529">
                <a:moveTo>
                  <a:pt x="4648001" y="0"/>
                </a:moveTo>
                <a:lnTo>
                  <a:pt x="0" y="0"/>
                </a:lnTo>
                <a:lnTo>
                  <a:pt x="0" y="1572996"/>
                </a:lnTo>
                <a:lnTo>
                  <a:pt x="4648001" y="1572996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" name="object 76"/>
          <p:cNvSpPr txBox="1"/>
          <p:nvPr/>
        </p:nvSpPr>
        <p:spPr>
          <a:xfrm>
            <a:off x="2459176" y="7460850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823317" y="7460850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157113" y="7460850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551600" y="7460850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3885396" y="7460850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249537" y="7460850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583839" y="7460850"/>
            <a:ext cx="8636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4978325" y="7460850"/>
            <a:ext cx="45085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7655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5676263" y="7460850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6070749" y="7460850"/>
            <a:ext cx="147320" cy="1714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11</a:t>
            </a:r>
            <a:endParaRPr sz="950">
              <a:latin typeface="Times New Roman"/>
              <a:cs typeface="Times New Roman"/>
            </a:endParaRPr>
          </a:p>
        </p:txBody>
      </p:sp>
      <p:graphicFrame>
        <p:nvGraphicFramePr>
          <p:cNvPr id="86" name="object 86"/>
          <p:cNvGraphicFramePr>
            <a:graphicFrameLocks noGrp="1"/>
          </p:cNvGraphicFramePr>
          <p:nvPr/>
        </p:nvGraphicFramePr>
        <p:xfrm>
          <a:off x="2326356" y="7086686"/>
          <a:ext cx="4015740" cy="370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363855"/>
                <a:gridCol w="363855"/>
                <a:gridCol w="363855"/>
                <a:gridCol w="364489"/>
                <a:gridCol w="363854"/>
                <a:gridCol w="364489"/>
                <a:gridCol w="365125"/>
              </a:tblGrid>
              <a:tr h="365151"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7’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80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^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sz="80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#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22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800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^^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80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+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22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r>
                        <a:rPr dirty="0" sz="800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*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7”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22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800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++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r>
                        <a:rPr dirty="0" sz="80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**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22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sz="800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##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grpSp>
        <p:nvGrpSpPr>
          <p:cNvPr id="87" name="object 87"/>
          <p:cNvGrpSpPr/>
          <p:nvPr/>
        </p:nvGrpSpPr>
        <p:grpSpPr>
          <a:xfrm>
            <a:off x="3785448" y="8138520"/>
            <a:ext cx="1094105" cy="371475"/>
            <a:chOff x="3785448" y="8138520"/>
            <a:chExt cx="1094105" cy="371475"/>
          </a:xfrm>
        </p:grpSpPr>
        <p:sp>
          <p:nvSpPr>
            <p:cNvPr id="88" name="object 88"/>
            <p:cNvSpPr/>
            <p:nvPr/>
          </p:nvSpPr>
          <p:spPr>
            <a:xfrm>
              <a:off x="4149791" y="8141049"/>
              <a:ext cx="365760" cy="366395"/>
            </a:xfrm>
            <a:custGeom>
              <a:avLst/>
              <a:gdLst/>
              <a:ahLst/>
              <a:cxnLst/>
              <a:rect l="l" t="t" r="r" b="b"/>
              <a:pathLst>
                <a:path w="365760" h="366395">
                  <a:moveTo>
                    <a:pt x="365151" y="0"/>
                  </a:moveTo>
                  <a:lnTo>
                    <a:pt x="0" y="0"/>
                  </a:lnTo>
                  <a:lnTo>
                    <a:pt x="0" y="365959"/>
                  </a:lnTo>
                  <a:lnTo>
                    <a:pt x="365151" y="365959"/>
                  </a:lnTo>
                  <a:lnTo>
                    <a:pt x="365151" y="0"/>
                  </a:lnTo>
                  <a:close/>
                </a:path>
              </a:pathLst>
            </a:custGeom>
            <a:solidFill>
              <a:srgbClr val="6600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4149791" y="8141049"/>
              <a:ext cx="365760" cy="366395"/>
            </a:xfrm>
            <a:custGeom>
              <a:avLst/>
              <a:gdLst/>
              <a:ahLst/>
              <a:cxnLst/>
              <a:rect l="l" t="t" r="r" b="b"/>
              <a:pathLst>
                <a:path w="365760" h="366395">
                  <a:moveTo>
                    <a:pt x="0" y="365959"/>
                  </a:moveTo>
                  <a:lnTo>
                    <a:pt x="365151" y="365959"/>
                  </a:lnTo>
                  <a:lnTo>
                    <a:pt x="365151" y="0"/>
                  </a:lnTo>
                  <a:lnTo>
                    <a:pt x="0" y="0"/>
                  </a:lnTo>
                  <a:lnTo>
                    <a:pt x="0" y="365959"/>
                  </a:lnTo>
                  <a:close/>
                </a:path>
              </a:pathLst>
            </a:custGeom>
            <a:ln w="50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3785438" y="8141055"/>
              <a:ext cx="1094105" cy="366395"/>
            </a:xfrm>
            <a:custGeom>
              <a:avLst/>
              <a:gdLst/>
              <a:ahLst/>
              <a:cxnLst/>
              <a:rect l="l" t="t" r="r" b="b"/>
              <a:pathLst>
                <a:path w="1094104" h="366395">
                  <a:moveTo>
                    <a:pt x="365150" y="0"/>
                  </a:moveTo>
                  <a:lnTo>
                    <a:pt x="0" y="0"/>
                  </a:lnTo>
                  <a:lnTo>
                    <a:pt x="0" y="365963"/>
                  </a:lnTo>
                  <a:lnTo>
                    <a:pt x="365150" y="365963"/>
                  </a:lnTo>
                  <a:lnTo>
                    <a:pt x="365150" y="0"/>
                  </a:lnTo>
                  <a:close/>
                </a:path>
                <a:path w="1094104" h="366395">
                  <a:moveTo>
                    <a:pt x="1093838" y="0"/>
                  </a:moveTo>
                  <a:lnTo>
                    <a:pt x="728687" y="0"/>
                  </a:lnTo>
                  <a:lnTo>
                    <a:pt x="728687" y="365963"/>
                  </a:lnTo>
                  <a:lnTo>
                    <a:pt x="1093838" y="365963"/>
                  </a:lnTo>
                  <a:lnTo>
                    <a:pt x="1093838" y="0"/>
                  </a:lnTo>
                  <a:close/>
                </a:path>
              </a:pathLst>
            </a:custGeom>
            <a:solidFill>
              <a:srgbClr val="66003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1" name="object 91"/>
          <p:cNvSpPr txBox="1"/>
          <p:nvPr/>
        </p:nvSpPr>
        <p:spPr>
          <a:xfrm>
            <a:off x="1838743" y="5083032"/>
            <a:ext cx="3763010" cy="23939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145540">
              <a:lnSpc>
                <a:spcPct val="100000"/>
              </a:lnSpc>
              <a:spcBef>
                <a:spcPts val="125"/>
              </a:spcBef>
            </a:pP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[7]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[4]]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B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C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[6]]]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 spc="-1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 b="1" i="1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[6]</a:t>
            </a:r>
            <a:r>
              <a:rPr dirty="0" sz="1250" spc="-5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=</a:t>
            </a:r>
            <a:r>
              <a:rPr dirty="0" sz="125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dirty="0" sz="1250" spc="10">
                <a:solidFill>
                  <a:srgbClr val="FFFF00"/>
                </a:solidFill>
                <a:latin typeface="Times New Roman"/>
                <a:cs typeface="Times New Roman"/>
              </a:rPr>
              <a:t>4</a:t>
            </a:r>
            <a:endParaRPr sz="1250">
              <a:latin typeface="Times New Roman"/>
              <a:cs typeface="Times New Roman"/>
            </a:endParaRPr>
          </a:p>
          <a:p>
            <a:pPr marL="1235710">
              <a:lnSpc>
                <a:spcPct val="100000"/>
              </a:lnSpc>
              <a:spcBef>
                <a:spcPts val="990"/>
              </a:spcBef>
              <a:tabLst>
                <a:tab pos="1569085" algn="l"/>
                <a:tab pos="1963420" algn="l"/>
                <a:tab pos="2327910" algn="l"/>
                <a:tab pos="2691765" algn="l"/>
                <a:tab pos="3056255" algn="l"/>
                <a:tab pos="3420745" algn="l"/>
              </a:tabLst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1	2	3	4	5	6	7</a:t>
            </a:r>
            <a:endParaRPr sz="950">
              <a:latin typeface="Times New Roman"/>
              <a:cs typeface="Times New Roman"/>
            </a:endParaRPr>
          </a:p>
          <a:p>
            <a:pPr marL="781685">
              <a:lnSpc>
                <a:spcPct val="100000"/>
              </a:lnSpc>
              <a:spcBef>
                <a:spcPts val="780"/>
              </a:spcBef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Times New Roman"/>
              <a:cs typeface="Times New Roman"/>
            </a:endParaRPr>
          </a:p>
          <a:p>
            <a:pPr marL="2370455">
              <a:lnSpc>
                <a:spcPct val="100000"/>
              </a:lnSpc>
            </a:pP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[6]]</a:t>
            </a:r>
            <a:r>
              <a:rPr dirty="0" sz="1050" spc="-1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= 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</a:t>
            </a:r>
            <a:r>
              <a:rPr dirty="0" sz="1050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[6]]</a:t>
            </a:r>
            <a:r>
              <a:rPr dirty="0" sz="1050" spc="-1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dirty="0" sz="1050" spc="-5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700">
              <a:latin typeface="Times New Roman"/>
              <a:cs typeface="Times New Roman"/>
            </a:endParaRPr>
          </a:p>
          <a:p>
            <a:pPr marL="741045">
              <a:lnSpc>
                <a:spcPct val="100000"/>
              </a:lnSpc>
            </a:pPr>
            <a:r>
              <a:rPr dirty="0" sz="1250" spc="15" b="1" i="1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imes New Roman"/>
              <a:cs typeface="Times New Roman"/>
            </a:endParaRPr>
          </a:p>
          <a:p>
            <a:pPr algn="ctr" marR="3230245">
              <a:lnSpc>
                <a:spcPct val="100000"/>
              </a:lnSpc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Input</a:t>
            </a:r>
            <a:endParaRPr sz="950">
              <a:latin typeface="Times New Roman"/>
              <a:cs typeface="Times New Roman"/>
            </a:endParaRPr>
          </a:p>
          <a:p>
            <a:pPr algn="ctr" marR="3270250">
              <a:lnSpc>
                <a:spcPct val="100000"/>
              </a:lnSpc>
              <a:spcBef>
                <a:spcPts val="464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</p:txBody>
      </p:sp>
      <p:graphicFrame>
        <p:nvGraphicFramePr>
          <p:cNvPr id="92" name="object 92"/>
          <p:cNvGraphicFramePr>
            <a:graphicFrameLocks noGrp="1"/>
          </p:cNvGraphicFramePr>
          <p:nvPr/>
        </p:nvGraphicFramePr>
        <p:xfrm>
          <a:off x="2326356" y="8138520"/>
          <a:ext cx="4015740" cy="371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4490"/>
                <a:gridCol w="363854"/>
                <a:gridCol w="363855"/>
                <a:gridCol w="363219"/>
                <a:gridCol w="1092834"/>
                <a:gridCol w="364489"/>
                <a:gridCol w="363854"/>
                <a:gridCol w="364489"/>
                <a:gridCol w="365125"/>
              </a:tblGrid>
              <a:tr h="365959"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22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800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^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22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800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^^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80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+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793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22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800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++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  <a:spcBef>
                          <a:spcPts val="280"/>
                        </a:spcBef>
                        <a:tabLst>
                          <a:tab pos="451484" algn="l"/>
                          <a:tab pos="842644" algn="l"/>
                        </a:tabLst>
                      </a:pPr>
                      <a:r>
                        <a:rPr dirty="0" baseline="-15555" sz="1875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sz="80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#	</a:t>
                      </a:r>
                      <a:r>
                        <a:rPr dirty="0" baseline="-15555" sz="1875" spc="22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sz="800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##	</a:t>
                      </a:r>
                      <a:r>
                        <a:rPr dirty="0" baseline="-15555" sz="1875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r>
                        <a:rPr dirty="0" sz="80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*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r>
                        <a:rPr dirty="0" sz="80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**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9525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9525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12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7’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-15555" sz="1875" spc="22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r>
                        <a:rPr dirty="0" sz="800" spc="1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”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5560">
                    <a:lnL w="6350">
                      <a:solidFill>
                        <a:srgbClr val="B1B1B1"/>
                      </a:solidFill>
                      <a:prstDash val="solid"/>
                    </a:lnL>
                    <a:lnR w="6350">
                      <a:solidFill>
                        <a:srgbClr val="B1B1B1"/>
                      </a:solidFill>
                      <a:prstDash val="solid"/>
                    </a:lnR>
                    <a:lnT w="6350">
                      <a:solidFill>
                        <a:srgbClr val="B1B1B1"/>
                      </a:solidFill>
                      <a:prstDash val="solid"/>
                    </a:lnT>
                    <a:lnB w="6350">
                      <a:solidFill>
                        <a:srgbClr val="B1B1B1"/>
                      </a:solidFill>
                      <a:prstDash val="solid"/>
                    </a:lnB>
                    <a:solidFill>
                      <a:srgbClr val="660033"/>
                    </a:solidFill>
                  </a:tcPr>
                </a:tc>
              </a:tr>
            </a:tbl>
          </a:graphicData>
        </a:graphic>
      </p:graphicFrame>
      <p:sp>
        <p:nvSpPr>
          <p:cNvPr id="93" name="object 93"/>
          <p:cNvSpPr txBox="1"/>
          <p:nvPr/>
        </p:nvSpPr>
        <p:spPr>
          <a:xfrm>
            <a:off x="1838742" y="8098077"/>
            <a:ext cx="3440429" cy="76009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[1</a:t>
            </a:r>
            <a:r>
              <a:rPr dirty="0" sz="1250" spc="5" b="1" i="1">
                <a:solidFill>
                  <a:srgbClr val="FFFFFF"/>
                </a:solidFill>
                <a:latin typeface="Times New Roman"/>
                <a:cs typeface="Times New Roman"/>
              </a:rPr>
              <a:t>..</a:t>
            </a:r>
            <a:r>
              <a:rPr dirty="0" sz="1250" spc="5" i="1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dirty="0" sz="1250" spc="5">
                <a:solidFill>
                  <a:srgbClr val="FFFFFF"/>
                </a:solidFill>
                <a:latin typeface="Times New Roman"/>
                <a:cs typeface="Times New Roman"/>
              </a:rPr>
              <a:t>]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250">
              <a:latin typeface="Times New Roman"/>
              <a:cs typeface="Times New Roman"/>
            </a:endParaRPr>
          </a:p>
          <a:p>
            <a:pPr marL="112395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 5.20: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Stability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counting </a:t>
            </a:r>
            <a:r>
              <a:rPr dirty="0" sz="1200" spc="-5">
                <a:latin typeface="Times New Roman"/>
                <a:cs typeface="Times New Roman"/>
              </a:rPr>
              <a:t>sort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412603"/>
            <a:ext cx="2270760" cy="735330"/>
          </a:xfrm>
          <a:prstGeom prst="rect">
            <a:avLst/>
          </a:prstGeom>
        </p:spPr>
        <p:txBody>
          <a:bodyPr wrap="square" lIns="0" tIns="1225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65"/>
              </a:spcBef>
            </a:pPr>
            <a:r>
              <a:rPr dirty="0" sz="1200" spc="-10">
                <a:latin typeface="Times New Roman"/>
                <a:cs typeface="Times New Roman"/>
              </a:rPr>
              <a:t>5.2.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BUCKET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 </a:t>
            </a:r>
            <a:r>
              <a:rPr dirty="0" sz="1200" spc="-5">
                <a:latin typeface="Times New Roman"/>
                <a:cs typeface="Times New Roman"/>
              </a:rPr>
              <a:t>BIN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SORT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5.2	Bucket</a:t>
            </a:r>
            <a:r>
              <a:rPr dirty="0" sz="1700" spc="-2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or</a:t>
            </a:r>
            <a:r>
              <a:rPr dirty="0" sz="1700" spc="-20" b="1">
                <a:latin typeface="Times New Roman"/>
                <a:cs typeface="Times New Roman"/>
              </a:rPr>
              <a:t> </a:t>
            </a:r>
            <a:r>
              <a:rPr dirty="0" sz="1700" spc="10" b="1">
                <a:latin typeface="Times New Roman"/>
                <a:cs typeface="Times New Roman"/>
              </a:rPr>
              <a:t>Bin</a:t>
            </a:r>
            <a:r>
              <a:rPr dirty="0" sz="1700" spc="-2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Sort</a:t>
            </a:r>
            <a:endParaRPr sz="17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14400" y="5701741"/>
            <a:ext cx="5487035" cy="1538605"/>
          </a:xfrm>
          <a:custGeom>
            <a:avLst/>
            <a:gdLst/>
            <a:ahLst/>
            <a:cxnLst/>
            <a:rect l="l" t="t" r="r" b="b"/>
            <a:pathLst>
              <a:path w="5487035" h="1538604">
                <a:moveTo>
                  <a:pt x="5486959" y="4724"/>
                </a:moveTo>
                <a:lnTo>
                  <a:pt x="5486400" y="4724"/>
                </a:lnTo>
                <a:lnTo>
                  <a:pt x="5486400" y="0"/>
                </a:lnTo>
                <a:lnTo>
                  <a:pt x="5481828" y="0"/>
                </a:lnTo>
                <a:lnTo>
                  <a:pt x="5481828" y="5130"/>
                </a:lnTo>
                <a:lnTo>
                  <a:pt x="5481828" y="1533144"/>
                </a:lnTo>
                <a:lnTo>
                  <a:pt x="5130" y="1533144"/>
                </a:lnTo>
                <a:lnTo>
                  <a:pt x="5130" y="5130"/>
                </a:lnTo>
                <a:lnTo>
                  <a:pt x="5481828" y="5130"/>
                </a:lnTo>
                <a:lnTo>
                  <a:pt x="5481828" y="0"/>
                </a:lnTo>
                <a:lnTo>
                  <a:pt x="0" y="0"/>
                </a:lnTo>
                <a:lnTo>
                  <a:pt x="0" y="4724"/>
                </a:lnTo>
                <a:lnTo>
                  <a:pt x="0" y="5130"/>
                </a:lnTo>
                <a:lnTo>
                  <a:pt x="0" y="1533144"/>
                </a:lnTo>
                <a:lnTo>
                  <a:pt x="0" y="1533702"/>
                </a:lnTo>
                <a:lnTo>
                  <a:pt x="0" y="1538274"/>
                </a:lnTo>
                <a:lnTo>
                  <a:pt x="5486400" y="1538274"/>
                </a:lnTo>
                <a:lnTo>
                  <a:pt x="5486400" y="1533702"/>
                </a:lnTo>
                <a:lnTo>
                  <a:pt x="5486959" y="1533702"/>
                </a:lnTo>
                <a:lnTo>
                  <a:pt x="5486959" y="47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800097" y="1356565"/>
            <a:ext cx="6623050" cy="762698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4300" marR="11811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Assume 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keys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 that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wish to 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lie in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 </a:t>
            </a:r>
            <a:r>
              <a:rPr dirty="0" sz="1200" spc="-10">
                <a:latin typeface="Times New Roman"/>
                <a:cs typeface="Times New Roman"/>
              </a:rPr>
              <a:t>fixed</a:t>
            </a:r>
            <a:r>
              <a:rPr dirty="0" sz="1200" spc="-5">
                <a:latin typeface="Times New Roman"/>
                <a:cs typeface="Times New Roman"/>
              </a:rPr>
              <a:t> range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that 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 item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each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key.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sort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procedure: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900">
              <a:latin typeface="Times New Roman"/>
              <a:cs typeface="Times New Roman"/>
            </a:endParaRPr>
          </a:p>
          <a:p>
            <a:pPr marL="377825" indent="-188595">
              <a:lnSpc>
                <a:spcPct val="100000"/>
              </a:lnSpc>
              <a:buFont typeface="Times New Roman"/>
              <a:buAutoNum type="arabicPeriod"/>
              <a:tabLst>
                <a:tab pos="378460" algn="l"/>
              </a:tabLst>
            </a:pPr>
            <a:r>
              <a:rPr dirty="0" sz="1200" spc="-5">
                <a:latin typeface="Times New Roman"/>
                <a:cs typeface="Times New Roman"/>
              </a:rPr>
              <a:t>Set up an array of “bins” -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 spc="-5">
                <a:latin typeface="Times New Roman"/>
                <a:cs typeface="Times New Roman"/>
              </a:rPr>
              <a:t> - in </a:t>
            </a:r>
            <a:r>
              <a:rPr dirty="0" sz="1200" spc="-15">
                <a:latin typeface="Times New Roman"/>
                <a:cs typeface="Times New Roman"/>
              </a:rPr>
              <a:t>order,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Font typeface="Times New Roman"/>
              <a:buAutoNum type="arabicPeriod"/>
            </a:pPr>
            <a:endParaRPr sz="1600">
              <a:latin typeface="Times New Roman"/>
              <a:cs typeface="Times New Roman"/>
            </a:endParaRPr>
          </a:p>
          <a:p>
            <a:pPr marL="377825" indent="-188595">
              <a:lnSpc>
                <a:spcPct val="100000"/>
              </a:lnSpc>
              <a:buFont typeface="Times New Roman"/>
              <a:buAutoNum type="arabicPeriod"/>
              <a:tabLst>
                <a:tab pos="378460" algn="l"/>
              </a:tabLst>
            </a:pPr>
            <a:r>
              <a:rPr dirty="0" sz="1200" spc="-10">
                <a:latin typeface="Times New Roman"/>
                <a:cs typeface="Times New Roman"/>
              </a:rPr>
              <a:t>Examine</a:t>
            </a:r>
            <a:r>
              <a:rPr dirty="0" sz="1200" spc="-5">
                <a:latin typeface="Times New Roman"/>
                <a:cs typeface="Times New Roman"/>
              </a:rPr>
              <a:t>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appropriate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Times New Roman"/>
              <a:buAutoNum type="arabicPeriod"/>
            </a:pPr>
            <a:endParaRPr sz="1900">
              <a:latin typeface="Times New Roman"/>
              <a:cs typeface="Times New Roman"/>
            </a:endParaRPr>
          </a:p>
          <a:p>
            <a:pPr marL="114300" marR="106680">
              <a:lnSpc>
                <a:spcPct val="100000"/>
              </a:lnSpc>
            </a:pPr>
            <a:r>
              <a:rPr dirty="0" sz="1200" spc="-15">
                <a:latin typeface="Times New Roman"/>
                <a:cs typeface="Times New Roman"/>
              </a:rPr>
              <a:t>Now </a:t>
            </a:r>
            <a:r>
              <a:rPr dirty="0" sz="1200" spc="-10">
                <a:latin typeface="Times New Roman"/>
                <a:cs typeface="Times New Roman"/>
              </a:rPr>
              <a:t>our </a:t>
            </a:r>
            <a:r>
              <a:rPr dirty="0" sz="1200" spc="-5">
                <a:latin typeface="Times New Roman"/>
                <a:cs typeface="Times New Roman"/>
              </a:rPr>
              <a:t>collection is sorted and it </a:t>
            </a:r>
            <a:r>
              <a:rPr dirty="0" sz="1200" spc="-10">
                <a:latin typeface="Times New Roman"/>
                <a:cs typeface="Times New Roman"/>
              </a:rPr>
              <a:t>only took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operations, so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an </a:t>
            </a:r>
            <a:r>
              <a:rPr dirty="0" sz="1200" spc="75">
                <a:latin typeface="Lucida Sans Unicode"/>
                <a:cs typeface="Lucida Sans Unicode"/>
              </a:rPr>
              <a:t>O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</a:t>
            </a:r>
            <a:r>
              <a:rPr dirty="0" sz="1200" spc="75">
                <a:latin typeface="Garamond"/>
                <a:cs typeface="Garamond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operation. </a:t>
            </a:r>
            <a:r>
              <a:rPr dirty="0" sz="1200" spc="-20">
                <a:latin typeface="Times New Roman"/>
                <a:cs typeface="Times New Roman"/>
              </a:rPr>
              <a:t>However, </a:t>
            </a:r>
            <a:r>
              <a:rPr dirty="0" sz="1200" spc="-10">
                <a:latin typeface="Times New Roman"/>
                <a:cs typeface="Times New Roman"/>
              </a:rPr>
              <a:t>note </a:t>
            </a:r>
            <a:r>
              <a:rPr dirty="0" sz="1200" spc="-5">
                <a:latin typeface="Times New Roman"/>
                <a:cs typeface="Times New Roman"/>
              </a:rPr>
              <a:t> that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under </a:t>
            </a:r>
            <a:r>
              <a:rPr dirty="0" sz="1200" spc="-10">
                <a:latin typeface="Times New Roman"/>
                <a:cs typeface="Times New Roman"/>
              </a:rPr>
              <a:t>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restricted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conditions.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understand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 restrictions,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let’s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little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 </a:t>
            </a:r>
            <a:r>
              <a:rPr dirty="0" sz="1200" spc="-5">
                <a:latin typeface="Times New Roman"/>
                <a:cs typeface="Times New Roman"/>
              </a:rPr>
              <a:t>precise about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specification of </a:t>
            </a:r>
            <a:r>
              <a:rPr dirty="0" sz="1200" spc="-10">
                <a:latin typeface="Times New Roman"/>
                <a:cs typeface="Times New Roman"/>
              </a:rPr>
              <a:t>the problem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5">
                <a:latin typeface="Times New Roman"/>
                <a:cs typeface="Times New Roman"/>
              </a:rPr>
              <a:t>assume </a:t>
            </a:r>
            <a:r>
              <a:rPr dirty="0" sz="1200" spc="-5">
                <a:latin typeface="Times New Roman"/>
                <a:cs typeface="Times New Roman"/>
              </a:rPr>
              <a:t>that there are </a:t>
            </a:r>
            <a:r>
              <a:rPr dirty="0" sz="1200" spc="-30">
                <a:latin typeface="Lucida Sans Unicode"/>
                <a:cs typeface="Lucida Sans Unicode"/>
              </a:rPr>
              <a:t>m </a:t>
            </a:r>
            <a:r>
              <a:rPr dirty="0" sz="1200" spc="-10">
                <a:latin typeface="Times New Roman"/>
                <a:cs typeface="Times New Roman"/>
              </a:rPr>
              <a:t>values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35">
                <a:latin typeface="Times New Roman"/>
                <a:cs typeface="Times New Roman"/>
              </a:rPr>
              <a:t>key.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 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recover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collection,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above,</a:t>
            </a:r>
            <a:endParaRPr sz="1200">
              <a:latin typeface="Times New Roman"/>
              <a:cs typeface="Times New Roman"/>
            </a:endParaRPr>
          </a:p>
          <a:p>
            <a:pPr marL="114300" marR="2637155" indent="75565">
              <a:lnSpc>
                <a:spcPct val="254100"/>
              </a:lnSpc>
              <a:spcBef>
                <a:spcPts val="15"/>
              </a:spcBef>
              <a:buFont typeface="Times New Roman"/>
              <a:buAutoNum type="arabicPeriod" startAt="3"/>
              <a:tabLst>
                <a:tab pos="378460" algn="l"/>
              </a:tabLst>
            </a:pPr>
            <a:r>
              <a:rPr dirty="0" sz="1200" spc="-10">
                <a:latin typeface="Times New Roman"/>
                <a:cs typeface="Times New Roman"/>
              </a:rPr>
              <a:t>Examine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there’s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requires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operations.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algorithm’s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becomes: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 algn="ctr" marL="6350">
              <a:lnSpc>
                <a:spcPct val="100000"/>
              </a:lnSpc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baseline="-13888" sz="1200" spc="-44">
                <a:latin typeface="Verdana"/>
                <a:cs typeface="Verdana"/>
              </a:rPr>
              <a:t>2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Lucida Sans Unicode"/>
              <a:cs typeface="Lucida Sans Unicode"/>
            </a:endParaRPr>
          </a:p>
          <a:p>
            <a:pPr marL="114300" marR="28829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and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strictly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O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m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clearly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O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5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&gt;&gt;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O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m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implementation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bin</a:t>
            </a:r>
            <a:r>
              <a:rPr dirty="0" sz="1200" spc="-5">
                <a:latin typeface="Times New Roman"/>
                <a:cs typeface="Times New Roman"/>
              </a:rPr>
              <a:t> sort </a:t>
            </a:r>
            <a:r>
              <a:rPr dirty="0" sz="1200" spc="-10">
                <a:latin typeface="Times New Roman"/>
                <a:cs typeface="Times New Roman"/>
              </a:rPr>
              <a:t>might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marL="160655">
              <a:lnSpc>
                <a:spcPct val="100000"/>
              </a:lnSpc>
            </a:pPr>
            <a:r>
              <a:rPr dirty="0" sz="1200" spc="50">
                <a:latin typeface="Times New Roman"/>
                <a:cs typeface="Times New Roman"/>
              </a:rPr>
              <a:t>B</a:t>
            </a:r>
            <a:r>
              <a:rPr dirty="0" sz="950" spc="50">
                <a:latin typeface="Times New Roman"/>
                <a:cs typeface="Times New Roman"/>
              </a:rPr>
              <a:t>UCEKT</a:t>
            </a:r>
            <a:r>
              <a:rPr dirty="0" sz="1200" spc="50">
                <a:latin typeface="Times New Roman"/>
                <a:cs typeface="Times New Roman"/>
              </a:rPr>
              <a:t>S</a:t>
            </a:r>
            <a:r>
              <a:rPr dirty="0" sz="950" spc="50">
                <a:latin typeface="Times New Roman"/>
                <a:cs typeface="Times New Roman"/>
              </a:rPr>
              <a:t>ORT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A,</a:t>
            </a:r>
            <a:r>
              <a:rPr dirty="0" sz="1200" spc="11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n,</a:t>
            </a:r>
            <a:r>
              <a:rPr dirty="0" sz="1200" spc="114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160">
                <a:latin typeface="Lucida Sans Unicode"/>
                <a:cs typeface="Lucida Sans Unicode"/>
              </a:rPr>
              <a:t>M</a:t>
            </a:r>
            <a:r>
              <a:rPr dirty="0" sz="1200" spc="16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35609" indent="-241300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435609" algn="l"/>
                <a:tab pos="436245" algn="l"/>
              </a:tabLst>
            </a:pPr>
            <a:r>
              <a:rPr dirty="0" sz="1200" spc="-5">
                <a:latin typeface="Times New Roman"/>
                <a:cs typeface="Times New Roman"/>
              </a:rPr>
              <a:t>// </a:t>
            </a:r>
            <a:r>
              <a:rPr dirty="0" sz="1200" spc="-10">
                <a:latin typeface="Times New Roman"/>
                <a:cs typeface="Times New Roman"/>
              </a:rPr>
              <a:t>Pre-condition: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sz="1200" spc="35">
                <a:latin typeface="Garamond"/>
                <a:cs typeface="Garamond"/>
              </a:rPr>
              <a:t>[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>
                <a:latin typeface="Garamond"/>
                <a:cs typeface="Garamond"/>
              </a:rPr>
              <a:t>]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210">
                <a:latin typeface="Lucida Sans Unicode"/>
                <a:cs typeface="Lucida Sans Unicode"/>
              </a:rPr>
              <a:t>M</a:t>
            </a:r>
            <a:endParaRPr sz="1200">
              <a:latin typeface="Lucida Sans Unicode"/>
              <a:cs typeface="Lucida Sans Unicode"/>
            </a:endParaRPr>
          </a:p>
          <a:p>
            <a:pPr marL="435609" indent="-241300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435609" algn="l"/>
                <a:tab pos="436245" algn="l"/>
              </a:tabLst>
            </a:pPr>
            <a:r>
              <a:rPr dirty="0" sz="1200" spc="-5">
                <a:latin typeface="Times New Roman"/>
                <a:cs typeface="Times New Roman"/>
              </a:rPr>
              <a:t>//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the bins empty</a:t>
            </a:r>
            <a:endParaRPr sz="1200">
              <a:latin typeface="Times New Roman"/>
              <a:cs typeface="Times New Roman"/>
            </a:endParaRPr>
          </a:p>
          <a:p>
            <a:pPr marL="422909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22909" algn="l"/>
                <a:tab pos="42354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20">
                <a:latin typeface="Lucida Sans Unicode"/>
                <a:cs typeface="Lucida Sans Unicode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</a:t>
            </a:r>
            <a:r>
              <a:rPr dirty="0" sz="1200" spc="310" b="1">
                <a:latin typeface="Times New Roman"/>
                <a:cs typeface="Times New Roman"/>
              </a:rPr>
              <a:t> </a:t>
            </a:r>
            <a:r>
              <a:rPr dirty="0" sz="1200" spc="210">
                <a:latin typeface="Lucida Sans Unicode"/>
                <a:cs typeface="Lucida Sans Unicode"/>
              </a:rPr>
              <a:t>M</a:t>
            </a:r>
            <a:endParaRPr sz="1200">
              <a:latin typeface="Lucida Sans Unicode"/>
              <a:cs typeface="Lucida Sans Unicode"/>
            </a:endParaRPr>
          </a:p>
          <a:p>
            <a:pPr marL="422909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22909" algn="l"/>
                <a:tab pos="4235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bin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</a:t>
            </a:r>
            <a:r>
              <a:rPr dirty="0" sz="1200" spc="25">
                <a:latin typeface="Garamond"/>
                <a:cs typeface="Garamond"/>
              </a:rPr>
              <a:t>]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Empty</a:t>
            </a:r>
            <a:endParaRPr sz="1200">
              <a:latin typeface="Lucida Sans Unicode"/>
              <a:cs typeface="Lucida Sans Unicode"/>
            </a:endParaRPr>
          </a:p>
          <a:p>
            <a:pPr marL="422909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22909" algn="l"/>
                <a:tab pos="42354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20">
                <a:latin typeface="Lucida Sans Unicode"/>
                <a:cs typeface="Lucida Sans Unicode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</a:t>
            </a:r>
            <a:r>
              <a:rPr dirty="0" sz="1200" spc="310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422909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22909" algn="l"/>
                <a:tab pos="4235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bin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</a:t>
            </a:r>
            <a:r>
              <a:rPr dirty="0" sz="1200" spc="25">
                <a:latin typeface="Garamond"/>
                <a:cs typeface="Garamond"/>
              </a:rPr>
              <a:t>]]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Garamond"/>
                <a:cs typeface="Garamond"/>
              </a:rPr>
              <a:t>[</a:t>
            </a:r>
            <a:r>
              <a:rPr dirty="0" sz="1200" spc="40">
                <a:latin typeface="Lucida Sans Unicode"/>
                <a:cs typeface="Lucida Sans Unicode"/>
              </a:rPr>
              <a:t>i</a:t>
            </a:r>
            <a:r>
              <a:rPr dirty="0" sz="1200" spc="40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</a:pPr>
            <a:endParaRPr sz="1300">
              <a:latin typeface="Garamond"/>
              <a:cs typeface="Garamond"/>
            </a:endParaRPr>
          </a:p>
          <a:p>
            <a:pPr marL="114300">
              <a:lnSpc>
                <a:spcPct val="100000"/>
              </a:lnSpc>
              <a:spcBef>
                <a:spcPts val="1045"/>
              </a:spcBef>
            </a:pPr>
            <a:r>
              <a:rPr dirty="0" sz="1200" spc="-5">
                <a:latin typeface="Times New Roman"/>
                <a:cs typeface="Times New Roman"/>
              </a:rPr>
              <a:t>If there are </a:t>
            </a:r>
            <a:r>
              <a:rPr dirty="0" sz="1200" spc="-5" i="1">
                <a:latin typeface="Times New Roman"/>
                <a:cs typeface="Times New Roman"/>
              </a:rPr>
              <a:t>duplicates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each </a:t>
            </a:r>
            <a:r>
              <a:rPr dirty="0" sz="1200" spc="-10">
                <a:latin typeface="Times New Roman"/>
                <a:cs typeface="Times New Roman"/>
              </a:rPr>
              <a:t>bin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be replaced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linked</a:t>
            </a:r>
            <a:r>
              <a:rPr dirty="0" sz="1200" spc="-5" i="1">
                <a:latin typeface="Times New Roman"/>
                <a:cs typeface="Times New Roman"/>
              </a:rPr>
              <a:t> list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third</a:t>
            </a:r>
            <a:r>
              <a:rPr dirty="0" sz="1200" spc="-5">
                <a:latin typeface="Times New Roman"/>
                <a:cs typeface="Times New Roman"/>
              </a:rPr>
              <a:t> step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becomes: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900">
              <a:latin typeface="Times New Roman"/>
              <a:cs typeface="Times New Roman"/>
            </a:endParaRPr>
          </a:p>
          <a:p>
            <a:pPr marL="189865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3.</a:t>
            </a:r>
            <a:r>
              <a:rPr dirty="0" sz="1200" spc="27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Link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lists</a:t>
            </a:r>
            <a:r>
              <a:rPr dirty="0" sz="1200" spc="-10">
                <a:latin typeface="Times New Roman"/>
                <a:cs typeface="Times New Roman"/>
              </a:rPr>
              <a:t> 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list.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900">
              <a:latin typeface="Times New Roman"/>
              <a:cs typeface="Times New Roman"/>
            </a:endParaRPr>
          </a:p>
          <a:p>
            <a:pPr marL="114300" marR="99695" indent="-635">
              <a:lnSpc>
                <a:spcPct val="100000"/>
              </a:lnSpc>
            </a:pP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can add an item to a </a:t>
            </a:r>
            <a:r>
              <a:rPr dirty="0" sz="1200" spc="-10">
                <a:latin typeface="Times New Roman"/>
                <a:cs typeface="Times New Roman"/>
              </a:rPr>
              <a:t>linked </a:t>
            </a:r>
            <a:r>
              <a:rPr dirty="0" sz="1200" spc="-5">
                <a:latin typeface="Times New Roman"/>
                <a:cs typeface="Times New Roman"/>
              </a:rPr>
              <a:t>list in </a:t>
            </a:r>
            <a:r>
              <a:rPr dirty="0" sz="1200" spc="20">
                <a:latin typeface="Lucida Sans Unicode"/>
                <a:cs typeface="Lucida Sans Unicode"/>
              </a:rPr>
              <a:t>O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1</a:t>
            </a:r>
            <a:r>
              <a:rPr dirty="0" sz="1200" spc="2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time. There are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items </a:t>
            </a:r>
            <a:r>
              <a:rPr dirty="0" sz="1200" spc="-10">
                <a:latin typeface="Times New Roman"/>
                <a:cs typeface="Times New Roman"/>
              </a:rPr>
              <a:t>requiring </a:t>
            </a:r>
            <a:r>
              <a:rPr dirty="0" sz="1200" spc="75">
                <a:latin typeface="Lucida Sans Unicode"/>
                <a:cs typeface="Lucida Sans Unicode"/>
              </a:rPr>
              <a:t>O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</a:t>
            </a:r>
            <a:r>
              <a:rPr dirty="0" sz="1200" spc="75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time. </a:t>
            </a:r>
            <a:r>
              <a:rPr dirty="0" sz="1200" spc="-10">
                <a:latin typeface="Times New Roman"/>
                <a:cs typeface="Times New Roman"/>
              </a:rPr>
              <a:t>Linking </a:t>
            </a:r>
            <a:r>
              <a:rPr dirty="0" sz="1200" spc="-5">
                <a:latin typeface="Times New Roman"/>
                <a:cs typeface="Times New Roman"/>
              </a:rPr>
              <a:t>a list 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another list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involves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tail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point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other,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O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1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Linking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lists </a:t>
            </a:r>
            <a:r>
              <a:rPr dirty="0" sz="1200" spc="-10">
                <a:latin typeface="Times New Roman"/>
                <a:cs typeface="Times New Roman"/>
              </a:rPr>
              <a:t>obviously takes </a:t>
            </a:r>
            <a:r>
              <a:rPr dirty="0" sz="1200" spc="55">
                <a:latin typeface="Lucida Sans Unicode"/>
                <a:cs typeface="Lucida Sans Unicode"/>
              </a:rPr>
              <a:t>O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m</a:t>
            </a:r>
            <a:r>
              <a:rPr dirty="0" sz="1200" spc="55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time, so </a:t>
            </a:r>
            <a:r>
              <a:rPr dirty="0" sz="1200" spc="-10">
                <a:latin typeface="Times New Roman"/>
                <a:cs typeface="Times New Roman"/>
              </a:rPr>
              <a:t>the algorithm </a:t>
            </a:r>
            <a:r>
              <a:rPr dirty="0" sz="1200" spc="-5">
                <a:latin typeface="Times New Roman"/>
                <a:cs typeface="Times New Roman"/>
              </a:rPr>
              <a:t>is still </a:t>
            </a:r>
            <a:r>
              <a:rPr dirty="0" sz="1200" spc="60">
                <a:latin typeface="Lucida Sans Unicode"/>
                <a:cs typeface="Lucida Sans Unicode"/>
              </a:rPr>
              <a:t>O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 </a:t>
            </a:r>
            <a:r>
              <a:rPr dirty="0" sz="1200" spc="100">
                <a:latin typeface="Garamond"/>
                <a:cs typeface="Garamond"/>
              </a:rPr>
              <a:t>+ </a:t>
            </a:r>
            <a:r>
              <a:rPr dirty="0" sz="1200" spc="25">
                <a:latin typeface="Lucida Sans Unicode"/>
                <a:cs typeface="Lucida Sans Unicode"/>
              </a:rPr>
              <a:t>m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Figures </a:t>
            </a:r>
            <a:r>
              <a:rPr dirty="0" sz="1200" spc="-10">
                <a:latin typeface="Times New Roman"/>
                <a:cs typeface="Times New Roman"/>
              </a:rPr>
              <a:t>5.21 through 5.23 </a:t>
            </a:r>
            <a:r>
              <a:rPr dirty="0" sz="1200" spc="-15">
                <a:latin typeface="Times New Roman"/>
                <a:cs typeface="Times New Roman"/>
              </a:rPr>
              <a:t>show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-5">
                <a:latin typeface="Times New Roman"/>
                <a:cs typeface="Times New Roman"/>
              </a:rPr>
              <a:t> in action using </a:t>
            </a:r>
            <a:r>
              <a:rPr dirty="0" sz="1200" spc="-10">
                <a:latin typeface="Times New Roman"/>
                <a:cs typeface="Times New Roman"/>
              </a:rPr>
              <a:t>linked</a:t>
            </a:r>
            <a:r>
              <a:rPr dirty="0" sz="1200" spc="-5">
                <a:latin typeface="Times New Roman"/>
                <a:cs typeface="Times New Roman"/>
              </a:rPr>
              <a:t> lists.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21489" y="520987"/>
            <a:ext cx="26066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5.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LINEAR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72411" y="938474"/>
            <a:ext cx="4648200" cy="2828925"/>
          </a:xfrm>
          <a:custGeom>
            <a:avLst/>
            <a:gdLst/>
            <a:ahLst/>
            <a:cxnLst/>
            <a:rect l="l" t="t" r="r" b="b"/>
            <a:pathLst>
              <a:path w="4648200" h="2828925">
                <a:moveTo>
                  <a:pt x="4648001" y="0"/>
                </a:moveTo>
                <a:lnTo>
                  <a:pt x="0" y="0"/>
                </a:lnTo>
                <a:lnTo>
                  <a:pt x="0" y="2828345"/>
                </a:lnTo>
                <a:lnTo>
                  <a:pt x="4648001" y="2828345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893607" y="1018418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.78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893607" y="1289576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.17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893607" y="1560733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.39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93607" y="1830989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.26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893607" y="2102160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.72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893607" y="2372415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.94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893607" y="2643573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.21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893607" y="2914731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.12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93607" y="3456157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.68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893607" y="3184999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.23</a:t>
            </a:r>
            <a:endParaRPr sz="1400">
              <a:latin typeface="Times New Roman"/>
              <a:cs typeface="Times New Roman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1823221" y="991634"/>
          <a:ext cx="370840" cy="2714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1950"/>
              </a:tblGrid>
              <a:tr h="27160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400" spc="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.78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7025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400" spc="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.17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22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7116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400" spc="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.39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34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7025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400" spc="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.26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22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7115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400" spc="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.72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34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7116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400" spc="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.94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22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7025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400" spc="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.21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22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7115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400" spc="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.12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34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702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400" spc="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.23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22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7161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400" spc="5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.68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34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</a:tbl>
          </a:graphicData>
        </a:graphic>
      </p:graphicFrame>
      <p:sp>
        <p:nvSpPr>
          <p:cNvPr id="16" name="object 16"/>
          <p:cNvSpPr/>
          <p:nvPr/>
        </p:nvSpPr>
        <p:spPr>
          <a:xfrm>
            <a:off x="4489002" y="2934920"/>
            <a:ext cx="362585" cy="182245"/>
          </a:xfrm>
          <a:custGeom>
            <a:avLst/>
            <a:gdLst/>
            <a:ahLst/>
            <a:cxnLst/>
            <a:rect l="l" t="t" r="r" b="b"/>
            <a:pathLst>
              <a:path w="362585" h="182244">
                <a:moveTo>
                  <a:pt x="0" y="181974"/>
                </a:moveTo>
                <a:lnTo>
                  <a:pt x="362148" y="181974"/>
                </a:lnTo>
                <a:lnTo>
                  <a:pt x="362148" y="0"/>
                </a:lnTo>
                <a:lnTo>
                  <a:pt x="0" y="0"/>
                </a:lnTo>
                <a:lnTo>
                  <a:pt x="0" y="181974"/>
                </a:lnTo>
                <a:close/>
              </a:path>
            </a:pathLst>
          </a:custGeom>
          <a:ln w="5639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4556567" y="2914731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.78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4486145" y="2932062"/>
            <a:ext cx="638175" cy="187960"/>
            <a:chOff x="4486145" y="2932062"/>
            <a:chExt cx="638175" cy="187960"/>
          </a:xfrm>
        </p:grpSpPr>
        <p:sp>
          <p:nvSpPr>
            <p:cNvPr id="19" name="object 19"/>
            <p:cNvSpPr/>
            <p:nvPr/>
          </p:nvSpPr>
          <p:spPr>
            <a:xfrm>
              <a:off x="4850252" y="2934920"/>
              <a:ext cx="271780" cy="182245"/>
            </a:xfrm>
            <a:custGeom>
              <a:avLst/>
              <a:gdLst/>
              <a:ahLst/>
              <a:cxnLst/>
              <a:rect l="l" t="t" r="r" b="b"/>
              <a:pathLst>
                <a:path w="271779" h="182244">
                  <a:moveTo>
                    <a:pt x="0" y="181974"/>
                  </a:moveTo>
                  <a:lnTo>
                    <a:pt x="271160" y="181974"/>
                  </a:lnTo>
                  <a:lnTo>
                    <a:pt x="271160" y="0"/>
                  </a:lnTo>
                  <a:lnTo>
                    <a:pt x="0" y="0"/>
                  </a:lnTo>
                  <a:lnTo>
                    <a:pt x="0" y="1819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489003" y="2934920"/>
              <a:ext cx="362585" cy="182245"/>
            </a:xfrm>
            <a:custGeom>
              <a:avLst/>
              <a:gdLst/>
              <a:ahLst/>
              <a:cxnLst/>
              <a:rect l="l" t="t" r="r" b="b"/>
              <a:pathLst>
                <a:path w="362585" h="182244">
                  <a:moveTo>
                    <a:pt x="362148" y="0"/>
                  </a:moveTo>
                  <a:lnTo>
                    <a:pt x="0" y="0"/>
                  </a:lnTo>
                  <a:lnTo>
                    <a:pt x="0" y="181974"/>
                  </a:lnTo>
                  <a:lnTo>
                    <a:pt x="362148" y="181974"/>
                  </a:lnTo>
                  <a:lnTo>
                    <a:pt x="362148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489003" y="2934920"/>
              <a:ext cx="362585" cy="182245"/>
            </a:xfrm>
            <a:custGeom>
              <a:avLst/>
              <a:gdLst/>
              <a:ahLst/>
              <a:cxnLst/>
              <a:rect l="l" t="t" r="r" b="b"/>
              <a:pathLst>
                <a:path w="362585" h="182244">
                  <a:moveTo>
                    <a:pt x="0" y="181974"/>
                  </a:moveTo>
                  <a:lnTo>
                    <a:pt x="362148" y="181974"/>
                  </a:lnTo>
                  <a:lnTo>
                    <a:pt x="362148" y="0"/>
                  </a:lnTo>
                  <a:lnTo>
                    <a:pt x="0" y="0"/>
                  </a:lnTo>
                  <a:lnTo>
                    <a:pt x="0" y="1819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4489002" y="2934920"/>
            <a:ext cx="361950" cy="182245"/>
          </a:xfrm>
          <a:prstGeom prst="rect">
            <a:avLst/>
          </a:prstGeom>
          <a:solidFill>
            <a:srgbClr val="FF0000"/>
          </a:solidFill>
          <a:ln w="6538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7310">
              <a:lnSpc>
                <a:spcPts val="1435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.78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4486145" y="1262751"/>
            <a:ext cx="638175" cy="1857375"/>
            <a:chOff x="4486145" y="1262751"/>
            <a:chExt cx="638175" cy="1857375"/>
          </a:xfrm>
        </p:grpSpPr>
        <p:sp>
          <p:nvSpPr>
            <p:cNvPr id="24" name="object 24"/>
            <p:cNvSpPr/>
            <p:nvPr/>
          </p:nvSpPr>
          <p:spPr>
            <a:xfrm>
              <a:off x="4850252" y="2934920"/>
              <a:ext cx="271780" cy="182245"/>
            </a:xfrm>
            <a:custGeom>
              <a:avLst/>
              <a:gdLst/>
              <a:ahLst/>
              <a:cxnLst/>
              <a:rect l="l" t="t" r="r" b="b"/>
              <a:pathLst>
                <a:path w="271779" h="182244">
                  <a:moveTo>
                    <a:pt x="271160" y="0"/>
                  </a:moveTo>
                  <a:lnTo>
                    <a:pt x="0" y="0"/>
                  </a:lnTo>
                  <a:lnTo>
                    <a:pt x="0" y="181974"/>
                  </a:lnTo>
                  <a:lnTo>
                    <a:pt x="271160" y="181974"/>
                  </a:lnTo>
                  <a:lnTo>
                    <a:pt x="271160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489003" y="1265608"/>
              <a:ext cx="632460" cy="1851660"/>
            </a:xfrm>
            <a:custGeom>
              <a:avLst/>
              <a:gdLst/>
              <a:ahLst/>
              <a:cxnLst/>
              <a:rect l="l" t="t" r="r" b="b"/>
              <a:pathLst>
                <a:path w="632460" h="1851660">
                  <a:moveTo>
                    <a:pt x="361248" y="1851286"/>
                  </a:moveTo>
                  <a:lnTo>
                    <a:pt x="632409" y="1851286"/>
                  </a:lnTo>
                  <a:lnTo>
                    <a:pt x="632409" y="1669311"/>
                  </a:lnTo>
                  <a:lnTo>
                    <a:pt x="361248" y="1669311"/>
                  </a:lnTo>
                  <a:lnTo>
                    <a:pt x="361248" y="1851286"/>
                  </a:lnTo>
                  <a:close/>
                </a:path>
                <a:path w="632460" h="1851660">
                  <a:moveTo>
                    <a:pt x="0" y="181074"/>
                  </a:moveTo>
                  <a:lnTo>
                    <a:pt x="362148" y="181074"/>
                  </a:lnTo>
                  <a:lnTo>
                    <a:pt x="362148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 txBox="1"/>
          <p:nvPr/>
        </p:nvSpPr>
        <p:spPr>
          <a:xfrm>
            <a:off x="4556567" y="1244529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.17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4486145" y="1262751"/>
            <a:ext cx="638175" cy="187325"/>
            <a:chOff x="4486145" y="1262751"/>
            <a:chExt cx="638175" cy="187325"/>
          </a:xfrm>
        </p:grpSpPr>
        <p:sp>
          <p:nvSpPr>
            <p:cNvPr id="28" name="object 28"/>
            <p:cNvSpPr/>
            <p:nvPr/>
          </p:nvSpPr>
          <p:spPr>
            <a:xfrm>
              <a:off x="4850252" y="1265608"/>
              <a:ext cx="271780" cy="181610"/>
            </a:xfrm>
            <a:custGeom>
              <a:avLst/>
              <a:gdLst/>
              <a:ahLst/>
              <a:cxnLst/>
              <a:rect l="l" t="t" r="r" b="b"/>
              <a:pathLst>
                <a:path w="271779" h="181609">
                  <a:moveTo>
                    <a:pt x="0" y="181074"/>
                  </a:moveTo>
                  <a:lnTo>
                    <a:pt x="271160" y="181074"/>
                  </a:lnTo>
                  <a:lnTo>
                    <a:pt x="271160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489003" y="1265608"/>
              <a:ext cx="362585" cy="181610"/>
            </a:xfrm>
            <a:custGeom>
              <a:avLst/>
              <a:gdLst/>
              <a:ahLst/>
              <a:cxnLst/>
              <a:rect l="l" t="t" r="r" b="b"/>
              <a:pathLst>
                <a:path w="362585" h="181609">
                  <a:moveTo>
                    <a:pt x="362148" y="0"/>
                  </a:moveTo>
                  <a:lnTo>
                    <a:pt x="0" y="0"/>
                  </a:lnTo>
                  <a:lnTo>
                    <a:pt x="0" y="181074"/>
                  </a:lnTo>
                  <a:lnTo>
                    <a:pt x="362148" y="181074"/>
                  </a:lnTo>
                  <a:lnTo>
                    <a:pt x="362148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489003" y="1265608"/>
              <a:ext cx="362585" cy="181610"/>
            </a:xfrm>
            <a:custGeom>
              <a:avLst/>
              <a:gdLst/>
              <a:ahLst/>
              <a:cxnLst/>
              <a:rect l="l" t="t" r="r" b="b"/>
              <a:pathLst>
                <a:path w="362585" h="181609">
                  <a:moveTo>
                    <a:pt x="0" y="181074"/>
                  </a:moveTo>
                  <a:lnTo>
                    <a:pt x="362148" y="181074"/>
                  </a:lnTo>
                  <a:lnTo>
                    <a:pt x="362148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/>
          <p:cNvSpPr txBox="1"/>
          <p:nvPr/>
        </p:nvSpPr>
        <p:spPr>
          <a:xfrm>
            <a:off x="4489002" y="1265608"/>
            <a:ext cx="361950" cy="181610"/>
          </a:xfrm>
          <a:prstGeom prst="rect">
            <a:avLst/>
          </a:prstGeom>
          <a:solidFill>
            <a:srgbClr val="FF0000"/>
          </a:solidFill>
          <a:ln w="6538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7310">
              <a:lnSpc>
                <a:spcPts val="1425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.17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4847394" y="1262751"/>
            <a:ext cx="909319" cy="503555"/>
            <a:chOff x="4847394" y="1262751"/>
            <a:chExt cx="909319" cy="503555"/>
          </a:xfrm>
        </p:grpSpPr>
        <p:sp>
          <p:nvSpPr>
            <p:cNvPr id="33" name="object 33"/>
            <p:cNvSpPr/>
            <p:nvPr/>
          </p:nvSpPr>
          <p:spPr>
            <a:xfrm>
              <a:off x="4850251" y="1265608"/>
              <a:ext cx="271780" cy="181610"/>
            </a:xfrm>
            <a:custGeom>
              <a:avLst/>
              <a:gdLst/>
              <a:ahLst/>
              <a:cxnLst/>
              <a:rect l="l" t="t" r="r" b="b"/>
              <a:pathLst>
                <a:path w="271779" h="181609">
                  <a:moveTo>
                    <a:pt x="271160" y="0"/>
                  </a:moveTo>
                  <a:lnTo>
                    <a:pt x="0" y="0"/>
                  </a:lnTo>
                  <a:lnTo>
                    <a:pt x="0" y="181074"/>
                  </a:lnTo>
                  <a:lnTo>
                    <a:pt x="271160" y="181074"/>
                  </a:lnTo>
                  <a:lnTo>
                    <a:pt x="271160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850251" y="1265608"/>
              <a:ext cx="903605" cy="497840"/>
            </a:xfrm>
            <a:custGeom>
              <a:avLst/>
              <a:gdLst/>
              <a:ahLst/>
              <a:cxnLst/>
              <a:rect l="l" t="t" r="r" b="b"/>
              <a:pathLst>
                <a:path w="903604" h="497839">
                  <a:moveTo>
                    <a:pt x="0" y="181074"/>
                  </a:moveTo>
                  <a:lnTo>
                    <a:pt x="271160" y="181074"/>
                  </a:lnTo>
                  <a:lnTo>
                    <a:pt x="271160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  <a:path w="903604" h="497839">
                  <a:moveTo>
                    <a:pt x="541416" y="497288"/>
                  </a:moveTo>
                  <a:lnTo>
                    <a:pt x="903565" y="497288"/>
                  </a:lnTo>
                  <a:lnTo>
                    <a:pt x="903565" y="315314"/>
                  </a:lnTo>
                  <a:lnTo>
                    <a:pt x="541416" y="315314"/>
                  </a:lnTo>
                  <a:lnTo>
                    <a:pt x="541416" y="497288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/>
          <p:cNvSpPr txBox="1"/>
          <p:nvPr/>
        </p:nvSpPr>
        <p:spPr>
          <a:xfrm>
            <a:off x="5459232" y="1560733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.26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5388810" y="1578065"/>
            <a:ext cx="638175" cy="187960"/>
            <a:chOff x="5388810" y="1578065"/>
            <a:chExt cx="638175" cy="187960"/>
          </a:xfrm>
        </p:grpSpPr>
        <p:sp>
          <p:nvSpPr>
            <p:cNvPr id="37" name="object 37"/>
            <p:cNvSpPr/>
            <p:nvPr/>
          </p:nvSpPr>
          <p:spPr>
            <a:xfrm>
              <a:off x="5752917" y="1580922"/>
              <a:ext cx="271780" cy="182245"/>
            </a:xfrm>
            <a:custGeom>
              <a:avLst/>
              <a:gdLst/>
              <a:ahLst/>
              <a:cxnLst/>
              <a:rect l="l" t="t" r="r" b="b"/>
              <a:pathLst>
                <a:path w="271779" h="182244">
                  <a:moveTo>
                    <a:pt x="0" y="181974"/>
                  </a:moveTo>
                  <a:lnTo>
                    <a:pt x="271160" y="181974"/>
                  </a:lnTo>
                  <a:lnTo>
                    <a:pt x="271160" y="0"/>
                  </a:lnTo>
                  <a:lnTo>
                    <a:pt x="0" y="0"/>
                  </a:lnTo>
                  <a:lnTo>
                    <a:pt x="0" y="1819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391668" y="1580922"/>
              <a:ext cx="362585" cy="182245"/>
            </a:xfrm>
            <a:custGeom>
              <a:avLst/>
              <a:gdLst/>
              <a:ahLst/>
              <a:cxnLst/>
              <a:rect l="l" t="t" r="r" b="b"/>
              <a:pathLst>
                <a:path w="362585" h="182244">
                  <a:moveTo>
                    <a:pt x="362149" y="0"/>
                  </a:moveTo>
                  <a:lnTo>
                    <a:pt x="0" y="0"/>
                  </a:lnTo>
                  <a:lnTo>
                    <a:pt x="0" y="181974"/>
                  </a:lnTo>
                  <a:lnTo>
                    <a:pt x="362149" y="181974"/>
                  </a:lnTo>
                  <a:lnTo>
                    <a:pt x="362149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391668" y="1580922"/>
              <a:ext cx="362585" cy="182245"/>
            </a:xfrm>
            <a:custGeom>
              <a:avLst/>
              <a:gdLst/>
              <a:ahLst/>
              <a:cxnLst/>
              <a:rect l="l" t="t" r="r" b="b"/>
              <a:pathLst>
                <a:path w="362585" h="182244">
                  <a:moveTo>
                    <a:pt x="0" y="181974"/>
                  </a:moveTo>
                  <a:lnTo>
                    <a:pt x="362149" y="181974"/>
                  </a:lnTo>
                  <a:lnTo>
                    <a:pt x="362149" y="0"/>
                  </a:lnTo>
                  <a:lnTo>
                    <a:pt x="0" y="0"/>
                  </a:lnTo>
                  <a:lnTo>
                    <a:pt x="0" y="1819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/>
          <p:cNvSpPr txBox="1"/>
          <p:nvPr/>
        </p:nvSpPr>
        <p:spPr>
          <a:xfrm>
            <a:off x="5391668" y="1580922"/>
            <a:ext cx="361950" cy="182245"/>
          </a:xfrm>
          <a:prstGeom prst="rect">
            <a:avLst/>
          </a:prstGeom>
          <a:solidFill>
            <a:srgbClr val="FF0000"/>
          </a:solidFill>
          <a:ln w="6540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7310">
              <a:lnSpc>
                <a:spcPts val="1435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.26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3448347" y="1578065"/>
            <a:ext cx="2578735" cy="2083435"/>
            <a:chOff x="3448347" y="1578065"/>
            <a:chExt cx="2578735" cy="2083435"/>
          </a:xfrm>
        </p:grpSpPr>
        <p:sp>
          <p:nvSpPr>
            <p:cNvPr id="42" name="object 42"/>
            <p:cNvSpPr/>
            <p:nvPr/>
          </p:nvSpPr>
          <p:spPr>
            <a:xfrm>
              <a:off x="5752917" y="1580922"/>
              <a:ext cx="271780" cy="182245"/>
            </a:xfrm>
            <a:custGeom>
              <a:avLst/>
              <a:gdLst/>
              <a:ahLst/>
              <a:cxnLst/>
              <a:rect l="l" t="t" r="r" b="b"/>
              <a:pathLst>
                <a:path w="271779" h="182244">
                  <a:moveTo>
                    <a:pt x="271160" y="0"/>
                  </a:moveTo>
                  <a:lnTo>
                    <a:pt x="0" y="0"/>
                  </a:lnTo>
                  <a:lnTo>
                    <a:pt x="0" y="181974"/>
                  </a:lnTo>
                  <a:lnTo>
                    <a:pt x="271160" y="181974"/>
                  </a:lnTo>
                  <a:lnTo>
                    <a:pt x="271160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451204" y="1580922"/>
              <a:ext cx="2573020" cy="2077720"/>
            </a:xfrm>
            <a:custGeom>
              <a:avLst/>
              <a:gdLst/>
              <a:ahLst/>
              <a:cxnLst/>
              <a:rect l="l" t="t" r="r" b="b"/>
              <a:pathLst>
                <a:path w="2573020" h="2077720">
                  <a:moveTo>
                    <a:pt x="2301712" y="181974"/>
                  </a:moveTo>
                  <a:lnTo>
                    <a:pt x="2572873" y="181974"/>
                  </a:lnTo>
                  <a:lnTo>
                    <a:pt x="2572873" y="0"/>
                  </a:lnTo>
                  <a:lnTo>
                    <a:pt x="2301712" y="0"/>
                  </a:lnTo>
                  <a:lnTo>
                    <a:pt x="2301712" y="181974"/>
                  </a:lnTo>
                  <a:close/>
                </a:path>
                <a:path w="2573020" h="2077720">
                  <a:moveTo>
                    <a:pt x="0" y="2077388"/>
                  </a:moveTo>
                  <a:lnTo>
                    <a:pt x="361247" y="2077388"/>
                  </a:lnTo>
                  <a:lnTo>
                    <a:pt x="361247" y="1895413"/>
                  </a:lnTo>
                  <a:lnTo>
                    <a:pt x="0" y="1895413"/>
                  </a:lnTo>
                  <a:lnTo>
                    <a:pt x="0" y="2077388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/>
          <p:cNvSpPr txBox="1"/>
          <p:nvPr/>
        </p:nvSpPr>
        <p:spPr>
          <a:xfrm>
            <a:off x="3518774" y="3456157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.94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3391753" y="3473479"/>
            <a:ext cx="695325" cy="187960"/>
            <a:chOff x="3391753" y="3473479"/>
            <a:chExt cx="695325" cy="187960"/>
          </a:xfrm>
        </p:grpSpPr>
        <p:sp>
          <p:nvSpPr>
            <p:cNvPr id="46" name="object 46"/>
            <p:cNvSpPr/>
            <p:nvPr/>
          </p:nvSpPr>
          <p:spPr>
            <a:xfrm>
              <a:off x="3811554" y="3476336"/>
              <a:ext cx="272415" cy="182245"/>
            </a:xfrm>
            <a:custGeom>
              <a:avLst/>
              <a:gdLst/>
              <a:ahLst/>
              <a:cxnLst/>
              <a:rect l="l" t="t" r="r" b="b"/>
              <a:pathLst>
                <a:path w="272414" h="182245">
                  <a:moveTo>
                    <a:pt x="0" y="181974"/>
                  </a:moveTo>
                  <a:lnTo>
                    <a:pt x="272061" y="181974"/>
                  </a:lnTo>
                  <a:lnTo>
                    <a:pt x="272061" y="0"/>
                  </a:lnTo>
                  <a:lnTo>
                    <a:pt x="0" y="0"/>
                  </a:lnTo>
                  <a:lnTo>
                    <a:pt x="0" y="1819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391753" y="3538494"/>
              <a:ext cx="59690" cy="59055"/>
            </a:xfrm>
            <a:custGeom>
              <a:avLst/>
              <a:gdLst/>
              <a:ahLst/>
              <a:cxnLst/>
              <a:rect l="l" t="t" r="r" b="b"/>
              <a:pathLst>
                <a:path w="59689" h="59054">
                  <a:moveTo>
                    <a:pt x="0" y="0"/>
                  </a:moveTo>
                  <a:lnTo>
                    <a:pt x="0" y="58567"/>
                  </a:lnTo>
                  <a:lnTo>
                    <a:pt x="59451" y="28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451204" y="3476336"/>
              <a:ext cx="361315" cy="182245"/>
            </a:xfrm>
            <a:custGeom>
              <a:avLst/>
              <a:gdLst/>
              <a:ahLst/>
              <a:cxnLst/>
              <a:rect l="l" t="t" r="r" b="b"/>
              <a:pathLst>
                <a:path w="361314" h="182245">
                  <a:moveTo>
                    <a:pt x="361247" y="0"/>
                  </a:moveTo>
                  <a:lnTo>
                    <a:pt x="0" y="0"/>
                  </a:lnTo>
                  <a:lnTo>
                    <a:pt x="0" y="181974"/>
                  </a:lnTo>
                  <a:lnTo>
                    <a:pt x="361247" y="181974"/>
                  </a:lnTo>
                  <a:lnTo>
                    <a:pt x="36124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3451204" y="3476336"/>
              <a:ext cx="361315" cy="182245"/>
            </a:xfrm>
            <a:custGeom>
              <a:avLst/>
              <a:gdLst/>
              <a:ahLst/>
              <a:cxnLst/>
              <a:rect l="l" t="t" r="r" b="b"/>
              <a:pathLst>
                <a:path w="361314" h="182245">
                  <a:moveTo>
                    <a:pt x="0" y="181974"/>
                  </a:moveTo>
                  <a:lnTo>
                    <a:pt x="361247" y="181974"/>
                  </a:lnTo>
                  <a:lnTo>
                    <a:pt x="361247" y="0"/>
                  </a:lnTo>
                  <a:lnTo>
                    <a:pt x="0" y="0"/>
                  </a:lnTo>
                  <a:lnTo>
                    <a:pt x="0" y="1819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50" name="object 50"/>
          <p:cNvGraphicFramePr>
            <a:graphicFrameLocks noGrp="1"/>
          </p:cNvGraphicFramePr>
          <p:nvPr/>
        </p:nvGraphicFramePr>
        <p:xfrm>
          <a:off x="2770936" y="991634"/>
          <a:ext cx="628650" cy="2714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1780"/>
                <a:gridCol w="347345"/>
              </a:tblGrid>
              <a:tr h="27160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89639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80618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5581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5584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4681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5576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27115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27116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4681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5576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4674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6484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2702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5581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6032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51" name="object 51"/>
          <p:cNvSpPr txBox="1"/>
          <p:nvPr/>
        </p:nvSpPr>
        <p:spPr>
          <a:xfrm>
            <a:off x="3451204" y="3476336"/>
            <a:ext cx="361315" cy="182245"/>
          </a:xfrm>
          <a:prstGeom prst="rect">
            <a:avLst/>
          </a:prstGeom>
          <a:solidFill>
            <a:srgbClr val="FF0000"/>
          </a:solidFill>
          <a:ln w="653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7310">
              <a:lnSpc>
                <a:spcPts val="1435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.94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518774" y="1244529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.12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3391753" y="1262751"/>
            <a:ext cx="1097280" cy="2399030"/>
            <a:chOff x="3391753" y="1262751"/>
            <a:chExt cx="1097280" cy="2399030"/>
          </a:xfrm>
        </p:grpSpPr>
        <p:sp>
          <p:nvSpPr>
            <p:cNvPr id="54" name="object 54"/>
            <p:cNvSpPr/>
            <p:nvPr/>
          </p:nvSpPr>
          <p:spPr>
            <a:xfrm>
              <a:off x="3811554" y="3476336"/>
              <a:ext cx="272415" cy="182245"/>
            </a:xfrm>
            <a:custGeom>
              <a:avLst/>
              <a:gdLst/>
              <a:ahLst/>
              <a:cxnLst/>
              <a:rect l="l" t="t" r="r" b="b"/>
              <a:pathLst>
                <a:path w="272414" h="182245">
                  <a:moveTo>
                    <a:pt x="272061" y="0"/>
                  </a:moveTo>
                  <a:lnTo>
                    <a:pt x="0" y="0"/>
                  </a:lnTo>
                  <a:lnTo>
                    <a:pt x="0" y="181974"/>
                  </a:lnTo>
                  <a:lnTo>
                    <a:pt x="272061" y="181974"/>
                  </a:lnTo>
                  <a:lnTo>
                    <a:pt x="272061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811554" y="3476336"/>
              <a:ext cx="272415" cy="182245"/>
            </a:xfrm>
            <a:custGeom>
              <a:avLst/>
              <a:gdLst/>
              <a:ahLst/>
              <a:cxnLst/>
              <a:rect l="l" t="t" r="r" b="b"/>
              <a:pathLst>
                <a:path w="272414" h="182245">
                  <a:moveTo>
                    <a:pt x="0" y="181974"/>
                  </a:moveTo>
                  <a:lnTo>
                    <a:pt x="272061" y="181974"/>
                  </a:lnTo>
                  <a:lnTo>
                    <a:pt x="272061" y="0"/>
                  </a:lnTo>
                  <a:lnTo>
                    <a:pt x="0" y="0"/>
                  </a:lnTo>
                  <a:lnTo>
                    <a:pt x="0" y="1819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391753" y="3538494"/>
              <a:ext cx="59690" cy="59055"/>
            </a:xfrm>
            <a:custGeom>
              <a:avLst/>
              <a:gdLst/>
              <a:ahLst/>
              <a:cxnLst/>
              <a:rect l="l" t="t" r="r" b="b"/>
              <a:pathLst>
                <a:path w="59689" h="59054">
                  <a:moveTo>
                    <a:pt x="0" y="0"/>
                  </a:moveTo>
                  <a:lnTo>
                    <a:pt x="0" y="58567"/>
                  </a:lnTo>
                  <a:lnTo>
                    <a:pt x="59451" y="28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3811554" y="1265608"/>
              <a:ext cx="272415" cy="181610"/>
            </a:xfrm>
            <a:custGeom>
              <a:avLst/>
              <a:gdLst/>
              <a:ahLst/>
              <a:cxnLst/>
              <a:rect l="l" t="t" r="r" b="b"/>
              <a:pathLst>
                <a:path w="272414" h="181609">
                  <a:moveTo>
                    <a:pt x="0" y="181074"/>
                  </a:moveTo>
                  <a:lnTo>
                    <a:pt x="272061" y="181074"/>
                  </a:lnTo>
                  <a:lnTo>
                    <a:pt x="272061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3391753" y="1326865"/>
              <a:ext cx="59690" cy="59055"/>
            </a:xfrm>
            <a:custGeom>
              <a:avLst/>
              <a:gdLst/>
              <a:ahLst/>
              <a:cxnLst/>
              <a:rect l="l" t="t" r="r" b="b"/>
              <a:pathLst>
                <a:path w="59689" h="59055">
                  <a:moveTo>
                    <a:pt x="0" y="0"/>
                  </a:moveTo>
                  <a:lnTo>
                    <a:pt x="0" y="58567"/>
                  </a:lnTo>
                  <a:lnTo>
                    <a:pt x="59451" y="28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083615" y="1355699"/>
              <a:ext cx="349250" cy="0"/>
            </a:xfrm>
            <a:custGeom>
              <a:avLst/>
              <a:gdLst/>
              <a:ahLst/>
              <a:cxnLst/>
              <a:rect l="l" t="t" r="r" b="b"/>
              <a:pathLst>
                <a:path w="349250" h="0">
                  <a:moveTo>
                    <a:pt x="0" y="0"/>
                  </a:moveTo>
                  <a:lnTo>
                    <a:pt x="348633" y="0"/>
                  </a:lnTo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430450" y="1326865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0" y="0"/>
                  </a:moveTo>
                  <a:lnTo>
                    <a:pt x="0" y="58567"/>
                  </a:lnTo>
                  <a:lnTo>
                    <a:pt x="58552" y="28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" name="object 61"/>
          <p:cNvSpPr txBox="1"/>
          <p:nvPr/>
        </p:nvSpPr>
        <p:spPr>
          <a:xfrm>
            <a:off x="3451204" y="1265608"/>
            <a:ext cx="361315" cy="181610"/>
          </a:xfrm>
          <a:prstGeom prst="rect">
            <a:avLst/>
          </a:prstGeom>
          <a:solidFill>
            <a:srgbClr val="FF0000"/>
          </a:solidFill>
          <a:ln w="653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7310">
              <a:lnSpc>
                <a:spcPts val="1425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.12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3391753" y="1262751"/>
            <a:ext cx="1097280" cy="773430"/>
            <a:chOff x="3391753" y="1262751"/>
            <a:chExt cx="1097280" cy="773430"/>
          </a:xfrm>
        </p:grpSpPr>
        <p:sp>
          <p:nvSpPr>
            <p:cNvPr id="63" name="object 63"/>
            <p:cNvSpPr/>
            <p:nvPr/>
          </p:nvSpPr>
          <p:spPr>
            <a:xfrm>
              <a:off x="3811554" y="1265608"/>
              <a:ext cx="272415" cy="181610"/>
            </a:xfrm>
            <a:custGeom>
              <a:avLst/>
              <a:gdLst/>
              <a:ahLst/>
              <a:cxnLst/>
              <a:rect l="l" t="t" r="r" b="b"/>
              <a:pathLst>
                <a:path w="272414" h="181609">
                  <a:moveTo>
                    <a:pt x="272061" y="0"/>
                  </a:moveTo>
                  <a:lnTo>
                    <a:pt x="0" y="0"/>
                  </a:lnTo>
                  <a:lnTo>
                    <a:pt x="0" y="181074"/>
                  </a:lnTo>
                  <a:lnTo>
                    <a:pt x="272061" y="181074"/>
                  </a:lnTo>
                  <a:lnTo>
                    <a:pt x="272061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811554" y="1265608"/>
              <a:ext cx="272415" cy="181610"/>
            </a:xfrm>
            <a:custGeom>
              <a:avLst/>
              <a:gdLst/>
              <a:ahLst/>
              <a:cxnLst/>
              <a:rect l="l" t="t" r="r" b="b"/>
              <a:pathLst>
                <a:path w="272414" h="181609">
                  <a:moveTo>
                    <a:pt x="0" y="181074"/>
                  </a:moveTo>
                  <a:lnTo>
                    <a:pt x="272061" y="181074"/>
                  </a:lnTo>
                  <a:lnTo>
                    <a:pt x="272061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391753" y="1326865"/>
              <a:ext cx="59690" cy="59055"/>
            </a:xfrm>
            <a:custGeom>
              <a:avLst/>
              <a:gdLst/>
              <a:ahLst/>
              <a:cxnLst/>
              <a:rect l="l" t="t" r="r" b="b"/>
              <a:pathLst>
                <a:path w="59689" h="59055">
                  <a:moveTo>
                    <a:pt x="0" y="0"/>
                  </a:moveTo>
                  <a:lnTo>
                    <a:pt x="0" y="58567"/>
                  </a:lnTo>
                  <a:lnTo>
                    <a:pt x="59451" y="28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037670" y="1355699"/>
              <a:ext cx="394970" cy="0"/>
            </a:xfrm>
            <a:custGeom>
              <a:avLst/>
              <a:gdLst/>
              <a:ahLst/>
              <a:cxnLst/>
              <a:rect l="l" t="t" r="r" b="b"/>
              <a:pathLst>
                <a:path w="394970" h="0">
                  <a:moveTo>
                    <a:pt x="0" y="0"/>
                  </a:moveTo>
                  <a:lnTo>
                    <a:pt x="394578" y="0"/>
                  </a:lnTo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430450" y="1326865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0" y="0"/>
                  </a:moveTo>
                  <a:lnTo>
                    <a:pt x="0" y="58567"/>
                  </a:lnTo>
                  <a:lnTo>
                    <a:pt x="58552" y="28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451204" y="1852074"/>
              <a:ext cx="361315" cy="181610"/>
            </a:xfrm>
            <a:custGeom>
              <a:avLst/>
              <a:gdLst/>
              <a:ahLst/>
              <a:cxnLst/>
              <a:rect l="l" t="t" r="r" b="b"/>
              <a:pathLst>
                <a:path w="361314" h="181610">
                  <a:moveTo>
                    <a:pt x="0" y="181074"/>
                  </a:moveTo>
                  <a:lnTo>
                    <a:pt x="361247" y="181074"/>
                  </a:lnTo>
                  <a:lnTo>
                    <a:pt x="361247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" name="object 69"/>
          <p:cNvSpPr txBox="1"/>
          <p:nvPr/>
        </p:nvSpPr>
        <p:spPr>
          <a:xfrm>
            <a:off x="3518774" y="1830989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.39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3391753" y="1849216"/>
            <a:ext cx="695325" cy="187325"/>
            <a:chOff x="3391753" y="1849216"/>
            <a:chExt cx="695325" cy="187325"/>
          </a:xfrm>
        </p:grpSpPr>
        <p:sp>
          <p:nvSpPr>
            <p:cNvPr id="71" name="object 71"/>
            <p:cNvSpPr/>
            <p:nvPr/>
          </p:nvSpPr>
          <p:spPr>
            <a:xfrm>
              <a:off x="3811554" y="1852074"/>
              <a:ext cx="272415" cy="181610"/>
            </a:xfrm>
            <a:custGeom>
              <a:avLst/>
              <a:gdLst/>
              <a:ahLst/>
              <a:cxnLst/>
              <a:rect l="l" t="t" r="r" b="b"/>
              <a:pathLst>
                <a:path w="272414" h="181610">
                  <a:moveTo>
                    <a:pt x="0" y="181074"/>
                  </a:moveTo>
                  <a:lnTo>
                    <a:pt x="272061" y="181074"/>
                  </a:lnTo>
                  <a:lnTo>
                    <a:pt x="272061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391753" y="1913331"/>
              <a:ext cx="59690" cy="59055"/>
            </a:xfrm>
            <a:custGeom>
              <a:avLst/>
              <a:gdLst/>
              <a:ahLst/>
              <a:cxnLst/>
              <a:rect l="l" t="t" r="r" b="b"/>
              <a:pathLst>
                <a:path w="59689" h="59055">
                  <a:moveTo>
                    <a:pt x="0" y="0"/>
                  </a:moveTo>
                  <a:lnTo>
                    <a:pt x="0" y="58567"/>
                  </a:lnTo>
                  <a:lnTo>
                    <a:pt x="59451" y="28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451204" y="1852074"/>
              <a:ext cx="361315" cy="181610"/>
            </a:xfrm>
            <a:custGeom>
              <a:avLst/>
              <a:gdLst/>
              <a:ahLst/>
              <a:cxnLst/>
              <a:rect l="l" t="t" r="r" b="b"/>
              <a:pathLst>
                <a:path w="361314" h="181610">
                  <a:moveTo>
                    <a:pt x="0" y="181074"/>
                  </a:moveTo>
                  <a:lnTo>
                    <a:pt x="361247" y="181074"/>
                  </a:lnTo>
                  <a:lnTo>
                    <a:pt x="361247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4" name="object 74"/>
          <p:cNvSpPr txBox="1"/>
          <p:nvPr/>
        </p:nvSpPr>
        <p:spPr>
          <a:xfrm>
            <a:off x="3518774" y="1830989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.39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3448347" y="1849216"/>
            <a:ext cx="638175" cy="187325"/>
            <a:chOff x="3448347" y="1849216"/>
            <a:chExt cx="638175" cy="187325"/>
          </a:xfrm>
        </p:grpSpPr>
        <p:sp>
          <p:nvSpPr>
            <p:cNvPr id="76" name="object 76"/>
            <p:cNvSpPr/>
            <p:nvPr/>
          </p:nvSpPr>
          <p:spPr>
            <a:xfrm>
              <a:off x="3811554" y="1852074"/>
              <a:ext cx="272415" cy="181610"/>
            </a:xfrm>
            <a:custGeom>
              <a:avLst/>
              <a:gdLst/>
              <a:ahLst/>
              <a:cxnLst/>
              <a:rect l="l" t="t" r="r" b="b"/>
              <a:pathLst>
                <a:path w="272414" h="181610">
                  <a:moveTo>
                    <a:pt x="0" y="181074"/>
                  </a:moveTo>
                  <a:lnTo>
                    <a:pt x="272061" y="181074"/>
                  </a:lnTo>
                  <a:lnTo>
                    <a:pt x="272061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3451204" y="1852074"/>
              <a:ext cx="361315" cy="181610"/>
            </a:xfrm>
            <a:custGeom>
              <a:avLst/>
              <a:gdLst/>
              <a:ahLst/>
              <a:cxnLst/>
              <a:rect l="l" t="t" r="r" b="b"/>
              <a:pathLst>
                <a:path w="361314" h="181610">
                  <a:moveTo>
                    <a:pt x="361247" y="0"/>
                  </a:moveTo>
                  <a:lnTo>
                    <a:pt x="0" y="0"/>
                  </a:lnTo>
                  <a:lnTo>
                    <a:pt x="0" y="181074"/>
                  </a:lnTo>
                  <a:lnTo>
                    <a:pt x="361247" y="181074"/>
                  </a:lnTo>
                  <a:lnTo>
                    <a:pt x="36124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451204" y="1852074"/>
              <a:ext cx="361315" cy="181610"/>
            </a:xfrm>
            <a:custGeom>
              <a:avLst/>
              <a:gdLst/>
              <a:ahLst/>
              <a:cxnLst/>
              <a:rect l="l" t="t" r="r" b="b"/>
              <a:pathLst>
                <a:path w="361314" h="181610">
                  <a:moveTo>
                    <a:pt x="0" y="181074"/>
                  </a:moveTo>
                  <a:lnTo>
                    <a:pt x="361247" y="181074"/>
                  </a:lnTo>
                  <a:lnTo>
                    <a:pt x="361247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" name="object 79"/>
          <p:cNvSpPr txBox="1"/>
          <p:nvPr/>
        </p:nvSpPr>
        <p:spPr>
          <a:xfrm>
            <a:off x="3451204" y="1852074"/>
            <a:ext cx="361315" cy="181610"/>
          </a:xfrm>
          <a:prstGeom prst="rect">
            <a:avLst/>
          </a:prstGeom>
          <a:solidFill>
            <a:srgbClr val="FF0000"/>
          </a:solidFill>
          <a:ln w="653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7310">
              <a:lnSpc>
                <a:spcPts val="1425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.39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80" name="object 80"/>
          <p:cNvGrpSpPr/>
          <p:nvPr/>
        </p:nvGrpSpPr>
        <p:grpSpPr>
          <a:xfrm>
            <a:off x="3391753" y="1849216"/>
            <a:ext cx="695325" cy="999490"/>
            <a:chOff x="3391753" y="1849216"/>
            <a:chExt cx="695325" cy="999490"/>
          </a:xfrm>
        </p:grpSpPr>
        <p:sp>
          <p:nvSpPr>
            <p:cNvPr id="81" name="object 81"/>
            <p:cNvSpPr/>
            <p:nvPr/>
          </p:nvSpPr>
          <p:spPr>
            <a:xfrm>
              <a:off x="3811554" y="1852074"/>
              <a:ext cx="272415" cy="181610"/>
            </a:xfrm>
            <a:custGeom>
              <a:avLst/>
              <a:gdLst/>
              <a:ahLst/>
              <a:cxnLst/>
              <a:rect l="l" t="t" r="r" b="b"/>
              <a:pathLst>
                <a:path w="272414" h="181610">
                  <a:moveTo>
                    <a:pt x="272061" y="0"/>
                  </a:moveTo>
                  <a:lnTo>
                    <a:pt x="0" y="0"/>
                  </a:lnTo>
                  <a:lnTo>
                    <a:pt x="0" y="181074"/>
                  </a:lnTo>
                  <a:lnTo>
                    <a:pt x="272061" y="181074"/>
                  </a:lnTo>
                  <a:lnTo>
                    <a:pt x="272061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3811554" y="1852074"/>
              <a:ext cx="272415" cy="181610"/>
            </a:xfrm>
            <a:custGeom>
              <a:avLst/>
              <a:gdLst/>
              <a:ahLst/>
              <a:cxnLst/>
              <a:rect l="l" t="t" r="r" b="b"/>
              <a:pathLst>
                <a:path w="272414" h="181610">
                  <a:moveTo>
                    <a:pt x="0" y="181074"/>
                  </a:moveTo>
                  <a:lnTo>
                    <a:pt x="272061" y="181074"/>
                  </a:lnTo>
                  <a:lnTo>
                    <a:pt x="272061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3391753" y="1913331"/>
              <a:ext cx="59690" cy="59055"/>
            </a:xfrm>
            <a:custGeom>
              <a:avLst/>
              <a:gdLst/>
              <a:ahLst/>
              <a:cxnLst/>
              <a:rect l="l" t="t" r="r" b="b"/>
              <a:pathLst>
                <a:path w="59689" h="59055">
                  <a:moveTo>
                    <a:pt x="0" y="0"/>
                  </a:moveTo>
                  <a:lnTo>
                    <a:pt x="0" y="58567"/>
                  </a:lnTo>
                  <a:lnTo>
                    <a:pt x="59451" y="28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3451204" y="2664655"/>
              <a:ext cx="361315" cy="181610"/>
            </a:xfrm>
            <a:custGeom>
              <a:avLst/>
              <a:gdLst/>
              <a:ahLst/>
              <a:cxnLst/>
              <a:rect l="l" t="t" r="r" b="b"/>
              <a:pathLst>
                <a:path w="361314" h="181610">
                  <a:moveTo>
                    <a:pt x="0" y="181074"/>
                  </a:moveTo>
                  <a:lnTo>
                    <a:pt x="361247" y="181074"/>
                  </a:lnTo>
                  <a:lnTo>
                    <a:pt x="361247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5" name="object 85"/>
          <p:cNvSpPr txBox="1"/>
          <p:nvPr/>
        </p:nvSpPr>
        <p:spPr>
          <a:xfrm>
            <a:off x="3518774" y="2643573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.68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86" name="object 86"/>
          <p:cNvGrpSpPr/>
          <p:nvPr/>
        </p:nvGrpSpPr>
        <p:grpSpPr>
          <a:xfrm>
            <a:off x="3391753" y="2661798"/>
            <a:ext cx="695325" cy="187325"/>
            <a:chOff x="3391753" y="2661798"/>
            <a:chExt cx="695325" cy="187325"/>
          </a:xfrm>
        </p:grpSpPr>
        <p:sp>
          <p:nvSpPr>
            <p:cNvPr id="87" name="object 87"/>
            <p:cNvSpPr/>
            <p:nvPr/>
          </p:nvSpPr>
          <p:spPr>
            <a:xfrm>
              <a:off x="3811554" y="2664655"/>
              <a:ext cx="272415" cy="181610"/>
            </a:xfrm>
            <a:custGeom>
              <a:avLst/>
              <a:gdLst/>
              <a:ahLst/>
              <a:cxnLst/>
              <a:rect l="l" t="t" r="r" b="b"/>
              <a:pathLst>
                <a:path w="272414" h="181610">
                  <a:moveTo>
                    <a:pt x="0" y="181074"/>
                  </a:moveTo>
                  <a:lnTo>
                    <a:pt x="272061" y="181074"/>
                  </a:lnTo>
                  <a:lnTo>
                    <a:pt x="272061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3391753" y="2725912"/>
              <a:ext cx="59690" cy="59055"/>
            </a:xfrm>
            <a:custGeom>
              <a:avLst/>
              <a:gdLst/>
              <a:ahLst/>
              <a:cxnLst/>
              <a:rect l="l" t="t" r="r" b="b"/>
              <a:pathLst>
                <a:path w="59689" h="59055">
                  <a:moveTo>
                    <a:pt x="0" y="0"/>
                  </a:moveTo>
                  <a:lnTo>
                    <a:pt x="0" y="58567"/>
                  </a:lnTo>
                  <a:lnTo>
                    <a:pt x="59451" y="28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451204" y="2664655"/>
              <a:ext cx="361315" cy="181610"/>
            </a:xfrm>
            <a:custGeom>
              <a:avLst/>
              <a:gdLst/>
              <a:ahLst/>
              <a:cxnLst/>
              <a:rect l="l" t="t" r="r" b="b"/>
              <a:pathLst>
                <a:path w="361314" h="181610">
                  <a:moveTo>
                    <a:pt x="361247" y="0"/>
                  </a:moveTo>
                  <a:lnTo>
                    <a:pt x="0" y="0"/>
                  </a:lnTo>
                  <a:lnTo>
                    <a:pt x="0" y="181074"/>
                  </a:lnTo>
                  <a:lnTo>
                    <a:pt x="361247" y="181074"/>
                  </a:lnTo>
                  <a:lnTo>
                    <a:pt x="36124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3451204" y="2664655"/>
              <a:ext cx="361315" cy="181610"/>
            </a:xfrm>
            <a:custGeom>
              <a:avLst/>
              <a:gdLst/>
              <a:ahLst/>
              <a:cxnLst/>
              <a:rect l="l" t="t" r="r" b="b"/>
              <a:pathLst>
                <a:path w="361314" h="181610">
                  <a:moveTo>
                    <a:pt x="0" y="181074"/>
                  </a:moveTo>
                  <a:lnTo>
                    <a:pt x="361247" y="181074"/>
                  </a:lnTo>
                  <a:lnTo>
                    <a:pt x="361247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1" name="object 91"/>
          <p:cNvSpPr txBox="1"/>
          <p:nvPr/>
        </p:nvSpPr>
        <p:spPr>
          <a:xfrm>
            <a:off x="3451204" y="2664655"/>
            <a:ext cx="361315" cy="181610"/>
          </a:xfrm>
          <a:prstGeom prst="rect">
            <a:avLst/>
          </a:prstGeom>
          <a:solidFill>
            <a:srgbClr val="FF0000"/>
          </a:solidFill>
          <a:ln w="653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7310">
              <a:lnSpc>
                <a:spcPts val="1425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.68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3518774" y="2914731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.72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93" name="object 93"/>
          <p:cNvGrpSpPr/>
          <p:nvPr/>
        </p:nvGrpSpPr>
        <p:grpSpPr>
          <a:xfrm>
            <a:off x="3391753" y="2661798"/>
            <a:ext cx="1097280" cy="458470"/>
            <a:chOff x="3391753" y="2661798"/>
            <a:chExt cx="1097280" cy="458470"/>
          </a:xfrm>
        </p:grpSpPr>
        <p:sp>
          <p:nvSpPr>
            <p:cNvPr id="94" name="object 94"/>
            <p:cNvSpPr/>
            <p:nvPr/>
          </p:nvSpPr>
          <p:spPr>
            <a:xfrm>
              <a:off x="3811554" y="2664655"/>
              <a:ext cx="272415" cy="181610"/>
            </a:xfrm>
            <a:custGeom>
              <a:avLst/>
              <a:gdLst/>
              <a:ahLst/>
              <a:cxnLst/>
              <a:rect l="l" t="t" r="r" b="b"/>
              <a:pathLst>
                <a:path w="272414" h="181610">
                  <a:moveTo>
                    <a:pt x="272061" y="0"/>
                  </a:moveTo>
                  <a:lnTo>
                    <a:pt x="0" y="0"/>
                  </a:lnTo>
                  <a:lnTo>
                    <a:pt x="0" y="181074"/>
                  </a:lnTo>
                  <a:lnTo>
                    <a:pt x="272061" y="181074"/>
                  </a:lnTo>
                  <a:lnTo>
                    <a:pt x="272061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3811554" y="2664655"/>
              <a:ext cx="272415" cy="181610"/>
            </a:xfrm>
            <a:custGeom>
              <a:avLst/>
              <a:gdLst/>
              <a:ahLst/>
              <a:cxnLst/>
              <a:rect l="l" t="t" r="r" b="b"/>
              <a:pathLst>
                <a:path w="272414" h="181610">
                  <a:moveTo>
                    <a:pt x="0" y="181074"/>
                  </a:moveTo>
                  <a:lnTo>
                    <a:pt x="272061" y="181074"/>
                  </a:lnTo>
                  <a:lnTo>
                    <a:pt x="272061" y="0"/>
                  </a:lnTo>
                  <a:lnTo>
                    <a:pt x="0" y="0"/>
                  </a:lnTo>
                  <a:lnTo>
                    <a:pt x="0" y="1810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3391753" y="2725912"/>
              <a:ext cx="59690" cy="59055"/>
            </a:xfrm>
            <a:custGeom>
              <a:avLst/>
              <a:gdLst/>
              <a:ahLst/>
              <a:cxnLst/>
              <a:rect l="l" t="t" r="r" b="b"/>
              <a:pathLst>
                <a:path w="59689" h="59055">
                  <a:moveTo>
                    <a:pt x="0" y="0"/>
                  </a:moveTo>
                  <a:lnTo>
                    <a:pt x="0" y="58567"/>
                  </a:lnTo>
                  <a:lnTo>
                    <a:pt x="59451" y="28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3811554" y="2934920"/>
              <a:ext cx="272415" cy="182245"/>
            </a:xfrm>
            <a:custGeom>
              <a:avLst/>
              <a:gdLst/>
              <a:ahLst/>
              <a:cxnLst/>
              <a:rect l="l" t="t" r="r" b="b"/>
              <a:pathLst>
                <a:path w="272414" h="182244">
                  <a:moveTo>
                    <a:pt x="0" y="181974"/>
                  </a:moveTo>
                  <a:lnTo>
                    <a:pt x="272061" y="181974"/>
                  </a:lnTo>
                  <a:lnTo>
                    <a:pt x="272061" y="0"/>
                  </a:lnTo>
                  <a:lnTo>
                    <a:pt x="0" y="0"/>
                  </a:lnTo>
                  <a:lnTo>
                    <a:pt x="0" y="1819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3391753" y="2996179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0" y="0"/>
                  </a:moveTo>
                  <a:lnTo>
                    <a:pt x="0" y="59451"/>
                  </a:lnTo>
                  <a:lnTo>
                    <a:pt x="59451" y="288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4083615" y="3024997"/>
              <a:ext cx="349250" cy="0"/>
            </a:xfrm>
            <a:custGeom>
              <a:avLst/>
              <a:gdLst/>
              <a:ahLst/>
              <a:cxnLst/>
              <a:rect l="l" t="t" r="r" b="b"/>
              <a:pathLst>
                <a:path w="349250" h="0">
                  <a:moveTo>
                    <a:pt x="0" y="0"/>
                  </a:moveTo>
                  <a:lnTo>
                    <a:pt x="348633" y="0"/>
                  </a:lnTo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4430450" y="2996179"/>
              <a:ext cx="59055" cy="59690"/>
            </a:xfrm>
            <a:custGeom>
              <a:avLst/>
              <a:gdLst/>
              <a:ahLst/>
              <a:cxnLst/>
              <a:rect l="l" t="t" r="r" b="b"/>
              <a:pathLst>
                <a:path w="59054" h="59689">
                  <a:moveTo>
                    <a:pt x="0" y="0"/>
                  </a:moveTo>
                  <a:lnTo>
                    <a:pt x="0" y="59451"/>
                  </a:lnTo>
                  <a:lnTo>
                    <a:pt x="58552" y="288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1" name="object 101"/>
          <p:cNvSpPr txBox="1"/>
          <p:nvPr/>
        </p:nvSpPr>
        <p:spPr>
          <a:xfrm>
            <a:off x="3451204" y="2934920"/>
            <a:ext cx="361315" cy="182245"/>
          </a:xfrm>
          <a:prstGeom prst="rect">
            <a:avLst/>
          </a:prstGeom>
          <a:solidFill>
            <a:srgbClr val="FF0000"/>
          </a:solidFill>
          <a:ln w="653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7310">
              <a:lnSpc>
                <a:spcPts val="1435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.72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4556567" y="1560733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.23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03" name="object 103"/>
          <p:cNvGrpSpPr/>
          <p:nvPr/>
        </p:nvGrpSpPr>
        <p:grpSpPr>
          <a:xfrm>
            <a:off x="3391753" y="1578065"/>
            <a:ext cx="2000250" cy="1541780"/>
            <a:chOff x="3391753" y="1578065"/>
            <a:chExt cx="2000250" cy="1541780"/>
          </a:xfrm>
        </p:grpSpPr>
        <p:sp>
          <p:nvSpPr>
            <p:cNvPr id="104" name="object 104"/>
            <p:cNvSpPr/>
            <p:nvPr/>
          </p:nvSpPr>
          <p:spPr>
            <a:xfrm>
              <a:off x="3811554" y="2934920"/>
              <a:ext cx="272415" cy="182245"/>
            </a:xfrm>
            <a:custGeom>
              <a:avLst/>
              <a:gdLst/>
              <a:ahLst/>
              <a:cxnLst/>
              <a:rect l="l" t="t" r="r" b="b"/>
              <a:pathLst>
                <a:path w="272414" h="182244">
                  <a:moveTo>
                    <a:pt x="272061" y="0"/>
                  </a:moveTo>
                  <a:lnTo>
                    <a:pt x="0" y="0"/>
                  </a:lnTo>
                  <a:lnTo>
                    <a:pt x="0" y="181974"/>
                  </a:lnTo>
                  <a:lnTo>
                    <a:pt x="272061" y="181974"/>
                  </a:lnTo>
                  <a:lnTo>
                    <a:pt x="272061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3811554" y="2934920"/>
              <a:ext cx="272415" cy="182245"/>
            </a:xfrm>
            <a:custGeom>
              <a:avLst/>
              <a:gdLst/>
              <a:ahLst/>
              <a:cxnLst/>
              <a:rect l="l" t="t" r="r" b="b"/>
              <a:pathLst>
                <a:path w="272414" h="182244">
                  <a:moveTo>
                    <a:pt x="0" y="181974"/>
                  </a:moveTo>
                  <a:lnTo>
                    <a:pt x="272061" y="181974"/>
                  </a:lnTo>
                  <a:lnTo>
                    <a:pt x="272061" y="0"/>
                  </a:lnTo>
                  <a:lnTo>
                    <a:pt x="0" y="0"/>
                  </a:lnTo>
                  <a:lnTo>
                    <a:pt x="0" y="1819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3391753" y="2996179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0" y="0"/>
                  </a:moveTo>
                  <a:lnTo>
                    <a:pt x="0" y="59451"/>
                  </a:lnTo>
                  <a:lnTo>
                    <a:pt x="59451" y="288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4037670" y="3024997"/>
              <a:ext cx="394970" cy="0"/>
            </a:xfrm>
            <a:custGeom>
              <a:avLst/>
              <a:gdLst/>
              <a:ahLst/>
              <a:cxnLst/>
              <a:rect l="l" t="t" r="r" b="b"/>
              <a:pathLst>
                <a:path w="394970" h="0">
                  <a:moveTo>
                    <a:pt x="0" y="0"/>
                  </a:moveTo>
                  <a:lnTo>
                    <a:pt x="394578" y="0"/>
                  </a:lnTo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4430450" y="2996179"/>
              <a:ext cx="59055" cy="59690"/>
            </a:xfrm>
            <a:custGeom>
              <a:avLst/>
              <a:gdLst/>
              <a:ahLst/>
              <a:cxnLst/>
              <a:rect l="l" t="t" r="r" b="b"/>
              <a:pathLst>
                <a:path w="59054" h="59689">
                  <a:moveTo>
                    <a:pt x="0" y="0"/>
                  </a:moveTo>
                  <a:lnTo>
                    <a:pt x="0" y="59451"/>
                  </a:lnTo>
                  <a:lnTo>
                    <a:pt x="58552" y="288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4850251" y="1580922"/>
              <a:ext cx="271780" cy="182245"/>
            </a:xfrm>
            <a:custGeom>
              <a:avLst/>
              <a:gdLst/>
              <a:ahLst/>
              <a:cxnLst/>
              <a:rect l="l" t="t" r="r" b="b"/>
              <a:pathLst>
                <a:path w="271779" h="182244">
                  <a:moveTo>
                    <a:pt x="0" y="181974"/>
                  </a:moveTo>
                  <a:lnTo>
                    <a:pt x="271160" y="181974"/>
                  </a:lnTo>
                  <a:lnTo>
                    <a:pt x="271160" y="0"/>
                  </a:lnTo>
                  <a:lnTo>
                    <a:pt x="0" y="0"/>
                  </a:lnTo>
                  <a:lnTo>
                    <a:pt x="0" y="1819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5121412" y="1671899"/>
              <a:ext cx="213995" cy="0"/>
            </a:xfrm>
            <a:custGeom>
              <a:avLst/>
              <a:gdLst/>
              <a:ahLst/>
              <a:cxnLst/>
              <a:rect l="l" t="t" r="r" b="b"/>
              <a:pathLst>
                <a:path w="213995" h="0">
                  <a:moveTo>
                    <a:pt x="0" y="0"/>
                  </a:moveTo>
                  <a:lnTo>
                    <a:pt x="213501" y="0"/>
                  </a:lnTo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5333115" y="1642166"/>
              <a:ext cx="59055" cy="59690"/>
            </a:xfrm>
            <a:custGeom>
              <a:avLst/>
              <a:gdLst/>
              <a:ahLst/>
              <a:cxnLst/>
              <a:rect l="l" t="t" r="r" b="b"/>
              <a:pathLst>
                <a:path w="59054" h="59689">
                  <a:moveTo>
                    <a:pt x="0" y="0"/>
                  </a:moveTo>
                  <a:lnTo>
                    <a:pt x="0" y="59466"/>
                  </a:lnTo>
                  <a:lnTo>
                    <a:pt x="58552" y="297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2" name="object 112"/>
          <p:cNvSpPr txBox="1"/>
          <p:nvPr/>
        </p:nvSpPr>
        <p:spPr>
          <a:xfrm>
            <a:off x="4489002" y="1580922"/>
            <a:ext cx="361950" cy="182245"/>
          </a:xfrm>
          <a:prstGeom prst="rect">
            <a:avLst/>
          </a:prstGeom>
          <a:solidFill>
            <a:srgbClr val="FF0000"/>
          </a:solidFill>
          <a:ln w="6538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7310">
              <a:lnSpc>
                <a:spcPts val="1435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.23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3518774" y="1560733"/>
            <a:ext cx="226060" cy="180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20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.21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14" name="object 114"/>
          <p:cNvGrpSpPr/>
          <p:nvPr/>
        </p:nvGrpSpPr>
        <p:grpSpPr>
          <a:xfrm>
            <a:off x="3391753" y="1578065"/>
            <a:ext cx="2000250" cy="187960"/>
            <a:chOff x="3391753" y="1578065"/>
            <a:chExt cx="2000250" cy="187960"/>
          </a:xfrm>
        </p:grpSpPr>
        <p:sp>
          <p:nvSpPr>
            <p:cNvPr id="115" name="object 115"/>
            <p:cNvSpPr/>
            <p:nvPr/>
          </p:nvSpPr>
          <p:spPr>
            <a:xfrm>
              <a:off x="4850251" y="1580922"/>
              <a:ext cx="271780" cy="182245"/>
            </a:xfrm>
            <a:custGeom>
              <a:avLst/>
              <a:gdLst/>
              <a:ahLst/>
              <a:cxnLst/>
              <a:rect l="l" t="t" r="r" b="b"/>
              <a:pathLst>
                <a:path w="271779" h="182244">
                  <a:moveTo>
                    <a:pt x="271160" y="0"/>
                  </a:moveTo>
                  <a:lnTo>
                    <a:pt x="0" y="0"/>
                  </a:lnTo>
                  <a:lnTo>
                    <a:pt x="0" y="181974"/>
                  </a:lnTo>
                  <a:lnTo>
                    <a:pt x="271160" y="181974"/>
                  </a:lnTo>
                  <a:lnTo>
                    <a:pt x="271160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850251" y="1580922"/>
              <a:ext cx="485140" cy="182245"/>
            </a:xfrm>
            <a:custGeom>
              <a:avLst/>
              <a:gdLst/>
              <a:ahLst/>
              <a:cxnLst/>
              <a:rect l="l" t="t" r="r" b="b"/>
              <a:pathLst>
                <a:path w="485139" h="182244">
                  <a:moveTo>
                    <a:pt x="0" y="181974"/>
                  </a:moveTo>
                  <a:lnTo>
                    <a:pt x="271160" y="181974"/>
                  </a:lnTo>
                  <a:lnTo>
                    <a:pt x="271160" y="0"/>
                  </a:lnTo>
                  <a:lnTo>
                    <a:pt x="0" y="0"/>
                  </a:lnTo>
                  <a:lnTo>
                    <a:pt x="0" y="181974"/>
                  </a:lnTo>
                  <a:close/>
                </a:path>
                <a:path w="485139" h="182244">
                  <a:moveTo>
                    <a:pt x="225216" y="90976"/>
                  </a:moveTo>
                  <a:lnTo>
                    <a:pt x="484662" y="90976"/>
                  </a:lnTo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333115" y="1642166"/>
              <a:ext cx="59055" cy="59690"/>
            </a:xfrm>
            <a:custGeom>
              <a:avLst/>
              <a:gdLst/>
              <a:ahLst/>
              <a:cxnLst/>
              <a:rect l="l" t="t" r="r" b="b"/>
              <a:pathLst>
                <a:path w="59054" h="59689">
                  <a:moveTo>
                    <a:pt x="0" y="0"/>
                  </a:moveTo>
                  <a:lnTo>
                    <a:pt x="0" y="59466"/>
                  </a:lnTo>
                  <a:lnTo>
                    <a:pt x="58552" y="297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3811554" y="1580922"/>
              <a:ext cx="272415" cy="182245"/>
            </a:xfrm>
            <a:custGeom>
              <a:avLst/>
              <a:gdLst/>
              <a:ahLst/>
              <a:cxnLst/>
              <a:rect l="l" t="t" r="r" b="b"/>
              <a:pathLst>
                <a:path w="272414" h="182244">
                  <a:moveTo>
                    <a:pt x="0" y="181974"/>
                  </a:moveTo>
                  <a:lnTo>
                    <a:pt x="272061" y="181974"/>
                  </a:lnTo>
                  <a:lnTo>
                    <a:pt x="272061" y="0"/>
                  </a:lnTo>
                  <a:lnTo>
                    <a:pt x="0" y="0"/>
                  </a:lnTo>
                  <a:lnTo>
                    <a:pt x="0" y="181974"/>
                  </a:lnTo>
                  <a:close/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4083615" y="1671899"/>
              <a:ext cx="349250" cy="0"/>
            </a:xfrm>
            <a:custGeom>
              <a:avLst/>
              <a:gdLst/>
              <a:ahLst/>
              <a:cxnLst/>
              <a:rect l="l" t="t" r="r" b="b"/>
              <a:pathLst>
                <a:path w="349250" h="0">
                  <a:moveTo>
                    <a:pt x="0" y="0"/>
                  </a:moveTo>
                  <a:lnTo>
                    <a:pt x="348633" y="0"/>
                  </a:lnTo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3391751" y="1642173"/>
              <a:ext cx="1097280" cy="59690"/>
            </a:xfrm>
            <a:custGeom>
              <a:avLst/>
              <a:gdLst/>
              <a:ahLst/>
              <a:cxnLst/>
              <a:rect l="l" t="t" r="r" b="b"/>
              <a:pathLst>
                <a:path w="1097279" h="59689">
                  <a:moveTo>
                    <a:pt x="59448" y="29730"/>
                  </a:moveTo>
                  <a:lnTo>
                    <a:pt x="0" y="0"/>
                  </a:lnTo>
                  <a:lnTo>
                    <a:pt x="0" y="59461"/>
                  </a:lnTo>
                  <a:lnTo>
                    <a:pt x="59448" y="29730"/>
                  </a:lnTo>
                  <a:close/>
                </a:path>
                <a:path w="1097279" h="59689">
                  <a:moveTo>
                    <a:pt x="1097241" y="29730"/>
                  </a:moveTo>
                  <a:lnTo>
                    <a:pt x="1038694" y="0"/>
                  </a:lnTo>
                  <a:lnTo>
                    <a:pt x="1038694" y="59461"/>
                  </a:lnTo>
                  <a:lnTo>
                    <a:pt x="1097241" y="297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1" name="object 121"/>
          <p:cNvSpPr txBox="1"/>
          <p:nvPr/>
        </p:nvSpPr>
        <p:spPr>
          <a:xfrm>
            <a:off x="3451204" y="1580922"/>
            <a:ext cx="361315" cy="182245"/>
          </a:xfrm>
          <a:prstGeom prst="rect">
            <a:avLst/>
          </a:prstGeom>
          <a:solidFill>
            <a:srgbClr val="FF0000"/>
          </a:solidFill>
          <a:ln w="653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7310">
              <a:lnSpc>
                <a:spcPts val="1435"/>
              </a:lnSpc>
            </a:pPr>
            <a:r>
              <a:rPr dirty="0" sz="1400" spc="5" b="1">
                <a:solidFill>
                  <a:srgbClr val="FFFFFF"/>
                </a:solidFill>
                <a:latin typeface="Times New Roman"/>
                <a:cs typeface="Times New Roman"/>
              </a:rPr>
              <a:t>.21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22" name="object 122"/>
          <p:cNvGrpSpPr/>
          <p:nvPr/>
        </p:nvGrpSpPr>
        <p:grpSpPr>
          <a:xfrm>
            <a:off x="3391753" y="1578065"/>
            <a:ext cx="1097280" cy="187960"/>
            <a:chOff x="3391753" y="1578065"/>
            <a:chExt cx="1097280" cy="187960"/>
          </a:xfrm>
        </p:grpSpPr>
        <p:sp>
          <p:nvSpPr>
            <p:cNvPr id="123" name="object 123"/>
            <p:cNvSpPr/>
            <p:nvPr/>
          </p:nvSpPr>
          <p:spPr>
            <a:xfrm>
              <a:off x="3811554" y="1580922"/>
              <a:ext cx="272415" cy="182245"/>
            </a:xfrm>
            <a:custGeom>
              <a:avLst/>
              <a:gdLst/>
              <a:ahLst/>
              <a:cxnLst/>
              <a:rect l="l" t="t" r="r" b="b"/>
              <a:pathLst>
                <a:path w="272414" h="182244">
                  <a:moveTo>
                    <a:pt x="272061" y="0"/>
                  </a:moveTo>
                  <a:lnTo>
                    <a:pt x="0" y="0"/>
                  </a:lnTo>
                  <a:lnTo>
                    <a:pt x="0" y="181974"/>
                  </a:lnTo>
                  <a:lnTo>
                    <a:pt x="272061" y="181974"/>
                  </a:lnTo>
                  <a:lnTo>
                    <a:pt x="272061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3811554" y="1580922"/>
              <a:ext cx="621030" cy="182245"/>
            </a:xfrm>
            <a:custGeom>
              <a:avLst/>
              <a:gdLst/>
              <a:ahLst/>
              <a:cxnLst/>
              <a:rect l="l" t="t" r="r" b="b"/>
              <a:pathLst>
                <a:path w="621029" h="182244">
                  <a:moveTo>
                    <a:pt x="0" y="181974"/>
                  </a:moveTo>
                  <a:lnTo>
                    <a:pt x="272061" y="181974"/>
                  </a:lnTo>
                  <a:lnTo>
                    <a:pt x="272061" y="0"/>
                  </a:lnTo>
                  <a:lnTo>
                    <a:pt x="0" y="0"/>
                  </a:lnTo>
                  <a:lnTo>
                    <a:pt x="0" y="181974"/>
                  </a:lnTo>
                  <a:close/>
                </a:path>
                <a:path w="621029" h="182244">
                  <a:moveTo>
                    <a:pt x="226115" y="90976"/>
                  </a:moveTo>
                  <a:lnTo>
                    <a:pt x="620694" y="90976"/>
                  </a:lnTo>
                </a:path>
              </a:pathLst>
            </a:custGeom>
            <a:ln w="5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3391751" y="1642173"/>
              <a:ext cx="1097280" cy="59690"/>
            </a:xfrm>
            <a:custGeom>
              <a:avLst/>
              <a:gdLst/>
              <a:ahLst/>
              <a:cxnLst/>
              <a:rect l="l" t="t" r="r" b="b"/>
              <a:pathLst>
                <a:path w="1097279" h="59689">
                  <a:moveTo>
                    <a:pt x="59448" y="29730"/>
                  </a:moveTo>
                  <a:lnTo>
                    <a:pt x="0" y="0"/>
                  </a:lnTo>
                  <a:lnTo>
                    <a:pt x="0" y="59461"/>
                  </a:lnTo>
                  <a:lnTo>
                    <a:pt x="59448" y="29730"/>
                  </a:lnTo>
                  <a:close/>
                </a:path>
                <a:path w="1097279" h="59689">
                  <a:moveTo>
                    <a:pt x="1097241" y="29730"/>
                  </a:moveTo>
                  <a:lnTo>
                    <a:pt x="1038694" y="0"/>
                  </a:lnTo>
                  <a:lnTo>
                    <a:pt x="1038694" y="59461"/>
                  </a:lnTo>
                  <a:lnTo>
                    <a:pt x="1097241" y="297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6" name="object 126"/>
          <p:cNvSpPr txBox="1"/>
          <p:nvPr/>
        </p:nvSpPr>
        <p:spPr>
          <a:xfrm>
            <a:off x="2589884" y="1026571"/>
            <a:ext cx="93345" cy="1879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50" spc="5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580875" y="1239464"/>
            <a:ext cx="125095" cy="2421890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21590">
              <a:lnSpc>
                <a:spcPct val="100000"/>
              </a:lnSpc>
              <a:spcBef>
                <a:spcPts val="385"/>
              </a:spcBef>
            </a:pPr>
            <a:r>
              <a:rPr dirty="0" sz="1400" spc="1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95"/>
              </a:spcBef>
            </a:pPr>
            <a:r>
              <a:rPr dirty="0" sz="1400" spc="1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1400" spc="1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400" spc="1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0"/>
              </a:spcBef>
            </a:pPr>
            <a:r>
              <a:rPr dirty="0" sz="1400" spc="1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400" spc="1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10"/>
              </a:spcBef>
            </a:pPr>
            <a:r>
              <a:rPr dirty="0" sz="1400" spc="1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400" spc="10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400" spc="10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4440273" y="2216888"/>
            <a:ext cx="1635125" cy="38608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27380" algn="l"/>
              </a:tabLst>
            </a:pP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Step</a:t>
            </a:r>
            <a:r>
              <a:rPr dirty="0" sz="1150" spc="10">
                <a:solidFill>
                  <a:srgbClr val="FFFF00"/>
                </a:solidFill>
                <a:latin typeface="Arial"/>
                <a:cs typeface="Arial"/>
              </a:rPr>
              <a:t> 1:	</a:t>
            </a: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insertion</a:t>
            </a:r>
            <a:r>
              <a:rPr dirty="0" sz="1150" spc="-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sort</a:t>
            </a:r>
            <a:endParaRPr sz="1150">
              <a:latin typeface="Arial"/>
              <a:cs typeface="Arial"/>
            </a:endParaRPr>
          </a:p>
          <a:p>
            <a:pPr marL="643890">
              <a:lnSpc>
                <a:spcPct val="100000"/>
              </a:lnSpc>
              <a:spcBef>
                <a:spcPts val="35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within</a:t>
            </a:r>
            <a:r>
              <a:rPr dirty="0" sz="1150" spc="-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50" spc="15">
                <a:solidFill>
                  <a:srgbClr val="FFFFFF"/>
                </a:solidFill>
                <a:latin typeface="Arial"/>
                <a:cs typeface="Arial"/>
              </a:rPr>
              <a:t>each</a:t>
            </a:r>
            <a:r>
              <a:rPr dirty="0" sz="1150" spc="-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list</a:t>
            </a:r>
            <a:endParaRPr sz="1150">
              <a:latin typeface="Arial"/>
              <a:cs typeface="Arial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3496246" y="2103424"/>
            <a:ext cx="2843530" cy="130175"/>
          </a:xfrm>
          <a:custGeom>
            <a:avLst/>
            <a:gdLst/>
            <a:ahLst/>
            <a:cxnLst/>
            <a:rect l="l" t="t" r="r" b="b"/>
            <a:pathLst>
              <a:path w="2843529" h="130175">
                <a:moveTo>
                  <a:pt x="2843136" y="64858"/>
                </a:moveTo>
                <a:lnTo>
                  <a:pt x="2714307" y="0"/>
                </a:lnTo>
                <a:lnTo>
                  <a:pt x="2714307" y="47739"/>
                </a:lnTo>
                <a:lnTo>
                  <a:pt x="0" y="47739"/>
                </a:lnTo>
                <a:lnTo>
                  <a:pt x="0" y="81978"/>
                </a:lnTo>
                <a:lnTo>
                  <a:pt x="2714307" y="81978"/>
                </a:lnTo>
                <a:lnTo>
                  <a:pt x="2714307" y="129717"/>
                </a:lnTo>
                <a:lnTo>
                  <a:pt x="2843136" y="6485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" name="object 130"/>
          <p:cNvSpPr txBox="1"/>
          <p:nvPr/>
        </p:nvSpPr>
        <p:spPr>
          <a:xfrm>
            <a:off x="2033383" y="3832988"/>
            <a:ext cx="4163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5.21: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Bucket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1, placing </a:t>
            </a:r>
            <a:r>
              <a:rPr dirty="0" sz="1200" spc="-15">
                <a:latin typeface="Times New Roman"/>
                <a:cs typeface="Times New Roman"/>
              </a:rPr>
              <a:t>keys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bins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sorted order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1790700" y="5889142"/>
            <a:ext cx="4648200" cy="2788285"/>
          </a:xfrm>
          <a:custGeom>
            <a:avLst/>
            <a:gdLst/>
            <a:ahLst/>
            <a:cxnLst/>
            <a:rect l="l" t="t" r="r" b="b"/>
            <a:pathLst>
              <a:path w="4648200" h="2788284">
                <a:moveTo>
                  <a:pt x="4648001" y="0"/>
                </a:moveTo>
                <a:lnTo>
                  <a:pt x="0" y="0"/>
                </a:lnTo>
                <a:lnTo>
                  <a:pt x="0" y="2788005"/>
                </a:lnTo>
                <a:lnTo>
                  <a:pt x="4648001" y="2788005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" name="object 132"/>
          <p:cNvSpPr txBox="1"/>
          <p:nvPr/>
        </p:nvSpPr>
        <p:spPr>
          <a:xfrm>
            <a:off x="1912250" y="5966822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.78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912250" y="6234919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.17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1912250" y="6501238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.39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1912250" y="6768445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.26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1912250" y="7035641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.72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912250" y="7301959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.94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1912250" y="7569168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.21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1912250" y="7835486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.12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1912250" y="8369013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.68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1912250" y="8102694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.23</a:t>
            </a:r>
            <a:endParaRPr sz="1400">
              <a:latin typeface="Times New Roman"/>
              <a:cs typeface="Times New Roman"/>
            </a:endParaRPr>
          </a:p>
        </p:txBody>
      </p:sp>
      <p:graphicFrame>
        <p:nvGraphicFramePr>
          <p:cNvPr id="142" name="object 142"/>
          <p:cNvGraphicFramePr>
            <a:graphicFrameLocks noGrp="1"/>
          </p:cNvGraphicFramePr>
          <p:nvPr/>
        </p:nvGraphicFramePr>
        <p:xfrm>
          <a:off x="1842891" y="5941328"/>
          <a:ext cx="365760" cy="2674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870"/>
              </a:tblGrid>
              <a:tr h="267649">
                <a:tc>
                  <a:txBody>
                    <a:bodyPr/>
                    <a:lstStyle/>
                    <a:p>
                      <a:pPr algn="r" marR="603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.78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90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6317">
                <a:tc>
                  <a:txBody>
                    <a:bodyPr/>
                    <a:lstStyle/>
                    <a:p>
                      <a:pPr algn="r" marR="6032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.17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968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7204">
                <a:tc>
                  <a:txBody>
                    <a:bodyPr/>
                    <a:lstStyle/>
                    <a:p>
                      <a:pPr algn="r" marR="6032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.39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968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6317">
                <a:tc>
                  <a:txBody>
                    <a:bodyPr/>
                    <a:lstStyle/>
                    <a:p>
                      <a:pPr algn="r" marR="6032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.26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968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7204">
                <a:tc>
                  <a:txBody>
                    <a:bodyPr/>
                    <a:lstStyle/>
                    <a:p>
                      <a:pPr algn="r" marR="6032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.72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032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6317">
                <a:tc>
                  <a:txBody>
                    <a:bodyPr/>
                    <a:lstStyle/>
                    <a:p>
                      <a:pPr algn="r" marR="6032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.94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968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7204">
                <a:tc>
                  <a:txBody>
                    <a:bodyPr/>
                    <a:lstStyle/>
                    <a:p>
                      <a:pPr algn="r" marR="6032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.21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032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6317">
                <a:tc>
                  <a:txBody>
                    <a:bodyPr/>
                    <a:lstStyle/>
                    <a:p>
                      <a:pPr algn="r" marR="6032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.12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968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7204">
                <a:tc>
                  <a:txBody>
                    <a:bodyPr/>
                    <a:lstStyle/>
                    <a:p>
                      <a:pPr algn="r" marR="6032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.23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032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6762">
                <a:tc>
                  <a:txBody>
                    <a:bodyPr/>
                    <a:lstStyle/>
                    <a:p>
                      <a:pPr algn="r" marR="6032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40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.68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968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</a:tbl>
          </a:graphicData>
        </a:graphic>
      </p:graphicFrame>
      <p:sp>
        <p:nvSpPr>
          <p:cNvPr id="143" name="object 143"/>
          <p:cNvSpPr/>
          <p:nvPr/>
        </p:nvSpPr>
        <p:spPr>
          <a:xfrm>
            <a:off x="4468901" y="7856257"/>
            <a:ext cx="356870" cy="178435"/>
          </a:xfrm>
          <a:custGeom>
            <a:avLst/>
            <a:gdLst/>
            <a:ahLst/>
            <a:cxnLst/>
            <a:rect l="l" t="t" r="r" b="b"/>
            <a:pathLst>
              <a:path w="356870" h="178434">
                <a:moveTo>
                  <a:pt x="0" y="178432"/>
                </a:moveTo>
                <a:lnTo>
                  <a:pt x="356865" y="178432"/>
                </a:lnTo>
                <a:lnTo>
                  <a:pt x="356865" y="0"/>
                </a:lnTo>
                <a:lnTo>
                  <a:pt x="0" y="0"/>
                </a:lnTo>
                <a:lnTo>
                  <a:pt x="0" y="178432"/>
                </a:lnTo>
                <a:close/>
              </a:path>
            </a:pathLst>
          </a:custGeom>
          <a:ln w="5557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" name="object 144"/>
          <p:cNvSpPr txBox="1"/>
          <p:nvPr/>
        </p:nvSpPr>
        <p:spPr>
          <a:xfrm>
            <a:off x="4535473" y="7835486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.78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45" name="object 145"/>
          <p:cNvGrpSpPr/>
          <p:nvPr/>
        </p:nvGrpSpPr>
        <p:grpSpPr>
          <a:xfrm>
            <a:off x="4466043" y="7853400"/>
            <a:ext cx="629285" cy="184150"/>
            <a:chOff x="4466043" y="7853400"/>
            <a:chExt cx="629285" cy="184150"/>
          </a:xfrm>
        </p:grpSpPr>
        <p:sp>
          <p:nvSpPr>
            <p:cNvPr id="146" name="object 146"/>
            <p:cNvSpPr/>
            <p:nvPr/>
          </p:nvSpPr>
          <p:spPr>
            <a:xfrm>
              <a:off x="4824877" y="7856257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4">
                  <a:moveTo>
                    <a:pt x="0" y="178432"/>
                  </a:moveTo>
                  <a:lnTo>
                    <a:pt x="267205" y="178432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4468901" y="7856257"/>
              <a:ext cx="356870" cy="178435"/>
            </a:xfrm>
            <a:custGeom>
              <a:avLst/>
              <a:gdLst/>
              <a:ahLst/>
              <a:cxnLst/>
              <a:rect l="l" t="t" r="r" b="b"/>
              <a:pathLst>
                <a:path w="356870" h="178434">
                  <a:moveTo>
                    <a:pt x="356865" y="0"/>
                  </a:moveTo>
                  <a:lnTo>
                    <a:pt x="0" y="0"/>
                  </a:lnTo>
                  <a:lnTo>
                    <a:pt x="0" y="178432"/>
                  </a:lnTo>
                  <a:lnTo>
                    <a:pt x="356865" y="178432"/>
                  </a:lnTo>
                  <a:lnTo>
                    <a:pt x="35686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4468901" y="7856257"/>
              <a:ext cx="356870" cy="178435"/>
            </a:xfrm>
            <a:custGeom>
              <a:avLst/>
              <a:gdLst/>
              <a:ahLst/>
              <a:cxnLst/>
              <a:rect l="l" t="t" r="r" b="b"/>
              <a:pathLst>
                <a:path w="356870" h="178434">
                  <a:moveTo>
                    <a:pt x="0" y="178432"/>
                  </a:moveTo>
                  <a:lnTo>
                    <a:pt x="356865" y="178432"/>
                  </a:lnTo>
                  <a:lnTo>
                    <a:pt x="35686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9" name="object 149"/>
          <p:cNvSpPr txBox="1"/>
          <p:nvPr/>
        </p:nvSpPr>
        <p:spPr>
          <a:xfrm>
            <a:off x="4468901" y="7856257"/>
            <a:ext cx="356870" cy="178435"/>
          </a:xfrm>
          <a:prstGeom prst="rect">
            <a:avLst/>
          </a:prstGeom>
          <a:solidFill>
            <a:srgbClr val="FF0000"/>
          </a:solidFill>
          <a:ln w="644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405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.78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50" name="object 150"/>
          <p:cNvGrpSpPr/>
          <p:nvPr/>
        </p:nvGrpSpPr>
        <p:grpSpPr>
          <a:xfrm>
            <a:off x="4466043" y="6208455"/>
            <a:ext cx="629285" cy="1829435"/>
            <a:chOff x="4466043" y="6208455"/>
            <a:chExt cx="629285" cy="1829435"/>
          </a:xfrm>
        </p:grpSpPr>
        <p:sp>
          <p:nvSpPr>
            <p:cNvPr id="151" name="object 151"/>
            <p:cNvSpPr/>
            <p:nvPr/>
          </p:nvSpPr>
          <p:spPr>
            <a:xfrm>
              <a:off x="4824877" y="7856257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4">
                  <a:moveTo>
                    <a:pt x="267205" y="0"/>
                  </a:moveTo>
                  <a:lnTo>
                    <a:pt x="0" y="0"/>
                  </a:lnTo>
                  <a:lnTo>
                    <a:pt x="0" y="178432"/>
                  </a:lnTo>
                  <a:lnTo>
                    <a:pt x="267205" y="178432"/>
                  </a:lnTo>
                  <a:lnTo>
                    <a:pt x="267205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4468901" y="6211313"/>
              <a:ext cx="623570" cy="1823720"/>
            </a:xfrm>
            <a:custGeom>
              <a:avLst/>
              <a:gdLst/>
              <a:ahLst/>
              <a:cxnLst/>
              <a:rect l="l" t="t" r="r" b="b"/>
              <a:pathLst>
                <a:path w="623570" h="1823720">
                  <a:moveTo>
                    <a:pt x="355975" y="1823377"/>
                  </a:moveTo>
                  <a:lnTo>
                    <a:pt x="623181" y="1823377"/>
                  </a:lnTo>
                  <a:lnTo>
                    <a:pt x="623181" y="1644944"/>
                  </a:lnTo>
                  <a:lnTo>
                    <a:pt x="355975" y="1644944"/>
                  </a:lnTo>
                  <a:lnTo>
                    <a:pt x="355975" y="1823377"/>
                  </a:lnTo>
                  <a:close/>
                </a:path>
                <a:path w="623570" h="1823720">
                  <a:moveTo>
                    <a:pt x="0" y="178432"/>
                  </a:moveTo>
                  <a:lnTo>
                    <a:pt x="356865" y="178432"/>
                  </a:lnTo>
                  <a:lnTo>
                    <a:pt x="35686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3" name="object 153"/>
          <p:cNvSpPr txBox="1"/>
          <p:nvPr/>
        </p:nvSpPr>
        <p:spPr>
          <a:xfrm>
            <a:off x="4535473" y="6190532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.17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54" name="object 154"/>
          <p:cNvGrpSpPr/>
          <p:nvPr/>
        </p:nvGrpSpPr>
        <p:grpSpPr>
          <a:xfrm>
            <a:off x="4466043" y="6208455"/>
            <a:ext cx="629285" cy="184150"/>
            <a:chOff x="4466043" y="6208455"/>
            <a:chExt cx="629285" cy="184150"/>
          </a:xfrm>
        </p:grpSpPr>
        <p:sp>
          <p:nvSpPr>
            <p:cNvPr id="155" name="object 155"/>
            <p:cNvSpPr/>
            <p:nvPr/>
          </p:nvSpPr>
          <p:spPr>
            <a:xfrm>
              <a:off x="4824877" y="6211313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5">
                  <a:moveTo>
                    <a:pt x="0" y="178432"/>
                  </a:moveTo>
                  <a:lnTo>
                    <a:pt x="267205" y="178432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4468901" y="6211313"/>
              <a:ext cx="356870" cy="178435"/>
            </a:xfrm>
            <a:custGeom>
              <a:avLst/>
              <a:gdLst/>
              <a:ahLst/>
              <a:cxnLst/>
              <a:rect l="l" t="t" r="r" b="b"/>
              <a:pathLst>
                <a:path w="356870" h="178435">
                  <a:moveTo>
                    <a:pt x="356865" y="0"/>
                  </a:moveTo>
                  <a:lnTo>
                    <a:pt x="0" y="0"/>
                  </a:lnTo>
                  <a:lnTo>
                    <a:pt x="0" y="178432"/>
                  </a:lnTo>
                  <a:lnTo>
                    <a:pt x="356865" y="178432"/>
                  </a:lnTo>
                  <a:lnTo>
                    <a:pt x="35686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4468901" y="6211313"/>
              <a:ext cx="356870" cy="178435"/>
            </a:xfrm>
            <a:custGeom>
              <a:avLst/>
              <a:gdLst/>
              <a:ahLst/>
              <a:cxnLst/>
              <a:rect l="l" t="t" r="r" b="b"/>
              <a:pathLst>
                <a:path w="356870" h="178435">
                  <a:moveTo>
                    <a:pt x="0" y="178432"/>
                  </a:moveTo>
                  <a:lnTo>
                    <a:pt x="356865" y="178432"/>
                  </a:lnTo>
                  <a:lnTo>
                    <a:pt x="35686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8" name="object 158"/>
          <p:cNvSpPr txBox="1"/>
          <p:nvPr/>
        </p:nvSpPr>
        <p:spPr>
          <a:xfrm>
            <a:off x="4468901" y="6211313"/>
            <a:ext cx="356870" cy="178435"/>
          </a:xfrm>
          <a:prstGeom prst="rect">
            <a:avLst/>
          </a:prstGeom>
          <a:solidFill>
            <a:srgbClr val="FF0000"/>
          </a:solidFill>
          <a:ln w="644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405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.17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59" name="object 159"/>
          <p:cNvGrpSpPr/>
          <p:nvPr/>
        </p:nvGrpSpPr>
        <p:grpSpPr>
          <a:xfrm>
            <a:off x="4822019" y="6208455"/>
            <a:ext cx="896619" cy="495934"/>
            <a:chOff x="4822019" y="6208455"/>
            <a:chExt cx="896619" cy="495934"/>
          </a:xfrm>
        </p:grpSpPr>
        <p:sp>
          <p:nvSpPr>
            <p:cNvPr id="160" name="object 160"/>
            <p:cNvSpPr/>
            <p:nvPr/>
          </p:nvSpPr>
          <p:spPr>
            <a:xfrm>
              <a:off x="4824877" y="6211313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5">
                  <a:moveTo>
                    <a:pt x="267205" y="0"/>
                  </a:moveTo>
                  <a:lnTo>
                    <a:pt x="0" y="0"/>
                  </a:lnTo>
                  <a:lnTo>
                    <a:pt x="0" y="178432"/>
                  </a:lnTo>
                  <a:lnTo>
                    <a:pt x="267205" y="178432"/>
                  </a:lnTo>
                  <a:lnTo>
                    <a:pt x="267205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4824877" y="6211313"/>
              <a:ext cx="890905" cy="490220"/>
            </a:xfrm>
            <a:custGeom>
              <a:avLst/>
              <a:gdLst/>
              <a:ahLst/>
              <a:cxnLst/>
              <a:rect l="l" t="t" r="r" b="b"/>
              <a:pathLst>
                <a:path w="890904" h="490220">
                  <a:moveTo>
                    <a:pt x="0" y="178432"/>
                  </a:moveTo>
                  <a:lnTo>
                    <a:pt x="267205" y="178432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  <a:path w="890904" h="490220">
                  <a:moveTo>
                    <a:pt x="533521" y="490014"/>
                  </a:moveTo>
                  <a:lnTo>
                    <a:pt x="890387" y="490014"/>
                  </a:lnTo>
                  <a:lnTo>
                    <a:pt x="890387" y="310693"/>
                  </a:lnTo>
                  <a:lnTo>
                    <a:pt x="533521" y="310693"/>
                  </a:lnTo>
                  <a:lnTo>
                    <a:pt x="533521" y="490014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2" name="object 162"/>
          <p:cNvSpPr txBox="1"/>
          <p:nvPr/>
        </p:nvSpPr>
        <p:spPr>
          <a:xfrm>
            <a:off x="5424980" y="6501238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.26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63" name="object 163"/>
          <p:cNvGrpSpPr/>
          <p:nvPr/>
        </p:nvGrpSpPr>
        <p:grpSpPr>
          <a:xfrm>
            <a:off x="5355541" y="6519148"/>
            <a:ext cx="629920" cy="185420"/>
            <a:chOff x="5355541" y="6519148"/>
            <a:chExt cx="629920" cy="185420"/>
          </a:xfrm>
        </p:grpSpPr>
        <p:sp>
          <p:nvSpPr>
            <p:cNvPr id="164" name="object 164"/>
            <p:cNvSpPr/>
            <p:nvPr/>
          </p:nvSpPr>
          <p:spPr>
            <a:xfrm>
              <a:off x="5714375" y="6522006"/>
              <a:ext cx="268605" cy="179705"/>
            </a:xfrm>
            <a:custGeom>
              <a:avLst/>
              <a:gdLst/>
              <a:ahLst/>
              <a:cxnLst/>
              <a:rect l="l" t="t" r="r" b="b"/>
              <a:pathLst>
                <a:path w="268604" h="179704">
                  <a:moveTo>
                    <a:pt x="0" y="179321"/>
                  </a:moveTo>
                  <a:lnTo>
                    <a:pt x="268092" y="179321"/>
                  </a:lnTo>
                  <a:lnTo>
                    <a:pt x="268092" y="0"/>
                  </a:lnTo>
                  <a:lnTo>
                    <a:pt x="0" y="0"/>
                  </a:lnTo>
                  <a:lnTo>
                    <a:pt x="0" y="179321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5358399" y="6522006"/>
              <a:ext cx="356870" cy="179705"/>
            </a:xfrm>
            <a:custGeom>
              <a:avLst/>
              <a:gdLst/>
              <a:ahLst/>
              <a:cxnLst/>
              <a:rect l="l" t="t" r="r" b="b"/>
              <a:pathLst>
                <a:path w="356870" h="179704">
                  <a:moveTo>
                    <a:pt x="356865" y="0"/>
                  </a:moveTo>
                  <a:lnTo>
                    <a:pt x="0" y="0"/>
                  </a:lnTo>
                  <a:lnTo>
                    <a:pt x="0" y="179321"/>
                  </a:lnTo>
                  <a:lnTo>
                    <a:pt x="356865" y="179321"/>
                  </a:lnTo>
                  <a:lnTo>
                    <a:pt x="35686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5358399" y="6522006"/>
              <a:ext cx="356870" cy="179705"/>
            </a:xfrm>
            <a:custGeom>
              <a:avLst/>
              <a:gdLst/>
              <a:ahLst/>
              <a:cxnLst/>
              <a:rect l="l" t="t" r="r" b="b"/>
              <a:pathLst>
                <a:path w="356870" h="179704">
                  <a:moveTo>
                    <a:pt x="0" y="179321"/>
                  </a:moveTo>
                  <a:lnTo>
                    <a:pt x="356865" y="179321"/>
                  </a:lnTo>
                  <a:lnTo>
                    <a:pt x="356865" y="0"/>
                  </a:lnTo>
                  <a:lnTo>
                    <a:pt x="0" y="0"/>
                  </a:lnTo>
                  <a:lnTo>
                    <a:pt x="0" y="179321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7" name="object 167"/>
          <p:cNvSpPr txBox="1"/>
          <p:nvPr/>
        </p:nvSpPr>
        <p:spPr>
          <a:xfrm>
            <a:off x="5358399" y="6522006"/>
            <a:ext cx="356870" cy="179705"/>
          </a:xfrm>
          <a:prstGeom prst="rect">
            <a:avLst/>
          </a:prstGeom>
          <a:solidFill>
            <a:srgbClr val="FF0000"/>
          </a:solidFill>
          <a:ln w="644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41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.26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68" name="object 168"/>
          <p:cNvGrpSpPr/>
          <p:nvPr/>
        </p:nvGrpSpPr>
        <p:grpSpPr>
          <a:xfrm>
            <a:off x="3443378" y="6519148"/>
            <a:ext cx="2542540" cy="2052320"/>
            <a:chOff x="3443378" y="6519148"/>
            <a:chExt cx="2542540" cy="2052320"/>
          </a:xfrm>
        </p:grpSpPr>
        <p:sp>
          <p:nvSpPr>
            <p:cNvPr id="169" name="object 169"/>
            <p:cNvSpPr/>
            <p:nvPr/>
          </p:nvSpPr>
          <p:spPr>
            <a:xfrm>
              <a:off x="5714375" y="6522006"/>
              <a:ext cx="268605" cy="179705"/>
            </a:xfrm>
            <a:custGeom>
              <a:avLst/>
              <a:gdLst/>
              <a:ahLst/>
              <a:cxnLst/>
              <a:rect l="l" t="t" r="r" b="b"/>
              <a:pathLst>
                <a:path w="268604" h="179704">
                  <a:moveTo>
                    <a:pt x="268092" y="0"/>
                  </a:moveTo>
                  <a:lnTo>
                    <a:pt x="0" y="0"/>
                  </a:lnTo>
                  <a:lnTo>
                    <a:pt x="0" y="179321"/>
                  </a:lnTo>
                  <a:lnTo>
                    <a:pt x="268092" y="179321"/>
                  </a:lnTo>
                  <a:lnTo>
                    <a:pt x="268092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3446236" y="6522006"/>
              <a:ext cx="2536825" cy="2046605"/>
            </a:xfrm>
            <a:custGeom>
              <a:avLst/>
              <a:gdLst/>
              <a:ahLst/>
              <a:cxnLst/>
              <a:rect l="l" t="t" r="r" b="b"/>
              <a:pathLst>
                <a:path w="2536825" h="2046604">
                  <a:moveTo>
                    <a:pt x="2268138" y="179321"/>
                  </a:moveTo>
                  <a:lnTo>
                    <a:pt x="2536231" y="179321"/>
                  </a:lnTo>
                  <a:lnTo>
                    <a:pt x="2536231" y="0"/>
                  </a:lnTo>
                  <a:lnTo>
                    <a:pt x="2268138" y="0"/>
                  </a:lnTo>
                  <a:lnTo>
                    <a:pt x="2268138" y="179321"/>
                  </a:lnTo>
                  <a:close/>
                </a:path>
                <a:path w="2536825" h="2046604">
                  <a:moveTo>
                    <a:pt x="0" y="2046221"/>
                  </a:moveTo>
                  <a:lnTo>
                    <a:pt x="356865" y="2046221"/>
                  </a:lnTo>
                  <a:lnTo>
                    <a:pt x="356865" y="1867788"/>
                  </a:lnTo>
                  <a:lnTo>
                    <a:pt x="0" y="1867788"/>
                  </a:lnTo>
                  <a:lnTo>
                    <a:pt x="0" y="2046221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1" name="object 171"/>
          <p:cNvSpPr txBox="1"/>
          <p:nvPr/>
        </p:nvSpPr>
        <p:spPr>
          <a:xfrm>
            <a:off x="3512818" y="8369013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.94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72" name="object 172"/>
          <p:cNvGrpSpPr/>
          <p:nvPr/>
        </p:nvGrpSpPr>
        <p:grpSpPr>
          <a:xfrm>
            <a:off x="3388537" y="8386937"/>
            <a:ext cx="683895" cy="184150"/>
            <a:chOff x="3388537" y="8386937"/>
            <a:chExt cx="683895" cy="184150"/>
          </a:xfrm>
        </p:grpSpPr>
        <p:sp>
          <p:nvSpPr>
            <p:cNvPr id="173" name="object 173"/>
            <p:cNvSpPr/>
            <p:nvPr/>
          </p:nvSpPr>
          <p:spPr>
            <a:xfrm>
              <a:off x="3802212" y="8389795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4">
                  <a:moveTo>
                    <a:pt x="0" y="178432"/>
                  </a:moveTo>
                  <a:lnTo>
                    <a:pt x="267205" y="178432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3388537" y="8450148"/>
              <a:ext cx="57785" cy="57785"/>
            </a:xfrm>
            <a:custGeom>
              <a:avLst/>
              <a:gdLst/>
              <a:ahLst/>
              <a:cxnLst/>
              <a:rect l="l" t="t" r="r" b="b"/>
              <a:pathLst>
                <a:path w="57785" h="57784">
                  <a:moveTo>
                    <a:pt x="0" y="0"/>
                  </a:moveTo>
                  <a:lnTo>
                    <a:pt x="0" y="57713"/>
                  </a:lnTo>
                  <a:lnTo>
                    <a:pt x="57698" y="2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3446236" y="8389795"/>
              <a:ext cx="356870" cy="178435"/>
            </a:xfrm>
            <a:custGeom>
              <a:avLst/>
              <a:gdLst/>
              <a:ahLst/>
              <a:cxnLst/>
              <a:rect l="l" t="t" r="r" b="b"/>
              <a:pathLst>
                <a:path w="356870" h="178434">
                  <a:moveTo>
                    <a:pt x="356865" y="0"/>
                  </a:moveTo>
                  <a:lnTo>
                    <a:pt x="0" y="0"/>
                  </a:lnTo>
                  <a:lnTo>
                    <a:pt x="0" y="178432"/>
                  </a:lnTo>
                  <a:lnTo>
                    <a:pt x="356865" y="178432"/>
                  </a:lnTo>
                  <a:lnTo>
                    <a:pt x="35686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3446236" y="8389795"/>
              <a:ext cx="356870" cy="178435"/>
            </a:xfrm>
            <a:custGeom>
              <a:avLst/>
              <a:gdLst/>
              <a:ahLst/>
              <a:cxnLst/>
              <a:rect l="l" t="t" r="r" b="b"/>
              <a:pathLst>
                <a:path w="356870" h="178434">
                  <a:moveTo>
                    <a:pt x="0" y="178432"/>
                  </a:moveTo>
                  <a:lnTo>
                    <a:pt x="356865" y="178432"/>
                  </a:lnTo>
                  <a:lnTo>
                    <a:pt x="35686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177" name="object 177"/>
          <p:cNvGraphicFramePr>
            <a:graphicFrameLocks noGrp="1"/>
          </p:cNvGraphicFramePr>
          <p:nvPr/>
        </p:nvGraphicFramePr>
        <p:xfrm>
          <a:off x="2776768" y="5941328"/>
          <a:ext cx="619125" cy="2674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7335"/>
                <a:gridCol w="343535"/>
              </a:tblGrid>
              <a:tr h="26764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88317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7800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2712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4491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2711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3606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26720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26631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2712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4491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2711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3606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26720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2711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34051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178" name="object 178"/>
          <p:cNvSpPr txBox="1"/>
          <p:nvPr/>
        </p:nvSpPr>
        <p:spPr>
          <a:xfrm>
            <a:off x="3446236" y="8389794"/>
            <a:ext cx="356870" cy="178435"/>
          </a:xfrm>
          <a:prstGeom prst="rect">
            <a:avLst/>
          </a:prstGeom>
          <a:solidFill>
            <a:srgbClr val="FF0000"/>
          </a:solidFill>
          <a:ln w="644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405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.94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3512818" y="6190532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.12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80" name="object 180"/>
          <p:cNvGrpSpPr/>
          <p:nvPr/>
        </p:nvGrpSpPr>
        <p:grpSpPr>
          <a:xfrm>
            <a:off x="3388537" y="6208455"/>
            <a:ext cx="1080770" cy="2362835"/>
            <a:chOff x="3388537" y="6208455"/>
            <a:chExt cx="1080770" cy="2362835"/>
          </a:xfrm>
        </p:grpSpPr>
        <p:sp>
          <p:nvSpPr>
            <p:cNvPr id="181" name="object 181"/>
            <p:cNvSpPr/>
            <p:nvPr/>
          </p:nvSpPr>
          <p:spPr>
            <a:xfrm>
              <a:off x="3802212" y="8389794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4">
                  <a:moveTo>
                    <a:pt x="267205" y="0"/>
                  </a:moveTo>
                  <a:lnTo>
                    <a:pt x="0" y="0"/>
                  </a:lnTo>
                  <a:lnTo>
                    <a:pt x="0" y="178432"/>
                  </a:lnTo>
                  <a:lnTo>
                    <a:pt x="267205" y="178432"/>
                  </a:lnTo>
                  <a:lnTo>
                    <a:pt x="267205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3802212" y="8389794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4">
                  <a:moveTo>
                    <a:pt x="0" y="178432"/>
                  </a:moveTo>
                  <a:lnTo>
                    <a:pt x="267205" y="178432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3388537" y="8450148"/>
              <a:ext cx="57785" cy="57785"/>
            </a:xfrm>
            <a:custGeom>
              <a:avLst/>
              <a:gdLst/>
              <a:ahLst/>
              <a:cxnLst/>
              <a:rect l="l" t="t" r="r" b="b"/>
              <a:pathLst>
                <a:path w="57785" h="57784">
                  <a:moveTo>
                    <a:pt x="0" y="0"/>
                  </a:moveTo>
                  <a:lnTo>
                    <a:pt x="0" y="57713"/>
                  </a:lnTo>
                  <a:lnTo>
                    <a:pt x="57698" y="2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3802212" y="6211313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5">
                  <a:moveTo>
                    <a:pt x="0" y="178432"/>
                  </a:moveTo>
                  <a:lnTo>
                    <a:pt x="267205" y="178432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3388537" y="6270782"/>
              <a:ext cx="57785" cy="59055"/>
            </a:xfrm>
            <a:custGeom>
              <a:avLst/>
              <a:gdLst/>
              <a:ahLst/>
              <a:cxnLst/>
              <a:rect l="l" t="t" r="r" b="b"/>
              <a:pathLst>
                <a:path w="57785" h="59054">
                  <a:moveTo>
                    <a:pt x="0" y="0"/>
                  </a:moveTo>
                  <a:lnTo>
                    <a:pt x="0" y="58597"/>
                  </a:lnTo>
                  <a:lnTo>
                    <a:pt x="57698" y="292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4069418" y="6300073"/>
              <a:ext cx="344805" cy="0"/>
            </a:xfrm>
            <a:custGeom>
              <a:avLst/>
              <a:gdLst/>
              <a:ahLst/>
              <a:cxnLst/>
              <a:rect l="l" t="t" r="r" b="b"/>
              <a:pathLst>
                <a:path w="344804" h="0">
                  <a:moveTo>
                    <a:pt x="0" y="0"/>
                  </a:moveTo>
                  <a:lnTo>
                    <a:pt x="344436" y="0"/>
                  </a:lnTo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4412086" y="6270782"/>
              <a:ext cx="57150" cy="59055"/>
            </a:xfrm>
            <a:custGeom>
              <a:avLst/>
              <a:gdLst/>
              <a:ahLst/>
              <a:cxnLst/>
              <a:rect l="l" t="t" r="r" b="b"/>
              <a:pathLst>
                <a:path w="57150" h="59054">
                  <a:moveTo>
                    <a:pt x="0" y="0"/>
                  </a:moveTo>
                  <a:lnTo>
                    <a:pt x="0" y="58597"/>
                  </a:lnTo>
                  <a:lnTo>
                    <a:pt x="56814" y="292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8" name="object 188"/>
          <p:cNvSpPr txBox="1"/>
          <p:nvPr/>
        </p:nvSpPr>
        <p:spPr>
          <a:xfrm>
            <a:off x="3446236" y="6211313"/>
            <a:ext cx="356870" cy="178435"/>
          </a:xfrm>
          <a:prstGeom prst="rect">
            <a:avLst/>
          </a:prstGeom>
          <a:solidFill>
            <a:srgbClr val="FF0000"/>
          </a:solidFill>
          <a:ln w="644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405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.12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89" name="object 189"/>
          <p:cNvGrpSpPr/>
          <p:nvPr/>
        </p:nvGrpSpPr>
        <p:grpSpPr>
          <a:xfrm>
            <a:off x="3388537" y="6208455"/>
            <a:ext cx="1080770" cy="762635"/>
            <a:chOff x="3388537" y="6208455"/>
            <a:chExt cx="1080770" cy="762635"/>
          </a:xfrm>
        </p:grpSpPr>
        <p:sp>
          <p:nvSpPr>
            <p:cNvPr id="190" name="object 190"/>
            <p:cNvSpPr/>
            <p:nvPr/>
          </p:nvSpPr>
          <p:spPr>
            <a:xfrm>
              <a:off x="3802212" y="6211313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5">
                  <a:moveTo>
                    <a:pt x="267205" y="0"/>
                  </a:moveTo>
                  <a:lnTo>
                    <a:pt x="0" y="0"/>
                  </a:lnTo>
                  <a:lnTo>
                    <a:pt x="0" y="178432"/>
                  </a:lnTo>
                  <a:lnTo>
                    <a:pt x="267205" y="178432"/>
                  </a:lnTo>
                  <a:lnTo>
                    <a:pt x="267205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3802212" y="6211313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5">
                  <a:moveTo>
                    <a:pt x="0" y="178432"/>
                  </a:moveTo>
                  <a:lnTo>
                    <a:pt x="267205" y="178432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3388537" y="6270782"/>
              <a:ext cx="57785" cy="59055"/>
            </a:xfrm>
            <a:custGeom>
              <a:avLst/>
              <a:gdLst/>
              <a:ahLst/>
              <a:cxnLst/>
              <a:rect l="l" t="t" r="r" b="b"/>
              <a:pathLst>
                <a:path w="57785" h="59054">
                  <a:moveTo>
                    <a:pt x="0" y="0"/>
                  </a:moveTo>
                  <a:lnTo>
                    <a:pt x="0" y="58597"/>
                  </a:lnTo>
                  <a:lnTo>
                    <a:pt x="57698" y="292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4024152" y="6300073"/>
              <a:ext cx="389890" cy="0"/>
            </a:xfrm>
            <a:custGeom>
              <a:avLst/>
              <a:gdLst/>
              <a:ahLst/>
              <a:cxnLst/>
              <a:rect l="l" t="t" r="r" b="b"/>
              <a:pathLst>
                <a:path w="389889" h="0">
                  <a:moveTo>
                    <a:pt x="0" y="0"/>
                  </a:moveTo>
                  <a:lnTo>
                    <a:pt x="389702" y="0"/>
                  </a:lnTo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4412086" y="6270782"/>
              <a:ext cx="57150" cy="59055"/>
            </a:xfrm>
            <a:custGeom>
              <a:avLst/>
              <a:gdLst/>
              <a:ahLst/>
              <a:cxnLst/>
              <a:rect l="l" t="t" r="r" b="b"/>
              <a:pathLst>
                <a:path w="57150" h="59054">
                  <a:moveTo>
                    <a:pt x="0" y="0"/>
                  </a:moveTo>
                  <a:lnTo>
                    <a:pt x="0" y="58597"/>
                  </a:lnTo>
                  <a:lnTo>
                    <a:pt x="56814" y="292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3446236" y="6789213"/>
              <a:ext cx="356870" cy="178435"/>
            </a:xfrm>
            <a:custGeom>
              <a:avLst/>
              <a:gdLst/>
              <a:ahLst/>
              <a:cxnLst/>
              <a:rect l="l" t="t" r="r" b="b"/>
              <a:pathLst>
                <a:path w="356870" h="178434">
                  <a:moveTo>
                    <a:pt x="0" y="178432"/>
                  </a:moveTo>
                  <a:lnTo>
                    <a:pt x="356865" y="178432"/>
                  </a:lnTo>
                  <a:lnTo>
                    <a:pt x="35686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6" name="object 196"/>
          <p:cNvSpPr txBox="1"/>
          <p:nvPr/>
        </p:nvSpPr>
        <p:spPr>
          <a:xfrm>
            <a:off x="3512818" y="6768445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.39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97" name="object 197"/>
          <p:cNvGrpSpPr/>
          <p:nvPr/>
        </p:nvGrpSpPr>
        <p:grpSpPr>
          <a:xfrm>
            <a:off x="3388537" y="6786356"/>
            <a:ext cx="683895" cy="184150"/>
            <a:chOff x="3388537" y="6786356"/>
            <a:chExt cx="683895" cy="184150"/>
          </a:xfrm>
        </p:grpSpPr>
        <p:sp>
          <p:nvSpPr>
            <p:cNvPr id="198" name="object 198"/>
            <p:cNvSpPr/>
            <p:nvPr/>
          </p:nvSpPr>
          <p:spPr>
            <a:xfrm>
              <a:off x="3802212" y="6789213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4">
                  <a:moveTo>
                    <a:pt x="0" y="178432"/>
                  </a:moveTo>
                  <a:lnTo>
                    <a:pt x="267205" y="178432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3388537" y="6848698"/>
              <a:ext cx="57785" cy="59055"/>
            </a:xfrm>
            <a:custGeom>
              <a:avLst/>
              <a:gdLst/>
              <a:ahLst/>
              <a:cxnLst/>
              <a:rect l="l" t="t" r="r" b="b"/>
              <a:pathLst>
                <a:path w="57785" h="59054">
                  <a:moveTo>
                    <a:pt x="0" y="0"/>
                  </a:moveTo>
                  <a:lnTo>
                    <a:pt x="0" y="58582"/>
                  </a:lnTo>
                  <a:lnTo>
                    <a:pt x="57698" y="292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3446236" y="6789213"/>
              <a:ext cx="356870" cy="178435"/>
            </a:xfrm>
            <a:custGeom>
              <a:avLst/>
              <a:gdLst/>
              <a:ahLst/>
              <a:cxnLst/>
              <a:rect l="l" t="t" r="r" b="b"/>
              <a:pathLst>
                <a:path w="356870" h="178434">
                  <a:moveTo>
                    <a:pt x="0" y="178432"/>
                  </a:moveTo>
                  <a:lnTo>
                    <a:pt x="356865" y="178432"/>
                  </a:lnTo>
                  <a:lnTo>
                    <a:pt x="35686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1" name="object 201"/>
          <p:cNvSpPr txBox="1"/>
          <p:nvPr/>
        </p:nvSpPr>
        <p:spPr>
          <a:xfrm>
            <a:off x="3512818" y="6768445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.39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02" name="object 202"/>
          <p:cNvGrpSpPr/>
          <p:nvPr/>
        </p:nvGrpSpPr>
        <p:grpSpPr>
          <a:xfrm>
            <a:off x="3443378" y="6786356"/>
            <a:ext cx="629285" cy="184150"/>
            <a:chOff x="3443378" y="6786356"/>
            <a:chExt cx="629285" cy="184150"/>
          </a:xfrm>
        </p:grpSpPr>
        <p:sp>
          <p:nvSpPr>
            <p:cNvPr id="203" name="object 203"/>
            <p:cNvSpPr/>
            <p:nvPr/>
          </p:nvSpPr>
          <p:spPr>
            <a:xfrm>
              <a:off x="3802212" y="6789213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4">
                  <a:moveTo>
                    <a:pt x="0" y="178432"/>
                  </a:moveTo>
                  <a:lnTo>
                    <a:pt x="267205" y="178432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3446236" y="6789213"/>
              <a:ext cx="356870" cy="178435"/>
            </a:xfrm>
            <a:custGeom>
              <a:avLst/>
              <a:gdLst/>
              <a:ahLst/>
              <a:cxnLst/>
              <a:rect l="l" t="t" r="r" b="b"/>
              <a:pathLst>
                <a:path w="356870" h="178434">
                  <a:moveTo>
                    <a:pt x="356865" y="0"/>
                  </a:moveTo>
                  <a:lnTo>
                    <a:pt x="0" y="0"/>
                  </a:lnTo>
                  <a:lnTo>
                    <a:pt x="0" y="178432"/>
                  </a:lnTo>
                  <a:lnTo>
                    <a:pt x="356865" y="178432"/>
                  </a:lnTo>
                  <a:lnTo>
                    <a:pt x="35686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3446236" y="6789213"/>
              <a:ext cx="356870" cy="178435"/>
            </a:xfrm>
            <a:custGeom>
              <a:avLst/>
              <a:gdLst/>
              <a:ahLst/>
              <a:cxnLst/>
              <a:rect l="l" t="t" r="r" b="b"/>
              <a:pathLst>
                <a:path w="356870" h="178434">
                  <a:moveTo>
                    <a:pt x="0" y="178432"/>
                  </a:moveTo>
                  <a:lnTo>
                    <a:pt x="356865" y="178432"/>
                  </a:lnTo>
                  <a:lnTo>
                    <a:pt x="35686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6" name="object 206"/>
          <p:cNvSpPr txBox="1"/>
          <p:nvPr/>
        </p:nvSpPr>
        <p:spPr>
          <a:xfrm>
            <a:off x="3446236" y="6789213"/>
            <a:ext cx="356870" cy="178435"/>
          </a:xfrm>
          <a:prstGeom prst="rect">
            <a:avLst/>
          </a:prstGeom>
          <a:solidFill>
            <a:srgbClr val="FF0000"/>
          </a:solidFill>
          <a:ln w="644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405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.39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07" name="object 207"/>
          <p:cNvGrpSpPr/>
          <p:nvPr/>
        </p:nvGrpSpPr>
        <p:grpSpPr>
          <a:xfrm>
            <a:off x="3388537" y="6786356"/>
            <a:ext cx="683895" cy="984885"/>
            <a:chOff x="3388537" y="6786356"/>
            <a:chExt cx="683895" cy="984885"/>
          </a:xfrm>
        </p:grpSpPr>
        <p:sp>
          <p:nvSpPr>
            <p:cNvPr id="208" name="object 208"/>
            <p:cNvSpPr/>
            <p:nvPr/>
          </p:nvSpPr>
          <p:spPr>
            <a:xfrm>
              <a:off x="3802212" y="6789213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4">
                  <a:moveTo>
                    <a:pt x="267205" y="0"/>
                  </a:moveTo>
                  <a:lnTo>
                    <a:pt x="0" y="0"/>
                  </a:lnTo>
                  <a:lnTo>
                    <a:pt x="0" y="178432"/>
                  </a:lnTo>
                  <a:lnTo>
                    <a:pt x="267205" y="178432"/>
                  </a:lnTo>
                  <a:lnTo>
                    <a:pt x="267205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3802212" y="6789213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4">
                  <a:moveTo>
                    <a:pt x="0" y="178432"/>
                  </a:moveTo>
                  <a:lnTo>
                    <a:pt x="267205" y="178432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3388537" y="6848698"/>
              <a:ext cx="57785" cy="59055"/>
            </a:xfrm>
            <a:custGeom>
              <a:avLst/>
              <a:gdLst/>
              <a:ahLst/>
              <a:cxnLst/>
              <a:rect l="l" t="t" r="r" b="b"/>
              <a:pathLst>
                <a:path w="57785" h="59054">
                  <a:moveTo>
                    <a:pt x="0" y="0"/>
                  </a:moveTo>
                  <a:lnTo>
                    <a:pt x="0" y="58582"/>
                  </a:lnTo>
                  <a:lnTo>
                    <a:pt x="57698" y="292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3446236" y="7589050"/>
              <a:ext cx="356870" cy="179705"/>
            </a:xfrm>
            <a:custGeom>
              <a:avLst/>
              <a:gdLst/>
              <a:ahLst/>
              <a:cxnLst/>
              <a:rect l="l" t="t" r="r" b="b"/>
              <a:pathLst>
                <a:path w="356870" h="179704">
                  <a:moveTo>
                    <a:pt x="0" y="179321"/>
                  </a:moveTo>
                  <a:lnTo>
                    <a:pt x="356865" y="179321"/>
                  </a:lnTo>
                  <a:lnTo>
                    <a:pt x="356865" y="0"/>
                  </a:lnTo>
                  <a:lnTo>
                    <a:pt x="0" y="0"/>
                  </a:lnTo>
                  <a:lnTo>
                    <a:pt x="0" y="179321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2" name="object 212"/>
          <p:cNvSpPr txBox="1"/>
          <p:nvPr/>
        </p:nvSpPr>
        <p:spPr>
          <a:xfrm>
            <a:off x="3512818" y="7569168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.68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13" name="object 213"/>
          <p:cNvGrpSpPr/>
          <p:nvPr/>
        </p:nvGrpSpPr>
        <p:grpSpPr>
          <a:xfrm>
            <a:off x="3388537" y="7586192"/>
            <a:ext cx="683895" cy="185420"/>
            <a:chOff x="3388537" y="7586192"/>
            <a:chExt cx="683895" cy="185420"/>
          </a:xfrm>
        </p:grpSpPr>
        <p:sp>
          <p:nvSpPr>
            <p:cNvPr id="214" name="object 214"/>
            <p:cNvSpPr/>
            <p:nvPr/>
          </p:nvSpPr>
          <p:spPr>
            <a:xfrm>
              <a:off x="3802212" y="7589050"/>
              <a:ext cx="267335" cy="179705"/>
            </a:xfrm>
            <a:custGeom>
              <a:avLst/>
              <a:gdLst/>
              <a:ahLst/>
              <a:cxnLst/>
              <a:rect l="l" t="t" r="r" b="b"/>
              <a:pathLst>
                <a:path w="267335" h="179704">
                  <a:moveTo>
                    <a:pt x="0" y="179321"/>
                  </a:moveTo>
                  <a:lnTo>
                    <a:pt x="267205" y="179321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9321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3388537" y="7649423"/>
              <a:ext cx="57785" cy="59055"/>
            </a:xfrm>
            <a:custGeom>
              <a:avLst/>
              <a:gdLst/>
              <a:ahLst/>
              <a:cxnLst/>
              <a:rect l="l" t="t" r="r" b="b"/>
              <a:pathLst>
                <a:path w="57785" h="59054">
                  <a:moveTo>
                    <a:pt x="0" y="0"/>
                  </a:moveTo>
                  <a:lnTo>
                    <a:pt x="0" y="58597"/>
                  </a:lnTo>
                  <a:lnTo>
                    <a:pt x="57698" y="2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3446236" y="7589050"/>
              <a:ext cx="356870" cy="179705"/>
            </a:xfrm>
            <a:custGeom>
              <a:avLst/>
              <a:gdLst/>
              <a:ahLst/>
              <a:cxnLst/>
              <a:rect l="l" t="t" r="r" b="b"/>
              <a:pathLst>
                <a:path w="356870" h="179704">
                  <a:moveTo>
                    <a:pt x="356865" y="0"/>
                  </a:moveTo>
                  <a:lnTo>
                    <a:pt x="0" y="0"/>
                  </a:lnTo>
                  <a:lnTo>
                    <a:pt x="0" y="179321"/>
                  </a:lnTo>
                  <a:lnTo>
                    <a:pt x="356865" y="179321"/>
                  </a:lnTo>
                  <a:lnTo>
                    <a:pt x="35686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3446236" y="7589050"/>
              <a:ext cx="356870" cy="179705"/>
            </a:xfrm>
            <a:custGeom>
              <a:avLst/>
              <a:gdLst/>
              <a:ahLst/>
              <a:cxnLst/>
              <a:rect l="l" t="t" r="r" b="b"/>
              <a:pathLst>
                <a:path w="356870" h="179704">
                  <a:moveTo>
                    <a:pt x="0" y="179321"/>
                  </a:moveTo>
                  <a:lnTo>
                    <a:pt x="356865" y="179321"/>
                  </a:lnTo>
                  <a:lnTo>
                    <a:pt x="356865" y="0"/>
                  </a:lnTo>
                  <a:lnTo>
                    <a:pt x="0" y="0"/>
                  </a:lnTo>
                  <a:lnTo>
                    <a:pt x="0" y="179321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8" name="object 218"/>
          <p:cNvSpPr txBox="1"/>
          <p:nvPr/>
        </p:nvSpPr>
        <p:spPr>
          <a:xfrm>
            <a:off x="3446236" y="7589049"/>
            <a:ext cx="356870" cy="179705"/>
          </a:xfrm>
          <a:prstGeom prst="rect">
            <a:avLst/>
          </a:prstGeom>
          <a:solidFill>
            <a:srgbClr val="FF0000"/>
          </a:solidFill>
          <a:ln w="644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41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.68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3512818" y="7835486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.72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20" name="object 220"/>
          <p:cNvGrpSpPr/>
          <p:nvPr/>
        </p:nvGrpSpPr>
        <p:grpSpPr>
          <a:xfrm>
            <a:off x="3388537" y="7586192"/>
            <a:ext cx="1080770" cy="451484"/>
            <a:chOff x="3388537" y="7586192"/>
            <a:chExt cx="1080770" cy="451484"/>
          </a:xfrm>
        </p:grpSpPr>
        <p:sp>
          <p:nvSpPr>
            <p:cNvPr id="221" name="object 221"/>
            <p:cNvSpPr/>
            <p:nvPr/>
          </p:nvSpPr>
          <p:spPr>
            <a:xfrm>
              <a:off x="3802212" y="7589050"/>
              <a:ext cx="267335" cy="179705"/>
            </a:xfrm>
            <a:custGeom>
              <a:avLst/>
              <a:gdLst/>
              <a:ahLst/>
              <a:cxnLst/>
              <a:rect l="l" t="t" r="r" b="b"/>
              <a:pathLst>
                <a:path w="267335" h="179704">
                  <a:moveTo>
                    <a:pt x="267205" y="0"/>
                  </a:moveTo>
                  <a:lnTo>
                    <a:pt x="0" y="0"/>
                  </a:lnTo>
                  <a:lnTo>
                    <a:pt x="0" y="179321"/>
                  </a:lnTo>
                  <a:lnTo>
                    <a:pt x="267205" y="179321"/>
                  </a:lnTo>
                  <a:lnTo>
                    <a:pt x="267205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3802212" y="7589050"/>
              <a:ext cx="267335" cy="179705"/>
            </a:xfrm>
            <a:custGeom>
              <a:avLst/>
              <a:gdLst/>
              <a:ahLst/>
              <a:cxnLst/>
              <a:rect l="l" t="t" r="r" b="b"/>
              <a:pathLst>
                <a:path w="267335" h="179704">
                  <a:moveTo>
                    <a:pt x="0" y="179321"/>
                  </a:moveTo>
                  <a:lnTo>
                    <a:pt x="267205" y="179321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9321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3388537" y="7649423"/>
              <a:ext cx="57785" cy="59055"/>
            </a:xfrm>
            <a:custGeom>
              <a:avLst/>
              <a:gdLst/>
              <a:ahLst/>
              <a:cxnLst/>
              <a:rect l="l" t="t" r="r" b="b"/>
              <a:pathLst>
                <a:path w="57785" h="59054">
                  <a:moveTo>
                    <a:pt x="0" y="0"/>
                  </a:moveTo>
                  <a:lnTo>
                    <a:pt x="0" y="58597"/>
                  </a:lnTo>
                  <a:lnTo>
                    <a:pt x="57698" y="2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3802212" y="7856257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4">
                  <a:moveTo>
                    <a:pt x="0" y="178432"/>
                  </a:moveTo>
                  <a:lnTo>
                    <a:pt x="267205" y="178432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3388537" y="7916626"/>
              <a:ext cx="57785" cy="57785"/>
            </a:xfrm>
            <a:custGeom>
              <a:avLst/>
              <a:gdLst/>
              <a:ahLst/>
              <a:cxnLst/>
              <a:rect l="l" t="t" r="r" b="b"/>
              <a:pathLst>
                <a:path w="57785" h="57784">
                  <a:moveTo>
                    <a:pt x="0" y="0"/>
                  </a:moveTo>
                  <a:lnTo>
                    <a:pt x="0" y="57698"/>
                  </a:lnTo>
                  <a:lnTo>
                    <a:pt x="57698" y="2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4069418" y="7945033"/>
              <a:ext cx="344805" cy="0"/>
            </a:xfrm>
            <a:custGeom>
              <a:avLst/>
              <a:gdLst/>
              <a:ahLst/>
              <a:cxnLst/>
              <a:rect l="l" t="t" r="r" b="b"/>
              <a:pathLst>
                <a:path w="344804" h="0">
                  <a:moveTo>
                    <a:pt x="0" y="0"/>
                  </a:moveTo>
                  <a:lnTo>
                    <a:pt x="344436" y="0"/>
                  </a:lnTo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4412086" y="7916626"/>
              <a:ext cx="57150" cy="57785"/>
            </a:xfrm>
            <a:custGeom>
              <a:avLst/>
              <a:gdLst/>
              <a:ahLst/>
              <a:cxnLst/>
              <a:rect l="l" t="t" r="r" b="b"/>
              <a:pathLst>
                <a:path w="57150" h="57784">
                  <a:moveTo>
                    <a:pt x="0" y="0"/>
                  </a:moveTo>
                  <a:lnTo>
                    <a:pt x="0" y="57698"/>
                  </a:lnTo>
                  <a:lnTo>
                    <a:pt x="56814" y="2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8" name="object 228"/>
          <p:cNvSpPr txBox="1"/>
          <p:nvPr/>
        </p:nvSpPr>
        <p:spPr>
          <a:xfrm>
            <a:off x="3446236" y="7856257"/>
            <a:ext cx="356870" cy="178435"/>
          </a:xfrm>
          <a:prstGeom prst="rect">
            <a:avLst/>
          </a:prstGeom>
          <a:solidFill>
            <a:srgbClr val="FF0000"/>
          </a:solidFill>
          <a:ln w="644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405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.72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4535473" y="6501238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.23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30" name="object 230"/>
          <p:cNvGrpSpPr/>
          <p:nvPr/>
        </p:nvGrpSpPr>
        <p:grpSpPr>
          <a:xfrm>
            <a:off x="3388537" y="6519148"/>
            <a:ext cx="1970405" cy="1518920"/>
            <a:chOff x="3388537" y="6519148"/>
            <a:chExt cx="1970405" cy="1518920"/>
          </a:xfrm>
        </p:grpSpPr>
        <p:sp>
          <p:nvSpPr>
            <p:cNvPr id="231" name="object 231"/>
            <p:cNvSpPr/>
            <p:nvPr/>
          </p:nvSpPr>
          <p:spPr>
            <a:xfrm>
              <a:off x="3802212" y="7856257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4">
                  <a:moveTo>
                    <a:pt x="267205" y="0"/>
                  </a:moveTo>
                  <a:lnTo>
                    <a:pt x="0" y="0"/>
                  </a:lnTo>
                  <a:lnTo>
                    <a:pt x="0" y="178432"/>
                  </a:lnTo>
                  <a:lnTo>
                    <a:pt x="267205" y="178432"/>
                  </a:lnTo>
                  <a:lnTo>
                    <a:pt x="267205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3802212" y="7856257"/>
              <a:ext cx="267335" cy="178435"/>
            </a:xfrm>
            <a:custGeom>
              <a:avLst/>
              <a:gdLst/>
              <a:ahLst/>
              <a:cxnLst/>
              <a:rect l="l" t="t" r="r" b="b"/>
              <a:pathLst>
                <a:path w="267335" h="178434">
                  <a:moveTo>
                    <a:pt x="0" y="178432"/>
                  </a:moveTo>
                  <a:lnTo>
                    <a:pt x="267205" y="178432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8432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3388537" y="7916626"/>
              <a:ext cx="57785" cy="57785"/>
            </a:xfrm>
            <a:custGeom>
              <a:avLst/>
              <a:gdLst/>
              <a:ahLst/>
              <a:cxnLst/>
              <a:rect l="l" t="t" r="r" b="b"/>
              <a:pathLst>
                <a:path w="57785" h="57784">
                  <a:moveTo>
                    <a:pt x="0" y="0"/>
                  </a:moveTo>
                  <a:lnTo>
                    <a:pt x="0" y="57698"/>
                  </a:lnTo>
                  <a:lnTo>
                    <a:pt x="57698" y="2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4024152" y="7945033"/>
              <a:ext cx="389890" cy="0"/>
            </a:xfrm>
            <a:custGeom>
              <a:avLst/>
              <a:gdLst/>
              <a:ahLst/>
              <a:cxnLst/>
              <a:rect l="l" t="t" r="r" b="b"/>
              <a:pathLst>
                <a:path w="389889" h="0">
                  <a:moveTo>
                    <a:pt x="0" y="0"/>
                  </a:moveTo>
                  <a:lnTo>
                    <a:pt x="389702" y="0"/>
                  </a:lnTo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4412086" y="7916626"/>
              <a:ext cx="57150" cy="57785"/>
            </a:xfrm>
            <a:custGeom>
              <a:avLst/>
              <a:gdLst/>
              <a:ahLst/>
              <a:cxnLst/>
              <a:rect l="l" t="t" r="r" b="b"/>
              <a:pathLst>
                <a:path w="57150" h="57784">
                  <a:moveTo>
                    <a:pt x="0" y="0"/>
                  </a:moveTo>
                  <a:lnTo>
                    <a:pt x="0" y="57698"/>
                  </a:lnTo>
                  <a:lnTo>
                    <a:pt x="56814" y="2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4824877" y="6522006"/>
              <a:ext cx="267335" cy="179705"/>
            </a:xfrm>
            <a:custGeom>
              <a:avLst/>
              <a:gdLst/>
              <a:ahLst/>
              <a:cxnLst/>
              <a:rect l="l" t="t" r="r" b="b"/>
              <a:pathLst>
                <a:path w="267335" h="179704">
                  <a:moveTo>
                    <a:pt x="0" y="179321"/>
                  </a:moveTo>
                  <a:lnTo>
                    <a:pt x="267205" y="179321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9321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5092083" y="6610786"/>
              <a:ext cx="211454" cy="0"/>
            </a:xfrm>
            <a:custGeom>
              <a:avLst/>
              <a:gdLst/>
              <a:ahLst/>
              <a:cxnLst/>
              <a:rect l="l" t="t" r="r" b="b"/>
              <a:pathLst>
                <a:path w="211454" h="0">
                  <a:moveTo>
                    <a:pt x="0" y="0"/>
                  </a:moveTo>
                  <a:lnTo>
                    <a:pt x="211284" y="0"/>
                  </a:lnTo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5301584" y="6581495"/>
              <a:ext cx="57150" cy="59055"/>
            </a:xfrm>
            <a:custGeom>
              <a:avLst/>
              <a:gdLst/>
              <a:ahLst/>
              <a:cxnLst/>
              <a:rect l="l" t="t" r="r" b="b"/>
              <a:pathLst>
                <a:path w="57150" h="59054">
                  <a:moveTo>
                    <a:pt x="0" y="0"/>
                  </a:moveTo>
                  <a:lnTo>
                    <a:pt x="0" y="58582"/>
                  </a:lnTo>
                  <a:lnTo>
                    <a:pt x="56814" y="292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9" name="object 239"/>
          <p:cNvSpPr txBox="1"/>
          <p:nvPr/>
        </p:nvSpPr>
        <p:spPr>
          <a:xfrm>
            <a:off x="4468901" y="6522006"/>
            <a:ext cx="356870" cy="179705"/>
          </a:xfrm>
          <a:prstGeom prst="rect">
            <a:avLst/>
          </a:prstGeom>
          <a:solidFill>
            <a:srgbClr val="FF0000"/>
          </a:solidFill>
          <a:ln w="644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41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.23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3512818" y="6501238"/>
            <a:ext cx="222885" cy="178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40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.21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41" name="object 241"/>
          <p:cNvGrpSpPr/>
          <p:nvPr/>
        </p:nvGrpSpPr>
        <p:grpSpPr>
          <a:xfrm>
            <a:off x="3388537" y="6519148"/>
            <a:ext cx="1970405" cy="185420"/>
            <a:chOff x="3388537" y="6519148"/>
            <a:chExt cx="1970405" cy="185420"/>
          </a:xfrm>
        </p:grpSpPr>
        <p:sp>
          <p:nvSpPr>
            <p:cNvPr id="242" name="object 242"/>
            <p:cNvSpPr/>
            <p:nvPr/>
          </p:nvSpPr>
          <p:spPr>
            <a:xfrm>
              <a:off x="4824877" y="6522006"/>
              <a:ext cx="267335" cy="179705"/>
            </a:xfrm>
            <a:custGeom>
              <a:avLst/>
              <a:gdLst/>
              <a:ahLst/>
              <a:cxnLst/>
              <a:rect l="l" t="t" r="r" b="b"/>
              <a:pathLst>
                <a:path w="267335" h="179704">
                  <a:moveTo>
                    <a:pt x="267205" y="0"/>
                  </a:moveTo>
                  <a:lnTo>
                    <a:pt x="0" y="0"/>
                  </a:lnTo>
                  <a:lnTo>
                    <a:pt x="0" y="179321"/>
                  </a:lnTo>
                  <a:lnTo>
                    <a:pt x="267205" y="179321"/>
                  </a:lnTo>
                  <a:lnTo>
                    <a:pt x="267205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4824877" y="6522006"/>
              <a:ext cx="478790" cy="179705"/>
            </a:xfrm>
            <a:custGeom>
              <a:avLst/>
              <a:gdLst/>
              <a:ahLst/>
              <a:cxnLst/>
              <a:rect l="l" t="t" r="r" b="b"/>
              <a:pathLst>
                <a:path w="478789" h="179704">
                  <a:moveTo>
                    <a:pt x="0" y="179321"/>
                  </a:moveTo>
                  <a:lnTo>
                    <a:pt x="267205" y="179321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9321"/>
                  </a:lnTo>
                  <a:close/>
                </a:path>
                <a:path w="478789" h="179704">
                  <a:moveTo>
                    <a:pt x="221924" y="88780"/>
                  </a:moveTo>
                  <a:lnTo>
                    <a:pt x="478490" y="88780"/>
                  </a:lnTo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5301584" y="6581495"/>
              <a:ext cx="57150" cy="59055"/>
            </a:xfrm>
            <a:custGeom>
              <a:avLst/>
              <a:gdLst/>
              <a:ahLst/>
              <a:cxnLst/>
              <a:rect l="l" t="t" r="r" b="b"/>
              <a:pathLst>
                <a:path w="57150" h="59054">
                  <a:moveTo>
                    <a:pt x="0" y="0"/>
                  </a:moveTo>
                  <a:lnTo>
                    <a:pt x="0" y="58582"/>
                  </a:lnTo>
                  <a:lnTo>
                    <a:pt x="56814" y="292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3802212" y="6522006"/>
              <a:ext cx="267335" cy="179705"/>
            </a:xfrm>
            <a:custGeom>
              <a:avLst/>
              <a:gdLst/>
              <a:ahLst/>
              <a:cxnLst/>
              <a:rect l="l" t="t" r="r" b="b"/>
              <a:pathLst>
                <a:path w="267335" h="179704">
                  <a:moveTo>
                    <a:pt x="0" y="179321"/>
                  </a:moveTo>
                  <a:lnTo>
                    <a:pt x="267205" y="179321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9321"/>
                  </a:lnTo>
                  <a:close/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4069418" y="6610786"/>
              <a:ext cx="344805" cy="0"/>
            </a:xfrm>
            <a:custGeom>
              <a:avLst/>
              <a:gdLst/>
              <a:ahLst/>
              <a:cxnLst/>
              <a:rect l="l" t="t" r="r" b="b"/>
              <a:pathLst>
                <a:path w="344804" h="0">
                  <a:moveTo>
                    <a:pt x="0" y="0"/>
                  </a:moveTo>
                  <a:lnTo>
                    <a:pt x="344436" y="0"/>
                  </a:lnTo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3388537" y="6581495"/>
              <a:ext cx="1080770" cy="59055"/>
            </a:xfrm>
            <a:custGeom>
              <a:avLst/>
              <a:gdLst/>
              <a:ahLst/>
              <a:cxnLst/>
              <a:rect l="l" t="t" r="r" b="b"/>
              <a:pathLst>
                <a:path w="1080770" h="59054">
                  <a:moveTo>
                    <a:pt x="57696" y="29298"/>
                  </a:moveTo>
                  <a:lnTo>
                    <a:pt x="0" y="0"/>
                  </a:lnTo>
                  <a:lnTo>
                    <a:pt x="0" y="58585"/>
                  </a:lnTo>
                  <a:lnTo>
                    <a:pt x="57696" y="29298"/>
                  </a:lnTo>
                  <a:close/>
                </a:path>
                <a:path w="1080770" h="59054">
                  <a:moveTo>
                    <a:pt x="1080363" y="29298"/>
                  </a:moveTo>
                  <a:lnTo>
                    <a:pt x="1023543" y="0"/>
                  </a:lnTo>
                  <a:lnTo>
                    <a:pt x="1023543" y="58585"/>
                  </a:lnTo>
                  <a:lnTo>
                    <a:pt x="1080363" y="292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8" name="object 248"/>
          <p:cNvSpPr txBox="1"/>
          <p:nvPr/>
        </p:nvSpPr>
        <p:spPr>
          <a:xfrm>
            <a:off x="3446236" y="6522006"/>
            <a:ext cx="356870" cy="179705"/>
          </a:xfrm>
          <a:prstGeom prst="rect">
            <a:avLst/>
          </a:prstGeom>
          <a:solidFill>
            <a:srgbClr val="FF0000"/>
          </a:solidFill>
          <a:ln w="6447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410"/>
              </a:lnSpc>
            </a:pPr>
            <a:r>
              <a:rPr dirty="0" sz="1400" b="1">
                <a:solidFill>
                  <a:srgbClr val="FFFFFF"/>
                </a:solidFill>
                <a:latin typeface="Times New Roman"/>
                <a:cs typeface="Times New Roman"/>
              </a:rPr>
              <a:t>.21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49" name="object 249"/>
          <p:cNvGrpSpPr/>
          <p:nvPr/>
        </p:nvGrpSpPr>
        <p:grpSpPr>
          <a:xfrm>
            <a:off x="3388537" y="6211300"/>
            <a:ext cx="2967990" cy="2267585"/>
            <a:chOff x="3388537" y="6211300"/>
            <a:chExt cx="2967990" cy="2267585"/>
          </a:xfrm>
        </p:grpSpPr>
        <p:sp>
          <p:nvSpPr>
            <p:cNvPr id="250" name="object 250"/>
            <p:cNvSpPr/>
            <p:nvPr/>
          </p:nvSpPr>
          <p:spPr>
            <a:xfrm>
              <a:off x="3802212" y="6522006"/>
              <a:ext cx="267335" cy="179705"/>
            </a:xfrm>
            <a:custGeom>
              <a:avLst/>
              <a:gdLst/>
              <a:ahLst/>
              <a:cxnLst/>
              <a:rect l="l" t="t" r="r" b="b"/>
              <a:pathLst>
                <a:path w="267335" h="179704">
                  <a:moveTo>
                    <a:pt x="267205" y="0"/>
                  </a:moveTo>
                  <a:lnTo>
                    <a:pt x="0" y="0"/>
                  </a:lnTo>
                  <a:lnTo>
                    <a:pt x="0" y="179321"/>
                  </a:lnTo>
                  <a:lnTo>
                    <a:pt x="267205" y="179321"/>
                  </a:lnTo>
                  <a:lnTo>
                    <a:pt x="267205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3802212" y="6522006"/>
              <a:ext cx="612140" cy="179705"/>
            </a:xfrm>
            <a:custGeom>
              <a:avLst/>
              <a:gdLst/>
              <a:ahLst/>
              <a:cxnLst/>
              <a:rect l="l" t="t" r="r" b="b"/>
              <a:pathLst>
                <a:path w="612139" h="179704">
                  <a:moveTo>
                    <a:pt x="0" y="179321"/>
                  </a:moveTo>
                  <a:lnTo>
                    <a:pt x="267205" y="179321"/>
                  </a:lnTo>
                  <a:lnTo>
                    <a:pt x="267205" y="0"/>
                  </a:lnTo>
                  <a:lnTo>
                    <a:pt x="0" y="0"/>
                  </a:lnTo>
                  <a:lnTo>
                    <a:pt x="0" y="179321"/>
                  </a:lnTo>
                  <a:close/>
                </a:path>
                <a:path w="612139" h="179704">
                  <a:moveTo>
                    <a:pt x="221940" y="88780"/>
                  </a:moveTo>
                  <a:lnTo>
                    <a:pt x="611642" y="88780"/>
                  </a:lnTo>
                </a:path>
              </a:pathLst>
            </a:custGeom>
            <a:ln w="55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3388537" y="6211302"/>
              <a:ext cx="2967990" cy="2267585"/>
            </a:xfrm>
            <a:custGeom>
              <a:avLst/>
              <a:gdLst/>
              <a:ahLst/>
              <a:cxnLst/>
              <a:rect l="l" t="t" r="r" b="b"/>
              <a:pathLst>
                <a:path w="2967990" h="2267584">
                  <a:moveTo>
                    <a:pt x="57696" y="399491"/>
                  </a:moveTo>
                  <a:lnTo>
                    <a:pt x="0" y="370192"/>
                  </a:lnTo>
                  <a:lnTo>
                    <a:pt x="0" y="428777"/>
                  </a:lnTo>
                  <a:lnTo>
                    <a:pt x="57696" y="399491"/>
                  </a:lnTo>
                  <a:close/>
                </a:path>
                <a:path w="2967990" h="2267584">
                  <a:moveTo>
                    <a:pt x="1080363" y="399491"/>
                  </a:moveTo>
                  <a:lnTo>
                    <a:pt x="1023543" y="370192"/>
                  </a:lnTo>
                  <a:lnTo>
                    <a:pt x="1023543" y="428777"/>
                  </a:lnTo>
                  <a:lnTo>
                    <a:pt x="1080363" y="399491"/>
                  </a:lnTo>
                  <a:close/>
                </a:path>
                <a:path w="2967990" h="2267584">
                  <a:moveTo>
                    <a:pt x="2967659" y="2140318"/>
                  </a:moveTo>
                  <a:lnTo>
                    <a:pt x="2920606" y="2140318"/>
                  </a:lnTo>
                  <a:lnTo>
                    <a:pt x="2920606" y="0"/>
                  </a:lnTo>
                  <a:lnTo>
                    <a:pt x="2887764" y="0"/>
                  </a:lnTo>
                  <a:lnTo>
                    <a:pt x="2887764" y="2140318"/>
                  </a:lnTo>
                  <a:lnTo>
                    <a:pt x="2841599" y="2140318"/>
                  </a:lnTo>
                  <a:lnTo>
                    <a:pt x="2904629" y="2267254"/>
                  </a:lnTo>
                  <a:lnTo>
                    <a:pt x="2967659" y="21403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3" name="object 253"/>
          <p:cNvSpPr txBox="1"/>
          <p:nvPr/>
        </p:nvSpPr>
        <p:spPr>
          <a:xfrm>
            <a:off x="2598190" y="5975562"/>
            <a:ext cx="9271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2589313" y="6186234"/>
            <a:ext cx="123825" cy="2385060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marL="20955">
              <a:lnSpc>
                <a:spcPct val="100000"/>
              </a:lnSpc>
              <a:spcBef>
                <a:spcPts val="355"/>
              </a:spcBef>
            </a:pPr>
            <a:r>
              <a:rPr dirty="0" sz="140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40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140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15"/>
              </a:spcBef>
            </a:pPr>
            <a:r>
              <a:rPr dirty="0" sz="140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140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140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65"/>
              </a:spcBef>
            </a:pPr>
            <a:r>
              <a:rPr dirty="0" sz="1400">
                <a:solidFill>
                  <a:srgbClr val="FFFFFF"/>
                </a:solidFill>
                <a:latin typeface="Times New Roman"/>
                <a:cs typeface="Times New Roman"/>
              </a:rPr>
              <a:t>7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400">
                <a:solidFill>
                  <a:srgbClr val="FFFFFF"/>
                </a:solidFill>
                <a:latin typeface="Times New Roman"/>
                <a:cs typeface="Times New Roman"/>
              </a:rPr>
              <a:t>8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20"/>
              </a:spcBef>
            </a:pPr>
            <a:r>
              <a:rPr dirty="0" sz="1400">
                <a:solidFill>
                  <a:srgbClr val="FFFFFF"/>
                </a:solidFill>
                <a:latin typeface="Times New Roman"/>
                <a:cs typeface="Times New Roman"/>
              </a:rPr>
              <a:t>9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4377192" y="7113901"/>
            <a:ext cx="1685925" cy="3810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4"/>
              </a:spcBef>
              <a:tabLst>
                <a:tab pos="605155" algn="l"/>
              </a:tabLst>
            </a:pP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Step 2:	</a:t>
            </a:r>
            <a:r>
              <a:rPr dirty="0" sz="1150" spc="5">
                <a:solidFill>
                  <a:srgbClr val="FFFFFF"/>
                </a:solidFill>
                <a:latin typeface="Arial"/>
                <a:cs typeface="Arial"/>
              </a:rPr>
              <a:t>concatenate</a:t>
            </a:r>
            <a:r>
              <a:rPr dirty="0" sz="1150" spc="-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50" spc="5">
                <a:solidFill>
                  <a:srgbClr val="FFFFFF"/>
                </a:solidFill>
                <a:latin typeface="Arial"/>
                <a:cs typeface="Arial"/>
              </a:rPr>
              <a:t>the</a:t>
            </a:r>
            <a:endParaRPr sz="1150">
              <a:latin typeface="Arial"/>
              <a:cs typeface="Arial"/>
            </a:endParaRPr>
          </a:p>
          <a:p>
            <a:pPr algn="ctr" marR="226695">
              <a:lnSpc>
                <a:spcPct val="100000"/>
              </a:lnSpc>
              <a:spcBef>
                <a:spcPts val="20"/>
              </a:spcBef>
            </a:pPr>
            <a:r>
              <a:rPr dirty="0" sz="1150" spc="5">
                <a:solidFill>
                  <a:srgbClr val="FFFFFF"/>
                </a:solidFill>
                <a:latin typeface="Arial"/>
                <a:cs typeface="Arial"/>
              </a:rPr>
              <a:t>lists</a:t>
            </a:r>
            <a:endParaRPr sz="1150">
              <a:latin typeface="Arial"/>
              <a:cs typeface="Arial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2487040" y="8742743"/>
            <a:ext cx="32556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5.22: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Bucket</a:t>
            </a:r>
            <a:r>
              <a:rPr dirty="0" sz="1200" spc="-5">
                <a:latin typeface="Times New Roman"/>
                <a:cs typeface="Times New Roman"/>
              </a:rPr>
              <a:t> sort: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 2, concatenate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lists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23634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5.3.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RADIX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SORT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72411" y="939724"/>
            <a:ext cx="4648200" cy="2745105"/>
          </a:xfrm>
          <a:custGeom>
            <a:avLst/>
            <a:gdLst/>
            <a:ahLst/>
            <a:cxnLst/>
            <a:rect l="l" t="t" r="r" b="b"/>
            <a:pathLst>
              <a:path w="4648200" h="2745104">
                <a:moveTo>
                  <a:pt x="4648001" y="0"/>
                </a:moveTo>
                <a:lnTo>
                  <a:pt x="0" y="0"/>
                </a:lnTo>
                <a:lnTo>
                  <a:pt x="0" y="2744800"/>
                </a:lnTo>
                <a:lnTo>
                  <a:pt x="4648001" y="2744800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891067" y="1017010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.78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891067" y="1279951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.17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891067" y="1542904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.39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91067" y="1804969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.26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891067" y="2067910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.72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891067" y="2329987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.94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891067" y="2592927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.21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891067" y="2855004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.12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91067" y="3380886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.68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891067" y="3117945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.23</a:t>
            </a:r>
            <a:endParaRPr sz="1350">
              <a:latin typeface="Times New Roman"/>
              <a:cs typeface="Times New Roman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1822819" y="991047"/>
          <a:ext cx="359410" cy="26327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155"/>
              </a:tblGrid>
              <a:tr h="2633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3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.78</a:t>
                      </a:r>
                      <a:endParaRPr sz="1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206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3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.17</a:t>
                      </a:r>
                      <a:endParaRPr sz="1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294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3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.39</a:t>
                      </a:r>
                      <a:endParaRPr sz="1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34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207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3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.26</a:t>
                      </a:r>
                      <a:endParaRPr sz="1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293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3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.72</a:t>
                      </a:r>
                      <a:endParaRPr sz="1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34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207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3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.94</a:t>
                      </a:r>
                      <a:endParaRPr sz="1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294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3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.21</a:t>
                      </a:r>
                      <a:endParaRPr sz="1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34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294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3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.12</a:t>
                      </a:r>
                      <a:endParaRPr sz="1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207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3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.23</a:t>
                      </a:r>
                      <a:endParaRPr sz="1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  <a:tr h="2633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350" spc="10" b="1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.68</a:t>
                      </a:r>
                      <a:endParaRPr sz="1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34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</a:tr>
            </a:tbl>
          </a:graphicData>
        </a:graphic>
      </p:graphicFrame>
      <p:sp>
        <p:nvSpPr>
          <p:cNvPr id="16" name="object 16"/>
          <p:cNvSpPr/>
          <p:nvPr/>
        </p:nvSpPr>
        <p:spPr>
          <a:xfrm>
            <a:off x="4407819" y="2875435"/>
            <a:ext cx="351790" cy="176530"/>
          </a:xfrm>
          <a:custGeom>
            <a:avLst/>
            <a:gdLst/>
            <a:ahLst/>
            <a:cxnLst/>
            <a:rect l="l" t="t" r="r" b="b"/>
            <a:pathLst>
              <a:path w="351789" h="176530">
                <a:moveTo>
                  <a:pt x="0" y="176460"/>
                </a:moveTo>
                <a:lnTo>
                  <a:pt x="351173" y="176460"/>
                </a:lnTo>
                <a:lnTo>
                  <a:pt x="351173" y="0"/>
                </a:lnTo>
                <a:lnTo>
                  <a:pt x="0" y="0"/>
                </a:lnTo>
                <a:lnTo>
                  <a:pt x="0" y="176460"/>
                </a:lnTo>
                <a:close/>
              </a:path>
            </a:pathLst>
          </a:custGeom>
          <a:ln w="5468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4473331" y="2855004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.78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4404961" y="2872578"/>
            <a:ext cx="620395" cy="182245"/>
            <a:chOff x="4404961" y="2872578"/>
            <a:chExt cx="620395" cy="182245"/>
          </a:xfrm>
        </p:grpSpPr>
        <p:sp>
          <p:nvSpPr>
            <p:cNvPr id="19" name="object 19"/>
            <p:cNvSpPr/>
            <p:nvPr/>
          </p:nvSpPr>
          <p:spPr>
            <a:xfrm>
              <a:off x="4757241" y="2875435"/>
              <a:ext cx="264795" cy="176530"/>
            </a:xfrm>
            <a:custGeom>
              <a:avLst/>
              <a:gdLst/>
              <a:ahLst/>
              <a:cxnLst/>
              <a:rect l="l" t="t" r="r" b="b"/>
              <a:pathLst>
                <a:path w="264795" h="176530">
                  <a:moveTo>
                    <a:pt x="0" y="176460"/>
                  </a:moveTo>
                  <a:lnTo>
                    <a:pt x="264691" y="176460"/>
                  </a:lnTo>
                  <a:lnTo>
                    <a:pt x="264691" y="0"/>
                  </a:lnTo>
                  <a:lnTo>
                    <a:pt x="0" y="0"/>
                  </a:lnTo>
                  <a:lnTo>
                    <a:pt x="0" y="176460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407819" y="2875435"/>
              <a:ext cx="351790" cy="176530"/>
            </a:xfrm>
            <a:custGeom>
              <a:avLst/>
              <a:gdLst/>
              <a:ahLst/>
              <a:cxnLst/>
              <a:rect l="l" t="t" r="r" b="b"/>
              <a:pathLst>
                <a:path w="351789" h="176530">
                  <a:moveTo>
                    <a:pt x="351173" y="0"/>
                  </a:moveTo>
                  <a:lnTo>
                    <a:pt x="0" y="0"/>
                  </a:lnTo>
                  <a:lnTo>
                    <a:pt x="0" y="176460"/>
                  </a:lnTo>
                  <a:lnTo>
                    <a:pt x="351173" y="176460"/>
                  </a:lnTo>
                  <a:lnTo>
                    <a:pt x="35117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407819" y="2875435"/>
              <a:ext cx="351790" cy="176530"/>
            </a:xfrm>
            <a:custGeom>
              <a:avLst/>
              <a:gdLst/>
              <a:ahLst/>
              <a:cxnLst/>
              <a:rect l="l" t="t" r="r" b="b"/>
              <a:pathLst>
                <a:path w="351789" h="176530">
                  <a:moveTo>
                    <a:pt x="0" y="176460"/>
                  </a:moveTo>
                  <a:lnTo>
                    <a:pt x="351173" y="176460"/>
                  </a:lnTo>
                  <a:lnTo>
                    <a:pt x="351173" y="0"/>
                  </a:lnTo>
                  <a:lnTo>
                    <a:pt x="0" y="0"/>
                  </a:lnTo>
                  <a:lnTo>
                    <a:pt x="0" y="176460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4407819" y="2875435"/>
            <a:ext cx="350520" cy="176530"/>
          </a:xfrm>
          <a:prstGeom prst="rect">
            <a:avLst/>
          </a:prstGeom>
          <a:ln w="7219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5405">
              <a:lnSpc>
                <a:spcPts val="1390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.78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4404961" y="1253866"/>
            <a:ext cx="620395" cy="1801495"/>
            <a:chOff x="4404961" y="1253866"/>
            <a:chExt cx="620395" cy="1801495"/>
          </a:xfrm>
        </p:grpSpPr>
        <p:sp>
          <p:nvSpPr>
            <p:cNvPr id="24" name="object 24"/>
            <p:cNvSpPr/>
            <p:nvPr/>
          </p:nvSpPr>
          <p:spPr>
            <a:xfrm>
              <a:off x="4757241" y="2875435"/>
              <a:ext cx="264795" cy="176530"/>
            </a:xfrm>
            <a:custGeom>
              <a:avLst/>
              <a:gdLst/>
              <a:ahLst/>
              <a:cxnLst/>
              <a:rect l="l" t="t" r="r" b="b"/>
              <a:pathLst>
                <a:path w="264795" h="176530">
                  <a:moveTo>
                    <a:pt x="264691" y="0"/>
                  </a:moveTo>
                  <a:lnTo>
                    <a:pt x="0" y="0"/>
                  </a:lnTo>
                  <a:lnTo>
                    <a:pt x="0" y="176460"/>
                  </a:lnTo>
                  <a:lnTo>
                    <a:pt x="264691" y="176460"/>
                  </a:lnTo>
                  <a:lnTo>
                    <a:pt x="264691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407819" y="1256723"/>
              <a:ext cx="614680" cy="1795780"/>
            </a:xfrm>
            <a:custGeom>
              <a:avLst/>
              <a:gdLst/>
              <a:ahLst/>
              <a:cxnLst/>
              <a:rect l="l" t="t" r="r" b="b"/>
              <a:pathLst>
                <a:path w="614679" h="1795780">
                  <a:moveTo>
                    <a:pt x="349422" y="1795172"/>
                  </a:moveTo>
                  <a:lnTo>
                    <a:pt x="614114" y="1795172"/>
                  </a:lnTo>
                  <a:lnTo>
                    <a:pt x="614114" y="1618711"/>
                  </a:lnTo>
                  <a:lnTo>
                    <a:pt x="349422" y="1618711"/>
                  </a:lnTo>
                  <a:lnTo>
                    <a:pt x="349422" y="1795172"/>
                  </a:lnTo>
                  <a:close/>
                </a:path>
                <a:path w="614679" h="1795780">
                  <a:moveTo>
                    <a:pt x="0" y="175587"/>
                  </a:moveTo>
                  <a:lnTo>
                    <a:pt x="351173" y="175587"/>
                  </a:lnTo>
                  <a:lnTo>
                    <a:pt x="351173" y="0"/>
                  </a:lnTo>
                  <a:lnTo>
                    <a:pt x="0" y="0"/>
                  </a:lnTo>
                  <a:lnTo>
                    <a:pt x="0" y="175587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 txBox="1"/>
          <p:nvPr/>
        </p:nvSpPr>
        <p:spPr>
          <a:xfrm>
            <a:off x="4473331" y="1236276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.17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4404961" y="1253866"/>
            <a:ext cx="620395" cy="181610"/>
            <a:chOff x="4404961" y="1253866"/>
            <a:chExt cx="620395" cy="181610"/>
          </a:xfrm>
        </p:grpSpPr>
        <p:sp>
          <p:nvSpPr>
            <p:cNvPr id="28" name="object 28"/>
            <p:cNvSpPr/>
            <p:nvPr/>
          </p:nvSpPr>
          <p:spPr>
            <a:xfrm>
              <a:off x="4757241" y="1256723"/>
              <a:ext cx="264795" cy="175895"/>
            </a:xfrm>
            <a:custGeom>
              <a:avLst/>
              <a:gdLst/>
              <a:ahLst/>
              <a:cxnLst/>
              <a:rect l="l" t="t" r="r" b="b"/>
              <a:pathLst>
                <a:path w="264795" h="175894">
                  <a:moveTo>
                    <a:pt x="0" y="175587"/>
                  </a:moveTo>
                  <a:lnTo>
                    <a:pt x="264691" y="175587"/>
                  </a:lnTo>
                  <a:lnTo>
                    <a:pt x="264691" y="0"/>
                  </a:lnTo>
                  <a:lnTo>
                    <a:pt x="0" y="0"/>
                  </a:lnTo>
                  <a:lnTo>
                    <a:pt x="0" y="175587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407819" y="1256723"/>
              <a:ext cx="351790" cy="175895"/>
            </a:xfrm>
            <a:custGeom>
              <a:avLst/>
              <a:gdLst/>
              <a:ahLst/>
              <a:cxnLst/>
              <a:rect l="l" t="t" r="r" b="b"/>
              <a:pathLst>
                <a:path w="351789" h="175894">
                  <a:moveTo>
                    <a:pt x="351173" y="0"/>
                  </a:moveTo>
                  <a:lnTo>
                    <a:pt x="0" y="0"/>
                  </a:lnTo>
                  <a:lnTo>
                    <a:pt x="0" y="175587"/>
                  </a:lnTo>
                  <a:lnTo>
                    <a:pt x="351173" y="175587"/>
                  </a:lnTo>
                  <a:lnTo>
                    <a:pt x="35117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407819" y="1256723"/>
              <a:ext cx="351790" cy="175895"/>
            </a:xfrm>
            <a:custGeom>
              <a:avLst/>
              <a:gdLst/>
              <a:ahLst/>
              <a:cxnLst/>
              <a:rect l="l" t="t" r="r" b="b"/>
              <a:pathLst>
                <a:path w="351789" h="175894">
                  <a:moveTo>
                    <a:pt x="0" y="175587"/>
                  </a:moveTo>
                  <a:lnTo>
                    <a:pt x="351173" y="175587"/>
                  </a:lnTo>
                  <a:lnTo>
                    <a:pt x="351173" y="0"/>
                  </a:lnTo>
                  <a:lnTo>
                    <a:pt x="0" y="0"/>
                  </a:lnTo>
                  <a:lnTo>
                    <a:pt x="0" y="175587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/>
          <p:cNvSpPr txBox="1"/>
          <p:nvPr/>
        </p:nvSpPr>
        <p:spPr>
          <a:xfrm>
            <a:off x="4407819" y="1256723"/>
            <a:ext cx="350520" cy="175895"/>
          </a:xfrm>
          <a:prstGeom prst="rect">
            <a:avLst/>
          </a:prstGeom>
          <a:ln w="7219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5405">
              <a:lnSpc>
                <a:spcPts val="138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.17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4754384" y="1253866"/>
            <a:ext cx="883285" cy="488315"/>
            <a:chOff x="4754384" y="1253866"/>
            <a:chExt cx="883285" cy="488315"/>
          </a:xfrm>
        </p:grpSpPr>
        <p:sp>
          <p:nvSpPr>
            <p:cNvPr id="33" name="object 33"/>
            <p:cNvSpPr/>
            <p:nvPr/>
          </p:nvSpPr>
          <p:spPr>
            <a:xfrm>
              <a:off x="4757242" y="1256723"/>
              <a:ext cx="264795" cy="175895"/>
            </a:xfrm>
            <a:custGeom>
              <a:avLst/>
              <a:gdLst/>
              <a:ahLst/>
              <a:cxnLst/>
              <a:rect l="l" t="t" r="r" b="b"/>
              <a:pathLst>
                <a:path w="264795" h="175894">
                  <a:moveTo>
                    <a:pt x="264691" y="0"/>
                  </a:moveTo>
                  <a:lnTo>
                    <a:pt x="0" y="0"/>
                  </a:lnTo>
                  <a:lnTo>
                    <a:pt x="0" y="175587"/>
                  </a:lnTo>
                  <a:lnTo>
                    <a:pt x="264691" y="175587"/>
                  </a:lnTo>
                  <a:lnTo>
                    <a:pt x="264691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757242" y="1256723"/>
              <a:ext cx="877569" cy="482600"/>
            </a:xfrm>
            <a:custGeom>
              <a:avLst/>
              <a:gdLst/>
              <a:ahLst/>
              <a:cxnLst/>
              <a:rect l="l" t="t" r="r" b="b"/>
              <a:pathLst>
                <a:path w="877570" h="482600">
                  <a:moveTo>
                    <a:pt x="0" y="175587"/>
                  </a:moveTo>
                  <a:lnTo>
                    <a:pt x="264691" y="175587"/>
                  </a:lnTo>
                  <a:lnTo>
                    <a:pt x="264691" y="0"/>
                  </a:lnTo>
                  <a:lnTo>
                    <a:pt x="0" y="0"/>
                  </a:lnTo>
                  <a:lnTo>
                    <a:pt x="0" y="175587"/>
                  </a:lnTo>
                  <a:close/>
                </a:path>
                <a:path w="877570" h="482600">
                  <a:moveTo>
                    <a:pt x="526755" y="482201"/>
                  </a:moveTo>
                  <a:lnTo>
                    <a:pt x="877055" y="482201"/>
                  </a:lnTo>
                  <a:lnTo>
                    <a:pt x="877055" y="305740"/>
                  </a:lnTo>
                  <a:lnTo>
                    <a:pt x="526755" y="305740"/>
                  </a:lnTo>
                  <a:lnTo>
                    <a:pt x="526755" y="482201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/>
          <p:cNvSpPr txBox="1"/>
          <p:nvPr/>
        </p:nvSpPr>
        <p:spPr>
          <a:xfrm>
            <a:off x="5349517" y="1542904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.26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5281140" y="1559606"/>
            <a:ext cx="619125" cy="182245"/>
            <a:chOff x="5281140" y="1559606"/>
            <a:chExt cx="619125" cy="182245"/>
          </a:xfrm>
        </p:grpSpPr>
        <p:sp>
          <p:nvSpPr>
            <p:cNvPr id="37" name="object 37"/>
            <p:cNvSpPr/>
            <p:nvPr/>
          </p:nvSpPr>
          <p:spPr>
            <a:xfrm>
              <a:off x="5633435" y="1562463"/>
              <a:ext cx="264160" cy="176530"/>
            </a:xfrm>
            <a:custGeom>
              <a:avLst/>
              <a:gdLst/>
              <a:ahLst/>
              <a:cxnLst/>
              <a:rect l="l" t="t" r="r" b="b"/>
              <a:pathLst>
                <a:path w="264160" h="176530">
                  <a:moveTo>
                    <a:pt x="0" y="176460"/>
                  </a:moveTo>
                  <a:lnTo>
                    <a:pt x="263818" y="176460"/>
                  </a:lnTo>
                  <a:lnTo>
                    <a:pt x="263818" y="0"/>
                  </a:lnTo>
                  <a:lnTo>
                    <a:pt x="0" y="0"/>
                  </a:lnTo>
                  <a:lnTo>
                    <a:pt x="0" y="176460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283997" y="1562463"/>
              <a:ext cx="350520" cy="176530"/>
            </a:xfrm>
            <a:custGeom>
              <a:avLst/>
              <a:gdLst/>
              <a:ahLst/>
              <a:cxnLst/>
              <a:rect l="l" t="t" r="r" b="b"/>
              <a:pathLst>
                <a:path w="350520" h="176530">
                  <a:moveTo>
                    <a:pt x="350300" y="0"/>
                  </a:moveTo>
                  <a:lnTo>
                    <a:pt x="0" y="0"/>
                  </a:lnTo>
                  <a:lnTo>
                    <a:pt x="0" y="176460"/>
                  </a:lnTo>
                  <a:lnTo>
                    <a:pt x="350300" y="176460"/>
                  </a:lnTo>
                  <a:lnTo>
                    <a:pt x="35030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283997" y="1562463"/>
              <a:ext cx="350520" cy="176530"/>
            </a:xfrm>
            <a:custGeom>
              <a:avLst/>
              <a:gdLst/>
              <a:ahLst/>
              <a:cxnLst/>
              <a:rect l="l" t="t" r="r" b="b"/>
              <a:pathLst>
                <a:path w="350520" h="176530">
                  <a:moveTo>
                    <a:pt x="0" y="176460"/>
                  </a:moveTo>
                  <a:lnTo>
                    <a:pt x="350300" y="176460"/>
                  </a:lnTo>
                  <a:lnTo>
                    <a:pt x="350300" y="0"/>
                  </a:lnTo>
                  <a:lnTo>
                    <a:pt x="0" y="0"/>
                  </a:lnTo>
                  <a:lnTo>
                    <a:pt x="0" y="176460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/>
          <p:cNvSpPr txBox="1"/>
          <p:nvPr/>
        </p:nvSpPr>
        <p:spPr>
          <a:xfrm>
            <a:off x="5283997" y="1562463"/>
            <a:ext cx="349885" cy="176530"/>
          </a:xfrm>
          <a:prstGeom prst="rect">
            <a:avLst/>
          </a:prstGeom>
          <a:ln w="6331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5405">
              <a:lnSpc>
                <a:spcPts val="1390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.26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3397735" y="1559606"/>
            <a:ext cx="2502535" cy="2020570"/>
            <a:chOff x="3397735" y="1559606"/>
            <a:chExt cx="2502535" cy="2020570"/>
          </a:xfrm>
        </p:grpSpPr>
        <p:sp>
          <p:nvSpPr>
            <p:cNvPr id="42" name="object 42"/>
            <p:cNvSpPr/>
            <p:nvPr/>
          </p:nvSpPr>
          <p:spPr>
            <a:xfrm>
              <a:off x="5633435" y="1562463"/>
              <a:ext cx="264160" cy="176530"/>
            </a:xfrm>
            <a:custGeom>
              <a:avLst/>
              <a:gdLst/>
              <a:ahLst/>
              <a:cxnLst/>
              <a:rect l="l" t="t" r="r" b="b"/>
              <a:pathLst>
                <a:path w="264160" h="176530">
                  <a:moveTo>
                    <a:pt x="263818" y="0"/>
                  </a:moveTo>
                  <a:lnTo>
                    <a:pt x="0" y="0"/>
                  </a:lnTo>
                  <a:lnTo>
                    <a:pt x="0" y="176460"/>
                  </a:lnTo>
                  <a:lnTo>
                    <a:pt x="263818" y="176460"/>
                  </a:lnTo>
                  <a:lnTo>
                    <a:pt x="263818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5633435" y="1562463"/>
              <a:ext cx="264160" cy="176530"/>
            </a:xfrm>
            <a:custGeom>
              <a:avLst/>
              <a:gdLst/>
              <a:ahLst/>
              <a:cxnLst/>
              <a:rect l="l" t="t" r="r" b="b"/>
              <a:pathLst>
                <a:path w="264160" h="176530">
                  <a:moveTo>
                    <a:pt x="0" y="176460"/>
                  </a:moveTo>
                  <a:lnTo>
                    <a:pt x="263818" y="176460"/>
                  </a:lnTo>
                  <a:lnTo>
                    <a:pt x="263818" y="0"/>
                  </a:lnTo>
                  <a:lnTo>
                    <a:pt x="0" y="0"/>
                  </a:lnTo>
                  <a:lnTo>
                    <a:pt x="0" y="176460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400592" y="3400453"/>
              <a:ext cx="351790" cy="176530"/>
            </a:xfrm>
            <a:custGeom>
              <a:avLst/>
              <a:gdLst/>
              <a:ahLst/>
              <a:cxnLst/>
              <a:rect l="l" t="t" r="r" b="b"/>
              <a:pathLst>
                <a:path w="351789" h="176529">
                  <a:moveTo>
                    <a:pt x="351173" y="0"/>
                  </a:moveTo>
                  <a:lnTo>
                    <a:pt x="0" y="0"/>
                  </a:lnTo>
                  <a:lnTo>
                    <a:pt x="0" y="176460"/>
                  </a:lnTo>
                  <a:lnTo>
                    <a:pt x="351173" y="176460"/>
                  </a:lnTo>
                  <a:lnTo>
                    <a:pt x="35117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400592" y="3400453"/>
              <a:ext cx="351790" cy="176530"/>
            </a:xfrm>
            <a:custGeom>
              <a:avLst/>
              <a:gdLst/>
              <a:ahLst/>
              <a:cxnLst/>
              <a:rect l="l" t="t" r="r" b="b"/>
              <a:pathLst>
                <a:path w="351789" h="176529">
                  <a:moveTo>
                    <a:pt x="0" y="176460"/>
                  </a:moveTo>
                  <a:lnTo>
                    <a:pt x="351173" y="176460"/>
                  </a:lnTo>
                  <a:lnTo>
                    <a:pt x="351173" y="0"/>
                  </a:lnTo>
                  <a:lnTo>
                    <a:pt x="0" y="0"/>
                  </a:lnTo>
                  <a:lnTo>
                    <a:pt x="0" y="176460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/>
          <p:cNvSpPr txBox="1"/>
          <p:nvPr/>
        </p:nvSpPr>
        <p:spPr>
          <a:xfrm>
            <a:off x="3400592" y="3400453"/>
            <a:ext cx="351155" cy="176530"/>
          </a:xfrm>
          <a:prstGeom prst="rect">
            <a:avLst/>
          </a:prstGeom>
          <a:ln w="6336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390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.94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47" name="object 47"/>
          <p:cNvGrpSpPr/>
          <p:nvPr/>
        </p:nvGrpSpPr>
        <p:grpSpPr>
          <a:xfrm>
            <a:off x="3400592" y="1256723"/>
            <a:ext cx="617220" cy="2323465"/>
            <a:chOff x="3400592" y="1256723"/>
            <a:chExt cx="617220" cy="2323465"/>
          </a:xfrm>
        </p:grpSpPr>
        <p:sp>
          <p:nvSpPr>
            <p:cNvPr id="48" name="object 48"/>
            <p:cNvSpPr/>
            <p:nvPr/>
          </p:nvSpPr>
          <p:spPr>
            <a:xfrm>
              <a:off x="3750899" y="3400453"/>
              <a:ext cx="264160" cy="176530"/>
            </a:xfrm>
            <a:custGeom>
              <a:avLst/>
              <a:gdLst/>
              <a:ahLst/>
              <a:cxnLst/>
              <a:rect l="l" t="t" r="r" b="b"/>
              <a:pathLst>
                <a:path w="264160" h="176529">
                  <a:moveTo>
                    <a:pt x="263818" y="0"/>
                  </a:moveTo>
                  <a:lnTo>
                    <a:pt x="0" y="0"/>
                  </a:lnTo>
                  <a:lnTo>
                    <a:pt x="0" y="176460"/>
                  </a:lnTo>
                  <a:lnTo>
                    <a:pt x="263818" y="176460"/>
                  </a:lnTo>
                  <a:lnTo>
                    <a:pt x="263818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3750899" y="3400453"/>
              <a:ext cx="264160" cy="176530"/>
            </a:xfrm>
            <a:custGeom>
              <a:avLst/>
              <a:gdLst/>
              <a:ahLst/>
              <a:cxnLst/>
              <a:rect l="l" t="t" r="r" b="b"/>
              <a:pathLst>
                <a:path w="264160" h="176529">
                  <a:moveTo>
                    <a:pt x="0" y="176460"/>
                  </a:moveTo>
                  <a:lnTo>
                    <a:pt x="263818" y="176460"/>
                  </a:lnTo>
                  <a:lnTo>
                    <a:pt x="263818" y="0"/>
                  </a:lnTo>
                  <a:lnTo>
                    <a:pt x="0" y="0"/>
                  </a:lnTo>
                  <a:lnTo>
                    <a:pt x="0" y="176460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400592" y="1256723"/>
              <a:ext cx="351790" cy="175895"/>
            </a:xfrm>
            <a:custGeom>
              <a:avLst/>
              <a:gdLst/>
              <a:ahLst/>
              <a:cxnLst/>
              <a:rect l="l" t="t" r="r" b="b"/>
              <a:pathLst>
                <a:path w="351789" h="175894">
                  <a:moveTo>
                    <a:pt x="351173" y="0"/>
                  </a:moveTo>
                  <a:lnTo>
                    <a:pt x="0" y="0"/>
                  </a:lnTo>
                  <a:lnTo>
                    <a:pt x="0" y="175587"/>
                  </a:lnTo>
                  <a:lnTo>
                    <a:pt x="351173" y="175587"/>
                  </a:lnTo>
                  <a:lnTo>
                    <a:pt x="35117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" name="object 51"/>
          <p:cNvSpPr txBox="1"/>
          <p:nvPr/>
        </p:nvSpPr>
        <p:spPr>
          <a:xfrm>
            <a:off x="3400592" y="1256723"/>
            <a:ext cx="351155" cy="175895"/>
          </a:xfrm>
          <a:prstGeom prst="rect">
            <a:avLst/>
          </a:prstGeom>
          <a:ln w="6336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38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.12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3397735" y="1253866"/>
            <a:ext cx="1010285" cy="750570"/>
            <a:chOff x="3397735" y="1253866"/>
            <a:chExt cx="1010285" cy="750570"/>
          </a:xfrm>
        </p:grpSpPr>
        <p:sp>
          <p:nvSpPr>
            <p:cNvPr id="53" name="object 53"/>
            <p:cNvSpPr/>
            <p:nvPr/>
          </p:nvSpPr>
          <p:spPr>
            <a:xfrm>
              <a:off x="3750899" y="1256723"/>
              <a:ext cx="264160" cy="175895"/>
            </a:xfrm>
            <a:custGeom>
              <a:avLst/>
              <a:gdLst/>
              <a:ahLst/>
              <a:cxnLst/>
              <a:rect l="l" t="t" r="r" b="b"/>
              <a:pathLst>
                <a:path w="264160" h="175894">
                  <a:moveTo>
                    <a:pt x="263818" y="0"/>
                  </a:moveTo>
                  <a:lnTo>
                    <a:pt x="0" y="0"/>
                  </a:lnTo>
                  <a:lnTo>
                    <a:pt x="0" y="175587"/>
                  </a:lnTo>
                  <a:lnTo>
                    <a:pt x="263818" y="175587"/>
                  </a:lnTo>
                  <a:lnTo>
                    <a:pt x="263818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750899" y="1256723"/>
              <a:ext cx="264160" cy="175895"/>
            </a:xfrm>
            <a:custGeom>
              <a:avLst/>
              <a:gdLst/>
              <a:ahLst/>
              <a:cxnLst/>
              <a:rect l="l" t="t" r="r" b="b"/>
              <a:pathLst>
                <a:path w="264160" h="175894">
                  <a:moveTo>
                    <a:pt x="0" y="175587"/>
                  </a:moveTo>
                  <a:lnTo>
                    <a:pt x="263818" y="175587"/>
                  </a:lnTo>
                  <a:lnTo>
                    <a:pt x="263818" y="0"/>
                  </a:lnTo>
                  <a:lnTo>
                    <a:pt x="0" y="0"/>
                  </a:lnTo>
                  <a:lnTo>
                    <a:pt x="0" y="175587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970157" y="1344071"/>
              <a:ext cx="383540" cy="0"/>
            </a:xfrm>
            <a:custGeom>
              <a:avLst/>
              <a:gdLst/>
              <a:ahLst/>
              <a:cxnLst/>
              <a:rect l="l" t="t" r="r" b="b"/>
              <a:pathLst>
                <a:path w="383539" h="0">
                  <a:moveTo>
                    <a:pt x="0" y="0"/>
                  </a:moveTo>
                  <a:lnTo>
                    <a:pt x="383499" y="0"/>
                  </a:lnTo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351904" y="1315252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4">
                  <a:moveTo>
                    <a:pt x="0" y="0"/>
                  </a:moveTo>
                  <a:lnTo>
                    <a:pt x="0" y="57652"/>
                  </a:lnTo>
                  <a:lnTo>
                    <a:pt x="55915" y="288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3400592" y="1825419"/>
              <a:ext cx="351790" cy="175895"/>
            </a:xfrm>
            <a:custGeom>
              <a:avLst/>
              <a:gdLst/>
              <a:ahLst/>
              <a:cxnLst/>
              <a:rect l="l" t="t" r="r" b="b"/>
              <a:pathLst>
                <a:path w="351789" h="175894">
                  <a:moveTo>
                    <a:pt x="0" y="175587"/>
                  </a:moveTo>
                  <a:lnTo>
                    <a:pt x="351173" y="175587"/>
                  </a:lnTo>
                  <a:lnTo>
                    <a:pt x="351173" y="0"/>
                  </a:lnTo>
                  <a:lnTo>
                    <a:pt x="0" y="0"/>
                  </a:lnTo>
                  <a:lnTo>
                    <a:pt x="0" y="175587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/>
          <p:cNvSpPr txBox="1"/>
          <p:nvPr/>
        </p:nvSpPr>
        <p:spPr>
          <a:xfrm>
            <a:off x="3466984" y="1804969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.39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3397735" y="1822562"/>
            <a:ext cx="620395" cy="181610"/>
            <a:chOff x="3397735" y="1822562"/>
            <a:chExt cx="620395" cy="181610"/>
          </a:xfrm>
        </p:grpSpPr>
        <p:sp>
          <p:nvSpPr>
            <p:cNvPr id="60" name="object 60"/>
            <p:cNvSpPr/>
            <p:nvPr/>
          </p:nvSpPr>
          <p:spPr>
            <a:xfrm>
              <a:off x="3750899" y="1825419"/>
              <a:ext cx="264160" cy="175895"/>
            </a:xfrm>
            <a:custGeom>
              <a:avLst/>
              <a:gdLst/>
              <a:ahLst/>
              <a:cxnLst/>
              <a:rect l="l" t="t" r="r" b="b"/>
              <a:pathLst>
                <a:path w="264160" h="175894">
                  <a:moveTo>
                    <a:pt x="0" y="175587"/>
                  </a:moveTo>
                  <a:lnTo>
                    <a:pt x="263818" y="175587"/>
                  </a:lnTo>
                  <a:lnTo>
                    <a:pt x="263818" y="0"/>
                  </a:lnTo>
                  <a:lnTo>
                    <a:pt x="0" y="0"/>
                  </a:lnTo>
                  <a:lnTo>
                    <a:pt x="0" y="175587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400592" y="1825419"/>
              <a:ext cx="351790" cy="175895"/>
            </a:xfrm>
            <a:custGeom>
              <a:avLst/>
              <a:gdLst/>
              <a:ahLst/>
              <a:cxnLst/>
              <a:rect l="l" t="t" r="r" b="b"/>
              <a:pathLst>
                <a:path w="351789" h="175894">
                  <a:moveTo>
                    <a:pt x="351173" y="0"/>
                  </a:moveTo>
                  <a:lnTo>
                    <a:pt x="0" y="0"/>
                  </a:lnTo>
                  <a:lnTo>
                    <a:pt x="0" y="175587"/>
                  </a:lnTo>
                  <a:lnTo>
                    <a:pt x="351173" y="175587"/>
                  </a:lnTo>
                  <a:lnTo>
                    <a:pt x="35117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400592" y="1825419"/>
              <a:ext cx="351790" cy="175895"/>
            </a:xfrm>
            <a:custGeom>
              <a:avLst/>
              <a:gdLst/>
              <a:ahLst/>
              <a:cxnLst/>
              <a:rect l="l" t="t" r="r" b="b"/>
              <a:pathLst>
                <a:path w="351789" h="175894">
                  <a:moveTo>
                    <a:pt x="0" y="175587"/>
                  </a:moveTo>
                  <a:lnTo>
                    <a:pt x="351173" y="175587"/>
                  </a:lnTo>
                  <a:lnTo>
                    <a:pt x="351173" y="0"/>
                  </a:lnTo>
                  <a:lnTo>
                    <a:pt x="0" y="0"/>
                  </a:lnTo>
                  <a:lnTo>
                    <a:pt x="0" y="175587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/>
          <p:cNvSpPr txBox="1"/>
          <p:nvPr/>
        </p:nvSpPr>
        <p:spPr>
          <a:xfrm>
            <a:off x="3400592" y="1825419"/>
            <a:ext cx="351155" cy="175895"/>
          </a:xfrm>
          <a:prstGeom prst="rect">
            <a:avLst/>
          </a:prstGeom>
          <a:ln w="6336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38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.39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64" name="object 64"/>
          <p:cNvGrpSpPr/>
          <p:nvPr/>
        </p:nvGrpSpPr>
        <p:grpSpPr>
          <a:xfrm>
            <a:off x="3397735" y="1822562"/>
            <a:ext cx="620395" cy="969644"/>
            <a:chOff x="3397735" y="1822562"/>
            <a:chExt cx="620395" cy="969644"/>
          </a:xfrm>
        </p:grpSpPr>
        <p:sp>
          <p:nvSpPr>
            <p:cNvPr id="65" name="object 65"/>
            <p:cNvSpPr/>
            <p:nvPr/>
          </p:nvSpPr>
          <p:spPr>
            <a:xfrm>
              <a:off x="3750899" y="1825419"/>
              <a:ext cx="264160" cy="175895"/>
            </a:xfrm>
            <a:custGeom>
              <a:avLst/>
              <a:gdLst/>
              <a:ahLst/>
              <a:cxnLst/>
              <a:rect l="l" t="t" r="r" b="b"/>
              <a:pathLst>
                <a:path w="264160" h="175894">
                  <a:moveTo>
                    <a:pt x="263818" y="0"/>
                  </a:moveTo>
                  <a:lnTo>
                    <a:pt x="0" y="0"/>
                  </a:lnTo>
                  <a:lnTo>
                    <a:pt x="0" y="175587"/>
                  </a:lnTo>
                  <a:lnTo>
                    <a:pt x="263818" y="175587"/>
                  </a:lnTo>
                  <a:lnTo>
                    <a:pt x="263818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750899" y="1825419"/>
              <a:ext cx="264160" cy="175895"/>
            </a:xfrm>
            <a:custGeom>
              <a:avLst/>
              <a:gdLst/>
              <a:ahLst/>
              <a:cxnLst/>
              <a:rect l="l" t="t" r="r" b="b"/>
              <a:pathLst>
                <a:path w="264160" h="175894">
                  <a:moveTo>
                    <a:pt x="0" y="175587"/>
                  </a:moveTo>
                  <a:lnTo>
                    <a:pt x="263818" y="175587"/>
                  </a:lnTo>
                  <a:lnTo>
                    <a:pt x="263818" y="0"/>
                  </a:lnTo>
                  <a:lnTo>
                    <a:pt x="0" y="0"/>
                  </a:lnTo>
                  <a:lnTo>
                    <a:pt x="0" y="175587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400592" y="2613373"/>
              <a:ext cx="351790" cy="175895"/>
            </a:xfrm>
            <a:custGeom>
              <a:avLst/>
              <a:gdLst/>
              <a:ahLst/>
              <a:cxnLst/>
              <a:rect l="l" t="t" r="r" b="b"/>
              <a:pathLst>
                <a:path w="351789" h="175894">
                  <a:moveTo>
                    <a:pt x="351173" y="0"/>
                  </a:moveTo>
                  <a:lnTo>
                    <a:pt x="0" y="0"/>
                  </a:lnTo>
                  <a:lnTo>
                    <a:pt x="0" y="175587"/>
                  </a:lnTo>
                  <a:lnTo>
                    <a:pt x="351173" y="175587"/>
                  </a:lnTo>
                  <a:lnTo>
                    <a:pt x="35117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400592" y="2613373"/>
              <a:ext cx="351790" cy="175895"/>
            </a:xfrm>
            <a:custGeom>
              <a:avLst/>
              <a:gdLst/>
              <a:ahLst/>
              <a:cxnLst/>
              <a:rect l="l" t="t" r="r" b="b"/>
              <a:pathLst>
                <a:path w="351789" h="175894">
                  <a:moveTo>
                    <a:pt x="0" y="175587"/>
                  </a:moveTo>
                  <a:lnTo>
                    <a:pt x="351173" y="175587"/>
                  </a:lnTo>
                  <a:lnTo>
                    <a:pt x="351173" y="0"/>
                  </a:lnTo>
                  <a:lnTo>
                    <a:pt x="0" y="0"/>
                  </a:lnTo>
                  <a:lnTo>
                    <a:pt x="0" y="175587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" name="object 69"/>
          <p:cNvSpPr txBox="1"/>
          <p:nvPr/>
        </p:nvSpPr>
        <p:spPr>
          <a:xfrm>
            <a:off x="3400592" y="2613373"/>
            <a:ext cx="351155" cy="175895"/>
          </a:xfrm>
          <a:prstGeom prst="rect">
            <a:avLst/>
          </a:prstGeom>
          <a:ln w="6336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38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.68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3400592" y="2610515"/>
            <a:ext cx="617220" cy="441959"/>
            <a:chOff x="3400592" y="2610515"/>
            <a:chExt cx="617220" cy="441959"/>
          </a:xfrm>
        </p:grpSpPr>
        <p:sp>
          <p:nvSpPr>
            <p:cNvPr id="71" name="object 71"/>
            <p:cNvSpPr/>
            <p:nvPr/>
          </p:nvSpPr>
          <p:spPr>
            <a:xfrm>
              <a:off x="3750899" y="2613373"/>
              <a:ext cx="264160" cy="175895"/>
            </a:xfrm>
            <a:custGeom>
              <a:avLst/>
              <a:gdLst/>
              <a:ahLst/>
              <a:cxnLst/>
              <a:rect l="l" t="t" r="r" b="b"/>
              <a:pathLst>
                <a:path w="264160" h="175894">
                  <a:moveTo>
                    <a:pt x="263818" y="0"/>
                  </a:moveTo>
                  <a:lnTo>
                    <a:pt x="0" y="0"/>
                  </a:lnTo>
                  <a:lnTo>
                    <a:pt x="0" y="175587"/>
                  </a:lnTo>
                  <a:lnTo>
                    <a:pt x="263818" y="175587"/>
                  </a:lnTo>
                  <a:lnTo>
                    <a:pt x="263818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750899" y="2613373"/>
              <a:ext cx="264160" cy="175895"/>
            </a:xfrm>
            <a:custGeom>
              <a:avLst/>
              <a:gdLst/>
              <a:ahLst/>
              <a:cxnLst/>
              <a:rect l="l" t="t" r="r" b="b"/>
              <a:pathLst>
                <a:path w="264160" h="175894">
                  <a:moveTo>
                    <a:pt x="0" y="175587"/>
                  </a:moveTo>
                  <a:lnTo>
                    <a:pt x="263818" y="175587"/>
                  </a:lnTo>
                  <a:lnTo>
                    <a:pt x="263818" y="0"/>
                  </a:lnTo>
                  <a:lnTo>
                    <a:pt x="0" y="0"/>
                  </a:lnTo>
                  <a:lnTo>
                    <a:pt x="0" y="175587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400592" y="2875435"/>
              <a:ext cx="351790" cy="176530"/>
            </a:xfrm>
            <a:custGeom>
              <a:avLst/>
              <a:gdLst/>
              <a:ahLst/>
              <a:cxnLst/>
              <a:rect l="l" t="t" r="r" b="b"/>
              <a:pathLst>
                <a:path w="351789" h="176530">
                  <a:moveTo>
                    <a:pt x="351173" y="0"/>
                  </a:moveTo>
                  <a:lnTo>
                    <a:pt x="0" y="0"/>
                  </a:lnTo>
                  <a:lnTo>
                    <a:pt x="0" y="176460"/>
                  </a:lnTo>
                  <a:lnTo>
                    <a:pt x="351173" y="176460"/>
                  </a:lnTo>
                  <a:lnTo>
                    <a:pt x="35117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4" name="object 74"/>
          <p:cNvSpPr txBox="1"/>
          <p:nvPr/>
        </p:nvSpPr>
        <p:spPr>
          <a:xfrm>
            <a:off x="3400592" y="2875435"/>
            <a:ext cx="351155" cy="176530"/>
          </a:xfrm>
          <a:prstGeom prst="rect">
            <a:avLst/>
          </a:prstGeom>
          <a:ln w="6336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390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.72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3748041" y="2872578"/>
            <a:ext cx="660400" cy="182245"/>
            <a:chOff x="3748041" y="2872578"/>
            <a:chExt cx="660400" cy="182245"/>
          </a:xfrm>
        </p:grpSpPr>
        <p:sp>
          <p:nvSpPr>
            <p:cNvPr id="76" name="object 76"/>
            <p:cNvSpPr/>
            <p:nvPr/>
          </p:nvSpPr>
          <p:spPr>
            <a:xfrm>
              <a:off x="3750899" y="2875435"/>
              <a:ext cx="264160" cy="176530"/>
            </a:xfrm>
            <a:custGeom>
              <a:avLst/>
              <a:gdLst/>
              <a:ahLst/>
              <a:cxnLst/>
              <a:rect l="l" t="t" r="r" b="b"/>
              <a:pathLst>
                <a:path w="264160" h="176530">
                  <a:moveTo>
                    <a:pt x="263818" y="0"/>
                  </a:moveTo>
                  <a:lnTo>
                    <a:pt x="0" y="0"/>
                  </a:lnTo>
                  <a:lnTo>
                    <a:pt x="0" y="176460"/>
                  </a:lnTo>
                  <a:lnTo>
                    <a:pt x="263818" y="176460"/>
                  </a:lnTo>
                  <a:lnTo>
                    <a:pt x="263818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3750899" y="2875435"/>
              <a:ext cx="603250" cy="176530"/>
            </a:xfrm>
            <a:custGeom>
              <a:avLst/>
              <a:gdLst/>
              <a:ahLst/>
              <a:cxnLst/>
              <a:rect l="l" t="t" r="r" b="b"/>
              <a:pathLst>
                <a:path w="603250" h="176530">
                  <a:moveTo>
                    <a:pt x="0" y="176460"/>
                  </a:moveTo>
                  <a:lnTo>
                    <a:pt x="263818" y="176460"/>
                  </a:lnTo>
                  <a:lnTo>
                    <a:pt x="263818" y="0"/>
                  </a:lnTo>
                  <a:lnTo>
                    <a:pt x="0" y="0"/>
                  </a:lnTo>
                  <a:lnTo>
                    <a:pt x="0" y="176460"/>
                  </a:lnTo>
                  <a:close/>
                </a:path>
                <a:path w="603250" h="176530">
                  <a:moveTo>
                    <a:pt x="219257" y="87367"/>
                  </a:moveTo>
                  <a:lnTo>
                    <a:pt x="602757" y="87367"/>
                  </a:lnTo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351903" y="2934838"/>
              <a:ext cx="56515" cy="57150"/>
            </a:xfrm>
            <a:custGeom>
              <a:avLst/>
              <a:gdLst/>
              <a:ahLst/>
              <a:cxnLst/>
              <a:rect l="l" t="t" r="r" b="b"/>
              <a:pathLst>
                <a:path w="56514" h="57150">
                  <a:moveTo>
                    <a:pt x="0" y="0"/>
                  </a:moveTo>
                  <a:lnTo>
                    <a:pt x="0" y="56784"/>
                  </a:lnTo>
                  <a:lnTo>
                    <a:pt x="55915" y="27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" name="object 79"/>
          <p:cNvSpPr txBox="1"/>
          <p:nvPr/>
        </p:nvSpPr>
        <p:spPr>
          <a:xfrm>
            <a:off x="4473331" y="1542904"/>
            <a:ext cx="219075" cy="1752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75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.23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80" name="object 80"/>
          <p:cNvGrpSpPr/>
          <p:nvPr/>
        </p:nvGrpSpPr>
        <p:grpSpPr>
          <a:xfrm>
            <a:off x="4407819" y="1559606"/>
            <a:ext cx="876300" cy="182245"/>
            <a:chOff x="4407819" y="1559606"/>
            <a:chExt cx="876300" cy="182245"/>
          </a:xfrm>
        </p:grpSpPr>
        <p:sp>
          <p:nvSpPr>
            <p:cNvPr id="81" name="object 81"/>
            <p:cNvSpPr/>
            <p:nvPr/>
          </p:nvSpPr>
          <p:spPr>
            <a:xfrm>
              <a:off x="4757242" y="1562463"/>
              <a:ext cx="264795" cy="176530"/>
            </a:xfrm>
            <a:custGeom>
              <a:avLst/>
              <a:gdLst/>
              <a:ahLst/>
              <a:cxnLst/>
              <a:rect l="l" t="t" r="r" b="b"/>
              <a:pathLst>
                <a:path w="264795" h="176530">
                  <a:moveTo>
                    <a:pt x="0" y="176460"/>
                  </a:moveTo>
                  <a:lnTo>
                    <a:pt x="264691" y="176460"/>
                  </a:lnTo>
                  <a:lnTo>
                    <a:pt x="264691" y="0"/>
                  </a:lnTo>
                  <a:lnTo>
                    <a:pt x="0" y="0"/>
                  </a:lnTo>
                  <a:lnTo>
                    <a:pt x="0" y="176460"/>
                  </a:lnTo>
                  <a:close/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5021933" y="1649831"/>
              <a:ext cx="206375" cy="0"/>
            </a:xfrm>
            <a:custGeom>
              <a:avLst/>
              <a:gdLst/>
              <a:ahLst/>
              <a:cxnLst/>
              <a:rect l="l" t="t" r="r" b="b"/>
              <a:pathLst>
                <a:path w="206375" h="0">
                  <a:moveTo>
                    <a:pt x="0" y="0"/>
                  </a:moveTo>
                  <a:lnTo>
                    <a:pt x="206163" y="0"/>
                  </a:lnTo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5226344" y="1620997"/>
              <a:ext cx="57785" cy="59055"/>
            </a:xfrm>
            <a:custGeom>
              <a:avLst/>
              <a:gdLst/>
              <a:ahLst/>
              <a:cxnLst/>
              <a:rect l="l" t="t" r="r" b="b"/>
              <a:pathLst>
                <a:path w="57785" h="59055">
                  <a:moveTo>
                    <a:pt x="0" y="0"/>
                  </a:moveTo>
                  <a:lnTo>
                    <a:pt x="0" y="58536"/>
                  </a:lnTo>
                  <a:lnTo>
                    <a:pt x="57652" y="28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4407819" y="1562463"/>
              <a:ext cx="351790" cy="176530"/>
            </a:xfrm>
            <a:custGeom>
              <a:avLst/>
              <a:gdLst/>
              <a:ahLst/>
              <a:cxnLst/>
              <a:rect l="l" t="t" r="r" b="b"/>
              <a:pathLst>
                <a:path w="351789" h="176530">
                  <a:moveTo>
                    <a:pt x="351173" y="0"/>
                  </a:moveTo>
                  <a:lnTo>
                    <a:pt x="0" y="0"/>
                  </a:lnTo>
                  <a:lnTo>
                    <a:pt x="0" y="176460"/>
                  </a:lnTo>
                  <a:lnTo>
                    <a:pt x="351173" y="176460"/>
                  </a:lnTo>
                  <a:lnTo>
                    <a:pt x="35117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5" name="object 85"/>
          <p:cNvSpPr txBox="1"/>
          <p:nvPr/>
        </p:nvSpPr>
        <p:spPr>
          <a:xfrm>
            <a:off x="4407819" y="1562463"/>
            <a:ext cx="350520" cy="176530"/>
          </a:xfrm>
          <a:prstGeom prst="rect">
            <a:avLst/>
          </a:prstGeom>
          <a:ln w="7219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5405">
              <a:lnSpc>
                <a:spcPts val="1390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.23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86" name="object 86"/>
          <p:cNvGrpSpPr/>
          <p:nvPr/>
        </p:nvGrpSpPr>
        <p:grpSpPr>
          <a:xfrm>
            <a:off x="3400592" y="1559606"/>
            <a:ext cx="1883410" cy="182245"/>
            <a:chOff x="3400592" y="1559606"/>
            <a:chExt cx="1883410" cy="182245"/>
          </a:xfrm>
        </p:grpSpPr>
        <p:sp>
          <p:nvSpPr>
            <p:cNvPr id="87" name="object 87"/>
            <p:cNvSpPr/>
            <p:nvPr/>
          </p:nvSpPr>
          <p:spPr>
            <a:xfrm>
              <a:off x="4757241" y="1562463"/>
              <a:ext cx="264795" cy="176530"/>
            </a:xfrm>
            <a:custGeom>
              <a:avLst/>
              <a:gdLst/>
              <a:ahLst/>
              <a:cxnLst/>
              <a:rect l="l" t="t" r="r" b="b"/>
              <a:pathLst>
                <a:path w="264795" h="176530">
                  <a:moveTo>
                    <a:pt x="264691" y="0"/>
                  </a:moveTo>
                  <a:lnTo>
                    <a:pt x="0" y="0"/>
                  </a:lnTo>
                  <a:lnTo>
                    <a:pt x="0" y="176460"/>
                  </a:lnTo>
                  <a:lnTo>
                    <a:pt x="264691" y="176460"/>
                  </a:lnTo>
                  <a:lnTo>
                    <a:pt x="264691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757241" y="1562463"/>
              <a:ext cx="471170" cy="176530"/>
            </a:xfrm>
            <a:custGeom>
              <a:avLst/>
              <a:gdLst/>
              <a:ahLst/>
              <a:cxnLst/>
              <a:rect l="l" t="t" r="r" b="b"/>
              <a:pathLst>
                <a:path w="471170" h="176530">
                  <a:moveTo>
                    <a:pt x="0" y="176460"/>
                  </a:moveTo>
                  <a:lnTo>
                    <a:pt x="264691" y="176460"/>
                  </a:lnTo>
                  <a:lnTo>
                    <a:pt x="264691" y="0"/>
                  </a:lnTo>
                  <a:lnTo>
                    <a:pt x="0" y="0"/>
                  </a:lnTo>
                  <a:lnTo>
                    <a:pt x="0" y="176460"/>
                  </a:lnTo>
                  <a:close/>
                </a:path>
                <a:path w="471170" h="176530">
                  <a:moveTo>
                    <a:pt x="220141" y="87367"/>
                  </a:moveTo>
                  <a:lnTo>
                    <a:pt x="470855" y="87367"/>
                  </a:lnTo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5226344" y="1620997"/>
              <a:ext cx="57785" cy="59055"/>
            </a:xfrm>
            <a:custGeom>
              <a:avLst/>
              <a:gdLst/>
              <a:ahLst/>
              <a:cxnLst/>
              <a:rect l="l" t="t" r="r" b="b"/>
              <a:pathLst>
                <a:path w="57785" h="59055">
                  <a:moveTo>
                    <a:pt x="0" y="0"/>
                  </a:moveTo>
                  <a:lnTo>
                    <a:pt x="0" y="58536"/>
                  </a:lnTo>
                  <a:lnTo>
                    <a:pt x="57652" y="28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3400592" y="1562463"/>
              <a:ext cx="351790" cy="176530"/>
            </a:xfrm>
            <a:custGeom>
              <a:avLst/>
              <a:gdLst/>
              <a:ahLst/>
              <a:cxnLst/>
              <a:rect l="l" t="t" r="r" b="b"/>
              <a:pathLst>
                <a:path w="351789" h="176530">
                  <a:moveTo>
                    <a:pt x="351173" y="0"/>
                  </a:moveTo>
                  <a:lnTo>
                    <a:pt x="0" y="0"/>
                  </a:lnTo>
                  <a:lnTo>
                    <a:pt x="0" y="176460"/>
                  </a:lnTo>
                  <a:lnTo>
                    <a:pt x="351173" y="176460"/>
                  </a:lnTo>
                  <a:lnTo>
                    <a:pt x="35117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1" name="object 91"/>
          <p:cNvSpPr txBox="1"/>
          <p:nvPr/>
        </p:nvSpPr>
        <p:spPr>
          <a:xfrm>
            <a:off x="3400592" y="1562463"/>
            <a:ext cx="351155" cy="176530"/>
          </a:xfrm>
          <a:prstGeom prst="rect">
            <a:avLst/>
          </a:prstGeom>
          <a:ln w="6336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6040">
              <a:lnSpc>
                <a:spcPts val="1390"/>
              </a:lnSpc>
            </a:pPr>
            <a:r>
              <a:rPr dirty="0" sz="1350" spc="10" b="1">
                <a:solidFill>
                  <a:srgbClr val="FFFFFF"/>
                </a:solidFill>
                <a:latin typeface="Times New Roman"/>
                <a:cs typeface="Times New Roman"/>
              </a:rPr>
              <a:t>.21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2854619" y="1336207"/>
            <a:ext cx="3496945" cy="1381125"/>
          </a:xfrm>
          <a:custGeom>
            <a:avLst/>
            <a:gdLst/>
            <a:ahLst/>
            <a:cxnLst/>
            <a:rect l="l" t="t" r="r" b="b"/>
            <a:pathLst>
              <a:path w="3496945" h="1381125">
                <a:moveTo>
                  <a:pt x="2079086" y="11369"/>
                </a:moveTo>
                <a:lnTo>
                  <a:pt x="2133249" y="7863"/>
                </a:lnTo>
                <a:lnTo>
                  <a:pt x="2186528" y="5242"/>
                </a:lnTo>
                <a:lnTo>
                  <a:pt x="2238070" y="1752"/>
                </a:lnTo>
                <a:lnTo>
                  <a:pt x="2262530" y="883"/>
                </a:lnTo>
                <a:lnTo>
                  <a:pt x="2286121" y="883"/>
                </a:lnTo>
                <a:lnTo>
                  <a:pt x="2308829" y="0"/>
                </a:lnTo>
                <a:lnTo>
                  <a:pt x="2330668" y="883"/>
                </a:lnTo>
                <a:lnTo>
                  <a:pt x="2350769" y="883"/>
                </a:lnTo>
                <a:lnTo>
                  <a:pt x="2369987" y="1752"/>
                </a:lnTo>
                <a:lnTo>
                  <a:pt x="2417155" y="8747"/>
                </a:lnTo>
                <a:lnTo>
                  <a:pt x="2455590" y="24460"/>
                </a:lnTo>
                <a:lnTo>
                  <a:pt x="2469565" y="53294"/>
                </a:lnTo>
                <a:lnTo>
                  <a:pt x="2469565" y="60289"/>
                </a:lnTo>
                <a:lnTo>
                  <a:pt x="2452969" y="99593"/>
                </a:lnTo>
                <a:lnTo>
                  <a:pt x="2420645" y="122300"/>
                </a:lnTo>
                <a:lnTo>
                  <a:pt x="2415402" y="126674"/>
                </a:lnTo>
                <a:lnTo>
                  <a:pt x="2411912" y="131048"/>
                </a:lnTo>
                <a:lnTo>
                  <a:pt x="2409291" y="136291"/>
                </a:lnTo>
                <a:lnTo>
                  <a:pt x="2406670" y="139781"/>
                </a:lnTo>
                <a:lnTo>
                  <a:pt x="2368234" y="154625"/>
                </a:lnTo>
                <a:lnTo>
                  <a:pt x="2358633" y="156377"/>
                </a:lnTo>
                <a:lnTo>
                  <a:pt x="2349017" y="158130"/>
                </a:lnTo>
                <a:lnTo>
                  <a:pt x="2337663" y="159867"/>
                </a:lnTo>
                <a:lnTo>
                  <a:pt x="2325425" y="160751"/>
                </a:lnTo>
                <a:lnTo>
                  <a:pt x="2310582" y="162488"/>
                </a:lnTo>
                <a:lnTo>
                  <a:pt x="2293985" y="163357"/>
                </a:lnTo>
                <a:lnTo>
                  <a:pt x="2276505" y="164241"/>
                </a:lnTo>
                <a:lnTo>
                  <a:pt x="2256419" y="165978"/>
                </a:lnTo>
                <a:lnTo>
                  <a:pt x="2233711" y="166862"/>
                </a:lnTo>
                <a:lnTo>
                  <a:pt x="2210119" y="167731"/>
                </a:lnTo>
                <a:lnTo>
                  <a:pt x="2182169" y="168600"/>
                </a:lnTo>
                <a:lnTo>
                  <a:pt x="2154204" y="169484"/>
                </a:lnTo>
                <a:lnTo>
                  <a:pt x="2122764" y="170352"/>
                </a:lnTo>
                <a:lnTo>
                  <a:pt x="2105299" y="171221"/>
                </a:lnTo>
                <a:lnTo>
                  <a:pt x="2047631" y="171221"/>
                </a:lnTo>
                <a:lnTo>
                  <a:pt x="2026676" y="172105"/>
                </a:lnTo>
                <a:lnTo>
                  <a:pt x="1906112" y="172105"/>
                </a:lnTo>
                <a:lnTo>
                  <a:pt x="1851949" y="171221"/>
                </a:lnTo>
                <a:lnTo>
                  <a:pt x="1796049" y="171221"/>
                </a:lnTo>
                <a:lnTo>
                  <a:pt x="1736643" y="170352"/>
                </a:lnTo>
                <a:lnTo>
                  <a:pt x="1674616" y="170352"/>
                </a:lnTo>
                <a:lnTo>
                  <a:pt x="1611721" y="169484"/>
                </a:lnTo>
                <a:lnTo>
                  <a:pt x="1546204" y="168600"/>
                </a:lnTo>
                <a:lnTo>
                  <a:pt x="1479819" y="167731"/>
                </a:lnTo>
                <a:lnTo>
                  <a:pt x="1411681" y="166862"/>
                </a:lnTo>
                <a:lnTo>
                  <a:pt x="1343543" y="165978"/>
                </a:lnTo>
                <a:lnTo>
                  <a:pt x="1205514" y="164241"/>
                </a:lnTo>
                <a:lnTo>
                  <a:pt x="1069238" y="162488"/>
                </a:lnTo>
                <a:lnTo>
                  <a:pt x="1001100" y="162488"/>
                </a:lnTo>
                <a:lnTo>
                  <a:pt x="934714" y="161620"/>
                </a:lnTo>
                <a:lnTo>
                  <a:pt x="869198" y="161620"/>
                </a:lnTo>
                <a:lnTo>
                  <a:pt x="806302" y="160751"/>
                </a:lnTo>
                <a:lnTo>
                  <a:pt x="685739" y="160751"/>
                </a:lnTo>
                <a:lnTo>
                  <a:pt x="628954" y="161620"/>
                </a:lnTo>
                <a:lnTo>
                  <a:pt x="575675" y="161620"/>
                </a:lnTo>
                <a:lnTo>
                  <a:pt x="523265" y="162488"/>
                </a:lnTo>
                <a:lnTo>
                  <a:pt x="499673" y="163357"/>
                </a:lnTo>
                <a:lnTo>
                  <a:pt x="476082" y="163357"/>
                </a:lnTo>
                <a:lnTo>
                  <a:pt x="432404" y="165110"/>
                </a:lnTo>
                <a:lnTo>
                  <a:pt x="412318" y="165110"/>
                </a:lnTo>
                <a:lnTo>
                  <a:pt x="393100" y="165978"/>
                </a:lnTo>
                <a:lnTo>
                  <a:pt x="374751" y="166862"/>
                </a:lnTo>
                <a:lnTo>
                  <a:pt x="359023" y="168600"/>
                </a:lnTo>
                <a:lnTo>
                  <a:pt x="342427" y="169484"/>
                </a:lnTo>
                <a:lnTo>
                  <a:pt x="301370" y="172973"/>
                </a:lnTo>
                <a:lnTo>
                  <a:pt x="257693" y="179969"/>
                </a:lnTo>
                <a:lnTo>
                  <a:pt x="214015" y="192191"/>
                </a:lnTo>
                <a:lnTo>
                  <a:pt x="186933" y="219273"/>
                </a:lnTo>
                <a:lnTo>
                  <a:pt x="186933" y="226268"/>
                </a:lnTo>
                <a:lnTo>
                  <a:pt x="215767" y="262082"/>
                </a:lnTo>
                <a:lnTo>
                  <a:pt x="233232" y="275188"/>
                </a:lnTo>
                <a:lnTo>
                  <a:pt x="251581" y="286542"/>
                </a:lnTo>
                <a:lnTo>
                  <a:pt x="270799" y="297896"/>
                </a:lnTo>
                <a:lnTo>
                  <a:pt x="288264" y="307497"/>
                </a:lnTo>
                <a:lnTo>
                  <a:pt x="304860" y="317113"/>
                </a:lnTo>
                <a:lnTo>
                  <a:pt x="312724" y="320603"/>
                </a:lnTo>
                <a:lnTo>
                  <a:pt x="318851" y="324093"/>
                </a:lnTo>
                <a:lnTo>
                  <a:pt x="324093" y="328467"/>
                </a:lnTo>
                <a:lnTo>
                  <a:pt x="327583" y="331088"/>
                </a:lnTo>
                <a:lnTo>
                  <a:pt x="339806" y="338084"/>
                </a:lnTo>
                <a:lnTo>
                  <a:pt x="353781" y="342442"/>
                </a:lnTo>
                <a:lnTo>
                  <a:pt x="371261" y="345064"/>
                </a:lnTo>
                <a:lnTo>
                  <a:pt x="390479" y="345947"/>
                </a:lnTo>
                <a:lnTo>
                  <a:pt x="412318" y="345947"/>
                </a:lnTo>
                <a:lnTo>
                  <a:pt x="435025" y="345064"/>
                </a:lnTo>
                <a:lnTo>
                  <a:pt x="458617" y="342442"/>
                </a:lnTo>
                <a:lnTo>
                  <a:pt x="483946" y="339821"/>
                </a:lnTo>
              </a:path>
              <a:path w="3496945" h="1381125">
                <a:moveTo>
                  <a:pt x="2897611" y="326715"/>
                </a:moveTo>
                <a:lnTo>
                  <a:pt x="2981477" y="323225"/>
                </a:lnTo>
                <a:lnTo>
                  <a:pt x="3062721" y="321472"/>
                </a:lnTo>
                <a:lnTo>
                  <a:pt x="3102025" y="320603"/>
                </a:lnTo>
                <a:lnTo>
                  <a:pt x="3141344" y="319735"/>
                </a:lnTo>
                <a:lnTo>
                  <a:pt x="3178911" y="319735"/>
                </a:lnTo>
                <a:lnTo>
                  <a:pt x="3215594" y="318866"/>
                </a:lnTo>
                <a:lnTo>
                  <a:pt x="3315187" y="318866"/>
                </a:lnTo>
                <a:lnTo>
                  <a:pt x="3344006" y="319735"/>
                </a:lnTo>
                <a:lnTo>
                  <a:pt x="3394679" y="322356"/>
                </a:lnTo>
                <a:lnTo>
                  <a:pt x="3433983" y="326715"/>
                </a:lnTo>
                <a:lnTo>
                  <a:pt x="3473302" y="337200"/>
                </a:lnTo>
                <a:lnTo>
                  <a:pt x="3496878" y="357301"/>
                </a:lnTo>
                <a:lnTo>
                  <a:pt x="3496878" y="362544"/>
                </a:lnTo>
                <a:lnTo>
                  <a:pt x="3469797" y="390494"/>
                </a:lnTo>
                <a:lnTo>
                  <a:pt x="3433983" y="403600"/>
                </a:lnTo>
                <a:lnTo>
                  <a:pt x="3427003" y="405338"/>
                </a:lnTo>
                <a:lnTo>
                  <a:pt x="3421760" y="407090"/>
                </a:lnTo>
                <a:lnTo>
                  <a:pt x="3413028" y="410580"/>
                </a:lnTo>
                <a:lnTo>
                  <a:pt x="3406901" y="413202"/>
                </a:lnTo>
                <a:lnTo>
                  <a:pt x="3402543" y="415823"/>
                </a:lnTo>
                <a:lnTo>
                  <a:pt x="3398169" y="420197"/>
                </a:lnTo>
                <a:lnTo>
                  <a:pt x="3392926" y="422818"/>
                </a:lnTo>
                <a:lnTo>
                  <a:pt x="3388568" y="423687"/>
                </a:lnTo>
                <a:lnTo>
                  <a:pt x="3383325" y="425439"/>
                </a:lnTo>
                <a:lnTo>
                  <a:pt x="3378083" y="426308"/>
                </a:lnTo>
                <a:lnTo>
                  <a:pt x="3371087" y="427177"/>
                </a:lnTo>
                <a:lnTo>
                  <a:pt x="3362355" y="428929"/>
                </a:lnTo>
                <a:lnTo>
                  <a:pt x="3353622" y="429798"/>
                </a:lnTo>
                <a:lnTo>
                  <a:pt x="3313435" y="432419"/>
                </a:lnTo>
                <a:lnTo>
                  <a:pt x="3274999" y="434172"/>
                </a:lnTo>
                <a:lnTo>
                  <a:pt x="3227831" y="435924"/>
                </a:lnTo>
                <a:lnTo>
                  <a:pt x="3170163" y="437662"/>
                </a:lnTo>
                <a:lnTo>
                  <a:pt x="3098535" y="439414"/>
                </a:lnTo>
                <a:lnTo>
                  <a:pt x="3078449" y="439414"/>
                </a:lnTo>
                <a:lnTo>
                  <a:pt x="3057479" y="441152"/>
                </a:lnTo>
                <a:lnTo>
                  <a:pt x="3012932" y="441152"/>
                </a:lnTo>
                <a:lnTo>
                  <a:pt x="2989341" y="442036"/>
                </a:lnTo>
                <a:lnTo>
                  <a:pt x="2939552" y="442036"/>
                </a:lnTo>
                <a:lnTo>
                  <a:pt x="2911601" y="442904"/>
                </a:lnTo>
                <a:lnTo>
                  <a:pt x="2784058" y="442904"/>
                </a:lnTo>
                <a:lnTo>
                  <a:pt x="2748244" y="443773"/>
                </a:lnTo>
                <a:lnTo>
                  <a:pt x="2673111" y="443773"/>
                </a:lnTo>
                <a:lnTo>
                  <a:pt x="2633807" y="442904"/>
                </a:lnTo>
                <a:lnTo>
                  <a:pt x="2373477" y="442904"/>
                </a:lnTo>
                <a:lnTo>
                  <a:pt x="2279126" y="442036"/>
                </a:lnTo>
                <a:lnTo>
                  <a:pt x="2182169" y="441152"/>
                </a:lnTo>
                <a:lnTo>
                  <a:pt x="2082576" y="441152"/>
                </a:lnTo>
                <a:lnTo>
                  <a:pt x="1980376" y="439414"/>
                </a:lnTo>
                <a:lnTo>
                  <a:pt x="1876409" y="438530"/>
                </a:lnTo>
                <a:lnTo>
                  <a:pt x="1771589" y="438530"/>
                </a:lnTo>
                <a:lnTo>
                  <a:pt x="1561932" y="436793"/>
                </a:lnTo>
                <a:lnTo>
                  <a:pt x="1455359" y="436793"/>
                </a:lnTo>
                <a:lnTo>
                  <a:pt x="1247454" y="435041"/>
                </a:lnTo>
                <a:lnTo>
                  <a:pt x="1046530" y="435041"/>
                </a:lnTo>
                <a:lnTo>
                  <a:pt x="948689" y="434172"/>
                </a:lnTo>
                <a:lnTo>
                  <a:pt x="719815" y="434172"/>
                </a:lnTo>
                <a:lnTo>
                  <a:pt x="677006" y="435041"/>
                </a:lnTo>
                <a:lnTo>
                  <a:pt x="555589" y="435041"/>
                </a:lnTo>
                <a:lnTo>
                  <a:pt x="516270" y="435924"/>
                </a:lnTo>
                <a:lnTo>
                  <a:pt x="444642" y="435924"/>
                </a:lnTo>
                <a:lnTo>
                  <a:pt x="409696" y="436793"/>
                </a:lnTo>
                <a:lnTo>
                  <a:pt x="378241" y="436793"/>
                </a:lnTo>
                <a:lnTo>
                  <a:pt x="345932" y="437662"/>
                </a:lnTo>
                <a:lnTo>
                  <a:pt x="317098" y="438530"/>
                </a:lnTo>
                <a:lnTo>
                  <a:pt x="289148" y="438530"/>
                </a:lnTo>
                <a:lnTo>
                  <a:pt x="262935" y="439414"/>
                </a:lnTo>
                <a:lnTo>
                  <a:pt x="239344" y="441152"/>
                </a:lnTo>
                <a:lnTo>
                  <a:pt x="216636" y="442036"/>
                </a:lnTo>
                <a:lnTo>
                  <a:pt x="195666" y="442904"/>
                </a:lnTo>
                <a:lnTo>
                  <a:pt x="176448" y="443773"/>
                </a:lnTo>
                <a:lnTo>
                  <a:pt x="158114" y="445526"/>
                </a:lnTo>
                <a:lnTo>
                  <a:pt x="141518" y="446394"/>
                </a:lnTo>
                <a:lnTo>
                  <a:pt x="124907" y="447278"/>
                </a:lnTo>
                <a:lnTo>
                  <a:pt x="110063" y="449016"/>
                </a:lnTo>
                <a:lnTo>
                  <a:pt x="95204" y="449900"/>
                </a:lnTo>
                <a:lnTo>
                  <a:pt x="82113" y="451637"/>
                </a:lnTo>
                <a:lnTo>
                  <a:pt x="70759" y="453389"/>
                </a:lnTo>
                <a:lnTo>
                  <a:pt x="60274" y="454258"/>
                </a:lnTo>
                <a:lnTo>
                  <a:pt x="15712" y="465612"/>
                </a:lnTo>
                <a:lnTo>
                  <a:pt x="0" y="477850"/>
                </a:lnTo>
                <a:lnTo>
                  <a:pt x="0" y="481340"/>
                </a:lnTo>
                <a:lnTo>
                  <a:pt x="34061" y="504062"/>
                </a:lnTo>
                <a:lnTo>
                  <a:pt x="70759" y="517154"/>
                </a:lnTo>
                <a:lnTo>
                  <a:pt x="100446" y="525901"/>
                </a:lnTo>
                <a:lnTo>
                  <a:pt x="129280" y="533750"/>
                </a:lnTo>
                <a:lnTo>
                  <a:pt x="170337" y="544235"/>
                </a:lnTo>
                <a:lnTo>
                  <a:pt x="182575" y="546856"/>
                </a:lnTo>
                <a:lnTo>
                  <a:pt x="193045" y="551230"/>
                </a:lnTo>
                <a:lnTo>
                  <a:pt x="201792" y="552968"/>
                </a:lnTo>
                <a:lnTo>
                  <a:pt x="210525" y="555589"/>
                </a:lnTo>
                <a:lnTo>
                  <a:pt x="216636" y="557342"/>
                </a:lnTo>
                <a:lnTo>
                  <a:pt x="262935" y="565205"/>
                </a:lnTo>
                <a:lnTo>
                  <a:pt x="293507" y="566958"/>
                </a:lnTo>
                <a:lnTo>
                  <a:pt x="365150" y="566958"/>
                </a:lnTo>
                <a:lnTo>
                  <a:pt x="405323" y="565205"/>
                </a:lnTo>
                <a:lnTo>
                  <a:pt x="447263" y="563453"/>
                </a:lnTo>
                <a:lnTo>
                  <a:pt x="490941" y="560831"/>
                </a:lnTo>
              </a:path>
              <a:path w="3496945" h="1381125">
                <a:moveTo>
                  <a:pt x="1167947" y="575690"/>
                </a:moveTo>
                <a:lnTo>
                  <a:pt x="1189786" y="566958"/>
                </a:lnTo>
                <a:lnTo>
                  <a:pt x="1211625" y="559963"/>
                </a:lnTo>
                <a:lnTo>
                  <a:pt x="1232595" y="554720"/>
                </a:lnTo>
                <a:lnTo>
                  <a:pt x="1252682" y="551230"/>
                </a:lnTo>
                <a:lnTo>
                  <a:pt x="1270162" y="551230"/>
                </a:lnTo>
                <a:lnTo>
                  <a:pt x="1305976" y="567827"/>
                </a:lnTo>
                <a:lnTo>
                  <a:pt x="1310350" y="575690"/>
                </a:lnTo>
                <a:lnTo>
                  <a:pt x="1315592" y="584423"/>
                </a:lnTo>
                <a:lnTo>
                  <a:pt x="1318214" y="596661"/>
                </a:lnTo>
                <a:lnTo>
                  <a:pt x="1321704" y="608883"/>
                </a:lnTo>
                <a:lnTo>
                  <a:pt x="1323441" y="624611"/>
                </a:lnTo>
                <a:lnTo>
                  <a:pt x="1325194" y="641207"/>
                </a:lnTo>
                <a:lnTo>
                  <a:pt x="1326946" y="658672"/>
                </a:lnTo>
                <a:lnTo>
                  <a:pt x="1326946" y="695370"/>
                </a:lnTo>
                <a:lnTo>
                  <a:pt x="1326062" y="733805"/>
                </a:lnTo>
                <a:lnTo>
                  <a:pt x="1320820" y="787968"/>
                </a:lnTo>
                <a:lnTo>
                  <a:pt x="1313840" y="819409"/>
                </a:lnTo>
                <a:lnTo>
                  <a:pt x="1310350" y="831646"/>
                </a:lnTo>
                <a:lnTo>
                  <a:pt x="1306845" y="843869"/>
                </a:lnTo>
                <a:lnTo>
                  <a:pt x="1305107" y="855223"/>
                </a:lnTo>
                <a:lnTo>
                  <a:pt x="1302486" y="875324"/>
                </a:lnTo>
                <a:lnTo>
                  <a:pt x="1299865" y="894542"/>
                </a:lnTo>
                <a:lnTo>
                  <a:pt x="1273652" y="932977"/>
                </a:lnTo>
                <a:lnTo>
                  <a:pt x="1230843" y="950442"/>
                </a:lnTo>
                <a:lnTo>
                  <a:pt x="1209888" y="954816"/>
                </a:lnTo>
                <a:lnTo>
                  <a:pt x="1197650" y="957437"/>
                </a:lnTo>
                <a:lnTo>
                  <a:pt x="1185428" y="959190"/>
                </a:lnTo>
                <a:lnTo>
                  <a:pt x="1170569" y="960927"/>
                </a:lnTo>
                <a:lnTo>
                  <a:pt x="1154856" y="961811"/>
                </a:lnTo>
                <a:lnTo>
                  <a:pt x="1136507" y="962680"/>
                </a:lnTo>
                <a:lnTo>
                  <a:pt x="1096319" y="962680"/>
                </a:lnTo>
                <a:lnTo>
                  <a:pt x="1074480" y="961811"/>
                </a:lnTo>
                <a:lnTo>
                  <a:pt x="1050889" y="960927"/>
                </a:lnTo>
                <a:lnTo>
                  <a:pt x="1027313" y="959190"/>
                </a:lnTo>
                <a:lnTo>
                  <a:pt x="1001100" y="958306"/>
                </a:lnTo>
                <a:lnTo>
                  <a:pt x="975771" y="956569"/>
                </a:lnTo>
                <a:lnTo>
                  <a:pt x="921608" y="952195"/>
                </a:lnTo>
                <a:lnTo>
                  <a:pt x="866576" y="947821"/>
                </a:lnTo>
                <a:lnTo>
                  <a:pt x="753877" y="939972"/>
                </a:lnTo>
                <a:lnTo>
                  <a:pt x="698845" y="937351"/>
                </a:lnTo>
                <a:lnTo>
                  <a:pt x="646435" y="935598"/>
                </a:lnTo>
                <a:lnTo>
                  <a:pt x="597514" y="935598"/>
                </a:lnTo>
                <a:lnTo>
                  <a:pt x="573054" y="936467"/>
                </a:lnTo>
                <a:lnTo>
                  <a:pt x="550346" y="937351"/>
                </a:lnTo>
                <a:lnTo>
                  <a:pt x="530245" y="939088"/>
                </a:lnTo>
                <a:lnTo>
                  <a:pt x="511027" y="942593"/>
                </a:lnTo>
                <a:lnTo>
                  <a:pt x="492678" y="945215"/>
                </a:lnTo>
                <a:lnTo>
                  <a:pt x="449884" y="959190"/>
                </a:lnTo>
                <a:lnTo>
                  <a:pt x="414070" y="992383"/>
                </a:lnTo>
                <a:lnTo>
                  <a:pt x="400080" y="1024707"/>
                </a:lnTo>
                <a:lnTo>
                  <a:pt x="395721" y="1037798"/>
                </a:lnTo>
                <a:lnTo>
                  <a:pt x="392231" y="1064011"/>
                </a:lnTo>
                <a:lnTo>
                  <a:pt x="392231" y="1091961"/>
                </a:lnTo>
                <a:lnTo>
                  <a:pt x="398343" y="1151366"/>
                </a:lnTo>
                <a:lnTo>
                  <a:pt x="411449" y="1210772"/>
                </a:lnTo>
                <a:lnTo>
                  <a:pt x="426293" y="1266687"/>
                </a:lnTo>
                <a:lnTo>
                  <a:pt x="434157" y="1291148"/>
                </a:lnTo>
                <a:lnTo>
                  <a:pt x="440268" y="1312986"/>
                </a:lnTo>
                <a:lnTo>
                  <a:pt x="446379" y="1330451"/>
                </a:lnTo>
                <a:lnTo>
                  <a:pt x="448132" y="1338315"/>
                </a:lnTo>
                <a:lnTo>
                  <a:pt x="449884" y="1344427"/>
                </a:lnTo>
                <a:lnTo>
                  <a:pt x="470839" y="1379372"/>
                </a:lnTo>
                <a:lnTo>
                  <a:pt x="476966" y="1381124"/>
                </a:lnTo>
                <a:lnTo>
                  <a:pt x="482208" y="1381124"/>
                </a:lnTo>
                <a:lnTo>
                  <a:pt x="489188" y="1379372"/>
                </a:lnTo>
              </a:path>
            </a:pathLst>
          </a:custGeom>
          <a:ln w="7291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/>
          <p:cNvSpPr/>
          <p:nvPr/>
        </p:nvSpPr>
        <p:spPr>
          <a:xfrm>
            <a:off x="3030199" y="2973288"/>
            <a:ext cx="2236470" cy="498475"/>
          </a:xfrm>
          <a:custGeom>
            <a:avLst/>
            <a:gdLst/>
            <a:ahLst/>
            <a:cxnLst/>
            <a:rect l="l" t="t" r="r" b="b"/>
            <a:pathLst>
              <a:path w="2236470" h="498475">
                <a:moveTo>
                  <a:pt x="1852833" y="14843"/>
                </a:moveTo>
                <a:lnTo>
                  <a:pt x="1906996" y="10469"/>
                </a:lnTo>
                <a:lnTo>
                  <a:pt x="1958538" y="6111"/>
                </a:lnTo>
                <a:lnTo>
                  <a:pt x="2009211" y="2606"/>
                </a:lnTo>
                <a:lnTo>
                  <a:pt x="2057247" y="0"/>
                </a:lnTo>
                <a:lnTo>
                  <a:pt x="2100056" y="0"/>
                </a:lnTo>
                <a:lnTo>
                  <a:pt x="2119274" y="1737"/>
                </a:lnTo>
                <a:lnTo>
                  <a:pt x="2137623" y="2606"/>
                </a:lnTo>
                <a:lnTo>
                  <a:pt x="2183053" y="10469"/>
                </a:lnTo>
                <a:lnTo>
                  <a:pt x="2221489" y="34930"/>
                </a:lnTo>
                <a:lnTo>
                  <a:pt x="2236332" y="76870"/>
                </a:lnTo>
                <a:lnTo>
                  <a:pt x="2236332" y="87355"/>
                </a:lnTo>
                <a:lnTo>
                  <a:pt x="2224978" y="133654"/>
                </a:lnTo>
                <a:lnTo>
                  <a:pt x="2195276" y="169468"/>
                </a:lnTo>
                <a:lnTo>
                  <a:pt x="2187412" y="177332"/>
                </a:lnTo>
                <a:lnTo>
                  <a:pt x="2177811" y="189555"/>
                </a:lnTo>
                <a:lnTo>
                  <a:pt x="2175189" y="195666"/>
                </a:lnTo>
                <a:lnTo>
                  <a:pt x="2172568" y="201792"/>
                </a:lnTo>
                <a:lnTo>
                  <a:pt x="2169063" y="207035"/>
                </a:lnTo>
                <a:lnTo>
                  <a:pt x="2128006" y="226253"/>
                </a:lnTo>
                <a:lnTo>
                  <a:pt x="2117521" y="228874"/>
                </a:lnTo>
                <a:lnTo>
                  <a:pt x="2064242" y="235854"/>
                </a:lnTo>
                <a:lnTo>
                  <a:pt x="2026676" y="238475"/>
                </a:lnTo>
                <a:lnTo>
                  <a:pt x="2004837" y="240228"/>
                </a:lnTo>
                <a:lnTo>
                  <a:pt x="1981245" y="242849"/>
                </a:lnTo>
                <a:lnTo>
                  <a:pt x="1955048" y="243718"/>
                </a:lnTo>
                <a:lnTo>
                  <a:pt x="1927097" y="245470"/>
                </a:lnTo>
                <a:lnTo>
                  <a:pt x="1895642" y="246339"/>
                </a:lnTo>
                <a:lnTo>
                  <a:pt x="1879046" y="247208"/>
                </a:lnTo>
                <a:lnTo>
                  <a:pt x="1861581" y="247208"/>
                </a:lnTo>
                <a:lnTo>
                  <a:pt x="1843232" y="248091"/>
                </a:lnTo>
                <a:lnTo>
                  <a:pt x="1630954" y="248091"/>
                </a:lnTo>
                <a:lnTo>
                  <a:pt x="1575922" y="247208"/>
                </a:lnTo>
                <a:lnTo>
                  <a:pt x="1518254" y="246339"/>
                </a:lnTo>
                <a:lnTo>
                  <a:pt x="1457111" y="245470"/>
                </a:lnTo>
                <a:lnTo>
                  <a:pt x="1395084" y="244586"/>
                </a:lnTo>
                <a:lnTo>
                  <a:pt x="1331320" y="243718"/>
                </a:lnTo>
                <a:lnTo>
                  <a:pt x="1265803" y="241965"/>
                </a:lnTo>
                <a:lnTo>
                  <a:pt x="1199403" y="240228"/>
                </a:lnTo>
                <a:lnTo>
                  <a:pt x="1133017" y="238475"/>
                </a:lnTo>
                <a:lnTo>
                  <a:pt x="998494" y="236722"/>
                </a:lnTo>
                <a:lnTo>
                  <a:pt x="864839" y="234101"/>
                </a:lnTo>
                <a:lnTo>
                  <a:pt x="797570" y="233232"/>
                </a:lnTo>
                <a:lnTo>
                  <a:pt x="732922" y="232364"/>
                </a:lnTo>
                <a:lnTo>
                  <a:pt x="669157" y="232364"/>
                </a:lnTo>
                <a:lnTo>
                  <a:pt x="607131" y="231495"/>
                </a:lnTo>
                <a:lnTo>
                  <a:pt x="489203" y="231495"/>
                </a:lnTo>
                <a:lnTo>
                  <a:pt x="433288" y="232364"/>
                </a:lnTo>
                <a:lnTo>
                  <a:pt x="380878" y="233232"/>
                </a:lnTo>
                <a:lnTo>
                  <a:pt x="329336" y="234101"/>
                </a:lnTo>
                <a:lnTo>
                  <a:pt x="283905" y="235854"/>
                </a:lnTo>
                <a:lnTo>
                  <a:pt x="241112" y="237606"/>
                </a:lnTo>
                <a:lnTo>
                  <a:pt x="185196" y="241965"/>
                </a:lnTo>
                <a:lnTo>
                  <a:pt x="168600" y="242849"/>
                </a:lnTo>
                <a:lnTo>
                  <a:pt x="112684" y="249829"/>
                </a:lnTo>
                <a:lnTo>
                  <a:pt x="69890" y="259445"/>
                </a:lnTo>
                <a:lnTo>
                  <a:pt x="26212" y="277779"/>
                </a:lnTo>
                <a:lnTo>
                  <a:pt x="1752" y="309234"/>
                </a:lnTo>
                <a:lnTo>
                  <a:pt x="0" y="317098"/>
                </a:lnTo>
                <a:lnTo>
                  <a:pt x="868" y="324962"/>
                </a:lnTo>
                <a:lnTo>
                  <a:pt x="15727" y="361645"/>
                </a:lnTo>
                <a:lnTo>
                  <a:pt x="45430" y="397459"/>
                </a:lnTo>
                <a:lnTo>
                  <a:pt x="82113" y="429783"/>
                </a:lnTo>
                <a:lnTo>
                  <a:pt x="117058" y="456864"/>
                </a:lnTo>
                <a:lnTo>
                  <a:pt x="129280" y="468218"/>
                </a:lnTo>
                <a:lnTo>
                  <a:pt x="134523" y="472592"/>
                </a:lnTo>
                <a:lnTo>
                  <a:pt x="138897" y="476082"/>
                </a:lnTo>
                <a:lnTo>
                  <a:pt x="150251" y="485698"/>
                </a:lnTo>
                <a:lnTo>
                  <a:pt x="165110" y="492678"/>
                </a:lnTo>
                <a:lnTo>
                  <a:pt x="181706" y="496183"/>
                </a:lnTo>
                <a:lnTo>
                  <a:pt x="200040" y="497921"/>
                </a:lnTo>
                <a:lnTo>
                  <a:pt x="221010" y="497921"/>
                </a:lnTo>
                <a:lnTo>
                  <a:pt x="243733" y="495299"/>
                </a:lnTo>
                <a:lnTo>
                  <a:pt x="268178" y="492678"/>
                </a:lnTo>
                <a:lnTo>
                  <a:pt x="292638" y="488320"/>
                </a:lnTo>
              </a:path>
            </a:pathLst>
          </a:custGeom>
          <a:ln w="7291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4" name="object 94"/>
          <p:cNvGrpSpPr/>
          <p:nvPr/>
        </p:nvGrpSpPr>
        <p:grpSpPr>
          <a:xfrm>
            <a:off x="3315858" y="1559729"/>
            <a:ext cx="1092200" cy="1934210"/>
            <a:chOff x="3315858" y="1559729"/>
            <a:chExt cx="1092200" cy="1934210"/>
          </a:xfrm>
        </p:grpSpPr>
        <p:sp>
          <p:nvSpPr>
            <p:cNvPr id="95" name="object 95"/>
            <p:cNvSpPr/>
            <p:nvPr/>
          </p:nvSpPr>
          <p:spPr>
            <a:xfrm>
              <a:off x="3750899" y="1562463"/>
              <a:ext cx="264160" cy="176530"/>
            </a:xfrm>
            <a:custGeom>
              <a:avLst/>
              <a:gdLst/>
              <a:ahLst/>
              <a:cxnLst/>
              <a:rect l="l" t="t" r="r" b="b"/>
              <a:pathLst>
                <a:path w="264160" h="176530">
                  <a:moveTo>
                    <a:pt x="263818" y="0"/>
                  </a:moveTo>
                  <a:lnTo>
                    <a:pt x="0" y="0"/>
                  </a:lnTo>
                  <a:lnTo>
                    <a:pt x="0" y="176460"/>
                  </a:lnTo>
                  <a:lnTo>
                    <a:pt x="263818" y="176460"/>
                  </a:lnTo>
                  <a:lnTo>
                    <a:pt x="263818" y="0"/>
                  </a:lnTo>
                  <a:close/>
                </a:path>
              </a:pathLst>
            </a:custGeom>
            <a:solidFill>
              <a:srgbClr val="FF9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3750899" y="1562463"/>
              <a:ext cx="603250" cy="176530"/>
            </a:xfrm>
            <a:custGeom>
              <a:avLst/>
              <a:gdLst/>
              <a:ahLst/>
              <a:cxnLst/>
              <a:rect l="l" t="t" r="r" b="b"/>
              <a:pathLst>
                <a:path w="603250" h="176530">
                  <a:moveTo>
                    <a:pt x="0" y="176460"/>
                  </a:moveTo>
                  <a:lnTo>
                    <a:pt x="263818" y="176460"/>
                  </a:lnTo>
                  <a:lnTo>
                    <a:pt x="263818" y="0"/>
                  </a:lnTo>
                  <a:lnTo>
                    <a:pt x="0" y="0"/>
                  </a:lnTo>
                  <a:lnTo>
                    <a:pt x="0" y="176460"/>
                  </a:lnTo>
                  <a:close/>
                </a:path>
                <a:path w="603250" h="176530">
                  <a:moveTo>
                    <a:pt x="219257" y="87367"/>
                  </a:moveTo>
                  <a:lnTo>
                    <a:pt x="602757" y="87367"/>
                  </a:lnTo>
                </a:path>
              </a:pathLst>
            </a:custGeom>
            <a:ln w="54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351903" y="1620997"/>
              <a:ext cx="56515" cy="59055"/>
            </a:xfrm>
            <a:custGeom>
              <a:avLst/>
              <a:gdLst/>
              <a:ahLst/>
              <a:cxnLst/>
              <a:rect l="l" t="t" r="r" b="b"/>
              <a:pathLst>
                <a:path w="56514" h="59055">
                  <a:moveTo>
                    <a:pt x="0" y="0"/>
                  </a:moveTo>
                  <a:lnTo>
                    <a:pt x="0" y="58536"/>
                  </a:lnTo>
                  <a:lnTo>
                    <a:pt x="55915" y="28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3315855" y="1644598"/>
              <a:ext cx="91440" cy="1849755"/>
            </a:xfrm>
            <a:custGeom>
              <a:avLst/>
              <a:gdLst/>
              <a:ahLst/>
              <a:cxnLst/>
              <a:rect l="l" t="t" r="r" b="b"/>
              <a:pathLst>
                <a:path w="91439" h="1849754">
                  <a:moveTo>
                    <a:pt x="66382" y="1804771"/>
                  </a:moveTo>
                  <a:lnTo>
                    <a:pt x="0" y="1788185"/>
                  </a:lnTo>
                  <a:lnTo>
                    <a:pt x="13106" y="1849335"/>
                  </a:lnTo>
                  <a:lnTo>
                    <a:pt x="66382" y="1804771"/>
                  </a:lnTo>
                  <a:close/>
                </a:path>
                <a:path w="91439" h="1849754">
                  <a:moveTo>
                    <a:pt x="79489" y="1036040"/>
                  </a:moveTo>
                  <a:lnTo>
                    <a:pt x="10477" y="1045654"/>
                  </a:lnTo>
                  <a:lnTo>
                    <a:pt x="45427" y="1097203"/>
                  </a:lnTo>
                  <a:lnTo>
                    <a:pt x="79489" y="1036040"/>
                  </a:lnTo>
                  <a:close/>
                </a:path>
                <a:path w="91439" h="1849754">
                  <a:moveTo>
                    <a:pt x="84734" y="24460"/>
                  </a:moveTo>
                  <a:lnTo>
                    <a:pt x="20078" y="0"/>
                  </a:lnTo>
                  <a:lnTo>
                    <a:pt x="28816" y="62026"/>
                  </a:lnTo>
                  <a:lnTo>
                    <a:pt x="84734" y="24460"/>
                  </a:lnTo>
                  <a:close/>
                </a:path>
                <a:path w="91439" h="1849754">
                  <a:moveTo>
                    <a:pt x="90843" y="249821"/>
                  </a:moveTo>
                  <a:lnTo>
                    <a:pt x="27952" y="222745"/>
                  </a:lnTo>
                  <a:lnTo>
                    <a:pt x="31432" y="284772"/>
                  </a:lnTo>
                  <a:lnTo>
                    <a:pt x="90843" y="2498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9" name="object 99"/>
          <p:cNvSpPr txBox="1"/>
          <p:nvPr/>
        </p:nvSpPr>
        <p:spPr>
          <a:xfrm>
            <a:off x="901696" y="3749435"/>
            <a:ext cx="6379210" cy="1596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5461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5.23: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Bucket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 sorted sequence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5.3	Radix</a:t>
            </a:r>
            <a:r>
              <a:rPr dirty="0" sz="1700" spc="-3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Sort</a:t>
            </a:r>
            <a:endParaRPr sz="17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1655"/>
              </a:spcBef>
            </a:pPr>
            <a:r>
              <a:rPr dirty="0" sz="1200" spc="-5">
                <a:latin typeface="Times New Roman"/>
                <a:cs typeface="Times New Roman"/>
              </a:rPr>
              <a:t>The main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shortcoming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counting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useful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integers,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i.e.,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1..k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million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rank array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 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million.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Radix 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provides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nice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around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limitation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digit</a:t>
            </a:r>
            <a:r>
              <a:rPr dirty="0" sz="1200" spc="-5">
                <a:latin typeface="Times New Roman"/>
                <a:cs typeface="Times New Roman"/>
              </a:rPr>
              <a:t> at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00" name="object 100"/>
          <p:cNvGraphicFramePr>
            <a:graphicFrameLocks noGrp="1"/>
          </p:cNvGraphicFramePr>
          <p:nvPr/>
        </p:nvGraphicFramePr>
        <p:xfrm>
          <a:off x="958542" y="5406527"/>
          <a:ext cx="3328035" cy="1269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5280"/>
                <a:gridCol w="303530"/>
                <a:gridCol w="480695"/>
                <a:gridCol w="303530"/>
                <a:gridCol w="480694"/>
                <a:gridCol w="303530"/>
                <a:gridCol w="480694"/>
                <a:gridCol w="303530"/>
                <a:gridCol w="335279"/>
              </a:tblGrid>
              <a:tr h="175795">
                <a:tc>
                  <a:txBody>
                    <a:bodyPr/>
                    <a:lstStyle/>
                    <a:p>
                      <a:pPr marL="31750">
                        <a:lnSpc>
                          <a:spcPts val="128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576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49[4]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9[5]4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[1]76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28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176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83508">
                <a:tc>
                  <a:txBody>
                    <a:bodyPr/>
                    <a:lstStyle/>
                    <a:p>
                      <a:pPr marL="31750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494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19[4]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5[7]6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[1]94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194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83508">
                <a:tc>
                  <a:txBody>
                    <a:bodyPr/>
                    <a:lstStyle/>
                    <a:p>
                      <a:pPr marL="31750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194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95[4]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1[7]6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[2]78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278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86009">
                <a:tc>
                  <a:txBody>
                    <a:bodyPr/>
                    <a:lstStyle/>
                    <a:p>
                      <a:pPr marL="31750">
                        <a:lnSpc>
                          <a:spcPts val="136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296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⇒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57[6]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⇒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2[7]8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⇒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[2]96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⇒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36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296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80893">
                <a:tc>
                  <a:txBody>
                    <a:bodyPr/>
                    <a:lstStyle/>
                    <a:p>
                      <a:pPr marL="31750">
                        <a:lnSpc>
                          <a:spcPts val="132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278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2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29[6]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2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4[9]4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2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[4]94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32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494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83451">
                <a:tc>
                  <a:txBody>
                    <a:bodyPr/>
                    <a:lstStyle/>
                    <a:p>
                      <a:pPr marL="31750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176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17[6]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1[9]4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[5]76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576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5795">
                <a:tc>
                  <a:txBody>
                    <a:bodyPr/>
                    <a:lstStyle/>
                    <a:p>
                      <a:pPr marL="31750">
                        <a:lnSpc>
                          <a:spcPts val="128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954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27[8]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2[9]6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[9]54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28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954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1" name="object 101"/>
          <p:cNvSpPr txBox="1"/>
          <p:nvPr/>
        </p:nvSpPr>
        <p:spPr>
          <a:xfrm>
            <a:off x="901697" y="6725005"/>
            <a:ext cx="46196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1..n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d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digits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long.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916971" y="7069804"/>
            <a:ext cx="5481955" cy="800100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2540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20"/>
              </a:spcBef>
            </a:pPr>
            <a:r>
              <a:rPr dirty="0" sz="950" spc="55">
                <a:latin typeface="Times New Roman"/>
                <a:cs typeface="Times New Roman"/>
              </a:rPr>
              <a:t>RADIX</a:t>
            </a:r>
            <a:r>
              <a:rPr dirty="0" sz="1200" spc="55">
                <a:latin typeface="Times New Roman"/>
                <a:cs typeface="Times New Roman"/>
              </a:rPr>
              <a:t>-</a:t>
            </a:r>
            <a:r>
              <a:rPr dirty="0" sz="950" spc="55">
                <a:latin typeface="Times New Roman"/>
                <a:cs typeface="Times New Roman"/>
              </a:rPr>
              <a:t>SORT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array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A,</a:t>
            </a:r>
            <a:r>
              <a:rPr dirty="0" sz="1200" spc="10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n,</a:t>
            </a:r>
            <a:r>
              <a:rPr dirty="0" sz="1200" spc="10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d</a:t>
            </a:r>
            <a:r>
              <a:rPr dirty="0" sz="1200" spc="3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06070" indent="-228600">
              <a:lnSpc>
                <a:spcPct val="100000"/>
              </a:lnSpc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20">
                <a:latin typeface="Lucida Sans Unicode"/>
                <a:cs typeface="Lucida Sans Unicode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</a:t>
            </a:r>
            <a:r>
              <a:rPr dirty="0" sz="1200" spc="310" b="1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d</a:t>
            </a:r>
            <a:endParaRPr sz="1200">
              <a:latin typeface="Lucida Sans Unicode"/>
              <a:cs typeface="Lucida Sans Unicode"/>
            </a:endParaRPr>
          </a:p>
          <a:p>
            <a:pPr marL="306070" indent="-228600">
              <a:lnSpc>
                <a:spcPct val="100000"/>
              </a:lnSpc>
              <a:spcBef>
                <a:spcPts val="10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stably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w.r.t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31250" sz="1200" spc="112">
                <a:latin typeface="Verdana"/>
                <a:cs typeface="Verdana"/>
              </a:rPr>
              <a:t>th</a:t>
            </a:r>
            <a:r>
              <a:rPr dirty="0" baseline="31250" sz="1200" spc="-15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lowest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 spc="-10">
                <a:latin typeface="Times New Roman"/>
                <a:cs typeface="Times New Roman"/>
              </a:rPr>
              <a:t> digit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21489" y="520987"/>
            <a:ext cx="26066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5.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LINEAR </a:t>
            </a:r>
            <a:r>
              <a:rPr dirty="0" sz="1200" spc="-5">
                <a:latin typeface="Times New Roman"/>
                <a:cs typeface="Times New Roman"/>
              </a:rPr>
              <a:t>TIME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SORTING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699" y="1840994"/>
            <a:ext cx="1381125" cy="403225"/>
          </a:xfrm>
          <a:prstGeom prst="rect"/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Chapter</a:t>
            </a:r>
            <a:r>
              <a:rPr dirty="0" sz="2450" spc="-70" b="1" i="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6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1699" y="2539025"/>
            <a:ext cx="3193415" cy="12338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10" b="1">
                <a:latin typeface="Times New Roman"/>
                <a:cs typeface="Times New Roman"/>
              </a:rPr>
              <a:t>Dynamic</a:t>
            </a:r>
            <a:r>
              <a:rPr dirty="0" sz="2450" spc="-30" b="1">
                <a:latin typeface="Times New Roman"/>
                <a:cs typeface="Times New Roman"/>
              </a:rPr>
              <a:t> </a:t>
            </a:r>
            <a:r>
              <a:rPr dirty="0" sz="2450" spc="5" b="1">
                <a:latin typeface="Times New Roman"/>
                <a:cs typeface="Times New Roman"/>
              </a:rPr>
              <a:t>Programming</a:t>
            </a:r>
            <a:endParaRPr sz="2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3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6.1	Fibonacci</a:t>
            </a:r>
            <a:r>
              <a:rPr dirty="0" sz="1700" spc="-1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Sequence</a:t>
            </a:r>
            <a:endParaRPr sz="17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8" y="4298074"/>
            <a:ext cx="6350635" cy="2540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1968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Suppose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rabbits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surrounded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wall.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rabbits </a:t>
            </a:r>
            <a:r>
              <a:rPr dirty="0" sz="1200" spc="-5">
                <a:latin typeface="Times New Roman"/>
                <a:cs typeface="Times New Roman"/>
              </a:rPr>
              <a:t> can be </a:t>
            </a:r>
            <a:r>
              <a:rPr dirty="0" sz="1200" spc="-10">
                <a:latin typeface="Times New Roman"/>
                <a:cs typeface="Times New Roman"/>
              </a:rPr>
              <a:t>produced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pair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year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supposed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month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pair </a:t>
            </a:r>
            <a:r>
              <a:rPr dirty="0" sz="1200" spc="-10">
                <a:latin typeface="Times New Roman"/>
                <a:cs typeface="Times New Roman"/>
              </a:rPr>
              <a:t>begets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new</a:t>
            </a:r>
            <a:r>
              <a:rPr dirty="0" sz="1200" spc="-5">
                <a:latin typeface="Times New Roman"/>
                <a:cs typeface="Times New Roman"/>
              </a:rPr>
              <a:t> pair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second </a:t>
            </a:r>
            <a:r>
              <a:rPr dirty="0" sz="1200" spc="-10">
                <a:latin typeface="Times New Roman"/>
                <a:cs typeface="Times New Roman"/>
              </a:rPr>
              <a:t>month</a:t>
            </a:r>
            <a:r>
              <a:rPr dirty="0" sz="1200" spc="-5">
                <a:latin typeface="Times New Roman"/>
                <a:cs typeface="Times New Roman"/>
              </a:rPr>
              <a:t> on becomes </a:t>
            </a:r>
            <a:r>
              <a:rPr dirty="0" sz="1200" spc="-10">
                <a:latin typeface="Times New Roman"/>
                <a:cs typeface="Times New Roman"/>
              </a:rPr>
              <a:t>productive?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 is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3,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5,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8,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25">
                <a:latin typeface="Lucida Sans Unicode"/>
                <a:cs typeface="Lucida Sans Unicode"/>
              </a:rPr>
              <a:t>13,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25">
                <a:latin typeface="Lucida Sans Unicode"/>
                <a:cs typeface="Lucida Sans Unicode"/>
              </a:rPr>
              <a:t>21,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25">
                <a:latin typeface="Lucida Sans Unicode"/>
                <a:cs typeface="Lucida Sans Unicode"/>
              </a:rPr>
              <a:t>34,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25">
                <a:latin typeface="Lucida Sans Unicode"/>
                <a:cs typeface="Lucida Sans Unicode"/>
              </a:rPr>
              <a:t>55,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preceding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numbers.</a:t>
            </a:r>
            <a:endParaRPr sz="1200">
              <a:latin typeface="Times New Roman"/>
              <a:cs typeface="Times New Roman"/>
            </a:endParaRPr>
          </a:p>
          <a:p>
            <a:pPr marL="12700" marR="22225">
              <a:lnSpc>
                <a:spcPct val="100000"/>
              </a:lnSpc>
              <a:spcBef>
                <a:spcPts val="515"/>
              </a:spcBef>
            </a:pPr>
            <a:r>
              <a:rPr dirty="0" sz="1200" spc="-5">
                <a:latin typeface="Times New Roman"/>
                <a:cs typeface="Times New Roman"/>
              </a:rPr>
              <a:t>This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 posed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Leonardo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Pisano, better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known</a:t>
            </a:r>
            <a:r>
              <a:rPr dirty="0" sz="1200" spc="-5">
                <a:latin typeface="Times New Roman"/>
                <a:cs typeface="Times New Roman"/>
              </a:rPr>
              <a:t>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his </a:t>
            </a:r>
            <a:r>
              <a:rPr dirty="0" sz="1200" spc="-10">
                <a:latin typeface="Times New Roman"/>
                <a:cs typeface="Times New Roman"/>
              </a:rPr>
              <a:t>nickname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Fibonacci (son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Bonacci,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born 1170, </a:t>
            </a:r>
            <a:r>
              <a:rPr dirty="0" sz="1200" spc="-5">
                <a:latin typeface="Times New Roman"/>
                <a:cs typeface="Times New Roman"/>
              </a:rPr>
              <a:t>died </a:t>
            </a:r>
            <a:r>
              <a:rPr dirty="0" sz="1200" spc="-10">
                <a:latin typeface="Times New Roman"/>
                <a:cs typeface="Times New Roman"/>
              </a:rPr>
              <a:t>1250).</a:t>
            </a:r>
            <a:r>
              <a:rPr dirty="0" sz="1200" spc="-5">
                <a:latin typeface="Times New Roman"/>
                <a:cs typeface="Times New Roman"/>
              </a:rPr>
              <a:t> This </a:t>
            </a:r>
            <a:r>
              <a:rPr dirty="0" sz="1200" spc="-10">
                <a:latin typeface="Times New Roman"/>
                <a:cs typeface="Times New Roman"/>
              </a:rPr>
              <a:t>problem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many others </a:t>
            </a:r>
            <a:r>
              <a:rPr dirty="0" sz="1200" spc="-5">
                <a:latin typeface="Times New Roman"/>
                <a:cs typeface="Times New Roman"/>
              </a:rPr>
              <a:t>were in posed in </a:t>
            </a:r>
            <a:r>
              <a:rPr dirty="0" sz="1200" spc="-10">
                <a:latin typeface="Times New Roman"/>
                <a:cs typeface="Times New Roman"/>
              </a:rPr>
              <a:t>his book </a:t>
            </a:r>
            <a:r>
              <a:rPr dirty="0" sz="1200" spc="-5" i="1">
                <a:latin typeface="Times New Roman"/>
                <a:cs typeface="Times New Roman"/>
              </a:rPr>
              <a:t>Liber abaci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published 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 spc="-10">
                <a:latin typeface="Times New Roman"/>
                <a:cs typeface="Times New Roman"/>
              </a:rPr>
              <a:t>1202.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book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arithmetic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algebra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Fibonacci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accumulated </a:t>
            </a:r>
            <a:r>
              <a:rPr dirty="0" sz="1200" spc="-10">
                <a:latin typeface="Times New Roman"/>
                <a:cs typeface="Times New Roman"/>
              </a:rPr>
              <a:t>during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his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travels.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book,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widely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copied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imitated,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Hindu-Arabic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20"/>
              </a:spcBef>
            </a:pPr>
            <a:r>
              <a:rPr dirty="0" sz="1200" spc="-10">
                <a:latin typeface="Times New Roman"/>
                <a:cs typeface="Times New Roman"/>
              </a:rPr>
              <a:t>place-valued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Arabic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numerals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Europe.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rabbits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abaci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Fibonacci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Fibonacci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 which</a:t>
            </a:r>
            <a:r>
              <a:rPr dirty="0" sz="1200" spc="-5">
                <a:latin typeface="Times New Roman"/>
                <a:cs typeface="Times New Roman"/>
              </a:rPr>
              <a:t> Fibonacci is best remembered </a:t>
            </a:r>
            <a:r>
              <a:rPr dirty="0" sz="1200" spc="-20">
                <a:latin typeface="Times New Roman"/>
                <a:cs typeface="Times New Roman"/>
              </a:rPr>
              <a:t>today.</a:t>
            </a:r>
            <a:endParaRPr sz="1200">
              <a:latin typeface="Times New Roman"/>
              <a:cs typeface="Times New Roman"/>
            </a:endParaRPr>
          </a:p>
          <a:p>
            <a:pPr marL="12700" marR="143510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preceding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proved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extremely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fruitful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appears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different</a:t>
            </a:r>
            <a:r>
              <a:rPr dirty="0" sz="1200" spc="-5">
                <a:latin typeface="Times New Roman"/>
                <a:cs typeface="Times New Roman"/>
              </a:rPr>
              <a:t> areas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mathematics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science.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Fibonacci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Quarterly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697" y="6813816"/>
            <a:ext cx="44888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modern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journal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devoted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studying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related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424665" y="6872820"/>
            <a:ext cx="1850389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Fibonacci</a:t>
            </a:r>
            <a:r>
              <a:rPr dirty="0" sz="1200" spc="-10">
                <a:latin typeface="Times New Roman"/>
                <a:cs typeface="Times New Roman"/>
              </a:rPr>
              <a:t> numbers </a:t>
            </a:r>
            <a:r>
              <a:rPr dirty="0" sz="1200" spc="45">
                <a:latin typeface="Lucida Sans Unicode"/>
                <a:cs typeface="Lucida Sans Unicode"/>
              </a:rPr>
              <a:t>F</a:t>
            </a:r>
            <a:r>
              <a:rPr dirty="0" baseline="-13888" sz="1200" spc="67">
                <a:latin typeface="Verdana"/>
                <a:cs typeface="Verdana"/>
              </a:rPr>
              <a:t>n</a:t>
            </a:r>
            <a:r>
              <a:rPr dirty="0" baseline="-13888" sz="1200" spc="-22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4400" y="7056425"/>
            <a:ext cx="1156335" cy="10795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844"/>
              </a:lnSpc>
            </a:pPr>
            <a:r>
              <a:rPr dirty="0" sz="1200" spc="-5">
                <a:latin typeface="Times New Roman"/>
                <a:cs typeface="Times New Roman"/>
              </a:rPr>
              <a:t>defined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575761" y="8336013"/>
            <a:ext cx="412115" cy="13081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25"/>
              </a:lnSpc>
            </a:pPr>
            <a:r>
              <a:rPr dirty="0" sz="1200" spc="-30">
                <a:latin typeface="Lucida Sans Unicode"/>
                <a:cs typeface="Lucida Sans Unicode"/>
              </a:rPr>
              <a:t>F</a:t>
            </a:r>
            <a:r>
              <a:rPr dirty="0" baseline="-13888" sz="1200" spc="-44">
                <a:latin typeface="Verdana"/>
                <a:cs typeface="Verdana"/>
              </a:rPr>
              <a:t>0</a:t>
            </a:r>
            <a:r>
              <a:rPr dirty="0" baseline="-13888" sz="1200" spc="-15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575761" y="8555596"/>
            <a:ext cx="412115" cy="13144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35"/>
              </a:lnSpc>
            </a:pPr>
            <a:r>
              <a:rPr dirty="0" sz="1200" spc="-30">
                <a:latin typeface="Lucida Sans Unicode"/>
                <a:cs typeface="Lucida Sans Unicode"/>
              </a:rPr>
              <a:t>F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baseline="-13888" sz="1200" spc="-15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557701" y="8780335"/>
            <a:ext cx="1129665" cy="12890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15"/>
              </a:lnSpc>
            </a:pPr>
            <a:r>
              <a:rPr dirty="0" baseline="9259" sz="1800" spc="67">
                <a:latin typeface="Lucida Sans Unicode"/>
                <a:cs typeface="Lucida Sans Unicode"/>
              </a:rPr>
              <a:t>F</a:t>
            </a:r>
            <a:r>
              <a:rPr dirty="0" sz="800" spc="45">
                <a:latin typeface="Verdana"/>
                <a:cs typeface="Verdana"/>
              </a:rPr>
              <a:t>n</a:t>
            </a:r>
            <a:r>
              <a:rPr dirty="0" sz="800" spc="10">
                <a:latin typeface="Verdana"/>
                <a:cs typeface="Verdana"/>
              </a:rPr>
              <a:t> </a:t>
            </a:r>
            <a:r>
              <a:rPr dirty="0" baseline="9259" sz="1800" spc="150">
                <a:latin typeface="Garamond"/>
                <a:cs typeface="Garamond"/>
              </a:rPr>
              <a:t>=</a:t>
            </a:r>
            <a:r>
              <a:rPr dirty="0" baseline="9259" sz="1800" spc="30">
                <a:latin typeface="Garamond"/>
                <a:cs typeface="Garamond"/>
              </a:rPr>
              <a:t> </a:t>
            </a:r>
            <a:r>
              <a:rPr dirty="0" baseline="9259" sz="1800" spc="-15">
                <a:latin typeface="Lucida Sans Unicode"/>
                <a:cs typeface="Lucida Sans Unicode"/>
              </a:rPr>
              <a:t>F</a:t>
            </a:r>
            <a:r>
              <a:rPr dirty="0" sz="800" spc="-10">
                <a:latin typeface="Verdana"/>
                <a:cs typeface="Verdana"/>
              </a:rPr>
              <a:t>n−1</a:t>
            </a:r>
            <a:r>
              <a:rPr dirty="0" sz="800" spc="-45">
                <a:latin typeface="Verdana"/>
                <a:cs typeface="Verdana"/>
              </a:rPr>
              <a:t> </a:t>
            </a:r>
            <a:r>
              <a:rPr dirty="0" baseline="9259" sz="1800" spc="150">
                <a:latin typeface="Garamond"/>
                <a:cs typeface="Garamond"/>
              </a:rPr>
              <a:t>+</a:t>
            </a:r>
            <a:r>
              <a:rPr dirty="0" baseline="9259" sz="1800" spc="-67">
                <a:latin typeface="Garamond"/>
                <a:cs typeface="Garamond"/>
              </a:rPr>
              <a:t> </a:t>
            </a:r>
            <a:r>
              <a:rPr dirty="0" baseline="9259" sz="1800" spc="-15">
                <a:latin typeface="Lucida Sans Unicode"/>
                <a:cs typeface="Lucida Sans Unicode"/>
              </a:rPr>
              <a:t>F</a:t>
            </a:r>
            <a:r>
              <a:rPr dirty="0" sz="800" spc="-10">
                <a:latin typeface="Verdana"/>
                <a:cs typeface="Verdana"/>
              </a:rPr>
              <a:t>n−2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026206" y="9155137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6426835" cy="61341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585210" algn="l"/>
              </a:tabLst>
            </a:pPr>
            <a:r>
              <a:rPr dirty="0" sz="1200" spc="-5">
                <a:latin typeface="Times New Roman"/>
                <a:cs typeface="Times New Roman"/>
              </a:rPr>
              <a:t>74	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DYNAMIC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definition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Fibonacci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recursive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16971" y="1374616"/>
            <a:ext cx="5481955" cy="984885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2540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20"/>
              </a:spcBef>
            </a:pPr>
            <a:r>
              <a:rPr dirty="0" sz="950" spc="60">
                <a:latin typeface="Times New Roman"/>
                <a:cs typeface="Times New Roman"/>
              </a:rPr>
              <a:t>FIB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6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78105">
              <a:lnSpc>
                <a:spcPct val="100000"/>
              </a:lnSpc>
              <a:spcBef>
                <a:spcPts val="5"/>
              </a:spcBef>
              <a:tabLst>
                <a:tab pos="306070" algn="l"/>
              </a:tabLst>
            </a:pP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36880" indent="-359410">
              <a:lnSpc>
                <a:spcPct val="100000"/>
              </a:lnSpc>
              <a:buFont typeface="Times New Roman"/>
              <a:buAutoNum type="arabicPlain" startAt="2"/>
              <a:tabLst>
                <a:tab pos="436245" algn="l"/>
                <a:tab pos="43751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5" b="1">
                <a:latin typeface="Times New Roman"/>
                <a:cs typeface="Times New Roman"/>
              </a:rPr>
              <a:t>return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436880" indent="-35941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436245" algn="l"/>
                <a:tab pos="43751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else</a:t>
            </a:r>
            <a:r>
              <a:rPr dirty="0" sz="1200" spc="110" b="1">
                <a:latin typeface="Times New Roman"/>
                <a:cs typeface="Times New Roman"/>
              </a:rPr>
              <a:t> </a:t>
            </a:r>
            <a:r>
              <a:rPr dirty="0" sz="1200" spc="-15" b="1">
                <a:latin typeface="Times New Roman"/>
                <a:cs typeface="Times New Roman"/>
              </a:rPr>
              <a:t>return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950" spc="45">
                <a:latin typeface="Times New Roman"/>
                <a:cs typeface="Times New Roman"/>
              </a:rPr>
              <a:t>FIB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950" spc="45">
                <a:latin typeface="Times New Roman"/>
                <a:cs typeface="Times New Roman"/>
              </a:rPr>
              <a:t>FIB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2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185976" y="4452879"/>
            <a:ext cx="388620" cy="190500"/>
          </a:xfrm>
          <a:custGeom>
            <a:avLst/>
            <a:gdLst/>
            <a:ahLst/>
            <a:cxnLst/>
            <a:rect l="l" t="t" r="r" b="b"/>
            <a:pathLst>
              <a:path w="388619" h="190500">
                <a:moveTo>
                  <a:pt x="194767" y="0"/>
                </a:moveTo>
                <a:lnTo>
                  <a:pt x="0" y="190195"/>
                </a:lnTo>
              </a:path>
              <a:path w="388619" h="190500">
                <a:moveTo>
                  <a:pt x="194767" y="0"/>
                </a:moveTo>
                <a:lnTo>
                  <a:pt x="388619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961845" y="4448429"/>
            <a:ext cx="388620" cy="190500"/>
          </a:xfrm>
          <a:custGeom>
            <a:avLst/>
            <a:gdLst/>
            <a:ahLst/>
            <a:cxnLst/>
            <a:rect l="l" t="t" r="r" b="b"/>
            <a:pathLst>
              <a:path w="388619" h="190500">
                <a:moveTo>
                  <a:pt x="194767" y="0"/>
                </a:moveTo>
                <a:lnTo>
                  <a:pt x="0" y="190195"/>
                </a:lnTo>
              </a:path>
              <a:path w="388619" h="190500">
                <a:moveTo>
                  <a:pt x="194767" y="0"/>
                </a:moveTo>
                <a:lnTo>
                  <a:pt x="388619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1380744" y="4035577"/>
            <a:ext cx="775970" cy="190500"/>
          </a:xfrm>
          <a:custGeom>
            <a:avLst/>
            <a:gdLst/>
            <a:ahLst/>
            <a:cxnLst/>
            <a:rect l="l" t="t" r="r" b="b"/>
            <a:pathLst>
              <a:path w="775969" h="190500">
                <a:moveTo>
                  <a:pt x="387705" y="0"/>
                </a:moveTo>
                <a:lnTo>
                  <a:pt x="0" y="190195"/>
                </a:lnTo>
              </a:path>
              <a:path w="775969" h="190500">
                <a:moveTo>
                  <a:pt x="387705" y="0"/>
                </a:moveTo>
                <a:lnTo>
                  <a:pt x="775411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2737713" y="4452879"/>
            <a:ext cx="388620" cy="190500"/>
          </a:xfrm>
          <a:custGeom>
            <a:avLst/>
            <a:gdLst/>
            <a:ahLst/>
            <a:cxnLst/>
            <a:rect l="l" t="t" r="r" b="b"/>
            <a:pathLst>
              <a:path w="388619" h="190500">
                <a:moveTo>
                  <a:pt x="194767" y="0"/>
                </a:moveTo>
                <a:lnTo>
                  <a:pt x="0" y="190195"/>
                </a:lnTo>
              </a:path>
              <a:path w="388619" h="190500">
                <a:moveTo>
                  <a:pt x="194767" y="0"/>
                </a:moveTo>
                <a:lnTo>
                  <a:pt x="388619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3513582" y="4452879"/>
            <a:ext cx="388620" cy="190500"/>
          </a:xfrm>
          <a:custGeom>
            <a:avLst/>
            <a:gdLst/>
            <a:ahLst/>
            <a:cxnLst/>
            <a:rect l="l" t="t" r="r" b="b"/>
            <a:pathLst>
              <a:path w="388620" h="190500">
                <a:moveTo>
                  <a:pt x="194767" y="0"/>
                </a:moveTo>
                <a:lnTo>
                  <a:pt x="0" y="190195"/>
                </a:lnTo>
              </a:path>
              <a:path w="388620" h="190500">
                <a:moveTo>
                  <a:pt x="194767" y="0"/>
                </a:moveTo>
                <a:lnTo>
                  <a:pt x="388619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2932480" y="4040027"/>
            <a:ext cx="775970" cy="190500"/>
          </a:xfrm>
          <a:custGeom>
            <a:avLst/>
            <a:gdLst/>
            <a:ahLst/>
            <a:cxnLst/>
            <a:rect l="l" t="t" r="r" b="b"/>
            <a:pathLst>
              <a:path w="775970" h="190500">
                <a:moveTo>
                  <a:pt x="387705" y="0"/>
                </a:moveTo>
                <a:lnTo>
                  <a:pt x="0" y="190195"/>
                </a:lnTo>
              </a:path>
              <a:path w="775970" h="190500">
                <a:moveTo>
                  <a:pt x="387705" y="0"/>
                </a:moveTo>
                <a:lnTo>
                  <a:pt x="775411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1768449" y="3622725"/>
            <a:ext cx="1551940" cy="190500"/>
          </a:xfrm>
          <a:custGeom>
            <a:avLst/>
            <a:gdLst/>
            <a:ahLst/>
            <a:cxnLst/>
            <a:rect l="l" t="t" r="r" b="b"/>
            <a:pathLst>
              <a:path w="1551939" h="190500">
                <a:moveTo>
                  <a:pt x="775411" y="0"/>
                </a:moveTo>
                <a:lnTo>
                  <a:pt x="0" y="190195"/>
                </a:lnTo>
              </a:path>
              <a:path w="1551939" h="190500">
                <a:moveTo>
                  <a:pt x="775411" y="0"/>
                </a:moveTo>
                <a:lnTo>
                  <a:pt x="1551736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2362795" y="3431680"/>
            <a:ext cx="3632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fi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75">
                <a:latin typeface="Times New Roman"/>
                <a:cs typeface="Times New Roman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4289328" y="4452879"/>
            <a:ext cx="388620" cy="190500"/>
          </a:xfrm>
          <a:custGeom>
            <a:avLst/>
            <a:gdLst/>
            <a:ahLst/>
            <a:cxnLst/>
            <a:rect l="l" t="t" r="r" b="b"/>
            <a:pathLst>
              <a:path w="388620" h="190500">
                <a:moveTo>
                  <a:pt x="194767" y="0"/>
                </a:moveTo>
                <a:lnTo>
                  <a:pt x="0" y="190195"/>
                </a:lnTo>
              </a:path>
              <a:path w="388620" h="190500">
                <a:moveTo>
                  <a:pt x="194767" y="0"/>
                </a:moveTo>
                <a:lnTo>
                  <a:pt x="388619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5065196" y="4452879"/>
            <a:ext cx="388620" cy="190500"/>
          </a:xfrm>
          <a:custGeom>
            <a:avLst/>
            <a:gdLst/>
            <a:ahLst/>
            <a:cxnLst/>
            <a:rect l="l" t="t" r="r" b="b"/>
            <a:pathLst>
              <a:path w="388620" h="190500">
                <a:moveTo>
                  <a:pt x="194767" y="0"/>
                </a:moveTo>
                <a:lnTo>
                  <a:pt x="0" y="190195"/>
                </a:lnTo>
              </a:path>
              <a:path w="388620" h="190500">
                <a:moveTo>
                  <a:pt x="194767" y="0"/>
                </a:moveTo>
                <a:lnTo>
                  <a:pt x="388619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4484095" y="4040027"/>
            <a:ext cx="775970" cy="190500"/>
          </a:xfrm>
          <a:custGeom>
            <a:avLst/>
            <a:gdLst/>
            <a:ahLst/>
            <a:cxnLst/>
            <a:rect l="l" t="t" r="r" b="b"/>
            <a:pathLst>
              <a:path w="775970" h="190500">
                <a:moveTo>
                  <a:pt x="387705" y="0"/>
                </a:moveTo>
                <a:lnTo>
                  <a:pt x="0" y="190195"/>
                </a:lnTo>
              </a:path>
              <a:path w="775970" h="190500">
                <a:moveTo>
                  <a:pt x="387705" y="0"/>
                </a:moveTo>
                <a:lnTo>
                  <a:pt x="775411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5841065" y="4448429"/>
            <a:ext cx="388620" cy="190500"/>
          </a:xfrm>
          <a:custGeom>
            <a:avLst/>
            <a:gdLst/>
            <a:ahLst/>
            <a:cxnLst/>
            <a:rect l="l" t="t" r="r" b="b"/>
            <a:pathLst>
              <a:path w="388620" h="190500">
                <a:moveTo>
                  <a:pt x="194767" y="0"/>
                </a:moveTo>
                <a:lnTo>
                  <a:pt x="0" y="190195"/>
                </a:lnTo>
              </a:path>
              <a:path w="388620" h="190500">
                <a:moveTo>
                  <a:pt x="194767" y="0"/>
                </a:moveTo>
                <a:lnTo>
                  <a:pt x="388619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6616933" y="4448429"/>
            <a:ext cx="388620" cy="190500"/>
          </a:xfrm>
          <a:custGeom>
            <a:avLst/>
            <a:gdLst/>
            <a:ahLst/>
            <a:cxnLst/>
            <a:rect l="l" t="t" r="r" b="b"/>
            <a:pathLst>
              <a:path w="388620" h="190500">
                <a:moveTo>
                  <a:pt x="194767" y="0"/>
                </a:moveTo>
                <a:lnTo>
                  <a:pt x="0" y="190195"/>
                </a:lnTo>
              </a:path>
              <a:path w="388620" h="190500">
                <a:moveTo>
                  <a:pt x="194767" y="0"/>
                </a:moveTo>
                <a:lnTo>
                  <a:pt x="388619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6035832" y="4035577"/>
            <a:ext cx="775970" cy="190500"/>
          </a:xfrm>
          <a:custGeom>
            <a:avLst/>
            <a:gdLst/>
            <a:ahLst/>
            <a:cxnLst/>
            <a:rect l="l" t="t" r="r" b="b"/>
            <a:pathLst>
              <a:path w="775970" h="190500">
                <a:moveTo>
                  <a:pt x="387705" y="0"/>
                </a:moveTo>
                <a:lnTo>
                  <a:pt x="0" y="190195"/>
                </a:lnTo>
              </a:path>
              <a:path w="775970" h="190500">
                <a:moveTo>
                  <a:pt x="387705" y="0"/>
                </a:moveTo>
                <a:lnTo>
                  <a:pt x="775411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1005026" y="3844532"/>
            <a:ext cx="6181725" cy="1282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  <a:tabLst>
                <a:tab pos="1555750" algn="l"/>
                <a:tab pos="3107055" algn="l"/>
                <a:tab pos="4654550" algn="l"/>
              </a:tabLst>
            </a:pPr>
            <a:r>
              <a:rPr dirty="0" sz="1200" spc="-45">
                <a:latin typeface="Times New Roman"/>
                <a:cs typeface="Times New Roman"/>
              </a:rPr>
              <a:t>fib(</a:t>
            </a:r>
            <a:r>
              <a:rPr dirty="0" sz="1200" spc="-45">
                <a:latin typeface="Lucida Sans Unicode"/>
                <a:cs typeface="Lucida Sans Unicode"/>
              </a:rPr>
              <a:t>6</a:t>
            </a:r>
            <a:r>
              <a:rPr dirty="0" sz="1200" spc="-45">
                <a:latin typeface="Times New Roman"/>
                <a:cs typeface="Times New Roman"/>
              </a:rPr>
              <a:t>)	</a:t>
            </a:r>
            <a:r>
              <a:rPr dirty="0" sz="1200" spc="-45" i="1">
                <a:latin typeface="Times New Roman"/>
                <a:cs typeface="Times New Roman"/>
              </a:rPr>
              <a:t>fib(</a:t>
            </a:r>
            <a:r>
              <a:rPr dirty="0" sz="1200" spc="-45">
                <a:latin typeface="Lucida Sans Unicode"/>
                <a:cs typeface="Lucida Sans Unicode"/>
              </a:rPr>
              <a:t>5</a:t>
            </a:r>
            <a:r>
              <a:rPr dirty="0" sz="1200" spc="-45" i="1">
                <a:latin typeface="Times New Roman"/>
                <a:cs typeface="Times New Roman"/>
              </a:rPr>
              <a:t>)	fib(</a:t>
            </a:r>
            <a:r>
              <a:rPr dirty="0" sz="1200" spc="-45">
                <a:latin typeface="Lucida Sans Unicode"/>
                <a:cs typeface="Lucida Sans Unicode"/>
              </a:rPr>
              <a:t>5</a:t>
            </a:r>
            <a:r>
              <a:rPr dirty="0" sz="1200" spc="-45" i="1">
                <a:latin typeface="Times New Roman"/>
                <a:cs typeface="Times New Roman"/>
              </a:rPr>
              <a:t>)	</a:t>
            </a:r>
            <a:r>
              <a:rPr dirty="0" sz="1200" spc="-45">
                <a:solidFill>
                  <a:srgbClr val="00FF00"/>
                </a:solidFill>
                <a:latin typeface="Times New Roman"/>
                <a:cs typeface="Times New Roman"/>
              </a:rPr>
              <a:t>fib(</a:t>
            </a:r>
            <a:r>
              <a:rPr dirty="0" sz="1200" spc="-45">
                <a:solidFill>
                  <a:srgbClr val="00FF00"/>
                </a:solidFill>
                <a:latin typeface="Lucida Sans Unicode"/>
                <a:cs typeface="Lucida Sans Unicode"/>
              </a:rPr>
              <a:t>4</a:t>
            </a:r>
            <a:r>
              <a:rPr dirty="0" sz="1200" spc="-45">
                <a:solidFill>
                  <a:srgbClr val="00FF00"/>
                </a:solidFill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2700" marR="5080" indent="198120">
              <a:lnSpc>
                <a:spcPct val="218800"/>
              </a:lnSpc>
              <a:spcBef>
                <a:spcPts val="135"/>
              </a:spcBef>
              <a:tabLst>
                <a:tab pos="982344" algn="l"/>
                <a:tab pos="1758314" algn="l"/>
                <a:tab pos="2533650" algn="l"/>
                <a:tab pos="3309620" algn="l"/>
                <a:tab pos="4085590" algn="l"/>
                <a:tab pos="4861560" algn="l"/>
                <a:tab pos="5637530" algn="l"/>
              </a:tabLst>
            </a:pPr>
            <a:r>
              <a:rPr dirty="0" baseline="2314" sz="1800" spc="-67" i="1">
                <a:latin typeface="Times New Roman"/>
                <a:cs typeface="Times New Roman"/>
              </a:rPr>
              <a:t>fib(</a:t>
            </a:r>
            <a:r>
              <a:rPr dirty="0" baseline="2314" sz="1800" spc="-67">
                <a:latin typeface="Lucida Sans Unicode"/>
                <a:cs typeface="Lucida Sans Unicode"/>
              </a:rPr>
              <a:t>5</a:t>
            </a:r>
            <a:r>
              <a:rPr dirty="0" baseline="2314" sz="1800" spc="-67" i="1">
                <a:latin typeface="Times New Roman"/>
                <a:cs typeface="Times New Roman"/>
              </a:rPr>
              <a:t>)	</a:t>
            </a:r>
            <a:r>
              <a:rPr dirty="0" baseline="2314" sz="1800" spc="-67">
                <a:solidFill>
                  <a:srgbClr val="00FF00"/>
                </a:solidFill>
                <a:latin typeface="Times New Roman"/>
                <a:cs typeface="Times New Roman"/>
              </a:rPr>
              <a:t>fib(</a:t>
            </a:r>
            <a:r>
              <a:rPr dirty="0" baseline="2314" sz="1800" spc="-67">
                <a:solidFill>
                  <a:srgbClr val="00FF00"/>
                </a:solidFill>
                <a:latin typeface="Lucida Sans Unicode"/>
                <a:cs typeface="Lucida Sans Unicode"/>
              </a:rPr>
              <a:t>4</a:t>
            </a:r>
            <a:r>
              <a:rPr dirty="0" baseline="2314" sz="1800" spc="-67">
                <a:solidFill>
                  <a:srgbClr val="00FF00"/>
                </a:solidFill>
                <a:latin typeface="Times New Roman"/>
                <a:cs typeface="Times New Roman"/>
              </a:rPr>
              <a:t>)	</a:t>
            </a:r>
            <a:r>
              <a:rPr dirty="0" sz="1200" spc="-45">
                <a:solidFill>
                  <a:srgbClr val="00FF00"/>
                </a:solidFill>
                <a:latin typeface="Times New Roman"/>
                <a:cs typeface="Times New Roman"/>
              </a:rPr>
              <a:t>fib(</a:t>
            </a:r>
            <a:r>
              <a:rPr dirty="0" sz="1200" spc="-45">
                <a:solidFill>
                  <a:srgbClr val="00FF00"/>
                </a:solidFill>
                <a:latin typeface="Lucida Sans Unicode"/>
                <a:cs typeface="Lucida Sans Unicode"/>
              </a:rPr>
              <a:t>4</a:t>
            </a:r>
            <a:r>
              <a:rPr dirty="0" sz="1200" spc="-45">
                <a:solidFill>
                  <a:srgbClr val="00FF00"/>
                </a:solidFill>
                <a:latin typeface="Times New Roman"/>
                <a:cs typeface="Times New Roman"/>
              </a:rPr>
              <a:t>)	</a:t>
            </a:r>
            <a:r>
              <a:rPr dirty="0" sz="1200" spc="-45">
                <a:solidFill>
                  <a:srgbClr val="0000FF"/>
                </a:solidFill>
                <a:latin typeface="Times New Roman"/>
                <a:cs typeface="Times New Roman"/>
              </a:rPr>
              <a:t>fib(</a:t>
            </a:r>
            <a:r>
              <a:rPr dirty="0" sz="1200" spc="-45">
                <a:solidFill>
                  <a:srgbClr val="0000FF"/>
                </a:solidFill>
                <a:latin typeface="Lucida Sans Unicode"/>
                <a:cs typeface="Lucida Sans Unicode"/>
              </a:rPr>
              <a:t>3</a:t>
            </a:r>
            <a:r>
              <a:rPr dirty="0" sz="1200" spc="-45">
                <a:solidFill>
                  <a:srgbClr val="0000FF"/>
                </a:solidFill>
                <a:latin typeface="Times New Roman"/>
                <a:cs typeface="Times New Roman"/>
              </a:rPr>
              <a:t>)	</a:t>
            </a:r>
            <a:r>
              <a:rPr dirty="0" sz="1200" spc="-45">
                <a:solidFill>
                  <a:srgbClr val="00FF00"/>
                </a:solidFill>
                <a:latin typeface="Times New Roman"/>
                <a:cs typeface="Times New Roman"/>
              </a:rPr>
              <a:t>fib(</a:t>
            </a:r>
            <a:r>
              <a:rPr dirty="0" sz="1200" spc="-45">
                <a:solidFill>
                  <a:srgbClr val="00FF00"/>
                </a:solidFill>
                <a:latin typeface="Lucida Sans Unicode"/>
                <a:cs typeface="Lucida Sans Unicode"/>
              </a:rPr>
              <a:t>4</a:t>
            </a:r>
            <a:r>
              <a:rPr dirty="0" sz="1200" spc="-45">
                <a:solidFill>
                  <a:srgbClr val="00FF00"/>
                </a:solidFill>
                <a:latin typeface="Times New Roman"/>
                <a:cs typeface="Times New Roman"/>
              </a:rPr>
              <a:t>)	</a:t>
            </a:r>
            <a:r>
              <a:rPr dirty="0" sz="1200" spc="-45">
                <a:solidFill>
                  <a:srgbClr val="0000FF"/>
                </a:solidFill>
                <a:latin typeface="Times New Roman"/>
                <a:cs typeface="Times New Roman"/>
              </a:rPr>
              <a:t>fib(</a:t>
            </a:r>
            <a:r>
              <a:rPr dirty="0" sz="1200" spc="-45">
                <a:solidFill>
                  <a:srgbClr val="0000FF"/>
                </a:solidFill>
                <a:latin typeface="Lucida Sans Unicode"/>
                <a:cs typeface="Lucida Sans Unicode"/>
              </a:rPr>
              <a:t>3</a:t>
            </a:r>
            <a:r>
              <a:rPr dirty="0" sz="1200" spc="-45">
                <a:solidFill>
                  <a:srgbClr val="0000FF"/>
                </a:solidFill>
                <a:latin typeface="Times New Roman"/>
                <a:cs typeface="Times New Roman"/>
              </a:rPr>
              <a:t>)	</a:t>
            </a:r>
            <a:r>
              <a:rPr dirty="0" baseline="2314" sz="1800" spc="-67">
                <a:solidFill>
                  <a:srgbClr val="0000FF"/>
                </a:solidFill>
                <a:latin typeface="Times New Roman"/>
                <a:cs typeface="Times New Roman"/>
              </a:rPr>
              <a:t>fib(</a:t>
            </a:r>
            <a:r>
              <a:rPr dirty="0" baseline="2314" sz="1800" spc="-67">
                <a:solidFill>
                  <a:srgbClr val="0000FF"/>
                </a:solidFill>
                <a:latin typeface="Lucida Sans Unicode"/>
                <a:cs typeface="Lucida Sans Unicode"/>
              </a:rPr>
              <a:t>3</a:t>
            </a:r>
            <a:r>
              <a:rPr dirty="0" baseline="2314" sz="1800" spc="-67">
                <a:solidFill>
                  <a:srgbClr val="0000FF"/>
                </a:solidFill>
                <a:latin typeface="Times New Roman"/>
                <a:cs typeface="Times New Roman"/>
              </a:rPr>
              <a:t>)	</a:t>
            </a:r>
            <a:r>
              <a:rPr dirty="0" baseline="2314" sz="1800" spc="-67">
                <a:latin typeface="Times New Roman"/>
                <a:cs typeface="Times New Roman"/>
              </a:rPr>
              <a:t>fib(</a:t>
            </a:r>
            <a:r>
              <a:rPr dirty="0" baseline="2314" sz="1800" spc="-67">
                <a:latin typeface="Lucida Sans Unicode"/>
                <a:cs typeface="Lucida Sans Unicode"/>
              </a:rPr>
              <a:t>2</a:t>
            </a:r>
            <a:r>
              <a:rPr dirty="0" baseline="2314" sz="1800" spc="-67">
                <a:latin typeface="Times New Roman"/>
                <a:cs typeface="Times New Roman"/>
              </a:rPr>
              <a:t>) </a:t>
            </a:r>
            <a:r>
              <a:rPr dirty="0" baseline="2314" sz="1800" spc="-60">
                <a:latin typeface="Times New Roman"/>
                <a:cs typeface="Times New Roman"/>
              </a:rPr>
              <a:t> </a:t>
            </a:r>
            <a:r>
              <a:rPr dirty="0" sz="1200" spc="-45">
                <a:solidFill>
                  <a:srgbClr val="00FF00"/>
                </a:solidFill>
                <a:latin typeface="Times New Roman"/>
                <a:cs typeface="Times New Roman"/>
              </a:rPr>
              <a:t>fib(</a:t>
            </a:r>
            <a:r>
              <a:rPr dirty="0" sz="1200" spc="-45">
                <a:solidFill>
                  <a:srgbClr val="00FF00"/>
                </a:solidFill>
                <a:latin typeface="Lucida Sans Unicode"/>
                <a:cs typeface="Lucida Sans Unicode"/>
              </a:rPr>
              <a:t>4</a:t>
            </a:r>
            <a:r>
              <a:rPr dirty="0" sz="1200" spc="-45">
                <a:solidFill>
                  <a:srgbClr val="00FF00"/>
                </a:solidFill>
                <a:latin typeface="Times New Roman"/>
                <a:cs typeface="Times New Roman"/>
              </a:rPr>
              <a:t>)</a:t>
            </a:r>
            <a:r>
              <a:rPr dirty="0" sz="1200" spc="110">
                <a:solidFill>
                  <a:srgbClr val="00FF00"/>
                </a:solidFill>
                <a:latin typeface="Times New Roman"/>
                <a:cs typeface="Times New Roman"/>
              </a:rPr>
              <a:t> </a:t>
            </a:r>
            <a:r>
              <a:rPr dirty="0" sz="1200" spc="-45">
                <a:solidFill>
                  <a:srgbClr val="0000FF"/>
                </a:solidFill>
                <a:latin typeface="Times New Roman"/>
                <a:cs typeface="Times New Roman"/>
              </a:rPr>
              <a:t>fib(</a:t>
            </a:r>
            <a:r>
              <a:rPr dirty="0" sz="1200" spc="-45">
                <a:solidFill>
                  <a:srgbClr val="0000FF"/>
                </a:solidFill>
                <a:latin typeface="Lucida Sans Unicode"/>
                <a:cs typeface="Lucida Sans Unicode"/>
              </a:rPr>
              <a:t>3</a:t>
            </a:r>
            <a:r>
              <a:rPr dirty="0" sz="1200" spc="-45">
                <a:solidFill>
                  <a:srgbClr val="0000FF"/>
                </a:solidFill>
                <a:latin typeface="Times New Roman"/>
                <a:cs typeface="Times New Roman"/>
              </a:rPr>
              <a:t>)</a:t>
            </a:r>
            <a:r>
              <a:rPr dirty="0" sz="1200" spc="11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baseline="2314" sz="1800" spc="-67">
                <a:solidFill>
                  <a:srgbClr val="0000FF"/>
                </a:solidFill>
                <a:latin typeface="Times New Roman"/>
                <a:cs typeface="Times New Roman"/>
              </a:rPr>
              <a:t>fib(</a:t>
            </a:r>
            <a:r>
              <a:rPr dirty="0" baseline="2314" sz="1800" spc="-67">
                <a:solidFill>
                  <a:srgbClr val="0000FF"/>
                </a:solidFill>
                <a:latin typeface="Lucida Sans Unicode"/>
                <a:cs typeface="Lucida Sans Unicode"/>
              </a:rPr>
              <a:t>3</a:t>
            </a:r>
            <a:r>
              <a:rPr dirty="0" baseline="2314" sz="1800" spc="-67">
                <a:solidFill>
                  <a:srgbClr val="0000FF"/>
                </a:solidFill>
                <a:latin typeface="Times New Roman"/>
                <a:cs typeface="Times New Roman"/>
              </a:rPr>
              <a:t>)</a:t>
            </a:r>
            <a:r>
              <a:rPr dirty="0" baseline="2314" sz="1800" spc="16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baseline="2314" sz="1800" spc="-67">
                <a:latin typeface="Times New Roman"/>
                <a:cs typeface="Times New Roman"/>
              </a:rPr>
              <a:t>fib(</a:t>
            </a:r>
            <a:r>
              <a:rPr dirty="0" baseline="2314" sz="1800" spc="-67">
                <a:latin typeface="Lucida Sans Unicode"/>
                <a:cs typeface="Lucida Sans Unicode"/>
              </a:rPr>
              <a:t>2</a:t>
            </a:r>
            <a:r>
              <a:rPr dirty="0" baseline="2314" sz="1800" spc="-67">
                <a:latin typeface="Times New Roman"/>
                <a:cs typeface="Times New Roman"/>
              </a:rPr>
              <a:t>)</a:t>
            </a:r>
            <a:r>
              <a:rPr dirty="0" baseline="2314" sz="1800" spc="165">
                <a:latin typeface="Times New Roman"/>
                <a:cs typeface="Times New Roman"/>
              </a:rPr>
              <a:t> </a:t>
            </a:r>
            <a:r>
              <a:rPr dirty="0" sz="1200" spc="-45">
                <a:solidFill>
                  <a:srgbClr val="0000FF"/>
                </a:solidFill>
                <a:latin typeface="Times New Roman"/>
                <a:cs typeface="Times New Roman"/>
              </a:rPr>
              <a:t>fib(</a:t>
            </a:r>
            <a:r>
              <a:rPr dirty="0" sz="1200" spc="-45">
                <a:solidFill>
                  <a:srgbClr val="0000FF"/>
                </a:solidFill>
                <a:latin typeface="Lucida Sans Unicode"/>
                <a:cs typeface="Lucida Sans Unicode"/>
              </a:rPr>
              <a:t>3</a:t>
            </a:r>
            <a:r>
              <a:rPr dirty="0" sz="1200" spc="-45">
                <a:solidFill>
                  <a:srgbClr val="0000FF"/>
                </a:solidFill>
                <a:latin typeface="Times New Roman"/>
                <a:cs typeface="Times New Roman"/>
              </a:rPr>
              <a:t>)</a:t>
            </a:r>
            <a:r>
              <a:rPr dirty="0" sz="1200" spc="11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fib(</a:t>
            </a:r>
            <a:r>
              <a:rPr dirty="0" sz="1200" spc="-45">
                <a:latin typeface="Lucida Sans Unicode"/>
                <a:cs typeface="Lucida Sans Unicode"/>
              </a:rPr>
              <a:t>2</a:t>
            </a:r>
            <a:r>
              <a:rPr dirty="0" sz="1200" spc="-45">
                <a:latin typeface="Times New Roman"/>
                <a:cs typeface="Times New Roman"/>
              </a:rPr>
              <a:t>)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fib(</a:t>
            </a:r>
            <a:r>
              <a:rPr dirty="0" sz="1200" spc="-45">
                <a:latin typeface="Lucida Sans Unicode"/>
                <a:cs typeface="Lucida Sans Unicode"/>
              </a:rPr>
              <a:t>2</a:t>
            </a:r>
            <a:r>
              <a:rPr dirty="0" sz="1200" spc="-45">
                <a:latin typeface="Times New Roman"/>
                <a:cs typeface="Times New Roman"/>
              </a:rPr>
              <a:t>)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fib(</a:t>
            </a:r>
            <a:r>
              <a:rPr dirty="0" sz="1200" spc="-45">
                <a:latin typeface="Lucida Sans Unicode"/>
                <a:cs typeface="Lucida Sans Unicode"/>
              </a:rPr>
              <a:t>1</a:t>
            </a:r>
            <a:r>
              <a:rPr dirty="0" sz="1200" spc="-45">
                <a:latin typeface="Times New Roman"/>
                <a:cs typeface="Times New Roman"/>
              </a:rPr>
              <a:t>)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45">
                <a:solidFill>
                  <a:srgbClr val="0000FF"/>
                </a:solidFill>
                <a:latin typeface="Times New Roman"/>
                <a:cs typeface="Times New Roman"/>
              </a:rPr>
              <a:t>fib(</a:t>
            </a:r>
            <a:r>
              <a:rPr dirty="0" sz="1200" spc="-45">
                <a:solidFill>
                  <a:srgbClr val="0000FF"/>
                </a:solidFill>
                <a:latin typeface="Lucida Sans Unicode"/>
                <a:cs typeface="Lucida Sans Unicode"/>
              </a:rPr>
              <a:t>3</a:t>
            </a:r>
            <a:r>
              <a:rPr dirty="0" sz="1200" spc="-45">
                <a:solidFill>
                  <a:srgbClr val="0000FF"/>
                </a:solidFill>
                <a:latin typeface="Times New Roman"/>
                <a:cs typeface="Times New Roman"/>
              </a:rPr>
              <a:t>)</a:t>
            </a:r>
            <a:r>
              <a:rPr dirty="0" sz="1200" spc="11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fib(</a:t>
            </a:r>
            <a:r>
              <a:rPr dirty="0" sz="1200" spc="-45">
                <a:latin typeface="Lucida Sans Unicode"/>
                <a:cs typeface="Lucida Sans Unicode"/>
              </a:rPr>
              <a:t>2</a:t>
            </a:r>
            <a:r>
              <a:rPr dirty="0" sz="1200" spc="-45">
                <a:latin typeface="Times New Roman"/>
                <a:cs typeface="Times New Roman"/>
              </a:rPr>
              <a:t>)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fib(</a:t>
            </a:r>
            <a:r>
              <a:rPr dirty="0" sz="1200" spc="-45">
                <a:latin typeface="Lucida Sans Unicode"/>
                <a:cs typeface="Lucida Sans Unicode"/>
              </a:rPr>
              <a:t>2</a:t>
            </a:r>
            <a:r>
              <a:rPr dirty="0" sz="1200" spc="-45">
                <a:latin typeface="Times New Roman"/>
                <a:cs typeface="Times New Roman"/>
              </a:rPr>
              <a:t>)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fib(</a:t>
            </a:r>
            <a:r>
              <a:rPr dirty="0" sz="1200" spc="-45">
                <a:latin typeface="Lucida Sans Unicode"/>
                <a:cs typeface="Lucida Sans Unicode"/>
              </a:rPr>
              <a:t>1</a:t>
            </a:r>
            <a:r>
              <a:rPr dirty="0" sz="1200" spc="-45">
                <a:latin typeface="Times New Roman"/>
                <a:cs typeface="Times New Roman"/>
              </a:rPr>
              <a:t>)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baseline="2314" sz="1800" spc="-67">
                <a:latin typeface="Times New Roman"/>
                <a:cs typeface="Times New Roman"/>
              </a:rPr>
              <a:t>fib(</a:t>
            </a:r>
            <a:r>
              <a:rPr dirty="0" baseline="2314" sz="1800" spc="-67">
                <a:latin typeface="Lucida Sans Unicode"/>
                <a:cs typeface="Lucida Sans Unicode"/>
              </a:rPr>
              <a:t>2</a:t>
            </a:r>
            <a:r>
              <a:rPr dirty="0" baseline="2314" sz="1800" spc="-67">
                <a:latin typeface="Times New Roman"/>
                <a:cs typeface="Times New Roman"/>
              </a:rPr>
              <a:t>)</a:t>
            </a:r>
            <a:r>
              <a:rPr dirty="0" baseline="2314" sz="1800" spc="165">
                <a:latin typeface="Times New Roman"/>
                <a:cs typeface="Times New Roman"/>
              </a:rPr>
              <a:t> </a:t>
            </a:r>
            <a:r>
              <a:rPr dirty="0" baseline="2314" sz="1800" spc="-67">
                <a:latin typeface="Times New Roman"/>
                <a:cs typeface="Times New Roman"/>
              </a:rPr>
              <a:t>fib(</a:t>
            </a:r>
            <a:r>
              <a:rPr dirty="0" baseline="2314" sz="1800" spc="-67">
                <a:latin typeface="Lucida Sans Unicode"/>
                <a:cs typeface="Lucida Sans Unicode"/>
              </a:rPr>
              <a:t>1</a:t>
            </a:r>
            <a:r>
              <a:rPr dirty="0" baseline="2314" sz="1800" spc="-67">
                <a:latin typeface="Times New Roman"/>
                <a:cs typeface="Times New Roman"/>
              </a:rPr>
              <a:t>)</a:t>
            </a:r>
            <a:r>
              <a:rPr dirty="0" baseline="2314" sz="1800" spc="165">
                <a:latin typeface="Times New Roman"/>
                <a:cs typeface="Times New Roman"/>
              </a:rPr>
              <a:t> </a:t>
            </a:r>
            <a:r>
              <a:rPr dirty="0" baseline="2314" sz="1800" spc="-67">
                <a:latin typeface="Times New Roman"/>
                <a:cs typeface="Times New Roman"/>
              </a:rPr>
              <a:t>fib(</a:t>
            </a:r>
            <a:r>
              <a:rPr dirty="0" baseline="2314" sz="1800" spc="-67">
                <a:latin typeface="Lucida Sans Unicode"/>
                <a:cs typeface="Lucida Sans Unicode"/>
              </a:rPr>
              <a:t>1</a:t>
            </a:r>
            <a:r>
              <a:rPr dirty="0" baseline="2314" sz="1800" spc="-67">
                <a:latin typeface="Times New Roman"/>
                <a:cs typeface="Times New Roman"/>
              </a:rPr>
              <a:t>)</a:t>
            </a:r>
            <a:r>
              <a:rPr dirty="0" baseline="2314" sz="1800" spc="165">
                <a:latin typeface="Times New Roman"/>
                <a:cs typeface="Times New Roman"/>
              </a:rPr>
              <a:t> </a:t>
            </a:r>
            <a:r>
              <a:rPr dirty="0" baseline="2314" sz="1800" spc="-67">
                <a:latin typeface="Times New Roman"/>
                <a:cs typeface="Times New Roman"/>
              </a:rPr>
              <a:t>fib(</a:t>
            </a:r>
            <a:r>
              <a:rPr dirty="0" baseline="2314" sz="1800" spc="-67">
                <a:latin typeface="Lucida Sans Unicode"/>
                <a:cs typeface="Lucida Sans Unicode"/>
              </a:rPr>
              <a:t>0</a:t>
            </a:r>
            <a:r>
              <a:rPr dirty="0" baseline="2314" sz="1800" spc="-67">
                <a:latin typeface="Times New Roman"/>
                <a:cs typeface="Times New Roman"/>
              </a:rPr>
              <a:t>)</a:t>
            </a:r>
            <a:endParaRPr baseline="2314" sz="18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80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6.1: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during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computation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Fibonacci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4871801" y="3622725"/>
            <a:ext cx="1551940" cy="190500"/>
          </a:xfrm>
          <a:custGeom>
            <a:avLst/>
            <a:gdLst/>
            <a:ahLst/>
            <a:cxnLst/>
            <a:rect l="l" t="t" r="r" b="b"/>
            <a:pathLst>
              <a:path w="1551939" h="190500">
                <a:moveTo>
                  <a:pt x="775411" y="0"/>
                </a:moveTo>
                <a:lnTo>
                  <a:pt x="0" y="190195"/>
                </a:lnTo>
              </a:path>
              <a:path w="1551939" h="190500">
                <a:moveTo>
                  <a:pt x="775411" y="0"/>
                </a:moveTo>
                <a:lnTo>
                  <a:pt x="1551736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5466153" y="3431680"/>
            <a:ext cx="3632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fi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75">
                <a:latin typeface="Times New Roman"/>
                <a:cs typeface="Times New Roman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2543860" y="3209874"/>
            <a:ext cx="3103880" cy="190500"/>
          </a:xfrm>
          <a:custGeom>
            <a:avLst/>
            <a:gdLst/>
            <a:ahLst/>
            <a:cxnLst/>
            <a:rect l="l" t="t" r="r" b="b"/>
            <a:pathLst>
              <a:path w="3103879" h="190500">
                <a:moveTo>
                  <a:pt x="1551736" y="0"/>
                </a:moveTo>
                <a:lnTo>
                  <a:pt x="0" y="190195"/>
                </a:lnTo>
              </a:path>
              <a:path w="3103879" h="190500">
                <a:moveTo>
                  <a:pt x="1551736" y="0"/>
                </a:moveTo>
                <a:lnTo>
                  <a:pt x="3103473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901699" y="2388694"/>
            <a:ext cx="3647440" cy="838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??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recursion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fib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8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750">
              <a:latin typeface="Times New Roman"/>
              <a:cs typeface="Times New Roman"/>
            </a:endParaRPr>
          </a:p>
          <a:p>
            <a:pPr algn="r" marR="276225">
              <a:lnSpc>
                <a:spcPct val="100000"/>
              </a:lnSpc>
            </a:pPr>
            <a:r>
              <a:rPr dirty="0" sz="1200" spc="-45">
                <a:latin typeface="Times New Roman"/>
                <a:cs typeface="Times New Roman"/>
              </a:rPr>
              <a:t>fib(</a:t>
            </a:r>
            <a:r>
              <a:rPr dirty="0" sz="1200" spc="-45">
                <a:latin typeface="Lucida Sans Unicode"/>
                <a:cs typeface="Lucida Sans Unicode"/>
              </a:rPr>
              <a:t>8</a:t>
            </a:r>
            <a:r>
              <a:rPr dirty="0" sz="1200" spc="-4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14400" y="5649226"/>
            <a:ext cx="5791200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single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fib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Lucida Sans Unicode"/>
                <a:cs typeface="Lucida Sans Unicode"/>
              </a:rPr>
              <a:t>n</a:t>
            </a:r>
            <a:r>
              <a:rPr dirty="0" sz="1200" spc="10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 spc="-5">
                <a:latin typeface="Times New Roman"/>
                <a:cs typeface="Times New Roman"/>
              </a:rPr>
              <a:t> call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fib(</a:t>
            </a:r>
            <a:r>
              <a:rPr dirty="0" sz="1200" spc="-10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1</a:t>
            </a:r>
            <a:r>
              <a:rPr dirty="0" sz="1200" spc="-60">
                <a:latin typeface="Times New Roman"/>
                <a:cs typeface="Times New Roman"/>
              </a:rPr>
              <a:t>),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 spc="-5">
                <a:latin typeface="Times New Roman"/>
                <a:cs typeface="Times New Roman"/>
              </a:rPr>
              <a:t> calls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14412" y="5837351"/>
            <a:ext cx="4748530" cy="14033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85"/>
              </a:lnSpc>
            </a:pPr>
            <a:r>
              <a:rPr dirty="0" sz="1200" spc="-10">
                <a:latin typeface="Times New Roman"/>
                <a:cs typeface="Times New Roman"/>
              </a:rPr>
              <a:t>fib(</a:t>
            </a:r>
            <a:r>
              <a:rPr dirty="0" sz="1200" spc="-10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2</a:t>
            </a:r>
            <a:r>
              <a:rPr dirty="0" sz="1200" spc="-60">
                <a:latin typeface="Times New Roman"/>
                <a:cs typeface="Times New Roman"/>
              </a:rPr>
              <a:t>),</a:t>
            </a:r>
            <a:r>
              <a:rPr dirty="0" sz="1200" spc="-5">
                <a:latin typeface="Times New Roman"/>
                <a:cs typeface="Times New Roman"/>
              </a:rPr>
              <a:t> three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 spc="-5">
                <a:latin typeface="Times New Roman"/>
                <a:cs typeface="Times New Roman"/>
              </a:rPr>
              <a:t> calls to </a:t>
            </a:r>
            <a:r>
              <a:rPr dirty="0" sz="1200" spc="-10">
                <a:latin typeface="Times New Roman"/>
                <a:cs typeface="Times New Roman"/>
              </a:rPr>
              <a:t>fib(</a:t>
            </a:r>
            <a:r>
              <a:rPr dirty="0" sz="1200" spc="-10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3</a:t>
            </a:r>
            <a:r>
              <a:rPr dirty="0" sz="1200" spc="-60">
                <a:latin typeface="Times New Roman"/>
                <a:cs typeface="Times New Roman"/>
              </a:rPr>
              <a:t>),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calls to </a:t>
            </a:r>
            <a:r>
              <a:rPr dirty="0" sz="1200" spc="-20">
                <a:latin typeface="Times New Roman"/>
                <a:cs typeface="Times New Roman"/>
              </a:rPr>
              <a:t>fib(</a:t>
            </a:r>
            <a:r>
              <a:rPr dirty="0" sz="1200" spc="-20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4</a:t>
            </a:r>
            <a:r>
              <a:rPr dirty="0" sz="1200" spc="-8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650043" y="5780316"/>
            <a:ext cx="13296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and,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F</a:t>
            </a:r>
            <a:r>
              <a:rPr dirty="0" baseline="-13888" sz="1200" spc="-37">
                <a:latin typeface="Verdana"/>
                <a:cs typeface="Verdana"/>
              </a:rPr>
              <a:t>k−1</a:t>
            </a:r>
            <a:endParaRPr baseline="-13888" sz="1200">
              <a:latin typeface="Verdana"/>
              <a:cs typeface="Verdan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01714" y="5897133"/>
            <a:ext cx="6423660" cy="890269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fib(</a:t>
            </a:r>
            <a:r>
              <a:rPr dirty="0" sz="1200" spc="-10">
                <a:latin typeface="Lucida Sans Unicode"/>
                <a:cs typeface="Lucida Sans Unicode"/>
              </a:rPr>
              <a:t>n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0">
                <a:latin typeface="Garamond"/>
                <a:cs typeface="Garamond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we’re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recomputing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fibonacci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scratch.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avoid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unnecessary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repetitions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writing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looking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 again if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need them </a:t>
            </a:r>
            <a:r>
              <a:rPr dirty="0" sz="1200" spc="-15">
                <a:latin typeface="Times New Roman"/>
                <a:cs typeface="Times New Roman"/>
              </a:rPr>
              <a:t>later.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process is called </a:t>
            </a:r>
            <a:r>
              <a:rPr dirty="0" sz="1200" spc="-10" i="1">
                <a:latin typeface="Times New Roman"/>
                <a:cs typeface="Times New Roman"/>
              </a:rPr>
              <a:t>memoization</a:t>
            </a:r>
            <a:r>
              <a:rPr dirty="0" sz="1200" spc="-1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Here is </a:t>
            </a:r>
            <a:r>
              <a:rPr dirty="0" sz="1200" spc="-10">
                <a:latin typeface="Times New Roman"/>
                <a:cs typeface="Times New Roman"/>
              </a:rPr>
              <a:t>the algorithm with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memoization.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16971" y="7028656"/>
            <a:ext cx="5481955" cy="1350645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1270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10"/>
              </a:spcBef>
            </a:pPr>
            <a:r>
              <a:rPr dirty="0" sz="1200" spc="60">
                <a:latin typeface="Times New Roman"/>
                <a:cs typeface="Times New Roman"/>
              </a:rPr>
              <a:t>M</a:t>
            </a:r>
            <a:r>
              <a:rPr dirty="0" sz="950" spc="60">
                <a:latin typeface="Times New Roman"/>
                <a:cs typeface="Times New Roman"/>
              </a:rPr>
              <a:t>EMO</a:t>
            </a:r>
            <a:r>
              <a:rPr dirty="0" sz="1200" spc="60">
                <a:latin typeface="Times New Roman"/>
                <a:cs typeface="Times New Roman"/>
              </a:rPr>
              <a:t>F</a:t>
            </a:r>
            <a:r>
              <a:rPr dirty="0" sz="950" spc="60">
                <a:latin typeface="Times New Roman"/>
                <a:cs typeface="Times New Roman"/>
              </a:rPr>
              <a:t>IB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6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78105">
              <a:lnSpc>
                <a:spcPct val="100000"/>
              </a:lnSpc>
              <a:spcBef>
                <a:spcPts val="5"/>
              </a:spcBef>
              <a:tabLst>
                <a:tab pos="306070" algn="l"/>
              </a:tabLst>
            </a:pP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36880" indent="-35941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436245" algn="l"/>
                <a:tab pos="43751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5" b="1">
                <a:latin typeface="Times New Roman"/>
                <a:cs typeface="Times New Roman"/>
              </a:rPr>
              <a:t>return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306070" algn="l"/>
                <a:tab pos="30670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F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Garamond"/>
                <a:cs typeface="Garamond"/>
              </a:rPr>
              <a:t>]</a:t>
            </a:r>
            <a:r>
              <a:rPr dirty="0" sz="1200" spc="-2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undefined</a:t>
            </a:r>
            <a:r>
              <a:rPr dirty="0" sz="1200" spc="1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36880" indent="-35941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436245" algn="l"/>
                <a:tab pos="43751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 </a:t>
            </a:r>
            <a:r>
              <a:rPr dirty="0" sz="1200">
                <a:latin typeface="Lucida Sans Unicode"/>
                <a:cs typeface="Lucida Sans Unicode"/>
              </a:rPr>
              <a:t>F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n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55">
                <a:latin typeface="Times New Roman"/>
                <a:cs typeface="Times New Roman"/>
              </a:rPr>
              <a:t>M</a:t>
            </a:r>
            <a:r>
              <a:rPr dirty="0" sz="950" spc="55">
                <a:latin typeface="Times New Roman"/>
                <a:cs typeface="Times New Roman"/>
              </a:rPr>
              <a:t>EMO</a:t>
            </a:r>
            <a:r>
              <a:rPr dirty="0" sz="1200" spc="55">
                <a:latin typeface="Times New Roman"/>
                <a:cs typeface="Times New Roman"/>
              </a:rPr>
              <a:t>F</a:t>
            </a:r>
            <a:r>
              <a:rPr dirty="0" sz="950" spc="55">
                <a:latin typeface="Times New Roman"/>
                <a:cs typeface="Times New Roman"/>
              </a:rPr>
              <a:t>IB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55">
                <a:latin typeface="Times New Roman"/>
                <a:cs typeface="Times New Roman"/>
              </a:rPr>
              <a:t>M</a:t>
            </a:r>
            <a:r>
              <a:rPr dirty="0" sz="950" spc="55">
                <a:latin typeface="Times New Roman"/>
                <a:cs typeface="Times New Roman"/>
              </a:rPr>
              <a:t>EMO</a:t>
            </a:r>
            <a:r>
              <a:rPr dirty="0" sz="1200" spc="55">
                <a:latin typeface="Times New Roman"/>
                <a:cs typeface="Times New Roman"/>
              </a:rPr>
              <a:t>F</a:t>
            </a:r>
            <a:r>
              <a:rPr dirty="0" sz="950" spc="55">
                <a:latin typeface="Times New Roman"/>
                <a:cs typeface="Times New Roman"/>
              </a:rPr>
              <a:t>IB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2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306070" algn="l"/>
                <a:tab pos="30670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return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F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n</a:t>
            </a:r>
            <a:r>
              <a:rPr dirty="0" sz="1200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01696" y="8408644"/>
            <a:ext cx="6434455" cy="574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trace </a:t>
            </a:r>
            <a:r>
              <a:rPr dirty="0" sz="1200" spc="-10">
                <a:latin typeface="Times New Roman"/>
                <a:cs typeface="Times New Roman"/>
              </a:rPr>
              <a:t>through the recursive </a:t>
            </a:r>
            <a:r>
              <a:rPr dirty="0" sz="1200" spc="-5">
                <a:latin typeface="Times New Roman"/>
                <a:cs typeface="Times New Roman"/>
              </a:rPr>
              <a:t>calls to </a:t>
            </a:r>
            <a:r>
              <a:rPr dirty="0" sz="1200" spc="45">
                <a:latin typeface="Times New Roman"/>
                <a:cs typeface="Times New Roman"/>
              </a:rPr>
              <a:t>M</a:t>
            </a:r>
            <a:r>
              <a:rPr dirty="0" sz="950" spc="45">
                <a:latin typeface="Times New Roman"/>
                <a:cs typeface="Times New Roman"/>
              </a:rPr>
              <a:t>EMO</a:t>
            </a:r>
            <a:r>
              <a:rPr dirty="0" sz="1200" spc="45">
                <a:latin typeface="Times New Roman"/>
                <a:cs typeface="Times New Roman"/>
              </a:rPr>
              <a:t>F</a:t>
            </a:r>
            <a:r>
              <a:rPr dirty="0" sz="950" spc="45">
                <a:latin typeface="Times New Roman"/>
                <a:cs typeface="Times New Roman"/>
              </a:rPr>
              <a:t>IB</a:t>
            </a:r>
            <a:r>
              <a:rPr dirty="0" sz="1200" spc="45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find that array </a:t>
            </a:r>
            <a:r>
              <a:rPr dirty="0" sz="1200" spc="-15">
                <a:latin typeface="Lucida Sans Unicode"/>
                <a:cs typeface="Lucida Sans Unicode"/>
              </a:rPr>
              <a:t>F</a:t>
            </a:r>
            <a:r>
              <a:rPr dirty="0" sz="1200" spc="-15">
                <a:latin typeface="Garamond"/>
                <a:cs typeface="Garamond"/>
              </a:rPr>
              <a:t>[] </a:t>
            </a:r>
            <a:r>
              <a:rPr dirty="0" sz="1200" spc="-5">
                <a:latin typeface="Times New Roman"/>
                <a:cs typeface="Times New Roman"/>
              </a:rPr>
              <a:t>gets filled </a:t>
            </a:r>
            <a:r>
              <a:rPr dirty="0" sz="1200" spc="-10">
                <a:latin typeface="Times New Roman"/>
                <a:cs typeface="Times New Roman"/>
              </a:rPr>
              <a:t>from bottom up. </a:t>
            </a:r>
            <a:r>
              <a:rPr dirty="0" sz="1200" spc="-5">
                <a:latin typeface="Times New Roman"/>
                <a:cs typeface="Times New Roman"/>
              </a:rPr>
              <a:t>I.e.,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F</a:t>
            </a:r>
            <a:r>
              <a:rPr dirty="0" sz="1200" spc="-45">
                <a:latin typeface="Garamond"/>
                <a:cs typeface="Garamond"/>
              </a:rPr>
              <a:t>[</a:t>
            </a:r>
            <a:r>
              <a:rPr dirty="0" sz="1200" spc="-45">
                <a:latin typeface="Lucida Sans Unicode"/>
                <a:cs typeface="Lucida Sans Unicode"/>
              </a:rPr>
              <a:t>2</a:t>
            </a:r>
            <a:r>
              <a:rPr dirty="0" sz="1200" spc="-45">
                <a:latin typeface="Garamond"/>
                <a:cs typeface="Garamond"/>
              </a:rPr>
              <a:t>]</a:t>
            </a:r>
            <a:r>
              <a:rPr dirty="0" sz="1200" spc="-45">
                <a:latin typeface="Times New Roman"/>
                <a:cs typeface="Times New Roman"/>
              </a:rPr>
              <a:t>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F</a:t>
            </a:r>
            <a:r>
              <a:rPr dirty="0" sz="1200" spc="-45">
                <a:latin typeface="Garamond"/>
                <a:cs typeface="Garamond"/>
              </a:rPr>
              <a:t>[</a:t>
            </a:r>
            <a:r>
              <a:rPr dirty="0" sz="1200" spc="-45">
                <a:latin typeface="Lucida Sans Unicode"/>
                <a:cs typeface="Lucida Sans Unicode"/>
              </a:rPr>
              <a:t>3</a:t>
            </a:r>
            <a:r>
              <a:rPr dirty="0" sz="1200" spc="-45">
                <a:latin typeface="Garamond"/>
                <a:cs typeface="Garamond"/>
              </a:rPr>
              <a:t>]</a:t>
            </a:r>
            <a:r>
              <a:rPr dirty="0" sz="1200" spc="-45">
                <a:latin typeface="Times New Roman"/>
                <a:cs typeface="Times New Roman"/>
              </a:rPr>
              <a:t>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F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n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replace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recursion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for-loop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just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fills 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array </a:t>
            </a:r>
            <a:r>
              <a:rPr dirty="0" sz="1200" spc="-15">
                <a:latin typeface="Lucida Sans Unicode"/>
                <a:cs typeface="Lucida Sans Unicode"/>
              </a:rPr>
              <a:t>F</a:t>
            </a:r>
            <a:r>
              <a:rPr dirty="0" sz="1200" spc="-15">
                <a:latin typeface="Garamond"/>
                <a:cs typeface="Garamond"/>
              </a:rPr>
              <a:t>[]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that </a:t>
            </a:r>
            <a:r>
              <a:rPr dirty="0" sz="1200" spc="-20">
                <a:latin typeface="Times New Roman"/>
                <a:cs typeface="Times New Roman"/>
              </a:rPr>
              <a:t>order.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35799" y="8834704"/>
            <a:ext cx="1108710" cy="107950"/>
          </a:xfrm>
          <a:custGeom>
            <a:avLst/>
            <a:gdLst/>
            <a:ahLst/>
            <a:cxnLst/>
            <a:rect l="l" t="t" r="r" b="b"/>
            <a:pathLst>
              <a:path w="1108710" h="107950">
                <a:moveTo>
                  <a:pt x="1108278" y="0"/>
                </a:moveTo>
                <a:lnTo>
                  <a:pt x="0" y="0"/>
                </a:lnTo>
                <a:lnTo>
                  <a:pt x="0" y="107340"/>
                </a:lnTo>
                <a:lnTo>
                  <a:pt x="1108278" y="107340"/>
                </a:lnTo>
                <a:lnTo>
                  <a:pt x="1108278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135799" y="8514435"/>
            <a:ext cx="1067435" cy="138430"/>
          </a:xfrm>
          <a:custGeom>
            <a:avLst/>
            <a:gdLst/>
            <a:ahLst/>
            <a:cxnLst/>
            <a:rect l="l" t="t" r="r" b="b"/>
            <a:pathLst>
              <a:path w="1067435" h="138429">
                <a:moveTo>
                  <a:pt x="1067333" y="0"/>
                </a:moveTo>
                <a:lnTo>
                  <a:pt x="0" y="0"/>
                </a:lnTo>
                <a:lnTo>
                  <a:pt x="0" y="138010"/>
                </a:lnTo>
                <a:lnTo>
                  <a:pt x="1067333" y="138010"/>
                </a:lnTo>
                <a:lnTo>
                  <a:pt x="1067333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078306" y="6945782"/>
            <a:ext cx="1585595" cy="151130"/>
          </a:xfrm>
          <a:custGeom>
            <a:avLst/>
            <a:gdLst/>
            <a:ahLst/>
            <a:cxnLst/>
            <a:rect l="l" t="t" r="r" b="b"/>
            <a:pathLst>
              <a:path w="1585595" h="151129">
                <a:moveTo>
                  <a:pt x="1585137" y="0"/>
                </a:moveTo>
                <a:lnTo>
                  <a:pt x="0" y="0"/>
                </a:lnTo>
                <a:lnTo>
                  <a:pt x="0" y="151079"/>
                </a:lnTo>
                <a:lnTo>
                  <a:pt x="1585137" y="151079"/>
                </a:lnTo>
                <a:lnTo>
                  <a:pt x="1585137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01699" y="520987"/>
            <a:ext cx="223774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6.2.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DYNAMIC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1699" y="926454"/>
            <a:ext cx="39071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explicit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dynamic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programming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16971" y="1374616"/>
            <a:ext cx="5481955" cy="1534795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2540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20"/>
              </a:spcBef>
            </a:pPr>
            <a:r>
              <a:rPr dirty="0" sz="1200" spc="60">
                <a:latin typeface="Times New Roman"/>
                <a:cs typeface="Times New Roman"/>
              </a:rPr>
              <a:t>I</a:t>
            </a:r>
            <a:r>
              <a:rPr dirty="0" sz="950" spc="60">
                <a:latin typeface="Times New Roman"/>
                <a:cs typeface="Times New Roman"/>
              </a:rPr>
              <a:t>TER</a:t>
            </a:r>
            <a:r>
              <a:rPr dirty="0" sz="1200" spc="60">
                <a:latin typeface="Times New Roman"/>
                <a:cs typeface="Times New Roman"/>
              </a:rPr>
              <a:t>F</a:t>
            </a:r>
            <a:r>
              <a:rPr dirty="0" sz="950" spc="60">
                <a:latin typeface="Times New Roman"/>
                <a:cs typeface="Times New Roman"/>
              </a:rPr>
              <a:t>IB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6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78105">
              <a:lnSpc>
                <a:spcPct val="100000"/>
              </a:lnSpc>
              <a:spcBef>
                <a:spcPts val="5"/>
              </a:spcBef>
              <a:tabLst>
                <a:tab pos="306070" algn="l"/>
              </a:tabLst>
            </a:pPr>
            <a:r>
              <a:rPr dirty="0" sz="1200" spc="-5">
                <a:latin typeface="Times New Roman"/>
                <a:cs typeface="Times New Roman"/>
              </a:rPr>
              <a:t>1	</a:t>
            </a:r>
            <a:r>
              <a:rPr dirty="0" sz="1200" spc="-55">
                <a:latin typeface="Lucida Sans Unicode"/>
                <a:cs typeface="Lucida Sans Unicode"/>
              </a:rPr>
              <a:t>F</a:t>
            </a:r>
            <a:r>
              <a:rPr dirty="0" sz="1200" spc="-55">
                <a:latin typeface="Garamond"/>
                <a:cs typeface="Garamond"/>
              </a:rPr>
              <a:t>[</a:t>
            </a:r>
            <a:r>
              <a:rPr dirty="0" sz="1200" spc="-55">
                <a:latin typeface="Lucida Sans Unicode"/>
                <a:cs typeface="Lucida Sans Unicode"/>
              </a:rPr>
              <a:t>0</a:t>
            </a:r>
            <a:r>
              <a:rPr dirty="0" sz="1200" spc="-55">
                <a:latin typeface="Garamond"/>
                <a:cs typeface="Garamond"/>
              </a:rPr>
              <a:t>]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 marL="78105">
              <a:lnSpc>
                <a:spcPct val="100000"/>
              </a:lnSpc>
              <a:tabLst>
                <a:tab pos="306070" algn="l"/>
              </a:tabLst>
            </a:pPr>
            <a:r>
              <a:rPr dirty="0" sz="1200" spc="-5">
                <a:latin typeface="Times New Roman"/>
                <a:cs typeface="Times New Roman"/>
              </a:rPr>
              <a:t>2	</a:t>
            </a:r>
            <a:r>
              <a:rPr dirty="0" sz="1200" spc="-55">
                <a:latin typeface="Lucida Sans Unicode"/>
                <a:cs typeface="Lucida Sans Unicode"/>
              </a:rPr>
              <a:t>F</a:t>
            </a:r>
            <a:r>
              <a:rPr dirty="0" sz="1200" spc="-55">
                <a:latin typeface="Garamond"/>
                <a:cs typeface="Garamond"/>
              </a:rPr>
              <a:t>[</a:t>
            </a:r>
            <a:r>
              <a:rPr dirty="0" sz="1200" spc="-55">
                <a:latin typeface="Lucida Sans Unicode"/>
                <a:cs typeface="Lucida Sans Unicode"/>
              </a:rPr>
              <a:t>1</a:t>
            </a:r>
            <a:r>
              <a:rPr dirty="0" sz="1200" spc="-55">
                <a:latin typeface="Garamond"/>
                <a:cs typeface="Garamond"/>
              </a:rPr>
              <a:t>]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3"/>
              <a:tabLst>
                <a:tab pos="306070" algn="l"/>
                <a:tab pos="30670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3"/>
              <a:tabLst>
                <a:tab pos="306070" algn="l"/>
                <a:tab pos="30670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endParaRPr sz="1200">
              <a:latin typeface="Times New Roman"/>
              <a:cs typeface="Times New Roman"/>
            </a:endParaRPr>
          </a:p>
          <a:p>
            <a:pPr marL="78105">
              <a:lnSpc>
                <a:spcPct val="100000"/>
              </a:lnSpc>
              <a:spcBef>
                <a:spcPts val="5"/>
              </a:spcBef>
              <a:tabLst>
                <a:tab pos="504190" algn="l"/>
              </a:tabLst>
            </a:pPr>
            <a:r>
              <a:rPr dirty="0" sz="1200" spc="-5">
                <a:latin typeface="Times New Roman"/>
                <a:cs typeface="Times New Roman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Lucida Sans Unicode"/>
                <a:cs typeface="Lucida Sans Unicode"/>
              </a:rPr>
              <a:t>F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F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F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78105">
              <a:lnSpc>
                <a:spcPct val="100000"/>
              </a:lnSpc>
              <a:spcBef>
                <a:spcPts val="5"/>
              </a:spcBef>
              <a:tabLst>
                <a:tab pos="306070" algn="l"/>
              </a:tabLst>
            </a:pPr>
            <a:r>
              <a:rPr dirty="0" sz="1200" spc="-5">
                <a:latin typeface="Times New Roman"/>
                <a:cs typeface="Times New Roman"/>
              </a:rPr>
              <a:t>6	</a:t>
            </a:r>
            <a:r>
              <a:rPr dirty="0" sz="1200" spc="-15" b="1">
                <a:latin typeface="Times New Roman"/>
                <a:cs typeface="Times New Roman"/>
              </a:rPr>
              <a:t>return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F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n</a:t>
            </a:r>
            <a:r>
              <a:rPr dirty="0" sz="1200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76299" y="2939048"/>
            <a:ext cx="64477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clearly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O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</a:t>
            </a:r>
            <a:r>
              <a:rPr dirty="0" sz="1200" spc="7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F</a:t>
            </a:r>
            <a:r>
              <a:rPr dirty="0" baseline="-13888" sz="1200" spc="30">
                <a:latin typeface="Verdana"/>
                <a:cs typeface="Verdana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contrast,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original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207464" y="3049436"/>
            <a:ext cx="1155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0">
                <a:latin typeface="Cambria"/>
                <a:cs typeface="Cambria"/>
              </a:rPr>
              <a:t>√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2310383" y="3158744"/>
            <a:ext cx="55244" cy="5080"/>
          </a:xfrm>
          <a:custGeom>
            <a:avLst/>
            <a:gdLst/>
            <a:ahLst/>
            <a:cxnLst/>
            <a:rect l="l" t="t" r="r" b="b"/>
            <a:pathLst>
              <a:path w="55244" h="5080">
                <a:moveTo>
                  <a:pt x="54749" y="0"/>
                </a:moveTo>
                <a:lnTo>
                  <a:pt x="0" y="0"/>
                </a:lnTo>
                <a:lnTo>
                  <a:pt x="0" y="4571"/>
                </a:lnTo>
                <a:lnTo>
                  <a:pt x="54749" y="4571"/>
                </a:lnTo>
                <a:lnTo>
                  <a:pt x="547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1534694" y="3140305"/>
            <a:ext cx="8515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1180" algn="l"/>
              </a:tabLst>
            </a:pPr>
            <a:r>
              <a:rPr dirty="0" sz="800" spc="140">
                <a:latin typeface="Verdana"/>
                <a:cs typeface="Verdana"/>
              </a:rPr>
              <a:t>n	</a:t>
            </a:r>
            <a:r>
              <a:rPr dirty="0" baseline="3472" sz="1200" spc="-30">
                <a:latin typeface="Verdana"/>
                <a:cs typeface="Verdana"/>
              </a:rPr>
              <a:t>1+</a:t>
            </a:r>
            <a:r>
              <a:rPr dirty="0" baseline="3472" sz="1200" spc="397">
                <a:latin typeface="Verdana"/>
                <a:cs typeface="Verdana"/>
              </a:rPr>
              <a:t> </a:t>
            </a:r>
            <a:r>
              <a:rPr dirty="0" baseline="3472" sz="1200" spc="-15">
                <a:latin typeface="Verdana"/>
                <a:cs typeface="Verdana"/>
              </a:rPr>
              <a:t>5</a:t>
            </a:r>
            <a:endParaRPr baseline="3472" sz="1200">
              <a:latin typeface="Verdana"/>
              <a:cs typeface="Verdana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2086355" y="3268396"/>
            <a:ext cx="278765" cy="6350"/>
          </a:xfrm>
          <a:custGeom>
            <a:avLst/>
            <a:gdLst/>
            <a:ahLst/>
            <a:cxnLst/>
            <a:rect l="l" t="t" r="r" b="b"/>
            <a:pathLst>
              <a:path w="278764" h="6350">
                <a:moveTo>
                  <a:pt x="278434" y="0"/>
                </a:moveTo>
                <a:lnTo>
                  <a:pt x="0" y="0"/>
                </a:lnTo>
                <a:lnTo>
                  <a:pt x="0" y="6171"/>
                </a:lnTo>
                <a:lnTo>
                  <a:pt x="278434" y="6171"/>
                </a:lnTo>
                <a:lnTo>
                  <a:pt x="27843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2185288" y="3247747"/>
            <a:ext cx="88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72653" y="3144788"/>
            <a:ext cx="12680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48665" algn="l"/>
              </a:tabLst>
            </a:pP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 spc="-55">
                <a:latin typeface="Lucida Sans Unicode"/>
                <a:cs typeface="Lucida Sans Unicode"/>
              </a:rPr>
              <a:t>φ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	</a:t>
            </a:r>
            <a:r>
              <a:rPr dirty="0" sz="1200" spc="80">
                <a:latin typeface="Segoe UI Symbol"/>
                <a:cs typeface="Segoe UI Symbol"/>
              </a:rPr>
              <a:t>≈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40">
                <a:latin typeface="Lucida Sans Unicode"/>
                <a:cs typeface="Lucida Sans Unicode"/>
              </a:rPr>
              <a:t>1.618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915093" y="3144788"/>
            <a:ext cx="4290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Times New Roman"/>
                <a:cs typeface="Times New Roman"/>
              </a:rPr>
              <a:t>I</a:t>
            </a:r>
            <a:r>
              <a:rPr dirty="0" sz="950" spc="45">
                <a:latin typeface="Times New Roman"/>
                <a:cs typeface="Times New Roman"/>
              </a:rPr>
              <a:t>TER</a:t>
            </a:r>
            <a:r>
              <a:rPr dirty="0" sz="1200" spc="45">
                <a:latin typeface="Times New Roman"/>
                <a:cs typeface="Times New Roman"/>
              </a:rPr>
              <a:t>F</a:t>
            </a:r>
            <a:r>
              <a:rPr dirty="0" sz="950" spc="45">
                <a:latin typeface="Times New Roman"/>
                <a:cs typeface="Times New Roman"/>
              </a:rPr>
              <a:t>IB</a:t>
            </a:r>
            <a:r>
              <a:rPr dirty="0" sz="950" spc="9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achieves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exponential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speedup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original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01699" y="3144788"/>
            <a:ext cx="79692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Θ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φ</a:t>
            </a:r>
            <a:r>
              <a:rPr dirty="0" sz="1200" spc="195">
                <a:latin typeface="Lucida Sans Unicode"/>
                <a:cs typeface="Lucida Sans Unicode"/>
              </a:rPr>
              <a:t> 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10">
                <a:latin typeface="Times New Roman"/>
                <a:cs typeface="Times New Roman"/>
              </a:rPr>
              <a:t>algorithm.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01699" y="3855564"/>
            <a:ext cx="6307455" cy="86614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6.2	Dynamic</a:t>
            </a:r>
            <a:r>
              <a:rPr dirty="0" sz="1700" spc="-2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Programming</a:t>
            </a:r>
            <a:endParaRPr sz="17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1675"/>
              </a:spcBef>
            </a:pPr>
            <a:r>
              <a:rPr dirty="0" sz="1200" spc="-10">
                <a:latin typeface="Times New Roman"/>
                <a:cs typeface="Times New Roman"/>
              </a:rPr>
              <a:t>Dynamic programming </a:t>
            </a:r>
            <a:r>
              <a:rPr dirty="0" sz="1200" spc="-5">
                <a:latin typeface="Times New Roman"/>
                <a:cs typeface="Times New Roman"/>
              </a:rPr>
              <a:t>is essentially recursion </a:t>
            </a:r>
            <a:r>
              <a:rPr dirty="0" sz="1200" spc="-10">
                <a:latin typeface="Times New Roman"/>
                <a:cs typeface="Times New Roman"/>
              </a:rPr>
              <a:t>without repetition.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Developing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dynamic programming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generally </a:t>
            </a:r>
            <a:r>
              <a:rPr dirty="0" sz="1200" spc="-20">
                <a:latin typeface="Times New Roman"/>
                <a:cs typeface="Times New Roman"/>
              </a:rPr>
              <a:t>involves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separate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135799" y="4956848"/>
            <a:ext cx="569277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 marL="149860" indent="-151130">
              <a:lnSpc>
                <a:spcPts val="1070"/>
              </a:lnSpc>
              <a:buFont typeface="Segoe UI Symbol"/>
              <a:buChar char="•"/>
              <a:tabLst>
                <a:tab pos="150495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Formulate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problem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recursively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down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whole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286103" y="5140299"/>
            <a:ext cx="2943860" cy="13779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combination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smaller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subproblems.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135799" y="5460568"/>
            <a:ext cx="612330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 marL="149860" indent="-151130">
              <a:lnSpc>
                <a:spcPts val="1070"/>
              </a:lnSpc>
              <a:buFont typeface="Segoe UI Symbol"/>
              <a:buChar char="•"/>
              <a:tabLst>
                <a:tab pos="15049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Build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solution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recurrence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15" b="1">
                <a:latin typeface="Times New Roman"/>
                <a:cs typeface="Times New Roman"/>
              </a:rPr>
              <a:t>from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bottom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up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Write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286103" y="5644134"/>
            <a:ext cx="229552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works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 spc="-10">
                <a:latin typeface="Times New Roman"/>
                <a:cs typeface="Times New Roman"/>
              </a:rPr>
              <a:t>way </a:t>
            </a:r>
            <a:r>
              <a:rPr dirty="0" sz="1200" spc="-5">
                <a:latin typeface="Times New Roman"/>
                <a:cs typeface="Times New Roman"/>
              </a:rPr>
              <a:t>up to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final </a:t>
            </a:r>
            <a:r>
              <a:rPr dirty="0" sz="1200" spc="-10">
                <a:latin typeface="Times New Roman"/>
                <a:cs typeface="Times New Roman"/>
              </a:rPr>
              <a:t>solution.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01698" y="5968568"/>
            <a:ext cx="6381750" cy="3014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1447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Dynamic programming algorithms </a:t>
            </a:r>
            <a:r>
              <a:rPr dirty="0" sz="1200" spc="-5">
                <a:latin typeface="Times New Roman"/>
                <a:cs typeface="Times New Roman"/>
              </a:rPr>
              <a:t>need to store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results of </a:t>
            </a:r>
            <a:r>
              <a:rPr dirty="0" sz="1200" spc="-10">
                <a:latin typeface="Times New Roman"/>
                <a:cs typeface="Times New Roman"/>
              </a:rPr>
              <a:t>intermediate subproblems. </a:t>
            </a:r>
            <a:r>
              <a:rPr dirty="0" sz="1200" spc="-5">
                <a:latin typeface="Times New Roman"/>
                <a:cs typeface="Times New Roman"/>
              </a:rPr>
              <a:t>This is often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but </a:t>
            </a:r>
            <a:r>
              <a:rPr dirty="0" sz="1200" spc="-10" i="1">
                <a:latin typeface="Times New Roman"/>
                <a:cs typeface="Times New Roman"/>
              </a:rPr>
              <a:t>not </a:t>
            </a:r>
            <a:r>
              <a:rPr dirty="0" sz="1200" spc="-5" i="1">
                <a:latin typeface="Times New Roman"/>
                <a:cs typeface="Times New Roman"/>
              </a:rPr>
              <a:t>always </a:t>
            </a:r>
            <a:r>
              <a:rPr dirty="0" sz="1200" spc="-10">
                <a:latin typeface="Times New Roman"/>
                <a:cs typeface="Times New Roman"/>
              </a:rPr>
              <a:t>done with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 spc="-10">
                <a:latin typeface="Times New Roman"/>
                <a:cs typeface="Times New Roman"/>
              </a:rPr>
              <a:t>kind </a:t>
            </a:r>
            <a:r>
              <a:rPr dirty="0" sz="1200" spc="-5">
                <a:latin typeface="Times New Roman"/>
                <a:cs typeface="Times New Roman"/>
              </a:rPr>
              <a:t>of table.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15">
                <a:latin typeface="Times New Roman"/>
                <a:cs typeface="Times New Roman"/>
              </a:rPr>
              <a:t>now </a:t>
            </a:r>
            <a:r>
              <a:rPr dirty="0" sz="1200" spc="-10">
                <a:latin typeface="Times New Roman"/>
                <a:cs typeface="Times New Roman"/>
              </a:rPr>
              <a:t>cover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number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examples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problems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-5">
                <a:latin typeface="Times New Roman"/>
                <a:cs typeface="Times New Roman"/>
              </a:rPr>
              <a:t> is based 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strategy.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Times New Roman"/>
              <a:cs typeface="Times New Roman"/>
            </a:endParaRPr>
          </a:p>
          <a:p>
            <a:pPr lvl="1" marL="504190" indent="-492125">
              <a:lnSpc>
                <a:spcPct val="100000"/>
              </a:lnSpc>
              <a:spcBef>
                <a:spcPts val="5"/>
              </a:spcBef>
              <a:buAutoNum type="arabicPeriod" startAt="3"/>
              <a:tabLst>
                <a:tab pos="504190" algn="l"/>
                <a:tab pos="504825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Edit</a:t>
            </a:r>
            <a:r>
              <a:rPr dirty="0" sz="1700" spc="-3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Distance</a:t>
            </a:r>
            <a:endParaRPr sz="17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167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“computer”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“commuter”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similar,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change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letter,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p-¿m,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 change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 spc="-10">
                <a:latin typeface="Times New Roman"/>
                <a:cs typeface="Times New Roman"/>
              </a:rPr>
              <a:t>word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second.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word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“sport”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changed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“sort”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deletion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‘p’,</a:t>
            </a:r>
            <a:r>
              <a:rPr dirty="0" sz="1200" spc="-5">
                <a:latin typeface="Times New Roman"/>
                <a:cs typeface="Times New Roman"/>
              </a:rPr>
              <a:t>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equivalently,</a:t>
            </a:r>
            <a:r>
              <a:rPr dirty="0" sz="1200" spc="-5">
                <a:latin typeface="Times New Roman"/>
                <a:cs typeface="Times New Roman"/>
              </a:rPr>
              <a:t> ‘sort’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changed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‘sport’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insertion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‘p’.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edit distance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 strings, s1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s2,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defined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mutations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change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s1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s2,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a </a:t>
            </a:r>
            <a:r>
              <a:rPr dirty="0" sz="1200" spc="-10">
                <a:latin typeface="Times New Roman"/>
                <a:cs typeface="Times New Roman"/>
              </a:rPr>
              <a:t>point mutation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of: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350">
              <a:latin typeface="Times New Roman"/>
              <a:cs typeface="Times New Roman"/>
            </a:endParaRPr>
          </a:p>
          <a:p>
            <a:pPr lvl="2" marL="384175" indent="-151130">
              <a:lnSpc>
                <a:spcPct val="100000"/>
              </a:lnSpc>
              <a:buFont typeface="Segoe UI Symbol"/>
              <a:buChar char="•"/>
              <a:tabLst>
                <a:tab pos="384810" algn="l"/>
              </a:tabLst>
            </a:pPr>
            <a:r>
              <a:rPr dirty="0" sz="1200" spc="-5">
                <a:latin typeface="Times New Roman"/>
                <a:cs typeface="Times New Roman"/>
              </a:rPr>
              <a:t>change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letter,</a:t>
            </a:r>
            <a:endParaRPr sz="1200">
              <a:latin typeface="Times New Roman"/>
              <a:cs typeface="Times New Roman"/>
            </a:endParaRPr>
          </a:p>
          <a:p>
            <a:pPr lvl="2" marL="384175" indent="-151130">
              <a:lnSpc>
                <a:spcPct val="100000"/>
              </a:lnSpc>
              <a:spcBef>
                <a:spcPts val="1080"/>
              </a:spcBef>
              <a:buFont typeface="Segoe UI Symbol"/>
              <a:buChar char="•"/>
              <a:tabLst>
                <a:tab pos="384810" algn="l"/>
              </a:tabLst>
            </a:pPr>
            <a:r>
              <a:rPr dirty="0" sz="1200" spc="-5">
                <a:latin typeface="Times New Roman"/>
                <a:cs typeface="Times New Roman"/>
              </a:rPr>
              <a:t>insert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35799" y="7103516"/>
            <a:ext cx="776605" cy="138430"/>
          </a:xfrm>
          <a:custGeom>
            <a:avLst/>
            <a:gdLst/>
            <a:ahLst/>
            <a:cxnLst/>
            <a:rect l="l" t="t" r="r" b="b"/>
            <a:pathLst>
              <a:path w="776605" h="138429">
                <a:moveTo>
                  <a:pt x="776414" y="0"/>
                </a:moveTo>
                <a:lnTo>
                  <a:pt x="0" y="0"/>
                </a:lnTo>
                <a:lnTo>
                  <a:pt x="0" y="138010"/>
                </a:lnTo>
                <a:lnTo>
                  <a:pt x="776414" y="138010"/>
                </a:lnTo>
                <a:lnTo>
                  <a:pt x="776414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135799" y="6772503"/>
            <a:ext cx="805815" cy="138430"/>
          </a:xfrm>
          <a:custGeom>
            <a:avLst/>
            <a:gdLst/>
            <a:ahLst/>
            <a:cxnLst/>
            <a:rect l="l" t="t" r="r" b="b"/>
            <a:pathLst>
              <a:path w="805814" h="138429">
                <a:moveTo>
                  <a:pt x="805789" y="0"/>
                </a:moveTo>
                <a:lnTo>
                  <a:pt x="0" y="0"/>
                </a:lnTo>
                <a:lnTo>
                  <a:pt x="0" y="138010"/>
                </a:lnTo>
                <a:lnTo>
                  <a:pt x="805789" y="138010"/>
                </a:lnTo>
                <a:lnTo>
                  <a:pt x="805789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135799" y="6441376"/>
            <a:ext cx="791210" cy="138430"/>
          </a:xfrm>
          <a:custGeom>
            <a:avLst/>
            <a:gdLst/>
            <a:ahLst/>
            <a:cxnLst/>
            <a:rect l="l" t="t" r="r" b="b"/>
            <a:pathLst>
              <a:path w="791210" h="138429">
                <a:moveTo>
                  <a:pt x="791044" y="0"/>
                </a:moveTo>
                <a:lnTo>
                  <a:pt x="0" y="0"/>
                </a:lnTo>
                <a:lnTo>
                  <a:pt x="0" y="138010"/>
                </a:lnTo>
                <a:lnTo>
                  <a:pt x="791044" y="138010"/>
                </a:lnTo>
                <a:lnTo>
                  <a:pt x="791044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135799" y="6110363"/>
            <a:ext cx="782955" cy="107950"/>
          </a:xfrm>
          <a:custGeom>
            <a:avLst/>
            <a:gdLst/>
            <a:ahLst/>
            <a:cxnLst/>
            <a:rect l="l" t="t" r="r" b="b"/>
            <a:pathLst>
              <a:path w="782955" h="107950">
                <a:moveTo>
                  <a:pt x="782586" y="0"/>
                </a:moveTo>
                <a:lnTo>
                  <a:pt x="0" y="0"/>
                </a:lnTo>
                <a:lnTo>
                  <a:pt x="0" y="107353"/>
                </a:lnTo>
                <a:lnTo>
                  <a:pt x="782586" y="107353"/>
                </a:lnTo>
                <a:lnTo>
                  <a:pt x="782586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914400" y="4984280"/>
            <a:ext cx="2357755" cy="138430"/>
          </a:xfrm>
          <a:custGeom>
            <a:avLst/>
            <a:gdLst/>
            <a:ahLst/>
            <a:cxnLst/>
            <a:rect l="l" t="t" r="r" b="b"/>
            <a:pathLst>
              <a:path w="2357754" h="138429">
                <a:moveTo>
                  <a:pt x="2357551" y="0"/>
                </a:moveTo>
                <a:lnTo>
                  <a:pt x="0" y="0"/>
                </a:lnTo>
                <a:lnTo>
                  <a:pt x="0" y="138023"/>
                </a:lnTo>
                <a:lnTo>
                  <a:pt x="2357551" y="138023"/>
                </a:lnTo>
                <a:lnTo>
                  <a:pt x="2357551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3536315" y="3503980"/>
            <a:ext cx="3150870" cy="138430"/>
          </a:xfrm>
          <a:custGeom>
            <a:avLst/>
            <a:gdLst/>
            <a:ahLst/>
            <a:cxnLst/>
            <a:rect l="l" t="t" r="r" b="b"/>
            <a:pathLst>
              <a:path w="3150870" h="138429">
                <a:moveTo>
                  <a:pt x="3150450" y="0"/>
                </a:moveTo>
                <a:lnTo>
                  <a:pt x="0" y="0"/>
                </a:lnTo>
                <a:lnTo>
                  <a:pt x="0" y="138023"/>
                </a:lnTo>
                <a:lnTo>
                  <a:pt x="3150450" y="138023"/>
                </a:lnTo>
                <a:lnTo>
                  <a:pt x="3150450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6672821" y="3320529"/>
            <a:ext cx="42545" cy="138430"/>
          </a:xfrm>
          <a:custGeom>
            <a:avLst/>
            <a:gdLst/>
            <a:ahLst/>
            <a:cxnLst/>
            <a:rect l="l" t="t" r="r" b="b"/>
            <a:pathLst>
              <a:path w="42545" h="138429">
                <a:moveTo>
                  <a:pt x="42202" y="0"/>
                </a:moveTo>
                <a:lnTo>
                  <a:pt x="0" y="0"/>
                </a:lnTo>
                <a:lnTo>
                  <a:pt x="0" y="138023"/>
                </a:lnTo>
                <a:lnTo>
                  <a:pt x="42202" y="138023"/>
                </a:lnTo>
                <a:lnTo>
                  <a:pt x="42202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1135799" y="985608"/>
            <a:ext cx="969644" cy="107950"/>
          </a:xfrm>
          <a:custGeom>
            <a:avLst/>
            <a:gdLst/>
            <a:ahLst/>
            <a:cxnLst/>
            <a:rect l="l" t="t" r="r" b="b"/>
            <a:pathLst>
              <a:path w="969644" h="107950">
                <a:moveTo>
                  <a:pt x="969060" y="0"/>
                </a:moveTo>
                <a:lnTo>
                  <a:pt x="0" y="0"/>
                </a:lnTo>
                <a:lnTo>
                  <a:pt x="0" y="107353"/>
                </a:lnTo>
                <a:lnTo>
                  <a:pt x="969060" y="107353"/>
                </a:lnTo>
                <a:lnTo>
                  <a:pt x="969060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474830" y="520987"/>
            <a:ext cx="285369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DYNAMIC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50899" y="926454"/>
            <a:ext cx="5564505" cy="20453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34975" indent="-151130">
              <a:lnSpc>
                <a:spcPct val="100000"/>
              </a:lnSpc>
              <a:spcBef>
                <a:spcPts val="95"/>
              </a:spcBef>
              <a:buFont typeface="Segoe UI Symbol"/>
              <a:buChar char="•"/>
              <a:tabLst>
                <a:tab pos="435609" algn="l"/>
              </a:tabLst>
            </a:pPr>
            <a:r>
              <a:rPr dirty="0" sz="1200" spc="-5">
                <a:latin typeface="Times New Roman"/>
                <a:cs typeface="Times New Roman"/>
              </a:rPr>
              <a:t>delete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letter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645"/>
              </a:spcBef>
            </a:pP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edit distance between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FOOD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5" i="1">
                <a:latin typeface="Times New Roman"/>
                <a:cs typeface="Times New Roman"/>
              </a:rPr>
              <a:t>MONEY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at 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four: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Times New Roman"/>
              <a:cs typeface="Times New Roman"/>
            </a:endParaRPr>
          </a:p>
          <a:p>
            <a:pPr algn="ctr" marL="66675">
              <a:lnSpc>
                <a:spcPct val="100000"/>
              </a:lnSpc>
            </a:pPr>
            <a:r>
              <a:rPr dirty="0" u="sng" sz="1200" spc="2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F</a:t>
            </a:r>
            <a:r>
              <a:rPr dirty="0" sz="1200" spc="20">
                <a:latin typeface="Lucida Sans Unicode"/>
                <a:cs typeface="Lucida Sans Unicode"/>
              </a:rPr>
              <a:t>OOD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Segoe UI Symbol"/>
                <a:cs typeface="Segoe UI Symbol"/>
              </a:rPr>
              <a:t>−</a:t>
            </a:r>
            <a:r>
              <a:rPr dirty="0" sz="1200" spc="-15">
                <a:latin typeface="Lucida Sans Unicode"/>
                <a:cs typeface="Lucida Sans Unicode"/>
              </a:rPr>
              <a:t>→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MO</a:t>
            </a:r>
            <a:r>
              <a:rPr dirty="0" u="sng" sz="1200" spc="9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O</a:t>
            </a:r>
            <a:r>
              <a:rPr dirty="0" sz="1200" spc="90">
                <a:latin typeface="Lucida Sans Unicode"/>
                <a:cs typeface="Lucida Sans Unicode"/>
              </a:rPr>
              <a:t>D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Segoe UI Symbol"/>
                <a:cs typeface="Segoe UI Symbol"/>
              </a:rPr>
              <a:t>−</a:t>
            </a:r>
            <a:r>
              <a:rPr dirty="0" sz="1200" spc="-15">
                <a:latin typeface="Lucida Sans Unicode"/>
                <a:cs typeface="Lucida Sans Unicode"/>
              </a:rPr>
              <a:t>→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MON</a:t>
            </a:r>
            <a:r>
              <a:rPr dirty="0" baseline="-25462" sz="1800" spc="104">
                <a:latin typeface="Verdana"/>
                <a:cs typeface="Verdana"/>
              </a:rPr>
              <a:t>Ω</a:t>
            </a:r>
            <a:r>
              <a:rPr dirty="0" sz="1200" spc="70">
                <a:latin typeface="Lucida Sans Unicode"/>
                <a:cs typeface="Lucida Sans Unicode"/>
              </a:rPr>
              <a:t>D</a:t>
            </a:r>
            <a:endParaRPr sz="1200">
              <a:latin typeface="Lucida Sans Unicode"/>
              <a:cs typeface="Lucida Sans Unicode"/>
            </a:endParaRPr>
          </a:p>
          <a:p>
            <a:pPr algn="ctr" marL="2299335">
              <a:lnSpc>
                <a:spcPct val="100000"/>
              </a:lnSpc>
              <a:spcBef>
                <a:spcPts val="505"/>
              </a:spcBef>
            </a:pPr>
            <a:r>
              <a:rPr dirty="0" sz="1200" spc="-15">
                <a:latin typeface="Segoe UI Symbol"/>
                <a:cs typeface="Segoe UI Symbol"/>
              </a:rPr>
              <a:t>−</a:t>
            </a:r>
            <a:r>
              <a:rPr dirty="0" sz="1200" spc="-15">
                <a:latin typeface="Lucida Sans Unicode"/>
                <a:cs typeface="Lucida Sans Unicode"/>
              </a:rPr>
              <a:t>→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MONE</a:t>
            </a:r>
            <a:r>
              <a:rPr dirty="0" u="sng" sz="1200" spc="10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D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Segoe UI Symbol"/>
                <a:cs typeface="Segoe UI Symbol"/>
              </a:rPr>
              <a:t>−</a:t>
            </a:r>
            <a:r>
              <a:rPr dirty="0" sz="1200" spc="-15">
                <a:latin typeface="Lucida Sans Unicode"/>
                <a:cs typeface="Lucida Sans Unicode"/>
              </a:rPr>
              <a:t>→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MONEY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Lucida Sans Unicode"/>
              <a:cs typeface="Lucida Sans Unicode"/>
            </a:endParaRPr>
          </a:p>
          <a:p>
            <a:pPr marL="63500">
              <a:lnSpc>
                <a:spcPct val="100000"/>
              </a:lnSpc>
              <a:tabLst>
                <a:tab pos="6096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6.3.1	Edit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Distance:</a:t>
            </a:r>
            <a:r>
              <a:rPr dirty="0" sz="1400" spc="90" b="1">
                <a:latin typeface="Times New Roman"/>
                <a:cs typeface="Times New Roman"/>
              </a:rPr>
              <a:t> </a:t>
            </a:r>
            <a:r>
              <a:rPr dirty="0" sz="1400" spc="5" b="1">
                <a:latin typeface="Times New Roman"/>
                <a:cs typeface="Times New Roman"/>
              </a:rPr>
              <a:t>Applications</a:t>
            </a:r>
            <a:endParaRPr sz="14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325"/>
              </a:spcBef>
            </a:pP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numerous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applications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14400" y="3074136"/>
            <a:ext cx="1266825" cy="13589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50"/>
              </a:lnSpc>
            </a:pPr>
            <a:r>
              <a:rPr dirty="0" sz="1200" spc="-5" b="1">
                <a:latin typeface="Times New Roman"/>
                <a:cs typeface="Times New Roman"/>
              </a:rPr>
              <a:t>Spelling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Correction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01699" y="3261374"/>
            <a:ext cx="6315075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If a </a:t>
            </a:r>
            <a:r>
              <a:rPr dirty="0" sz="1200" spc="-10">
                <a:latin typeface="Times New Roman"/>
                <a:cs typeface="Times New Roman"/>
              </a:rPr>
              <a:t>text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contains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word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dictionary,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‘close’ </a:t>
            </a:r>
            <a:r>
              <a:rPr dirty="0" sz="1200" spc="-10">
                <a:latin typeface="Times New Roman"/>
                <a:cs typeface="Times New Roman"/>
              </a:rPr>
              <a:t>word,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i.e.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 edit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suggested as a correction.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-10">
                <a:latin typeface="Times New Roman"/>
                <a:cs typeface="Times New Roman"/>
              </a:rPr>
              <a:t> word</a:t>
            </a:r>
            <a:r>
              <a:rPr dirty="0" sz="1200" spc="-5">
                <a:latin typeface="Times New Roman"/>
                <a:cs typeface="Times New Roman"/>
              </a:rPr>
              <a:t> processing applications, such as Microsoft </a:t>
            </a:r>
            <a:r>
              <a:rPr dirty="0" sz="1200" spc="-30">
                <a:latin typeface="Times New Roman"/>
                <a:cs typeface="Times New Roman"/>
              </a:rPr>
              <a:t>Word,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spelling checking and correction </a:t>
            </a:r>
            <a:r>
              <a:rPr dirty="0" sz="1200" spc="-15">
                <a:latin typeface="Times New Roman"/>
                <a:cs typeface="Times New Roman"/>
              </a:rPr>
              <a:t>facility.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 spc="-30">
                <a:latin typeface="Times New Roman"/>
                <a:cs typeface="Times New Roman"/>
              </a:rPr>
              <a:t>Word, </a:t>
            </a:r>
            <a:r>
              <a:rPr dirty="0" sz="1200" spc="-10">
                <a:latin typeface="Times New Roman"/>
                <a:cs typeface="Times New Roman"/>
              </a:rPr>
              <a:t>for example, </a:t>
            </a:r>
            <a:r>
              <a:rPr dirty="0" sz="1200" spc="-5">
                <a:latin typeface="Times New Roman"/>
                <a:cs typeface="Times New Roman"/>
              </a:rPr>
              <a:t>finds an incorrectly spelled </a:t>
            </a:r>
            <a:r>
              <a:rPr dirty="0" sz="1200" spc="-10">
                <a:latin typeface="Times New Roman"/>
                <a:cs typeface="Times New Roman"/>
              </a:rPr>
              <a:t>word, </a:t>
            </a: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makes suggestions</a:t>
            </a:r>
            <a:r>
              <a:rPr dirty="0" sz="1200" spc="-5">
                <a:latin typeface="Times New Roman"/>
                <a:cs typeface="Times New Roman"/>
              </a:rPr>
              <a:t> of possible replacements.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14400" y="4122153"/>
            <a:ext cx="1353820" cy="13589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50"/>
              </a:lnSpc>
            </a:pPr>
            <a:r>
              <a:rPr dirty="0" sz="1200" spc="-10" b="1">
                <a:latin typeface="Times New Roman"/>
                <a:cs typeface="Times New Roman"/>
              </a:rPr>
              <a:t>Plagiarism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Detection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01699" y="4309390"/>
            <a:ext cx="6425565" cy="1007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4000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someone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copies, </a:t>
            </a:r>
            <a:r>
              <a:rPr dirty="0" sz="1200" spc="-25">
                <a:latin typeface="Times New Roman"/>
                <a:cs typeface="Times New Roman"/>
              </a:rPr>
              <a:t>say,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makes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5">
                <a:latin typeface="Times New Roman"/>
                <a:cs typeface="Times New Roman"/>
              </a:rPr>
              <a:t>few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changes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there,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 spc="-5">
                <a:latin typeface="Times New Roman"/>
                <a:cs typeface="Times New Roman"/>
              </a:rPr>
              <a:t> change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variable</a:t>
            </a:r>
            <a:r>
              <a:rPr dirty="0" sz="1200" spc="-5">
                <a:latin typeface="Times New Roman"/>
                <a:cs typeface="Times New Roman"/>
              </a:rPr>
              <a:t> names, add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comment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two,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edit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 between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source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copy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edit distance </a:t>
            </a:r>
            <a:r>
              <a:rPr dirty="0" sz="1200" spc="-10">
                <a:latin typeface="Times New Roman"/>
                <a:cs typeface="Times New Roman"/>
              </a:rPr>
              <a:t>provides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Times New Roman"/>
                <a:cs typeface="Times New Roman"/>
              </a:rPr>
              <a:t>indication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similarity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might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too</a:t>
            </a:r>
            <a:r>
              <a:rPr dirty="0" sz="1200" spc="-5">
                <a:latin typeface="Times New Roman"/>
                <a:cs typeface="Times New Roman"/>
              </a:rPr>
              <a:t> close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some situations.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200" spc="-10" b="1">
                <a:latin typeface="Times New Roman"/>
                <a:cs typeface="Times New Roman"/>
              </a:rPr>
              <a:t>Computational </a:t>
            </a:r>
            <a:r>
              <a:rPr dirty="0" sz="1200" spc="-5" b="1">
                <a:latin typeface="Times New Roman"/>
                <a:cs typeface="Times New Roman"/>
              </a:rPr>
              <a:t>Molecular </a:t>
            </a:r>
            <a:r>
              <a:rPr dirty="0" sz="1200" spc="-10" b="1">
                <a:latin typeface="Times New Roman"/>
                <a:cs typeface="Times New Roman"/>
              </a:rPr>
              <a:t>Biology </a:t>
            </a:r>
            <a:r>
              <a:rPr dirty="0" sz="1200" spc="-20">
                <a:latin typeface="Times New Roman"/>
                <a:cs typeface="Times New Roman"/>
              </a:rPr>
              <a:t>DNA </a:t>
            </a:r>
            <a:r>
              <a:rPr dirty="0" sz="1200" spc="-5">
                <a:latin typeface="Times New Roman"/>
                <a:cs typeface="Times New Roman"/>
              </a:rPr>
              <a:t>is a </a:t>
            </a:r>
            <a:r>
              <a:rPr dirty="0" sz="1200" spc="-15">
                <a:latin typeface="Times New Roman"/>
                <a:cs typeface="Times New Roman"/>
              </a:rPr>
              <a:t>polymer.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monomer units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20">
                <a:latin typeface="Times New Roman"/>
                <a:cs typeface="Times New Roman"/>
              </a:rPr>
              <a:t>DNA </a:t>
            </a:r>
            <a:r>
              <a:rPr dirty="0" sz="1200" spc="-5">
                <a:latin typeface="Times New Roman"/>
                <a:cs typeface="Times New Roman"/>
              </a:rPr>
              <a:t>are nucleotides, 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polymer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“polynucleotide.”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nucleotide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5-carbon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sugar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(deoxyribose),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01699" y="5292027"/>
            <a:ext cx="41255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nitrogen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containing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 attached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sugar,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phosphate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014455" y="5351183"/>
            <a:ext cx="227647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oup.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four different </a:t>
            </a:r>
            <a:r>
              <a:rPr dirty="0" sz="1200" spc="-5">
                <a:latin typeface="Times New Roman"/>
                <a:cs typeface="Times New Roman"/>
              </a:rPr>
              <a:t>types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14400" y="5534748"/>
            <a:ext cx="614616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nucleotides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DNA,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nitrogenous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nucleotides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14400" y="5718200"/>
            <a:ext cx="3100070" cy="10795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844"/>
              </a:lnSpc>
            </a:pPr>
            <a:r>
              <a:rPr dirty="0" sz="1200" spc="-5">
                <a:latin typeface="Times New Roman"/>
                <a:cs typeface="Times New Roman"/>
              </a:rPr>
              <a:t>letter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abbreviations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shorthand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01699" y="6051207"/>
            <a:ext cx="6267450" cy="293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4175" indent="-151130">
              <a:lnSpc>
                <a:spcPct val="100000"/>
              </a:lnSpc>
              <a:spcBef>
                <a:spcPts val="95"/>
              </a:spcBef>
              <a:buFont typeface="Segoe UI Symbol"/>
              <a:buChar char="•"/>
              <a:tabLst>
                <a:tab pos="384810" algn="l"/>
              </a:tabLst>
            </a:pPr>
            <a:r>
              <a:rPr dirty="0" sz="1200" spc="-10">
                <a:latin typeface="Times New Roman"/>
                <a:cs typeface="Times New Roman"/>
              </a:rPr>
              <a:t>A-adenine</a:t>
            </a:r>
            <a:endParaRPr sz="1200">
              <a:latin typeface="Times New Roman"/>
              <a:cs typeface="Times New Roman"/>
            </a:endParaRPr>
          </a:p>
          <a:p>
            <a:pPr marL="384175" indent="-151130">
              <a:lnSpc>
                <a:spcPct val="100000"/>
              </a:lnSpc>
              <a:spcBef>
                <a:spcPts val="1165"/>
              </a:spcBef>
              <a:buFont typeface="Segoe UI Symbol"/>
              <a:buChar char="•"/>
              <a:tabLst>
                <a:tab pos="384810" algn="l"/>
              </a:tabLst>
            </a:pPr>
            <a:r>
              <a:rPr dirty="0" sz="1200" spc="-10">
                <a:latin typeface="Times New Roman"/>
                <a:cs typeface="Times New Roman"/>
              </a:rPr>
              <a:t>G-guanine</a:t>
            </a:r>
            <a:endParaRPr sz="1200">
              <a:latin typeface="Times New Roman"/>
              <a:cs typeface="Times New Roman"/>
            </a:endParaRPr>
          </a:p>
          <a:p>
            <a:pPr marL="384175" indent="-151130">
              <a:lnSpc>
                <a:spcPct val="100000"/>
              </a:lnSpc>
              <a:spcBef>
                <a:spcPts val="1170"/>
              </a:spcBef>
              <a:buFont typeface="Segoe UI Symbol"/>
              <a:buChar char="•"/>
              <a:tabLst>
                <a:tab pos="384810" algn="l"/>
              </a:tabLst>
            </a:pPr>
            <a:r>
              <a:rPr dirty="0" sz="1200" spc="-10">
                <a:latin typeface="Times New Roman"/>
                <a:cs typeface="Times New Roman"/>
              </a:rPr>
              <a:t>C-cytosine</a:t>
            </a:r>
            <a:endParaRPr sz="1200">
              <a:latin typeface="Times New Roman"/>
              <a:cs typeface="Times New Roman"/>
            </a:endParaRPr>
          </a:p>
          <a:p>
            <a:pPr marL="384175" indent="-151130">
              <a:lnSpc>
                <a:spcPct val="100000"/>
              </a:lnSpc>
              <a:spcBef>
                <a:spcPts val="1165"/>
              </a:spcBef>
              <a:buFont typeface="Segoe UI Symbol"/>
              <a:buChar char="•"/>
              <a:tabLst>
                <a:tab pos="384810" algn="l"/>
              </a:tabLst>
            </a:pPr>
            <a:r>
              <a:rPr dirty="0" sz="1200" spc="-20">
                <a:latin typeface="Times New Roman"/>
                <a:cs typeface="Times New Roman"/>
              </a:rPr>
              <a:t>T-thymine</a:t>
            </a:r>
            <a:endParaRPr sz="1200">
              <a:latin typeface="Times New Roman"/>
              <a:cs typeface="Times New Roman"/>
            </a:endParaRPr>
          </a:p>
          <a:p>
            <a:pPr marL="12700" marR="383540">
              <a:lnSpc>
                <a:spcPct val="100000"/>
              </a:lnSpc>
              <a:spcBef>
                <a:spcPts val="1645"/>
              </a:spcBef>
            </a:pPr>
            <a:r>
              <a:rPr dirty="0" sz="1200" spc="-10">
                <a:latin typeface="Times New Roman"/>
                <a:cs typeface="Times New Roman"/>
              </a:rPr>
              <a:t>Double-helix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DNA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molecule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nucleotides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Double-helix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DNA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molecule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 nucleotides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goes here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DNA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(strings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over </a:t>
            </a:r>
            <a:r>
              <a:rPr dirty="0" sz="1200" spc="-10">
                <a:latin typeface="Times New Roman"/>
                <a:cs typeface="Times New Roman"/>
              </a:rPr>
              <a:t> A,C,G,T,</a:t>
            </a:r>
            <a:r>
              <a:rPr dirty="0" sz="1200" spc="-5">
                <a:latin typeface="Times New Roman"/>
                <a:cs typeface="Times New Roman"/>
              </a:rPr>
              <a:t>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protein</a:t>
            </a:r>
            <a:r>
              <a:rPr dirty="0" sz="1200" spc="-5">
                <a:latin typeface="Times New Roman"/>
                <a:cs typeface="Times New Roman"/>
              </a:rPr>
              <a:t> sequences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(over</a:t>
            </a:r>
            <a:r>
              <a:rPr dirty="0" sz="1200" spc="-5">
                <a:latin typeface="Times New Roman"/>
                <a:cs typeface="Times New Roman"/>
              </a:rPr>
              <a:t>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alphabet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20 </a:t>
            </a:r>
            <a:r>
              <a:rPr dirty="0" sz="1200" spc="-10">
                <a:latin typeface="Times New Roman"/>
                <a:cs typeface="Times New Roman"/>
              </a:rPr>
              <a:t>amino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acids),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purposes, e.g.: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00">
              <a:latin typeface="Times New Roman"/>
              <a:cs typeface="Times New Roman"/>
            </a:endParaRPr>
          </a:p>
          <a:p>
            <a:pPr marL="384175" indent="-151130">
              <a:lnSpc>
                <a:spcPct val="100000"/>
              </a:lnSpc>
              <a:buFont typeface="Segoe UI Symbol"/>
              <a:buChar char="•"/>
              <a:tabLst>
                <a:tab pos="384810" algn="l"/>
              </a:tabLst>
            </a:pPr>
            <a:r>
              <a:rPr dirty="0" sz="1200" spc="-5">
                <a:latin typeface="Times New Roman"/>
                <a:cs typeface="Times New Roman"/>
              </a:rPr>
              <a:t>to find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10">
                <a:latin typeface="Times New Roman"/>
                <a:cs typeface="Times New Roman"/>
              </a:rPr>
              <a:t>proteins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shared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functions</a:t>
            </a:r>
            <a:r>
              <a:rPr dirty="0" sz="1200" spc="-5">
                <a:latin typeface="Times New Roman"/>
                <a:cs typeface="Times New Roman"/>
              </a:rPr>
              <a:t>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properties</a:t>
            </a:r>
            <a:endParaRPr sz="1200">
              <a:latin typeface="Times New Roman"/>
              <a:cs typeface="Times New Roman"/>
            </a:endParaRPr>
          </a:p>
          <a:p>
            <a:pPr marL="384175" indent="-151130">
              <a:lnSpc>
                <a:spcPct val="100000"/>
              </a:lnSpc>
              <a:spcBef>
                <a:spcPts val="1165"/>
              </a:spcBef>
              <a:buFont typeface="Segoe UI Symbol"/>
              <a:buChar char="•"/>
              <a:tabLst>
                <a:tab pos="384810" algn="l"/>
              </a:tabLst>
            </a:pP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family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relationships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evolutionary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organisms.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60982" y="6305143"/>
            <a:ext cx="3853815" cy="163195"/>
          </a:xfrm>
          <a:custGeom>
            <a:avLst/>
            <a:gdLst/>
            <a:ahLst/>
            <a:cxnLst/>
            <a:rect l="l" t="t" r="r" b="b"/>
            <a:pathLst>
              <a:path w="3853815" h="163195">
                <a:moveTo>
                  <a:pt x="3853611" y="0"/>
                </a:moveTo>
                <a:lnTo>
                  <a:pt x="0" y="0"/>
                </a:lnTo>
                <a:lnTo>
                  <a:pt x="0" y="162712"/>
                </a:lnTo>
                <a:lnTo>
                  <a:pt x="3853611" y="162712"/>
                </a:lnTo>
                <a:lnTo>
                  <a:pt x="3853611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460982" y="1911908"/>
            <a:ext cx="1903095" cy="163195"/>
          </a:xfrm>
          <a:custGeom>
            <a:avLst/>
            <a:gdLst/>
            <a:ahLst/>
            <a:cxnLst/>
            <a:rect l="l" t="t" r="r" b="b"/>
            <a:pathLst>
              <a:path w="1903095" h="163194">
                <a:moveTo>
                  <a:pt x="1902853" y="0"/>
                </a:moveTo>
                <a:lnTo>
                  <a:pt x="0" y="0"/>
                </a:lnTo>
                <a:lnTo>
                  <a:pt x="0" y="162712"/>
                </a:lnTo>
                <a:lnTo>
                  <a:pt x="1902853" y="162712"/>
                </a:lnTo>
                <a:lnTo>
                  <a:pt x="1902853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901699" y="520987"/>
            <a:ext cx="6426835" cy="19094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261100" algn="l"/>
              </a:tabLst>
            </a:pPr>
            <a:r>
              <a:rPr dirty="0" sz="1200" spc="-10">
                <a:latin typeface="Times New Roman"/>
                <a:cs typeface="Times New Roman"/>
              </a:rPr>
              <a:t>6.3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DI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20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CE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Speech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Recognition</a:t>
            </a:r>
            <a:endParaRPr sz="1200">
              <a:latin typeface="Times New Roman"/>
              <a:cs typeface="Times New Roman"/>
            </a:endParaRPr>
          </a:p>
          <a:p>
            <a:pPr marL="12700" marR="151765">
              <a:lnSpc>
                <a:spcPct val="100000"/>
              </a:lnSpc>
              <a:spcBef>
                <a:spcPts val="520"/>
              </a:spcBef>
            </a:pP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those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edit-distance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speech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recognition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systems.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 a close match between a </a:t>
            </a:r>
            <a:r>
              <a:rPr dirty="0" sz="1200" spc="-15">
                <a:latin typeface="Times New Roman"/>
                <a:cs typeface="Times New Roman"/>
              </a:rPr>
              <a:t>new</a:t>
            </a:r>
            <a:r>
              <a:rPr dirty="0" sz="1200" spc="-5">
                <a:latin typeface="Times New Roman"/>
                <a:cs typeface="Times New Roman"/>
              </a:rPr>
              <a:t> utterance and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library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classified utterances.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05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6.3.2	Edit</a:t>
            </a:r>
            <a:r>
              <a:rPr dirty="0" sz="1400" spc="-1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Distance</a:t>
            </a:r>
            <a:r>
              <a:rPr dirty="0" sz="1400" spc="-10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85"/>
              </a:spcBef>
            </a:pPr>
            <a:r>
              <a:rPr dirty="0" sz="1200" spc="-5">
                <a:latin typeface="Times New Roman"/>
                <a:cs typeface="Times New Roman"/>
              </a:rPr>
              <a:t>A better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display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editing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above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other: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299459" y="2790888"/>
            <a:ext cx="1631950" cy="5715"/>
          </a:xfrm>
          <a:custGeom>
            <a:avLst/>
            <a:gdLst/>
            <a:ahLst/>
            <a:cxnLst/>
            <a:rect l="l" t="t" r="r" b="b"/>
            <a:pathLst>
              <a:path w="1631950" h="5714">
                <a:moveTo>
                  <a:pt x="1631624" y="0"/>
                </a:moveTo>
                <a:lnTo>
                  <a:pt x="0" y="0"/>
                </a:lnTo>
                <a:lnTo>
                  <a:pt x="0" y="5143"/>
                </a:lnTo>
                <a:lnTo>
                  <a:pt x="1631624" y="5143"/>
                </a:lnTo>
                <a:lnTo>
                  <a:pt x="16316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3362234" y="2571458"/>
            <a:ext cx="160655" cy="3962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95"/>
              </a:spcBef>
            </a:pPr>
            <a:r>
              <a:rPr dirty="0" sz="1200" spc="-5" i="1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1200" spc="-5">
                <a:latin typeface="Times New Roman"/>
                <a:cs typeface="Times New Roman"/>
              </a:rPr>
              <a:t>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956303" y="2918904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3374923" y="2943392"/>
            <a:ext cx="1352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698747" y="3103309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4497323" y="3103309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3649016" y="2571458"/>
            <a:ext cx="1212850" cy="579755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r" marL="12700" marR="5080" indent="-635">
              <a:lnSpc>
                <a:spcPct val="101699"/>
              </a:lnSpc>
              <a:spcBef>
                <a:spcPts val="70"/>
              </a:spcBef>
              <a:tabLst>
                <a:tab pos="285115" algn="l"/>
                <a:tab pos="527050" algn="l"/>
                <a:tab pos="546735" algn="l"/>
                <a:tab pos="811530" algn="l"/>
                <a:tab pos="835025" algn="l"/>
                <a:tab pos="1072515" algn="l"/>
                <a:tab pos="109664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D</a:t>
            </a:r>
            <a:r>
              <a:rPr dirty="0" sz="1200" spc="-5" i="1">
                <a:latin typeface="Times New Roman"/>
                <a:cs typeface="Times New Roman"/>
              </a:rPr>
              <a:t>	</a:t>
            </a:r>
            <a:r>
              <a:rPr dirty="0" sz="1200" spc="-2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</a:t>
            </a:r>
            <a:r>
              <a:rPr dirty="0" sz="1200" spc="-5" i="1">
                <a:latin typeface="Times New Roman"/>
                <a:cs typeface="Times New Roman"/>
              </a:rPr>
              <a:t>	</a:t>
            </a:r>
            <a:r>
              <a:rPr dirty="0" sz="1200" spc="-5" i="1">
                <a:latin typeface="Times New Roman"/>
                <a:cs typeface="Times New Roman"/>
              </a:rPr>
              <a:t>M</a:t>
            </a:r>
            <a:r>
              <a:rPr dirty="0" sz="1200" spc="-5" i="1">
                <a:latin typeface="Times New Roman"/>
                <a:cs typeface="Times New Roman"/>
              </a:rPr>
              <a:t>	</a:t>
            </a:r>
            <a:r>
              <a:rPr dirty="0" sz="1200" spc="-5" i="1">
                <a:latin typeface="Times New Roman"/>
                <a:cs typeface="Times New Roman"/>
              </a:rPr>
              <a:t>D</a:t>
            </a:r>
            <a:r>
              <a:rPr dirty="0" sz="1200" spc="-5" i="1">
                <a:latin typeface="Times New Roman"/>
                <a:cs typeface="Times New Roman"/>
              </a:rPr>
              <a:t>	</a:t>
            </a:r>
            <a:r>
              <a:rPr dirty="0" sz="1200" spc="-5" i="1">
                <a:latin typeface="Times New Roman"/>
                <a:cs typeface="Times New Roman"/>
              </a:rPr>
              <a:t>M 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			T	H		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	T				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01699" y="3289949"/>
            <a:ext cx="6242685" cy="1821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gap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insertion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second </a:t>
            </a:r>
            <a:r>
              <a:rPr dirty="0" sz="1200" spc="-25">
                <a:latin typeface="Times New Roman"/>
                <a:cs typeface="Times New Roman"/>
              </a:rPr>
              <a:t>word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gap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 spc="-5">
                <a:latin typeface="Times New Roman"/>
                <a:cs typeface="Times New Roman"/>
              </a:rPr>
              <a:t> deletion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(D).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Columns with two different </a:t>
            </a:r>
            <a:r>
              <a:rPr dirty="0" sz="1200" spc="-5">
                <a:latin typeface="Times New Roman"/>
                <a:cs typeface="Times New Roman"/>
              </a:rPr>
              <a:t>characters correspond to </a:t>
            </a:r>
            <a:r>
              <a:rPr dirty="0" sz="1200" spc="-10">
                <a:latin typeface="Times New Roman"/>
                <a:cs typeface="Times New Roman"/>
              </a:rPr>
              <a:t>substitutions </a:t>
            </a:r>
            <a:r>
              <a:rPr dirty="0" sz="1200" spc="-5">
                <a:latin typeface="Times New Roman"/>
                <a:cs typeface="Times New Roman"/>
              </a:rPr>
              <a:t>(S). Matches (M) do </a:t>
            </a:r>
            <a:r>
              <a:rPr dirty="0" sz="1200" spc="-10">
                <a:latin typeface="Times New Roman"/>
                <a:cs typeface="Times New Roman"/>
              </a:rPr>
              <a:t>not count.</a:t>
            </a:r>
            <a:r>
              <a:rPr dirty="0" sz="1200" spc="-5">
                <a:latin typeface="Times New Roman"/>
                <a:cs typeface="Times New Roman"/>
              </a:rPr>
              <a:t>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Edit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transcript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over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alphabet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describes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transformation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string</a:t>
            </a:r>
            <a:r>
              <a:rPr dirty="0" sz="1200" spc="-10">
                <a:latin typeface="Times New Roman"/>
                <a:cs typeface="Times New Roman"/>
              </a:rPr>
              <a:t> 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another.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2214880">
              <a:lnSpc>
                <a:spcPct val="100000"/>
              </a:lnSpc>
              <a:tabLst>
                <a:tab pos="2512060" algn="l"/>
                <a:tab pos="2851150" algn="l"/>
                <a:tab pos="3127375" algn="l"/>
                <a:tab pos="3452495" algn="l"/>
                <a:tab pos="3754120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S	D	I	M	D	M</a:t>
            </a:r>
            <a:endParaRPr sz="1200">
              <a:latin typeface="Times New Roman"/>
              <a:cs typeface="Times New Roman"/>
            </a:endParaRPr>
          </a:p>
          <a:p>
            <a:pPr marL="2172970">
              <a:lnSpc>
                <a:spcPct val="100000"/>
              </a:lnSpc>
              <a:spcBef>
                <a:spcPts val="5"/>
              </a:spcBef>
              <a:tabLst>
                <a:tab pos="2486025" algn="l"/>
                <a:tab pos="2799715" algn="l"/>
                <a:tab pos="3112770" algn="l"/>
                <a:tab pos="3426460" algn="l"/>
                <a:tab pos="3739515" algn="l"/>
                <a:tab pos="4053204" algn="l"/>
              </a:tabLst>
            </a:pPr>
            <a:r>
              <a:rPr dirty="0" sz="1200" spc="-5">
                <a:latin typeface="Times New Roman"/>
                <a:cs typeface="Times New Roman"/>
              </a:rPr>
              <a:t>1+	1+	1+	0+	1+	0+	=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easy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determine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 i="1">
                <a:latin typeface="Times New Roman"/>
                <a:cs typeface="Times New Roman"/>
              </a:rPr>
              <a:t>ALGORITHM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ALTRUISTIC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4122420" y="5381688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2790507" y="5222075"/>
            <a:ext cx="16198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3685" algn="l"/>
                <a:tab pos="518159" algn="l"/>
                <a:tab pos="779780" algn="l"/>
                <a:tab pos="1041400" algn="l"/>
                <a:tab pos="155575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I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4573523" y="5381688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4772696" y="5222075"/>
            <a:ext cx="666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175" algn="l"/>
                <a:tab pos="518159" algn="l"/>
              </a:tabLst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3345179" y="5564568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3346703" y="7669213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5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876299" y="5405527"/>
            <a:ext cx="6435725" cy="35782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26589">
              <a:lnSpc>
                <a:spcPct val="100000"/>
              </a:lnSpc>
              <a:spcBef>
                <a:spcPts val="95"/>
              </a:spcBef>
              <a:tabLst>
                <a:tab pos="2188210" algn="l"/>
                <a:tab pos="2702560" algn="l"/>
                <a:tab pos="2955290" algn="l"/>
                <a:tab pos="3208655" algn="l"/>
                <a:tab pos="3470275" algn="l"/>
                <a:tab pos="3672204" algn="l"/>
                <a:tab pos="3908425" algn="l"/>
                <a:tab pos="4182745" algn="l"/>
                <a:tab pos="4431665" algn="l"/>
              </a:tabLst>
            </a:pPr>
            <a:r>
              <a:rPr dirty="0" sz="1200" spc="-5">
                <a:latin typeface="Times New Roman"/>
                <a:cs typeface="Times New Roman"/>
              </a:rPr>
              <a:t>A	L	T	R	U	I	S	T	I	C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900"/>
              </a:spcBef>
              <a:tabLst>
                <a:tab pos="5842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6.3.3	Edit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Distance:</a:t>
            </a:r>
            <a:r>
              <a:rPr dirty="0" sz="1400" spc="8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Dynamic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Programming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  <a:p>
            <a:pPr marL="38100" marR="394970" indent="-635">
              <a:lnSpc>
                <a:spcPct val="100000"/>
              </a:lnSpc>
              <a:spcBef>
                <a:spcPts val="1285"/>
              </a:spcBef>
            </a:pPr>
            <a:r>
              <a:rPr dirty="0" sz="1200" spc="-5">
                <a:latin typeface="Times New Roman"/>
                <a:cs typeface="Times New Roman"/>
              </a:rPr>
              <a:t>Suppose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Lucida Sans Unicode"/>
                <a:cs typeface="Lucida Sans Unicode"/>
              </a:rPr>
              <a:t>m</a:t>
            </a:r>
            <a:r>
              <a:rPr dirty="0" sz="1200" spc="-10">
                <a:latin typeface="Times New Roman"/>
                <a:cs typeface="Times New Roman"/>
              </a:rPr>
              <a:t>-character</a:t>
            </a:r>
            <a:r>
              <a:rPr dirty="0" sz="1200" spc="-5">
                <a:latin typeface="Times New Roman"/>
                <a:cs typeface="Times New Roman"/>
              </a:rPr>
              <a:t> string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-character</a:t>
            </a:r>
            <a:r>
              <a:rPr dirty="0" sz="1200" spc="-5">
                <a:latin typeface="Times New Roman"/>
                <a:cs typeface="Times New Roman"/>
              </a:rPr>
              <a:t> string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B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Define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E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i,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j</a:t>
            </a:r>
            <a:r>
              <a:rPr dirty="0" sz="1200" spc="7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edit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 between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first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 of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first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B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955800">
              <a:lnSpc>
                <a:spcPts val="1285"/>
              </a:lnSpc>
              <a:tabLst>
                <a:tab pos="2456815" algn="l"/>
                <a:tab pos="3027045" algn="l"/>
              </a:tabLst>
            </a:pPr>
            <a:r>
              <a:rPr dirty="0" sz="1200" spc="-204">
                <a:latin typeface="Lucida Sans Unicode"/>
                <a:cs typeface="Lucida Sans Unicode"/>
              </a:rPr>
              <a:t>¸</a:t>
            </a:r>
            <a:r>
              <a:rPr dirty="0" u="heavy" sz="1200" spc="-20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185">
                <a:latin typeface="Lucida Sans Unicode"/>
                <a:cs typeface="Lucida Sans Unicode"/>
              </a:rPr>
              <a:t>E</a:t>
            </a:r>
            <a:r>
              <a:rPr dirty="0" baseline="45138" sz="1200" spc="-277">
                <a:latin typeface="Verdana"/>
                <a:cs typeface="Verdana"/>
              </a:rPr>
              <a:t>i</a:t>
            </a:r>
            <a:r>
              <a:rPr dirty="0" sz="1200" spc="-185">
                <a:latin typeface="Lucida Sans Unicode"/>
                <a:cs typeface="Lucida Sans Unicode"/>
              </a:rPr>
              <a:t>´</a:t>
            </a:r>
            <a:r>
              <a:rPr dirty="0" u="heavy" sz="1200" spc="-1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200">
                <a:latin typeface="Lucida Sans Unicode"/>
                <a:cs typeface="Lucida Sans Unicode"/>
              </a:rPr>
              <a:t>¸</a:t>
            </a:r>
            <a:endParaRPr sz="1200">
              <a:latin typeface="Lucida Sans Unicode"/>
              <a:cs typeface="Lucida Sans Unicode"/>
            </a:endParaRPr>
          </a:p>
          <a:p>
            <a:pPr marL="1955800">
              <a:lnSpc>
                <a:spcPts val="1285"/>
              </a:lnSpc>
              <a:tabLst>
                <a:tab pos="2224405" algn="l"/>
                <a:tab pos="2460625" algn="l"/>
                <a:tab pos="2729230" algn="l"/>
                <a:tab pos="3002915" algn="l"/>
                <a:tab pos="3246755" algn="l"/>
                <a:tab pos="3458845" algn="l"/>
                <a:tab pos="3702050" algn="l"/>
                <a:tab pos="3973195" algn="l"/>
              </a:tabLst>
            </a:pPr>
            <a:r>
              <a:rPr dirty="0" sz="1200" spc="90">
                <a:latin typeface="Lucida Sans Unicode"/>
                <a:cs typeface="Lucida Sans Unicode"/>
              </a:rPr>
              <a:t>A	</a:t>
            </a:r>
            <a:r>
              <a:rPr dirty="0" sz="1200" spc="25">
                <a:latin typeface="Lucida Sans Unicode"/>
                <a:cs typeface="Lucida Sans Unicode"/>
              </a:rPr>
              <a:t>L	</a:t>
            </a:r>
            <a:r>
              <a:rPr dirty="0" sz="1200" spc="45">
                <a:latin typeface="Lucida Sans Unicode"/>
                <a:cs typeface="Lucida Sans Unicode"/>
              </a:rPr>
              <a:t>G	</a:t>
            </a:r>
            <a:r>
              <a:rPr dirty="0" sz="1200" spc="25">
                <a:latin typeface="Lucida Sans Unicode"/>
                <a:cs typeface="Lucida Sans Unicode"/>
              </a:rPr>
              <a:t>O	</a:t>
            </a:r>
            <a:r>
              <a:rPr dirty="0" sz="1200" spc="-35">
                <a:latin typeface="Lucida Sans Unicode"/>
                <a:cs typeface="Lucida Sans Unicode"/>
              </a:rPr>
              <a:t>R	</a:t>
            </a:r>
            <a:r>
              <a:rPr dirty="0" sz="1200" spc="125">
                <a:latin typeface="Lucida Sans Unicode"/>
                <a:cs typeface="Lucida Sans Unicode"/>
              </a:rPr>
              <a:t>I	</a:t>
            </a:r>
            <a:r>
              <a:rPr dirty="0" sz="1200" spc="-170">
                <a:latin typeface="Lucida Sans Unicode"/>
                <a:cs typeface="Lucida Sans Unicode"/>
              </a:rPr>
              <a:t>T	</a:t>
            </a:r>
            <a:r>
              <a:rPr dirty="0" sz="1200" spc="50">
                <a:latin typeface="Lucida Sans Unicode"/>
                <a:cs typeface="Lucida Sans Unicode"/>
              </a:rPr>
              <a:t>H	</a:t>
            </a:r>
            <a:r>
              <a:rPr dirty="0" sz="1200" spc="210">
                <a:latin typeface="Lucida Sans Unicode"/>
                <a:cs typeface="Lucida Sans Unicode"/>
              </a:rPr>
              <a:t>M</a:t>
            </a:r>
            <a:endParaRPr sz="1200">
              <a:latin typeface="Lucida Sans Unicode"/>
              <a:cs typeface="Lucida Sans Unicode"/>
            </a:endParaRPr>
          </a:p>
          <a:p>
            <a:pPr marL="1955800">
              <a:lnSpc>
                <a:spcPct val="100000"/>
              </a:lnSpc>
              <a:spcBef>
                <a:spcPts val="305"/>
              </a:spcBef>
              <a:tabLst>
                <a:tab pos="2224405" algn="l"/>
                <a:tab pos="2453005" algn="l"/>
                <a:tab pos="2995295" algn="l"/>
                <a:tab pos="3239770" algn="l"/>
                <a:tab pos="3509010" algn="l"/>
                <a:tab pos="3720465" algn="l"/>
                <a:tab pos="3956685" algn="l"/>
                <a:tab pos="4200525" algn="l"/>
                <a:tab pos="4411980" algn="l"/>
              </a:tabLst>
            </a:pPr>
            <a:r>
              <a:rPr dirty="0" sz="1200" spc="-520">
                <a:latin typeface="Lucida Sans Unicode"/>
                <a:cs typeface="Lucida Sans Unicode"/>
              </a:rPr>
              <a:t>A</a:t>
            </a:r>
            <a:r>
              <a:rPr dirty="0" baseline="-18518" sz="1800" spc="-780">
                <a:latin typeface="Lucida Sans Unicode"/>
                <a:cs typeface="Lucida Sans Unicode"/>
              </a:rPr>
              <a:t>´</a:t>
            </a:r>
            <a:r>
              <a:rPr dirty="0" u="heavy" sz="1200" spc="-5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heavy" sz="1200" spc="2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L	</a:t>
            </a:r>
            <a:r>
              <a:rPr dirty="0" baseline="-18518" sz="1800" spc="-300">
                <a:latin typeface="Lucida Sans Unicode"/>
                <a:cs typeface="Lucida Sans Unicode"/>
              </a:rPr>
              <a:t>¸¸</a:t>
            </a:r>
            <a:r>
              <a:rPr dirty="0" u="heavy" sz="1200" spc="4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 </a:t>
            </a:r>
            <a:r>
              <a:rPr dirty="0" u="heavy" sz="1200" spc="4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heavy" sz="1200" spc="-17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T	</a:t>
            </a:r>
            <a:r>
              <a:rPr dirty="0" sz="1200" spc="-345">
                <a:latin typeface="Lucida Sans Unicode"/>
                <a:cs typeface="Lucida Sans Unicode"/>
              </a:rPr>
              <a:t>R</a:t>
            </a:r>
            <a:r>
              <a:rPr dirty="0" baseline="-18518" sz="1800" spc="-517">
                <a:latin typeface="Lucida Sans Unicode"/>
                <a:cs typeface="Lucida Sans Unicode"/>
              </a:rPr>
              <a:t>E	</a:t>
            </a:r>
            <a:r>
              <a:rPr dirty="0" sz="1200" spc="90">
                <a:latin typeface="Lucida Sans Unicode"/>
                <a:cs typeface="Lucida Sans Unicode"/>
              </a:rPr>
              <a:t>U	</a:t>
            </a:r>
            <a:r>
              <a:rPr dirty="0" sz="1200" spc="125">
                <a:latin typeface="Lucida Sans Unicode"/>
                <a:cs typeface="Lucida Sans Unicode"/>
              </a:rPr>
              <a:t>I	</a:t>
            </a:r>
            <a:r>
              <a:rPr dirty="0" sz="1200" spc="15">
                <a:latin typeface="Lucida Sans Unicode"/>
                <a:cs typeface="Lucida Sans Unicode"/>
              </a:rPr>
              <a:t>S	</a:t>
            </a:r>
            <a:r>
              <a:rPr dirty="0" sz="1200" spc="-170">
                <a:latin typeface="Lucida Sans Unicode"/>
                <a:cs typeface="Lucida Sans Unicode"/>
              </a:rPr>
              <a:t>T	</a:t>
            </a:r>
            <a:r>
              <a:rPr dirty="0" sz="1200" spc="125">
                <a:latin typeface="Lucida Sans Unicode"/>
                <a:cs typeface="Lucida Sans Unicode"/>
              </a:rPr>
              <a:t>I	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endParaRPr sz="1200">
              <a:latin typeface="Lucida Sans Unicode"/>
              <a:cs typeface="Lucida Sans Unicode"/>
            </a:endParaRPr>
          </a:p>
          <a:p>
            <a:pPr algn="ctr" marR="1376045">
              <a:lnSpc>
                <a:spcPct val="100000"/>
              </a:lnSpc>
              <a:spcBef>
                <a:spcPts val="425"/>
              </a:spcBef>
            </a:pPr>
            <a:r>
              <a:rPr dirty="0" sz="800" spc="70">
                <a:latin typeface="Verdana"/>
                <a:cs typeface="Verdana"/>
              </a:rPr>
              <a:t>j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700">
              <a:latin typeface="Verdana"/>
              <a:cs typeface="Verdana"/>
            </a:endParaRPr>
          </a:p>
          <a:p>
            <a:pPr marL="38100" marR="177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 edit distance between entire </a:t>
            </a:r>
            <a:r>
              <a:rPr dirty="0" sz="1200" spc="-10">
                <a:latin typeface="Times New Roman"/>
                <a:cs typeface="Times New Roman"/>
              </a:rPr>
              <a:t>strings </a:t>
            </a:r>
            <a:r>
              <a:rPr dirty="0" sz="1200" spc="90">
                <a:latin typeface="Lucida Sans Unicode"/>
                <a:cs typeface="Lucida Sans Unicode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90">
                <a:latin typeface="Lucida Sans Unicode"/>
                <a:cs typeface="Lucida Sans Unicode"/>
              </a:rPr>
              <a:t>B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25">
                <a:latin typeface="Lucida Sans Unicode"/>
                <a:cs typeface="Lucida Sans Unicode"/>
              </a:rPr>
              <a:t>E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m, 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gap </a:t>
            </a:r>
            <a:r>
              <a:rPr dirty="0" sz="1200" spc="-5">
                <a:latin typeface="Times New Roman"/>
                <a:cs typeface="Times New Roman"/>
              </a:rPr>
              <a:t>representation </a:t>
            </a:r>
            <a:r>
              <a:rPr dirty="0" sz="1200" spc="-10">
                <a:latin typeface="Times New Roman"/>
                <a:cs typeface="Times New Roman"/>
              </a:rPr>
              <a:t>for the </a:t>
            </a:r>
            <a:r>
              <a:rPr dirty="0" sz="1200" spc="-5">
                <a:latin typeface="Times New Roman"/>
                <a:cs typeface="Times New Roman"/>
              </a:rPr>
              <a:t>edit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sequences has a crucial </a:t>
            </a:r>
            <a:r>
              <a:rPr dirty="0" sz="1200" spc="-10">
                <a:latin typeface="Times New Roman"/>
                <a:cs typeface="Times New Roman"/>
              </a:rPr>
              <a:t>“</a:t>
            </a:r>
            <a:r>
              <a:rPr dirty="0" sz="1200" spc="-10" i="1">
                <a:latin typeface="Times New Roman"/>
                <a:cs typeface="Times New Roman"/>
              </a:rPr>
              <a:t>optimal substructure</a:t>
            </a:r>
            <a:r>
              <a:rPr dirty="0" sz="1200" spc="-10">
                <a:latin typeface="Times New Roman"/>
                <a:cs typeface="Times New Roman"/>
              </a:rPr>
              <a:t>” </a:t>
            </a:r>
            <a:r>
              <a:rPr dirty="0" sz="1200" spc="-15">
                <a:latin typeface="Times New Roman"/>
                <a:cs typeface="Times New Roman"/>
              </a:rPr>
              <a:t>property.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15">
                <a:latin typeface="Times New Roman"/>
                <a:cs typeface="Times New Roman"/>
              </a:rPr>
              <a:t>remove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last </a:t>
            </a:r>
            <a:r>
              <a:rPr dirty="0" sz="1200" spc="-10">
                <a:latin typeface="Times New Roman"/>
                <a:cs typeface="Times New Roman"/>
              </a:rPr>
              <a:t>column, the remaining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columns</a:t>
            </a:r>
            <a:r>
              <a:rPr dirty="0" sz="1200" spc="-5">
                <a:latin typeface="Times New Roman"/>
                <a:cs typeface="Times New Roman"/>
              </a:rPr>
              <a:t> must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remaining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substrings.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words.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474830" y="520987"/>
            <a:ext cx="285369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DYNAMIC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790506" y="903023"/>
            <a:ext cx="11557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3685" algn="l"/>
                <a:tab pos="518159" algn="l"/>
                <a:tab pos="779780" algn="l"/>
                <a:tab pos="104140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4122420" y="1062673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5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4334012" y="903023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4573523" y="1062673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5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4772696" y="903023"/>
            <a:ext cx="666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175" algn="l"/>
                <a:tab pos="518159" algn="l"/>
              </a:tabLst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345179" y="1245553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5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901699" y="1086474"/>
            <a:ext cx="4520565" cy="594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01189">
              <a:lnSpc>
                <a:spcPct val="100000"/>
              </a:lnSpc>
              <a:spcBef>
                <a:spcPts val="95"/>
              </a:spcBef>
              <a:tabLst>
                <a:tab pos="2162810" algn="l"/>
                <a:tab pos="2677160" algn="l"/>
                <a:tab pos="2929890" algn="l"/>
                <a:tab pos="3183255" algn="l"/>
                <a:tab pos="3444875" algn="l"/>
                <a:tab pos="3646804" algn="l"/>
                <a:tab pos="3883025" algn="l"/>
                <a:tab pos="4157345" algn="l"/>
                <a:tab pos="440626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remove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last </a:t>
            </a:r>
            <a:r>
              <a:rPr dirty="0" sz="1200" spc="-10">
                <a:latin typeface="Times New Roman"/>
                <a:cs typeface="Times New Roman"/>
              </a:rPr>
              <a:t>column,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edit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 reduces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4265676" y="2010601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2933952" y="1851141"/>
            <a:ext cx="16198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3685" algn="l"/>
                <a:tab pos="518159" algn="l"/>
                <a:tab pos="779780" algn="l"/>
                <a:tab pos="1041400" algn="l"/>
                <a:tab pos="155575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I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4716779" y="2010601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4916028" y="1851141"/>
            <a:ext cx="3797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175" algn="l"/>
              </a:tabLst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489959" y="2193481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888999" y="2034591"/>
            <a:ext cx="6367780" cy="36703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057400">
              <a:lnSpc>
                <a:spcPct val="100000"/>
              </a:lnSpc>
              <a:spcBef>
                <a:spcPts val="95"/>
              </a:spcBef>
              <a:tabLst>
                <a:tab pos="2319020" algn="l"/>
                <a:tab pos="2833370" algn="l"/>
                <a:tab pos="3086100" algn="l"/>
                <a:tab pos="3339465" algn="l"/>
                <a:tab pos="3601085" algn="l"/>
                <a:tab pos="3803015" algn="l"/>
                <a:tab pos="4039235" algn="l"/>
                <a:tab pos="4313555" algn="l"/>
              </a:tabLst>
            </a:pPr>
            <a:r>
              <a:rPr dirty="0" sz="1200" spc="-5">
                <a:latin typeface="Times New Roman"/>
                <a:cs typeface="Times New Roman"/>
              </a:rPr>
              <a:t>A	L	T	R	U	I	S	T	I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Times New Roman"/>
              <a:cs typeface="Times New Roman"/>
            </a:endParaRPr>
          </a:p>
          <a:p>
            <a:pPr marL="25400" marR="372745">
              <a:lnSpc>
                <a:spcPct val="100000"/>
              </a:lnSpc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substructure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property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devise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are a </a:t>
            </a:r>
            <a:r>
              <a:rPr dirty="0" sz="1200" spc="-10">
                <a:latin typeface="Times New Roman"/>
                <a:cs typeface="Times New Roman"/>
              </a:rPr>
              <a:t>couple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obvious</a:t>
            </a:r>
            <a:r>
              <a:rPr dirty="0" sz="1200" spc="-5">
                <a:latin typeface="Times New Roman"/>
                <a:cs typeface="Times New Roman"/>
              </a:rPr>
              <a:t> base cases: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50">
              <a:latin typeface="Times New Roman"/>
              <a:cs typeface="Times New Roman"/>
            </a:endParaRPr>
          </a:p>
          <a:p>
            <a:pPr marL="396875" indent="-151130">
              <a:lnSpc>
                <a:spcPct val="100000"/>
              </a:lnSpc>
              <a:buFont typeface="Segoe UI Symbol"/>
              <a:buChar char="•"/>
              <a:tabLst>
                <a:tab pos="397510" algn="l"/>
              </a:tabLst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convert</a:t>
            </a:r>
            <a:r>
              <a:rPr dirty="0" sz="1200" spc="-5">
                <a:latin typeface="Times New Roman"/>
                <a:cs typeface="Times New Roman"/>
              </a:rPr>
              <a:t> an </a:t>
            </a:r>
            <a:r>
              <a:rPr dirty="0" sz="1200" spc="-10">
                <a:latin typeface="Times New Roman"/>
                <a:cs typeface="Times New Roman"/>
              </a:rPr>
              <a:t>empty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string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string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 is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insertions.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</a:t>
            </a:r>
            <a:endParaRPr sz="1200">
              <a:latin typeface="Times New Roman"/>
              <a:cs typeface="Times New Roman"/>
            </a:endParaRPr>
          </a:p>
          <a:p>
            <a:pPr algn="ctr" marL="455930">
              <a:lnSpc>
                <a:spcPct val="100000"/>
              </a:lnSpc>
              <a:spcBef>
                <a:spcPts val="1340"/>
              </a:spcBef>
            </a:pP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Lucida Sans Unicode"/>
              <a:cs typeface="Lucida Sans Unicode"/>
            </a:endParaRPr>
          </a:p>
          <a:p>
            <a:pPr marL="396875" indent="-151130">
              <a:lnSpc>
                <a:spcPct val="100000"/>
              </a:lnSpc>
              <a:buFont typeface="Segoe UI Symbol"/>
              <a:buChar char="•"/>
              <a:tabLst>
                <a:tab pos="397510" algn="l"/>
              </a:tabLst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5">
                <a:latin typeface="Times New Roman"/>
                <a:cs typeface="Times New Roman"/>
              </a:rPr>
              <a:t>convert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string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empty</a:t>
            </a:r>
            <a:r>
              <a:rPr dirty="0" sz="1200" spc="-5">
                <a:latin typeface="Times New Roman"/>
                <a:cs typeface="Times New Roman"/>
              </a:rPr>
              <a:t> string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deletions:</a:t>
            </a:r>
            <a:endParaRPr sz="1200">
              <a:latin typeface="Times New Roman"/>
              <a:cs typeface="Times New Roman"/>
            </a:endParaRPr>
          </a:p>
          <a:p>
            <a:pPr algn="ctr" marL="455930">
              <a:lnSpc>
                <a:spcPct val="100000"/>
              </a:lnSpc>
              <a:spcBef>
                <a:spcPts val="1340"/>
              </a:spcBef>
            </a:pP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0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Lucida Sans Unicode"/>
              <a:cs typeface="Lucida Sans Unicode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possibilities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column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45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Deletion: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bottom </a:t>
            </a:r>
            <a:r>
              <a:rPr dirty="0" sz="1200" spc="-15">
                <a:latin typeface="Times New Roman"/>
                <a:cs typeface="Times New Roman"/>
              </a:rPr>
              <a:t>row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empty.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50">
              <a:latin typeface="Times New Roman"/>
              <a:cs typeface="Times New Roman"/>
            </a:endParaRPr>
          </a:p>
          <a:p>
            <a:pPr marL="2132965">
              <a:lnSpc>
                <a:spcPts val="1280"/>
              </a:lnSpc>
              <a:tabLst>
                <a:tab pos="2357120" algn="l"/>
                <a:tab pos="2686685" algn="l"/>
              </a:tabLst>
            </a:pPr>
            <a:r>
              <a:rPr dirty="0" sz="1200" spc="-200">
                <a:latin typeface="Lucida Sans Unicode"/>
                <a:cs typeface="Lucida Sans Unicode"/>
              </a:rPr>
              <a:t>¸</a:t>
            </a:r>
            <a:r>
              <a:rPr dirty="0" u="heavy" baseline="30092" sz="1800" spc="-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45138" sz="1200" spc="-472">
                <a:latin typeface="Verdana"/>
                <a:cs typeface="Verdana"/>
              </a:rPr>
              <a:t>i</a:t>
            </a:r>
            <a:r>
              <a:rPr dirty="0" sz="1200" spc="-315">
                <a:latin typeface="Lucida Sans Unicode"/>
                <a:cs typeface="Lucida Sans Unicode"/>
              </a:rPr>
              <a:t>E</a:t>
            </a:r>
            <a:r>
              <a:rPr dirty="0" baseline="45138" sz="1200" spc="-472">
                <a:latin typeface="Verdana"/>
                <a:cs typeface="Verdana"/>
              </a:rPr>
              <a:t>=</a:t>
            </a:r>
            <a:r>
              <a:rPr dirty="0" sz="1200" spc="-315">
                <a:latin typeface="Lucida Sans Unicode"/>
                <a:cs typeface="Lucida Sans Unicode"/>
              </a:rPr>
              <a:t>´</a:t>
            </a:r>
            <a:r>
              <a:rPr dirty="0" baseline="45138" sz="1200" spc="-472">
                <a:latin typeface="Verdana"/>
                <a:cs typeface="Verdana"/>
              </a:rPr>
              <a:t>3</a:t>
            </a:r>
            <a:r>
              <a:rPr dirty="0" u="heavy" sz="800" spc="-3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200">
                <a:latin typeface="Lucida Sans Unicode"/>
                <a:cs typeface="Lucida Sans Unicode"/>
              </a:rPr>
              <a:t>¸</a:t>
            </a:r>
            <a:endParaRPr sz="1200">
              <a:latin typeface="Lucida Sans Unicode"/>
              <a:cs typeface="Lucida Sans Unicode"/>
            </a:endParaRPr>
          </a:p>
          <a:p>
            <a:pPr marL="2132965">
              <a:lnSpc>
                <a:spcPts val="1280"/>
              </a:lnSpc>
              <a:tabLst>
                <a:tab pos="2401570" algn="l"/>
                <a:tab pos="2638425" algn="l"/>
                <a:tab pos="2906395" algn="l"/>
                <a:tab pos="3180080" algn="l"/>
                <a:tab pos="3424554" algn="l"/>
                <a:tab pos="3636010" algn="l"/>
                <a:tab pos="3879850" algn="l"/>
                <a:tab pos="4150360" algn="l"/>
              </a:tabLst>
            </a:pPr>
            <a:r>
              <a:rPr dirty="0" sz="1200" spc="90">
                <a:latin typeface="Lucida Sans Unicode"/>
                <a:cs typeface="Lucida Sans Unicode"/>
              </a:rPr>
              <a:t>A	</a:t>
            </a:r>
            <a:r>
              <a:rPr dirty="0" sz="1200" spc="25">
                <a:latin typeface="Lucida Sans Unicode"/>
                <a:cs typeface="Lucida Sans Unicode"/>
              </a:rPr>
              <a:t>L	</a:t>
            </a:r>
            <a:r>
              <a:rPr dirty="0" sz="1200" spc="45">
                <a:latin typeface="Lucida Sans Unicode"/>
                <a:cs typeface="Lucida Sans Unicode"/>
              </a:rPr>
              <a:t>G	</a:t>
            </a:r>
            <a:r>
              <a:rPr dirty="0" sz="1200" spc="25">
                <a:latin typeface="Lucida Sans Unicode"/>
                <a:cs typeface="Lucida Sans Unicode"/>
              </a:rPr>
              <a:t>O	</a:t>
            </a:r>
            <a:r>
              <a:rPr dirty="0" sz="1200" spc="-35">
                <a:latin typeface="Lucida Sans Unicode"/>
                <a:cs typeface="Lucida Sans Unicode"/>
              </a:rPr>
              <a:t>R	</a:t>
            </a:r>
            <a:r>
              <a:rPr dirty="0" sz="1200" spc="125">
                <a:latin typeface="Lucida Sans Unicode"/>
                <a:cs typeface="Lucida Sans Unicode"/>
              </a:rPr>
              <a:t>I	</a:t>
            </a:r>
            <a:r>
              <a:rPr dirty="0" sz="1200" spc="-170">
                <a:latin typeface="Lucida Sans Unicode"/>
                <a:cs typeface="Lucida Sans Unicode"/>
              </a:rPr>
              <a:t>T	</a:t>
            </a:r>
            <a:r>
              <a:rPr dirty="0" sz="1200" spc="50">
                <a:latin typeface="Lucida Sans Unicode"/>
                <a:cs typeface="Lucida Sans Unicode"/>
              </a:rPr>
              <a:t>H	</a:t>
            </a:r>
            <a:r>
              <a:rPr dirty="0" sz="1200" spc="210">
                <a:latin typeface="Lucida Sans Unicode"/>
                <a:cs typeface="Lucida Sans Unicode"/>
              </a:rPr>
              <a:t>M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3570732" y="5876988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2983990" y="5770943"/>
            <a:ext cx="670560" cy="3314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520">
                <a:latin typeface="Lucida Sans Unicode"/>
                <a:cs typeface="Lucida Sans Unicode"/>
              </a:rPr>
              <a:t>´</a:t>
            </a:r>
            <a:r>
              <a:rPr dirty="0" baseline="18518" sz="1800" spc="-780">
                <a:latin typeface="Lucida Sans Unicode"/>
                <a:cs typeface="Lucida Sans Unicode"/>
              </a:rPr>
              <a:t>A</a:t>
            </a:r>
            <a:r>
              <a:rPr dirty="0" u="heavy" sz="1200" spc="84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sz="1200" spc="-350">
                <a:latin typeface="Lucida Sans Unicode"/>
                <a:cs typeface="Lucida Sans Unicode"/>
              </a:rPr>
              <a:t>¸</a:t>
            </a:r>
            <a:r>
              <a:rPr dirty="0" baseline="18518" sz="1800" spc="-525">
                <a:latin typeface="Lucida Sans Unicode"/>
                <a:cs typeface="Lucida Sans Unicode"/>
              </a:rPr>
              <a:t>L</a:t>
            </a:r>
            <a:r>
              <a:rPr dirty="0" sz="1200" spc="-350">
                <a:latin typeface="Lucida Sans Unicode"/>
                <a:cs typeface="Lucida Sans Unicode"/>
              </a:rPr>
              <a:t>¸</a:t>
            </a:r>
            <a:r>
              <a:rPr dirty="0" u="heavy" sz="1200" spc="55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sz="1200" spc="-114">
                <a:latin typeface="Lucida Sans Unicode"/>
                <a:cs typeface="Lucida Sans Unicode"/>
              </a:rPr>
              <a:t>E</a:t>
            </a:r>
            <a:endParaRPr sz="1200">
              <a:latin typeface="Lucida Sans Unicode"/>
              <a:cs typeface="Lucida Sans Unicode"/>
            </a:endParaRPr>
          </a:p>
          <a:p>
            <a:pPr algn="ctr" marL="8255">
              <a:lnSpc>
                <a:spcPct val="100000"/>
              </a:lnSpc>
              <a:spcBef>
                <a:spcPts val="10"/>
              </a:spcBef>
            </a:pPr>
            <a:r>
              <a:rPr dirty="0" sz="800" spc="-15">
                <a:latin typeface="Verdana"/>
                <a:cs typeface="Verdana"/>
              </a:rPr>
              <a:t>j=2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797375" y="5718251"/>
            <a:ext cx="1794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5904" algn="l"/>
                <a:tab pos="500380" algn="l"/>
                <a:tab pos="769620" algn="l"/>
                <a:tab pos="981075" algn="l"/>
                <a:tab pos="1217295" algn="l"/>
                <a:tab pos="1461135" algn="l"/>
                <a:tab pos="1672589" algn="l"/>
              </a:tabLst>
            </a:pP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70">
                <a:latin typeface="Lucida Sans Unicode"/>
                <a:cs typeface="Lucida Sans Unicode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R</a:t>
            </a:r>
            <a:r>
              <a:rPr dirty="0" sz="1200" spc="-35">
                <a:latin typeface="Lucida Sans Unicode"/>
                <a:cs typeface="Lucida Sans Unicode"/>
              </a:rPr>
              <a:t>	</a:t>
            </a:r>
            <a:r>
              <a:rPr dirty="0" sz="1200" spc="90">
                <a:latin typeface="Lucida Sans Unicode"/>
                <a:cs typeface="Lucida Sans Unicode"/>
              </a:rPr>
              <a:t>U</a:t>
            </a:r>
            <a:r>
              <a:rPr dirty="0" sz="1200" spc="90">
                <a:latin typeface="Lucida Sans Unicode"/>
                <a:cs typeface="Lucida Sans Unicode"/>
              </a:rPr>
              <a:t>	</a:t>
            </a:r>
            <a:r>
              <a:rPr dirty="0" sz="1200" spc="125">
                <a:latin typeface="Lucida Sans Unicode"/>
                <a:cs typeface="Lucida Sans Unicode"/>
              </a:rPr>
              <a:t>I</a:t>
            </a:r>
            <a:r>
              <a:rPr dirty="0" sz="1200" spc="125">
                <a:latin typeface="Lucida Sans Unicode"/>
                <a:cs typeface="Lucida Sans Unicode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15">
                <a:latin typeface="Lucida Sans Unicode"/>
                <a:cs typeface="Lucida Sans Unicode"/>
              </a:rPr>
              <a:t>	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70">
                <a:latin typeface="Lucida Sans Unicode"/>
                <a:cs typeface="Lucida Sans Unicode"/>
              </a:rPr>
              <a:t>	</a:t>
            </a:r>
            <a:r>
              <a:rPr dirty="0" sz="1200" spc="125">
                <a:latin typeface="Lucida Sans Unicode"/>
                <a:cs typeface="Lucida Sans Unicode"/>
              </a:rPr>
              <a:t>I</a:t>
            </a:r>
            <a:r>
              <a:rPr dirty="0" sz="1200" spc="125">
                <a:latin typeface="Lucida Sans Unicode"/>
                <a:cs typeface="Lucida Sans Unicode"/>
              </a:rPr>
              <a:t>	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273403" y="6470688"/>
            <a:ext cx="7086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01695" y="6671856"/>
            <a:ext cx="4152265" cy="5721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658745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Insertion:</a:t>
            </a:r>
            <a:r>
              <a:rPr dirty="0" sz="1200" spc="27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last entry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 </a:t>
            </a:r>
            <a:r>
              <a:rPr dirty="0" sz="1200" spc="-15">
                <a:latin typeface="Times New Roman"/>
                <a:cs typeface="Times New Roman"/>
              </a:rPr>
              <a:t>row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empty.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983985" y="7336510"/>
            <a:ext cx="8451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24205" algn="l"/>
              </a:tabLst>
            </a:pPr>
            <a:r>
              <a:rPr dirty="0" baseline="-30092" sz="1800" spc="-300">
                <a:latin typeface="Lucida Sans Unicode"/>
                <a:cs typeface="Lucida Sans Unicode"/>
              </a:rPr>
              <a:t>¸</a:t>
            </a:r>
            <a:r>
              <a:rPr dirty="0" u="heavy" sz="1200" spc="-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800" spc="-270">
                <a:latin typeface="Verdana"/>
                <a:cs typeface="Verdana"/>
              </a:rPr>
              <a:t>i</a:t>
            </a:r>
            <a:r>
              <a:rPr dirty="0" baseline="-30092" sz="1800" spc="-405">
                <a:latin typeface="Lucida Sans Unicode"/>
                <a:cs typeface="Lucida Sans Unicode"/>
              </a:rPr>
              <a:t>E</a:t>
            </a:r>
            <a:r>
              <a:rPr dirty="0" sz="800" spc="-270">
                <a:latin typeface="Verdana"/>
                <a:cs typeface="Verdana"/>
              </a:rPr>
              <a:t>=</a:t>
            </a:r>
            <a:r>
              <a:rPr dirty="0" baseline="-30092" sz="1800" spc="-405">
                <a:latin typeface="Lucida Sans Unicode"/>
                <a:cs typeface="Lucida Sans Unicode"/>
              </a:rPr>
              <a:t>´</a:t>
            </a:r>
            <a:r>
              <a:rPr dirty="0" sz="800" spc="-270">
                <a:latin typeface="Verdana"/>
                <a:cs typeface="Verdana"/>
              </a:rPr>
              <a:t>5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3764279" y="7569581"/>
            <a:ext cx="536575" cy="15240"/>
          </a:xfrm>
          <a:custGeom>
            <a:avLst/>
            <a:gdLst/>
            <a:ahLst/>
            <a:cxnLst/>
            <a:rect l="l" t="t" r="r" b="b"/>
            <a:pathLst>
              <a:path w="536575" h="15240">
                <a:moveTo>
                  <a:pt x="536524" y="0"/>
                </a:moveTo>
                <a:lnTo>
                  <a:pt x="0" y="0"/>
                </a:lnTo>
                <a:lnTo>
                  <a:pt x="0" y="14858"/>
                </a:lnTo>
                <a:lnTo>
                  <a:pt x="536524" y="14858"/>
                </a:lnTo>
                <a:lnTo>
                  <a:pt x="536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4287492" y="7419606"/>
            <a:ext cx="939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0">
                <a:latin typeface="Lucida Sans Unicode"/>
                <a:cs typeface="Lucida Sans Unicode"/>
              </a:rPr>
              <a:t>¸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4323588" y="7722552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5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3009390" y="7562595"/>
            <a:ext cx="20980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1305" algn="l"/>
                <a:tab pos="518159" algn="l"/>
                <a:tab pos="786130" algn="l"/>
                <a:tab pos="1059815" algn="l"/>
                <a:tab pos="1510665" algn="l"/>
                <a:tab pos="1722120" algn="l"/>
                <a:tab pos="1965960" algn="l"/>
              </a:tabLst>
            </a:pP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90">
                <a:latin typeface="Lucida Sans Unicode"/>
                <a:cs typeface="Lucida Sans Unicode"/>
              </a:rPr>
              <a:t>	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25">
                <a:latin typeface="Lucida Sans Unicode"/>
                <a:cs typeface="Lucida Sans Unicode"/>
              </a:rPr>
              <a:t>	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45">
                <a:latin typeface="Lucida Sans Unicode"/>
                <a:cs typeface="Lucida Sans Unicode"/>
              </a:rPr>
              <a:t>	</a:t>
            </a:r>
            <a:r>
              <a:rPr dirty="0" sz="1200" spc="25">
                <a:latin typeface="Lucida Sans Unicode"/>
                <a:cs typeface="Lucida Sans Unicode"/>
              </a:rPr>
              <a:t>O</a:t>
            </a:r>
            <a:r>
              <a:rPr dirty="0" sz="1200" spc="25">
                <a:latin typeface="Lucida Sans Unicode"/>
                <a:cs typeface="Lucida Sans Unicode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R</a:t>
            </a:r>
            <a:r>
              <a:rPr dirty="0" sz="1200" spc="-35">
                <a:latin typeface="Lucida Sans Unicode"/>
                <a:cs typeface="Lucida Sans Unicode"/>
              </a:rPr>
              <a:t>	</a:t>
            </a:r>
            <a:r>
              <a:rPr dirty="0" sz="1200" spc="125">
                <a:latin typeface="Lucida Sans Unicode"/>
                <a:cs typeface="Lucida Sans Unicode"/>
              </a:rPr>
              <a:t>I</a:t>
            </a:r>
            <a:r>
              <a:rPr dirty="0" sz="1200" spc="125">
                <a:latin typeface="Lucida Sans Unicode"/>
                <a:cs typeface="Lucida Sans Unicode"/>
              </a:rPr>
              <a:t>	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70">
                <a:latin typeface="Lucida Sans Unicode"/>
                <a:cs typeface="Lucida Sans Unicode"/>
              </a:rPr>
              <a:t>	</a:t>
            </a:r>
            <a:r>
              <a:rPr dirty="0" sz="1200" spc="50">
                <a:latin typeface="Lucida Sans Unicode"/>
                <a:cs typeface="Lucida Sans Unicode"/>
              </a:rPr>
              <a:t>H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3570732" y="7943532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5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2971290" y="7523392"/>
            <a:ext cx="2646045" cy="64452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algn="r" marR="204470">
              <a:lnSpc>
                <a:spcPct val="100000"/>
              </a:lnSpc>
              <a:spcBef>
                <a:spcPts val="405"/>
              </a:spcBef>
            </a:pPr>
            <a:r>
              <a:rPr dirty="0" sz="1200" spc="210">
                <a:latin typeface="Lucida Sans Unicode"/>
                <a:cs typeface="Lucida Sans Unicode"/>
              </a:rPr>
              <a:t>M</a:t>
            </a:r>
            <a:endParaRPr sz="1200">
              <a:latin typeface="Lucida Sans Unicode"/>
              <a:cs typeface="Lucida Sans Unicode"/>
            </a:endParaRPr>
          </a:p>
          <a:p>
            <a:pPr marL="50800">
              <a:lnSpc>
                <a:spcPct val="100000"/>
              </a:lnSpc>
              <a:spcBef>
                <a:spcPts val="300"/>
              </a:spcBef>
              <a:tabLst>
                <a:tab pos="319405" algn="l"/>
                <a:tab pos="678815" algn="l"/>
                <a:tab pos="1082040" algn="l"/>
                <a:tab pos="1326515" algn="l"/>
                <a:tab pos="1595755" algn="l"/>
                <a:tab pos="1807210" algn="l"/>
                <a:tab pos="2043430" algn="l"/>
                <a:tab pos="2287270" algn="l"/>
                <a:tab pos="2498725" algn="l"/>
              </a:tabLst>
            </a:pPr>
            <a:r>
              <a:rPr dirty="0" sz="1200" spc="-520">
                <a:latin typeface="Lucida Sans Unicode"/>
                <a:cs typeface="Lucida Sans Unicode"/>
              </a:rPr>
              <a:t>A</a:t>
            </a:r>
            <a:r>
              <a:rPr dirty="0" baseline="-18518" sz="1800" spc="-780">
                <a:latin typeface="Lucida Sans Unicode"/>
                <a:cs typeface="Lucida Sans Unicode"/>
              </a:rPr>
              <a:t>´</a:t>
            </a:r>
            <a:r>
              <a:rPr dirty="0" u="heavy" sz="1200" spc="-5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heavy" sz="1200" spc="2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L	</a:t>
            </a:r>
            <a:r>
              <a:rPr dirty="0" baseline="-18518" sz="1800" spc="-307">
                <a:latin typeface="Lucida Sans Unicode"/>
                <a:cs typeface="Lucida Sans Unicode"/>
              </a:rPr>
              <a:t>¸¸</a:t>
            </a:r>
            <a:r>
              <a:rPr dirty="0" u="heavy" sz="1200" spc="-20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heavy" sz="1200" spc="-17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T	</a:t>
            </a:r>
            <a:r>
              <a:rPr dirty="0" u="heavy" sz="1200" spc="-3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R	</a:t>
            </a:r>
            <a:r>
              <a:rPr dirty="0" u="heavy" sz="1200" spc="-28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U</a:t>
            </a:r>
            <a:r>
              <a:rPr dirty="0" baseline="-18518" sz="1800" spc="-419">
                <a:latin typeface="Lucida Sans Unicode"/>
                <a:cs typeface="Lucida Sans Unicode"/>
              </a:rPr>
              <a:t>E	</a:t>
            </a:r>
            <a:r>
              <a:rPr dirty="0" sz="1200" spc="125">
                <a:latin typeface="Lucida Sans Unicode"/>
                <a:cs typeface="Lucida Sans Unicode"/>
              </a:rPr>
              <a:t>I	</a:t>
            </a:r>
            <a:r>
              <a:rPr dirty="0" sz="1200" spc="15">
                <a:latin typeface="Lucida Sans Unicode"/>
                <a:cs typeface="Lucida Sans Unicode"/>
              </a:rPr>
              <a:t>S	</a:t>
            </a:r>
            <a:r>
              <a:rPr dirty="0" sz="1200" spc="-170">
                <a:latin typeface="Lucida Sans Unicode"/>
                <a:cs typeface="Lucida Sans Unicode"/>
              </a:rPr>
              <a:t>T	</a:t>
            </a:r>
            <a:r>
              <a:rPr dirty="0" sz="1200" spc="125">
                <a:latin typeface="Lucida Sans Unicode"/>
                <a:cs typeface="Lucida Sans Unicode"/>
              </a:rPr>
              <a:t>I	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endParaRPr sz="1200">
              <a:latin typeface="Lucida Sans Unicode"/>
              <a:cs typeface="Lucida Sans Unicode"/>
            </a:endParaRPr>
          </a:p>
          <a:p>
            <a:pPr marL="662305">
              <a:lnSpc>
                <a:spcPct val="100000"/>
              </a:lnSpc>
              <a:spcBef>
                <a:spcPts val="425"/>
              </a:spcBef>
            </a:pPr>
            <a:r>
              <a:rPr dirty="0" sz="800" spc="-15">
                <a:latin typeface="Verdana"/>
                <a:cs typeface="Verdana"/>
              </a:rPr>
              <a:t>j=5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273405" y="8536545"/>
            <a:ext cx="7086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547745" y="8737713"/>
            <a:ext cx="15062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45859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6.3.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EDIT</a:t>
            </a:r>
            <a:r>
              <a:rPr dirty="0" sz="1200" spc="-20">
                <a:latin typeface="Times New Roman"/>
                <a:cs typeface="Times New Roman"/>
              </a:rPr>
              <a:t> DISTANCE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570732" y="1774381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3570732" y="3682429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87399" y="926454"/>
            <a:ext cx="4893310" cy="38500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Substitution:</a:t>
            </a:r>
            <a:r>
              <a:rPr dirty="0" sz="1200" spc="27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Both </a:t>
            </a:r>
            <a:r>
              <a:rPr dirty="0" sz="1200" spc="-15">
                <a:latin typeface="Times New Roman"/>
                <a:cs typeface="Times New Roman"/>
              </a:rPr>
              <a:t>rows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characters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last </a:t>
            </a:r>
            <a:r>
              <a:rPr dirty="0" sz="1200" spc="-10">
                <a:latin typeface="Times New Roman"/>
                <a:cs typeface="Times New Roman"/>
              </a:rPr>
              <a:t>column.</a:t>
            </a:r>
            <a:endParaRPr sz="1200">
              <a:latin typeface="Times New Roman"/>
              <a:cs typeface="Times New Roman"/>
            </a:endParaRPr>
          </a:p>
          <a:p>
            <a:pPr marL="2234565">
              <a:lnSpc>
                <a:spcPts val="1285"/>
              </a:lnSpc>
              <a:spcBef>
                <a:spcPts val="1105"/>
              </a:spcBef>
              <a:tabLst>
                <a:tab pos="2595245" algn="l"/>
                <a:tab pos="3061335" algn="l"/>
              </a:tabLst>
            </a:pPr>
            <a:r>
              <a:rPr dirty="0" sz="1200" spc="-200">
                <a:latin typeface="Lucida Sans Unicode"/>
                <a:cs typeface="Lucida Sans Unicode"/>
              </a:rPr>
              <a:t>¸</a:t>
            </a:r>
            <a:r>
              <a:rPr dirty="0" u="heavy" baseline="30092" sz="1800" spc="-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45138" sz="1200" spc="-472">
                <a:latin typeface="Verdana"/>
                <a:cs typeface="Verdana"/>
              </a:rPr>
              <a:t>i</a:t>
            </a:r>
            <a:r>
              <a:rPr dirty="0" sz="1200" spc="-315">
                <a:latin typeface="Lucida Sans Unicode"/>
                <a:cs typeface="Lucida Sans Unicode"/>
              </a:rPr>
              <a:t>E</a:t>
            </a:r>
            <a:r>
              <a:rPr dirty="0" baseline="45138" sz="1200" spc="-472">
                <a:latin typeface="Verdana"/>
                <a:cs typeface="Verdana"/>
              </a:rPr>
              <a:t>=</a:t>
            </a:r>
            <a:r>
              <a:rPr dirty="0" sz="1200" spc="-315">
                <a:latin typeface="Lucida Sans Unicode"/>
                <a:cs typeface="Lucida Sans Unicode"/>
              </a:rPr>
              <a:t>´</a:t>
            </a:r>
            <a:r>
              <a:rPr dirty="0" baseline="45138" sz="1200" spc="-472">
                <a:latin typeface="Verdana"/>
                <a:cs typeface="Verdana"/>
              </a:rPr>
              <a:t>4</a:t>
            </a:r>
            <a:r>
              <a:rPr dirty="0" u="heavy" sz="800" spc="-3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200">
                <a:latin typeface="Lucida Sans Unicode"/>
                <a:cs typeface="Lucida Sans Unicode"/>
              </a:rPr>
              <a:t>¸</a:t>
            </a:r>
            <a:endParaRPr sz="1200">
              <a:latin typeface="Lucida Sans Unicode"/>
              <a:cs typeface="Lucida Sans Unicode"/>
            </a:endParaRPr>
          </a:p>
          <a:p>
            <a:pPr marL="2234565">
              <a:lnSpc>
                <a:spcPts val="1280"/>
              </a:lnSpc>
              <a:tabLst>
                <a:tab pos="2503170" algn="l"/>
                <a:tab pos="2740025" algn="l"/>
                <a:tab pos="3007995" algn="l"/>
                <a:tab pos="3281679" algn="l"/>
                <a:tab pos="3526154" algn="l"/>
                <a:tab pos="3737610" algn="l"/>
                <a:tab pos="3981450" algn="l"/>
                <a:tab pos="4251960" algn="l"/>
              </a:tabLst>
            </a:pPr>
            <a:r>
              <a:rPr dirty="0" sz="1200" spc="90">
                <a:latin typeface="Lucida Sans Unicode"/>
                <a:cs typeface="Lucida Sans Unicode"/>
              </a:rPr>
              <a:t>A	</a:t>
            </a:r>
            <a:r>
              <a:rPr dirty="0" sz="1200" spc="25">
                <a:latin typeface="Lucida Sans Unicode"/>
                <a:cs typeface="Lucida Sans Unicode"/>
              </a:rPr>
              <a:t>L	</a:t>
            </a:r>
            <a:r>
              <a:rPr dirty="0" sz="1200" spc="45">
                <a:latin typeface="Lucida Sans Unicode"/>
                <a:cs typeface="Lucida Sans Unicode"/>
              </a:rPr>
              <a:t>G	</a:t>
            </a:r>
            <a:r>
              <a:rPr dirty="0" sz="1200" spc="25">
                <a:latin typeface="Lucida Sans Unicode"/>
                <a:cs typeface="Lucida Sans Unicode"/>
              </a:rPr>
              <a:t>O	</a:t>
            </a:r>
            <a:r>
              <a:rPr dirty="0" sz="1200" spc="-35">
                <a:latin typeface="Lucida Sans Unicode"/>
                <a:cs typeface="Lucida Sans Unicode"/>
              </a:rPr>
              <a:t>R	</a:t>
            </a:r>
            <a:r>
              <a:rPr dirty="0" sz="1200" spc="125">
                <a:latin typeface="Lucida Sans Unicode"/>
                <a:cs typeface="Lucida Sans Unicode"/>
              </a:rPr>
              <a:t>I	</a:t>
            </a:r>
            <a:r>
              <a:rPr dirty="0" sz="1200" spc="-170">
                <a:latin typeface="Lucida Sans Unicode"/>
                <a:cs typeface="Lucida Sans Unicode"/>
              </a:rPr>
              <a:t>T	</a:t>
            </a:r>
            <a:r>
              <a:rPr dirty="0" sz="1200" spc="50">
                <a:latin typeface="Lucida Sans Unicode"/>
                <a:cs typeface="Lucida Sans Unicode"/>
              </a:rPr>
              <a:t>H	</a:t>
            </a:r>
            <a:r>
              <a:rPr dirty="0" sz="1200" spc="210">
                <a:latin typeface="Lucida Sans Unicode"/>
                <a:cs typeface="Lucida Sans Unicode"/>
              </a:rPr>
              <a:t>M</a:t>
            </a:r>
            <a:endParaRPr sz="1200">
              <a:latin typeface="Lucida Sans Unicode"/>
              <a:cs typeface="Lucida Sans Unicode"/>
            </a:endParaRPr>
          </a:p>
          <a:p>
            <a:pPr marL="2234565">
              <a:lnSpc>
                <a:spcPct val="100000"/>
              </a:lnSpc>
              <a:spcBef>
                <a:spcPts val="305"/>
              </a:spcBef>
              <a:tabLst>
                <a:tab pos="2503170" algn="l"/>
                <a:tab pos="3022600" algn="l"/>
                <a:tab pos="3265804" algn="l"/>
                <a:tab pos="3510279" algn="l"/>
                <a:tab pos="3779520" algn="l"/>
                <a:tab pos="3990975" algn="l"/>
                <a:tab pos="4227195" algn="l"/>
                <a:tab pos="4471035" algn="l"/>
                <a:tab pos="4682490" algn="l"/>
              </a:tabLst>
            </a:pPr>
            <a:r>
              <a:rPr dirty="0" sz="1200" spc="-520">
                <a:latin typeface="Lucida Sans Unicode"/>
                <a:cs typeface="Lucida Sans Unicode"/>
              </a:rPr>
              <a:t>A</a:t>
            </a:r>
            <a:r>
              <a:rPr dirty="0" baseline="-18518" sz="1800" spc="-780">
                <a:latin typeface="Lucida Sans Unicode"/>
                <a:cs typeface="Lucida Sans Unicode"/>
              </a:rPr>
              <a:t>´</a:t>
            </a:r>
            <a:r>
              <a:rPr dirty="0" u="heavy" sz="1200" spc="-5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heavy" sz="1200" spc="-7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L</a:t>
            </a:r>
            <a:r>
              <a:rPr dirty="0" baseline="-18518" sz="1800" spc="-112">
                <a:latin typeface="Lucida Sans Unicode"/>
                <a:cs typeface="Lucida Sans Unicode"/>
              </a:rPr>
              <a:t>¸¸</a:t>
            </a:r>
            <a:r>
              <a:rPr dirty="0" u="heavy" sz="1200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345">
                <a:latin typeface="Lucida Sans Unicode"/>
                <a:cs typeface="Lucida Sans Unicode"/>
              </a:rPr>
              <a:t>T</a:t>
            </a:r>
            <a:r>
              <a:rPr dirty="0" baseline="-18518" sz="1800" spc="-517">
                <a:latin typeface="Lucida Sans Unicode"/>
                <a:cs typeface="Lucida Sans Unicode"/>
              </a:rPr>
              <a:t>E	</a:t>
            </a:r>
            <a:r>
              <a:rPr dirty="0" sz="1200" spc="-35">
                <a:latin typeface="Lucida Sans Unicode"/>
                <a:cs typeface="Lucida Sans Unicode"/>
              </a:rPr>
              <a:t>R	</a:t>
            </a:r>
            <a:r>
              <a:rPr dirty="0" sz="1200" spc="90">
                <a:latin typeface="Lucida Sans Unicode"/>
                <a:cs typeface="Lucida Sans Unicode"/>
              </a:rPr>
              <a:t>U	</a:t>
            </a:r>
            <a:r>
              <a:rPr dirty="0" sz="1200" spc="125">
                <a:latin typeface="Lucida Sans Unicode"/>
                <a:cs typeface="Lucida Sans Unicode"/>
              </a:rPr>
              <a:t>I	</a:t>
            </a:r>
            <a:r>
              <a:rPr dirty="0" sz="1200" spc="15">
                <a:latin typeface="Lucida Sans Unicode"/>
                <a:cs typeface="Lucida Sans Unicode"/>
              </a:rPr>
              <a:t>S	</a:t>
            </a:r>
            <a:r>
              <a:rPr dirty="0" sz="1200" spc="-170">
                <a:latin typeface="Lucida Sans Unicode"/>
                <a:cs typeface="Lucida Sans Unicode"/>
              </a:rPr>
              <a:t>T	</a:t>
            </a:r>
            <a:r>
              <a:rPr dirty="0" sz="1200" spc="125">
                <a:latin typeface="Lucida Sans Unicode"/>
                <a:cs typeface="Lucida Sans Unicode"/>
              </a:rPr>
              <a:t>I	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endParaRPr sz="1200">
              <a:latin typeface="Lucida Sans Unicode"/>
              <a:cs typeface="Lucida Sans Unicode"/>
            </a:endParaRPr>
          </a:p>
          <a:p>
            <a:pPr algn="ctr" marL="464184">
              <a:lnSpc>
                <a:spcPct val="100000"/>
              </a:lnSpc>
              <a:spcBef>
                <a:spcPts val="425"/>
              </a:spcBef>
            </a:pPr>
            <a:r>
              <a:rPr dirty="0" sz="800" spc="-15">
                <a:latin typeface="Verdana"/>
                <a:cs typeface="Verdana"/>
              </a:rPr>
              <a:t>j=3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750">
              <a:latin typeface="Verdana"/>
              <a:cs typeface="Verdana"/>
            </a:endParaRPr>
          </a:p>
          <a:p>
            <a:pPr marL="49847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characters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different,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endParaRPr sz="1200">
              <a:latin typeface="Times New Roman"/>
              <a:cs typeface="Times New Roman"/>
            </a:endParaRPr>
          </a:p>
          <a:p>
            <a:pPr algn="ctr" marL="2132965">
              <a:lnSpc>
                <a:spcPct val="100000"/>
              </a:lnSpc>
              <a:spcBef>
                <a:spcPts val="1105"/>
              </a:spcBef>
            </a:pP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600">
              <a:latin typeface="Lucida Sans Unicode"/>
              <a:cs typeface="Lucida Sans Unicode"/>
            </a:endParaRPr>
          </a:p>
          <a:p>
            <a:pPr marL="2234565">
              <a:lnSpc>
                <a:spcPts val="1285"/>
              </a:lnSpc>
              <a:tabLst>
                <a:tab pos="2717800" algn="l"/>
                <a:tab pos="3305810" algn="l"/>
              </a:tabLst>
            </a:pPr>
            <a:r>
              <a:rPr dirty="0" sz="1200" spc="-200">
                <a:latin typeface="Lucida Sans Unicode"/>
                <a:cs typeface="Lucida Sans Unicode"/>
              </a:rPr>
              <a:t>¸</a:t>
            </a:r>
            <a:r>
              <a:rPr dirty="0" u="heavy" baseline="30092" sz="1800" spc="-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45138" sz="1200" spc="-472">
                <a:latin typeface="Verdana"/>
                <a:cs typeface="Verdana"/>
              </a:rPr>
              <a:t>i</a:t>
            </a:r>
            <a:r>
              <a:rPr dirty="0" sz="1200" spc="-315">
                <a:latin typeface="Lucida Sans Unicode"/>
                <a:cs typeface="Lucida Sans Unicode"/>
              </a:rPr>
              <a:t>E</a:t>
            </a:r>
            <a:r>
              <a:rPr dirty="0" baseline="45138" sz="1200" spc="-472">
                <a:latin typeface="Verdana"/>
                <a:cs typeface="Verdana"/>
              </a:rPr>
              <a:t>=</a:t>
            </a:r>
            <a:r>
              <a:rPr dirty="0" sz="1200" spc="-315">
                <a:latin typeface="Lucida Sans Unicode"/>
                <a:cs typeface="Lucida Sans Unicode"/>
              </a:rPr>
              <a:t>´</a:t>
            </a:r>
            <a:r>
              <a:rPr dirty="0" baseline="45138" sz="1200" spc="-472">
                <a:latin typeface="Verdana"/>
                <a:cs typeface="Verdana"/>
              </a:rPr>
              <a:t>5</a:t>
            </a:r>
            <a:r>
              <a:rPr dirty="0" u="heavy" sz="800" spc="-3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200">
                <a:latin typeface="Lucida Sans Unicode"/>
                <a:cs typeface="Lucida Sans Unicode"/>
              </a:rPr>
              <a:t>¸</a:t>
            </a:r>
            <a:endParaRPr sz="1200">
              <a:latin typeface="Lucida Sans Unicode"/>
              <a:cs typeface="Lucida Sans Unicode"/>
            </a:endParaRPr>
          </a:p>
          <a:p>
            <a:pPr marL="2234565">
              <a:lnSpc>
                <a:spcPts val="1285"/>
              </a:lnSpc>
              <a:tabLst>
                <a:tab pos="2503170" algn="l"/>
                <a:tab pos="2740025" algn="l"/>
                <a:tab pos="3007995" algn="l"/>
                <a:tab pos="3281679" algn="l"/>
                <a:tab pos="3526154" algn="l"/>
                <a:tab pos="3737610" algn="l"/>
                <a:tab pos="3981450" algn="l"/>
                <a:tab pos="4251960" algn="l"/>
              </a:tabLst>
            </a:pPr>
            <a:r>
              <a:rPr dirty="0" sz="1200" spc="90">
                <a:latin typeface="Lucida Sans Unicode"/>
                <a:cs typeface="Lucida Sans Unicode"/>
              </a:rPr>
              <a:t>A	</a:t>
            </a:r>
            <a:r>
              <a:rPr dirty="0" sz="1200" spc="25">
                <a:latin typeface="Lucida Sans Unicode"/>
                <a:cs typeface="Lucida Sans Unicode"/>
              </a:rPr>
              <a:t>L	</a:t>
            </a:r>
            <a:r>
              <a:rPr dirty="0" sz="1200" spc="45">
                <a:latin typeface="Lucida Sans Unicode"/>
                <a:cs typeface="Lucida Sans Unicode"/>
              </a:rPr>
              <a:t>G	</a:t>
            </a:r>
            <a:r>
              <a:rPr dirty="0" sz="1200" spc="25">
                <a:latin typeface="Lucida Sans Unicode"/>
                <a:cs typeface="Lucida Sans Unicode"/>
              </a:rPr>
              <a:t>O	</a:t>
            </a:r>
            <a:r>
              <a:rPr dirty="0" sz="1200" spc="-35">
                <a:latin typeface="Lucida Sans Unicode"/>
                <a:cs typeface="Lucida Sans Unicode"/>
              </a:rPr>
              <a:t>R	</a:t>
            </a:r>
            <a:r>
              <a:rPr dirty="0" sz="1200" spc="125">
                <a:latin typeface="Lucida Sans Unicode"/>
                <a:cs typeface="Lucida Sans Unicode"/>
              </a:rPr>
              <a:t>I	</a:t>
            </a:r>
            <a:r>
              <a:rPr dirty="0" sz="1200" spc="-170">
                <a:latin typeface="Lucida Sans Unicode"/>
                <a:cs typeface="Lucida Sans Unicode"/>
              </a:rPr>
              <a:t>T	</a:t>
            </a:r>
            <a:r>
              <a:rPr dirty="0" sz="1200" spc="50">
                <a:latin typeface="Lucida Sans Unicode"/>
                <a:cs typeface="Lucida Sans Unicode"/>
              </a:rPr>
              <a:t>H	</a:t>
            </a:r>
            <a:r>
              <a:rPr dirty="0" sz="1200" spc="210">
                <a:latin typeface="Lucida Sans Unicode"/>
                <a:cs typeface="Lucida Sans Unicode"/>
              </a:rPr>
              <a:t>M</a:t>
            </a:r>
            <a:endParaRPr sz="1200">
              <a:latin typeface="Lucida Sans Unicode"/>
              <a:cs typeface="Lucida Sans Unicode"/>
            </a:endParaRPr>
          </a:p>
          <a:p>
            <a:pPr marL="2234565">
              <a:lnSpc>
                <a:spcPct val="100000"/>
              </a:lnSpc>
              <a:spcBef>
                <a:spcPts val="305"/>
              </a:spcBef>
              <a:tabLst>
                <a:tab pos="2503170" algn="l"/>
                <a:tab pos="2727960" algn="l"/>
                <a:tab pos="3265804" algn="l"/>
                <a:tab pos="3510279" algn="l"/>
                <a:tab pos="3779520" algn="l"/>
                <a:tab pos="3990975" algn="l"/>
                <a:tab pos="4227195" algn="l"/>
                <a:tab pos="4471035" algn="l"/>
                <a:tab pos="4682490" algn="l"/>
              </a:tabLst>
            </a:pPr>
            <a:r>
              <a:rPr dirty="0" sz="1200" spc="-520">
                <a:latin typeface="Lucida Sans Unicode"/>
                <a:cs typeface="Lucida Sans Unicode"/>
              </a:rPr>
              <a:t>A</a:t>
            </a:r>
            <a:r>
              <a:rPr dirty="0" baseline="-18518" sz="1800" spc="-780">
                <a:latin typeface="Lucida Sans Unicode"/>
                <a:cs typeface="Lucida Sans Unicode"/>
              </a:rPr>
              <a:t>´</a:t>
            </a:r>
            <a:r>
              <a:rPr dirty="0" u="heavy" sz="1200" spc="-5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heavy" sz="1200" spc="2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L	</a:t>
            </a:r>
            <a:r>
              <a:rPr dirty="0" baseline="-18518" sz="1800" spc="-300">
                <a:latin typeface="Lucida Sans Unicode"/>
                <a:cs typeface="Lucida Sans Unicode"/>
              </a:rPr>
              <a:t>¸¸</a:t>
            </a:r>
            <a:r>
              <a:rPr dirty="0" u="heavy" sz="1200" spc="3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 </a:t>
            </a:r>
            <a:r>
              <a:rPr dirty="0" u="heavy" sz="1200" spc="3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heavy" sz="1200" spc="-17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T	</a:t>
            </a:r>
            <a:r>
              <a:rPr dirty="0" sz="1200" spc="-345">
                <a:latin typeface="Lucida Sans Unicode"/>
                <a:cs typeface="Lucida Sans Unicode"/>
              </a:rPr>
              <a:t>R</a:t>
            </a:r>
            <a:r>
              <a:rPr dirty="0" baseline="-18518" sz="1800" spc="-517">
                <a:latin typeface="Lucida Sans Unicode"/>
                <a:cs typeface="Lucida Sans Unicode"/>
              </a:rPr>
              <a:t>E	</a:t>
            </a:r>
            <a:r>
              <a:rPr dirty="0" sz="1200" spc="90">
                <a:latin typeface="Lucida Sans Unicode"/>
                <a:cs typeface="Lucida Sans Unicode"/>
              </a:rPr>
              <a:t>U	</a:t>
            </a:r>
            <a:r>
              <a:rPr dirty="0" sz="1200" spc="125">
                <a:latin typeface="Lucida Sans Unicode"/>
                <a:cs typeface="Lucida Sans Unicode"/>
              </a:rPr>
              <a:t>I	</a:t>
            </a:r>
            <a:r>
              <a:rPr dirty="0" sz="1200" spc="15">
                <a:latin typeface="Lucida Sans Unicode"/>
                <a:cs typeface="Lucida Sans Unicode"/>
              </a:rPr>
              <a:t>S	</a:t>
            </a:r>
            <a:r>
              <a:rPr dirty="0" sz="1200" spc="-170">
                <a:latin typeface="Lucida Sans Unicode"/>
                <a:cs typeface="Lucida Sans Unicode"/>
              </a:rPr>
              <a:t>T	</a:t>
            </a:r>
            <a:r>
              <a:rPr dirty="0" sz="1200" spc="125">
                <a:latin typeface="Lucida Sans Unicode"/>
                <a:cs typeface="Lucida Sans Unicode"/>
              </a:rPr>
              <a:t>I	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endParaRPr sz="1200">
              <a:latin typeface="Lucida Sans Unicode"/>
              <a:cs typeface="Lucida Sans Unicode"/>
            </a:endParaRPr>
          </a:p>
          <a:p>
            <a:pPr algn="ctr" marL="708660">
              <a:lnSpc>
                <a:spcPct val="100000"/>
              </a:lnSpc>
              <a:spcBef>
                <a:spcPts val="425"/>
              </a:spcBef>
            </a:pPr>
            <a:r>
              <a:rPr dirty="0" sz="800" spc="-15">
                <a:latin typeface="Verdana"/>
                <a:cs typeface="Verdana"/>
              </a:rPr>
              <a:t>j=4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750">
              <a:latin typeface="Verdana"/>
              <a:cs typeface="Verdana"/>
            </a:endParaRPr>
          </a:p>
          <a:p>
            <a:pPr marL="498475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 are same, no</a:t>
            </a:r>
            <a:r>
              <a:rPr dirty="0" sz="1200" spc="-10">
                <a:latin typeface="Times New Roman"/>
                <a:cs typeface="Times New Roman"/>
              </a:rPr>
              <a:t> substitution</a:t>
            </a:r>
            <a:r>
              <a:rPr dirty="0" sz="1200" spc="-5">
                <a:latin typeface="Times New Roman"/>
                <a:cs typeface="Times New Roman"/>
              </a:rPr>
              <a:t> is needed:</a:t>
            </a:r>
            <a:endParaRPr sz="1200">
              <a:latin typeface="Times New Roman"/>
              <a:cs typeface="Times New Roman"/>
            </a:endParaRPr>
          </a:p>
          <a:p>
            <a:pPr algn="ctr" marL="2132965">
              <a:lnSpc>
                <a:spcPct val="100000"/>
              </a:lnSpc>
              <a:spcBef>
                <a:spcPts val="1100"/>
              </a:spcBef>
            </a:pP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15823" y="5419473"/>
            <a:ext cx="158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55">
                <a:latin typeface="Gulim"/>
                <a:cs typeface="Gulim"/>
              </a:rPr>
              <a:t></a:t>
            </a:r>
            <a:endParaRPr sz="1200">
              <a:latin typeface="Gulim"/>
              <a:cs typeface="Gulim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409399" y="5548517"/>
            <a:ext cx="10902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baseline="13888" sz="1800" spc="-232">
                <a:latin typeface="Gulim"/>
                <a:cs typeface="Gulim"/>
              </a:rPr>
              <a:t></a:t>
            </a:r>
            <a:endParaRPr baseline="13888" sz="1800">
              <a:latin typeface="Gulim"/>
              <a:cs typeface="Gulim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01692" y="4936671"/>
            <a:ext cx="4156710" cy="54356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1200" spc="-5">
                <a:latin typeface="Times New Roman"/>
                <a:cs typeface="Times New Roman"/>
              </a:rPr>
              <a:t>Thus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edit distance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E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i,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j</a:t>
            </a:r>
            <a:r>
              <a:rPr dirty="0" sz="1200" spc="7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smallest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four</a:t>
            </a:r>
            <a:r>
              <a:rPr dirty="0" sz="1200" spc="-5">
                <a:latin typeface="Times New Roman"/>
                <a:cs typeface="Times New Roman"/>
              </a:rPr>
              <a:t> possibilities:</a:t>
            </a:r>
            <a:endParaRPr sz="1200">
              <a:latin typeface="Times New Roman"/>
              <a:cs typeface="Times New Roman"/>
            </a:endParaRPr>
          </a:p>
          <a:p>
            <a:pPr algn="ctr" marL="829310">
              <a:lnSpc>
                <a:spcPts val="1190"/>
              </a:lnSpc>
              <a:spcBef>
                <a:spcPts val="125"/>
              </a:spcBef>
            </a:pPr>
            <a:r>
              <a:rPr dirty="0" sz="1200" spc="-155">
                <a:latin typeface="Gulim"/>
                <a:cs typeface="Gulim"/>
              </a:rPr>
              <a:t></a:t>
            </a:r>
            <a:endParaRPr sz="1200">
              <a:latin typeface="Gulim"/>
              <a:cs typeface="Gulim"/>
            </a:endParaRPr>
          </a:p>
          <a:p>
            <a:pPr marL="2654935">
              <a:lnSpc>
                <a:spcPts val="1190"/>
              </a:lnSpc>
            </a:pP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544080" y="5455477"/>
            <a:ext cx="9245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636571" y="5152239"/>
            <a:ext cx="158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55">
                <a:latin typeface="Gulim"/>
                <a:cs typeface="Gulim"/>
              </a:rPr>
              <a:t></a:t>
            </a:r>
            <a:endParaRPr sz="1200">
              <a:latin typeface="Gulim"/>
              <a:cs typeface="Gulim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636571" y="5419472"/>
            <a:ext cx="158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55">
                <a:latin typeface="Gulim"/>
                <a:cs typeface="Gulim"/>
              </a:rPr>
              <a:t></a:t>
            </a:r>
            <a:endParaRPr sz="1200">
              <a:latin typeface="Gulim"/>
              <a:cs typeface="Gulim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636571" y="5510569"/>
            <a:ext cx="158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55">
                <a:latin typeface="Gulim"/>
                <a:cs typeface="Gulim"/>
              </a:rPr>
              <a:t></a:t>
            </a:r>
            <a:endParaRPr sz="1200">
              <a:latin typeface="Gulim"/>
              <a:cs typeface="Gulim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290423" y="5638928"/>
            <a:ext cx="25298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1574" sz="1800" spc="-232">
                <a:latin typeface="Gulim"/>
                <a:cs typeface="Gulim"/>
              </a:rPr>
              <a:t></a:t>
            </a:r>
            <a:r>
              <a:rPr dirty="0" baseline="11574" sz="1800" spc="-232">
                <a:latin typeface="Gulim"/>
                <a:cs typeface="Gulim"/>
              </a:rPr>
              <a:t> </a:t>
            </a:r>
            <a:r>
              <a:rPr dirty="0" baseline="11574" sz="1800" spc="-202">
                <a:latin typeface="Gulim"/>
                <a:cs typeface="Gulim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>
                <a:latin typeface="Lucida Sans Unicode"/>
                <a:cs typeface="Lucida Sans Unicode"/>
              </a:rPr>
              <a:t>  </a:t>
            </a:r>
            <a:r>
              <a:rPr dirty="0" sz="1200" spc="-14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">
                <a:latin typeface="Segoe UI Symbol"/>
                <a:cs typeface="Segoe UI Symbol"/>
              </a:rPr>
              <a:t>/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baseline="11574" sz="1800" spc="-232">
                <a:latin typeface="Gulim"/>
                <a:cs typeface="Gulim"/>
              </a:rPr>
              <a:t></a:t>
            </a:r>
            <a:endParaRPr baseline="11574" sz="1800">
              <a:latin typeface="Gulim"/>
              <a:cs typeface="Gulim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470147" y="6524689"/>
            <a:ext cx="1290955" cy="5715"/>
          </a:xfrm>
          <a:custGeom>
            <a:avLst/>
            <a:gdLst/>
            <a:ahLst/>
            <a:cxnLst/>
            <a:rect l="l" t="t" r="r" b="b"/>
            <a:pathLst>
              <a:path w="1290954" h="5715">
                <a:moveTo>
                  <a:pt x="1290561" y="0"/>
                </a:moveTo>
                <a:lnTo>
                  <a:pt x="0" y="0"/>
                </a:lnTo>
                <a:lnTo>
                  <a:pt x="0" y="5143"/>
                </a:lnTo>
                <a:lnTo>
                  <a:pt x="1290561" y="5143"/>
                </a:lnTo>
                <a:lnTo>
                  <a:pt x="129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3470147" y="6896544"/>
            <a:ext cx="1290955" cy="5715"/>
          </a:xfrm>
          <a:custGeom>
            <a:avLst/>
            <a:gdLst/>
            <a:ahLst/>
            <a:cxnLst/>
            <a:rect l="l" t="t" r="r" b="b"/>
            <a:pathLst>
              <a:path w="1290954" h="5715">
                <a:moveTo>
                  <a:pt x="1290561" y="0"/>
                </a:moveTo>
                <a:lnTo>
                  <a:pt x="0" y="0"/>
                </a:lnTo>
                <a:lnTo>
                  <a:pt x="0" y="5143"/>
                </a:lnTo>
                <a:lnTo>
                  <a:pt x="1290561" y="5143"/>
                </a:lnTo>
                <a:lnTo>
                  <a:pt x="129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901695" y="5822380"/>
            <a:ext cx="4850765" cy="14306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693035">
              <a:lnSpc>
                <a:spcPct val="100000"/>
              </a:lnSpc>
              <a:spcBef>
                <a:spcPts val="95"/>
              </a:spcBef>
              <a:tabLst>
                <a:tab pos="3926840" algn="l"/>
              </a:tabLst>
            </a:pPr>
            <a:r>
              <a:rPr dirty="0" sz="1200" spc="85">
                <a:latin typeface="Lucida Sans Unicode"/>
                <a:cs typeface="Lucida Sans Unicode"/>
              </a:rPr>
              <a:t>E</a:t>
            </a:r>
            <a:r>
              <a:rPr dirty="0" sz="1200" spc="85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Garamond"/>
                <a:cs typeface="Garamond"/>
              </a:rPr>
              <a:t>)	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Garamond"/>
                <a:cs typeface="Garamond"/>
              </a:rPr>
              <a:t>[</a:t>
            </a:r>
            <a:r>
              <a:rPr dirty="0" sz="1200" spc="40">
                <a:latin typeface="Lucida Sans Unicode"/>
                <a:cs typeface="Lucida Sans Unicode"/>
              </a:rPr>
              <a:t>i</a:t>
            </a:r>
            <a:r>
              <a:rPr dirty="0" sz="1200" spc="40">
                <a:latin typeface="Garamond"/>
                <a:cs typeface="Garamond"/>
              </a:rPr>
              <a:t>]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B</a:t>
            </a:r>
            <a:r>
              <a:rPr dirty="0" sz="1200" spc="3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30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12700">
              <a:lnSpc>
                <a:spcPct val="100000"/>
              </a:lnSpc>
              <a:spcBef>
                <a:spcPts val="1005"/>
              </a:spcBef>
            </a:pP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edit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“ARTS”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“MATHS”: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2656205">
              <a:lnSpc>
                <a:spcPct val="100000"/>
              </a:lnSpc>
              <a:tabLst>
                <a:tab pos="2934335" algn="l"/>
                <a:tab pos="3191510" algn="l"/>
                <a:tab pos="3448685" algn="l"/>
              </a:tabLst>
            </a:pPr>
            <a:r>
              <a:rPr dirty="0" sz="1200" spc="-5">
                <a:latin typeface="Times New Roman"/>
                <a:cs typeface="Times New Roman"/>
              </a:rPr>
              <a:t>A	R	T	S</a:t>
            </a:r>
            <a:endParaRPr sz="1200">
              <a:latin typeface="Times New Roman"/>
              <a:cs typeface="Times New Roman"/>
            </a:endParaRPr>
          </a:p>
          <a:p>
            <a:pPr marL="2643505">
              <a:lnSpc>
                <a:spcPct val="100000"/>
              </a:lnSpc>
              <a:spcBef>
                <a:spcPts val="5"/>
              </a:spcBef>
              <a:tabLst>
                <a:tab pos="2929890" algn="l"/>
                <a:tab pos="3191510" algn="l"/>
                <a:tab pos="3435985" algn="l"/>
                <a:tab pos="3697604" algn="l"/>
              </a:tabLst>
            </a:pPr>
            <a:r>
              <a:rPr dirty="0" sz="1200" spc="-5">
                <a:latin typeface="Times New Roman"/>
                <a:cs typeface="Times New Roman"/>
              </a:rPr>
              <a:t>M	A	T	H	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 edit distance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E</a:t>
            </a:r>
            <a:r>
              <a:rPr dirty="0" sz="1200" spc="-10">
                <a:latin typeface="Garamond"/>
                <a:cs typeface="Garamond"/>
              </a:rPr>
              <a:t>(</a:t>
            </a:r>
            <a:r>
              <a:rPr dirty="0" sz="1200" spc="-10">
                <a:latin typeface="Lucida Sans Unicode"/>
                <a:cs typeface="Lucida Sans Unicode"/>
              </a:rPr>
              <a:t>4,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5</a:t>
            </a:r>
            <a:r>
              <a:rPr dirty="0" sz="1200" spc="-20">
                <a:latin typeface="Garamond"/>
                <a:cs typeface="Garamond"/>
              </a:rPr>
              <a:t>)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recursion to </a:t>
            </a:r>
            <a:r>
              <a:rPr dirty="0" sz="1200" spc="-10">
                <a:latin typeface="Times New Roman"/>
                <a:cs typeface="Times New Roman"/>
              </a:rPr>
              <a:t>compute,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639721" y="7640434"/>
            <a:ext cx="1137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5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baseline="13888" sz="1800" spc="-232">
                <a:latin typeface="Gulim"/>
                <a:cs typeface="Gulim"/>
              </a:rPr>
              <a:t></a:t>
            </a:r>
            <a:endParaRPr baseline="13888" sz="1800">
              <a:latin typeface="Gulim"/>
              <a:cs typeface="Gulim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567493" y="7244156"/>
            <a:ext cx="896619" cy="5111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1190"/>
              </a:lnSpc>
              <a:spcBef>
                <a:spcPts val="95"/>
              </a:spcBef>
            </a:pPr>
            <a:r>
              <a:rPr dirty="0" sz="1200" spc="-155">
                <a:latin typeface="Gulim"/>
                <a:cs typeface="Gulim"/>
              </a:rPr>
              <a:t></a:t>
            </a:r>
            <a:endParaRPr sz="1200">
              <a:latin typeface="Gulim"/>
              <a:cs typeface="Gulim"/>
            </a:endParaRPr>
          </a:p>
          <a:p>
            <a:pPr algn="r" marR="30480">
              <a:lnSpc>
                <a:spcPts val="1190"/>
              </a:lnSpc>
            </a:pP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5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algn="r" marR="30480">
              <a:lnSpc>
                <a:spcPct val="100000"/>
              </a:lnSpc>
              <a:spcBef>
                <a:spcPts val="5"/>
              </a:spcBef>
            </a:pPr>
            <a:r>
              <a:rPr dirty="0" baseline="13888" sz="1800" spc="-240">
                <a:latin typeface="Gulim"/>
                <a:cs typeface="Gulim"/>
              </a:rPr>
              <a:t>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06261" y="7244156"/>
            <a:ext cx="158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55">
                <a:latin typeface="Gulim"/>
                <a:cs typeface="Gulim"/>
              </a:rPr>
              <a:t></a:t>
            </a:r>
            <a:endParaRPr sz="1200">
              <a:latin typeface="Gulim"/>
              <a:cs typeface="Gulim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06261" y="7511274"/>
            <a:ext cx="158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55">
                <a:latin typeface="Gulim"/>
                <a:cs typeface="Gulim"/>
              </a:rPr>
              <a:t></a:t>
            </a:r>
            <a:endParaRPr sz="1200">
              <a:latin typeface="Gulim"/>
              <a:cs typeface="Gulim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406261" y="7602371"/>
            <a:ext cx="158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55">
                <a:latin typeface="Gulim"/>
                <a:cs typeface="Gulim"/>
              </a:rPr>
              <a:t></a:t>
            </a:r>
            <a:endParaRPr sz="1200">
              <a:latin typeface="Gulim"/>
              <a:cs typeface="Gulim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542093" y="7730845"/>
            <a:ext cx="206057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</a:pPr>
            <a:r>
              <a:rPr dirty="0" baseline="11574" sz="1800" spc="-240">
                <a:latin typeface="Gulim"/>
                <a:cs typeface="Gulim"/>
              </a:rPr>
              <a:t>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>
                <a:latin typeface="Lucida Sans Unicode"/>
                <a:cs typeface="Lucida Sans Unicode"/>
              </a:rPr>
              <a:t>  </a:t>
            </a:r>
            <a:r>
              <a:rPr dirty="0" sz="1200" spc="-14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">
                <a:latin typeface="Segoe UI Symbol"/>
                <a:cs typeface="Segoe UI Symbol"/>
              </a:rPr>
              <a:t>/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B</a:t>
            </a:r>
            <a:r>
              <a:rPr dirty="0" sz="1200" spc="-15">
                <a:latin typeface="Garamond"/>
                <a:cs typeface="Garamond"/>
              </a:rPr>
              <a:t>[</a:t>
            </a:r>
            <a:r>
              <a:rPr dirty="0" sz="1200" spc="-185">
                <a:latin typeface="Lucida Sans Unicode"/>
                <a:cs typeface="Lucida Sans Unicode"/>
              </a:rPr>
              <a:t>5</a:t>
            </a:r>
            <a:r>
              <a:rPr dirty="0" sz="1200" spc="-15">
                <a:latin typeface="Garamond"/>
                <a:cs typeface="Garamond"/>
              </a:rPr>
              <a:t>]</a:t>
            </a:r>
            <a:r>
              <a:rPr dirty="0" baseline="11574" sz="1800" spc="-254">
                <a:latin typeface="Gulim"/>
                <a:cs typeface="Gulim"/>
              </a:rPr>
              <a:t></a:t>
            </a:r>
            <a:endParaRPr baseline="11574" sz="1800">
              <a:latin typeface="Gulim"/>
              <a:cs typeface="Gulim"/>
            </a:endParaRPr>
          </a:p>
          <a:p>
            <a:pPr marL="325120">
              <a:lnSpc>
                <a:spcPct val="100000"/>
              </a:lnSpc>
              <a:spcBef>
                <a:spcPts val="5"/>
              </a:spcBef>
              <a:tabLst>
                <a:tab pos="1009650" algn="l"/>
              </a:tabLst>
            </a:pPr>
            <a:r>
              <a:rPr dirty="0" sz="1200" spc="-10">
                <a:latin typeface="Lucida Sans Unicode"/>
                <a:cs typeface="Lucida Sans Unicode"/>
              </a:rPr>
              <a:t>E</a:t>
            </a:r>
            <a:r>
              <a:rPr dirty="0" sz="1200" spc="-10">
                <a:latin typeface="Garamond"/>
                <a:cs typeface="Garamond"/>
              </a:rPr>
              <a:t>(</a:t>
            </a:r>
            <a:r>
              <a:rPr dirty="0" sz="1200" spc="-10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4</a:t>
            </a:r>
            <a:r>
              <a:rPr dirty="0" sz="1200" spc="-30">
                <a:latin typeface="Garamond"/>
                <a:cs typeface="Garamond"/>
              </a:rPr>
              <a:t>)	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4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B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5</a:t>
            </a:r>
            <a:r>
              <a:rPr dirty="0" sz="1200" spc="-20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01700" y="8225192"/>
            <a:ext cx="6252845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Recursion clearly leads to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 </a:t>
            </a:r>
            <a:r>
              <a:rPr dirty="0" sz="1200" spc="-10">
                <a:latin typeface="Times New Roman"/>
                <a:cs typeface="Times New Roman"/>
              </a:rPr>
              <a:t>repetitive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 pattern that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saw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Fibonnaci sequence.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avoid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approach.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build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bottom-up.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E</a:t>
            </a:r>
            <a:r>
              <a:rPr dirty="0" sz="1200" spc="-10">
                <a:latin typeface="Garamond"/>
                <a:cs typeface="Garamond"/>
              </a:rPr>
              <a:t>(</a:t>
            </a:r>
            <a:r>
              <a:rPr dirty="0" sz="1200" spc="-10">
                <a:latin typeface="Lucida Sans Unicode"/>
                <a:cs typeface="Lucida Sans Unicode"/>
              </a:rPr>
              <a:t>0, </a:t>
            </a:r>
            <a:r>
              <a:rPr dirty="0" sz="1200" spc="70">
                <a:latin typeface="Lucida Sans Unicode"/>
                <a:cs typeface="Lucida Sans Unicode"/>
              </a:rPr>
              <a:t>j</a:t>
            </a:r>
            <a:r>
              <a:rPr dirty="0" sz="1200" spc="7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to fill first </a:t>
            </a:r>
            <a:r>
              <a:rPr dirty="0" sz="1200" spc="-15">
                <a:latin typeface="Times New Roman"/>
                <a:cs typeface="Times New Roman"/>
              </a:rPr>
              <a:t>row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base case </a:t>
            </a:r>
            <a:r>
              <a:rPr dirty="0" sz="1200" spc="50">
                <a:latin typeface="Lucida Sans Unicode"/>
                <a:cs typeface="Lucida Sans Unicode"/>
              </a:rPr>
              <a:t>E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i, </a:t>
            </a:r>
            <a:r>
              <a:rPr dirty="0" sz="1200" spc="-30">
                <a:latin typeface="Lucida Sans Unicode"/>
                <a:cs typeface="Lucida Sans Unicode"/>
              </a:rPr>
              <a:t>0</a:t>
            </a:r>
            <a:r>
              <a:rPr dirty="0" sz="1200" spc="-3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to fill first </a:t>
            </a:r>
            <a:r>
              <a:rPr dirty="0" sz="1200" spc="-10">
                <a:latin typeface="Times New Roman"/>
                <a:cs typeface="Times New Roman"/>
              </a:rPr>
              <a:t>column.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fill </a:t>
            </a:r>
            <a:r>
              <a:rPr dirty="0" sz="1200" spc="-10">
                <a:latin typeface="Times New Roman"/>
                <a:cs typeface="Times New Roman"/>
              </a:rPr>
              <a:t>the remaining </a:t>
            </a:r>
            <a:r>
              <a:rPr dirty="0" sz="1200" spc="70">
                <a:latin typeface="Lucida Sans Unicode"/>
                <a:cs typeface="Lucida Sans Unicode"/>
              </a:rPr>
              <a:t>E </a:t>
            </a:r>
            <a:r>
              <a:rPr dirty="0" sz="1200" spc="-10">
                <a:latin typeface="Times New Roman"/>
                <a:cs typeface="Times New Roman"/>
              </a:rPr>
              <a:t>matrix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35">
                <a:latin typeface="Times New Roman"/>
                <a:cs typeface="Times New Roman"/>
              </a:rPr>
              <a:t>row.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8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474830" y="520987"/>
            <a:ext cx="285369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DYNAMIC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559051" y="939229"/>
          <a:ext cx="2040889" cy="2425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6385"/>
                <a:gridCol w="228599"/>
                <a:gridCol w="379729"/>
                <a:gridCol w="379730"/>
                <a:gridCol w="379730"/>
                <a:gridCol w="379730"/>
              </a:tblGrid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0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26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26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4632959" y="939229"/>
          <a:ext cx="2040889" cy="2425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6385"/>
                <a:gridCol w="226695"/>
                <a:gridCol w="379094"/>
                <a:gridCol w="379094"/>
                <a:gridCol w="379094"/>
                <a:gridCol w="380364"/>
              </a:tblGrid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0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L="635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L="1270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L="1270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901699" y="3442768"/>
            <a:ext cx="6426200" cy="1746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Times New Roman"/>
                <a:cs typeface="Times New Roman"/>
              </a:rPr>
              <a:t>Table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6.1: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 spc="-15">
                <a:latin typeface="Times New Roman"/>
                <a:cs typeface="Times New Roman"/>
              </a:rPr>
              <a:t>row</a:t>
            </a:r>
            <a:r>
              <a:rPr dirty="0" sz="1200" spc="-5">
                <a:latin typeface="Times New Roman"/>
                <a:cs typeface="Times New Roman"/>
              </a:rPr>
              <a:t> and first </a:t>
            </a:r>
            <a:r>
              <a:rPr dirty="0" sz="1200" spc="-10">
                <a:latin typeface="Times New Roman"/>
                <a:cs typeface="Times New Roman"/>
              </a:rPr>
              <a:t>column</a:t>
            </a:r>
            <a:r>
              <a:rPr dirty="0" sz="1200" spc="-5">
                <a:latin typeface="Times New Roman"/>
                <a:cs typeface="Times New Roman"/>
              </a:rPr>
              <a:t> entries using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base </a:t>
            </a:r>
            <a:r>
              <a:rPr dirty="0" sz="1200" spc="-15">
                <a:latin typeface="Times New Roman"/>
                <a:cs typeface="Times New Roman"/>
              </a:rPr>
              <a:t>cases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700">
              <a:latin typeface="Times New Roman"/>
              <a:cs typeface="Times New Roman"/>
            </a:endParaRPr>
          </a:p>
          <a:p>
            <a:pPr marL="12700" marR="5080" indent="-635">
              <a:lnSpc>
                <a:spcPct val="100000"/>
              </a:lnSpc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fill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second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row.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table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values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cells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E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i,</a:t>
            </a:r>
            <a:r>
              <a:rPr dirty="0" sz="1200" spc="-17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arrows </a:t>
            </a:r>
            <a:r>
              <a:rPr dirty="0" sz="1200" spc="-5">
                <a:latin typeface="Times New Roman"/>
                <a:cs typeface="Times New Roman"/>
              </a:rPr>
              <a:t> that indicate </a:t>
            </a:r>
            <a:r>
              <a:rPr dirty="0" sz="1200" spc="-15">
                <a:latin typeface="Times New Roman"/>
                <a:cs typeface="Times New Roman"/>
              </a:rPr>
              <a:t>how </a:t>
            </a: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 spc="-10">
                <a:latin typeface="Times New Roman"/>
                <a:cs typeface="Times New Roman"/>
              </a:rPr>
              <a:t>was computed </a:t>
            </a:r>
            <a:r>
              <a:rPr dirty="0" sz="1200" spc="-5">
                <a:latin typeface="Times New Roman"/>
                <a:cs typeface="Times New Roman"/>
              </a:rPr>
              <a:t>using </a:t>
            </a:r>
            <a:r>
              <a:rPr dirty="0" sz="1200" spc="-10">
                <a:latin typeface="Times New Roman"/>
                <a:cs typeface="Times New Roman"/>
              </a:rPr>
              <a:t>values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50">
                <a:latin typeface="Lucida Sans Unicode"/>
                <a:cs typeface="Lucida Sans Unicode"/>
              </a:rPr>
              <a:t>E</a:t>
            </a:r>
            <a:r>
              <a:rPr dirty="0" sz="1200" spc="50">
                <a:latin typeface="Garamond"/>
                <a:cs typeface="Garamond"/>
              </a:rPr>
              <a:t>[</a:t>
            </a:r>
            <a:r>
              <a:rPr dirty="0" sz="1200" spc="50">
                <a:latin typeface="Lucida Sans Unicode"/>
                <a:cs typeface="Lucida Sans Unicode"/>
              </a:rPr>
              <a:t>i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 </a:t>
            </a:r>
            <a:r>
              <a:rPr dirty="0" sz="1200" spc="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5">
                <a:latin typeface="Times New Roman"/>
                <a:cs typeface="Times New Roman"/>
              </a:rPr>
              <a:t>, </a:t>
            </a:r>
            <a:r>
              <a:rPr dirty="0" sz="1200" spc="25">
                <a:latin typeface="Lucida Sans Unicode"/>
                <a:cs typeface="Lucida Sans Unicode"/>
              </a:rPr>
              <a:t>E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i, </a:t>
            </a:r>
            <a:r>
              <a:rPr dirty="0" sz="1200" spc="30">
                <a:latin typeface="Lucida Sans Unicode"/>
                <a:cs typeface="Lucida Sans Unicode"/>
              </a:rPr>
              <a:t>j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1</a:t>
            </a:r>
            <a:r>
              <a:rPr dirty="0" sz="1200" spc="-80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50">
                <a:latin typeface="Lucida Sans Unicode"/>
                <a:cs typeface="Lucida Sans Unicode"/>
              </a:rPr>
              <a:t>E</a:t>
            </a:r>
            <a:r>
              <a:rPr dirty="0" sz="1200" spc="50">
                <a:latin typeface="Garamond"/>
                <a:cs typeface="Garamond"/>
              </a:rPr>
              <a:t>[</a:t>
            </a:r>
            <a:r>
              <a:rPr dirty="0" sz="1200" spc="50">
                <a:latin typeface="Lucida Sans Unicode"/>
                <a:cs typeface="Lucida Sans Unicode"/>
              </a:rPr>
              <a:t>i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 </a:t>
            </a:r>
            <a:r>
              <a:rPr dirty="0" sz="1200" spc="30">
                <a:latin typeface="Lucida Sans Unicode"/>
                <a:cs typeface="Lucida Sans Unicode"/>
              </a:rPr>
              <a:t>j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1</a:t>
            </a:r>
            <a:r>
              <a:rPr dirty="0" sz="1200" spc="-55">
                <a:latin typeface="Garamond"/>
                <a:cs typeface="Garamond"/>
              </a:rPr>
              <a:t>]</a:t>
            </a:r>
            <a:r>
              <a:rPr dirty="0" sz="1200" spc="-5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Thus, if a cell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E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i,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has a </a:t>
            </a:r>
            <a:r>
              <a:rPr dirty="0" sz="1200" spc="-15">
                <a:latin typeface="Times New Roman"/>
                <a:cs typeface="Times New Roman"/>
              </a:rPr>
              <a:t>down arrow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50">
                <a:latin typeface="Lucida Sans Unicode"/>
                <a:cs typeface="Lucida Sans Unicode"/>
              </a:rPr>
              <a:t>E</a:t>
            </a:r>
            <a:r>
              <a:rPr dirty="0" sz="1200" spc="50">
                <a:latin typeface="Garamond"/>
                <a:cs typeface="Garamond"/>
              </a:rPr>
              <a:t>[</a:t>
            </a:r>
            <a:r>
              <a:rPr dirty="0" sz="1200" spc="50">
                <a:latin typeface="Lucida Sans Unicode"/>
                <a:cs typeface="Lucida Sans Unicode"/>
              </a:rPr>
              <a:t>i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the minimum was found </a:t>
            </a:r>
            <a:r>
              <a:rPr dirty="0" sz="1200" spc="-5">
                <a:latin typeface="Times New Roman"/>
                <a:cs typeface="Times New Roman"/>
              </a:rPr>
              <a:t>using </a:t>
            </a:r>
            <a:r>
              <a:rPr dirty="0" sz="1200" spc="50">
                <a:latin typeface="Lucida Sans Unicode"/>
                <a:cs typeface="Lucida Sans Unicode"/>
              </a:rPr>
              <a:t>E</a:t>
            </a:r>
            <a:r>
              <a:rPr dirty="0" sz="1200" spc="50">
                <a:latin typeface="Garamond"/>
                <a:cs typeface="Garamond"/>
              </a:rPr>
              <a:t>[</a:t>
            </a:r>
            <a:r>
              <a:rPr dirty="0" sz="1200" spc="50">
                <a:latin typeface="Lucida Sans Unicode"/>
                <a:cs typeface="Lucida Sans Unicode"/>
              </a:rPr>
              <a:t>i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 </a:t>
            </a:r>
            <a:r>
              <a:rPr dirty="0" sz="1200" spc="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5">
                <a:latin typeface="Times New Roman"/>
                <a:cs typeface="Times New Roman"/>
              </a:rPr>
              <a:t>.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right </a:t>
            </a:r>
            <a:r>
              <a:rPr dirty="0" sz="1200" spc="-25">
                <a:latin typeface="Times New Roman"/>
                <a:cs typeface="Times New Roman"/>
              </a:rPr>
              <a:t>arrow, 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found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E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i,</a:t>
            </a:r>
            <a:r>
              <a:rPr dirty="0" sz="1200" spc="-14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1</a:t>
            </a:r>
            <a:r>
              <a:rPr dirty="0" sz="1200" spc="-55">
                <a:latin typeface="Garamond"/>
                <a:cs typeface="Garamond"/>
              </a:rPr>
              <a:t>]</a:t>
            </a:r>
            <a:r>
              <a:rPr dirty="0" sz="1200" spc="-55">
                <a:latin typeface="Times New Roman"/>
                <a:cs typeface="Times New Roman"/>
              </a:rPr>
              <a:t>.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diagonal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down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arrow,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found </a:t>
            </a:r>
            <a:r>
              <a:rPr dirty="0" sz="1200" spc="-5">
                <a:latin typeface="Times New Roman"/>
                <a:cs typeface="Times New Roman"/>
              </a:rPr>
              <a:t> using </a:t>
            </a:r>
            <a:r>
              <a:rPr dirty="0" sz="1200" spc="50">
                <a:latin typeface="Lucida Sans Unicode"/>
                <a:cs typeface="Lucida Sans Unicode"/>
              </a:rPr>
              <a:t>E</a:t>
            </a:r>
            <a:r>
              <a:rPr dirty="0" sz="1200" spc="50">
                <a:latin typeface="Garamond"/>
                <a:cs typeface="Garamond"/>
              </a:rPr>
              <a:t>[</a:t>
            </a:r>
            <a:r>
              <a:rPr dirty="0" sz="1200" spc="50">
                <a:latin typeface="Lucida Sans Unicode"/>
                <a:cs typeface="Lucida Sans Unicode"/>
              </a:rPr>
              <a:t>i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9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 </a:t>
            </a:r>
            <a:r>
              <a:rPr dirty="0" sz="1200" spc="30">
                <a:latin typeface="Lucida Sans Unicode"/>
                <a:cs typeface="Lucida Sans Unicode"/>
              </a:rPr>
              <a:t>j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1</a:t>
            </a:r>
            <a:r>
              <a:rPr dirty="0" sz="1200" spc="-55">
                <a:latin typeface="Garamond"/>
                <a:cs typeface="Garamond"/>
              </a:rPr>
              <a:t>]</a:t>
            </a:r>
            <a:r>
              <a:rPr dirty="0" sz="1200" spc="-5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There are certain cells that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10">
                <a:latin typeface="Times New Roman"/>
                <a:cs typeface="Times New Roman"/>
              </a:rPr>
              <a:t>two arrows pointed </a:t>
            </a:r>
            <a:r>
              <a:rPr dirty="0" sz="1200" spc="-5">
                <a:latin typeface="Times New Roman"/>
                <a:cs typeface="Times New Roman"/>
              </a:rPr>
              <a:t>to it. In such a case,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 </a:t>
            </a:r>
            <a:r>
              <a:rPr dirty="0" sz="1200" spc="-5">
                <a:latin typeface="Times New Roman"/>
                <a:cs typeface="Times New Roman"/>
              </a:rPr>
              <a:t>could be </a:t>
            </a:r>
            <a:r>
              <a:rPr dirty="0" sz="1200" spc="-10">
                <a:latin typeface="Times New Roman"/>
                <a:cs typeface="Times New Roman"/>
              </a:rPr>
              <a:t>obtained from the diagonal </a:t>
            </a:r>
            <a:r>
              <a:rPr dirty="0" sz="1200" spc="50">
                <a:latin typeface="Lucida Sans Unicode"/>
                <a:cs typeface="Lucida Sans Unicode"/>
              </a:rPr>
              <a:t>E</a:t>
            </a:r>
            <a:r>
              <a:rPr dirty="0" sz="1200" spc="50">
                <a:latin typeface="Garamond"/>
                <a:cs typeface="Garamond"/>
              </a:rPr>
              <a:t>[</a:t>
            </a:r>
            <a:r>
              <a:rPr dirty="0" sz="1200" spc="50">
                <a:latin typeface="Lucida Sans Unicode"/>
                <a:cs typeface="Lucida Sans Unicode"/>
              </a:rPr>
              <a:t>i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 </a:t>
            </a:r>
            <a:r>
              <a:rPr dirty="0" sz="1200" spc="30">
                <a:latin typeface="Lucida Sans Unicode"/>
                <a:cs typeface="Lucida Sans Unicode"/>
              </a:rPr>
              <a:t>j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1</a:t>
            </a:r>
            <a:r>
              <a:rPr dirty="0" sz="1200" spc="-80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and either of </a:t>
            </a:r>
            <a:r>
              <a:rPr dirty="0" sz="1200" spc="50">
                <a:latin typeface="Lucida Sans Unicode"/>
                <a:cs typeface="Lucida Sans Unicode"/>
              </a:rPr>
              <a:t>E</a:t>
            </a:r>
            <a:r>
              <a:rPr dirty="0" sz="1200" spc="50">
                <a:latin typeface="Garamond"/>
                <a:cs typeface="Garamond"/>
              </a:rPr>
              <a:t>[</a:t>
            </a:r>
            <a:r>
              <a:rPr dirty="0" sz="1200" spc="50">
                <a:latin typeface="Lucida Sans Unicode"/>
                <a:cs typeface="Lucida Sans Unicode"/>
              </a:rPr>
              <a:t>i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25">
                <a:latin typeface="Lucida Sans Unicode"/>
                <a:cs typeface="Lucida Sans Unicode"/>
              </a:rPr>
              <a:t>E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i, </a:t>
            </a:r>
            <a:r>
              <a:rPr dirty="0" sz="1200" spc="30">
                <a:latin typeface="Lucida Sans Unicode"/>
                <a:cs typeface="Lucida Sans Unicode"/>
              </a:rPr>
              <a:t>j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1</a:t>
            </a:r>
            <a:r>
              <a:rPr dirty="0" sz="1200" spc="-55">
                <a:latin typeface="Garamond"/>
                <a:cs typeface="Garamond"/>
              </a:rPr>
              <a:t>]</a:t>
            </a:r>
            <a:r>
              <a:rPr dirty="0" sz="1200" spc="-55">
                <a:latin typeface="Times New Roman"/>
                <a:cs typeface="Times New Roman"/>
              </a:rPr>
              <a:t>. We 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use these </a:t>
            </a:r>
            <a:r>
              <a:rPr dirty="0" sz="1200" spc="-10">
                <a:latin typeface="Times New Roman"/>
                <a:cs typeface="Times New Roman"/>
              </a:rPr>
              <a:t>arrows</a:t>
            </a:r>
            <a:r>
              <a:rPr dirty="0" sz="1200" spc="-5">
                <a:latin typeface="Times New Roman"/>
                <a:cs typeface="Times New Roman"/>
              </a:rPr>
              <a:t> later to </a:t>
            </a:r>
            <a:r>
              <a:rPr dirty="0" sz="1200" spc="-10">
                <a:latin typeface="Times New Roman"/>
                <a:cs typeface="Times New Roman"/>
              </a:rPr>
              <a:t>determine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edit script.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45859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6.3.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EDIT</a:t>
            </a:r>
            <a:r>
              <a:rPr dirty="0" sz="1200" spc="-20">
                <a:latin typeface="Times New Roman"/>
                <a:cs typeface="Times New Roman"/>
              </a:rPr>
              <a:t> DISTANCE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8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559051" y="939229"/>
          <a:ext cx="2040889" cy="2425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6385"/>
                <a:gridCol w="228599"/>
                <a:gridCol w="379729"/>
                <a:gridCol w="379730"/>
                <a:gridCol w="379730"/>
                <a:gridCol w="379730"/>
              </a:tblGrid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0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26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26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4632959" y="939229"/>
          <a:ext cx="2040889" cy="2425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6385"/>
                <a:gridCol w="226695"/>
                <a:gridCol w="379094"/>
                <a:gridCol w="379094"/>
                <a:gridCol w="379094"/>
                <a:gridCol w="380364"/>
              </a:tblGrid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0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L="635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L="1270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L="1270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62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2873259" y="3453055"/>
            <a:ext cx="24834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bl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6.2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omputin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559051" y="4738561"/>
          <a:ext cx="2040889" cy="24269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6385"/>
                <a:gridCol w="228599"/>
                <a:gridCol w="379729"/>
                <a:gridCol w="379730"/>
                <a:gridCol w="379730"/>
                <a:gridCol w="379730"/>
              </a:tblGrid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0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265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3379"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23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26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04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4632959" y="4738561"/>
          <a:ext cx="2040889" cy="24269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6385"/>
                <a:gridCol w="226695"/>
                <a:gridCol w="379094"/>
                <a:gridCol w="379094"/>
                <a:gridCol w="379094"/>
                <a:gridCol w="380364"/>
              </a:tblGrid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0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L="635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L="1270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L="1270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62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62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62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33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23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04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2873259" y="7253300"/>
            <a:ext cx="24834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bl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6.3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omputin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01698" y="8041741"/>
            <a:ext cx="6426200" cy="9417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edit script can be </a:t>
            </a:r>
            <a:r>
              <a:rPr dirty="0" sz="1200" spc="-10">
                <a:latin typeface="Times New Roman"/>
                <a:cs typeface="Times New Roman"/>
              </a:rPr>
              <a:t>extracted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following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unique </a:t>
            </a:r>
            <a:r>
              <a:rPr dirty="0" sz="1200" spc="-5">
                <a:latin typeface="Times New Roman"/>
                <a:cs typeface="Times New Roman"/>
              </a:rPr>
              <a:t>path from </a:t>
            </a:r>
            <a:r>
              <a:rPr dirty="0" sz="1200" spc="-35">
                <a:latin typeface="Lucida Sans Unicode"/>
                <a:cs typeface="Lucida Sans Unicode"/>
              </a:rPr>
              <a:t>E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0, </a:t>
            </a:r>
            <a:r>
              <a:rPr dirty="0" sz="1200" spc="-80">
                <a:latin typeface="Lucida Sans Unicode"/>
                <a:cs typeface="Lucida Sans Unicode"/>
              </a:rPr>
              <a:t>0</a:t>
            </a:r>
            <a:r>
              <a:rPr dirty="0" sz="1200" spc="-80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35">
                <a:latin typeface="Lucida Sans Unicode"/>
                <a:cs typeface="Lucida Sans Unicode"/>
              </a:rPr>
              <a:t>E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4, </a:t>
            </a:r>
            <a:r>
              <a:rPr dirty="0" sz="1200" spc="-55">
                <a:latin typeface="Lucida Sans Unicode"/>
                <a:cs typeface="Lucida Sans Unicode"/>
              </a:rPr>
              <a:t>5</a:t>
            </a:r>
            <a:r>
              <a:rPr dirty="0" sz="1200" spc="-55">
                <a:latin typeface="Garamond"/>
                <a:cs typeface="Garamond"/>
              </a:rPr>
              <a:t>]</a:t>
            </a:r>
            <a:r>
              <a:rPr dirty="0" sz="1200" spc="-5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There are three possible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paths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current </a:t>
            </a:r>
            <a:r>
              <a:rPr dirty="0" sz="1200" spc="-10">
                <a:latin typeface="Times New Roman"/>
                <a:cs typeface="Times New Roman"/>
              </a:rPr>
              <a:t>example.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 spc="-15">
                <a:latin typeface="Times New Roman"/>
                <a:cs typeface="Times New Roman"/>
              </a:rPr>
              <a:t>follow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 paths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edit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script.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actual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implementation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version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arrows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recorded using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appropriate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structure.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record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 fields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(numeric)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flags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three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incoming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arrows.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8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474830" y="520987"/>
            <a:ext cx="285369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DYNAMIC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095244" y="939229"/>
          <a:ext cx="2040889" cy="2425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8290"/>
                <a:gridCol w="227329"/>
                <a:gridCol w="379730"/>
                <a:gridCol w="379730"/>
                <a:gridCol w="379730"/>
                <a:gridCol w="379730"/>
              </a:tblGrid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0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L="635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62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62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L="63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31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10160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31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2356280" y="3453055"/>
            <a:ext cx="3517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Times New Roman"/>
                <a:cs typeface="Times New Roman"/>
              </a:rPr>
              <a:t>Table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6.4: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final table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all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E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entries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computed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911352" y="6590220"/>
          <a:ext cx="2040889" cy="2425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8290"/>
                <a:gridCol w="227329"/>
                <a:gridCol w="379730"/>
                <a:gridCol w="379730"/>
                <a:gridCol w="379730"/>
                <a:gridCol w="379730"/>
              </a:tblGrid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0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5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5"/>
                        </a:lnSpc>
                      </a:pPr>
                      <a:r>
                        <a:rPr dirty="0" sz="1200" spc="26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10160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5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5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4597245" y="7286676"/>
            <a:ext cx="10039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 i="1">
                <a:latin typeface="Times New Roman"/>
                <a:cs typeface="Times New Roman"/>
              </a:rPr>
              <a:t>Solution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path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1: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4610100" y="7488272"/>
          <a:ext cx="1900555" cy="7493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3055"/>
                <a:gridCol w="313055"/>
                <a:gridCol w="313054"/>
                <a:gridCol w="313055"/>
                <a:gridCol w="646430"/>
              </a:tblGrid>
              <a:tr h="175795">
                <a:tc>
                  <a:txBody>
                    <a:bodyPr/>
                    <a:lstStyle/>
                    <a:p>
                      <a:pPr marL="75565">
                        <a:lnSpc>
                          <a:spcPts val="128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1+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8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0+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1+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1+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9220">
                        <a:lnSpc>
                          <a:spcPts val="1285"/>
                        </a:lnSpc>
                        <a:tabLst>
                          <a:tab pos="370840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0	=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12694">
                <a:tc>
                  <a:txBody>
                    <a:bodyPr/>
                    <a:lstStyle/>
                    <a:p>
                      <a:pPr marL="101600">
                        <a:lnSpc>
                          <a:spcPts val="136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ts val="136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6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4612">
                <a:tc>
                  <a:txBody>
                    <a:bodyPr/>
                    <a:lstStyle/>
                    <a:p>
                      <a:pPr marL="88900">
                        <a:lnSpc>
                          <a:spcPts val="13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01600">
                        <a:lnSpc>
                          <a:spcPts val="13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05410">
                        <a:lnSpc>
                          <a:spcPts val="13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757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1600">
                        <a:lnSpc>
                          <a:spcPts val="128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5410">
                        <a:lnSpc>
                          <a:spcPts val="128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4748783" y="8199564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5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45859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6.3.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EDIT</a:t>
            </a:r>
            <a:r>
              <a:rPr dirty="0" sz="1200" spc="-20">
                <a:latin typeface="Times New Roman"/>
                <a:cs typeface="Times New Roman"/>
              </a:rPr>
              <a:t> DISTANCE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8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095244" y="939229"/>
          <a:ext cx="2040889" cy="2425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8290"/>
                <a:gridCol w="227329"/>
                <a:gridCol w="379730"/>
                <a:gridCol w="379730"/>
                <a:gridCol w="379730"/>
                <a:gridCol w="379730"/>
              </a:tblGrid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0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L="635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65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62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→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62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L="63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 spc="26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31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10160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31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270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901699" y="3453055"/>
            <a:ext cx="642620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Times New Roman"/>
                <a:cs typeface="Times New Roman"/>
              </a:rPr>
              <a:t>Table </a:t>
            </a:r>
            <a:r>
              <a:rPr dirty="0" sz="1200" spc="-10">
                <a:latin typeface="Times New Roman"/>
                <a:cs typeface="Times New Roman"/>
              </a:rPr>
              <a:t>6.5: </a:t>
            </a:r>
            <a:r>
              <a:rPr dirty="0" sz="1200" spc="-5">
                <a:latin typeface="Times New Roman"/>
                <a:cs typeface="Times New Roman"/>
              </a:rPr>
              <a:t>Possible edit scripts. The red </a:t>
            </a:r>
            <a:r>
              <a:rPr dirty="0" sz="1200" spc="-10">
                <a:latin typeface="Times New Roman"/>
                <a:cs typeface="Times New Roman"/>
              </a:rPr>
              <a:t>arrows from </a:t>
            </a:r>
            <a:r>
              <a:rPr dirty="0" sz="1200" spc="-35">
                <a:latin typeface="Lucida Sans Unicode"/>
                <a:cs typeface="Lucida Sans Unicode"/>
              </a:rPr>
              <a:t>E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0, </a:t>
            </a:r>
            <a:r>
              <a:rPr dirty="0" sz="1200" spc="-80">
                <a:latin typeface="Lucida Sans Unicode"/>
                <a:cs typeface="Lucida Sans Unicode"/>
              </a:rPr>
              <a:t>0</a:t>
            </a:r>
            <a:r>
              <a:rPr dirty="0" sz="1200" spc="-80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35">
                <a:latin typeface="Lucida Sans Unicode"/>
                <a:cs typeface="Lucida Sans Unicode"/>
              </a:rPr>
              <a:t>E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4,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 </a:t>
            </a:r>
            <a:r>
              <a:rPr dirty="0" sz="1200" spc="-15">
                <a:latin typeface="Times New Roman"/>
                <a:cs typeface="Times New Roman"/>
              </a:rPr>
              <a:t>show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paths that can be </a:t>
            </a:r>
            <a:r>
              <a:rPr dirty="0" sz="1200" spc="-10">
                <a:latin typeface="Times New Roman"/>
                <a:cs typeface="Times New Roman"/>
              </a:rPr>
              <a:t>followed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extract</a:t>
            </a:r>
            <a:r>
              <a:rPr dirty="0" sz="1200" spc="-5">
                <a:latin typeface="Times New Roman"/>
                <a:cs typeface="Times New Roman"/>
              </a:rPr>
              <a:t> edit scripts.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911352" y="6590220"/>
          <a:ext cx="2040889" cy="2425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8290"/>
                <a:gridCol w="227329"/>
                <a:gridCol w="379730"/>
                <a:gridCol w="379730"/>
                <a:gridCol w="379730"/>
                <a:gridCol w="379730"/>
              </a:tblGrid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0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5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5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</a:t>
                      </a:r>
                      <a:r>
                        <a:rPr dirty="0" sz="1200" spc="26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10160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5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5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4597245" y="7286676"/>
            <a:ext cx="10039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 i="1">
                <a:latin typeface="Times New Roman"/>
                <a:cs typeface="Times New Roman"/>
              </a:rPr>
              <a:t>Solution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path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2: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4610100" y="7488272"/>
          <a:ext cx="1900555" cy="7493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3055"/>
                <a:gridCol w="313055"/>
                <a:gridCol w="313054"/>
                <a:gridCol w="313055"/>
                <a:gridCol w="646430"/>
              </a:tblGrid>
              <a:tr h="175795">
                <a:tc>
                  <a:txBody>
                    <a:bodyPr/>
                    <a:lstStyle/>
                    <a:p>
                      <a:pPr algn="r" marR="67945">
                        <a:lnSpc>
                          <a:spcPts val="128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1+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8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1+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0+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1+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9220">
                        <a:lnSpc>
                          <a:spcPts val="1285"/>
                        </a:lnSpc>
                        <a:tabLst>
                          <a:tab pos="370840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0	=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12694">
                <a:tc>
                  <a:txBody>
                    <a:bodyPr/>
                    <a:lstStyle/>
                    <a:p>
                      <a:pPr algn="r" marR="106680">
                        <a:lnSpc>
                          <a:spcPts val="136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6680">
                        <a:lnSpc>
                          <a:spcPts val="136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6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4612">
                <a:tc>
                  <a:txBody>
                    <a:bodyPr/>
                    <a:lstStyle/>
                    <a:p>
                      <a:pPr algn="r" marR="81280">
                        <a:lnSpc>
                          <a:spcPts val="13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 marR="93980">
                        <a:lnSpc>
                          <a:spcPts val="13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05410">
                        <a:lnSpc>
                          <a:spcPts val="13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75795">
                <a:tc>
                  <a:txBody>
                    <a:bodyPr/>
                    <a:lstStyle/>
                    <a:p>
                      <a:pPr algn="r" marR="93980">
                        <a:lnSpc>
                          <a:spcPts val="128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97790">
                        <a:lnSpc>
                          <a:spcPts val="128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5410">
                        <a:lnSpc>
                          <a:spcPts val="128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5689091" y="8199564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5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06347" y="4747907"/>
            <a:ext cx="2150745" cy="195580"/>
          </a:xfrm>
          <a:custGeom>
            <a:avLst/>
            <a:gdLst/>
            <a:ahLst/>
            <a:cxnLst/>
            <a:rect l="l" t="t" r="r" b="b"/>
            <a:pathLst>
              <a:path w="2150745" h="195579">
                <a:moveTo>
                  <a:pt x="2150249" y="0"/>
                </a:moveTo>
                <a:lnTo>
                  <a:pt x="0" y="0"/>
                </a:lnTo>
                <a:lnTo>
                  <a:pt x="0" y="195237"/>
                </a:lnTo>
                <a:lnTo>
                  <a:pt x="2150249" y="195237"/>
                </a:lnTo>
                <a:lnTo>
                  <a:pt x="2150249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8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474830" y="520987"/>
            <a:ext cx="285369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DYNAMIC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911352" y="939229"/>
          <a:ext cx="2040889" cy="2425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8290"/>
                <a:gridCol w="227329"/>
                <a:gridCol w="379730"/>
                <a:gridCol w="379730"/>
                <a:gridCol w="379730"/>
                <a:gridCol w="379730"/>
              </a:tblGrid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0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65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→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→3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</a:t>
                      </a:r>
                      <a:r>
                        <a:rPr dirty="0" sz="1200" spc="26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10160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 spc="260">
                          <a:latin typeface="Lucida Sans Unicode"/>
                          <a:cs typeface="Lucida Sans Unicode"/>
                        </a:rPr>
                        <a:t>\↓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algn="r" marR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solidFill>
                            <a:srgbClr val="FF0000"/>
                          </a:solidFill>
                          <a:latin typeface="Lucida Sans Unicode"/>
                          <a:cs typeface="Lucida Sans Unicode"/>
                        </a:rPr>
                        <a:t>\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/>
          <p:cNvSpPr/>
          <p:nvPr/>
        </p:nvSpPr>
        <p:spPr>
          <a:xfrm>
            <a:off x="4610100" y="2210256"/>
            <a:ext cx="2213610" cy="31115"/>
          </a:xfrm>
          <a:custGeom>
            <a:avLst/>
            <a:gdLst/>
            <a:ahLst/>
            <a:cxnLst/>
            <a:rect l="l" t="t" r="r" b="b"/>
            <a:pathLst>
              <a:path w="2213609" h="31114">
                <a:moveTo>
                  <a:pt x="2213406" y="25908"/>
                </a:moveTo>
                <a:lnTo>
                  <a:pt x="0" y="25908"/>
                </a:lnTo>
                <a:lnTo>
                  <a:pt x="0" y="31038"/>
                </a:lnTo>
                <a:lnTo>
                  <a:pt x="2213406" y="31038"/>
                </a:lnTo>
                <a:lnTo>
                  <a:pt x="2213406" y="25908"/>
                </a:lnTo>
                <a:close/>
              </a:path>
              <a:path w="2213609" h="31114">
                <a:moveTo>
                  <a:pt x="2213406" y="0"/>
                </a:moveTo>
                <a:lnTo>
                  <a:pt x="0" y="0"/>
                </a:lnTo>
                <a:lnTo>
                  <a:pt x="0" y="5130"/>
                </a:lnTo>
                <a:lnTo>
                  <a:pt x="2213406" y="5130"/>
                </a:lnTo>
                <a:lnTo>
                  <a:pt x="22134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5375147" y="2364169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4748783" y="2547048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6001511" y="2547048"/>
            <a:ext cx="45720" cy="5715"/>
          </a:xfrm>
          <a:custGeom>
            <a:avLst/>
            <a:gdLst/>
            <a:ahLst/>
            <a:cxnLst/>
            <a:rect l="l" t="t" r="r" b="b"/>
            <a:pathLst>
              <a:path w="45720" h="5714">
                <a:moveTo>
                  <a:pt x="45605" y="0"/>
                </a:moveTo>
                <a:lnTo>
                  <a:pt x="0" y="0"/>
                </a:lnTo>
                <a:lnTo>
                  <a:pt x="0" y="5143"/>
                </a:lnTo>
                <a:lnTo>
                  <a:pt x="45605" y="5143"/>
                </a:lnTo>
                <a:lnTo>
                  <a:pt x="456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4597245" y="1635228"/>
            <a:ext cx="2162810" cy="9607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400"/>
              </a:lnSpc>
              <a:spcBef>
                <a:spcPts val="95"/>
              </a:spcBef>
            </a:pPr>
            <a:r>
              <a:rPr dirty="0" sz="1200" spc="-10" i="1">
                <a:latin typeface="Times New Roman"/>
                <a:cs typeface="Times New Roman"/>
              </a:rPr>
              <a:t>Solution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path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3:</a:t>
            </a:r>
            <a:endParaRPr sz="1200">
              <a:latin typeface="Times New Roman"/>
              <a:cs typeface="Times New Roman"/>
            </a:endParaRPr>
          </a:p>
          <a:p>
            <a:pPr marL="88265">
              <a:lnSpc>
                <a:spcPts val="1400"/>
              </a:lnSpc>
              <a:tabLst>
                <a:tab pos="401320" algn="l"/>
                <a:tab pos="715010" algn="l"/>
                <a:tab pos="1028065" algn="l"/>
                <a:tab pos="1341755" algn="l"/>
                <a:tab pos="1689100" algn="l"/>
                <a:tab pos="1950085" algn="l"/>
              </a:tabLst>
            </a:pP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+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0</a:t>
            </a:r>
            <a:r>
              <a:rPr dirty="0" sz="1200" spc="-5">
                <a:latin typeface="Times New Roman"/>
                <a:cs typeface="Times New Roman"/>
              </a:rPr>
              <a:t>+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+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0</a:t>
            </a:r>
            <a:r>
              <a:rPr dirty="0" sz="1200" spc="-5">
                <a:latin typeface="Times New Roman"/>
                <a:cs typeface="Times New Roman"/>
              </a:rPr>
              <a:t>+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+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  <a:p>
            <a:pPr marL="114300">
              <a:lnSpc>
                <a:spcPct val="100000"/>
              </a:lnSpc>
              <a:spcBef>
                <a:spcPts val="5"/>
              </a:spcBef>
              <a:tabLst>
                <a:tab pos="410845" algn="l"/>
                <a:tab pos="766445" algn="l"/>
                <a:tab pos="1037590" algn="l"/>
                <a:tab pos="1367790" algn="l"/>
                <a:tab pos="16554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	M	I	M	D	M</a:t>
            </a:r>
            <a:endParaRPr sz="1200">
              <a:latin typeface="Times New Roman"/>
              <a:cs typeface="Times New Roman"/>
            </a:endParaRPr>
          </a:p>
          <a:p>
            <a:pPr marL="427355" marR="385445" indent="-326390">
              <a:lnSpc>
                <a:spcPct val="100000"/>
              </a:lnSpc>
              <a:spcBef>
                <a:spcPts val="240"/>
              </a:spcBef>
              <a:tabLst>
                <a:tab pos="427355" algn="l"/>
                <a:tab pos="744855" algn="l"/>
                <a:tab pos="1062990" algn="l"/>
                <a:tab pos="1367790" algn="l"/>
                <a:tab pos="1684655" algn="l"/>
              </a:tabLst>
            </a:pP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		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S  A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		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36597" y="3589452"/>
            <a:ext cx="6680200" cy="511746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77800">
              <a:lnSpc>
                <a:spcPct val="100000"/>
              </a:lnSpc>
              <a:spcBef>
                <a:spcPts val="135"/>
              </a:spcBef>
              <a:tabLst>
                <a:tab pos="7239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6.3.4	Analysis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of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20" b="1">
                <a:latin typeface="Times New Roman"/>
                <a:cs typeface="Times New Roman"/>
              </a:rPr>
              <a:t>DP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Edit</a:t>
            </a:r>
            <a:r>
              <a:rPr dirty="0" sz="1400" spc="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Distance</a:t>
            </a:r>
            <a:endParaRPr sz="1400">
              <a:latin typeface="Times New Roman"/>
              <a:cs typeface="Times New Roman"/>
            </a:endParaRPr>
          </a:p>
          <a:p>
            <a:pPr marL="177800" marR="209550">
              <a:lnSpc>
                <a:spcPct val="100000"/>
              </a:lnSpc>
              <a:spcBef>
                <a:spcPts val="1285"/>
              </a:spcBef>
            </a:pPr>
            <a:r>
              <a:rPr dirty="0" sz="1200" spc="-5">
                <a:latin typeface="Times New Roman"/>
                <a:cs typeface="Times New Roman"/>
              </a:rPr>
              <a:t>There are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baseline="31250" sz="1200" spc="60">
                <a:latin typeface="Verdana"/>
                <a:cs typeface="Verdana"/>
              </a:rPr>
              <a:t>2</a:t>
            </a:r>
            <a:r>
              <a:rPr dirty="0" sz="1200" spc="4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entries in </a:t>
            </a:r>
            <a:r>
              <a:rPr dirty="0" sz="1200" spc="-10">
                <a:latin typeface="Times New Roman"/>
                <a:cs typeface="Times New Roman"/>
              </a:rPr>
              <a:t>the matrix. </a:t>
            </a:r>
            <a:r>
              <a:rPr dirty="0" sz="1200" spc="-5">
                <a:latin typeface="Times New Roman"/>
                <a:cs typeface="Times New Roman"/>
              </a:rPr>
              <a:t>Each entry </a:t>
            </a:r>
            <a:r>
              <a:rPr dirty="0" sz="1200" spc="50">
                <a:latin typeface="Lucida Sans Unicode"/>
                <a:cs typeface="Lucida Sans Unicode"/>
              </a:rPr>
              <a:t>E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i, </a:t>
            </a:r>
            <a:r>
              <a:rPr dirty="0" sz="1200" spc="70">
                <a:latin typeface="Lucida Sans Unicode"/>
                <a:cs typeface="Lucida Sans Unicode"/>
              </a:rPr>
              <a:t>j</a:t>
            </a:r>
            <a:r>
              <a:rPr dirty="0" sz="1200" spc="70">
                <a:latin typeface="Garamond"/>
                <a:cs typeface="Garamond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takes </a:t>
            </a:r>
            <a:r>
              <a:rPr dirty="0" sz="1200" spc="5">
                <a:latin typeface="Lucida Sans Unicode"/>
                <a:cs typeface="Lucida Sans Unicode"/>
              </a:rPr>
              <a:t>Θ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compute. </a:t>
            </a:r>
            <a:r>
              <a:rPr dirty="0" sz="1200" spc="-5">
                <a:latin typeface="Times New Roman"/>
                <a:cs typeface="Times New Roman"/>
              </a:rPr>
              <a:t>The total </a:t>
            </a:r>
            <a:r>
              <a:rPr dirty="0" sz="1200" spc="-10">
                <a:latin typeface="Times New Roman"/>
                <a:cs typeface="Times New Roman"/>
              </a:rPr>
              <a:t>running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30">
                <a:latin typeface="Lucida Sans Unicode"/>
                <a:cs typeface="Lucida Sans Unicode"/>
              </a:rPr>
              <a:t>Θ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n</a:t>
            </a:r>
            <a:r>
              <a:rPr dirty="0" baseline="31250" sz="1200" spc="44">
                <a:latin typeface="Verdana"/>
                <a:cs typeface="Verdana"/>
              </a:rPr>
              <a:t>2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  <a:spcBef>
                <a:spcPts val="1115"/>
              </a:spcBef>
              <a:tabLst>
                <a:tab pos="6692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6.4	Chain</a:t>
            </a:r>
            <a:r>
              <a:rPr dirty="0" sz="1700" spc="-2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Matrix</a:t>
            </a:r>
            <a:r>
              <a:rPr dirty="0" sz="1700" spc="-10" b="1">
                <a:latin typeface="Times New Roman"/>
                <a:cs typeface="Times New Roman"/>
              </a:rPr>
              <a:t> </a:t>
            </a:r>
            <a:r>
              <a:rPr dirty="0" sz="1700" spc="10" b="1">
                <a:latin typeface="Times New Roman"/>
                <a:cs typeface="Times New Roman"/>
              </a:rPr>
              <a:t>Multiply</a:t>
            </a:r>
            <a:endParaRPr sz="170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  <a:spcBef>
                <a:spcPts val="1655"/>
              </a:spcBef>
            </a:pPr>
            <a:r>
              <a:rPr dirty="0" sz="1200" spc="-5">
                <a:latin typeface="Times New Roman"/>
                <a:cs typeface="Times New Roman"/>
              </a:rPr>
              <a:t>Suppose</a:t>
            </a:r>
            <a:r>
              <a:rPr dirty="0" sz="1200" spc="-10">
                <a:latin typeface="Times New Roman"/>
                <a:cs typeface="Times New Roman"/>
              </a:rPr>
              <a:t> we </a:t>
            </a:r>
            <a:r>
              <a:rPr dirty="0" sz="1200" spc="-5">
                <a:latin typeface="Times New Roman"/>
                <a:cs typeface="Times New Roman"/>
              </a:rPr>
              <a:t>wish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multiply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matrices:</a:t>
            </a:r>
            <a:endParaRPr sz="1200">
              <a:latin typeface="Times New Roman"/>
              <a:cs typeface="Times New Roman"/>
            </a:endParaRPr>
          </a:p>
          <a:p>
            <a:pPr algn="ctr" marL="79375">
              <a:lnSpc>
                <a:spcPct val="100000"/>
              </a:lnSpc>
              <a:spcBef>
                <a:spcPts val="900"/>
              </a:spcBef>
            </a:pP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baseline="-13888" sz="1200" spc="-157">
                <a:latin typeface="Verdana"/>
                <a:cs typeface="Verdana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209">
                <a:latin typeface="Verdana"/>
                <a:cs typeface="Verdana"/>
              </a:rPr>
              <a:t>n</a:t>
            </a:r>
            <a:endParaRPr baseline="-13888" sz="1200">
              <a:latin typeface="Verdana"/>
              <a:cs typeface="Verdana"/>
            </a:endParaRPr>
          </a:p>
          <a:p>
            <a:pPr marL="177800">
              <a:lnSpc>
                <a:spcPct val="100000"/>
              </a:lnSpc>
              <a:spcBef>
                <a:spcPts val="900"/>
              </a:spcBef>
            </a:pPr>
            <a:r>
              <a:rPr dirty="0" sz="1200" spc="-5">
                <a:latin typeface="Times New Roman"/>
                <a:cs typeface="Times New Roman"/>
              </a:rPr>
              <a:t>In 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multiplication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done?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13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×</a:t>
            </a:r>
            <a:r>
              <a:rPr dirty="0" sz="1200" spc="-8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multiplied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3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×</a:t>
            </a:r>
            <a:r>
              <a:rPr dirty="0" sz="1200" spc="-85">
                <a:latin typeface="Segoe UI Symbol"/>
                <a:cs typeface="Segoe UI Symbol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r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endParaRPr sz="120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  <a:spcBef>
                <a:spcPts val="5"/>
              </a:spcBef>
            </a:pPr>
            <a:r>
              <a:rPr dirty="0" sz="1200" spc="45">
                <a:latin typeface="Lucida Sans Unicode"/>
                <a:cs typeface="Lucida Sans Unicode"/>
              </a:rPr>
              <a:t>B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result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be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×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r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C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particular,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r</a:t>
            </a:r>
            <a:r>
              <a:rPr dirty="0" sz="1200" spc="10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 marL="3140710">
              <a:lnSpc>
                <a:spcPct val="100000"/>
              </a:lnSpc>
              <a:spcBef>
                <a:spcPts val="300"/>
              </a:spcBef>
            </a:pPr>
            <a:r>
              <a:rPr dirty="0" baseline="-18518" sz="1800" spc="-44">
                <a:latin typeface="Lucida Sans Unicode"/>
                <a:cs typeface="Lucida Sans Unicode"/>
              </a:rPr>
              <a:t>X</a:t>
            </a:r>
            <a:r>
              <a:rPr dirty="0" sz="800" spc="-30">
                <a:latin typeface="Verdana"/>
                <a:cs typeface="Verdana"/>
              </a:rPr>
              <a:t>q</a:t>
            </a:r>
            <a:endParaRPr sz="800">
              <a:latin typeface="Verdana"/>
              <a:cs typeface="Verdana"/>
            </a:endParaRPr>
          </a:p>
          <a:p>
            <a:pPr algn="ctr" marL="76200">
              <a:lnSpc>
                <a:spcPct val="100000"/>
              </a:lnSpc>
              <a:spcBef>
                <a:spcPts val="100"/>
              </a:spcBef>
              <a:tabLst>
                <a:tab pos="88519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3152775">
              <a:lnSpc>
                <a:spcPct val="100000"/>
              </a:lnSpc>
              <a:spcBef>
                <a:spcPts val="370"/>
              </a:spcBef>
            </a:pPr>
            <a:r>
              <a:rPr dirty="0" sz="800" spc="-15">
                <a:latin typeface="Verdana"/>
                <a:cs typeface="Verdana"/>
              </a:rPr>
              <a:t>k=1</a:t>
            </a:r>
            <a:endParaRPr sz="800">
              <a:latin typeface="Verdana"/>
              <a:cs typeface="Verdana"/>
            </a:endParaRPr>
          </a:p>
          <a:p>
            <a:pPr marL="177800">
              <a:lnSpc>
                <a:spcPct val="100000"/>
              </a:lnSpc>
              <a:spcBef>
                <a:spcPts val="650"/>
              </a:spcBef>
            </a:pPr>
            <a:r>
              <a:rPr dirty="0" sz="1200" spc="-5">
                <a:latin typeface="Times New Roman"/>
                <a:cs typeface="Times New Roman"/>
              </a:rPr>
              <a:t>There are 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p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r</a:t>
            </a:r>
            <a:r>
              <a:rPr dirty="0" sz="1200" spc="7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 entries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O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q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compute.</a:t>
            </a:r>
            <a:endParaRPr sz="1200">
              <a:latin typeface="Times New Roman"/>
              <a:cs typeface="Times New Roman"/>
            </a:endParaRPr>
          </a:p>
          <a:p>
            <a:pPr marL="3140710">
              <a:lnSpc>
                <a:spcPct val="100000"/>
              </a:lnSpc>
              <a:spcBef>
                <a:spcPts val="340"/>
              </a:spcBef>
            </a:pPr>
            <a:r>
              <a:rPr dirty="0" baseline="-18518" sz="1800" spc="-44">
                <a:latin typeface="Lucida Sans Unicode"/>
                <a:cs typeface="Lucida Sans Unicode"/>
              </a:rPr>
              <a:t>X</a:t>
            </a:r>
            <a:r>
              <a:rPr dirty="0" sz="800" spc="-30">
                <a:latin typeface="Verdana"/>
                <a:cs typeface="Verdana"/>
              </a:rPr>
              <a:t>q</a:t>
            </a:r>
            <a:endParaRPr sz="800">
              <a:latin typeface="Verdana"/>
              <a:cs typeface="Verdana"/>
            </a:endParaRPr>
          </a:p>
          <a:p>
            <a:pPr algn="ctr" marL="76200">
              <a:lnSpc>
                <a:spcPct val="100000"/>
              </a:lnSpc>
              <a:spcBef>
                <a:spcPts val="100"/>
              </a:spcBef>
              <a:tabLst>
                <a:tab pos="88519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3152775">
              <a:lnSpc>
                <a:spcPct val="100000"/>
              </a:lnSpc>
              <a:spcBef>
                <a:spcPts val="370"/>
              </a:spcBef>
            </a:pPr>
            <a:r>
              <a:rPr dirty="0" sz="800" spc="-15">
                <a:latin typeface="Verdana"/>
                <a:cs typeface="Verdana"/>
              </a:rPr>
              <a:t>k=1</a:t>
            </a:r>
            <a:endParaRPr sz="800">
              <a:latin typeface="Verdana"/>
              <a:cs typeface="Verdana"/>
            </a:endParaRPr>
          </a:p>
          <a:p>
            <a:pPr algn="just" marL="177800" marR="234315">
              <a:lnSpc>
                <a:spcPct val="100000"/>
              </a:lnSpc>
              <a:spcBef>
                <a:spcPts val="580"/>
              </a:spcBef>
            </a:pPr>
            <a:r>
              <a:rPr dirty="0" sz="1200" spc="-5">
                <a:latin typeface="Times New Roman"/>
                <a:cs typeface="Times New Roman"/>
              </a:rPr>
              <a:t>Thus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total </a:t>
            </a:r>
            <a:r>
              <a:rPr dirty="0" sz="1200" spc="-10">
                <a:latin typeface="Times New Roman"/>
                <a:cs typeface="Times New Roman"/>
              </a:rPr>
              <a:t>number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multiplications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50">
                <a:latin typeface="Lucida Sans Unicode"/>
                <a:cs typeface="Lucida Sans Unicode"/>
              </a:rPr>
              <a:t>p </a:t>
            </a:r>
            <a:r>
              <a:rPr dirty="0" sz="1200" spc="70">
                <a:latin typeface="Segoe UI Symbol"/>
                <a:cs typeface="Segoe UI Symbol"/>
              </a:rPr>
              <a:t>· </a:t>
            </a:r>
            <a:r>
              <a:rPr dirty="0" sz="1200" spc="-35">
                <a:latin typeface="Lucida Sans Unicode"/>
                <a:cs typeface="Lucida Sans Unicode"/>
              </a:rPr>
              <a:t>q </a:t>
            </a:r>
            <a:r>
              <a:rPr dirty="0" sz="1200" spc="70">
                <a:latin typeface="Segoe UI Symbol"/>
                <a:cs typeface="Segoe UI Symbol"/>
              </a:rPr>
              <a:t>· </a:t>
            </a:r>
            <a:r>
              <a:rPr dirty="0" sz="1200" spc="10">
                <a:latin typeface="Lucida Sans Unicode"/>
                <a:cs typeface="Lucida Sans Unicode"/>
              </a:rPr>
              <a:t>r</a:t>
            </a:r>
            <a:r>
              <a:rPr dirty="0" sz="1200" spc="1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case of 3 matrices: </a:t>
            </a: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1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65">
                <a:latin typeface="Lucida Sans Unicode"/>
                <a:cs typeface="Lucida Sans Unicode"/>
              </a:rPr>
              <a:t>5 </a:t>
            </a:r>
            <a:r>
              <a:rPr dirty="0" sz="1200" spc="105">
                <a:latin typeface="Segoe UI Symbol"/>
                <a:cs typeface="Segoe UI Symbol"/>
              </a:rPr>
              <a:t>× </a:t>
            </a:r>
            <a:r>
              <a:rPr dirty="0" sz="1200" spc="-85">
                <a:latin typeface="Lucida Sans Unicode"/>
                <a:cs typeface="Lucida Sans Unicode"/>
              </a:rPr>
              <a:t>4</a:t>
            </a:r>
            <a:r>
              <a:rPr dirty="0" sz="1200" spc="-85">
                <a:latin typeface="Times New Roman"/>
                <a:cs typeface="Times New Roman"/>
              </a:rPr>
              <a:t>, </a:t>
            </a: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2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 </a:t>
            </a:r>
            <a:r>
              <a:rPr dirty="0" sz="1200" spc="105">
                <a:latin typeface="Segoe UI Symbol"/>
                <a:cs typeface="Segoe UI Symbol"/>
              </a:rPr>
              <a:t>× </a:t>
            </a:r>
            <a:r>
              <a:rPr dirty="0" sz="1200" spc="-165">
                <a:latin typeface="Lucida Sans Unicode"/>
                <a:cs typeface="Lucida Sans Unicode"/>
              </a:rPr>
              <a:t>6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3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65">
                <a:latin typeface="Lucida Sans Unicode"/>
                <a:cs typeface="Lucida Sans Unicode"/>
              </a:rPr>
              <a:t>6 </a:t>
            </a:r>
            <a:r>
              <a:rPr dirty="0" sz="1200" spc="105">
                <a:latin typeface="Segoe UI Symbol"/>
                <a:cs typeface="Segoe UI Symbol"/>
              </a:rPr>
              <a:t>× </a:t>
            </a:r>
            <a:r>
              <a:rPr dirty="0" sz="1200" spc="-165">
                <a:latin typeface="Lucida Sans Unicode"/>
                <a:cs typeface="Lucida Sans Unicode"/>
              </a:rPr>
              <a:t>2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multiplication </a:t>
            </a:r>
            <a:r>
              <a:rPr dirty="0" sz="1200" spc="-5">
                <a:latin typeface="Times New Roman"/>
                <a:cs typeface="Times New Roman"/>
              </a:rPr>
              <a:t>can be carried </a:t>
            </a:r>
            <a:r>
              <a:rPr dirty="0" sz="1200" spc="-10">
                <a:latin typeface="Times New Roman"/>
                <a:cs typeface="Times New Roman"/>
              </a:rPr>
              <a:t>out </a:t>
            </a:r>
            <a:r>
              <a:rPr dirty="0" sz="1200" spc="-5">
                <a:latin typeface="Times New Roman"/>
                <a:cs typeface="Times New Roman"/>
              </a:rPr>
              <a:t>either as </a:t>
            </a:r>
            <a:r>
              <a:rPr dirty="0" sz="1200" spc="60">
                <a:latin typeface="Garamond"/>
                <a:cs typeface="Garamond"/>
              </a:rPr>
              <a:t>((</a:t>
            </a:r>
            <a:r>
              <a:rPr dirty="0" sz="1200" spc="60">
                <a:latin typeface="Lucida Sans Unicode"/>
                <a:cs typeface="Lucida Sans Unicode"/>
              </a:rPr>
              <a:t>A</a:t>
            </a:r>
            <a:r>
              <a:rPr dirty="0" baseline="-13888" sz="1200" spc="89">
                <a:latin typeface="Verdana"/>
                <a:cs typeface="Verdana"/>
              </a:rPr>
              <a:t>1</a:t>
            </a:r>
            <a:r>
              <a:rPr dirty="0" sz="1200" spc="60">
                <a:latin typeface="Lucida Sans Unicode"/>
                <a:cs typeface="Lucida Sans Unicode"/>
              </a:rPr>
              <a:t>A</a:t>
            </a:r>
            <a:r>
              <a:rPr dirty="0" baseline="-13888" sz="1200" spc="89">
                <a:latin typeface="Verdana"/>
                <a:cs typeface="Verdana"/>
              </a:rPr>
              <a:t>2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60">
                <a:latin typeface="Lucida Sans Unicode"/>
                <a:cs typeface="Lucida Sans Unicode"/>
              </a:rPr>
              <a:t>A</a:t>
            </a:r>
            <a:r>
              <a:rPr dirty="0" baseline="-13888" sz="1200" spc="89">
                <a:latin typeface="Verdana"/>
                <a:cs typeface="Verdana"/>
              </a:rPr>
              <a:t>3</a:t>
            </a:r>
            <a:r>
              <a:rPr dirty="0" sz="1200" spc="6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A</a:t>
            </a:r>
            <a:r>
              <a:rPr dirty="0" baseline="-13888" sz="1200" spc="82">
                <a:latin typeface="Verdana"/>
                <a:cs typeface="Verdana"/>
              </a:rPr>
              <a:t>1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A</a:t>
            </a:r>
            <a:r>
              <a:rPr dirty="0" baseline="-13888" sz="1200" spc="82">
                <a:latin typeface="Verdana"/>
                <a:cs typeface="Verdana"/>
              </a:rPr>
              <a:t>2</a:t>
            </a:r>
            <a:r>
              <a:rPr dirty="0" sz="1200" spc="55">
                <a:latin typeface="Lucida Sans Unicode"/>
                <a:cs typeface="Lucida Sans Unicode"/>
              </a:rPr>
              <a:t>A</a:t>
            </a:r>
            <a:r>
              <a:rPr dirty="0" baseline="-13888" sz="1200" spc="82">
                <a:latin typeface="Verdana"/>
                <a:cs typeface="Verdana"/>
              </a:rPr>
              <a:t>3</a:t>
            </a:r>
            <a:r>
              <a:rPr dirty="0" sz="1200" spc="55">
                <a:latin typeface="Garamond"/>
                <a:cs typeface="Garamond"/>
              </a:rPr>
              <a:t>))</a:t>
            </a:r>
            <a:r>
              <a:rPr dirty="0" sz="1200" spc="5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endParaRPr sz="1200">
              <a:latin typeface="Times New Roman"/>
              <a:cs typeface="Times New Roman"/>
            </a:endParaRPr>
          </a:p>
          <a:p>
            <a:pPr algn="ctr" marL="76200">
              <a:lnSpc>
                <a:spcPct val="100000"/>
              </a:lnSpc>
              <a:spcBef>
                <a:spcPts val="910"/>
              </a:spcBef>
            </a:pPr>
            <a:r>
              <a:rPr dirty="0" sz="1200" spc="110">
                <a:latin typeface="Garamond"/>
                <a:cs typeface="Garamond"/>
              </a:rPr>
              <a:t>((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2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3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6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180</a:t>
            </a:r>
            <a:endParaRPr sz="1200">
              <a:latin typeface="Lucida Sans Unicode"/>
              <a:cs typeface="Lucida Sans Unicode"/>
            </a:endParaRPr>
          </a:p>
          <a:p>
            <a:pPr algn="ctr" marL="76200">
              <a:lnSpc>
                <a:spcPct val="100000"/>
              </a:lnSpc>
              <a:spcBef>
                <a:spcPts val="305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2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3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88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456660" y="6597256"/>
            <a:ext cx="1316355" cy="364490"/>
          </a:xfrm>
          <a:custGeom>
            <a:avLst/>
            <a:gdLst/>
            <a:ahLst/>
            <a:cxnLst/>
            <a:rect l="l" t="t" r="r" b="b"/>
            <a:pathLst>
              <a:path w="1316354" h="364490">
                <a:moveTo>
                  <a:pt x="1316240" y="0"/>
                </a:moveTo>
                <a:lnTo>
                  <a:pt x="541782" y="0"/>
                </a:lnTo>
                <a:lnTo>
                  <a:pt x="541782" y="9296"/>
                </a:lnTo>
                <a:lnTo>
                  <a:pt x="0" y="9296"/>
                </a:lnTo>
                <a:lnTo>
                  <a:pt x="0" y="248399"/>
                </a:lnTo>
                <a:lnTo>
                  <a:pt x="541782" y="248399"/>
                </a:lnTo>
                <a:lnTo>
                  <a:pt x="541782" y="364083"/>
                </a:lnTo>
                <a:lnTo>
                  <a:pt x="1316240" y="364083"/>
                </a:lnTo>
                <a:lnTo>
                  <a:pt x="1316240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812799" y="520987"/>
            <a:ext cx="6591934" cy="49777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00965">
              <a:lnSpc>
                <a:spcPct val="100000"/>
              </a:lnSpc>
              <a:spcBef>
                <a:spcPts val="110"/>
              </a:spcBef>
              <a:tabLst>
                <a:tab pos="6350000" algn="l"/>
              </a:tabLst>
            </a:pPr>
            <a:r>
              <a:rPr dirty="0" sz="1200" spc="-10">
                <a:latin typeface="Times New Roman"/>
                <a:cs typeface="Times New Roman"/>
              </a:rPr>
              <a:t>6.4.</a:t>
            </a:r>
            <a:r>
              <a:rPr dirty="0" sz="1200" spc="3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CHAIN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MATRIX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MULTIPLY	</a:t>
            </a:r>
            <a:r>
              <a:rPr dirty="0" sz="1200" spc="-5">
                <a:latin typeface="Times New Roman"/>
                <a:cs typeface="Times New Roman"/>
              </a:rPr>
              <a:t>85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01600" marR="1320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There is considerable </a:t>
            </a:r>
            <a:r>
              <a:rPr dirty="0" sz="1200" spc="-10">
                <a:latin typeface="Times New Roman"/>
                <a:cs typeface="Times New Roman"/>
              </a:rPr>
              <a:t>savings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achieved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general, </a:t>
            </a: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 order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 we multiply </a:t>
            </a:r>
            <a:r>
              <a:rPr dirty="0" sz="1200" spc="-5">
                <a:latin typeface="Times New Roman"/>
                <a:cs typeface="Times New Roman"/>
              </a:rPr>
              <a:t>a series of matrices </a:t>
            </a:r>
            <a:r>
              <a:rPr dirty="0" sz="1200" spc="30">
                <a:latin typeface="Lucida Sans Unicode"/>
                <a:cs typeface="Lucida Sans Unicode"/>
              </a:rPr>
              <a:t>A</a:t>
            </a:r>
            <a:r>
              <a:rPr dirty="0" baseline="-13888" sz="1200" spc="44">
                <a:latin typeface="Verdana"/>
                <a:cs typeface="Verdana"/>
              </a:rPr>
              <a:t>1</a:t>
            </a:r>
            <a:r>
              <a:rPr dirty="0" sz="1200" spc="30">
                <a:latin typeface="Lucida Sans Unicode"/>
                <a:cs typeface="Lucida Sans Unicode"/>
              </a:rPr>
              <a:t>A</a:t>
            </a:r>
            <a:r>
              <a:rPr dirty="0" baseline="-13888" sz="1200" spc="44">
                <a:latin typeface="Verdana"/>
                <a:cs typeface="Verdana"/>
              </a:rPr>
              <a:t>2 </a:t>
            </a:r>
            <a:r>
              <a:rPr dirty="0" sz="1200" spc="-50">
                <a:latin typeface="Lucida Sans Unicode"/>
                <a:cs typeface="Lucida Sans Unicode"/>
              </a:rPr>
              <a:t>. . . 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97">
                <a:latin typeface="Verdana"/>
                <a:cs typeface="Verdana"/>
              </a:rPr>
              <a:t>n</a:t>
            </a:r>
            <a:r>
              <a:rPr dirty="0" sz="1200" spc="6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Matrix </a:t>
            </a:r>
            <a:r>
              <a:rPr dirty="0" sz="1200" spc="-10">
                <a:latin typeface="Times New Roman"/>
                <a:cs typeface="Times New Roman"/>
              </a:rPr>
              <a:t>multiplication </a:t>
            </a:r>
            <a:r>
              <a:rPr dirty="0" sz="1200" spc="-5">
                <a:latin typeface="Times New Roman"/>
                <a:cs typeface="Times New Roman"/>
              </a:rPr>
              <a:t>is an </a:t>
            </a:r>
            <a:r>
              <a:rPr dirty="0" sz="1200" spc="-10">
                <a:latin typeface="Times New Roman"/>
                <a:cs typeface="Times New Roman"/>
              </a:rPr>
              <a:t>associative </a:t>
            </a:r>
            <a:r>
              <a:rPr dirty="0" sz="1200" spc="-15">
                <a:latin typeface="Times New Roman"/>
                <a:cs typeface="Times New Roman"/>
              </a:rPr>
              <a:t>but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commutative operation.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are free to add parenthesis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above </a:t>
            </a:r>
            <a:r>
              <a:rPr dirty="0" sz="1200" spc="-10">
                <a:latin typeface="Times New Roman"/>
                <a:cs typeface="Times New Roman"/>
              </a:rPr>
              <a:t>multiplication </a:t>
            </a:r>
            <a:r>
              <a:rPr dirty="0" sz="1200" spc="-15">
                <a:latin typeface="Times New Roman"/>
                <a:cs typeface="Times New Roman"/>
              </a:rPr>
              <a:t>but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order of matrices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be changed.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Chain</a:t>
            </a:r>
            <a:r>
              <a:rPr dirty="0" sz="1200" spc="-5" i="1">
                <a:latin typeface="Times New Roman"/>
                <a:cs typeface="Times New Roman"/>
              </a:rPr>
              <a:t> Matrix </a:t>
            </a:r>
            <a:r>
              <a:rPr dirty="0" sz="1200" spc="-10" i="1">
                <a:latin typeface="Times New Roman"/>
                <a:cs typeface="Times New Roman"/>
              </a:rPr>
              <a:t>Multiplication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Problem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stated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10">
                <a:latin typeface="Times New Roman"/>
                <a:cs typeface="Times New Roman"/>
              </a:rPr>
              <a:t>follows:</a:t>
            </a:r>
            <a:endParaRPr sz="1200">
              <a:latin typeface="Times New Roman"/>
              <a:cs typeface="Times New Roman"/>
            </a:endParaRPr>
          </a:p>
          <a:p>
            <a:pPr marL="473075">
              <a:lnSpc>
                <a:spcPct val="100000"/>
              </a:lnSpc>
              <a:spcBef>
                <a:spcPts val="1100"/>
              </a:spcBef>
            </a:pP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A</a:t>
            </a:r>
            <a:r>
              <a:rPr dirty="0" baseline="-13888" sz="1200">
                <a:latin typeface="Verdana"/>
                <a:cs typeface="Verdana"/>
              </a:rPr>
              <a:t>1</a:t>
            </a:r>
            <a:r>
              <a:rPr dirty="0" sz="120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A</a:t>
            </a:r>
            <a:r>
              <a:rPr dirty="0" baseline="-13888" sz="1200">
                <a:latin typeface="Verdana"/>
                <a:cs typeface="Verdana"/>
              </a:rPr>
              <a:t>2</a:t>
            </a:r>
            <a:r>
              <a:rPr dirty="0" sz="120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110">
                <a:latin typeface="Lucida Sans Unicode"/>
                <a:cs typeface="Lucida Sans Unicode"/>
              </a:rPr>
              <a:t>A</a:t>
            </a:r>
            <a:r>
              <a:rPr dirty="0" baseline="-13888" sz="1200" spc="165">
                <a:latin typeface="Verdana"/>
                <a:cs typeface="Verdana"/>
              </a:rPr>
              <a:t>n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dimensions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p</a:t>
            </a:r>
            <a:r>
              <a:rPr dirty="0" baseline="-13888" sz="1200" spc="-67">
                <a:latin typeface="Verdana"/>
                <a:cs typeface="Verdana"/>
              </a:rPr>
              <a:t>0</a:t>
            </a:r>
            <a:r>
              <a:rPr dirty="0" sz="1200" spc="-45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p</a:t>
            </a:r>
            <a:r>
              <a:rPr dirty="0" baseline="-13888" sz="1200" spc="-67">
                <a:latin typeface="Verdana"/>
                <a:cs typeface="Verdana"/>
              </a:rPr>
              <a:t>1</a:t>
            </a:r>
            <a:r>
              <a:rPr dirty="0" sz="1200" spc="-45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p</a:t>
            </a:r>
            <a:r>
              <a:rPr dirty="0" baseline="-13888" sz="1200" spc="60">
                <a:latin typeface="Verdana"/>
                <a:cs typeface="Verdana"/>
              </a:rPr>
              <a:t>n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20">
                <a:latin typeface="Lucida Sans Unicode"/>
                <a:cs typeface="Lucida Sans Unicode"/>
              </a:rPr>
              <a:t>A</a:t>
            </a:r>
            <a:r>
              <a:rPr dirty="0" baseline="-13888" sz="1200" spc="179">
                <a:latin typeface="Verdana"/>
                <a:cs typeface="Verdana"/>
              </a:rPr>
              <a:t>i</a:t>
            </a:r>
            <a:r>
              <a:rPr dirty="0" baseline="-13888" sz="1200" spc="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dimension</a:t>
            </a:r>
            <a:endParaRPr sz="1200">
              <a:latin typeface="Times New Roman"/>
              <a:cs typeface="Times New Roman"/>
            </a:endParaRPr>
          </a:p>
          <a:p>
            <a:pPr marL="473075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Lucida Sans Unicode"/>
                <a:cs typeface="Lucida Sans Unicode"/>
              </a:rPr>
              <a:t>p</a:t>
            </a:r>
            <a:r>
              <a:rPr dirty="0" baseline="-13888" sz="1200" spc="-7">
                <a:latin typeface="Verdana"/>
                <a:cs typeface="Verdana"/>
              </a:rPr>
              <a:t>i−1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×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baseline="-13888" sz="1200" spc="37">
                <a:latin typeface="Verdana"/>
                <a:cs typeface="Verdana"/>
              </a:rPr>
              <a:t>i</a:t>
            </a:r>
            <a:r>
              <a:rPr dirty="0" sz="1200" spc="25">
                <a:latin typeface="Times New Roman"/>
                <a:cs typeface="Times New Roman"/>
              </a:rPr>
              <a:t>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determine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multiplication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minimizes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number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operations.</a:t>
            </a:r>
            <a:endParaRPr sz="1200">
              <a:latin typeface="Times New Roman"/>
              <a:cs typeface="Times New Roman"/>
            </a:endParaRPr>
          </a:p>
          <a:p>
            <a:pPr algn="just" marL="100965" marR="222250">
              <a:lnSpc>
                <a:spcPct val="100000"/>
              </a:lnSpc>
              <a:spcBef>
                <a:spcPts val="1085"/>
              </a:spcBef>
            </a:pP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could </a:t>
            </a:r>
            <a:r>
              <a:rPr dirty="0" sz="1200" spc="-10">
                <a:latin typeface="Times New Roman"/>
                <a:cs typeface="Times New Roman"/>
              </a:rPr>
              <a:t>write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procedure </a:t>
            </a:r>
            <a:r>
              <a:rPr dirty="0" sz="1200" spc="-5">
                <a:latin typeface="Times New Roman"/>
                <a:cs typeface="Times New Roman"/>
              </a:rPr>
              <a:t>that tries all possible parenthesizations. </a:t>
            </a:r>
            <a:r>
              <a:rPr dirty="0" sz="1200" spc="-15">
                <a:latin typeface="Times New Roman"/>
                <a:cs typeface="Times New Roman"/>
              </a:rPr>
              <a:t>Unfortunately, </a:t>
            </a:r>
            <a:r>
              <a:rPr dirty="0" sz="1200" spc="-10">
                <a:latin typeface="Times New Roman"/>
                <a:cs typeface="Times New Roman"/>
              </a:rPr>
              <a:t>the number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ways </a:t>
            </a:r>
            <a:r>
              <a:rPr dirty="0" sz="1200" spc="-5">
                <a:latin typeface="Times New Roman"/>
                <a:cs typeface="Times New Roman"/>
              </a:rPr>
              <a:t> of parenthesizing an </a:t>
            </a:r>
            <a:r>
              <a:rPr dirty="0" sz="1200" spc="-10">
                <a:latin typeface="Times New Roman"/>
                <a:cs typeface="Times New Roman"/>
              </a:rPr>
              <a:t>expression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very large. </a:t>
            </a:r>
            <a:r>
              <a:rPr dirty="0" sz="1200" spc="-5">
                <a:latin typeface="Times New Roman"/>
                <a:cs typeface="Times New Roman"/>
              </a:rPr>
              <a:t>If there are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items, there are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 </a:t>
            </a:r>
            <a:r>
              <a:rPr dirty="0" sz="1200" spc="-10">
                <a:latin typeface="Times New Roman"/>
                <a:cs typeface="Times New Roman"/>
              </a:rPr>
              <a:t>ways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outer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pair of parentheses can placed.</a:t>
            </a:r>
            <a:endParaRPr sz="1200">
              <a:latin typeface="Times New Roman"/>
              <a:cs typeface="Times New Roman"/>
            </a:endParaRPr>
          </a:p>
          <a:p>
            <a:pPr algn="r" marR="2595880">
              <a:lnSpc>
                <a:spcPct val="100000"/>
              </a:lnSpc>
              <a:spcBef>
                <a:spcPts val="705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110">
                <a:latin typeface="Garamond"/>
                <a:cs typeface="Garamond"/>
              </a:rPr>
              <a:t>)(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2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3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4</a:t>
            </a:r>
            <a:r>
              <a:rPr dirty="0" baseline="-13888" sz="1200" spc="-157">
                <a:latin typeface="Verdana"/>
                <a:cs typeface="Verdana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165">
                <a:latin typeface="Verdana"/>
                <a:cs typeface="Verdana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r" marR="2595880">
              <a:lnSpc>
                <a:spcPct val="100000"/>
              </a:lnSpc>
              <a:spcBef>
                <a:spcPts val="305"/>
              </a:spcBef>
              <a:tabLst>
                <a:tab pos="278130" algn="l"/>
              </a:tabLst>
            </a:pP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2</a:t>
            </a:r>
            <a:r>
              <a:rPr dirty="0" sz="1200" spc="110">
                <a:latin typeface="Garamond"/>
                <a:cs typeface="Garamond"/>
              </a:rPr>
              <a:t>)(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3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4</a:t>
            </a:r>
            <a:r>
              <a:rPr dirty="0" baseline="-13888" sz="1200" spc="-157">
                <a:latin typeface="Verdana"/>
                <a:cs typeface="Verdana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165">
                <a:latin typeface="Verdana"/>
                <a:cs typeface="Verdana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r" marR="2595880">
              <a:lnSpc>
                <a:spcPct val="100000"/>
              </a:lnSpc>
              <a:spcBef>
                <a:spcPts val="305"/>
              </a:spcBef>
              <a:tabLst>
                <a:tab pos="278130" algn="l"/>
              </a:tabLst>
            </a:pP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2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3</a:t>
            </a:r>
            <a:r>
              <a:rPr dirty="0" sz="1200" spc="110">
                <a:latin typeface="Garamond"/>
                <a:cs typeface="Garamond"/>
              </a:rPr>
              <a:t>)(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4</a:t>
            </a:r>
            <a:r>
              <a:rPr dirty="0" baseline="-13888" sz="1200" spc="-157">
                <a:latin typeface="Verdana"/>
                <a:cs typeface="Verdana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165">
                <a:latin typeface="Verdana"/>
                <a:cs typeface="Verdana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2286635">
              <a:lnSpc>
                <a:spcPct val="100000"/>
              </a:lnSpc>
              <a:spcBef>
                <a:spcPts val="300"/>
              </a:spcBef>
              <a:tabLst>
                <a:tab pos="2640965" algn="l"/>
              </a:tabLst>
            </a:pP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  <a:p>
            <a:pPr marL="2336800">
              <a:lnSpc>
                <a:spcPct val="100000"/>
              </a:lnSpc>
              <a:spcBef>
                <a:spcPts val="305"/>
              </a:spcBef>
              <a:tabLst>
                <a:tab pos="2615565" algn="l"/>
              </a:tabLst>
            </a:pP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2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3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4</a:t>
            </a:r>
            <a:r>
              <a:rPr dirty="0" baseline="-13888" sz="1200" spc="-157">
                <a:latin typeface="Verdana"/>
                <a:cs typeface="Verdana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97">
                <a:latin typeface="Verdana"/>
                <a:cs typeface="Verdana"/>
              </a:rPr>
              <a:t>n</a:t>
            </a:r>
            <a:r>
              <a:rPr dirty="0" baseline="-13888" sz="1200" spc="-52">
                <a:latin typeface="Verdana"/>
                <a:cs typeface="Verdana"/>
              </a:rPr>
              <a:t>−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110">
                <a:latin typeface="Garamond"/>
                <a:cs typeface="Garamond"/>
              </a:rPr>
              <a:t>)(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165">
                <a:latin typeface="Verdana"/>
                <a:cs typeface="Verdana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</a:pPr>
            <a:endParaRPr sz="1400">
              <a:latin typeface="Garamond"/>
              <a:cs typeface="Garamond"/>
            </a:endParaRPr>
          </a:p>
          <a:p>
            <a:pPr marL="101600" marR="330200">
              <a:lnSpc>
                <a:spcPct val="100000"/>
              </a:lnSpc>
              <a:spcBef>
                <a:spcPts val="865"/>
              </a:spcBef>
            </a:pPr>
            <a:r>
              <a:rPr dirty="0" sz="1200" spc="-5">
                <a:latin typeface="Times New Roman"/>
                <a:cs typeface="Times New Roman"/>
              </a:rPr>
              <a:t>Once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split just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after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k</a:t>
            </a:r>
            <a:r>
              <a:rPr dirty="0" baseline="31250" sz="1200" spc="-30">
                <a:latin typeface="Times New Roman"/>
                <a:cs typeface="Times New Roman"/>
              </a:rPr>
              <a:t>th</a:t>
            </a:r>
            <a:r>
              <a:rPr dirty="0" baseline="31250" sz="1200" spc="2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create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sublists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parethesized,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other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matrices.</a:t>
            </a:r>
            <a:endParaRPr sz="1200">
              <a:latin typeface="Times New Roman"/>
              <a:cs typeface="Times New Roman"/>
            </a:endParaRPr>
          </a:p>
          <a:p>
            <a:pPr algn="ctr" marL="12700">
              <a:lnSpc>
                <a:spcPct val="100000"/>
              </a:lnSpc>
              <a:spcBef>
                <a:spcPts val="10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baseline="-13888" sz="1200" spc="-157">
                <a:latin typeface="Verdana"/>
                <a:cs typeface="Verdana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75">
                <a:latin typeface="Verdana"/>
                <a:cs typeface="Verdana"/>
              </a:rPr>
              <a:t>k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>
                <a:latin typeface="Verdana"/>
                <a:cs typeface="Verdana"/>
              </a:rPr>
              <a:t>k</a:t>
            </a:r>
            <a:r>
              <a:rPr dirty="0" baseline="-13888" sz="1200" spc="-52">
                <a:latin typeface="Verdana"/>
                <a:cs typeface="Verdana"/>
              </a:rPr>
              <a:t>+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157">
                <a:latin typeface="Verdana"/>
                <a:cs typeface="Verdana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baseline="-13888" sz="1200" spc="165">
                <a:latin typeface="Verdana"/>
                <a:cs typeface="Verdana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01600" marR="113030">
              <a:lnSpc>
                <a:spcPct val="100000"/>
              </a:lnSpc>
              <a:spcBef>
                <a:spcPts val="439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could 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parenthesizing 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independent</a:t>
            </a:r>
            <a:r>
              <a:rPr dirty="0" sz="1200" spc="-5">
                <a:latin typeface="Times New Roman"/>
                <a:cs typeface="Times New Roman"/>
              </a:rPr>
              <a:t> choices, 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parenthesizing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sublist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R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parenthesize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sublist,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R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suggests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recurrence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P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6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parenthesizing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711" y="5474334"/>
            <a:ext cx="396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793375" y="5754483"/>
            <a:ext cx="493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0">
                <a:latin typeface="Lucida Sans Unicode"/>
                <a:cs typeface="Lucida Sans Unicode"/>
              </a:rPr>
              <a:t>P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302925" y="5494794"/>
            <a:ext cx="2118360" cy="363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335"/>
              </a:lnSpc>
              <a:spcBef>
                <a:spcPts val="95"/>
              </a:spcBef>
            </a:pPr>
            <a:r>
              <a:rPr dirty="0" sz="1200" spc="58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  <a:p>
            <a:pPr marL="134620">
              <a:lnSpc>
                <a:spcPts val="1335"/>
              </a:lnSpc>
              <a:tabLst>
                <a:tab pos="1556385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1	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585587" y="5965456"/>
            <a:ext cx="2292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Verdana"/>
                <a:cs typeface="Verdana"/>
              </a:rPr>
              <a:t>k</a:t>
            </a:r>
            <a:r>
              <a:rPr dirty="0" sz="800" spc="-35">
                <a:latin typeface="Verdana"/>
                <a:cs typeface="Verdana"/>
              </a:rPr>
              <a:t>=</a:t>
            </a:r>
            <a:r>
              <a:rPr dirty="0" sz="800" spc="-10"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99825" y="5870612"/>
            <a:ext cx="2008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459230" algn="l"/>
              </a:tabLst>
            </a:pPr>
            <a:r>
              <a:rPr dirty="0" baseline="41666" sz="1800" spc="337">
                <a:latin typeface="Lucida Sans Unicode"/>
                <a:cs typeface="Lucida Sans Unicode"/>
              </a:rPr>
              <a:t>.</a:t>
            </a:r>
            <a:r>
              <a:rPr dirty="0" baseline="41666" sz="1200" spc="337">
                <a:latin typeface="Verdana"/>
                <a:cs typeface="Verdana"/>
              </a:rPr>
              <a:t>n−1</a:t>
            </a:r>
            <a:r>
              <a:rPr dirty="0" baseline="41666" sz="1200" spc="-157">
                <a:latin typeface="Verdana"/>
                <a:cs typeface="Verdana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P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k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60">
                <a:latin typeface="Lucida Sans Unicode"/>
                <a:cs typeface="Lucida Sans Unicode"/>
              </a:rPr>
              <a:t>P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k</a:t>
            </a:r>
            <a:r>
              <a:rPr dirty="0" sz="1200" spc="35">
                <a:latin typeface="Garamond"/>
                <a:cs typeface="Garamond"/>
              </a:rPr>
              <a:t>)	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2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01707" y="6115671"/>
            <a:ext cx="49777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famous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combinatorics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Catalan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numbers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913539" y="6174828"/>
            <a:ext cx="1248410" cy="10795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844"/>
              </a:lnSpc>
            </a:pPr>
            <a:r>
              <a:rPr dirty="0" sz="1200" spc="-5">
                <a:latin typeface="Times New Roman"/>
                <a:cs typeface="Times New Roman"/>
              </a:rPr>
              <a:t>Catalan</a:t>
            </a:r>
            <a:r>
              <a:rPr dirty="0" sz="1200" spc="-10">
                <a:latin typeface="Times New Roman"/>
                <a:cs typeface="Times New Roman"/>
              </a:rPr>
              <a:t> numbers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14400" y="6358280"/>
            <a:ext cx="586422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related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nodes.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Catalan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456668" y="6652881"/>
            <a:ext cx="4972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Lucida Sans Unicode"/>
                <a:cs typeface="Lucida Sans Unicode"/>
              </a:rPr>
              <a:t>C</a:t>
            </a:r>
            <a:r>
              <a:rPr dirty="0" sz="1200" spc="70">
                <a:latin typeface="Garamond"/>
                <a:cs typeface="Garamond"/>
              </a:rPr>
              <a:t>(</a:t>
            </a:r>
            <a:r>
              <a:rPr dirty="0" sz="1200" spc="70">
                <a:latin typeface="Lucida Sans Unicode"/>
                <a:cs typeface="Lucida Sans Unicode"/>
              </a:rPr>
              <a:t>n</a:t>
            </a:r>
            <a:r>
              <a:rPr dirty="0" sz="1200" spc="7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998976" y="6776644"/>
            <a:ext cx="359410" cy="6350"/>
          </a:xfrm>
          <a:custGeom>
            <a:avLst/>
            <a:gdLst/>
            <a:ahLst/>
            <a:cxnLst/>
            <a:rect l="l" t="t" r="r" b="b"/>
            <a:pathLst>
              <a:path w="359410" h="6350">
                <a:moveTo>
                  <a:pt x="359130" y="0"/>
                </a:moveTo>
                <a:lnTo>
                  <a:pt x="0" y="0"/>
                </a:lnTo>
                <a:lnTo>
                  <a:pt x="0" y="6171"/>
                </a:lnTo>
                <a:lnTo>
                  <a:pt x="359130" y="6171"/>
                </a:lnTo>
                <a:lnTo>
                  <a:pt x="3591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4140068" y="6550125"/>
            <a:ext cx="5340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344170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65">
                <a:latin typeface="Lucida Sans Unicode"/>
                <a:cs typeface="Lucida Sans Unicode"/>
              </a:rPr>
              <a:t>	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998440" y="6757010"/>
            <a:ext cx="6375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523875" algn="l"/>
              </a:tabLst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359959" y="6438798"/>
            <a:ext cx="426084" cy="207645"/>
          </a:xfrm>
          <a:prstGeom prst="rect">
            <a:avLst/>
          </a:prstGeom>
        </p:spPr>
        <p:txBody>
          <a:bodyPr wrap="square" lIns="0" tIns="38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300990" algn="l"/>
              </a:tabLst>
            </a:pPr>
            <a:r>
              <a:rPr dirty="0" sz="1200" spc="480">
                <a:latin typeface="Gulim"/>
                <a:cs typeface="Gulim"/>
              </a:rPr>
              <a:t> </a:t>
            </a:r>
            <a:r>
              <a:rPr dirty="0" sz="1200" spc="480">
                <a:latin typeface="Gulim"/>
                <a:cs typeface="Gulim"/>
              </a:rPr>
              <a:t>	</a:t>
            </a:r>
            <a:r>
              <a:rPr dirty="0" sz="1200" spc="480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50899" y="7029043"/>
            <a:ext cx="6527800" cy="16148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particular,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P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C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n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C</a:t>
            </a:r>
            <a:r>
              <a:rPr dirty="0" sz="1200" spc="70">
                <a:latin typeface="Garamond"/>
                <a:cs typeface="Garamond"/>
              </a:rPr>
              <a:t>(</a:t>
            </a:r>
            <a:r>
              <a:rPr dirty="0" sz="1200" spc="70">
                <a:latin typeface="Lucida Sans Unicode"/>
                <a:cs typeface="Lucida Sans Unicode"/>
              </a:rPr>
              <a:t>n</a:t>
            </a:r>
            <a:r>
              <a:rPr dirty="0" sz="1200" spc="70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10">
                <a:latin typeface="Segoe UI Symbol"/>
                <a:cs typeface="Segoe UI Symbol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Ω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Lucida Sans Unicode"/>
                <a:cs typeface="Lucida Sans Unicode"/>
              </a:rPr>
              <a:t>4</a:t>
            </a:r>
            <a:r>
              <a:rPr dirty="0" baseline="31250" sz="1200" spc="15">
                <a:latin typeface="Verdana"/>
                <a:cs typeface="Verdana"/>
              </a:rPr>
              <a:t>n</a:t>
            </a:r>
            <a:r>
              <a:rPr dirty="0" sz="1200" spc="10">
                <a:latin typeface="Lucida Sans Unicode"/>
                <a:cs typeface="Lucida Sans Unicode"/>
              </a:rPr>
              <a:t>/n</a:t>
            </a:r>
            <a:r>
              <a:rPr dirty="0" baseline="31250" sz="1200" spc="15">
                <a:latin typeface="Verdana"/>
                <a:cs typeface="Verdana"/>
              </a:rPr>
              <a:t>3/2</a:t>
            </a:r>
            <a:r>
              <a:rPr dirty="0" sz="1200" spc="1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exponential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4</a:t>
            </a:r>
            <a:r>
              <a:rPr dirty="0" baseline="31250" sz="1200" spc="-22">
                <a:latin typeface="Verdana"/>
                <a:cs typeface="Verdana"/>
              </a:rPr>
              <a:t>n</a:t>
            </a:r>
            <a:r>
              <a:rPr dirty="0" baseline="31250" sz="1200" spc="-7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thus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5"/>
              </a:spcBef>
            </a:pPr>
            <a:r>
              <a:rPr dirty="0" sz="1200" spc="80">
                <a:latin typeface="Lucida Sans Unicode"/>
                <a:cs typeface="Lucida Sans Unicode"/>
              </a:rPr>
              <a:t>P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grow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quickly.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approach is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practical.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845"/>
              </a:spcBef>
              <a:tabLst>
                <a:tab pos="6096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6.4.1	</a:t>
            </a:r>
            <a:r>
              <a:rPr dirty="0" sz="1400" spc="15" b="1">
                <a:latin typeface="Times New Roman"/>
                <a:cs typeface="Times New Roman"/>
              </a:rPr>
              <a:t>Chain</a:t>
            </a:r>
            <a:r>
              <a:rPr dirty="0" sz="1400" spc="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Matrix</a:t>
            </a:r>
            <a:r>
              <a:rPr dirty="0" sz="1400" spc="10" b="1">
                <a:latin typeface="Times New Roman"/>
                <a:cs typeface="Times New Roman"/>
              </a:rPr>
              <a:t> Multiplication-Dynamic </a:t>
            </a:r>
            <a:r>
              <a:rPr dirty="0" sz="1400" spc="15" b="1">
                <a:latin typeface="Times New Roman"/>
                <a:cs typeface="Times New Roman"/>
              </a:rPr>
              <a:t>Programming</a:t>
            </a:r>
            <a:r>
              <a:rPr dirty="0" sz="1400" spc="10" b="1">
                <a:latin typeface="Times New Roman"/>
                <a:cs typeface="Times New Roman"/>
              </a:rPr>
              <a:t> Formulation</a:t>
            </a:r>
            <a:endParaRPr sz="1400">
              <a:latin typeface="Times New Roman"/>
              <a:cs typeface="Times New Roman"/>
            </a:endParaRPr>
          </a:p>
          <a:p>
            <a:pPr algn="just" marL="63500" marR="55880">
              <a:lnSpc>
                <a:spcPct val="100000"/>
              </a:lnSpc>
              <a:spcBef>
                <a:spcPts val="128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dynamic programming solution </a:t>
            </a:r>
            <a:r>
              <a:rPr dirty="0" sz="1200" spc="-20">
                <a:latin typeface="Times New Roman"/>
                <a:cs typeface="Times New Roman"/>
              </a:rPr>
              <a:t>involves </a:t>
            </a:r>
            <a:r>
              <a:rPr dirty="0" sz="1200" spc="-10">
                <a:latin typeface="Times New Roman"/>
                <a:cs typeface="Times New Roman"/>
              </a:rPr>
              <a:t>breaking </a:t>
            </a:r>
            <a:r>
              <a:rPr dirty="0" sz="1200" spc="-5">
                <a:latin typeface="Times New Roman"/>
                <a:cs typeface="Times New Roman"/>
              </a:rPr>
              <a:t>up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problem </a:t>
            </a:r>
            <a:r>
              <a:rPr dirty="0" sz="1200" spc="-10">
                <a:latin typeface="Times New Roman"/>
                <a:cs typeface="Times New Roman"/>
              </a:rPr>
              <a:t>into subproblems whose solutions </a:t>
            </a:r>
            <a:r>
              <a:rPr dirty="0" sz="1200" spc="-5">
                <a:latin typeface="Times New Roman"/>
                <a:cs typeface="Times New Roman"/>
              </a:rPr>
              <a:t> can be </a:t>
            </a:r>
            <a:r>
              <a:rPr dirty="0" sz="1200" spc="-10">
                <a:latin typeface="Times New Roman"/>
                <a:cs typeface="Times New Roman"/>
              </a:rPr>
              <a:t>combined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solve the global problem. </a:t>
            </a:r>
            <a:r>
              <a:rPr dirty="0" sz="1200" spc="-5">
                <a:latin typeface="Times New Roman"/>
                <a:cs typeface="Times New Roman"/>
              </a:rPr>
              <a:t>Let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i..j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result of </a:t>
            </a:r>
            <a:r>
              <a:rPr dirty="0" sz="1200" spc="-10">
                <a:latin typeface="Times New Roman"/>
                <a:cs typeface="Times New Roman"/>
              </a:rPr>
              <a:t>multiplying </a:t>
            </a:r>
            <a:r>
              <a:rPr dirty="0" sz="1200" spc="-5">
                <a:latin typeface="Times New Roman"/>
                <a:cs typeface="Times New Roman"/>
              </a:rPr>
              <a:t>matrices </a:t>
            </a:r>
            <a:r>
              <a:rPr dirty="0" sz="1200" spc="80">
                <a:latin typeface="Lucida Sans Unicode"/>
                <a:cs typeface="Lucida Sans Unicode"/>
              </a:rPr>
              <a:t>i </a:t>
            </a:r>
            <a:r>
              <a:rPr dirty="0" sz="1200" spc="-10">
                <a:latin typeface="Times New Roman"/>
                <a:cs typeface="Times New Roman"/>
              </a:rPr>
              <a:t>through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easy to see that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i..j</a:t>
            </a:r>
            <a:r>
              <a:rPr dirty="0" baseline="-13888" sz="1200" spc="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 </a:t>
            </a:r>
            <a:r>
              <a:rPr dirty="0" sz="1200" spc="-5">
                <a:latin typeface="Lucida Sans Unicode"/>
                <a:cs typeface="Lucida Sans Unicode"/>
              </a:rPr>
              <a:t>p</a:t>
            </a:r>
            <a:r>
              <a:rPr dirty="0" baseline="-13888" sz="1200" spc="-7">
                <a:latin typeface="Verdana"/>
                <a:cs typeface="Verdana"/>
              </a:rPr>
              <a:t>i−1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×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p</a:t>
            </a:r>
            <a:r>
              <a:rPr dirty="0" baseline="-13888" sz="1200" spc="7">
                <a:latin typeface="Verdana"/>
                <a:cs typeface="Verdana"/>
              </a:rPr>
              <a:t>j </a:t>
            </a:r>
            <a:r>
              <a:rPr dirty="0" sz="1200" spc="-10">
                <a:latin typeface="Times New Roman"/>
                <a:cs typeface="Times New Roman"/>
              </a:rPr>
              <a:t>matrix.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224252" y="8707539"/>
            <a:ext cx="9467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82270" algn="l"/>
                <a:tab pos="727075" algn="l"/>
              </a:tabLst>
            </a:pP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3	</a:t>
            </a: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4	</a:t>
            </a: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5</a:t>
            </a:r>
            <a:endParaRPr baseline="-13888" sz="1200">
              <a:latin typeface="Verdana"/>
              <a:cs typeface="Verdan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258666" y="8730284"/>
            <a:ext cx="7569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52">
                <a:latin typeface="Lucida Sans Unicode"/>
                <a:cs typeface="Lucida Sans Unicode"/>
              </a:rPr>
              <a:t>A</a:t>
            </a:r>
            <a:r>
              <a:rPr dirty="0" sz="800" spc="35">
                <a:latin typeface="Verdana"/>
                <a:cs typeface="Verdana"/>
              </a:rPr>
              <a:t>6</a:t>
            </a:r>
            <a:r>
              <a:rPr dirty="0" sz="800" spc="65">
                <a:latin typeface="Verdana"/>
                <a:cs typeface="Verdana"/>
              </a:rPr>
              <a:t> </a:t>
            </a:r>
            <a:r>
              <a:rPr dirty="0" baseline="9259" sz="1800" spc="150">
                <a:latin typeface="Garamond"/>
                <a:cs typeface="Garamond"/>
              </a:rPr>
              <a:t>=</a:t>
            </a:r>
            <a:r>
              <a:rPr dirty="0" baseline="9259" sz="1800" spc="7">
                <a:latin typeface="Garamond"/>
                <a:cs typeface="Garamond"/>
              </a:rPr>
              <a:t> </a:t>
            </a:r>
            <a:r>
              <a:rPr dirty="0" baseline="9259" sz="1800" spc="-37">
                <a:latin typeface="Lucida Sans Unicode"/>
                <a:cs typeface="Lucida Sans Unicode"/>
              </a:rPr>
              <a:t>A</a:t>
            </a:r>
            <a:r>
              <a:rPr dirty="0" sz="800" spc="-25">
                <a:latin typeface="Verdana"/>
                <a:cs typeface="Verdana"/>
              </a:rPr>
              <a:t>3..6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242223" y="8876448"/>
            <a:ext cx="1703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6870" algn="l"/>
                <a:tab pos="701675" algn="l"/>
                <a:tab pos="1046480" algn="l"/>
                <a:tab pos="1489075" algn="l"/>
              </a:tabLst>
            </a:pPr>
            <a:r>
              <a:rPr dirty="0" sz="800" spc="-80">
                <a:latin typeface="Verdana"/>
                <a:cs typeface="Verdana"/>
              </a:rPr>
              <a:t>4</a:t>
            </a:r>
            <a:r>
              <a:rPr dirty="0" sz="800" spc="215">
                <a:latin typeface="Cambria"/>
                <a:cs typeface="Cambria"/>
              </a:rPr>
              <a:t>×</a:t>
            </a:r>
            <a:r>
              <a:rPr dirty="0" sz="800" spc="-10">
                <a:latin typeface="Verdana"/>
                <a:cs typeface="Verdana"/>
              </a:rPr>
              <a:t>5</a:t>
            </a:r>
            <a:r>
              <a:rPr dirty="0" sz="800">
                <a:latin typeface="Verdana"/>
                <a:cs typeface="Verdana"/>
              </a:rPr>
              <a:t>	</a:t>
            </a:r>
            <a:r>
              <a:rPr dirty="0" sz="800" spc="-80">
                <a:latin typeface="Verdana"/>
                <a:cs typeface="Verdana"/>
              </a:rPr>
              <a:t>5</a:t>
            </a:r>
            <a:r>
              <a:rPr dirty="0" sz="800" spc="215">
                <a:latin typeface="Cambria"/>
                <a:cs typeface="Cambria"/>
              </a:rPr>
              <a:t>×</a:t>
            </a:r>
            <a:r>
              <a:rPr dirty="0" sz="800" spc="-10">
                <a:latin typeface="Verdana"/>
                <a:cs typeface="Verdana"/>
              </a:rPr>
              <a:t>2</a:t>
            </a:r>
            <a:r>
              <a:rPr dirty="0" sz="800">
                <a:latin typeface="Verdana"/>
                <a:cs typeface="Verdana"/>
              </a:rPr>
              <a:t>	</a:t>
            </a:r>
            <a:r>
              <a:rPr dirty="0" sz="800" spc="-80">
                <a:latin typeface="Verdana"/>
                <a:cs typeface="Verdana"/>
              </a:rPr>
              <a:t>2</a:t>
            </a:r>
            <a:r>
              <a:rPr dirty="0" sz="800" spc="215">
                <a:latin typeface="Cambria"/>
                <a:cs typeface="Cambria"/>
              </a:rPr>
              <a:t>×</a:t>
            </a:r>
            <a:r>
              <a:rPr dirty="0" sz="800" spc="-10">
                <a:latin typeface="Verdana"/>
                <a:cs typeface="Verdana"/>
              </a:rPr>
              <a:t>8</a:t>
            </a:r>
            <a:r>
              <a:rPr dirty="0" sz="800">
                <a:latin typeface="Verdana"/>
                <a:cs typeface="Verdana"/>
              </a:rPr>
              <a:t>	</a:t>
            </a:r>
            <a:r>
              <a:rPr dirty="0" sz="800" spc="-80">
                <a:latin typeface="Verdana"/>
                <a:cs typeface="Verdana"/>
              </a:rPr>
              <a:t>8</a:t>
            </a:r>
            <a:r>
              <a:rPr dirty="0" sz="800" spc="215">
                <a:latin typeface="Cambria"/>
                <a:cs typeface="Cambria"/>
              </a:rPr>
              <a:t>×</a:t>
            </a:r>
            <a:r>
              <a:rPr dirty="0" sz="800" spc="-10">
                <a:latin typeface="Verdana"/>
                <a:cs typeface="Verdana"/>
              </a:rPr>
              <a:t>7</a:t>
            </a:r>
            <a:r>
              <a:rPr dirty="0" sz="800">
                <a:latin typeface="Verdana"/>
                <a:cs typeface="Verdana"/>
              </a:rPr>
              <a:t>	</a:t>
            </a:r>
            <a:r>
              <a:rPr dirty="0" sz="800" spc="-80">
                <a:latin typeface="Verdana"/>
                <a:cs typeface="Verdana"/>
              </a:rPr>
              <a:t>4</a:t>
            </a:r>
            <a:r>
              <a:rPr dirty="0" sz="800" spc="215">
                <a:latin typeface="Cambria"/>
                <a:cs typeface="Cambria"/>
              </a:rPr>
              <a:t>×</a:t>
            </a:r>
            <a:r>
              <a:rPr dirty="0" sz="800" spc="-10">
                <a:latin typeface="Verdana"/>
                <a:cs typeface="Verdana"/>
              </a:rPr>
              <a:t>7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6426835" cy="61341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585210" algn="l"/>
              </a:tabLst>
            </a:pPr>
            <a:r>
              <a:rPr dirty="0" sz="1200" spc="-5">
                <a:latin typeface="Times New Roman"/>
                <a:cs typeface="Times New Roman"/>
              </a:rPr>
              <a:t>86	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DYNAMIC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highest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</a:t>
            </a:r>
            <a:r>
              <a:rPr dirty="0" sz="1200" spc="-5">
                <a:latin typeface="Times New Roman"/>
                <a:cs typeface="Times New Roman"/>
              </a:rPr>
              <a:t> of parenthesization,</a:t>
            </a:r>
            <a:r>
              <a:rPr dirty="0" sz="1200" spc="-10">
                <a:latin typeface="Times New Roman"/>
                <a:cs typeface="Times New Roman"/>
              </a:rPr>
              <a:t> 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multiply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matrices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831971" y="1317474"/>
            <a:ext cx="14509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7">
                <a:latin typeface="Lucida Sans Unicode"/>
                <a:cs typeface="Lucida Sans Unicode"/>
              </a:rPr>
              <a:t>A</a:t>
            </a:r>
            <a:r>
              <a:rPr dirty="0" sz="800" spc="5">
                <a:latin typeface="Verdana"/>
                <a:cs typeface="Verdana"/>
              </a:rPr>
              <a:t>1..n </a:t>
            </a:r>
            <a:r>
              <a:rPr dirty="0" baseline="9259" sz="1800" spc="150">
                <a:latin typeface="Garamond"/>
                <a:cs typeface="Garamond"/>
              </a:rPr>
              <a:t>=</a:t>
            </a:r>
            <a:r>
              <a:rPr dirty="0" baseline="9259" sz="1800" spc="30">
                <a:latin typeface="Garamond"/>
                <a:cs typeface="Garamond"/>
              </a:rPr>
              <a:t> </a:t>
            </a:r>
            <a:r>
              <a:rPr dirty="0" baseline="9259" sz="1800" spc="-7">
                <a:latin typeface="Lucida Sans Unicode"/>
                <a:cs typeface="Lucida Sans Unicode"/>
              </a:rPr>
              <a:t>A</a:t>
            </a:r>
            <a:r>
              <a:rPr dirty="0" sz="800" spc="-5">
                <a:latin typeface="Verdana"/>
                <a:cs typeface="Verdana"/>
              </a:rPr>
              <a:t>1..k</a:t>
            </a:r>
            <a:r>
              <a:rPr dirty="0" sz="800" spc="-50">
                <a:latin typeface="Verdana"/>
                <a:cs typeface="Verdana"/>
              </a:rPr>
              <a:t> </a:t>
            </a:r>
            <a:r>
              <a:rPr dirty="0" baseline="9259" sz="1800" spc="104">
                <a:latin typeface="Segoe UI Symbol"/>
                <a:cs typeface="Segoe UI Symbol"/>
              </a:rPr>
              <a:t>·</a:t>
            </a:r>
            <a:r>
              <a:rPr dirty="0" baseline="9259" sz="1800" spc="-112">
                <a:latin typeface="Segoe UI Symbol"/>
                <a:cs typeface="Segoe UI Symbol"/>
              </a:rPr>
              <a:t> </a:t>
            </a:r>
            <a:r>
              <a:rPr dirty="0" baseline="9259" sz="1800">
                <a:latin typeface="Lucida Sans Unicode"/>
                <a:cs typeface="Lucida Sans Unicode"/>
              </a:rPr>
              <a:t>A</a:t>
            </a:r>
            <a:r>
              <a:rPr dirty="0" sz="800">
                <a:latin typeface="Verdana"/>
                <a:cs typeface="Verdana"/>
              </a:rPr>
              <a:t>k+1..n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380531" y="1294727"/>
            <a:ext cx="99186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87395" y="1663002"/>
            <a:ext cx="6589395" cy="54336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question </a:t>
            </a: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 spc="-5">
                <a:latin typeface="Times New Roman"/>
                <a:cs typeface="Times New Roman"/>
              </a:rPr>
              <a:t> is: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 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optimum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split and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parenthesis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algn="just" marL="127000" marR="272415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sub-chains </a:t>
            </a:r>
            <a:r>
              <a:rPr dirty="0" sz="1200" spc="-5">
                <a:latin typeface="Lucida Sans Unicode"/>
                <a:cs typeface="Lucida Sans Unicode"/>
              </a:rPr>
              <a:t>A</a:t>
            </a:r>
            <a:r>
              <a:rPr dirty="0" baseline="-13888" sz="1200" spc="-7">
                <a:latin typeface="Verdana"/>
                <a:cs typeface="Verdana"/>
              </a:rPr>
              <a:t>1..k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5">
                <a:latin typeface="Lucida Sans Unicode"/>
                <a:cs typeface="Lucida Sans Unicode"/>
              </a:rPr>
              <a:t>A</a:t>
            </a:r>
            <a:r>
              <a:rPr dirty="0" baseline="-13888" sz="1200" spc="-7">
                <a:latin typeface="Verdana"/>
                <a:cs typeface="Verdana"/>
              </a:rPr>
              <a:t>k+1..n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use </a:t>
            </a:r>
            <a:r>
              <a:rPr dirty="0" sz="1200" spc="-15">
                <a:latin typeface="Times New Roman"/>
                <a:cs typeface="Times New Roman"/>
              </a:rPr>
              <a:t>divide </a:t>
            </a:r>
            <a:r>
              <a:rPr dirty="0" sz="1200" spc="-5">
                <a:latin typeface="Times New Roman"/>
                <a:cs typeface="Times New Roman"/>
              </a:rPr>
              <a:t>and conquer because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15">
                <a:latin typeface="Times New Roman"/>
                <a:cs typeface="Times New Roman"/>
              </a:rPr>
              <a:t>know </a:t>
            </a:r>
            <a:r>
              <a:rPr dirty="0" sz="1200" spc="-5">
                <a:latin typeface="Times New Roman"/>
                <a:cs typeface="Times New Roman"/>
              </a:rPr>
              <a:t>what is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optimum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to consider all possible </a:t>
            </a:r>
            <a:r>
              <a:rPr dirty="0" sz="1200" spc="-10">
                <a:latin typeface="Times New Roman"/>
                <a:cs typeface="Times New Roman"/>
              </a:rPr>
              <a:t>values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40">
                <a:latin typeface="Lucida Sans Unicode"/>
                <a:cs typeface="Lucida Sans Unicode"/>
              </a:rPr>
              <a:t>k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take the </a:t>
            </a:r>
            <a:r>
              <a:rPr dirty="0" sz="1200" spc="-5">
                <a:latin typeface="Times New Roman"/>
                <a:cs typeface="Times New Roman"/>
              </a:rPr>
              <a:t>best of them.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apply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strategy</a:t>
            </a:r>
            <a:r>
              <a:rPr dirty="0" sz="1200" spc="-5">
                <a:latin typeface="Times New Roman"/>
                <a:cs typeface="Times New Roman"/>
              </a:rPr>
              <a:t> to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subproblems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optimally.</a:t>
            </a:r>
            <a:endParaRPr sz="1200">
              <a:latin typeface="Times New Roman"/>
              <a:cs typeface="Times New Roman"/>
            </a:endParaRPr>
          </a:p>
          <a:p>
            <a:pPr algn="just" marL="127000">
              <a:lnSpc>
                <a:spcPct val="100000"/>
              </a:lnSpc>
              <a:spcBef>
                <a:spcPts val="52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subproblem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build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bottom-up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(why)?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endParaRPr sz="1200">
              <a:latin typeface="Times New Roman"/>
              <a:cs typeface="Times New Roman"/>
            </a:endParaRPr>
          </a:p>
          <a:p>
            <a:pPr marL="127000" marR="189865">
              <a:lnSpc>
                <a:spcPct val="100000"/>
              </a:lnSpc>
              <a:spcBef>
                <a:spcPts val="5"/>
              </a:spcBef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0">
                <a:latin typeface="Segoe UI Symbol"/>
                <a:cs typeface="Segoe UI Symbol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i,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multiplications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baseline="-13888" sz="1200" spc="30">
                <a:latin typeface="Verdana"/>
                <a:cs typeface="Verdana"/>
              </a:rPr>
              <a:t>i..j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optimum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be described by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600">
              <a:latin typeface="Times New Roman"/>
              <a:cs typeface="Times New Roman"/>
            </a:endParaRPr>
          </a:p>
          <a:p>
            <a:pPr marL="498475" indent="-151130">
              <a:lnSpc>
                <a:spcPct val="100000"/>
              </a:lnSpc>
              <a:spcBef>
                <a:spcPts val="5"/>
              </a:spcBef>
              <a:buFont typeface="Segoe UI Symbol"/>
              <a:buChar char="•"/>
              <a:tabLst>
                <a:tab pos="499109" algn="l"/>
              </a:tabLst>
            </a:pP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i,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i</a:t>
            </a:r>
            <a:r>
              <a:rPr dirty="0" sz="1200" spc="4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diagonal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entries).</a:t>
            </a:r>
            <a:endParaRPr sz="1200">
              <a:latin typeface="Times New Roman"/>
              <a:cs typeface="Times New Roman"/>
            </a:endParaRPr>
          </a:p>
          <a:p>
            <a:pPr marL="498475" indent="-151130">
              <a:lnSpc>
                <a:spcPct val="100000"/>
              </a:lnSpc>
              <a:spcBef>
                <a:spcPts val="1430"/>
              </a:spcBef>
              <a:buFont typeface="Segoe UI Symbol"/>
              <a:buChar char="•"/>
              <a:tabLst>
                <a:tab pos="499109" algn="l"/>
              </a:tabLst>
            </a:pP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are asking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product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baseline="-13888" sz="1200" spc="30">
                <a:latin typeface="Verdana"/>
                <a:cs typeface="Verdana"/>
              </a:rPr>
              <a:t>i..j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498475" indent="-151130">
              <a:lnSpc>
                <a:spcPct val="100000"/>
              </a:lnSpc>
              <a:spcBef>
                <a:spcPts val="1435"/>
              </a:spcBef>
              <a:buFont typeface="Segoe UI Symbol"/>
              <a:buChar char="•"/>
              <a:tabLst>
                <a:tab pos="499109" algn="l"/>
              </a:tabLst>
            </a:pPr>
            <a:r>
              <a:rPr dirty="0" sz="1200" spc="-5">
                <a:latin typeface="Times New Roman"/>
                <a:cs typeface="Times New Roman"/>
              </a:rPr>
              <a:t>This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split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considering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i..k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k+1..j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0" marR="93980">
              <a:lnSpc>
                <a:spcPct val="100000"/>
              </a:lnSpc>
              <a:spcBef>
                <a:spcPts val="1860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optimum time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compute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i..k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i, </a:t>
            </a:r>
            <a:r>
              <a:rPr dirty="0" sz="1200" spc="-20">
                <a:latin typeface="Lucida Sans Unicode"/>
                <a:cs typeface="Lucida Sans Unicode"/>
              </a:rPr>
              <a:t>k</a:t>
            </a:r>
            <a:r>
              <a:rPr dirty="0" sz="1200" spc="-20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optimum time for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k+1..j </a:t>
            </a:r>
            <a:r>
              <a:rPr dirty="0" sz="1200" spc="-5">
                <a:latin typeface="Times New Roman"/>
                <a:cs typeface="Times New Roman"/>
              </a:rPr>
              <a:t>is in </a:t>
            </a:r>
            <a:r>
              <a:rPr dirty="0" sz="1200" spc="-20">
                <a:latin typeface="Lucida Sans Unicode"/>
                <a:cs typeface="Lucida Sans Unicode"/>
              </a:rPr>
              <a:t>m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k </a:t>
            </a:r>
            <a:r>
              <a:rPr dirty="0" sz="1200" spc="100">
                <a:latin typeface="Garamond"/>
                <a:cs typeface="Garamond"/>
              </a:rPr>
              <a:t>+ </a:t>
            </a:r>
            <a:r>
              <a:rPr dirty="0" sz="1200" spc="-105">
                <a:latin typeface="Lucida Sans Unicode"/>
                <a:cs typeface="Lucida Sans Unicode"/>
              </a:rPr>
              <a:t>1, </a:t>
            </a:r>
            <a:r>
              <a:rPr dirty="0" sz="1200" spc="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Since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i..k </a:t>
            </a:r>
            <a:r>
              <a:rPr dirty="0" baseline="-13888" sz="1200" spc="-405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 </a:t>
            </a:r>
            <a:r>
              <a:rPr dirty="0" sz="1200" spc="-5">
                <a:latin typeface="Lucida Sans Unicode"/>
                <a:cs typeface="Lucida Sans Unicode"/>
              </a:rPr>
              <a:t>p</a:t>
            </a:r>
            <a:r>
              <a:rPr dirty="0" baseline="-13888" sz="1200" spc="-7">
                <a:latin typeface="Verdana"/>
                <a:cs typeface="Verdana"/>
              </a:rPr>
              <a:t>i−1 </a:t>
            </a:r>
            <a:r>
              <a:rPr dirty="0" sz="1200" spc="105">
                <a:latin typeface="Segoe UI Symbol"/>
                <a:cs typeface="Segoe UI Symbol"/>
              </a:rPr>
              <a:t>× </a:t>
            </a:r>
            <a:r>
              <a:rPr dirty="0" sz="1200" spc="10">
                <a:latin typeface="Lucida Sans Unicode"/>
                <a:cs typeface="Lucida Sans Unicode"/>
              </a:rPr>
              <a:t>p</a:t>
            </a:r>
            <a:r>
              <a:rPr dirty="0" baseline="-13888" sz="1200" spc="15">
                <a:latin typeface="Verdana"/>
                <a:cs typeface="Verdana"/>
              </a:rPr>
              <a:t>k </a:t>
            </a:r>
            <a:r>
              <a:rPr dirty="0" sz="1200" spc="-10">
                <a:latin typeface="Times New Roman"/>
                <a:cs typeface="Times New Roman"/>
              </a:rPr>
              <a:t>matrix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k+1..j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10">
                <a:latin typeface="Lucida Sans Unicode"/>
                <a:cs typeface="Lucida Sans Unicode"/>
              </a:rPr>
              <a:t>p</a:t>
            </a:r>
            <a:r>
              <a:rPr dirty="0" baseline="-13888" sz="1200" spc="15">
                <a:latin typeface="Verdana"/>
                <a:cs typeface="Verdana"/>
              </a:rPr>
              <a:t>k </a:t>
            </a:r>
            <a:r>
              <a:rPr dirty="0" sz="1200" spc="105">
                <a:latin typeface="Segoe UI Symbol"/>
                <a:cs typeface="Segoe UI Symbol"/>
              </a:rPr>
              <a:t>× </a:t>
            </a:r>
            <a:r>
              <a:rPr dirty="0" sz="1200" spc="5">
                <a:latin typeface="Lucida Sans Unicode"/>
                <a:cs typeface="Lucida Sans Unicode"/>
              </a:rPr>
              <a:t>p</a:t>
            </a:r>
            <a:r>
              <a:rPr dirty="0" baseline="-13888" sz="1200" spc="7">
                <a:latin typeface="Verdana"/>
                <a:cs typeface="Verdana"/>
              </a:rPr>
              <a:t>j </a:t>
            </a:r>
            <a:r>
              <a:rPr dirty="0" sz="1200" spc="-10">
                <a:latin typeface="Times New Roman"/>
                <a:cs typeface="Times New Roman"/>
              </a:rPr>
              <a:t>matrix, the time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multiply </a:t>
            </a:r>
            <a:r>
              <a:rPr dirty="0" sz="1200" spc="-5">
                <a:latin typeface="Times New Roman"/>
                <a:cs typeface="Times New Roman"/>
              </a:rPr>
              <a:t>them is </a:t>
            </a:r>
            <a:r>
              <a:rPr dirty="0" sz="1200" spc="-5">
                <a:latin typeface="Lucida Sans Unicode"/>
                <a:cs typeface="Lucida Sans Unicode"/>
              </a:rPr>
              <a:t>p</a:t>
            </a:r>
            <a:r>
              <a:rPr dirty="0" baseline="-13888" sz="1200" spc="-7">
                <a:latin typeface="Verdana"/>
                <a:cs typeface="Verdana"/>
              </a:rPr>
              <a:t>i−1 </a:t>
            </a:r>
            <a:r>
              <a:rPr dirty="0" sz="1200" spc="105">
                <a:latin typeface="Segoe UI Symbol"/>
                <a:cs typeface="Segoe UI Symbol"/>
              </a:rPr>
              <a:t>× </a:t>
            </a:r>
            <a:r>
              <a:rPr dirty="0" sz="1200" spc="10">
                <a:latin typeface="Lucida Sans Unicode"/>
                <a:cs typeface="Lucida Sans Unicode"/>
              </a:rPr>
              <a:t>p</a:t>
            </a:r>
            <a:r>
              <a:rPr dirty="0" baseline="-13888" sz="1200" spc="15">
                <a:latin typeface="Verdana"/>
                <a:cs typeface="Verdana"/>
              </a:rPr>
              <a:t>k </a:t>
            </a:r>
            <a:r>
              <a:rPr dirty="0" sz="1200" spc="105">
                <a:latin typeface="Segoe UI Symbol"/>
                <a:cs typeface="Segoe UI Symbol"/>
              </a:rPr>
              <a:t>× </a:t>
            </a:r>
            <a:r>
              <a:rPr dirty="0" sz="1200">
                <a:latin typeface="Lucida Sans Unicode"/>
                <a:cs typeface="Lucida Sans Unicode"/>
              </a:rPr>
              <a:t>p</a:t>
            </a:r>
            <a:r>
              <a:rPr dirty="0" baseline="-13888" sz="1200">
                <a:latin typeface="Verdana"/>
                <a:cs typeface="Verdana"/>
              </a:rPr>
              <a:t>j</a:t>
            </a:r>
            <a:r>
              <a:rPr dirty="0" sz="120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This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suggests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 spc="-5">
                <a:latin typeface="Times New Roman"/>
                <a:cs typeface="Times New Roman"/>
              </a:rPr>
              <a:t> rule: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Times New Roman"/>
              <a:cs typeface="Times New Roman"/>
            </a:endParaRPr>
          </a:p>
          <a:p>
            <a:pPr marL="1798955">
              <a:lnSpc>
                <a:spcPct val="100000"/>
              </a:lnSpc>
              <a:spcBef>
                <a:spcPts val="5"/>
              </a:spcBef>
            </a:pP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 marL="1803400">
              <a:lnSpc>
                <a:spcPts val="1295"/>
              </a:lnSpc>
              <a:spcBef>
                <a:spcPts val="300"/>
              </a:spcBef>
            </a:pPr>
            <a:r>
              <a:rPr dirty="0" sz="120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i,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9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m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i,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k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m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k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p</a:t>
            </a:r>
            <a:r>
              <a:rPr dirty="0" baseline="-13888" sz="1200" spc="7">
                <a:latin typeface="Verdana"/>
                <a:cs typeface="Verdana"/>
              </a:rPr>
              <a:t>i−1</a:t>
            </a:r>
            <a:r>
              <a:rPr dirty="0" sz="1200" spc="5">
                <a:latin typeface="Lucida Sans Unicode"/>
                <a:cs typeface="Lucida Sans Unicode"/>
              </a:rPr>
              <a:t>p</a:t>
            </a:r>
            <a:r>
              <a:rPr dirty="0" baseline="-13888" sz="1200" spc="7">
                <a:latin typeface="Verdana"/>
                <a:cs typeface="Verdana"/>
              </a:rPr>
              <a:t>k</a:t>
            </a:r>
            <a:r>
              <a:rPr dirty="0" sz="1200" spc="5">
                <a:latin typeface="Lucida Sans Unicode"/>
                <a:cs typeface="Lucida Sans Unicode"/>
              </a:rPr>
              <a:t>p</a:t>
            </a:r>
            <a:r>
              <a:rPr dirty="0" baseline="-13888" sz="1200" spc="7">
                <a:latin typeface="Verdana"/>
                <a:cs typeface="Verdana"/>
              </a:rPr>
              <a:t>j</a:t>
            </a:r>
            <a:r>
              <a:rPr dirty="0" sz="1200" spc="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ctr" marR="1473200">
              <a:lnSpc>
                <a:spcPts val="815"/>
              </a:lnSpc>
            </a:pPr>
            <a:r>
              <a:rPr dirty="0" sz="800" spc="70">
                <a:latin typeface="Verdana"/>
                <a:cs typeface="Verdana"/>
              </a:rPr>
              <a:t>i</a:t>
            </a:r>
            <a:r>
              <a:rPr dirty="0" sz="800" spc="70">
                <a:latin typeface="Cambria"/>
                <a:cs typeface="Cambria"/>
              </a:rPr>
              <a:t>≤</a:t>
            </a:r>
            <a:r>
              <a:rPr dirty="0" sz="800" spc="70">
                <a:latin typeface="Verdana"/>
                <a:cs typeface="Verdana"/>
              </a:rPr>
              <a:t>k&lt;j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Verdana"/>
              <a:cs typeface="Verdana"/>
            </a:endParaRPr>
          </a:p>
          <a:p>
            <a:pPr marL="127000" marR="76200" indent="-635">
              <a:lnSpc>
                <a:spcPct val="100000"/>
              </a:lnSpc>
            </a:pP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 spc="-10">
                <a:latin typeface="Times New Roman"/>
                <a:cs typeface="Times New Roman"/>
              </a:rPr>
              <a:t>not want </a:t>
            </a:r>
            <a:r>
              <a:rPr dirty="0" sz="1200" spc="-5">
                <a:latin typeface="Times New Roman"/>
                <a:cs typeface="Times New Roman"/>
              </a:rPr>
              <a:t>to calculate </a:t>
            </a:r>
            <a:r>
              <a:rPr dirty="0" sz="1200" spc="-30">
                <a:latin typeface="Lucida Sans Unicode"/>
                <a:cs typeface="Lucida Sans Unicode"/>
              </a:rPr>
              <a:t>m </a:t>
            </a:r>
            <a:r>
              <a:rPr dirty="0" sz="1200" spc="-5">
                <a:latin typeface="Times New Roman"/>
                <a:cs typeface="Times New Roman"/>
              </a:rPr>
              <a:t>entries </a:t>
            </a:r>
            <a:r>
              <a:rPr dirty="0" sz="1200" spc="-15">
                <a:latin typeface="Times New Roman"/>
                <a:cs typeface="Times New Roman"/>
              </a:rPr>
              <a:t>recursively.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 spc="-15">
                <a:latin typeface="Times New Roman"/>
                <a:cs typeface="Times New Roman"/>
              </a:rPr>
              <a:t>how </a:t>
            </a:r>
            <a:r>
              <a:rPr dirty="0" sz="1200" spc="-10">
                <a:latin typeface="Times New Roman"/>
                <a:cs typeface="Times New Roman"/>
              </a:rPr>
              <a:t>should we </a:t>
            </a:r>
            <a:r>
              <a:rPr dirty="0" sz="1200" spc="-5">
                <a:latin typeface="Times New Roman"/>
                <a:cs typeface="Times New Roman"/>
              </a:rPr>
              <a:t>proceed?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fill </a:t>
            </a:r>
            <a:r>
              <a:rPr dirty="0" sz="1200" spc="-30">
                <a:latin typeface="Lucida Sans Unicode"/>
                <a:cs typeface="Lucida Sans Unicode"/>
              </a:rPr>
              <a:t>m </a:t>
            </a:r>
            <a:r>
              <a:rPr dirty="0" sz="1200" spc="-5">
                <a:latin typeface="Times New Roman"/>
                <a:cs typeface="Times New Roman"/>
              </a:rPr>
              <a:t>along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diagonals. Here is </a:t>
            </a:r>
            <a:r>
              <a:rPr dirty="0" sz="1200" spc="-35">
                <a:latin typeface="Times New Roman"/>
                <a:cs typeface="Times New Roman"/>
              </a:rPr>
              <a:t>how.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 all </a:t>
            </a:r>
            <a:r>
              <a:rPr dirty="0" sz="120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i, </a:t>
            </a:r>
            <a:r>
              <a:rPr dirty="0" sz="1200" spc="40">
                <a:latin typeface="Lucida Sans Unicode"/>
                <a:cs typeface="Lucida Sans Unicode"/>
              </a:rPr>
              <a:t>i</a:t>
            </a:r>
            <a:r>
              <a:rPr dirty="0" sz="1200" spc="40">
                <a:latin typeface="Garamond"/>
                <a:cs typeface="Garamond"/>
              </a:rPr>
              <a:t>]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base </a:t>
            </a:r>
            <a:r>
              <a:rPr dirty="0" sz="1200" spc="-10">
                <a:latin typeface="Times New Roman"/>
                <a:cs typeface="Times New Roman"/>
              </a:rPr>
              <a:t>condition. Compute </a:t>
            </a:r>
            <a:r>
              <a:rPr dirty="0" sz="1200" spc="-5">
                <a:latin typeface="Times New Roman"/>
                <a:cs typeface="Times New Roman"/>
              </a:rPr>
              <a:t>cost </a:t>
            </a:r>
            <a:r>
              <a:rPr dirty="0" sz="1200" spc="-10">
                <a:latin typeface="Times New Roman"/>
                <a:cs typeface="Times New Roman"/>
              </a:rPr>
              <a:t>for multiplication </a:t>
            </a:r>
            <a:r>
              <a:rPr dirty="0" sz="1200" spc="-5">
                <a:latin typeface="Times New Roman"/>
                <a:cs typeface="Times New Roman"/>
              </a:rPr>
              <a:t>of 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 of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matrices.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2</a:t>
            </a:r>
            <a:r>
              <a:rPr dirty="0" sz="1200" spc="-75">
                <a:latin typeface="Garamond"/>
                <a:cs typeface="Garamond"/>
              </a:rPr>
              <a:t>]</a:t>
            </a:r>
            <a:r>
              <a:rPr dirty="0" sz="1200" spc="-75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3</a:t>
            </a:r>
            <a:r>
              <a:rPr dirty="0" sz="1200" spc="-75">
                <a:latin typeface="Garamond"/>
                <a:cs typeface="Garamond"/>
              </a:rPr>
              <a:t>]</a:t>
            </a:r>
            <a:r>
              <a:rPr dirty="0" sz="1200" spc="-75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4</a:t>
            </a:r>
            <a:r>
              <a:rPr dirty="0" sz="1200" spc="-75">
                <a:latin typeface="Garamond"/>
                <a:cs typeface="Garamond"/>
              </a:rPr>
              <a:t>]</a:t>
            </a:r>
            <a:r>
              <a:rPr dirty="0" sz="1200" spc="-75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m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1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2</a:t>
            </a:r>
            <a:r>
              <a:rPr dirty="0" sz="1200" spc="-55">
                <a:latin typeface="Garamond"/>
                <a:cs typeface="Garamond"/>
              </a:rPr>
              <a:t>]</a:t>
            </a:r>
            <a:r>
              <a:rPr dirty="0" sz="1200" spc="-5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Times New Roman"/>
              <a:cs typeface="Times New Roman"/>
            </a:endParaRPr>
          </a:p>
          <a:p>
            <a:pPr algn="ctr" marL="67945">
              <a:lnSpc>
                <a:spcPct val="100000"/>
              </a:lnSpc>
              <a:spcBef>
                <a:spcPts val="5"/>
              </a:spcBef>
            </a:pP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baseline="-13888" sz="1200" spc="-15">
                <a:latin typeface="Verdana"/>
                <a:cs typeface="Verdana"/>
              </a:rPr>
              <a:t>0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endParaRPr baseline="-13888" sz="1200">
              <a:latin typeface="Verdana"/>
              <a:cs typeface="Verdana"/>
            </a:endParaRPr>
          </a:p>
          <a:p>
            <a:pPr marL="127000">
              <a:lnSpc>
                <a:spcPct val="100000"/>
              </a:lnSpc>
              <a:spcBef>
                <a:spcPts val="1460"/>
              </a:spcBef>
            </a:pP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product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matrices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322575" y="7333932"/>
          <a:ext cx="3587750" cy="16821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360"/>
                <a:gridCol w="746760"/>
                <a:gridCol w="745490"/>
                <a:gridCol w="746760"/>
                <a:gridCol w="746760"/>
              </a:tblGrid>
              <a:tr h="371855"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m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endParaRPr sz="1200">
                        <a:latin typeface="Garamond"/>
                        <a:cs typeface="Garamond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←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m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endParaRPr sz="1200">
                        <a:latin typeface="Garamond"/>
                        <a:cs typeface="Garamond"/>
                      </a:endParaRPr>
                    </a:p>
                    <a:p>
                      <a:pPr algn="ctr" marL="1511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m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endParaRPr sz="1200">
                        <a:latin typeface="Garamond"/>
                        <a:cs typeface="Garamond"/>
                      </a:endParaRPr>
                    </a:p>
                  </a:txBody>
                  <a:tcPr marL="0" marR="0" marB="0" marT="717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←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m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endParaRPr sz="1200">
                        <a:latin typeface="Garamond"/>
                        <a:cs typeface="Garamond"/>
                      </a:endParaRPr>
                    </a:p>
                    <a:p>
                      <a:pPr algn="ctr" marL="1517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3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m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endParaRPr sz="1200">
                        <a:latin typeface="Garamond"/>
                        <a:cs typeface="Garamond"/>
                      </a:endParaRPr>
                    </a:p>
                  </a:txBody>
                  <a:tcPr marL="0" marR="0" marB="0" marT="723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←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m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4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endParaRPr sz="1200">
                        <a:latin typeface="Garamond"/>
                        <a:cs typeface="Garamond"/>
                      </a:endParaRPr>
                    </a:p>
                    <a:p>
                      <a:pPr algn="ctr" marL="1517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m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4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endParaRPr sz="1200">
                        <a:latin typeface="Garamond"/>
                        <a:cs typeface="Garamond"/>
                      </a:endParaRPr>
                    </a:p>
                  </a:txBody>
                  <a:tcPr marL="0" marR="0" marB="0" marT="704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←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m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endParaRPr sz="1200">
                        <a:latin typeface="Garamond"/>
                        <a:cs typeface="Garamond"/>
                      </a:endParaRPr>
                    </a:p>
                    <a:p>
                      <a:pPr algn="ctr" marL="1511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↓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12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m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endParaRPr sz="1200">
                        <a:latin typeface="Garamond"/>
                        <a:cs typeface="Garamond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21551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6.4.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CHAIN </a:t>
            </a:r>
            <a:r>
              <a:rPr dirty="0" sz="1200" spc="-30">
                <a:latin typeface="Times New Roman"/>
                <a:cs typeface="Times New Roman"/>
              </a:rPr>
              <a:t>MATRIX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MULTIPLY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8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9" y="926454"/>
            <a:ext cx="5066665" cy="5251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Next,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multiplication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matrices.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245"/>
              </a:lnSpc>
              <a:spcBef>
                <a:spcPts val="5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3</a:t>
            </a:r>
            <a:r>
              <a:rPr dirty="0" sz="1200" spc="-75">
                <a:latin typeface="Garamond"/>
                <a:cs typeface="Garamond"/>
              </a:rPr>
              <a:t>]</a:t>
            </a:r>
            <a:r>
              <a:rPr dirty="0" sz="1200" spc="-75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4</a:t>
            </a:r>
            <a:r>
              <a:rPr dirty="0" sz="1200" spc="-75">
                <a:latin typeface="Garamond"/>
                <a:cs typeface="Garamond"/>
              </a:rPr>
              <a:t>]</a:t>
            </a:r>
            <a:r>
              <a:rPr dirty="0" sz="1200" spc="-75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3,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5</a:t>
            </a:r>
            <a:r>
              <a:rPr dirty="0" sz="1200" spc="-75">
                <a:latin typeface="Garamond"/>
                <a:cs typeface="Garamond"/>
              </a:rPr>
              <a:t>]</a:t>
            </a:r>
            <a:r>
              <a:rPr dirty="0" sz="1200" spc="-75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m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1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3</a:t>
            </a:r>
            <a:r>
              <a:rPr dirty="0" sz="1200" spc="-55">
                <a:latin typeface="Garamond"/>
                <a:cs typeface="Garamond"/>
              </a:rPr>
              <a:t>]</a:t>
            </a:r>
            <a:r>
              <a:rPr dirty="0" sz="1200" spc="-5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endParaRPr sz="1200">
              <a:latin typeface="Times New Roman"/>
              <a:cs typeface="Times New Roman"/>
            </a:endParaRPr>
          </a:p>
          <a:p>
            <a:pPr algn="ctr" marL="175260">
              <a:lnSpc>
                <a:spcPts val="1245"/>
              </a:lnSpc>
            </a:pPr>
            <a:r>
              <a:rPr dirty="0" sz="1200" spc="58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45567" y="1503212"/>
            <a:ext cx="9036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545782" y="1399199"/>
            <a:ext cx="199961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baseline="-13888" sz="1200" spc="-15">
                <a:latin typeface="Verdana"/>
                <a:cs typeface="Verdana"/>
              </a:rPr>
              <a:t>0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baseline="-13888" sz="1200" spc="-15">
                <a:latin typeface="Verdana"/>
                <a:cs typeface="Verdana"/>
              </a:rPr>
              <a:t>3</a:t>
            </a:r>
            <a:endParaRPr baseline="-13888" sz="1200">
              <a:latin typeface="Verdana"/>
              <a:cs typeface="Verdan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545783" y="1619340"/>
            <a:ext cx="199961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2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baseline="-13888" sz="1200" spc="-15">
                <a:latin typeface="Verdana"/>
                <a:cs typeface="Verdana"/>
              </a:rPr>
              <a:t>0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baseline="-13888" sz="1200" spc="-15">
                <a:latin typeface="Verdana"/>
                <a:cs typeface="Verdana"/>
              </a:rPr>
              <a:t>3</a:t>
            </a:r>
            <a:endParaRPr baseline="-13888" sz="1200">
              <a:latin typeface="Verdana"/>
              <a:cs typeface="Verdan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76309" y="1886231"/>
            <a:ext cx="6461125" cy="14420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repeat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sequences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four,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higher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number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matrices.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 result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n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1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525"/>
              </a:spcBef>
            </a:pPr>
            <a:r>
              <a:rPr dirty="0" sz="1200" spc="-5" b="1">
                <a:latin typeface="Times New Roman"/>
                <a:cs typeface="Times New Roman"/>
              </a:rPr>
              <a:t>Example:</a:t>
            </a:r>
            <a:r>
              <a:rPr dirty="0" sz="1200" spc="44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 go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Times New Roman"/>
                <a:cs typeface="Times New Roman"/>
              </a:rPr>
              <a:t>example.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multiplication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endParaRPr sz="1200">
              <a:latin typeface="Times New Roman"/>
              <a:cs typeface="Times New Roman"/>
            </a:endParaRPr>
          </a:p>
          <a:p>
            <a:pPr algn="ctr" marL="17780">
              <a:lnSpc>
                <a:spcPts val="1410"/>
              </a:lnSpc>
              <a:spcBef>
                <a:spcPts val="610"/>
              </a:spcBef>
            </a:pP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1</a:t>
            </a:r>
            <a:r>
              <a:rPr dirty="0" baseline="-13888" sz="1200" spc="502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305">
                <a:latin typeface="Segoe UI Symbol"/>
                <a:cs typeface="Segoe UI Symbol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2</a:t>
            </a:r>
            <a:r>
              <a:rPr dirty="0" baseline="-13888" sz="1200" spc="509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305">
                <a:latin typeface="Segoe UI Symbol"/>
                <a:cs typeface="Segoe UI Symbol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3</a:t>
            </a:r>
            <a:r>
              <a:rPr dirty="0" baseline="-13888" sz="1200" spc="502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310">
                <a:latin typeface="Segoe UI Symbol"/>
                <a:cs typeface="Segoe UI Symbol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4</a:t>
            </a:r>
            <a:r>
              <a:rPr dirty="0" baseline="-13888" sz="1200" spc="502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310">
                <a:latin typeface="Segoe UI Symbol"/>
                <a:cs typeface="Segoe UI Symbol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5</a:t>
            </a:r>
            <a:endParaRPr baseline="-13888" sz="1200">
              <a:latin typeface="Verdana"/>
              <a:cs typeface="Verdana"/>
            </a:endParaRPr>
          </a:p>
          <a:p>
            <a:pPr algn="ctr" marL="23495">
              <a:lnSpc>
                <a:spcPts val="930"/>
              </a:lnSpc>
            </a:pPr>
            <a:r>
              <a:rPr dirty="0" sz="800" spc="5">
                <a:latin typeface="Verdana"/>
                <a:cs typeface="Verdana"/>
              </a:rPr>
              <a:t>(5</a:t>
            </a:r>
            <a:r>
              <a:rPr dirty="0" sz="800" spc="5">
                <a:latin typeface="Cambria"/>
                <a:cs typeface="Cambria"/>
              </a:rPr>
              <a:t>×</a:t>
            </a:r>
            <a:r>
              <a:rPr dirty="0" sz="800" spc="5">
                <a:latin typeface="Verdana"/>
                <a:cs typeface="Verdana"/>
              </a:rPr>
              <a:t>4) </a:t>
            </a:r>
            <a:r>
              <a:rPr dirty="0" sz="800" spc="210">
                <a:latin typeface="Verdana"/>
                <a:cs typeface="Verdana"/>
              </a:rPr>
              <a:t> </a:t>
            </a:r>
            <a:r>
              <a:rPr dirty="0" sz="800" spc="5">
                <a:latin typeface="Verdana"/>
                <a:cs typeface="Verdana"/>
              </a:rPr>
              <a:t>(4</a:t>
            </a:r>
            <a:r>
              <a:rPr dirty="0" sz="800" spc="5">
                <a:latin typeface="Cambria"/>
                <a:cs typeface="Cambria"/>
              </a:rPr>
              <a:t>×</a:t>
            </a:r>
            <a:r>
              <a:rPr dirty="0" sz="800" spc="5">
                <a:latin typeface="Verdana"/>
                <a:cs typeface="Verdana"/>
              </a:rPr>
              <a:t>6) </a:t>
            </a:r>
            <a:r>
              <a:rPr dirty="0" sz="800" spc="210">
                <a:latin typeface="Verdana"/>
                <a:cs typeface="Verdana"/>
              </a:rPr>
              <a:t> </a:t>
            </a:r>
            <a:r>
              <a:rPr dirty="0" sz="800" spc="5">
                <a:latin typeface="Verdana"/>
                <a:cs typeface="Verdana"/>
              </a:rPr>
              <a:t>(6</a:t>
            </a:r>
            <a:r>
              <a:rPr dirty="0" sz="800" spc="5">
                <a:latin typeface="Cambria"/>
                <a:cs typeface="Cambria"/>
              </a:rPr>
              <a:t>×</a:t>
            </a:r>
            <a:r>
              <a:rPr dirty="0" sz="800" spc="5">
                <a:latin typeface="Verdana"/>
                <a:cs typeface="Verdana"/>
              </a:rPr>
              <a:t>2) </a:t>
            </a:r>
            <a:r>
              <a:rPr dirty="0" sz="800" spc="210">
                <a:latin typeface="Verdana"/>
                <a:cs typeface="Verdana"/>
              </a:rPr>
              <a:t> </a:t>
            </a:r>
            <a:r>
              <a:rPr dirty="0" sz="800" spc="5">
                <a:latin typeface="Verdana"/>
                <a:cs typeface="Verdana"/>
              </a:rPr>
              <a:t>(2</a:t>
            </a:r>
            <a:r>
              <a:rPr dirty="0" sz="800" spc="5">
                <a:latin typeface="Cambria"/>
                <a:cs typeface="Cambria"/>
              </a:rPr>
              <a:t>×</a:t>
            </a:r>
            <a:r>
              <a:rPr dirty="0" sz="800" spc="5">
                <a:latin typeface="Verdana"/>
                <a:cs typeface="Verdana"/>
              </a:rPr>
              <a:t>7) </a:t>
            </a:r>
            <a:r>
              <a:rPr dirty="0" sz="800" spc="215">
                <a:latin typeface="Verdana"/>
                <a:cs typeface="Verdana"/>
              </a:rPr>
              <a:t> </a:t>
            </a:r>
            <a:r>
              <a:rPr dirty="0" sz="800" spc="5">
                <a:latin typeface="Verdana"/>
                <a:cs typeface="Verdana"/>
              </a:rPr>
              <a:t>(7</a:t>
            </a:r>
            <a:r>
              <a:rPr dirty="0" sz="800" spc="5">
                <a:latin typeface="Cambria"/>
                <a:cs typeface="Cambria"/>
              </a:rPr>
              <a:t>×</a:t>
            </a:r>
            <a:r>
              <a:rPr dirty="0" sz="800" spc="5">
                <a:latin typeface="Verdana"/>
                <a:cs typeface="Verdana"/>
              </a:rPr>
              <a:t>3)</a:t>
            </a:r>
            <a:endParaRPr sz="800">
              <a:latin typeface="Verdana"/>
              <a:cs typeface="Verdana"/>
            </a:endParaRPr>
          </a:p>
          <a:p>
            <a:pPr marL="38100" marR="400050">
              <a:lnSpc>
                <a:spcPct val="100000"/>
              </a:lnSpc>
              <a:spcBef>
                <a:spcPts val="480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entries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condition.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main 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diagonal: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543300" y="3458400"/>
          <a:ext cx="1146175" cy="9474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7329"/>
                <a:gridCol w="228600"/>
                <a:gridCol w="227329"/>
                <a:gridCol w="228600"/>
                <a:gridCol w="227329"/>
              </a:tblGrid>
              <a:tr h="188975"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876299" y="4407232"/>
            <a:ext cx="6078220" cy="1692910"/>
          </a:xfrm>
          <a:prstGeom prst="rect">
            <a:avLst/>
          </a:prstGeom>
        </p:spPr>
        <p:txBody>
          <a:bodyPr wrap="square" lIns="0" tIns="901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10"/>
              </a:spcBef>
            </a:pPr>
            <a:r>
              <a:rPr dirty="0" sz="1200" spc="-10">
                <a:latin typeface="Times New Roman"/>
                <a:cs typeface="Times New Roman"/>
              </a:rPr>
              <a:t>Next,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entries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diagonal,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i.e.,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diagonal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above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diagonal:</a:t>
            </a:r>
            <a:endParaRPr sz="1200">
              <a:latin typeface="Times New Roman"/>
              <a:cs typeface="Times New Roman"/>
            </a:endParaRPr>
          </a:p>
          <a:p>
            <a:pPr marL="1162685">
              <a:lnSpc>
                <a:spcPct val="100000"/>
              </a:lnSpc>
              <a:spcBef>
                <a:spcPts val="610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2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1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2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0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1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2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120</a:t>
            </a:r>
            <a:endParaRPr sz="1200">
              <a:latin typeface="Lucida Sans Unicode"/>
              <a:cs typeface="Lucida Sans Unicode"/>
            </a:endParaRPr>
          </a:p>
          <a:p>
            <a:pPr marL="1162685">
              <a:lnSpc>
                <a:spcPct val="100000"/>
              </a:lnSpc>
              <a:spcBef>
                <a:spcPts val="305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3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2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3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1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2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3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48</a:t>
            </a:r>
            <a:endParaRPr sz="1200">
              <a:latin typeface="Lucida Sans Unicode"/>
              <a:cs typeface="Lucida Sans Unicode"/>
            </a:endParaRPr>
          </a:p>
          <a:p>
            <a:pPr marL="1162685">
              <a:lnSpc>
                <a:spcPct val="100000"/>
              </a:lnSpc>
              <a:spcBef>
                <a:spcPts val="305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3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4,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2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3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4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84</a:t>
            </a:r>
            <a:endParaRPr sz="1200">
              <a:latin typeface="Lucida Sans Unicode"/>
              <a:cs typeface="Lucida Sans Unicode"/>
            </a:endParaRPr>
          </a:p>
          <a:p>
            <a:pPr marL="1162685">
              <a:lnSpc>
                <a:spcPct val="100000"/>
              </a:lnSpc>
              <a:spcBef>
                <a:spcPts val="300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4,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4,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5,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3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4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5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42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Lucida Sans Unicode"/>
              <a:cs typeface="Lucida Sans Unicode"/>
            </a:endParaRPr>
          </a:p>
          <a:p>
            <a:pPr marL="381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tri</a:t>
            </a:r>
            <a:r>
              <a:rPr dirty="0" sz="1200" spc="-5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look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s: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352800" y="6401244"/>
          <a:ext cx="1525905" cy="948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600"/>
                <a:gridCol w="379730"/>
                <a:gridCol w="303530"/>
                <a:gridCol w="303529"/>
                <a:gridCol w="303530"/>
              </a:tblGrid>
              <a:tr h="188975"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120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48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84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5410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310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42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5410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850897" y="7428865"/>
            <a:ext cx="6350635" cy="12782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 marR="5588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 spc="-5">
                <a:latin typeface="Times New Roman"/>
                <a:cs typeface="Times New Roman"/>
              </a:rPr>
              <a:t> proceed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second super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diagonal.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time,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 to try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 for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example, </a:t>
            </a:r>
            <a:r>
              <a:rPr dirty="0" sz="1200" spc="-5">
                <a:latin typeface="Times New Roman"/>
                <a:cs typeface="Times New Roman"/>
              </a:rPr>
              <a:t>there are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possible splits </a:t>
            </a:r>
            <a:r>
              <a:rPr dirty="0" sz="1200" spc="-10">
                <a:latin typeface="Times New Roman"/>
                <a:cs typeface="Times New Roman"/>
              </a:rPr>
              <a:t>for computing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 </a:t>
            </a:r>
            <a:r>
              <a:rPr dirty="0" sz="1200" spc="-55">
                <a:latin typeface="Lucida Sans Unicode"/>
                <a:cs typeface="Lucida Sans Unicode"/>
              </a:rPr>
              <a:t>3</a:t>
            </a:r>
            <a:r>
              <a:rPr dirty="0" sz="1200" spc="-55">
                <a:latin typeface="Garamond"/>
                <a:cs typeface="Garamond"/>
              </a:rPr>
              <a:t>]</a:t>
            </a:r>
            <a:r>
              <a:rPr dirty="0" sz="1200" spc="-55">
                <a:latin typeface="Times New Roman"/>
                <a:cs typeface="Times New Roman"/>
              </a:rPr>
              <a:t>; </a:t>
            </a:r>
            <a:r>
              <a:rPr dirty="0" sz="1200" spc="-10">
                <a:latin typeface="Times New Roman"/>
                <a:cs typeface="Times New Roman"/>
              </a:rPr>
              <a:t>we will </a:t>
            </a:r>
            <a:r>
              <a:rPr dirty="0" sz="1200" spc="-5">
                <a:latin typeface="Times New Roman"/>
                <a:cs typeface="Times New Roman"/>
              </a:rPr>
              <a:t>choose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split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yields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minimum:</a:t>
            </a:r>
            <a:endParaRPr sz="1200">
              <a:latin typeface="Times New Roman"/>
              <a:cs typeface="Times New Roman"/>
            </a:endParaRPr>
          </a:p>
          <a:p>
            <a:pPr algn="ctr" marL="140335">
              <a:lnSpc>
                <a:spcPct val="100000"/>
              </a:lnSpc>
              <a:spcBef>
                <a:spcPts val="620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3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1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3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0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1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3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48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88</a:t>
            </a:r>
            <a:endParaRPr sz="1200">
              <a:latin typeface="Lucida Sans Unicode"/>
              <a:cs typeface="Lucida Sans Unicode"/>
            </a:endParaRPr>
          </a:p>
          <a:p>
            <a:pPr algn="ctr" marL="177800">
              <a:lnSpc>
                <a:spcPct val="100000"/>
              </a:lnSpc>
              <a:spcBef>
                <a:spcPts val="305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3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2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3,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3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0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2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3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120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180</a:t>
            </a:r>
            <a:endParaRPr sz="1200">
              <a:latin typeface="Lucida Sans Unicode"/>
              <a:cs typeface="Lucida Sans Unicode"/>
            </a:endParaRPr>
          </a:p>
          <a:p>
            <a:pPr marL="1554480">
              <a:lnSpc>
                <a:spcPct val="100000"/>
              </a:lnSpc>
              <a:spcBef>
                <a:spcPts val="300"/>
              </a:spcBef>
            </a:pP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88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cc</a:t>
            </a:r>
            <a:r>
              <a:rPr dirty="0" sz="1200" spc="-10">
                <a:latin typeface="Times New Roman"/>
                <a:cs typeface="Times New Roman"/>
              </a:rPr>
              <a:t>ur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8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474830" y="520987"/>
            <a:ext cx="285369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DYNAMIC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63599" y="926454"/>
            <a:ext cx="5441315" cy="9880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imil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rl</a:t>
            </a:r>
            <a:r>
              <a:rPr dirty="0" sz="1200" spc="-8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5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Times New Roman"/>
              <a:cs typeface="Times New Roman"/>
            </a:endParaRPr>
          </a:p>
          <a:p>
            <a:pPr marL="1137285">
              <a:lnSpc>
                <a:spcPct val="100000"/>
              </a:lnSpc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2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1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2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4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84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252</a:t>
            </a:r>
            <a:endParaRPr sz="1200">
              <a:latin typeface="Lucida Sans Unicode"/>
              <a:cs typeface="Lucida Sans Unicode"/>
            </a:endParaRPr>
          </a:p>
          <a:p>
            <a:pPr marL="1137285">
              <a:lnSpc>
                <a:spcPct val="100000"/>
              </a:lnSpc>
              <a:spcBef>
                <a:spcPts val="305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3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4,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1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3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4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48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104</a:t>
            </a:r>
            <a:endParaRPr sz="1200">
              <a:latin typeface="Lucida Sans Unicode"/>
              <a:cs typeface="Lucida Sans Unicode"/>
            </a:endParaRPr>
          </a:p>
          <a:p>
            <a:pPr algn="ctr" marR="229870">
              <a:lnSpc>
                <a:spcPct val="100000"/>
              </a:lnSpc>
              <a:spcBef>
                <a:spcPts val="305"/>
              </a:spcBef>
            </a:pPr>
            <a:r>
              <a:rPr dirty="0" sz="1200" spc="-10">
                <a:latin typeface="Times New Roman"/>
                <a:cs typeface="Times New Roman"/>
              </a:rPr>
              <a:t>minimu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104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89028" y="2628610"/>
            <a:ext cx="5415915" cy="1248410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1111885">
              <a:lnSpc>
                <a:spcPct val="100000"/>
              </a:lnSpc>
              <a:spcBef>
                <a:spcPts val="405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3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4,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2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3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5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42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78</a:t>
            </a:r>
            <a:endParaRPr sz="1200">
              <a:latin typeface="Lucida Sans Unicode"/>
              <a:cs typeface="Lucida Sans Unicode"/>
            </a:endParaRPr>
          </a:p>
          <a:p>
            <a:pPr marL="1111885">
              <a:lnSpc>
                <a:spcPct val="100000"/>
              </a:lnSpc>
              <a:spcBef>
                <a:spcPts val="300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5,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2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4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5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84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210</a:t>
            </a:r>
            <a:endParaRPr sz="1200">
              <a:latin typeface="Lucida Sans Unicode"/>
              <a:cs typeface="Lucida Sans Unicode"/>
            </a:endParaRPr>
          </a:p>
          <a:p>
            <a:pPr marL="1554480">
              <a:lnSpc>
                <a:spcPct val="100000"/>
              </a:lnSpc>
              <a:spcBef>
                <a:spcPts val="305"/>
              </a:spcBef>
            </a:pPr>
            <a:r>
              <a:rPr dirty="0" sz="1200" spc="-10">
                <a:latin typeface="Times New Roman"/>
                <a:cs typeface="Times New Roman"/>
              </a:rPr>
              <a:t>minimu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5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78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900">
              <a:latin typeface="Lucida Sans Unicode"/>
              <a:cs typeface="Lucida Sans Unicode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</a:pPr>
            <a:r>
              <a:rPr dirty="0" sz="1200" spc="-2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second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diagonal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computed,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looks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314700" y="4136580"/>
          <a:ext cx="1602105" cy="948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600"/>
                <a:gridCol w="379730"/>
                <a:gridCol w="303530"/>
                <a:gridCol w="379729"/>
                <a:gridCol w="303530"/>
              </a:tblGrid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120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88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48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104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84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6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78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42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863599" y="5232362"/>
            <a:ext cx="6395720" cy="13925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repeat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remaining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diagonals.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splits </a:t>
            </a:r>
            <a:r>
              <a:rPr dirty="0" sz="1200" spc="-10">
                <a:latin typeface="Times New Roman"/>
                <a:cs typeface="Times New Roman"/>
              </a:rPr>
              <a:t>(values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) 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increases: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Times New Roman"/>
              <a:cs typeface="Times New Roman"/>
            </a:endParaRPr>
          </a:p>
          <a:p>
            <a:pPr marL="1061720">
              <a:lnSpc>
                <a:spcPct val="100000"/>
              </a:lnSpc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1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0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1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4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104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244</a:t>
            </a:r>
            <a:endParaRPr sz="1200">
              <a:latin typeface="Lucida Sans Unicode"/>
              <a:cs typeface="Lucida Sans Unicode"/>
            </a:endParaRPr>
          </a:p>
          <a:p>
            <a:pPr marL="1061720">
              <a:lnSpc>
                <a:spcPct val="100000"/>
              </a:lnSpc>
              <a:spcBef>
                <a:spcPts val="305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2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0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2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4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120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414</a:t>
            </a:r>
            <a:endParaRPr sz="1200">
              <a:latin typeface="Lucida Sans Unicode"/>
              <a:cs typeface="Lucida Sans Unicode"/>
            </a:endParaRPr>
          </a:p>
          <a:p>
            <a:pPr marL="1061720">
              <a:lnSpc>
                <a:spcPct val="100000"/>
              </a:lnSpc>
              <a:spcBef>
                <a:spcPts val="305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3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4,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0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3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4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88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158</a:t>
            </a:r>
            <a:endParaRPr sz="1200">
              <a:latin typeface="Lucida Sans Unicode"/>
              <a:cs typeface="Lucida Sans Unicode"/>
            </a:endParaRPr>
          </a:p>
          <a:p>
            <a:pPr marL="1504315">
              <a:lnSpc>
                <a:spcPct val="100000"/>
              </a:lnSpc>
              <a:spcBef>
                <a:spcPts val="300"/>
              </a:spcBef>
            </a:pPr>
            <a:r>
              <a:rPr dirty="0" sz="1200" spc="-10">
                <a:latin typeface="Times New Roman"/>
                <a:cs typeface="Times New Roman"/>
              </a:rPr>
              <a:t>minimu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4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158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89055" y="7339369"/>
            <a:ext cx="5454015" cy="1535430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1073785">
              <a:lnSpc>
                <a:spcPct val="100000"/>
              </a:lnSpc>
              <a:spcBef>
                <a:spcPts val="405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2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1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2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5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78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150</a:t>
            </a:r>
            <a:endParaRPr sz="1200">
              <a:latin typeface="Lucida Sans Unicode"/>
              <a:cs typeface="Lucida Sans Unicode"/>
            </a:endParaRPr>
          </a:p>
          <a:p>
            <a:pPr marL="1073785">
              <a:lnSpc>
                <a:spcPct val="100000"/>
              </a:lnSpc>
              <a:spcBef>
                <a:spcPts val="300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3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4,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1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3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5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48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42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114</a:t>
            </a:r>
            <a:endParaRPr sz="1200">
              <a:latin typeface="Lucida Sans Unicode"/>
              <a:cs typeface="Lucida Sans Unicode"/>
            </a:endParaRPr>
          </a:p>
          <a:p>
            <a:pPr marL="1073785">
              <a:lnSpc>
                <a:spcPct val="100000"/>
              </a:lnSpc>
              <a:spcBef>
                <a:spcPts val="305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5,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1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4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5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104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188</a:t>
            </a:r>
            <a:endParaRPr sz="1200">
              <a:latin typeface="Lucida Sans Unicode"/>
              <a:cs typeface="Lucida Sans Unicode"/>
            </a:endParaRPr>
          </a:p>
          <a:p>
            <a:pPr marL="1516380">
              <a:lnSpc>
                <a:spcPct val="100000"/>
              </a:lnSpc>
              <a:spcBef>
                <a:spcPts val="305"/>
              </a:spcBef>
            </a:pPr>
            <a:r>
              <a:rPr dirty="0" sz="1200" spc="-10">
                <a:latin typeface="Times New Roman"/>
                <a:cs typeface="Times New Roman"/>
              </a:rPr>
              <a:t>minimu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5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114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3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254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tri</a:t>
            </a:r>
            <a:r>
              <a:rPr dirty="0" sz="1200" spc="-5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21551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6.4.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CHAIN </a:t>
            </a:r>
            <a:r>
              <a:rPr dirty="0" sz="1200" spc="-30">
                <a:latin typeface="Times New Roman"/>
                <a:cs typeface="Times New Roman"/>
              </a:rPr>
              <a:t>MATRIX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MULTIPLY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8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276600" y="939229"/>
          <a:ext cx="1678305" cy="9474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600"/>
                <a:gridCol w="379730"/>
                <a:gridCol w="303530"/>
                <a:gridCol w="379729"/>
                <a:gridCol w="379730"/>
              </a:tblGrid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120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88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158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48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104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6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114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84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5410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78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5410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42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850899" y="2064424"/>
            <a:ext cx="5542915" cy="22701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5">
                <a:latin typeface="Times New Roman"/>
                <a:cs typeface="Times New Roman"/>
              </a:rPr>
              <a:t>leaves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computed: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imes New Roman"/>
              <a:cs typeface="Times New Roman"/>
            </a:endParaRPr>
          </a:p>
          <a:p>
            <a:pPr marL="1074420">
              <a:lnSpc>
                <a:spcPct val="100000"/>
              </a:lnSpc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1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2,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0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1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5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114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174</a:t>
            </a:r>
            <a:endParaRPr sz="1200">
              <a:latin typeface="Lucida Sans Unicode"/>
              <a:cs typeface="Lucida Sans Unicode"/>
            </a:endParaRPr>
          </a:p>
          <a:p>
            <a:pPr marL="1074420">
              <a:lnSpc>
                <a:spcPct val="100000"/>
              </a:lnSpc>
              <a:spcBef>
                <a:spcPts val="305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2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0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2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5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120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78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288</a:t>
            </a:r>
            <a:endParaRPr sz="1200">
              <a:latin typeface="Lucida Sans Unicode"/>
              <a:cs typeface="Lucida Sans Unicode"/>
            </a:endParaRPr>
          </a:p>
          <a:p>
            <a:pPr marL="1074420">
              <a:lnSpc>
                <a:spcPct val="100000"/>
              </a:lnSpc>
              <a:spcBef>
                <a:spcPts val="305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3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4,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0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3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5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88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42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160</a:t>
            </a:r>
            <a:endParaRPr sz="1200">
              <a:latin typeface="Lucida Sans Unicode"/>
              <a:cs typeface="Lucida Sans Unicode"/>
            </a:endParaRPr>
          </a:p>
          <a:p>
            <a:pPr marL="1074420">
              <a:lnSpc>
                <a:spcPct val="100000"/>
              </a:lnSpc>
              <a:spcBef>
                <a:spcPts val="300"/>
              </a:spcBef>
            </a:pP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4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m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5,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5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0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4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p</a:t>
            </a:r>
            <a:r>
              <a:rPr dirty="0" baseline="-13888" sz="1200" spc="-52">
                <a:latin typeface="Verdana"/>
                <a:cs typeface="Verdana"/>
              </a:rPr>
              <a:t>5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158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263</a:t>
            </a:r>
            <a:endParaRPr sz="1200">
              <a:latin typeface="Lucida Sans Unicode"/>
              <a:cs typeface="Lucida Sans Unicode"/>
            </a:endParaRPr>
          </a:p>
          <a:p>
            <a:pPr marL="1517015">
              <a:lnSpc>
                <a:spcPct val="100000"/>
              </a:lnSpc>
              <a:spcBef>
                <a:spcPts val="305"/>
              </a:spcBef>
            </a:pPr>
            <a:r>
              <a:rPr dirty="0" sz="1200" spc="-10">
                <a:latin typeface="Times New Roman"/>
                <a:cs typeface="Times New Roman"/>
              </a:rPr>
              <a:t>minimu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5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160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300">
              <a:latin typeface="Lucida Sans Unicode"/>
              <a:cs typeface="Lucida Sans Unicode"/>
            </a:endParaRPr>
          </a:p>
          <a:p>
            <a:pPr marL="63500">
              <a:lnSpc>
                <a:spcPct val="100000"/>
              </a:lnSpc>
              <a:spcBef>
                <a:spcPts val="108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thus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final cost </a:t>
            </a:r>
            <a:r>
              <a:rPr dirty="0" sz="1200" spc="-10">
                <a:latin typeface="Times New Roman"/>
                <a:cs typeface="Times New Roman"/>
              </a:rPr>
              <a:t>matrix.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276600" y="4596829"/>
          <a:ext cx="1678305" cy="948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600"/>
                <a:gridCol w="379730"/>
                <a:gridCol w="303530"/>
                <a:gridCol w="379729"/>
                <a:gridCol w="379730"/>
              </a:tblGrid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120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88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158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5"/>
                        </a:lnSpc>
                      </a:pPr>
                      <a:r>
                        <a:rPr dirty="0" sz="1200" spc="-10" b="1" i="1">
                          <a:latin typeface="Times New Roman"/>
                          <a:cs typeface="Times New Roman"/>
                        </a:rPr>
                        <a:t>160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48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104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114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84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5410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78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5410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42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901699" y="5712422"/>
            <a:ext cx="31032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ord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ntri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ul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505200" y="6309804"/>
          <a:ext cx="1222375" cy="948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7329"/>
                <a:gridCol w="228600"/>
                <a:gridCol w="227329"/>
                <a:gridCol w="228600"/>
                <a:gridCol w="303529"/>
              </a:tblGrid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8580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604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6045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6045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604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901699" y="7435151"/>
            <a:ext cx="34886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pli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543300" y="8068501"/>
          <a:ext cx="1146175" cy="9474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7329"/>
                <a:gridCol w="228600"/>
                <a:gridCol w="227329"/>
                <a:gridCol w="228600"/>
                <a:gridCol w="227329"/>
              </a:tblGrid>
              <a:tr h="188975"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76299" y="520987"/>
            <a:ext cx="6477635" cy="175387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3610610" algn="l"/>
              </a:tabLst>
            </a:pPr>
            <a:r>
              <a:rPr dirty="0" sz="1200" spc="-5">
                <a:latin typeface="Times New Roman"/>
                <a:cs typeface="Times New Roman"/>
              </a:rPr>
              <a:t>90	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DYNAMIC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38100" marR="2844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Based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computation,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multiplying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matrices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160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 </a:t>
            </a:r>
            <a:r>
              <a:rPr dirty="0" sz="1200" spc="-5">
                <a:latin typeface="Times New Roman"/>
                <a:cs typeface="Times New Roman"/>
              </a:rPr>
              <a:t> order</a:t>
            </a:r>
            <a:r>
              <a:rPr dirty="0" sz="1200" spc="-10">
                <a:latin typeface="Times New Roman"/>
                <a:cs typeface="Times New Roman"/>
              </a:rPr>
              <a:t> 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multiplication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6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200" spc="65">
                <a:latin typeface="Garamond"/>
                <a:cs typeface="Garamond"/>
              </a:rPr>
              <a:t>((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97">
                <a:latin typeface="Verdana"/>
                <a:cs typeface="Verdana"/>
              </a:rPr>
              <a:t>1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97">
                <a:latin typeface="Verdana"/>
                <a:cs typeface="Verdana"/>
              </a:rPr>
              <a:t>2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97">
                <a:latin typeface="Verdana"/>
                <a:cs typeface="Verdana"/>
              </a:rPr>
              <a:t>3</a:t>
            </a:r>
            <a:r>
              <a:rPr dirty="0" sz="1200" spc="65">
                <a:latin typeface="Garamond"/>
                <a:cs typeface="Garamond"/>
              </a:rPr>
              <a:t>))(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97">
                <a:latin typeface="Verdana"/>
                <a:cs typeface="Verdana"/>
              </a:rPr>
              <a:t>4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97">
                <a:latin typeface="Verdana"/>
                <a:cs typeface="Verdana"/>
              </a:rPr>
              <a:t>5</a:t>
            </a:r>
            <a:r>
              <a:rPr dirty="0" sz="1200" spc="65">
                <a:latin typeface="Garamond"/>
                <a:cs typeface="Garamond"/>
              </a:rPr>
              <a:t>))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</a:pPr>
            <a:endParaRPr sz="13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Garamond"/>
              <a:cs typeface="Garamond"/>
            </a:endParaRPr>
          </a:p>
          <a:p>
            <a:pPr marL="381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binary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530573" y="3546552"/>
            <a:ext cx="2571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1</a:t>
            </a:r>
            <a:endParaRPr baseline="-13888" sz="1200">
              <a:latin typeface="Verdana"/>
              <a:cs typeface="Verdan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99957" y="3932429"/>
            <a:ext cx="4829810" cy="6254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217804">
              <a:lnSpc>
                <a:spcPct val="100000"/>
              </a:lnSpc>
              <a:spcBef>
                <a:spcPts val="95"/>
              </a:spcBef>
            </a:pP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2</a:t>
            </a:r>
            <a:r>
              <a:rPr dirty="0" baseline="-13888" sz="1200" spc="82">
                <a:latin typeface="Verdana"/>
                <a:cs typeface="Verdana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3</a:t>
            </a:r>
            <a:endParaRPr baseline="-13888" sz="12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Verdana"/>
              <a:cs typeface="Verdana"/>
            </a:endParaRPr>
          </a:p>
          <a:p>
            <a:pPr marL="2540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6.2: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Optimum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multiplication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five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matrices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885971" y="3723309"/>
            <a:ext cx="228600" cy="190500"/>
          </a:xfrm>
          <a:custGeom>
            <a:avLst/>
            <a:gdLst/>
            <a:ahLst/>
            <a:cxnLst/>
            <a:rect l="l" t="t" r="r" b="b"/>
            <a:pathLst>
              <a:path w="228600" h="190500">
                <a:moveTo>
                  <a:pt x="114299" y="0"/>
                </a:moveTo>
                <a:lnTo>
                  <a:pt x="0" y="190195"/>
                </a:lnTo>
              </a:path>
              <a:path w="228600" h="190500">
                <a:moveTo>
                  <a:pt x="114299" y="0"/>
                </a:moveTo>
                <a:lnTo>
                  <a:pt x="228599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3949850" y="3559125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657371" y="3337311"/>
            <a:ext cx="342900" cy="190500"/>
          </a:xfrm>
          <a:custGeom>
            <a:avLst/>
            <a:gdLst/>
            <a:ahLst/>
            <a:cxnLst/>
            <a:rect l="l" t="t" r="r" b="b"/>
            <a:pathLst>
              <a:path w="342900" h="190500">
                <a:moveTo>
                  <a:pt x="228599" y="0"/>
                </a:moveTo>
                <a:lnTo>
                  <a:pt x="0" y="190195"/>
                </a:lnTo>
              </a:path>
              <a:path w="342900" h="190500">
                <a:moveTo>
                  <a:pt x="228599" y="0"/>
                </a:moveTo>
                <a:lnTo>
                  <a:pt x="342899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3835550" y="3173249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216258" y="3546552"/>
            <a:ext cx="485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4</a:t>
            </a:r>
            <a:r>
              <a:rPr dirty="0" baseline="-13888" sz="1200" spc="75">
                <a:latin typeface="Verdana"/>
                <a:cs typeface="Verdana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A</a:t>
            </a:r>
            <a:r>
              <a:rPr dirty="0" baseline="-13888" sz="1200" spc="52">
                <a:latin typeface="Verdana"/>
                <a:cs typeface="Verdana"/>
              </a:rPr>
              <a:t>5</a:t>
            </a:r>
            <a:endParaRPr baseline="-13888" sz="1200">
              <a:latin typeface="Verdana"/>
              <a:cs typeface="Verdana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4343049" y="3337311"/>
            <a:ext cx="228600" cy="190500"/>
          </a:xfrm>
          <a:custGeom>
            <a:avLst/>
            <a:gdLst/>
            <a:ahLst/>
            <a:cxnLst/>
            <a:rect l="l" t="t" r="r" b="b"/>
            <a:pathLst>
              <a:path w="228600" h="190500">
                <a:moveTo>
                  <a:pt x="114299" y="0"/>
                </a:moveTo>
                <a:lnTo>
                  <a:pt x="0" y="190195"/>
                </a:lnTo>
              </a:path>
              <a:path w="228600" h="190500">
                <a:moveTo>
                  <a:pt x="114299" y="0"/>
                </a:moveTo>
                <a:lnTo>
                  <a:pt x="228599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4407050" y="3173249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885971" y="2951434"/>
            <a:ext cx="571500" cy="190500"/>
          </a:xfrm>
          <a:custGeom>
            <a:avLst/>
            <a:gdLst/>
            <a:ahLst/>
            <a:cxnLst/>
            <a:rect l="l" t="t" r="r" b="b"/>
            <a:pathLst>
              <a:path w="571500" h="190500">
                <a:moveTo>
                  <a:pt x="228599" y="0"/>
                </a:moveTo>
                <a:lnTo>
                  <a:pt x="0" y="190195"/>
                </a:lnTo>
              </a:path>
              <a:path w="571500" h="190500">
                <a:moveTo>
                  <a:pt x="228599" y="0"/>
                </a:moveTo>
                <a:lnTo>
                  <a:pt x="571499" y="19019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4064150" y="2785201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914400" y="5646877"/>
            <a:ext cx="5486400" cy="2451735"/>
          </a:xfrm>
          <a:custGeom>
            <a:avLst/>
            <a:gdLst/>
            <a:ahLst/>
            <a:cxnLst/>
            <a:rect l="l" t="t" r="r" b="b"/>
            <a:pathLst>
              <a:path w="5486400" h="2451734">
                <a:moveTo>
                  <a:pt x="5486400" y="0"/>
                </a:moveTo>
                <a:lnTo>
                  <a:pt x="0" y="0"/>
                </a:lnTo>
                <a:lnTo>
                  <a:pt x="0" y="4800"/>
                </a:lnTo>
                <a:lnTo>
                  <a:pt x="0" y="5130"/>
                </a:lnTo>
                <a:lnTo>
                  <a:pt x="0" y="2451150"/>
                </a:lnTo>
                <a:lnTo>
                  <a:pt x="5130" y="2451150"/>
                </a:lnTo>
                <a:lnTo>
                  <a:pt x="513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901699" y="5120920"/>
            <a:ext cx="6123305" cy="7264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cost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multiplication.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marL="59055">
              <a:lnSpc>
                <a:spcPct val="100000"/>
              </a:lnSpc>
              <a:spcBef>
                <a:spcPts val="5"/>
              </a:spcBef>
            </a:pPr>
            <a:r>
              <a:rPr dirty="0" sz="950" spc="60">
                <a:latin typeface="Times New Roman"/>
                <a:cs typeface="Times New Roman"/>
              </a:rPr>
              <a:t>M</a:t>
            </a:r>
            <a:r>
              <a:rPr dirty="0" sz="950" spc="-50">
                <a:latin typeface="Times New Roman"/>
                <a:cs typeface="Times New Roman"/>
              </a:rPr>
              <a:t>A</a:t>
            </a:r>
            <a:r>
              <a:rPr dirty="0" sz="950" spc="55">
                <a:latin typeface="Times New Roman"/>
                <a:cs typeface="Times New Roman"/>
              </a:rPr>
              <a:t>TRIX</a:t>
            </a:r>
            <a:r>
              <a:rPr dirty="0" sz="1200" spc="50">
                <a:latin typeface="Times New Roman"/>
                <a:cs typeface="Times New Roman"/>
              </a:rPr>
              <a:t>-</a:t>
            </a:r>
            <a:r>
              <a:rPr dirty="0" sz="950" spc="55">
                <a:latin typeface="Times New Roman"/>
                <a:cs typeface="Times New Roman"/>
              </a:rPr>
              <a:t>CHAI</a:t>
            </a:r>
            <a:r>
              <a:rPr dirty="0" sz="950" spc="25">
                <a:latin typeface="Times New Roman"/>
                <a:cs typeface="Times New Roman"/>
              </a:rPr>
              <a:t>N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70235" y="7290790"/>
            <a:ext cx="28187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t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baseline="-13888" sz="1200" spc="127">
                <a:latin typeface="Verdana"/>
                <a:cs typeface="Verdana"/>
              </a:rPr>
              <a:t>i</a:t>
            </a:r>
            <a:r>
              <a:rPr dirty="0" baseline="-13888" sz="1200" spc="-52">
                <a:latin typeface="Verdana"/>
                <a:cs typeface="Verdana"/>
              </a:rPr>
              <a:t>−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baseline="-13888" sz="1200" spc="112">
                <a:latin typeface="Verdana"/>
                <a:cs typeface="Verdana"/>
              </a:rPr>
              <a:t>k</a:t>
            </a:r>
            <a:r>
              <a:rPr dirty="0" baseline="-13888" sz="1200" spc="-60">
                <a:latin typeface="Verdana"/>
                <a:cs typeface="Verdan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baseline="-13888" sz="1200" spc="104">
                <a:latin typeface="Verdana"/>
                <a:cs typeface="Verdana"/>
              </a:rPr>
              <a:t>j</a:t>
            </a:r>
            <a:endParaRPr baseline="-13888" sz="1200">
              <a:latin typeface="Verdana"/>
              <a:cs typeface="Verdan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95320" y="5823064"/>
            <a:ext cx="1766570" cy="20427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3530" indent="-228600">
              <a:lnSpc>
                <a:spcPct val="100000"/>
              </a:lnSpc>
              <a:spcBef>
                <a:spcPts val="95"/>
              </a:spcBef>
              <a:buFont typeface="Times New Roman"/>
              <a:buAutoNum type="arabicPlain"/>
              <a:tabLst>
                <a:tab pos="303530" algn="l"/>
                <a:tab pos="30416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3035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3530" algn="l"/>
                <a:tab pos="3041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 marL="3035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3530" algn="l"/>
                <a:tab pos="30416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3035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3530" algn="l"/>
                <a:tab pos="3041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endParaRPr sz="1200">
              <a:latin typeface="Times New Roman"/>
              <a:cs typeface="Times New Roman"/>
            </a:endParaRPr>
          </a:p>
          <a:p>
            <a:pPr marL="50165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01650" algn="l"/>
                <a:tab pos="502284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501650" indent="-426720">
              <a:lnSpc>
                <a:spcPct val="100000"/>
              </a:lnSpc>
              <a:buFont typeface="Times New Roman"/>
              <a:buAutoNum type="arabicPlain"/>
              <a:tabLst>
                <a:tab pos="501650" algn="l"/>
                <a:tab pos="502284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75565">
              <a:lnSpc>
                <a:spcPct val="100000"/>
              </a:lnSpc>
              <a:spcBef>
                <a:spcPts val="5"/>
              </a:spcBef>
              <a:tabLst>
                <a:tab pos="699770" algn="l"/>
              </a:tabLst>
            </a:pPr>
            <a:r>
              <a:rPr dirty="0" sz="1200" spc="-5">
                <a:latin typeface="Times New Roman"/>
                <a:cs typeface="Times New Roman"/>
              </a:rPr>
              <a:t>7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∞</a:t>
            </a:r>
            <a:endParaRPr sz="1200">
              <a:latin typeface="Lucida Sans Unicode"/>
              <a:cs typeface="Lucida Sans Unicode"/>
            </a:endParaRPr>
          </a:p>
          <a:p>
            <a:pPr marL="75565">
              <a:lnSpc>
                <a:spcPct val="100000"/>
              </a:lnSpc>
              <a:spcBef>
                <a:spcPts val="5"/>
              </a:spcBef>
              <a:tabLst>
                <a:tab pos="699770" algn="l"/>
              </a:tabLst>
            </a:pPr>
            <a:r>
              <a:rPr dirty="0" sz="1200" spc="-5">
                <a:latin typeface="Times New Roman"/>
                <a:cs typeface="Times New Roman"/>
              </a:rPr>
              <a:t>8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75565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10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11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893947" y="7474242"/>
            <a:ext cx="195262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t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30175">
              <a:lnSpc>
                <a:spcPct val="100000"/>
              </a:lnSpc>
              <a:spcBef>
                <a:spcPts val="5"/>
              </a:spcBef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t</a:t>
            </a:r>
            <a:r>
              <a:rPr dirty="0" sz="1200" spc="-5">
                <a:latin typeface="Garamond"/>
                <a:cs typeface="Garamond"/>
              </a:rPr>
              <a:t>;</a:t>
            </a:r>
            <a:r>
              <a:rPr dirty="0" sz="1200">
                <a:latin typeface="Garamond"/>
                <a:cs typeface="Garamond"/>
              </a:rPr>
              <a:t>  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914400" y="5651677"/>
            <a:ext cx="5487035" cy="2453005"/>
          </a:xfrm>
          <a:custGeom>
            <a:avLst/>
            <a:gdLst/>
            <a:ahLst/>
            <a:cxnLst/>
            <a:rect l="l" t="t" r="r" b="b"/>
            <a:pathLst>
              <a:path w="5487035" h="2453004">
                <a:moveTo>
                  <a:pt x="5486400" y="2447315"/>
                </a:moveTo>
                <a:lnTo>
                  <a:pt x="0" y="2447315"/>
                </a:lnTo>
                <a:lnTo>
                  <a:pt x="0" y="2452446"/>
                </a:lnTo>
                <a:lnTo>
                  <a:pt x="5486400" y="2452446"/>
                </a:lnTo>
                <a:lnTo>
                  <a:pt x="5486400" y="2447315"/>
                </a:lnTo>
                <a:close/>
              </a:path>
              <a:path w="5487035" h="2453004">
                <a:moveTo>
                  <a:pt x="5486959" y="0"/>
                </a:moveTo>
                <a:lnTo>
                  <a:pt x="5481828" y="0"/>
                </a:lnTo>
                <a:lnTo>
                  <a:pt x="5481828" y="2446350"/>
                </a:lnTo>
                <a:lnTo>
                  <a:pt x="5486959" y="2446350"/>
                </a:lnTo>
                <a:lnTo>
                  <a:pt x="5486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876299" y="8159812"/>
            <a:ext cx="6477000" cy="82359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Analysis: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nested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Total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thus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5"/>
              </a:spcBef>
            </a:pPr>
            <a:r>
              <a:rPr dirty="0" sz="1200" spc="30">
                <a:latin typeface="Lucida Sans Unicode"/>
                <a:cs typeface="Lucida Sans Unicode"/>
              </a:rPr>
              <a:t>Θ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n</a:t>
            </a:r>
            <a:r>
              <a:rPr dirty="0" baseline="31250" sz="1200" spc="44">
                <a:latin typeface="Verdana"/>
                <a:cs typeface="Verdana"/>
              </a:rPr>
              <a:t>3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38100" marR="30480" indent="-635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70">
                <a:latin typeface="Lucida Sans Unicode"/>
                <a:cs typeface="Lucida Sans Unicode"/>
              </a:rPr>
              <a:t>s </a:t>
            </a:r>
            <a:r>
              <a:rPr dirty="0" sz="1200" spc="-10">
                <a:latin typeface="Times New Roman"/>
                <a:cs typeface="Times New Roman"/>
              </a:rPr>
              <a:t>matrix </a:t>
            </a:r>
            <a:r>
              <a:rPr dirty="0" sz="1200" spc="-5">
                <a:latin typeface="Times New Roman"/>
                <a:cs typeface="Times New Roman"/>
              </a:rPr>
              <a:t>stores </a:t>
            </a:r>
            <a:r>
              <a:rPr dirty="0" sz="1200" spc="-10">
                <a:latin typeface="Times New Roman"/>
                <a:cs typeface="Times New Roman"/>
              </a:rPr>
              <a:t>the values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70">
                <a:latin typeface="Lucida Sans Unicode"/>
                <a:cs typeface="Lucida Sans Unicode"/>
              </a:rPr>
              <a:t>s </a:t>
            </a:r>
            <a:r>
              <a:rPr dirty="0" sz="1200" spc="-10">
                <a:latin typeface="Times New Roman"/>
                <a:cs typeface="Times New Roman"/>
              </a:rPr>
              <a:t>matrix </a:t>
            </a:r>
            <a:r>
              <a:rPr dirty="0" sz="1200" spc="-5">
                <a:latin typeface="Times New Roman"/>
                <a:cs typeface="Times New Roman"/>
              </a:rPr>
              <a:t>can be used to </a:t>
            </a:r>
            <a:r>
              <a:rPr dirty="0" sz="1200" spc="-10">
                <a:latin typeface="Times New Roman"/>
                <a:cs typeface="Times New Roman"/>
              </a:rPr>
              <a:t>extracting the </a:t>
            </a:r>
            <a:r>
              <a:rPr dirty="0" sz="1200" spc="-5">
                <a:latin typeface="Times New Roman"/>
                <a:cs typeface="Times New Roman"/>
              </a:rPr>
              <a:t>order in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matrices are 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multiplied.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matrix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multiplication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A</a:t>
            </a:r>
            <a:r>
              <a:rPr dirty="0" baseline="-13888" sz="1200" spc="30">
                <a:latin typeface="Verdana"/>
                <a:cs typeface="Verdana"/>
              </a:rPr>
              <a:t>i..j</a:t>
            </a:r>
            <a:r>
              <a:rPr dirty="0" sz="1200" spc="2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06347" y="3018078"/>
            <a:ext cx="2122170" cy="194945"/>
          </a:xfrm>
          <a:custGeom>
            <a:avLst/>
            <a:gdLst/>
            <a:ahLst/>
            <a:cxnLst/>
            <a:rect l="l" t="t" r="r" b="b"/>
            <a:pathLst>
              <a:path w="2122170" h="194944">
                <a:moveTo>
                  <a:pt x="2121916" y="0"/>
                </a:moveTo>
                <a:lnTo>
                  <a:pt x="0" y="0"/>
                </a:lnTo>
                <a:lnTo>
                  <a:pt x="0" y="194589"/>
                </a:lnTo>
                <a:lnTo>
                  <a:pt x="2121916" y="194589"/>
                </a:lnTo>
                <a:lnTo>
                  <a:pt x="2121916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0987"/>
            <a:ext cx="212661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6.5.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0/1 </a:t>
            </a:r>
            <a:r>
              <a:rPr dirty="0" sz="1200" spc="-20">
                <a:latin typeface="Times New Roman"/>
                <a:cs typeface="Times New Roman"/>
              </a:rPr>
              <a:t>KNAPSACK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PROBLEM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9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914400" y="1085544"/>
            <a:ext cx="5486400" cy="1534160"/>
          </a:xfrm>
          <a:custGeom>
            <a:avLst/>
            <a:gdLst/>
            <a:ahLst/>
            <a:cxnLst/>
            <a:rect l="l" t="t" r="r" b="b"/>
            <a:pathLst>
              <a:path w="5486400" h="1534160">
                <a:moveTo>
                  <a:pt x="5486400" y="0"/>
                </a:moveTo>
                <a:lnTo>
                  <a:pt x="0" y="0"/>
                </a:lnTo>
                <a:lnTo>
                  <a:pt x="0" y="4724"/>
                </a:lnTo>
                <a:lnTo>
                  <a:pt x="0" y="5130"/>
                </a:lnTo>
                <a:lnTo>
                  <a:pt x="0" y="1533702"/>
                </a:lnTo>
                <a:lnTo>
                  <a:pt x="5130" y="1533702"/>
                </a:lnTo>
                <a:lnTo>
                  <a:pt x="513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948448" y="1078130"/>
            <a:ext cx="1453515" cy="574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60">
                <a:latin typeface="Times New Roman"/>
                <a:cs typeface="Times New Roman"/>
              </a:rPr>
              <a:t>MU</a:t>
            </a:r>
            <a:r>
              <a:rPr dirty="0" sz="950" spc="-30">
                <a:latin typeface="Times New Roman"/>
                <a:cs typeface="Times New Roman"/>
              </a:rPr>
              <a:t>L</a:t>
            </a:r>
            <a:r>
              <a:rPr dirty="0" sz="950" spc="55">
                <a:latin typeface="Times New Roman"/>
                <a:cs typeface="Times New Roman"/>
              </a:rPr>
              <a:t>TIP</a:t>
            </a:r>
            <a:r>
              <a:rPr dirty="0" sz="950" spc="-40">
                <a:latin typeface="Times New Roman"/>
                <a:cs typeface="Times New Roman"/>
              </a:rPr>
              <a:t>L</a:t>
            </a:r>
            <a:r>
              <a:rPr dirty="0" sz="950" spc="25">
                <a:latin typeface="Times New Roman"/>
                <a:cs typeface="Times New Roman"/>
              </a:rPr>
              <a:t>Y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27432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274320" algn="l"/>
                <a:tab pos="27495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Garamond"/>
                <a:cs typeface="Garamond"/>
              </a:rPr>
              <a:t>(</a:t>
            </a:r>
            <a:r>
              <a:rPr dirty="0" sz="1200" spc="95">
                <a:latin typeface="Lucida Sans Unicode"/>
                <a:cs typeface="Lucida Sans Unicode"/>
              </a:rPr>
              <a:t>i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j</a:t>
            </a:r>
            <a:r>
              <a:rPr dirty="0" sz="1200" spc="7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05130" indent="-35941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05130" algn="l"/>
                <a:tab pos="4057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15" b="1">
                <a:latin typeface="Times New Roman"/>
                <a:cs typeface="Times New Roman"/>
              </a:rPr>
              <a:t>return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Garamond"/>
                <a:cs typeface="Garamond"/>
              </a:rPr>
              <a:t>[</a:t>
            </a:r>
            <a:r>
              <a:rPr dirty="0" sz="1200" spc="40">
                <a:latin typeface="Lucida Sans Unicode"/>
                <a:cs typeface="Lucida Sans Unicode"/>
              </a:rPr>
              <a:t>i</a:t>
            </a:r>
            <a:r>
              <a:rPr dirty="0" sz="1200" spc="40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963572" y="1657831"/>
          <a:ext cx="2305050" cy="8318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8920"/>
                <a:gridCol w="421640"/>
                <a:gridCol w="1633855"/>
              </a:tblGrid>
              <a:tr h="178353">
                <a:tc>
                  <a:txBody>
                    <a:bodyPr/>
                    <a:lstStyle/>
                    <a:p>
                      <a:pPr marL="3175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ts val="1305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else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130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k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←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i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j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endParaRPr sz="1200">
                        <a:latin typeface="Garamond"/>
                        <a:cs typeface="Garamond"/>
                      </a:endParaRPr>
                    </a:p>
                  </a:txBody>
                  <a:tcPr marL="0" marR="0" marB="0" marT="0"/>
                </a:tc>
              </a:tr>
              <a:tr h="183451">
                <a:tc>
                  <a:txBody>
                    <a:bodyPr/>
                    <a:lstStyle/>
                    <a:p>
                      <a:pPr marL="31750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134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X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←</a:t>
                      </a:r>
                      <a:r>
                        <a:rPr dirty="0" sz="1200" spc="-2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950" spc="55">
                          <a:latin typeface="Times New Roman"/>
                          <a:cs typeface="Times New Roman"/>
                        </a:rPr>
                        <a:t>MU</a:t>
                      </a:r>
                      <a:r>
                        <a:rPr dirty="0" sz="950" spc="-30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950" spc="55">
                          <a:latin typeface="Times New Roman"/>
                          <a:cs typeface="Times New Roman"/>
                        </a:rPr>
                        <a:t>TIP</a:t>
                      </a:r>
                      <a:r>
                        <a:rPr dirty="0" sz="950" spc="-40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950" spc="25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(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i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k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)</a:t>
                      </a:r>
                      <a:endParaRPr sz="1200">
                        <a:latin typeface="Garamond"/>
                        <a:cs typeface="Garamond"/>
                      </a:endParaRPr>
                    </a:p>
                  </a:txBody>
                  <a:tcPr marL="0" marR="0" marB="0" marT="0"/>
                </a:tc>
              </a:tr>
              <a:tr h="183451">
                <a:tc>
                  <a:txBody>
                    <a:bodyPr/>
                    <a:lstStyle/>
                    <a:p>
                      <a:pPr marL="31750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134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dirty="0" sz="1200" spc="1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←</a:t>
                      </a:r>
                      <a:r>
                        <a:rPr dirty="0" sz="1200" spc="-2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950" spc="55">
                          <a:latin typeface="Times New Roman"/>
                          <a:cs typeface="Times New Roman"/>
                        </a:rPr>
                        <a:t>MU</a:t>
                      </a:r>
                      <a:r>
                        <a:rPr dirty="0" sz="950" spc="-30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950" spc="55">
                          <a:latin typeface="Times New Roman"/>
                          <a:cs typeface="Times New Roman"/>
                        </a:rPr>
                        <a:t>TIP</a:t>
                      </a:r>
                      <a:r>
                        <a:rPr dirty="0" sz="950" spc="-40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950" spc="25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(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k</a:t>
                      </a:r>
                      <a:r>
                        <a:rPr dirty="0" sz="1200" spc="-114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+</a:t>
                      </a:r>
                      <a:r>
                        <a:rPr dirty="0" sz="1200" spc="-35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j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)</a:t>
                      </a:r>
                      <a:endParaRPr sz="1200">
                        <a:latin typeface="Garamond"/>
                        <a:cs typeface="Garamond"/>
                      </a:endParaRPr>
                    </a:p>
                  </a:txBody>
                  <a:tcPr marL="0" marR="0" marB="0" marT="0"/>
                </a:tc>
              </a:tr>
              <a:tr h="286152">
                <a:tc>
                  <a:txBody>
                    <a:bodyPr/>
                    <a:lstStyle/>
                    <a:p>
                      <a:pPr marL="31750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1345"/>
                        </a:lnSpc>
                      </a:pPr>
                      <a:r>
                        <a:rPr dirty="0" sz="1200" spc="-25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X</a:t>
                      </a:r>
                      <a:r>
                        <a:rPr dirty="0" sz="1200" spc="-114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Segoe UI Symbol"/>
                          <a:cs typeface="Segoe UI Symbol"/>
                        </a:rPr>
                        <a:t>·</a:t>
                      </a:r>
                      <a:r>
                        <a:rPr dirty="0" sz="1200" spc="-65">
                          <a:latin typeface="Segoe UI Symbol"/>
                          <a:cs typeface="Segoe UI Symbol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Y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914400" y="1090269"/>
            <a:ext cx="5487035" cy="1535430"/>
          </a:xfrm>
          <a:custGeom>
            <a:avLst/>
            <a:gdLst/>
            <a:ahLst/>
            <a:cxnLst/>
            <a:rect l="l" t="t" r="r" b="b"/>
            <a:pathLst>
              <a:path w="5487035" h="1535430">
                <a:moveTo>
                  <a:pt x="5486400" y="1529943"/>
                </a:moveTo>
                <a:lnTo>
                  <a:pt x="0" y="1529943"/>
                </a:lnTo>
                <a:lnTo>
                  <a:pt x="0" y="1535074"/>
                </a:lnTo>
                <a:lnTo>
                  <a:pt x="5486400" y="1535074"/>
                </a:lnTo>
                <a:lnTo>
                  <a:pt x="5486400" y="1529943"/>
                </a:lnTo>
                <a:close/>
              </a:path>
              <a:path w="5487035" h="1535430">
                <a:moveTo>
                  <a:pt x="5486959" y="0"/>
                </a:moveTo>
                <a:lnTo>
                  <a:pt x="5481828" y="0"/>
                </a:lnTo>
                <a:lnTo>
                  <a:pt x="5481828" y="1528978"/>
                </a:lnTo>
                <a:lnTo>
                  <a:pt x="5486959" y="1528978"/>
                </a:lnTo>
                <a:lnTo>
                  <a:pt x="5486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863599" y="2934763"/>
            <a:ext cx="6502400" cy="25876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5422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6.5	0/1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Knapsack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b="1">
                <a:latin typeface="Times New Roman"/>
                <a:cs typeface="Times New Roman"/>
              </a:rPr>
              <a:t>Problem</a:t>
            </a:r>
            <a:endParaRPr sz="1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50">
              <a:latin typeface="Times New Roman"/>
              <a:cs typeface="Times New Roman"/>
            </a:endParaRPr>
          </a:p>
          <a:p>
            <a:pPr marL="50800" marR="13081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A thief goes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a </a:t>
            </a:r>
            <a:r>
              <a:rPr dirty="0" sz="1200" spc="-10">
                <a:latin typeface="Times New Roman"/>
                <a:cs typeface="Times New Roman"/>
              </a:rPr>
              <a:t>jewelry</a:t>
            </a:r>
            <a:r>
              <a:rPr dirty="0" sz="1200" spc="-5">
                <a:latin typeface="Times New Roman"/>
                <a:cs typeface="Times New Roman"/>
              </a:rPr>
              <a:t> store to steal </a:t>
            </a:r>
            <a:r>
              <a:rPr dirty="0" sz="1200" spc="-10">
                <a:latin typeface="Times New Roman"/>
                <a:cs typeface="Times New Roman"/>
              </a:rPr>
              <a:t>jewelry</a:t>
            </a:r>
            <a:r>
              <a:rPr dirty="0" sz="1200" spc="-5">
                <a:latin typeface="Times New Roman"/>
                <a:cs typeface="Times New Roman"/>
              </a:rPr>
              <a:t> items.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</a:t>
            </a:r>
            <a:r>
              <a:rPr dirty="0" sz="1200" spc="-5">
                <a:latin typeface="Times New Roman"/>
                <a:cs typeface="Times New Roman"/>
              </a:rPr>
              <a:t> 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knapsack (a bag) that he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</a:t>
            </a:r>
            <a:r>
              <a:rPr dirty="0" sz="1200" spc="-5">
                <a:latin typeface="Times New Roman"/>
                <a:cs typeface="Times New Roman"/>
              </a:rPr>
              <a:t> 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fill </a:t>
            </a:r>
            <a:r>
              <a:rPr dirty="0" sz="1200" spc="-10">
                <a:latin typeface="Times New Roman"/>
                <a:cs typeface="Times New Roman"/>
              </a:rPr>
              <a:t>up.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limit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objects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placed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exceeds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limit, the </a:t>
            </a:r>
            <a:r>
              <a:rPr dirty="0" sz="1200" spc="-5">
                <a:latin typeface="Times New Roman"/>
                <a:cs typeface="Times New Roman"/>
              </a:rPr>
              <a:t>bag </a:t>
            </a:r>
            <a:r>
              <a:rPr dirty="0" sz="1200" spc="-10">
                <a:latin typeface="Times New Roman"/>
                <a:cs typeface="Times New Roman"/>
              </a:rPr>
              <a:t>would </a:t>
            </a:r>
            <a:r>
              <a:rPr dirty="0" sz="1200" spc="-5">
                <a:latin typeface="Times New Roman"/>
                <a:cs typeface="Times New Roman"/>
              </a:rPr>
              <a:t>tear open. The </a:t>
            </a:r>
            <a:r>
              <a:rPr dirty="0" sz="1200" spc="-10">
                <a:latin typeface="Times New Roman"/>
                <a:cs typeface="Times New Roman"/>
              </a:rPr>
              <a:t>value </a:t>
            </a:r>
            <a:r>
              <a:rPr dirty="0" sz="1200" spc="-5">
                <a:latin typeface="Times New Roman"/>
                <a:cs typeface="Times New Roman"/>
              </a:rPr>
              <a:t>of of </a:t>
            </a:r>
            <a:r>
              <a:rPr dirty="0" sz="1200" spc="-10">
                <a:latin typeface="Times New Roman"/>
                <a:cs typeface="Times New Roman"/>
              </a:rPr>
              <a:t>the jewelry </a:t>
            </a:r>
            <a:r>
              <a:rPr dirty="0" sz="1200" spc="-5">
                <a:latin typeface="Times New Roman"/>
                <a:cs typeface="Times New Roman"/>
              </a:rPr>
              <a:t>items </a:t>
            </a:r>
            <a:r>
              <a:rPr dirty="0" sz="1200" spc="-10">
                <a:latin typeface="Times New Roman"/>
                <a:cs typeface="Times New Roman"/>
              </a:rPr>
              <a:t>varies for </a:t>
            </a:r>
            <a:r>
              <a:rPr dirty="0" sz="1200" spc="-5">
                <a:latin typeface="Times New Roman"/>
                <a:cs typeface="Times New Roman"/>
              </a:rPr>
              <a:t>cheap to </a:t>
            </a:r>
            <a:r>
              <a:rPr dirty="0" sz="1200" spc="-15">
                <a:latin typeface="Times New Roman"/>
                <a:cs typeface="Times New Roman"/>
              </a:rPr>
              <a:t>expensive.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thief’s goal is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put</a:t>
            </a:r>
            <a:r>
              <a:rPr dirty="0" sz="1200" spc="-5">
                <a:latin typeface="Times New Roman"/>
                <a:cs typeface="Times New Roman"/>
              </a:rPr>
              <a:t> items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bag 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the items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maximized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items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exceed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limit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bag.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limitation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either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bag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- fractional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allowed.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 spc="-10">
                <a:latin typeface="Times New Roman"/>
                <a:cs typeface="Times New Roman"/>
              </a:rPr>
              <a:t>jewelry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thief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choose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satisfy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constraints?</a:t>
            </a:r>
            <a:endParaRPr sz="1200">
              <a:latin typeface="Times New Roman"/>
              <a:cs typeface="Times New Roman"/>
            </a:endParaRPr>
          </a:p>
          <a:p>
            <a:pPr marL="50800" marR="43180" indent="-635">
              <a:lnSpc>
                <a:spcPct val="100000"/>
              </a:lnSpc>
              <a:spcBef>
                <a:spcPts val="545"/>
              </a:spcBef>
            </a:pPr>
            <a:r>
              <a:rPr dirty="0" sz="1200" spc="-20">
                <a:latin typeface="Times New Roman"/>
                <a:cs typeface="Times New Roman"/>
              </a:rPr>
              <a:t>Formally,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-5">
                <a:latin typeface="Times New Roman"/>
                <a:cs typeface="Times New Roman"/>
              </a:rPr>
              <a:t> can be stated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follows: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a knapsack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</a:t>
            </a:r>
            <a:r>
              <a:rPr dirty="0" sz="1200" spc="-5">
                <a:latin typeface="Times New Roman"/>
                <a:cs typeface="Times New Roman"/>
              </a:rPr>
              <a:t> capacity </a:t>
            </a:r>
            <a:r>
              <a:rPr dirty="0" sz="1200" spc="105">
                <a:latin typeface="Lucida Sans Unicode"/>
                <a:cs typeface="Lucida Sans Unicode"/>
              </a:rPr>
              <a:t>W</a:t>
            </a:r>
            <a:r>
              <a:rPr dirty="0" sz="1200" spc="10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set </a:t>
            </a:r>
            <a:r>
              <a:rPr dirty="0" sz="1200" spc="15">
                <a:latin typeface="Lucida Sans Unicode"/>
                <a:cs typeface="Lucida Sans Unicode"/>
              </a:rPr>
              <a:t>S </a:t>
            </a:r>
            <a:r>
              <a:rPr dirty="0" sz="1200" spc="-36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consisting of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items Each item </a:t>
            </a:r>
            <a:r>
              <a:rPr dirty="0" sz="1200" spc="80">
                <a:latin typeface="Lucida Sans Unicode"/>
                <a:cs typeface="Lucida Sans Unicode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has some </a:t>
            </a:r>
            <a:r>
              <a:rPr dirty="0" sz="1200" spc="-10">
                <a:latin typeface="Times New Roman"/>
                <a:cs typeface="Times New Roman"/>
              </a:rPr>
              <a:t>weight </a:t>
            </a:r>
            <a:r>
              <a:rPr dirty="0" sz="1200" spc="95">
                <a:latin typeface="Lucida Sans Unicode"/>
                <a:cs typeface="Lucida Sans Unicode"/>
              </a:rPr>
              <a:t>w</a:t>
            </a:r>
            <a:r>
              <a:rPr dirty="0" baseline="-13888" sz="1200" spc="142">
                <a:latin typeface="Verdana"/>
                <a:cs typeface="Verdana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value value </a:t>
            </a:r>
            <a:r>
              <a:rPr dirty="0" sz="1200" spc="60">
                <a:latin typeface="Lucida Sans Unicode"/>
                <a:cs typeface="Lucida Sans Unicode"/>
              </a:rPr>
              <a:t>v</a:t>
            </a:r>
            <a:r>
              <a:rPr dirty="0" baseline="-13888" sz="1200" spc="89">
                <a:latin typeface="Verdana"/>
                <a:cs typeface="Verdana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(all </a:t>
            </a:r>
            <a:r>
              <a:rPr dirty="0" sz="1200" spc="95">
                <a:latin typeface="Lucida Sans Unicode"/>
                <a:cs typeface="Lucida Sans Unicode"/>
              </a:rPr>
              <a:t>w</a:t>
            </a:r>
            <a:r>
              <a:rPr dirty="0" baseline="-13888" sz="1200" spc="142">
                <a:latin typeface="Verdana"/>
                <a:cs typeface="Verdana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 spc="60">
                <a:latin typeface="Lucida Sans Unicode"/>
                <a:cs typeface="Lucida Sans Unicode"/>
              </a:rPr>
              <a:t>v</a:t>
            </a:r>
            <a:r>
              <a:rPr dirty="0" baseline="-13888" sz="1200" spc="89">
                <a:latin typeface="Verdana"/>
                <a:cs typeface="Verdana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150">
                <a:latin typeface="Lucida Sans Unicode"/>
                <a:cs typeface="Lucida Sans Unicode"/>
              </a:rPr>
              <a:t>W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integer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pack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knapsack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achieve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packed</a:t>
            </a:r>
            <a:r>
              <a:rPr dirty="0" sz="1200" spc="-5">
                <a:latin typeface="Times New Roman"/>
                <a:cs typeface="Times New Roman"/>
              </a:rPr>
              <a:t> items?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 </a:t>
            </a:r>
            <a:r>
              <a:rPr dirty="0" sz="1200" spc="-5">
                <a:latin typeface="Times New Roman"/>
                <a:cs typeface="Times New Roman"/>
              </a:rPr>
              <a:t> consider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scenario: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83436" y="5830514"/>
            <a:ext cx="1404404" cy="1676201"/>
          </a:xfrm>
          <a:prstGeom prst="rect">
            <a:avLst/>
          </a:prstGeom>
        </p:spPr>
      </p:pic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850100" y="6157290"/>
          <a:ext cx="1981200" cy="11106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/>
                <a:gridCol w="793749"/>
                <a:gridCol w="656590"/>
              </a:tblGrid>
              <a:tr h="185566">
                <a:tc>
                  <a:txBody>
                    <a:bodyPr/>
                    <a:lstStyle/>
                    <a:p>
                      <a:pPr algn="ctr">
                        <a:lnSpc>
                          <a:spcPts val="124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Item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80">
                          <a:latin typeface="Lucida Sans Unicode"/>
                          <a:cs typeface="Lucida Sans Unicode"/>
                        </a:rPr>
                        <a:t>i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4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Weight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95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 spc="142">
                          <a:latin typeface="Verdana"/>
                          <a:cs typeface="Verdana"/>
                        </a:rPr>
                        <a:t>i</a:t>
                      </a:r>
                      <a:endParaRPr baseline="-13888" sz="12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5"/>
                        </a:lnSpc>
                      </a:pP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Value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60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 spc="89">
                          <a:latin typeface="Verdana"/>
                          <a:cs typeface="Verdana"/>
                        </a:rPr>
                        <a:t>i</a:t>
                      </a:r>
                      <a:endParaRPr baseline="-13888" sz="12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1239">
                <a:tc>
                  <a:txBody>
                    <a:bodyPr/>
                    <a:lstStyle/>
                    <a:p>
                      <a:pPr algn="ctr">
                        <a:lnSpc>
                          <a:spcPts val="125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5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5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83508"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508"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200311"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4069179" y="8393988"/>
            <a:ext cx="1993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-5">
                <a:latin typeface="Verdana"/>
                <a:cs typeface="Verdana"/>
              </a:rPr>
              <a:t>T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048148" y="8430818"/>
            <a:ext cx="245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975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76299" y="7541337"/>
            <a:ext cx="6388100" cy="141033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201295">
              <a:lnSpc>
                <a:spcPct val="100000"/>
              </a:lnSpc>
              <a:spcBef>
                <a:spcPts val="350"/>
              </a:spcBef>
            </a:pPr>
            <a:r>
              <a:rPr dirty="0" sz="1200" spc="-10">
                <a:latin typeface="Times New Roman"/>
                <a:cs typeface="Times New Roman"/>
              </a:rPr>
              <a:t>Figure 6.3: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Knapsack can </a:t>
            </a:r>
            <a:r>
              <a:rPr dirty="0" sz="1200" spc="-10">
                <a:latin typeface="Times New Roman"/>
                <a:cs typeface="Times New Roman"/>
              </a:rPr>
              <a:t>hold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0">
                <a:latin typeface="Lucida Sans Unicode"/>
                <a:cs typeface="Lucida Sans Unicode"/>
              </a:rPr>
              <a:t>W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20</a:t>
            </a:r>
            <a:endParaRPr sz="1200">
              <a:latin typeface="Lucida Sans Unicode"/>
              <a:cs typeface="Lucida Sans Unicode"/>
            </a:endParaRPr>
          </a:p>
          <a:p>
            <a:pPr marL="38100">
              <a:lnSpc>
                <a:spcPct val="100000"/>
              </a:lnSpc>
              <a:spcBef>
                <a:spcPts val="24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knapsack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belongs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domain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optimization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Mathematically,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algn="ctr" marL="200025">
              <a:lnSpc>
                <a:spcPts val="1290"/>
              </a:lnSpc>
              <a:spcBef>
                <a:spcPts val="390"/>
              </a:spcBef>
            </a:pPr>
            <a:r>
              <a:rPr dirty="0" sz="1200" spc="975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  <a:p>
            <a:pPr marL="2517775">
              <a:lnSpc>
                <a:spcPts val="1290"/>
              </a:lnSpc>
              <a:tabLst>
                <a:tab pos="3429000" algn="l"/>
              </a:tabLst>
            </a:pPr>
            <a:r>
              <a:rPr dirty="0" sz="1200" spc="-10">
                <a:latin typeface="Times New Roman"/>
                <a:cs typeface="Times New Roman"/>
              </a:rPr>
              <a:t>maximize	</a:t>
            </a:r>
            <a:r>
              <a:rPr dirty="0" sz="1200" spc="60">
                <a:latin typeface="Lucida Sans Unicode"/>
                <a:cs typeface="Lucida Sans Unicode"/>
              </a:rPr>
              <a:t>v</a:t>
            </a:r>
            <a:r>
              <a:rPr dirty="0" baseline="-13888" sz="1200" spc="89">
                <a:latin typeface="Verdana"/>
                <a:cs typeface="Verdana"/>
              </a:rPr>
              <a:t>i</a:t>
            </a:r>
            <a:endParaRPr baseline="-13888" sz="12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450">
              <a:latin typeface="Verdana"/>
              <a:cs typeface="Verdana"/>
            </a:endParaRPr>
          </a:p>
          <a:p>
            <a:pPr marL="2530475">
              <a:lnSpc>
                <a:spcPct val="100000"/>
              </a:lnSpc>
              <a:tabLst>
                <a:tab pos="3429000" algn="l"/>
              </a:tabLst>
            </a:pPr>
            <a:r>
              <a:rPr dirty="0" sz="1200" spc="-5">
                <a:latin typeface="Times New Roman"/>
                <a:cs typeface="Times New Roman"/>
              </a:rPr>
              <a:t>subject to	</a:t>
            </a:r>
            <a:r>
              <a:rPr dirty="0" sz="1200" spc="95">
                <a:latin typeface="Lucida Sans Unicode"/>
                <a:cs typeface="Lucida Sans Unicode"/>
              </a:rPr>
              <a:t>w</a:t>
            </a:r>
            <a:r>
              <a:rPr dirty="0" baseline="-13888" sz="1200" spc="142">
                <a:latin typeface="Verdana"/>
                <a:cs typeface="Verdana"/>
              </a:rPr>
              <a:t>i</a:t>
            </a:r>
            <a:r>
              <a:rPr dirty="0" baseline="-13888" sz="1200" spc="15">
                <a:latin typeface="Verdana"/>
                <a:cs typeface="Verdana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25">
                <a:latin typeface="Segoe UI Symbol"/>
                <a:cs typeface="Segoe UI Symbol"/>
              </a:rPr>
              <a:t> </a:t>
            </a:r>
            <a:r>
              <a:rPr dirty="0" sz="1200" spc="150">
                <a:latin typeface="Lucida Sans Unicode"/>
                <a:cs typeface="Lucida Sans Unicode"/>
              </a:rPr>
              <a:t>W</a:t>
            </a:r>
            <a:endParaRPr sz="1200">
              <a:latin typeface="Lucida Sans Unicode"/>
              <a:cs typeface="Lucida Sans Unicode"/>
            </a:endParaRPr>
          </a:p>
          <a:p>
            <a:pPr algn="ctr" marL="196215">
              <a:lnSpc>
                <a:spcPct val="100000"/>
              </a:lnSpc>
              <a:spcBef>
                <a:spcPts val="370"/>
              </a:spcBef>
            </a:pPr>
            <a:r>
              <a:rPr dirty="0" sz="800" spc="50">
                <a:latin typeface="Verdana"/>
                <a:cs typeface="Verdana"/>
              </a:rPr>
              <a:t>i</a:t>
            </a:r>
            <a:r>
              <a:rPr dirty="0" sz="800" spc="50">
                <a:latin typeface="Cambria"/>
                <a:cs typeface="Cambria"/>
              </a:rPr>
              <a:t>∈</a:t>
            </a:r>
            <a:r>
              <a:rPr dirty="0" sz="800" spc="50">
                <a:latin typeface="Verdana"/>
                <a:cs typeface="Verdana"/>
              </a:rPr>
              <a:t>T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11694" y="8475167"/>
            <a:ext cx="2112645" cy="120014"/>
          </a:xfrm>
          <a:custGeom>
            <a:avLst/>
            <a:gdLst/>
            <a:ahLst/>
            <a:cxnLst/>
            <a:rect l="l" t="t" r="r" b="b"/>
            <a:pathLst>
              <a:path w="2112645" h="120015">
                <a:moveTo>
                  <a:pt x="2112327" y="0"/>
                </a:moveTo>
                <a:lnTo>
                  <a:pt x="0" y="0"/>
                </a:lnTo>
                <a:lnTo>
                  <a:pt x="0" y="119938"/>
                </a:lnTo>
                <a:lnTo>
                  <a:pt x="2112327" y="119938"/>
                </a:lnTo>
                <a:lnTo>
                  <a:pt x="2112327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211694" y="8164576"/>
            <a:ext cx="2200910" cy="140970"/>
          </a:xfrm>
          <a:custGeom>
            <a:avLst/>
            <a:gdLst/>
            <a:ahLst/>
            <a:cxnLst/>
            <a:rect l="l" t="t" r="r" b="b"/>
            <a:pathLst>
              <a:path w="2200910" h="140970">
                <a:moveTo>
                  <a:pt x="2200567" y="0"/>
                </a:moveTo>
                <a:lnTo>
                  <a:pt x="0" y="0"/>
                </a:lnTo>
                <a:lnTo>
                  <a:pt x="0" y="140741"/>
                </a:lnTo>
                <a:lnTo>
                  <a:pt x="2200567" y="140741"/>
                </a:lnTo>
                <a:lnTo>
                  <a:pt x="2200567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211694" y="7854594"/>
            <a:ext cx="1715135" cy="137160"/>
          </a:xfrm>
          <a:custGeom>
            <a:avLst/>
            <a:gdLst/>
            <a:ahLst/>
            <a:cxnLst/>
            <a:rect l="l" t="t" r="r" b="b"/>
            <a:pathLst>
              <a:path w="1715135" h="137159">
                <a:moveTo>
                  <a:pt x="1714728" y="0"/>
                </a:moveTo>
                <a:lnTo>
                  <a:pt x="0" y="0"/>
                </a:lnTo>
                <a:lnTo>
                  <a:pt x="0" y="137109"/>
                </a:lnTo>
                <a:lnTo>
                  <a:pt x="1714728" y="137109"/>
                </a:lnTo>
                <a:lnTo>
                  <a:pt x="1714728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774699" y="520987"/>
            <a:ext cx="6680834" cy="679577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39700">
              <a:lnSpc>
                <a:spcPct val="100000"/>
              </a:lnSpc>
              <a:spcBef>
                <a:spcPts val="110"/>
              </a:spcBef>
              <a:tabLst>
                <a:tab pos="3712210" algn="l"/>
              </a:tabLst>
            </a:pPr>
            <a:r>
              <a:rPr dirty="0" sz="1200" spc="-5">
                <a:latin typeface="Times New Roman"/>
                <a:cs typeface="Times New Roman"/>
              </a:rPr>
              <a:t>92	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DYNAMIC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39700" marR="139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“0-1”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entirely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accepted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rejected.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try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brute-force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50">
              <a:latin typeface="Times New Roman"/>
              <a:cs typeface="Times New Roman"/>
            </a:endParaRPr>
          </a:p>
          <a:p>
            <a:pPr marL="511175" marR="264160" indent="-150495">
              <a:lnSpc>
                <a:spcPct val="100000"/>
              </a:lnSpc>
              <a:spcBef>
                <a:spcPts val="5"/>
              </a:spcBef>
              <a:buFont typeface="Segoe UI Symbol"/>
              <a:buChar char="•"/>
              <a:tabLst>
                <a:tab pos="511809" algn="l"/>
              </a:tabLst>
            </a:pPr>
            <a:r>
              <a:rPr dirty="0" sz="1200" spc="-5">
                <a:latin typeface="Times New Roman"/>
                <a:cs typeface="Times New Roman"/>
              </a:rPr>
              <a:t>Since there are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items, there are </a:t>
            </a:r>
            <a:r>
              <a:rPr dirty="0" sz="1200" spc="-15">
                <a:latin typeface="Lucida Sans Unicode"/>
                <a:cs typeface="Lucida Sans Unicode"/>
              </a:rPr>
              <a:t>2</a:t>
            </a:r>
            <a:r>
              <a:rPr dirty="0" baseline="31250" sz="1200" spc="-22">
                <a:latin typeface="Verdana"/>
                <a:cs typeface="Verdana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possible </a:t>
            </a:r>
            <a:r>
              <a:rPr dirty="0" sz="1200" spc="-10">
                <a:latin typeface="Times New Roman"/>
                <a:cs typeface="Times New Roman"/>
              </a:rPr>
              <a:t>combinations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items (an item either chosen 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Font typeface="Segoe UI Symbol"/>
              <a:buChar char="•"/>
            </a:pPr>
            <a:endParaRPr sz="1500">
              <a:latin typeface="Times New Roman"/>
              <a:cs typeface="Times New Roman"/>
            </a:endParaRPr>
          </a:p>
          <a:p>
            <a:pPr marL="511175" marR="344805" indent="-150495">
              <a:lnSpc>
                <a:spcPct val="100000"/>
              </a:lnSpc>
              <a:buFont typeface="Segoe UI Symbol"/>
              <a:buChar char="•"/>
              <a:tabLst>
                <a:tab pos="511809" algn="l"/>
              </a:tabLst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combinations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total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 </a:t>
            </a:r>
            <a:r>
              <a:rPr dirty="0" sz="1200" spc="-5">
                <a:latin typeface="Times New Roman"/>
                <a:cs typeface="Times New Roman"/>
              </a:rPr>
              <a:t> less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equal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0">
                <a:latin typeface="Lucida Sans Unicode"/>
                <a:cs typeface="Lucida Sans Unicode"/>
              </a:rPr>
              <a:t>W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Lucida Sans Unicode"/>
              <a:cs typeface="Lucida Sans Unicode"/>
            </a:endParaRPr>
          </a:p>
          <a:p>
            <a:pPr marL="139700" marR="132080">
              <a:lnSpc>
                <a:spcPct val="100000"/>
              </a:lnSpc>
              <a:spcBef>
                <a:spcPts val="5"/>
              </a:spcBef>
            </a:pPr>
            <a:r>
              <a:rPr dirty="0" sz="1200" spc="-15">
                <a:latin typeface="Times New Roman"/>
                <a:cs typeface="Times New Roman"/>
              </a:rPr>
              <a:t>Clearly,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brute-force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O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2</a:t>
            </a:r>
            <a:r>
              <a:rPr dirty="0" baseline="31250" sz="1200" spc="44">
                <a:latin typeface="Verdana"/>
                <a:cs typeface="Verdana"/>
              </a:rPr>
              <a:t>n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better?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“yes”,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recap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strategy: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Times New Roman"/>
              <a:cs typeface="Times New Roman"/>
            </a:endParaRPr>
          </a:p>
          <a:p>
            <a:pPr marL="511175" marR="351790" indent="-188595">
              <a:lnSpc>
                <a:spcPct val="100000"/>
              </a:lnSpc>
              <a:buFont typeface="Times New Roman"/>
              <a:buAutoNum type="arabicPeriod"/>
              <a:tabLst>
                <a:tab pos="511809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Simple </a:t>
            </a:r>
            <a:r>
              <a:rPr dirty="0" sz="1200" spc="-10" b="1">
                <a:latin typeface="Times New Roman"/>
                <a:cs typeface="Times New Roman"/>
              </a:rPr>
              <a:t>Subproblems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should </a:t>
            </a:r>
            <a:r>
              <a:rPr dirty="0" sz="1200" spc="-5">
                <a:latin typeface="Times New Roman"/>
                <a:cs typeface="Times New Roman"/>
              </a:rPr>
              <a:t>be able to break </a:t>
            </a:r>
            <a:r>
              <a:rPr dirty="0" sz="1200" spc="-10">
                <a:latin typeface="Times New Roman"/>
                <a:cs typeface="Times New Roman"/>
              </a:rPr>
              <a:t>the original problem </a:t>
            </a:r>
            <a:r>
              <a:rPr dirty="0" sz="1200" spc="-5">
                <a:latin typeface="Times New Roman"/>
                <a:cs typeface="Times New Roman"/>
              </a:rPr>
              <a:t>to smaller </a:t>
            </a:r>
            <a:r>
              <a:rPr dirty="0" sz="1200" spc="-10">
                <a:latin typeface="Times New Roman"/>
                <a:cs typeface="Times New Roman"/>
              </a:rPr>
              <a:t>subproblems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 </a:t>
            </a:r>
            <a:r>
              <a:rPr dirty="0" sz="1200" spc="-10">
                <a:latin typeface="Times New Roman"/>
                <a:cs typeface="Times New Roman"/>
              </a:rPr>
              <a:t>structure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Font typeface="Times New Roman"/>
              <a:buAutoNum type="arabicPeriod"/>
            </a:pPr>
            <a:endParaRPr sz="1500">
              <a:latin typeface="Times New Roman"/>
              <a:cs typeface="Times New Roman"/>
            </a:endParaRPr>
          </a:p>
          <a:p>
            <a:pPr marL="511175" marR="164465" indent="-188595">
              <a:lnSpc>
                <a:spcPct val="100000"/>
              </a:lnSpc>
              <a:spcBef>
                <a:spcPts val="5"/>
              </a:spcBef>
              <a:buFont typeface="Times New Roman"/>
              <a:buAutoNum type="arabicPeriod"/>
              <a:tabLst>
                <a:tab pos="511809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Principle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Optimality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Express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 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original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terms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smaller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Font typeface="Times New Roman"/>
              <a:buAutoNum type="arabicPeriod"/>
            </a:pPr>
            <a:endParaRPr sz="1500">
              <a:latin typeface="Times New Roman"/>
              <a:cs typeface="Times New Roman"/>
            </a:endParaRPr>
          </a:p>
          <a:p>
            <a:pPr marL="511175" marR="392430" indent="-188595">
              <a:lnSpc>
                <a:spcPct val="100000"/>
              </a:lnSpc>
              <a:buFont typeface="Times New Roman"/>
              <a:buAutoNum type="arabicPeriod"/>
              <a:tabLst>
                <a:tab pos="511809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Bottom-up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computation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bottom-up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fashion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table structure.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Font typeface="Times New Roman"/>
              <a:buAutoNum type="arabicPeriod"/>
            </a:pPr>
            <a:endParaRPr sz="1500">
              <a:latin typeface="Times New Roman"/>
              <a:cs typeface="Times New Roman"/>
            </a:endParaRPr>
          </a:p>
          <a:p>
            <a:pPr marL="511175" indent="-189230">
              <a:lnSpc>
                <a:spcPct val="100000"/>
              </a:lnSpc>
              <a:buFont typeface="Times New Roman"/>
              <a:buAutoNum type="arabicPeriod"/>
              <a:tabLst>
                <a:tab pos="511809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Construction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of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optimal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solution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Construct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information.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Times New Roman"/>
              <a:cs typeface="Times New Roman"/>
            </a:endParaRPr>
          </a:p>
          <a:p>
            <a:pPr marL="139700" marR="25527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Let 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items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labelled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subproblem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endParaRPr sz="1200">
              <a:latin typeface="Times New Roman"/>
              <a:cs typeface="Times New Roman"/>
            </a:endParaRPr>
          </a:p>
          <a:p>
            <a:pPr marL="2399030">
              <a:lnSpc>
                <a:spcPct val="100000"/>
              </a:lnSpc>
              <a:spcBef>
                <a:spcPts val="465"/>
              </a:spcBef>
            </a:pP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baseline="-13888" sz="1200" spc="112">
                <a:latin typeface="Verdana"/>
                <a:cs typeface="Verdana"/>
              </a:rPr>
              <a:t>k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endParaRPr sz="1200">
              <a:latin typeface="Lucida Sans Unicode"/>
              <a:cs typeface="Lucida Sans Unicode"/>
            </a:endParaRPr>
          </a:p>
          <a:p>
            <a:pPr marL="139700" marR="171450">
              <a:lnSpc>
                <a:spcPct val="100000"/>
              </a:lnSpc>
              <a:spcBef>
                <a:spcPts val="1185"/>
              </a:spcBef>
            </a:pPr>
            <a:r>
              <a:rPr dirty="0" sz="1200" spc="-5">
                <a:latin typeface="Times New Roman"/>
                <a:cs typeface="Times New Roman"/>
              </a:rPr>
              <a:t>This is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valid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subproblem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definition.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question is: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describe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S</a:t>
            </a:r>
            <a:r>
              <a:rPr dirty="0" baseline="-13888" sz="1200" spc="120">
                <a:latin typeface="Verdana"/>
                <a:cs typeface="Verdana"/>
              </a:rPr>
              <a:t>n</a:t>
            </a:r>
            <a:r>
              <a:rPr dirty="0" baseline="-13888" sz="1200" spc="-15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terms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subproblems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S</a:t>
            </a:r>
            <a:r>
              <a:rPr dirty="0" baseline="-13888" sz="1200" spc="30">
                <a:latin typeface="Verdana"/>
                <a:cs typeface="Verdana"/>
              </a:rPr>
              <a:t>k</a:t>
            </a:r>
            <a:r>
              <a:rPr dirty="0" sz="1200" spc="20">
                <a:latin typeface="Times New Roman"/>
                <a:cs typeface="Times New Roman"/>
              </a:rPr>
              <a:t>?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Unfortunately,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why.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optimal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 1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-5">
                <a:latin typeface="Times New Roman"/>
                <a:cs typeface="Times New Roman"/>
              </a:rPr>
              <a:t> 4 </a:t>
            </a:r>
            <a:r>
              <a:rPr dirty="0" sz="1200" spc="-25">
                <a:latin typeface="Times New Roman"/>
                <a:cs typeface="Times New Roman"/>
              </a:rPr>
              <a:t>only.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911828" y="7510716"/>
          <a:ext cx="5340985" cy="11207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85845"/>
                <a:gridCol w="430529"/>
                <a:gridCol w="321310"/>
                <a:gridCol w="302260"/>
                <a:gridCol w="692150"/>
              </a:tblGrid>
              <a:tr h="188975">
                <a:tc rowSpan="3">
                  <a:txBody>
                    <a:bodyPr/>
                    <a:lstStyle/>
                    <a:p>
                      <a:pPr marL="75565">
                        <a:lnSpc>
                          <a:spcPts val="134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Solution</a:t>
                      </a:r>
                      <a:r>
                        <a:rPr dirty="0" sz="1200" spc="-3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5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dirty="0" baseline="-13888" sz="1200" spc="7">
                          <a:latin typeface="Verdana"/>
                          <a:cs typeface="Verdana"/>
                        </a:rPr>
                        <a:t>4</a:t>
                      </a:r>
                      <a:endParaRPr baseline="-13888" sz="1200">
                        <a:latin typeface="Verdana"/>
                        <a:cs typeface="Verdana"/>
                      </a:endParaRPr>
                    </a:p>
                    <a:p>
                      <a:pPr marL="447040" indent="-150495">
                        <a:lnSpc>
                          <a:spcPct val="100000"/>
                        </a:lnSpc>
                        <a:spcBef>
                          <a:spcPts val="1000"/>
                        </a:spcBef>
                        <a:buFont typeface="Segoe UI Symbol"/>
                        <a:buChar char="•"/>
                        <a:tabLst>
                          <a:tab pos="447675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It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ho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sen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447040" indent="-150495">
                        <a:lnSpc>
                          <a:spcPct val="100000"/>
                        </a:lnSpc>
                        <a:spcBef>
                          <a:spcPts val="1000"/>
                        </a:spcBef>
                        <a:buFont typeface="Segoe UI Symbol"/>
                        <a:buChar char="•"/>
                        <a:tabLst>
                          <a:tab pos="447675" algn="l"/>
                        </a:tabLst>
                      </a:pPr>
                      <a:r>
                        <a:rPr dirty="0" sz="1200" spc="-100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ot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al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w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ight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:</a:t>
                      </a:r>
                      <a:r>
                        <a:rPr dirty="0" sz="1200" spc="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dirty="0" sz="1200" spc="-12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+</a:t>
                      </a:r>
                      <a:r>
                        <a:rPr dirty="0" sz="1200" spc="-35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dirty="0" sz="1200" spc="-114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+</a:t>
                      </a:r>
                      <a:r>
                        <a:rPr dirty="0" sz="1200" spc="-35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r>
                        <a:rPr dirty="0" sz="1200" spc="-114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+</a:t>
                      </a:r>
                      <a:r>
                        <a:rPr dirty="0" sz="1200" spc="-35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14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447040" indent="-150495">
                        <a:lnSpc>
                          <a:spcPct val="100000"/>
                        </a:lnSpc>
                        <a:spcBef>
                          <a:spcPts val="1000"/>
                        </a:spcBef>
                        <a:buFont typeface="Segoe UI Symbol"/>
                        <a:buChar char="•"/>
                        <a:tabLst>
                          <a:tab pos="447675" algn="l"/>
                        </a:tabLst>
                      </a:pPr>
                      <a:r>
                        <a:rPr dirty="0" sz="1200" spc="-100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ot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al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v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lu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e:</a:t>
                      </a:r>
                      <a:r>
                        <a:rPr dirty="0" sz="1200" spc="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dirty="0" sz="1200" spc="-114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+</a:t>
                      </a:r>
                      <a:r>
                        <a:rPr dirty="0" sz="1200" spc="-35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4</a:t>
                      </a:r>
                      <a:r>
                        <a:rPr dirty="0" sz="1200" spc="-114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+</a:t>
                      </a:r>
                      <a:r>
                        <a:rPr dirty="0" sz="1200" spc="-35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dirty="0" sz="1200" spc="-114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+</a:t>
                      </a:r>
                      <a:r>
                        <a:rPr dirty="0" sz="1200" spc="-35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8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20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Item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75"/>
                        </a:lnSpc>
                      </a:pPr>
                      <a:r>
                        <a:rPr dirty="0" sz="1200" spc="95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 spc="142">
                          <a:latin typeface="Verdana"/>
                          <a:cs typeface="Verdana"/>
                        </a:rPr>
                        <a:t>i</a:t>
                      </a:r>
                      <a:endParaRPr baseline="-13888" sz="12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81280">
                        <a:lnSpc>
                          <a:spcPts val="1275"/>
                        </a:lnSpc>
                      </a:pPr>
                      <a:r>
                        <a:rPr dirty="0" sz="1200" spc="60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 spc="89">
                          <a:latin typeface="Verdana"/>
                          <a:cs typeface="Verdana"/>
                        </a:rPr>
                        <a:t>i</a:t>
                      </a:r>
                      <a:endParaRPr baseline="-13888" sz="12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739139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 marL="63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 marL="63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 marL="63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310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901699" y="8775547"/>
            <a:ext cx="44342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 spc="-5">
                <a:latin typeface="Times New Roman"/>
                <a:cs typeface="Times New Roman"/>
              </a:rPr>
              <a:t> 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 1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-5">
                <a:latin typeface="Times New Roman"/>
                <a:cs typeface="Times New Roman"/>
              </a:rPr>
              <a:t> 5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available.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12661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6.5.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0/1 </a:t>
            </a:r>
            <a:r>
              <a:rPr dirty="0" sz="1200" spc="-20">
                <a:latin typeface="Times New Roman"/>
                <a:cs typeface="Times New Roman"/>
              </a:rPr>
              <a:t>KNAPSACK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PROBLEM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9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14400" y="939229"/>
            <a:ext cx="5333365" cy="5715"/>
          </a:xfrm>
          <a:custGeom>
            <a:avLst/>
            <a:gdLst/>
            <a:ahLst/>
            <a:cxnLst/>
            <a:rect l="l" t="t" r="r" b="b"/>
            <a:pathLst>
              <a:path w="5333365" h="5715">
                <a:moveTo>
                  <a:pt x="5332887" y="0"/>
                </a:moveTo>
                <a:lnTo>
                  <a:pt x="0" y="0"/>
                </a:lnTo>
                <a:lnTo>
                  <a:pt x="0" y="5143"/>
                </a:lnTo>
                <a:lnTo>
                  <a:pt x="5332887" y="5143"/>
                </a:lnTo>
                <a:lnTo>
                  <a:pt x="53328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4497800" y="1045794"/>
          <a:ext cx="1057275" cy="11118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30530"/>
                <a:gridCol w="321310"/>
                <a:gridCol w="302259"/>
              </a:tblGrid>
              <a:tr h="185566">
                <a:tc>
                  <a:txBody>
                    <a:bodyPr/>
                    <a:lstStyle/>
                    <a:p>
                      <a:pPr algn="ctr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Item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255"/>
                        </a:lnSpc>
                      </a:pPr>
                      <a:r>
                        <a:rPr dirty="0" sz="1200" spc="95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 spc="142">
                          <a:latin typeface="Verdana"/>
                          <a:cs typeface="Verdana"/>
                        </a:rPr>
                        <a:t>i</a:t>
                      </a:r>
                      <a:endParaRPr baseline="-13888" sz="12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55"/>
                        </a:lnSpc>
                      </a:pPr>
                      <a:r>
                        <a:rPr dirty="0" sz="1200" spc="60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 spc="89">
                          <a:latin typeface="Verdana"/>
                          <a:cs typeface="Verdana"/>
                        </a:rPr>
                        <a:t>i</a:t>
                      </a:r>
                      <a:endParaRPr baseline="-13888" sz="12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2098">
                <a:tc>
                  <a:txBody>
                    <a:bodyPr/>
                    <a:lstStyle/>
                    <a:p>
                      <a:pPr algn="ctr" marL="635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83508">
                <a:tc>
                  <a:txBody>
                    <a:bodyPr/>
                    <a:lstStyle/>
                    <a:p>
                      <a:pPr algn="ctr" marL="635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algn="ctr" marL="635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algn="ctr" marL="635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201033">
                <a:tc>
                  <a:txBody>
                    <a:bodyPr/>
                    <a:lstStyle/>
                    <a:p>
                      <a:pPr algn="ctr" marL="635">
                        <a:lnSpc>
                          <a:spcPts val="13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ts val="13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736600" y="884621"/>
            <a:ext cx="6753225" cy="6369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3365">
              <a:lnSpc>
                <a:spcPct val="100000"/>
              </a:lnSpc>
              <a:spcBef>
                <a:spcPts val="95"/>
              </a:spcBef>
            </a:pPr>
            <a:r>
              <a:rPr dirty="0" sz="1200" spc="-10" b="1">
                <a:latin typeface="Times New Roman"/>
                <a:cs typeface="Times New Roman"/>
              </a:rPr>
              <a:t>Solution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S</a:t>
            </a:r>
            <a:r>
              <a:rPr dirty="0" baseline="-13888" sz="1200" spc="7">
                <a:latin typeface="Verdana"/>
                <a:cs typeface="Verdana"/>
              </a:rPr>
              <a:t>5</a:t>
            </a:r>
            <a:endParaRPr baseline="-13888" sz="1200">
              <a:latin typeface="Verdana"/>
              <a:cs typeface="Verdana"/>
            </a:endParaRPr>
          </a:p>
          <a:p>
            <a:pPr marL="624840" indent="-150495">
              <a:lnSpc>
                <a:spcPct val="100000"/>
              </a:lnSpc>
              <a:spcBef>
                <a:spcPts val="1000"/>
              </a:spcBef>
              <a:buFont typeface="Segoe UI Symbol"/>
              <a:buChar char="•"/>
              <a:tabLst>
                <a:tab pos="625475" algn="l"/>
              </a:tabLst>
            </a:pPr>
            <a:r>
              <a:rPr dirty="0" sz="1200" spc="-1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ho</a:t>
            </a:r>
            <a:r>
              <a:rPr dirty="0" sz="1200" spc="-5">
                <a:latin typeface="Times New Roman"/>
                <a:cs typeface="Times New Roman"/>
              </a:rPr>
              <a:t>sen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endParaRPr sz="1200">
              <a:latin typeface="Lucida Sans Unicode"/>
              <a:cs typeface="Lucida Sans Unicode"/>
            </a:endParaRPr>
          </a:p>
          <a:p>
            <a:pPr marL="624840" indent="-150495">
              <a:lnSpc>
                <a:spcPct val="100000"/>
              </a:lnSpc>
              <a:spcBef>
                <a:spcPts val="1000"/>
              </a:spcBef>
              <a:buFont typeface="Segoe UI Symbol"/>
              <a:buChar char="•"/>
              <a:tabLst>
                <a:tab pos="625475" algn="l"/>
              </a:tabLst>
            </a:pPr>
            <a:r>
              <a:rPr dirty="0" sz="1200" spc="-10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ot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ight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9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20</a:t>
            </a:r>
            <a:endParaRPr sz="1200">
              <a:latin typeface="Lucida Sans Unicode"/>
              <a:cs typeface="Lucida Sans Unicode"/>
            </a:endParaRPr>
          </a:p>
          <a:p>
            <a:pPr marL="624840" indent="-150495">
              <a:lnSpc>
                <a:spcPct val="100000"/>
              </a:lnSpc>
              <a:spcBef>
                <a:spcPts val="1000"/>
              </a:spcBef>
              <a:buFont typeface="Segoe UI Symbol"/>
              <a:buChar char="•"/>
              <a:tabLst>
                <a:tab pos="625475" algn="l"/>
              </a:tabLst>
            </a:pPr>
            <a:r>
              <a:rPr dirty="0" sz="1200" spc="-10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ot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e: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10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26</a:t>
            </a:r>
            <a:endParaRPr sz="1200">
              <a:latin typeface="Lucida Sans Unicode"/>
              <a:cs typeface="Lucida Sans Unicode"/>
            </a:endParaRPr>
          </a:p>
          <a:p>
            <a:pPr marL="177800">
              <a:lnSpc>
                <a:spcPct val="100000"/>
              </a:lnSpc>
              <a:spcBef>
                <a:spcPts val="505"/>
              </a:spcBef>
              <a:tabLst>
                <a:tab pos="624840" algn="l"/>
                <a:tab pos="5510530" algn="l"/>
              </a:tabLst>
            </a:pP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S</a:t>
            </a:r>
            <a:r>
              <a:rPr dirty="0" u="sng" baseline="-13888" sz="1200" spc="7">
                <a:uFill>
                  <a:solidFill>
                    <a:srgbClr val="000000"/>
                  </a:solidFill>
                </a:uFill>
                <a:latin typeface="Verdana"/>
                <a:cs typeface="Verdana"/>
              </a:rPr>
              <a:t>4</a:t>
            </a:r>
            <a:r>
              <a:rPr dirty="0" u="sng" baseline="-13888" sz="1200" spc="-30">
                <a:uFill>
                  <a:solidFill>
                    <a:srgbClr val="000000"/>
                  </a:solidFill>
                </a:uFill>
                <a:latin typeface="Verdana"/>
                <a:cs typeface="Verdana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part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S</a:t>
            </a:r>
            <a:r>
              <a:rPr dirty="0" u="sng" baseline="-13888" sz="1200" spc="-7">
                <a:uFill>
                  <a:solidFill>
                    <a:srgbClr val="000000"/>
                  </a:solidFill>
                </a:uFill>
                <a:latin typeface="Verdana"/>
                <a:cs typeface="Verdana"/>
              </a:rPr>
              <a:t>5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!!	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Times New Roman"/>
              <a:cs typeface="Times New Roman"/>
            </a:endParaRPr>
          </a:p>
          <a:p>
            <a:pPr marL="177800" marR="157480">
              <a:lnSpc>
                <a:spcPct val="100000"/>
              </a:lnSpc>
            </a:pPr>
            <a:r>
              <a:rPr dirty="0" sz="1200" spc="-5" b="1" i="1">
                <a:latin typeface="Times New Roman"/>
                <a:cs typeface="Times New Roman"/>
              </a:rPr>
              <a:t>The solution </a:t>
            </a:r>
            <a:r>
              <a:rPr dirty="0" sz="1200" spc="-10" b="1" i="1">
                <a:latin typeface="Times New Roman"/>
                <a:cs typeface="Times New Roman"/>
              </a:rPr>
              <a:t>for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S</a:t>
            </a:r>
            <a:r>
              <a:rPr dirty="0" baseline="-13888" sz="1200" spc="7">
                <a:latin typeface="Verdana"/>
                <a:cs typeface="Verdana"/>
              </a:rPr>
              <a:t>4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is not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part of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 b="1" i="1">
                <a:latin typeface="Times New Roman"/>
                <a:cs typeface="Times New Roman"/>
              </a:rPr>
              <a:t>the solution </a:t>
            </a:r>
            <a:r>
              <a:rPr dirty="0" sz="1200" spc="-10" b="1" i="1">
                <a:latin typeface="Times New Roman"/>
                <a:cs typeface="Times New Roman"/>
              </a:rPr>
              <a:t>for</a:t>
            </a:r>
            <a:r>
              <a:rPr dirty="0" sz="1200" b="1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S</a:t>
            </a:r>
            <a:r>
              <a:rPr dirty="0" baseline="-13888" sz="1200" spc="-7">
                <a:latin typeface="Verdana"/>
                <a:cs typeface="Verdana"/>
              </a:rPr>
              <a:t>5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 spc="-5">
                <a:latin typeface="Times New Roman"/>
                <a:cs typeface="Times New Roman"/>
              </a:rPr>
              <a:t> definition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subproblem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flawed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another one.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5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  <a:tabLst>
                <a:tab pos="7239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6.5.1	0/1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Knapsack</a:t>
            </a:r>
            <a:r>
              <a:rPr dirty="0" sz="1400" spc="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Problem:</a:t>
            </a:r>
            <a:r>
              <a:rPr dirty="0" sz="1400" spc="8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Dynamic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Programming</a:t>
            </a:r>
            <a:r>
              <a:rPr dirty="0" sz="1400" spc="5" b="1">
                <a:latin typeface="Times New Roman"/>
                <a:cs typeface="Times New Roman"/>
              </a:rPr>
              <a:t> Approach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</a:pP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W</a:t>
            </a:r>
            <a:r>
              <a:rPr dirty="0" sz="1200" spc="10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knapsack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objects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capacity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marL="177800" marR="178435">
              <a:lnSpc>
                <a:spcPct val="100000"/>
              </a:lnSpc>
              <a:spcBef>
                <a:spcPts val="5"/>
              </a:spcBef>
            </a:pPr>
            <a:r>
              <a:rPr dirty="0" sz="1200" spc="20">
                <a:latin typeface="Lucida Sans Unicode"/>
                <a:cs typeface="Lucida Sans Unicode"/>
              </a:rPr>
              <a:t>w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work?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subproblems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built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easily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smaller ones.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construct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30">
                <a:latin typeface="Garamond"/>
                <a:cs typeface="Garamond"/>
              </a:rPr>
              <a:t>[</a:t>
            </a:r>
            <a:r>
              <a:rPr dirty="0" sz="1200" spc="-30">
                <a:latin typeface="Lucida Sans Unicode"/>
                <a:cs typeface="Lucida Sans Unicode"/>
              </a:rPr>
              <a:t>0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n,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W</a:t>
            </a:r>
            <a:r>
              <a:rPr dirty="0" sz="1200" spc="70">
                <a:latin typeface="Garamond"/>
                <a:cs typeface="Garamond"/>
              </a:rPr>
              <a:t>]</a:t>
            </a:r>
            <a:r>
              <a:rPr dirty="0" sz="1200" spc="7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W</a:t>
            </a:r>
            <a:r>
              <a:rPr dirty="0" sz="1200" spc="10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maximum value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set of objects </a:t>
            </a:r>
            <a:r>
              <a:rPr dirty="0" sz="1200" spc="-75">
                <a:latin typeface="Lucida Sans Unicode"/>
                <a:cs typeface="Lucida Sans Unicode"/>
              </a:rPr>
              <a:t>{1, </a:t>
            </a:r>
            <a:r>
              <a:rPr dirty="0" sz="1200" spc="-105">
                <a:latin typeface="Lucida Sans Unicode"/>
                <a:cs typeface="Lucida Sans Unicode"/>
              </a:rPr>
              <a:t>2, </a:t>
            </a:r>
            <a:r>
              <a:rPr dirty="0" sz="1200" spc="-50">
                <a:latin typeface="Lucida Sans Unicode"/>
                <a:cs typeface="Lucida Sans Unicode"/>
              </a:rPr>
              <a:t>. . . , </a:t>
            </a:r>
            <a:r>
              <a:rPr dirty="0" sz="1200" spc="35">
                <a:latin typeface="Lucida Sans Unicode"/>
                <a:cs typeface="Lucida Sans Unicode"/>
              </a:rPr>
              <a:t>i} </a:t>
            </a:r>
            <a:r>
              <a:rPr dirty="0" sz="1200" spc="-5">
                <a:latin typeface="Times New Roman"/>
                <a:cs typeface="Times New Roman"/>
              </a:rPr>
              <a:t>that can fit </a:t>
            </a:r>
            <a:r>
              <a:rPr dirty="0" sz="1200" spc="-10">
                <a:latin typeface="Times New Roman"/>
                <a:cs typeface="Times New Roman"/>
              </a:rPr>
              <a:t>into </a:t>
            </a:r>
            <a:r>
              <a:rPr dirty="0" sz="1200" spc="-5">
                <a:latin typeface="Times New Roman"/>
                <a:cs typeface="Times New Roman"/>
              </a:rPr>
              <a:t>a knapsack of </a:t>
            </a:r>
            <a:r>
              <a:rPr dirty="0" sz="1200" spc="-10">
                <a:latin typeface="Times New Roman"/>
                <a:cs typeface="Times New Roman"/>
              </a:rPr>
              <a:t>weight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Times New Roman"/>
                <a:cs typeface="Times New Roman"/>
              </a:rPr>
              <a:t>. </a:t>
            </a:r>
            <a:r>
              <a:rPr dirty="0" sz="1200" spc="20">
                <a:latin typeface="Lucida Sans Unicode"/>
                <a:cs typeface="Lucida Sans Unicode"/>
              </a:rPr>
              <a:t>V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n, </a:t>
            </a:r>
            <a:r>
              <a:rPr dirty="0" sz="1200" spc="110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] </a:t>
            </a:r>
            <a:r>
              <a:rPr dirty="0" sz="1200" spc="114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contain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objects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fit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entire knapsack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Times New Roman"/>
                <a:cs typeface="Times New Roman"/>
              </a:rPr>
              <a:t>W.</a:t>
            </a:r>
            <a:endParaRPr sz="120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  <a:spcBef>
                <a:spcPts val="535"/>
              </a:spcBef>
            </a:pP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entries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2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inductive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approach.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0,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150">
                <a:latin typeface="Lucida Sans Unicode"/>
                <a:cs typeface="Lucida Sans Unicode"/>
              </a:rPr>
              <a:t>W</a:t>
            </a:r>
            <a:endParaRPr sz="1200">
              <a:latin typeface="Lucida Sans Unicode"/>
              <a:cs typeface="Lucida Sans Unicode"/>
            </a:endParaRPr>
          </a:p>
          <a:p>
            <a:pPr marL="1778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 items then</a:t>
            </a:r>
            <a:r>
              <a:rPr dirty="0" sz="1200" spc="-10">
                <a:latin typeface="Times New Roman"/>
                <a:cs typeface="Times New Roman"/>
              </a:rPr>
              <a:t> 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no</a:t>
            </a:r>
            <a:r>
              <a:rPr dirty="0" sz="1200" spc="-10">
                <a:latin typeface="Times New Roman"/>
                <a:cs typeface="Times New Roman"/>
              </a:rPr>
              <a:t> value.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consider</a:t>
            </a:r>
            <a:r>
              <a:rPr dirty="0" sz="1200" spc="-10">
                <a:latin typeface="Times New Roman"/>
                <a:cs typeface="Times New Roman"/>
              </a:rPr>
              <a:t> 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850">
              <a:latin typeface="Times New Roman"/>
              <a:cs typeface="Times New Roman"/>
            </a:endParaRPr>
          </a:p>
          <a:p>
            <a:pPr marL="549275" marR="200660" indent="-372110">
              <a:lnSpc>
                <a:spcPct val="100000"/>
              </a:lnSpc>
            </a:pPr>
            <a:r>
              <a:rPr dirty="0" sz="1200" spc="-15" b="1">
                <a:latin typeface="Times New Roman"/>
                <a:cs typeface="Times New Roman"/>
              </a:rPr>
              <a:t>Leave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object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 b="1">
                <a:latin typeface="Times New Roman"/>
                <a:cs typeface="Times New Roman"/>
              </a:rPr>
              <a:t>:</a:t>
            </a:r>
            <a:r>
              <a:rPr dirty="0" sz="1200" spc="29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choose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object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considering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to fill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knapsack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size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remaining</a:t>
            </a:r>
            <a:r>
              <a:rPr dirty="0" sz="1200" spc="-5">
                <a:latin typeface="Times New Roman"/>
                <a:cs typeface="Times New Roman"/>
              </a:rPr>
              <a:t> objects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{1,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1}</a:t>
            </a:r>
            <a:r>
              <a:rPr dirty="0" sz="1200" spc="-6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just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V</a:t>
            </a:r>
            <a:r>
              <a:rPr dirty="0" sz="1200" spc="55">
                <a:latin typeface="Garamond"/>
                <a:cs typeface="Garamond"/>
              </a:rPr>
              <a:t>[</a:t>
            </a:r>
            <a:r>
              <a:rPr dirty="0" sz="1200" spc="55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50">
              <a:latin typeface="Times New Roman"/>
              <a:cs typeface="Times New Roman"/>
            </a:endParaRPr>
          </a:p>
          <a:p>
            <a:pPr marL="549275" marR="167005" indent="-372110">
              <a:lnSpc>
                <a:spcPct val="100000"/>
              </a:lnSpc>
              <a:spcBef>
                <a:spcPts val="5"/>
              </a:spcBef>
            </a:pPr>
            <a:r>
              <a:rPr dirty="0" sz="1200" spc="-35" b="1">
                <a:latin typeface="Times New Roman"/>
                <a:cs typeface="Times New Roman"/>
              </a:rPr>
              <a:t>Take </a:t>
            </a:r>
            <a:r>
              <a:rPr dirty="0" sz="1200" spc="-5" b="1">
                <a:latin typeface="Times New Roman"/>
                <a:cs typeface="Times New Roman"/>
              </a:rPr>
              <a:t>object 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 b="1">
                <a:latin typeface="Times New Roman"/>
                <a:cs typeface="Times New Roman"/>
              </a:rPr>
              <a:t>:</a:t>
            </a:r>
            <a:r>
              <a:rPr dirty="0" sz="1200" spc="4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 take </a:t>
            </a:r>
            <a:r>
              <a:rPr dirty="0" sz="1200" spc="-5">
                <a:latin typeface="Times New Roman"/>
                <a:cs typeface="Times New Roman"/>
              </a:rPr>
              <a:t>object 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we gain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value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30">
                <a:latin typeface="Lucida Sans Unicode"/>
                <a:cs typeface="Lucida Sans Unicode"/>
              </a:rPr>
              <a:t>v</a:t>
            </a:r>
            <a:r>
              <a:rPr dirty="0" baseline="-13888" sz="1200" spc="44">
                <a:latin typeface="Verdana"/>
                <a:cs typeface="Verdana"/>
              </a:rPr>
              <a:t>i</a:t>
            </a:r>
            <a:r>
              <a:rPr dirty="0" sz="1200" spc="3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But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use up </a:t>
            </a:r>
            <a:r>
              <a:rPr dirty="0" sz="1200" spc="95">
                <a:latin typeface="Lucida Sans Unicode"/>
                <a:cs typeface="Lucida Sans Unicode"/>
              </a:rPr>
              <a:t>w</a:t>
            </a:r>
            <a:r>
              <a:rPr dirty="0" baseline="-13888" sz="1200" spc="142">
                <a:latin typeface="Verdana"/>
                <a:cs typeface="Verdana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our </a:t>
            </a:r>
            <a:r>
              <a:rPr dirty="0" sz="1200" spc="-15">
                <a:latin typeface="Times New Roman"/>
                <a:cs typeface="Times New Roman"/>
              </a:rPr>
              <a:t>capacity. </a:t>
            </a:r>
            <a:r>
              <a:rPr dirty="0" sz="1200" spc="-20">
                <a:latin typeface="Times New Roman"/>
                <a:cs typeface="Times New Roman"/>
              </a:rPr>
              <a:t>With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remaining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w</a:t>
            </a:r>
            <a:r>
              <a:rPr dirty="0" baseline="-13888" sz="1200" spc="142">
                <a:latin typeface="Verdana"/>
                <a:cs typeface="Verdana"/>
              </a:rPr>
              <a:t>i</a:t>
            </a:r>
            <a:r>
              <a:rPr dirty="0" baseline="-13888" sz="1200" spc="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capacity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knapsack,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fill it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 </a:t>
            </a:r>
            <a:r>
              <a:rPr dirty="0" sz="1200" spc="-30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objects</a:t>
            </a:r>
            <a:endParaRPr sz="1200">
              <a:latin typeface="Times New Roman"/>
              <a:cs typeface="Times New Roman"/>
            </a:endParaRPr>
          </a:p>
          <a:p>
            <a:pPr marL="549275">
              <a:lnSpc>
                <a:spcPct val="100000"/>
              </a:lnSpc>
              <a:spcBef>
                <a:spcPts val="5"/>
              </a:spcBef>
            </a:pPr>
            <a:r>
              <a:rPr dirty="0" sz="1200" spc="-15">
                <a:latin typeface="Lucida Sans Unicode"/>
                <a:cs typeface="Lucida Sans Unicode"/>
              </a:rPr>
              <a:t>{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-15">
                <a:latin typeface="Lucida Sans Unicode"/>
                <a:cs typeface="Lucida Sans Unicode"/>
              </a:rPr>
              <a:t>}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</a:t>
            </a:r>
            <a:r>
              <a:rPr dirty="0" sz="1200" spc="-5">
                <a:latin typeface="Times New Roman"/>
                <a:cs typeface="Times New Roman"/>
              </a:rPr>
              <a:t>ss</a:t>
            </a:r>
            <a:r>
              <a:rPr dirty="0" sz="1200" spc="-10">
                <a:latin typeface="Times New Roman"/>
                <a:cs typeface="Times New Roman"/>
              </a:rPr>
              <a:t>ibl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85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leads to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 formulation: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450">
              <a:latin typeface="Times New Roman"/>
              <a:cs typeface="Times New Roman"/>
            </a:endParaRPr>
          </a:p>
          <a:p>
            <a:pPr marL="1416685">
              <a:lnSpc>
                <a:spcPct val="100000"/>
              </a:lnSpc>
              <a:tabLst>
                <a:tab pos="2553970" algn="l"/>
              </a:tabLst>
            </a:pP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65">
                <a:latin typeface="Lucida Sans Unicode"/>
                <a:cs typeface="Lucida Sans Unicode"/>
              </a:rPr>
              <a:t>∞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20055" y="7267473"/>
            <a:ext cx="1452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79805" algn="l"/>
              </a:tabLst>
            </a:pP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0,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	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2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141199" y="7638719"/>
            <a:ext cx="5505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08013" y="7379144"/>
            <a:ext cx="1479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8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830314" y="7534820"/>
            <a:ext cx="651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53127" y="7534820"/>
            <a:ext cx="626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091718" y="7631976"/>
            <a:ext cx="2260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59000" algn="l"/>
              </a:tabLst>
            </a:pPr>
            <a:r>
              <a:rPr dirty="0" sz="1200" spc="315">
                <a:latin typeface="Lucida Sans Unicode"/>
                <a:cs typeface="Lucida Sans Unicode"/>
              </a:rPr>
              <a:t>,</a:t>
            </a:r>
            <a:r>
              <a:rPr dirty="0" sz="1200" spc="315">
                <a:latin typeface="Lucida Sans Unicode"/>
                <a:cs typeface="Lucida Sans Unicode"/>
              </a:rPr>
              <a:t>	</a:t>
            </a:r>
            <a:r>
              <a:rPr dirty="0" sz="1200" spc="305">
                <a:latin typeface="Lucida Sans Unicode"/>
                <a:cs typeface="Lucida Sans Unicode"/>
              </a:rPr>
              <a:t>}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804914" y="7754963"/>
            <a:ext cx="32899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686050" algn="l"/>
              </a:tabLst>
            </a:pPr>
            <a:r>
              <a:rPr dirty="0" sz="1200" spc="-5">
                <a:latin typeface="Times New Roman"/>
                <a:cs typeface="Times New Roman"/>
              </a:rPr>
              <a:t>max</a:t>
            </a:r>
            <a:r>
              <a:rPr dirty="0" sz="1200" spc="400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V</a:t>
            </a:r>
            <a:r>
              <a:rPr dirty="0" sz="1200" spc="55">
                <a:latin typeface="Garamond"/>
                <a:cs typeface="Garamond"/>
              </a:rPr>
              <a:t>[</a:t>
            </a:r>
            <a:r>
              <a:rPr dirty="0" sz="1200" spc="55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j</a:t>
            </a:r>
            <a:r>
              <a:rPr dirty="0" sz="1200" spc="-10">
                <a:latin typeface="Garamond"/>
                <a:cs typeface="Garamond"/>
              </a:rPr>
              <a:t>]</a:t>
            </a:r>
            <a:r>
              <a:rPr dirty="0" sz="1200" spc="-10">
                <a:latin typeface="Lucida Sans Unicode"/>
                <a:cs typeface="Lucida Sans Unicode"/>
              </a:rPr>
              <a:t>,</a:t>
            </a:r>
            <a:r>
              <a:rPr dirty="0" sz="1200" spc="490">
                <a:latin typeface="Lucida Sans Unicode"/>
                <a:cs typeface="Lucida Sans Unicode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v</a:t>
            </a:r>
            <a:r>
              <a:rPr dirty="0" baseline="-13888" sz="1200" spc="89">
                <a:latin typeface="Verdana"/>
                <a:cs typeface="Verdana"/>
              </a:rPr>
              <a:t>i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V</a:t>
            </a:r>
            <a:r>
              <a:rPr dirty="0" sz="1200" spc="55">
                <a:latin typeface="Garamond"/>
                <a:cs typeface="Garamond"/>
              </a:rPr>
              <a:t>[</a:t>
            </a:r>
            <a:r>
              <a:rPr dirty="0" sz="1200" spc="55">
                <a:latin typeface="Lucida Sans Unicode"/>
                <a:cs typeface="Lucida Sans Unicode"/>
              </a:rPr>
              <a:t>i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w</a:t>
            </a:r>
            <a:r>
              <a:rPr dirty="0" baseline="-13888" sz="1200" spc="89">
                <a:latin typeface="Verdana"/>
                <a:cs typeface="Verdana"/>
              </a:rPr>
              <a:t>i</a:t>
            </a:r>
            <a:r>
              <a:rPr dirty="0" sz="1200" spc="60">
                <a:latin typeface="Garamond"/>
                <a:cs typeface="Garamond"/>
              </a:rPr>
              <a:t>]	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w</a:t>
            </a:r>
            <a:r>
              <a:rPr dirty="0" baseline="-13888" sz="1200" spc="142">
                <a:latin typeface="Verdana"/>
                <a:cs typeface="Verdana"/>
              </a:rPr>
              <a:t>i</a:t>
            </a:r>
            <a:r>
              <a:rPr dirty="0" baseline="-13888" sz="1200" spc="22">
                <a:latin typeface="Verdana"/>
                <a:cs typeface="Verdana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20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01729" y="8159812"/>
            <a:ext cx="6369050" cy="82359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11747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5">
                <a:latin typeface="Times New Roman"/>
                <a:cs typeface="Times New Roman"/>
              </a:rPr>
              <a:t>naive evaluation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this recursive </a:t>
            </a:r>
            <a:r>
              <a:rPr dirty="0" sz="1200" spc="-5">
                <a:latin typeface="Times New Roman"/>
                <a:cs typeface="Times New Roman"/>
              </a:rPr>
              <a:t>definition is </a:t>
            </a:r>
            <a:r>
              <a:rPr dirty="0" sz="1200" spc="-15">
                <a:latin typeface="Times New Roman"/>
                <a:cs typeface="Times New Roman"/>
              </a:rPr>
              <a:t>exponential.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So, as usual,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15">
                <a:latin typeface="Times New Roman"/>
                <a:cs typeface="Times New Roman"/>
              </a:rPr>
              <a:t>avoid </a:t>
            </a:r>
            <a:r>
              <a:rPr dirty="0" sz="1200" spc="-10">
                <a:latin typeface="Times New Roman"/>
                <a:cs typeface="Times New Roman"/>
              </a:rPr>
              <a:t>re-computation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making </a:t>
            </a:r>
            <a:r>
              <a:rPr dirty="0" sz="1200" spc="-5">
                <a:latin typeface="Times New Roman"/>
                <a:cs typeface="Times New Roman"/>
              </a:rPr>
              <a:t>a table.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200" spc="-5" b="1">
                <a:latin typeface="Times New Roman"/>
                <a:cs typeface="Times New Roman"/>
              </a:rPr>
              <a:t>Example: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maximum weight the </a:t>
            </a:r>
            <a:r>
              <a:rPr dirty="0" sz="1200" spc="-5">
                <a:latin typeface="Times New Roman"/>
                <a:cs typeface="Times New Roman"/>
              </a:rPr>
              <a:t>knapsack can </a:t>
            </a:r>
            <a:r>
              <a:rPr dirty="0" sz="1200" spc="-10">
                <a:latin typeface="Times New Roman"/>
                <a:cs typeface="Times New Roman"/>
              </a:rPr>
              <a:t>hold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150">
                <a:latin typeface="Lucida Sans Unicode"/>
                <a:cs typeface="Lucida Sans Unicode"/>
              </a:rPr>
              <a:t>W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10">
                <a:latin typeface="Lucida Sans Unicode"/>
                <a:cs typeface="Lucida Sans Unicode"/>
              </a:rPr>
              <a:t>11</a:t>
            </a:r>
            <a:r>
              <a:rPr dirty="0" sz="1200" spc="-110">
                <a:latin typeface="Times New Roman"/>
                <a:cs typeface="Times New Roman"/>
              </a:rPr>
              <a:t>.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are </a:t>
            </a:r>
            <a:r>
              <a:rPr dirty="0" sz="1200" spc="-15">
                <a:latin typeface="Times New Roman"/>
                <a:cs typeface="Times New Roman"/>
              </a:rPr>
              <a:t>five </a:t>
            </a:r>
            <a:r>
              <a:rPr dirty="0" sz="1200" spc="-5">
                <a:latin typeface="Times New Roman"/>
                <a:cs typeface="Times New Roman"/>
              </a:rPr>
              <a:t>items to choose </a:t>
            </a:r>
            <a:r>
              <a:rPr dirty="0" sz="1200" spc="-10">
                <a:latin typeface="Times New Roman"/>
                <a:cs typeface="Times New Roman"/>
              </a:rPr>
              <a:t>from.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 spc="-10">
                <a:latin typeface="Times New Roman"/>
                <a:cs typeface="Times New Roman"/>
              </a:rPr>
              <a:t> weights</a:t>
            </a:r>
            <a:r>
              <a:rPr dirty="0" sz="1200" spc="-5">
                <a:latin typeface="Times New Roman"/>
                <a:cs typeface="Times New Roman"/>
              </a:rPr>
              <a:t> and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 spc="-5">
                <a:latin typeface="Times New Roman"/>
                <a:cs typeface="Times New Roman"/>
              </a:rPr>
              <a:t> are presented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table: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9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474830" y="520987"/>
            <a:ext cx="285369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DYNAMIC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089403" y="932255"/>
          <a:ext cx="4050665" cy="11385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3160"/>
                <a:gridCol w="240665"/>
                <a:gridCol w="226694"/>
                <a:gridCol w="227964"/>
                <a:gridCol w="226694"/>
                <a:gridCol w="227964"/>
                <a:gridCol w="226694"/>
                <a:gridCol w="226694"/>
                <a:gridCol w="227964"/>
                <a:gridCol w="226694"/>
                <a:gridCol w="227965"/>
                <a:gridCol w="302895"/>
                <a:gridCol w="302895"/>
              </a:tblGrid>
              <a:tr h="205378">
                <a:tc>
                  <a:txBody>
                    <a:bodyPr/>
                    <a:lstStyle/>
                    <a:p>
                      <a:pPr algn="ctr" marR="10160">
                        <a:lnSpc>
                          <a:spcPts val="130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Weight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limit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(j):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265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7489">
                <a:tc>
                  <a:txBody>
                    <a:bodyPr/>
                    <a:lstStyle/>
                    <a:p>
                      <a:pPr algn="ctr" marR="80645">
                        <a:lnSpc>
                          <a:spcPts val="13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1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1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algn="ctr" marR="80645">
                        <a:lnSpc>
                          <a:spcPts val="126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2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2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6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algn="ctr" marR="4445">
                        <a:lnSpc>
                          <a:spcPts val="126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3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3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18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algn="ctr" marR="4445">
                        <a:lnSpc>
                          <a:spcPts val="126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4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6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4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5129">
                <a:tc>
                  <a:txBody>
                    <a:bodyPr/>
                    <a:lstStyle/>
                    <a:p>
                      <a:pPr algn="ctr" marR="4445">
                        <a:lnSpc>
                          <a:spcPts val="126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5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7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5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28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901699" y="2237475"/>
            <a:ext cx="581660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i,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obtainable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capacity were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begin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initializating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first </a:t>
            </a:r>
            <a:r>
              <a:rPr dirty="0" sz="1200" spc="-35">
                <a:latin typeface="Times New Roman"/>
                <a:cs typeface="Times New Roman"/>
              </a:rPr>
              <a:t>row.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089403" y="2829520"/>
          <a:ext cx="4050665" cy="11385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3160"/>
                <a:gridCol w="240665"/>
                <a:gridCol w="226694"/>
                <a:gridCol w="227964"/>
                <a:gridCol w="226694"/>
                <a:gridCol w="227964"/>
                <a:gridCol w="226694"/>
                <a:gridCol w="226694"/>
                <a:gridCol w="227964"/>
                <a:gridCol w="226694"/>
                <a:gridCol w="227965"/>
                <a:gridCol w="302895"/>
                <a:gridCol w="302895"/>
              </a:tblGrid>
              <a:tr h="205493">
                <a:tc>
                  <a:txBody>
                    <a:bodyPr/>
                    <a:lstStyle/>
                    <a:p>
                      <a:pPr marL="75565">
                        <a:lnSpc>
                          <a:spcPts val="130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Weight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limit: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0343">
                <a:tc>
                  <a:txBody>
                    <a:bodyPr/>
                    <a:lstStyle/>
                    <a:p>
                      <a:pPr marL="75565">
                        <a:lnSpc>
                          <a:spcPts val="13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1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1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 marR="1060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 marR="1060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2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2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6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3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3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18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4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6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4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92275"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5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7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5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28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901699" y="4134740"/>
            <a:ext cx="63423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Recall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either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0</a:t>
            </a:r>
            <a:r>
              <a:rPr dirty="0" sz="1200" spc="-8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proceed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fill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top-down,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left-to-right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01706" y="4318191"/>
            <a:ext cx="8108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lw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532385" y="4388829"/>
            <a:ext cx="3152140" cy="3308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78840">
              <a:lnSpc>
                <a:spcPts val="1205"/>
              </a:lnSpc>
              <a:spcBef>
                <a:spcPts val="95"/>
              </a:spcBef>
              <a:tabLst>
                <a:tab pos="3025140" algn="l"/>
              </a:tabLst>
            </a:pPr>
            <a:r>
              <a:rPr dirty="0" sz="1200" spc="315">
                <a:latin typeface="Lucida Sans Unicode"/>
                <a:cs typeface="Lucida Sans Unicode"/>
              </a:rPr>
              <a:t>,	</a:t>
            </a:r>
            <a:r>
              <a:rPr dirty="0" sz="1200" spc="305">
                <a:latin typeface="Lucida Sans Unicode"/>
                <a:cs typeface="Lucida Sans Unicode"/>
              </a:rPr>
              <a:t>}</a:t>
            </a:r>
            <a:endParaRPr sz="1200">
              <a:latin typeface="Lucida Sans Unicode"/>
              <a:cs typeface="Lucida Sans Unicode"/>
            </a:endParaRPr>
          </a:p>
          <a:p>
            <a:pPr marL="50800">
              <a:lnSpc>
                <a:spcPts val="1205"/>
              </a:lnSpc>
            </a:pP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089403" y="4940526"/>
          <a:ext cx="4050665" cy="11385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3160"/>
                <a:gridCol w="240665"/>
                <a:gridCol w="226694"/>
                <a:gridCol w="227964"/>
                <a:gridCol w="226694"/>
                <a:gridCol w="227964"/>
                <a:gridCol w="226694"/>
                <a:gridCol w="226694"/>
                <a:gridCol w="227964"/>
                <a:gridCol w="226694"/>
                <a:gridCol w="227965"/>
                <a:gridCol w="302895"/>
                <a:gridCol w="302895"/>
              </a:tblGrid>
              <a:tr h="205228">
                <a:tc>
                  <a:txBody>
                    <a:bodyPr/>
                    <a:lstStyle/>
                    <a:p>
                      <a:pPr marL="75565">
                        <a:lnSpc>
                          <a:spcPts val="130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Weight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limit: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0609">
                <a:tc>
                  <a:txBody>
                    <a:bodyPr/>
                    <a:lstStyle/>
                    <a:p>
                      <a:pPr marL="75565">
                        <a:lnSpc>
                          <a:spcPts val="137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1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1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 marR="106045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 marR="106045">
                        <a:lnSpc>
                          <a:spcPts val="13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2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2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6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106045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106045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508"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3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3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18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508"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4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6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4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91895"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5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7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5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28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900427" y="6334414"/>
          <a:ext cx="4430395" cy="11372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2525"/>
                <a:gridCol w="240030"/>
                <a:gridCol w="228600"/>
                <a:gridCol w="227330"/>
                <a:gridCol w="228600"/>
                <a:gridCol w="227330"/>
                <a:gridCol w="303530"/>
                <a:gridCol w="304800"/>
                <a:gridCol w="303530"/>
                <a:gridCol w="303530"/>
                <a:gridCol w="303529"/>
                <a:gridCol w="303529"/>
                <a:gridCol w="305435"/>
              </a:tblGrid>
              <a:tr h="205800">
                <a:tc>
                  <a:txBody>
                    <a:bodyPr/>
                    <a:lstStyle/>
                    <a:p>
                      <a:pPr marL="74930">
                        <a:lnSpc>
                          <a:spcPts val="130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Weight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limit: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0036">
                <a:tc>
                  <a:txBody>
                    <a:bodyPr/>
                    <a:lstStyle/>
                    <a:p>
                      <a:pPr marL="74930">
                        <a:lnSpc>
                          <a:spcPts val="13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1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1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2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2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6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3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3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18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 spc="-5" i="1">
                          <a:latin typeface="Times New Roman"/>
                          <a:cs typeface="Times New Roman"/>
                        </a:rPr>
                        <a:t>24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4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6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4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91058"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5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7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5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28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901699" y="7684325"/>
            <a:ext cx="39179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illustration,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7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480959" y="8029740"/>
            <a:ext cx="31794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3,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7</a:t>
            </a:r>
            <a:r>
              <a:rPr dirty="0" sz="1200" spc="-8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20">
                <a:latin typeface="Garamond"/>
                <a:cs typeface="Garamond"/>
              </a:rPr>
              <a:t>=</a:t>
            </a:r>
            <a:r>
              <a:rPr dirty="0" sz="1200" spc="20">
                <a:latin typeface="Times New Roman"/>
                <a:cs typeface="Times New Roman"/>
              </a:rPr>
              <a:t>max 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30">
                <a:latin typeface="Garamond"/>
                <a:cs typeface="Garamond"/>
              </a:rPr>
              <a:t>[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7</a:t>
            </a:r>
            <a:r>
              <a:rPr dirty="0" sz="1200" spc="-75">
                <a:latin typeface="Garamond"/>
                <a:cs typeface="Garamond"/>
              </a:rPr>
              <a:t>]</a:t>
            </a:r>
            <a:r>
              <a:rPr dirty="0" sz="1200" spc="-75">
                <a:latin typeface="Lucida Sans Unicode"/>
                <a:cs typeface="Lucida Sans Unicode"/>
              </a:rPr>
              <a:t>,</a:t>
            </a:r>
            <a:r>
              <a:rPr dirty="0" sz="1200" spc="475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v</a:t>
            </a:r>
            <a:r>
              <a:rPr dirty="0" baseline="-13888" sz="1200" spc="-37">
                <a:latin typeface="Verdana"/>
                <a:cs typeface="Verdana"/>
              </a:rPr>
              <a:t>3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30">
                <a:latin typeface="Garamond"/>
                <a:cs typeface="Garamond"/>
              </a:rPr>
              <a:t>[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w</a:t>
            </a:r>
            <a:r>
              <a:rPr dirty="0" baseline="-13888" sz="1200" spc="7">
                <a:latin typeface="Verdana"/>
                <a:cs typeface="Verdana"/>
              </a:rPr>
              <a:t>3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339035" y="7906753"/>
            <a:ext cx="2384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82825" algn="l"/>
              </a:tabLst>
            </a:pPr>
            <a:r>
              <a:rPr dirty="0" sz="1200" spc="315">
                <a:latin typeface="Lucida Sans Unicode"/>
                <a:cs typeface="Lucida Sans Unicode"/>
              </a:rPr>
              <a:t>,</a:t>
            </a:r>
            <a:r>
              <a:rPr dirty="0" sz="1200" spc="315">
                <a:latin typeface="Lucida Sans Unicode"/>
                <a:cs typeface="Lucida Sans Unicode"/>
              </a:rPr>
              <a:t>	</a:t>
            </a:r>
            <a:r>
              <a:rPr dirty="0" sz="1200" spc="305">
                <a:latin typeface="Lucida Sans Unicode"/>
                <a:cs typeface="Lucida Sans Unicode"/>
              </a:rPr>
              <a:t>}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339033" y="8141410"/>
            <a:ext cx="1775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673225" algn="l"/>
              </a:tabLst>
            </a:pPr>
            <a:r>
              <a:rPr dirty="0" sz="1200" spc="315">
                <a:latin typeface="Lucida Sans Unicode"/>
                <a:cs typeface="Lucida Sans Unicode"/>
              </a:rPr>
              <a:t>,</a:t>
            </a:r>
            <a:r>
              <a:rPr dirty="0" sz="1200" spc="315">
                <a:latin typeface="Lucida Sans Unicode"/>
                <a:cs typeface="Lucida Sans Unicode"/>
              </a:rPr>
              <a:t>	</a:t>
            </a:r>
            <a:r>
              <a:rPr dirty="0" sz="1200" spc="305">
                <a:latin typeface="Lucida Sans Unicode"/>
                <a:cs typeface="Lucida Sans Unicode"/>
              </a:rPr>
              <a:t>}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339031" y="8376183"/>
            <a:ext cx="840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38505" algn="l"/>
              </a:tabLst>
            </a:pPr>
            <a:r>
              <a:rPr dirty="0" sz="1200" spc="315">
                <a:latin typeface="Lucida Sans Unicode"/>
                <a:cs typeface="Lucida Sans Unicode"/>
              </a:rPr>
              <a:t>,</a:t>
            </a:r>
            <a:r>
              <a:rPr dirty="0" sz="1200" spc="315">
                <a:latin typeface="Lucida Sans Unicode"/>
                <a:cs typeface="Lucida Sans Unicode"/>
              </a:rPr>
              <a:t>	</a:t>
            </a:r>
            <a:r>
              <a:rPr dirty="0" sz="1200" spc="305">
                <a:latin typeface="Lucida Sans Unicode"/>
                <a:cs typeface="Lucida Sans Unicode"/>
              </a:rPr>
              <a:t>}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962755" y="8211821"/>
            <a:ext cx="2063114" cy="716915"/>
          </a:xfrm>
          <a:prstGeom prst="rect">
            <a:avLst/>
          </a:prstGeom>
        </p:spPr>
        <p:txBody>
          <a:bodyPr wrap="square" lIns="0" tIns="6476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1200" spc="95">
                <a:latin typeface="Garamond"/>
                <a:cs typeface="Garamond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7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18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5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12700">
              <a:lnSpc>
                <a:spcPct val="100000"/>
              </a:lnSpc>
              <a:spcBef>
                <a:spcPts val="405"/>
              </a:spcBef>
            </a:pPr>
            <a:r>
              <a:rPr dirty="0" sz="1200" spc="95">
                <a:latin typeface="Garamond"/>
                <a:cs typeface="Garamond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18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6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05"/>
              </a:spcBef>
            </a:pPr>
            <a:r>
              <a:rPr dirty="0" sz="1200" spc="-75">
                <a:latin typeface="Garamond"/>
                <a:cs typeface="Garamond"/>
              </a:rPr>
              <a:t>=</a:t>
            </a:r>
            <a:r>
              <a:rPr dirty="0" sz="1200" spc="-75">
                <a:latin typeface="Lucida Sans Unicode"/>
                <a:cs typeface="Lucida Sans Unicode"/>
              </a:rPr>
              <a:t>24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12661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6.5.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0/1 </a:t>
            </a:r>
            <a:r>
              <a:rPr dirty="0" sz="1200" spc="-20">
                <a:latin typeface="Times New Roman"/>
                <a:cs typeface="Times New Roman"/>
              </a:rPr>
              <a:t>KNAPSACK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PROBLEM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9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900427" y="932255"/>
          <a:ext cx="4430395" cy="11385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2525"/>
                <a:gridCol w="240030"/>
                <a:gridCol w="228600"/>
                <a:gridCol w="227330"/>
                <a:gridCol w="228600"/>
                <a:gridCol w="227330"/>
                <a:gridCol w="303530"/>
                <a:gridCol w="304800"/>
                <a:gridCol w="303530"/>
                <a:gridCol w="303530"/>
                <a:gridCol w="303529"/>
                <a:gridCol w="303529"/>
                <a:gridCol w="305435"/>
              </a:tblGrid>
              <a:tr h="205378">
                <a:tc>
                  <a:txBody>
                    <a:bodyPr/>
                    <a:lstStyle/>
                    <a:p>
                      <a:pPr marL="74930">
                        <a:lnSpc>
                          <a:spcPts val="130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Weight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limit: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0458">
                <a:tc>
                  <a:txBody>
                    <a:bodyPr/>
                    <a:lstStyle/>
                    <a:p>
                      <a:pPr marL="74930">
                        <a:lnSpc>
                          <a:spcPts val="13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1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1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2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2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6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3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3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18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4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6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4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40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92160"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5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7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5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28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901699" y="2314627"/>
            <a:ext cx="10179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5">
                <a:latin typeface="Times New Roman"/>
                <a:cs typeface="Times New Roman"/>
              </a:rPr>
              <a:t>Finally,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900427" y="2751568"/>
          <a:ext cx="4430395" cy="11372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2525"/>
                <a:gridCol w="240030"/>
                <a:gridCol w="228600"/>
                <a:gridCol w="227330"/>
                <a:gridCol w="228600"/>
                <a:gridCol w="227330"/>
                <a:gridCol w="303530"/>
                <a:gridCol w="304800"/>
                <a:gridCol w="303530"/>
                <a:gridCol w="303530"/>
                <a:gridCol w="303529"/>
                <a:gridCol w="303529"/>
                <a:gridCol w="305435"/>
              </a:tblGrid>
              <a:tr h="205722">
                <a:tc>
                  <a:txBody>
                    <a:bodyPr/>
                    <a:lstStyle/>
                    <a:p>
                      <a:pPr marL="74930">
                        <a:lnSpc>
                          <a:spcPts val="130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Weight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limit: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0057">
                <a:tc>
                  <a:txBody>
                    <a:bodyPr/>
                    <a:lstStyle/>
                    <a:p>
                      <a:pPr marL="74930">
                        <a:lnSpc>
                          <a:spcPts val="13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1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1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83508"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2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2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6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3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3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18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83451"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4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6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4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40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90980"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5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7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5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28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29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34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35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1315"/>
                        </a:lnSpc>
                      </a:pPr>
                      <a:r>
                        <a:rPr dirty="0" sz="1200" spc="-5" i="1">
                          <a:latin typeface="Times New Roman"/>
                          <a:cs typeface="Times New Roman"/>
                        </a:rPr>
                        <a:t>40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914400" y="4705044"/>
            <a:ext cx="5486400" cy="1901189"/>
          </a:xfrm>
          <a:custGeom>
            <a:avLst/>
            <a:gdLst/>
            <a:ahLst/>
            <a:cxnLst/>
            <a:rect l="l" t="t" r="r" b="b"/>
            <a:pathLst>
              <a:path w="5486400" h="1901190">
                <a:moveTo>
                  <a:pt x="5486400" y="0"/>
                </a:moveTo>
                <a:lnTo>
                  <a:pt x="0" y="0"/>
                </a:lnTo>
                <a:lnTo>
                  <a:pt x="0" y="4978"/>
                </a:lnTo>
                <a:lnTo>
                  <a:pt x="0" y="5130"/>
                </a:lnTo>
                <a:lnTo>
                  <a:pt x="0" y="1900986"/>
                </a:lnTo>
                <a:lnTo>
                  <a:pt x="5130" y="1900986"/>
                </a:lnTo>
                <a:lnTo>
                  <a:pt x="513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901699" y="4074961"/>
            <a:ext cx="6334760" cy="82994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maximum value </a:t>
            </a:r>
            <a:r>
              <a:rPr dirty="0" sz="1200" spc="-5">
                <a:latin typeface="Times New Roman"/>
                <a:cs typeface="Times New Roman"/>
              </a:rPr>
              <a:t>of items 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knapsack is </a:t>
            </a:r>
            <a:r>
              <a:rPr dirty="0" sz="1200" spc="-10">
                <a:latin typeface="Times New Roman"/>
                <a:cs typeface="Times New Roman"/>
              </a:rPr>
              <a:t>40, the bottom-right entry).</a:t>
            </a:r>
            <a:r>
              <a:rPr dirty="0" sz="1200" spc="-5">
                <a:latin typeface="Times New Roman"/>
                <a:cs typeface="Times New Roman"/>
              </a:rPr>
              <a:t> The </a:t>
            </a:r>
            <a:r>
              <a:rPr dirty="0" sz="1200" spc="-10">
                <a:latin typeface="Times New Roman"/>
                <a:cs typeface="Times New Roman"/>
              </a:rPr>
              <a:t>dynamic programming </a:t>
            </a:r>
            <a:r>
              <a:rPr dirty="0" sz="1200" spc="-5">
                <a:latin typeface="Times New Roman"/>
                <a:cs typeface="Times New Roman"/>
              </a:rPr>
              <a:t> approach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 spc="-5">
                <a:latin typeface="Times New Roman"/>
                <a:cs typeface="Times New Roman"/>
              </a:rPr>
              <a:t> be coded as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750">
              <a:latin typeface="Times New Roman"/>
              <a:cs typeface="Times New Roman"/>
            </a:endParaRPr>
          </a:p>
          <a:p>
            <a:pPr marL="59055">
              <a:lnSpc>
                <a:spcPct val="100000"/>
              </a:lnSpc>
            </a:pPr>
            <a:r>
              <a:rPr dirty="0" sz="950" spc="55">
                <a:latin typeface="Times New Roman"/>
                <a:cs typeface="Times New Roman"/>
              </a:rPr>
              <a:t>K</a:t>
            </a:r>
            <a:r>
              <a:rPr dirty="0" sz="950" spc="25">
                <a:latin typeface="Times New Roman"/>
                <a:cs typeface="Times New Roman"/>
              </a:rPr>
              <a:t>N</a:t>
            </a:r>
            <a:r>
              <a:rPr dirty="0" sz="950" spc="55">
                <a:latin typeface="Times New Roman"/>
                <a:cs typeface="Times New Roman"/>
              </a:rPr>
              <a:t>APS</a:t>
            </a:r>
            <a:r>
              <a:rPr dirty="0" sz="950" spc="20">
                <a:latin typeface="Times New Roman"/>
                <a:cs typeface="Times New Roman"/>
              </a:rPr>
              <a:t>A</a:t>
            </a:r>
            <a:r>
              <a:rPr dirty="0" sz="950" spc="55">
                <a:latin typeface="Times New Roman"/>
                <a:cs typeface="Times New Roman"/>
              </a:rPr>
              <a:t>C</a:t>
            </a:r>
            <a:r>
              <a:rPr dirty="0" sz="950" spc="25">
                <a:latin typeface="Times New Roman"/>
                <a:cs typeface="Times New Roman"/>
              </a:rPr>
              <a:t>K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15">
                <a:latin typeface="Lucida Sans Unicode"/>
                <a:cs typeface="Lucida Sans Unicode"/>
              </a:rPr>
              <a:t>W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69926" y="4880433"/>
            <a:ext cx="3891915" cy="149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  <a:tabLst>
                <a:tab pos="252729" algn="l"/>
              </a:tabLst>
            </a:pP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0">
                <a:latin typeface="Lucida Sans Unicode"/>
                <a:cs typeface="Lucida Sans Unicode"/>
              </a:rPr>
              <a:t>W</a:t>
            </a:r>
            <a:endParaRPr sz="1200">
              <a:latin typeface="Lucida Sans Unicode"/>
              <a:cs typeface="Lucida Sans Unicode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  <a:tabLst>
                <a:tab pos="252729" algn="l"/>
              </a:tabLst>
            </a:pPr>
            <a:r>
              <a:rPr dirty="0" sz="1200" spc="-5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  <a:tabLst>
                <a:tab pos="252729" algn="l"/>
              </a:tabLst>
            </a:pPr>
            <a:r>
              <a:rPr dirty="0" sz="1200" spc="-5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  <a:tabLst>
                <a:tab pos="252729" algn="l"/>
              </a:tabLst>
            </a:pPr>
            <a:r>
              <a:rPr dirty="0" sz="1200" spc="-5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0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 marL="451484" indent="-426720">
              <a:lnSpc>
                <a:spcPct val="100000"/>
              </a:lnSpc>
              <a:buFont typeface="Times New Roman"/>
              <a:buAutoNum type="arabicPlain" startAt="5"/>
              <a:tabLst>
                <a:tab pos="450850" algn="l"/>
                <a:tab pos="452120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0">
                <a:latin typeface="Lucida Sans Unicode"/>
                <a:cs typeface="Lucida Sans Unicode"/>
              </a:rPr>
              <a:t>W</a:t>
            </a:r>
            <a:endParaRPr sz="1200">
              <a:latin typeface="Lucida Sans Unicode"/>
              <a:cs typeface="Lucida Sans Unicode"/>
            </a:endParaRPr>
          </a:p>
          <a:p>
            <a:pPr marL="451484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5"/>
              <a:tabLst>
                <a:tab pos="450850" algn="l"/>
                <a:tab pos="45212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5">
                <a:latin typeface="Garamond"/>
                <a:cs typeface="Garamond"/>
              </a:rPr>
              <a:t>&amp;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724996" y="5981255"/>
            <a:ext cx="241871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e</a:t>
            </a:r>
            <a:r>
              <a:rPr dirty="0" sz="1200" spc="-10" b="1">
                <a:latin typeface="Times New Roman"/>
                <a:cs typeface="Times New Roman"/>
              </a:rPr>
              <a:t>l</a:t>
            </a:r>
            <a:r>
              <a:rPr dirty="0" sz="1200" spc="-5" b="1">
                <a:latin typeface="Times New Roman"/>
                <a:cs typeface="Times New Roman"/>
              </a:rPr>
              <a:t>se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914400" y="4710023"/>
            <a:ext cx="5487035" cy="1901189"/>
          </a:xfrm>
          <a:custGeom>
            <a:avLst/>
            <a:gdLst/>
            <a:ahLst/>
            <a:cxnLst/>
            <a:rect l="l" t="t" r="r" b="b"/>
            <a:pathLst>
              <a:path w="5487035" h="1901190">
                <a:moveTo>
                  <a:pt x="5486959" y="0"/>
                </a:moveTo>
                <a:lnTo>
                  <a:pt x="5481828" y="0"/>
                </a:lnTo>
                <a:lnTo>
                  <a:pt x="5481828" y="1895449"/>
                </a:lnTo>
                <a:lnTo>
                  <a:pt x="0" y="1895449"/>
                </a:lnTo>
                <a:lnTo>
                  <a:pt x="0" y="1900580"/>
                </a:lnTo>
                <a:lnTo>
                  <a:pt x="5486400" y="1900580"/>
                </a:lnTo>
                <a:lnTo>
                  <a:pt x="5486400" y="1896008"/>
                </a:lnTo>
                <a:lnTo>
                  <a:pt x="5486959" y="1896008"/>
                </a:lnTo>
                <a:lnTo>
                  <a:pt x="5486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901699" y="6764553"/>
            <a:ext cx="63417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complexity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clearly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O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W</a:t>
            </a:r>
            <a:r>
              <a:rPr dirty="0" sz="1200" spc="105">
                <a:latin typeface="Garamond"/>
                <a:cs typeface="Garamond"/>
              </a:rPr>
              <a:t>)</a:t>
            </a:r>
            <a:r>
              <a:rPr dirty="0" sz="1200" spc="10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must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cautioned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0">
                <a:latin typeface="Lucida Sans Unicode"/>
                <a:cs typeface="Lucida Sans Unicode"/>
              </a:rPr>
              <a:t>W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76311" y="6881369"/>
            <a:ext cx="6441440" cy="132270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20"/>
              </a:spcBef>
            </a:pPr>
            <a:r>
              <a:rPr dirty="0" sz="1200" spc="-5">
                <a:latin typeface="Times New Roman"/>
                <a:cs typeface="Times New Roman"/>
              </a:rPr>
              <a:t>space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complexity </a:t>
            </a:r>
            <a:r>
              <a:rPr dirty="0" sz="1200" spc="-5">
                <a:latin typeface="Times New Roman"/>
                <a:cs typeface="Times New Roman"/>
              </a:rPr>
              <a:t>become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significant.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520"/>
              </a:spcBef>
            </a:pPr>
            <a:r>
              <a:rPr dirty="0" sz="1200" spc="-5" b="1">
                <a:latin typeface="Times New Roman"/>
                <a:cs typeface="Times New Roman"/>
              </a:rPr>
              <a:t>Constructing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the</a:t>
            </a:r>
            <a:r>
              <a:rPr dirty="0" sz="1200" spc="-10" b="1">
                <a:latin typeface="Times New Roman"/>
                <a:cs typeface="Times New Roman"/>
              </a:rPr>
              <a:t> Optimal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Solution</a:t>
            </a:r>
            <a:endParaRPr sz="1200">
              <a:latin typeface="Times New Roman"/>
              <a:cs typeface="Times New Roman"/>
            </a:endParaRPr>
          </a:p>
          <a:p>
            <a:pPr marL="38100" marR="30480" indent="-635">
              <a:lnSpc>
                <a:spcPct val="100000"/>
              </a:lnSpc>
              <a:spcBef>
                <a:spcPts val="51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algorithm for computing 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i,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does </a:t>
            </a:r>
            <a:r>
              <a:rPr dirty="0" sz="1200" spc="-10">
                <a:latin typeface="Times New Roman"/>
                <a:cs typeface="Times New Roman"/>
              </a:rPr>
              <a:t>not keep </a:t>
            </a:r>
            <a:r>
              <a:rPr dirty="0" sz="1200" spc="-5">
                <a:latin typeface="Times New Roman"/>
                <a:cs typeface="Times New Roman"/>
              </a:rPr>
              <a:t>record of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subset of items </a:t>
            </a:r>
            <a:r>
              <a:rPr dirty="0" sz="1200" spc="-15">
                <a:latin typeface="Times New Roman"/>
                <a:cs typeface="Times New Roman"/>
              </a:rPr>
              <a:t>gives </a:t>
            </a:r>
            <a:r>
              <a:rPr dirty="0" sz="1200" spc="-10">
                <a:latin typeface="Times New Roman"/>
                <a:cs typeface="Times New Roman"/>
              </a:rPr>
              <a:t>the optimal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solution. </a:t>
            </a:r>
            <a:r>
              <a:rPr dirty="0" sz="1200" spc="-5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compute the </a:t>
            </a:r>
            <a:r>
              <a:rPr dirty="0" sz="1200" spc="-5">
                <a:latin typeface="Times New Roman"/>
                <a:cs typeface="Times New Roman"/>
              </a:rPr>
              <a:t>actual subset,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can add an </a:t>
            </a:r>
            <a:r>
              <a:rPr dirty="0" sz="1200" spc="-10">
                <a:latin typeface="Times New Roman"/>
                <a:cs typeface="Times New Roman"/>
              </a:rPr>
              <a:t>auxiliary </a:t>
            </a:r>
            <a:r>
              <a:rPr dirty="0" sz="1200" spc="-5">
                <a:latin typeface="Times New Roman"/>
                <a:cs typeface="Times New Roman"/>
              </a:rPr>
              <a:t>boolean array </a:t>
            </a:r>
            <a:r>
              <a:rPr dirty="0" sz="1200" spc="-30">
                <a:latin typeface="Lucida Sans Unicode"/>
                <a:cs typeface="Lucida Sans Unicode"/>
              </a:rPr>
              <a:t>keep</a:t>
            </a:r>
            <a:r>
              <a:rPr dirty="0" sz="1200" spc="-30">
                <a:latin typeface="Garamond"/>
                <a:cs typeface="Garamond"/>
              </a:rPr>
              <a:t>[</a:t>
            </a:r>
            <a:r>
              <a:rPr dirty="0" sz="1200" spc="-30">
                <a:latin typeface="Lucida Sans Unicode"/>
                <a:cs typeface="Lucida Sans Unicode"/>
              </a:rPr>
              <a:t>i,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 decide to </a:t>
            </a:r>
            <a:r>
              <a:rPr dirty="0" sz="1200" spc="-10">
                <a:latin typeface="Times New Roman"/>
                <a:cs typeface="Times New Roman"/>
              </a:rPr>
              <a:t>take the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31250" sz="1200" spc="112">
                <a:latin typeface="Verdana"/>
                <a:cs typeface="Verdana"/>
              </a:rPr>
              <a:t>th </a:t>
            </a:r>
            <a:r>
              <a:rPr dirty="0" sz="1200" spc="-5">
                <a:latin typeface="Times New Roman"/>
                <a:cs typeface="Times New Roman"/>
              </a:rPr>
              <a:t>item and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otherwise.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use all </a:t>
            </a:r>
            <a:r>
              <a:rPr dirty="0" sz="1200" spc="-10">
                <a:latin typeface="Times New Roman"/>
                <a:cs typeface="Times New Roman"/>
              </a:rPr>
              <a:t>the values </a:t>
            </a:r>
            <a:r>
              <a:rPr dirty="0" sz="1200" spc="-30">
                <a:latin typeface="Lucida Sans Unicode"/>
                <a:cs typeface="Lucida Sans Unicode"/>
              </a:rPr>
              <a:t>keep</a:t>
            </a:r>
            <a:r>
              <a:rPr dirty="0" sz="1200" spc="-30">
                <a:latin typeface="Garamond"/>
                <a:cs typeface="Garamond"/>
              </a:rPr>
              <a:t>[</a:t>
            </a:r>
            <a:r>
              <a:rPr dirty="0" sz="1200" spc="-30">
                <a:latin typeface="Lucida Sans Unicode"/>
                <a:cs typeface="Lucida Sans Unicode"/>
              </a:rPr>
              <a:t>i,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determine the optimal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ub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kn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sack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97729" y="8413330"/>
            <a:ext cx="5882005" cy="5702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960" indent="-150495">
              <a:lnSpc>
                <a:spcPct val="100000"/>
              </a:lnSpc>
              <a:spcBef>
                <a:spcPts val="95"/>
              </a:spcBef>
              <a:buFont typeface="Segoe UI Symbol"/>
              <a:buChar char="•"/>
              <a:tabLst>
                <a:tab pos="188595" algn="l"/>
              </a:tabLst>
            </a:pP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35">
                <a:latin typeface="Lucida Sans Unicode"/>
                <a:cs typeface="Lucida Sans Unicode"/>
              </a:rPr>
              <a:t>keep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n,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10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1, 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T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repeat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argument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keep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0">
                <a:latin typeface="Lucida Sans Unicode"/>
                <a:cs typeface="Lucida Sans Unicode"/>
              </a:rPr>
              <a:t>W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w</a:t>
            </a:r>
            <a:r>
              <a:rPr dirty="0" baseline="-13888" sz="1200" spc="52">
                <a:latin typeface="Verdana"/>
                <a:cs typeface="Verdana"/>
              </a:rPr>
              <a:t>n</a:t>
            </a:r>
            <a:r>
              <a:rPr dirty="0" sz="1200" spc="35">
                <a:latin typeface="Garamond"/>
                <a:cs typeface="Garamond"/>
              </a:rPr>
              <a:t>]</a:t>
            </a:r>
            <a:r>
              <a:rPr dirty="0" sz="1200" spc="3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87960" indent="-150495">
              <a:lnSpc>
                <a:spcPct val="100000"/>
              </a:lnSpc>
              <a:spcBef>
                <a:spcPts val="1410"/>
              </a:spcBef>
              <a:buFont typeface="Segoe UI Symbol"/>
              <a:buChar char="•"/>
              <a:tabLst>
                <a:tab pos="188595" algn="l"/>
              </a:tabLst>
            </a:pP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35">
                <a:latin typeface="Lucida Sans Unicode"/>
                <a:cs typeface="Lucida Sans Unicode"/>
              </a:rPr>
              <a:t>kee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n,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110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0,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265">
                <a:latin typeface="Segoe UI Symbol"/>
                <a:cs typeface="Segoe UI Symbol"/>
              </a:rPr>
              <a:t>/∈</a:t>
            </a:r>
            <a:r>
              <a:rPr dirty="0" sz="1200" spc="-245">
                <a:latin typeface="Segoe UI Symbol"/>
                <a:cs typeface="Segoe UI Symbol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repeat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argument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keep</a:t>
            </a:r>
            <a:r>
              <a:rPr dirty="0" sz="1200" spc="-35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W</a:t>
            </a:r>
            <a:r>
              <a:rPr dirty="0" sz="1200" spc="70">
                <a:latin typeface="Garamond"/>
                <a:cs typeface="Garamond"/>
              </a:rPr>
              <a:t>]</a:t>
            </a:r>
            <a:r>
              <a:rPr dirty="0" sz="1200" spc="7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9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474830" y="520987"/>
            <a:ext cx="285369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DYNAMIC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14400" y="1372056"/>
            <a:ext cx="5486400" cy="3002915"/>
          </a:xfrm>
          <a:custGeom>
            <a:avLst/>
            <a:gdLst/>
            <a:ahLst/>
            <a:cxnLst/>
            <a:rect l="l" t="t" r="r" b="b"/>
            <a:pathLst>
              <a:path w="5486400" h="3002915">
                <a:moveTo>
                  <a:pt x="5130" y="6121"/>
                </a:moveTo>
                <a:lnTo>
                  <a:pt x="0" y="6121"/>
                </a:lnTo>
                <a:lnTo>
                  <a:pt x="0" y="3002838"/>
                </a:lnTo>
                <a:lnTo>
                  <a:pt x="5130" y="3002838"/>
                </a:lnTo>
                <a:lnTo>
                  <a:pt x="5130" y="6121"/>
                </a:lnTo>
                <a:close/>
              </a:path>
              <a:path w="5486400" h="3002915">
                <a:moveTo>
                  <a:pt x="5486400" y="0"/>
                </a:moveTo>
                <a:lnTo>
                  <a:pt x="0" y="0"/>
                </a:lnTo>
                <a:lnTo>
                  <a:pt x="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01699" y="926454"/>
            <a:ext cx="2665730" cy="646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add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knapsack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750">
              <a:latin typeface="Times New Roman"/>
              <a:cs typeface="Times New Roman"/>
            </a:endParaRPr>
          </a:p>
          <a:p>
            <a:pPr marL="59055">
              <a:lnSpc>
                <a:spcPct val="100000"/>
              </a:lnSpc>
            </a:pPr>
            <a:r>
              <a:rPr dirty="0" sz="950" spc="55">
                <a:latin typeface="Times New Roman"/>
                <a:cs typeface="Times New Roman"/>
              </a:rPr>
              <a:t>K</a:t>
            </a:r>
            <a:r>
              <a:rPr dirty="0" sz="950" spc="25">
                <a:latin typeface="Times New Roman"/>
                <a:cs typeface="Times New Roman"/>
              </a:rPr>
              <a:t>N</a:t>
            </a:r>
            <a:r>
              <a:rPr dirty="0" sz="950" spc="55">
                <a:latin typeface="Times New Roman"/>
                <a:cs typeface="Times New Roman"/>
              </a:rPr>
              <a:t>APS</a:t>
            </a:r>
            <a:r>
              <a:rPr dirty="0" sz="950" spc="20">
                <a:latin typeface="Times New Roman"/>
                <a:cs typeface="Times New Roman"/>
              </a:rPr>
              <a:t>A</a:t>
            </a:r>
            <a:r>
              <a:rPr dirty="0" sz="950" spc="55">
                <a:latin typeface="Times New Roman"/>
                <a:cs typeface="Times New Roman"/>
              </a:rPr>
              <a:t>C</a:t>
            </a:r>
            <a:r>
              <a:rPr dirty="0" sz="950" spc="25">
                <a:latin typeface="Times New Roman"/>
                <a:cs typeface="Times New Roman"/>
              </a:rPr>
              <a:t>K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15">
                <a:latin typeface="Lucida Sans Unicode"/>
                <a:cs typeface="Lucida Sans Unicode"/>
              </a:rPr>
              <a:t>W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800891" y="2649183"/>
            <a:ext cx="34861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;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70">
                <a:latin typeface="Garamond"/>
                <a:cs typeface="Garamond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-75">
                <a:latin typeface="Lucida Sans Unicode"/>
                <a:cs typeface="Lucida Sans Unicode"/>
              </a:rPr>
              <a:t>ee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57237" y="1548475"/>
            <a:ext cx="3993515" cy="25927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3664">
              <a:lnSpc>
                <a:spcPct val="100000"/>
              </a:lnSpc>
              <a:spcBef>
                <a:spcPts val="95"/>
              </a:spcBef>
              <a:tabLst>
                <a:tab pos="341630" algn="l"/>
              </a:tabLst>
            </a:pP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0">
                <a:latin typeface="Lucida Sans Unicode"/>
                <a:cs typeface="Lucida Sans Unicode"/>
              </a:rPr>
              <a:t>W</a:t>
            </a:r>
            <a:endParaRPr sz="1200">
              <a:latin typeface="Lucida Sans Unicode"/>
              <a:cs typeface="Lucida Sans Unicode"/>
            </a:endParaRPr>
          </a:p>
          <a:p>
            <a:pPr marL="113664">
              <a:lnSpc>
                <a:spcPct val="100000"/>
              </a:lnSpc>
              <a:spcBef>
                <a:spcPts val="5"/>
              </a:spcBef>
              <a:tabLst>
                <a:tab pos="341630" algn="l"/>
              </a:tabLst>
            </a:pPr>
            <a:r>
              <a:rPr dirty="0" sz="1200" spc="-5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 marL="113664">
              <a:lnSpc>
                <a:spcPct val="100000"/>
              </a:lnSpc>
              <a:spcBef>
                <a:spcPts val="5"/>
              </a:spcBef>
              <a:tabLst>
                <a:tab pos="341630" algn="l"/>
              </a:tabLst>
            </a:pPr>
            <a:r>
              <a:rPr dirty="0" sz="1200" spc="-5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113664">
              <a:lnSpc>
                <a:spcPct val="100000"/>
              </a:lnSpc>
              <a:spcBef>
                <a:spcPts val="5"/>
              </a:spcBef>
              <a:tabLst>
                <a:tab pos="341630" algn="l"/>
              </a:tabLst>
            </a:pPr>
            <a:r>
              <a:rPr dirty="0" sz="1200" spc="-5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0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 marL="539750" indent="-426720">
              <a:lnSpc>
                <a:spcPct val="100000"/>
              </a:lnSpc>
              <a:buFont typeface="Times New Roman"/>
              <a:buAutoNum type="arabicPlain" startAt="5"/>
              <a:tabLst>
                <a:tab pos="539750" algn="l"/>
                <a:tab pos="54038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0">
                <a:latin typeface="Lucida Sans Unicode"/>
                <a:cs typeface="Lucida Sans Unicode"/>
              </a:rPr>
              <a:t>W</a:t>
            </a:r>
            <a:endParaRPr sz="1200">
              <a:latin typeface="Lucida Sans Unicode"/>
              <a:cs typeface="Lucida Sans Unicode"/>
            </a:endParaRPr>
          </a:p>
          <a:p>
            <a:pPr marL="53975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5"/>
              <a:tabLst>
                <a:tab pos="539750" algn="l"/>
                <a:tab pos="54038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5">
                <a:latin typeface="Garamond"/>
                <a:cs typeface="Garamond"/>
              </a:rPr>
              <a:t>&amp;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13664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 marL="868680" indent="-75565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8"/>
              <a:tabLst>
                <a:tab pos="868680" algn="l"/>
                <a:tab pos="86931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e</a:t>
            </a:r>
            <a:r>
              <a:rPr dirty="0" sz="1200" spc="-10" b="1">
                <a:latin typeface="Times New Roman"/>
                <a:cs typeface="Times New Roman"/>
              </a:rPr>
              <a:t>l</a:t>
            </a:r>
            <a:r>
              <a:rPr dirty="0" sz="1200" spc="-5" b="1">
                <a:latin typeface="Times New Roman"/>
                <a:cs typeface="Times New Roman"/>
              </a:rPr>
              <a:t>se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;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70">
                <a:latin typeface="Garamond"/>
                <a:cs typeface="Garamond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-75">
                <a:latin typeface="Lucida Sans Unicode"/>
                <a:cs typeface="Lucida Sans Unicode"/>
              </a:rPr>
              <a:t>ee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 marL="354330" indent="-2413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8"/>
              <a:tabLst>
                <a:tab pos="354330" algn="l"/>
                <a:tab pos="354965" algn="l"/>
              </a:tabLst>
            </a:pPr>
            <a:r>
              <a:rPr dirty="0" sz="1200" spc="-5" i="1">
                <a:latin typeface="Times New Roman"/>
                <a:cs typeface="Times New Roman"/>
              </a:rPr>
              <a:t>//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output the </a:t>
            </a:r>
            <a:r>
              <a:rPr dirty="0" sz="1200" spc="-5" i="1">
                <a:latin typeface="Times New Roman"/>
                <a:cs typeface="Times New Roman"/>
              </a:rPr>
              <a:t>selected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items</a:t>
            </a:r>
            <a:endParaRPr sz="1200">
              <a:latin typeface="Times New Roman"/>
              <a:cs typeface="Times New Roman"/>
            </a:endParaRPr>
          </a:p>
          <a:p>
            <a:pPr marL="341630" indent="-3041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8"/>
              <a:tabLst>
                <a:tab pos="341630" algn="l"/>
                <a:tab pos="342265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50">
                <a:latin typeface="Lucida Sans Unicode"/>
                <a:cs typeface="Lucida Sans Unicode"/>
              </a:rPr>
              <a:t>W</a:t>
            </a:r>
            <a:endParaRPr sz="1200">
              <a:latin typeface="Lucida Sans Unicode"/>
              <a:cs typeface="Lucida Sans Unicode"/>
            </a:endParaRPr>
          </a:p>
          <a:p>
            <a:pPr marL="341630" indent="-3041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8"/>
              <a:tabLst>
                <a:tab pos="341630" algn="l"/>
                <a:tab pos="34226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downto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341630" indent="-3041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8"/>
              <a:tabLst>
                <a:tab pos="341630" algn="l"/>
                <a:tab pos="3422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-75">
                <a:latin typeface="Lucida Sans Unicode"/>
                <a:cs typeface="Lucida Sans Unicode"/>
              </a:rPr>
              <a:t>ee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670560" indent="-633095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8"/>
              <a:tabLst>
                <a:tab pos="670560" algn="l"/>
                <a:tab pos="67119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endParaRPr sz="1200">
              <a:latin typeface="Lucida Sans Unicode"/>
              <a:cs typeface="Lucida Sans Unicode"/>
            </a:endParaRPr>
          </a:p>
          <a:p>
            <a:pPr marL="995044" indent="-95758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8"/>
              <a:tabLst>
                <a:tab pos="995044" algn="l"/>
                <a:tab pos="995680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endParaRPr baseline="-13888" sz="1200">
              <a:latin typeface="Verdana"/>
              <a:cs typeface="Verdana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914400" y="1378178"/>
            <a:ext cx="5487035" cy="3001645"/>
          </a:xfrm>
          <a:custGeom>
            <a:avLst/>
            <a:gdLst/>
            <a:ahLst/>
            <a:cxnLst/>
            <a:rect l="l" t="t" r="r" b="b"/>
            <a:pathLst>
              <a:path w="5487035" h="3001645">
                <a:moveTo>
                  <a:pt x="5486959" y="0"/>
                </a:moveTo>
                <a:lnTo>
                  <a:pt x="5481828" y="0"/>
                </a:lnTo>
                <a:lnTo>
                  <a:pt x="5481828" y="2996158"/>
                </a:lnTo>
                <a:lnTo>
                  <a:pt x="0" y="2996158"/>
                </a:lnTo>
                <a:lnTo>
                  <a:pt x="0" y="3001289"/>
                </a:lnTo>
                <a:lnTo>
                  <a:pt x="5486400" y="3001289"/>
                </a:lnTo>
                <a:lnTo>
                  <a:pt x="5486400" y="2996717"/>
                </a:lnTo>
                <a:lnTo>
                  <a:pt x="5486959" y="2996717"/>
                </a:lnTo>
                <a:lnTo>
                  <a:pt x="5486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901699" y="4523016"/>
            <a:ext cx="30105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Here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keep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042160" y="4918123"/>
          <a:ext cx="4147185" cy="11779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2525"/>
                <a:gridCol w="240030"/>
                <a:gridCol w="228600"/>
                <a:gridCol w="227330"/>
                <a:gridCol w="228600"/>
                <a:gridCol w="227330"/>
                <a:gridCol w="314325"/>
                <a:gridCol w="227330"/>
                <a:gridCol w="228600"/>
                <a:gridCol w="227329"/>
                <a:gridCol w="228600"/>
                <a:gridCol w="303529"/>
                <a:gridCol w="314325"/>
              </a:tblGrid>
              <a:tr h="205532">
                <a:tc>
                  <a:txBody>
                    <a:bodyPr/>
                    <a:lstStyle/>
                    <a:p>
                      <a:pPr marL="74930">
                        <a:lnSpc>
                          <a:spcPts val="130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Weight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limit: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ts val="130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0304">
                <a:tc>
                  <a:txBody>
                    <a:bodyPr/>
                    <a:lstStyle/>
                    <a:p>
                      <a:pPr marL="74930">
                        <a:lnSpc>
                          <a:spcPts val="137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1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1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ts val="13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86577"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2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2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6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203606"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3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3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18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99375"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4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6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4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22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91972">
                <a:tc>
                  <a:txBody>
                    <a:bodyPr/>
                    <a:lstStyle/>
                    <a:p>
                      <a:pPr marL="74930">
                        <a:lnSpc>
                          <a:spcPts val="1315"/>
                        </a:lnSpc>
                      </a:pPr>
                      <a:r>
                        <a:rPr dirty="0" sz="120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5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7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dirty="0" baseline="-13888" sz="1200">
                          <a:latin typeface="Verdana"/>
                          <a:cs typeface="Verdana"/>
                        </a:rPr>
                        <a:t>5</a:t>
                      </a:r>
                      <a:r>
                        <a:rPr dirty="0" baseline="-13888" sz="1200" spc="44"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=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28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ts val="131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sp>
        <p:nvSpPr>
          <p:cNvPr id="11" name="object 11"/>
          <p:cNvSpPr/>
          <p:nvPr/>
        </p:nvSpPr>
        <p:spPr>
          <a:xfrm>
            <a:off x="4422648" y="5505144"/>
            <a:ext cx="162560" cy="191135"/>
          </a:xfrm>
          <a:custGeom>
            <a:avLst/>
            <a:gdLst/>
            <a:ahLst/>
            <a:cxnLst/>
            <a:rect l="l" t="t" r="r" b="b"/>
            <a:pathLst>
              <a:path w="162560" h="191135">
                <a:moveTo>
                  <a:pt x="161963" y="185928"/>
                </a:moveTo>
                <a:lnTo>
                  <a:pt x="160578" y="185928"/>
                </a:lnTo>
                <a:lnTo>
                  <a:pt x="160578" y="5549"/>
                </a:lnTo>
                <a:lnTo>
                  <a:pt x="155448" y="5549"/>
                </a:lnTo>
                <a:lnTo>
                  <a:pt x="155448" y="185928"/>
                </a:lnTo>
                <a:lnTo>
                  <a:pt x="5130" y="185928"/>
                </a:lnTo>
                <a:lnTo>
                  <a:pt x="5130" y="5549"/>
                </a:lnTo>
                <a:lnTo>
                  <a:pt x="0" y="5549"/>
                </a:lnTo>
                <a:lnTo>
                  <a:pt x="0" y="185928"/>
                </a:lnTo>
                <a:lnTo>
                  <a:pt x="0" y="186486"/>
                </a:lnTo>
                <a:lnTo>
                  <a:pt x="0" y="191058"/>
                </a:lnTo>
                <a:lnTo>
                  <a:pt x="161963" y="191058"/>
                </a:lnTo>
                <a:lnTo>
                  <a:pt x="161963" y="185928"/>
                </a:lnTo>
                <a:close/>
              </a:path>
              <a:path w="162560" h="191135">
                <a:moveTo>
                  <a:pt x="161963" y="0"/>
                </a:moveTo>
                <a:lnTo>
                  <a:pt x="0" y="0"/>
                </a:lnTo>
                <a:lnTo>
                  <a:pt x="0" y="5130"/>
                </a:lnTo>
                <a:lnTo>
                  <a:pt x="161963" y="5130"/>
                </a:lnTo>
                <a:lnTo>
                  <a:pt x="161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5949696" y="5709360"/>
            <a:ext cx="162560" cy="191135"/>
          </a:xfrm>
          <a:custGeom>
            <a:avLst/>
            <a:gdLst/>
            <a:ahLst/>
            <a:cxnLst/>
            <a:rect l="l" t="t" r="r" b="b"/>
            <a:pathLst>
              <a:path w="162560" h="191135">
                <a:moveTo>
                  <a:pt x="161963" y="185928"/>
                </a:moveTo>
                <a:lnTo>
                  <a:pt x="0" y="185928"/>
                </a:lnTo>
                <a:lnTo>
                  <a:pt x="0" y="191058"/>
                </a:lnTo>
                <a:lnTo>
                  <a:pt x="161963" y="191058"/>
                </a:lnTo>
                <a:lnTo>
                  <a:pt x="161963" y="185928"/>
                </a:lnTo>
                <a:close/>
              </a:path>
              <a:path w="162560" h="191135">
                <a:moveTo>
                  <a:pt x="162102" y="4025"/>
                </a:moveTo>
                <a:lnTo>
                  <a:pt x="161963" y="4025"/>
                </a:lnTo>
                <a:lnTo>
                  <a:pt x="161963" y="0"/>
                </a:lnTo>
                <a:lnTo>
                  <a:pt x="0" y="0"/>
                </a:lnTo>
                <a:lnTo>
                  <a:pt x="0" y="4025"/>
                </a:lnTo>
                <a:lnTo>
                  <a:pt x="0" y="5130"/>
                </a:lnTo>
                <a:lnTo>
                  <a:pt x="0" y="184962"/>
                </a:lnTo>
                <a:lnTo>
                  <a:pt x="5130" y="184962"/>
                </a:lnTo>
                <a:lnTo>
                  <a:pt x="5130" y="5130"/>
                </a:lnTo>
                <a:lnTo>
                  <a:pt x="156972" y="5130"/>
                </a:lnTo>
                <a:lnTo>
                  <a:pt x="156972" y="184962"/>
                </a:lnTo>
                <a:lnTo>
                  <a:pt x="162102" y="184962"/>
                </a:lnTo>
                <a:lnTo>
                  <a:pt x="162102" y="40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901697" y="6240259"/>
            <a:ext cx="611505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item selection </a:t>
            </a:r>
            <a:r>
              <a:rPr dirty="0" sz="1200" spc="-10">
                <a:latin typeface="Times New Roman"/>
                <a:cs typeface="Times New Roman"/>
              </a:rPr>
              <a:t>algorithm </a:t>
            </a:r>
            <a:r>
              <a:rPr dirty="0" sz="1200" spc="-5">
                <a:latin typeface="Times New Roman"/>
                <a:cs typeface="Times New Roman"/>
              </a:rPr>
              <a:t>is applied,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selected items are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85">
                <a:latin typeface="Lucida Sans Unicode"/>
                <a:cs typeface="Lucida Sans Unicode"/>
              </a:rPr>
              <a:t>3</a:t>
            </a:r>
            <a:r>
              <a:rPr dirty="0" sz="1200" spc="-85">
                <a:latin typeface="Times New Roman"/>
                <a:cs typeface="Times New Roman"/>
              </a:rPr>
              <a:t>.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is indicated by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boxed </a:t>
            </a:r>
            <a:r>
              <a:rPr dirty="0" sz="1200" spc="-5">
                <a:latin typeface="Times New Roman"/>
                <a:cs typeface="Times New Roman"/>
              </a:rPr>
              <a:t>entries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table </a:t>
            </a:r>
            <a:r>
              <a:rPr dirty="0" sz="1200" spc="-10">
                <a:latin typeface="Times New Roman"/>
                <a:cs typeface="Times New Roman"/>
              </a:rPr>
              <a:t>above.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35799" y="4842548"/>
            <a:ext cx="5426075" cy="138430"/>
          </a:xfrm>
          <a:custGeom>
            <a:avLst/>
            <a:gdLst/>
            <a:ahLst/>
            <a:cxnLst/>
            <a:rect l="l" t="t" r="r" b="b"/>
            <a:pathLst>
              <a:path w="5426075" h="138429">
                <a:moveTo>
                  <a:pt x="5425948" y="0"/>
                </a:moveTo>
                <a:lnTo>
                  <a:pt x="0" y="0"/>
                </a:lnTo>
                <a:lnTo>
                  <a:pt x="0" y="138023"/>
                </a:lnTo>
                <a:lnTo>
                  <a:pt x="5425948" y="138023"/>
                </a:lnTo>
                <a:lnTo>
                  <a:pt x="5425948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01699" y="1840994"/>
            <a:ext cx="1381125" cy="403225"/>
          </a:xfrm>
          <a:prstGeom prst="rect"/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Chapter</a:t>
            </a:r>
            <a:r>
              <a:rPr dirty="0" sz="2450" spc="-70" b="1" i="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7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9" y="2539025"/>
            <a:ext cx="2616835" cy="4032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5" b="1">
                <a:latin typeface="Times New Roman"/>
                <a:cs typeface="Times New Roman"/>
              </a:rPr>
              <a:t>Greedy</a:t>
            </a:r>
            <a:r>
              <a:rPr dirty="0" sz="2450" spc="-65" b="1">
                <a:latin typeface="Times New Roman"/>
                <a:cs typeface="Times New Roman"/>
              </a:rPr>
              <a:t> </a:t>
            </a:r>
            <a:r>
              <a:rPr dirty="0" sz="2450" spc="10" b="1">
                <a:latin typeface="Times New Roman"/>
                <a:cs typeface="Times New Roman"/>
              </a:rPr>
              <a:t>Algorithms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4400" y="3515944"/>
            <a:ext cx="596963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optimization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problem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just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best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870820" y="3456942"/>
            <a:ext cx="635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1699" y="3640394"/>
            <a:ext cx="6358890" cy="640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Search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techniques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E.g.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backtrack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search.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 </a:t>
            </a:r>
            <a:r>
              <a:rPr dirty="0" sz="1200" spc="-10">
                <a:latin typeface="Times New Roman"/>
                <a:cs typeface="Times New Roman"/>
              </a:rPr>
              <a:t>algorithm”</a:t>
            </a:r>
            <a:r>
              <a:rPr dirty="0" sz="1200" spc="-5">
                <a:latin typeface="Times New Roman"/>
                <a:cs typeface="Times New Roman"/>
              </a:rPr>
              <a:t> sometimes </a:t>
            </a:r>
            <a:r>
              <a:rPr dirty="0" sz="1200" spc="-10">
                <a:latin typeface="Times New Roman"/>
                <a:cs typeface="Times New Roman"/>
              </a:rPr>
              <a:t>works</a:t>
            </a:r>
            <a:r>
              <a:rPr dirty="0" sz="1200" spc="-5">
                <a:latin typeface="Times New Roman"/>
                <a:cs typeface="Times New Roman"/>
              </a:rPr>
              <a:t> well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optimization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works </a:t>
            </a:r>
            <a:r>
              <a:rPr dirty="0" sz="1200" spc="-5">
                <a:latin typeface="Times New Roman"/>
                <a:cs typeface="Times New Roman"/>
              </a:rPr>
              <a:t>in phases.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phase: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23098" y="4475925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Segoe UI Symbol"/>
                <a:cs typeface="Segoe UI Symbol"/>
              </a:rPr>
              <a:t>•</a:t>
            </a:r>
            <a:endParaRPr sz="1200">
              <a:latin typeface="Segoe UI Symbol"/>
              <a:cs typeface="Segoe UI Symbo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286103" y="4535080"/>
            <a:ext cx="487743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now,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without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regard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future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consequences.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01699" y="4783392"/>
            <a:ext cx="6435090" cy="45796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4175" indent="-151130">
              <a:lnSpc>
                <a:spcPct val="100000"/>
              </a:lnSpc>
              <a:spcBef>
                <a:spcPts val="95"/>
              </a:spcBef>
              <a:buFont typeface="Segoe UI Symbol"/>
              <a:buChar char="•"/>
              <a:tabLst>
                <a:tab pos="384810" algn="l"/>
              </a:tabLst>
            </a:pPr>
            <a:r>
              <a:rPr dirty="0" sz="1200" spc="-5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hope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choosing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optimum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global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optimum.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ct val="100000"/>
              </a:lnSpc>
              <a:spcBef>
                <a:spcPts val="1735"/>
              </a:spcBef>
            </a:pP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 spc="-10">
                <a:latin typeface="Times New Roman"/>
                <a:cs typeface="Times New Roman"/>
              </a:rPr>
              <a:t>problems, </a:t>
            </a:r>
            <a:r>
              <a:rPr dirty="0" sz="1200" spc="-5">
                <a:latin typeface="Times New Roman"/>
                <a:cs typeface="Times New Roman"/>
              </a:rPr>
              <a:t>greedy approach </a:t>
            </a:r>
            <a:r>
              <a:rPr dirty="0" sz="1200" spc="-10">
                <a:latin typeface="Times New Roman"/>
                <a:cs typeface="Times New Roman"/>
              </a:rPr>
              <a:t>always </a:t>
            </a:r>
            <a:r>
              <a:rPr dirty="0" sz="1200" spc="-5">
                <a:latin typeface="Times New Roman"/>
                <a:cs typeface="Times New Roman"/>
              </a:rPr>
              <a:t>gets </a:t>
            </a:r>
            <a:r>
              <a:rPr dirty="0" sz="1200" spc="-10">
                <a:latin typeface="Times New Roman"/>
                <a:cs typeface="Times New Roman"/>
              </a:rPr>
              <a:t>optimum.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others, greedy finds </a:t>
            </a:r>
            <a:r>
              <a:rPr dirty="0" sz="1200" spc="-10">
                <a:latin typeface="Times New Roman"/>
                <a:cs typeface="Times New Roman"/>
              </a:rPr>
              <a:t>good, </a:t>
            </a:r>
            <a:r>
              <a:rPr dirty="0" sz="1200" spc="-15">
                <a:latin typeface="Times New Roman"/>
                <a:cs typeface="Times New Roman"/>
              </a:rPr>
              <a:t>but </a:t>
            </a:r>
            <a:r>
              <a:rPr dirty="0" sz="1200" spc="-10">
                <a:latin typeface="Times New Roman"/>
                <a:cs typeface="Times New Roman"/>
              </a:rPr>
              <a:t>not always </a:t>
            </a:r>
            <a:r>
              <a:rPr dirty="0" sz="1200" spc="-5">
                <a:latin typeface="Times New Roman"/>
                <a:cs typeface="Times New Roman"/>
              </a:rPr>
              <a:t> best. If so, it is called a greedy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heuristic,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approximation.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still others, greedy approach can do </a:t>
            </a:r>
            <a:r>
              <a:rPr dirty="0" sz="1200" spc="-10">
                <a:latin typeface="Times New Roman"/>
                <a:cs typeface="Times New Roman"/>
              </a:rPr>
              <a:t>very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poorly.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55"/>
              </a:spcBef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7.1	Example:</a:t>
            </a:r>
            <a:r>
              <a:rPr dirty="0" sz="1700" spc="9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Counting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spc="10" b="1">
                <a:latin typeface="Times New Roman"/>
                <a:cs typeface="Times New Roman"/>
              </a:rPr>
              <a:t>Money</a:t>
            </a:r>
            <a:endParaRPr sz="1700">
              <a:latin typeface="Times New Roman"/>
              <a:cs typeface="Times New Roman"/>
            </a:endParaRPr>
          </a:p>
          <a:p>
            <a:pPr algn="just" marL="12700" marR="266065">
              <a:lnSpc>
                <a:spcPct val="100000"/>
              </a:lnSpc>
              <a:spcBef>
                <a:spcPts val="1655"/>
              </a:spcBef>
            </a:pPr>
            <a:r>
              <a:rPr dirty="0" sz="1200" spc="-5">
                <a:latin typeface="Times New Roman"/>
                <a:cs typeface="Times New Roman"/>
              </a:rPr>
              <a:t>Suppose </a:t>
            </a:r>
            <a:r>
              <a:rPr dirty="0" sz="1200" spc="-10">
                <a:latin typeface="Times New Roman"/>
                <a:cs typeface="Times New Roman"/>
              </a:rPr>
              <a:t>you want </a:t>
            </a:r>
            <a:r>
              <a:rPr dirty="0" sz="1200" spc="-5">
                <a:latin typeface="Times New Roman"/>
                <a:cs typeface="Times New Roman"/>
              </a:rPr>
              <a:t>to count </a:t>
            </a:r>
            <a:r>
              <a:rPr dirty="0" sz="1200" spc="-10">
                <a:latin typeface="Times New Roman"/>
                <a:cs typeface="Times New Roman"/>
              </a:rPr>
              <a:t>out </a:t>
            </a:r>
            <a:r>
              <a:rPr dirty="0" sz="1200" spc="-5">
                <a:latin typeface="Times New Roman"/>
                <a:cs typeface="Times New Roman"/>
              </a:rPr>
              <a:t>a certain </a:t>
            </a:r>
            <a:r>
              <a:rPr dirty="0" sz="1200" spc="-10">
                <a:latin typeface="Times New Roman"/>
                <a:cs typeface="Times New Roman"/>
              </a:rPr>
              <a:t>amount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25">
                <a:latin typeface="Times New Roman"/>
                <a:cs typeface="Times New Roman"/>
              </a:rPr>
              <a:t>money, </a:t>
            </a:r>
            <a:r>
              <a:rPr dirty="0" sz="1200" spc="-5">
                <a:latin typeface="Times New Roman"/>
                <a:cs typeface="Times New Roman"/>
              </a:rPr>
              <a:t>using </a:t>
            </a:r>
            <a:r>
              <a:rPr dirty="0" sz="1200" spc="-10">
                <a:latin typeface="Times New Roman"/>
                <a:cs typeface="Times New Roman"/>
              </a:rPr>
              <a:t>the fewest </a:t>
            </a:r>
            <a:r>
              <a:rPr dirty="0" sz="1200" spc="-5">
                <a:latin typeface="Times New Roman"/>
                <a:cs typeface="Times New Roman"/>
              </a:rPr>
              <a:t>possible </a:t>
            </a:r>
            <a:r>
              <a:rPr dirty="0" sz="1200" spc="-10">
                <a:latin typeface="Times New Roman"/>
                <a:cs typeface="Times New Roman"/>
              </a:rPr>
              <a:t>bills </a:t>
            </a:r>
            <a:r>
              <a:rPr dirty="0" sz="1200" spc="-5">
                <a:latin typeface="Times New Roman"/>
                <a:cs typeface="Times New Roman"/>
              </a:rPr>
              <a:t>(notes) 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coins. A greedy </a:t>
            </a:r>
            <a:r>
              <a:rPr dirty="0" sz="1200" spc="-10">
                <a:latin typeface="Times New Roman"/>
                <a:cs typeface="Times New Roman"/>
              </a:rPr>
              <a:t>algorithm </a:t>
            </a:r>
            <a:r>
              <a:rPr dirty="0" sz="1200" spc="-5">
                <a:latin typeface="Times New Roman"/>
                <a:cs typeface="Times New Roman"/>
              </a:rPr>
              <a:t>to do </a:t>
            </a:r>
            <a:r>
              <a:rPr dirty="0" sz="1200" spc="-10">
                <a:latin typeface="Times New Roman"/>
                <a:cs typeface="Times New Roman"/>
              </a:rPr>
              <a:t>this would </a:t>
            </a:r>
            <a:r>
              <a:rPr dirty="0" sz="1200" spc="-5">
                <a:latin typeface="Times New Roman"/>
                <a:cs typeface="Times New Roman"/>
              </a:rPr>
              <a:t>be: at each step, </a:t>
            </a:r>
            <a:r>
              <a:rPr dirty="0" sz="1200" spc="-10">
                <a:latin typeface="Times New Roman"/>
                <a:cs typeface="Times New Roman"/>
              </a:rPr>
              <a:t>take the largest </a:t>
            </a:r>
            <a:r>
              <a:rPr dirty="0" sz="1200" spc="-5">
                <a:latin typeface="Times New Roman"/>
                <a:cs typeface="Times New Roman"/>
              </a:rPr>
              <a:t>possible </a:t>
            </a:r>
            <a:r>
              <a:rPr dirty="0" sz="1200" spc="-10">
                <a:latin typeface="Times New Roman"/>
                <a:cs typeface="Times New Roman"/>
              </a:rPr>
              <a:t>note </a:t>
            </a:r>
            <a:r>
              <a:rPr dirty="0" sz="1200" spc="-5">
                <a:latin typeface="Times New Roman"/>
                <a:cs typeface="Times New Roman"/>
              </a:rPr>
              <a:t>or coin that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 spc="-10">
                <a:latin typeface="Times New Roman"/>
                <a:cs typeface="Times New Roman"/>
              </a:rPr>
              <a:t> 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overshoot.</a:t>
            </a:r>
            <a:endParaRPr sz="1200">
              <a:latin typeface="Times New Roman"/>
              <a:cs typeface="Times New Roman"/>
            </a:endParaRPr>
          </a:p>
          <a:p>
            <a:pPr marL="1964689">
              <a:lnSpc>
                <a:spcPct val="100000"/>
              </a:lnSpc>
              <a:spcBef>
                <a:spcPts val="1140"/>
              </a:spcBef>
            </a:pPr>
            <a:r>
              <a:rPr dirty="0" sz="1200" spc="-10" b="1">
                <a:latin typeface="Times New Roman"/>
                <a:cs typeface="Times New Roman"/>
              </a:rPr>
              <a:t>w</a:t>
            </a:r>
            <a:r>
              <a:rPr dirty="0" sz="1200" spc="-5" b="1">
                <a:latin typeface="Times New Roman"/>
                <a:cs typeface="Times New Roman"/>
              </a:rPr>
              <a:t>h</a:t>
            </a:r>
            <a:r>
              <a:rPr dirty="0" sz="1200" spc="-10" b="1">
                <a:latin typeface="Times New Roman"/>
                <a:cs typeface="Times New Roman"/>
              </a:rPr>
              <a:t>il</a:t>
            </a:r>
            <a:r>
              <a:rPr dirty="0" sz="1200" spc="-5" b="1">
                <a:latin typeface="Times New Roman"/>
                <a:cs typeface="Times New Roman"/>
              </a:rPr>
              <a:t>e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0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10">
                <a:latin typeface="Lucida Sans Unicode"/>
                <a:cs typeface="Lucida Sans Unicode"/>
              </a:rPr>
              <a:t>{</a:t>
            </a:r>
            <a:endParaRPr sz="1200">
              <a:latin typeface="Lucida Sans Unicode"/>
              <a:cs typeface="Lucida Sans Unicode"/>
            </a:endParaRPr>
          </a:p>
          <a:p>
            <a:pPr algn="ctr" marL="295275">
              <a:lnSpc>
                <a:spcPct val="100000"/>
              </a:lnSpc>
              <a:spcBef>
                <a:spcPts val="300"/>
              </a:spcBef>
            </a:pPr>
            <a:r>
              <a:rPr dirty="0" sz="1200" spc="-20">
                <a:latin typeface="Times New Roman"/>
                <a:cs typeface="Times New Roman"/>
              </a:rPr>
              <a:t>give</a:t>
            </a:r>
            <a:r>
              <a:rPr dirty="0" sz="1200" spc="-10">
                <a:latin typeface="Times New Roman"/>
                <a:cs typeface="Times New Roman"/>
              </a:rPr>
              <a:t> largest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denomination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algn="ctr" marR="38100">
              <a:lnSpc>
                <a:spcPct val="100000"/>
              </a:lnSpc>
              <a:spcBef>
                <a:spcPts val="305"/>
              </a:spcBef>
            </a:pP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du</a:t>
            </a:r>
            <a:r>
              <a:rPr dirty="0" sz="1200" spc="-5">
                <a:latin typeface="Times New Roman"/>
                <a:cs typeface="Times New Roman"/>
              </a:rPr>
              <a:t>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  <a:p>
            <a:pPr marL="1964689">
              <a:lnSpc>
                <a:spcPct val="100000"/>
              </a:lnSpc>
              <a:spcBef>
                <a:spcPts val="305"/>
              </a:spcBef>
            </a:pPr>
            <a:r>
              <a:rPr dirty="0" sz="1200" spc="-10">
                <a:latin typeface="Lucida Sans Unicode"/>
                <a:cs typeface="Lucida Sans Unicode"/>
              </a:rPr>
              <a:t>}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Lucida Sans Unicode"/>
              <a:cs typeface="Lucida Sans Unicode"/>
            </a:endParaRPr>
          </a:p>
          <a:p>
            <a:pPr marL="12700" marR="2413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currency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U.S.A.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paper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dollar,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five</a:t>
            </a:r>
            <a:r>
              <a:rPr dirty="0" sz="1200" spc="-5">
                <a:latin typeface="Times New Roman"/>
                <a:cs typeface="Times New Roman"/>
              </a:rPr>
              <a:t> dollars,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dollars, </a:t>
            </a:r>
            <a:r>
              <a:rPr dirty="0" sz="1200" spc="-10">
                <a:latin typeface="Times New Roman"/>
                <a:cs typeface="Times New Roman"/>
              </a:rPr>
              <a:t>twenty </a:t>
            </a:r>
            <a:r>
              <a:rPr dirty="0" sz="1200" spc="-5">
                <a:latin typeface="Times New Roman"/>
                <a:cs typeface="Times New Roman"/>
              </a:rPr>
              <a:t> dollars, fifty </a:t>
            </a:r>
            <a:r>
              <a:rPr dirty="0" sz="1200" spc="-10">
                <a:latin typeface="Times New Roman"/>
                <a:cs typeface="Times New Roman"/>
              </a:rPr>
              <a:t>dollars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hundred</a:t>
            </a:r>
            <a:r>
              <a:rPr dirty="0" sz="1200" spc="-5">
                <a:latin typeface="Times New Roman"/>
                <a:cs typeface="Times New Roman"/>
              </a:rPr>
              <a:t> dollars.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notes are </a:t>
            </a:r>
            <a:r>
              <a:rPr dirty="0" sz="1200" spc="-20">
                <a:latin typeface="Times New Roman"/>
                <a:cs typeface="Times New Roman"/>
              </a:rPr>
              <a:t>also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 “bills”.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coins are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cent, </a:t>
            </a:r>
            <a:r>
              <a:rPr dirty="0" sz="1200" spc="-15">
                <a:latin typeface="Times New Roman"/>
                <a:cs typeface="Times New Roman"/>
              </a:rPr>
              <a:t>five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cents (called a “nickle”),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ten cents (called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“dime”) and twenty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five</a:t>
            </a:r>
            <a:r>
              <a:rPr dirty="0" sz="1200" spc="-5">
                <a:latin typeface="Times New Roman"/>
                <a:cs typeface="Times New Roman"/>
              </a:rPr>
              <a:t> cents (a “quarter”).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Pakistan,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currency</a:t>
            </a:r>
            <a:r>
              <a:rPr dirty="0" sz="1200" spc="-5">
                <a:latin typeface="Times New Roman"/>
                <a:cs typeface="Times New Roman"/>
              </a:rPr>
              <a:t> notes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rupees, ten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rupees,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fifty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rupees,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hundred</a:t>
            </a:r>
            <a:r>
              <a:rPr dirty="0" sz="1200" spc="-5">
                <a:latin typeface="Times New Roman"/>
                <a:cs typeface="Times New Roman"/>
              </a:rPr>
              <a:t> rupees,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hundred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rupees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thousand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Times New Roman"/>
              <a:cs typeface="Times New Roman"/>
            </a:endParaRPr>
          </a:p>
          <a:p>
            <a:pPr algn="ctr" marR="127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97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25495" y="520987"/>
            <a:ext cx="6578600" cy="717677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110"/>
              </a:spcBef>
              <a:tabLst>
                <a:tab pos="3920490" algn="l"/>
              </a:tabLst>
            </a:pPr>
            <a:r>
              <a:rPr dirty="0" sz="1200" spc="-5">
                <a:latin typeface="Times New Roman"/>
                <a:cs typeface="Times New Roman"/>
              </a:rPr>
              <a:t>98	CHAPTER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GREEDY</a:t>
            </a:r>
            <a:r>
              <a:rPr dirty="0" sz="1200" spc="-10">
                <a:latin typeface="Times New Roman"/>
                <a:cs typeface="Times New Roman"/>
              </a:rPr>
              <a:t> ALGORITHMS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88900" marR="39687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rupees.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coins are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rupee and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rupees.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Suppose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are asked to </a:t>
            </a:r>
            <a:r>
              <a:rPr dirty="0" sz="1200" spc="-20">
                <a:latin typeface="Times New Roman"/>
                <a:cs typeface="Times New Roman"/>
              </a:rPr>
              <a:t>give</a:t>
            </a:r>
            <a:r>
              <a:rPr dirty="0" sz="1200" spc="-5">
                <a:latin typeface="Times New Roman"/>
                <a:cs typeface="Times New Roman"/>
              </a:rPr>
              <a:t> change of </a:t>
            </a:r>
            <a:r>
              <a:rPr dirty="0" sz="1200" spc="-10">
                <a:latin typeface="Times New Roman"/>
                <a:cs typeface="Times New Roman"/>
              </a:rPr>
              <a:t>$6.39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(six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dollars</a:t>
            </a:r>
            <a:r>
              <a:rPr dirty="0" sz="1200" spc="-5">
                <a:latin typeface="Times New Roman"/>
                <a:cs typeface="Times New Roman"/>
              </a:rPr>
              <a:t> and </a:t>
            </a:r>
            <a:r>
              <a:rPr dirty="0" sz="1200" spc="-10">
                <a:latin typeface="Times New Roman"/>
                <a:cs typeface="Times New Roman"/>
              </a:rPr>
              <a:t>thirty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nine</a:t>
            </a:r>
            <a:r>
              <a:rPr dirty="0" sz="1200" spc="-5">
                <a:latin typeface="Times New Roman"/>
                <a:cs typeface="Times New Roman"/>
              </a:rPr>
              <a:t> cents),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can choose: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200">
              <a:latin typeface="Times New Roman"/>
              <a:cs typeface="Times New Roman"/>
            </a:endParaRPr>
          </a:p>
          <a:p>
            <a:pPr marL="460375" indent="-151130">
              <a:lnSpc>
                <a:spcPct val="100000"/>
              </a:lnSpc>
              <a:spcBef>
                <a:spcPts val="5"/>
              </a:spcBef>
              <a:buFont typeface="Segoe UI Symbol"/>
              <a:buChar char="•"/>
              <a:tabLst>
                <a:tab pos="461009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$5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note</a:t>
            </a:r>
            <a:endParaRPr sz="1200">
              <a:latin typeface="Times New Roman"/>
              <a:cs typeface="Times New Roman"/>
            </a:endParaRPr>
          </a:p>
          <a:p>
            <a:pPr marL="460375" indent="-151130">
              <a:lnSpc>
                <a:spcPct val="100000"/>
              </a:lnSpc>
              <a:spcBef>
                <a:spcPts val="969"/>
              </a:spcBef>
              <a:buFont typeface="Segoe UI Symbol"/>
              <a:buChar char="•"/>
              <a:tabLst>
                <a:tab pos="461009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$1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$6</a:t>
            </a:r>
            <a:endParaRPr sz="1200">
              <a:latin typeface="Times New Roman"/>
              <a:cs typeface="Times New Roman"/>
            </a:endParaRPr>
          </a:p>
          <a:p>
            <a:pPr marL="460375" indent="-151130">
              <a:lnSpc>
                <a:spcPct val="100000"/>
              </a:lnSpc>
              <a:spcBef>
                <a:spcPts val="969"/>
              </a:spcBef>
              <a:buFont typeface="Segoe UI Symbol"/>
              <a:buChar char="•"/>
              <a:tabLst>
                <a:tab pos="461009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25 cents coin </a:t>
            </a:r>
            <a:r>
              <a:rPr dirty="0" sz="1200" spc="-10">
                <a:latin typeface="Times New Roman"/>
                <a:cs typeface="Times New Roman"/>
              </a:rPr>
              <a:t>(quarter),</a:t>
            </a:r>
            <a:r>
              <a:rPr dirty="0" sz="1200" spc="-5">
                <a:latin typeface="Times New Roman"/>
                <a:cs typeface="Times New Roman"/>
              </a:rPr>
              <a:t> to </a:t>
            </a:r>
            <a:r>
              <a:rPr dirty="0" sz="1200" spc="-10">
                <a:latin typeface="Times New Roman"/>
                <a:cs typeface="Times New Roman"/>
              </a:rPr>
              <a:t>make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$6.25</a:t>
            </a:r>
            <a:endParaRPr sz="1200">
              <a:latin typeface="Times New Roman"/>
              <a:cs typeface="Times New Roman"/>
            </a:endParaRPr>
          </a:p>
          <a:p>
            <a:pPr marL="460375" indent="-151130">
              <a:lnSpc>
                <a:spcPct val="100000"/>
              </a:lnSpc>
              <a:spcBef>
                <a:spcPts val="969"/>
              </a:spcBef>
              <a:buFont typeface="Segoe UI Symbol"/>
              <a:buChar char="•"/>
              <a:tabLst>
                <a:tab pos="461009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cents coin</a:t>
            </a:r>
            <a:r>
              <a:rPr dirty="0" sz="1200" spc="-10">
                <a:latin typeface="Times New Roman"/>
                <a:cs typeface="Times New Roman"/>
              </a:rPr>
              <a:t> (dime),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make $6.35</a:t>
            </a:r>
            <a:endParaRPr sz="1200">
              <a:latin typeface="Times New Roman"/>
              <a:cs typeface="Times New Roman"/>
            </a:endParaRPr>
          </a:p>
          <a:p>
            <a:pPr marL="460375" indent="-151130">
              <a:lnSpc>
                <a:spcPct val="100000"/>
              </a:lnSpc>
              <a:spcBef>
                <a:spcPts val="975"/>
              </a:spcBef>
              <a:buFont typeface="Segoe UI Symbol"/>
              <a:buChar char="•"/>
              <a:tabLst>
                <a:tab pos="461009" algn="l"/>
              </a:tabLst>
            </a:pPr>
            <a:r>
              <a:rPr dirty="0" sz="1200" spc="-10">
                <a:latin typeface="Times New Roman"/>
                <a:cs typeface="Times New Roman"/>
              </a:rPr>
              <a:t>four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coins,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make $6.39</a:t>
            </a:r>
            <a:endParaRPr sz="1200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  <a:spcBef>
                <a:spcPts val="1425"/>
              </a:spcBef>
            </a:pPr>
            <a:r>
              <a:rPr dirty="0" sz="1200" spc="-10">
                <a:latin typeface="Times New Roman"/>
                <a:cs typeface="Times New Roman"/>
              </a:rPr>
              <a:t>Notice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highest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$5,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before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moving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next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lower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denomination.</a:t>
            </a:r>
            <a:endParaRPr sz="1200">
              <a:latin typeface="Times New Roman"/>
              <a:cs typeface="Times New Roman"/>
            </a:endParaRPr>
          </a:p>
          <a:p>
            <a:pPr marL="88900" marR="73025">
              <a:lnSpc>
                <a:spcPct val="100000"/>
              </a:lnSpc>
              <a:spcBef>
                <a:spcPts val="520"/>
              </a:spcBef>
            </a:pPr>
            <a:r>
              <a:rPr dirty="0" sz="1200" spc="-20">
                <a:latin typeface="Times New Roman"/>
                <a:cs typeface="Times New Roman"/>
              </a:rPr>
              <a:t>Formally,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Change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denominations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baseline="-13888" sz="1200" spc="-60">
                <a:latin typeface="Verdana"/>
                <a:cs typeface="Verdana"/>
              </a:rPr>
              <a:t>1</a:t>
            </a:r>
            <a:r>
              <a:rPr dirty="0" sz="1200" spc="-4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baseline="-13888" sz="1200" spc="-60">
                <a:latin typeface="Verdana"/>
                <a:cs typeface="Verdana"/>
              </a:rPr>
              <a:t>2</a:t>
            </a:r>
            <a:r>
              <a:rPr dirty="0" sz="1200" spc="-4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d</a:t>
            </a:r>
            <a:r>
              <a:rPr dirty="0" baseline="-13888" sz="1200" spc="22">
                <a:latin typeface="Verdana"/>
                <a:cs typeface="Verdana"/>
              </a:rPr>
              <a:t>k</a:t>
            </a:r>
            <a:r>
              <a:rPr dirty="0" baseline="-13888" sz="1200" spc="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4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writing</a:t>
            </a:r>
            <a:endParaRPr sz="1200">
              <a:latin typeface="Times New Roman"/>
              <a:cs typeface="Times New Roman"/>
            </a:endParaRPr>
          </a:p>
          <a:p>
            <a:pPr algn="ctr" marL="2540">
              <a:lnSpc>
                <a:spcPct val="100000"/>
              </a:lnSpc>
              <a:spcBef>
                <a:spcPts val="10"/>
              </a:spcBef>
            </a:pPr>
            <a:r>
              <a:rPr dirty="0" sz="1200" spc="10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-13888" sz="1200" spc="-44">
                <a:latin typeface="Verdana"/>
                <a:cs typeface="Verdana"/>
              </a:rPr>
              <a:t>2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-13888" sz="1200" spc="82">
                <a:latin typeface="Verdana"/>
                <a:cs typeface="Verdana"/>
              </a:rPr>
              <a:t>k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baseline="-13888" sz="1200" spc="112">
                <a:latin typeface="Verdana"/>
                <a:cs typeface="Verdana"/>
              </a:rPr>
              <a:t>k</a:t>
            </a:r>
            <a:endParaRPr baseline="-13888" sz="1200">
              <a:latin typeface="Verdana"/>
              <a:cs typeface="Verdana"/>
            </a:endParaRPr>
          </a:p>
          <a:p>
            <a:pPr marL="88900">
              <a:lnSpc>
                <a:spcPct val="100000"/>
              </a:lnSpc>
              <a:spcBef>
                <a:spcPts val="605"/>
              </a:spcBef>
            </a:pP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-13888" sz="1200" spc="112">
                <a:latin typeface="Verdana"/>
                <a:cs typeface="Verdana"/>
              </a:rPr>
              <a:t>k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baseline="-13888" sz="1200" spc="120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minimi</a:t>
            </a:r>
            <a:r>
              <a:rPr dirty="0" sz="1200" spc="-5">
                <a:latin typeface="Times New Roman"/>
                <a:cs typeface="Times New Roman"/>
              </a:rPr>
              <a:t>ze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  <a:spcBef>
                <a:spcPts val="610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“size”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problem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88900" marR="8128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strategy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change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always.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fails. </a:t>
            </a:r>
            <a:r>
              <a:rPr dirty="0" sz="1200" spc="-5">
                <a:latin typeface="Times New Roman"/>
                <a:cs typeface="Times New Roman"/>
              </a:rPr>
              <a:t> Suppose,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(fictional)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monetary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system,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krons”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kron,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kron,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10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kron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coins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Using </a:t>
            </a:r>
            <a:r>
              <a:rPr dirty="0" sz="1200" spc="-5">
                <a:latin typeface="Times New Roman"/>
                <a:cs typeface="Times New Roman"/>
              </a:rPr>
              <a:t> a greedy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count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15 </a:t>
            </a:r>
            <a:r>
              <a:rPr dirty="0" sz="1200" spc="-10">
                <a:latin typeface="Times New Roman"/>
                <a:cs typeface="Times New Roman"/>
              </a:rPr>
              <a:t>krons,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10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kron piece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 </a:t>
            </a:r>
            <a:r>
              <a:rPr dirty="0" sz="1200" spc="-10">
                <a:latin typeface="Times New Roman"/>
                <a:cs typeface="Times New Roman"/>
              </a:rPr>
              <a:t>kron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total 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15 </a:t>
            </a:r>
            <a:r>
              <a:rPr dirty="0" sz="1200" spc="-10">
                <a:latin typeface="Times New Roman"/>
                <a:cs typeface="Times New Roman"/>
              </a:rPr>
              <a:t>krons</a:t>
            </a:r>
            <a:r>
              <a:rPr dirty="0" sz="1200" spc="-5">
                <a:latin typeface="Times New Roman"/>
                <a:cs typeface="Times New Roman"/>
              </a:rPr>
              <a:t> 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requires six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coins.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better </a:t>
            </a:r>
            <a:r>
              <a:rPr dirty="0" sz="1200" spc="-10">
                <a:latin typeface="Times New Roman"/>
                <a:cs typeface="Times New Roman"/>
              </a:rPr>
              <a:t>solution,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to 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7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kron</a:t>
            </a:r>
            <a:r>
              <a:rPr dirty="0" sz="1200" spc="-5">
                <a:latin typeface="Times New Roman"/>
                <a:cs typeface="Times New Roman"/>
              </a:rPr>
              <a:t> pieces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kron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piece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coins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endParaRPr sz="1200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coins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powers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fixed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denomination.</a:t>
            </a:r>
            <a:endParaRPr sz="1200">
              <a:latin typeface="Times New Roman"/>
              <a:cs typeface="Times New Roman"/>
            </a:endParaRPr>
          </a:p>
          <a:p>
            <a:pPr algn="ctr" marL="2540">
              <a:lnSpc>
                <a:spcPct val="100000"/>
              </a:lnSpc>
              <a:spcBef>
                <a:spcPts val="1095"/>
              </a:spcBef>
            </a:pPr>
            <a:r>
              <a:rPr dirty="0" sz="1200" spc="10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-13888" sz="1200" spc="-44">
                <a:latin typeface="Verdana"/>
                <a:cs typeface="Verdana"/>
              </a:rPr>
              <a:t>0</a:t>
            </a:r>
            <a:r>
              <a:rPr dirty="0" sz="1200" spc="90">
                <a:latin typeface="Lucida Sans Unicode"/>
                <a:cs typeface="Lucida Sans Unicode"/>
              </a:rPr>
              <a:t>D</a:t>
            </a:r>
            <a:r>
              <a:rPr dirty="0" baseline="34722" sz="1200" spc="-15">
                <a:latin typeface="Verdana"/>
                <a:cs typeface="Verdana"/>
              </a:rPr>
              <a:t>0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90">
                <a:latin typeface="Lucida Sans Unicode"/>
                <a:cs typeface="Lucida Sans Unicode"/>
              </a:rPr>
              <a:t>D</a:t>
            </a:r>
            <a:r>
              <a:rPr dirty="0" baseline="34722" sz="1200" spc="-15">
                <a:latin typeface="Verdana"/>
                <a:cs typeface="Verdana"/>
              </a:rPr>
              <a:t>1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-13888" sz="1200" spc="-44">
                <a:latin typeface="Verdana"/>
                <a:cs typeface="Verdana"/>
              </a:rPr>
              <a:t>2</a:t>
            </a:r>
            <a:r>
              <a:rPr dirty="0" sz="1200" spc="90">
                <a:latin typeface="Lucida Sans Unicode"/>
                <a:cs typeface="Lucida Sans Unicode"/>
              </a:rPr>
              <a:t>D</a:t>
            </a:r>
            <a:r>
              <a:rPr dirty="0" baseline="34722" sz="1200" spc="-15">
                <a:latin typeface="Verdana"/>
                <a:cs typeface="Verdana"/>
              </a:rPr>
              <a:t>2</a:t>
            </a:r>
            <a:r>
              <a:rPr dirty="0" baseline="34722" sz="1200" spc="-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baseline="-13888" sz="1200" spc="75">
                <a:latin typeface="Verdana"/>
                <a:cs typeface="Verdana"/>
              </a:rPr>
              <a:t>k</a:t>
            </a:r>
            <a:r>
              <a:rPr dirty="0" sz="1200" spc="90">
                <a:latin typeface="Lucida Sans Unicode"/>
                <a:cs typeface="Lucida Sans Unicode"/>
              </a:rPr>
              <a:t>D</a:t>
            </a:r>
            <a:r>
              <a:rPr dirty="0" baseline="34722" sz="1200" spc="112">
                <a:latin typeface="Verdana"/>
                <a:cs typeface="Verdana"/>
              </a:rPr>
              <a:t>k</a:t>
            </a:r>
            <a:endParaRPr baseline="34722" sz="1200">
              <a:latin typeface="Verdana"/>
              <a:cs typeface="Verdana"/>
            </a:endParaRPr>
          </a:p>
          <a:p>
            <a:pPr marL="88900">
              <a:lnSpc>
                <a:spcPct val="100000"/>
              </a:lnSpc>
              <a:spcBef>
                <a:spcPts val="1100"/>
              </a:spcBef>
            </a:pPr>
            <a:r>
              <a:rPr dirty="0" sz="1200" spc="-10">
                <a:latin typeface="Times New Roman"/>
                <a:cs typeface="Times New Roman"/>
              </a:rPr>
              <a:t>Note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represented 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based </a:t>
            </a:r>
            <a:r>
              <a:rPr dirty="0" sz="1200" spc="45">
                <a:latin typeface="Lucida Sans Unicode"/>
                <a:cs typeface="Lucida Sans Unicode"/>
              </a:rPr>
              <a:t>D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U.S.A </a:t>
            </a:r>
            <a:r>
              <a:rPr dirty="0" sz="1200" spc="-5">
                <a:latin typeface="Times New Roman"/>
                <a:cs typeface="Times New Roman"/>
              </a:rPr>
              <a:t>coins are</a:t>
            </a:r>
            <a:r>
              <a:rPr dirty="0" sz="1200" spc="-10">
                <a:latin typeface="Times New Roman"/>
                <a:cs typeface="Times New Roman"/>
              </a:rPr>
              <a:t> multiples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 cents,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10 cents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25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cents.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88265">
              <a:lnSpc>
                <a:spcPct val="100000"/>
              </a:lnSpc>
              <a:spcBef>
                <a:spcPts val="905"/>
              </a:spcBef>
              <a:tabLst>
                <a:tab pos="6350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7.1.1	</a:t>
            </a:r>
            <a:r>
              <a:rPr dirty="0" sz="1400" spc="15" b="1">
                <a:latin typeface="Times New Roman"/>
                <a:cs typeface="Times New Roman"/>
              </a:rPr>
              <a:t>Making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Change:</a:t>
            </a:r>
            <a:r>
              <a:rPr dirty="0" sz="1400" spc="8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Dynamic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Programming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Solution</a:t>
            </a:r>
            <a:endParaRPr sz="1400">
              <a:latin typeface="Times New Roman"/>
              <a:cs typeface="Times New Roman"/>
            </a:endParaRPr>
          </a:p>
          <a:p>
            <a:pPr marL="88265">
              <a:lnSpc>
                <a:spcPct val="100000"/>
              </a:lnSpc>
              <a:spcBef>
                <a:spcPts val="128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change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Table,</a:t>
            </a:r>
            <a:endParaRPr sz="1200">
              <a:latin typeface="Times New Roman"/>
              <a:cs typeface="Times New Roman"/>
            </a:endParaRPr>
          </a:p>
          <a:p>
            <a:pPr algn="ctr" marR="40005">
              <a:lnSpc>
                <a:spcPct val="100000"/>
              </a:lnSpc>
              <a:spcBef>
                <a:spcPts val="5"/>
              </a:spcBef>
            </a:pPr>
            <a:r>
              <a:rPr dirty="0" sz="1200" spc="-50">
                <a:latin typeface="Lucida Sans Unicode"/>
                <a:cs typeface="Lucida Sans Unicode"/>
              </a:rPr>
              <a:t>C</a:t>
            </a:r>
            <a:r>
              <a:rPr dirty="0" sz="1200" spc="-50">
                <a:latin typeface="Garamond"/>
                <a:cs typeface="Garamond"/>
              </a:rPr>
              <a:t>[</a:t>
            </a:r>
            <a:r>
              <a:rPr dirty="0" sz="1200" spc="-50">
                <a:latin typeface="Lucida Sans Unicode"/>
                <a:cs typeface="Lucida Sans Unicode"/>
              </a:rPr>
              <a:t>1..k,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0..N</a:t>
            </a:r>
            <a:r>
              <a:rPr dirty="0" sz="1200" spc="-30">
                <a:latin typeface="Garamond"/>
                <a:cs typeface="Garamond"/>
              </a:rPr>
              <a:t>]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rows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available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denominations,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d</a:t>
            </a:r>
            <a:r>
              <a:rPr dirty="0" baseline="-13888" sz="1200" spc="44">
                <a:latin typeface="Verdana"/>
                <a:cs typeface="Verdana"/>
              </a:rPr>
              <a:t>i</a:t>
            </a:r>
            <a:r>
              <a:rPr dirty="0" sz="1200" spc="30">
                <a:latin typeface="Times New Roman"/>
                <a:cs typeface="Times New Roman"/>
              </a:rPr>
              <a:t>;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85">
                <a:latin typeface="Times New Roman"/>
                <a:cs typeface="Times New Roman"/>
              </a:rPr>
              <a:t>(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5">
                <a:latin typeface="Segoe UI Symbol"/>
                <a:cs typeface="Segoe UI Symbol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5">
                <a:latin typeface="Segoe UI Symbol"/>
                <a:cs typeface="Segoe UI Symbol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columns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1693" y="7673010"/>
            <a:ext cx="62725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amount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units, </a:t>
            </a:r>
            <a:r>
              <a:rPr dirty="0" sz="1200" spc="-85">
                <a:latin typeface="Times New Roman"/>
                <a:cs typeface="Times New Roman"/>
              </a:rPr>
              <a:t>(</a:t>
            </a:r>
            <a:r>
              <a:rPr dirty="0" sz="1200" spc="-85">
                <a:latin typeface="Lucida Sans Unicode"/>
                <a:cs typeface="Lucida Sans Unicode"/>
              </a:rPr>
              <a:t>0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N</a:t>
            </a:r>
            <a:r>
              <a:rPr dirty="0" sz="1200" spc="30">
                <a:latin typeface="Times New Roman"/>
                <a:cs typeface="Times New Roman"/>
              </a:rPr>
              <a:t>).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C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i,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denotes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coins,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required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7" y="7789826"/>
            <a:ext cx="5263515" cy="523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6100"/>
              </a:lnSpc>
              <a:spcBef>
                <a:spcPts val="100"/>
              </a:spcBef>
            </a:pP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Times New Roman"/>
                <a:cs typeface="Times New Roman"/>
              </a:rPr>
              <a:t>amount </a:t>
            </a:r>
            <a:r>
              <a:rPr dirty="0" sz="1200" spc="30">
                <a:latin typeface="Lucida Sans Unicode"/>
                <a:cs typeface="Lucida Sans Unicode"/>
              </a:rPr>
              <a:t>j </a:t>
            </a:r>
            <a:r>
              <a:rPr dirty="0" sz="1200" spc="-5">
                <a:latin typeface="Times New Roman"/>
                <a:cs typeface="Times New Roman"/>
              </a:rPr>
              <a:t>using </a:t>
            </a:r>
            <a:r>
              <a:rPr dirty="0" sz="1200" spc="-10">
                <a:latin typeface="Times New Roman"/>
                <a:cs typeface="Times New Roman"/>
              </a:rPr>
              <a:t>only </a:t>
            </a:r>
            <a:r>
              <a:rPr dirty="0" sz="1200" spc="-5">
                <a:latin typeface="Times New Roman"/>
                <a:cs typeface="Times New Roman"/>
              </a:rPr>
              <a:t>coins of </a:t>
            </a:r>
            <a:r>
              <a:rPr dirty="0" sz="1200" spc="-10">
                <a:latin typeface="Times New Roman"/>
                <a:cs typeface="Times New Roman"/>
              </a:rPr>
              <a:t>denominations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C[k, N] is </a:t>
            </a:r>
            <a:r>
              <a:rPr dirty="0" sz="1200" spc="-10">
                <a:latin typeface="Times New Roman"/>
                <a:cs typeface="Times New Roman"/>
              </a:rPr>
              <a:t>the solution required.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pay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amount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units,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 coins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denominations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choices: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59746" y="8469338"/>
            <a:ext cx="5041265" cy="514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26060" indent="-188595">
              <a:lnSpc>
                <a:spcPct val="100000"/>
              </a:lnSpc>
              <a:spcBef>
                <a:spcPts val="95"/>
              </a:spcBef>
              <a:buAutoNum type="arabicPeriod"/>
              <a:tabLst>
                <a:tab pos="226695" algn="l"/>
              </a:tabLst>
            </a:pPr>
            <a:r>
              <a:rPr dirty="0" sz="1200" spc="-5">
                <a:latin typeface="Times New Roman"/>
                <a:cs typeface="Times New Roman"/>
              </a:rPr>
              <a:t>either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chose </a:t>
            </a:r>
            <a:r>
              <a:rPr dirty="0" sz="1200" spc="-25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to use</a:t>
            </a:r>
            <a:r>
              <a:rPr dirty="0" sz="1200" spc="-10">
                <a:latin typeface="Times New Roman"/>
                <a:cs typeface="Times New Roman"/>
              </a:rPr>
              <a:t> any</a:t>
            </a:r>
            <a:r>
              <a:rPr dirty="0" sz="1200" spc="-5">
                <a:latin typeface="Times New Roman"/>
                <a:cs typeface="Times New Roman"/>
              </a:rPr>
              <a:t> coins of </a:t>
            </a:r>
            <a:r>
              <a:rPr dirty="0" sz="1200" spc="-10">
                <a:latin typeface="Times New Roman"/>
                <a:cs typeface="Times New Roman"/>
              </a:rPr>
              <a:t>denomination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 marL="226060" indent="-188595">
              <a:lnSpc>
                <a:spcPct val="100000"/>
              </a:lnSpc>
              <a:spcBef>
                <a:spcPts val="969"/>
              </a:spcBef>
              <a:buAutoNum type="arabicPeriod"/>
              <a:tabLst>
                <a:tab pos="226695" algn="l"/>
              </a:tabLst>
            </a:pPr>
            <a:r>
              <a:rPr dirty="0" sz="1200" spc="-5">
                <a:latin typeface="Times New Roman"/>
                <a:cs typeface="Times New Roman"/>
              </a:rPr>
              <a:t>or chose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coin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denomination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 pay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amount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Garamond"/>
                <a:cs typeface="Garamond"/>
              </a:rPr>
              <a:t>(</a:t>
            </a:r>
            <a:r>
              <a:rPr dirty="0" sz="1200" spc="70">
                <a:latin typeface="Lucida Sans Unicode"/>
                <a:cs typeface="Lucida Sans Unicode"/>
              </a:rPr>
              <a:t>j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d</a:t>
            </a:r>
            <a:r>
              <a:rPr dirty="0" baseline="-13888" sz="1200" spc="75">
                <a:latin typeface="Verdana"/>
                <a:cs typeface="Verdana"/>
              </a:rPr>
              <a:t>i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974668" y="6127800"/>
            <a:ext cx="2506980" cy="144780"/>
          </a:xfrm>
          <a:custGeom>
            <a:avLst/>
            <a:gdLst/>
            <a:ahLst/>
            <a:cxnLst/>
            <a:rect l="l" t="t" r="r" b="b"/>
            <a:pathLst>
              <a:path w="2506979" h="144779">
                <a:moveTo>
                  <a:pt x="2506878" y="0"/>
                </a:moveTo>
                <a:lnTo>
                  <a:pt x="0" y="0"/>
                </a:lnTo>
                <a:lnTo>
                  <a:pt x="0" y="144691"/>
                </a:lnTo>
                <a:lnTo>
                  <a:pt x="2506878" y="144691"/>
                </a:lnTo>
                <a:lnTo>
                  <a:pt x="2506878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914400" y="6127800"/>
            <a:ext cx="3013710" cy="144780"/>
          </a:xfrm>
          <a:custGeom>
            <a:avLst/>
            <a:gdLst/>
            <a:ahLst/>
            <a:cxnLst/>
            <a:rect l="l" t="t" r="r" b="b"/>
            <a:pathLst>
              <a:path w="3013710" h="144779">
                <a:moveTo>
                  <a:pt x="3013189" y="0"/>
                </a:moveTo>
                <a:lnTo>
                  <a:pt x="0" y="0"/>
                </a:lnTo>
                <a:lnTo>
                  <a:pt x="0" y="144691"/>
                </a:lnTo>
                <a:lnTo>
                  <a:pt x="3013189" y="144691"/>
                </a:lnTo>
                <a:lnTo>
                  <a:pt x="3013189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406347" y="6852856"/>
            <a:ext cx="3647440" cy="195580"/>
          </a:xfrm>
          <a:custGeom>
            <a:avLst/>
            <a:gdLst/>
            <a:ahLst/>
            <a:cxnLst/>
            <a:rect l="l" t="t" r="r" b="b"/>
            <a:pathLst>
              <a:path w="3647440" h="195579">
                <a:moveTo>
                  <a:pt x="3647122" y="0"/>
                </a:moveTo>
                <a:lnTo>
                  <a:pt x="0" y="0"/>
                </a:lnTo>
                <a:lnTo>
                  <a:pt x="0" y="195237"/>
                </a:lnTo>
                <a:lnTo>
                  <a:pt x="3647122" y="195237"/>
                </a:lnTo>
                <a:lnTo>
                  <a:pt x="3647122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01699" y="520987"/>
            <a:ext cx="354774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7.2.</a:t>
            </a:r>
            <a:r>
              <a:rPr dirty="0" sz="1200" spc="38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GREEDY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ENCODING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150706" y="523090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9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914400" y="2580588"/>
            <a:ext cx="5486400" cy="2818765"/>
          </a:xfrm>
          <a:custGeom>
            <a:avLst/>
            <a:gdLst/>
            <a:ahLst/>
            <a:cxnLst/>
            <a:rect l="l" t="t" r="r" b="b"/>
            <a:pathLst>
              <a:path w="5486400" h="2818765">
                <a:moveTo>
                  <a:pt x="5130" y="5181"/>
                </a:moveTo>
                <a:lnTo>
                  <a:pt x="0" y="5181"/>
                </a:lnTo>
                <a:lnTo>
                  <a:pt x="0" y="2818434"/>
                </a:lnTo>
                <a:lnTo>
                  <a:pt x="5130" y="2818434"/>
                </a:lnTo>
                <a:lnTo>
                  <a:pt x="5130" y="5181"/>
                </a:lnTo>
                <a:close/>
              </a:path>
              <a:path w="5486400" h="2818765">
                <a:moveTo>
                  <a:pt x="5486400" y="0"/>
                </a:moveTo>
                <a:lnTo>
                  <a:pt x="0" y="0"/>
                </a:lnTo>
                <a:lnTo>
                  <a:pt x="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850896" y="926454"/>
            <a:ext cx="5010150" cy="35064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</a:pPr>
            <a:r>
              <a:rPr dirty="0" sz="1200" spc="-10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unit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oin</a:t>
            </a:r>
            <a:r>
              <a:rPr dirty="0" sz="1200" spc="-5">
                <a:latin typeface="Times New Roman"/>
                <a:cs typeface="Times New Roman"/>
              </a:rPr>
              <a:t>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hu</a:t>
            </a:r>
            <a:r>
              <a:rPr dirty="0" sz="1200" spc="-5">
                <a:latin typeface="Times New Roman"/>
                <a:cs typeface="Times New Roman"/>
              </a:rPr>
              <a:t>s,</a:t>
            </a:r>
            <a:endParaRPr sz="1200">
              <a:latin typeface="Times New Roman"/>
              <a:cs typeface="Times New Roman"/>
            </a:endParaRPr>
          </a:p>
          <a:p>
            <a:pPr algn="ctr" marL="1517650">
              <a:lnSpc>
                <a:spcPct val="100000"/>
              </a:lnSpc>
              <a:spcBef>
                <a:spcPts val="940"/>
              </a:spcBef>
            </a:pP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63500">
              <a:lnSpc>
                <a:spcPct val="100000"/>
              </a:lnSpc>
              <a:spcBef>
                <a:spcPts val="935"/>
              </a:spcBef>
            </a:pPr>
            <a:r>
              <a:rPr dirty="0" sz="1200" spc="-5">
                <a:latin typeface="Times New Roman"/>
                <a:cs typeface="Times New Roman"/>
              </a:rPr>
              <a:t>Since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 spc="-5">
                <a:latin typeface="Times New Roman"/>
                <a:cs typeface="Times New Roman"/>
              </a:rPr>
              <a:t> to </a:t>
            </a:r>
            <a:r>
              <a:rPr dirty="0" sz="1200" spc="-10">
                <a:latin typeface="Times New Roman"/>
                <a:cs typeface="Times New Roman"/>
              </a:rPr>
              <a:t>minimize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of coins used,</a:t>
            </a:r>
            <a:endParaRPr sz="1200">
              <a:latin typeface="Times New Roman"/>
              <a:cs typeface="Times New Roman"/>
            </a:endParaRPr>
          </a:p>
          <a:p>
            <a:pPr algn="ctr" marL="1518285">
              <a:lnSpc>
                <a:spcPct val="100000"/>
              </a:lnSpc>
              <a:spcBef>
                <a:spcPts val="940"/>
              </a:spcBef>
            </a:pP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63500">
              <a:lnSpc>
                <a:spcPct val="100000"/>
              </a:lnSpc>
              <a:spcBef>
                <a:spcPts val="940"/>
              </a:spcBef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change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750">
              <a:latin typeface="Times New Roman"/>
              <a:cs typeface="Times New Roman"/>
            </a:endParaRPr>
          </a:p>
          <a:p>
            <a:pPr marL="109855">
              <a:lnSpc>
                <a:spcPct val="100000"/>
              </a:lnSpc>
            </a:pPr>
            <a:r>
              <a:rPr dirty="0" sz="950" spc="70">
                <a:latin typeface="Times New Roman"/>
                <a:cs typeface="Times New Roman"/>
              </a:rPr>
              <a:t>COINS</a:t>
            </a:r>
            <a:r>
              <a:rPr dirty="0" sz="1200" spc="70">
                <a:latin typeface="Garamond"/>
                <a:cs typeface="Garamond"/>
              </a:rPr>
              <a:t>(</a:t>
            </a:r>
            <a:r>
              <a:rPr dirty="0" sz="1200" spc="70">
                <a:latin typeface="Lucida Sans Unicode"/>
                <a:cs typeface="Lucida Sans Unicode"/>
              </a:rPr>
              <a:t>N</a:t>
            </a:r>
            <a:r>
              <a:rPr dirty="0" sz="1200" spc="7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22275" indent="-2025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22909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{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6</a:t>
            </a:r>
            <a:r>
              <a:rPr dirty="0" sz="1200" spc="-10">
                <a:latin typeface="Lucida Sans Unicode"/>
                <a:cs typeface="Lucida Sans Unicode"/>
              </a:rPr>
              <a:t>}</a:t>
            </a:r>
            <a:r>
              <a:rPr dirty="0" sz="1200">
                <a:latin typeface="Lucida Sans Unicode"/>
                <a:cs typeface="Lucida Sans Unicode"/>
              </a:rPr>
              <a:t>  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/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(</a:t>
            </a:r>
            <a:r>
              <a:rPr dirty="0" sz="1200" spc="-5" i="1">
                <a:latin typeface="Times New Roman"/>
                <a:cs typeface="Times New Roman"/>
              </a:rPr>
              <a:t>c</a:t>
            </a:r>
            <a:r>
              <a:rPr dirty="0" sz="1200" spc="-10" i="1">
                <a:latin typeface="Times New Roman"/>
                <a:cs typeface="Times New Roman"/>
              </a:rPr>
              <a:t>oin</a:t>
            </a:r>
            <a:r>
              <a:rPr dirty="0" sz="1200" spc="-20" i="1">
                <a:latin typeface="Times New Roman"/>
                <a:cs typeface="Times New Roman"/>
              </a:rPr>
              <a:t>age</a:t>
            </a:r>
            <a:r>
              <a:rPr dirty="0" sz="1200" spc="-5" i="1">
                <a:latin typeface="Times New Roman"/>
                <a:cs typeface="Times New Roman"/>
              </a:rPr>
              <a:t>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fo</a:t>
            </a:r>
            <a:r>
              <a:rPr dirty="0" sz="1200" spc="-5" i="1">
                <a:latin typeface="Times New Roman"/>
                <a:cs typeface="Times New Roman"/>
              </a:rPr>
              <a:t>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30" i="1">
                <a:latin typeface="Times New Roman"/>
                <a:cs typeface="Times New Roman"/>
              </a:rPr>
              <a:t>e</a:t>
            </a:r>
            <a:r>
              <a:rPr dirty="0" sz="1200" spc="-5" i="1">
                <a:latin typeface="Times New Roman"/>
                <a:cs typeface="Times New Roman"/>
              </a:rPr>
              <a:t>x</a:t>
            </a:r>
            <a:r>
              <a:rPr dirty="0" sz="1200" spc="-10" i="1">
                <a:latin typeface="Times New Roman"/>
                <a:cs typeface="Times New Roman"/>
              </a:rPr>
              <a:t>ampl</a:t>
            </a:r>
            <a:r>
              <a:rPr dirty="0" sz="1200" spc="-5" i="1">
                <a:latin typeface="Times New Roman"/>
                <a:cs typeface="Times New Roman"/>
              </a:rPr>
              <a:t>e)</a:t>
            </a:r>
            <a:endParaRPr sz="1200">
              <a:latin typeface="Times New Roman"/>
              <a:cs typeface="Times New Roman"/>
            </a:endParaRPr>
          </a:p>
          <a:p>
            <a:pPr marL="447675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47675" algn="l"/>
                <a:tab pos="448309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2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endParaRPr sz="1200">
              <a:latin typeface="Lucida Sans Unicode"/>
              <a:cs typeface="Lucida Sans Unicode"/>
            </a:endParaRPr>
          </a:p>
          <a:p>
            <a:pPr marL="220345">
              <a:lnSpc>
                <a:spcPct val="100000"/>
              </a:lnSpc>
              <a:spcBef>
                <a:spcPts val="5"/>
              </a:spcBef>
              <a:tabLst>
                <a:tab pos="447675" algn="l"/>
              </a:tabLst>
            </a:pPr>
            <a:r>
              <a:rPr dirty="0" sz="1200" spc="-5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0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 marL="447675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4"/>
              <a:tabLst>
                <a:tab pos="447675" algn="l"/>
                <a:tab pos="448309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2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endParaRPr sz="1200">
              <a:latin typeface="Lucida Sans Unicode"/>
              <a:cs typeface="Lucida Sans Unicode"/>
            </a:endParaRPr>
          </a:p>
          <a:p>
            <a:pPr marL="447675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4"/>
              <a:tabLst>
                <a:tab pos="447675" algn="l"/>
                <a:tab pos="448309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5" b="1">
                <a:latin typeface="Times New Roman"/>
                <a:cs typeface="Times New Roman"/>
              </a:rPr>
              <a:t> for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2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646430" indent="-426084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4"/>
              <a:tabLst>
                <a:tab pos="645795" algn="l"/>
                <a:tab pos="64643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5">
                <a:latin typeface="Garamond"/>
                <a:cs typeface="Garamond"/>
              </a:rPr>
              <a:t>&amp;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975360" indent="-75565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4"/>
              <a:tabLst>
                <a:tab pos="974725" algn="l"/>
                <a:tab pos="975994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∞</a:t>
            </a:r>
            <a:endParaRPr sz="1200">
              <a:latin typeface="Lucida Sans Unicode"/>
              <a:cs typeface="Lucida Sans Unicode"/>
            </a:endParaRPr>
          </a:p>
          <a:p>
            <a:pPr marL="975360" indent="-75565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4"/>
              <a:tabLst>
                <a:tab pos="974725" algn="l"/>
                <a:tab pos="975994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else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Garamond"/>
                <a:cs typeface="Garamond"/>
              </a:rPr>
              <a:t>(</a:t>
            </a:r>
            <a:r>
              <a:rPr dirty="0" sz="1200" spc="95">
                <a:latin typeface="Lucida Sans Unicode"/>
                <a:cs typeface="Lucida Sans Unicode"/>
              </a:rPr>
              <a:t>i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220345">
              <a:lnSpc>
                <a:spcPct val="100000"/>
              </a:lnSpc>
              <a:spcBef>
                <a:spcPts val="5"/>
              </a:spcBef>
              <a:tabLst>
                <a:tab pos="1430655" algn="l"/>
              </a:tabLst>
            </a:pPr>
            <a:r>
              <a:rPr dirty="0" sz="1200" spc="-5">
                <a:latin typeface="Times New Roman"/>
                <a:cs typeface="Times New Roman"/>
              </a:rPr>
              <a:t>9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]]</a:t>
            </a:r>
            <a:endParaRPr sz="1200">
              <a:latin typeface="Garamond"/>
              <a:cs typeface="Garamond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963569" y="4437606"/>
          <a:ext cx="4785995" cy="7194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71905"/>
                <a:gridCol w="326390"/>
                <a:gridCol w="3187065"/>
              </a:tblGrid>
              <a:tr h="176226">
                <a:tc>
                  <a:txBody>
                    <a:bodyPr/>
                    <a:lstStyle/>
                    <a:p>
                      <a:pPr marL="31750">
                        <a:lnSpc>
                          <a:spcPts val="129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720">
                        <a:lnSpc>
                          <a:spcPts val="129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else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129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(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j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&lt;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i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)</a:t>
                      </a:r>
                      <a:endParaRPr sz="1200">
                        <a:latin typeface="Garamond"/>
                        <a:cs typeface="Garamond"/>
                      </a:endParaRPr>
                    </a:p>
                  </a:txBody>
                  <a:tcPr marL="0" marR="0" marB="0" marT="0"/>
                </a:tc>
              </a:tr>
              <a:tr h="185578">
                <a:tc>
                  <a:txBody>
                    <a:bodyPr/>
                    <a:lstStyle/>
                    <a:p>
                      <a:pPr marL="31750">
                        <a:lnSpc>
                          <a:spcPts val="136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ts val="1360"/>
                        </a:lnSpc>
                      </a:pP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hen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i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j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←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i</a:t>
                      </a:r>
                      <a:r>
                        <a:rPr dirty="0" sz="1200" spc="-114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−</a:t>
                      </a:r>
                      <a:r>
                        <a:rPr dirty="0" sz="1200" spc="-35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j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endParaRPr sz="1200">
                        <a:latin typeface="Garamond"/>
                        <a:cs typeface="Garamond"/>
                      </a:endParaRPr>
                    </a:p>
                  </a:txBody>
                  <a:tcPr marL="0" marR="0" marB="0" marT="0"/>
                </a:tc>
              </a:tr>
              <a:tr h="183451">
                <a:tc>
                  <a:txBody>
                    <a:bodyPr/>
                    <a:lstStyle/>
                    <a:p>
                      <a:pPr marL="31750">
                        <a:lnSpc>
                          <a:spcPts val="134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ts val="134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9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i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j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r>
                        <a:rPr dirty="0" sz="1200" spc="30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←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13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mi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(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i</a:t>
                      </a:r>
                      <a:r>
                        <a:rPr dirty="0" sz="1200" spc="-114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−</a:t>
                      </a:r>
                      <a:r>
                        <a:rPr dirty="0" sz="1200" spc="-35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j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]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dirty="0" sz="1200" spc="-114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+</a:t>
                      </a:r>
                      <a:r>
                        <a:rPr dirty="0" sz="1200" spc="-35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i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j</a:t>
                      </a:r>
                      <a:r>
                        <a:rPr dirty="0" sz="1200" spc="-114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−</a:t>
                      </a:r>
                      <a:r>
                        <a:rPr dirty="0" sz="1200" spc="-35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i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]]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)</a:t>
                      </a:r>
                      <a:endParaRPr sz="1200">
                        <a:latin typeface="Garamond"/>
                        <a:cs typeface="Garamond"/>
                      </a:endParaRPr>
                    </a:p>
                  </a:txBody>
                  <a:tcPr marL="0" marR="0" marB="0" marT="0"/>
                </a:tc>
              </a:tr>
              <a:tr h="174099">
                <a:tc>
                  <a:txBody>
                    <a:bodyPr/>
                    <a:lstStyle/>
                    <a:p>
                      <a:pPr marL="31750">
                        <a:lnSpc>
                          <a:spcPts val="1270"/>
                        </a:lnSpc>
                        <a:tabLst>
                          <a:tab pos="335280" algn="l"/>
                        </a:tabLst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25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2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dirty="0" sz="1200" spc="-5">
                          <a:latin typeface="Garamond"/>
                          <a:cs typeface="Garamond"/>
                        </a:rPr>
                        <a:t>[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k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dirty="0" sz="1200" spc="-1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5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dirty="0" sz="1200">
                          <a:latin typeface="Garamond"/>
                          <a:cs typeface="Garamond"/>
                        </a:rPr>
                        <a:t>]</a:t>
                      </a:r>
                      <a:endParaRPr sz="1200">
                        <a:latin typeface="Garamond"/>
                        <a:cs typeface="Garamond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914400" y="2585770"/>
            <a:ext cx="5487035" cy="2819400"/>
          </a:xfrm>
          <a:custGeom>
            <a:avLst/>
            <a:gdLst/>
            <a:ahLst/>
            <a:cxnLst/>
            <a:rect l="l" t="t" r="r" b="b"/>
            <a:pathLst>
              <a:path w="5487035" h="2819400">
                <a:moveTo>
                  <a:pt x="5486400" y="2814218"/>
                </a:moveTo>
                <a:lnTo>
                  <a:pt x="0" y="2814218"/>
                </a:lnTo>
                <a:lnTo>
                  <a:pt x="0" y="2819349"/>
                </a:lnTo>
                <a:lnTo>
                  <a:pt x="5486400" y="2819349"/>
                </a:lnTo>
                <a:lnTo>
                  <a:pt x="5486400" y="2814218"/>
                </a:lnTo>
                <a:close/>
              </a:path>
              <a:path w="5487035" h="2819400">
                <a:moveTo>
                  <a:pt x="5486959" y="0"/>
                </a:moveTo>
                <a:lnTo>
                  <a:pt x="5481828" y="0"/>
                </a:lnTo>
                <a:lnTo>
                  <a:pt x="5481828" y="2813253"/>
                </a:lnTo>
                <a:lnTo>
                  <a:pt x="5486959" y="2813253"/>
                </a:lnTo>
                <a:lnTo>
                  <a:pt x="5486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838198" y="5693600"/>
            <a:ext cx="6456045" cy="175704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35"/>
              </a:spcBef>
              <a:tabLst>
                <a:tab pos="6223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7.1.2	</a:t>
            </a:r>
            <a:r>
              <a:rPr dirty="0" sz="1400" spc="15" b="1">
                <a:latin typeface="Times New Roman"/>
                <a:cs typeface="Times New Roman"/>
              </a:rPr>
              <a:t>Complexity</a:t>
            </a:r>
            <a:r>
              <a:rPr dirty="0" sz="1400" spc="-1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of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Coin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Change</a:t>
            </a:r>
            <a:r>
              <a:rPr dirty="0" sz="1400" spc="-10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1285"/>
              </a:spcBef>
            </a:pPr>
            <a:r>
              <a:rPr dirty="0" sz="1200" spc="-5">
                <a:latin typeface="Times New Roman"/>
                <a:cs typeface="Times New Roman"/>
              </a:rPr>
              <a:t>Greedy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(non-optimal)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O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k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O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kN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5"/>
              </a:spcBef>
            </a:pPr>
            <a:r>
              <a:rPr dirty="0" sz="1200" spc="10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2</a:t>
            </a:r>
            <a:r>
              <a:rPr dirty="0" baseline="31250" sz="1200" spc="-75">
                <a:latin typeface="Verdana"/>
                <a:cs typeface="Verdana"/>
              </a:rPr>
              <a:t>k</a:t>
            </a:r>
            <a:r>
              <a:rPr dirty="0" baseline="31250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exponential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1115"/>
              </a:spcBef>
              <a:tabLst>
                <a:tab pos="5676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7.2	</a:t>
            </a:r>
            <a:r>
              <a:rPr dirty="0" sz="1700" b="1">
                <a:latin typeface="Times New Roman"/>
                <a:cs typeface="Times New Roman"/>
              </a:rPr>
              <a:t>Greedy</a:t>
            </a:r>
            <a:r>
              <a:rPr dirty="0" sz="1700" spc="5" b="1">
                <a:latin typeface="Times New Roman"/>
                <a:cs typeface="Times New Roman"/>
              </a:rPr>
              <a:t> Algorithm:</a:t>
            </a:r>
            <a:r>
              <a:rPr dirty="0" sz="1700" spc="11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Huffman</a:t>
            </a:r>
            <a:r>
              <a:rPr dirty="0" sz="1700" spc="1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Encoding</a:t>
            </a:r>
            <a:endParaRPr sz="17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165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provide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method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encoding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efficiently.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Normally,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coded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01699" y="7426007"/>
            <a:ext cx="20269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standard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codes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ASCII.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953956" y="7485164"/>
            <a:ext cx="435229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Each character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represented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fixed-length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codeword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bits,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e.g.,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14247" y="7668615"/>
            <a:ext cx="107569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bits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character.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023703" y="7609458"/>
            <a:ext cx="4966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Fixed-length</a:t>
            </a:r>
            <a:r>
              <a:rPr dirty="0" sz="1200" spc="-5">
                <a:latin typeface="Times New Roman"/>
                <a:cs typeface="Times New Roman"/>
              </a:rPr>
              <a:t> codes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popular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easy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break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string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01699" y="7792910"/>
            <a:ext cx="6313170" cy="574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individual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access </a:t>
            </a:r>
            <a:r>
              <a:rPr dirty="0" sz="1200" spc="-10">
                <a:latin typeface="Times New Roman"/>
                <a:cs typeface="Times New Roman"/>
              </a:rPr>
              <a:t>individual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substrings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direct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indexing.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 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fixed-length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codes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perspective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minimizing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quantity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918068" y="8467800"/>
            <a:ext cx="105410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abacdaacac”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01699" y="8408644"/>
            <a:ext cx="63627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69464" algn="l"/>
              </a:tabLst>
            </a:pP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stri	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string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coded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ASCII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codes,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message </a:t>
            </a:r>
            <a:r>
              <a:rPr dirty="0" sz="1200" spc="-10">
                <a:latin typeface="Times New Roman"/>
                <a:cs typeface="Times New Roman"/>
              </a:rPr>
              <a:t>length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be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14400" y="8648522"/>
            <a:ext cx="1452880" cy="14097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90"/>
              </a:lnSpc>
            </a:pPr>
            <a:r>
              <a:rPr dirty="0" sz="1200" spc="-165">
                <a:latin typeface="Lucida Sans Unicode"/>
                <a:cs typeface="Lucida Sans Unicode"/>
              </a:rPr>
              <a:t>10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×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80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bit</a:t>
            </a:r>
            <a:r>
              <a:rPr dirty="0" sz="1200" spc="-5">
                <a:latin typeface="Times New Roman"/>
                <a:cs typeface="Times New Roman"/>
              </a:rPr>
              <a:t>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354282" y="8592095"/>
            <a:ext cx="4546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ill see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shortly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 string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encoded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length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01711" y="8775547"/>
            <a:ext cx="30321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encoding</a:t>
            </a:r>
            <a:r>
              <a:rPr dirty="0" sz="1200" spc="-5">
                <a:latin typeface="Times New Roman"/>
                <a:cs typeface="Times New Roman"/>
              </a:rPr>
              <a:t> scheme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produce</a:t>
            </a:r>
            <a:r>
              <a:rPr dirty="0" sz="1200" spc="-5">
                <a:latin typeface="Times New Roman"/>
                <a:cs typeface="Times New Roman"/>
              </a:rPr>
              <a:t> a shorter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message.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4400" y="2065515"/>
            <a:ext cx="4490720" cy="138430"/>
          </a:xfrm>
          <a:custGeom>
            <a:avLst/>
            <a:gdLst/>
            <a:ahLst/>
            <a:cxnLst/>
            <a:rect l="l" t="t" r="r" b="b"/>
            <a:pathLst>
              <a:path w="4490720" h="138430">
                <a:moveTo>
                  <a:pt x="4490593" y="0"/>
                </a:moveTo>
                <a:lnTo>
                  <a:pt x="0" y="0"/>
                </a:lnTo>
                <a:lnTo>
                  <a:pt x="0" y="138023"/>
                </a:lnTo>
                <a:lnTo>
                  <a:pt x="4490593" y="138023"/>
                </a:lnTo>
                <a:lnTo>
                  <a:pt x="4490593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3189185" y="2248966"/>
            <a:ext cx="691515" cy="138430"/>
          </a:xfrm>
          <a:custGeom>
            <a:avLst/>
            <a:gdLst/>
            <a:ahLst/>
            <a:cxnLst/>
            <a:rect l="l" t="t" r="r" b="b"/>
            <a:pathLst>
              <a:path w="691514" h="138430">
                <a:moveTo>
                  <a:pt x="691261" y="0"/>
                </a:moveTo>
                <a:lnTo>
                  <a:pt x="0" y="0"/>
                </a:lnTo>
                <a:lnTo>
                  <a:pt x="0" y="138023"/>
                </a:lnTo>
                <a:lnTo>
                  <a:pt x="691261" y="138023"/>
                </a:lnTo>
                <a:lnTo>
                  <a:pt x="691261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460982" y="967447"/>
            <a:ext cx="2348865" cy="163195"/>
          </a:xfrm>
          <a:custGeom>
            <a:avLst/>
            <a:gdLst/>
            <a:ahLst/>
            <a:cxnLst/>
            <a:rect l="l" t="t" r="r" b="b"/>
            <a:pathLst>
              <a:path w="2348865" h="163194">
                <a:moveTo>
                  <a:pt x="2348509" y="0"/>
                </a:moveTo>
                <a:lnTo>
                  <a:pt x="0" y="0"/>
                </a:lnTo>
                <a:lnTo>
                  <a:pt x="0" y="162712"/>
                </a:lnTo>
                <a:lnTo>
                  <a:pt x="2348509" y="162712"/>
                </a:lnTo>
                <a:lnTo>
                  <a:pt x="2348509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3020567" y="3252661"/>
          <a:ext cx="2201545" cy="5708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4930"/>
                <a:gridCol w="741680"/>
                <a:gridCol w="342900"/>
                <a:gridCol w="341629"/>
                <a:gridCol w="341630"/>
                <a:gridCol w="208914"/>
                <a:gridCol w="66675"/>
                <a:gridCol w="76200"/>
              </a:tblGrid>
              <a:tr h="13230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4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character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4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4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4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4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 gridSpan="2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51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27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frequency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88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probability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0.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10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733376" y="520987"/>
            <a:ext cx="259524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GREEDY</a:t>
            </a:r>
            <a:r>
              <a:rPr dirty="0" sz="1200" spc="-10">
                <a:latin typeface="Times New Roman"/>
                <a:cs typeface="Times New Roman"/>
              </a:rPr>
              <a:t> ALGORITHMS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01699" y="896087"/>
            <a:ext cx="6396990" cy="9512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7.2.1	</a:t>
            </a:r>
            <a:r>
              <a:rPr dirty="0" sz="1400" spc="15" b="1">
                <a:latin typeface="Times New Roman"/>
                <a:cs typeface="Times New Roman"/>
              </a:rPr>
              <a:t>Huffman</a:t>
            </a:r>
            <a:r>
              <a:rPr dirty="0" sz="1400" spc="-1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Encoding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23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encoding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works.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message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string,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determine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frequency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occurrence </a:t>
            </a:r>
            <a:r>
              <a:rPr dirty="0" sz="1200" spc="-10">
                <a:latin typeface="Times New Roman"/>
                <a:cs typeface="Times New Roman"/>
              </a:rPr>
              <a:t>(relative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probability)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message.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done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parsing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01699" y="1822909"/>
            <a:ext cx="4544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message and </a:t>
            </a:r>
            <a:r>
              <a:rPr dirty="0" sz="1200" spc="-10">
                <a:latin typeface="Times New Roman"/>
                <a:cs typeface="Times New Roman"/>
              </a:rPr>
              <a:t>counting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each character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(or</a:t>
            </a:r>
            <a:r>
              <a:rPr dirty="0" sz="1200" spc="-5">
                <a:latin typeface="Times New Roman"/>
                <a:cs typeface="Times New Roman"/>
              </a:rPr>
              <a:t> symbol)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appears.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479656" y="1882063"/>
            <a:ext cx="1805939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probability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01699" y="2006361"/>
            <a:ext cx="583184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of occurrence of a character </a:t>
            </a:r>
            <a:r>
              <a:rPr dirty="0" sz="1200" spc="-10">
                <a:latin typeface="Times New Roman"/>
                <a:cs typeface="Times New Roman"/>
              </a:rPr>
              <a:t>divided</a:t>
            </a:r>
            <a:r>
              <a:rPr dirty="0" sz="1200" spc="-5">
                <a:latin typeface="Times New Roman"/>
                <a:cs typeface="Times New Roman"/>
              </a:rPr>
              <a:t> by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total characters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message.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frequencies 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probabilities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 spc="-5">
                <a:latin typeface="Times New Roman"/>
                <a:cs typeface="Times New Roman"/>
              </a:rPr>
              <a:t> string “ abacdaacac” are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01699" y="4626458"/>
            <a:ext cx="6316345" cy="15576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270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Next,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create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(leaf)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symbol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(character)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occurs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nonzero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frequency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frequency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symbol.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comes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 smallest </a:t>
            </a:r>
            <a:r>
              <a:rPr dirty="0" sz="1200" spc="-15">
                <a:latin typeface="Times New Roman"/>
                <a:cs typeface="Times New Roman"/>
              </a:rPr>
              <a:t>frequency.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Create a </a:t>
            </a:r>
            <a:r>
              <a:rPr dirty="0" sz="1200" spc="-15">
                <a:latin typeface="Times New Roman"/>
                <a:cs typeface="Times New Roman"/>
              </a:rPr>
              <a:t>new </a:t>
            </a:r>
            <a:r>
              <a:rPr dirty="0" sz="1200" spc="-10">
                <a:latin typeface="Times New Roman"/>
                <a:cs typeface="Times New Roman"/>
              </a:rPr>
              <a:t>node with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 spc="-10">
                <a:latin typeface="Times New Roman"/>
                <a:cs typeface="Times New Roman"/>
              </a:rPr>
              <a:t>two nodes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10">
                <a:latin typeface="Times New Roman"/>
                <a:cs typeface="Times New Roman"/>
              </a:rPr>
              <a:t>children,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with weight </a:t>
            </a:r>
            <a:r>
              <a:rPr dirty="0" sz="1200" spc="-5">
                <a:latin typeface="Times New Roman"/>
                <a:cs typeface="Times New Roman"/>
              </a:rPr>
              <a:t>equal to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sum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children.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Continue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until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single</a:t>
            </a:r>
            <a:r>
              <a:rPr dirty="0" sz="1200" spc="-5">
                <a:latin typeface="Times New Roman"/>
                <a:cs typeface="Times New Roman"/>
              </a:rPr>
              <a:t> tree.</a:t>
            </a:r>
            <a:endParaRPr sz="1200">
              <a:latin typeface="Times New Roman"/>
              <a:cs typeface="Times New Roman"/>
            </a:endParaRPr>
          </a:p>
          <a:p>
            <a:pPr marL="12700" marR="294005">
              <a:lnSpc>
                <a:spcPct val="100000"/>
              </a:lnSpc>
              <a:spcBef>
                <a:spcPts val="530"/>
              </a:spcBef>
            </a:pPr>
            <a:r>
              <a:rPr dirty="0" sz="1200" spc="-10">
                <a:latin typeface="Times New Roman"/>
                <a:cs typeface="Times New Roman"/>
              </a:rPr>
              <a:t>Finding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frequency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efficiently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heap-based </a:t>
            </a:r>
            <a:r>
              <a:rPr dirty="0" sz="1200" spc="-10">
                <a:latin typeface="Times New Roman"/>
                <a:cs typeface="Times New Roman"/>
              </a:rPr>
              <a:t>priority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queue.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min-heap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maintained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frequencies.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new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10"/>
              </a:spcBef>
            </a:pPr>
            <a:r>
              <a:rPr dirty="0" sz="1200" spc="-5">
                <a:latin typeface="Times New Roman"/>
                <a:cs typeface="Times New Roman"/>
              </a:rPr>
              <a:t>created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combining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nodes,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priority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queue.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building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16971" y="6425152"/>
            <a:ext cx="5481955" cy="2268220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1270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10"/>
              </a:spcBef>
            </a:pPr>
            <a:r>
              <a:rPr dirty="0" sz="950" spc="55">
                <a:latin typeface="Times New Roman"/>
                <a:cs typeface="Times New Roman"/>
              </a:rPr>
              <a:t>HU</a:t>
            </a:r>
            <a:r>
              <a:rPr dirty="0" sz="950">
                <a:latin typeface="Times New Roman"/>
                <a:cs typeface="Times New Roman"/>
              </a:rPr>
              <a:t>F</a:t>
            </a:r>
            <a:r>
              <a:rPr dirty="0" sz="950" spc="55">
                <a:latin typeface="Times New Roman"/>
                <a:cs typeface="Times New Roman"/>
              </a:rPr>
              <a:t>FMA</a:t>
            </a:r>
            <a:r>
              <a:rPr dirty="0" sz="950" spc="25">
                <a:latin typeface="Times New Roman"/>
                <a:cs typeface="Times New Roman"/>
              </a:rPr>
              <a:t>N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00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55">
                <a:latin typeface="Lucida Sans Unicode"/>
                <a:cs typeface="Lucida Sans Unicode"/>
              </a:rPr>
              <a:t>b</a:t>
            </a:r>
            <a:r>
              <a:rPr dirty="0" sz="1200" spc="-70">
                <a:latin typeface="Lucida Sans Unicode"/>
                <a:cs typeface="Lucida Sans Unicode"/>
              </a:rPr>
              <a:t>o</a:t>
            </a:r>
            <a:r>
              <a:rPr dirty="0" sz="1200" spc="80">
                <a:latin typeface="Lucida Sans Unicode"/>
                <a:cs typeface="Lucida Sans Unicode"/>
              </a:rPr>
              <a:t>l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100">
                <a:latin typeface="Lucida Sans Unicode"/>
                <a:cs typeface="Lucida Sans Unicode"/>
              </a:rPr>
              <a:t>N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-25">
                <a:latin typeface="Lucida Sans Unicode"/>
                <a:cs typeface="Lucida Sans Unicode"/>
              </a:rPr>
              <a:t>re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100">
                <a:latin typeface="Lucida Sans Unicode"/>
                <a:cs typeface="Lucida Sans Unicode"/>
              </a:rPr>
              <a:t>N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81635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81635" algn="l"/>
                <a:tab pos="382270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2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381635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81635" algn="l"/>
                <a:tab pos="38227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t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25">
                <a:latin typeface="Lucida Sans Unicode"/>
                <a:cs typeface="Lucida Sans Unicode"/>
              </a:rPr>
              <a:t>re</a:t>
            </a:r>
            <a:r>
              <a:rPr dirty="0" sz="1200" spc="-75">
                <a:latin typeface="Lucida Sans Unicode"/>
                <a:cs typeface="Lucida Sans Unicode"/>
              </a:rPr>
              <a:t>e</a:t>
            </a:r>
            <a:r>
              <a:rPr dirty="0" sz="1200" spc="100">
                <a:latin typeface="Lucida Sans Unicode"/>
                <a:cs typeface="Lucida Sans Unicode"/>
              </a:rPr>
              <a:t>N</a:t>
            </a:r>
            <a:r>
              <a:rPr dirty="0" sz="1200" spc="-70">
                <a:latin typeface="Lucida Sans Unicode"/>
                <a:cs typeface="Lucida Sans Unicode"/>
              </a:rPr>
              <a:t>o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-8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55">
                <a:latin typeface="Lucida Sans Unicode"/>
                <a:cs typeface="Lucida Sans Unicode"/>
              </a:rPr>
              <a:t>b</a:t>
            </a:r>
            <a:r>
              <a:rPr dirty="0" sz="1200" spc="-70">
                <a:latin typeface="Lucida Sans Unicode"/>
                <a:cs typeface="Lucida Sans Unicode"/>
              </a:rPr>
              <a:t>o</a:t>
            </a:r>
            <a:r>
              <a:rPr dirty="0" sz="1200" spc="80">
                <a:latin typeface="Lucida Sans Unicode"/>
                <a:cs typeface="Lucida Sans Unicode"/>
              </a:rPr>
              <a:t>l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-25">
                <a:latin typeface="Lucida Sans Unicode"/>
                <a:cs typeface="Lucida Sans Unicode"/>
              </a:rPr>
              <a:t>re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79755" indent="-426084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79755" algn="l"/>
                <a:tab pos="580390" algn="l"/>
              </a:tabLst>
            </a:pP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75">
                <a:latin typeface="Lucida Sans Unicode"/>
                <a:cs typeface="Lucida Sans Unicode"/>
              </a:rPr>
              <a:t>e</a:t>
            </a:r>
            <a:r>
              <a:rPr dirty="0" sz="1200" spc="35">
                <a:latin typeface="Lucida Sans Unicode"/>
                <a:cs typeface="Lucida Sans Unicode"/>
              </a:rPr>
              <a:t>r</a:t>
            </a:r>
            <a:r>
              <a:rPr dirty="0" sz="1200" spc="3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t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-25">
                <a:latin typeface="Lucida Sans Unicode"/>
                <a:cs typeface="Lucida Sans Unicode"/>
              </a:rPr>
              <a:t>re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//</a:t>
            </a:r>
            <a:r>
              <a:rPr dirty="0" sz="1100" spc="-5" i="1">
                <a:latin typeface="Times New Roman"/>
                <a:cs typeface="Times New Roman"/>
              </a:rPr>
              <a:t> </a:t>
            </a:r>
            <a:r>
              <a:rPr dirty="0" sz="1100" spc="-10" i="1">
                <a:latin typeface="Times New Roman"/>
                <a:cs typeface="Times New Roman"/>
              </a:rPr>
              <a:t>p</a:t>
            </a:r>
            <a:r>
              <a:rPr dirty="0" sz="1100" spc="-5" i="1">
                <a:latin typeface="Times New Roman"/>
                <a:cs typeface="Times New Roman"/>
              </a:rPr>
              <a:t>ri</a:t>
            </a:r>
            <a:r>
              <a:rPr dirty="0" sz="1100" spc="-10" i="1">
                <a:latin typeface="Times New Roman"/>
                <a:cs typeface="Times New Roman"/>
              </a:rPr>
              <a:t>o</a:t>
            </a:r>
            <a:r>
              <a:rPr dirty="0" sz="1100" spc="-5" i="1">
                <a:latin typeface="Times New Roman"/>
                <a:cs typeface="Times New Roman"/>
              </a:rPr>
              <a:t>rity</a:t>
            </a:r>
            <a:r>
              <a:rPr dirty="0" sz="1100" spc="-5" i="1">
                <a:latin typeface="Times New Roman"/>
                <a:cs typeface="Times New Roman"/>
              </a:rPr>
              <a:t> </a:t>
            </a:r>
            <a:r>
              <a:rPr dirty="0" sz="1100" spc="-10" i="1">
                <a:latin typeface="Times New Roman"/>
                <a:cs typeface="Times New Roman"/>
              </a:rPr>
              <a:t>queu</a:t>
            </a:r>
            <a:r>
              <a:rPr dirty="0" sz="1100" spc="-5" i="1">
                <a:latin typeface="Times New Roman"/>
                <a:cs typeface="Times New Roman"/>
              </a:rPr>
              <a:t>e</a:t>
            </a:r>
            <a:endParaRPr sz="1100">
              <a:latin typeface="Times New Roman"/>
              <a:cs typeface="Times New Roman"/>
            </a:endParaRPr>
          </a:p>
          <a:p>
            <a:pPr marL="381635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81635" algn="l"/>
                <a:tab pos="382270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381635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81635" algn="l"/>
                <a:tab pos="38227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25">
                <a:latin typeface="Lucida Sans Unicode"/>
                <a:cs typeface="Lucida Sans Unicode"/>
              </a:rPr>
              <a:t>re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70">
                <a:latin typeface="Lucida Sans Unicode"/>
                <a:cs typeface="Lucida Sans Unicode"/>
              </a:rPr>
              <a:t>o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8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()</a:t>
            </a:r>
            <a:r>
              <a:rPr dirty="0" sz="1200" spc="-5">
                <a:latin typeface="Garamond"/>
                <a:cs typeface="Garamond"/>
              </a:rPr>
              <a:t>;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70">
                <a:latin typeface="Garamond"/>
                <a:cs typeface="Garamond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25">
                <a:latin typeface="Lucida Sans Unicode"/>
                <a:cs typeface="Lucida Sans Unicode"/>
              </a:rPr>
              <a:t>re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-70">
                <a:latin typeface="Lucida Sans Unicode"/>
                <a:cs typeface="Lucida Sans Unicode"/>
              </a:rPr>
              <a:t>o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8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79755" indent="-426084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79755" algn="l"/>
                <a:tab pos="580390" algn="l"/>
              </a:tabLst>
            </a:pPr>
            <a:r>
              <a:rPr dirty="0" sz="1200" spc="-125">
                <a:latin typeface="Lucida Sans Unicode"/>
                <a:cs typeface="Lucida Sans Unicode"/>
              </a:rPr>
              <a:t>z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e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25">
                <a:latin typeface="Lucida Sans Unicode"/>
                <a:cs typeface="Lucida Sans Unicode"/>
              </a:rPr>
              <a:t>re</a:t>
            </a:r>
            <a:r>
              <a:rPr dirty="0" sz="1200" spc="-75">
                <a:latin typeface="Lucida Sans Unicode"/>
                <a:cs typeface="Lucida Sans Unicode"/>
              </a:rPr>
              <a:t>e</a:t>
            </a:r>
            <a:r>
              <a:rPr dirty="0" sz="1200" spc="100">
                <a:latin typeface="Lucida Sans Unicode"/>
                <a:cs typeface="Lucida Sans Unicode"/>
              </a:rPr>
              <a:t>N</a:t>
            </a:r>
            <a:r>
              <a:rPr dirty="0" sz="1200" spc="-70">
                <a:latin typeface="Lucida Sans Unicode"/>
                <a:cs typeface="Lucida Sans Unicode"/>
              </a:rPr>
              <a:t>o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-75">
                <a:latin typeface="Lucida Sans Unicode"/>
                <a:cs typeface="Lucida Sans Unicode"/>
              </a:rPr>
              <a:t>e</a:t>
            </a:r>
            <a:endParaRPr sz="1200">
              <a:latin typeface="Lucida Sans Unicode"/>
              <a:cs typeface="Lucida Sans Unicode"/>
            </a:endParaRPr>
          </a:p>
          <a:p>
            <a:pPr marL="579755" indent="-426084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79755" algn="l"/>
                <a:tab pos="580390" algn="l"/>
              </a:tabLst>
            </a:pPr>
            <a:r>
              <a:rPr dirty="0" sz="1200" spc="-10">
                <a:latin typeface="Lucida Sans Unicode"/>
                <a:cs typeface="Lucida Sans Unicode"/>
              </a:rPr>
              <a:t>z.left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x</a:t>
            </a:r>
            <a:r>
              <a:rPr dirty="0" sz="1200" spc="-60">
                <a:latin typeface="Garamond"/>
                <a:cs typeface="Garamond"/>
              </a:rPr>
              <a:t>;</a:t>
            </a:r>
            <a:r>
              <a:rPr dirty="0" sz="1200" spc="305">
                <a:latin typeface="Garamond"/>
                <a:cs typeface="Garamond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z.right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endParaRPr sz="1200">
              <a:latin typeface="Lucida Sans Unicode"/>
              <a:cs typeface="Lucida Sans Unicode"/>
            </a:endParaRPr>
          </a:p>
          <a:p>
            <a:pPr marL="579755" indent="-426084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79755" algn="l"/>
                <a:tab pos="580390" algn="l"/>
              </a:tabLst>
            </a:pPr>
            <a:r>
              <a:rPr dirty="0" sz="1200" spc="-130">
                <a:latin typeface="Lucida Sans Unicode"/>
                <a:cs typeface="Lucida Sans Unicode"/>
              </a:rPr>
              <a:t>z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-25">
                <a:latin typeface="Lucida Sans Unicode"/>
                <a:cs typeface="Lucida Sans Unicode"/>
              </a:rPr>
              <a:t>re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-25">
                <a:latin typeface="Lucida Sans Unicode"/>
                <a:cs typeface="Lucida Sans Unicode"/>
              </a:rPr>
              <a:t>re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-25">
                <a:latin typeface="Lucida Sans Unicode"/>
                <a:cs typeface="Lucida Sans Unicode"/>
              </a:rPr>
              <a:t>re</a:t>
            </a:r>
            <a:r>
              <a:rPr dirty="0" sz="1200" spc="-35">
                <a:latin typeface="Lucida Sans Unicode"/>
                <a:cs typeface="Lucida Sans Unicode"/>
              </a:rPr>
              <a:t>q</a:t>
            </a:r>
            <a:endParaRPr sz="1200">
              <a:latin typeface="Lucida Sans Unicode"/>
              <a:cs typeface="Lucida Sans Unicode"/>
            </a:endParaRPr>
          </a:p>
          <a:p>
            <a:pPr marL="579755" indent="-426084">
              <a:lnSpc>
                <a:spcPct val="100000"/>
              </a:lnSpc>
              <a:buFont typeface="Times New Roman"/>
              <a:buAutoNum type="arabicPlain"/>
              <a:tabLst>
                <a:tab pos="579755" algn="l"/>
                <a:tab pos="580390" algn="l"/>
              </a:tabLst>
            </a:pP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75">
                <a:latin typeface="Lucida Sans Unicode"/>
                <a:cs typeface="Lucida Sans Unicode"/>
              </a:rPr>
              <a:t>e</a:t>
            </a:r>
            <a:r>
              <a:rPr dirty="0" sz="1200" spc="35">
                <a:latin typeface="Lucida Sans Unicode"/>
                <a:cs typeface="Lucida Sans Unicode"/>
              </a:rPr>
              <a:t>r</a:t>
            </a:r>
            <a:r>
              <a:rPr dirty="0" sz="1200" spc="3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30">
                <a:latin typeface="Lucida Sans Unicode"/>
                <a:cs typeface="Lucida Sans Unicode"/>
              </a:rPr>
              <a:t>z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z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-25">
                <a:latin typeface="Lucida Sans Unicode"/>
                <a:cs typeface="Lucida Sans Unicode"/>
              </a:rPr>
              <a:t>re</a:t>
            </a:r>
            <a:r>
              <a:rPr dirty="0" sz="1200" spc="-40">
                <a:latin typeface="Lucida Sans Unicode"/>
                <a:cs typeface="Lucida Sans Unicode"/>
              </a:rPr>
              <a:t>q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;</a:t>
            </a:r>
            <a:endParaRPr sz="1200">
              <a:latin typeface="Garamond"/>
              <a:cs typeface="Garamond"/>
            </a:endParaRPr>
          </a:p>
          <a:p>
            <a:pPr marL="381635" indent="-3041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81635" algn="l"/>
                <a:tab pos="382270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return </a:t>
            </a:r>
            <a:r>
              <a:rPr dirty="0" sz="1200" spc="-15">
                <a:latin typeface="Lucida Sans Unicode"/>
                <a:cs typeface="Lucida Sans Unicode"/>
              </a:rPr>
              <a:t>pq.remove</a:t>
            </a:r>
            <a:r>
              <a:rPr dirty="0" sz="1200" spc="-15">
                <a:latin typeface="Garamond"/>
                <a:cs typeface="Garamond"/>
              </a:rPr>
              <a:t>();</a:t>
            </a:r>
            <a:r>
              <a:rPr dirty="0" sz="1200" spc="220">
                <a:latin typeface="Garamond"/>
                <a:cs typeface="Garamond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//</a:t>
            </a:r>
            <a:r>
              <a:rPr dirty="0" sz="1100" spc="-15" i="1">
                <a:latin typeface="Times New Roman"/>
                <a:cs typeface="Times New Roman"/>
              </a:rPr>
              <a:t> </a:t>
            </a:r>
            <a:r>
              <a:rPr dirty="0" sz="1100" spc="-20" i="1">
                <a:latin typeface="Times New Roman"/>
                <a:cs typeface="Times New Roman"/>
              </a:rPr>
              <a:t>root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01699" y="8775547"/>
            <a:ext cx="42710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7.1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built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message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“abacdaacac”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696447" y="6510197"/>
            <a:ext cx="1595120" cy="140970"/>
          </a:xfrm>
          <a:custGeom>
            <a:avLst/>
            <a:gdLst/>
            <a:ahLst/>
            <a:cxnLst/>
            <a:rect l="l" t="t" r="r" b="b"/>
            <a:pathLst>
              <a:path w="1595120" h="140970">
                <a:moveTo>
                  <a:pt x="1595031" y="0"/>
                </a:moveTo>
                <a:lnTo>
                  <a:pt x="0" y="0"/>
                </a:lnTo>
                <a:lnTo>
                  <a:pt x="0" y="140741"/>
                </a:lnTo>
                <a:lnTo>
                  <a:pt x="1595031" y="140741"/>
                </a:lnTo>
                <a:lnTo>
                  <a:pt x="1595031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2576195" y="6083084"/>
            <a:ext cx="50800" cy="135890"/>
          </a:xfrm>
          <a:custGeom>
            <a:avLst/>
            <a:gdLst/>
            <a:ahLst/>
            <a:cxnLst/>
            <a:rect l="l" t="t" r="r" b="b"/>
            <a:pathLst>
              <a:path w="50800" h="135889">
                <a:moveTo>
                  <a:pt x="50558" y="0"/>
                </a:moveTo>
                <a:lnTo>
                  <a:pt x="0" y="0"/>
                </a:lnTo>
                <a:lnTo>
                  <a:pt x="0" y="135572"/>
                </a:lnTo>
                <a:lnTo>
                  <a:pt x="50558" y="135572"/>
                </a:lnTo>
                <a:lnTo>
                  <a:pt x="50558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3060382" y="5355755"/>
            <a:ext cx="2108835" cy="107950"/>
          </a:xfrm>
          <a:custGeom>
            <a:avLst/>
            <a:gdLst/>
            <a:ahLst/>
            <a:cxnLst/>
            <a:rect l="l" t="t" r="r" b="b"/>
            <a:pathLst>
              <a:path w="2108835" h="107950">
                <a:moveTo>
                  <a:pt x="2108733" y="0"/>
                </a:moveTo>
                <a:lnTo>
                  <a:pt x="0" y="0"/>
                </a:lnTo>
                <a:lnTo>
                  <a:pt x="0" y="107353"/>
                </a:lnTo>
                <a:lnTo>
                  <a:pt x="2108733" y="107353"/>
                </a:lnTo>
                <a:lnTo>
                  <a:pt x="2108733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01699" y="520987"/>
            <a:ext cx="354774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7.2.</a:t>
            </a:r>
            <a:r>
              <a:rPr dirty="0" sz="1200" spc="38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GREEDY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ENCODING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10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2584703" y="938474"/>
            <a:ext cx="3023235" cy="2590800"/>
            <a:chOff x="2584703" y="938474"/>
            <a:chExt cx="3023235" cy="2590800"/>
          </a:xfrm>
        </p:grpSpPr>
        <p:sp>
          <p:nvSpPr>
            <p:cNvPr id="8" name="object 8"/>
            <p:cNvSpPr/>
            <p:nvPr/>
          </p:nvSpPr>
          <p:spPr>
            <a:xfrm>
              <a:off x="2584703" y="938474"/>
              <a:ext cx="3023235" cy="2590800"/>
            </a:xfrm>
            <a:custGeom>
              <a:avLst/>
              <a:gdLst/>
              <a:ahLst/>
              <a:cxnLst/>
              <a:rect l="l" t="t" r="r" b="b"/>
              <a:pathLst>
                <a:path w="3023235" h="2590800">
                  <a:moveTo>
                    <a:pt x="3022777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022777" y="2590601"/>
                  </a:lnTo>
                  <a:lnTo>
                    <a:pt x="3022777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858124" y="1016426"/>
              <a:ext cx="2416810" cy="2239645"/>
            </a:xfrm>
            <a:custGeom>
              <a:avLst/>
              <a:gdLst/>
              <a:ahLst/>
              <a:cxnLst/>
              <a:rect l="l" t="t" r="r" b="b"/>
              <a:pathLst>
                <a:path w="2416810" h="2239645">
                  <a:moveTo>
                    <a:pt x="383087" y="162077"/>
                  </a:moveTo>
                  <a:lnTo>
                    <a:pt x="383087" y="132603"/>
                  </a:lnTo>
                  <a:lnTo>
                    <a:pt x="397824" y="103144"/>
                  </a:lnTo>
                  <a:lnTo>
                    <a:pt x="412562" y="73670"/>
                  </a:lnTo>
                  <a:lnTo>
                    <a:pt x="427283" y="44211"/>
                  </a:lnTo>
                  <a:lnTo>
                    <a:pt x="456758" y="29474"/>
                  </a:lnTo>
                  <a:lnTo>
                    <a:pt x="486232" y="14737"/>
                  </a:lnTo>
                  <a:lnTo>
                    <a:pt x="515691" y="0"/>
                  </a:lnTo>
                  <a:lnTo>
                    <a:pt x="589361" y="0"/>
                  </a:lnTo>
                  <a:lnTo>
                    <a:pt x="618835" y="14737"/>
                  </a:lnTo>
                  <a:lnTo>
                    <a:pt x="648294" y="29474"/>
                  </a:lnTo>
                  <a:lnTo>
                    <a:pt x="677768" y="44211"/>
                  </a:lnTo>
                  <a:lnTo>
                    <a:pt x="692505" y="73670"/>
                  </a:lnTo>
                  <a:lnTo>
                    <a:pt x="721964" y="103144"/>
                  </a:lnTo>
                  <a:lnTo>
                    <a:pt x="721964" y="132603"/>
                  </a:lnTo>
                  <a:lnTo>
                    <a:pt x="736701" y="162077"/>
                  </a:lnTo>
                  <a:lnTo>
                    <a:pt x="721964" y="206273"/>
                  </a:lnTo>
                  <a:lnTo>
                    <a:pt x="721964" y="235747"/>
                  </a:lnTo>
                  <a:lnTo>
                    <a:pt x="692505" y="265206"/>
                  </a:lnTo>
                  <a:lnTo>
                    <a:pt x="677768" y="294680"/>
                  </a:lnTo>
                  <a:lnTo>
                    <a:pt x="648294" y="309417"/>
                  </a:lnTo>
                  <a:lnTo>
                    <a:pt x="618835" y="324154"/>
                  </a:lnTo>
                  <a:lnTo>
                    <a:pt x="589361" y="338876"/>
                  </a:lnTo>
                  <a:lnTo>
                    <a:pt x="515691" y="338876"/>
                  </a:lnTo>
                  <a:lnTo>
                    <a:pt x="486232" y="324154"/>
                  </a:lnTo>
                  <a:lnTo>
                    <a:pt x="456758" y="309417"/>
                  </a:lnTo>
                  <a:lnTo>
                    <a:pt x="427283" y="294680"/>
                  </a:lnTo>
                  <a:lnTo>
                    <a:pt x="412562" y="265206"/>
                  </a:lnTo>
                  <a:lnTo>
                    <a:pt x="397824" y="235747"/>
                  </a:lnTo>
                  <a:lnTo>
                    <a:pt x="383087" y="206273"/>
                  </a:lnTo>
                  <a:lnTo>
                    <a:pt x="383087" y="162077"/>
                  </a:lnTo>
                </a:path>
                <a:path w="2416810" h="2239645">
                  <a:moveTo>
                    <a:pt x="1709150" y="1473403"/>
                  </a:moveTo>
                  <a:lnTo>
                    <a:pt x="1709150" y="1443929"/>
                  </a:lnTo>
                  <a:lnTo>
                    <a:pt x="1723872" y="1414470"/>
                  </a:lnTo>
                  <a:lnTo>
                    <a:pt x="1738609" y="1384995"/>
                  </a:lnTo>
                  <a:lnTo>
                    <a:pt x="1753346" y="1355521"/>
                  </a:lnTo>
                  <a:lnTo>
                    <a:pt x="1782820" y="1326062"/>
                  </a:lnTo>
                  <a:lnTo>
                    <a:pt x="1812279" y="1311325"/>
                  </a:lnTo>
                  <a:lnTo>
                    <a:pt x="1841753" y="1311325"/>
                  </a:lnTo>
                  <a:lnTo>
                    <a:pt x="1885949" y="1296588"/>
                  </a:lnTo>
                  <a:lnTo>
                    <a:pt x="1915424" y="1311325"/>
                  </a:lnTo>
                  <a:lnTo>
                    <a:pt x="1944883" y="1311325"/>
                  </a:lnTo>
                  <a:lnTo>
                    <a:pt x="1974357" y="1326062"/>
                  </a:lnTo>
                  <a:lnTo>
                    <a:pt x="2003831" y="1355521"/>
                  </a:lnTo>
                  <a:lnTo>
                    <a:pt x="2033290" y="1384995"/>
                  </a:lnTo>
                  <a:lnTo>
                    <a:pt x="2048027" y="1414470"/>
                  </a:lnTo>
                  <a:lnTo>
                    <a:pt x="2048027" y="1443929"/>
                  </a:lnTo>
                  <a:lnTo>
                    <a:pt x="2062764" y="1473403"/>
                  </a:lnTo>
                  <a:lnTo>
                    <a:pt x="2048027" y="1517599"/>
                  </a:lnTo>
                  <a:lnTo>
                    <a:pt x="2048027" y="1547073"/>
                  </a:lnTo>
                  <a:lnTo>
                    <a:pt x="2003831" y="1606006"/>
                  </a:lnTo>
                  <a:lnTo>
                    <a:pt x="1944883" y="1635480"/>
                  </a:lnTo>
                  <a:lnTo>
                    <a:pt x="1915424" y="1650202"/>
                  </a:lnTo>
                  <a:lnTo>
                    <a:pt x="1841753" y="1650202"/>
                  </a:lnTo>
                  <a:lnTo>
                    <a:pt x="1812279" y="1635480"/>
                  </a:lnTo>
                  <a:lnTo>
                    <a:pt x="1782820" y="1620743"/>
                  </a:lnTo>
                  <a:lnTo>
                    <a:pt x="1753346" y="1606006"/>
                  </a:lnTo>
                  <a:lnTo>
                    <a:pt x="1738609" y="1576532"/>
                  </a:lnTo>
                  <a:lnTo>
                    <a:pt x="1723872" y="1547073"/>
                  </a:lnTo>
                  <a:lnTo>
                    <a:pt x="1709150" y="1517599"/>
                  </a:lnTo>
                  <a:lnTo>
                    <a:pt x="1709150" y="1473403"/>
                  </a:lnTo>
                </a:path>
                <a:path w="2416810" h="2239645">
                  <a:moveTo>
                    <a:pt x="1075578" y="810371"/>
                  </a:moveTo>
                  <a:lnTo>
                    <a:pt x="1090315" y="780897"/>
                  </a:lnTo>
                  <a:lnTo>
                    <a:pt x="1090315" y="736701"/>
                  </a:lnTo>
                  <a:lnTo>
                    <a:pt x="1105052" y="707227"/>
                  </a:lnTo>
                  <a:lnTo>
                    <a:pt x="1134526" y="692505"/>
                  </a:lnTo>
                  <a:lnTo>
                    <a:pt x="1163985" y="663031"/>
                  </a:lnTo>
                  <a:lnTo>
                    <a:pt x="1193459" y="648294"/>
                  </a:lnTo>
                  <a:lnTo>
                    <a:pt x="1222918" y="633557"/>
                  </a:lnTo>
                  <a:lnTo>
                    <a:pt x="1281866" y="633557"/>
                  </a:lnTo>
                  <a:lnTo>
                    <a:pt x="1311325" y="648294"/>
                  </a:lnTo>
                  <a:lnTo>
                    <a:pt x="1340799" y="663031"/>
                  </a:lnTo>
                  <a:lnTo>
                    <a:pt x="1370258" y="692505"/>
                  </a:lnTo>
                  <a:lnTo>
                    <a:pt x="1384995" y="707227"/>
                  </a:lnTo>
                  <a:lnTo>
                    <a:pt x="1399733" y="736701"/>
                  </a:lnTo>
                  <a:lnTo>
                    <a:pt x="1414470" y="780897"/>
                  </a:lnTo>
                  <a:lnTo>
                    <a:pt x="1414470" y="839845"/>
                  </a:lnTo>
                  <a:lnTo>
                    <a:pt x="1399733" y="884041"/>
                  </a:lnTo>
                  <a:lnTo>
                    <a:pt x="1384995" y="913516"/>
                  </a:lnTo>
                  <a:lnTo>
                    <a:pt x="1370258" y="928237"/>
                  </a:lnTo>
                  <a:lnTo>
                    <a:pt x="1340799" y="957712"/>
                  </a:lnTo>
                  <a:lnTo>
                    <a:pt x="1311325" y="972449"/>
                  </a:lnTo>
                  <a:lnTo>
                    <a:pt x="1281866" y="987186"/>
                  </a:lnTo>
                  <a:lnTo>
                    <a:pt x="1222918" y="987186"/>
                  </a:lnTo>
                  <a:lnTo>
                    <a:pt x="1193459" y="972449"/>
                  </a:lnTo>
                  <a:lnTo>
                    <a:pt x="1163985" y="957712"/>
                  </a:lnTo>
                  <a:lnTo>
                    <a:pt x="1134526" y="928237"/>
                  </a:lnTo>
                  <a:lnTo>
                    <a:pt x="1105052" y="913516"/>
                  </a:lnTo>
                  <a:lnTo>
                    <a:pt x="1090315" y="884041"/>
                  </a:lnTo>
                  <a:lnTo>
                    <a:pt x="1090315" y="839845"/>
                  </a:lnTo>
                  <a:lnTo>
                    <a:pt x="1075578" y="810371"/>
                  </a:lnTo>
                </a:path>
                <a:path w="2416810" h="2239645">
                  <a:moveTo>
                    <a:pt x="692505" y="279943"/>
                  </a:moveTo>
                  <a:lnTo>
                    <a:pt x="1105052" y="707227"/>
                  </a:lnTo>
                </a:path>
                <a:path w="2416810" h="2239645">
                  <a:moveTo>
                    <a:pt x="1355537" y="928237"/>
                  </a:moveTo>
                  <a:lnTo>
                    <a:pt x="1782820" y="1340799"/>
                  </a:lnTo>
                </a:path>
                <a:path w="2416810" h="2239645">
                  <a:moveTo>
                    <a:pt x="427283" y="279943"/>
                  </a:moveTo>
                  <a:lnTo>
                    <a:pt x="0" y="707227"/>
                  </a:lnTo>
                </a:path>
                <a:path w="2416810" h="2239645">
                  <a:moveTo>
                    <a:pt x="1119789" y="928237"/>
                  </a:moveTo>
                  <a:lnTo>
                    <a:pt x="692505" y="1340799"/>
                  </a:lnTo>
                </a:path>
                <a:path w="2416810" h="2239645">
                  <a:moveTo>
                    <a:pt x="2003831" y="1606006"/>
                  </a:moveTo>
                  <a:lnTo>
                    <a:pt x="2416378" y="2033290"/>
                  </a:lnTo>
                </a:path>
                <a:path w="2416810" h="2239645">
                  <a:moveTo>
                    <a:pt x="1753346" y="1606006"/>
                  </a:moveTo>
                  <a:lnTo>
                    <a:pt x="1326062" y="2033290"/>
                  </a:lnTo>
                </a:path>
                <a:path w="2416810" h="2239645">
                  <a:moveTo>
                    <a:pt x="1134526" y="2239563"/>
                  </a:moveTo>
                  <a:lnTo>
                    <a:pt x="1326068" y="2239563"/>
                  </a:lnTo>
                  <a:lnTo>
                    <a:pt x="1326068" y="2018553"/>
                  </a:lnTo>
                  <a:lnTo>
                    <a:pt x="1134526" y="2018553"/>
                  </a:lnTo>
                  <a:lnTo>
                    <a:pt x="1134526" y="2239563"/>
                  </a:lnTo>
                  <a:close/>
                </a:path>
              </a:pathLst>
            </a:custGeom>
            <a:ln w="13096">
              <a:solidFill>
                <a:srgbClr val="FFFF9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3963173" y="2982579"/>
            <a:ext cx="247650" cy="461645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algn="r" marR="60325">
              <a:lnSpc>
                <a:spcPct val="100000"/>
              </a:lnSpc>
              <a:spcBef>
                <a:spcPts val="434"/>
              </a:spcBef>
            </a:pPr>
            <a:r>
              <a:rPr dirty="0" sz="1250" spc="2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2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75"/>
              </a:spcBef>
            </a:pPr>
            <a:r>
              <a:rPr dirty="0" sz="1100">
                <a:solidFill>
                  <a:srgbClr val="FFFF00"/>
                </a:solidFill>
                <a:latin typeface="Arial"/>
                <a:cs typeface="Arial"/>
              </a:rPr>
              <a:t>110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2651851" y="1723666"/>
            <a:ext cx="206375" cy="206375"/>
          </a:xfrm>
          <a:custGeom>
            <a:avLst/>
            <a:gdLst/>
            <a:ahLst/>
            <a:cxnLst/>
            <a:rect l="l" t="t" r="r" b="b"/>
            <a:pathLst>
              <a:path w="206375" h="206375">
                <a:moveTo>
                  <a:pt x="0" y="206276"/>
                </a:moveTo>
                <a:lnTo>
                  <a:pt x="206276" y="206276"/>
                </a:lnTo>
                <a:lnTo>
                  <a:pt x="206276" y="0"/>
                </a:lnTo>
                <a:lnTo>
                  <a:pt x="0" y="0"/>
                </a:lnTo>
                <a:lnTo>
                  <a:pt x="0" y="206276"/>
                </a:lnTo>
                <a:close/>
              </a:path>
            </a:pathLst>
          </a:custGeom>
          <a:ln w="13096">
            <a:solidFill>
              <a:srgbClr val="FFFF9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2710788" y="1671253"/>
            <a:ext cx="106045" cy="461645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34"/>
              </a:spcBef>
            </a:pPr>
            <a:r>
              <a:rPr dirty="0" sz="1250" spc="2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250">
              <a:latin typeface="Arial"/>
              <a:cs typeface="Arial"/>
            </a:endParaRPr>
          </a:p>
          <a:p>
            <a:pPr marL="14604">
              <a:lnSpc>
                <a:spcPct val="100000"/>
              </a:lnSpc>
              <a:spcBef>
                <a:spcPts val="275"/>
              </a:spcBef>
            </a:pPr>
            <a:r>
              <a:rPr dirty="0" sz="1100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344357" y="2342489"/>
            <a:ext cx="221615" cy="221615"/>
          </a:xfrm>
          <a:custGeom>
            <a:avLst/>
            <a:gdLst/>
            <a:ahLst/>
            <a:cxnLst/>
            <a:rect l="l" t="t" r="r" b="b"/>
            <a:pathLst>
              <a:path w="221614" h="221614">
                <a:moveTo>
                  <a:pt x="0" y="221010"/>
                </a:moveTo>
                <a:lnTo>
                  <a:pt x="221010" y="221010"/>
                </a:lnTo>
                <a:lnTo>
                  <a:pt x="221010" y="0"/>
                </a:lnTo>
                <a:lnTo>
                  <a:pt x="0" y="0"/>
                </a:lnTo>
                <a:lnTo>
                  <a:pt x="0" y="221010"/>
                </a:lnTo>
                <a:close/>
              </a:path>
            </a:pathLst>
          </a:custGeom>
          <a:ln w="13096">
            <a:solidFill>
              <a:srgbClr val="FFFF9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3373811" y="2290086"/>
            <a:ext cx="169545" cy="461645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434"/>
              </a:spcBef>
            </a:pPr>
            <a:r>
              <a:rPr dirty="0" sz="1250" spc="1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2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r>
              <a:rPr dirty="0" sz="1100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5289239" y="3049717"/>
            <a:ext cx="221615" cy="221615"/>
          </a:xfrm>
          <a:custGeom>
            <a:avLst/>
            <a:gdLst/>
            <a:ahLst/>
            <a:cxnLst/>
            <a:rect l="l" t="t" r="r" b="b"/>
            <a:pathLst>
              <a:path w="221614" h="221614">
                <a:moveTo>
                  <a:pt x="0" y="221010"/>
                </a:moveTo>
                <a:lnTo>
                  <a:pt x="221010" y="221010"/>
                </a:lnTo>
                <a:lnTo>
                  <a:pt x="221010" y="0"/>
                </a:lnTo>
                <a:lnTo>
                  <a:pt x="0" y="0"/>
                </a:lnTo>
                <a:lnTo>
                  <a:pt x="0" y="221010"/>
                </a:lnTo>
                <a:close/>
              </a:path>
            </a:pathLst>
          </a:custGeom>
          <a:ln w="13096">
            <a:solidFill>
              <a:srgbClr val="FFFF9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5289234" y="2997311"/>
            <a:ext cx="247650" cy="461645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58419">
              <a:lnSpc>
                <a:spcPct val="100000"/>
              </a:lnSpc>
              <a:spcBef>
                <a:spcPts val="434"/>
              </a:spcBef>
            </a:pPr>
            <a:r>
              <a:rPr dirty="0" sz="1250" spc="2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2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r>
              <a:rPr dirty="0" sz="1100">
                <a:solidFill>
                  <a:srgbClr val="FFFF00"/>
                </a:solidFill>
                <a:latin typeface="Arial"/>
                <a:cs typeface="Arial"/>
              </a:rPr>
              <a:t>111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931798" y="1363898"/>
            <a:ext cx="91440" cy="1949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815834" y="1363898"/>
            <a:ext cx="91440" cy="1949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653764" y="1982726"/>
            <a:ext cx="91440" cy="1949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287324" y="2675222"/>
            <a:ext cx="91440" cy="1949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434664" y="1982726"/>
            <a:ext cx="91440" cy="1949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082960" y="2645754"/>
            <a:ext cx="91440" cy="1949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01699" y="3595129"/>
            <a:ext cx="6372860" cy="10483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5334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7.1: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“abacdaacac”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Prefix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Property: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codewords</a:t>
            </a:r>
            <a:r>
              <a:rPr dirty="0" sz="1200" spc="-5">
                <a:latin typeface="Times New Roman"/>
                <a:cs typeface="Times New Roman"/>
              </a:rPr>
              <a:t> assigned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property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codeword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prefix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other: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2982467" y="4761420"/>
          <a:ext cx="2268220" cy="7600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18515"/>
                <a:gridCol w="341629"/>
                <a:gridCol w="379730"/>
                <a:gridCol w="341630"/>
                <a:gridCol w="379730"/>
              </a:tblGrid>
              <a:tr h="188975">
                <a:tc>
                  <a:txBody>
                    <a:bodyPr/>
                    <a:lstStyle/>
                    <a:p>
                      <a:pPr marL="74930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character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 marL="74930">
                        <a:lnSpc>
                          <a:spcPts val="127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frequency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probability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 marL="74930">
                        <a:lnSpc>
                          <a:spcPts val="1265"/>
                        </a:lnSpc>
                      </a:pP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codeword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5" name="object 25"/>
          <p:cNvSpPr txBox="1"/>
          <p:nvPr/>
        </p:nvSpPr>
        <p:spPr>
          <a:xfrm>
            <a:off x="901694" y="5589092"/>
            <a:ext cx="6355715" cy="1256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prefix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property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evident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codewords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leaves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Decoding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prefix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code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traverse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root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leaf </a:t>
            </a:r>
            <a:r>
              <a:rPr dirty="0" sz="1200" spc="-10">
                <a:latin typeface="Times New Roman"/>
                <a:cs typeface="Times New Roman"/>
              </a:rPr>
              <a:t>letting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input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0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 tell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branch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dirty="0" sz="1200" spc="-5" b="1">
                <a:latin typeface="Times New Roman"/>
                <a:cs typeface="Times New Roman"/>
              </a:rPr>
              <a:t>Expected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encoding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length:</a:t>
            </a:r>
            <a:endParaRPr sz="1200">
              <a:latin typeface="Times New Roman"/>
              <a:cs typeface="Times New Roman"/>
            </a:endParaRPr>
          </a:p>
          <a:p>
            <a:pPr marL="12700" marR="64135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If a string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 </a:t>
            </a:r>
            <a:r>
              <a:rPr dirty="0" sz="1200" spc="-15">
                <a:latin typeface="Times New Roman"/>
                <a:cs typeface="Times New Roman"/>
              </a:rPr>
              <a:t>over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alphabet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{a,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b,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c,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d}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encoded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 </a:t>
            </a:r>
            <a:r>
              <a:rPr dirty="0" sz="1200" spc="-10">
                <a:latin typeface="Times New Roman"/>
                <a:cs typeface="Times New Roman"/>
              </a:rPr>
              <a:t>8-bit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ASCII,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length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encoded string is </a:t>
            </a:r>
            <a:r>
              <a:rPr dirty="0" sz="1200" spc="-40">
                <a:latin typeface="Lucida Sans Unicode"/>
                <a:cs typeface="Lucida Sans Unicode"/>
              </a:rPr>
              <a:t>8n</a:t>
            </a:r>
            <a:r>
              <a:rPr dirty="0" sz="1200" spc="-40">
                <a:latin typeface="Times New Roman"/>
                <a:cs typeface="Times New Roman"/>
              </a:rPr>
              <a:t>.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example, the </a:t>
            </a:r>
            <a:r>
              <a:rPr dirty="0" sz="1200" spc="-5">
                <a:latin typeface="Times New Roman"/>
                <a:cs typeface="Times New Roman"/>
              </a:rPr>
              <a:t>string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“abacdaacac” </a:t>
            </a:r>
            <a:r>
              <a:rPr dirty="0" sz="1200" spc="-10">
                <a:latin typeface="Times New Roman"/>
                <a:cs typeface="Times New Roman"/>
              </a:rPr>
              <a:t>will require </a:t>
            </a:r>
            <a:r>
              <a:rPr dirty="0" sz="1200" spc="-165">
                <a:latin typeface="Lucida Sans Unicode"/>
                <a:cs typeface="Lucida Sans Unicode"/>
              </a:rPr>
              <a:t>8 </a:t>
            </a:r>
            <a:r>
              <a:rPr dirty="0" sz="1200" spc="105">
                <a:latin typeface="Segoe UI Symbol"/>
                <a:cs typeface="Segoe UI Symbol"/>
              </a:rPr>
              <a:t>× </a:t>
            </a:r>
            <a:r>
              <a:rPr dirty="0" sz="1200" spc="-165">
                <a:latin typeface="Lucida Sans Unicode"/>
                <a:cs typeface="Lucida Sans Unicode"/>
              </a:rPr>
              <a:t>10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165">
                <a:latin typeface="Lucida Sans Unicode"/>
                <a:cs typeface="Lucida Sans Unicode"/>
              </a:rPr>
              <a:t>80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bits. The same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encoded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 spc="-5">
                <a:latin typeface="Times New Roman"/>
                <a:cs typeface="Times New Roman"/>
              </a:rPr>
              <a:t> codes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yield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6" name="object 26"/>
          <p:cNvGraphicFramePr>
            <a:graphicFrameLocks noGrp="1"/>
          </p:cNvGraphicFramePr>
          <p:nvPr/>
        </p:nvGraphicFramePr>
        <p:xfrm>
          <a:off x="2708147" y="6963601"/>
          <a:ext cx="2816860" cy="3771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7329"/>
                <a:gridCol w="379730"/>
                <a:gridCol w="228600"/>
                <a:gridCol w="303529"/>
                <a:gridCol w="379730"/>
                <a:gridCol w="228600"/>
                <a:gridCol w="227330"/>
                <a:gridCol w="303530"/>
                <a:gridCol w="228600"/>
                <a:gridCol w="303530"/>
              </a:tblGrid>
              <a:tr h="37185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7" name="object 27"/>
          <p:cNvSpPr txBox="1"/>
          <p:nvPr/>
        </p:nvSpPr>
        <p:spPr>
          <a:xfrm>
            <a:off x="876299" y="7408405"/>
            <a:ext cx="6432550" cy="986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28829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This is just 17 bits, a significant </a:t>
            </a:r>
            <a:r>
              <a:rPr dirty="0" sz="1200" spc="-10">
                <a:latin typeface="Times New Roman"/>
                <a:cs typeface="Times New Roman"/>
              </a:rPr>
              <a:t>saving!.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a string of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characters </a:t>
            </a:r>
            <a:r>
              <a:rPr dirty="0" sz="1200" spc="-15">
                <a:latin typeface="Times New Roman"/>
                <a:cs typeface="Times New Roman"/>
              </a:rPr>
              <a:t>over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alphabet, </a:t>
            </a:r>
            <a:r>
              <a:rPr dirty="0" sz="1200" spc="-10">
                <a:latin typeface="Times New Roman"/>
                <a:cs typeface="Times New Roman"/>
              </a:rPr>
              <a:t>the expected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encoded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string </a:t>
            </a:r>
            <a:r>
              <a:rPr dirty="0" sz="1200" spc="-10">
                <a:latin typeface="Times New Roman"/>
                <a:cs typeface="Times New Roman"/>
              </a:rPr>
              <a:t>length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endParaRPr sz="1200">
              <a:latin typeface="Times New Roman"/>
              <a:cs typeface="Times New Roman"/>
            </a:endParaRPr>
          </a:p>
          <a:p>
            <a:pPr algn="ctr" marL="44450">
              <a:lnSpc>
                <a:spcPct val="100000"/>
              </a:lnSpc>
              <a:spcBef>
                <a:spcPts val="10"/>
              </a:spcBef>
            </a:pP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65">
                <a:latin typeface="Lucida Sans Unicode"/>
                <a:cs typeface="Lucida Sans Unicode"/>
              </a:rPr>
              <a:t>5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65">
                <a:latin typeface="Lucida Sans Unicode"/>
                <a:cs typeface="Lucida Sans Unicode"/>
              </a:rPr>
              <a:t>3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3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38100" marR="30480">
              <a:lnSpc>
                <a:spcPct val="100000"/>
              </a:lnSpc>
              <a:spcBef>
                <a:spcPts val="350"/>
              </a:spcBef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p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x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probability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occurrence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character,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d</a:t>
            </a:r>
            <a:r>
              <a:rPr dirty="0" baseline="-13888" sz="1200" spc="44">
                <a:latin typeface="Verdana"/>
                <a:cs typeface="Verdana"/>
              </a:rPr>
              <a:t>T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x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length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codeword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relative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prefix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T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expected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bits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encode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text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01704" y="8370124"/>
            <a:ext cx="13392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characters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312378" y="8430818"/>
            <a:ext cx="1605280" cy="52133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32384">
              <a:lnSpc>
                <a:spcPts val="1290"/>
              </a:lnSpc>
              <a:spcBef>
                <a:spcPts val="95"/>
              </a:spcBef>
            </a:pPr>
            <a:r>
              <a:rPr dirty="0" sz="1200" spc="975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  <a:p>
            <a:pPr algn="ctr">
              <a:lnSpc>
                <a:spcPts val="1290"/>
              </a:lnSpc>
              <a:tabLst>
                <a:tab pos="878840" algn="l"/>
              </a:tabLst>
            </a:pPr>
            <a:r>
              <a:rPr dirty="0" sz="1200" spc="65">
                <a:latin typeface="Lucida Sans Unicode"/>
                <a:cs typeface="Lucida Sans Unicode"/>
              </a:rPr>
              <a:t>B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T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	</a:t>
            </a:r>
            <a:r>
              <a:rPr dirty="0" sz="1200" spc="20">
                <a:latin typeface="Lucida Sans Unicode"/>
                <a:cs typeface="Lucida Sans Unicode"/>
              </a:rPr>
              <a:t>p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sz="1200" spc="20">
                <a:latin typeface="Garamond"/>
                <a:cs typeface="Garamond"/>
              </a:rPr>
              <a:t>)</a:t>
            </a:r>
            <a:r>
              <a:rPr dirty="0" sz="1200" spc="20">
                <a:latin typeface="Lucida Sans Unicode"/>
                <a:cs typeface="Lucida Sans Unicode"/>
              </a:rPr>
              <a:t>d</a:t>
            </a:r>
            <a:r>
              <a:rPr dirty="0" baseline="-13888" sz="1200" spc="30">
                <a:latin typeface="Verdana"/>
                <a:cs typeface="Verdana"/>
              </a:rPr>
              <a:t>T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sz="1200" spc="2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ctr" marR="22225">
              <a:lnSpc>
                <a:spcPct val="100000"/>
              </a:lnSpc>
              <a:spcBef>
                <a:spcPts val="370"/>
              </a:spcBef>
            </a:pPr>
            <a:r>
              <a:rPr dirty="0" sz="800" spc="55">
                <a:latin typeface="Verdana"/>
                <a:cs typeface="Verdana"/>
              </a:rPr>
              <a:t>x</a:t>
            </a:r>
            <a:r>
              <a:rPr dirty="0" sz="800" spc="55">
                <a:latin typeface="Cambria"/>
                <a:cs typeface="Cambria"/>
              </a:rPr>
              <a:t>∈</a:t>
            </a:r>
            <a:r>
              <a:rPr dirty="0" sz="800" spc="55">
                <a:latin typeface="Verdana"/>
                <a:cs typeface="Verdana"/>
              </a:rPr>
              <a:t>C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3110230" cy="617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102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7.2.2	</a:t>
            </a:r>
            <a:r>
              <a:rPr dirty="0" sz="1400" spc="15" b="1">
                <a:latin typeface="Times New Roman"/>
                <a:cs typeface="Times New Roman"/>
              </a:rPr>
              <a:t>Huffman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Encoding:</a:t>
            </a:r>
            <a:r>
              <a:rPr dirty="0" sz="1400" spc="8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Correctness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33376" y="520987"/>
            <a:ext cx="259524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GREEDY</a:t>
            </a:r>
            <a:r>
              <a:rPr dirty="0" sz="1200" spc="-10">
                <a:latin typeface="Times New Roman"/>
                <a:cs typeface="Times New Roman"/>
              </a:rPr>
              <a:t> ALGORITHMS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63599" y="1277698"/>
            <a:ext cx="6503670" cy="37884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approach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generate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prefix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code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minimizes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expected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length </a:t>
            </a:r>
            <a:r>
              <a:rPr dirty="0" sz="1200" spc="65">
                <a:latin typeface="Lucida Sans Unicode"/>
                <a:cs typeface="Lucida Sans Unicode"/>
              </a:rPr>
              <a:t>B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T</a:t>
            </a:r>
            <a:r>
              <a:rPr dirty="0" sz="1200" spc="65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encoded </a:t>
            </a:r>
            <a:r>
              <a:rPr dirty="0" sz="1200" spc="-10">
                <a:latin typeface="Times New Roman"/>
                <a:cs typeface="Times New Roman"/>
              </a:rPr>
              <a:t>string.</a:t>
            </a:r>
            <a:r>
              <a:rPr dirty="0" sz="1200" spc="-5">
                <a:latin typeface="Times New Roman"/>
                <a:cs typeface="Times New Roman"/>
              </a:rPr>
              <a:t> In other </a:t>
            </a:r>
            <a:r>
              <a:rPr dirty="0" sz="1200" spc="-10">
                <a:latin typeface="Times New Roman"/>
                <a:cs typeface="Times New Roman"/>
              </a:rPr>
              <a:t>words, Huffman algorithm </a:t>
            </a:r>
            <a:r>
              <a:rPr dirty="0" sz="1200" spc="-5">
                <a:latin typeface="Times New Roman"/>
                <a:cs typeface="Times New Roman"/>
              </a:rPr>
              <a:t>generates an </a:t>
            </a:r>
            <a:r>
              <a:rPr dirty="0" sz="1200" spc="-10">
                <a:latin typeface="Times New Roman"/>
                <a:cs typeface="Times New Roman"/>
              </a:rPr>
              <a:t>optimum </a:t>
            </a:r>
            <a:r>
              <a:rPr dirty="0" sz="1200" spc="-5">
                <a:latin typeface="Times New Roman"/>
                <a:cs typeface="Times New Roman"/>
              </a:rPr>
              <a:t>prefix code.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question that remains is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why is </a:t>
            </a:r>
            <a:r>
              <a:rPr dirty="0" sz="1200" spc="-10" i="1">
                <a:latin typeface="Times New Roman"/>
                <a:cs typeface="Times New Roman"/>
              </a:rPr>
              <a:t>the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algorithm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correct?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415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Reca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odin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  <a:p>
            <a:pPr algn="ctr" marR="33020">
              <a:lnSpc>
                <a:spcPts val="1260"/>
              </a:lnSpc>
            </a:pPr>
            <a:r>
              <a:rPr dirty="0" sz="1200" spc="975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  <a:p>
            <a:pPr algn="ctr">
              <a:lnSpc>
                <a:spcPts val="1290"/>
              </a:lnSpc>
              <a:tabLst>
                <a:tab pos="878840" algn="l"/>
              </a:tabLst>
            </a:pPr>
            <a:r>
              <a:rPr dirty="0" sz="1200" spc="65">
                <a:latin typeface="Lucida Sans Unicode"/>
                <a:cs typeface="Lucida Sans Unicode"/>
              </a:rPr>
              <a:t>B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T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	</a:t>
            </a:r>
            <a:r>
              <a:rPr dirty="0" sz="1200" spc="20">
                <a:latin typeface="Lucida Sans Unicode"/>
                <a:cs typeface="Lucida Sans Unicode"/>
              </a:rPr>
              <a:t>p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sz="1200" spc="20">
                <a:latin typeface="Garamond"/>
                <a:cs typeface="Garamond"/>
              </a:rPr>
              <a:t>)</a:t>
            </a:r>
            <a:r>
              <a:rPr dirty="0" sz="1200" spc="20">
                <a:latin typeface="Lucida Sans Unicode"/>
                <a:cs typeface="Lucida Sans Unicode"/>
              </a:rPr>
              <a:t>d</a:t>
            </a:r>
            <a:r>
              <a:rPr dirty="0" baseline="-13888" sz="1200" spc="30">
                <a:latin typeface="Verdana"/>
                <a:cs typeface="Verdana"/>
              </a:rPr>
              <a:t>T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sz="1200" spc="2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ctr" marR="23495">
              <a:lnSpc>
                <a:spcPct val="100000"/>
              </a:lnSpc>
              <a:spcBef>
                <a:spcPts val="370"/>
              </a:spcBef>
            </a:pPr>
            <a:r>
              <a:rPr dirty="0" sz="800" spc="55">
                <a:latin typeface="Verdana"/>
                <a:cs typeface="Verdana"/>
              </a:rPr>
              <a:t>x</a:t>
            </a:r>
            <a:r>
              <a:rPr dirty="0" sz="800" spc="55">
                <a:latin typeface="Cambria"/>
                <a:cs typeface="Cambria"/>
              </a:rPr>
              <a:t>∈</a:t>
            </a:r>
            <a:r>
              <a:rPr dirty="0" sz="800" spc="55">
                <a:latin typeface="Verdana"/>
                <a:cs typeface="Verdana"/>
              </a:rPr>
              <a:t>C</a:t>
            </a:r>
            <a:endParaRPr sz="800">
              <a:latin typeface="Verdana"/>
              <a:cs typeface="Verdana"/>
            </a:endParaRPr>
          </a:p>
          <a:p>
            <a:pPr marL="50800" marR="64135">
              <a:lnSpc>
                <a:spcPct val="100000"/>
              </a:lnSpc>
              <a:spcBef>
                <a:spcPts val="635"/>
              </a:spcBef>
            </a:pP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approach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correctness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Encoding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constructed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converted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Huffman’s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increasing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costs.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constructed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binary </a:t>
            </a:r>
            <a:r>
              <a:rPr dirty="0" sz="1200" spc="-5">
                <a:latin typeface="Times New Roman"/>
                <a:cs typeface="Times New Roman"/>
              </a:rPr>
              <a:t> tree.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30"/>
              </a:spcBef>
            </a:pPr>
            <a:r>
              <a:rPr dirty="0" sz="1200" spc="-10" b="1">
                <a:latin typeface="Times New Roman"/>
                <a:cs typeface="Times New Roman"/>
              </a:rPr>
              <a:t>Claim:</a:t>
            </a:r>
            <a:endParaRPr sz="1200">
              <a:latin typeface="Times New Roman"/>
              <a:cs typeface="Times New Roman"/>
            </a:endParaRPr>
          </a:p>
          <a:p>
            <a:pPr marL="50800" marR="76835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characters </a:t>
            </a:r>
            <a:r>
              <a:rPr dirty="0" sz="1200" spc="-110">
                <a:latin typeface="Lucida Sans Unicode"/>
                <a:cs typeface="Lucida Sans Unicode"/>
              </a:rPr>
              <a:t>x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80">
                <a:latin typeface="Lucida Sans Unicode"/>
                <a:cs typeface="Lucida Sans Unicode"/>
              </a:rPr>
              <a:t>y </a:t>
            </a:r>
            <a:r>
              <a:rPr dirty="0" sz="1200" spc="-10">
                <a:latin typeface="Times New Roman"/>
                <a:cs typeface="Times New Roman"/>
              </a:rPr>
              <a:t>with the </a:t>
            </a:r>
            <a:r>
              <a:rPr dirty="0" sz="1200" spc="-5">
                <a:latin typeface="Times New Roman"/>
                <a:cs typeface="Times New Roman"/>
              </a:rPr>
              <a:t>smallest </a:t>
            </a:r>
            <a:r>
              <a:rPr dirty="0" sz="1200" spc="-10">
                <a:latin typeface="Times New Roman"/>
                <a:cs typeface="Times New Roman"/>
              </a:rPr>
              <a:t>probabilities.</a:t>
            </a:r>
            <a:r>
              <a:rPr dirty="0" sz="1200" spc="-5">
                <a:latin typeface="Times New Roman"/>
                <a:cs typeface="Times New Roman"/>
              </a:rPr>
              <a:t> Then there is </a:t>
            </a:r>
            <a:r>
              <a:rPr dirty="0" sz="1200" spc="-10">
                <a:latin typeface="Times New Roman"/>
                <a:cs typeface="Times New Roman"/>
              </a:rPr>
              <a:t>optimal </a:t>
            </a:r>
            <a:r>
              <a:rPr dirty="0" sz="1200" spc="-5">
                <a:latin typeface="Times New Roman"/>
                <a:cs typeface="Times New Roman"/>
              </a:rPr>
              <a:t>code tree in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characters are </a:t>
            </a:r>
            <a:r>
              <a:rPr dirty="0" sz="1200" spc="-10">
                <a:latin typeface="Times New Roman"/>
                <a:cs typeface="Times New Roman"/>
              </a:rPr>
              <a:t>siblings</a:t>
            </a:r>
            <a:r>
              <a:rPr dirty="0" sz="1200" spc="-5">
                <a:latin typeface="Times New Roman"/>
                <a:cs typeface="Times New Roman"/>
              </a:rPr>
              <a:t> 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depth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25"/>
              </a:spcBef>
            </a:pPr>
            <a:r>
              <a:rPr dirty="0" sz="1200" spc="-10" b="1">
                <a:latin typeface="Times New Roman"/>
                <a:cs typeface="Times New Roman"/>
              </a:rPr>
              <a:t>Proof:</a:t>
            </a:r>
            <a:endParaRPr sz="1200">
              <a:latin typeface="Times New Roman"/>
              <a:cs typeface="Times New Roman"/>
            </a:endParaRPr>
          </a:p>
          <a:p>
            <a:pPr marL="50800" marR="6604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Let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4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prefix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code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siblings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b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tree.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 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 is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7.2Assume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without</a:t>
            </a:r>
            <a:r>
              <a:rPr dirty="0" sz="1200" spc="-5">
                <a:latin typeface="Times New Roman"/>
                <a:cs typeface="Times New Roman"/>
              </a:rPr>
              <a:t> loss of generality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915"/>
              </a:spcBef>
              <a:tabLst>
                <a:tab pos="1122045" algn="l"/>
                <a:tab pos="1645285" algn="l"/>
              </a:tabLst>
            </a:pP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b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0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p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c</a:t>
            </a:r>
            <a:r>
              <a:rPr dirty="0" sz="1200" spc="30">
                <a:latin typeface="Garamond"/>
                <a:cs typeface="Garamond"/>
              </a:rPr>
              <a:t>)	</a:t>
            </a:r>
            <a:r>
              <a:rPr dirty="0" sz="1200" spc="-5">
                <a:latin typeface="Times New Roman"/>
                <a:cs typeface="Times New Roman"/>
              </a:rPr>
              <a:t>and	</a:t>
            </a:r>
            <a:r>
              <a:rPr dirty="0" sz="1200" spc="15">
                <a:latin typeface="Lucida Sans Unicode"/>
                <a:cs typeface="Lucida Sans Unicode"/>
              </a:rPr>
              <a:t>p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x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25">
                <a:latin typeface="Segoe UI Symbol"/>
                <a:cs typeface="Segoe UI Symbol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p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y</a:t>
            </a:r>
            <a:r>
              <a:rPr dirty="0" sz="1200" spc="6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029711" y="5345272"/>
            <a:ext cx="2133600" cy="2626360"/>
            <a:chOff x="3029711" y="5345272"/>
            <a:chExt cx="2133600" cy="2626360"/>
          </a:xfrm>
        </p:grpSpPr>
        <p:sp>
          <p:nvSpPr>
            <p:cNvPr id="6" name="object 6"/>
            <p:cNvSpPr/>
            <p:nvPr/>
          </p:nvSpPr>
          <p:spPr>
            <a:xfrm>
              <a:off x="3029711" y="5345272"/>
              <a:ext cx="2133600" cy="2626360"/>
            </a:xfrm>
            <a:custGeom>
              <a:avLst/>
              <a:gdLst/>
              <a:ahLst/>
              <a:cxnLst/>
              <a:rect l="l" t="t" r="r" b="b"/>
              <a:pathLst>
                <a:path w="2133600" h="2626359">
                  <a:moveTo>
                    <a:pt x="2133401" y="0"/>
                  </a:moveTo>
                  <a:lnTo>
                    <a:pt x="0" y="0"/>
                  </a:lnTo>
                  <a:lnTo>
                    <a:pt x="0" y="2626263"/>
                  </a:lnTo>
                  <a:lnTo>
                    <a:pt x="2133401" y="2626263"/>
                  </a:lnTo>
                  <a:lnTo>
                    <a:pt x="21334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380552" y="5884067"/>
              <a:ext cx="1663700" cy="1663700"/>
            </a:xfrm>
            <a:custGeom>
              <a:avLst/>
              <a:gdLst/>
              <a:ahLst/>
              <a:cxnLst/>
              <a:rect l="l" t="t" r="r" b="b"/>
              <a:pathLst>
                <a:path w="1663700" h="1663700">
                  <a:moveTo>
                    <a:pt x="1060856" y="265221"/>
                  </a:moveTo>
                  <a:lnTo>
                    <a:pt x="1398391" y="602757"/>
                  </a:lnTo>
                </a:path>
                <a:path w="1663700" h="1663700">
                  <a:moveTo>
                    <a:pt x="1374282" y="843854"/>
                  </a:moveTo>
                  <a:lnTo>
                    <a:pt x="1663604" y="843854"/>
                  </a:lnTo>
                  <a:lnTo>
                    <a:pt x="1663604" y="578642"/>
                  </a:lnTo>
                  <a:lnTo>
                    <a:pt x="1374282" y="578642"/>
                  </a:lnTo>
                  <a:lnTo>
                    <a:pt x="1374282" y="843854"/>
                  </a:lnTo>
                  <a:close/>
                </a:path>
                <a:path w="1663700" h="1663700">
                  <a:moveTo>
                    <a:pt x="795634" y="1229624"/>
                  </a:moveTo>
                  <a:lnTo>
                    <a:pt x="819744" y="1157295"/>
                  </a:lnTo>
                  <a:lnTo>
                    <a:pt x="843854" y="1109075"/>
                  </a:lnTo>
                  <a:lnTo>
                    <a:pt x="892073" y="1084966"/>
                  </a:lnTo>
                  <a:lnTo>
                    <a:pt x="988527" y="1084966"/>
                  </a:lnTo>
                  <a:lnTo>
                    <a:pt x="1036746" y="1109075"/>
                  </a:lnTo>
                  <a:lnTo>
                    <a:pt x="1060856" y="1157295"/>
                  </a:lnTo>
                  <a:lnTo>
                    <a:pt x="1084966" y="1229624"/>
                  </a:lnTo>
                  <a:lnTo>
                    <a:pt x="1060856" y="1277843"/>
                  </a:lnTo>
                  <a:lnTo>
                    <a:pt x="1036746" y="1326062"/>
                  </a:lnTo>
                  <a:lnTo>
                    <a:pt x="988527" y="1350172"/>
                  </a:lnTo>
                  <a:lnTo>
                    <a:pt x="892073" y="1350172"/>
                  </a:lnTo>
                  <a:lnTo>
                    <a:pt x="843854" y="1326062"/>
                  </a:lnTo>
                  <a:lnTo>
                    <a:pt x="819744" y="1277843"/>
                  </a:lnTo>
                  <a:lnTo>
                    <a:pt x="795634" y="1229624"/>
                  </a:lnTo>
                </a:path>
                <a:path w="1663700" h="1663700">
                  <a:moveTo>
                    <a:pt x="313441" y="699195"/>
                  </a:moveTo>
                  <a:lnTo>
                    <a:pt x="313441" y="626866"/>
                  </a:lnTo>
                  <a:lnTo>
                    <a:pt x="337550" y="602757"/>
                  </a:lnTo>
                  <a:lnTo>
                    <a:pt x="385770" y="554537"/>
                  </a:lnTo>
                  <a:lnTo>
                    <a:pt x="506318" y="554537"/>
                  </a:lnTo>
                  <a:lnTo>
                    <a:pt x="554537" y="602757"/>
                  </a:lnTo>
                  <a:lnTo>
                    <a:pt x="578647" y="626866"/>
                  </a:lnTo>
                  <a:lnTo>
                    <a:pt x="578647" y="747415"/>
                  </a:lnTo>
                  <a:lnTo>
                    <a:pt x="554537" y="795634"/>
                  </a:lnTo>
                  <a:lnTo>
                    <a:pt x="506318" y="795634"/>
                  </a:lnTo>
                  <a:lnTo>
                    <a:pt x="458099" y="819744"/>
                  </a:lnTo>
                  <a:lnTo>
                    <a:pt x="385770" y="795634"/>
                  </a:lnTo>
                  <a:lnTo>
                    <a:pt x="337550" y="795634"/>
                  </a:lnTo>
                  <a:lnTo>
                    <a:pt x="313441" y="747415"/>
                  </a:lnTo>
                  <a:lnTo>
                    <a:pt x="313441" y="699195"/>
                  </a:lnTo>
                </a:path>
                <a:path w="1663700" h="1663700">
                  <a:moveTo>
                    <a:pt x="530428" y="795634"/>
                  </a:moveTo>
                  <a:lnTo>
                    <a:pt x="843854" y="1109075"/>
                  </a:lnTo>
                </a:path>
                <a:path w="1663700" h="1663700">
                  <a:moveTo>
                    <a:pt x="337550" y="795634"/>
                  </a:moveTo>
                  <a:lnTo>
                    <a:pt x="0" y="1109075"/>
                  </a:lnTo>
                </a:path>
                <a:path w="1663700" h="1663700">
                  <a:moveTo>
                    <a:pt x="1036746" y="1326062"/>
                  </a:moveTo>
                  <a:lnTo>
                    <a:pt x="1374282" y="1663598"/>
                  </a:lnTo>
                </a:path>
                <a:path w="1663700" h="1663700">
                  <a:moveTo>
                    <a:pt x="843854" y="1326062"/>
                  </a:moveTo>
                  <a:lnTo>
                    <a:pt x="506318" y="1663598"/>
                  </a:lnTo>
                </a:path>
                <a:path w="1663700" h="1663700">
                  <a:moveTo>
                    <a:pt x="819744" y="144673"/>
                  </a:moveTo>
                  <a:lnTo>
                    <a:pt x="843854" y="96438"/>
                  </a:lnTo>
                  <a:lnTo>
                    <a:pt x="867963" y="48219"/>
                  </a:lnTo>
                  <a:lnTo>
                    <a:pt x="916198" y="24109"/>
                  </a:lnTo>
                  <a:lnTo>
                    <a:pt x="964417" y="0"/>
                  </a:lnTo>
                  <a:lnTo>
                    <a:pt x="1012637" y="24109"/>
                  </a:lnTo>
                  <a:lnTo>
                    <a:pt x="1060856" y="48219"/>
                  </a:lnTo>
                  <a:lnTo>
                    <a:pt x="1084966" y="96438"/>
                  </a:lnTo>
                  <a:lnTo>
                    <a:pt x="1109075" y="144673"/>
                  </a:lnTo>
                  <a:lnTo>
                    <a:pt x="1084966" y="192892"/>
                  </a:lnTo>
                  <a:lnTo>
                    <a:pt x="1060856" y="241112"/>
                  </a:lnTo>
                  <a:lnTo>
                    <a:pt x="1012637" y="289331"/>
                  </a:lnTo>
                  <a:lnTo>
                    <a:pt x="916198" y="289331"/>
                  </a:lnTo>
                  <a:lnTo>
                    <a:pt x="867963" y="241112"/>
                  </a:lnTo>
                  <a:lnTo>
                    <a:pt x="843854" y="192892"/>
                  </a:lnTo>
                  <a:lnTo>
                    <a:pt x="819744" y="144673"/>
                  </a:lnTo>
                </a:path>
                <a:path w="1663700" h="1663700">
                  <a:moveTo>
                    <a:pt x="867963" y="241112"/>
                  </a:moveTo>
                  <a:lnTo>
                    <a:pt x="530428" y="578647"/>
                  </a:lnTo>
                </a:path>
              </a:pathLst>
            </a:custGeom>
            <a:ln w="214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3187675" y="5458823"/>
            <a:ext cx="1810385" cy="181800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ctr" marL="196215">
              <a:lnSpc>
                <a:spcPct val="100000"/>
              </a:lnSpc>
              <a:spcBef>
                <a:spcPts val="114"/>
              </a:spcBef>
            </a:pPr>
            <a:r>
              <a:rPr dirty="0" sz="2850" spc="10" i="1">
                <a:solidFill>
                  <a:srgbClr val="FFFF00"/>
                </a:solidFill>
                <a:latin typeface="Arial"/>
                <a:cs typeface="Arial"/>
              </a:rPr>
              <a:t>T</a:t>
            </a:r>
            <a:endParaRPr sz="28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34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2100">
                <a:solidFill>
                  <a:srgbClr val="FFFF00"/>
                </a:solidFill>
                <a:latin typeface="Arial"/>
                <a:cs typeface="Arial"/>
              </a:rPr>
              <a:t>x</a:t>
            </a:r>
            <a:endParaRPr sz="2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655"/>
              </a:spcBef>
            </a:pPr>
            <a:r>
              <a:rPr dirty="0" sz="2100">
                <a:solidFill>
                  <a:srgbClr val="FFFF00"/>
                </a:solidFill>
                <a:latin typeface="Arial"/>
                <a:cs typeface="Arial"/>
              </a:rPr>
              <a:t>y</a:t>
            </a:r>
            <a:endParaRPr sz="21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115345" y="6993137"/>
            <a:ext cx="1953260" cy="868044"/>
          </a:xfrm>
          <a:custGeom>
            <a:avLst/>
            <a:gdLst/>
            <a:ahLst/>
            <a:cxnLst/>
            <a:rect l="l" t="t" r="r" b="b"/>
            <a:pathLst>
              <a:path w="1953260" h="868045">
                <a:moveTo>
                  <a:pt x="0" y="289322"/>
                </a:moveTo>
                <a:lnTo>
                  <a:pt x="289322" y="289322"/>
                </a:lnTo>
                <a:lnTo>
                  <a:pt x="289322" y="0"/>
                </a:lnTo>
                <a:lnTo>
                  <a:pt x="0" y="0"/>
                </a:lnTo>
                <a:lnTo>
                  <a:pt x="0" y="289322"/>
                </a:lnTo>
                <a:close/>
              </a:path>
              <a:path w="1953260" h="868045">
                <a:moveTo>
                  <a:pt x="482208" y="867969"/>
                </a:moveTo>
                <a:lnTo>
                  <a:pt x="771531" y="867969"/>
                </a:lnTo>
                <a:lnTo>
                  <a:pt x="771531" y="554537"/>
                </a:lnTo>
                <a:lnTo>
                  <a:pt x="482208" y="554537"/>
                </a:lnTo>
                <a:lnTo>
                  <a:pt x="482208" y="867969"/>
                </a:lnTo>
                <a:close/>
              </a:path>
              <a:path w="1953260" h="868045">
                <a:moveTo>
                  <a:pt x="1663598" y="867969"/>
                </a:moveTo>
                <a:lnTo>
                  <a:pt x="1952920" y="867969"/>
                </a:lnTo>
                <a:lnTo>
                  <a:pt x="1952920" y="554537"/>
                </a:lnTo>
                <a:lnTo>
                  <a:pt x="1663598" y="554537"/>
                </a:lnTo>
                <a:lnTo>
                  <a:pt x="1663598" y="867969"/>
                </a:lnTo>
                <a:close/>
              </a:path>
            </a:pathLst>
          </a:custGeom>
          <a:ln w="21431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901699" y="7508181"/>
            <a:ext cx="5013325" cy="14751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767965">
              <a:lnSpc>
                <a:spcPct val="100000"/>
              </a:lnSpc>
              <a:spcBef>
                <a:spcPts val="110"/>
              </a:spcBef>
              <a:tabLst>
                <a:tab pos="3949065" algn="l"/>
              </a:tabLst>
            </a:pPr>
            <a:r>
              <a:rPr dirty="0" sz="2100">
                <a:solidFill>
                  <a:srgbClr val="FFFF00"/>
                </a:solidFill>
                <a:latin typeface="Arial"/>
                <a:cs typeface="Arial"/>
              </a:rPr>
              <a:t>c	b</a:t>
            </a:r>
            <a:endParaRPr sz="2100">
              <a:latin typeface="Arial"/>
              <a:cs typeface="Arial"/>
            </a:endParaRPr>
          </a:p>
          <a:p>
            <a:pPr marL="2051050">
              <a:lnSpc>
                <a:spcPct val="100000"/>
              </a:lnSpc>
              <a:spcBef>
                <a:spcPts val="1639"/>
              </a:spcBef>
            </a:pPr>
            <a:r>
              <a:rPr dirty="0" sz="1200" spc="-10">
                <a:latin typeface="Times New Roman"/>
                <a:cs typeface="Times New Roman"/>
              </a:rPr>
              <a:t>Figure 7.2: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prefix code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Since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smallest </a:t>
            </a:r>
            <a:r>
              <a:rPr dirty="0" sz="1200" spc="-10">
                <a:latin typeface="Times New Roman"/>
                <a:cs typeface="Times New Roman"/>
              </a:rPr>
              <a:t>probabilities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(we</a:t>
            </a:r>
            <a:r>
              <a:rPr dirty="0" sz="1200" spc="-5">
                <a:latin typeface="Times New Roman"/>
                <a:cs typeface="Times New Roman"/>
              </a:rPr>
              <a:t> claimed this),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 spc="-10">
                <a:latin typeface="Times New Roman"/>
                <a:cs typeface="Times New Roman"/>
              </a:rPr>
              <a:t>follows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  <a:p>
            <a:pPr marL="2015489">
              <a:lnSpc>
                <a:spcPct val="100000"/>
              </a:lnSpc>
              <a:spcBef>
                <a:spcPts val="915"/>
              </a:spcBef>
              <a:tabLst>
                <a:tab pos="3105785" algn="l"/>
                <a:tab pos="362839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p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x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b</a:t>
            </a:r>
            <a:r>
              <a:rPr dirty="0" sz="1200" spc="25">
                <a:latin typeface="Garamond"/>
                <a:cs typeface="Garamond"/>
              </a:rPr>
              <a:t>)	</a:t>
            </a:r>
            <a:r>
              <a:rPr dirty="0" sz="1200" spc="-5">
                <a:latin typeface="Times New Roman"/>
                <a:cs typeface="Times New Roman"/>
              </a:rPr>
              <a:t>and	</a:t>
            </a:r>
            <a:r>
              <a:rPr dirty="0" sz="1200" spc="60">
                <a:latin typeface="Lucida Sans Unicode"/>
                <a:cs typeface="Lucida Sans Unicode"/>
              </a:rPr>
              <a:t>p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y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-15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p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c</a:t>
            </a:r>
            <a:r>
              <a:rPr dirty="0" sz="1200" spc="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354774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7.2.</a:t>
            </a:r>
            <a:r>
              <a:rPr dirty="0" sz="1200" spc="38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GREEDY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ENCODING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10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9" y="926454"/>
            <a:ext cx="38176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Since </a:t>
            </a:r>
            <a:r>
              <a:rPr dirty="0" sz="1200" spc="-55">
                <a:latin typeface="Lucida Sans Unicode"/>
                <a:cs typeface="Lucida Sans Unicode"/>
              </a:rPr>
              <a:t>b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deepest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tree,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64041" y="1447205"/>
            <a:ext cx="8166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">
                <a:latin typeface="Lucida Sans Unicode"/>
                <a:cs typeface="Lucida Sans Unicode"/>
              </a:rPr>
              <a:t>d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b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35">
                <a:latin typeface="Segoe UI Symbol"/>
                <a:cs typeface="Segoe UI Symbol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d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sz="1200" spc="2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396753" y="1447205"/>
            <a:ext cx="25692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5305" algn="l"/>
                <a:tab pos="1624965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d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pth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1697" y="1968070"/>
            <a:ext cx="863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Thus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579631" y="2337030"/>
            <a:ext cx="10706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01687" y="2819147"/>
            <a:ext cx="4307205" cy="2165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50">
              <a:latin typeface="Times New Roman"/>
              <a:cs typeface="Times New Roman"/>
            </a:endParaRPr>
          </a:p>
          <a:p>
            <a:pPr algn="ctr" marL="2118995">
              <a:lnSpc>
                <a:spcPct val="100000"/>
              </a:lnSpc>
              <a:spcBef>
                <a:spcPts val="5"/>
              </a:spcBef>
            </a:pP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Hence their </a:t>
            </a:r>
            <a:r>
              <a:rPr dirty="0" sz="1200" spc="-10">
                <a:latin typeface="Times New Roman"/>
                <a:cs typeface="Times New Roman"/>
              </a:rPr>
              <a:t>product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non-negative.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is,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algn="ctr" marL="2118995">
              <a:lnSpc>
                <a:spcPct val="100000"/>
              </a:lnSpc>
              <a:spcBef>
                <a:spcPts val="1165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205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swap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positions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55">
                <a:latin typeface="Lucida Sans Unicode"/>
                <a:cs typeface="Lucida Sans Unicode"/>
              </a:rPr>
              <a:t>b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tree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2798063" y="5411414"/>
            <a:ext cx="2633345" cy="2590800"/>
            <a:chOff x="2798063" y="5411414"/>
            <a:chExt cx="2633345" cy="2590800"/>
          </a:xfrm>
        </p:grpSpPr>
        <p:sp>
          <p:nvSpPr>
            <p:cNvPr id="11" name="object 11"/>
            <p:cNvSpPr/>
            <p:nvPr/>
          </p:nvSpPr>
          <p:spPr>
            <a:xfrm>
              <a:off x="2798063" y="5411414"/>
              <a:ext cx="2633345" cy="2590800"/>
            </a:xfrm>
            <a:custGeom>
              <a:avLst/>
              <a:gdLst/>
              <a:ahLst/>
              <a:cxnLst/>
              <a:rect l="l" t="t" r="r" b="b"/>
              <a:pathLst>
                <a:path w="2633345" h="2590800">
                  <a:moveTo>
                    <a:pt x="2633014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2633014" y="2590601"/>
                  </a:lnTo>
                  <a:lnTo>
                    <a:pt x="2633014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145276" y="5943747"/>
              <a:ext cx="1664335" cy="1640839"/>
            </a:xfrm>
            <a:custGeom>
              <a:avLst/>
              <a:gdLst/>
              <a:ahLst/>
              <a:cxnLst/>
              <a:rect l="l" t="t" r="r" b="b"/>
              <a:pathLst>
                <a:path w="1664335" h="1640840">
                  <a:moveTo>
                    <a:pt x="1045997" y="261503"/>
                  </a:moveTo>
                  <a:lnTo>
                    <a:pt x="1378808" y="594314"/>
                  </a:lnTo>
                </a:path>
                <a:path w="1664335" h="1640840">
                  <a:moveTo>
                    <a:pt x="1378808" y="832043"/>
                  </a:moveTo>
                  <a:lnTo>
                    <a:pt x="1664078" y="832043"/>
                  </a:lnTo>
                  <a:lnTo>
                    <a:pt x="1664078" y="570545"/>
                  </a:lnTo>
                  <a:lnTo>
                    <a:pt x="1378808" y="570545"/>
                  </a:lnTo>
                  <a:lnTo>
                    <a:pt x="1378808" y="832043"/>
                  </a:lnTo>
                  <a:close/>
                </a:path>
                <a:path w="1664335" h="1640840">
                  <a:moveTo>
                    <a:pt x="808268" y="1212402"/>
                  </a:moveTo>
                  <a:lnTo>
                    <a:pt x="832043" y="1141079"/>
                  </a:lnTo>
                  <a:lnTo>
                    <a:pt x="855817" y="1093530"/>
                  </a:lnTo>
                  <a:lnTo>
                    <a:pt x="903366" y="1069771"/>
                  </a:lnTo>
                  <a:lnTo>
                    <a:pt x="998448" y="1069771"/>
                  </a:lnTo>
                  <a:lnTo>
                    <a:pt x="1022222" y="1093530"/>
                  </a:lnTo>
                  <a:lnTo>
                    <a:pt x="1069771" y="1141079"/>
                  </a:lnTo>
                  <a:lnTo>
                    <a:pt x="1069771" y="1259951"/>
                  </a:lnTo>
                  <a:lnTo>
                    <a:pt x="1022222" y="1307485"/>
                  </a:lnTo>
                  <a:lnTo>
                    <a:pt x="998448" y="1331259"/>
                  </a:lnTo>
                  <a:lnTo>
                    <a:pt x="903366" y="1331259"/>
                  </a:lnTo>
                  <a:lnTo>
                    <a:pt x="855817" y="1307485"/>
                  </a:lnTo>
                  <a:lnTo>
                    <a:pt x="832043" y="1259951"/>
                  </a:lnTo>
                  <a:lnTo>
                    <a:pt x="808268" y="1212402"/>
                  </a:lnTo>
                </a:path>
                <a:path w="1664335" h="1640840">
                  <a:moveTo>
                    <a:pt x="309051" y="689411"/>
                  </a:moveTo>
                  <a:lnTo>
                    <a:pt x="309051" y="618088"/>
                  </a:lnTo>
                  <a:lnTo>
                    <a:pt x="356585" y="594314"/>
                  </a:lnTo>
                  <a:lnTo>
                    <a:pt x="380359" y="546765"/>
                  </a:lnTo>
                  <a:lnTo>
                    <a:pt x="499231" y="546765"/>
                  </a:lnTo>
                  <a:lnTo>
                    <a:pt x="546765" y="594314"/>
                  </a:lnTo>
                  <a:lnTo>
                    <a:pt x="570539" y="618088"/>
                  </a:lnTo>
                  <a:lnTo>
                    <a:pt x="594314" y="689411"/>
                  </a:lnTo>
                  <a:lnTo>
                    <a:pt x="570539" y="736945"/>
                  </a:lnTo>
                  <a:lnTo>
                    <a:pt x="546765" y="784494"/>
                  </a:lnTo>
                  <a:lnTo>
                    <a:pt x="499231" y="784494"/>
                  </a:lnTo>
                  <a:lnTo>
                    <a:pt x="451683" y="808268"/>
                  </a:lnTo>
                  <a:lnTo>
                    <a:pt x="380359" y="784494"/>
                  </a:lnTo>
                  <a:lnTo>
                    <a:pt x="356585" y="784494"/>
                  </a:lnTo>
                  <a:lnTo>
                    <a:pt x="309051" y="736945"/>
                  </a:lnTo>
                  <a:lnTo>
                    <a:pt x="309051" y="689411"/>
                  </a:lnTo>
                </a:path>
                <a:path w="1664335" h="1640840">
                  <a:moveTo>
                    <a:pt x="546765" y="784494"/>
                  </a:moveTo>
                  <a:lnTo>
                    <a:pt x="879591" y="1093530"/>
                  </a:lnTo>
                </a:path>
                <a:path w="1664335" h="1640840">
                  <a:moveTo>
                    <a:pt x="332826" y="784494"/>
                  </a:moveTo>
                  <a:lnTo>
                    <a:pt x="0" y="1093530"/>
                  </a:lnTo>
                </a:path>
                <a:path w="1664335" h="1640840">
                  <a:moveTo>
                    <a:pt x="1022222" y="1307485"/>
                  </a:moveTo>
                  <a:lnTo>
                    <a:pt x="1355034" y="1640311"/>
                  </a:lnTo>
                </a:path>
                <a:path w="1664335" h="1640840">
                  <a:moveTo>
                    <a:pt x="855817" y="1307485"/>
                  </a:moveTo>
                  <a:lnTo>
                    <a:pt x="523006" y="1640311"/>
                  </a:lnTo>
                </a:path>
                <a:path w="1664335" h="1640840">
                  <a:moveTo>
                    <a:pt x="832043" y="142631"/>
                  </a:moveTo>
                  <a:lnTo>
                    <a:pt x="855817" y="95097"/>
                  </a:lnTo>
                  <a:lnTo>
                    <a:pt x="879591" y="47548"/>
                  </a:lnTo>
                  <a:lnTo>
                    <a:pt x="927125" y="23774"/>
                  </a:lnTo>
                  <a:lnTo>
                    <a:pt x="974674" y="0"/>
                  </a:lnTo>
                  <a:lnTo>
                    <a:pt x="1022222" y="23774"/>
                  </a:lnTo>
                  <a:lnTo>
                    <a:pt x="1045997" y="47548"/>
                  </a:lnTo>
                  <a:lnTo>
                    <a:pt x="1093546" y="95097"/>
                  </a:lnTo>
                  <a:lnTo>
                    <a:pt x="1093546" y="190179"/>
                  </a:lnTo>
                  <a:lnTo>
                    <a:pt x="1045997" y="237728"/>
                  </a:lnTo>
                  <a:lnTo>
                    <a:pt x="1022222" y="285277"/>
                  </a:lnTo>
                  <a:lnTo>
                    <a:pt x="927125" y="285277"/>
                  </a:lnTo>
                  <a:lnTo>
                    <a:pt x="879591" y="237728"/>
                  </a:lnTo>
                  <a:lnTo>
                    <a:pt x="855817" y="190179"/>
                  </a:lnTo>
                  <a:lnTo>
                    <a:pt x="832043" y="142631"/>
                  </a:lnTo>
                </a:path>
                <a:path w="1664335" h="1640840">
                  <a:moveTo>
                    <a:pt x="879591" y="237728"/>
                  </a:moveTo>
                  <a:lnTo>
                    <a:pt x="546765" y="570539"/>
                  </a:lnTo>
                </a:path>
              </a:pathLst>
            </a:custGeom>
            <a:ln w="211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2955098" y="5524277"/>
            <a:ext cx="1785620" cy="17926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 marL="193040">
              <a:lnSpc>
                <a:spcPct val="100000"/>
              </a:lnSpc>
              <a:spcBef>
                <a:spcPts val="125"/>
              </a:spcBef>
            </a:pPr>
            <a:r>
              <a:rPr dirty="0" sz="2800" spc="15" i="1">
                <a:solidFill>
                  <a:srgbClr val="FFFF00"/>
                </a:solidFill>
                <a:latin typeface="Arial"/>
                <a:cs typeface="Arial"/>
              </a:rPr>
              <a:t>T</a:t>
            </a:r>
            <a:endParaRPr sz="2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34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2050" spc="10">
                <a:solidFill>
                  <a:srgbClr val="FFFF00"/>
                </a:solidFill>
                <a:latin typeface="Arial"/>
                <a:cs typeface="Arial"/>
              </a:rPr>
              <a:t>x</a:t>
            </a:r>
            <a:endParaRPr sz="2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655"/>
              </a:spcBef>
            </a:pPr>
            <a:r>
              <a:rPr dirty="0" sz="2050" spc="10">
                <a:solidFill>
                  <a:srgbClr val="FFFF00"/>
                </a:solidFill>
                <a:latin typeface="Arial"/>
                <a:cs typeface="Arial"/>
              </a:rPr>
              <a:t>y</a:t>
            </a:r>
            <a:endParaRPr sz="205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2873223" y="6609384"/>
            <a:ext cx="2493645" cy="1294765"/>
            <a:chOff x="2873223" y="6609384"/>
            <a:chExt cx="2493645" cy="1294765"/>
          </a:xfrm>
        </p:grpSpPr>
        <p:sp>
          <p:nvSpPr>
            <p:cNvPr id="15" name="object 15"/>
            <p:cNvSpPr/>
            <p:nvPr/>
          </p:nvSpPr>
          <p:spPr>
            <a:xfrm>
              <a:off x="2883788" y="6656918"/>
              <a:ext cx="2472690" cy="1236345"/>
            </a:xfrm>
            <a:custGeom>
              <a:avLst/>
              <a:gdLst/>
              <a:ahLst/>
              <a:cxnLst/>
              <a:rect l="l" t="t" r="r" b="b"/>
              <a:pathLst>
                <a:path w="2472690" h="1236345">
                  <a:moveTo>
                    <a:pt x="0" y="665637"/>
                  </a:moveTo>
                  <a:lnTo>
                    <a:pt x="285269" y="665637"/>
                  </a:lnTo>
                  <a:lnTo>
                    <a:pt x="285269" y="380367"/>
                  </a:lnTo>
                  <a:lnTo>
                    <a:pt x="0" y="380367"/>
                  </a:lnTo>
                  <a:lnTo>
                    <a:pt x="0" y="665637"/>
                  </a:lnTo>
                  <a:close/>
                </a:path>
                <a:path w="2472690" h="1236345">
                  <a:moveTo>
                    <a:pt x="475442" y="1236177"/>
                  </a:moveTo>
                  <a:lnTo>
                    <a:pt x="760712" y="1236177"/>
                  </a:lnTo>
                  <a:lnTo>
                    <a:pt x="760712" y="927136"/>
                  </a:lnTo>
                  <a:lnTo>
                    <a:pt x="475442" y="927136"/>
                  </a:lnTo>
                  <a:lnTo>
                    <a:pt x="475442" y="1236177"/>
                  </a:lnTo>
                  <a:close/>
                </a:path>
                <a:path w="2472690" h="1236345">
                  <a:moveTo>
                    <a:pt x="1640296" y="1236177"/>
                  </a:moveTo>
                  <a:lnTo>
                    <a:pt x="1925566" y="1236177"/>
                  </a:lnTo>
                  <a:lnTo>
                    <a:pt x="1925566" y="927136"/>
                  </a:lnTo>
                  <a:lnTo>
                    <a:pt x="1640296" y="927136"/>
                  </a:lnTo>
                  <a:lnTo>
                    <a:pt x="1640296" y="1236177"/>
                  </a:lnTo>
                  <a:close/>
                </a:path>
                <a:path w="2472690" h="1236345">
                  <a:moveTo>
                    <a:pt x="2068205" y="0"/>
                  </a:moveTo>
                  <a:lnTo>
                    <a:pt x="2258385" y="118871"/>
                  </a:lnTo>
                  <a:lnTo>
                    <a:pt x="2377241" y="261503"/>
                  </a:lnTo>
                  <a:lnTo>
                    <a:pt x="2448565" y="380359"/>
                  </a:lnTo>
                  <a:lnTo>
                    <a:pt x="2472339" y="523006"/>
                  </a:lnTo>
                  <a:lnTo>
                    <a:pt x="2448565" y="665637"/>
                  </a:lnTo>
                  <a:lnTo>
                    <a:pt x="2377241" y="808268"/>
                  </a:lnTo>
                  <a:lnTo>
                    <a:pt x="2258385" y="927140"/>
                  </a:lnTo>
                  <a:lnTo>
                    <a:pt x="2091979" y="1069771"/>
                  </a:lnTo>
                </a:path>
              </a:pathLst>
            </a:custGeom>
            <a:ln w="211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880661" y="6609384"/>
              <a:ext cx="167005" cy="1188720"/>
            </a:xfrm>
            <a:custGeom>
              <a:avLst/>
              <a:gdLst/>
              <a:ahLst/>
              <a:cxnLst/>
              <a:rect l="l" t="t" r="r" b="b"/>
              <a:pathLst>
                <a:path w="167004" h="1188720">
                  <a:moveTo>
                    <a:pt x="142633" y="23774"/>
                  </a:moveTo>
                  <a:lnTo>
                    <a:pt x="0" y="0"/>
                  </a:lnTo>
                  <a:lnTo>
                    <a:pt x="71323" y="118859"/>
                  </a:lnTo>
                  <a:lnTo>
                    <a:pt x="71323" y="95084"/>
                  </a:lnTo>
                  <a:lnTo>
                    <a:pt x="142633" y="23774"/>
                  </a:lnTo>
                  <a:close/>
                </a:path>
                <a:path w="167004" h="1188720">
                  <a:moveTo>
                    <a:pt x="166408" y="1164856"/>
                  </a:moveTo>
                  <a:lnTo>
                    <a:pt x="95097" y="1093533"/>
                  </a:lnTo>
                  <a:lnTo>
                    <a:pt x="95097" y="1045984"/>
                  </a:lnTo>
                  <a:lnTo>
                    <a:pt x="23774" y="1188618"/>
                  </a:lnTo>
                  <a:lnTo>
                    <a:pt x="166408" y="1164856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2721812" y="7544940"/>
            <a:ext cx="2769235" cy="7321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R="31750">
              <a:lnSpc>
                <a:spcPct val="100000"/>
              </a:lnSpc>
              <a:spcBef>
                <a:spcPts val="130"/>
              </a:spcBef>
              <a:tabLst>
                <a:tab pos="1164590" algn="l"/>
              </a:tabLst>
            </a:pPr>
            <a:r>
              <a:rPr dirty="0" sz="2050" spc="10">
                <a:solidFill>
                  <a:srgbClr val="FFFF00"/>
                </a:solidFill>
                <a:latin typeface="Arial"/>
                <a:cs typeface="Arial"/>
              </a:rPr>
              <a:t>c	</a:t>
            </a:r>
            <a:r>
              <a:rPr dirty="0" sz="2050" spc="1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2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635"/>
              </a:spcBef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7.3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2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ap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b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</a:t>
            </a:r>
            <a:r>
              <a:rPr dirty="0" sz="1200" spc="-5">
                <a:latin typeface="Times New Roman"/>
                <a:cs typeface="Times New Roman"/>
              </a:rPr>
              <a:t>efix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76296" y="8775547"/>
            <a:ext cx="17659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10">
                <a:latin typeface="Times New Roman"/>
                <a:cs typeface="Times New Roman"/>
              </a:rPr>
              <a:t>ult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3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endParaRPr baseline="31250" sz="12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10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33376" y="520987"/>
            <a:ext cx="259524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GREEDY</a:t>
            </a:r>
            <a:r>
              <a:rPr dirty="0" sz="1200" spc="-10">
                <a:latin typeface="Times New Roman"/>
                <a:cs typeface="Times New Roman"/>
              </a:rPr>
              <a:t> ALGORITHMS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3044951" y="938474"/>
            <a:ext cx="2139315" cy="2590800"/>
            <a:chOff x="3044951" y="938474"/>
            <a:chExt cx="2139315" cy="2590800"/>
          </a:xfrm>
        </p:grpSpPr>
        <p:sp>
          <p:nvSpPr>
            <p:cNvPr id="5" name="object 5"/>
            <p:cNvSpPr/>
            <p:nvPr/>
          </p:nvSpPr>
          <p:spPr>
            <a:xfrm>
              <a:off x="3044951" y="938474"/>
              <a:ext cx="2139315" cy="2590800"/>
            </a:xfrm>
            <a:custGeom>
              <a:avLst/>
              <a:gdLst/>
              <a:ahLst/>
              <a:cxnLst/>
              <a:rect l="l" t="t" r="r" b="b"/>
              <a:pathLst>
                <a:path w="2139315" h="2590800">
                  <a:moveTo>
                    <a:pt x="2139238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2139238" y="2590601"/>
                  </a:lnTo>
                  <a:lnTo>
                    <a:pt x="2139238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397453" y="1726687"/>
              <a:ext cx="1668780" cy="1426845"/>
            </a:xfrm>
            <a:custGeom>
              <a:avLst/>
              <a:gdLst/>
              <a:ahLst/>
              <a:cxnLst/>
              <a:rect l="l" t="t" r="r" b="b"/>
              <a:pathLst>
                <a:path w="1668779" h="1426845">
                  <a:moveTo>
                    <a:pt x="1063873" y="0"/>
                  </a:moveTo>
                  <a:lnTo>
                    <a:pt x="1402369" y="338495"/>
                  </a:lnTo>
                </a:path>
                <a:path w="1668779" h="1426845">
                  <a:moveTo>
                    <a:pt x="1378198" y="604464"/>
                  </a:moveTo>
                  <a:lnTo>
                    <a:pt x="1668345" y="604464"/>
                  </a:lnTo>
                  <a:lnTo>
                    <a:pt x="1668345" y="314317"/>
                  </a:lnTo>
                  <a:lnTo>
                    <a:pt x="1378198" y="314317"/>
                  </a:lnTo>
                  <a:lnTo>
                    <a:pt x="1378198" y="604464"/>
                  </a:lnTo>
                  <a:close/>
                </a:path>
                <a:path w="1668779" h="1426845">
                  <a:moveTo>
                    <a:pt x="797905" y="967145"/>
                  </a:moveTo>
                  <a:lnTo>
                    <a:pt x="822076" y="918789"/>
                  </a:lnTo>
                  <a:lnTo>
                    <a:pt x="846261" y="870432"/>
                  </a:lnTo>
                  <a:lnTo>
                    <a:pt x="894618" y="846261"/>
                  </a:lnTo>
                  <a:lnTo>
                    <a:pt x="991331" y="846261"/>
                  </a:lnTo>
                  <a:lnTo>
                    <a:pt x="1039688" y="870432"/>
                  </a:lnTo>
                  <a:lnTo>
                    <a:pt x="1063873" y="918789"/>
                  </a:lnTo>
                  <a:lnTo>
                    <a:pt x="1088044" y="967145"/>
                  </a:lnTo>
                  <a:lnTo>
                    <a:pt x="1063873" y="1039688"/>
                  </a:lnTo>
                  <a:lnTo>
                    <a:pt x="1039688" y="1088044"/>
                  </a:lnTo>
                  <a:lnTo>
                    <a:pt x="991331" y="1112215"/>
                  </a:lnTo>
                  <a:lnTo>
                    <a:pt x="894618" y="1112215"/>
                  </a:lnTo>
                  <a:lnTo>
                    <a:pt x="846261" y="1088044"/>
                  </a:lnTo>
                  <a:lnTo>
                    <a:pt x="822076" y="1039688"/>
                  </a:lnTo>
                  <a:lnTo>
                    <a:pt x="797905" y="967145"/>
                  </a:lnTo>
                </a:path>
                <a:path w="1668779" h="1426845">
                  <a:moveTo>
                    <a:pt x="314324" y="411038"/>
                  </a:moveTo>
                  <a:lnTo>
                    <a:pt x="314324" y="362681"/>
                  </a:lnTo>
                  <a:lnTo>
                    <a:pt x="338495" y="314324"/>
                  </a:lnTo>
                  <a:lnTo>
                    <a:pt x="386867" y="290139"/>
                  </a:lnTo>
                  <a:lnTo>
                    <a:pt x="507751" y="290139"/>
                  </a:lnTo>
                  <a:lnTo>
                    <a:pt x="556107" y="314324"/>
                  </a:lnTo>
                  <a:lnTo>
                    <a:pt x="580293" y="362681"/>
                  </a:lnTo>
                  <a:lnTo>
                    <a:pt x="580293" y="483565"/>
                  </a:lnTo>
                  <a:lnTo>
                    <a:pt x="556107" y="531936"/>
                  </a:lnTo>
                  <a:lnTo>
                    <a:pt x="507751" y="556107"/>
                  </a:lnTo>
                  <a:lnTo>
                    <a:pt x="386867" y="556107"/>
                  </a:lnTo>
                  <a:lnTo>
                    <a:pt x="338495" y="531936"/>
                  </a:lnTo>
                  <a:lnTo>
                    <a:pt x="314324" y="483565"/>
                  </a:lnTo>
                  <a:lnTo>
                    <a:pt x="314324" y="411038"/>
                  </a:lnTo>
                </a:path>
                <a:path w="1668779" h="1426845">
                  <a:moveTo>
                    <a:pt x="531936" y="507751"/>
                  </a:moveTo>
                  <a:lnTo>
                    <a:pt x="846261" y="870432"/>
                  </a:lnTo>
                </a:path>
                <a:path w="1668779" h="1426845">
                  <a:moveTo>
                    <a:pt x="338495" y="507751"/>
                  </a:moveTo>
                  <a:lnTo>
                    <a:pt x="0" y="870432"/>
                  </a:lnTo>
                </a:path>
                <a:path w="1668779" h="1426845">
                  <a:moveTo>
                    <a:pt x="1039688" y="1088044"/>
                  </a:moveTo>
                  <a:lnTo>
                    <a:pt x="1378198" y="1426540"/>
                  </a:lnTo>
                </a:path>
                <a:path w="1668779" h="1426845">
                  <a:moveTo>
                    <a:pt x="846261" y="1088044"/>
                  </a:moveTo>
                  <a:lnTo>
                    <a:pt x="507751" y="1426540"/>
                  </a:lnTo>
                </a:path>
              </a:pathLst>
            </a:custGeom>
            <a:ln w="2149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3204019" y="2001450"/>
            <a:ext cx="1830705" cy="88011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14"/>
              </a:spcBef>
            </a:pPr>
            <a:r>
              <a:rPr dirty="0" sz="2100" spc="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2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664"/>
              </a:spcBef>
            </a:pPr>
            <a:r>
              <a:rPr dirty="0" sz="2100" spc="5">
                <a:solidFill>
                  <a:srgbClr val="FFFF00"/>
                </a:solidFill>
                <a:latin typeface="Arial"/>
                <a:cs typeface="Arial"/>
              </a:rPr>
              <a:t>y</a:t>
            </a:r>
            <a:endParaRPr sz="21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3929389" y="1460718"/>
            <a:ext cx="580390" cy="580390"/>
          </a:xfrm>
          <a:custGeom>
            <a:avLst/>
            <a:gdLst/>
            <a:ahLst/>
            <a:cxnLst/>
            <a:rect l="l" t="t" r="r" b="b"/>
            <a:pathLst>
              <a:path w="580389" h="580389">
                <a:moveTo>
                  <a:pt x="290139" y="145069"/>
                </a:moveTo>
                <a:lnTo>
                  <a:pt x="314324" y="96713"/>
                </a:lnTo>
                <a:lnTo>
                  <a:pt x="338495" y="48356"/>
                </a:lnTo>
                <a:lnTo>
                  <a:pt x="386852" y="24170"/>
                </a:lnTo>
                <a:lnTo>
                  <a:pt x="435208" y="0"/>
                </a:lnTo>
                <a:lnTo>
                  <a:pt x="483580" y="24170"/>
                </a:lnTo>
                <a:lnTo>
                  <a:pt x="531936" y="48356"/>
                </a:lnTo>
                <a:lnTo>
                  <a:pt x="556107" y="96713"/>
                </a:lnTo>
                <a:lnTo>
                  <a:pt x="580293" y="145069"/>
                </a:lnTo>
                <a:lnTo>
                  <a:pt x="556107" y="193426"/>
                </a:lnTo>
                <a:lnTo>
                  <a:pt x="531936" y="241782"/>
                </a:lnTo>
                <a:lnTo>
                  <a:pt x="483580" y="265968"/>
                </a:lnTo>
                <a:lnTo>
                  <a:pt x="435208" y="290139"/>
                </a:lnTo>
                <a:lnTo>
                  <a:pt x="386852" y="265968"/>
                </a:lnTo>
                <a:lnTo>
                  <a:pt x="338495" y="241782"/>
                </a:lnTo>
                <a:lnTo>
                  <a:pt x="314324" y="193426"/>
                </a:lnTo>
                <a:lnTo>
                  <a:pt x="290139" y="145069"/>
                </a:lnTo>
              </a:path>
              <a:path w="580389" h="580389">
                <a:moveTo>
                  <a:pt x="338495" y="241782"/>
                </a:moveTo>
                <a:lnTo>
                  <a:pt x="0" y="580293"/>
                </a:lnTo>
              </a:path>
            </a:pathLst>
          </a:custGeom>
          <a:ln w="21492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5875" rIns="0" bIns="0" rtlCol="0" vert="horz">
            <a:spAutoFit/>
          </a:bodyPr>
          <a:lstStyle/>
          <a:p>
            <a:pPr marL="812800">
              <a:lnSpc>
                <a:spcPct val="100000"/>
              </a:lnSpc>
              <a:spcBef>
                <a:spcPts val="125"/>
              </a:spcBef>
            </a:pPr>
            <a:r>
              <a:rPr dirty="0" spc="10"/>
              <a:t>T’</a:t>
            </a:r>
          </a:p>
        </p:txBody>
      </p:sp>
      <p:sp>
        <p:nvSpPr>
          <p:cNvPr id="10" name="object 10"/>
          <p:cNvSpPr/>
          <p:nvPr/>
        </p:nvSpPr>
        <p:spPr>
          <a:xfrm>
            <a:off x="3131484" y="2572949"/>
            <a:ext cx="1958975" cy="870585"/>
          </a:xfrm>
          <a:custGeom>
            <a:avLst/>
            <a:gdLst/>
            <a:ahLst/>
            <a:cxnLst/>
            <a:rect l="l" t="t" r="r" b="b"/>
            <a:pathLst>
              <a:path w="1958975" h="870585">
                <a:moveTo>
                  <a:pt x="0" y="314324"/>
                </a:moveTo>
                <a:lnTo>
                  <a:pt x="290146" y="314324"/>
                </a:lnTo>
                <a:lnTo>
                  <a:pt x="290146" y="0"/>
                </a:lnTo>
                <a:lnTo>
                  <a:pt x="0" y="0"/>
                </a:lnTo>
                <a:lnTo>
                  <a:pt x="0" y="314324"/>
                </a:lnTo>
                <a:close/>
              </a:path>
              <a:path w="1958975" h="870585">
                <a:moveTo>
                  <a:pt x="483580" y="870432"/>
                </a:moveTo>
                <a:lnTo>
                  <a:pt x="773727" y="870432"/>
                </a:lnTo>
                <a:lnTo>
                  <a:pt x="773727" y="580285"/>
                </a:lnTo>
                <a:lnTo>
                  <a:pt x="483580" y="580285"/>
                </a:lnTo>
                <a:lnTo>
                  <a:pt x="483580" y="870432"/>
                </a:lnTo>
                <a:close/>
              </a:path>
              <a:path w="1958975" h="870585">
                <a:moveTo>
                  <a:pt x="1668338" y="870432"/>
                </a:moveTo>
                <a:lnTo>
                  <a:pt x="1958484" y="870432"/>
                </a:lnTo>
                <a:lnTo>
                  <a:pt x="1958484" y="580285"/>
                </a:lnTo>
                <a:lnTo>
                  <a:pt x="1668338" y="580285"/>
                </a:lnTo>
                <a:lnTo>
                  <a:pt x="1668338" y="870432"/>
                </a:lnTo>
                <a:close/>
              </a:path>
            </a:pathLst>
          </a:custGeom>
          <a:ln w="21492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" name="object 11"/>
          <p:cNvGrpSpPr/>
          <p:nvPr/>
        </p:nvGrpSpPr>
        <p:grpSpPr>
          <a:xfrm>
            <a:off x="1586483" y="6197798"/>
            <a:ext cx="1951989" cy="2362200"/>
            <a:chOff x="1586483" y="6197798"/>
            <a:chExt cx="1951989" cy="2362200"/>
          </a:xfrm>
        </p:grpSpPr>
        <p:sp>
          <p:nvSpPr>
            <p:cNvPr id="12" name="object 12"/>
            <p:cNvSpPr/>
            <p:nvPr/>
          </p:nvSpPr>
          <p:spPr>
            <a:xfrm>
              <a:off x="1586483" y="6197798"/>
              <a:ext cx="1951989" cy="2362200"/>
            </a:xfrm>
            <a:custGeom>
              <a:avLst/>
              <a:gdLst/>
              <a:ahLst/>
              <a:cxnLst/>
              <a:rect l="l" t="t" r="r" b="b"/>
              <a:pathLst>
                <a:path w="1951989" h="2362200">
                  <a:moveTo>
                    <a:pt x="1951664" y="0"/>
                  </a:moveTo>
                  <a:lnTo>
                    <a:pt x="0" y="0"/>
                  </a:lnTo>
                  <a:lnTo>
                    <a:pt x="0" y="2362001"/>
                  </a:lnTo>
                  <a:lnTo>
                    <a:pt x="1951664" y="2362001"/>
                  </a:lnTo>
                  <a:lnTo>
                    <a:pt x="1951664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910288" y="6916577"/>
              <a:ext cx="1517015" cy="1297305"/>
            </a:xfrm>
            <a:custGeom>
              <a:avLst/>
              <a:gdLst/>
              <a:ahLst/>
              <a:cxnLst/>
              <a:rect l="l" t="t" r="r" b="b"/>
              <a:pathLst>
                <a:path w="1517014" h="1297304">
                  <a:moveTo>
                    <a:pt x="967160" y="0"/>
                  </a:moveTo>
                  <a:lnTo>
                    <a:pt x="1274886" y="307726"/>
                  </a:lnTo>
                </a:path>
                <a:path w="1517014" h="1297304">
                  <a:moveTo>
                    <a:pt x="1252910" y="549508"/>
                  </a:moveTo>
                  <a:lnTo>
                    <a:pt x="1516680" y="549508"/>
                  </a:lnTo>
                  <a:lnTo>
                    <a:pt x="1516680" y="285739"/>
                  </a:lnTo>
                  <a:lnTo>
                    <a:pt x="1252910" y="285739"/>
                  </a:lnTo>
                  <a:lnTo>
                    <a:pt x="1252910" y="549508"/>
                  </a:lnTo>
                  <a:close/>
                </a:path>
                <a:path w="1517014" h="1297304">
                  <a:moveTo>
                    <a:pt x="725378" y="879226"/>
                  </a:moveTo>
                  <a:lnTo>
                    <a:pt x="747354" y="835258"/>
                  </a:lnTo>
                  <a:lnTo>
                    <a:pt x="769330" y="791306"/>
                  </a:lnTo>
                  <a:lnTo>
                    <a:pt x="813297" y="769315"/>
                  </a:lnTo>
                  <a:lnTo>
                    <a:pt x="901217" y="769315"/>
                  </a:lnTo>
                  <a:lnTo>
                    <a:pt x="945184" y="791306"/>
                  </a:lnTo>
                  <a:lnTo>
                    <a:pt x="967160" y="835258"/>
                  </a:lnTo>
                  <a:lnTo>
                    <a:pt x="989136" y="879226"/>
                  </a:lnTo>
                  <a:lnTo>
                    <a:pt x="967160" y="945169"/>
                  </a:lnTo>
                  <a:lnTo>
                    <a:pt x="945184" y="989121"/>
                  </a:lnTo>
                  <a:lnTo>
                    <a:pt x="901217" y="1011113"/>
                  </a:lnTo>
                  <a:lnTo>
                    <a:pt x="813297" y="1011113"/>
                  </a:lnTo>
                  <a:lnTo>
                    <a:pt x="769330" y="989121"/>
                  </a:lnTo>
                  <a:lnTo>
                    <a:pt x="747354" y="945169"/>
                  </a:lnTo>
                  <a:lnTo>
                    <a:pt x="725378" y="879226"/>
                  </a:lnTo>
                </a:path>
                <a:path w="1517014" h="1297304">
                  <a:moveTo>
                    <a:pt x="285749" y="373669"/>
                  </a:moveTo>
                  <a:lnTo>
                    <a:pt x="285749" y="329702"/>
                  </a:lnTo>
                  <a:lnTo>
                    <a:pt x="307741" y="285749"/>
                  </a:lnTo>
                  <a:lnTo>
                    <a:pt x="351693" y="263758"/>
                  </a:lnTo>
                  <a:lnTo>
                    <a:pt x="461604" y="263758"/>
                  </a:lnTo>
                  <a:lnTo>
                    <a:pt x="505571" y="285749"/>
                  </a:lnTo>
                  <a:lnTo>
                    <a:pt x="527547" y="329702"/>
                  </a:lnTo>
                  <a:lnTo>
                    <a:pt x="527547" y="439613"/>
                  </a:lnTo>
                  <a:lnTo>
                    <a:pt x="505571" y="483565"/>
                  </a:lnTo>
                  <a:lnTo>
                    <a:pt x="461604" y="505556"/>
                  </a:lnTo>
                  <a:lnTo>
                    <a:pt x="351693" y="505556"/>
                  </a:lnTo>
                  <a:lnTo>
                    <a:pt x="307741" y="483565"/>
                  </a:lnTo>
                  <a:lnTo>
                    <a:pt x="285749" y="439613"/>
                  </a:lnTo>
                  <a:lnTo>
                    <a:pt x="285749" y="373669"/>
                  </a:lnTo>
                </a:path>
                <a:path w="1517014" h="1297304">
                  <a:moveTo>
                    <a:pt x="483580" y="461589"/>
                  </a:moveTo>
                  <a:lnTo>
                    <a:pt x="769330" y="791306"/>
                  </a:lnTo>
                </a:path>
                <a:path w="1517014" h="1297304">
                  <a:moveTo>
                    <a:pt x="307741" y="461589"/>
                  </a:moveTo>
                  <a:lnTo>
                    <a:pt x="0" y="791306"/>
                  </a:lnTo>
                </a:path>
                <a:path w="1517014" h="1297304">
                  <a:moveTo>
                    <a:pt x="945184" y="989121"/>
                  </a:moveTo>
                  <a:lnTo>
                    <a:pt x="1252910" y="1296863"/>
                  </a:lnTo>
                </a:path>
                <a:path w="1517014" h="1297304">
                  <a:moveTo>
                    <a:pt x="769330" y="989121"/>
                  </a:moveTo>
                  <a:lnTo>
                    <a:pt x="461604" y="1296863"/>
                  </a:lnTo>
                </a:path>
              </a:pathLst>
            </a:custGeom>
            <a:ln w="1953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1734445" y="7648775"/>
            <a:ext cx="135255" cy="3187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y</a:t>
            </a:r>
            <a:endParaRPr sz="19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251117" y="7165199"/>
            <a:ext cx="148590" cy="3187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900">
              <a:latin typeface="Arial"/>
              <a:cs typeface="Arial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658736" y="6665010"/>
            <a:ext cx="1800225" cy="1822450"/>
            <a:chOff x="1658736" y="6665010"/>
            <a:chExt cx="1800225" cy="1822450"/>
          </a:xfrm>
        </p:grpSpPr>
        <p:sp>
          <p:nvSpPr>
            <p:cNvPr id="17" name="object 17"/>
            <p:cNvSpPr/>
            <p:nvPr/>
          </p:nvSpPr>
          <p:spPr>
            <a:xfrm>
              <a:off x="1668505" y="6674779"/>
              <a:ext cx="1780539" cy="1802764"/>
            </a:xfrm>
            <a:custGeom>
              <a:avLst/>
              <a:gdLst/>
              <a:ahLst/>
              <a:cxnLst/>
              <a:rect l="l" t="t" r="r" b="b"/>
              <a:pathLst>
                <a:path w="1780539" h="1802765">
                  <a:moveTo>
                    <a:pt x="989136" y="131886"/>
                  </a:moveTo>
                  <a:lnTo>
                    <a:pt x="1011113" y="87919"/>
                  </a:lnTo>
                  <a:lnTo>
                    <a:pt x="1033104" y="43967"/>
                  </a:lnTo>
                  <a:lnTo>
                    <a:pt x="1077056" y="21976"/>
                  </a:lnTo>
                  <a:lnTo>
                    <a:pt x="1121023" y="0"/>
                  </a:lnTo>
                  <a:lnTo>
                    <a:pt x="1164976" y="21976"/>
                  </a:lnTo>
                  <a:lnTo>
                    <a:pt x="1208943" y="43967"/>
                  </a:lnTo>
                  <a:lnTo>
                    <a:pt x="1230919" y="87919"/>
                  </a:lnTo>
                  <a:lnTo>
                    <a:pt x="1252910" y="131886"/>
                  </a:lnTo>
                  <a:lnTo>
                    <a:pt x="1230919" y="175854"/>
                  </a:lnTo>
                  <a:lnTo>
                    <a:pt x="1208943" y="219806"/>
                  </a:lnTo>
                  <a:lnTo>
                    <a:pt x="1164976" y="241797"/>
                  </a:lnTo>
                  <a:lnTo>
                    <a:pt x="1121023" y="263773"/>
                  </a:lnTo>
                  <a:lnTo>
                    <a:pt x="1077056" y="241797"/>
                  </a:lnTo>
                  <a:lnTo>
                    <a:pt x="1033104" y="219806"/>
                  </a:lnTo>
                  <a:lnTo>
                    <a:pt x="1011113" y="175854"/>
                  </a:lnTo>
                  <a:lnTo>
                    <a:pt x="989136" y="131886"/>
                  </a:lnTo>
                </a:path>
                <a:path w="1780539" h="1802765">
                  <a:moveTo>
                    <a:pt x="1033104" y="219806"/>
                  </a:moveTo>
                  <a:lnTo>
                    <a:pt x="725363" y="527547"/>
                  </a:lnTo>
                </a:path>
                <a:path w="1780539" h="1802765">
                  <a:moveTo>
                    <a:pt x="0" y="1296863"/>
                  </a:moveTo>
                  <a:lnTo>
                    <a:pt x="263769" y="1296863"/>
                  </a:lnTo>
                  <a:lnTo>
                    <a:pt x="263769" y="1011113"/>
                  </a:lnTo>
                  <a:lnTo>
                    <a:pt x="0" y="1011113"/>
                  </a:lnTo>
                  <a:lnTo>
                    <a:pt x="0" y="1296863"/>
                  </a:lnTo>
                  <a:close/>
                </a:path>
                <a:path w="1780539" h="1802765">
                  <a:moveTo>
                    <a:pt x="439613" y="1802419"/>
                  </a:moveTo>
                  <a:lnTo>
                    <a:pt x="703382" y="1802419"/>
                  </a:lnTo>
                  <a:lnTo>
                    <a:pt x="703382" y="1538650"/>
                  </a:lnTo>
                  <a:lnTo>
                    <a:pt x="439613" y="1538650"/>
                  </a:lnTo>
                  <a:lnTo>
                    <a:pt x="439613" y="1802419"/>
                  </a:lnTo>
                  <a:close/>
                </a:path>
                <a:path w="1780539" h="1802765">
                  <a:moveTo>
                    <a:pt x="1516669" y="1802419"/>
                  </a:moveTo>
                  <a:lnTo>
                    <a:pt x="1780438" y="1802419"/>
                  </a:lnTo>
                  <a:lnTo>
                    <a:pt x="1780438" y="1538650"/>
                  </a:lnTo>
                  <a:lnTo>
                    <a:pt x="1516669" y="1538650"/>
                  </a:lnTo>
                  <a:lnTo>
                    <a:pt x="1516669" y="1802419"/>
                  </a:lnTo>
                  <a:close/>
                </a:path>
                <a:path w="1780539" h="1802765">
                  <a:moveTo>
                    <a:pt x="109910" y="1428749"/>
                  </a:moveTo>
                  <a:lnTo>
                    <a:pt x="131886" y="1516669"/>
                  </a:lnTo>
                  <a:lnTo>
                    <a:pt x="153863" y="1582613"/>
                  </a:lnTo>
                  <a:lnTo>
                    <a:pt x="175854" y="1626580"/>
                  </a:lnTo>
                  <a:lnTo>
                    <a:pt x="219806" y="1670547"/>
                  </a:lnTo>
                  <a:lnTo>
                    <a:pt x="263773" y="1692523"/>
                  </a:lnTo>
                </a:path>
              </a:pathLst>
            </a:custGeom>
            <a:ln w="1953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34449" y="8037585"/>
              <a:ext cx="109910" cy="10991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10288" y="8301359"/>
              <a:ext cx="109910" cy="109895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3981054" y="7213637"/>
            <a:ext cx="267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10">
                <a:latin typeface="Copperplate Gothic Bold"/>
                <a:cs typeface="Copperplate Gothic Bold"/>
              </a:rPr>
              <a:t>=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4690871" y="6197798"/>
            <a:ext cx="1951989" cy="2362200"/>
            <a:chOff x="4690871" y="6197798"/>
            <a:chExt cx="1951989" cy="2362200"/>
          </a:xfrm>
        </p:grpSpPr>
        <p:sp>
          <p:nvSpPr>
            <p:cNvPr id="22" name="object 22"/>
            <p:cNvSpPr/>
            <p:nvPr/>
          </p:nvSpPr>
          <p:spPr>
            <a:xfrm>
              <a:off x="4690871" y="6197798"/>
              <a:ext cx="1951989" cy="2362200"/>
            </a:xfrm>
            <a:custGeom>
              <a:avLst/>
              <a:gdLst/>
              <a:ahLst/>
              <a:cxnLst/>
              <a:rect l="l" t="t" r="r" b="b"/>
              <a:pathLst>
                <a:path w="1951990" h="2362200">
                  <a:moveTo>
                    <a:pt x="1951664" y="0"/>
                  </a:moveTo>
                  <a:lnTo>
                    <a:pt x="0" y="0"/>
                  </a:lnTo>
                  <a:lnTo>
                    <a:pt x="0" y="2362001"/>
                  </a:lnTo>
                  <a:lnTo>
                    <a:pt x="1951664" y="2362001"/>
                  </a:lnTo>
                  <a:lnTo>
                    <a:pt x="1951664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5982172" y="6916577"/>
              <a:ext cx="549910" cy="549910"/>
            </a:xfrm>
            <a:custGeom>
              <a:avLst/>
              <a:gdLst/>
              <a:ahLst/>
              <a:cxnLst/>
              <a:rect l="l" t="t" r="r" b="b"/>
              <a:pathLst>
                <a:path w="549909" h="549909">
                  <a:moveTo>
                    <a:pt x="0" y="0"/>
                  </a:moveTo>
                  <a:lnTo>
                    <a:pt x="307741" y="307726"/>
                  </a:lnTo>
                </a:path>
                <a:path w="549909" h="549909">
                  <a:moveTo>
                    <a:pt x="285749" y="549508"/>
                  </a:moveTo>
                  <a:lnTo>
                    <a:pt x="549519" y="549508"/>
                  </a:lnTo>
                  <a:lnTo>
                    <a:pt x="549519" y="285739"/>
                  </a:lnTo>
                  <a:lnTo>
                    <a:pt x="285749" y="285739"/>
                  </a:lnTo>
                  <a:lnTo>
                    <a:pt x="285749" y="549508"/>
                  </a:lnTo>
                  <a:close/>
                </a:path>
              </a:pathLst>
            </a:custGeom>
            <a:ln w="1953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/>
          <p:cNvSpPr txBox="1"/>
          <p:nvPr/>
        </p:nvSpPr>
        <p:spPr>
          <a:xfrm>
            <a:off x="2174061" y="8176314"/>
            <a:ext cx="4316730" cy="3187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  <a:tabLst>
                <a:tab pos="1076960" algn="l"/>
                <a:tab pos="4181475" algn="l"/>
              </a:tabLst>
            </a:pP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c</a:t>
            </a: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x</a:t>
            </a:r>
            <a:endParaRPr sz="190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5015026" y="7180336"/>
            <a:ext cx="1253490" cy="1033144"/>
          </a:xfrm>
          <a:custGeom>
            <a:avLst/>
            <a:gdLst/>
            <a:ahLst/>
            <a:cxnLst/>
            <a:rect l="l" t="t" r="r" b="b"/>
            <a:pathLst>
              <a:path w="1253489" h="1033145">
                <a:moveTo>
                  <a:pt x="725363" y="615467"/>
                </a:moveTo>
                <a:lnTo>
                  <a:pt x="747339" y="571499"/>
                </a:lnTo>
                <a:lnTo>
                  <a:pt x="769330" y="527547"/>
                </a:lnTo>
                <a:lnTo>
                  <a:pt x="813282" y="505556"/>
                </a:lnTo>
                <a:lnTo>
                  <a:pt x="901217" y="505556"/>
                </a:lnTo>
                <a:lnTo>
                  <a:pt x="945169" y="527547"/>
                </a:lnTo>
                <a:lnTo>
                  <a:pt x="967145" y="571499"/>
                </a:lnTo>
                <a:lnTo>
                  <a:pt x="989136" y="615467"/>
                </a:lnTo>
                <a:lnTo>
                  <a:pt x="967145" y="681410"/>
                </a:lnTo>
                <a:lnTo>
                  <a:pt x="945169" y="725363"/>
                </a:lnTo>
                <a:lnTo>
                  <a:pt x="901217" y="747354"/>
                </a:lnTo>
                <a:lnTo>
                  <a:pt x="813282" y="747354"/>
                </a:lnTo>
                <a:lnTo>
                  <a:pt x="769330" y="725363"/>
                </a:lnTo>
                <a:lnTo>
                  <a:pt x="747339" y="681410"/>
                </a:lnTo>
                <a:lnTo>
                  <a:pt x="725363" y="615467"/>
                </a:lnTo>
              </a:path>
              <a:path w="1253489" h="1033145">
                <a:moveTo>
                  <a:pt x="285749" y="109910"/>
                </a:moveTo>
                <a:lnTo>
                  <a:pt x="285749" y="65943"/>
                </a:lnTo>
                <a:lnTo>
                  <a:pt x="307726" y="21991"/>
                </a:lnTo>
                <a:lnTo>
                  <a:pt x="351693" y="0"/>
                </a:lnTo>
                <a:lnTo>
                  <a:pt x="461589" y="0"/>
                </a:lnTo>
                <a:lnTo>
                  <a:pt x="505556" y="21991"/>
                </a:lnTo>
                <a:lnTo>
                  <a:pt x="527532" y="65943"/>
                </a:lnTo>
                <a:lnTo>
                  <a:pt x="527532" y="175854"/>
                </a:lnTo>
                <a:lnTo>
                  <a:pt x="505556" y="219806"/>
                </a:lnTo>
                <a:lnTo>
                  <a:pt x="461589" y="241797"/>
                </a:lnTo>
                <a:lnTo>
                  <a:pt x="351693" y="241797"/>
                </a:lnTo>
                <a:lnTo>
                  <a:pt x="307726" y="219806"/>
                </a:lnTo>
                <a:lnTo>
                  <a:pt x="285749" y="175854"/>
                </a:lnTo>
                <a:lnTo>
                  <a:pt x="285749" y="109910"/>
                </a:lnTo>
              </a:path>
              <a:path w="1253489" h="1033145">
                <a:moveTo>
                  <a:pt x="483580" y="197830"/>
                </a:moveTo>
                <a:lnTo>
                  <a:pt x="769330" y="527547"/>
                </a:lnTo>
              </a:path>
              <a:path w="1253489" h="1033145">
                <a:moveTo>
                  <a:pt x="307726" y="197830"/>
                </a:moveTo>
                <a:lnTo>
                  <a:pt x="0" y="527547"/>
                </a:lnTo>
              </a:path>
              <a:path w="1253489" h="1033145">
                <a:moveTo>
                  <a:pt x="945169" y="725363"/>
                </a:moveTo>
                <a:lnTo>
                  <a:pt x="1252895" y="1033104"/>
                </a:lnTo>
              </a:path>
              <a:path w="1253489" h="1033145">
                <a:moveTo>
                  <a:pt x="769330" y="725363"/>
                </a:moveTo>
                <a:lnTo>
                  <a:pt x="461589" y="1033104"/>
                </a:lnTo>
              </a:path>
            </a:pathLst>
          </a:custGeom>
          <a:ln w="19538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4817197" y="7648769"/>
            <a:ext cx="135255" cy="3187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9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300773" y="8154327"/>
            <a:ext cx="135255" cy="3187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y</a:t>
            </a:r>
            <a:endParaRPr sz="19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355849" y="7165192"/>
            <a:ext cx="148590" cy="3187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900">
              <a:latin typeface="Arial"/>
              <a:cs typeface="Arial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5498607" y="6674779"/>
            <a:ext cx="527685" cy="527685"/>
          </a:xfrm>
          <a:custGeom>
            <a:avLst/>
            <a:gdLst/>
            <a:ahLst/>
            <a:cxnLst/>
            <a:rect l="l" t="t" r="r" b="b"/>
            <a:pathLst>
              <a:path w="527685" h="527684">
                <a:moveTo>
                  <a:pt x="263758" y="131886"/>
                </a:moveTo>
                <a:lnTo>
                  <a:pt x="285749" y="87919"/>
                </a:lnTo>
                <a:lnTo>
                  <a:pt x="307726" y="43967"/>
                </a:lnTo>
                <a:lnTo>
                  <a:pt x="351693" y="21976"/>
                </a:lnTo>
                <a:lnTo>
                  <a:pt x="395645" y="0"/>
                </a:lnTo>
                <a:lnTo>
                  <a:pt x="439613" y="21976"/>
                </a:lnTo>
                <a:lnTo>
                  <a:pt x="483565" y="43967"/>
                </a:lnTo>
                <a:lnTo>
                  <a:pt x="505556" y="87919"/>
                </a:lnTo>
                <a:lnTo>
                  <a:pt x="527532" y="131886"/>
                </a:lnTo>
                <a:lnTo>
                  <a:pt x="505556" y="175854"/>
                </a:lnTo>
                <a:lnTo>
                  <a:pt x="483565" y="219806"/>
                </a:lnTo>
                <a:lnTo>
                  <a:pt x="439613" y="241797"/>
                </a:lnTo>
                <a:lnTo>
                  <a:pt x="395645" y="263773"/>
                </a:lnTo>
                <a:lnTo>
                  <a:pt x="351693" y="241797"/>
                </a:lnTo>
                <a:lnTo>
                  <a:pt x="307726" y="219806"/>
                </a:lnTo>
                <a:lnTo>
                  <a:pt x="285749" y="175854"/>
                </a:lnTo>
                <a:lnTo>
                  <a:pt x="263758" y="131886"/>
                </a:lnTo>
              </a:path>
              <a:path w="527685" h="527684">
                <a:moveTo>
                  <a:pt x="307726" y="219806"/>
                </a:moveTo>
                <a:lnTo>
                  <a:pt x="0" y="527547"/>
                </a:lnTo>
              </a:path>
            </a:pathLst>
          </a:custGeom>
          <a:ln w="19538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 txBox="1"/>
          <p:nvPr/>
        </p:nvSpPr>
        <p:spPr>
          <a:xfrm>
            <a:off x="850900" y="3113677"/>
            <a:ext cx="6525895" cy="35966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ctr" marL="466725">
              <a:lnSpc>
                <a:spcPct val="100000"/>
              </a:lnSpc>
              <a:spcBef>
                <a:spcPts val="114"/>
              </a:spcBef>
              <a:tabLst>
                <a:tab pos="1651635" algn="l"/>
              </a:tabLst>
            </a:pPr>
            <a:r>
              <a:rPr dirty="0" sz="2100" spc="5">
                <a:solidFill>
                  <a:srgbClr val="FFFF00"/>
                </a:solidFill>
                <a:latin typeface="Arial"/>
                <a:cs typeface="Arial"/>
              </a:rPr>
              <a:t>c	x</a:t>
            </a:r>
            <a:endParaRPr sz="2100">
              <a:latin typeface="Arial"/>
              <a:cs typeface="Arial"/>
            </a:endParaRPr>
          </a:p>
          <a:p>
            <a:pPr algn="ctr" marL="1905">
              <a:lnSpc>
                <a:spcPct val="100000"/>
              </a:lnSpc>
              <a:spcBef>
                <a:spcPts val="1310"/>
              </a:spcBef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7.4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efix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ft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b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2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pp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7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Le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75">
                <a:latin typeface="Times New Roman"/>
                <a:cs typeface="Times New Roman"/>
              </a:rPr>
              <a:t>’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ng</a:t>
            </a:r>
            <a:r>
              <a:rPr dirty="0" sz="1200" spc="-5">
                <a:latin typeface="Times New Roman"/>
                <a:cs typeface="Times New Roman"/>
              </a:rPr>
              <a:t>es.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  <a:p>
            <a:pPr algn="ctr" marL="1905">
              <a:lnSpc>
                <a:spcPct val="100000"/>
              </a:lnSpc>
              <a:spcBef>
                <a:spcPts val="835"/>
              </a:spcBef>
            </a:pP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4722" sz="1200" spc="112">
                <a:latin typeface="Cambria"/>
                <a:cs typeface="Cambria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ctr" marR="6350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algn="ctr" marR="709930">
              <a:lnSpc>
                <a:spcPct val="100000"/>
              </a:lnSpc>
              <a:spcBef>
                <a:spcPts val="300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0">
                <a:latin typeface="Garamond"/>
                <a:cs typeface="Garamond"/>
              </a:rPr>
              <a:t>))(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ctr" marL="55880">
              <a:lnSpc>
                <a:spcPct val="100000"/>
              </a:lnSpc>
              <a:spcBef>
                <a:spcPts val="305"/>
              </a:spcBef>
              <a:tabLst>
                <a:tab pos="676910" algn="l"/>
              </a:tabLst>
            </a:pP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105">
                <a:latin typeface="Segoe UI Symbol"/>
                <a:cs typeface="Segoe UI Symbol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100" spc="-10">
                <a:latin typeface="Times New Roman"/>
                <a:cs typeface="Times New Roman"/>
              </a:rPr>
              <a:t>becau</a:t>
            </a:r>
            <a:r>
              <a:rPr dirty="0" sz="1100" spc="-5">
                <a:latin typeface="Times New Roman"/>
                <a:cs typeface="Times New Roman"/>
              </a:rPr>
              <a:t>se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114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0">
                <a:latin typeface="Garamond"/>
                <a:cs typeface="Garamond"/>
              </a:rPr>
              <a:t>))(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60">
                <a:latin typeface="Lucida Sans Unicode"/>
                <a:cs typeface="Lucida Sans Unicode"/>
              </a:rPr>
              <a:t>b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650">
              <a:latin typeface="Lucida Sans Unicode"/>
              <a:cs typeface="Lucida Sans Unicode"/>
            </a:endParaRPr>
          </a:p>
          <a:p>
            <a:pPr marL="635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ease,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implyin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ee.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wit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hin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c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1250" sz="1200" spc="37">
                <a:latin typeface="Cambria"/>
                <a:cs typeface="Cambria"/>
              </a:rPr>
              <a:t>j</a:t>
            </a:r>
            <a:r>
              <a:rPr dirty="0" cap="small" baseline="31250" sz="1200" spc="112">
                <a:latin typeface="Cambria"/>
                <a:cs typeface="Cambria"/>
              </a:rPr>
              <a:t>j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imil</a:t>
            </a:r>
            <a:r>
              <a:rPr dirty="0" sz="1200" spc="-5">
                <a:latin typeface="Times New Roman"/>
                <a:cs typeface="Times New Roman"/>
              </a:rPr>
              <a:t>ar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r</a:t>
            </a:r>
            <a:r>
              <a:rPr dirty="0" sz="1200" spc="-10">
                <a:latin typeface="Times New Roman"/>
                <a:cs typeface="Times New Roman"/>
              </a:rPr>
              <a:t>gum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nt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1250" sz="1200" spc="37">
                <a:latin typeface="Cambria"/>
                <a:cs typeface="Cambria"/>
              </a:rPr>
              <a:t>j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 algn="ctr" marL="213360">
              <a:lnSpc>
                <a:spcPct val="100000"/>
              </a:lnSpc>
              <a:spcBef>
                <a:spcPts val="1210"/>
              </a:spcBef>
              <a:tabLst>
                <a:tab pos="3339465" algn="l"/>
              </a:tabLst>
            </a:pPr>
            <a:r>
              <a:rPr dirty="0" sz="2600" spc="5" i="1">
                <a:solidFill>
                  <a:srgbClr val="FFFF00"/>
                </a:solidFill>
                <a:latin typeface="Arial"/>
                <a:cs typeface="Arial"/>
              </a:rPr>
              <a:t>T’	T’’</a:t>
            </a:r>
            <a:endParaRPr sz="2600">
              <a:latin typeface="Arial"/>
              <a:cs typeface="Arial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4773243" y="7685892"/>
            <a:ext cx="1780539" cy="791845"/>
          </a:xfrm>
          <a:custGeom>
            <a:avLst/>
            <a:gdLst/>
            <a:ahLst/>
            <a:cxnLst/>
            <a:rect l="l" t="t" r="r" b="b"/>
            <a:pathLst>
              <a:path w="1780540" h="791845">
                <a:moveTo>
                  <a:pt x="0" y="285749"/>
                </a:moveTo>
                <a:lnTo>
                  <a:pt x="263769" y="285749"/>
                </a:lnTo>
                <a:lnTo>
                  <a:pt x="263769" y="0"/>
                </a:lnTo>
                <a:lnTo>
                  <a:pt x="0" y="0"/>
                </a:lnTo>
                <a:lnTo>
                  <a:pt x="0" y="285749"/>
                </a:lnTo>
                <a:close/>
              </a:path>
              <a:path w="1780540" h="791845">
                <a:moveTo>
                  <a:pt x="439613" y="791306"/>
                </a:moveTo>
                <a:lnTo>
                  <a:pt x="703382" y="791306"/>
                </a:lnTo>
                <a:lnTo>
                  <a:pt x="703382" y="527537"/>
                </a:lnTo>
                <a:lnTo>
                  <a:pt x="439613" y="527537"/>
                </a:lnTo>
                <a:lnTo>
                  <a:pt x="439613" y="791306"/>
                </a:lnTo>
                <a:close/>
              </a:path>
              <a:path w="1780540" h="791845">
                <a:moveTo>
                  <a:pt x="1516669" y="791306"/>
                </a:moveTo>
                <a:lnTo>
                  <a:pt x="1780438" y="791306"/>
                </a:lnTo>
                <a:lnTo>
                  <a:pt x="1780438" y="527537"/>
                </a:lnTo>
                <a:lnTo>
                  <a:pt x="1516669" y="527537"/>
                </a:lnTo>
                <a:lnTo>
                  <a:pt x="1516669" y="791306"/>
                </a:lnTo>
                <a:close/>
              </a:path>
            </a:pathLst>
          </a:custGeom>
          <a:ln w="19538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876299" y="8775547"/>
            <a:ext cx="60153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1250" sz="1200" spc="37">
                <a:latin typeface="Cambria"/>
                <a:cs typeface="Cambria"/>
              </a:rPr>
              <a:t>j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</a:t>
            </a:r>
            <a:r>
              <a:rPr dirty="0" sz="1200" spc="-10">
                <a:latin typeface="Times New Roman"/>
                <a:cs typeface="Times New Roman"/>
              </a:rPr>
              <a:t>ti</a:t>
            </a:r>
            <a:r>
              <a:rPr dirty="0" sz="1200" spc="-5">
                <a:latin typeface="Times New Roman"/>
                <a:cs typeface="Times New Roman"/>
              </a:rPr>
              <a:t>sfies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</a:t>
            </a:r>
            <a:r>
              <a:rPr dirty="0" sz="1200" spc="-10">
                <a:latin typeface="Times New Roman"/>
                <a:cs typeface="Times New Roman"/>
              </a:rPr>
              <a:t>rli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i.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id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2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7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6426200" cy="12293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185535" algn="l"/>
              </a:tabLst>
            </a:pPr>
            <a:r>
              <a:rPr dirty="0" sz="1200" spc="-10">
                <a:latin typeface="Times New Roman"/>
                <a:cs typeface="Times New Roman"/>
              </a:rPr>
              <a:t>7.3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CT</a:t>
            </a:r>
            <a:r>
              <a:rPr dirty="0" sz="1200" spc="-10">
                <a:latin typeface="Times New Roman"/>
                <a:cs typeface="Times New Roman"/>
              </a:rPr>
              <a:t>IVI</a:t>
            </a:r>
            <a:r>
              <a:rPr dirty="0" sz="1200" spc="-5">
                <a:latin typeface="Times New Roman"/>
                <a:cs typeface="Times New Roman"/>
              </a:rPr>
              <a:t>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 spc="-10">
                <a:latin typeface="Times New Roman"/>
                <a:cs typeface="Times New Roman"/>
              </a:rPr>
              <a:t>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10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20383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smallest </a:t>
            </a:r>
            <a:r>
              <a:rPr dirty="0" sz="1200" spc="-10">
                <a:latin typeface="Times New Roman"/>
                <a:cs typeface="Times New Roman"/>
              </a:rPr>
              <a:t>probabilities.</a:t>
            </a:r>
            <a:r>
              <a:rPr dirty="0" sz="1200" spc="-5">
                <a:latin typeface="Times New Roman"/>
                <a:cs typeface="Times New Roman"/>
              </a:rPr>
              <a:t> Then there is </a:t>
            </a:r>
            <a:r>
              <a:rPr dirty="0" sz="1200" spc="-10">
                <a:latin typeface="Times New Roman"/>
                <a:cs typeface="Times New Roman"/>
              </a:rPr>
              <a:t>optimal </a:t>
            </a:r>
            <a:r>
              <a:rPr dirty="0" sz="1200" spc="-5">
                <a:latin typeface="Times New Roman"/>
                <a:cs typeface="Times New Roman"/>
              </a:rPr>
              <a:t>code tree in which these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characters are </a:t>
            </a:r>
            <a:r>
              <a:rPr dirty="0" sz="1200" spc="-10">
                <a:latin typeface="Times New Roman"/>
                <a:cs typeface="Times New Roman"/>
              </a:rPr>
              <a:t>siblings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</a:t>
            </a:r>
            <a:r>
              <a:rPr dirty="0" sz="1200" spc="-5">
                <a:latin typeface="Times New Roman"/>
                <a:cs typeface="Times New Roman"/>
              </a:rPr>
              <a:t> depth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tree.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The claim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just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proved</a:t>
            </a:r>
            <a:r>
              <a:rPr dirty="0" sz="1200" spc="-5">
                <a:latin typeface="Times New Roman"/>
                <a:cs typeface="Times New Roman"/>
              </a:rPr>
              <a:t> asserts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 step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perform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(the </a:t>
            </a:r>
            <a:r>
              <a:rPr dirty="0" sz="1200" spc="-5">
                <a:latin typeface="Times New Roman"/>
                <a:cs typeface="Times New Roman"/>
              </a:rPr>
              <a:t> greedy step).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correctness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14400" y="1850174"/>
            <a:ext cx="401129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 b="1">
                <a:latin typeface="Times New Roman"/>
                <a:cs typeface="Times New Roman"/>
              </a:rPr>
              <a:t>Claim: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Huffman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produces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prefix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code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4400" y="2096274"/>
            <a:ext cx="6055360" cy="14097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90"/>
              </a:lnSpc>
            </a:pPr>
            <a:r>
              <a:rPr dirty="0" sz="1200" spc="-10" b="1">
                <a:latin typeface="Times New Roman"/>
                <a:cs typeface="Times New Roman"/>
              </a:rPr>
              <a:t>Proof: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4400" y="2282456"/>
            <a:ext cx="605536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consists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single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node,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obviously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exactly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4400" y="2465908"/>
            <a:ext cx="653415" cy="10795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844"/>
              </a:lnSpc>
            </a:pP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4400" y="2714739"/>
            <a:ext cx="616204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Suppose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exactly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previous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claim states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characters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14400" y="2898190"/>
            <a:ext cx="640080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lowest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probability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be </a:t>
            </a:r>
            <a:r>
              <a:rPr dirty="0" sz="1200" spc="-10">
                <a:latin typeface="Times New Roman"/>
                <a:cs typeface="Times New Roman"/>
              </a:rPr>
              <a:t>siblings</a:t>
            </a:r>
            <a:r>
              <a:rPr dirty="0" sz="1200" spc="-5">
                <a:latin typeface="Times New Roman"/>
                <a:cs typeface="Times New Roman"/>
              </a:rPr>
              <a:t> at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lowest </a:t>
            </a:r>
            <a:r>
              <a:rPr dirty="0" sz="1200" spc="-15">
                <a:latin typeface="Times New Roman"/>
                <a:cs typeface="Times New Roman"/>
              </a:rPr>
              <a:t>level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the tree.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Remove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replace them</a:t>
            </a:r>
            <a:r>
              <a:rPr dirty="0" sz="1200" spc="-10">
                <a:latin typeface="Times New Roman"/>
                <a:cs typeface="Times New Roman"/>
              </a:rPr>
              <a:t> with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14400" y="3074962"/>
            <a:ext cx="5442585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-15">
                <a:latin typeface="Times New Roman"/>
                <a:cs typeface="Times New Roman"/>
              </a:rPr>
              <a:t>new</a:t>
            </a:r>
            <a:r>
              <a:rPr dirty="0" sz="1200" spc="-5">
                <a:latin typeface="Times New Roman"/>
                <a:cs typeface="Times New Roman"/>
              </a:rPr>
              <a:t> character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25">
                <a:latin typeface="Lucida Sans Unicode"/>
                <a:cs typeface="Lucida Sans Unicode"/>
              </a:rPr>
              <a:t>z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whose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probability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p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Lucida Sans Unicode"/>
                <a:cs typeface="Lucida Sans Unicode"/>
              </a:rPr>
              <a:t>z</a:t>
            </a:r>
            <a:r>
              <a:rPr dirty="0" sz="1200" spc="1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p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x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p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y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characters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remain.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38218" y="3271315"/>
            <a:ext cx="6540500" cy="5096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5565" marR="7874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id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</a:t>
            </a:r>
            <a:r>
              <a:rPr dirty="0" sz="1200" spc="-5">
                <a:latin typeface="Times New Roman"/>
                <a:cs typeface="Times New Roman"/>
              </a:rPr>
              <a:t>efix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3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5">
                <a:latin typeface="Times New Roman"/>
                <a:cs typeface="Times New Roman"/>
              </a:rPr>
              <a:t>n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</a:t>
            </a:r>
            <a:r>
              <a:rPr dirty="0" sz="1200" spc="-5">
                <a:latin typeface="Times New Roman"/>
                <a:cs typeface="Times New Roman"/>
              </a:rPr>
              <a:t>efix c</a:t>
            </a:r>
            <a:r>
              <a:rPr dirty="0" sz="1200" spc="-10">
                <a:latin typeface="Times New Roman"/>
                <a:cs typeface="Times New Roman"/>
              </a:rPr>
              <a:t>od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origin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pl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25">
                <a:latin typeface="Lucida Sans Unicode"/>
                <a:cs typeface="Lucida Sans Unicode"/>
              </a:rPr>
              <a:t>z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esse</a:t>
            </a:r>
            <a:r>
              <a:rPr dirty="0" sz="1200" spc="-10">
                <a:latin typeface="Times New Roman"/>
                <a:cs typeface="Times New Roman"/>
              </a:rPr>
              <a:t>nti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5">
                <a:latin typeface="Times New Roman"/>
                <a:cs typeface="Times New Roman"/>
              </a:rPr>
              <a:t>y </a:t>
            </a:r>
            <a:r>
              <a:rPr dirty="0" sz="1200" spc="-10">
                <a:latin typeface="Times New Roman"/>
                <a:cs typeface="Times New Roman"/>
              </a:rPr>
              <a:t>undoin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25">
                <a:latin typeface="Times New Roman"/>
                <a:cs typeface="Times New Roman"/>
              </a:rPr>
              <a:t>ov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pl</a:t>
            </a:r>
            <a:r>
              <a:rPr dirty="0" sz="1200" spc="-5">
                <a:latin typeface="Times New Roman"/>
                <a:cs typeface="Times New Roman"/>
              </a:rPr>
              <a:t>aced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z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3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50">
              <a:latin typeface="Times New Roman"/>
              <a:cs typeface="Times New Roman"/>
            </a:endParaRPr>
          </a:p>
          <a:p>
            <a:pPr marL="1323340">
              <a:lnSpc>
                <a:spcPct val="100000"/>
              </a:lnSpc>
              <a:spcBef>
                <a:spcPts val="5"/>
              </a:spcBef>
            </a:pP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4722" sz="1200" spc="112">
                <a:latin typeface="Cambria"/>
                <a:cs typeface="Cambria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30">
                <a:latin typeface="Lucida Sans Unicode"/>
                <a:cs typeface="Lucida Sans Unicode"/>
              </a:rPr>
              <a:t>z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30">
                <a:latin typeface="Lucida Sans Unicode"/>
                <a:cs typeface="Lucida Sans Unicode"/>
              </a:rPr>
              <a:t>z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30">
                <a:latin typeface="Lucida Sans Unicode"/>
                <a:cs typeface="Lucida Sans Unicode"/>
              </a:rPr>
              <a:t>z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30">
                <a:latin typeface="Lucida Sans Unicode"/>
                <a:cs typeface="Lucida Sans Unicode"/>
              </a:rPr>
              <a:t>z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1722755">
              <a:lnSpc>
                <a:spcPct val="100000"/>
              </a:lnSpc>
              <a:spcBef>
                <a:spcPts val="300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B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T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p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x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p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y</a:t>
            </a:r>
            <a:r>
              <a:rPr dirty="0" sz="1200" spc="45">
                <a:latin typeface="Garamond"/>
                <a:cs typeface="Garamond"/>
              </a:rPr>
              <a:t>))</a:t>
            </a:r>
            <a:r>
              <a:rPr dirty="0" sz="1200" spc="45">
                <a:latin typeface="Lucida Sans Unicode"/>
                <a:cs typeface="Lucida Sans Unicode"/>
              </a:rPr>
              <a:t>d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z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p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x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p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y</a:t>
            </a:r>
            <a:r>
              <a:rPr dirty="0" sz="1200" spc="40">
                <a:latin typeface="Garamond"/>
                <a:cs typeface="Garamond"/>
              </a:rPr>
              <a:t>))[</a:t>
            </a:r>
            <a:r>
              <a:rPr dirty="0" sz="1200" spc="40">
                <a:latin typeface="Lucida Sans Unicode"/>
                <a:cs typeface="Lucida Sans Unicode"/>
              </a:rPr>
              <a:t>d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z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1</a:t>
            </a:r>
            <a:r>
              <a:rPr dirty="0" sz="1200" spc="-80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1722755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110">
                <a:latin typeface="Garamond"/>
                <a:cs typeface="Garamond"/>
              </a:rPr>
              <a:t>))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30">
                <a:latin typeface="Lucida Sans Unicode"/>
                <a:cs typeface="Lucida Sans Unicode"/>
              </a:rPr>
              <a:t>z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30">
                <a:latin typeface="Lucida Sans Unicode"/>
                <a:cs typeface="Lucida Sans Unicode"/>
              </a:rPr>
              <a:t>z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1722755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B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T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p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x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5">
                <a:latin typeface="Garamond"/>
                <a:cs typeface="Garamond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p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y</a:t>
            </a:r>
            <a:r>
              <a:rPr dirty="0" sz="1200" spc="6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</a:pP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650">
              <a:latin typeface="Garamond"/>
              <a:cs typeface="Garamond"/>
            </a:endParaRPr>
          </a:p>
          <a:p>
            <a:pPr marL="76200" marR="254635" indent="-63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ng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b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nd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tru</a:t>
            </a:r>
            <a:r>
              <a:rPr dirty="0" sz="1200" spc="-5">
                <a:latin typeface="Times New Roman"/>
                <a:cs typeface="Times New Roman"/>
              </a:rPr>
              <a:t>ct</a:t>
            </a:r>
            <a:r>
              <a:rPr dirty="0" sz="1200" spc="-10">
                <a:latin typeface="Times New Roman"/>
                <a:cs typeface="Times New Roman"/>
              </a:rPr>
              <a:t>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25">
                <a:latin typeface="Lucida Sans Unicode"/>
                <a:cs typeface="Lucida Sans Unicode"/>
              </a:rPr>
              <a:t>1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minimi</a:t>
            </a:r>
            <a:r>
              <a:rPr dirty="0" sz="1200" spc="-5">
                <a:latin typeface="Times New Roman"/>
                <a:cs typeface="Times New Roman"/>
              </a:rPr>
              <a:t>ze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70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1250" sz="1200" spc="112">
                <a:latin typeface="Cambria"/>
                <a:cs typeface="Cambria"/>
              </a:rPr>
              <a:t>j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eed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b</a:t>
            </a:r>
            <a:r>
              <a:rPr dirty="0" sz="1200" spc="-10">
                <a:latin typeface="Times New Roman"/>
                <a:cs typeface="Times New Roman"/>
              </a:rPr>
              <a:t>uil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25">
                <a:latin typeface="Lucida Sans Unicode"/>
                <a:cs typeface="Lucida Sans Unicode"/>
              </a:rPr>
              <a:t>1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8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tion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tl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Hu</a:t>
            </a:r>
            <a:r>
              <a:rPr dirty="0" sz="1200" spc="-3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fm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lgorith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</a:t>
            </a:r>
            <a:r>
              <a:rPr dirty="0" sz="1200" spc="-5">
                <a:latin typeface="Times New Roman"/>
                <a:cs typeface="Times New Roman"/>
              </a:rPr>
              <a:t>es.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 </a:t>
            </a:r>
            <a:r>
              <a:rPr dirty="0" sz="1200" spc="-10">
                <a:latin typeface="Times New Roman"/>
                <a:cs typeface="Times New Roman"/>
              </a:rPr>
              <a:t>optim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75565">
              <a:lnSpc>
                <a:spcPct val="100000"/>
              </a:lnSpc>
              <a:spcBef>
                <a:spcPts val="1140"/>
              </a:spcBef>
              <a:tabLst>
                <a:tab pos="5676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7.3	</a:t>
            </a:r>
            <a:r>
              <a:rPr dirty="0" sz="1700" b="1">
                <a:latin typeface="Times New Roman"/>
                <a:cs typeface="Times New Roman"/>
              </a:rPr>
              <a:t>Activity</a:t>
            </a:r>
            <a:r>
              <a:rPr dirty="0" sz="1700" spc="-1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Selection</a:t>
            </a:r>
            <a:endParaRPr sz="1700">
              <a:latin typeface="Times New Roman"/>
              <a:cs typeface="Times New Roman"/>
            </a:endParaRPr>
          </a:p>
          <a:p>
            <a:pPr algn="just" marL="75565" marR="55880">
              <a:lnSpc>
                <a:spcPct val="100000"/>
              </a:lnSpc>
              <a:spcBef>
                <a:spcPts val="165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activity </a:t>
            </a:r>
            <a:r>
              <a:rPr dirty="0" sz="1200" spc="-5">
                <a:latin typeface="Times New Roman"/>
                <a:cs typeface="Times New Roman"/>
              </a:rPr>
              <a:t>scheduling is a </a:t>
            </a:r>
            <a:r>
              <a:rPr dirty="0" sz="1200" spc="-10">
                <a:latin typeface="Times New Roman"/>
                <a:cs typeface="Times New Roman"/>
              </a:rPr>
              <a:t>simple </a:t>
            </a:r>
            <a:r>
              <a:rPr dirty="0" sz="1200" spc="-5">
                <a:latin typeface="Times New Roman"/>
                <a:cs typeface="Times New Roman"/>
              </a:rPr>
              <a:t>scheduling </a:t>
            </a:r>
            <a:r>
              <a:rPr dirty="0" sz="1200" spc="-10">
                <a:latin typeface="Times New Roman"/>
                <a:cs typeface="Times New Roman"/>
              </a:rPr>
              <a:t>problem for </a:t>
            </a:r>
            <a:r>
              <a:rPr dirty="0" sz="1200" spc="-5">
                <a:latin typeface="Times New Roman"/>
                <a:cs typeface="Times New Roman"/>
              </a:rPr>
              <a:t>which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greedy </a:t>
            </a:r>
            <a:r>
              <a:rPr dirty="0" sz="1200" spc="-10">
                <a:latin typeface="Times New Roman"/>
                <a:cs typeface="Times New Roman"/>
              </a:rPr>
              <a:t>algorithm </a:t>
            </a:r>
            <a:r>
              <a:rPr dirty="0" sz="1200" spc="-5">
                <a:latin typeface="Times New Roman"/>
                <a:cs typeface="Times New Roman"/>
              </a:rPr>
              <a:t>approach </a:t>
            </a:r>
            <a:r>
              <a:rPr dirty="0" sz="1200" spc="-10">
                <a:latin typeface="Times New Roman"/>
                <a:cs typeface="Times New Roman"/>
              </a:rPr>
              <a:t>provides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optimal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are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a set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{a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sz="1200" spc="-1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sz="1200" spc="-1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a</a:t>
            </a:r>
            <a:r>
              <a:rPr dirty="0" baseline="-13888" sz="1200" spc="82">
                <a:latin typeface="Verdana"/>
                <a:cs typeface="Verdana"/>
              </a:rPr>
              <a:t>n</a:t>
            </a:r>
            <a:r>
              <a:rPr dirty="0" sz="1200" spc="55">
                <a:latin typeface="Lucida Sans Unicode"/>
                <a:cs typeface="Lucida Sans Unicode"/>
              </a:rPr>
              <a:t>}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activities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to be scheduled to use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resource.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 spc="-10">
                <a:latin typeface="Times New Roman"/>
                <a:cs typeface="Times New Roman"/>
              </a:rPr>
              <a:t>activity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a</a:t>
            </a:r>
            <a:r>
              <a:rPr dirty="0" baseline="-13888" sz="1200" spc="157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started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start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s</a:t>
            </a:r>
            <a:r>
              <a:rPr dirty="0" baseline="-13888" sz="1200" spc="60">
                <a:latin typeface="Verdana"/>
                <a:cs typeface="Verdana"/>
              </a:rPr>
              <a:t>i</a:t>
            </a:r>
            <a:r>
              <a:rPr dirty="0" baseline="-13888" sz="1200" spc="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ends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finish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f</a:t>
            </a:r>
            <a:r>
              <a:rPr dirty="0" baseline="-13888" sz="1200" spc="97">
                <a:latin typeface="Verdana"/>
                <a:cs typeface="Verdana"/>
              </a:rPr>
              <a:t>i</a:t>
            </a:r>
            <a:r>
              <a:rPr dirty="0" sz="1200" spc="6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75565" marR="64135">
              <a:lnSpc>
                <a:spcPct val="100000"/>
              </a:lnSpc>
              <a:spcBef>
                <a:spcPts val="530"/>
              </a:spcBef>
            </a:pPr>
            <a:r>
              <a:rPr dirty="0" sz="1200" spc="-1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 spc="-5">
                <a:latin typeface="Times New Roman"/>
                <a:cs typeface="Times New Roman"/>
              </a:rPr>
              <a:t> is that a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lectures are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in a single lecture hall.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start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end times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be set up in </a:t>
            </a:r>
            <a:r>
              <a:rPr dirty="0" sz="1200" spc="-10">
                <a:latin typeface="Times New Roman"/>
                <a:cs typeface="Times New Roman"/>
              </a:rPr>
              <a:t>advance.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lectures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to be scheduled.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is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resource (e.g., lecture hall)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Some</a:t>
            </a:r>
            <a:r>
              <a:rPr dirty="0" sz="1200" spc="-5">
                <a:latin typeface="Times New Roman"/>
                <a:cs typeface="Times New Roman"/>
              </a:rPr>
              <a:t> start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finish times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 </a:t>
            </a:r>
            <a:r>
              <a:rPr dirty="0" sz="1200" spc="-10">
                <a:latin typeface="Times New Roman"/>
                <a:cs typeface="Times New Roman"/>
              </a:rPr>
              <a:t>overlap.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Therefore,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requests</a:t>
            </a:r>
            <a:r>
              <a:rPr dirty="0" sz="1200" spc="-5">
                <a:latin typeface="Times New Roman"/>
                <a:cs typeface="Times New Roman"/>
              </a:rPr>
              <a:t>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honored.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say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a</a:t>
            </a:r>
            <a:r>
              <a:rPr dirty="0" baseline="-13888" sz="1200" spc="157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97">
                <a:latin typeface="Verdana"/>
                <a:cs typeface="Verdana"/>
              </a:rPr>
              <a:t>j</a:t>
            </a:r>
            <a:r>
              <a:rPr dirty="0" baseline="-13888" sz="1200" spc="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non-interfering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their start-finish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intervals</a:t>
            </a:r>
            <a:r>
              <a:rPr dirty="0" sz="1200" spc="-5">
                <a:latin typeface="Times New Roman"/>
                <a:cs typeface="Times New Roman"/>
              </a:rPr>
              <a:t> 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overlap.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I.e,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76309" y="8343264"/>
            <a:ext cx="6019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s</a:t>
            </a:r>
            <a:r>
              <a:rPr dirty="0" baseline="-13888" sz="1200" spc="44">
                <a:latin typeface="Verdana"/>
                <a:cs typeface="Verdana"/>
              </a:rPr>
              <a:t>i</a:t>
            </a:r>
            <a:r>
              <a:rPr dirty="0" sz="1200" spc="3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f</a:t>
            </a:r>
            <a:r>
              <a:rPr dirty="0" baseline="-13888" sz="1200" spc="150">
                <a:latin typeface="Verdana"/>
                <a:cs typeface="Verdana"/>
              </a:rPr>
              <a:t>i</a:t>
            </a:r>
            <a:r>
              <a:rPr dirty="0" sz="1200" spc="10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5">
                <a:latin typeface="Segoe UI Symbol"/>
                <a:cs typeface="Segoe UI Symbol"/>
              </a:rPr>
              <a:t>∩</a:t>
            </a:r>
            <a:r>
              <a:rPr dirty="0" sz="1200" spc="-55">
                <a:latin typeface="Segoe UI Symbol"/>
                <a:cs typeface="Segoe UI Symbol"/>
              </a:rPr>
              <a:t> 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Lucida Sans Unicode"/>
                <a:cs typeface="Lucida Sans Unicode"/>
              </a:rPr>
              <a:t>s</a:t>
            </a:r>
            <a:r>
              <a:rPr dirty="0" baseline="-13888" sz="1200" spc="15">
                <a:latin typeface="Verdana"/>
                <a:cs typeface="Verdana"/>
              </a:rPr>
              <a:t>j</a:t>
            </a:r>
            <a:r>
              <a:rPr dirty="0" sz="1200" spc="1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f</a:t>
            </a:r>
            <a:r>
              <a:rPr dirty="0" baseline="-13888" sz="1200" spc="112">
                <a:latin typeface="Verdana"/>
                <a:cs typeface="Verdana"/>
              </a:rPr>
              <a:t>j</a:t>
            </a:r>
            <a:r>
              <a:rPr dirty="0" sz="1200" spc="75">
                <a:latin typeface="Garamond"/>
                <a:cs typeface="Garamond"/>
              </a:rPr>
              <a:t>)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25">
                <a:latin typeface="Lucida Sans Unicode"/>
                <a:cs typeface="Lucida Sans Unicode"/>
              </a:rPr>
              <a:t>∅</a:t>
            </a:r>
            <a:r>
              <a:rPr dirty="0" sz="1200" spc="-125">
                <a:latin typeface="Times New Roman"/>
                <a:cs typeface="Times New Roman"/>
              </a:rPr>
              <a:t>.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maximum-size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mutually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01708" y="8460082"/>
            <a:ext cx="6310630" cy="523240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10">
                <a:latin typeface="Times New Roman"/>
                <a:cs typeface="Times New Roman"/>
              </a:rPr>
              <a:t>non-interfering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resource.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schedule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largest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resource?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Intuitively,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long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4400" y="2539440"/>
            <a:ext cx="5486400" cy="1534160"/>
          </a:xfrm>
          <a:custGeom>
            <a:avLst/>
            <a:gdLst/>
            <a:ahLst/>
            <a:cxnLst/>
            <a:rect l="l" t="t" r="r" b="b"/>
            <a:pathLst>
              <a:path w="5486400" h="1534160">
                <a:moveTo>
                  <a:pt x="5486400" y="0"/>
                </a:moveTo>
                <a:lnTo>
                  <a:pt x="0" y="0"/>
                </a:lnTo>
                <a:lnTo>
                  <a:pt x="0" y="4724"/>
                </a:lnTo>
                <a:lnTo>
                  <a:pt x="0" y="5130"/>
                </a:lnTo>
                <a:lnTo>
                  <a:pt x="0" y="1533702"/>
                </a:lnTo>
                <a:lnTo>
                  <a:pt x="5130" y="1533702"/>
                </a:lnTo>
                <a:lnTo>
                  <a:pt x="513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850899" y="520987"/>
            <a:ext cx="6515734" cy="22180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10"/>
              </a:spcBef>
              <a:tabLst>
                <a:tab pos="3895090" algn="l"/>
              </a:tabLst>
            </a:pPr>
            <a:r>
              <a:rPr dirty="0" sz="1200" spc="-10">
                <a:latin typeface="Times New Roman"/>
                <a:cs typeface="Times New Roman"/>
              </a:rPr>
              <a:t>106	</a:t>
            </a: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GREEDY</a:t>
            </a:r>
            <a:r>
              <a:rPr dirty="0" sz="1200" spc="-10">
                <a:latin typeface="Times New Roman"/>
                <a:cs typeface="Times New Roman"/>
              </a:rPr>
              <a:t> ALGORITHMS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63500" marR="118745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activities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occupy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resource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keep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honoring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requests.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suggests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greedy </a:t>
            </a:r>
            <a:r>
              <a:rPr dirty="0" sz="1200" spc="-10">
                <a:latin typeface="Times New Roman"/>
                <a:cs typeface="Times New Roman"/>
              </a:rPr>
              <a:t>strategy: </a:t>
            </a:r>
            <a:r>
              <a:rPr dirty="0" sz="1200" spc="-5">
                <a:latin typeface="Times New Roman"/>
                <a:cs typeface="Times New Roman"/>
              </a:rPr>
              <a:t>Repeatedly select </a:t>
            </a:r>
            <a:r>
              <a:rPr dirty="0" sz="1200" spc="-10">
                <a:latin typeface="Times New Roman"/>
                <a:cs typeface="Times New Roman"/>
              </a:rPr>
              <a:t>the activity with the </a:t>
            </a:r>
            <a:r>
              <a:rPr dirty="0" sz="1200" spc="-5">
                <a:latin typeface="Times New Roman"/>
                <a:cs typeface="Times New Roman"/>
              </a:rPr>
              <a:t>smallest </a:t>
            </a:r>
            <a:r>
              <a:rPr dirty="0" sz="1200" spc="-10">
                <a:latin typeface="Times New Roman"/>
                <a:cs typeface="Times New Roman"/>
              </a:rPr>
              <a:t>duration </a:t>
            </a:r>
            <a:r>
              <a:rPr dirty="0" sz="1200" spc="105">
                <a:latin typeface="Garamond"/>
                <a:cs typeface="Garamond"/>
              </a:rPr>
              <a:t>(</a:t>
            </a:r>
            <a:r>
              <a:rPr dirty="0" sz="1200" spc="105">
                <a:latin typeface="Lucida Sans Unicode"/>
                <a:cs typeface="Lucida Sans Unicode"/>
              </a:rPr>
              <a:t>f</a:t>
            </a:r>
            <a:r>
              <a:rPr dirty="0" baseline="-13888" sz="1200" spc="157">
                <a:latin typeface="Verdana"/>
                <a:cs typeface="Verdana"/>
              </a:rPr>
              <a:t>i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s</a:t>
            </a:r>
            <a:r>
              <a:rPr dirty="0" baseline="-13888" sz="1200" spc="89">
                <a:latin typeface="Verdana"/>
                <a:cs typeface="Verdana"/>
              </a:rPr>
              <a:t>i</a:t>
            </a:r>
            <a:r>
              <a:rPr dirty="0" sz="1200" spc="6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and schedule it,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provided </a:t>
            </a:r>
            <a:r>
              <a:rPr dirty="0" sz="1200" spc="-5">
                <a:latin typeface="Times New Roman"/>
                <a:cs typeface="Times New Roman"/>
              </a:rPr>
              <a:t>that it does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interfere </a:t>
            </a:r>
            <a:r>
              <a:rPr dirty="0" sz="1200" spc="-10">
                <a:latin typeface="Times New Roman"/>
                <a:cs typeface="Times New Roman"/>
              </a:rPr>
              <a:t>with any previously </a:t>
            </a:r>
            <a:r>
              <a:rPr dirty="0" sz="1200" spc="-5">
                <a:latin typeface="Times New Roman"/>
                <a:cs typeface="Times New Roman"/>
              </a:rPr>
              <a:t>scheduled </a:t>
            </a:r>
            <a:r>
              <a:rPr dirty="0" sz="1200" spc="-10">
                <a:latin typeface="Times New Roman"/>
                <a:cs typeface="Times New Roman"/>
              </a:rPr>
              <a:t>activities.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Unfortunately, </a:t>
            </a:r>
            <a:r>
              <a:rPr dirty="0" sz="1200" spc="-10">
                <a:latin typeface="Times New Roman"/>
                <a:cs typeface="Times New Roman"/>
              </a:rPr>
              <a:t>this turns out 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non-optimal</a:t>
            </a:r>
            <a:endParaRPr sz="1200">
              <a:latin typeface="Times New Roman"/>
              <a:cs typeface="Times New Roman"/>
            </a:endParaRPr>
          </a:p>
          <a:p>
            <a:pPr marL="63500" marR="13462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Here is a </a:t>
            </a:r>
            <a:r>
              <a:rPr dirty="0" sz="1200" spc="-10">
                <a:latin typeface="Times New Roman"/>
                <a:cs typeface="Times New Roman"/>
              </a:rPr>
              <a:t>simple </a:t>
            </a:r>
            <a:r>
              <a:rPr dirty="0" sz="1200" spc="-5">
                <a:latin typeface="Times New Roman"/>
                <a:cs typeface="Times New Roman"/>
              </a:rPr>
              <a:t>greedy </a:t>
            </a:r>
            <a:r>
              <a:rPr dirty="0" sz="1200" spc="-10">
                <a:latin typeface="Times New Roman"/>
                <a:cs typeface="Times New Roman"/>
              </a:rPr>
              <a:t>algorithm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works:</a:t>
            </a:r>
            <a:r>
              <a:rPr dirty="0" sz="1200" spc="-5">
                <a:latin typeface="Times New Roman"/>
                <a:cs typeface="Times New Roman"/>
              </a:rPr>
              <a:t> Sort </a:t>
            </a:r>
            <a:r>
              <a:rPr dirty="0" sz="1200" spc="-10">
                <a:latin typeface="Times New Roman"/>
                <a:cs typeface="Times New Roman"/>
              </a:rPr>
              <a:t>the activities </a:t>
            </a:r>
            <a:r>
              <a:rPr dirty="0" sz="1200" spc="-5">
                <a:latin typeface="Times New Roman"/>
                <a:cs typeface="Times New Roman"/>
              </a:rPr>
              <a:t>by their finish times. Select </a:t>
            </a:r>
            <a:r>
              <a:rPr dirty="0" sz="1200" spc="-10">
                <a:latin typeface="Times New Roman"/>
                <a:cs typeface="Times New Roman"/>
              </a:rPr>
              <a:t>the activity </a:t>
            </a:r>
            <a:r>
              <a:rPr dirty="0" sz="1200" spc="-5">
                <a:latin typeface="Times New Roman"/>
                <a:cs typeface="Times New Roman"/>
              </a:rPr>
              <a:t> that finishes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schedule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among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 spc="-25">
                <a:latin typeface="Times New Roman"/>
                <a:cs typeface="Times New Roman"/>
              </a:rPr>
              <a:t>activities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interfere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 spc="-10">
                <a:latin typeface="Times New Roman"/>
                <a:cs typeface="Times New Roman"/>
              </a:rPr>
              <a:t>job, </a:t>
            </a:r>
            <a:r>
              <a:rPr dirty="0" sz="1200" spc="-5">
                <a:latin typeface="Times New Roman"/>
                <a:cs typeface="Times New Roman"/>
              </a:rPr>
              <a:t> schedule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that finishes first, and so </a:t>
            </a:r>
            <a:r>
              <a:rPr dirty="0" sz="1200" spc="-10">
                <a:latin typeface="Times New Roman"/>
                <a:cs typeface="Times New Roman"/>
              </a:rPr>
              <a:t>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750">
              <a:latin typeface="Times New Roman"/>
              <a:cs typeface="Times New Roman"/>
            </a:endParaRPr>
          </a:p>
          <a:p>
            <a:pPr marL="109855">
              <a:lnSpc>
                <a:spcPct val="100000"/>
              </a:lnSpc>
            </a:pPr>
            <a:r>
              <a:rPr dirty="0" sz="950" spc="30">
                <a:latin typeface="Times New Roman"/>
                <a:cs typeface="Times New Roman"/>
              </a:rPr>
              <a:t>SCHEDULE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a</a:t>
            </a:r>
            <a:r>
              <a:rPr dirty="0" sz="1200" spc="3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1..N</a:t>
            </a:r>
            <a:r>
              <a:rPr dirty="0" sz="1200" spc="30">
                <a:latin typeface="Garamond"/>
                <a:cs typeface="Garamond"/>
              </a:rPr>
              <a:t>])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95326" y="2727847"/>
            <a:ext cx="2521585" cy="11118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240029" indent="-240665">
              <a:lnSpc>
                <a:spcPts val="1430"/>
              </a:lnSpc>
              <a:buSzPct val="109090"/>
              <a:buAutoNum type="arabicPlain"/>
              <a:tabLst>
                <a:tab pos="240029" algn="l"/>
                <a:tab pos="240665" algn="l"/>
              </a:tabLst>
            </a:pPr>
            <a:r>
              <a:rPr dirty="0" sz="1100" spc="-5">
                <a:latin typeface="Times New Roman"/>
                <a:cs typeface="Times New Roman"/>
              </a:rPr>
              <a:t>sort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sz="1100" spc="-15">
                <a:latin typeface="Lucida Sans Unicode"/>
                <a:cs typeface="Lucida Sans Unicode"/>
              </a:rPr>
              <a:t>a</a:t>
            </a:r>
            <a:r>
              <a:rPr dirty="0" sz="1100" spc="-15">
                <a:latin typeface="Garamond"/>
                <a:cs typeface="Garamond"/>
              </a:rPr>
              <a:t>[</a:t>
            </a:r>
            <a:r>
              <a:rPr dirty="0" sz="1100" spc="-15">
                <a:latin typeface="Lucida Sans Unicode"/>
                <a:cs typeface="Lucida Sans Unicode"/>
              </a:rPr>
              <a:t>1..N</a:t>
            </a:r>
            <a:r>
              <a:rPr dirty="0" sz="1100" spc="-15">
                <a:latin typeface="Garamond"/>
                <a:cs typeface="Garamond"/>
              </a:rPr>
              <a:t>]</a:t>
            </a:r>
            <a:r>
              <a:rPr dirty="0" sz="1100" spc="-20">
                <a:latin typeface="Garamond"/>
                <a:cs typeface="Garamond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by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finish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times</a:t>
            </a:r>
            <a:endParaRPr sz="1100">
              <a:latin typeface="Times New Roman"/>
              <a:cs typeface="Times New Roman"/>
            </a:endParaRPr>
          </a:p>
          <a:p>
            <a:pPr marL="227329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227329" algn="l"/>
                <a:tab pos="227965" algn="l"/>
                <a:tab pos="1110615" algn="l"/>
              </a:tabLst>
            </a:pP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3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30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{a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1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20">
                <a:latin typeface="Lucida Sans Unicode"/>
                <a:cs typeface="Lucida Sans Unicode"/>
              </a:rPr>
              <a:t>}</a:t>
            </a:r>
            <a:r>
              <a:rPr dirty="0" sz="1200" spc="-20">
                <a:latin typeface="Garamond"/>
                <a:cs typeface="Garamond"/>
              </a:rPr>
              <a:t>;	</a:t>
            </a:r>
            <a:r>
              <a:rPr dirty="0" sz="1100" spc="-5">
                <a:latin typeface="Times New Roman"/>
                <a:cs typeface="Times New Roman"/>
              </a:rPr>
              <a:t>//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 spc="-10" i="1">
                <a:latin typeface="Times New Roman"/>
                <a:cs typeface="Times New Roman"/>
              </a:rPr>
              <a:t>schedule activity </a:t>
            </a:r>
            <a:r>
              <a:rPr dirty="0" sz="1100" spc="-5" i="1">
                <a:latin typeface="Times New Roman"/>
                <a:cs typeface="Times New Roman"/>
              </a:rPr>
              <a:t>1</a:t>
            </a:r>
            <a:r>
              <a:rPr dirty="0" sz="1100" spc="-15" i="1">
                <a:latin typeface="Times New Roman"/>
                <a:cs typeface="Times New Roman"/>
              </a:rPr>
              <a:t> </a:t>
            </a:r>
            <a:r>
              <a:rPr dirty="0" sz="1100" spc="-10" i="1">
                <a:latin typeface="Times New Roman"/>
                <a:cs typeface="Times New Roman"/>
              </a:rPr>
              <a:t>first</a:t>
            </a:r>
            <a:endParaRPr sz="1100">
              <a:latin typeface="Times New Roman"/>
              <a:cs typeface="Times New Roman"/>
            </a:endParaRPr>
          </a:p>
          <a:p>
            <a:pPr marL="227329" indent="-227965">
              <a:lnSpc>
                <a:spcPct val="100000"/>
              </a:lnSpc>
              <a:buFont typeface="Times New Roman"/>
              <a:buAutoNum type="arabicPlain"/>
              <a:tabLst>
                <a:tab pos="227329" algn="l"/>
                <a:tab pos="227965" algn="l"/>
                <a:tab pos="1026160" algn="l"/>
              </a:tabLst>
            </a:pPr>
            <a:r>
              <a:rPr dirty="0" sz="1200" spc="-35">
                <a:latin typeface="Lucida Sans Unicode"/>
                <a:cs typeface="Lucida Sans Unicode"/>
              </a:rPr>
              <a:t>prev</a:t>
            </a:r>
            <a:r>
              <a:rPr dirty="0" sz="1200" spc="-3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30">
                <a:latin typeface="Lucida Sans Unicode"/>
                <a:cs typeface="Lucida Sans Unicode"/>
              </a:rPr>
              <a:t> </a:t>
            </a:r>
            <a:r>
              <a:rPr dirty="0" sz="1200" spc="-90">
                <a:latin typeface="Lucida Sans Unicode"/>
                <a:cs typeface="Lucida Sans Unicode"/>
              </a:rPr>
              <a:t>1</a:t>
            </a:r>
            <a:r>
              <a:rPr dirty="0" sz="1200" spc="-90">
                <a:latin typeface="Garamond"/>
                <a:cs typeface="Garamond"/>
              </a:rPr>
              <a:t>;	</a:t>
            </a:r>
            <a:r>
              <a:rPr dirty="0" sz="1100" spc="-5">
                <a:latin typeface="Times New Roman"/>
                <a:cs typeface="Times New Roman"/>
              </a:rPr>
              <a:t>//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 spc="-10" i="1">
                <a:latin typeface="Times New Roman"/>
                <a:cs typeface="Times New Roman"/>
              </a:rPr>
              <a:t>most</a:t>
            </a:r>
            <a:r>
              <a:rPr dirty="0" sz="1100" spc="-15" i="1">
                <a:latin typeface="Times New Roman"/>
                <a:cs typeface="Times New Roman"/>
              </a:rPr>
              <a:t> recently </a:t>
            </a:r>
            <a:r>
              <a:rPr dirty="0" sz="1100" spc="-10" i="1">
                <a:latin typeface="Times New Roman"/>
                <a:cs typeface="Times New Roman"/>
              </a:rPr>
              <a:t>scheduled</a:t>
            </a:r>
            <a:endParaRPr sz="1100">
              <a:latin typeface="Times New Roman"/>
              <a:cs typeface="Times New Roman"/>
            </a:endParaRPr>
          </a:p>
          <a:p>
            <a:pPr marL="227329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227329" algn="l"/>
                <a:tab pos="22796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2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endParaRPr sz="1200">
              <a:latin typeface="Lucida Sans Unicode"/>
              <a:cs typeface="Lucida Sans Unicode"/>
            </a:endParaRPr>
          </a:p>
          <a:p>
            <a:pPr marL="227329" indent="-22796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227329" algn="l"/>
                <a:tab pos="2279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a</a:t>
            </a:r>
            <a:r>
              <a:rPr dirty="0" sz="1200" spc="3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i</a:t>
            </a:r>
            <a:r>
              <a:rPr dirty="0" sz="1200" spc="30">
                <a:latin typeface="Garamond"/>
                <a:cs typeface="Garamond"/>
              </a:rPr>
              <a:t>]</a:t>
            </a:r>
            <a:r>
              <a:rPr dirty="0" sz="1200" spc="30">
                <a:latin typeface="Lucida Sans Unicode"/>
                <a:cs typeface="Lucida Sans Unicode"/>
              </a:rPr>
              <a:t>.start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a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prev</a:t>
            </a:r>
            <a:r>
              <a:rPr dirty="0" sz="1200" spc="10">
                <a:latin typeface="Garamond"/>
                <a:cs typeface="Garamond"/>
              </a:rPr>
              <a:t>]</a:t>
            </a:r>
            <a:r>
              <a:rPr dirty="0" sz="1200" spc="10">
                <a:latin typeface="Lucida Sans Unicode"/>
                <a:cs typeface="Lucida Sans Unicode"/>
              </a:rPr>
              <a:t>.finish</a:t>
            </a:r>
            <a:r>
              <a:rPr dirty="0" sz="1200" spc="1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552083" y="3631934"/>
            <a:ext cx="19475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Segoe UI Symbol"/>
                <a:cs typeface="Segoe UI Symbol"/>
              </a:rPr>
              <a:t>∪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;</a:t>
            </a:r>
            <a:r>
              <a:rPr dirty="0" sz="1200">
                <a:latin typeface="Garamond"/>
                <a:cs typeface="Garamond"/>
              </a:rPr>
              <a:t>  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25">
                <a:latin typeface="Lucida Sans Unicode"/>
                <a:cs typeface="Lucida Sans Unicode"/>
              </a:rPr>
              <a:t>re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914400" y="2544165"/>
            <a:ext cx="5487035" cy="1534160"/>
          </a:xfrm>
          <a:custGeom>
            <a:avLst/>
            <a:gdLst/>
            <a:ahLst/>
            <a:cxnLst/>
            <a:rect l="l" t="t" r="r" b="b"/>
            <a:pathLst>
              <a:path w="5487035" h="1534160">
                <a:moveTo>
                  <a:pt x="5486959" y="0"/>
                </a:moveTo>
                <a:lnTo>
                  <a:pt x="5481828" y="0"/>
                </a:lnTo>
                <a:lnTo>
                  <a:pt x="5481828" y="1528419"/>
                </a:lnTo>
                <a:lnTo>
                  <a:pt x="0" y="1528419"/>
                </a:lnTo>
                <a:lnTo>
                  <a:pt x="0" y="1533550"/>
                </a:lnTo>
                <a:lnTo>
                  <a:pt x="5486400" y="1533550"/>
                </a:lnTo>
                <a:lnTo>
                  <a:pt x="5486400" y="1528978"/>
                </a:lnTo>
                <a:lnTo>
                  <a:pt x="5486959" y="1528978"/>
                </a:lnTo>
                <a:lnTo>
                  <a:pt x="5486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876299" y="4158286"/>
            <a:ext cx="6477000" cy="15576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7.5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activity</a:t>
            </a:r>
            <a:r>
              <a:rPr dirty="0" sz="1200" spc="-5">
                <a:latin typeface="Times New Roman"/>
                <a:cs typeface="Times New Roman"/>
              </a:rPr>
              <a:t> scheduling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scheduled.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is represented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rectangle.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width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rectangle indicates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duration</a:t>
            </a:r>
            <a:r>
              <a:rPr dirty="0" sz="1200" spc="-5">
                <a:latin typeface="Times New Roman"/>
                <a:cs typeface="Times New Roman"/>
              </a:rPr>
              <a:t> of 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activity.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eight </a:t>
            </a:r>
            <a:r>
              <a:rPr dirty="0" sz="1200" spc="-10">
                <a:latin typeface="Times New Roman"/>
                <a:cs typeface="Times New Roman"/>
              </a:rPr>
              <a:t>activities </a:t>
            </a:r>
            <a:r>
              <a:rPr dirty="0" sz="1200" spc="-5">
                <a:latin typeface="Times New Roman"/>
                <a:cs typeface="Times New Roman"/>
              </a:rPr>
              <a:t>are sorted by their finish </a:t>
            </a:r>
            <a:r>
              <a:rPr dirty="0" sz="1200" spc="-15">
                <a:latin typeface="Times New Roman"/>
                <a:cs typeface="Times New Roman"/>
              </a:rPr>
              <a:t>times. </a:t>
            </a:r>
            <a:r>
              <a:rPr dirty="0" sz="1200" spc="-5">
                <a:latin typeface="Times New Roman"/>
                <a:cs typeface="Times New Roman"/>
              </a:rPr>
              <a:t>The eight rectangles are arranged to </a:t>
            </a:r>
            <a:r>
              <a:rPr dirty="0" sz="1200" spc="-15">
                <a:latin typeface="Times New Roman"/>
                <a:cs typeface="Times New Roman"/>
              </a:rPr>
              <a:t>show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sorted </a:t>
            </a:r>
            <a:r>
              <a:rPr dirty="0" sz="1200" spc="-20">
                <a:latin typeface="Times New Roman"/>
                <a:cs typeface="Times New Roman"/>
              </a:rPr>
              <a:t>order.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Activity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1 </a:t>
            </a:r>
            <a:r>
              <a:rPr dirty="0" sz="1200" spc="-5">
                <a:latin typeface="Times New Roman"/>
                <a:cs typeface="Times New Roman"/>
              </a:rPr>
              <a:t>is scheduled first. </a:t>
            </a:r>
            <a:r>
              <a:rPr dirty="0" sz="1200" spc="-10">
                <a:latin typeface="Times New Roman"/>
                <a:cs typeface="Times New Roman"/>
              </a:rPr>
              <a:t>Activities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2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3 </a:t>
            </a:r>
            <a:r>
              <a:rPr dirty="0" sz="1200" spc="-5">
                <a:latin typeface="Times New Roman"/>
                <a:cs typeface="Times New Roman"/>
              </a:rPr>
              <a:t>interfere </a:t>
            </a:r>
            <a:r>
              <a:rPr dirty="0" sz="1200" spc="-10">
                <a:latin typeface="Times New Roman"/>
                <a:cs typeface="Times New Roman"/>
              </a:rPr>
              <a:t>with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1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 spc="-1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ar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selected.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next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selected 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a</a:t>
            </a:r>
            <a:r>
              <a:rPr dirty="0" baseline="-13888" sz="1200" spc="15">
                <a:latin typeface="Verdana"/>
                <a:cs typeface="Verdana"/>
              </a:rPr>
              <a:t>4</a:t>
            </a:r>
            <a:r>
              <a:rPr dirty="0" sz="1200" spc="1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5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6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interfere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4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chosen.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last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be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chosen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10">
                <a:latin typeface="Lucida Sans Unicode"/>
                <a:cs typeface="Lucida Sans Unicode"/>
              </a:rPr>
              <a:t>a</a:t>
            </a:r>
            <a:r>
              <a:rPr dirty="0" baseline="-13888" sz="1200" spc="15">
                <a:latin typeface="Verdana"/>
                <a:cs typeface="Verdana"/>
              </a:rPr>
              <a:t>7</a:t>
            </a:r>
            <a:r>
              <a:rPr dirty="0" sz="1200" spc="1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Eventually,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three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eight are scheduled.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540"/>
              </a:spcBef>
            </a:pPr>
            <a:r>
              <a:rPr dirty="0" sz="1200" spc="-10" b="1">
                <a:latin typeface="Times New Roman"/>
                <a:cs typeface="Times New Roman"/>
              </a:rPr>
              <a:t>Timing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analysis: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activities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finish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times.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complexity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5"/>
              </a:spcBef>
            </a:pPr>
            <a:r>
              <a:rPr dirty="0" sz="1200" spc="25">
                <a:latin typeface="Lucida Sans Unicode"/>
                <a:cs typeface="Lucida Sans Unicode"/>
              </a:rPr>
              <a:t>O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05">
                <a:latin typeface="Lucida Sans Unicode"/>
                <a:cs typeface="Lucida Sans Unicode"/>
              </a:rPr>
              <a:t>N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N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913889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7.3.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ACTIVITY </a:t>
            </a:r>
            <a:r>
              <a:rPr dirty="0" sz="1200" spc="-5">
                <a:latin typeface="Times New Roman"/>
                <a:cs typeface="Times New Roman"/>
              </a:rPr>
              <a:t>SELECTION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10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74063" y="938474"/>
            <a:ext cx="5643245" cy="3733800"/>
          </a:xfrm>
          <a:custGeom>
            <a:avLst/>
            <a:gdLst/>
            <a:ahLst/>
            <a:cxnLst/>
            <a:rect l="l" t="t" r="r" b="b"/>
            <a:pathLst>
              <a:path w="5643245" h="3733800">
                <a:moveTo>
                  <a:pt x="5642762" y="0"/>
                </a:moveTo>
                <a:lnTo>
                  <a:pt x="0" y="0"/>
                </a:lnTo>
                <a:lnTo>
                  <a:pt x="0" y="3733601"/>
                </a:lnTo>
                <a:lnTo>
                  <a:pt x="5642762" y="3733601"/>
                </a:lnTo>
                <a:lnTo>
                  <a:pt x="5642762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413575" y="1228225"/>
            <a:ext cx="888365" cy="135255"/>
          </a:xfrm>
          <a:prstGeom prst="rect">
            <a:avLst/>
          </a:prstGeom>
          <a:solidFill>
            <a:srgbClr val="FFFFFF"/>
          </a:solidFill>
          <a:ln w="9993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50165">
              <a:lnSpc>
                <a:spcPts val="880"/>
              </a:lnSpc>
            </a:pPr>
            <a:r>
              <a:rPr dirty="0" sz="850" spc="-1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baseline="-23148" sz="900" spc="-22" i="1">
                <a:solidFill>
                  <a:srgbClr val="FF0000"/>
                </a:solidFill>
                <a:latin typeface="Arial"/>
                <a:cs typeface="Arial"/>
              </a:rPr>
              <a:t>1</a:t>
            </a:r>
            <a:endParaRPr baseline="-23148" sz="9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728368" y="1408103"/>
            <a:ext cx="753745" cy="135255"/>
          </a:xfrm>
          <a:prstGeom prst="rect">
            <a:avLst/>
          </a:prstGeom>
          <a:solidFill>
            <a:srgbClr val="FFFFFF"/>
          </a:solidFill>
          <a:ln w="9993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2794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 i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23635" y="1587980"/>
            <a:ext cx="1428115" cy="135255"/>
          </a:xfrm>
          <a:prstGeom prst="rect">
            <a:avLst/>
          </a:prstGeom>
          <a:solidFill>
            <a:srgbClr val="FFFFFF"/>
          </a:solidFill>
          <a:ln w="9993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2794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 i="1">
                <a:solidFill>
                  <a:srgbClr val="FF0000"/>
                </a:solidFill>
                <a:latin typeface="Arial"/>
                <a:cs typeface="Arial"/>
              </a:rPr>
              <a:t>3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91689" y="1767873"/>
            <a:ext cx="596265" cy="135255"/>
          </a:xfrm>
          <a:prstGeom prst="rect">
            <a:avLst/>
          </a:prstGeom>
          <a:solidFill>
            <a:srgbClr val="FFFFFF"/>
          </a:solidFill>
          <a:ln w="9993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651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 i="1">
                <a:solidFill>
                  <a:srgbClr val="FF0000"/>
                </a:solidFill>
                <a:latin typeface="Arial"/>
                <a:cs typeface="Arial"/>
              </a:rPr>
              <a:t>4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83395" y="1947751"/>
            <a:ext cx="1439545" cy="135255"/>
          </a:xfrm>
          <a:prstGeom prst="rect">
            <a:avLst/>
          </a:prstGeom>
          <a:solidFill>
            <a:srgbClr val="FFFFFF"/>
          </a:solidFill>
          <a:ln w="9993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651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 i="1">
                <a:solidFill>
                  <a:srgbClr val="FF0000"/>
                </a:solidFill>
                <a:latin typeface="Arial"/>
                <a:cs typeface="Arial"/>
              </a:rPr>
              <a:t>5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706471" y="2127629"/>
            <a:ext cx="596265" cy="135255"/>
          </a:xfrm>
          <a:prstGeom prst="rect">
            <a:avLst/>
          </a:prstGeom>
          <a:solidFill>
            <a:srgbClr val="FFFFFF"/>
          </a:solidFill>
          <a:ln w="9993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2794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 i="1">
                <a:solidFill>
                  <a:srgbClr val="FF0000"/>
                </a:solidFill>
                <a:latin typeface="Arial"/>
                <a:cs typeface="Arial"/>
              </a:rPr>
              <a:t>6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67420" y="2296274"/>
            <a:ext cx="596265" cy="135255"/>
          </a:xfrm>
          <a:prstGeom prst="rect">
            <a:avLst/>
          </a:prstGeom>
          <a:solidFill>
            <a:srgbClr val="FFFFFF"/>
          </a:solidFill>
          <a:ln w="9993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651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>
                <a:solidFill>
                  <a:srgbClr val="FF0000"/>
                </a:solidFill>
                <a:latin typeface="Arial"/>
                <a:cs typeface="Arial"/>
              </a:rPr>
              <a:t>7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593463" y="2487395"/>
            <a:ext cx="2327275" cy="123825"/>
          </a:xfrm>
          <a:prstGeom prst="rect">
            <a:avLst/>
          </a:prstGeom>
          <a:solidFill>
            <a:srgbClr val="FFFFFF"/>
          </a:solidFill>
          <a:ln w="9993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38735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3148" sz="900" spc="7">
                <a:solidFill>
                  <a:srgbClr val="FF0000"/>
                </a:solidFill>
                <a:latin typeface="Arial"/>
                <a:cs typeface="Arial"/>
              </a:rPr>
              <a:t>8</a:t>
            </a:r>
            <a:endParaRPr baseline="-23148" sz="9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526005" y="1000673"/>
            <a:ext cx="290830" cy="1758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950" spc="10">
                <a:solidFill>
                  <a:srgbClr val="C0C0C0"/>
                </a:solidFill>
                <a:latin typeface="Arial"/>
                <a:cs typeface="Arial"/>
              </a:rPr>
              <a:t>Input</a:t>
            </a:r>
            <a:endParaRPr sz="95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347895" y="1228225"/>
            <a:ext cx="888365" cy="135255"/>
          </a:xfrm>
          <a:prstGeom prst="rect">
            <a:avLst/>
          </a:prstGeom>
          <a:solidFill>
            <a:srgbClr val="FFFF00"/>
          </a:solidFill>
          <a:ln w="12491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50165">
              <a:lnSpc>
                <a:spcPts val="880"/>
              </a:lnSpc>
            </a:pPr>
            <a:r>
              <a:rPr dirty="0" sz="850" spc="-1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baseline="-23148" sz="900" spc="-22" i="1">
                <a:solidFill>
                  <a:srgbClr val="FF0000"/>
                </a:solidFill>
                <a:latin typeface="Arial"/>
                <a:cs typeface="Arial"/>
              </a:rPr>
              <a:t>1</a:t>
            </a:r>
            <a:endParaRPr baseline="-23148" sz="9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662693" y="1408103"/>
            <a:ext cx="753745" cy="13525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2794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 i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257964" y="1587980"/>
            <a:ext cx="1428115" cy="13525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2794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 i="1">
                <a:solidFill>
                  <a:srgbClr val="FF0000"/>
                </a:solidFill>
                <a:latin typeface="Arial"/>
                <a:cs typeface="Arial"/>
              </a:rPr>
              <a:t>3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326014" y="1767873"/>
            <a:ext cx="596265" cy="135255"/>
          </a:xfrm>
          <a:prstGeom prst="rect">
            <a:avLst/>
          </a:prstGeom>
          <a:solidFill>
            <a:srgbClr val="FFFFFF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651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 i="1">
                <a:solidFill>
                  <a:srgbClr val="FF0000"/>
                </a:solidFill>
                <a:latin typeface="Arial"/>
                <a:cs typeface="Arial"/>
              </a:rPr>
              <a:t>4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617720" y="1947751"/>
            <a:ext cx="1439545" cy="135255"/>
          </a:xfrm>
          <a:prstGeom prst="rect">
            <a:avLst/>
          </a:prstGeom>
          <a:solidFill>
            <a:srgbClr val="FFFFFF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651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 i="1">
                <a:solidFill>
                  <a:srgbClr val="FF0000"/>
                </a:solidFill>
                <a:latin typeface="Arial"/>
                <a:cs typeface="Arial"/>
              </a:rPr>
              <a:t>5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640796" y="2127629"/>
            <a:ext cx="596265" cy="135255"/>
          </a:xfrm>
          <a:prstGeom prst="rect">
            <a:avLst/>
          </a:prstGeom>
          <a:solidFill>
            <a:srgbClr val="FFFFFF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2794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 i="1">
                <a:solidFill>
                  <a:srgbClr val="FF0000"/>
                </a:solidFill>
                <a:latin typeface="Arial"/>
                <a:cs typeface="Arial"/>
              </a:rPr>
              <a:t>6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101745" y="2296274"/>
            <a:ext cx="596265" cy="135255"/>
          </a:xfrm>
          <a:prstGeom prst="rect">
            <a:avLst/>
          </a:prstGeom>
          <a:solidFill>
            <a:srgbClr val="FFFFFF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651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>
                <a:solidFill>
                  <a:srgbClr val="FF0000"/>
                </a:solidFill>
                <a:latin typeface="Arial"/>
                <a:cs typeface="Arial"/>
              </a:rPr>
              <a:t>7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527788" y="2487395"/>
            <a:ext cx="2327275" cy="123825"/>
          </a:xfrm>
          <a:prstGeom prst="rect">
            <a:avLst/>
          </a:prstGeom>
          <a:solidFill>
            <a:srgbClr val="FFFFFF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38735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3148" sz="900" spc="7">
                <a:solidFill>
                  <a:srgbClr val="FF0000"/>
                </a:solidFill>
                <a:latin typeface="Arial"/>
                <a:cs typeface="Arial"/>
              </a:rPr>
              <a:t>8</a:t>
            </a:r>
            <a:endParaRPr baseline="-23148" sz="9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311254" y="1000673"/>
            <a:ext cx="466725" cy="1758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30"/>
              </a:spcBef>
            </a:pPr>
            <a:r>
              <a:rPr dirty="0" sz="950" spc="15">
                <a:solidFill>
                  <a:srgbClr val="C0C0C0"/>
                </a:solidFill>
                <a:latin typeface="Arial"/>
                <a:cs typeface="Arial"/>
              </a:rPr>
              <a:t>Add</a:t>
            </a:r>
            <a:r>
              <a:rPr dirty="0" sz="950" spc="-25">
                <a:solidFill>
                  <a:srgbClr val="C0C0C0"/>
                </a:solidFill>
                <a:latin typeface="Arial"/>
                <a:cs typeface="Arial"/>
              </a:rPr>
              <a:t> </a:t>
            </a:r>
            <a:r>
              <a:rPr dirty="0" sz="950" spc="15">
                <a:solidFill>
                  <a:srgbClr val="C0C0C0"/>
                </a:solidFill>
                <a:latin typeface="Arial"/>
                <a:cs typeface="Arial"/>
              </a:rPr>
              <a:t>a</a:t>
            </a:r>
            <a:r>
              <a:rPr dirty="0" sz="950" spc="-30">
                <a:solidFill>
                  <a:srgbClr val="C0C0C0"/>
                </a:solidFill>
                <a:latin typeface="Arial"/>
                <a:cs typeface="Arial"/>
              </a:rPr>
              <a:t> </a:t>
            </a:r>
            <a:r>
              <a:rPr dirty="0" baseline="-32407" sz="900" spc="7">
                <a:solidFill>
                  <a:srgbClr val="C0C0C0"/>
                </a:solidFill>
                <a:latin typeface="Arial"/>
                <a:cs typeface="Arial"/>
              </a:rPr>
              <a:t>1</a:t>
            </a:r>
            <a:endParaRPr baseline="-32407" sz="900">
              <a:latin typeface="Arial"/>
              <a:cs typeface="Arial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4341545" y="3211822"/>
            <a:ext cx="901065" cy="147955"/>
            <a:chOff x="4341545" y="3211822"/>
            <a:chExt cx="901065" cy="147955"/>
          </a:xfrm>
        </p:grpSpPr>
        <p:sp>
          <p:nvSpPr>
            <p:cNvPr id="24" name="object 24"/>
            <p:cNvSpPr/>
            <p:nvPr/>
          </p:nvSpPr>
          <p:spPr>
            <a:xfrm>
              <a:off x="4347895" y="3218172"/>
              <a:ext cx="888365" cy="135255"/>
            </a:xfrm>
            <a:custGeom>
              <a:avLst/>
              <a:gdLst/>
              <a:ahLst/>
              <a:cxnLst/>
              <a:rect l="l" t="t" r="r" b="b"/>
              <a:pathLst>
                <a:path w="888364" h="135254">
                  <a:moveTo>
                    <a:pt x="888167" y="0"/>
                  </a:moveTo>
                  <a:lnTo>
                    <a:pt x="0" y="0"/>
                  </a:lnTo>
                  <a:lnTo>
                    <a:pt x="0" y="134911"/>
                  </a:lnTo>
                  <a:lnTo>
                    <a:pt x="888167" y="134911"/>
                  </a:lnTo>
                  <a:lnTo>
                    <a:pt x="88816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347895" y="3218172"/>
              <a:ext cx="888365" cy="135255"/>
            </a:xfrm>
            <a:custGeom>
              <a:avLst/>
              <a:gdLst/>
              <a:ahLst/>
              <a:cxnLst/>
              <a:rect l="l" t="t" r="r" b="b"/>
              <a:pathLst>
                <a:path w="888364" h="135254">
                  <a:moveTo>
                    <a:pt x="0" y="134911"/>
                  </a:moveTo>
                  <a:lnTo>
                    <a:pt x="888167" y="134911"/>
                  </a:lnTo>
                  <a:lnTo>
                    <a:pt x="888167" y="0"/>
                  </a:lnTo>
                  <a:lnTo>
                    <a:pt x="0" y="0"/>
                  </a:lnTo>
                  <a:lnTo>
                    <a:pt x="0" y="134911"/>
                  </a:lnTo>
                  <a:close/>
                </a:path>
              </a:pathLst>
            </a:custGeom>
            <a:ln w="1249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 txBox="1"/>
          <p:nvPr/>
        </p:nvSpPr>
        <p:spPr>
          <a:xfrm>
            <a:off x="5078664" y="3176742"/>
            <a:ext cx="7302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endParaRPr sz="85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134877" y="3251692"/>
            <a:ext cx="55880" cy="1187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600" spc="5" i="1">
                <a:solidFill>
                  <a:srgbClr val="FF0000"/>
                </a:solidFill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662693" y="3398050"/>
            <a:ext cx="753745" cy="13525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2794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 i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257964" y="3577928"/>
            <a:ext cx="1428115" cy="13525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2794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 i="1">
                <a:solidFill>
                  <a:srgbClr val="FF0000"/>
                </a:solidFill>
                <a:latin typeface="Arial"/>
                <a:cs typeface="Arial"/>
              </a:rPr>
              <a:t>3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326014" y="3757817"/>
            <a:ext cx="596265" cy="123825"/>
          </a:xfrm>
          <a:prstGeom prst="rect">
            <a:avLst/>
          </a:prstGeom>
          <a:solidFill>
            <a:srgbClr val="FFFF00"/>
          </a:solidFill>
          <a:ln w="12491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651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3148" sz="900" spc="7" i="1">
                <a:solidFill>
                  <a:srgbClr val="FF0000"/>
                </a:solidFill>
                <a:latin typeface="Arial"/>
                <a:cs typeface="Arial"/>
              </a:rPr>
              <a:t>4</a:t>
            </a:r>
            <a:endParaRPr baseline="-23148" sz="9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617720" y="3926452"/>
            <a:ext cx="1439545" cy="13525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6510">
              <a:lnSpc>
                <a:spcPts val="88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3148" sz="900" spc="7" i="1">
                <a:solidFill>
                  <a:srgbClr val="FF0000"/>
                </a:solidFill>
                <a:latin typeface="Arial"/>
                <a:cs typeface="Arial"/>
              </a:rPr>
              <a:t>5</a:t>
            </a:r>
            <a:endParaRPr baseline="-23148" sz="9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640796" y="4106329"/>
            <a:ext cx="596265" cy="13525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27940">
              <a:lnSpc>
                <a:spcPts val="88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3148" sz="900" spc="7" i="1">
                <a:solidFill>
                  <a:srgbClr val="FF0000"/>
                </a:solidFill>
                <a:latin typeface="Arial"/>
                <a:cs typeface="Arial"/>
              </a:rPr>
              <a:t>6</a:t>
            </a:r>
            <a:endParaRPr baseline="-23148" sz="9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101745" y="4286222"/>
            <a:ext cx="596265" cy="135255"/>
          </a:xfrm>
          <a:prstGeom prst="rect">
            <a:avLst/>
          </a:prstGeom>
          <a:solidFill>
            <a:srgbClr val="FFFFFF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651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3148" sz="900" spc="7">
                <a:solidFill>
                  <a:srgbClr val="FF0000"/>
                </a:solidFill>
                <a:latin typeface="Arial"/>
                <a:cs typeface="Arial"/>
              </a:rPr>
              <a:t>7</a:t>
            </a:r>
            <a:endParaRPr baseline="-23148" sz="9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527788" y="4477343"/>
            <a:ext cx="2327275" cy="123825"/>
          </a:xfrm>
          <a:prstGeom prst="rect">
            <a:avLst/>
          </a:prstGeom>
          <a:solidFill>
            <a:srgbClr val="FFFFFF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38735">
              <a:lnSpc>
                <a:spcPts val="70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>
                <a:solidFill>
                  <a:srgbClr val="FF0000"/>
                </a:solidFill>
                <a:latin typeface="Arial"/>
                <a:cs typeface="Arial"/>
              </a:rPr>
              <a:t>8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311254" y="2990611"/>
            <a:ext cx="466725" cy="1758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30"/>
              </a:spcBef>
            </a:pPr>
            <a:r>
              <a:rPr dirty="0" sz="950" spc="15">
                <a:solidFill>
                  <a:srgbClr val="C0C0C0"/>
                </a:solidFill>
                <a:latin typeface="Arial"/>
                <a:cs typeface="Arial"/>
              </a:rPr>
              <a:t>Add</a:t>
            </a:r>
            <a:r>
              <a:rPr dirty="0" sz="950" spc="-25">
                <a:solidFill>
                  <a:srgbClr val="C0C0C0"/>
                </a:solidFill>
                <a:latin typeface="Arial"/>
                <a:cs typeface="Arial"/>
              </a:rPr>
              <a:t> </a:t>
            </a:r>
            <a:r>
              <a:rPr dirty="0" sz="950" spc="15">
                <a:solidFill>
                  <a:srgbClr val="C0C0C0"/>
                </a:solidFill>
                <a:latin typeface="Arial"/>
                <a:cs typeface="Arial"/>
              </a:rPr>
              <a:t>a</a:t>
            </a:r>
            <a:r>
              <a:rPr dirty="0" sz="950" spc="-30">
                <a:solidFill>
                  <a:srgbClr val="C0C0C0"/>
                </a:solidFill>
                <a:latin typeface="Arial"/>
                <a:cs typeface="Arial"/>
              </a:rPr>
              <a:t> </a:t>
            </a:r>
            <a:r>
              <a:rPr dirty="0" baseline="-32407" sz="900" spc="7">
                <a:solidFill>
                  <a:srgbClr val="C0C0C0"/>
                </a:solidFill>
                <a:latin typeface="Arial"/>
                <a:cs typeface="Arial"/>
              </a:rPr>
              <a:t>4</a:t>
            </a:r>
            <a:endParaRPr baseline="-32407" sz="900">
              <a:latin typeface="Arial"/>
              <a:cs typeface="Arial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1407225" y="3211822"/>
            <a:ext cx="901065" cy="147955"/>
            <a:chOff x="1407225" y="3211822"/>
            <a:chExt cx="901065" cy="147955"/>
          </a:xfrm>
        </p:grpSpPr>
        <p:sp>
          <p:nvSpPr>
            <p:cNvPr id="37" name="object 37"/>
            <p:cNvSpPr/>
            <p:nvPr/>
          </p:nvSpPr>
          <p:spPr>
            <a:xfrm>
              <a:off x="1413575" y="3218172"/>
              <a:ext cx="888365" cy="135255"/>
            </a:xfrm>
            <a:custGeom>
              <a:avLst/>
              <a:gdLst/>
              <a:ahLst/>
              <a:cxnLst/>
              <a:rect l="l" t="t" r="r" b="b"/>
              <a:pathLst>
                <a:path w="888364" h="135254">
                  <a:moveTo>
                    <a:pt x="888167" y="0"/>
                  </a:moveTo>
                  <a:lnTo>
                    <a:pt x="0" y="0"/>
                  </a:lnTo>
                  <a:lnTo>
                    <a:pt x="0" y="134911"/>
                  </a:lnTo>
                  <a:lnTo>
                    <a:pt x="888167" y="134911"/>
                  </a:lnTo>
                  <a:lnTo>
                    <a:pt x="88816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1413575" y="3218172"/>
              <a:ext cx="888365" cy="135255"/>
            </a:xfrm>
            <a:custGeom>
              <a:avLst/>
              <a:gdLst/>
              <a:ahLst/>
              <a:cxnLst/>
              <a:rect l="l" t="t" r="r" b="b"/>
              <a:pathLst>
                <a:path w="888364" h="135254">
                  <a:moveTo>
                    <a:pt x="0" y="134911"/>
                  </a:moveTo>
                  <a:lnTo>
                    <a:pt x="888167" y="134911"/>
                  </a:lnTo>
                  <a:lnTo>
                    <a:pt x="888167" y="0"/>
                  </a:lnTo>
                  <a:lnTo>
                    <a:pt x="0" y="0"/>
                  </a:lnTo>
                  <a:lnTo>
                    <a:pt x="0" y="134911"/>
                  </a:lnTo>
                  <a:close/>
                </a:path>
              </a:pathLst>
            </a:custGeom>
            <a:ln w="1249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/>
          <p:cNvSpPr txBox="1"/>
          <p:nvPr/>
        </p:nvSpPr>
        <p:spPr>
          <a:xfrm>
            <a:off x="2144343" y="3176742"/>
            <a:ext cx="7302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endParaRPr sz="85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200556" y="3251692"/>
            <a:ext cx="55880" cy="1187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600" spc="5" i="1">
                <a:solidFill>
                  <a:srgbClr val="FF0000"/>
                </a:solidFill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728368" y="3398050"/>
            <a:ext cx="753745" cy="13525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2794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 i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323635" y="3577928"/>
            <a:ext cx="1428115" cy="13525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2794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 i="1">
                <a:solidFill>
                  <a:srgbClr val="FF0000"/>
                </a:solidFill>
                <a:latin typeface="Arial"/>
                <a:cs typeface="Arial"/>
              </a:rPr>
              <a:t>3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391689" y="3757817"/>
            <a:ext cx="596265" cy="123825"/>
          </a:xfrm>
          <a:prstGeom prst="rect">
            <a:avLst/>
          </a:prstGeom>
          <a:solidFill>
            <a:srgbClr val="FFFF00"/>
          </a:solidFill>
          <a:ln w="12491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651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3148" sz="900" spc="7" i="1">
                <a:solidFill>
                  <a:srgbClr val="FF0000"/>
                </a:solidFill>
                <a:latin typeface="Arial"/>
                <a:cs typeface="Arial"/>
              </a:rPr>
              <a:t>4</a:t>
            </a:r>
            <a:endParaRPr baseline="-23148" sz="9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683395" y="3926452"/>
            <a:ext cx="1439545" cy="13525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6510">
              <a:lnSpc>
                <a:spcPts val="88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3148" sz="900" spc="7" i="1">
                <a:solidFill>
                  <a:srgbClr val="FF0000"/>
                </a:solidFill>
                <a:latin typeface="Arial"/>
                <a:cs typeface="Arial"/>
              </a:rPr>
              <a:t>5</a:t>
            </a:r>
            <a:endParaRPr baseline="-23148" sz="9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706471" y="4106329"/>
            <a:ext cx="596265" cy="13525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27940">
              <a:lnSpc>
                <a:spcPts val="88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3148" sz="900" spc="7" i="1">
                <a:solidFill>
                  <a:srgbClr val="FF0000"/>
                </a:solidFill>
                <a:latin typeface="Arial"/>
                <a:cs typeface="Arial"/>
              </a:rPr>
              <a:t>6</a:t>
            </a:r>
            <a:endParaRPr baseline="-23148" sz="9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167420" y="4286222"/>
            <a:ext cx="596265" cy="135255"/>
          </a:xfrm>
          <a:prstGeom prst="rect">
            <a:avLst/>
          </a:prstGeom>
          <a:solidFill>
            <a:srgbClr val="FFFF00"/>
          </a:solidFill>
          <a:ln w="12491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6510">
              <a:lnSpc>
                <a:spcPts val="79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3148" sz="900" spc="7">
                <a:solidFill>
                  <a:srgbClr val="FF0000"/>
                </a:solidFill>
                <a:latin typeface="Arial"/>
                <a:cs typeface="Arial"/>
              </a:rPr>
              <a:t>7</a:t>
            </a:r>
            <a:endParaRPr baseline="-23148" sz="9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593463" y="4477343"/>
            <a:ext cx="2327275" cy="12382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38735">
              <a:lnSpc>
                <a:spcPts val="700"/>
              </a:lnSpc>
            </a:pPr>
            <a:r>
              <a:rPr dirty="0" sz="85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50" spc="-18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2407" sz="900" spc="7">
                <a:solidFill>
                  <a:srgbClr val="FF0000"/>
                </a:solidFill>
                <a:latin typeface="Arial"/>
                <a:cs typeface="Arial"/>
              </a:rPr>
              <a:t>8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376933" y="2990611"/>
            <a:ext cx="466725" cy="1758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30"/>
              </a:spcBef>
            </a:pPr>
            <a:r>
              <a:rPr dirty="0" sz="950" spc="15">
                <a:solidFill>
                  <a:srgbClr val="C0C0C0"/>
                </a:solidFill>
                <a:latin typeface="Arial"/>
                <a:cs typeface="Arial"/>
              </a:rPr>
              <a:t>Add</a:t>
            </a:r>
            <a:r>
              <a:rPr dirty="0" sz="950" spc="-25">
                <a:solidFill>
                  <a:srgbClr val="C0C0C0"/>
                </a:solidFill>
                <a:latin typeface="Arial"/>
                <a:cs typeface="Arial"/>
              </a:rPr>
              <a:t> </a:t>
            </a:r>
            <a:r>
              <a:rPr dirty="0" sz="950" spc="15">
                <a:solidFill>
                  <a:srgbClr val="C0C0C0"/>
                </a:solidFill>
                <a:latin typeface="Arial"/>
                <a:cs typeface="Arial"/>
              </a:rPr>
              <a:t>a</a:t>
            </a:r>
            <a:r>
              <a:rPr dirty="0" sz="950" spc="-30">
                <a:solidFill>
                  <a:srgbClr val="C0C0C0"/>
                </a:solidFill>
                <a:latin typeface="Arial"/>
                <a:cs typeface="Arial"/>
              </a:rPr>
              <a:t> </a:t>
            </a:r>
            <a:r>
              <a:rPr dirty="0" baseline="-32407" sz="900" spc="7">
                <a:solidFill>
                  <a:srgbClr val="C0C0C0"/>
                </a:solidFill>
                <a:latin typeface="Arial"/>
                <a:cs typeface="Arial"/>
              </a:rPr>
              <a:t>7</a:t>
            </a:r>
            <a:endParaRPr baseline="-32407" sz="900">
              <a:latin typeface="Arial"/>
              <a:cs typeface="Arial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3369792" y="1250711"/>
            <a:ext cx="3069590" cy="2080260"/>
            <a:chOff x="3369792" y="1250711"/>
            <a:chExt cx="3069590" cy="2080260"/>
          </a:xfrm>
        </p:grpSpPr>
        <p:sp>
          <p:nvSpPr>
            <p:cNvPr id="50" name="object 50"/>
            <p:cNvSpPr/>
            <p:nvPr/>
          </p:nvSpPr>
          <p:spPr>
            <a:xfrm>
              <a:off x="3369792" y="1250711"/>
              <a:ext cx="416559" cy="146685"/>
            </a:xfrm>
            <a:custGeom>
              <a:avLst/>
              <a:gdLst/>
              <a:ahLst/>
              <a:cxnLst/>
              <a:rect l="l" t="t" r="r" b="b"/>
              <a:pathLst>
                <a:path w="416560" h="146684">
                  <a:moveTo>
                    <a:pt x="337276" y="0"/>
                  </a:moveTo>
                  <a:lnTo>
                    <a:pt x="247329" y="0"/>
                  </a:lnTo>
                  <a:lnTo>
                    <a:pt x="303550" y="33726"/>
                  </a:lnTo>
                  <a:lnTo>
                    <a:pt x="0" y="33726"/>
                  </a:lnTo>
                  <a:lnTo>
                    <a:pt x="0" y="101178"/>
                  </a:lnTo>
                  <a:lnTo>
                    <a:pt x="303550" y="101178"/>
                  </a:lnTo>
                  <a:lnTo>
                    <a:pt x="247329" y="146151"/>
                  </a:lnTo>
                  <a:lnTo>
                    <a:pt x="337276" y="146151"/>
                  </a:lnTo>
                  <a:lnTo>
                    <a:pt x="415975" y="67452"/>
                  </a:lnTo>
                  <a:lnTo>
                    <a:pt x="337276" y="0"/>
                  </a:lnTo>
                  <a:close/>
                </a:path>
              </a:pathLst>
            </a:custGeom>
            <a:solidFill>
              <a:srgbClr val="FFFF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369792" y="1250711"/>
              <a:ext cx="416559" cy="146685"/>
            </a:xfrm>
            <a:custGeom>
              <a:avLst/>
              <a:gdLst/>
              <a:ahLst/>
              <a:cxnLst/>
              <a:rect l="l" t="t" r="r" b="b"/>
              <a:pathLst>
                <a:path w="416560" h="146684">
                  <a:moveTo>
                    <a:pt x="415975" y="67452"/>
                  </a:moveTo>
                  <a:lnTo>
                    <a:pt x="337276" y="0"/>
                  </a:lnTo>
                  <a:lnTo>
                    <a:pt x="247329" y="0"/>
                  </a:lnTo>
                  <a:lnTo>
                    <a:pt x="303550" y="33726"/>
                  </a:lnTo>
                  <a:lnTo>
                    <a:pt x="0" y="33726"/>
                  </a:lnTo>
                  <a:lnTo>
                    <a:pt x="0" y="101178"/>
                  </a:lnTo>
                  <a:lnTo>
                    <a:pt x="303550" y="101178"/>
                  </a:lnTo>
                  <a:lnTo>
                    <a:pt x="247329" y="146151"/>
                  </a:lnTo>
                  <a:lnTo>
                    <a:pt x="337276" y="146151"/>
                  </a:lnTo>
                  <a:lnTo>
                    <a:pt x="415975" y="67452"/>
                  </a:lnTo>
                  <a:close/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6292869" y="2745984"/>
              <a:ext cx="146685" cy="405130"/>
            </a:xfrm>
            <a:custGeom>
              <a:avLst/>
              <a:gdLst/>
              <a:ahLst/>
              <a:cxnLst/>
              <a:rect l="l" t="t" r="r" b="b"/>
              <a:pathLst>
                <a:path w="146685" h="405130">
                  <a:moveTo>
                    <a:pt x="112425" y="0"/>
                  </a:moveTo>
                  <a:lnTo>
                    <a:pt x="44973" y="0"/>
                  </a:lnTo>
                  <a:lnTo>
                    <a:pt x="44973" y="281056"/>
                  </a:lnTo>
                  <a:lnTo>
                    <a:pt x="0" y="224850"/>
                  </a:lnTo>
                  <a:lnTo>
                    <a:pt x="0" y="326029"/>
                  </a:lnTo>
                  <a:lnTo>
                    <a:pt x="78699" y="404728"/>
                  </a:lnTo>
                  <a:lnTo>
                    <a:pt x="146151" y="326029"/>
                  </a:lnTo>
                  <a:lnTo>
                    <a:pt x="146151" y="224850"/>
                  </a:lnTo>
                  <a:lnTo>
                    <a:pt x="112425" y="281056"/>
                  </a:lnTo>
                  <a:lnTo>
                    <a:pt x="112425" y="0"/>
                  </a:lnTo>
                  <a:close/>
                </a:path>
              </a:pathLst>
            </a:custGeom>
            <a:solidFill>
              <a:srgbClr val="FFFF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6292869" y="2745984"/>
              <a:ext cx="146685" cy="405130"/>
            </a:xfrm>
            <a:custGeom>
              <a:avLst/>
              <a:gdLst/>
              <a:ahLst/>
              <a:cxnLst/>
              <a:rect l="l" t="t" r="r" b="b"/>
              <a:pathLst>
                <a:path w="146685" h="405130">
                  <a:moveTo>
                    <a:pt x="78699" y="404728"/>
                  </a:moveTo>
                  <a:lnTo>
                    <a:pt x="146151" y="326029"/>
                  </a:lnTo>
                  <a:lnTo>
                    <a:pt x="146151" y="224850"/>
                  </a:lnTo>
                  <a:lnTo>
                    <a:pt x="112425" y="281056"/>
                  </a:lnTo>
                  <a:lnTo>
                    <a:pt x="112425" y="0"/>
                  </a:lnTo>
                  <a:lnTo>
                    <a:pt x="44973" y="0"/>
                  </a:lnTo>
                  <a:lnTo>
                    <a:pt x="44973" y="281056"/>
                  </a:lnTo>
                  <a:lnTo>
                    <a:pt x="0" y="224850"/>
                  </a:lnTo>
                  <a:lnTo>
                    <a:pt x="0" y="326029"/>
                  </a:lnTo>
                  <a:lnTo>
                    <a:pt x="78699" y="404728"/>
                  </a:lnTo>
                  <a:close/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403518" y="3184438"/>
              <a:ext cx="416559" cy="146685"/>
            </a:xfrm>
            <a:custGeom>
              <a:avLst/>
              <a:gdLst/>
              <a:ahLst/>
              <a:cxnLst/>
              <a:rect l="l" t="t" r="r" b="b"/>
              <a:pathLst>
                <a:path w="416560" h="146685">
                  <a:moveTo>
                    <a:pt x="179877" y="0"/>
                  </a:moveTo>
                  <a:lnTo>
                    <a:pt x="78699" y="0"/>
                  </a:lnTo>
                  <a:lnTo>
                    <a:pt x="0" y="67452"/>
                  </a:lnTo>
                  <a:lnTo>
                    <a:pt x="78699" y="146151"/>
                  </a:lnTo>
                  <a:lnTo>
                    <a:pt x="179877" y="146151"/>
                  </a:lnTo>
                  <a:lnTo>
                    <a:pt x="123672" y="101178"/>
                  </a:lnTo>
                  <a:lnTo>
                    <a:pt x="415975" y="101178"/>
                  </a:lnTo>
                  <a:lnTo>
                    <a:pt x="415975" y="33726"/>
                  </a:lnTo>
                  <a:lnTo>
                    <a:pt x="123672" y="33726"/>
                  </a:lnTo>
                  <a:lnTo>
                    <a:pt x="179877" y="0"/>
                  </a:lnTo>
                  <a:close/>
                </a:path>
              </a:pathLst>
            </a:custGeom>
            <a:solidFill>
              <a:srgbClr val="FFFF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403518" y="3184438"/>
              <a:ext cx="416559" cy="146685"/>
            </a:xfrm>
            <a:custGeom>
              <a:avLst/>
              <a:gdLst/>
              <a:ahLst/>
              <a:cxnLst/>
              <a:rect l="l" t="t" r="r" b="b"/>
              <a:pathLst>
                <a:path w="416560" h="146685">
                  <a:moveTo>
                    <a:pt x="0" y="67452"/>
                  </a:moveTo>
                  <a:lnTo>
                    <a:pt x="78699" y="0"/>
                  </a:lnTo>
                  <a:lnTo>
                    <a:pt x="179877" y="0"/>
                  </a:lnTo>
                  <a:lnTo>
                    <a:pt x="123672" y="33726"/>
                  </a:lnTo>
                  <a:lnTo>
                    <a:pt x="415975" y="33726"/>
                  </a:lnTo>
                  <a:lnTo>
                    <a:pt x="415975" y="101178"/>
                  </a:lnTo>
                  <a:lnTo>
                    <a:pt x="123672" y="101178"/>
                  </a:lnTo>
                  <a:lnTo>
                    <a:pt x="179877" y="146151"/>
                  </a:lnTo>
                  <a:lnTo>
                    <a:pt x="78699" y="146151"/>
                  </a:lnTo>
                  <a:lnTo>
                    <a:pt x="0" y="67452"/>
                  </a:lnTo>
                  <a:close/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6" name="object 56"/>
          <p:cNvSpPr txBox="1"/>
          <p:nvPr/>
        </p:nvSpPr>
        <p:spPr>
          <a:xfrm>
            <a:off x="2260840" y="4738129"/>
            <a:ext cx="3708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7.5: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scheduling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63599" y="6276987"/>
            <a:ext cx="6438900" cy="27063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5969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7.3.1	Correctness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of</a:t>
            </a:r>
            <a:r>
              <a:rPr dirty="0" sz="1400" spc="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Greedy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Activity</a:t>
            </a:r>
            <a:r>
              <a:rPr dirty="0" sz="1400" spc="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Selection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600">
              <a:latin typeface="Times New Roman"/>
              <a:cs typeface="Times New Roman"/>
            </a:endParaRPr>
          </a:p>
          <a:p>
            <a:pPr marL="50800" marR="56515">
              <a:lnSpc>
                <a:spcPct val="100000"/>
              </a:lnSpc>
              <a:spcBef>
                <a:spcPts val="1055"/>
              </a:spcBef>
            </a:pP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correctness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based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>
                <a:latin typeface="Times New Roman"/>
                <a:cs typeface="Times New Roman"/>
              </a:rPr>
              <a:t>showing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 spc="-15">
                <a:latin typeface="Times New Roman"/>
                <a:cs typeface="Times New Roman"/>
              </a:rPr>
              <a:t>choice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made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globally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structure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noteworthy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 spc="-5">
                <a:latin typeface="Times New Roman"/>
                <a:cs typeface="Times New Roman"/>
              </a:rPr>
              <a:t> greedy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correctness </a:t>
            </a:r>
            <a:r>
              <a:rPr dirty="0" sz="1200" spc="-10">
                <a:latin typeface="Times New Roman"/>
                <a:cs typeface="Times New Roman"/>
              </a:rPr>
              <a:t>proofs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based 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other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-5">
                <a:latin typeface="Times New Roman"/>
                <a:cs typeface="Times New Roman"/>
              </a:rPr>
              <a:t> can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converted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without</a:t>
            </a:r>
            <a:r>
              <a:rPr dirty="0" sz="1200" spc="-5">
                <a:latin typeface="Times New Roman"/>
                <a:cs typeface="Times New Roman"/>
              </a:rPr>
              <a:t> increasing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cost.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30"/>
              </a:spcBef>
            </a:pPr>
            <a:r>
              <a:rPr dirty="0" sz="1200" spc="-10" b="1">
                <a:latin typeface="Times New Roman"/>
                <a:cs typeface="Times New Roman"/>
              </a:rPr>
              <a:t>Claim:</a:t>
            </a:r>
            <a:endParaRPr sz="1200">
              <a:latin typeface="Times New Roman"/>
              <a:cs typeface="Times New Roman"/>
            </a:endParaRPr>
          </a:p>
          <a:p>
            <a:pPr marL="50800" marR="4318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Let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{a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sz="1200" spc="-1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sz="1200" spc="-1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a</a:t>
            </a:r>
            <a:r>
              <a:rPr dirty="0" baseline="-13888" sz="1200" spc="82">
                <a:latin typeface="Verdana"/>
                <a:cs typeface="Verdana"/>
              </a:rPr>
              <a:t>n</a:t>
            </a:r>
            <a:r>
              <a:rPr dirty="0" sz="1200" spc="55">
                <a:latin typeface="Lucida Sans Unicode"/>
                <a:cs typeface="Lucida Sans Unicode"/>
              </a:rPr>
              <a:t>}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activities,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sorted by increasing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finish times,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be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scheduled to use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resource.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there is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 spc="-5">
                <a:latin typeface="Times New Roman"/>
                <a:cs typeface="Times New Roman"/>
              </a:rPr>
              <a:t> schedule in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1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scheduled first.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25"/>
              </a:spcBef>
            </a:pPr>
            <a:r>
              <a:rPr dirty="0" sz="1200" spc="-10" b="1">
                <a:latin typeface="Times New Roman"/>
                <a:cs typeface="Times New Roman"/>
              </a:rPr>
              <a:t>Proof:</a:t>
            </a:r>
            <a:endParaRPr sz="1200">
              <a:latin typeface="Times New Roman"/>
              <a:cs typeface="Times New Roman"/>
            </a:endParaRPr>
          </a:p>
          <a:p>
            <a:pPr marL="50800" marR="5715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dul</a:t>
            </a:r>
            <a:r>
              <a:rPr dirty="0" sz="1200" spc="-5">
                <a:latin typeface="Times New Roman"/>
                <a:cs typeface="Times New Roman"/>
              </a:rPr>
              <a:t>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5">
                <a:latin typeface="Times New Roman"/>
                <a:cs typeface="Times New Roman"/>
              </a:rPr>
              <a:t>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</a:t>
            </a:r>
            <a:r>
              <a:rPr dirty="0" sz="1200" spc="-10">
                <a:latin typeface="Times New Roman"/>
                <a:cs typeface="Times New Roman"/>
              </a:rPr>
              <a:t>ni</a:t>
            </a:r>
            <a:r>
              <a:rPr dirty="0" sz="1200" spc="-5">
                <a:latin typeface="Times New Roman"/>
                <a:cs typeface="Times New Roman"/>
              </a:rPr>
              <a:t>sh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</a:t>
            </a:r>
            <a:r>
              <a:rPr dirty="0" sz="1200" spc="-5">
                <a:latin typeface="Times New Roman"/>
                <a:cs typeface="Times New Roman"/>
              </a:rPr>
              <a:t>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 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don</a:t>
            </a:r>
            <a:r>
              <a:rPr dirty="0" sz="1200" spc="-5">
                <a:latin typeface="Times New Roman"/>
                <a:cs typeface="Times New Roman"/>
              </a:rPr>
              <a:t>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rwi</a:t>
            </a:r>
            <a:r>
              <a:rPr dirty="0" sz="1200" spc="-5">
                <a:latin typeface="Times New Roman"/>
                <a:cs typeface="Times New Roman"/>
              </a:rPr>
              <a:t>se,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3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dul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80">
                <a:latin typeface="Lucida Sans Unicode"/>
                <a:cs typeface="Lucida Sans Unicode"/>
              </a:rPr>
              <a:t>A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pl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10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33376" y="520987"/>
            <a:ext cx="259524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GREEDY</a:t>
            </a:r>
            <a:r>
              <a:rPr dirty="0" sz="1200" spc="-10">
                <a:latin typeface="Times New Roman"/>
                <a:cs typeface="Times New Roman"/>
              </a:rPr>
              <a:t> ALGORITHMS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406651" y="938474"/>
            <a:ext cx="5415280" cy="2590800"/>
            <a:chOff x="1406651" y="938474"/>
            <a:chExt cx="5415280" cy="2590800"/>
          </a:xfrm>
        </p:grpSpPr>
        <p:sp>
          <p:nvSpPr>
            <p:cNvPr id="5" name="object 5"/>
            <p:cNvSpPr/>
            <p:nvPr/>
          </p:nvSpPr>
          <p:spPr>
            <a:xfrm>
              <a:off x="1406651" y="938474"/>
              <a:ext cx="5415280" cy="2590800"/>
            </a:xfrm>
            <a:custGeom>
              <a:avLst/>
              <a:gdLst/>
              <a:ahLst/>
              <a:cxnLst/>
              <a:rect l="l" t="t" r="r" b="b"/>
              <a:pathLst>
                <a:path w="5415280" h="2590800">
                  <a:moveTo>
                    <a:pt x="5414848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5414848" y="2590601"/>
                  </a:lnTo>
                  <a:lnTo>
                    <a:pt x="5414848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466433" y="1517816"/>
              <a:ext cx="834390" cy="190500"/>
            </a:xfrm>
            <a:custGeom>
              <a:avLst/>
              <a:gdLst/>
              <a:ahLst/>
              <a:cxnLst/>
              <a:rect l="l" t="t" r="r" b="b"/>
              <a:pathLst>
                <a:path w="834389" h="190500">
                  <a:moveTo>
                    <a:pt x="833899" y="0"/>
                  </a:moveTo>
                  <a:lnTo>
                    <a:pt x="0" y="0"/>
                  </a:lnTo>
                  <a:lnTo>
                    <a:pt x="0" y="190003"/>
                  </a:lnTo>
                  <a:lnTo>
                    <a:pt x="833899" y="190003"/>
                  </a:lnTo>
                  <a:lnTo>
                    <a:pt x="83389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466433" y="1517816"/>
              <a:ext cx="834390" cy="190500"/>
            </a:xfrm>
            <a:custGeom>
              <a:avLst/>
              <a:gdLst/>
              <a:ahLst/>
              <a:cxnLst/>
              <a:rect l="l" t="t" r="r" b="b"/>
              <a:pathLst>
                <a:path w="834389" h="190500">
                  <a:moveTo>
                    <a:pt x="0" y="190003"/>
                  </a:moveTo>
                  <a:lnTo>
                    <a:pt x="833899" y="190003"/>
                  </a:lnTo>
                  <a:lnTo>
                    <a:pt x="833899" y="0"/>
                  </a:lnTo>
                  <a:lnTo>
                    <a:pt x="0" y="0"/>
                  </a:lnTo>
                  <a:lnTo>
                    <a:pt x="0" y="190003"/>
                  </a:lnTo>
                  <a:close/>
                </a:path>
              </a:pathLst>
            </a:custGeom>
            <a:ln w="1172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825325" y="1771168"/>
              <a:ext cx="707390" cy="190500"/>
            </a:xfrm>
            <a:custGeom>
              <a:avLst/>
              <a:gdLst/>
              <a:ahLst/>
              <a:cxnLst/>
              <a:rect l="l" t="t" r="r" b="b"/>
              <a:pathLst>
                <a:path w="707389" h="190500">
                  <a:moveTo>
                    <a:pt x="707231" y="0"/>
                  </a:moveTo>
                  <a:lnTo>
                    <a:pt x="0" y="0"/>
                  </a:lnTo>
                  <a:lnTo>
                    <a:pt x="0" y="190001"/>
                  </a:lnTo>
                  <a:lnTo>
                    <a:pt x="707231" y="190001"/>
                  </a:lnTo>
                  <a:lnTo>
                    <a:pt x="707231" y="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825325" y="1771168"/>
              <a:ext cx="707390" cy="190500"/>
            </a:xfrm>
            <a:custGeom>
              <a:avLst/>
              <a:gdLst/>
              <a:ahLst/>
              <a:cxnLst/>
              <a:rect l="l" t="t" r="r" b="b"/>
              <a:pathLst>
                <a:path w="707389" h="190500">
                  <a:moveTo>
                    <a:pt x="0" y="190001"/>
                  </a:moveTo>
                  <a:lnTo>
                    <a:pt x="707231" y="190001"/>
                  </a:lnTo>
                  <a:lnTo>
                    <a:pt x="707231" y="0"/>
                  </a:lnTo>
                  <a:lnTo>
                    <a:pt x="0" y="0"/>
                  </a:lnTo>
                  <a:lnTo>
                    <a:pt x="0" y="190001"/>
                  </a:lnTo>
                  <a:close/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635328" y="2024501"/>
              <a:ext cx="1341120" cy="190500"/>
            </a:xfrm>
            <a:custGeom>
              <a:avLst/>
              <a:gdLst/>
              <a:ahLst/>
              <a:cxnLst/>
              <a:rect l="l" t="t" r="r" b="b"/>
              <a:pathLst>
                <a:path w="1341120" h="190500">
                  <a:moveTo>
                    <a:pt x="1340572" y="0"/>
                  </a:moveTo>
                  <a:lnTo>
                    <a:pt x="0" y="0"/>
                  </a:lnTo>
                  <a:lnTo>
                    <a:pt x="0" y="190003"/>
                  </a:lnTo>
                  <a:lnTo>
                    <a:pt x="1340572" y="190003"/>
                  </a:lnTo>
                  <a:lnTo>
                    <a:pt x="1340572" y="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635328" y="2024501"/>
              <a:ext cx="1341120" cy="190500"/>
            </a:xfrm>
            <a:custGeom>
              <a:avLst/>
              <a:gdLst/>
              <a:ahLst/>
              <a:cxnLst/>
              <a:rect l="l" t="t" r="r" b="b"/>
              <a:pathLst>
                <a:path w="1341120" h="190500">
                  <a:moveTo>
                    <a:pt x="0" y="190003"/>
                  </a:moveTo>
                  <a:lnTo>
                    <a:pt x="1340572" y="190003"/>
                  </a:lnTo>
                  <a:lnTo>
                    <a:pt x="1340572" y="0"/>
                  </a:lnTo>
                  <a:lnTo>
                    <a:pt x="0" y="0"/>
                  </a:lnTo>
                  <a:lnTo>
                    <a:pt x="0" y="190003"/>
                  </a:lnTo>
                  <a:close/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638120" y="2267274"/>
              <a:ext cx="549275" cy="190500"/>
            </a:xfrm>
            <a:custGeom>
              <a:avLst/>
              <a:gdLst/>
              <a:ahLst/>
              <a:cxnLst/>
              <a:rect l="l" t="t" r="r" b="b"/>
              <a:pathLst>
                <a:path w="549275" h="190500">
                  <a:moveTo>
                    <a:pt x="548896" y="0"/>
                  </a:moveTo>
                  <a:lnTo>
                    <a:pt x="0" y="0"/>
                  </a:lnTo>
                  <a:lnTo>
                    <a:pt x="0" y="190003"/>
                  </a:lnTo>
                  <a:lnTo>
                    <a:pt x="548896" y="190003"/>
                  </a:lnTo>
                  <a:lnTo>
                    <a:pt x="54889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638120" y="2267274"/>
              <a:ext cx="549275" cy="190500"/>
            </a:xfrm>
            <a:custGeom>
              <a:avLst/>
              <a:gdLst/>
              <a:ahLst/>
              <a:cxnLst/>
              <a:rect l="l" t="t" r="r" b="b"/>
              <a:pathLst>
                <a:path w="549275" h="190500">
                  <a:moveTo>
                    <a:pt x="0" y="190003"/>
                  </a:moveTo>
                  <a:lnTo>
                    <a:pt x="548896" y="190003"/>
                  </a:lnTo>
                  <a:lnTo>
                    <a:pt x="548896" y="0"/>
                  </a:lnTo>
                  <a:lnTo>
                    <a:pt x="0" y="0"/>
                  </a:lnTo>
                  <a:lnTo>
                    <a:pt x="0" y="190003"/>
                  </a:lnTo>
                  <a:close/>
                </a:path>
              </a:pathLst>
            </a:custGeom>
            <a:ln w="1172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973107" y="2520608"/>
              <a:ext cx="1341120" cy="190500"/>
            </a:xfrm>
            <a:custGeom>
              <a:avLst/>
              <a:gdLst/>
              <a:ahLst/>
              <a:cxnLst/>
              <a:rect l="l" t="t" r="r" b="b"/>
              <a:pathLst>
                <a:path w="1341120" h="190500">
                  <a:moveTo>
                    <a:pt x="1340572" y="0"/>
                  </a:moveTo>
                  <a:lnTo>
                    <a:pt x="0" y="0"/>
                  </a:lnTo>
                  <a:lnTo>
                    <a:pt x="0" y="190003"/>
                  </a:lnTo>
                  <a:lnTo>
                    <a:pt x="1340572" y="190003"/>
                  </a:lnTo>
                  <a:lnTo>
                    <a:pt x="1340572" y="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973107" y="2520608"/>
              <a:ext cx="1341120" cy="190500"/>
            </a:xfrm>
            <a:custGeom>
              <a:avLst/>
              <a:gdLst/>
              <a:ahLst/>
              <a:cxnLst/>
              <a:rect l="l" t="t" r="r" b="b"/>
              <a:pathLst>
                <a:path w="1341120" h="190500">
                  <a:moveTo>
                    <a:pt x="0" y="190003"/>
                  </a:moveTo>
                  <a:lnTo>
                    <a:pt x="1340572" y="190003"/>
                  </a:lnTo>
                  <a:lnTo>
                    <a:pt x="1340572" y="0"/>
                  </a:lnTo>
                  <a:lnTo>
                    <a:pt x="0" y="0"/>
                  </a:lnTo>
                  <a:lnTo>
                    <a:pt x="0" y="190003"/>
                  </a:lnTo>
                  <a:close/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933669" y="2773953"/>
              <a:ext cx="549275" cy="179705"/>
            </a:xfrm>
            <a:custGeom>
              <a:avLst/>
              <a:gdLst/>
              <a:ahLst/>
              <a:cxnLst/>
              <a:rect l="l" t="t" r="r" b="b"/>
              <a:pathLst>
                <a:path w="549275" h="179705">
                  <a:moveTo>
                    <a:pt x="548896" y="0"/>
                  </a:moveTo>
                  <a:lnTo>
                    <a:pt x="0" y="0"/>
                  </a:lnTo>
                  <a:lnTo>
                    <a:pt x="0" y="179446"/>
                  </a:lnTo>
                  <a:lnTo>
                    <a:pt x="548896" y="179446"/>
                  </a:lnTo>
                  <a:lnTo>
                    <a:pt x="548896" y="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933669" y="2773953"/>
              <a:ext cx="549275" cy="179705"/>
            </a:xfrm>
            <a:custGeom>
              <a:avLst/>
              <a:gdLst/>
              <a:ahLst/>
              <a:cxnLst/>
              <a:rect l="l" t="t" r="r" b="b"/>
              <a:pathLst>
                <a:path w="549275" h="179705">
                  <a:moveTo>
                    <a:pt x="0" y="179446"/>
                  </a:moveTo>
                  <a:lnTo>
                    <a:pt x="548896" y="179446"/>
                  </a:lnTo>
                  <a:lnTo>
                    <a:pt x="548896" y="0"/>
                  </a:lnTo>
                  <a:lnTo>
                    <a:pt x="0" y="0"/>
                  </a:lnTo>
                  <a:lnTo>
                    <a:pt x="0" y="179446"/>
                  </a:lnTo>
                  <a:close/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366454" y="3016731"/>
              <a:ext cx="549275" cy="190500"/>
            </a:xfrm>
            <a:custGeom>
              <a:avLst/>
              <a:gdLst/>
              <a:ahLst/>
              <a:cxnLst/>
              <a:rect l="l" t="t" r="r" b="b"/>
              <a:pathLst>
                <a:path w="549275" h="190500">
                  <a:moveTo>
                    <a:pt x="548896" y="0"/>
                  </a:moveTo>
                  <a:lnTo>
                    <a:pt x="0" y="0"/>
                  </a:lnTo>
                  <a:lnTo>
                    <a:pt x="0" y="190003"/>
                  </a:lnTo>
                  <a:lnTo>
                    <a:pt x="548896" y="190003"/>
                  </a:lnTo>
                  <a:lnTo>
                    <a:pt x="54889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366454" y="3016731"/>
              <a:ext cx="549275" cy="190500"/>
            </a:xfrm>
            <a:custGeom>
              <a:avLst/>
              <a:gdLst/>
              <a:ahLst/>
              <a:cxnLst/>
              <a:rect l="l" t="t" r="r" b="b"/>
              <a:pathLst>
                <a:path w="549275" h="190500">
                  <a:moveTo>
                    <a:pt x="0" y="190003"/>
                  </a:moveTo>
                  <a:lnTo>
                    <a:pt x="548896" y="190003"/>
                  </a:lnTo>
                  <a:lnTo>
                    <a:pt x="548896" y="0"/>
                  </a:lnTo>
                  <a:lnTo>
                    <a:pt x="0" y="0"/>
                  </a:lnTo>
                  <a:lnTo>
                    <a:pt x="0" y="190003"/>
                  </a:lnTo>
                  <a:close/>
                </a:path>
              </a:pathLst>
            </a:custGeom>
            <a:ln w="1172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888662" y="3280623"/>
              <a:ext cx="2185035" cy="179705"/>
            </a:xfrm>
            <a:custGeom>
              <a:avLst/>
              <a:gdLst/>
              <a:ahLst/>
              <a:cxnLst/>
              <a:rect l="l" t="t" r="r" b="b"/>
              <a:pathLst>
                <a:path w="2185035" h="179704">
                  <a:moveTo>
                    <a:pt x="2185034" y="0"/>
                  </a:moveTo>
                  <a:lnTo>
                    <a:pt x="0" y="0"/>
                  </a:lnTo>
                  <a:lnTo>
                    <a:pt x="0" y="179446"/>
                  </a:lnTo>
                  <a:lnTo>
                    <a:pt x="2185034" y="179446"/>
                  </a:lnTo>
                  <a:lnTo>
                    <a:pt x="2185034" y="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1888662" y="3280623"/>
              <a:ext cx="2185035" cy="179705"/>
            </a:xfrm>
            <a:custGeom>
              <a:avLst/>
              <a:gdLst/>
              <a:ahLst/>
              <a:cxnLst/>
              <a:rect l="l" t="t" r="r" b="b"/>
              <a:pathLst>
                <a:path w="2185035" h="179704">
                  <a:moveTo>
                    <a:pt x="0" y="179446"/>
                  </a:moveTo>
                  <a:lnTo>
                    <a:pt x="2185034" y="179446"/>
                  </a:lnTo>
                  <a:lnTo>
                    <a:pt x="2185034" y="0"/>
                  </a:lnTo>
                  <a:lnTo>
                    <a:pt x="0" y="0"/>
                  </a:lnTo>
                  <a:lnTo>
                    <a:pt x="0" y="179446"/>
                  </a:lnTo>
                  <a:close/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2171521" y="1541489"/>
            <a:ext cx="9271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X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357234" y="1763158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5252" sz="825" spc="15" i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endParaRPr baseline="-25252" sz="825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800572" y="2016495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5252" sz="825" spc="15" i="1">
                <a:solidFill>
                  <a:srgbClr val="FF0000"/>
                </a:solidFill>
                <a:latin typeface="Arial"/>
                <a:cs typeface="Arial"/>
              </a:rPr>
              <a:t>3</a:t>
            </a:r>
            <a:endParaRPr baseline="-25252" sz="825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032797" y="2259275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5252" sz="825" spc="15" i="1">
                <a:solidFill>
                  <a:srgbClr val="FF0000"/>
                </a:solidFill>
                <a:latin typeface="Arial"/>
                <a:cs typeface="Arial"/>
              </a:rPr>
              <a:t>4</a:t>
            </a:r>
            <a:endParaRPr baseline="-25252" sz="825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159466" y="2502057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 i="1">
                <a:solidFill>
                  <a:srgbClr val="FF0000"/>
                </a:solidFill>
                <a:latin typeface="Arial"/>
                <a:cs typeface="Arial"/>
              </a:rPr>
              <a:t>5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317801" y="2755394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 i="1">
                <a:solidFill>
                  <a:srgbClr val="FF0000"/>
                </a:solidFill>
                <a:latin typeface="Arial"/>
                <a:cs typeface="Arial"/>
              </a:rPr>
              <a:t>6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761140" y="2998174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>
                <a:solidFill>
                  <a:srgbClr val="FF0000"/>
                </a:solidFill>
                <a:latin typeface="Arial"/>
                <a:cs typeface="Arial"/>
              </a:rPr>
              <a:t>7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887808" y="3262067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>
                <a:solidFill>
                  <a:srgbClr val="FF0000"/>
                </a:solidFill>
                <a:latin typeface="Arial"/>
                <a:cs typeface="Arial"/>
              </a:rPr>
              <a:t>8</a:t>
            </a:r>
            <a:endParaRPr baseline="-35353" sz="825">
              <a:latin typeface="Arial"/>
              <a:cs typeface="Arial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4141716" y="1522513"/>
            <a:ext cx="2613660" cy="1948180"/>
            <a:chOff x="4141716" y="1522513"/>
            <a:chExt cx="2613660" cy="1948180"/>
          </a:xfrm>
        </p:grpSpPr>
        <p:sp>
          <p:nvSpPr>
            <p:cNvPr id="31" name="object 31"/>
            <p:cNvSpPr/>
            <p:nvPr/>
          </p:nvSpPr>
          <p:spPr>
            <a:xfrm>
              <a:off x="4147581" y="1528378"/>
              <a:ext cx="844550" cy="190500"/>
            </a:xfrm>
            <a:custGeom>
              <a:avLst/>
              <a:gdLst/>
              <a:ahLst/>
              <a:cxnLst/>
              <a:rect l="l" t="t" r="r" b="b"/>
              <a:pathLst>
                <a:path w="844550" h="190500">
                  <a:moveTo>
                    <a:pt x="844454" y="0"/>
                  </a:moveTo>
                  <a:lnTo>
                    <a:pt x="0" y="0"/>
                  </a:lnTo>
                  <a:lnTo>
                    <a:pt x="0" y="190003"/>
                  </a:lnTo>
                  <a:lnTo>
                    <a:pt x="844454" y="190003"/>
                  </a:lnTo>
                  <a:lnTo>
                    <a:pt x="84445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147581" y="1528378"/>
              <a:ext cx="844550" cy="190500"/>
            </a:xfrm>
            <a:custGeom>
              <a:avLst/>
              <a:gdLst/>
              <a:ahLst/>
              <a:cxnLst/>
              <a:rect l="l" t="t" r="r" b="b"/>
              <a:pathLst>
                <a:path w="844550" h="190500">
                  <a:moveTo>
                    <a:pt x="0" y="190003"/>
                  </a:moveTo>
                  <a:lnTo>
                    <a:pt x="844454" y="190003"/>
                  </a:lnTo>
                  <a:lnTo>
                    <a:pt x="844454" y="0"/>
                  </a:lnTo>
                  <a:lnTo>
                    <a:pt x="0" y="0"/>
                  </a:lnTo>
                  <a:lnTo>
                    <a:pt x="0" y="190003"/>
                  </a:lnTo>
                  <a:close/>
                </a:path>
              </a:pathLst>
            </a:custGeom>
            <a:ln w="1172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506467" y="1781714"/>
              <a:ext cx="707390" cy="190500"/>
            </a:xfrm>
            <a:custGeom>
              <a:avLst/>
              <a:gdLst/>
              <a:ahLst/>
              <a:cxnLst/>
              <a:rect l="l" t="t" r="r" b="b"/>
              <a:pathLst>
                <a:path w="707389" h="190500">
                  <a:moveTo>
                    <a:pt x="707231" y="0"/>
                  </a:moveTo>
                  <a:lnTo>
                    <a:pt x="0" y="0"/>
                  </a:lnTo>
                  <a:lnTo>
                    <a:pt x="0" y="190001"/>
                  </a:lnTo>
                  <a:lnTo>
                    <a:pt x="707231" y="190001"/>
                  </a:lnTo>
                  <a:lnTo>
                    <a:pt x="707231" y="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506467" y="1781714"/>
              <a:ext cx="707390" cy="190500"/>
            </a:xfrm>
            <a:custGeom>
              <a:avLst/>
              <a:gdLst/>
              <a:ahLst/>
              <a:cxnLst/>
              <a:rect l="l" t="t" r="r" b="b"/>
              <a:pathLst>
                <a:path w="707389" h="190500">
                  <a:moveTo>
                    <a:pt x="0" y="190001"/>
                  </a:moveTo>
                  <a:lnTo>
                    <a:pt x="707231" y="190001"/>
                  </a:lnTo>
                  <a:lnTo>
                    <a:pt x="707231" y="0"/>
                  </a:lnTo>
                  <a:lnTo>
                    <a:pt x="0" y="0"/>
                  </a:lnTo>
                  <a:lnTo>
                    <a:pt x="0" y="190001"/>
                  </a:lnTo>
                  <a:close/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316470" y="2035057"/>
              <a:ext cx="1341120" cy="179705"/>
            </a:xfrm>
            <a:custGeom>
              <a:avLst/>
              <a:gdLst/>
              <a:ahLst/>
              <a:cxnLst/>
              <a:rect l="l" t="t" r="r" b="b"/>
              <a:pathLst>
                <a:path w="1341120" h="179705">
                  <a:moveTo>
                    <a:pt x="1340572" y="0"/>
                  </a:moveTo>
                  <a:lnTo>
                    <a:pt x="0" y="0"/>
                  </a:lnTo>
                  <a:lnTo>
                    <a:pt x="0" y="179446"/>
                  </a:lnTo>
                  <a:lnTo>
                    <a:pt x="1340572" y="179446"/>
                  </a:lnTo>
                  <a:lnTo>
                    <a:pt x="1340572" y="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316470" y="2035057"/>
              <a:ext cx="1341120" cy="179705"/>
            </a:xfrm>
            <a:custGeom>
              <a:avLst/>
              <a:gdLst/>
              <a:ahLst/>
              <a:cxnLst/>
              <a:rect l="l" t="t" r="r" b="b"/>
              <a:pathLst>
                <a:path w="1341120" h="179705">
                  <a:moveTo>
                    <a:pt x="0" y="179446"/>
                  </a:moveTo>
                  <a:lnTo>
                    <a:pt x="1340572" y="179446"/>
                  </a:lnTo>
                  <a:lnTo>
                    <a:pt x="1340572" y="0"/>
                  </a:lnTo>
                  <a:lnTo>
                    <a:pt x="0" y="0"/>
                  </a:lnTo>
                  <a:lnTo>
                    <a:pt x="0" y="179446"/>
                  </a:lnTo>
                  <a:close/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319262" y="2267274"/>
              <a:ext cx="560070" cy="190500"/>
            </a:xfrm>
            <a:custGeom>
              <a:avLst/>
              <a:gdLst/>
              <a:ahLst/>
              <a:cxnLst/>
              <a:rect l="l" t="t" r="r" b="b"/>
              <a:pathLst>
                <a:path w="560070" h="190500">
                  <a:moveTo>
                    <a:pt x="559451" y="0"/>
                  </a:moveTo>
                  <a:lnTo>
                    <a:pt x="0" y="0"/>
                  </a:lnTo>
                  <a:lnTo>
                    <a:pt x="0" y="190003"/>
                  </a:lnTo>
                  <a:lnTo>
                    <a:pt x="559451" y="190003"/>
                  </a:lnTo>
                  <a:lnTo>
                    <a:pt x="559451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319262" y="2267274"/>
              <a:ext cx="560070" cy="190500"/>
            </a:xfrm>
            <a:custGeom>
              <a:avLst/>
              <a:gdLst/>
              <a:ahLst/>
              <a:cxnLst/>
              <a:rect l="l" t="t" r="r" b="b"/>
              <a:pathLst>
                <a:path w="560070" h="190500">
                  <a:moveTo>
                    <a:pt x="0" y="190003"/>
                  </a:moveTo>
                  <a:lnTo>
                    <a:pt x="559451" y="190003"/>
                  </a:lnTo>
                  <a:lnTo>
                    <a:pt x="559451" y="0"/>
                  </a:lnTo>
                  <a:lnTo>
                    <a:pt x="0" y="0"/>
                  </a:lnTo>
                  <a:lnTo>
                    <a:pt x="0" y="190003"/>
                  </a:lnTo>
                  <a:close/>
                </a:path>
              </a:pathLst>
            </a:custGeom>
            <a:ln w="1172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654250" y="2520608"/>
              <a:ext cx="1351280" cy="190500"/>
            </a:xfrm>
            <a:custGeom>
              <a:avLst/>
              <a:gdLst/>
              <a:ahLst/>
              <a:cxnLst/>
              <a:rect l="l" t="t" r="r" b="b"/>
              <a:pathLst>
                <a:path w="1351279" h="190500">
                  <a:moveTo>
                    <a:pt x="1351128" y="0"/>
                  </a:moveTo>
                  <a:lnTo>
                    <a:pt x="0" y="0"/>
                  </a:lnTo>
                  <a:lnTo>
                    <a:pt x="0" y="190003"/>
                  </a:lnTo>
                  <a:lnTo>
                    <a:pt x="1351128" y="190003"/>
                  </a:lnTo>
                  <a:lnTo>
                    <a:pt x="1351128" y="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654250" y="2520608"/>
              <a:ext cx="1351280" cy="190500"/>
            </a:xfrm>
            <a:custGeom>
              <a:avLst/>
              <a:gdLst/>
              <a:ahLst/>
              <a:cxnLst/>
              <a:rect l="l" t="t" r="r" b="b"/>
              <a:pathLst>
                <a:path w="1351279" h="190500">
                  <a:moveTo>
                    <a:pt x="0" y="190003"/>
                  </a:moveTo>
                  <a:lnTo>
                    <a:pt x="1351128" y="190003"/>
                  </a:lnTo>
                  <a:lnTo>
                    <a:pt x="1351128" y="0"/>
                  </a:lnTo>
                  <a:lnTo>
                    <a:pt x="0" y="0"/>
                  </a:lnTo>
                  <a:lnTo>
                    <a:pt x="0" y="190003"/>
                  </a:lnTo>
                  <a:close/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614827" y="2773944"/>
              <a:ext cx="549275" cy="190500"/>
            </a:xfrm>
            <a:custGeom>
              <a:avLst/>
              <a:gdLst/>
              <a:ahLst/>
              <a:cxnLst/>
              <a:rect l="l" t="t" r="r" b="b"/>
              <a:pathLst>
                <a:path w="549275" h="190500">
                  <a:moveTo>
                    <a:pt x="548896" y="0"/>
                  </a:moveTo>
                  <a:lnTo>
                    <a:pt x="0" y="0"/>
                  </a:lnTo>
                  <a:lnTo>
                    <a:pt x="0" y="190001"/>
                  </a:lnTo>
                  <a:lnTo>
                    <a:pt x="548896" y="190001"/>
                  </a:lnTo>
                  <a:lnTo>
                    <a:pt x="548896" y="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614827" y="2773944"/>
              <a:ext cx="549275" cy="190500"/>
            </a:xfrm>
            <a:custGeom>
              <a:avLst/>
              <a:gdLst/>
              <a:ahLst/>
              <a:cxnLst/>
              <a:rect l="l" t="t" r="r" b="b"/>
              <a:pathLst>
                <a:path w="549275" h="190500">
                  <a:moveTo>
                    <a:pt x="0" y="190001"/>
                  </a:moveTo>
                  <a:lnTo>
                    <a:pt x="548896" y="190001"/>
                  </a:lnTo>
                  <a:lnTo>
                    <a:pt x="548896" y="0"/>
                  </a:lnTo>
                  <a:lnTo>
                    <a:pt x="0" y="0"/>
                  </a:lnTo>
                  <a:lnTo>
                    <a:pt x="0" y="190001"/>
                  </a:lnTo>
                  <a:close/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6047597" y="3027293"/>
              <a:ext cx="560070" cy="190500"/>
            </a:xfrm>
            <a:custGeom>
              <a:avLst/>
              <a:gdLst/>
              <a:ahLst/>
              <a:cxnLst/>
              <a:rect l="l" t="t" r="r" b="b"/>
              <a:pathLst>
                <a:path w="560070" h="190500">
                  <a:moveTo>
                    <a:pt x="559451" y="0"/>
                  </a:moveTo>
                  <a:lnTo>
                    <a:pt x="0" y="0"/>
                  </a:lnTo>
                  <a:lnTo>
                    <a:pt x="0" y="190003"/>
                  </a:lnTo>
                  <a:lnTo>
                    <a:pt x="559451" y="190003"/>
                  </a:lnTo>
                  <a:lnTo>
                    <a:pt x="559451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6047597" y="3027293"/>
              <a:ext cx="560070" cy="190500"/>
            </a:xfrm>
            <a:custGeom>
              <a:avLst/>
              <a:gdLst/>
              <a:ahLst/>
              <a:cxnLst/>
              <a:rect l="l" t="t" r="r" b="b"/>
              <a:pathLst>
                <a:path w="560070" h="190500">
                  <a:moveTo>
                    <a:pt x="0" y="190003"/>
                  </a:moveTo>
                  <a:lnTo>
                    <a:pt x="559451" y="190003"/>
                  </a:lnTo>
                  <a:lnTo>
                    <a:pt x="559451" y="0"/>
                  </a:lnTo>
                  <a:lnTo>
                    <a:pt x="0" y="0"/>
                  </a:lnTo>
                  <a:lnTo>
                    <a:pt x="0" y="190003"/>
                  </a:lnTo>
                  <a:close/>
                </a:path>
              </a:pathLst>
            </a:custGeom>
            <a:ln w="1172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569805" y="3291184"/>
              <a:ext cx="2185035" cy="179705"/>
            </a:xfrm>
            <a:custGeom>
              <a:avLst/>
              <a:gdLst/>
              <a:ahLst/>
              <a:cxnLst/>
              <a:rect l="l" t="t" r="r" b="b"/>
              <a:pathLst>
                <a:path w="2185034" h="179704">
                  <a:moveTo>
                    <a:pt x="2185034" y="0"/>
                  </a:moveTo>
                  <a:lnTo>
                    <a:pt x="0" y="0"/>
                  </a:lnTo>
                  <a:lnTo>
                    <a:pt x="0" y="179446"/>
                  </a:lnTo>
                  <a:lnTo>
                    <a:pt x="2185034" y="179446"/>
                  </a:lnTo>
                  <a:lnTo>
                    <a:pt x="2185034" y="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569805" y="3291184"/>
              <a:ext cx="2185035" cy="179705"/>
            </a:xfrm>
            <a:custGeom>
              <a:avLst/>
              <a:gdLst/>
              <a:ahLst/>
              <a:cxnLst/>
              <a:rect l="l" t="t" r="r" b="b"/>
              <a:pathLst>
                <a:path w="2185034" h="179704">
                  <a:moveTo>
                    <a:pt x="0" y="179446"/>
                  </a:moveTo>
                  <a:lnTo>
                    <a:pt x="2185034" y="179446"/>
                  </a:lnTo>
                  <a:lnTo>
                    <a:pt x="2185034" y="0"/>
                  </a:lnTo>
                  <a:lnTo>
                    <a:pt x="0" y="0"/>
                  </a:lnTo>
                  <a:lnTo>
                    <a:pt x="0" y="179446"/>
                  </a:lnTo>
                  <a:close/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/>
          <p:cNvSpPr txBox="1"/>
          <p:nvPr/>
        </p:nvSpPr>
        <p:spPr>
          <a:xfrm>
            <a:off x="4806148" y="1509815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 i="1">
                <a:solidFill>
                  <a:srgbClr val="FF0000"/>
                </a:solidFill>
                <a:latin typeface="Arial"/>
                <a:cs typeface="Arial"/>
              </a:rPr>
              <a:t>1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038373" y="1763152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 i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481712" y="2016489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 i="1">
                <a:solidFill>
                  <a:srgbClr val="FF0000"/>
                </a:solidFill>
                <a:latin typeface="Arial"/>
                <a:cs typeface="Arial"/>
              </a:rPr>
              <a:t>3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713937" y="2259270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 i="1">
                <a:solidFill>
                  <a:srgbClr val="FF0000"/>
                </a:solidFill>
                <a:latin typeface="Arial"/>
                <a:cs typeface="Arial"/>
              </a:rPr>
              <a:t>4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840605" y="2512607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 i="1">
                <a:solidFill>
                  <a:srgbClr val="FF0000"/>
                </a:solidFill>
                <a:latin typeface="Arial"/>
                <a:cs typeface="Arial"/>
              </a:rPr>
              <a:t>5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998940" y="2765944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 i="1">
                <a:solidFill>
                  <a:srgbClr val="FF0000"/>
                </a:solidFill>
                <a:latin typeface="Arial"/>
                <a:cs typeface="Arial"/>
              </a:rPr>
              <a:t>6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442279" y="3008725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>
                <a:solidFill>
                  <a:srgbClr val="FF0000"/>
                </a:solidFill>
                <a:latin typeface="Arial"/>
                <a:cs typeface="Arial"/>
              </a:rPr>
              <a:t>7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568947" y="3272617"/>
            <a:ext cx="18034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5252" sz="825" spc="15">
                <a:solidFill>
                  <a:srgbClr val="FF0000"/>
                </a:solidFill>
                <a:latin typeface="Arial"/>
                <a:cs typeface="Arial"/>
              </a:rPr>
              <a:t>8</a:t>
            </a:r>
            <a:endParaRPr baseline="-25252" sz="825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510593" y="991413"/>
            <a:ext cx="685165" cy="2876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700" spc="10">
                <a:solidFill>
                  <a:srgbClr val="C0C0C0"/>
                </a:solidFill>
                <a:latin typeface="Arial"/>
                <a:cs typeface="Arial"/>
              </a:rPr>
              <a:t>X</a:t>
            </a:r>
            <a:r>
              <a:rPr dirty="0" sz="1700" spc="-35">
                <a:solidFill>
                  <a:srgbClr val="C0C0C0"/>
                </a:solidFill>
                <a:latin typeface="Arial"/>
                <a:cs typeface="Arial"/>
              </a:rPr>
              <a:t> </a:t>
            </a:r>
            <a:r>
              <a:rPr dirty="0" sz="1700" spc="10">
                <a:solidFill>
                  <a:srgbClr val="C0C0C0"/>
                </a:solidFill>
                <a:latin typeface="Arial"/>
                <a:cs typeface="Arial"/>
              </a:rPr>
              <a:t>=</a:t>
            </a:r>
            <a:r>
              <a:rPr dirty="0" sz="1700" spc="-30">
                <a:solidFill>
                  <a:srgbClr val="C0C0C0"/>
                </a:solidFill>
                <a:latin typeface="Arial"/>
                <a:cs typeface="Arial"/>
              </a:rPr>
              <a:t> </a:t>
            </a:r>
            <a:r>
              <a:rPr dirty="0" sz="1700" spc="50">
                <a:solidFill>
                  <a:srgbClr val="C0C0C0"/>
                </a:solidFill>
                <a:latin typeface="Arial"/>
                <a:cs typeface="Arial"/>
              </a:rPr>
              <a:t>a</a:t>
            </a:r>
            <a:r>
              <a:rPr dirty="0" baseline="-28985" sz="1725" spc="75">
                <a:solidFill>
                  <a:srgbClr val="C0C0C0"/>
                </a:solidFill>
                <a:latin typeface="Arial"/>
                <a:cs typeface="Arial"/>
              </a:rPr>
              <a:t>1</a:t>
            </a:r>
            <a:endParaRPr baseline="-28985" sz="1725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838199" y="3596615"/>
            <a:ext cx="6081395" cy="11195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2697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7.6: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X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a</a:t>
            </a:r>
            <a:r>
              <a:rPr dirty="0" baseline="-13888" sz="1200" spc="37">
                <a:latin typeface="Verdana"/>
                <a:cs typeface="Verdana"/>
              </a:rPr>
              <a:t>1</a:t>
            </a:r>
            <a:endParaRPr baseline="-13888" sz="12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1400">
              <a:latin typeface="Verdana"/>
              <a:cs typeface="Verdana"/>
            </a:endParaRPr>
          </a:p>
          <a:p>
            <a:pPr algn="just" marL="75565" marR="30480">
              <a:lnSpc>
                <a:spcPct val="100000"/>
              </a:lnSpc>
              <a:spcBef>
                <a:spcPts val="1150"/>
              </a:spcBef>
            </a:pP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80">
                <a:latin typeface="Lucida Sans Unicode"/>
                <a:cs typeface="Lucida Sans Unicode"/>
              </a:rPr>
              <a:t>A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37">
                <a:latin typeface="Cambria"/>
                <a:cs typeface="Cambri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{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10">
                <a:latin typeface="Lucida Sans Unicode"/>
                <a:cs typeface="Lucida Sans Unicode"/>
              </a:rPr>
              <a:t>}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Segoe UI Symbol"/>
                <a:cs typeface="Segoe UI Symbol"/>
              </a:rPr>
              <a:t>∪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{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10">
                <a:latin typeface="Lucida Sans Unicode"/>
                <a:cs typeface="Lucida Sans Unicode"/>
              </a:rPr>
              <a:t>}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eas</a:t>
            </a:r>
            <a:r>
              <a:rPr dirty="0" sz="1200" spc="-10">
                <a:latin typeface="Times New Roman"/>
                <a:cs typeface="Times New Roman"/>
              </a:rPr>
              <a:t>ibl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dul</a:t>
            </a:r>
            <a:r>
              <a:rPr dirty="0" sz="1200" spc="-5">
                <a:latin typeface="Times New Roman"/>
                <a:cs typeface="Times New Roman"/>
              </a:rPr>
              <a:t>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i.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rf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</a:t>
            </a:r>
            <a:r>
              <a:rPr dirty="0" sz="1200" spc="-5">
                <a:latin typeface="Times New Roman"/>
                <a:cs typeface="Times New Roman"/>
              </a:rPr>
              <a:t>ies.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hi</a:t>
            </a:r>
            <a:r>
              <a:rPr dirty="0" sz="1200" spc="-5">
                <a:latin typeface="Times New Roman"/>
                <a:cs typeface="Times New Roman"/>
              </a:rPr>
              <a:t>s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eca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{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10">
                <a:latin typeface="Lucida Sans Unicode"/>
                <a:cs typeface="Lucida Sans Unicode"/>
              </a:rPr>
              <a:t>}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</a:t>
            </a:r>
            <a:r>
              <a:rPr dirty="0" sz="1200" spc="-10">
                <a:latin typeface="Times New Roman"/>
                <a:cs typeface="Times New Roman"/>
              </a:rPr>
              <a:t>nno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oth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viti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</a:t>
            </a:r>
            <a:r>
              <a:rPr dirty="0" sz="1200" spc="-10">
                <a:latin typeface="Times New Roman"/>
                <a:cs typeface="Times New Roman"/>
              </a:rPr>
              <a:t>ni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rwi</a:t>
            </a:r>
            <a:r>
              <a:rPr dirty="0" sz="1200" spc="-5">
                <a:latin typeface="Times New Roman"/>
                <a:cs typeface="Times New Roman"/>
              </a:rPr>
              <a:t>se,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ese 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viti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rf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1491995" y="4951166"/>
            <a:ext cx="5246370" cy="2590800"/>
          </a:xfrm>
          <a:custGeom>
            <a:avLst/>
            <a:gdLst/>
            <a:ahLst/>
            <a:cxnLst/>
            <a:rect l="l" t="t" r="r" b="b"/>
            <a:pathLst>
              <a:path w="5246370" h="2590800">
                <a:moveTo>
                  <a:pt x="5246019" y="0"/>
                </a:moveTo>
                <a:lnTo>
                  <a:pt x="0" y="0"/>
                </a:lnTo>
                <a:lnTo>
                  <a:pt x="0" y="2590601"/>
                </a:lnTo>
                <a:lnTo>
                  <a:pt x="5246019" y="2590601"/>
                </a:lnTo>
                <a:lnTo>
                  <a:pt x="5246019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 txBox="1"/>
          <p:nvPr/>
        </p:nvSpPr>
        <p:spPr>
          <a:xfrm>
            <a:off x="1730349" y="5782976"/>
            <a:ext cx="707390" cy="190500"/>
          </a:xfrm>
          <a:prstGeom prst="rect">
            <a:avLst/>
          </a:prstGeom>
          <a:solidFill>
            <a:srgbClr val="FFFF00"/>
          </a:solidFill>
          <a:ln w="11728">
            <a:solidFill>
              <a:srgbClr val="FF0000"/>
            </a:solidFill>
          </a:ln>
        </p:spPr>
        <p:txBody>
          <a:bodyPr wrap="square" lIns="0" tIns="35560" rIns="0" bIns="0" rtlCol="0" vert="horz">
            <a:spAutoFit/>
          </a:bodyPr>
          <a:lstStyle/>
          <a:p>
            <a:pPr algn="r" marR="62230">
              <a:lnSpc>
                <a:spcPct val="100000"/>
              </a:lnSpc>
              <a:spcBef>
                <a:spcPts val="280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X</a:t>
            </a:r>
            <a:endParaRPr sz="8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540352" y="6036309"/>
            <a:ext cx="1341120" cy="190500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3810" rIns="0" bIns="0" rtlCol="0" vert="horz">
            <a:spAutoFit/>
          </a:bodyPr>
          <a:lstStyle/>
          <a:p>
            <a:pPr algn="r" marR="25400">
              <a:lnSpc>
                <a:spcPct val="100000"/>
              </a:lnSpc>
              <a:spcBef>
                <a:spcPts val="30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5252" sz="825" spc="15" i="1">
                <a:solidFill>
                  <a:srgbClr val="FF0000"/>
                </a:solidFill>
                <a:latin typeface="Arial"/>
                <a:cs typeface="Arial"/>
              </a:rPr>
              <a:t>3</a:t>
            </a:r>
            <a:endParaRPr baseline="-25252" sz="825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543129" y="6279097"/>
            <a:ext cx="560070" cy="190500"/>
          </a:xfrm>
          <a:prstGeom prst="rect">
            <a:avLst/>
          </a:prstGeom>
          <a:solidFill>
            <a:srgbClr val="FFFF00"/>
          </a:solidFill>
          <a:ln w="11728">
            <a:solidFill>
              <a:srgbClr val="FF0000"/>
            </a:solidFill>
          </a:ln>
        </p:spPr>
        <p:txBody>
          <a:bodyPr wrap="square" lIns="0" tIns="3810" rIns="0" bIns="0" rtlCol="0" vert="horz">
            <a:spAutoFit/>
          </a:bodyPr>
          <a:lstStyle/>
          <a:p>
            <a:pPr algn="r" marR="15240">
              <a:lnSpc>
                <a:spcPct val="100000"/>
              </a:lnSpc>
              <a:spcBef>
                <a:spcPts val="30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5252" sz="825" spc="15" i="1">
                <a:solidFill>
                  <a:srgbClr val="FF0000"/>
                </a:solidFill>
                <a:latin typeface="Arial"/>
                <a:cs typeface="Arial"/>
              </a:rPr>
              <a:t>4</a:t>
            </a:r>
            <a:endParaRPr baseline="-25252" sz="825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878131" y="6532432"/>
            <a:ext cx="1351280" cy="190500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5240">
              <a:lnSpc>
                <a:spcPts val="910"/>
              </a:lnSpc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 i="1">
                <a:solidFill>
                  <a:srgbClr val="FF0000"/>
                </a:solidFill>
                <a:latin typeface="Arial"/>
                <a:cs typeface="Arial"/>
              </a:rPr>
              <a:t>5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2838693" y="6785761"/>
            <a:ext cx="560070" cy="17970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25400">
              <a:lnSpc>
                <a:spcPts val="910"/>
              </a:lnSpc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 i="1">
                <a:solidFill>
                  <a:srgbClr val="FF0000"/>
                </a:solidFill>
                <a:latin typeface="Arial"/>
                <a:cs typeface="Arial"/>
              </a:rPr>
              <a:t>6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271479" y="7028539"/>
            <a:ext cx="560070" cy="190500"/>
          </a:xfrm>
          <a:prstGeom prst="rect">
            <a:avLst/>
          </a:prstGeom>
          <a:solidFill>
            <a:srgbClr val="FFFF00"/>
          </a:solidFill>
          <a:ln w="11728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5240">
              <a:lnSpc>
                <a:spcPts val="910"/>
              </a:lnSpc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>
                <a:solidFill>
                  <a:srgbClr val="FF0000"/>
                </a:solidFill>
                <a:latin typeface="Arial"/>
                <a:cs typeface="Arial"/>
              </a:rPr>
              <a:t>7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793687" y="7292446"/>
            <a:ext cx="2185035" cy="17970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36195">
              <a:lnSpc>
                <a:spcPts val="910"/>
              </a:lnSpc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>
                <a:solidFill>
                  <a:srgbClr val="FF0000"/>
                </a:solidFill>
                <a:latin typeface="Arial"/>
                <a:cs typeface="Arial"/>
              </a:rPr>
              <a:t>8</a:t>
            </a:r>
            <a:endParaRPr baseline="-35353" sz="825">
              <a:latin typeface="Arial"/>
              <a:cs typeface="Arial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4067848" y="5534336"/>
            <a:ext cx="840105" cy="201930"/>
            <a:chOff x="4067848" y="5534336"/>
            <a:chExt cx="840105" cy="201930"/>
          </a:xfrm>
        </p:grpSpPr>
        <p:sp>
          <p:nvSpPr>
            <p:cNvPr id="66" name="object 66"/>
            <p:cNvSpPr/>
            <p:nvPr/>
          </p:nvSpPr>
          <p:spPr>
            <a:xfrm>
              <a:off x="4073712" y="5540201"/>
              <a:ext cx="834390" cy="190500"/>
            </a:xfrm>
            <a:custGeom>
              <a:avLst/>
              <a:gdLst/>
              <a:ahLst/>
              <a:cxnLst/>
              <a:rect l="l" t="t" r="r" b="b"/>
              <a:pathLst>
                <a:path w="834389" h="190500">
                  <a:moveTo>
                    <a:pt x="833899" y="0"/>
                  </a:moveTo>
                  <a:lnTo>
                    <a:pt x="0" y="0"/>
                  </a:lnTo>
                  <a:lnTo>
                    <a:pt x="0" y="190003"/>
                  </a:lnTo>
                  <a:lnTo>
                    <a:pt x="833899" y="190003"/>
                  </a:lnTo>
                  <a:lnTo>
                    <a:pt x="83389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073712" y="5540201"/>
              <a:ext cx="823594" cy="190500"/>
            </a:xfrm>
            <a:custGeom>
              <a:avLst/>
              <a:gdLst/>
              <a:ahLst/>
              <a:cxnLst/>
              <a:rect l="l" t="t" r="r" b="b"/>
              <a:pathLst>
                <a:path w="823595" h="190500">
                  <a:moveTo>
                    <a:pt x="0" y="190003"/>
                  </a:moveTo>
                  <a:lnTo>
                    <a:pt x="823344" y="190003"/>
                  </a:lnTo>
                  <a:lnTo>
                    <a:pt x="823344" y="0"/>
                  </a:lnTo>
                  <a:lnTo>
                    <a:pt x="0" y="0"/>
                  </a:lnTo>
                  <a:lnTo>
                    <a:pt x="0" y="190003"/>
                  </a:lnTo>
                  <a:close/>
                </a:path>
              </a:pathLst>
            </a:custGeom>
            <a:ln w="1172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/>
          <p:cNvSpPr txBox="1"/>
          <p:nvPr/>
        </p:nvSpPr>
        <p:spPr>
          <a:xfrm>
            <a:off x="4770384" y="5521629"/>
            <a:ext cx="692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endParaRPr sz="80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4823163" y="5592001"/>
            <a:ext cx="533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550" spc="10" i="1">
                <a:solidFill>
                  <a:srgbClr val="FF0000"/>
                </a:solidFill>
                <a:latin typeface="Arial"/>
                <a:cs typeface="Arial"/>
              </a:rPr>
              <a:t>1</a:t>
            </a:r>
            <a:endParaRPr sz="55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4232041" y="6046865"/>
            <a:ext cx="1341120" cy="17970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25400">
              <a:lnSpc>
                <a:spcPts val="910"/>
              </a:lnSpc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 i="1">
                <a:solidFill>
                  <a:srgbClr val="FF0000"/>
                </a:solidFill>
                <a:latin typeface="Arial"/>
                <a:cs typeface="Arial"/>
              </a:rPr>
              <a:t>3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234833" y="6279097"/>
            <a:ext cx="560070" cy="190500"/>
          </a:xfrm>
          <a:prstGeom prst="rect">
            <a:avLst/>
          </a:prstGeom>
          <a:solidFill>
            <a:srgbClr val="FFFF00"/>
          </a:solidFill>
          <a:ln w="11728">
            <a:solidFill>
              <a:srgbClr val="FF0000"/>
            </a:solidFill>
          </a:ln>
        </p:spPr>
        <p:txBody>
          <a:bodyPr wrap="square" lIns="0" tIns="3810" rIns="0" bIns="0" rtlCol="0" vert="horz">
            <a:spAutoFit/>
          </a:bodyPr>
          <a:lstStyle/>
          <a:p>
            <a:pPr algn="r" marR="15240">
              <a:lnSpc>
                <a:spcPct val="100000"/>
              </a:lnSpc>
              <a:spcBef>
                <a:spcPts val="30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 i="1">
                <a:solidFill>
                  <a:srgbClr val="FF0000"/>
                </a:solidFill>
                <a:latin typeface="Arial"/>
                <a:cs typeface="Arial"/>
              </a:rPr>
              <a:t>4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4569835" y="6532432"/>
            <a:ext cx="1351280" cy="190500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3810" rIns="0" bIns="0" rtlCol="0" vert="horz">
            <a:spAutoFit/>
          </a:bodyPr>
          <a:lstStyle/>
          <a:p>
            <a:pPr algn="r" marR="15240">
              <a:lnSpc>
                <a:spcPct val="100000"/>
              </a:lnSpc>
              <a:spcBef>
                <a:spcPts val="30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 i="1">
                <a:solidFill>
                  <a:srgbClr val="FF0000"/>
                </a:solidFill>
                <a:latin typeface="Arial"/>
                <a:cs typeface="Arial"/>
              </a:rPr>
              <a:t>5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530397" y="6785767"/>
            <a:ext cx="549275" cy="190500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3810" rIns="0" bIns="0" rtlCol="0" vert="horz">
            <a:spAutoFit/>
          </a:bodyPr>
          <a:lstStyle/>
          <a:p>
            <a:pPr algn="r" marR="15240">
              <a:lnSpc>
                <a:spcPct val="100000"/>
              </a:lnSpc>
              <a:spcBef>
                <a:spcPts val="30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 i="1">
                <a:solidFill>
                  <a:srgbClr val="FF0000"/>
                </a:solidFill>
                <a:latin typeface="Arial"/>
                <a:cs typeface="Arial"/>
              </a:rPr>
              <a:t>6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963183" y="7039101"/>
            <a:ext cx="560070" cy="190500"/>
          </a:xfrm>
          <a:prstGeom prst="rect">
            <a:avLst/>
          </a:prstGeom>
          <a:solidFill>
            <a:srgbClr val="FFFF00"/>
          </a:solidFill>
          <a:ln w="11728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15240">
              <a:lnSpc>
                <a:spcPts val="910"/>
              </a:lnSpc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35353" sz="825" spc="15">
                <a:solidFill>
                  <a:srgbClr val="FF0000"/>
                </a:solidFill>
                <a:latin typeface="Arial"/>
                <a:cs typeface="Arial"/>
              </a:rPr>
              <a:t>7</a:t>
            </a:r>
            <a:endParaRPr baseline="-35353" sz="825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4485390" y="7302992"/>
            <a:ext cx="2185035" cy="179705"/>
          </a:xfrm>
          <a:prstGeom prst="rect">
            <a:avLst/>
          </a:prstGeom>
          <a:solidFill>
            <a:srgbClr val="959595"/>
          </a:solidFill>
          <a:ln w="3175">
            <a:solidFill>
              <a:srgbClr val="FF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r" marR="36195">
              <a:lnSpc>
                <a:spcPts val="910"/>
              </a:lnSpc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800" spc="-1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baseline="-25252" sz="825" spc="15">
                <a:solidFill>
                  <a:srgbClr val="FF0000"/>
                </a:solidFill>
                <a:latin typeface="Arial"/>
                <a:cs typeface="Arial"/>
              </a:rPr>
              <a:t>8</a:t>
            </a:r>
            <a:endParaRPr baseline="-25252" sz="825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491995" y="4951166"/>
            <a:ext cx="5246370" cy="2590800"/>
          </a:xfrm>
          <a:prstGeom prst="rect">
            <a:avLst/>
          </a:prstGeom>
        </p:spPr>
        <p:txBody>
          <a:bodyPr wrap="square" lIns="0" tIns="66675" rIns="0" bIns="0" rtlCol="0" vert="horz">
            <a:spAutoFit/>
          </a:bodyPr>
          <a:lstStyle/>
          <a:p>
            <a:pPr marL="3277870">
              <a:lnSpc>
                <a:spcPct val="100000"/>
              </a:lnSpc>
              <a:spcBef>
                <a:spcPts val="525"/>
              </a:spcBef>
            </a:pPr>
            <a:r>
              <a:rPr dirty="0" sz="1700" spc="10">
                <a:solidFill>
                  <a:srgbClr val="C0C0C0"/>
                </a:solidFill>
                <a:latin typeface="Arial"/>
                <a:cs typeface="Arial"/>
              </a:rPr>
              <a:t>A</a:t>
            </a:r>
            <a:r>
              <a:rPr dirty="0" sz="1700" spc="5">
                <a:solidFill>
                  <a:srgbClr val="C0C0C0"/>
                </a:solidFill>
                <a:latin typeface="Arial"/>
                <a:cs typeface="Arial"/>
              </a:rPr>
              <a:t> </a:t>
            </a:r>
            <a:r>
              <a:rPr dirty="0" sz="1700" spc="5">
                <a:solidFill>
                  <a:srgbClr val="C0C0C0"/>
                </a:solidFill>
                <a:latin typeface="Arial"/>
                <a:cs typeface="Arial"/>
              </a:rPr>
              <a:t>-</a:t>
            </a:r>
            <a:r>
              <a:rPr dirty="0" sz="1700" spc="5">
                <a:solidFill>
                  <a:srgbClr val="C0C0C0"/>
                </a:solidFill>
                <a:latin typeface="Arial"/>
                <a:cs typeface="Arial"/>
              </a:rPr>
              <a:t> </a:t>
            </a:r>
            <a:r>
              <a:rPr dirty="0" sz="1700" spc="5">
                <a:solidFill>
                  <a:srgbClr val="C0C0C0"/>
                </a:solidFill>
                <a:latin typeface="Arial"/>
                <a:cs typeface="Arial"/>
              </a:rPr>
              <a:t>{X}</a:t>
            </a:r>
            <a:r>
              <a:rPr dirty="0" sz="1700" spc="5">
                <a:solidFill>
                  <a:srgbClr val="C0C0C0"/>
                </a:solidFill>
                <a:latin typeface="Arial"/>
                <a:cs typeface="Arial"/>
              </a:rPr>
              <a:t> </a:t>
            </a:r>
            <a:r>
              <a:rPr dirty="0" sz="1700" spc="5">
                <a:solidFill>
                  <a:srgbClr val="C0C0C0"/>
                </a:solidFill>
                <a:latin typeface="Arial"/>
                <a:cs typeface="Arial"/>
              </a:rPr>
              <a:t>+{a</a:t>
            </a:r>
            <a:r>
              <a:rPr dirty="0" sz="1700" spc="-305">
                <a:solidFill>
                  <a:srgbClr val="C0C0C0"/>
                </a:solidFill>
                <a:latin typeface="Arial"/>
                <a:cs typeface="Arial"/>
              </a:rPr>
              <a:t> </a:t>
            </a:r>
            <a:r>
              <a:rPr dirty="0" baseline="-28985" sz="1725" spc="30">
                <a:solidFill>
                  <a:srgbClr val="C0C0C0"/>
                </a:solidFill>
                <a:latin typeface="Arial"/>
                <a:cs typeface="Arial"/>
              </a:rPr>
              <a:t>1</a:t>
            </a:r>
            <a:r>
              <a:rPr dirty="0" sz="1700" spc="5">
                <a:solidFill>
                  <a:srgbClr val="C0C0C0"/>
                </a:solidFill>
                <a:latin typeface="Arial"/>
                <a:cs typeface="Arial"/>
              </a:rPr>
              <a:t>}</a:t>
            </a:r>
            <a:endParaRPr sz="17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422053" y="5793537"/>
            <a:ext cx="707390" cy="190500"/>
          </a:xfrm>
          <a:prstGeom prst="rect">
            <a:avLst/>
          </a:prstGeom>
          <a:solidFill>
            <a:srgbClr val="7E0000"/>
          </a:solidFill>
          <a:ln w="3175">
            <a:solidFill>
              <a:srgbClr val="FFFF00"/>
            </a:solidFill>
          </a:ln>
        </p:spPr>
        <p:txBody>
          <a:bodyPr wrap="square" lIns="0" tIns="24765" rIns="0" bIns="0" rtlCol="0" vert="horz">
            <a:spAutoFit/>
          </a:bodyPr>
          <a:lstStyle/>
          <a:p>
            <a:pPr algn="r" marR="72390">
              <a:lnSpc>
                <a:spcPct val="100000"/>
              </a:lnSpc>
              <a:spcBef>
                <a:spcPts val="195"/>
              </a:spcBef>
            </a:pPr>
            <a:r>
              <a:rPr dirty="0" sz="800" spc="-5">
                <a:solidFill>
                  <a:srgbClr val="FF0000"/>
                </a:solidFill>
                <a:latin typeface="Arial"/>
                <a:cs typeface="Arial"/>
              </a:rPr>
              <a:t>X</a:t>
            </a:r>
            <a:endParaRPr sz="80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863602" y="7614831"/>
            <a:ext cx="6403975" cy="13684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9842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7.7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3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dul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80">
                <a:latin typeface="Lucida Sans Unicode"/>
                <a:cs typeface="Lucida Sans Unicode"/>
              </a:rPr>
              <a:t>A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pl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 marL="50800" marR="43180">
              <a:lnSpc>
                <a:spcPct val="100000"/>
              </a:lnSpc>
              <a:spcBef>
                <a:spcPts val="1240"/>
              </a:spcBef>
            </a:pP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efi</a:t>
            </a:r>
            <a:r>
              <a:rPr dirty="0" sz="1200" spc="-10">
                <a:latin typeface="Times New Roman"/>
                <a:cs typeface="Times New Roman"/>
              </a:rPr>
              <a:t>nitio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</a:t>
            </a:r>
            <a:r>
              <a:rPr dirty="0" sz="1200" spc="-10">
                <a:latin typeface="Times New Roman"/>
                <a:cs typeface="Times New Roman"/>
              </a:rPr>
              <a:t>ni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</a:t>
            </a:r>
            <a:r>
              <a:rPr dirty="0" sz="1200" spc="-10">
                <a:latin typeface="Times New Roman"/>
                <a:cs typeface="Times New Roman"/>
              </a:rPr>
              <a:t>rli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65">
                <a:latin typeface="Times New Roman"/>
                <a:cs typeface="Times New Roman"/>
              </a:rPr>
              <a:t>fi</a:t>
            </a:r>
            <a:r>
              <a:rPr dirty="0" sz="1200" spc="-10">
                <a:latin typeface="Times New Roman"/>
                <a:cs typeface="Times New Roman"/>
              </a:rPr>
              <a:t>ni</a:t>
            </a:r>
            <a:r>
              <a:rPr dirty="0" sz="1200" spc="-5">
                <a:latin typeface="Times New Roman"/>
                <a:cs typeface="Times New Roman"/>
              </a:rPr>
              <a:t>sh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</a:t>
            </a:r>
            <a:r>
              <a:rPr dirty="0" sz="1200" spc="-10">
                <a:latin typeface="Times New Roman"/>
                <a:cs typeface="Times New Roman"/>
              </a:rPr>
              <a:t>nno</a:t>
            </a:r>
            <a:r>
              <a:rPr dirty="0" sz="1200" spc="-5">
                <a:latin typeface="Times New Roman"/>
                <a:cs typeface="Times New Roman"/>
              </a:rPr>
              <a:t>t </a:t>
            </a:r>
            <a:r>
              <a:rPr dirty="0" sz="1200" spc="-10">
                <a:latin typeface="Times New Roman"/>
                <a:cs typeface="Times New Roman"/>
              </a:rPr>
              <a:t>int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rf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viti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{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15">
                <a:latin typeface="Lucida Sans Unicode"/>
                <a:cs typeface="Lucida Sans Unicode"/>
              </a:rPr>
              <a:t>}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hu</a:t>
            </a:r>
            <a:r>
              <a:rPr dirty="0" sz="1200" spc="-5">
                <a:latin typeface="Times New Roman"/>
                <a:cs typeface="Times New Roman"/>
              </a:rPr>
              <a:t>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80">
                <a:latin typeface="Lucida Sans Unicode"/>
                <a:cs typeface="Lucida Sans Unicode"/>
              </a:rPr>
              <a:t>A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eas</a:t>
            </a:r>
            <a:r>
              <a:rPr dirty="0" sz="1200" spc="-10">
                <a:latin typeface="Times New Roman"/>
                <a:cs typeface="Times New Roman"/>
              </a:rPr>
              <a:t>ibl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dul</a:t>
            </a:r>
            <a:r>
              <a:rPr dirty="0" sz="1200" spc="-5">
                <a:latin typeface="Times New Roman"/>
                <a:cs typeface="Times New Roman"/>
              </a:rPr>
              <a:t>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ea</a:t>
            </a:r>
            <a:r>
              <a:rPr dirty="0" sz="1200" spc="-10">
                <a:latin typeface="Times New Roman"/>
                <a:cs typeface="Times New Roman"/>
              </a:rPr>
              <a:t>rl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80">
                <a:latin typeface="Lucida Sans Unicode"/>
                <a:cs typeface="Lucida Sans Unicode"/>
              </a:rPr>
              <a:t>A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viti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implyin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80">
                <a:latin typeface="Lucida Sans Unicode"/>
                <a:cs typeface="Lucida Sans Unicode"/>
              </a:rPr>
              <a:t>A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30"/>
              </a:spcBef>
            </a:pPr>
            <a:r>
              <a:rPr dirty="0" sz="1200" spc="-10" b="1">
                <a:latin typeface="Times New Roman"/>
                <a:cs typeface="Times New Roman"/>
              </a:rPr>
              <a:t>Claim: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63599" y="520987"/>
            <a:ext cx="6502400" cy="16611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10"/>
              </a:spcBef>
              <a:tabLst>
                <a:tab pos="6223635" algn="l"/>
              </a:tabLst>
            </a:pPr>
            <a:r>
              <a:rPr dirty="0" sz="1200" spc="-10">
                <a:latin typeface="Times New Roman"/>
                <a:cs typeface="Times New Roman"/>
              </a:rPr>
              <a:t>7.4.</a:t>
            </a:r>
            <a:r>
              <a:rPr dirty="0" sz="1200" spc="39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FRACTIONAL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KNAPSACK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PROBLEM	</a:t>
            </a:r>
            <a:r>
              <a:rPr dirty="0" sz="1200" spc="-10">
                <a:latin typeface="Times New Roman"/>
                <a:cs typeface="Times New Roman"/>
              </a:rPr>
              <a:t>109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activity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scheduling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20"/>
              </a:spcBef>
            </a:pPr>
            <a:r>
              <a:rPr dirty="0" sz="1200" spc="-10" b="1">
                <a:latin typeface="Times New Roman"/>
                <a:cs typeface="Times New Roman"/>
              </a:rPr>
              <a:t>Proof:</a:t>
            </a:r>
            <a:endParaRPr sz="1200">
              <a:latin typeface="Times New Roman"/>
              <a:cs typeface="Times New Roman"/>
            </a:endParaRPr>
          </a:p>
          <a:p>
            <a:pPr marL="50800" marR="4318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viti</a:t>
            </a:r>
            <a:r>
              <a:rPr dirty="0" sz="1200" spc="-5">
                <a:latin typeface="Times New Roman"/>
                <a:cs typeface="Times New Roman"/>
              </a:rPr>
              <a:t>es.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viti</a:t>
            </a:r>
            <a:r>
              <a:rPr dirty="0" sz="1200" spc="-5">
                <a:latin typeface="Times New Roman"/>
                <a:cs typeface="Times New Roman"/>
              </a:rPr>
              <a:t>es,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 </a:t>
            </a:r>
            <a:r>
              <a:rPr dirty="0" sz="1200" spc="-10">
                <a:latin typeface="Times New Roman"/>
                <a:cs typeface="Times New Roman"/>
              </a:rPr>
              <a:t>gr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lgorith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</a:t>
            </a:r>
            <a:r>
              <a:rPr dirty="0" sz="1200" spc="-10">
                <a:latin typeface="Times New Roman"/>
                <a:cs typeface="Times New Roman"/>
              </a:rPr>
              <a:t>um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lgorith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 </a:t>
            </a:r>
            <a:r>
              <a:rPr dirty="0" sz="1200" spc="-10">
                <a:latin typeface="Times New Roman"/>
                <a:cs typeface="Times New Roman"/>
              </a:rPr>
              <a:t>optim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viti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ze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tri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tl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95">
                <a:latin typeface="Lucida Sans Unicode"/>
                <a:cs typeface="Lucida Sans Unicode"/>
              </a:rPr>
              <a:t>|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195">
                <a:latin typeface="Lucida Sans Unicode"/>
                <a:cs typeface="Lucida Sans Unicode"/>
              </a:rPr>
              <a:t>|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</a:t>
            </a:r>
            <a:r>
              <a:rPr dirty="0" sz="1200" spc="-25">
                <a:latin typeface="Times New Roman"/>
                <a:cs typeface="Times New Roman"/>
              </a:rPr>
              <a:t>ov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10">
                <a:latin typeface="Times New Roman"/>
                <a:cs typeface="Times New Roman"/>
              </a:rPr>
              <a:t>ul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S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 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viti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rf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421081" y="2985109"/>
            <a:ext cx="13874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Lucida Sans Unicode"/>
                <a:cs typeface="Lucida Sans Unicode"/>
              </a:rPr>
              <a:t>S</a:t>
            </a:r>
            <a:r>
              <a:rPr dirty="0" cap="small" baseline="34722" sz="1200" spc="44">
                <a:latin typeface="Cambria"/>
                <a:cs typeface="Cambria"/>
              </a:rPr>
              <a:t>j</a:t>
            </a:r>
            <a:r>
              <a:rPr dirty="0" baseline="34722" sz="1200">
                <a:latin typeface="Cambria"/>
                <a:cs typeface="Cambria"/>
              </a:rPr>
              <a:t> </a:t>
            </a:r>
            <a:r>
              <a:rPr dirty="0" baseline="34722" sz="1200" spc="37">
                <a:latin typeface="Cambria"/>
                <a:cs typeface="Cambri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{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195">
                <a:latin typeface="Lucida Sans Unicode"/>
                <a:cs typeface="Lucida Sans Unicode"/>
              </a:rPr>
              <a:t>|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10">
                <a:latin typeface="Lucida Sans Unicode"/>
                <a:cs typeface="Lucida Sans Unicode"/>
              </a:rPr>
              <a:t>}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76307" y="4061129"/>
            <a:ext cx="6477000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olutio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S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olutio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impl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ddin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vi</a:t>
            </a:r>
            <a:r>
              <a:rPr dirty="0" sz="1200" spc="-5">
                <a:latin typeface="Times New Roman"/>
                <a:cs typeface="Times New Roman"/>
              </a:rPr>
              <a:t>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sa. </a:t>
            </a:r>
            <a:r>
              <a:rPr dirty="0" sz="1200" spc="-1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vit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15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dul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(b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25">
                <a:latin typeface="Times New Roman"/>
                <a:cs typeface="Times New Roman"/>
              </a:rPr>
              <a:t>ov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</a:t>
            </a:r>
            <a:r>
              <a:rPr dirty="0" sz="1200" spc="-3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viou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im)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oll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produ</a:t>
            </a:r>
            <a:r>
              <a:rPr dirty="0" sz="1200" spc="-5">
                <a:latin typeface="Times New Roman"/>
                <a:cs typeface="Times New Roman"/>
              </a:rPr>
              <a:t>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</a:t>
            </a:r>
            <a:r>
              <a:rPr dirty="0" sz="1200" spc="-5">
                <a:latin typeface="Times New Roman"/>
                <a:cs typeface="Times New Roman"/>
              </a:rPr>
              <a:t>al sc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dul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houl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dul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a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pp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sc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dul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5"/>
              </a:spcBef>
            </a:pPr>
            <a:r>
              <a:rPr dirty="0" sz="1200" spc="105">
                <a:latin typeface="Lucida Sans Unicode"/>
                <a:cs typeface="Lucida Sans Unicode"/>
              </a:rPr>
              <a:t>S</a:t>
            </a:r>
            <a:r>
              <a:rPr dirty="0" cap="small" baseline="31250" sz="1200" spc="112">
                <a:latin typeface="Cambria"/>
                <a:cs typeface="Cambria"/>
              </a:rPr>
              <a:t>j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95">
                <a:latin typeface="Lucida Sans Unicode"/>
                <a:cs typeface="Lucida Sans Unicode"/>
              </a:rPr>
              <a:t>|</a:t>
            </a:r>
            <a:r>
              <a:rPr dirty="0" sz="1200" spc="105">
                <a:latin typeface="Lucida Sans Unicode"/>
                <a:cs typeface="Lucida Sans Unicode"/>
              </a:rPr>
              <a:t>S</a:t>
            </a:r>
            <a:r>
              <a:rPr dirty="0" cap="small" baseline="31250" sz="1200" spc="112">
                <a:latin typeface="Cambria"/>
                <a:cs typeface="Cambria"/>
              </a:rPr>
              <a:t>j</a:t>
            </a:r>
            <a:r>
              <a:rPr dirty="0" sz="1200" spc="-195">
                <a:latin typeface="Lucida Sans Unicode"/>
                <a:cs typeface="Lucida Sans Unicode"/>
              </a:rPr>
              <a:t>|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95">
                <a:latin typeface="Lucida Sans Unicode"/>
                <a:cs typeface="Lucida Sans Unicode"/>
              </a:rPr>
              <a:t>|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195">
                <a:latin typeface="Lucida Sans Unicode"/>
                <a:cs typeface="Lucida Sans Unicode"/>
              </a:rPr>
              <a:t>|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ac</a:t>
            </a:r>
            <a:r>
              <a:rPr dirty="0" sz="1200" spc="-10">
                <a:latin typeface="Times New Roman"/>
                <a:cs typeface="Times New Roman"/>
              </a:rPr>
              <a:t>tl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lgorith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</a:t>
            </a:r>
            <a:r>
              <a:rPr dirty="0" sz="1200" spc="-5">
                <a:latin typeface="Times New Roman"/>
                <a:cs typeface="Times New Roman"/>
              </a:rPr>
              <a:t>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63596" y="6343188"/>
            <a:ext cx="6502400" cy="26403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5422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7.4	Fractional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Knapsack</a:t>
            </a:r>
            <a:r>
              <a:rPr dirty="0" sz="1700" b="1">
                <a:latin typeface="Times New Roman"/>
                <a:cs typeface="Times New Roman"/>
              </a:rPr>
              <a:t> Problem</a:t>
            </a:r>
            <a:endParaRPr sz="1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900">
              <a:latin typeface="Times New Roman"/>
              <a:cs typeface="Times New Roman"/>
            </a:endParaRPr>
          </a:p>
          <a:p>
            <a:pPr marL="50800" marR="43180">
              <a:lnSpc>
                <a:spcPct val="100000"/>
              </a:lnSpc>
              <a:spcBef>
                <a:spcPts val="1385"/>
              </a:spcBef>
            </a:pPr>
            <a:r>
              <a:rPr dirty="0" sz="1200" spc="-5">
                <a:latin typeface="Times New Roman"/>
                <a:cs typeface="Times New Roman"/>
              </a:rPr>
              <a:t>Earlier </a:t>
            </a:r>
            <a:r>
              <a:rPr dirty="0" sz="1200" spc="-10">
                <a:latin typeface="Times New Roman"/>
                <a:cs typeface="Times New Roman"/>
              </a:rPr>
              <a:t>we saw the 0-1 </a:t>
            </a:r>
            <a:r>
              <a:rPr dirty="0" sz="1200" spc="-5">
                <a:latin typeface="Times New Roman"/>
                <a:cs typeface="Times New Roman"/>
              </a:rPr>
              <a:t>knapsack </a:t>
            </a:r>
            <a:r>
              <a:rPr dirty="0" sz="1200" spc="-10">
                <a:latin typeface="Times New Roman"/>
                <a:cs typeface="Times New Roman"/>
              </a:rPr>
              <a:t>problem. </a:t>
            </a:r>
            <a:r>
              <a:rPr dirty="0" sz="1200" spc="-5">
                <a:latin typeface="Times New Roman"/>
                <a:cs typeface="Times New Roman"/>
              </a:rPr>
              <a:t>A knapsack can </a:t>
            </a:r>
            <a:r>
              <a:rPr dirty="0" sz="1200" spc="-10">
                <a:latin typeface="Times New Roman"/>
                <a:cs typeface="Times New Roman"/>
              </a:rPr>
              <a:t>only </a:t>
            </a:r>
            <a:r>
              <a:rPr dirty="0" sz="1200" spc="-5">
                <a:latin typeface="Times New Roman"/>
                <a:cs typeface="Times New Roman"/>
              </a:rPr>
              <a:t>carry </a:t>
            </a:r>
            <a:r>
              <a:rPr dirty="0" sz="1200" spc="150">
                <a:latin typeface="Lucida Sans Unicode"/>
                <a:cs typeface="Lucida Sans Unicode"/>
              </a:rPr>
              <a:t>W </a:t>
            </a:r>
            <a:r>
              <a:rPr dirty="0" sz="1200" spc="-5">
                <a:latin typeface="Times New Roman"/>
                <a:cs typeface="Times New Roman"/>
              </a:rPr>
              <a:t>total </a:t>
            </a:r>
            <a:r>
              <a:rPr dirty="0" sz="1200" spc="-10">
                <a:latin typeface="Times New Roman"/>
                <a:cs typeface="Times New Roman"/>
              </a:rPr>
              <a:t>weight. </a:t>
            </a:r>
            <a:r>
              <a:rPr dirty="0" sz="1200" spc="-5">
                <a:latin typeface="Times New Roman"/>
                <a:cs typeface="Times New Roman"/>
              </a:rPr>
              <a:t>There are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items;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i</a:t>
            </a:r>
            <a:r>
              <a:rPr dirty="0" baseline="31250" sz="1200" spc="30">
                <a:latin typeface="Times New Roman"/>
                <a:cs typeface="Times New Roman"/>
              </a:rPr>
              <a:t>th</a:t>
            </a:r>
            <a:r>
              <a:rPr dirty="0" baseline="31250" sz="1200" spc="217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worth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v</a:t>
            </a:r>
            <a:r>
              <a:rPr dirty="0" baseline="-13888" sz="1200" spc="89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weighs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w</a:t>
            </a:r>
            <a:r>
              <a:rPr dirty="0" baseline="-13888" sz="1200" spc="89">
                <a:latin typeface="Verdana"/>
                <a:cs typeface="Verdana"/>
              </a:rPr>
              <a:t>i</a:t>
            </a:r>
            <a:r>
              <a:rPr dirty="0" sz="1200" spc="6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either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knapsack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10">
                <a:latin typeface="Times New Roman"/>
                <a:cs typeface="Times New Roman"/>
              </a:rPr>
              <a:t>not.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goal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 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maximize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exceeding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limit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W</a:t>
            </a:r>
            <a:r>
              <a:rPr dirty="0" sz="1200" spc="10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contrast,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fractional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knapsack </a:t>
            </a:r>
            <a:r>
              <a:rPr dirty="0" sz="1200" spc="-10">
                <a:latin typeface="Times New Roman"/>
                <a:cs typeface="Times New Roman"/>
              </a:rPr>
              <a:t>problem,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setup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exactly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But,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allowed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fraction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fraction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 </a:t>
            </a:r>
            <a:r>
              <a:rPr dirty="0" sz="1200" spc="-5">
                <a:latin typeface="Times New Roman"/>
                <a:cs typeface="Times New Roman"/>
              </a:rPr>
              <a:t>and fraction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value.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0-1 </a:t>
            </a:r>
            <a:r>
              <a:rPr dirty="0" sz="1200" spc="-5">
                <a:latin typeface="Times New Roman"/>
                <a:cs typeface="Times New Roman"/>
              </a:rPr>
              <a:t>knapsack </a:t>
            </a:r>
            <a:r>
              <a:rPr dirty="0" sz="1200" spc="-10">
                <a:latin typeface="Times New Roman"/>
                <a:cs typeface="Times New Roman"/>
              </a:rPr>
              <a:t>problem </a:t>
            </a:r>
            <a:r>
              <a:rPr dirty="0" sz="1200" spc="-5">
                <a:latin typeface="Times New Roman"/>
                <a:cs typeface="Times New Roman"/>
              </a:rPr>
              <a:t>is hard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solve.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 spc="-5">
                <a:latin typeface="Times New Roman"/>
                <a:cs typeface="Times New Roman"/>
              </a:rPr>
              <a:t> 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</a:t>
            </a:r>
            <a:r>
              <a:rPr dirty="0" sz="1200" spc="-5">
                <a:latin typeface="Times New Roman"/>
                <a:cs typeface="Times New Roman"/>
              </a:rPr>
              <a:t> greedy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fractional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knapsack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  <a:p>
            <a:pPr marL="50800" marR="84455">
              <a:lnSpc>
                <a:spcPct val="100000"/>
              </a:lnSpc>
              <a:spcBef>
                <a:spcPts val="545"/>
              </a:spcBef>
            </a:pPr>
            <a:r>
              <a:rPr dirty="0" sz="1200" spc="-5">
                <a:latin typeface="Times New Roman"/>
                <a:cs typeface="Times New Roman"/>
              </a:rPr>
              <a:t>Let </a:t>
            </a:r>
            <a:r>
              <a:rPr dirty="0" sz="1200" spc="30">
                <a:latin typeface="Lucida Sans Unicode"/>
                <a:cs typeface="Lucida Sans Unicode"/>
              </a:rPr>
              <a:t>ρ</a:t>
            </a:r>
            <a:r>
              <a:rPr dirty="0" baseline="-13888" sz="1200" spc="44">
                <a:latin typeface="Verdana"/>
                <a:cs typeface="Verdana"/>
              </a:rPr>
              <a:t>i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v</a:t>
            </a:r>
            <a:r>
              <a:rPr dirty="0" baseline="-13888" sz="1200" spc="82">
                <a:latin typeface="Verdana"/>
                <a:cs typeface="Verdana"/>
              </a:rPr>
              <a:t>i</a:t>
            </a:r>
            <a:r>
              <a:rPr dirty="0" sz="1200" spc="55">
                <a:latin typeface="Lucida Sans Unicode"/>
                <a:cs typeface="Lucida Sans Unicode"/>
              </a:rPr>
              <a:t>/w</a:t>
            </a:r>
            <a:r>
              <a:rPr dirty="0" baseline="-13888" sz="1200" spc="82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value per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unit</a:t>
            </a:r>
            <a:r>
              <a:rPr dirty="0" sz="1200" spc="-5" i="1">
                <a:latin typeface="Times New Roman"/>
                <a:cs typeface="Times New Roman"/>
              </a:rPr>
              <a:t> weight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ratio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item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items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decreasing 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ρ</a:t>
            </a:r>
            <a:r>
              <a:rPr dirty="0" baseline="-13888" sz="1200" spc="22">
                <a:latin typeface="Verdana"/>
                <a:cs typeface="Verdana"/>
              </a:rPr>
              <a:t>i</a:t>
            </a:r>
            <a:r>
              <a:rPr dirty="0" sz="1200" spc="15">
                <a:latin typeface="Times New Roman"/>
                <a:cs typeface="Times New Roman"/>
              </a:rPr>
              <a:t>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Add</a:t>
            </a:r>
            <a:r>
              <a:rPr dirty="0" sz="1200" spc="-5">
                <a:latin typeface="Times New Roman"/>
                <a:cs typeface="Times New Roman"/>
              </a:rPr>
              <a:t> items in decreasing order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ρ</a:t>
            </a:r>
            <a:r>
              <a:rPr dirty="0" baseline="-13888" sz="1200" spc="22">
                <a:latin typeface="Verdana"/>
                <a:cs typeface="Verdana"/>
              </a:rPr>
              <a:t>i</a:t>
            </a:r>
            <a:r>
              <a:rPr dirty="0" sz="1200" spc="1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item fits,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 spc="-5">
                <a:latin typeface="Times New Roman"/>
                <a:cs typeface="Times New Roman"/>
              </a:rPr>
              <a:t> it all.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 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</a:t>
            </a:r>
            <a:r>
              <a:rPr dirty="0" sz="1200" spc="-5">
                <a:latin typeface="Times New Roman"/>
                <a:cs typeface="Times New Roman"/>
              </a:rPr>
              <a:t> there is an item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 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remaining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space.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item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 </a:t>
            </a:r>
            <a:r>
              <a:rPr dirty="0" sz="1200" spc="-10">
                <a:latin typeface="Times New Roman"/>
                <a:cs typeface="Times New Roman"/>
              </a:rPr>
              <a:t>thus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filling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knapsack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completely.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11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33376" y="520987"/>
            <a:ext cx="259524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GREEDY</a:t>
            </a:r>
            <a:r>
              <a:rPr dirty="0" sz="1200" spc="-10">
                <a:latin typeface="Times New Roman"/>
                <a:cs typeface="Times New Roman"/>
              </a:rPr>
              <a:t> ALGORITHMS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90700" y="939190"/>
            <a:ext cx="4648200" cy="3254375"/>
            <a:chOff x="1790700" y="939190"/>
            <a:chExt cx="4648200" cy="3254375"/>
          </a:xfrm>
        </p:grpSpPr>
        <p:sp>
          <p:nvSpPr>
            <p:cNvPr id="5" name="object 5"/>
            <p:cNvSpPr/>
            <p:nvPr/>
          </p:nvSpPr>
          <p:spPr>
            <a:xfrm>
              <a:off x="1790700" y="939190"/>
              <a:ext cx="4648200" cy="3254375"/>
            </a:xfrm>
            <a:custGeom>
              <a:avLst/>
              <a:gdLst/>
              <a:ahLst/>
              <a:cxnLst/>
              <a:rect l="l" t="t" r="r" b="b"/>
              <a:pathLst>
                <a:path w="4648200" h="3254375">
                  <a:moveTo>
                    <a:pt x="4648001" y="0"/>
                  </a:moveTo>
                  <a:lnTo>
                    <a:pt x="0" y="0"/>
                  </a:lnTo>
                  <a:lnTo>
                    <a:pt x="0" y="3254349"/>
                  </a:lnTo>
                  <a:lnTo>
                    <a:pt x="4648001" y="3254349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014289" y="3008233"/>
              <a:ext cx="296545" cy="574040"/>
            </a:xfrm>
            <a:custGeom>
              <a:avLst/>
              <a:gdLst/>
              <a:ahLst/>
              <a:cxnLst/>
              <a:rect l="l" t="t" r="r" b="b"/>
              <a:pathLst>
                <a:path w="296545" h="574039">
                  <a:moveTo>
                    <a:pt x="239008" y="0"/>
                  </a:moveTo>
                  <a:lnTo>
                    <a:pt x="66918" y="0"/>
                  </a:lnTo>
                  <a:lnTo>
                    <a:pt x="47807" y="9555"/>
                  </a:lnTo>
                  <a:lnTo>
                    <a:pt x="38237" y="9555"/>
                  </a:lnTo>
                  <a:lnTo>
                    <a:pt x="28681" y="19110"/>
                  </a:lnTo>
                  <a:lnTo>
                    <a:pt x="19126" y="38237"/>
                  </a:lnTo>
                  <a:lnTo>
                    <a:pt x="0" y="57363"/>
                  </a:lnTo>
                  <a:lnTo>
                    <a:pt x="0" y="506699"/>
                  </a:lnTo>
                  <a:lnTo>
                    <a:pt x="9555" y="525810"/>
                  </a:lnTo>
                  <a:lnTo>
                    <a:pt x="47807" y="564062"/>
                  </a:lnTo>
                  <a:lnTo>
                    <a:pt x="66918" y="564062"/>
                  </a:lnTo>
                  <a:lnTo>
                    <a:pt x="76489" y="573618"/>
                  </a:lnTo>
                  <a:lnTo>
                    <a:pt x="219897" y="573618"/>
                  </a:lnTo>
                  <a:lnTo>
                    <a:pt x="239008" y="564062"/>
                  </a:lnTo>
                  <a:lnTo>
                    <a:pt x="248564" y="564062"/>
                  </a:lnTo>
                  <a:lnTo>
                    <a:pt x="267690" y="554492"/>
                  </a:lnTo>
                  <a:lnTo>
                    <a:pt x="286816" y="535381"/>
                  </a:lnTo>
                  <a:lnTo>
                    <a:pt x="286816" y="525810"/>
                  </a:lnTo>
                  <a:lnTo>
                    <a:pt x="296372" y="506699"/>
                  </a:lnTo>
                  <a:lnTo>
                    <a:pt x="296372" y="497144"/>
                  </a:lnTo>
                  <a:lnTo>
                    <a:pt x="296372" y="57363"/>
                  </a:lnTo>
                  <a:lnTo>
                    <a:pt x="286816" y="47792"/>
                  </a:lnTo>
                  <a:lnTo>
                    <a:pt x="286816" y="38237"/>
                  </a:lnTo>
                  <a:lnTo>
                    <a:pt x="277246" y="19110"/>
                  </a:lnTo>
                  <a:lnTo>
                    <a:pt x="267690" y="9555"/>
                  </a:lnTo>
                  <a:lnTo>
                    <a:pt x="248564" y="9555"/>
                  </a:lnTo>
                  <a:lnTo>
                    <a:pt x="239008" y="0"/>
                  </a:lnTo>
                  <a:close/>
                </a:path>
              </a:pathLst>
            </a:custGeom>
            <a:solidFill>
              <a:srgbClr val="00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014289" y="3008233"/>
              <a:ext cx="296545" cy="574040"/>
            </a:xfrm>
            <a:custGeom>
              <a:avLst/>
              <a:gdLst/>
              <a:ahLst/>
              <a:cxnLst/>
              <a:rect l="l" t="t" r="r" b="b"/>
              <a:pathLst>
                <a:path w="296545" h="574039">
                  <a:moveTo>
                    <a:pt x="296372" y="497144"/>
                  </a:moveTo>
                  <a:lnTo>
                    <a:pt x="296372" y="57363"/>
                  </a:lnTo>
                  <a:lnTo>
                    <a:pt x="286816" y="47792"/>
                  </a:lnTo>
                  <a:lnTo>
                    <a:pt x="286816" y="38237"/>
                  </a:lnTo>
                  <a:lnTo>
                    <a:pt x="277246" y="19110"/>
                  </a:lnTo>
                  <a:lnTo>
                    <a:pt x="267690" y="9555"/>
                  </a:lnTo>
                  <a:lnTo>
                    <a:pt x="248564" y="9555"/>
                  </a:lnTo>
                  <a:lnTo>
                    <a:pt x="239008" y="0"/>
                  </a:lnTo>
                  <a:lnTo>
                    <a:pt x="219897" y="0"/>
                  </a:lnTo>
                  <a:lnTo>
                    <a:pt x="66918" y="0"/>
                  </a:lnTo>
                  <a:lnTo>
                    <a:pt x="47807" y="9555"/>
                  </a:lnTo>
                  <a:lnTo>
                    <a:pt x="38237" y="9555"/>
                  </a:lnTo>
                  <a:lnTo>
                    <a:pt x="28681" y="19110"/>
                  </a:lnTo>
                  <a:lnTo>
                    <a:pt x="19126" y="38237"/>
                  </a:lnTo>
                  <a:lnTo>
                    <a:pt x="9555" y="47792"/>
                  </a:lnTo>
                  <a:lnTo>
                    <a:pt x="0" y="57363"/>
                  </a:lnTo>
                  <a:lnTo>
                    <a:pt x="0" y="506699"/>
                  </a:lnTo>
                  <a:lnTo>
                    <a:pt x="9555" y="525810"/>
                  </a:lnTo>
                  <a:lnTo>
                    <a:pt x="19126" y="535381"/>
                  </a:lnTo>
                  <a:lnTo>
                    <a:pt x="28681" y="544936"/>
                  </a:lnTo>
                  <a:lnTo>
                    <a:pt x="38237" y="554492"/>
                  </a:lnTo>
                  <a:lnTo>
                    <a:pt x="47807" y="564062"/>
                  </a:lnTo>
                  <a:lnTo>
                    <a:pt x="66918" y="564062"/>
                  </a:lnTo>
                  <a:lnTo>
                    <a:pt x="76489" y="573618"/>
                  </a:lnTo>
                  <a:lnTo>
                    <a:pt x="219897" y="573618"/>
                  </a:lnTo>
                  <a:lnTo>
                    <a:pt x="239008" y="564062"/>
                  </a:lnTo>
                  <a:lnTo>
                    <a:pt x="248564" y="564062"/>
                  </a:lnTo>
                  <a:lnTo>
                    <a:pt x="267690" y="554492"/>
                  </a:lnTo>
                  <a:lnTo>
                    <a:pt x="277246" y="544936"/>
                  </a:lnTo>
                  <a:lnTo>
                    <a:pt x="286816" y="535381"/>
                  </a:lnTo>
                  <a:lnTo>
                    <a:pt x="286816" y="525810"/>
                  </a:lnTo>
                  <a:lnTo>
                    <a:pt x="296372" y="506699"/>
                  </a:lnTo>
                  <a:lnTo>
                    <a:pt x="296372" y="497144"/>
                  </a:lnTo>
                </a:path>
              </a:pathLst>
            </a:custGeom>
            <a:ln w="1062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520988" y="2740543"/>
              <a:ext cx="296545" cy="841375"/>
            </a:xfrm>
            <a:custGeom>
              <a:avLst/>
              <a:gdLst/>
              <a:ahLst/>
              <a:cxnLst/>
              <a:rect l="l" t="t" r="r" b="b"/>
              <a:pathLst>
                <a:path w="296545" h="841375">
                  <a:moveTo>
                    <a:pt x="248579" y="0"/>
                  </a:moveTo>
                  <a:lnTo>
                    <a:pt x="47807" y="0"/>
                  </a:lnTo>
                  <a:lnTo>
                    <a:pt x="38252" y="9555"/>
                  </a:lnTo>
                  <a:lnTo>
                    <a:pt x="19126" y="19110"/>
                  </a:lnTo>
                  <a:lnTo>
                    <a:pt x="9570" y="28681"/>
                  </a:lnTo>
                  <a:lnTo>
                    <a:pt x="9570" y="47792"/>
                  </a:lnTo>
                  <a:lnTo>
                    <a:pt x="0" y="57363"/>
                  </a:lnTo>
                  <a:lnTo>
                    <a:pt x="0" y="774390"/>
                  </a:lnTo>
                  <a:lnTo>
                    <a:pt x="9570" y="793501"/>
                  </a:lnTo>
                  <a:lnTo>
                    <a:pt x="9570" y="803071"/>
                  </a:lnTo>
                  <a:lnTo>
                    <a:pt x="19126" y="812627"/>
                  </a:lnTo>
                  <a:lnTo>
                    <a:pt x="38252" y="822182"/>
                  </a:lnTo>
                  <a:lnTo>
                    <a:pt x="47807" y="831753"/>
                  </a:lnTo>
                  <a:lnTo>
                    <a:pt x="57363" y="831753"/>
                  </a:lnTo>
                  <a:lnTo>
                    <a:pt x="76489" y="841308"/>
                  </a:lnTo>
                  <a:lnTo>
                    <a:pt x="219897" y="841308"/>
                  </a:lnTo>
                  <a:lnTo>
                    <a:pt x="239008" y="831753"/>
                  </a:lnTo>
                  <a:lnTo>
                    <a:pt x="248579" y="831753"/>
                  </a:lnTo>
                  <a:lnTo>
                    <a:pt x="258135" y="822182"/>
                  </a:lnTo>
                  <a:lnTo>
                    <a:pt x="277261" y="812627"/>
                  </a:lnTo>
                  <a:lnTo>
                    <a:pt x="286816" y="803071"/>
                  </a:lnTo>
                  <a:lnTo>
                    <a:pt x="286816" y="793501"/>
                  </a:lnTo>
                  <a:lnTo>
                    <a:pt x="296372" y="774390"/>
                  </a:lnTo>
                  <a:lnTo>
                    <a:pt x="296372" y="764834"/>
                  </a:lnTo>
                  <a:lnTo>
                    <a:pt x="296372" y="57363"/>
                  </a:lnTo>
                  <a:lnTo>
                    <a:pt x="286816" y="47792"/>
                  </a:lnTo>
                  <a:lnTo>
                    <a:pt x="286816" y="28681"/>
                  </a:lnTo>
                  <a:lnTo>
                    <a:pt x="277261" y="19110"/>
                  </a:lnTo>
                  <a:lnTo>
                    <a:pt x="258135" y="9555"/>
                  </a:lnTo>
                  <a:lnTo>
                    <a:pt x="248579" y="0"/>
                  </a:lnTo>
                  <a:close/>
                </a:path>
              </a:pathLst>
            </a:custGeom>
            <a:solidFill>
              <a:srgbClr val="FF99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520988" y="2740543"/>
              <a:ext cx="296545" cy="841375"/>
            </a:xfrm>
            <a:custGeom>
              <a:avLst/>
              <a:gdLst/>
              <a:ahLst/>
              <a:cxnLst/>
              <a:rect l="l" t="t" r="r" b="b"/>
              <a:pathLst>
                <a:path w="296545" h="841375">
                  <a:moveTo>
                    <a:pt x="296372" y="764834"/>
                  </a:moveTo>
                  <a:lnTo>
                    <a:pt x="296372" y="57363"/>
                  </a:lnTo>
                  <a:lnTo>
                    <a:pt x="286816" y="47792"/>
                  </a:lnTo>
                  <a:lnTo>
                    <a:pt x="286816" y="28681"/>
                  </a:lnTo>
                  <a:lnTo>
                    <a:pt x="277261" y="19110"/>
                  </a:lnTo>
                  <a:lnTo>
                    <a:pt x="258135" y="9555"/>
                  </a:lnTo>
                  <a:lnTo>
                    <a:pt x="248579" y="0"/>
                  </a:lnTo>
                  <a:lnTo>
                    <a:pt x="219897" y="0"/>
                  </a:lnTo>
                  <a:lnTo>
                    <a:pt x="47807" y="0"/>
                  </a:lnTo>
                  <a:lnTo>
                    <a:pt x="38252" y="9555"/>
                  </a:lnTo>
                  <a:lnTo>
                    <a:pt x="19126" y="19110"/>
                  </a:lnTo>
                  <a:lnTo>
                    <a:pt x="9570" y="28681"/>
                  </a:lnTo>
                  <a:lnTo>
                    <a:pt x="9570" y="47792"/>
                  </a:lnTo>
                  <a:lnTo>
                    <a:pt x="0" y="57363"/>
                  </a:lnTo>
                  <a:lnTo>
                    <a:pt x="0" y="774390"/>
                  </a:lnTo>
                  <a:lnTo>
                    <a:pt x="9570" y="793501"/>
                  </a:lnTo>
                  <a:lnTo>
                    <a:pt x="9570" y="803071"/>
                  </a:lnTo>
                  <a:lnTo>
                    <a:pt x="19126" y="812627"/>
                  </a:lnTo>
                  <a:lnTo>
                    <a:pt x="38252" y="822182"/>
                  </a:lnTo>
                  <a:lnTo>
                    <a:pt x="47807" y="831753"/>
                  </a:lnTo>
                  <a:lnTo>
                    <a:pt x="57363" y="831753"/>
                  </a:lnTo>
                  <a:lnTo>
                    <a:pt x="76489" y="841308"/>
                  </a:lnTo>
                  <a:lnTo>
                    <a:pt x="219897" y="841308"/>
                  </a:lnTo>
                  <a:lnTo>
                    <a:pt x="239008" y="831753"/>
                  </a:lnTo>
                  <a:lnTo>
                    <a:pt x="248579" y="831753"/>
                  </a:lnTo>
                  <a:lnTo>
                    <a:pt x="258135" y="822182"/>
                  </a:lnTo>
                  <a:lnTo>
                    <a:pt x="277261" y="812627"/>
                  </a:lnTo>
                  <a:lnTo>
                    <a:pt x="286816" y="803071"/>
                  </a:lnTo>
                  <a:lnTo>
                    <a:pt x="286816" y="793501"/>
                  </a:lnTo>
                  <a:lnTo>
                    <a:pt x="296372" y="774390"/>
                  </a:lnTo>
                  <a:lnTo>
                    <a:pt x="296372" y="764834"/>
                  </a:lnTo>
                </a:path>
              </a:pathLst>
            </a:custGeom>
            <a:ln w="1062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027688" y="2329444"/>
              <a:ext cx="296545" cy="1252855"/>
            </a:xfrm>
            <a:custGeom>
              <a:avLst/>
              <a:gdLst/>
              <a:ahLst/>
              <a:cxnLst/>
              <a:rect l="l" t="t" r="r" b="b"/>
              <a:pathLst>
                <a:path w="296545" h="1252854">
                  <a:moveTo>
                    <a:pt x="248579" y="0"/>
                  </a:moveTo>
                  <a:lnTo>
                    <a:pt x="47807" y="0"/>
                  </a:lnTo>
                  <a:lnTo>
                    <a:pt x="28681" y="9555"/>
                  </a:lnTo>
                  <a:lnTo>
                    <a:pt x="9570" y="28681"/>
                  </a:lnTo>
                  <a:lnTo>
                    <a:pt x="9570" y="47792"/>
                  </a:lnTo>
                  <a:lnTo>
                    <a:pt x="0" y="57363"/>
                  </a:lnTo>
                  <a:lnTo>
                    <a:pt x="0" y="1185489"/>
                  </a:lnTo>
                  <a:lnTo>
                    <a:pt x="9570" y="1204600"/>
                  </a:lnTo>
                  <a:lnTo>
                    <a:pt x="9570" y="1214170"/>
                  </a:lnTo>
                  <a:lnTo>
                    <a:pt x="28681" y="1233281"/>
                  </a:lnTo>
                  <a:lnTo>
                    <a:pt x="47807" y="1242852"/>
                  </a:lnTo>
                  <a:lnTo>
                    <a:pt x="57363" y="1242852"/>
                  </a:lnTo>
                  <a:lnTo>
                    <a:pt x="76489" y="1252407"/>
                  </a:lnTo>
                  <a:lnTo>
                    <a:pt x="219897" y="1252407"/>
                  </a:lnTo>
                  <a:lnTo>
                    <a:pt x="229453" y="1242852"/>
                  </a:lnTo>
                  <a:lnTo>
                    <a:pt x="248579" y="1242852"/>
                  </a:lnTo>
                  <a:lnTo>
                    <a:pt x="286816" y="1204600"/>
                  </a:lnTo>
                  <a:lnTo>
                    <a:pt x="296372" y="1185489"/>
                  </a:lnTo>
                  <a:lnTo>
                    <a:pt x="296372" y="1175933"/>
                  </a:lnTo>
                  <a:lnTo>
                    <a:pt x="296372" y="57363"/>
                  </a:lnTo>
                  <a:lnTo>
                    <a:pt x="286816" y="47792"/>
                  </a:lnTo>
                  <a:lnTo>
                    <a:pt x="277261" y="28681"/>
                  </a:lnTo>
                  <a:lnTo>
                    <a:pt x="248579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027688" y="2329444"/>
              <a:ext cx="296545" cy="1252855"/>
            </a:xfrm>
            <a:custGeom>
              <a:avLst/>
              <a:gdLst/>
              <a:ahLst/>
              <a:cxnLst/>
              <a:rect l="l" t="t" r="r" b="b"/>
              <a:pathLst>
                <a:path w="296545" h="1252854">
                  <a:moveTo>
                    <a:pt x="296372" y="1175933"/>
                  </a:moveTo>
                  <a:lnTo>
                    <a:pt x="296372" y="57363"/>
                  </a:lnTo>
                  <a:lnTo>
                    <a:pt x="286816" y="47792"/>
                  </a:lnTo>
                  <a:lnTo>
                    <a:pt x="277261" y="28681"/>
                  </a:lnTo>
                  <a:lnTo>
                    <a:pt x="267690" y="19110"/>
                  </a:lnTo>
                  <a:lnTo>
                    <a:pt x="258135" y="9555"/>
                  </a:lnTo>
                  <a:lnTo>
                    <a:pt x="248579" y="0"/>
                  </a:lnTo>
                  <a:lnTo>
                    <a:pt x="219897" y="0"/>
                  </a:lnTo>
                  <a:lnTo>
                    <a:pt x="47807" y="0"/>
                  </a:lnTo>
                  <a:lnTo>
                    <a:pt x="28681" y="9555"/>
                  </a:lnTo>
                  <a:lnTo>
                    <a:pt x="19126" y="19110"/>
                  </a:lnTo>
                  <a:lnTo>
                    <a:pt x="9570" y="28681"/>
                  </a:lnTo>
                  <a:lnTo>
                    <a:pt x="9570" y="47792"/>
                  </a:lnTo>
                  <a:lnTo>
                    <a:pt x="0" y="57363"/>
                  </a:lnTo>
                  <a:lnTo>
                    <a:pt x="0" y="1185489"/>
                  </a:lnTo>
                  <a:lnTo>
                    <a:pt x="9570" y="1204600"/>
                  </a:lnTo>
                  <a:lnTo>
                    <a:pt x="9570" y="1214170"/>
                  </a:lnTo>
                  <a:lnTo>
                    <a:pt x="19126" y="1223726"/>
                  </a:lnTo>
                  <a:lnTo>
                    <a:pt x="28681" y="1233281"/>
                  </a:lnTo>
                  <a:lnTo>
                    <a:pt x="47807" y="1242852"/>
                  </a:lnTo>
                  <a:lnTo>
                    <a:pt x="57363" y="1242852"/>
                  </a:lnTo>
                  <a:lnTo>
                    <a:pt x="76489" y="1252407"/>
                  </a:lnTo>
                  <a:lnTo>
                    <a:pt x="219897" y="1252407"/>
                  </a:lnTo>
                  <a:lnTo>
                    <a:pt x="229453" y="1242852"/>
                  </a:lnTo>
                  <a:lnTo>
                    <a:pt x="248579" y="1242852"/>
                  </a:lnTo>
                  <a:lnTo>
                    <a:pt x="258135" y="1233281"/>
                  </a:lnTo>
                  <a:lnTo>
                    <a:pt x="267690" y="1223726"/>
                  </a:lnTo>
                  <a:lnTo>
                    <a:pt x="277261" y="1214170"/>
                  </a:lnTo>
                  <a:lnTo>
                    <a:pt x="286816" y="1204600"/>
                  </a:lnTo>
                  <a:lnTo>
                    <a:pt x="296372" y="1185489"/>
                  </a:lnTo>
                  <a:lnTo>
                    <a:pt x="296372" y="1175933"/>
                  </a:lnTo>
                </a:path>
              </a:pathLst>
            </a:custGeom>
            <a:ln w="1062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507589" y="3180323"/>
              <a:ext cx="296545" cy="401955"/>
            </a:xfrm>
            <a:custGeom>
              <a:avLst/>
              <a:gdLst/>
              <a:ahLst/>
              <a:cxnLst/>
              <a:rect l="l" t="t" r="r" b="b"/>
              <a:pathLst>
                <a:path w="296544" h="401954">
                  <a:moveTo>
                    <a:pt x="239008" y="0"/>
                  </a:moveTo>
                  <a:lnTo>
                    <a:pt x="66918" y="0"/>
                  </a:lnTo>
                  <a:lnTo>
                    <a:pt x="47807" y="9555"/>
                  </a:lnTo>
                  <a:lnTo>
                    <a:pt x="9555" y="47792"/>
                  </a:lnTo>
                  <a:lnTo>
                    <a:pt x="9555" y="66918"/>
                  </a:lnTo>
                  <a:lnTo>
                    <a:pt x="0" y="76474"/>
                  </a:lnTo>
                  <a:lnTo>
                    <a:pt x="0" y="325053"/>
                  </a:lnTo>
                  <a:lnTo>
                    <a:pt x="9555" y="334609"/>
                  </a:lnTo>
                  <a:lnTo>
                    <a:pt x="9555" y="353720"/>
                  </a:lnTo>
                  <a:lnTo>
                    <a:pt x="47807" y="391972"/>
                  </a:lnTo>
                  <a:lnTo>
                    <a:pt x="66918" y="391972"/>
                  </a:lnTo>
                  <a:lnTo>
                    <a:pt x="76489" y="401528"/>
                  </a:lnTo>
                  <a:lnTo>
                    <a:pt x="219882" y="401528"/>
                  </a:lnTo>
                  <a:lnTo>
                    <a:pt x="239008" y="391972"/>
                  </a:lnTo>
                  <a:lnTo>
                    <a:pt x="248564" y="391972"/>
                  </a:lnTo>
                  <a:lnTo>
                    <a:pt x="267690" y="382402"/>
                  </a:lnTo>
                  <a:lnTo>
                    <a:pt x="296372" y="353720"/>
                  </a:lnTo>
                  <a:lnTo>
                    <a:pt x="296372" y="325053"/>
                  </a:lnTo>
                  <a:lnTo>
                    <a:pt x="296372" y="47792"/>
                  </a:lnTo>
                  <a:lnTo>
                    <a:pt x="267690" y="19110"/>
                  </a:lnTo>
                  <a:lnTo>
                    <a:pt x="248564" y="9555"/>
                  </a:lnTo>
                  <a:lnTo>
                    <a:pt x="23900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507589" y="3180323"/>
              <a:ext cx="296545" cy="401955"/>
            </a:xfrm>
            <a:custGeom>
              <a:avLst/>
              <a:gdLst/>
              <a:ahLst/>
              <a:cxnLst/>
              <a:rect l="l" t="t" r="r" b="b"/>
              <a:pathLst>
                <a:path w="296544" h="401954">
                  <a:moveTo>
                    <a:pt x="296372" y="325053"/>
                  </a:moveTo>
                  <a:lnTo>
                    <a:pt x="296372" y="47792"/>
                  </a:lnTo>
                  <a:lnTo>
                    <a:pt x="286816" y="38237"/>
                  </a:lnTo>
                  <a:lnTo>
                    <a:pt x="277246" y="28666"/>
                  </a:lnTo>
                  <a:lnTo>
                    <a:pt x="267690" y="19110"/>
                  </a:lnTo>
                  <a:lnTo>
                    <a:pt x="248564" y="9555"/>
                  </a:lnTo>
                  <a:lnTo>
                    <a:pt x="239008" y="0"/>
                  </a:lnTo>
                  <a:lnTo>
                    <a:pt x="219882" y="0"/>
                  </a:lnTo>
                  <a:lnTo>
                    <a:pt x="66918" y="0"/>
                  </a:lnTo>
                  <a:lnTo>
                    <a:pt x="47807" y="9555"/>
                  </a:lnTo>
                  <a:lnTo>
                    <a:pt x="38237" y="19110"/>
                  </a:lnTo>
                  <a:lnTo>
                    <a:pt x="28681" y="28666"/>
                  </a:lnTo>
                  <a:lnTo>
                    <a:pt x="19126" y="38237"/>
                  </a:lnTo>
                  <a:lnTo>
                    <a:pt x="9555" y="47792"/>
                  </a:lnTo>
                  <a:lnTo>
                    <a:pt x="9555" y="66918"/>
                  </a:lnTo>
                  <a:lnTo>
                    <a:pt x="0" y="76474"/>
                  </a:lnTo>
                  <a:lnTo>
                    <a:pt x="0" y="325053"/>
                  </a:lnTo>
                  <a:lnTo>
                    <a:pt x="9555" y="334609"/>
                  </a:lnTo>
                  <a:lnTo>
                    <a:pt x="9555" y="353720"/>
                  </a:lnTo>
                  <a:lnTo>
                    <a:pt x="19126" y="363291"/>
                  </a:lnTo>
                  <a:lnTo>
                    <a:pt x="28681" y="372846"/>
                  </a:lnTo>
                  <a:lnTo>
                    <a:pt x="38237" y="382402"/>
                  </a:lnTo>
                  <a:lnTo>
                    <a:pt x="47807" y="391972"/>
                  </a:lnTo>
                  <a:lnTo>
                    <a:pt x="66918" y="391972"/>
                  </a:lnTo>
                  <a:lnTo>
                    <a:pt x="76489" y="401528"/>
                  </a:lnTo>
                  <a:lnTo>
                    <a:pt x="219882" y="401528"/>
                  </a:lnTo>
                  <a:lnTo>
                    <a:pt x="239008" y="391972"/>
                  </a:lnTo>
                  <a:lnTo>
                    <a:pt x="248564" y="391972"/>
                  </a:lnTo>
                  <a:lnTo>
                    <a:pt x="267690" y="382402"/>
                  </a:lnTo>
                  <a:lnTo>
                    <a:pt x="277246" y="372846"/>
                  </a:lnTo>
                  <a:lnTo>
                    <a:pt x="286816" y="363291"/>
                  </a:lnTo>
                  <a:lnTo>
                    <a:pt x="296372" y="353720"/>
                  </a:lnTo>
                  <a:lnTo>
                    <a:pt x="296372" y="325053"/>
                  </a:lnTo>
                </a:path>
              </a:pathLst>
            </a:custGeom>
            <a:ln w="1062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534387" y="1918344"/>
              <a:ext cx="296545" cy="1663700"/>
            </a:xfrm>
            <a:custGeom>
              <a:avLst/>
              <a:gdLst/>
              <a:ahLst/>
              <a:cxnLst/>
              <a:rect l="l" t="t" r="r" b="b"/>
              <a:pathLst>
                <a:path w="296545" h="1663700">
                  <a:moveTo>
                    <a:pt x="229453" y="1653951"/>
                  </a:moveTo>
                  <a:lnTo>
                    <a:pt x="57363" y="1653951"/>
                  </a:lnTo>
                  <a:lnTo>
                    <a:pt x="76489" y="1663507"/>
                  </a:lnTo>
                  <a:lnTo>
                    <a:pt x="219897" y="1663507"/>
                  </a:lnTo>
                  <a:lnTo>
                    <a:pt x="229453" y="1653951"/>
                  </a:lnTo>
                  <a:close/>
                </a:path>
                <a:path w="296545" h="1663700">
                  <a:moveTo>
                    <a:pt x="258135" y="9555"/>
                  </a:moveTo>
                  <a:lnTo>
                    <a:pt x="28681" y="9555"/>
                  </a:lnTo>
                  <a:lnTo>
                    <a:pt x="19126" y="19110"/>
                  </a:lnTo>
                  <a:lnTo>
                    <a:pt x="9570" y="38237"/>
                  </a:lnTo>
                  <a:lnTo>
                    <a:pt x="0" y="47792"/>
                  </a:lnTo>
                  <a:lnTo>
                    <a:pt x="0" y="1615699"/>
                  </a:lnTo>
                  <a:lnTo>
                    <a:pt x="28681" y="1644380"/>
                  </a:lnTo>
                  <a:lnTo>
                    <a:pt x="47807" y="1653951"/>
                  </a:lnTo>
                  <a:lnTo>
                    <a:pt x="248579" y="1653951"/>
                  </a:lnTo>
                  <a:lnTo>
                    <a:pt x="286816" y="1615699"/>
                  </a:lnTo>
                  <a:lnTo>
                    <a:pt x="286816" y="1596588"/>
                  </a:lnTo>
                  <a:lnTo>
                    <a:pt x="296387" y="1587032"/>
                  </a:lnTo>
                  <a:lnTo>
                    <a:pt x="296387" y="76474"/>
                  </a:lnTo>
                  <a:lnTo>
                    <a:pt x="286816" y="57363"/>
                  </a:lnTo>
                  <a:lnTo>
                    <a:pt x="286816" y="47792"/>
                  </a:lnTo>
                  <a:lnTo>
                    <a:pt x="277261" y="38237"/>
                  </a:lnTo>
                  <a:lnTo>
                    <a:pt x="267705" y="19110"/>
                  </a:lnTo>
                  <a:lnTo>
                    <a:pt x="258135" y="9555"/>
                  </a:lnTo>
                  <a:close/>
                </a:path>
                <a:path w="296545" h="1663700">
                  <a:moveTo>
                    <a:pt x="229453" y="0"/>
                  </a:moveTo>
                  <a:lnTo>
                    <a:pt x="57363" y="0"/>
                  </a:lnTo>
                  <a:lnTo>
                    <a:pt x="47807" y="9555"/>
                  </a:lnTo>
                  <a:lnTo>
                    <a:pt x="248579" y="9555"/>
                  </a:lnTo>
                  <a:lnTo>
                    <a:pt x="229453" y="0"/>
                  </a:lnTo>
                  <a:close/>
                </a:path>
              </a:pathLst>
            </a:custGeom>
            <a:solidFill>
              <a:srgbClr val="FFCC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534387" y="1918345"/>
              <a:ext cx="296545" cy="1663700"/>
            </a:xfrm>
            <a:custGeom>
              <a:avLst/>
              <a:gdLst/>
              <a:ahLst/>
              <a:cxnLst/>
              <a:rect l="l" t="t" r="r" b="b"/>
              <a:pathLst>
                <a:path w="296545" h="1663700">
                  <a:moveTo>
                    <a:pt x="296387" y="1587032"/>
                  </a:moveTo>
                  <a:lnTo>
                    <a:pt x="296387" y="76474"/>
                  </a:lnTo>
                  <a:lnTo>
                    <a:pt x="286816" y="57363"/>
                  </a:lnTo>
                  <a:lnTo>
                    <a:pt x="286816" y="47792"/>
                  </a:lnTo>
                  <a:lnTo>
                    <a:pt x="277261" y="38237"/>
                  </a:lnTo>
                  <a:lnTo>
                    <a:pt x="267705" y="19110"/>
                  </a:lnTo>
                  <a:lnTo>
                    <a:pt x="258135" y="9555"/>
                  </a:lnTo>
                  <a:lnTo>
                    <a:pt x="248579" y="9555"/>
                  </a:lnTo>
                  <a:lnTo>
                    <a:pt x="229453" y="0"/>
                  </a:lnTo>
                  <a:lnTo>
                    <a:pt x="219897" y="0"/>
                  </a:lnTo>
                  <a:lnTo>
                    <a:pt x="57363" y="0"/>
                  </a:lnTo>
                  <a:lnTo>
                    <a:pt x="47807" y="9555"/>
                  </a:lnTo>
                  <a:lnTo>
                    <a:pt x="28681" y="9555"/>
                  </a:lnTo>
                  <a:lnTo>
                    <a:pt x="19126" y="19110"/>
                  </a:lnTo>
                  <a:lnTo>
                    <a:pt x="9570" y="38237"/>
                  </a:lnTo>
                  <a:lnTo>
                    <a:pt x="0" y="47792"/>
                  </a:lnTo>
                  <a:lnTo>
                    <a:pt x="0" y="1615699"/>
                  </a:lnTo>
                  <a:lnTo>
                    <a:pt x="9570" y="1625269"/>
                  </a:lnTo>
                  <a:lnTo>
                    <a:pt x="19126" y="1634825"/>
                  </a:lnTo>
                  <a:lnTo>
                    <a:pt x="28681" y="1644380"/>
                  </a:lnTo>
                  <a:lnTo>
                    <a:pt x="47807" y="1653951"/>
                  </a:lnTo>
                  <a:lnTo>
                    <a:pt x="57363" y="1653951"/>
                  </a:lnTo>
                  <a:lnTo>
                    <a:pt x="76489" y="1663506"/>
                  </a:lnTo>
                  <a:lnTo>
                    <a:pt x="219897" y="1663506"/>
                  </a:lnTo>
                  <a:lnTo>
                    <a:pt x="229453" y="1653951"/>
                  </a:lnTo>
                  <a:lnTo>
                    <a:pt x="248579" y="1653951"/>
                  </a:lnTo>
                  <a:lnTo>
                    <a:pt x="258135" y="1644380"/>
                  </a:lnTo>
                  <a:lnTo>
                    <a:pt x="267705" y="1634825"/>
                  </a:lnTo>
                  <a:lnTo>
                    <a:pt x="277261" y="1625269"/>
                  </a:lnTo>
                  <a:lnTo>
                    <a:pt x="286816" y="1615699"/>
                  </a:lnTo>
                  <a:lnTo>
                    <a:pt x="286816" y="1596588"/>
                  </a:lnTo>
                  <a:lnTo>
                    <a:pt x="296387" y="1587032"/>
                  </a:lnTo>
                </a:path>
              </a:pathLst>
            </a:custGeom>
            <a:ln w="1062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5318351" y="3931383"/>
            <a:ext cx="1024890" cy="1993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00" spc="20">
                <a:solidFill>
                  <a:srgbClr val="FFFFFF"/>
                </a:solidFill>
                <a:latin typeface="Arial"/>
                <a:cs typeface="Arial"/>
              </a:rPr>
              <a:t>Greedy</a:t>
            </a:r>
            <a:r>
              <a:rPr dirty="0" sz="1100" spc="-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15">
                <a:solidFill>
                  <a:srgbClr val="FFFFFF"/>
                </a:solidFill>
                <a:latin typeface="Arial"/>
                <a:cs typeface="Arial"/>
              </a:rPr>
              <a:t>solution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603194" y="3290846"/>
            <a:ext cx="93345" cy="1993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00" spc="20">
                <a:solidFill>
                  <a:srgbClr val="FF000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062093" y="3185681"/>
            <a:ext cx="173355" cy="1993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00" spc="20">
                <a:solidFill>
                  <a:srgbClr val="FF000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587916" y="3061396"/>
            <a:ext cx="173355" cy="1993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00" spc="20">
                <a:solidFill>
                  <a:srgbClr val="FF0000"/>
                </a:solidFill>
                <a:latin typeface="Arial"/>
                <a:cs typeface="Arial"/>
              </a:rPr>
              <a:t>20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094617" y="2841506"/>
            <a:ext cx="173355" cy="1993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00" spc="20">
                <a:solidFill>
                  <a:srgbClr val="FF0000"/>
                </a:solidFill>
                <a:latin typeface="Arial"/>
                <a:cs typeface="Arial"/>
              </a:rPr>
              <a:t>30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582198" y="2631177"/>
            <a:ext cx="173355" cy="1993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00" spc="20">
                <a:solidFill>
                  <a:srgbClr val="FF0000"/>
                </a:solidFill>
                <a:latin typeface="Arial"/>
                <a:cs typeface="Arial"/>
              </a:rPr>
              <a:t>40</a:t>
            </a:r>
            <a:endParaRPr sz="11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838362" y="3502441"/>
            <a:ext cx="3039745" cy="5226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793115" marR="5080" indent="-793750">
              <a:lnSpc>
                <a:spcPct val="148300"/>
              </a:lnSpc>
              <a:spcBef>
                <a:spcPts val="90"/>
              </a:spcBef>
              <a:tabLst>
                <a:tab pos="1184910" algn="l"/>
                <a:tab pos="1290320" algn="l"/>
                <a:tab pos="1672589" algn="l"/>
                <a:tab pos="1806575" algn="l"/>
                <a:tab pos="2217420" algn="l"/>
                <a:tab pos="2303780" algn="l"/>
                <a:tab pos="2705100" algn="l"/>
                <a:tab pos="2810510" algn="l"/>
              </a:tabLst>
            </a:pPr>
            <a:r>
              <a:rPr dirty="0" sz="1100" spc="15">
                <a:solidFill>
                  <a:srgbClr val="FFFFFF"/>
                </a:solidFill>
                <a:latin typeface="Arial"/>
                <a:cs typeface="Arial"/>
              </a:rPr>
              <a:t>knapsack</a:t>
            </a:r>
            <a:r>
              <a:rPr dirty="0" sz="1100" spc="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00" spc="20">
                <a:solidFill>
                  <a:srgbClr val="FFFFFF"/>
                </a:solidFill>
                <a:latin typeface="Arial"/>
                <a:cs typeface="Arial"/>
              </a:rPr>
              <a:t>$30</a:t>
            </a:r>
            <a:r>
              <a:rPr dirty="0" sz="110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100" spc="20">
                <a:solidFill>
                  <a:srgbClr val="FFFFFF"/>
                </a:solidFill>
                <a:latin typeface="Arial"/>
                <a:cs typeface="Arial"/>
              </a:rPr>
              <a:t>$20</a:t>
            </a:r>
            <a:r>
              <a:rPr dirty="0" sz="110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100" spc="20">
                <a:solidFill>
                  <a:srgbClr val="FFFFFF"/>
                </a:solidFill>
                <a:latin typeface="Arial"/>
                <a:cs typeface="Arial"/>
              </a:rPr>
              <a:t>$100</a:t>
            </a:r>
            <a:r>
              <a:rPr dirty="0" sz="110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100" spc="20">
                <a:solidFill>
                  <a:srgbClr val="FFFFFF"/>
                </a:solidFill>
                <a:latin typeface="Arial"/>
                <a:cs typeface="Arial"/>
              </a:rPr>
              <a:t>$90</a:t>
            </a:r>
            <a:r>
              <a:rPr dirty="0" sz="110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100" spc="15">
                <a:solidFill>
                  <a:srgbClr val="FFFFFF"/>
                </a:solidFill>
                <a:latin typeface="Arial"/>
                <a:cs typeface="Arial"/>
              </a:rPr>
              <a:t>$160  </a:t>
            </a:r>
            <a:r>
              <a:rPr dirty="0" sz="1100" spc="20">
                <a:solidFill>
                  <a:srgbClr val="FFFFFF"/>
                </a:solidFill>
                <a:latin typeface="Arial"/>
                <a:cs typeface="Arial"/>
              </a:rPr>
              <a:t>6		2		5		3		4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010445" y="1000546"/>
            <a:ext cx="344170" cy="2581910"/>
          </a:xfrm>
          <a:prstGeom prst="rect">
            <a:avLst/>
          </a:prstGeom>
          <a:solidFill>
            <a:srgbClr val="959595"/>
          </a:solidFill>
          <a:ln w="29743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 marL="85725">
              <a:lnSpc>
                <a:spcPct val="100000"/>
              </a:lnSpc>
              <a:spcBef>
                <a:spcPts val="810"/>
              </a:spcBef>
            </a:pPr>
            <a:r>
              <a:rPr dirty="0" sz="1100" spc="20">
                <a:solidFill>
                  <a:srgbClr val="FF0000"/>
                </a:solidFill>
                <a:latin typeface="Arial"/>
                <a:cs typeface="Arial"/>
              </a:rPr>
              <a:t>60</a:t>
            </a:r>
            <a:endParaRPr sz="11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5566912" y="1000546"/>
            <a:ext cx="354330" cy="2581910"/>
            <a:chOff x="5566912" y="1000546"/>
            <a:chExt cx="354330" cy="2581910"/>
          </a:xfrm>
        </p:grpSpPr>
        <p:sp>
          <p:nvSpPr>
            <p:cNvPr id="25" name="object 25"/>
            <p:cNvSpPr/>
            <p:nvPr/>
          </p:nvSpPr>
          <p:spPr>
            <a:xfrm>
              <a:off x="5566912" y="1000546"/>
              <a:ext cx="354330" cy="2581910"/>
            </a:xfrm>
            <a:custGeom>
              <a:avLst/>
              <a:gdLst/>
              <a:ahLst/>
              <a:cxnLst/>
              <a:rect l="l" t="t" r="r" b="b"/>
              <a:pathLst>
                <a:path w="354329" h="2581910">
                  <a:moveTo>
                    <a:pt x="353735" y="0"/>
                  </a:moveTo>
                  <a:lnTo>
                    <a:pt x="0" y="0"/>
                  </a:lnTo>
                  <a:lnTo>
                    <a:pt x="0" y="2581305"/>
                  </a:lnTo>
                  <a:lnTo>
                    <a:pt x="353735" y="2581305"/>
                  </a:lnTo>
                  <a:lnTo>
                    <a:pt x="353735" y="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605165" y="3151641"/>
              <a:ext cx="287020" cy="421005"/>
            </a:xfrm>
            <a:custGeom>
              <a:avLst/>
              <a:gdLst/>
              <a:ahLst/>
              <a:cxnLst/>
              <a:rect l="l" t="t" r="r" b="b"/>
              <a:pathLst>
                <a:path w="287020" h="421004">
                  <a:moveTo>
                    <a:pt x="219882" y="411083"/>
                  </a:moveTo>
                  <a:lnTo>
                    <a:pt x="66918" y="411083"/>
                  </a:lnTo>
                  <a:lnTo>
                    <a:pt x="76474" y="420654"/>
                  </a:lnTo>
                  <a:lnTo>
                    <a:pt x="210327" y="420654"/>
                  </a:lnTo>
                  <a:lnTo>
                    <a:pt x="219882" y="411083"/>
                  </a:lnTo>
                  <a:close/>
                </a:path>
                <a:path w="287020" h="421004">
                  <a:moveTo>
                    <a:pt x="239008" y="0"/>
                  </a:moveTo>
                  <a:lnTo>
                    <a:pt x="47792" y="0"/>
                  </a:lnTo>
                  <a:lnTo>
                    <a:pt x="9555" y="38237"/>
                  </a:lnTo>
                  <a:lnTo>
                    <a:pt x="0" y="57348"/>
                  </a:lnTo>
                  <a:lnTo>
                    <a:pt x="0" y="353735"/>
                  </a:lnTo>
                  <a:lnTo>
                    <a:pt x="9555" y="372846"/>
                  </a:lnTo>
                  <a:lnTo>
                    <a:pt x="47792" y="411083"/>
                  </a:lnTo>
                  <a:lnTo>
                    <a:pt x="239008" y="411083"/>
                  </a:lnTo>
                  <a:lnTo>
                    <a:pt x="277246" y="372846"/>
                  </a:lnTo>
                  <a:lnTo>
                    <a:pt x="277246" y="353735"/>
                  </a:lnTo>
                  <a:lnTo>
                    <a:pt x="286801" y="344164"/>
                  </a:lnTo>
                  <a:lnTo>
                    <a:pt x="286801" y="66918"/>
                  </a:lnTo>
                  <a:lnTo>
                    <a:pt x="277246" y="57348"/>
                  </a:lnTo>
                  <a:lnTo>
                    <a:pt x="277246" y="38237"/>
                  </a:lnTo>
                  <a:lnTo>
                    <a:pt x="23900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605165" y="3151642"/>
              <a:ext cx="287020" cy="421005"/>
            </a:xfrm>
            <a:custGeom>
              <a:avLst/>
              <a:gdLst/>
              <a:ahLst/>
              <a:cxnLst/>
              <a:rect l="l" t="t" r="r" b="b"/>
              <a:pathLst>
                <a:path w="287020" h="421004">
                  <a:moveTo>
                    <a:pt x="286801" y="344164"/>
                  </a:moveTo>
                  <a:lnTo>
                    <a:pt x="286801" y="66918"/>
                  </a:lnTo>
                  <a:lnTo>
                    <a:pt x="277246" y="57348"/>
                  </a:lnTo>
                  <a:lnTo>
                    <a:pt x="277246" y="38237"/>
                  </a:lnTo>
                  <a:lnTo>
                    <a:pt x="267690" y="28681"/>
                  </a:lnTo>
                  <a:lnTo>
                    <a:pt x="258119" y="19110"/>
                  </a:lnTo>
                  <a:lnTo>
                    <a:pt x="248564" y="9555"/>
                  </a:lnTo>
                  <a:lnTo>
                    <a:pt x="239008" y="0"/>
                  </a:lnTo>
                  <a:lnTo>
                    <a:pt x="210327" y="0"/>
                  </a:lnTo>
                  <a:lnTo>
                    <a:pt x="47792" y="0"/>
                  </a:lnTo>
                  <a:lnTo>
                    <a:pt x="38237" y="9555"/>
                  </a:lnTo>
                  <a:lnTo>
                    <a:pt x="28681" y="19110"/>
                  </a:lnTo>
                  <a:lnTo>
                    <a:pt x="19110" y="28681"/>
                  </a:lnTo>
                  <a:lnTo>
                    <a:pt x="9555" y="38237"/>
                  </a:lnTo>
                  <a:lnTo>
                    <a:pt x="0" y="57348"/>
                  </a:lnTo>
                  <a:lnTo>
                    <a:pt x="0" y="353735"/>
                  </a:lnTo>
                  <a:lnTo>
                    <a:pt x="9555" y="372846"/>
                  </a:lnTo>
                  <a:lnTo>
                    <a:pt x="19110" y="382402"/>
                  </a:lnTo>
                  <a:lnTo>
                    <a:pt x="28681" y="391972"/>
                  </a:lnTo>
                  <a:lnTo>
                    <a:pt x="38237" y="401528"/>
                  </a:lnTo>
                  <a:lnTo>
                    <a:pt x="47792" y="411083"/>
                  </a:lnTo>
                  <a:lnTo>
                    <a:pt x="66918" y="411083"/>
                  </a:lnTo>
                  <a:lnTo>
                    <a:pt x="76474" y="420654"/>
                  </a:lnTo>
                  <a:lnTo>
                    <a:pt x="210327" y="420654"/>
                  </a:lnTo>
                  <a:lnTo>
                    <a:pt x="219882" y="411083"/>
                  </a:lnTo>
                  <a:lnTo>
                    <a:pt x="239008" y="411083"/>
                  </a:lnTo>
                  <a:lnTo>
                    <a:pt x="248564" y="401528"/>
                  </a:lnTo>
                  <a:lnTo>
                    <a:pt x="258119" y="391972"/>
                  </a:lnTo>
                  <a:lnTo>
                    <a:pt x="267690" y="382402"/>
                  </a:lnTo>
                  <a:lnTo>
                    <a:pt x="277246" y="372846"/>
                  </a:lnTo>
                  <a:lnTo>
                    <a:pt x="277246" y="353735"/>
                  </a:lnTo>
                  <a:lnTo>
                    <a:pt x="286801" y="344164"/>
                  </a:lnTo>
                </a:path>
              </a:pathLst>
            </a:custGeom>
            <a:ln w="1062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5595594" y="2300762"/>
              <a:ext cx="296545" cy="831850"/>
            </a:xfrm>
            <a:custGeom>
              <a:avLst/>
              <a:gdLst/>
              <a:ahLst/>
              <a:cxnLst/>
              <a:rect l="l" t="t" r="r" b="b"/>
              <a:pathLst>
                <a:path w="296545" h="831850">
                  <a:moveTo>
                    <a:pt x="219897" y="0"/>
                  </a:moveTo>
                  <a:lnTo>
                    <a:pt x="76489" y="0"/>
                  </a:lnTo>
                  <a:lnTo>
                    <a:pt x="66934" y="9555"/>
                  </a:lnTo>
                  <a:lnTo>
                    <a:pt x="47807" y="9555"/>
                  </a:lnTo>
                  <a:lnTo>
                    <a:pt x="9570" y="47792"/>
                  </a:lnTo>
                  <a:lnTo>
                    <a:pt x="0" y="66918"/>
                  </a:lnTo>
                  <a:lnTo>
                    <a:pt x="0" y="774390"/>
                  </a:lnTo>
                  <a:lnTo>
                    <a:pt x="9570" y="783945"/>
                  </a:lnTo>
                  <a:lnTo>
                    <a:pt x="19126" y="803071"/>
                  </a:lnTo>
                  <a:lnTo>
                    <a:pt x="47807" y="831753"/>
                  </a:lnTo>
                  <a:lnTo>
                    <a:pt x="248579" y="831753"/>
                  </a:lnTo>
                  <a:lnTo>
                    <a:pt x="267690" y="822197"/>
                  </a:lnTo>
                  <a:lnTo>
                    <a:pt x="286816" y="803071"/>
                  </a:lnTo>
                  <a:lnTo>
                    <a:pt x="286816" y="783945"/>
                  </a:lnTo>
                  <a:lnTo>
                    <a:pt x="296372" y="774390"/>
                  </a:lnTo>
                  <a:lnTo>
                    <a:pt x="296372" y="755263"/>
                  </a:lnTo>
                  <a:lnTo>
                    <a:pt x="296372" y="66918"/>
                  </a:lnTo>
                  <a:lnTo>
                    <a:pt x="286816" y="47792"/>
                  </a:lnTo>
                  <a:lnTo>
                    <a:pt x="286816" y="38237"/>
                  </a:lnTo>
                  <a:lnTo>
                    <a:pt x="267690" y="19110"/>
                  </a:lnTo>
                  <a:lnTo>
                    <a:pt x="248579" y="9555"/>
                  </a:lnTo>
                  <a:lnTo>
                    <a:pt x="239008" y="9555"/>
                  </a:lnTo>
                  <a:lnTo>
                    <a:pt x="219897" y="0"/>
                  </a:lnTo>
                  <a:close/>
                </a:path>
              </a:pathLst>
            </a:custGeom>
            <a:solidFill>
              <a:srgbClr val="FF99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5595594" y="2300762"/>
              <a:ext cx="296545" cy="831850"/>
            </a:xfrm>
            <a:custGeom>
              <a:avLst/>
              <a:gdLst/>
              <a:ahLst/>
              <a:cxnLst/>
              <a:rect l="l" t="t" r="r" b="b"/>
              <a:pathLst>
                <a:path w="296545" h="831850">
                  <a:moveTo>
                    <a:pt x="296372" y="755263"/>
                  </a:moveTo>
                  <a:lnTo>
                    <a:pt x="296372" y="66918"/>
                  </a:lnTo>
                  <a:lnTo>
                    <a:pt x="286816" y="47792"/>
                  </a:lnTo>
                  <a:lnTo>
                    <a:pt x="286816" y="38237"/>
                  </a:lnTo>
                  <a:lnTo>
                    <a:pt x="277261" y="28681"/>
                  </a:lnTo>
                  <a:lnTo>
                    <a:pt x="267690" y="19110"/>
                  </a:lnTo>
                  <a:lnTo>
                    <a:pt x="248579" y="9555"/>
                  </a:lnTo>
                  <a:lnTo>
                    <a:pt x="239008" y="9555"/>
                  </a:lnTo>
                  <a:lnTo>
                    <a:pt x="219897" y="0"/>
                  </a:lnTo>
                  <a:lnTo>
                    <a:pt x="76489" y="0"/>
                  </a:lnTo>
                  <a:lnTo>
                    <a:pt x="66934" y="9555"/>
                  </a:lnTo>
                  <a:lnTo>
                    <a:pt x="47807" y="9555"/>
                  </a:lnTo>
                  <a:lnTo>
                    <a:pt x="38252" y="19110"/>
                  </a:lnTo>
                  <a:lnTo>
                    <a:pt x="28681" y="28681"/>
                  </a:lnTo>
                  <a:lnTo>
                    <a:pt x="19126" y="38237"/>
                  </a:lnTo>
                  <a:lnTo>
                    <a:pt x="9570" y="47792"/>
                  </a:lnTo>
                  <a:lnTo>
                    <a:pt x="0" y="66918"/>
                  </a:lnTo>
                  <a:lnTo>
                    <a:pt x="0" y="774390"/>
                  </a:lnTo>
                  <a:lnTo>
                    <a:pt x="9570" y="783945"/>
                  </a:lnTo>
                  <a:lnTo>
                    <a:pt x="19126" y="803071"/>
                  </a:lnTo>
                  <a:lnTo>
                    <a:pt x="28681" y="812627"/>
                  </a:lnTo>
                  <a:lnTo>
                    <a:pt x="38252" y="822197"/>
                  </a:lnTo>
                  <a:lnTo>
                    <a:pt x="47807" y="831753"/>
                  </a:lnTo>
                  <a:lnTo>
                    <a:pt x="76489" y="831753"/>
                  </a:lnTo>
                  <a:lnTo>
                    <a:pt x="248579" y="831753"/>
                  </a:lnTo>
                  <a:lnTo>
                    <a:pt x="267690" y="822197"/>
                  </a:lnTo>
                  <a:lnTo>
                    <a:pt x="277261" y="812627"/>
                  </a:lnTo>
                  <a:lnTo>
                    <a:pt x="286816" y="803071"/>
                  </a:lnTo>
                  <a:lnTo>
                    <a:pt x="286816" y="783945"/>
                  </a:lnTo>
                  <a:lnTo>
                    <a:pt x="296372" y="774390"/>
                  </a:lnTo>
                  <a:lnTo>
                    <a:pt x="296372" y="755263"/>
                  </a:lnTo>
                </a:path>
              </a:pathLst>
            </a:custGeom>
            <a:ln w="1062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5595594" y="1029228"/>
              <a:ext cx="296545" cy="1281430"/>
            </a:xfrm>
            <a:custGeom>
              <a:avLst/>
              <a:gdLst/>
              <a:ahLst/>
              <a:cxnLst/>
              <a:rect l="l" t="t" r="r" b="b"/>
              <a:pathLst>
                <a:path w="296545" h="1281430">
                  <a:moveTo>
                    <a:pt x="219897" y="0"/>
                  </a:moveTo>
                  <a:lnTo>
                    <a:pt x="76489" y="0"/>
                  </a:lnTo>
                  <a:lnTo>
                    <a:pt x="66934" y="9555"/>
                  </a:lnTo>
                  <a:lnTo>
                    <a:pt x="47807" y="9555"/>
                  </a:lnTo>
                  <a:lnTo>
                    <a:pt x="9570" y="47792"/>
                  </a:lnTo>
                  <a:lnTo>
                    <a:pt x="0" y="66918"/>
                  </a:lnTo>
                  <a:lnTo>
                    <a:pt x="0" y="1214170"/>
                  </a:lnTo>
                  <a:lnTo>
                    <a:pt x="9570" y="1233281"/>
                  </a:lnTo>
                  <a:lnTo>
                    <a:pt x="47807" y="1271534"/>
                  </a:lnTo>
                  <a:lnTo>
                    <a:pt x="66934" y="1281089"/>
                  </a:lnTo>
                  <a:lnTo>
                    <a:pt x="239008" y="1281089"/>
                  </a:lnTo>
                  <a:lnTo>
                    <a:pt x="248579" y="1271534"/>
                  </a:lnTo>
                  <a:lnTo>
                    <a:pt x="267690" y="1261963"/>
                  </a:lnTo>
                  <a:lnTo>
                    <a:pt x="286816" y="1242852"/>
                  </a:lnTo>
                  <a:lnTo>
                    <a:pt x="286816" y="1233281"/>
                  </a:lnTo>
                  <a:lnTo>
                    <a:pt x="296372" y="1214170"/>
                  </a:lnTo>
                  <a:lnTo>
                    <a:pt x="296372" y="1204600"/>
                  </a:lnTo>
                  <a:lnTo>
                    <a:pt x="296372" y="66918"/>
                  </a:lnTo>
                  <a:lnTo>
                    <a:pt x="286816" y="47792"/>
                  </a:lnTo>
                  <a:lnTo>
                    <a:pt x="286816" y="38237"/>
                  </a:lnTo>
                  <a:lnTo>
                    <a:pt x="267690" y="19110"/>
                  </a:lnTo>
                  <a:lnTo>
                    <a:pt x="248579" y="9555"/>
                  </a:lnTo>
                  <a:lnTo>
                    <a:pt x="239008" y="9555"/>
                  </a:lnTo>
                  <a:lnTo>
                    <a:pt x="219897" y="0"/>
                  </a:lnTo>
                  <a:close/>
                </a:path>
              </a:pathLst>
            </a:custGeom>
            <a:solidFill>
              <a:srgbClr val="FFCC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5595594" y="1029228"/>
              <a:ext cx="296545" cy="1281430"/>
            </a:xfrm>
            <a:custGeom>
              <a:avLst/>
              <a:gdLst/>
              <a:ahLst/>
              <a:cxnLst/>
              <a:rect l="l" t="t" r="r" b="b"/>
              <a:pathLst>
                <a:path w="296545" h="1281430">
                  <a:moveTo>
                    <a:pt x="296372" y="1204600"/>
                  </a:moveTo>
                  <a:lnTo>
                    <a:pt x="296372" y="66918"/>
                  </a:lnTo>
                  <a:lnTo>
                    <a:pt x="286816" y="47792"/>
                  </a:lnTo>
                  <a:lnTo>
                    <a:pt x="286816" y="38237"/>
                  </a:lnTo>
                  <a:lnTo>
                    <a:pt x="277261" y="28681"/>
                  </a:lnTo>
                  <a:lnTo>
                    <a:pt x="267690" y="19110"/>
                  </a:lnTo>
                  <a:lnTo>
                    <a:pt x="248579" y="9555"/>
                  </a:lnTo>
                  <a:lnTo>
                    <a:pt x="239008" y="9555"/>
                  </a:lnTo>
                  <a:lnTo>
                    <a:pt x="219897" y="0"/>
                  </a:lnTo>
                  <a:lnTo>
                    <a:pt x="76489" y="0"/>
                  </a:lnTo>
                  <a:lnTo>
                    <a:pt x="66934" y="9555"/>
                  </a:lnTo>
                  <a:lnTo>
                    <a:pt x="47807" y="9555"/>
                  </a:lnTo>
                  <a:lnTo>
                    <a:pt x="38252" y="19110"/>
                  </a:lnTo>
                  <a:lnTo>
                    <a:pt x="28681" y="28681"/>
                  </a:lnTo>
                  <a:lnTo>
                    <a:pt x="19126" y="38237"/>
                  </a:lnTo>
                  <a:lnTo>
                    <a:pt x="9570" y="47792"/>
                  </a:lnTo>
                  <a:lnTo>
                    <a:pt x="0" y="66918"/>
                  </a:lnTo>
                  <a:lnTo>
                    <a:pt x="0" y="1214170"/>
                  </a:lnTo>
                  <a:lnTo>
                    <a:pt x="9570" y="1233281"/>
                  </a:lnTo>
                  <a:lnTo>
                    <a:pt x="19126" y="1242852"/>
                  </a:lnTo>
                  <a:lnTo>
                    <a:pt x="28681" y="1252407"/>
                  </a:lnTo>
                  <a:lnTo>
                    <a:pt x="38252" y="1261963"/>
                  </a:lnTo>
                  <a:lnTo>
                    <a:pt x="47807" y="1271534"/>
                  </a:lnTo>
                  <a:lnTo>
                    <a:pt x="66934" y="1281089"/>
                  </a:lnTo>
                  <a:lnTo>
                    <a:pt x="76489" y="1281089"/>
                  </a:lnTo>
                  <a:lnTo>
                    <a:pt x="239008" y="1281089"/>
                  </a:lnTo>
                  <a:lnTo>
                    <a:pt x="248579" y="1271534"/>
                  </a:lnTo>
                  <a:lnTo>
                    <a:pt x="267690" y="1261963"/>
                  </a:lnTo>
                  <a:lnTo>
                    <a:pt x="277261" y="1252407"/>
                  </a:lnTo>
                  <a:lnTo>
                    <a:pt x="286816" y="1242852"/>
                  </a:lnTo>
                  <a:lnTo>
                    <a:pt x="286816" y="1233281"/>
                  </a:lnTo>
                  <a:lnTo>
                    <a:pt x="296372" y="1214170"/>
                  </a:lnTo>
                  <a:lnTo>
                    <a:pt x="296372" y="1204600"/>
                  </a:lnTo>
                </a:path>
              </a:pathLst>
            </a:custGeom>
            <a:ln w="1062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/>
          <p:cNvSpPr txBox="1"/>
          <p:nvPr/>
        </p:nvSpPr>
        <p:spPr>
          <a:xfrm>
            <a:off x="5566912" y="1000546"/>
            <a:ext cx="354330" cy="2581910"/>
          </a:xfrm>
          <a:prstGeom prst="rect">
            <a:avLst/>
          </a:prstGeom>
          <a:ln w="29743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 algn="ctr" marR="32384">
              <a:lnSpc>
                <a:spcPct val="100000"/>
              </a:lnSpc>
              <a:spcBef>
                <a:spcPts val="900"/>
              </a:spcBef>
            </a:pPr>
            <a:r>
              <a:rPr dirty="0" sz="1100" spc="20">
                <a:solidFill>
                  <a:srgbClr val="FF0000"/>
                </a:solidFill>
                <a:latin typeface="Arial"/>
                <a:cs typeface="Arial"/>
              </a:rPr>
              <a:t>35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5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1100" spc="20">
                <a:solidFill>
                  <a:srgbClr val="FF0000"/>
                </a:solidFill>
                <a:latin typeface="Arial"/>
                <a:cs typeface="Arial"/>
              </a:rPr>
              <a:t>20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200">
              <a:latin typeface="Arial"/>
              <a:cs typeface="Arial"/>
            </a:endParaRPr>
          </a:p>
          <a:p>
            <a:pPr algn="ctr" marL="13335">
              <a:lnSpc>
                <a:spcPct val="100000"/>
              </a:lnSpc>
            </a:pPr>
            <a:r>
              <a:rPr dirty="0" sz="1100" spc="20">
                <a:solidFill>
                  <a:srgbClr val="FF000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044943" y="1541281"/>
            <a:ext cx="334010" cy="1993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00" spc="20">
                <a:solidFill>
                  <a:srgbClr val="FFFFFF"/>
                </a:solidFill>
                <a:latin typeface="Arial"/>
                <a:cs typeface="Arial"/>
              </a:rPr>
              <a:t>$140</a:t>
            </a:r>
            <a:endParaRPr sz="11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044943" y="2621608"/>
            <a:ext cx="334010" cy="1993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00" spc="20">
                <a:solidFill>
                  <a:srgbClr val="FFFFFF"/>
                </a:solidFill>
                <a:latin typeface="Arial"/>
                <a:cs typeface="Arial"/>
              </a:rPr>
              <a:t>$100</a:t>
            </a:r>
            <a:endParaRPr sz="11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083184" y="3252595"/>
            <a:ext cx="254000" cy="1993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00" spc="20">
                <a:solidFill>
                  <a:srgbClr val="FFFFFF"/>
                </a:solidFill>
                <a:latin typeface="Arial"/>
                <a:cs typeface="Arial"/>
              </a:rPr>
              <a:t>$30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044943" y="3654131"/>
            <a:ext cx="334010" cy="1993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00" spc="20">
                <a:solidFill>
                  <a:srgbClr val="FFFFFF"/>
                </a:solidFill>
                <a:latin typeface="Arial"/>
                <a:cs typeface="Arial"/>
              </a:rPr>
              <a:t>$270</a:t>
            </a:r>
            <a:endParaRPr sz="1100">
              <a:latin typeface="Arial"/>
              <a:cs typeface="Arial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5997137" y="3600978"/>
            <a:ext cx="382905" cy="0"/>
          </a:xfrm>
          <a:custGeom>
            <a:avLst/>
            <a:gdLst/>
            <a:ahLst/>
            <a:cxnLst/>
            <a:rect l="l" t="t" r="r" b="b"/>
            <a:pathLst>
              <a:path w="382904" h="0">
                <a:moveTo>
                  <a:pt x="0" y="0"/>
                </a:moveTo>
                <a:lnTo>
                  <a:pt x="382417" y="0"/>
                </a:lnTo>
              </a:path>
            </a:pathLst>
          </a:custGeom>
          <a:ln w="1912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 txBox="1"/>
          <p:nvPr/>
        </p:nvSpPr>
        <p:spPr>
          <a:xfrm>
            <a:off x="2185173" y="4258984"/>
            <a:ext cx="385952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7.8: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fractional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knapsack problem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76299" y="7059104"/>
            <a:ext cx="6390005" cy="1924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8763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It is easy to see that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greedy </a:t>
            </a:r>
            <a:r>
              <a:rPr dirty="0" sz="1200" spc="-10">
                <a:latin typeface="Times New Roman"/>
                <a:cs typeface="Times New Roman"/>
              </a:rPr>
              <a:t>algorithm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optimal for the </a:t>
            </a:r>
            <a:r>
              <a:rPr dirty="0" sz="1200" spc="-5">
                <a:latin typeface="Times New Roman"/>
                <a:cs typeface="Times New Roman"/>
              </a:rPr>
              <a:t>fractional knapsack </a:t>
            </a:r>
            <a:r>
              <a:rPr dirty="0" sz="1200" spc="-10">
                <a:latin typeface="Times New Roman"/>
                <a:cs typeface="Times New Roman"/>
              </a:rPr>
              <a:t>problem.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room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sacks of </a:t>
            </a:r>
            <a:r>
              <a:rPr dirty="0" sz="1200" spc="-10">
                <a:latin typeface="Times New Roman"/>
                <a:cs typeface="Times New Roman"/>
              </a:rPr>
              <a:t>gold, silver </a:t>
            </a:r>
            <a:r>
              <a:rPr dirty="0" sz="1200" spc="-5">
                <a:latin typeface="Times New Roman"/>
                <a:cs typeface="Times New Roman"/>
              </a:rPr>
              <a:t>and bronze, </a:t>
            </a:r>
            <a:r>
              <a:rPr dirty="0" sz="1200" spc="-1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(thief?) </a:t>
            </a:r>
            <a:r>
              <a:rPr dirty="0" sz="1200" spc="-10">
                <a:latin typeface="Times New Roman"/>
                <a:cs typeface="Times New Roman"/>
              </a:rPr>
              <a:t>would probably take </a:t>
            </a:r>
            <a:r>
              <a:rPr dirty="0" sz="1200" spc="-5">
                <a:latin typeface="Times New Roman"/>
                <a:cs typeface="Times New Roman"/>
              </a:rPr>
              <a:t>as much </a:t>
            </a:r>
            <a:r>
              <a:rPr dirty="0" sz="1200" spc="-10">
                <a:latin typeface="Times New Roman"/>
                <a:cs typeface="Times New Roman"/>
              </a:rPr>
              <a:t>gold </a:t>
            </a:r>
            <a:r>
              <a:rPr dirty="0" sz="1200" spc="-5">
                <a:latin typeface="Times New Roman"/>
                <a:cs typeface="Times New Roman"/>
              </a:rPr>
              <a:t>as possible. Then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 </a:t>
            </a:r>
            <a:r>
              <a:rPr dirty="0" sz="1200" spc="-5">
                <a:latin typeface="Times New Roman"/>
                <a:cs typeface="Times New Roman"/>
              </a:rPr>
              <a:t>as much </a:t>
            </a:r>
            <a:r>
              <a:rPr dirty="0" sz="1200" spc="-10">
                <a:latin typeface="Times New Roman"/>
                <a:cs typeface="Times New Roman"/>
              </a:rPr>
              <a:t>silver </a:t>
            </a:r>
            <a:r>
              <a:rPr dirty="0" sz="1200" spc="-5">
                <a:latin typeface="Times New Roman"/>
                <a:cs typeface="Times New Roman"/>
              </a:rPr>
              <a:t>as possible and finally as much </a:t>
            </a:r>
            <a:r>
              <a:rPr dirty="0" sz="1200" spc="-10">
                <a:latin typeface="Times New Roman"/>
                <a:cs typeface="Times New Roman"/>
              </a:rPr>
              <a:t>bronze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15">
                <a:latin typeface="Times New Roman"/>
                <a:cs typeface="Times New Roman"/>
              </a:rPr>
              <a:t>possible. </a:t>
            </a: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 spc="-10">
                <a:latin typeface="Times New Roman"/>
                <a:cs typeface="Times New Roman"/>
              </a:rPr>
              <a:t>would </a:t>
            </a:r>
            <a:r>
              <a:rPr dirty="0" sz="1200" spc="-15">
                <a:latin typeface="Times New Roman"/>
                <a:cs typeface="Times New Roman"/>
              </a:rPr>
              <a:t>never </a:t>
            </a:r>
            <a:r>
              <a:rPr dirty="0" sz="1200" spc="-5">
                <a:latin typeface="Times New Roman"/>
                <a:cs typeface="Times New Roman"/>
              </a:rPr>
              <a:t>benefit to </a:t>
            </a:r>
            <a:r>
              <a:rPr dirty="0" sz="1200" spc="-10">
                <a:latin typeface="Times New Roman"/>
                <a:cs typeface="Times New Roman"/>
              </a:rPr>
              <a:t>take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little</a:t>
            </a:r>
            <a:r>
              <a:rPr dirty="0" sz="1200" spc="-5">
                <a:latin typeface="Times New Roman"/>
                <a:cs typeface="Times New Roman"/>
              </a:rPr>
              <a:t> less </a:t>
            </a:r>
            <a:r>
              <a:rPr dirty="0" sz="1200" spc="-10">
                <a:latin typeface="Times New Roman"/>
                <a:cs typeface="Times New Roman"/>
              </a:rPr>
              <a:t>gold</a:t>
            </a:r>
            <a:r>
              <a:rPr dirty="0" sz="1200" spc="-5">
                <a:latin typeface="Times New Roman"/>
                <a:cs typeface="Times New Roman"/>
              </a:rPr>
              <a:t> so that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could replace it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an equal weight of bronze.</a:t>
            </a:r>
            <a:endParaRPr sz="1200">
              <a:latin typeface="Times New Roman"/>
              <a:cs typeface="Times New Roman"/>
            </a:endParaRPr>
          </a:p>
          <a:p>
            <a:pPr marL="38100" marR="30480">
              <a:lnSpc>
                <a:spcPct val="100000"/>
              </a:lnSpc>
              <a:spcBef>
                <a:spcPts val="530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observe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0-1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knapsack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7.9.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ρ</a:t>
            </a:r>
            <a:r>
              <a:rPr dirty="0" baseline="-13888" sz="1200" spc="44">
                <a:latin typeface="Verdana"/>
                <a:cs typeface="Verdana"/>
              </a:rPr>
              <a:t>i</a:t>
            </a:r>
            <a:r>
              <a:rPr dirty="0" baseline="-13888" sz="1200" spc="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items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5, 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(since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40 does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fit)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settle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item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30,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$30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+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$100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+ </a:t>
            </a:r>
            <a:r>
              <a:rPr dirty="0" sz="1200" spc="-10">
                <a:latin typeface="Times New Roman"/>
                <a:cs typeface="Times New Roman"/>
              </a:rPr>
              <a:t>$90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=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$220.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hand,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had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greedy,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ignored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20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40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$100+$160</a:t>
            </a:r>
            <a:r>
              <a:rPr dirty="0" sz="1200" spc="-5">
                <a:latin typeface="Times New Roman"/>
                <a:cs typeface="Times New Roman"/>
              </a:rPr>
              <a:t> = </a:t>
            </a:r>
            <a:r>
              <a:rPr dirty="0" sz="1200" spc="-10">
                <a:latin typeface="Times New Roman"/>
                <a:cs typeface="Times New Roman"/>
              </a:rPr>
              <a:t>$260.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is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7.10.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88290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7.4.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FRACTIONAL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KNAPSACK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PROBLEM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11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956816" y="938474"/>
            <a:ext cx="4278630" cy="3048000"/>
            <a:chOff x="1956816" y="938474"/>
            <a:chExt cx="4278630" cy="3048000"/>
          </a:xfrm>
        </p:grpSpPr>
        <p:sp>
          <p:nvSpPr>
            <p:cNvPr id="5" name="object 5"/>
            <p:cNvSpPr/>
            <p:nvPr/>
          </p:nvSpPr>
          <p:spPr>
            <a:xfrm>
              <a:off x="1956816" y="938474"/>
              <a:ext cx="4278630" cy="3048000"/>
            </a:xfrm>
            <a:custGeom>
              <a:avLst/>
              <a:gdLst/>
              <a:ahLst/>
              <a:cxnLst/>
              <a:rect l="l" t="t" r="r" b="b"/>
              <a:pathLst>
                <a:path w="4278630" h="3048000">
                  <a:moveTo>
                    <a:pt x="4278248" y="0"/>
                  </a:moveTo>
                  <a:lnTo>
                    <a:pt x="0" y="0"/>
                  </a:lnTo>
                  <a:lnTo>
                    <a:pt x="0" y="3047801"/>
                  </a:lnTo>
                  <a:lnTo>
                    <a:pt x="4278248" y="3047801"/>
                  </a:lnTo>
                  <a:lnTo>
                    <a:pt x="4278248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074243" y="2825811"/>
              <a:ext cx="270510" cy="513715"/>
            </a:xfrm>
            <a:custGeom>
              <a:avLst/>
              <a:gdLst/>
              <a:ahLst/>
              <a:cxnLst/>
              <a:rect l="l" t="t" r="r" b="b"/>
              <a:pathLst>
                <a:path w="270510" h="513714">
                  <a:moveTo>
                    <a:pt x="226374" y="0"/>
                  </a:moveTo>
                  <a:lnTo>
                    <a:pt x="43540" y="0"/>
                  </a:lnTo>
                  <a:lnTo>
                    <a:pt x="17419" y="26121"/>
                  </a:lnTo>
                  <a:lnTo>
                    <a:pt x="8717" y="43525"/>
                  </a:lnTo>
                  <a:lnTo>
                    <a:pt x="0" y="52227"/>
                  </a:lnTo>
                  <a:lnTo>
                    <a:pt x="0" y="461436"/>
                  </a:lnTo>
                  <a:lnTo>
                    <a:pt x="8717" y="470138"/>
                  </a:lnTo>
                  <a:lnTo>
                    <a:pt x="17419" y="487558"/>
                  </a:lnTo>
                  <a:lnTo>
                    <a:pt x="43540" y="513679"/>
                  </a:lnTo>
                  <a:lnTo>
                    <a:pt x="226374" y="513679"/>
                  </a:lnTo>
                  <a:lnTo>
                    <a:pt x="243779" y="504962"/>
                  </a:lnTo>
                  <a:lnTo>
                    <a:pt x="261198" y="487558"/>
                  </a:lnTo>
                  <a:lnTo>
                    <a:pt x="261198" y="470138"/>
                  </a:lnTo>
                  <a:lnTo>
                    <a:pt x="269900" y="461436"/>
                  </a:lnTo>
                  <a:lnTo>
                    <a:pt x="269900" y="444017"/>
                  </a:lnTo>
                  <a:lnTo>
                    <a:pt x="269900" y="52227"/>
                  </a:lnTo>
                  <a:lnTo>
                    <a:pt x="261198" y="43525"/>
                  </a:lnTo>
                  <a:lnTo>
                    <a:pt x="261198" y="26121"/>
                  </a:lnTo>
                  <a:lnTo>
                    <a:pt x="243779" y="8702"/>
                  </a:lnTo>
                  <a:lnTo>
                    <a:pt x="226374" y="0"/>
                  </a:lnTo>
                  <a:close/>
                </a:path>
              </a:pathLst>
            </a:custGeom>
            <a:solidFill>
              <a:srgbClr val="00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074243" y="2825811"/>
              <a:ext cx="270510" cy="513715"/>
            </a:xfrm>
            <a:custGeom>
              <a:avLst/>
              <a:gdLst/>
              <a:ahLst/>
              <a:cxnLst/>
              <a:rect l="l" t="t" r="r" b="b"/>
              <a:pathLst>
                <a:path w="270510" h="513714">
                  <a:moveTo>
                    <a:pt x="269900" y="444017"/>
                  </a:moveTo>
                  <a:lnTo>
                    <a:pt x="269900" y="52227"/>
                  </a:lnTo>
                  <a:lnTo>
                    <a:pt x="261198" y="43525"/>
                  </a:lnTo>
                  <a:lnTo>
                    <a:pt x="261198" y="26121"/>
                  </a:lnTo>
                  <a:lnTo>
                    <a:pt x="252496" y="17404"/>
                  </a:lnTo>
                  <a:lnTo>
                    <a:pt x="243779" y="8702"/>
                  </a:lnTo>
                  <a:lnTo>
                    <a:pt x="226374" y="0"/>
                  </a:lnTo>
                  <a:lnTo>
                    <a:pt x="200253" y="0"/>
                  </a:lnTo>
                  <a:lnTo>
                    <a:pt x="43540" y="0"/>
                  </a:lnTo>
                  <a:lnTo>
                    <a:pt x="34823" y="8702"/>
                  </a:lnTo>
                  <a:lnTo>
                    <a:pt x="26121" y="17404"/>
                  </a:lnTo>
                  <a:lnTo>
                    <a:pt x="17419" y="26121"/>
                  </a:lnTo>
                  <a:lnTo>
                    <a:pt x="8717" y="43525"/>
                  </a:lnTo>
                  <a:lnTo>
                    <a:pt x="0" y="52227"/>
                  </a:lnTo>
                  <a:lnTo>
                    <a:pt x="0" y="461436"/>
                  </a:lnTo>
                  <a:lnTo>
                    <a:pt x="8717" y="470138"/>
                  </a:lnTo>
                  <a:lnTo>
                    <a:pt x="17419" y="487558"/>
                  </a:lnTo>
                  <a:lnTo>
                    <a:pt x="26121" y="496260"/>
                  </a:lnTo>
                  <a:lnTo>
                    <a:pt x="34823" y="504962"/>
                  </a:lnTo>
                  <a:lnTo>
                    <a:pt x="43540" y="513679"/>
                  </a:lnTo>
                  <a:lnTo>
                    <a:pt x="69662" y="513679"/>
                  </a:lnTo>
                  <a:lnTo>
                    <a:pt x="226374" y="513679"/>
                  </a:lnTo>
                  <a:lnTo>
                    <a:pt x="243779" y="504962"/>
                  </a:lnTo>
                  <a:lnTo>
                    <a:pt x="252496" y="496260"/>
                  </a:lnTo>
                  <a:lnTo>
                    <a:pt x="261198" y="487558"/>
                  </a:lnTo>
                  <a:lnTo>
                    <a:pt x="261198" y="470138"/>
                  </a:lnTo>
                  <a:lnTo>
                    <a:pt x="269900" y="461436"/>
                  </a:lnTo>
                  <a:lnTo>
                    <a:pt x="269900" y="444017"/>
                  </a:lnTo>
                </a:path>
              </a:pathLst>
            </a:custGeom>
            <a:ln w="77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535695" y="2573314"/>
              <a:ext cx="270510" cy="766445"/>
            </a:xfrm>
            <a:custGeom>
              <a:avLst/>
              <a:gdLst/>
              <a:ahLst/>
              <a:cxnLst/>
              <a:rect l="l" t="t" r="r" b="b"/>
              <a:pathLst>
                <a:path w="270510" h="766445">
                  <a:moveTo>
                    <a:pt x="200238" y="0"/>
                  </a:moveTo>
                  <a:lnTo>
                    <a:pt x="69646" y="0"/>
                  </a:lnTo>
                  <a:lnTo>
                    <a:pt x="52227" y="8717"/>
                  </a:lnTo>
                  <a:lnTo>
                    <a:pt x="43525" y="8717"/>
                  </a:lnTo>
                  <a:lnTo>
                    <a:pt x="34823" y="17419"/>
                  </a:lnTo>
                  <a:lnTo>
                    <a:pt x="17404" y="26121"/>
                  </a:lnTo>
                  <a:lnTo>
                    <a:pt x="8702" y="34823"/>
                  </a:lnTo>
                  <a:lnTo>
                    <a:pt x="8702" y="43540"/>
                  </a:lnTo>
                  <a:lnTo>
                    <a:pt x="0" y="60944"/>
                  </a:lnTo>
                  <a:lnTo>
                    <a:pt x="0" y="713933"/>
                  </a:lnTo>
                  <a:lnTo>
                    <a:pt x="8702" y="722635"/>
                  </a:lnTo>
                  <a:lnTo>
                    <a:pt x="8702" y="740054"/>
                  </a:lnTo>
                  <a:lnTo>
                    <a:pt x="17404" y="748756"/>
                  </a:lnTo>
                  <a:lnTo>
                    <a:pt x="34823" y="757458"/>
                  </a:lnTo>
                  <a:lnTo>
                    <a:pt x="43525" y="766175"/>
                  </a:lnTo>
                  <a:lnTo>
                    <a:pt x="226359" y="766175"/>
                  </a:lnTo>
                  <a:lnTo>
                    <a:pt x="235061" y="757458"/>
                  </a:lnTo>
                  <a:lnTo>
                    <a:pt x="252481" y="748756"/>
                  </a:lnTo>
                  <a:lnTo>
                    <a:pt x="261183" y="740054"/>
                  </a:lnTo>
                  <a:lnTo>
                    <a:pt x="261183" y="722635"/>
                  </a:lnTo>
                  <a:lnTo>
                    <a:pt x="269900" y="713933"/>
                  </a:lnTo>
                  <a:lnTo>
                    <a:pt x="269900" y="696513"/>
                  </a:lnTo>
                  <a:lnTo>
                    <a:pt x="269900" y="60944"/>
                  </a:lnTo>
                  <a:lnTo>
                    <a:pt x="261183" y="43540"/>
                  </a:lnTo>
                  <a:lnTo>
                    <a:pt x="261183" y="34823"/>
                  </a:lnTo>
                  <a:lnTo>
                    <a:pt x="252481" y="26121"/>
                  </a:lnTo>
                  <a:lnTo>
                    <a:pt x="235061" y="17419"/>
                  </a:lnTo>
                  <a:lnTo>
                    <a:pt x="226359" y="8717"/>
                  </a:lnTo>
                  <a:lnTo>
                    <a:pt x="217657" y="8717"/>
                  </a:lnTo>
                  <a:lnTo>
                    <a:pt x="200238" y="0"/>
                  </a:lnTo>
                  <a:close/>
                </a:path>
              </a:pathLst>
            </a:custGeom>
            <a:solidFill>
              <a:srgbClr val="FF99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535695" y="2573314"/>
              <a:ext cx="270510" cy="766445"/>
            </a:xfrm>
            <a:custGeom>
              <a:avLst/>
              <a:gdLst/>
              <a:ahLst/>
              <a:cxnLst/>
              <a:rect l="l" t="t" r="r" b="b"/>
              <a:pathLst>
                <a:path w="270510" h="766445">
                  <a:moveTo>
                    <a:pt x="269900" y="696513"/>
                  </a:moveTo>
                  <a:lnTo>
                    <a:pt x="269900" y="60944"/>
                  </a:lnTo>
                  <a:lnTo>
                    <a:pt x="261183" y="43540"/>
                  </a:lnTo>
                  <a:lnTo>
                    <a:pt x="261183" y="34823"/>
                  </a:lnTo>
                  <a:lnTo>
                    <a:pt x="252481" y="26121"/>
                  </a:lnTo>
                  <a:lnTo>
                    <a:pt x="235061" y="17419"/>
                  </a:lnTo>
                  <a:lnTo>
                    <a:pt x="226359" y="8717"/>
                  </a:lnTo>
                  <a:lnTo>
                    <a:pt x="217657" y="8717"/>
                  </a:lnTo>
                  <a:lnTo>
                    <a:pt x="200238" y="0"/>
                  </a:lnTo>
                  <a:lnTo>
                    <a:pt x="69646" y="0"/>
                  </a:lnTo>
                  <a:lnTo>
                    <a:pt x="52227" y="8717"/>
                  </a:lnTo>
                  <a:lnTo>
                    <a:pt x="43525" y="8717"/>
                  </a:lnTo>
                  <a:lnTo>
                    <a:pt x="34823" y="17419"/>
                  </a:lnTo>
                  <a:lnTo>
                    <a:pt x="17404" y="26121"/>
                  </a:lnTo>
                  <a:lnTo>
                    <a:pt x="8702" y="34823"/>
                  </a:lnTo>
                  <a:lnTo>
                    <a:pt x="8702" y="43540"/>
                  </a:lnTo>
                  <a:lnTo>
                    <a:pt x="0" y="60944"/>
                  </a:lnTo>
                  <a:lnTo>
                    <a:pt x="0" y="713933"/>
                  </a:lnTo>
                  <a:lnTo>
                    <a:pt x="8702" y="722635"/>
                  </a:lnTo>
                  <a:lnTo>
                    <a:pt x="8702" y="740054"/>
                  </a:lnTo>
                  <a:lnTo>
                    <a:pt x="17404" y="748756"/>
                  </a:lnTo>
                  <a:lnTo>
                    <a:pt x="34823" y="757458"/>
                  </a:lnTo>
                  <a:lnTo>
                    <a:pt x="43525" y="766175"/>
                  </a:lnTo>
                  <a:lnTo>
                    <a:pt x="69646" y="766175"/>
                  </a:lnTo>
                  <a:lnTo>
                    <a:pt x="226359" y="766175"/>
                  </a:lnTo>
                  <a:lnTo>
                    <a:pt x="235061" y="757458"/>
                  </a:lnTo>
                  <a:lnTo>
                    <a:pt x="252481" y="748756"/>
                  </a:lnTo>
                  <a:lnTo>
                    <a:pt x="261183" y="740054"/>
                  </a:lnTo>
                  <a:lnTo>
                    <a:pt x="261183" y="722635"/>
                  </a:lnTo>
                  <a:lnTo>
                    <a:pt x="269900" y="713933"/>
                  </a:lnTo>
                  <a:lnTo>
                    <a:pt x="269900" y="696513"/>
                  </a:lnTo>
                </a:path>
              </a:pathLst>
            </a:custGeom>
            <a:ln w="77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997131" y="2198944"/>
              <a:ext cx="261620" cy="1141095"/>
            </a:xfrm>
            <a:custGeom>
              <a:avLst/>
              <a:gdLst/>
              <a:ahLst/>
              <a:cxnLst/>
              <a:rect l="l" t="t" r="r" b="b"/>
              <a:pathLst>
                <a:path w="261620" h="1141095">
                  <a:moveTo>
                    <a:pt x="191536" y="0"/>
                  </a:moveTo>
                  <a:lnTo>
                    <a:pt x="69646" y="0"/>
                  </a:lnTo>
                  <a:lnTo>
                    <a:pt x="52242" y="8702"/>
                  </a:lnTo>
                  <a:lnTo>
                    <a:pt x="43525" y="8702"/>
                  </a:lnTo>
                  <a:lnTo>
                    <a:pt x="26121" y="17404"/>
                  </a:lnTo>
                  <a:lnTo>
                    <a:pt x="8702" y="34823"/>
                  </a:lnTo>
                  <a:lnTo>
                    <a:pt x="8702" y="43525"/>
                  </a:lnTo>
                  <a:lnTo>
                    <a:pt x="0" y="60944"/>
                  </a:lnTo>
                  <a:lnTo>
                    <a:pt x="0" y="1088303"/>
                  </a:lnTo>
                  <a:lnTo>
                    <a:pt x="8702" y="1097005"/>
                  </a:lnTo>
                  <a:lnTo>
                    <a:pt x="8702" y="1114424"/>
                  </a:lnTo>
                  <a:lnTo>
                    <a:pt x="26121" y="1131829"/>
                  </a:lnTo>
                  <a:lnTo>
                    <a:pt x="43525" y="1140546"/>
                  </a:lnTo>
                  <a:lnTo>
                    <a:pt x="217657" y="1140546"/>
                  </a:lnTo>
                  <a:lnTo>
                    <a:pt x="243779" y="1114424"/>
                  </a:lnTo>
                  <a:lnTo>
                    <a:pt x="252481" y="1097005"/>
                  </a:lnTo>
                  <a:lnTo>
                    <a:pt x="261198" y="1088303"/>
                  </a:lnTo>
                  <a:lnTo>
                    <a:pt x="261198" y="1070884"/>
                  </a:lnTo>
                  <a:lnTo>
                    <a:pt x="261198" y="60944"/>
                  </a:lnTo>
                  <a:lnTo>
                    <a:pt x="252481" y="43525"/>
                  </a:lnTo>
                  <a:lnTo>
                    <a:pt x="217657" y="8702"/>
                  </a:lnTo>
                  <a:lnTo>
                    <a:pt x="200253" y="8702"/>
                  </a:lnTo>
                  <a:lnTo>
                    <a:pt x="191536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997131" y="2198944"/>
              <a:ext cx="261620" cy="1141095"/>
            </a:xfrm>
            <a:custGeom>
              <a:avLst/>
              <a:gdLst/>
              <a:ahLst/>
              <a:cxnLst/>
              <a:rect l="l" t="t" r="r" b="b"/>
              <a:pathLst>
                <a:path w="261620" h="1141095">
                  <a:moveTo>
                    <a:pt x="261198" y="1070884"/>
                  </a:moveTo>
                  <a:lnTo>
                    <a:pt x="261198" y="60944"/>
                  </a:lnTo>
                  <a:lnTo>
                    <a:pt x="252481" y="43525"/>
                  </a:lnTo>
                  <a:lnTo>
                    <a:pt x="243779" y="34823"/>
                  </a:lnTo>
                  <a:lnTo>
                    <a:pt x="235076" y="26121"/>
                  </a:lnTo>
                  <a:lnTo>
                    <a:pt x="226359" y="17404"/>
                  </a:lnTo>
                  <a:lnTo>
                    <a:pt x="217657" y="8702"/>
                  </a:lnTo>
                  <a:lnTo>
                    <a:pt x="200253" y="8702"/>
                  </a:lnTo>
                  <a:lnTo>
                    <a:pt x="191536" y="0"/>
                  </a:lnTo>
                  <a:lnTo>
                    <a:pt x="69646" y="0"/>
                  </a:lnTo>
                  <a:lnTo>
                    <a:pt x="52242" y="8702"/>
                  </a:lnTo>
                  <a:lnTo>
                    <a:pt x="43525" y="8702"/>
                  </a:lnTo>
                  <a:lnTo>
                    <a:pt x="26121" y="17404"/>
                  </a:lnTo>
                  <a:lnTo>
                    <a:pt x="17419" y="26121"/>
                  </a:lnTo>
                  <a:lnTo>
                    <a:pt x="8702" y="34823"/>
                  </a:lnTo>
                  <a:lnTo>
                    <a:pt x="8702" y="43525"/>
                  </a:lnTo>
                  <a:lnTo>
                    <a:pt x="0" y="60944"/>
                  </a:lnTo>
                  <a:lnTo>
                    <a:pt x="0" y="1088303"/>
                  </a:lnTo>
                  <a:lnTo>
                    <a:pt x="8702" y="1097005"/>
                  </a:lnTo>
                  <a:lnTo>
                    <a:pt x="8702" y="1114424"/>
                  </a:lnTo>
                  <a:lnTo>
                    <a:pt x="17419" y="1123127"/>
                  </a:lnTo>
                  <a:lnTo>
                    <a:pt x="26121" y="1131829"/>
                  </a:lnTo>
                  <a:lnTo>
                    <a:pt x="43525" y="1140546"/>
                  </a:lnTo>
                  <a:lnTo>
                    <a:pt x="69646" y="1140546"/>
                  </a:lnTo>
                  <a:lnTo>
                    <a:pt x="217657" y="1140546"/>
                  </a:lnTo>
                  <a:lnTo>
                    <a:pt x="226359" y="1131829"/>
                  </a:lnTo>
                  <a:lnTo>
                    <a:pt x="235076" y="1123127"/>
                  </a:lnTo>
                  <a:lnTo>
                    <a:pt x="243779" y="1114424"/>
                  </a:lnTo>
                  <a:lnTo>
                    <a:pt x="252481" y="1097005"/>
                  </a:lnTo>
                  <a:lnTo>
                    <a:pt x="261198" y="1088303"/>
                  </a:lnTo>
                  <a:lnTo>
                    <a:pt x="261198" y="1070884"/>
                  </a:lnTo>
                </a:path>
              </a:pathLst>
            </a:custGeom>
            <a:ln w="77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612806" y="2982523"/>
              <a:ext cx="270510" cy="357505"/>
            </a:xfrm>
            <a:custGeom>
              <a:avLst/>
              <a:gdLst/>
              <a:ahLst/>
              <a:cxnLst/>
              <a:rect l="l" t="t" r="r" b="b"/>
              <a:pathLst>
                <a:path w="270510" h="357504">
                  <a:moveTo>
                    <a:pt x="226374" y="0"/>
                  </a:moveTo>
                  <a:lnTo>
                    <a:pt x="43525" y="0"/>
                  </a:lnTo>
                  <a:lnTo>
                    <a:pt x="17419" y="26121"/>
                  </a:lnTo>
                  <a:lnTo>
                    <a:pt x="8702" y="43525"/>
                  </a:lnTo>
                  <a:lnTo>
                    <a:pt x="8702" y="52242"/>
                  </a:lnTo>
                  <a:lnTo>
                    <a:pt x="0" y="69646"/>
                  </a:lnTo>
                  <a:lnTo>
                    <a:pt x="0" y="287304"/>
                  </a:lnTo>
                  <a:lnTo>
                    <a:pt x="8702" y="304723"/>
                  </a:lnTo>
                  <a:lnTo>
                    <a:pt x="8702" y="313425"/>
                  </a:lnTo>
                  <a:lnTo>
                    <a:pt x="17419" y="330845"/>
                  </a:lnTo>
                  <a:lnTo>
                    <a:pt x="43525" y="356966"/>
                  </a:lnTo>
                  <a:lnTo>
                    <a:pt x="226374" y="356966"/>
                  </a:lnTo>
                  <a:lnTo>
                    <a:pt x="243779" y="348249"/>
                  </a:lnTo>
                  <a:lnTo>
                    <a:pt x="261198" y="330845"/>
                  </a:lnTo>
                  <a:lnTo>
                    <a:pt x="269900" y="313425"/>
                  </a:lnTo>
                  <a:lnTo>
                    <a:pt x="269900" y="287304"/>
                  </a:lnTo>
                  <a:lnTo>
                    <a:pt x="269900" y="43525"/>
                  </a:lnTo>
                  <a:lnTo>
                    <a:pt x="261198" y="26121"/>
                  </a:lnTo>
                  <a:lnTo>
                    <a:pt x="243779" y="8702"/>
                  </a:lnTo>
                  <a:lnTo>
                    <a:pt x="22637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612806" y="2982523"/>
              <a:ext cx="270510" cy="357505"/>
            </a:xfrm>
            <a:custGeom>
              <a:avLst/>
              <a:gdLst/>
              <a:ahLst/>
              <a:cxnLst/>
              <a:rect l="l" t="t" r="r" b="b"/>
              <a:pathLst>
                <a:path w="270510" h="357504">
                  <a:moveTo>
                    <a:pt x="269900" y="287304"/>
                  </a:moveTo>
                  <a:lnTo>
                    <a:pt x="269900" y="43525"/>
                  </a:lnTo>
                  <a:lnTo>
                    <a:pt x="261198" y="26121"/>
                  </a:lnTo>
                  <a:lnTo>
                    <a:pt x="252481" y="17404"/>
                  </a:lnTo>
                  <a:lnTo>
                    <a:pt x="243779" y="8702"/>
                  </a:lnTo>
                  <a:lnTo>
                    <a:pt x="226374" y="0"/>
                  </a:lnTo>
                  <a:lnTo>
                    <a:pt x="200253" y="0"/>
                  </a:lnTo>
                  <a:lnTo>
                    <a:pt x="43525" y="0"/>
                  </a:lnTo>
                  <a:lnTo>
                    <a:pt x="34823" y="8702"/>
                  </a:lnTo>
                  <a:lnTo>
                    <a:pt x="26121" y="17404"/>
                  </a:lnTo>
                  <a:lnTo>
                    <a:pt x="17419" y="26121"/>
                  </a:lnTo>
                  <a:lnTo>
                    <a:pt x="8702" y="43525"/>
                  </a:lnTo>
                  <a:lnTo>
                    <a:pt x="8702" y="52242"/>
                  </a:lnTo>
                  <a:lnTo>
                    <a:pt x="0" y="69646"/>
                  </a:lnTo>
                  <a:lnTo>
                    <a:pt x="0" y="287304"/>
                  </a:lnTo>
                  <a:lnTo>
                    <a:pt x="8702" y="304723"/>
                  </a:lnTo>
                  <a:lnTo>
                    <a:pt x="8702" y="313425"/>
                  </a:lnTo>
                  <a:lnTo>
                    <a:pt x="17419" y="330845"/>
                  </a:lnTo>
                  <a:lnTo>
                    <a:pt x="26121" y="339547"/>
                  </a:lnTo>
                  <a:lnTo>
                    <a:pt x="34823" y="348249"/>
                  </a:lnTo>
                  <a:lnTo>
                    <a:pt x="43525" y="356966"/>
                  </a:lnTo>
                  <a:lnTo>
                    <a:pt x="69646" y="356966"/>
                  </a:lnTo>
                  <a:lnTo>
                    <a:pt x="226374" y="356966"/>
                  </a:lnTo>
                  <a:lnTo>
                    <a:pt x="243779" y="348249"/>
                  </a:lnTo>
                  <a:lnTo>
                    <a:pt x="252481" y="339547"/>
                  </a:lnTo>
                  <a:lnTo>
                    <a:pt x="261198" y="330845"/>
                  </a:lnTo>
                  <a:lnTo>
                    <a:pt x="269900" y="313425"/>
                  </a:lnTo>
                  <a:lnTo>
                    <a:pt x="269900" y="287304"/>
                  </a:lnTo>
                </a:path>
              </a:pathLst>
            </a:custGeom>
            <a:ln w="77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449866" y="1833275"/>
              <a:ext cx="270510" cy="1506220"/>
            </a:xfrm>
            <a:custGeom>
              <a:avLst/>
              <a:gdLst/>
              <a:ahLst/>
              <a:cxnLst/>
              <a:rect l="l" t="t" r="r" b="b"/>
              <a:pathLst>
                <a:path w="270510" h="1506220">
                  <a:moveTo>
                    <a:pt x="235077" y="8702"/>
                  </a:moveTo>
                  <a:lnTo>
                    <a:pt x="26121" y="8702"/>
                  </a:lnTo>
                  <a:lnTo>
                    <a:pt x="8702" y="26121"/>
                  </a:lnTo>
                  <a:lnTo>
                    <a:pt x="0" y="43525"/>
                  </a:lnTo>
                  <a:lnTo>
                    <a:pt x="0" y="1462674"/>
                  </a:lnTo>
                  <a:lnTo>
                    <a:pt x="8702" y="1480093"/>
                  </a:lnTo>
                  <a:lnTo>
                    <a:pt x="26121" y="1497497"/>
                  </a:lnTo>
                  <a:lnTo>
                    <a:pt x="43525" y="1506214"/>
                  </a:lnTo>
                  <a:lnTo>
                    <a:pt x="226374" y="1506214"/>
                  </a:lnTo>
                  <a:lnTo>
                    <a:pt x="252481" y="1480093"/>
                  </a:lnTo>
                  <a:lnTo>
                    <a:pt x="261198" y="1462674"/>
                  </a:lnTo>
                  <a:lnTo>
                    <a:pt x="261198" y="1453972"/>
                  </a:lnTo>
                  <a:lnTo>
                    <a:pt x="269900" y="1436552"/>
                  </a:lnTo>
                  <a:lnTo>
                    <a:pt x="269900" y="69646"/>
                  </a:lnTo>
                  <a:lnTo>
                    <a:pt x="261198" y="52227"/>
                  </a:lnTo>
                  <a:lnTo>
                    <a:pt x="261198" y="43525"/>
                  </a:lnTo>
                  <a:lnTo>
                    <a:pt x="252481" y="26121"/>
                  </a:lnTo>
                  <a:lnTo>
                    <a:pt x="235077" y="8702"/>
                  </a:lnTo>
                  <a:close/>
                </a:path>
                <a:path w="270510" h="1506220">
                  <a:moveTo>
                    <a:pt x="208955" y="0"/>
                  </a:moveTo>
                  <a:lnTo>
                    <a:pt x="52242" y="0"/>
                  </a:lnTo>
                  <a:lnTo>
                    <a:pt x="43525" y="8702"/>
                  </a:lnTo>
                  <a:lnTo>
                    <a:pt x="226374" y="8702"/>
                  </a:lnTo>
                  <a:lnTo>
                    <a:pt x="208955" y="0"/>
                  </a:lnTo>
                  <a:close/>
                </a:path>
              </a:pathLst>
            </a:custGeom>
            <a:solidFill>
              <a:srgbClr val="FFCC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449866" y="1833275"/>
              <a:ext cx="270510" cy="1506220"/>
            </a:xfrm>
            <a:custGeom>
              <a:avLst/>
              <a:gdLst/>
              <a:ahLst/>
              <a:cxnLst/>
              <a:rect l="l" t="t" r="r" b="b"/>
              <a:pathLst>
                <a:path w="270510" h="1506220">
                  <a:moveTo>
                    <a:pt x="269900" y="1436552"/>
                  </a:moveTo>
                  <a:lnTo>
                    <a:pt x="269900" y="69646"/>
                  </a:lnTo>
                  <a:lnTo>
                    <a:pt x="261198" y="52227"/>
                  </a:lnTo>
                  <a:lnTo>
                    <a:pt x="261198" y="43525"/>
                  </a:lnTo>
                  <a:lnTo>
                    <a:pt x="252481" y="26121"/>
                  </a:lnTo>
                  <a:lnTo>
                    <a:pt x="243779" y="17404"/>
                  </a:lnTo>
                  <a:lnTo>
                    <a:pt x="235076" y="8702"/>
                  </a:lnTo>
                  <a:lnTo>
                    <a:pt x="226374" y="8702"/>
                  </a:lnTo>
                  <a:lnTo>
                    <a:pt x="208955" y="0"/>
                  </a:lnTo>
                  <a:lnTo>
                    <a:pt x="200253" y="0"/>
                  </a:lnTo>
                  <a:lnTo>
                    <a:pt x="52242" y="0"/>
                  </a:lnTo>
                  <a:lnTo>
                    <a:pt x="43525" y="8702"/>
                  </a:lnTo>
                  <a:lnTo>
                    <a:pt x="26121" y="8702"/>
                  </a:lnTo>
                  <a:lnTo>
                    <a:pt x="17419" y="17404"/>
                  </a:lnTo>
                  <a:lnTo>
                    <a:pt x="8702" y="26121"/>
                  </a:lnTo>
                  <a:lnTo>
                    <a:pt x="0" y="43525"/>
                  </a:lnTo>
                  <a:lnTo>
                    <a:pt x="0" y="1462674"/>
                  </a:lnTo>
                  <a:lnTo>
                    <a:pt x="8702" y="1480093"/>
                  </a:lnTo>
                  <a:lnTo>
                    <a:pt x="17419" y="1488795"/>
                  </a:lnTo>
                  <a:lnTo>
                    <a:pt x="26121" y="1497497"/>
                  </a:lnTo>
                  <a:lnTo>
                    <a:pt x="43525" y="1506214"/>
                  </a:lnTo>
                  <a:lnTo>
                    <a:pt x="69646" y="1506214"/>
                  </a:lnTo>
                  <a:lnTo>
                    <a:pt x="226374" y="1506214"/>
                  </a:lnTo>
                  <a:lnTo>
                    <a:pt x="235076" y="1497497"/>
                  </a:lnTo>
                  <a:lnTo>
                    <a:pt x="243779" y="1488795"/>
                  </a:lnTo>
                  <a:lnTo>
                    <a:pt x="252481" y="1480093"/>
                  </a:lnTo>
                  <a:lnTo>
                    <a:pt x="261198" y="1462674"/>
                  </a:lnTo>
                  <a:lnTo>
                    <a:pt x="261198" y="1453972"/>
                  </a:lnTo>
                  <a:lnTo>
                    <a:pt x="269900" y="1436552"/>
                  </a:lnTo>
                </a:path>
              </a:pathLst>
            </a:custGeom>
            <a:ln w="77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2687166" y="3073334"/>
            <a:ext cx="9906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105076" y="2977563"/>
            <a:ext cx="17208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10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583930" y="2873086"/>
            <a:ext cx="17208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20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045372" y="2672838"/>
            <a:ext cx="17208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30</a:t>
            </a:r>
            <a:endParaRPr sz="10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480693" y="2481296"/>
            <a:ext cx="17208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40</a:t>
            </a:r>
            <a:endParaRPr sz="10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990660" y="3266032"/>
            <a:ext cx="880744" cy="478155"/>
          </a:xfrm>
          <a:prstGeom prst="rect">
            <a:avLst/>
          </a:prstGeom>
        </p:spPr>
        <p:txBody>
          <a:bodyPr wrap="square" lIns="0" tIns="8572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675"/>
              </a:spcBef>
            </a:pP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knapsack</a:t>
            </a:r>
            <a:r>
              <a:rPr dirty="0" sz="1000" spc="3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$30</a:t>
            </a:r>
            <a:endParaRPr sz="1000">
              <a:latin typeface="Arial"/>
              <a:cs typeface="Arial"/>
            </a:endParaRPr>
          </a:p>
          <a:p>
            <a:pPr algn="r" marR="64135">
              <a:lnSpc>
                <a:spcPct val="100000"/>
              </a:lnSpc>
              <a:spcBef>
                <a:spcPts val="580"/>
              </a:spcBef>
            </a:pP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3051209" y="3376252"/>
          <a:ext cx="173228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3220"/>
                <a:gridCol w="506730"/>
                <a:gridCol w="429259"/>
                <a:gridCol w="432434"/>
              </a:tblGrid>
              <a:tr h="178965">
                <a:tc>
                  <a:txBody>
                    <a:bodyPr/>
                    <a:lstStyle/>
                    <a:p>
                      <a:pPr algn="ctr" marR="72390">
                        <a:lnSpc>
                          <a:spcPts val="1005"/>
                        </a:lnSpc>
                      </a:pPr>
                      <a:r>
                        <a:rPr dirty="0" sz="10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$20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005"/>
                        </a:lnSpc>
                      </a:pPr>
                      <a:r>
                        <a:rPr dirty="0" sz="10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$100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5"/>
                        </a:lnSpc>
                      </a:pPr>
                      <a:r>
                        <a:rPr dirty="0" sz="10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$90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5565">
                        <a:lnSpc>
                          <a:spcPts val="1005"/>
                        </a:lnSpc>
                      </a:pPr>
                      <a:r>
                        <a:rPr dirty="0" sz="10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$160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</a:tr>
              <a:tr h="178965">
                <a:tc>
                  <a:txBody>
                    <a:bodyPr/>
                    <a:lstStyle/>
                    <a:p>
                      <a:pPr algn="ctr" marR="27305">
                        <a:lnSpc>
                          <a:spcPts val="1130"/>
                        </a:lnSpc>
                        <a:spcBef>
                          <a:spcPts val="180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4290">
                        <a:lnSpc>
                          <a:spcPts val="1130"/>
                        </a:lnSpc>
                        <a:spcBef>
                          <a:spcPts val="180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080">
                        <a:lnSpc>
                          <a:spcPts val="1130"/>
                        </a:lnSpc>
                        <a:spcBef>
                          <a:spcPts val="180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48260">
                        <a:lnSpc>
                          <a:spcPts val="1130"/>
                        </a:lnSpc>
                        <a:spcBef>
                          <a:spcPts val="180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23" name="object 23"/>
          <p:cNvSpPr txBox="1"/>
          <p:nvPr/>
        </p:nvSpPr>
        <p:spPr>
          <a:xfrm>
            <a:off x="2160071" y="997453"/>
            <a:ext cx="313690" cy="2342515"/>
          </a:xfrm>
          <a:prstGeom prst="rect">
            <a:avLst/>
          </a:prstGeom>
          <a:solidFill>
            <a:srgbClr val="959595"/>
          </a:solidFill>
          <a:ln w="17412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L="78105">
              <a:lnSpc>
                <a:spcPct val="100000"/>
              </a:lnSpc>
              <a:spcBef>
                <a:spcPts val="755"/>
              </a:spcBef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60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5424982" y="997453"/>
            <a:ext cx="331470" cy="2342515"/>
            <a:chOff x="5424982" y="997453"/>
            <a:chExt cx="331470" cy="2342515"/>
          </a:xfrm>
        </p:grpSpPr>
        <p:sp>
          <p:nvSpPr>
            <p:cNvPr id="25" name="object 25"/>
            <p:cNvSpPr/>
            <p:nvPr/>
          </p:nvSpPr>
          <p:spPr>
            <a:xfrm>
              <a:off x="5424982" y="997453"/>
              <a:ext cx="331470" cy="2342515"/>
            </a:xfrm>
            <a:custGeom>
              <a:avLst/>
              <a:gdLst/>
              <a:ahLst/>
              <a:cxnLst/>
              <a:rect l="l" t="t" r="r" b="b"/>
              <a:pathLst>
                <a:path w="331470" h="2342515">
                  <a:moveTo>
                    <a:pt x="330845" y="0"/>
                  </a:moveTo>
                  <a:lnTo>
                    <a:pt x="0" y="0"/>
                  </a:lnTo>
                  <a:lnTo>
                    <a:pt x="0" y="2342037"/>
                  </a:lnTo>
                  <a:lnTo>
                    <a:pt x="330845" y="2342037"/>
                  </a:lnTo>
                  <a:lnTo>
                    <a:pt x="330845" y="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459821" y="2947700"/>
              <a:ext cx="261620" cy="383540"/>
            </a:xfrm>
            <a:custGeom>
              <a:avLst/>
              <a:gdLst/>
              <a:ahLst/>
              <a:cxnLst/>
              <a:rect l="l" t="t" r="r" b="b"/>
              <a:pathLst>
                <a:path w="261620" h="383539">
                  <a:moveTo>
                    <a:pt x="217657" y="374370"/>
                  </a:moveTo>
                  <a:lnTo>
                    <a:pt x="43525" y="374370"/>
                  </a:lnTo>
                  <a:lnTo>
                    <a:pt x="60944" y="383072"/>
                  </a:lnTo>
                  <a:lnTo>
                    <a:pt x="200238" y="383072"/>
                  </a:lnTo>
                  <a:lnTo>
                    <a:pt x="217657" y="374370"/>
                  </a:lnTo>
                  <a:close/>
                </a:path>
                <a:path w="261620" h="383539">
                  <a:moveTo>
                    <a:pt x="200238" y="0"/>
                  </a:moveTo>
                  <a:lnTo>
                    <a:pt x="60944" y="0"/>
                  </a:lnTo>
                  <a:lnTo>
                    <a:pt x="43525" y="8702"/>
                  </a:lnTo>
                  <a:lnTo>
                    <a:pt x="8702" y="43525"/>
                  </a:lnTo>
                  <a:lnTo>
                    <a:pt x="8702" y="60944"/>
                  </a:lnTo>
                  <a:lnTo>
                    <a:pt x="0" y="69646"/>
                  </a:lnTo>
                  <a:lnTo>
                    <a:pt x="0" y="313425"/>
                  </a:lnTo>
                  <a:lnTo>
                    <a:pt x="8702" y="330845"/>
                  </a:lnTo>
                  <a:lnTo>
                    <a:pt x="8702" y="339547"/>
                  </a:lnTo>
                  <a:lnTo>
                    <a:pt x="17404" y="356966"/>
                  </a:lnTo>
                  <a:lnTo>
                    <a:pt x="34823" y="374370"/>
                  </a:lnTo>
                  <a:lnTo>
                    <a:pt x="226359" y="374370"/>
                  </a:lnTo>
                  <a:lnTo>
                    <a:pt x="243779" y="356966"/>
                  </a:lnTo>
                  <a:lnTo>
                    <a:pt x="252481" y="339547"/>
                  </a:lnTo>
                  <a:lnTo>
                    <a:pt x="252481" y="330845"/>
                  </a:lnTo>
                  <a:lnTo>
                    <a:pt x="261183" y="313425"/>
                  </a:lnTo>
                  <a:lnTo>
                    <a:pt x="261183" y="69646"/>
                  </a:lnTo>
                  <a:lnTo>
                    <a:pt x="252481" y="60944"/>
                  </a:lnTo>
                  <a:lnTo>
                    <a:pt x="252481" y="43525"/>
                  </a:lnTo>
                  <a:lnTo>
                    <a:pt x="217657" y="8702"/>
                  </a:lnTo>
                  <a:lnTo>
                    <a:pt x="20023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459821" y="2947700"/>
              <a:ext cx="261620" cy="383540"/>
            </a:xfrm>
            <a:custGeom>
              <a:avLst/>
              <a:gdLst/>
              <a:ahLst/>
              <a:cxnLst/>
              <a:rect l="l" t="t" r="r" b="b"/>
              <a:pathLst>
                <a:path w="261620" h="383539">
                  <a:moveTo>
                    <a:pt x="261183" y="313425"/>
                  </a:moveTo>
                  <a:lnTo>
                    <a:pt x="261183" y="69646"/>
                  </a:lnTo>
                  <a:lnTo>
                    <a:pt x="252481" y="60944"/>
                  </a:lnTo>
                  <a:lnTo>
                    <a:pt x="252481" y="43525"/>
                  </a:lnTo>
                  <a:lnTo>
                    <a:pt x="243779" y="34823"/>
                  </a:lnTo>
                  <a:lnTo>
                    <a:pt x="235061" y="26121"/>
                  </a:lnTo>
                  <a:lnTo>
                    <a:pt x="226359" y="17404"/>
                  </a:lnTo>
                  <a:lnTo>
                    <a:pt x="217657" y="8702"/>
                  </a:lnTo>
                  <a:lnTo>
                    <a:pt x="200238" y="0"/>
                  </a:lnTo>
                  <a:lnTo>
                    <a:pt x="191536" y="0"/>
                  </a:lnTo>
                  <a:lnTo>
                    <a:pt x="60944" y="0"/>
                  </a:lnTo>
                  <a:lnTo>
                    <a:pt x="43525" y="8702"/>
                  </a:lnTo>
                  <a:lnTo>
                    <a:pt x="34823" y="17404"/>
                  </a:lnTo>
                  <a:lnTo>
                    <a:pt x="26106" y="26121"/>
                  </a:lnTo>
                  <a:lnTo>
                    <a:pt x="17404" y="34823"/>
                  </a:lnTo>
                  <a:lnTo>
                    <a:pt x="8702" y="43525"/>
                  </a:lnTo>
                  <a:lnTo>
                    <a:pt x="8702" y="60944"/>
                  </a:lnTo>
                  <a:lnTo>
                    <a:pt x="0" y="69646"/>
                  </a:lnTo>
                  <a:lnTo>
                    <a:pt x="0" y="313425"/>
                  </a:lnTo>
                  <a:lnTo>
                    <a:pt x="8702" y="330845"/>
                  </a:lnTo>
                  <a:lnTo>
                    <a:pt x="8702" y="339547"/>
                  </a:lnTo>
                  <a:lnTo>
                    <a:pt x="17404" y="356966"/>
                  </a:lnTo>
                  <a:lnTo>
                    <a:pt x="26106" y="365668"/>
                  </a:lnTo>
                  <a:lnTo>
                    <a:pt x="34823" y="374370"/>
                  </a:lnTo>
                  <a:lnTo>
                    <a:pt x="43525" y="374370"/>
                  </a:lnTo>
                  <a:lnTo>
                    <a:pt x="60944" y="383072"/>
                  </a:lnTo>
                  <a:lnTo>
                    <a:pt x="69646" y="383072"/>
                  </a:lnTo>
                  <a:lnTo>
                    <a:pt x="200238" y="383072"/>
                  </a:lnTo>
                  <a:lnTo>
                    <a:pt x="217657" y="374370"/>
                  </a:lnTo>
                  <a:lnTo>
                    <a:pt x="226359" y="374370"/>
                  </a:lnTo>
                  <a:lnTo>
                    <a:pt x="235061" y="365668"/>
                  </a:lnTo>
                  <a:lnTo>
                    <a:pt x="243779" y="356966"/>
                  </a:lnTo>
                  <a:lnTo>
                    <a:pt x="252481" y="339547"/>
                  </a:lnTo>
                  <a:lnTo>
                    <a:pt x="252481" y="330845"/>
                  </a:lnTo>
                  <a:lnTo>
                    <a:pt x="261183" y="31342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5451104" y="2181524"/>
              <a:ext cx="270510" cy="757555"/>
            </a:xfrm>
            <a:custGeom>
              <a:avLst/>
              <a:gdLst/>
              <a:ahLst/>
              <a:cxnLst/>
              <a:rect l="l" t="t" r="r" b="b"/>
              <a:pathLst>
                <a:path w="270510" h="757555">
                  <a:moveTo>
                    <a:pt x="217657" y="0"/>
                  </a:moveTo>
                  <a:lnTo>
                    <a:pt x="60944" y="0"/>
                  </a:lnTo>
                  <a:lnTo>
                    <a:pt x="43540" y="8717"/>
                  </a:lnTo>
                  <a:lnTo>
                    <a:pt x="8717" y="43540"/>
                  </a:lnTo>
                  <a:lnTo>
                    <a:pt x="8717" y="60944"/>
                  </a:lnTo>
                  <a:lnTo>
                    <a:pt x="0" y="69662"/>
                  </a:lnTo>
                  <a:lnTo>
                    <a:pt x="0" y="687811"/>
                  </a:lnTo>
                  <a:lnTo>
                    <a:pt x="8717" y="705230"/>
                  </a:lnTo>
                  <a:lnTo>
                    <a:pt x="8717" y="713933"/>
                  </a:lnTo>
                  <a:lnTo>
                    <a:pt x="17419" y="722635"/>
                  </a:lnTo>
                  <a:lnTo>
                    <a:pt x="26121" y="740054"/>
                  </a:lnTo>
                  <a:lnTo>
                    <a:pt x="34823" y="748756"/>
                  </a:lnTo>
                  <a:lnTo>
                    <a:pt x="43540" y="748756"/>
                  </a:lnTo>
                  <a:lnTo>
                    <a:pt x="60944" y="757458"/>
                  </a:lnTo>
                  <a:lnTo>
                    <a:pt x="217657" y="757458"/>
                  </a:lnTo>
                  <a:lnTo>
                    <a:pt x="226374" y="748756"/>
                  </a:lnTo>
                  <a:lnTo>
                    <a:pt x="243779" y="748756"/>
                  </a:lnTo>
                  <a:lnTo>
                    <a:pt x="252496" y="740054"/>
                  </a:lnTo>
                  <a:lnTo>
                    <a:pt x="261198" y="722635"/>
                  </a:lnTo>
                  <a:lnTo>
                    <a:pt x="261198" y="713933"/>
                  </a:lnTo>
                  <a:lnTo>
                    <a:pt x="269900" y="705230"/>
                  </a:lnTo>
                  <a:lnTo>
                    <a:pt x="269900" y="687811"/>
                  </a:lnTo>
                  <a:lnTo>
                    <a:pt x="269900" y="60944"/>
                  </a:lnTo>
                  <a:lnTo>
                    <a:pt x="261198" y="43540"/>
                  </a:lnTo>
                  <a:lnTo>
                    <a:pt x="261198" y="34823"/>
                  </a:lnTo>
                  <a:lnTo>
                    <a:pt x="243779" y="17419"/>
                  </a:lnTo>
                  <a:lnTo>
                    <a:pt x="226374" y="8717"/>
                  </a:lnTo>
                  <a:lnTo>
                    <a:pt x="217657" y="0"/>
                  </a:lnTo>
                  <a:close/>
                </a:path>
              </a:pathLst>
            </a:custGeom>
            <a:solidFill>
              <a:srgbClr val="FF99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5451104" y="2181524"/>
              <a:ext cx="270510" cy="757555"/>
            </a:xfrm>
            <a:custGeom>
              <a:avLst/>
              <a:gdLst/>
              <a:ahLst/>
              <a:cxnLst/>
              <a:rect l="l" t="t" r="r" b="b"/>
              <a:pathLst>
                <a:path w="270510" h="757555">
                  <a:moveTo>
                    <a:pt x="269900" y="687811"/>
                  </a:moveTo>
                  <a:lnTo>
                    <a:pt x="269900" y="60944"/>
                  </a:lnTo>
                  <a:lnTo>
                    <a:pt x="261198" y="43540"/>
                  </a:lnTo>
                  <a:lnTo>
                    <a:pt x="261198" y="34823"/>
                  </a:lnTo>
                  <a:lnTo>
                    <a:pt x="252496" y="26121"/>
                  </a:lnTo>
                  <a:lnTo>
                    <a:pt x="243779" y="17419"/>
                  </a:lnTo>
                  <a:lnTo>
                    <a:pt x="226374" y="8717"/>
                  </a:lnTo>
                  <a:lnTo>
                    <a:pt x="217657" y="0"/>
                  </a:lnTo>
                  <a:lnTo>
                    <a:pt x="200253" y="0"/>
                  </a:lnTo>
                  <a:lnTo>
                    <a:pt x="60944" y="0"/>
                  </a:lnTo>
                  <a:lnTo>
                    <a:pt x="43540" y="8717"/>
                  </a:lnTo>
                  <a:lnTo>
                    <a:pt x="34823" y="17419"/>
                  </a:lnTo>
                  <a:lnTo>
                    <a:pt x="26121" y="26121"/>
                  </a:lnTo>
                  <a:lnTo>
                    <a:pt x="17419" y="34823"/>
                  </a:lnTo>
                  <a:lnTo>
                    <a:pt x="8717" y="43540"/>
                  </a:lnTo>
                  <a:lnTo>
                    <a:pt x="8717" y="60944"/>
                  </a:lnTo>
                  <a:lnTo>
                    <a:pt x="0" y="69662"/>
                  </a:lnTo>
                  <a:lnTo>
                    <a:pt x="0" y="687811"/>
                  </a:lnTo>
                  <a:lnTo>
                    <a:pt x="8717" y="705230"/>
                  </a:lnTo>
                  <a:lnTo>
                    <a:pt x="8717" y="713933"/>
                  </a:lnTo>
                  <a:lnTo>
                    <a:pt x="17419" y="722635"/>
                  </a:lnTo>
                  <a:lnTo>
                    <a:pt x="26121" y="740054"/>
                  </a:lnTo>
                  <a:lnTo>
                    <a:pt x="34823" y="748756"/>
                  </a:lnTo>
                  <a:lnTo>
                    <a:pt x="43540" y="748756"/>
                  </a:lnTo>
                  <a:lnTo>
                    <a:pt x="60944" y="757458"/>
                  </a:lnTo>
                  <a:lnTo>
                    <a:pt x="69662" y="757458"/>
                  </a:lnTo>
                  <a:lnTo>
                    <a:pt x="217657" y="757458"/>
                  </a:lnTo>
                  <a:lnTo>
                    <a:pt x="226374" y="748756"/>
                  </a:lnTo>
                  <a:lnTo>
                    <a:pt x="243779" y="748756"/>
                  </a:lnTo>
                  <a:lnTo>
                    <a:pt x="252496" y="740054"/>
                  </a:lnTo>
                  <a:lnTo>
                    <a:pt x="261198" y="722635"/>
                  </a:lnTo>
                  <a:lnTo>
                    <a:pt x="261198" y="713933"/>
                  </a:lnTo>
                  <a:lnTo>
                    <a:pt x="269900" y="705230"/>
                  </a:lnTo>
                  <a:lnTo>
                    <a:pt x="269900" y="68781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5451104" y="1162868"/>
              <a:ext cx="270510" cy="1027430"/>
            </a:xfrm>
            <a:custGeom>
              <a:avLst/>
              <a:gdLst/>
              <a:ahLst/>
              <a:cxnLst/>
              <a:rect l="l" t="t" r="r" b="b"/>
              <a:pathLst>
                <a:path w="270510" h="1027430">
                  <a:moveTo>
                    <a:pt x="217657" y="0"/>
                  </a:moveTo>
                  <a:lnTo>
                    <a:pt x="60944" y="0"/>
                  </a:lnTo>
                  <a:lnTo>
                    <a:pt x="43540" y="8717"/>
                  </a:lnTo>
                  <a:lnTo>
                    <a:pt x="8717" y="43540"/>
                  </a:lnTo>
                  <a:lnTo>
                    <a:pt x="8717" y="60959"/>
                  </a:lnTo>
                  <a:lnTo>
                    <a:pt x="0" y="69662"/>
                  </a:lnTo>
                  <a:lnTo>
                    <a:pt x="0" y="957712"/>
                  </a:lnTo>
                  <a:lnTo>
                    <a:pt x="8717" y="966429"/>
                  </a:lnTo>
                  <a:lnTo>
                    <a:pt x="8717" y="983833"/>
                  </a:lnTo>
                  <a:lnTo>
                    <a:pt x="43540" y="1018656"/>
                  </a:lnTo>
                  <a:lnTo>
                    <a:pt x="60944" y="1018656"/>
                  </a:lnTo>
                  <a:lnTo>
                    <a:pt x="69662" y="1027374"/>
                  </a:lnTo>
                  <a:lnTo>
                    <a:pt x="200253" y="1027374"/>
                  </a:lnTo>
                  <a:lnTo>
                    <a:pt x="217657" y="1018656"/>
                  </a:lnTo>
                  <a:lnTo>
                    <a:pt x="226374" y="1018656"/>
                  </a:lnTo>
                  <a:lnTo>
                    <a:pt x="243779" y="1009954"/>
                  </a:lnTo>
                  <a:lnTo>
                    <a:pt x="261198" y="992535"/>
                  </a:lnTo>
                  <a:lnTo>
                    <a:pt x="261198" y="983833"/>
                  </a:lnTo>
                  <a:lnTo>
                    <a:pt x="269900" y="966429"/>
                  </a:lnTo>
                  <a:lnTo>
                    <a:pt x="269900" y="957712"/>
                  </a:lnTo>
                  <a:lnTo>
                    <a:pt x="269900" y="60959"/>
                  </a:lnTo>
                  <a:lnTo>
                    <a:pt x="261198" y="43540"/>
                  </a:lnTo>
                  <a:lnTo>
                    <a:pt x="261198" y="34838"/>
                  </a:lnTo>
                  <a:lnTo>
                    <a:pt x="243779" y="17419"/>
                  </a:lnTo>
                  <a:lnTo>
                    <a:pt x="226374" y="8717"/>
                  </a:lnTo>
                  <a:lnTo>
                    <a:pt x="217657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5451104" y="1162868"/>
              <a:ext cx="270510" cy="1027430"/>
            </a:xfrm>
            <a:custGeom>
              <a:avLst/>
              <a:gdLst/>
              <a:ahLst/>
              <a:cxnLst/>
              <a:rect l="l" t="t" r="r" b="b"/>
              <a:pathLst>
                <a:path w="270510" h="1027430">
                  <a:moveTo>
                    <a:pt x="269900" y="957712"/>
                  </a:moveTo>
                  <a:lnTo>
                    <a:pt x="269900" y="60959"/>
                  </a:lnTo>
                  <a:lnTo>
                    <a:pt x="261198" y="43540"/>
                  </a:lnTo>
                  <a:lnTo>
                    <a:pt x="261198" y="34838"/>
                  </a:lnTo>
                  <a:lnTo>
                    <a:pt x="252496" y="26121"/>
                  </a:lnTo>
                  <a:lnTo>
                    <a:pt x="243779" y="17419"/>
                  </a:lnTo>
                  <a:lnTo>
                    <a:pt x="226374" y="8717"/>
                  </a:lnTo>
                  <a:lnTo>
                    <a:pt x="217657" y="0"/>
                  </a:lnTo>
                  <a:lnTo>
                    <a:pt x="200253" y="0"/>
                  </a:lnTo>
                  <a:lnTo>
                    <a:pt x="60944" y="0"/>
                  </a:lnTo>
                  <a:lnTo>
                    <a:pt x="43540" y="8717"/>
                  </a:lnTo>
                  <a:lnTo>
                    <a:pt x="34823" y="17419"/>
                  </a:lnTo>
                  <a:lnTo>
                    <a:pt x="26121" y="26121"/>
                  </a:lnTo>
                  <a:lnTo>
                    <a:pt x="17419" y="34838"/>
                  </a:lnTo>
                  <a:lnTo>
                    <a:pt x="8717" y="43540"/>
                  </a:lnTo>
                  <a:lnTo>
                    <a:pt x="8717" y="60959"/>
                  </a:lnTo>
                  <a:lnTo>
                    <a:pt x="0" y="69662"/>
                  </a:lnTo>
                  <a:lnTo>
                    <a:pt x="0" y="957712"/>
                  </a:lnTo>
                  <a:lnTo>
                    <a:pt x="8717" y="966429"/>
                  </a:lnTo>
                  <a:lnTo>
                    <a:pt x="8717" y="983833"/>
                  </a:lnTo>
                  <a:lnTo>
                    <a:pt x="17419" y="992535"/>
                  </a:lnTo>
                  <a:lnTo>
                    <a:pt x="26121" y="1001252"/>
                  </a:lnTo>
                  <a:lnTo>
                    <a:pt x="34823" y="1009954"/>
                  </a:lnTo>
                  <a:lnTo>
                    <a:pt x="43540" y="1018656"/>
                  </a:lnTo>
                  <a:lnTo>
                    <a:pt x="60944" y="1018656"/>
                  </a:lnTo>
                  <a:lnTo>
                    <a:pt x="69662" y="1027374"/>
                  </a:lnTo>
                  <a:lnTo>
                    <a:pt x="200253" y="1027374"/>
                  </a:lnTo>
                  <a:lnTo>
                    <a:pt x="217657" y="1018656"/>
                  </a:lnTo>
                  <a:lnTo>
                    <a:pt x="226374" y="1018656"/>
                  </a:lnTo>
                  <a:lnTo>
                    <a:pt x="243779" y="1009954"/>
                  </a:lnTo>
                  <a:lnTo>
                    <a:pt x="252496" y="1001252"/>
                  </a:lnTo>
                  <a:lnTo>
                    <a:pt x="261198" y="992535"/>
                  </a:lnTo>
                  <a:lnTo>
                    <a:pt x="261198" y="983833"/>
                  </a:lnTo>
                  <a:lnTo>
                    <a:pt x="269900" y="966429"/>
                  </a:lnTo>
                  <a:lnTo>
                    <a:pt x="269900" y="957712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/>
          <p:cNvSpPr txBox="1"/>
          <p:nvPr/>
        </p:nvSpPr>
        <p:spPr>
          <a:xfrm>
            <a:off x="5424982" y="997453"/>
            <a:ext cx="331470" cy="2342515"/>
          </a:xfrm>
          <a:prstGeom prst="rect">
            <a:avLst/>
          </a:prstGeom>
          <a:ln w="17412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algn="ctr" marR="37465">
              <a:lnSpc>
                <a:spcPct val="100000"/>
              </a:lnSpc>
              <a:spcBef>
                <a:spcPts val="830"/>
              </a:spcBef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30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450">
              <a:latin typeface="Arial"/>
              <a:cs typeface="Arial"/>
            </a:endParaRPr>
          </a:p>
          <a:p>
            <a:pPr algn="ctr" marR="2540">
              <a:lnSpc>
                <a:spcPct val="100000"/>
              </a:lnSpc>
              <a:spcBef>
                <a:spcPts val="5"/>
              </a:spcBef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20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Arial"/>
              <a:cs typeface="Arial"/>
            </a:endParaRPr>
          </a:p>
          <a:p>
            <a:pPr algn="ctr" marL="3175">
              <a:lnSpc>
                <a:spcPct val="100000"/>
              </a:lnSpc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882434" y="1488768"/>
            <a:ext cx="24511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$90</a:t>
            </a:r>
            <a:endParaRPr sz="10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847608" y="2472596"/>
            <a:ext cx="31813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$100</a:t>
            </a:r>
            <a:endParaRPr sz="10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882434" y="3038515"/>
            <a:ext cx="24511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$30</a:t>
            </a:r>
            <a:endParaRPr sz="10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185916" y="3387937"/>
            <a:ext cx="979805" cy="539115"/>
          </a:xfrm>
          <a:prstGeom prst="rect">
            <a:avLst/>
          </a:prstGeom>
        </p:spPr>
        <p:txBody>
          <a:bodyPr wrap="square" lIns="0" tIns="3302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$220</a:t>
            </a:r>
            <a:endParaRPr sz="1000">
              <a:latin typeface="Arial"/>
              <a:cs typeface="Arial"/>
            </a:endParaRPr>
          </a:p>
          <a:p>
            <a:pPr algn="r" marL="12700" marR="30480">
              <a:lnSpc>
                <a:spcPct val="108500"/>
              </a:lnSpc>
              <a:spcBef>
                <a:spcPts val="70"/>
              </a:spcBef>
            </a:pP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Greedy</a:t>
            </a:r>
            <a:r>
              <a:rPr dirty="0" sz="10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solution </a:t>
            </a:r>
            <a:r>
              <a:rPr dirty="0" sz="1000" spc="-2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to</a:t>
            </a:r>
            <a:r>
              <a:rPr dirty="0" sz="1000" spc="-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0-1</a:t>
            </a:r>
            <a:r>
              <a:rPr dirty="0" sz="1000" spc="-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knapsack</a:t>
            </a:r>
            <a:endParaRPr sz="1000">
              <a:latin typeface="Arial"/>
              <a:cs typeface="Arial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5816772" y="3365612"/>
            <a:ext cx="348615" cy="0"/>
          </a:xfrm>
          <a:custGeom>
            <a:avLst/>
            <a:gdLst/>
            <a:ahLst/>
            <a:cxnLst/>
            <a:rect l="l" t="t" r="r" b="b"/>
            <a:pathLst>
              <a:path w="348614" h="0">
                <a:moveTo>
                  <a:pt x="0" y="0"/>
                </a:moveTo>
                <a:lnTo>
                  <a:pt x="348264" y="0"/>
                </a:lnTo>
              </a:path>
            </a:pathLst>
          </a:custGeom>
          <a:ln w="9673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 txBox="1"/>
          <p:nvPr/>
        </p:nvSpPr>
        <p:spPr>
          <a:xfrm>
            <a:off x="1904795" y="4052329"/>
            <a:ext cx="4419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7.9: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0-1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knapsack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(non-optimal)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1956816" y="4615886"/>
            <a:ext cx="4278630" cy="3048000"/>
            <a:chOff x="1956816" y="4615886"/>
            <a:chExt cx="4278630" cy="3048000"/>
          </a:xfrm>
        </p:grpSpPr>
        <p:sp>
          <p:nvSpPr>
            <p:cNvPr id="40" name="object 40"/>
            <p:cNvSpPr/>
            <p:nvPr/>
          </p:nvSpPr>
          <p:spPr>
            <a:xfrm>
              <a:off x="1956816" y="4615886"/>
              <a:ext cx="4278630" cy="3048000"/>
            </a:xfrm>
            <a:custGeom>
              <a:avLst/>
              <a:gdLst/>
              <a:ahLst/>
              <a:cxnLst/>
              <a:rect l="l" t="t" r="r" b="b"/>
              <a:pathLst>
                <a:path w="4278630" h="3048000">
                  <a:moveTo>
                    <a:pt x="4278248" y="0"/>
                  </a:moveTo>
                  <a:lnTo>
                    <a:pt x="0" y="0"/>
                  </a:lnTo>
                  <a:lnTo>
                    <a:pt x="0" y="3047801"/>
                  </a:lnTo>
                  <a:lnTo>
                    <a:pt x="4278248" y="3047801"/>
                  </a:lnTo>
                  <a:lnTo>
                    <a:pt x="4278248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074243" y="6503299"/>
              <a:ext cx="270510" cy="513715"/>
            </a:xfrm>
            <a:custGeom>
              <a:avLst/>
              <a:gdLst/>
              <a:ahLst/>
              <a:cxnLst/>
              <a:rect l="l" t="t" r="r" b="b"/>
              <a:pathLst>
                <a:path w="270510" h="513715">
                  <a:moveTo>
                    <a:pt x="226374" y="0"/>
                  </a:moveTo>
                  <a:lnTo>
                    <a:pt x="43540" y="0"/>
                  </a:lnTo>
                  <a:lnTo>
                    <a:pt x="34823" y="8702"/>
                  </a:lnTo>
                  <a:lnTo>
                    <a:pt x="17419" y="17404"/>
                  </a:lnTo>
                  <a:lnTo>
                    <a:pt x="8717" y="26121"/>
                  </a:lnTo>
                  <a:lnTo>
                    <a:pt x="8717" y="43525"/>
                  </a:lnTo>
                  <a:lnTo>
                    <a:pt x="0" y="52227"/>
                  </a:lnTo>
                  <a:lnTo>
                    <a:pt x="0" y="461436"/>
                  </a:lnTo>
                  <a:lnTo>
                    <a:pt x="8717" y="470138"/>
                  </a:lnTo>
                  <a:lnTo>
                    <a:pt x="8717" y="487558"/>
                  </a:lnTo>
                  <a:lnTo>
                    <a:pt x="17419" y="496260"/>
                  </a:lnTo>
                  <a:lnTo>
                    <a:pt x="34823" y="504962"/>
                  </a:lnTo>
                  <a:lnTo>
                    <a:pt x="43540" y="513679"/>
                  </a:lnTo>
                  <a:lnTo>
                    <a:pt x="226374" y="513679"/>
                  </a:lnTo>
                  <a:lnTo>
                    <a:pt x="235076" y="504962"/>
                  </a:lnTo>
                  <a:lnTo>
                    <a:pt x="252496" y="496260"/>
                  </a:lnTo>
                  <a:lnTo>
                    <a:pt x="261198" y="487558"/>
                  </a:lnTo>
                  <a:lnTo>
                    <a:pt x="261198" y="470138"/>
                  </a:lnTo>
                  <a:lnTo>
                    <a:pt x="269900" y="461436"/>
                  </a:lnTo>
                  <a:lnTo>
                    <a:pt x="269900" y="444017"/>
                  </a:lnTo>
                  <a:lnTo>
                    <a:pt x="269900" y="52227"/>
                  </a:lnTo>
                  <a:lnTo>
                    <a:pt x="261198" y="43525"/>
                  </a:lnTo>
                  <a:lnTo>
                    <a:pt x="261198" y="26121"/>
                  </a:lnTo>
                  <a:lnTo>
                    <a:pt x="252496" y="17404"/>
                  </a:lnTo>
                  <a:lnTo>
                    <a:pt x="235076" y="8702"/>
                  </a:lnTo>
                  <a:lnTo>
                    <a:pt x="226374" y="0"/>
                  </a:lnTo>
                  <a:close/>
                </a:path>
              </a:pathLst>
            </a:custGeom>
            <a:solidFill>
              <a:srgbClr val="00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074243" y="6503299"/>
              <a:ext cx="270510" cy="513715"/>
            </a:xfrm>
            <a:custGeom>
              <a:avLst/>
              <a:gdLst/>
              <a:ahLst/>
              <a:cxnLst/>
              <a:rect l="l" t="t" r="r" b="b"/>
              <a:pathLst>
                <a:path w="270510" h="513715">
                  <a:moveTo>
                    <a:pt x="269900" y="444017"/>
                  </a:moveTo>
                  <a:lnTo>
                    <a:pt x="269900" y="52227"/>
                  </a:lnTo>
                  <a:lnTo>
                    <a:pt x="261198" y="43525"/>
                  </a:lnTo>
                  <a:lnTo>
                    <a:pt x="261198" y="26121"/>
                  </a:lnTo>
                  <a:lnTo>
                    <a:pt x="252496" y="17404"/>
                  </a:lnTo>
                  <a:lnTo>
                    <a:pt x="235076" y="8702"/>
                  </a:lnTo>
                  <a:lnTo>
                    <a:pt x="226374" y="0"/>
                  </a:lnTo>
                  <a:lnTo>
                    <a:pt x="200253" y="0"/>
                  </a:lnTo>
                  <a:lnTo>
                    <a:pt x="43540" y="0"/>
                  </a:lnTo>
                  <a:lnTo>
                    <a:pt x="34823" y="8702"/>
                  </a:lnTo>
                  <a:lnTo>
                    <a:pt x="17419" y="17404"/>
                  </a:lnTo>
                  <a:lnTo>
                    <a:pt x="8717" y="26121"/>
                  </a:lnTo>
                  <a:lnTo>
                    <a:pt x="8717" y="43525"/>
                  </a:lnTo>
                  <a:lnTo>
                    <a:pt x="0" y="52227"/>
                  </a:lnTo>
                  <a:lnTo>
                    <a:pt x="0" y="461436"/>
                  </a:lnTo>
                  <a:lnTo>
                    <a:pt x="8717" y="470138"/>
                  </a:lnTo>
                  <a:lnTo>
                    <a:pt x="8717" y="487558"/>
                  </a:lnTo>
                  <a:lnTo>
                    <a:pt x="17419" y="496260"/>
                  </a:lnTo>
                  <a:lnTo>
                    <a:pt x="34823" y="504962"/>
                  </a:lnTo>
                  <a:lnTo>
                    <a:pt x="43540" y="513679"/>
                  </a:lnTo>
                  <a:lnTo>
                    <a:pt x="69662" y="513679"/>
                  </a:lnTo>
                  <a:lnTo>
                    <a:pt x="226374" y="513679"/>
                  </a:lnTo>
                  <a:lnTo>
                    <a:pt x="235076" y="504962"/>
                  </a:lnTo>
                  <a:lnTo>
                    <a:pt x="252496" y="496260"/>
                  </a:lnTo>
                  <a:lnTo>
                    <a:pt x="261198" y="487558"/>
                  </a:lnTo>
                  <a:lnTo>
                    <a:pt x="261198" y="470138"/>
                  </a:lnTo>
                  <a:lnTo>
                    <a:pt x="269900" y="461436"/>
                  </a:lnTo>
                  <a:lnTo>
                    <a:pt x="269900" y="444017"/>
                  </a:lnTo>
                </a:path>
              </a:pathLst>
            </a:custGeom>
            <a:ln w="77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535695" y="6250802"/>
              <a:ext cx="270510" cy="766445"/>
            </a:xfrm>
            <a:custGeom>
              <a:avLst/>
              <a:gdLst/>
              <a:ahLst/>
              <a:cxnLst/>
              <a:rect l="l" t="t" r="r" b="b"/>
              <a:pathLst>
                <a:path w="270510" h="766445">
                  <a:moveTo>
                    <a:pt x="200238" y="0"/>
                  </a:moveTo>
                  <a:lnTo>
                    <a:pt x="69646" y="0"/>
                  </a:lnTo>
                  <a:lnTo>
                    <a:pt x="52227" y="8717"/>
                  </a:lnTo>
                  <a:lnTo>
                    <a:pt x="43525" y="8717"/>
                  </a:lnTo>
                  <a:lnTo>
                    <a:pt x="26121" y="17419"/>
                  </a:lnTo>
                  <a:lnTo>
                    <a:pt x="8702" y="34823"/>
                  </a:lnTo>
                  <a:lnTo>
                    <a:pt x="8702" y="43540"/>
                  </a:lnTo>
                  <a:lnTo>
                    <a:pt x="0" y="60944"/>
                  </a:lnTo>
                  <a:lnTo>
                    <a:pt x="0" y="713933"/>
                  </a:lnTo>
                  <a:lnTo>
                    <a:pt x="8702" y="722635"/>
                  </a:lnTo>
                  <a:lnTo>
                    <a:pt x="8702" y="740054"/>
                  </a:lnTo>
                  <a:lnTo>
                    <a:pt x="26121" y="757458"/>
                  </a:lnTo>
                  <a:lnTo>
                    <a:pt x="43525" y="766175"/>
                  </a:lnTo>
                  <a:lnTo>
                    <a:pt x="226359" y="766175"/>
                  </a:lnTo>
                  <a:lnTo>
                    <a:pt x="252481" y="740054"/>
                  </a:lnTo>
                  <a:lnTo>
                    <a:pt x="261183" y="722635"/>
                  </a:lnTo>
                  <a:lnTo>
                    <a:pt x="269900" y="713933"/>
                  </a:lnTo>
                  <a:lnTo>
                    <a:pt x="269900" y="696513"/>
                  </a:lnTo>
                  <a:lnTo>
                    <a:pt x="269900" y="60944"/>
                  </a:lnTo>
                  <a:lnTo>
                    <a:pt x="261183" y="43540"/>
                  </a:lnTo>
                  <a:lnTo>
                    <a:pt x="226359" y="8717"/>
                  </a:lnTo>
                  <a:lnTo>
                    <a:pt x="208955" y="8717"/>
                  </a:lnTo>
                  <a:lnTo>
                    <a:pt x="200238" y="0"/>
                  </a:lnTo>
                  <a:close/>
                </a:path>
              </a:pathLst>
            </a:custGeom>
            <a:solidFill>
              <a:srgbClr val="FF99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535695" y="6250802"/>
              <a:ext cx="270510" cy="766445"/>
            </a:xfrm>
            <a:custGeom>
              <a:avLst/>
              <a:gdLst/>
              <a:ahLst/>
              <a:cxnLst/>
              <a:rect l="l" t="t" r="r" b="b"/>
              <a:pathLst>
                <a:path w="270510" h="766445">
                  <a:moveTo>
                    <a:pt x="269900" y="696513"/>
                  </a:moveTo>
                  <a:lnTo>
                    <a:pt x="269900" y="60944"/>
                  </a:lnTo>
                  <a:lnTo>
                    <a:pt x="261183" y="43540"/>
                  </a:lnTo>
                  <a:lnTo>
                    <a:pt x="252481" y="34823"/>
                  </a:lnTo>
                  <a:lnTo>
                    <a:pt x="243779" y="26121"/>
                  </a:lnTo>
                  <a:lnTo>
                    <a:pt x="235061" y="17419"/>
                  </a:lnTo>
                  <a:lnTo>
                    <a:pt x="226359" y="8717"/>
                  </a:lnTo>
                  <a:lnTo>
                    <a:pt x="208955" y="8717"/>
                  </a:lnTo>
                  <a:lnTo>
                    <a:pt x="200238" y="0"/>
                  </a:lnTo>
                  <a:lnTo>
                    <a:pt x="69646" y="0"/>
                  </a:lnTo>
                  <a:lnTo>
                    <a:pt x="52227" y="8717"/>
                  </a:lnTo>
                  <a:lnTo>
                    <a:pt x="43525" y="8717"/>
                  </a:lnTo>
                  <a:lnTo>
                    <a:pt x="26121" y="17419"/>
                  </a:lnTo>
                  <a:lnTo>
                    <a:pt x="17404" y="26121"/>
                  </a:lnTo>
                  <a:lnTo>
                    <a:pt x="8702" y="34823"/>
                  </a:lnTo>
                  <a:lnTo>
                    <a:pt x="8702" y="43540"/>
                  </a:lnTo>
                  <a:lnTo>
                    <a:pt x="0" y="60944"/>
                  </a:lnTo>
                  <a:lnTo>
                    <a:pt x="0" y="713933"/>
                  </a:lnTo>
                  <a:lnTo>
                    <a:pt x="8702" y="722635"/>
                  </a:lnTo>
                  <a:lnTo>
                    <a:pt x="8702" y="740054"/>
                  </a:lnTo>
                  <a:lnTo>
                    <a:pt x="17404" y="748756"/>
                  </a:lnTo>
                  <a:lnTo>
                    <a:pt x="26121" y="757458"/>
                  </a:lnTo>
                  <a:lnTo>
                    <a:pt x="43525" y="766175"/>
                  </a:lnTo>
                  <a:lnTo>
                    <a:pt x="69646" y="766175"/>
                  </a:lnTo>
                  <a:lnTo>
                    <a:pt x="226359" y="766175"/>
                  </a:lnTo>
                  <a:lnTo>
                    <a:pt x="235061" y="757458"/>
                  </a:lnTo>
                  <a:lnTo>
                    <a:pt x="243779" y="748756"/>
                  </a:lnTo>
                  <a:lnTo>
                    <a:pt x="252481" y="740054"/>
                  </a:lnTo>
                  <a:lnTo>
                    <a:pt x="261183" y="722635"/>
                  </a:lnTo>
                  <a:lnTo>
                    <a:pt x="269900" y="713933"/>
                  </a:lnTo>
                  <a:lnTo>
                    <a:pt x="269900" y="696513"/>
                  </a:lnTo>
                </a:path>
              </a:pathLst>
            </a:custGeom>
            <a:ln w="77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997132" y="5876431"/>
              <a:ext cx="261620" cy="1141095"/>
            </a:xfrm>
            <a:custGeom>
              <a:avLst/>
              <a:gdLst/>
              <a:ahLst/>
              <a:cxnLst/>
              <a:rect l="l" t="t" r="r" b="b"/>
              <a:pathLst>
                <a:path w="261620" h="1141095">
                  <a:moveTo>
                    <a:pt x="217657" y="8702"/>
                  </a:moveTo>
                  <a:lnTo>
                    <a:pt x="43525" y="8702"/>
                  </a:lnTo>
                  <a:lnTo>
                    <a:pt x="26121" y="17404"/>
                  </a:lnTo>
                  <a:lnTo>
                    <a:pt x="0" y="43525"/>
                  </a:lnTo>
                  <a:lnTo>
                    <a:pt x="0" y="1097005"/>
                  </a:lnTo>
                  <a:lnTo>
                    <a:pt x="8702" y="1114425"/>
                  </a:lnTo>
                  <a:lnTo>
                    <a:pt x="26121" y="1131829"/>
                  </a:lnTo>
                  <a:lnTo>
                    <a:pt x="43525" y="1140546"/>
                  </a:lnTo>
                  <a:lnTo>
                    <a:pt x="217657" y="1140546"/>
                  </a:lnTo>
                  <a:lnTo>
                    <a:pt x="243779" y="1114425"/>
                  </a:lnTo>
                  <a:lnTo>
                    <a:pt x="252481" y="1097005"/>
                  </a:lnTo>
                  <a:lnTo>
                    <a:pt x="252481" y="1088303"/>
                  </a:lnTo>
                  <a:lnTo>
                    <a:pt x="261198" y="1070884"/>
                  </a:lnTo>
                  <a:lnTo>
                    <a:pt x="261198" y="69646"/>
                  </a:lnTo>
                  <a:lnTo>
                    <a:pt x="252481" y="60944"/>
                  </a:lnTo>
                  <a:lnTo>
                    <a:pt x="252481" y="43525"/>
                  </a:lnTo>
                  <a:lnTo>
                    <a:pt x="217657" y="8702"/>
                  </a:lnTo>
                  <a:close/>
                </a:path>
                <a:path w="261620" h="1141095">
                  <a:moveTo>
                    <a:pt x="191536" y="0"/>
                  </a:moveTo>
                  <a:lnTo>
                    <a:pt x="69646" y="0"/>
                  </a:lnTo>
                  <a:lnTo>
                    <a:pt x="52242" y="8702"/>
                  </a:lnTo>
                  <a:lnTo>
                    <a:pt x="200253" y="8702"/>
                  </a:lnTo>
                  <a:lnTo>
                    <a:pt x="191536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997131" y="5876432"/>
              <a:ext cx="261620" cy="1141095"/>
            </a:xfrm>
            <a:custGeom>
              <a:avLst/>
              <a:gdLst/>
              <a:ahLst/>
              <a:cxnLst/>
              <a:rect l="l" t="t" r="r" b="b"/>
              <a:pathLst>
                <a:path w="261620" h="1141095">
                  <a:moveTo>
                    <a:pt x="261198" y="1070884"/>
                  </a:moveTo>
                  <a:lnTo>
                    <a:pt x="261198" y="69646"/>
                  </a:lnTo>
                  <a:lnTo>
                    <a:pt x="252481" y="60944"/>
                  </a:lnTo>
                  <a:lnTo>
                    <a:pt x="252481" y="43525"/>
                  </a:lnTo>
                  <a:lnTo>
                    <a:pt x="243779" y="34823"/>
                  </a:lnTo>
                  <a:lnTo>
                    <a:pt x="235076" y="26121"/>
                  </a:lnTo>
                  <a:lnTo>
                    <a:pt x="226359" y="17404"/>
                  </a:lnTo>
                  <a:lnTo>
                    <a:pt x="217657" y="8702"/>
                  </a:lnTo>
                  <a:lnTo>
                    <a:pt x="200253" y="8702"/>
                  </a:lnTo>
                  <a:lnTo>
                    <a:pt x="191536" y="0"/>
                  </a:lnTo>
                  <a:lnTo>
                    <a:pt x="69646" y="0"/>
                  </a:lnTo>
                  <a:lnTo>
                    <a:pt x="52242" y="8702"/>
                  </a:lnTo>
                  <a:lnTo>
                    <a:pt x="43525" y="8702"/>
                  </a:lnTo>
                  <a:lnTo>
                    <a:pt x="26121" y="17404"/>
                  </a:lnTo>
                  <a:lnTo>
                    <a:pt x="17419" y="26121"/>
                  </a:lnTo>
                  <a:lnTo>
                    <a:pt x="8702" y="34823"/>
                  </a:lnTo>
                  <a:lnTo>
                    <a:pt x="0" y="43525"/>
                  </a:lnTo>
                  <a:lnTo>
                    <a:pt x="0" y="1097005"/>
                  </a:lnTo>
                  <a:lnTo>
                    <a:pt x="8702" y="1114424"/>
                  </a:lnTo>
                  <a:lnTo>
                    <a:pt x="17419" y="1123127"/>
                  </a:lnTo>
                  <a:lnTo>
                    <a:pt x="26121" y="1131829"/>
                  </a:lnTo>
                  <a:lnTo>
                    <a:pt x="43525" y="1140546"/>
                  </a:lnTo>
                  <a:lnTo>
                    <a:pt x="69646" y="1140546"/>
                  </a:lnTo>
                  <a:lnTo>
                    <a:pt x="217657" y="1140546"/>
                  </a:lnTo>
                  <a:lnTo>
                    <a:pt x="226359" y="1131829"/>
                  </a:lnTo>
                  <a:lnTo>
                    <a:pt x="235076" y="1123127"/>
                  </a:lnTo>
                  <a:lnTo>
                    <a:pt x="243779" y="1114424"/>
                  </a:lnTo>
                  <a:lnTo>
                    <a:pt x="252481" y="1097005"/>
                  </a:lnTo>
                  <a:lnTo>
                    <a:pt x="252481" y="1088303"/>
                  </a:lnTo>
                  <a:lnTo>
                    <a:pt x="261198" y="1070884"/>
                  </a:lnTo>
                </a:path>
              </a:pathLst>
            </a:custGeom>
            <a:ln w="77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612806" y="6660012"/>
              <a:ext cx="270510" cy="357505"/>
            </a:xfrm>
            <a:custGeom>
              <a:avLst/>
              <a:gdLst/>
              <a:ahLst/>
              <a:cxnLst/>
              <a:rect l="l" t="t" r="r" b="b"/>
              <a:pathLst>
                <a:path w="270510" h="357504">
                  <a:moveTo>
                    <a:pt x="226374" y="0"/>
                  </a:moveTo>
                  <a:lnTo>
                    <a:pt x="43525" y="0"/>
                  </a:lnTo>
                  <a:lnTo>
                    <a:pt x="17419" y="26121"/>
                  </a:lnTo>
                  <a:lnTo>
                    <a:pt x="8702" y="43525"/>
                  </a:lnTo>
                  <a:lnTo>
                    <a:pt x="8702" y="52242"/>
                  </a:lnTo>
                  <a:lnTo>
                    <a:pt x="0" y="69646"/>
                  </a:lnTo>
                  <a:lnTo>
                    <a:pt x="0" y="287304"/>
                  </a:lnTo>
                  <a:lnTo>
                    <a:pt x="8702" y="304723"/>
                  </a:lnTo>
                  <a:lnTo>
                    <a:pt x="8702" y="313425"/>
                  </a:lnTo>
                  <a:lnTo>
                    <a:pt x="17419" y="330845"/>
                  </a:lnTo>
                  <a:lnTo>
                    <a:pt x="43525" y="356966"/>
                  </a:lnTo>
                  <a:lnTo>
                    <a:pt x="226374" y="356966"/>
                  </a:lnTo>
                  <a:lnTo>
                    <a:pt x="243779" y="348249"/>
                  </a:lnTo>
                  <a:lnTo>
                    <a:pt x="261198" y="330845"/>
                  </a:lnTo>
                  <a:lnTo>
                    <a:pt x="261198" y="313425"/>
                  </a:lnTo>
                  <a:lnTo>
                    <a:pt x="269900" y="304723"/>
                  </a:lnTo>
                  <a:lnTo>
                    <a:pt x="269900" y="287304"/>
                  </a:lnTo>
                  <a:lnTo>
                    <a:pt x="269900" y="52242"/>
                  </a:lnTo>
                  <a:lnTo>
                    <a:pt x="261198" y="43525"/>
                  </a:lnTo>
                  <a:lnTo>
                    <a:pt x="261198" y="26121"/>
                  </a:lnTo>
                  <a:lnTo>
                    <a:pt x="243779" y="8702"/>
                  </a:lnTo>
                  <a:lnTo>
                    <a:pt x="22637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612806" y="6660012"/>
              <a:ext cx="270510" cy="357505"/>
            </a:xfrm>
            <a:custGeom>
              <a:avLst/>
              <a:gdLst/>
              <a:ahLst/>
              <a:cxnLst/>
              <a:rect l="l" t="t" r="r" b="b"/>
              <a:pathLst>
                <a:path w="270510" h="357504">
                  <a:moveTo>
                    <a:pt x="269900" y="287304"/>
                  </a:moveTo>
                  <a:lnTo>
                    <a:pt x="269900" y="52242"/>
                  </a:lnTo>
                  <a:lnTo>
                    <a:pt x="261198" y="43525"/>
                  </a:lnTo>
                  <a:lnTo>
                    <a:pt x="261198" y="26121"/>
                  </a:lnTo>
                  <a:lnTo>
                    <a:pt x="252481" y="17404"/>
                  </a:lnTo>
                  <a:lnTo>
                    <a:pt x="243779" y="8702"/>
                  </a:lnTo>
                  <a:lnTo>
                    <a:pt x="226374" y="0"/>
                  </a:lnTo>
                  <a:lnTo>
                    <a:pt x="200253" y="0"/>
                  </a:lnTo>
                  <a:lnTo>
                    <a:pt x="43525" y="0"/>
                  </a:lnTo>
                  <a:lnTo>
                    <a:pt x="34823" y="8702"/>
                  </a:lnTo>
                  <a:lnTo>
                    <a:pt x="26121" y="17404"/>
                  </a:lnTo>
                  <a:lnTo>
                    <a:pt x="17419" y="26121"/>
                  </a:lnTo>
                  <a:lnTo>
                    <a:pt x="8702" y="43525"/>
                  </a:lnTo>
                  <a:lnTo>
                    <a:pt x="8702" y="52242"/>
                  </a:lnTo>
                  <a:lnTo>
                    <a:pt x="0" y="69646"/>
                  </a:lnTo>
                  <a:lnTo>
                    <a:pt x="0" y="287304"/>
                  </a:lnTo>
                  <a:lnTo>
                    <a:pt x="8702" y="304723"/>
                  </a:lnTo>
                  <a:lnTo>
                    <a:pt x="8702" y="313425"/>
                  </a:lnTo>
                  <a:lnTo>
                    <a:pt x="17419" y="330845"/>
                  </a:lnTo>
                  <a:lnTo>
                    <a:pt x="26121" y="339547"/>
                  </a:lnTo>
                  <a:lnTo>
                    <a:pt x="34823" y="348249"/>
                  </a:lnTo>
                  <a:lnTo>
                    <a:pt x="43525" y="356966"/>
                  </a:lnTo>
                  <a:lnTo>
                    <a:pt x="69646" y="356966"/>
                  </a:lnTo>
                  <a:lnTo>
                    <a:pt x="226374" y="356966"/>
                  </a:lnTo>
                  <a:lnTo>
                    <a:pt x="243779" y="348249"/>
                  </a:lnTo>
                  <a:lnTo>
                    <a:pt x="252481" y="339547"/>
                  </a:lnTo>
                  <a:lnTo>
                    <a:pt x="261198" y="330845"/>
                  </a:lnTo>
                  <a:lnTo>
                    <a:pt x="261198" y="313425"/>
                  </a:lnTo>
                  <a:lnTo>
                    <a:pt x="269900" y="304723"/>
                  </a:lnTo>
                  <a:lnTo>
                    <a:pt x="269900" y="287304"/>
                  </a:lnTo>
                </a:path>
              </a:pathLst>
            </a:custGeom>
            <a:ln w="77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449866" y="5510763"/>
              <a:ext cx="261620" cy="1506220"/>
            </a:xfrm>
            <a:custGeom>
              <a:avLst/>
              <a:gdLst/>
              <a:ahLst/>
              <a:cxnLst/>
              <a:rect l="l" t="t" r="r" b="b"/>
              <a:pathLst>
                <a:path w="261620" h="1506220">
                  <a:moveTo>
                    <a:pt x="208955" y="0"/>
                  </a:moveTo>
                  <a:lnTo>
                    <a:pt x="52242" y="0"/>
                  </a:lnTo>
                  <a:lnTo>
                    <a:pt x="34823" y="8702"/>
                  </a:lnTo>
                  <a:lnTo>
                    <a:pt x="26121" y="8702"/>
                  </a:lnTo>
                  <a:lnTo>
                    <a:pt x="8702" y="26121"/>
                  </a:lnTo>
                  <a:lnTo>
                    <a:pt x="0" y="43525"/>
                  </a:lnTo>
                  <a:lnTo>
                    <a:pt x="0" y="1462674"/>
                  </a:lnTo>
                  <a:lnTo>
                    <a:pt x="8702" y="1480093"/>
                  </a:lnTo>
                  <a:lnTo>
                    <a:pt x="34823" y="1506214"/>
                  </a:lnTo>
                  <a:lnTo>
                    <a:pt x="226374" y="1506214"/>
                  </a:lnTo>
                  <a:lnTo>
                    <a:pt x="252481" y="1480093"/>
                  </a:lnTo>
                  <a:lnTo>
                    <a:pt x="261198" y="1462674"/>
                  </a:lnTo>
                  <a:lnTo>
                    <a:pt x="261198" y="1436552"/>
                  </a:lnTo>
                  <a:lnTo>
                    <a:pt x="261198" y="43525"/>
                  </a:lnTo>
                  <a:lnTo>
                    <a:pt x="252481" y="26121"/>
                  </a:lnTo>
                  <a:lnTo>
                    <a:pt x="235076" y="8702"/>
                  </a:lnTo>
                  <a:lnTo>
                    <a:pt x="226374" y="8702"/>
                  </a:lnTo>
                  <a:lnTo>
                    <a:pt x="208955" y="0"/>
                  </a:lnTo>
                  <a:close/>
                </a:path>
              </a:pathLst>
            </a:custGeom>
            <a:solidFill>
              <a:srgbClr val="FFCC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449866" y="5510763"/>
              <a:ext cx="261620" cy="1506220"/>
            </a:xfrm>
            <a:custGeom>
              <a:avLst/>
              <a:gdLst/>
              <a:ahLst/>
              <a:cxnLst/>
              <a:rect l="l" t="t" r="r" b="b"/>
              <a:pathLst>
                <a:path w="261620" h="1506220">
                  <a:moveTo>
                    <a:pt x="261198" y="1436552"/>
                  </a:moveTo>
                  <a:lnTo>
                    <a:pt x="261198" y="43525"/>
                  </a:lnTo>
                  <a:lnTo>
                    <a:pt x="252481" y="26121"/>
                  </a:lnTo>
                  <a:lnTo>
                    <a:pt x="243779" y="17404"/>
                  </a:lnTo>
                  <a:lnTo>
                    <a:pt x="235076" y="8702"/>
                  </a:lnTo>
                  <a:lnTo>
                    <a:pt x="226374" y="8702"/>
                  </a:lnTo>
                  <a:lnTo>
                    <a:pt x="208955" y="0"/>
                  </a:lnTo>
                  <a:lnTo>
                    <a:pt x="191536" y="0"/>
                  </a:lnTo>
                  <a:lnTo>
                    <a:pt x="52242" y="0"/>
                  </a:lnTo>
                  <a:lnTo>
                    <a:pt x="34823" y="8702"/>
                  </a:lnTo>
                  <a:lnTo>
                    <a:pt x="26121" y="8702"/>
                  </a:lnTo>
                  <a:lnTo>
                    <a:pt x="17419" y="17404"/>
                  </a:lnTo>
                  <a:lnTo>
                    <a:pt x="8702" y="26121"/>
                  </a:lnTo>
                  <a:lnTo>
                    <a:pt x="0" y="43525"/>
                  </a:lnTo>
                  <a:lnTo>
                    <a:pt x="0" y="1462674"/>
                  </a:lnTo>
                  <a:lnTo>
                    <a:pt x="8702" y="1480093"/>
                  </a:lnTo>
                  <a:lnTo>
                    <a:pt x="17419" y="1488795"/>
                  </a:lnTo>
                  <a:lnTo>
                    <a:pt x="26121" y="1497497"/>
                  </a:lnTo>
                  <a:lnTo>
                    <a:pt x="34823" y="1506214"/>
                  </a:lnTo>
                  <a:lnTo>
                    <a:pt x="69646" y="1506214"/>
                  </a:lnTo>
                  <a:lnTo>
                    <a:pt x="226374" y="1506214"/>
                  </a:lnTo>
                  <a:lnTo>
                    <a:pt x="235076" y="1497497"/>
                  </a:lnTo>
                  <a:lnTo>
                    <a:pt x="243779" y="1488795"/>
                  </a:lnTo>
                  <a:lnTo>
                    <a:pt x="252481" y="1480093"/>
                  </a:lnTo>
                  <a:lnTo>
                    <a:pt x="261198" y="1462674"/>
                  </a:lnTo>
                  <a:lnTo>
                    <a:pt x="261198" y="1436552"/>
                  </a:lnTo>
                </a:path>
              </a:pathLst>
            </a:custGeom>
            <a:ln w="77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" name="object 51"/>
          <p:cNvSpPr txBox="1"/>
          <p:nvPr/>
        </p:nvSpPr>
        <p:spPr>
          <a:xfrm>
            <a:off x="2687166" y="6750821"/>
            <a:ext cx="9906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105076" y="6655050"/>
            <a:ext cx="17208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10</a:t>
            </a:r>
            <a:endParaRPr sz="10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583930" y="6550573"/>
            <a:ext cx="17208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20</a:t>
            </a:r>
            <a:endParaRPr sz="10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045372" y="6350324"/>
            <a:ext cx="17208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30</a:t>
            </a:r>
            <a:endParaRPr sz="10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471988" y="6158782"/>
            <a:ext cx="17208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40</a:t>
            </a:r>
            <a:endParaRPr sz="10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990660" y="6943519"/>
            <a:ext cx="880744" cy="478155"/>
          </a:xfrm>
          <a:prstGeom prst="rect">
            <a:avLst/>
          </a:prstGeom>
        </p:spPr>
        <p:txBody>
          <a:bodyPr wrap="square" lIns="0" tIns="8572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675"/>
              </a:spcBef>
            </a:pP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knapsack</a:t>
            </a:r>
            <a:r>
              <a:rPr dirty="0" sz="1000" spc="3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$30</a:t>
            </a:r>
            <a:endParaRPr sz="1000">
              <a:latin typeface="Arial"/>
              <a:cs typeface="Arial"/>
            </a:endParaRPr>
          </a:p>
          <a:p>
            <a:pPr algn="r" marR="64135">
              <a:lnSpc>
                <a:spcPct val="100000"/>
              </a:lnSpc>
              <a:spcBef>
                <a:spcPts val="580"/>
              </a:spcBef>
            </a:pP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57" name="object 57"/>
          <p:cNvGraphicFramePr>
            <a:graphicFrameLocks noGrp="1"/>
          </p:cNvGraphicFramePr>
          <p:nvPr/>
        </p:nvGraphicFramePr>
        <p:xfrm>
          <a:off x="3051209" y="7053738"/>
          <a:ext cx="173228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3220"/>
                <a:gridCol w="506730"/>
                <a:gridCol w="429259"/>
                <a:gridCol w="432434"/>
              </a:tblGrid>
              <a:tr h="178965">
                <a:tc>
                  <a:txBody>
                    <a:bodyPr/>
                    <a:lstStyle/>
                    <a:p>
                      <a:pPr algn="ctr" marR="72390">
                        <a:lnSpc>
                          <a:spcPts val="1005"/>
                        </a:lnSpc>
                      </a:pPr>
                      <a:r>
                        <a:rPr dirty="0" sz="10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$20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005"/>
                        </a:lnSpc>
                      </a:pPr>
                      <a:r>
                        <a:rPr dirty="0" sz="10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$100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5"/>
                        </a:lnSpc>
                      </a:pPr>
                      <a:r>
                        <a:rPr dirty="0" sz="10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$90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5565">
                        <a:lnSpc>
                          <a:spcPts val="1005"/>
                        </a:lnSpc>
                      </a:pPr>
                      <a:r>
                        <a:rPr dirty="0" sz="1000" spc="15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$160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7E0000"/>
                    </a:solidFill>
                  </a:tcPr>
                </a:tc>
              </a:tr>
              <a:tr h="178965">
                <a:tc>
                  <a:txBody>
                    <a:bodyPr/>
                    <a:lstStyle/>
                    <a:p>
                      <a:pPr algn="ctr" marR="27305">
                        <a:lnSpc>
                          <a:spcPts val="1130"/>
                        </a:lnSpc>
                        <a:spcBef>
                          <a:spcPts val="180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4290">
                        <a:lnSpc>
                          <a:spcPts val="1130"/>
                        </a:lnSpc>
                        <a:spcBef>
                          <a:spcPts val="180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30"/>
                        </a:lnSpc>
                        <a:spcBef>
                          <a:spcPts val="180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0480">
                        <a:lnSpc>
                          <a:spcPts val="1130"/>
                        </a:lnSpc>
                        <a:spcBef>
                          <a:spcPts val="180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58" name="object 58"/>
          <p:cNvSpPr txBox="1"/>
          <p:nvPr/>
        </p:nvSpPr>
        <p:spPr>
          <a:xfrm>
            <a:off x="2160071" y="4674941"/>
            <a:ext cx="313690" cy="2342515"/>
          </a:xfrm>
          <a:prstGeom prst="rect">
            <a:avLst/>
          </a:prstGeom>
          <a:solidFill>
            <a:srgbClr val="959595"/>
          </a:solidFill>
          <a:ln w="17412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L="78105">
              <a:lnSpc>
                <a:spcPct val="100000"/>
              </a:lnSpc>
              <a:spcBef>
                <a:spcPts val="755"/>
              </a:spcBef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60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5416280" y="4674941"/>
            <a:ext cx="331470" cy="2342515"/>
            <a:chOff x="5416280" y="4674941"/>
            <a:chExt cx="331470" cy="2342515"/>
          </a:xfrm>
        </p:grpSpPr>
        <p:sp>
          <p:nvSpPr>
            <p:cNvPr id="60" name="object 60"/>
            <p:cNvSpPr/>
            <p:nvPr/>
          </p:nvSpPr>
          <p:spPr>
            <a:xfrm>
              <a:off x="5416280" y="4674941"/>
              <a:ext cx="331470" cy="2342515"/>
            </a:xfrm>
            <a:custGeom>
              <a:avLst/>
              <a:gdLst/>
              <a:ahLst/>
              <a:cxnLst/>
              <a:rect l="l" t="t" r="r" b="b"/>
              <a:pathLst>
                <a:path w="331470" h="2342515">
                  <a:moveTo>
                    <a:pt x="330845" y="0"/>
                  </a:moveTo>
                  <a:lnTo>
                    <a:pt x="0" y="0"/>
                  </a:lnTo>
                  <a:lnTo>
                    <a:pt x="0" y="2342037"/>
                  </a:lnTo>
                  <a:lnTo>
                    <a:pt x="330845" y="2342037"/>
                  </a:lnTo>
                  <a:lnTo>
                    <a:pt x="330845" y="0"/>
                  </a:lnTo>
                  <a:close/>
                </a:path>
              </a:pathLst>
            </a:custGeom>
            <a:solidFill>
              <a:srgbClr val="9595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5451104" y="6233398"/>
              <a:ext cx="270510" cy="766445"/>
            </a:xfrm>
            <a:custGeom>
              <a:avLst/>
              <a:gdLst/>
              <a:ahLst/>
              <a:cxnLst/>
              <a:rect l="l" t="t" r="r" b="b"/>
              <a:pathLst>
                <a:path w="270510" h="766445">
                  <a:moveTo>
                    <a:pt x="226374" y="0"/>
                  </a:moveTo>
                  <a:lnTo>
                    <a:pt x="43540" y="0"/>
                  </a:lnTo>
                  <a:lnTo>
                    <a:pt x="34823" y="8702"/>
                  </a:lnTo>
                  <a:lnTo>
                    <a:pt x="17419" y="17404"/>
                  </a:lnTo>
                  <a:lnTo>
                    <a:pt x="8717" y="26121"/>
                  </a:lnTo>
                  <a:lnTo>
                    <a:pt x="8717" y="43525"/>
                  </a:lnTo>
                  <a:lnTo>
                    <a:pt x="0" y="52227"/>
                  </a:lnTo>
                  <a:lnTo>
                    <a:pt x="0" y="705215"/>
                  </a:lnTo>
                  <a:lnTo>
                    <a:pt x="8717" y="722635"/>
                  </a:lnTo>
                  <a:lnTo>
                    <a:pt x="8717" y="731337"/>
                  </a:lnTo>
                  <a:lnTo>
                    <a:pt x="17419" y="740039"/>
                  </a:lnTo>
                  <a:lnTo>
                    <a:pt x="34823" y="748756"/>
                  </a:lnTo>
                  <a:lnTo>
                    <a:pt x="43540" y="757458"/>
                  </a:lnTo>
                  <a:lnTo>
                    <a:pt x="52242" y="757458"/>
                  </a:lnTo>
                  <a:lnTo>
                    <a:pt x="69662" y="766160"/>
                  </a:lnTo>
                  <a:lnTo>
                    <a:pt x="200253" y="766160"/>
                  </a:lnTo>
                  <a:lnTo>
                    <a:pt x="208955" y="757458"/>
                  </a:lnTo>
                  <a:lnTo>
                    <a:pt x="226374" y="757458"/>
                  </a:lnTo>
                  <a:lnTo>
                    <a:pt x="261198" y="722635"/>
                  </a:lnTo>
                  <a:lnTo>
                    <a:pt x="269900" y="705215"/>
                  </a:lnTo>
                  <a:lnTo>
                    <a:pt x="269900" y="696513"/>
                  </a:lnTo>
                  <a:lnTo>
                    <a:pt x="269900" y="52227"/>
                  </a:lnTo>
                  <a:lnTo>
                    <a:pt x="261198" y="43525"/>
                  </a:lnTo>
                  <a:lnTo>
                    <a:pt x="252496" y="26121"/>
                  </a:lnTo>
                  <a:lnTo>
                    <a:pt x="226374" y="0"/>
                  </a:lnTo>
                  <a:close/>
                </a:path>
              </a:pathLst>
            </a:custGeom>
            <a:solidFill>
              <a:srgbClr val="FF99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451104" y="6233398"/>
              <a:ext cx="270510" cy="766445"/>
            </a:xfrm>
            <a:custGeom>
              <a:avLst/>
              <a:gdLst/>
              <a:ahLst/>
              <a:cxnLst/>
              <a:rect l="l" t="t" r="r" b="b"/>
              <a:pathLst>
                <a:path w="270510" h="766445">
                  <a:moveTo>
                    <a:pt x="269900" y="696513"/>
                  </a:moveTo>
                  <a:lnTo>
                    <a:pt x="269900" y="52227"/>
                  </a:lnTo>
                  <a:lnTo>
                    <a:pt x="261198" y="43525"/>
                  </a:lnTo>
                  <a:lnTo>
                    <a:pt x="252496" y="26121"/>
                  </a:lnTo>
                  <a:lnTo>
                    <a:pt x="243779" y="17404"/>
                  </a:lnTo>
                  <a:lnTo>
                    <a:pt x="235076" y="8702"/>
                  </a:lnTo>
                  <a:lnTo>
                    <a:pt x="226374" y="0"/>
                  </a:lnTo>
                  <a:lnTo>
                    <a:pt x="200253" y="0"/>
                  </a:lnTo>
                  <a:lnTo>
                    <a:pt x="43540" y="0"/>
                  </a:lnTo>
                  <a:lnTo>
                    <a:pt x="34823" y="8702"/>
                  </a:lnTo>
                  <a:lnTo>
                    <a:pt x="17419" y="17404"/>
                  </a:lnTo>
                  <a:lnTo>
                    <a:pt x="8717" y="26121"/>
                  </a:lnTo>
                  <a:lnTo>
                    <a:pt x="8717" y="43525"/>
                  </a:lnTo>
                  <a:lnTo>
                    <a:pt x="0" y="52227"/>
                  </a:lnTo>
                  <a:lnTo>
                    <a:pt x="0" y="705215"/>
                  </a:lnTo>
                  <a:lnTo>
                    <a:pt x="8717" y="722635"/>
                  </a:lnTo>
                  <a:lnTo>
                    <a:pt x="8717" y="731337"/>
                  </a:lnTo>
                  <a:lnTo>
                    <a:pt x="17419" y="740039"/>
                  </a:lnTo>
                  <a:lnTo>
                    <a:pt x="34823" y="748756"/>
                  </a:lnTo>
                  <a:lnTo>
                    <a:pt x="43540" y="757458"/>
                  </a:lnTo>
                  <a:lnTo>
                    <a:pt x="52242" y="757458"/>
                  </a:lnTo>
                  <a:lnTo>
                    <a:pt x="69662" y="766160"/>
                  </a:lnTo>
                  <a:lnTo>
                    <a:pt x="200253" y="766160"/>
                  </a:lnTo>
                  <a:lnTo>
                    <a:pt x="208955" y="757458"/>
                  </a:lnTo>
                  <a:lnTo>
                    <a:pt x="226374" y="757458"/>
                  </a:lnTo>
                  <a:lnTo>
                    <a:pt x="235076" y="748756"/>
                  </a:lnTo>
                  <a:lnTo>
                    <a:pt x="243779" y="740039"/>
                  </a:lnTo>
                  <a:lnTo>
                    <a:pt x="252496" y="731337"/>
                  </a:lnTo>
                  <a:lnTo>
                    <a:pt x="261198" y="722635"/>
                  </a:lnTo>
                  <a:lnTo>
                    <a:pt x="269900" y="705215"/>
                  </a:lnTo>
                  <a:lnTo>
                    <a:pt x="269900" y="69651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5451104" y="4701062"/>
              <a:ext cx="270510" cy="1515110"/>
            </a:xfrm>
            <a:custGeom>
              <a:avLst/>
              <a:gdLst/>
              <a:ahLst/>
              <a:cxnLst/>
              <a:rect l="l" t="t" r="r" b="b"/>
              <a:pathLst>
                <a:path w="270510" h="1515110">
                  <a:moveTo>
                    <a:pt x="200253" y="0"/>
                  </a:moveTo>
                  <a:lnTo>
                    <a:pt x="69662" y="0"/>
                  </a:lnTo>
                  <a:lnTo>
                    <a:pt x="52242" y="8702"/>
                  </a:lnTo>
                  <a:lnTo>
                    <a:pt x="43540" y="8702"/>
                  </a:lnTo>
                  <a:lnTo>
                    <a:pt x="34823" y="17404"/>
                  </a:lnTo>
                  <a:lnTo>
                    <a:pt x="17419" y="26121"/>
                  </a:lnTo>
                  <a:lnTo>
                    <a:pt x="8717" y="34823"/>
                  </a:lnTo>
                  <a:lnTo>
                    <a:pt x="8717" y="43525"/>
                  </a:lnTo>
                  <a:lnTo>
                    <a:pt x="0" y="60944"/>
                  </a:lnTo>
                  <a:lnTo>
                    <a:pt x="0" y="1453972"/>
                  </a:lnTo>
                  <a:lnTo>
                    <a:pt x="8717" y="1471391"/>
                  </a:lnTo>
                  <a:lnTo>
                    <a:pt x="8717" y="1480093"/>
                  </a:lnTo>
                  <a:lnTo>
                    <a:pt x="17419" y="1488795"/>
                  </a:lnTo>
                  <a:lnTo>
                    <a:pt x="34823" y="1497512"/>
                  </a:lnTo>
                  <a:lnTo>
                    <a:pt x="43540" y="1506214"/>
                  </a:lnTo>
                  <a:lnTo>
                    <a:pt x="52242" y="1506214"/>
                  </a:lnTo>
                  <a:lnTo>
                    <a:pt x="69662" y="1514916"/>
                  </a:lnTo>
                  <a:lnTo>
                    <a:pt x="200253" y="1514916"/>
                  </a:lnTo>
                  <a:lnTo>
                    <a:pt x="208955" y="1506214"/>
                  </a:lnTo>
                  <a:lnTo>
                    <a:pt x="226374" y="1506214"/>
                  </a:lnTo>
                  <a:lnTo>
                    <a:pt x="261198" y="1471391"/>
                  </a:lnTo>
                  <a:lnTo>
                    <a:pt x="269900" y="1453972"/>
                  </a:lnTo>
                  <a:lnTo>
                    <a:pt x="269900" y="1445270"/>
                  </a:lnTo>
                  <a:lnTo>
                    <a:pt x="269900" y="60944"/>
                  </a:lnTo>
                  <a:lnTo>
                    <a:pt x="261198" y="43525"/>
                  </a:lnTo>
                  <a:lnTo>
                    <a:pt x="226374" y="8702"/>
                  </a:lnTo>
                  <a:lnTo>
                    <a:pt x="208955" y="8702"/>
                  </a:lnTo>
                  <a:lnTo>
                    <a:pt x="200253" y="0"/>
                  </a:lnTo>
                  <a:close/>
                </a:path>
              </a:pathLst>
            </a:custGeom>
            <a:solidFill>
              <a:srgbClr val="FFCC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5451104" y="4701062"/>
              <a:ext cx="270510" cy="1515110"/>
            </a:xfrm>
            <a:custGeom>
              <a:avLst/>
              <a:gdLst/>
              <a:ahLst/>
              <a:cxnLst/>
              <a:rect l="l" t="t" r="r" b="b"/>
              <a:pathLst>
                <a:path w="270510" h="1515110">
                  <a:moveTo>
                    <a:pt x="269900" y="1445270"/>
                  </a:moveTo>
                  <a:lnTo>
                    <a:pt x="269900" y="60944"/>
                  </a:lnTo>
                  <a:lnTo>
                    <a:pt x="261198" y="43525"/>
                  </a:lnTo>
                  <a:lnTo>
                    <a:pt x="252496" y="34823"/>
                  </a:lnTo>
                  <a:lnTo>
                    <a:pt x="243779" y="26121"/>
                  </a:lnTo>
                  <a:lnTo>
                    <a:pt x="235076" y="17404"/>
                  </a:lnTo>
                  <a:lnTo>
                    <a:pt x="226374" y="8702"/>
                  </a:lnTo>
                  <a:lnTo>
                    <a:pt x="208955" y="8702"/>
                  </a:lnTo>
                  <a:lnTo>
                    <a:pt x="200253" y="0"/>
                  </a:lnTo>
                  <a:lnTo>
                    <a:pt x="69662" y="0"/>
                  </a:lnTo>
                  <a:lnTo>
                    <a:pt x="52242" y="8702"/>
                  </a:lnTo>
                  <a:lnTo>
                    <a:pt x="43540" y="8702"/>
                  </a:lnTo>
                  <a:lnTo>
                    <a:pt x="34823" y="17404"/>
                  </a:lnTo>
                  <a:lnTo>
                    <a:pt x="17419" y="26121"/>
                  </a:lnTo>
                  <a:lnTo>
                    <a:pt x="8717" y="34823"/>
                  </a:lnTo>
                  <a:lnTo>
                    <a:pt x="8717" y="43525"/>
                  </a:lnTo>
                  <a:lnTo>
                    <a:pt x="0" y="60944"/>
                  </a:lnTo>
                  <a:lnTo>
                    <a:pt x="0" y="1453972"/>
                  </a:lnTo>
                  <a:lnTo>
                    <a:pt x="8717" y="1471391"/>
                  </a:lnTo>
                  <a:lnTo>
                    <a:pt x="8717" y="1480093"/>
                  </a:lnTo>
                  <a:lnTo>
                    <a:pt x="17419" y="1488795"/>
                  </a:lnTo>
                  <a:lnTo>
                    <a:pt x="34823" y="1497512"/>
                  </a:lnTo>
                  <a:lnTo>
                    <a:pt x="43540" y="1506214"/>
                  </a:lnTo>
                  <a:lnTo>
                    <a:pt x="52242" y="1506214"/>
                  </a:lnTo>
                  <a:lnTo>
                    <a:pt x="69662" y="1514916"/>
                  </a:lnTo>
                  <a:lnTo>
                    <a:pt x="200253" y="1514916"/>
                  </a:lnTo>
                  <a:lnTo>
                    <a:pt x="208955" y="1506214"/>
                  </a:lnTo>
                  <a:lnTo>
                    <a:pt x="226374" y="1506214"/>
                  </a:lnTo>
                  <a:lnTo>
                    <a:pt x="235076" y="1497512"/>
                  </a:lnTo>
                  <a:lnTo>
                    <a:pt x="243779" y="1488795"/>
                  </a:lnTo>
                  <a:lnTo>
                    <a:pt x="252496" y="1480093"/>
                  </a:lnTo>
                  <a:lnTo>
                    <a:pt x="261198" y="1471391"/>
                  </a:lnTo>
                  <a:lnTo>
                    <a:pt x="269900" y="1453972"/>
                  </a:lnTo>
                  <a:lnTo>
                    <a:pt x="269900" y="144527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5" name="object 65"/>
          <p:cNvSpPr txBox="1"/>
          <p:nvPr/>
        </p:nvSpPr>
        <p:spPr>
          <a:xfrm>
            <a:off x="5416280" y="4674941"/>
            <a:ext cx="331470" cy="2342515"/>
          </a:xfrm>
          <a:prstGeom prst="rect">
            <a:avLst/>
          </a:prstGeom>
          <a:ln w="17412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00">
              <a:latin typeface="Times New Roman"/>
              <a:cs typeface="Times New Roman"/>
            </a:endParaRPr>
          </a:p>
          <a:p>
            <a:pPr marL="69215">
              <a:lnSpc>
                <a:spcPct val="100000"/>
              </a:lnSpc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40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Arial"/>
              <a:cs typeface="Arial"/>
            </a:endParaRPr>
          </a:p>
          <a:p>
            <a:pPr marL="86995">
              <a:lnSpc>
                <a:spcPct val="100000"/>
              </a:lnSpc>
            </a:pPr>
            <a:r>
              <a:rPr dirty="0" sz="1000" spc="15">
                <a:solidFill>
                  <a:srgbClr val="FF0000"/>
                </a:solidFill>
                <a:latin typeface="Arial"/>
                <a:cs typeface="Arial"/>
              </a:rPr>
              <a:t>20</a:t>
            </a:r>
            <a:endParaRPr sz="10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838899" y="5166242"/>
            <a:ext cx="31813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$160</a:t>
            </a:r>
            <a:endParaRPr sz="100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838899" y="6524443"/>
            <a:ext cx="31813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$100</a:t>
            </a:r>
            <a:endParaRPr sz="10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168504" y="7065391"/>
            <a:ext cx="988694" cy="53911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$260</a:t>
            </a:r>
            <a:endParaRPr sz="1000">
              <a:latin typeface="Arial"/>
              <a:cs typeface="Arial"/>
            </a:endParaRPr>
          </a:p>
          <a:p>
            <a:pPr algn="r" marL="20955" marR="24765" indent="-8890">
              <a:lnSpc>
                <a:spcPct val="108500"/>
              </a:lnSpc>
              <a:spcBef>
                <a:spcPts val="65"/>
              </a:spcBef>
            </a:pP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Optimal</a:t>
            </a:r>
            <a:r>
              <a:rPr dirty="0" sz="1000" spc="-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solution </a:t>
            </a:r>
            <a:r>
              <a:rPr dirty="0" sz="1000" spc="-2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to</a:t>
            </a:r>
            <a:r>
              <a:rPr dirty="0" sz="1000" spc="-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0-1</a:t>
            </a:r>
            <a:r>
              <a:rPr dirty="0" sz="1000" spc="-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knapsack</a:t>
            </a:r>
            <a:endParaRPr sz="1000">
              <a:latin typeface="Arial"/>
              <a:cs typeface="Arial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5816772" y="7043100"/>
            <a:ext cx="348615" cy="0"/>
          </a:xfrm>
          <a:custGeom>
            <a:avLst/>
            <a:gdLst/>
            <a:ahLst/>
            <a:cxnLst/>
            <a:rect l="l" t="t" r="r" b="b"/>
            <a:pathLst>
              <a:path w="348614" h="0">
                <a:moveTo>
                  <a:pt x="0" y="0"/>
                </a:moveTo>
                <a:lnTo>
                  <a:pt x="348264" y="0"/>
                </a:lnTo>
              </a:path>
            </a:pathLst>
          </a:custGeom>
          <a:ln w="9673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 txBox="1"/>
          <p:nvPr/>
        </p:nvSpPr>
        <p:spPr>
          <a:xfrm>
            <a:off x="2282100" y="7729931"/>
            <a:ext cx="36652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7.10: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0-1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knapsack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11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33376" y="520987"/>
            <a:ext cx="259524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GREEDY</a:t>
            </a:r>
            <a:r>
              <a:rPr dirty="0" sz="1200" spc="-10">
                <a:latin typeface="Times New Roman"/>
                <a:cs typeface="Times New Roman"/>
              </a:rPr>
              <a:t> ALGORITHMS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1699" y="1840994"/>
            <a:ext cx="1381125" cy="403225"/>
          </a:xfrm>
          <a:prstGeom prst="rect"/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Chapter</a:t>
            </a:r>
            <a:r>
              <a:rPr dirty="0" sz="2450" spc="-70" b="1" i="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2450" spc="10" b="1" i="0">
                <a:solidFill>
                  <a:srgbClr val="000000"/>
                </a:solidFill>
                <a:latin typeface="Times New Roman"/>
                <a:cs typeface="Times New Roman"/>
              </a:rPr>
              <a:t>8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1699" y="2539025"/>
            <a:ext cx="1040130" cy="4032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15" b="1">
                <a:latin typeface="Times New Roman"/>
                <a:cs typeface="Times New Roman"/>
              </a:rPr>
              <a:t>Gr</a:t>
            </a:r>
            <a:r>
              <a:rPr dirty="0" sz="2450" spc="10" b="1">
                <a:latin typeface="Times New Roman"/>
                <a:cs typeface="Times New Roman"/>
              </a:rPr>
              <a:t>aph</a:t>
            </a:r>
            <a:r>
              <a:rPr dirty="0" sz="2450" spc="10" b="1">
                <a:latin typeface="Times New Roman"/>
                <a:cs typeface="Times New Roman"/>
              </a:rPr>
              <a:t>s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9" y="3456942"/>
            <a:ext cx="6434455" cy="1125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begin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major </a:t>
            </a:r>
            <a:r>
              <a:rPr dirty="0" sz="1200" spc="-15">
                <a:latin typeface="Times New Roman"/>
                <a:cs typeface="Times New Roman"/>
              </a:rPr>
              <a:t>new </a:t>
            </a:r>
            <a:r>
              <a:rPr dirty="0" sz="1200" spc="-5">
                <a:latin typeface="Times New Roman"/>
                <a:cs typeface="Times New Roman"/>
              </a:rPr>
              <a:t>topic: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Graphs. </a:t>
            </a:r>
            <a:r>
              <a:rPr dirty="0" sz="1200" spc="-10">
                <a:latin typeface="Times New Roman"/>
                <a:cs typeface="Times New Roman"/>
              </a:rPr>
              <a:t>Graphs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important </a:t>
            </a:r>
            <a:r>
              <a:rPr dirty="0" sz="1200" spc="-5">
                <a:latin typeface="Times New Roman"/>
                <a:cs typeface="Times New Roman"/>
              </a:rPr>
              <a:t>discrete structures because </a:t>
            </a:r>
            <a:r>
              <a:rPr dirty="0" sz="1200" spc="-1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are a </a:t>
            </a:r>
            <a:r>
              <a:rPr dirty="0" sz="1200" spc="-10">
                <a:latin typeface="Times New Roman"/>
                <a:cs typeface="Times New Roman"/>
              </a:rPr>
              <a:t>flexible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mathematical </a:t>
            </a:r>
            <a:r>
              <a:rPr dirty="0" sz="1200" spc="-10">
                <a:latin typeface="Times New Roman"/>
                <a:cs typeface="Times New Roman"/>
              </a:rPr>
              <a:t>model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 spc="-5">
                <a:latin typeface="Times New Roman"/>
                <a:cs typeface="Times New Roman"/>
              </a:rPr>
              <a:t> application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objects and 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some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 of “connection” or “relationship” or “interaction” between pairs of objects, a graph is a </a:t>
            </a:r>
            <a:r>
              <a:rPr dirty="0" sz="1200" spc="-10">
                <a:latin typeface="Times New Roman"/>
                <a:cs typeface="Times New Roman"/>
              </a:rPr>
              <a:t>good way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model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communication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networks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transportation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networks,</a:t>
            </a:r>
            <a:r>
              <a:rPr dirty="0" sz="1200" spc="-5">
                <a:latin typeface="Times New Roman"/>
                <a:cs typeface="Times New Roman"/>
              </a:rPr>
              <a:t> e.g.,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roads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VLSI,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logic</a:t>
            </a:r>
            <a:r>
              <a:rPr dirty="0" sz="1200" spc="-5">
                <a:latin typeface="Times New Roman"/>
                <a:cs typeface="Times New Roman"/>
              </a:rPr>
              <a:t> circuits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surface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meshes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shape description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computer-aided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GIS</a:t>
            </a:r>
            <a:r>
              <a:rPr dirty="0" sz="1200" spc="-5">
                <a:latin typeface="Times New Roman"/>
                <a:cs typeface="Times New Roman"/>
              </a:rPr>
              <a:t> precedence constraints in scheduling systems.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4400" y="4675504"/>
            <a:ext cx="6376670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graph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V,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E</a:t>
            </a:r>
            <a:r>
              <a:rPr dirty="0" sz="1200" spc="9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 of a finite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 of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vertices</a:t>
            </a:r>
            <a:r>
              <a:rPr dirty="0" sz="1200" spc="300" i="1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nodes) and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E</a:t>
            </a:r>
            <a:r>
              <a:rPr dirty="0" sz="1200" spc="3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binary</a:t>
            </a:r>
            <a:r>
              <a:rPr dirty="0" sz="1200" spc="-5">
                <a:latin typeface="Times New Roman"/>
                <a:cs typeface="Times New Roman"/>
              </a:rPr>
              <a:t> relation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4400" y="4865154"/>
            <a:ext cx="394970" cy="12763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00"/>
              </a:lnSpc>
            </a:pPr>
            <a:r>
              <a:rPr dirty="0" sz="1200" spc="-5" i="1">
                <a:latin typeface="Times New Roman"/>
                <a:cs typeface="Times New Roman"/>
              </a:rPr>
              <a:t>e</a:t>
            </a:r>
            <a:r>
              <a:rPr dirty="0" sz="1200" spc="-10" i="1">
                <a:latin typeface="Times New Roman"/>
                <a:cs typeface="Times New Roman"/>
              </a:rPr>
              <a:t>d</a:t>
            </a:r>
            <a:r>
              <a:rPr dirty="0" sz="1200" spc="-20" i="1">
                <a:latin typeface="Times New Roman"/>
                <a:cs typeface="Times New Roman"/>
              </a:rPr>
              <a:t>g</a:t>
            </a:r>
            <a:r>
              <a:rPr dirty="0" sz="1200" spc="-5" i="1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96631" y="4806596"/>
            <a:ext cx="16548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6355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pairs</a:t>
            </a:r>
            <a:r>
              <a:rPr dirty="0" sz="1200" spc="-10">
                <a:latin typeface="Times New Roman"/>
                <a:cs typeface="Times New Roman"/>
              </a:rPr>
              <a:t> from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951111" y="4865154"/>
            <a:ext cx="4314825" cy="12763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00"/>
              </a:lnSpc>
            </a:pP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pair is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ordered</a:t>
            </a:r>
            <a:r>
              <a:rPr dirty="0" sz="1200" spc="-1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directed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unordered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pair,</a:t>
            </a:r>
            <a:r>
              <a:rPr dirty="0" sz="1200" spc="-10">
                <a:latin typeface="Times New Roman"/>
                <a:cs typeface="Times New Roman"/>
              </a:rPr>
              <a:t> we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14400" y="5037845"/>
            <a:ext cx="1608455" cy="14986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60"/>
              </a:lnSpc>
            </a:pP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undirected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2574035" y="5518094"/>
            <a:ext cx="3081020" cy="2590800"/>
            <a:chOff x="2574035" y="5518094"/>
            <a:chExt cx="3081020" cy="2590800"/>
          </a:xfrm>
        </p:grpSpPr>
        <p:sp>
          <p:nvSpPr>
            <p:cNvPr id="11" name="object 11"/>
            <p:cNvSpPr/>
            <p:nvPr/>
          </p:nvSpPr>
          <p:spPr>
            <a:xfrm>
              <a:off x="2574035" y="5518094"/>
              <a:ext cx="3081020" cy="2590800"/>
            </a:xfrm>
            <a:custGeom>
              <a:avLst/>
              <a:gdLst/>
              <a:ahLst/>
              <a:cxnLst/>
              <a:rect l="l" t="t" r="r" b="b"/>
              <a:pathLst>
                <a:path w="3081020" h="2590800">
                  <a:moveTo>
                    <a:pt x="3080491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080491" y="2590601"/>
                  </a:lnTo>
                  <a:lnTo>
                    <a:pt x="308049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22286" y="5910875"/>
              <a:ext cx="240699" cy="239724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699599" y="5924394"/>
            <a:ext cx="94615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50">
              <a:latin typeface="Arial"/>
              <a:cs typeface="Arial"/>
            </a:endParaRPr>
          </a:p>
        </p:txBody>
      </p:sp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339221" y="5910875"/>
            <a:ext cx="241674" cy="239724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3416539" y="5924394"/>
            <a:ext cx="94615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50">
              <a:latin typeface="Arial"/>
              <a:cs typeface="Arial"/>
            </a:endParaRPr>
          </a:p>
        </p:txBody>
      </p:sp>
      <p:pic>
        <p:nvPicPr>
          <p:cNvPr id="16" name="object 1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622286" y="6516314"/>
            <a:ext cx="240699" cy="240699"/>
          </a:xfrm>
          <a:prstGeom prst="rect">
            <a:avLst/>
          </a:prstGeom>
        </p:spPr>
      </p:pic>
      <p:sp>
        <p:nvSpPr>
          <p:cNvPr id="17" name="object 17"/>
          <p:cNvSpPr txBox="1"/>
          <p:nvPr/>
        </p:nvSpPr>
        <p:spPr>
          <a:xfrm>
            <a:off x="2699599" y="6530793"/>
            <a:ext cx="94615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50">
              <a:latin typeface="Arial"/>
              <a:cs typeface="Arial"/>
            </a:endParaRPr>
          </a:p>
        </p:txBody>
      </p:sp>
      <p:pic>
        <p:nvPicPr>
          <p:cNvPr id="18" name="object 1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339221" y="6516314"/>
            <a:ext cx="241674" cy="240699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3416539" y="6530793"/>
            <a:ext cx="94615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2737238" y="6025827"/>
            <a:ext cx="1771014" cy="1209675"/>
            <a:chOff x="2737238" y="6025827"/>
            <a:chExt cx="1771014" cy="1209675"/>
          </a:xfrm>
        </p:grpSpPr>
        <p:sp>
          <p:nvSpPr>
            <p:cNvPr id="21" name="object 21"/>
            <p:cNvSpPr/>
            <p:nvPr/>
          </p:nvSpPr>
          <p:spPr>
            <a:xfrm>
              <a:off x="2742636" y="6031225"/>
              <a:ext cx="717550" cy="605790"/>
            </a:xfrm>
            <a:custGeom>
              <a:avLst/>
              <a:gdLst/>
              <a:ahLst/>
              <a:cxnLst/>
              <a:rect l="l" t="t" r="r" b="b"/>
              <a:pathLst>
                <a:path w="717550" h="605790">
                  <a:moveTo>
                    <a:pt x="119329" y="0"/>
                  </a:moveTo>
                  <a:lnTo>
                    <a:pt x="597606" y="0"/>
                  </a:lnTo>
                </a:path>
                <a:path w="717550" h="605790">
                  <a:moveTo>
                    <a:pt x="0" y="118353"/>
                  </a:moveTo>
                  <a:lnTo>
                    <a:pt x="0" y="486110"/>
                  </a:lnTo>
                </a:path>
                <a:path w="717550" h="605790">
                  <a:moveTo>
                    <a:pt x="119329" y="605439"/>
                  </a:moveTo>
                  <a:lnTo>
                    <a:pt x="597606" y="605439"/>
                  </a:lnTo>
                </a:path>
                <a:path w="717550" h="605790">
                  <a:moveTo>
                    <a:pt x="716935" y="118353"/>
                  </a:moveTo>
                  <a:lnTo>
                    <a:pt x="716935" y="486110"/>
                  </a:lnTo>
                </a:path>
                <a:path w="717550" h="605790">
                  <a:moveTo>
                    <a:pt x="75316" y="91942"/>
                  </a:moveTo>
                  <a:lnTo>
                    <a:pt x="626958" y="527182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67429" y="6993616"/>
              <a:ext cx="240699" cy="241674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2923589" y="5721931"/>
            <a:ext cx="388620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graph</a:t>
            </a:r>
            <a:endParaRPr sz="11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344744" y="7008110"/>
            <a:ext cx="94615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50">
              <a:latin typeface="Arial"/>
              <a:cs typeface="Arial"/>
            </a:endParaRPr>
          </a:p>
        </p:txBody>
      </p:sp>
      <p:pic>
        <p:nvPicPr>
          <p:cNvPr id="25" name="object 2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983388" y="6993616"/>
            <a:ext cx="240699" cy="241674"/>
          </a:xfrm>
          <a:prstGeom prst="rect">
            <a:avLst/>
          </a:prstGeom>
        </p:spPr>
      </p:pic>
      <p:sp>
        <p:nvSpPr>
          <p:cNvPr id="26" name="object 26"/>
          <p:cNvSpPr txBox="1"/>
          <p:nvPr/>
        </p:nvSpPr>
        <p:spPr>
          <a:xfrm>
            <a:off x="5060693" y="7008110"/>
            <a:ext cx="94615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4267429" y="7600031"/>
            <a:ext cx="956944" cy="241935"/>
            <a:chOff x="4267429" y="7600031"/>
            <a:chExt cx="956944" cy="241935"/>
          </a:xfrm>
        </p:grpSpPr>
        <p:pic>
          <p:nvPicPr>
            <p:cNvPr id="28" name="object 2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67429" y="7600031"/>
              <a:ext cx="240699" cy="241674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983388" y="7600031"/>
              <a:ext cx="240699" cy="241674"/>
            </a:xfrm>
            <a:prstGeom prst="rect">
              <a:avLst/>
            </a:prstGeom>
          </p:spPr>
        </p:pic>
      </p:grpSp>
      <p:sp>
        <p:nvSpPr>
          <p:cNvPr id="30" name="object 30"/>
          <p:cNvSpPr txBox="1"/>
          <p:nvPr/>
        </p:nvSpPr>
        <p:spPr>
          <a:xfrm>
            <a:off x="4344744" y="7614522"/>
            <a:ext cx="810895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  <a:tabLst>
                <a:tab pos="715645" algn="l"/>
              </a:tabLst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4248851" y="5883488"/>
            <a:ext cx="956944" cy="1868805"/>
            <a:chOff x="4248851" y="5883488"/>
            <a:chExt cx="956944" cy="1868805"/>
          </a:xfrm>
        </p:grpSpPr>
        <p:sp>
          <p:nvSpPr>
            <p:cNvPr id="32" name="object 32"/>
            <p:cNvSpPr/>
            <p:nvPr/>
          </p:nvSpPr>
          <p:spPr>
            <a:xfrm>
              <a:off x="4507108" y="7114941"/>
              <a:ext cx="431800" cy="0"/>
            </a:xfrm>
            <a:custGeom>
              <a:avLst/>
              <a:gdLst/>
              <a:ahLst/>
              <a:cxnLst/>
              <a:rect l="l" t="t" r="r" b="b"/>
              <a:pathLst>
                <a:path w="431800" h="0">
                  <a:moveTo>
                    <a:pt x="0" y="0"/>
                  </a:moveTo>
                  <a:lnTo>
                    <a:pt x="431337" y="0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923769" y="7084628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0" y="0"/>
                  </a:moveTo>
                  <a:lnTo>
                    <a:pt x="1950" y="2926"/>
                  </a:lnTo>
                  <a:lnTo>
                    <a:pt x="2926" y="6842"/>
                  </a:lnTo>
                  <a:lnTo>
                    <a:pt x="3916" y="9768"/>
                  </a:lnTo>
                  <a:lnTo>
                    <a:pt x="6842" y="21518"/>
                  </a:lnTo>
                  <a:lnTo>
                    <a:pt x="6842" y="39121"/>
                  </a:lnTo>
                  <a:lnTo>
                    <a:pt x="4892" y="46939"/>
                  </a:lnTo>
                  <a:lnTo>
                    <a:pt x="3916" y="49880"/>
                  </a:lnTo>
                  <a:lnTo>
                    <a:pt x="1950" y="57698"/>
                  </a:lnTo>
                  <a:lnTo>
                    <a:pt x="0" y="60639"/>
                  </a:lnTo>
                  <a:lnTo>
                    <a:pt x="60639" y="303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387778" y="7234270"/>
              <a:ext cx="0" cy="321310"/>
            </a:xfrm>
            <a:custGeom>
              <a:avLst/>
              <a:gdLst/>
              <a:ahLst/>
              <a:cxnLst/>
              <a:rect l="l" t="t" r="r" b="b"/>
              <a:pathLst>
                <a:path w="0" h="321309">
                  <a:moveTo>
                    <a:pt x="0" y="0"/>
                  </a:moveTo>
                  <a:lnTo>
                    <a:pt x="0" y="320817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357451" y="7540411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60639" y="0"/>
                  </a:moveTo>
                  <a:lnTo>
                    <a:pt x="56738" y="1950"/>
                  </a:lnTo>
                  <a:lnTo>
                    <a:pt x="53797" y="2926"/>
                  </a:lnTo>
                  <a:lnTo>
                    <a:pt x="49880" y="3916"/>
                  </a:lnTo>
                  <a:lnTo>
                    <a:pt x="46954" y="4892"/>
                  </a:lnTo>
                  <a:lnTo>
                    <a:pt x="39136" y="6842"/>
                  </a:lnTo>
                  <a:lnTo>
                    <a:pt x="20543" y="6842"/>
                  </a:lnTo>
                  <a:lnTo>
                    <a:pt x="17617" y="5867"/>
                  </a:lnTo>
                  <a:lnTo>
                    <a:pt x="9784" y="3916"/>
                  </a:lnTo>
                  <a:lnTo>
                    <a:pt x="6857" y="2926"/>
                  </a:lnTo>
                  <a:lnTo>
                    <a:pt x="2941" y="1950"/>
                  </a:lnTo>
                  <a:lnTo>
                    <a:pt x="0" y="0"/>
                  </a:lnTo>
                  <a:lnTo>
                    <a:pt x="30327" y="60639"/>
                  </a:lnTo>
                  <a:lnTo>
                    <a:pt x="606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507108" y="7721356"/>
              <a:ext cx="431800" cy="0"/>
            </a:xfrm>
            <a:custGeom>
              <a:avLst/>
              <a:gdLst/>
              <a:ahLst/>
              <a:cxnLst/>
              <a:rect l="l" t="t" r="r" b="b"/>
              <a:pathLst>
                <a:path w="431800" h="0">
                  <a:moveTo>
                    <a:pt x="0" y="0"/>
                  </a:moveTo>
                  <a:lnTo>
                    <a:pt x="431337" y="0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923769" y="7691028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0" y="0"/>
                  </a:moveTo>
                  <a:lnTo>
                    <a:pt x="1950" y="2941"/>
                  </a:lnTo>
                  <a:lnTo>
                    <a:pt x="2926" y="6857"/>
                  </a:lnTo>
                  <a:lnTo>
                    <a:pt x="3916" y="9784"/>
                  </a:lnTo>
                  <a:lnTo>
                    <a:pt x="5867" y="17617"/>
                  </a:lnTo>
                  <a:lnTo>
                    <a:pt x="6842" y="20543"/>
                  </a:lnTo>
                  <a:lnTo>
                    <a:pt x="6842" y="39136"/>
                  </a:lnTo>
                  <a:lnTo>
                    <a:pt x="4892" y="46954"/>
                  </a:lnTo>
                  <a:lnTo>
                    <a:pt x="3916" y="49895"/>
                  </a:lnTo>
                  <a:lnTo>
                    <a:pt x="2926" y="53797"/>
                  </a:lnTo>
                  <a:lnTo>
                    <a:pt x="1950" y="56738"/>
                  </a:lnTo>
                  <a:lnTo>
                    <a:pt x="0" y="60655"/>
                  </a:lnTo>
                  <a:lnTo>
                    <a:pt x="60639" y="303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061676" y="7226452"/>
              <a:ext cx="4445" cy="334645"/>
            </a:xfrm>
            <a:custGeom>
              <a:avLst/>
              <a:gdLst/>
              <a:ahLst/>
              <a:cxnLst/>
              <a:rect l="l" t="t" r="r" b="b"/>
              <a:pathLst>
                <a:path w="4445" h="334645">
                  <a:moveTo>
                    <a:pt x="0" y="0"/>
                  </a:moveTo>
                  <a:lnTo>
                    <a:pt x="3916" y="334502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035265" y="7546279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60639" y="0"/>
                  </a:moveTo>
                  <a:lnTo>
                    <a:pt x="56738" y="975"/>
                  </a:lnTo>
                  <a:lnTo>
                    <a:pt x="53797" y="2941"/>
                  </a:lnTo>
                  <a:lnTo>
                    <a:pt x="49880" y="3916"/>
                  </a:lnTo>
                  <a:lnTo>
                    <a:pt x="46954" y="4892"/>
                  </a:lnTo>
                  <a:lnTo>
                    <a:pt x="39121" y="6842"/>
                  </a:lnTo>
                  <a:lnTo>
                    <a:pt x="20543" y="6842"/>
                  </a:lnTo>
                  <a:lnTo>
                    <a:pt x="17602" y="5867"/>
                  </a:lnTo>
                  <a:lnTo>
                    <a:pt x="13700" y="5867"/>
                  </a:lnTo>
                  <a:lnTo>
                    <a:pt x="9784" y="4892"/>
                  </a:lnTo>
                  <a:lnTo>
                    <a:pt x="6842" y="2941"/>
                  </a:lnTo>
                  <a:lnTo>
                    <a:pt x="2941" y="1950"/>
                  </a:lnTo>
                  <a:lnTo>
                    <a:pt x="0" y="975"/>
                  </a:lnTo>
                  <a:lnTo>
                    <a:pt x="31302" y="60639"/>
                  </a:lnTo>
                  <a:lnTo>
                    <a:pt x="606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418091" y="7230353"/>
              <a:ext cx="540385" cy="415925"/>
            </a:xfrm>
            <a:custGeom>
              <a:avLst/>
              <a:gdLst/>
              <a:ahLst/>
              <a:cxnLst/>
              <a:rect l="l" t="t" r="r" b="b"/>
              <a:pathLst>
                <a:path w="540385" h="415925">
                  <a:moveTo>
                    <a:pt x="0" y="0"/>
                  </a:moveTo>
                  <a:lnTo>
                    <a:pt x="539907" y="415686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927686" y="7612786"/>
              <a:ext cx="66675" cy="62230"/>
            </a:xfrm>
            <a:custGeom>
              <a:avLst/>
              <a:gdLst/>
              <a:ahLst/>
              <a:cxnLst/>
              <a:rect l="l" t="t" r="r" b="b"/>
              <a:pathLst>
                <a:path w="66675" h="62229">
                  <a:moveTo>
                    <a:pt x="37155" y="0"/>
                  </a:moveTo>
                  <a:lnTo>
                    <a:pt x="36179" y="3916"/>
                  </a:lnTo>
                  <a:lnTo>
                    <a:pt x="35204" y="6842"/>
                  </a:lnTo>
                  <a:lnTo>
                    <a:pt x="34229" y="10759"/>
                  </a:lnTo>
                  <a:lnTo>
                    <a:pt x="32263" y="13700"/>
                  </a:lnTo>
                  <a:lnTo>
                    <a:pt x="31287" y="17602"/>
                  </a:lnTo>
                  <a:lnTo>
                    <a:pt x="25420" y="26410"/>
                  </a:lnTo>
                  <a:lnTo>
                    <a:pt x="22494" y="29352"/>
                  </a:lnTo>
                  <a:lnTo>
                    <a:pt x="20528" y="32278"/>
                  </a:lnTo>
                  <a:lnTo>
                    <a:pt x="12710" y="40111"/>
                  </a:lnTo>
                  <a:lnTo>
                    <a:pt x="9768" y="42062"/>
                  </a:lnTo>
                  <a:lnTo>
                    <a:pt x="5867" y="44013"/>
                  </a:lnTo>
                  <a:lnTo>
                    <a:pt x="2926" y="45979"/>
                  </a:lnTo>
                  <a:lnTo>
                    <a:pt x="0" y="48905"/>
                  </a:lnTo>
                  <a:lnTo>
                    <a:pt x="66507" y="61615"/>
                  </a:lnTo>
                  <a:lnTo>
                    <a:pt x="371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248851" y="5883488"/>
              <a:ext cx="240684" cy="239724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64811" y="5883488"/>
              <a:ext cx="240684" cy="239724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248851" y="6488928"/>
              <a:ext cx="240684" cy="240699"/>
            </a:xfrm>
            <a:prstGeom prst="rect">
              <a:avLst/>
            </a:prstGeom>
          </p:spPr>
        </p:pic>
      </p:grpSp>
      <p:sp>
        <p:nvSpPr>
          <p:cNvPr id="45" name="object 45"/>
          <p:cNvSpPr txBox="1"/>
          <p:nvPr/>
        </p:nvSpPr>
        <p:spPr>
          <a:xfrm>
            <a:off x="4326151" y="6503412"/>
            <a:ext cx="94615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50">
              <a:latin typeface="Arial"/>
              <a:cs typeface="Arial"/>
            </a:endParaRPr>
          </a:p>
        </p:txBody>
      </p:sp>
      <p:pic>
        <p:nvPicPr>
          <p:cNvPr id="46" name="object 46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964811" y="6488928"/>
            <a:ext cx="240684" cy="240699"/>
          </a:xfrm>
          <a:prstGeom prst="rect">
            <a:avLst/>
          </a:prstGeom>
        </p:spPr>
      </p:pic>
      <p:sp>
        <p:nvSpPr>
          <p:cNvPr id="47" name="object 47"/>
          <p:cNvSpPr txBox="1"/>
          <p:nvPr/>
        </p:nvSpPr>
        <p:spPr>
          <a:xfrm>
            <a:off x="5042113" y="6503412"/>
            <a:ext cx="94615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4338873" y="5972535"/>
            <a:ext cx="776605" cy="667385"/>
            <a:chOff x="4338873" y="5972535"/>
            <a:chExt cx="776605" cy="667385"/>
          </a:xfrm>
        </p:grpSpPr>
        <p:sp>
          <p:nvSpPr>
            <p:cNvPr id="49" name="object 49"/>
            <p:cNvSpPr/>
            <p:nvPr/>
          </p:nvSpPr>
          <p:spPr>
            <a:xfrm>
              <a:off x="4488515" y="6002863"/>
              <a:ext cx="431800" cy="0"/>
            </a:xfrm>
            <a:custGeom>
              <a:avLst/>
              <a:gdLst/>
              <a:ahLst/>
              <a:cxnLst/>
              <a:rect l="l" t="t" r="r" b="b"/>
              <a:pathLst>
                <a:path w="431800" h="0">
                  <a:moveTo>
                    <a:pt x="0" y="0"/>
                  </a:moveTo>
                  <a:lnTo>
                    <a:pt x="431337" y="0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905176" y="5972535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60">
                  <a:moveTo>
                    <a:pt x="0" y="0"/>
                  </a:moveTo>
                  <a:lnTo>
                    <a:pt x="1965" y="3916"/>
                  </a:lnTo>
                  <a:lnTo>
                    <a:pt x="2941" y="6857"/>
                  </a:lnTo>
                  <a:lnTo>
                    <a:pt x="4892" y="10759"/>
                  </a:lnTo>
                  <a:lnTo>
                    <a:pt x="5882" y="14676"/>
                  </a:lnTo>
                  <a:lnTo>
                    <a:pt x="5882" y="17617"/>
                  </a:lnTo>
                  <a:lnTo>
                    <a:pt x="6857" y="21518"/>
                  </a:lnTo>
                  <a:lnTo>
                    <a:pt x="6857" y="25435"/>
                  </a:lnTo>
                  <a:lnTo>
                    <a:pt x="7833" y="29352"/>
                  </a:lnTo>
                  <a:lnTo>
                    <a:pt x="7833" y="32278"/>
                  </a:lnTo>
                  <a:lnTo>
                    <a:pt x="6857" y="36194"/>
                  </a:lnTo>
                  <a:lnTo>
                    <a:pt x="6857" y="40111"/>
                  </a:lnTo>
                  <a:lnTo>
                    <a:pt x="5882" y="44013"/>
                  </a:lnTo>
                  <a:lnTo>
                    <a:pt x="5882" y="46954"/>
                  </a:lnTo>
                  <a:lnTo>
                    <a:pt x="4892" y="50871"/>
                  </a:lnTo>
                  <a:lnTo>
                    <a:pt x="2941" y="53797"/>
                  </a:lnTo>
                  <a:lnTo>
                    <a:pt x="1965" y="57713"/>
                  </a:lnTo>
                  <a:lnTo>
                    <a:pt x="0" y="60639"/>
                  </a:lnTo>
                  <a:lnTo>
                    <a:pt x="60655" y="303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369201" y="6122192"/>
              <a:ext cx="0" cy="321310"/>
            </a:xfrm>
            <a:custGeom>
              <a:avLst/>
              <a:gdLst/>
              <a:ahLst/>
              <a:cxnLst/>
              <a:rect l="l" t="t" r="r" b="b"/>
              <a:pathLst>
                <a:path w="0" h="321310">
                  <a:moveTo>
                    <a:pt x="0" y="0"/>
                  </a:moveTo>
                  <a:lnTo>
                    <a:pt x="0" y="320801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338873" y="6428333"/>
              <a:ext cx="60960" cy="62230"/>
            </a:xfrm>
            <a:custGeom>
              <a:avLst/>
              <a:gdLst/>
              <a:ahLst/>
              <a:cxnLst/>
              <a:rect l="l" t="t" r="r" b="b"/>
              <a:pathLst>
                <a:path w="60960" h="62229">
                  <a:moveTo>
                    <a:pt x="60639" y="0"/>
                  </a:moveTo>
                  <a:lnTo>
                    <a:pt x="57713" y="1950"/>
                  </a:lnTo>
                  <a:lnTo>
                    <a:pt x="53797" y="2926"/>
                  </a:lnTo>
                  <a:lnTo>
                    <a:pt x="49880" y="4892"/>
                  </a:lnTo>
                  <a:lnTo>
                    <a:pt x="46954" y="5867"/>
                  </a:lnTo>
                  <a:lnTo>
                    <a:pt x="43037" y="5867"/>
                  </a:lnTo>
                  <a:lnTo>
                    <a:pt x="39121" y="6842"/>
                  </a:lnTo>
                  <a:lnTo>
                    <a:pt x="36194" y="6842"/>
                  </a:lnTo>
                  <a:lnTo>
                    <a:pt x="32278" y="7818"/>
                  </a:lnTo>
                  <a:lnTo>
                    <a:pt x="28361" y="7818"/>
                  </a:lnTo>
                  <a:lnTo>
                    <a:pt x="24444" y="6842"/>
                  </a:lnTo>
                  <a:lnTo>
                    <a:pt x="20543" y="6842"/>
                  </a:lnTo>
                  <a:lnTo>
                    <a:pt x="17602" y="5867"/>
                  </a:lnTo>
                  <a:lnTo>
                    <a:pt x="13685" y="5867"/>
                  </a:lnTo>
                  <a:lnTo>
                    <a:pt x="9784" y="4892"/>
                  </a:lnTo>
                  <a:lnTo>
                    <a:pt x="6842" y="2926"/>
                  </a:lnTo>
                  <a:lnTo>
                    <a:pt x="2941" y="1950"/>
                  </a:lnTo>
                  <a:lnTo>
                    <a:pt x="0" y="0"/>
                  </a:lnTo>
                  <a:lnTo>
                    <a:pt x="30327" y="61615"/>
                  </a:lnTo>
                  <a:lnTo>
                    <a:pt x="606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488515" y="6609278"/>
              <a:ext cx="431800" cy="0"/>
            </a:xfrm>
            <a:custGeom>
              <a:avLst/>
              <a:gdLst/>
              <a:ahLst/>
              <a:cxnLst/>
              <a:rect l="l" t="t" r="r" b="b"/>
              <a:pathLst>
                <a:path w="431800" h="0">
                  <a:moveTo>
                    <a:pt x="0" y="0"/>
                  </a:moveTo>
                  <a:lnTo>
                    <a:pt x="431337" y="0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905176" y="6578950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0" y="0"/>
                  </a:moveTo>
                  <a:lnTo>
                    <a:pt x="1965" y="3916"/>
                  </a:lnTo>
                  <a:lnTo>
                    <a:pt x="2941" y="6842"/>
                  </a:lnTo>
                  <a:lnTo>
                    <a:pt x="4892" y="10759"/>
                  </a:lnTo>
                  <a:lnTo>
                    <a:pt x="5882" y="13700"/>
                  </a:lnTo>
                  <a:lnTo>
                    <a:pt x="5882" y="17602"/>
                  </a:lnTo>
                  <a:lnTo>
                    <a:pt x="6857" y="21518"/>
                  </a:lnTo>
                  <a:lnTo>
                    <a:pt x="6857" y="25435"/>
                  </a:lnTo>
                  <a:lnTo>
                    <a:pt x="7833" y="28361"/>
                  </a:lnTo>
                  <a:lnTo>
                    <a:pt x="7833" y="32278"/>
                  </a:lnTo>
                  <a:lnTo>
                    <a:pt x="6857" y="36194"/>
                  </a:lnTo>
                  <a:lnTo>
                    <a:pt x="6857" y="40111"/>
                  </a:lnTo>
                  <a:lnTo>
                    <a:pt x="5882" y="43037"/>
                  </a:lnTo>
                  <a:lnTo>
                    <a:pt x="5882" y="46954"/>
                  </a:lnTo>
                  <a:lnTo>
                    <a:pt x="4892" y="50871"/>
                  </a:lnTo>
                  <a:lnTo>
                    <a:pt x="2941" y="53797"/>
                  </a:lnTo>
                  <a:lnTo>
                    <a:pt x="1965" y="57713"/>
                  </a:lnTo>
                  <a:lnTo>
                    <a:pt x="0" y="60639"/>
                  </a:lnTo>
                  <a:lnTo>
                    <a:pt x="60655" y="303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085145" y="6122192"/>
              <a:ext cx="0" cy="321310"/>
            </a:xfrm>
            <a:custGeom>
              <a:avLst/>
              <a:gdLst/>
              <a:ahLst/>
              <a:cxnLst/>
              <a:rect l="l" t="t" r="r" b="b"/>
              <a:pathLst>
                <a:path w="0" h="321310">
                  <a:moveTo>
                    <a:pt x="0" y="0"/>
                  </a:moveTo>
                  <a:lnTo>
                    <a:pt x="0" y="320801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054833" y="6428333"/>
              <a:ext cx="60960" cy="62230"/>
            </a:xfrm>
            <a:custGeom>
              <a:avLst/>
              <a:gdLst/>
              <a:ahLst/>
              <a:cxnLst/>
              <a:rect l="l" t="t" r="r" b="b"/>
              <a:pathLst>
                <a:path w="60960" h="62229">
                  <a:moveTo>
                    <a:pt x="60639" y="0"/>
                  </a:moveTo>
                  <a:lnTo>
                    <a:pt x="57698" y="1950"/>
                  </a:lnTo>
                  <a:lnTo>
                    <a:pt x="53797" y="2926"/>
                  </a:lnTo>
                  <a:lnTo>
                    <a:pt x="50855" y="4892"/>
                  </a:lnTo>
                  <a:lnTo>
                    <a:pt x="46939" y="5867"/>
                  </a:lnTo>
                  <a:lnTo>
                    <a:pt x="43037" y="5867"/>
                  </a:lnTo>
                  <a:lnTo>
                    <a:pt x="40096" y="6842"/>
                  </a:lnTo>
                  <a:lnTo>
                    <a:pt x="36179" y="6842"/>
                  </a:lnTo>
                  <a:lnTo>
                    <a:pt x="32278" y="7818"/>
                  </a:lnTo>
                  <a:lnTo>
                    <a:pt x="28361" y="7818"/>
                  </a:lnTo>
                  <a:lnTo>
                    <a:pt x="25420" y="6842"/>
                  </a:lnTo>
                  <a:lnTo>
                    <a:pt x="21518" y="6842"/>
                  </a:lnTo>
                  <a:lnTo>
                    <a:pt x="17602" y="5867"/>
                  </a:lnTo>
                  <a:lnTo>
                    <a:pt x="13685" y="5867"/>
                  </a:lnTo>
                  <a:lnTo>
                    <a:pt x="10759" y="4892"/>
                  </a:lnTo>
                  <a:lnTo>
                    <a:pt x="6842" y="2926"/>
                  </a:lnTo>
                  <a:lnTo>
                    <a:pt x="3916" y="1950"/>
                  </a:lnTo>
                  <a:lnTo>
                    <a:pt x="0" y="0"/>
                  </a:lnTo>
                  <a:lnTo>
                    <a:pt x="30312" y="61615"/>
                  </a:lnTo>
                  <a:lnTo>
                    <a:pt x="606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444501" y="6095781"/>
              <a:ext cx="515620" cy="407034"/>
            </a:xfrm>
            <a:custGeom>
              <a:avLst/>
              <a:gdLst/>
              <a:ahLst/>
              <a:cxnLst/>
              <a:rect l="l" t="t" r="r" b="b"/>
              <a:pathLst>
                <a:path w="515620" h="407034">
                  <a:moveTo>
                    <a:pt x="0" y="0"/>
                  </a:moveTo>
                  <a:lnTo>
                    <a:pt x="515447" y="406877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929636" y="6469405"/>
              <a:ext cx="66675" cy="62230"/>
            </a:xfrm>
            <a:custGeom>
              <a:avLst/>
              <a:gdLst/>
              <a:ahLst/>
              <a:cxnLst/>
              <a:rect l="l" t="t" r="r" b="b"/>
              <a:pathLst>
                <a:path w="66675" h="62229">
                  <a:moveTo>
                    <a:pt x="37170" y="0"/>
                  </a:moveTo>
                  <a:lnTo>
                    <a:pt x="35204" y="7833"/>
                  </a:lnTo>
                  <a:lnTo>
                    <a:pt x="34229" y="10759"/>
                  </a:lnTo>
                  <a:lnTo>
                    <a:pt x="32278" y="14676"/>
                  </a:lnTo>
                  <a:lnTo>
                    <a:pt x="31302" y="17602"/>
                  </a:lnTo>
                  <a:lnTo>
                    <a:pt x="29336" y="20543"/>
                  </a:lnTo>
                  <a:lnTo>
                    <a:pt x="27386" y="24460"/>
                  </a:lnTo>
                  <a:lnTo>
                    <a:pt x="25435" y="27386"/>
                  </a:lnTo>
                  <a:lnTo>
                    <a:pt x="12710" y="40111"/>
                  </a:lnTo>
                  <a:lnTo>
                    <a:pt x="9784" y="42062"/>
                  </a:lnTo>
                  <a:lnTo>
                    <a:pt x="5867" y="44013"/>
                  </a:lnTo>
                  <a:lnTo>
                    <a:pt x="0" y="47929"/>
                  </a:lnTo>
                  <a:lnTo>
                    <a:pt x="66507" y="61615"/>
                  </a:lnTo>
                  <a:lnTo>
                    <a:pt x="371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" name="object 59"/>
          <p:cNvSpPr txBox="1"/>
          <p:nvPr/>
        </p:nvSpPr>
        <p:spPr>
          <a:xfrm>
            <a:off x="4294858" y="5540981"/>
            <a:ext cx="952500" cy="558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74625" marR="5080" indent="-175260">
              <a:lnSpc>
                <a:spcPct val="101000"/>
              </a:lnSpc>
              <a:spcBef>
                <a:spcPts val="90"/>
              </a:spcBef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directed</a:t>
            </a:r>
            <a:r>
              <a:rPr dirty="0" sz="1150" spc="-5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graph </a:t>
            </a:r>
            <a:r>
              <a:rPr dirty="0" sz="1150" spc="-30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(digraph)</a:t>
            </a:r>
            <a:endParaRPr sz="1150">
              <a:latin typeface="Arial"/>
              <a:cs typeface="Arial"/>
            </a:endParaRPr>
          </a:p>
          <a:p>
            <a:pPr marL="31115">
              <a:lnSpc>
                <a:spcPct val="100000"/>
              </a:lnSpc>
              <a:spcBef>
                <a:spcPts val="30"/>
              </a:spcBef>
              <a:tabLst>
                <a:tab pos="746760" algn="l"/>
              </a:tabLst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1	3</a:t>
            </a:r>
            <a:endParaRPr sz="1150">
              <a:latin typeface="Arial"/>
              <a:cs typeface="Arial"/>
            </a:endParaRPr>
          </a:p>
        </p:txBody>
      </p:sp>
      <p:pic>
        <p:nvPicPr>
          <p:cNvPr id="60" name="object 60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2632070" y="7021002"/>
            <a:ext cx="240699" cy="241674"/>
          </a:xfrm>
          <a:prstGeom prst="rect">
            <a:avLst/>
          </a:prstGeom>
        </p:spPr>
      </p:pic>
      <p:sp>
        <p:nvSpPr>
          <p:cNvPr id="61" name="object 61"/>
          <p:cNvSpPr txBox="1"/>
          <p:nvPr/>
        </p:nvSpPr>
        <p:spPr>
          <a:xfrm>
            <a:off x="2709378" y="7035491"/>
            <a:ext cx="94615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50">
              <a:latin typeface="Arial"/>
              <a:cs typeface="Arial"/>
            </a:endParaRPr>
          </a:p>
        </p:txBody>
      </p:sp>
      <p:pic>
        <p:nvPicPr>
          <p:cNvPr id="62" name="object 6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2632070" y="7627417"/>
            <a:ext cx="240699" cy="241674"/>
          </a:xfrm>
          <a:prstGeom prst="rect">
            <a:avLst/>
          </a:prstGeom>
        </p:spPr>
      </p:pic>
      <p:sp>
        <p:nvSpPr>
          <p:cNvPr id="63" name="object 63"/>
          <p:cNvSpPr txBox="1"/>
          <p:nvPr/>
        </p:nvSpPr>
        <p:spPr>
          <a:xfrm>
            <a:off x="2709378" y="7641904"/>
            <a:ext cx="94615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50">
              <a:latin typeface="Arial"/>
              <a:cs typeface="Arial"/>
            </a:endParaRPr>
          </a:p>
        </p:txBody>
      </p:sp>
      <p:pic>
        <p:nvPicPr>
          <p:cNvPr id="64" name="object 64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3348030" y="7627417"/>
            <a:ext cx="241674" cy="241674"/>
          </a:xfrm>
          <a:prstGeom prst="rect">
            <a:avLst/>
          </a:prstGeom>
        </p:spPr>
      </p:pic>
      <p:sp>
        <p:nvSpPr>
          <p:cNvPr id="65" name="object 65"/>
          <p:cNvSpPr txBox="1"/>
          <p:nvPr/>
        </p:nvSpPr>
        <p:spPr>
          <a:xfrm>
            <a:off x="3425340" y="7641904"/>
            <a:ext cx="94615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2722092" y="6093830"/>
            <a:ext cx="1570355" cy="1727835"/>
            <a:chOff x="2722092" y="6093830"/>
            <a:chExt cx="1570355" cy="1727835"/>
          </a:xfrm>
        </p:grpSpPr>
        <p:sp>
          <p:nvSpPr>
            <p:cNvPr id="67" name="object 67"/>
            <p:cNvSpPr/>
            <p:nvPr/>
          </p:nvSpPr>
          <p:spPr>
            <a:xfrm>
              <a:off x="2752420" y="7261656"/>
              <a:ext cx="0" cy="321310"/>
            </a:xfrm>
            <a:custGeom>
              <a:avLst/>
              <a:gdLst/>
              <a:ahLst/>
              <a:cxnLst/>
              <a:rect l="l" t="t" r="r" b="b"/>
              <a:pathLst>
                <a:path w="0" h="321309">
                  <a:moveTo>
                    <a:pt x="0" y="0"/>
                  </a:moveTo>
                  <a:lnTo>
                    <a:pt x="0" y="320817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722092" y="7567797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60655" y="0"/>
                  </a:moveTo>
                  <a:lnTo>
                    <a:pt x="56738" y="1950"/>
                  </a:lnTo>
                  <a:lnTo>
                    <a:pt x="53797" y="2926"/>
                  </a:lnTo>
                  <a:lnTo>
                    <a:pt x="45979" y="4892"/>
                  </a:lnTo>
                  <a:lnTo>
                    <a:pt x="43037" y="5867"/>
                  </a:lnTo>
                  <a:lnTo>
                    <a:pt x="39136" y="6842"/>
                  </a:lnTo>
                  <a:lnTo>
                    <a:pt x="20543" y="6842"/>
                  </a:lnTo>
                  <a:lnTo>
                    <a:pt x="16642" y="5867"/>
                  </a:lnTo>
                  <a:lnTo>
                    <a:pt x="13700" y="4892"/>
                  </a:lnTo>
                  <a:lnTo>
                    <a:pt x="9784" y="3916"/>
                  </a:lnTo>
                  <a:lnTo>
                    <a:pt x="6857" y="2926"/>
                  </a:lnTo>
                  <a:lnTo>
                    <a:pt x="2941" y="1950"/>
                  </a:lnTo>
                  <a:lnTo>
                    <a:pt x="0" y="0"/>
                  </a:lnTo>
                  <a:lnTo>
                    <a:pt x="30327" y="60639"/>
                  </a:lnTo>
                  <a:lnTo>
                    <a:pt x="606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861965" y="7702778"/>
              <a:ext cx="451484" cy="0"/>
            </a:xfrm>
            <a:custGeom>
              <a:avLst/>
              <a:gdLst/>
              <a:ahLst/>
              <a:cxnLst/>
              <a:rect l="l" t="t" r="r" b="b"/>
              <a:pathLst>
                <a:path w="451485" h="0">
                  <a:moveTo>
                    <a:pt x="0" y="0"/>
                  </a:moveTo>
                  <a:lnTo>
                    <a:pt x="450890" y="0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297219" y="7672450"/>
              <a:ext cx="62230" cy="60960"/>
            </a:xfrm>
            <a:custGeom>
              <a:avLst/>
              <a:gdLst/>
              <a:ahLst/>
              <a:cxnLst/>
              <a:rect l="l" t="t" r="r" b="b"/>
              <a:pathLst>
                <a:path w="62229" h="60959">
                  <a:moveTo>
                    <a:pt x="0" y="0"/>
                  </a:moveTo>
                  <a:lnTo>
                    <a:pt x="1950" y="2941"/>
                  </a:lnTo>
                  <a:lnTo>
                    <a:pt x="2926" y="6842"/>
                  </a:lnTo>
                  <a:lnTo>
                    <a:pt x="4876" y="10759"/>
                  </a:lnTo>
                  <a:lnTo>
                    <a:pt x="5867" y="13700"/>
                  </a:lnTo>
                  <a:lnTo>
                    <a:pt x="6842" y="17602"/>
                  </a:lnTo>
                  <a:lnTo>
                    <a:pt x="6842" y="21518"/>
                  </a:lnTo>
                  <a:lnTo>
                    <a:pt x="7818" y="24460"/>
                  </a:lnTo>
                  <a:lnTo>
                    <a:pt x="7818" y="36194"/>
                  </a:lnTo>
                  <a:lnTo>
                    <a:pt x="6842" y="39121"/>
                  </a:lnTo>
                  <a:lnTo>
                    <a:pt x="6842" y="43037"/>
                  </a:lnTo>
                  <a:lnTo>
                    <a:pt x="4876" y="50855"/>
                  </a:lnTo>
                  <a:lnTo>
                    <a:pt x="2926" y="53797"/>
                  </a:lnTo>
                  <a:lnTo>
                    <a:pt x="1950" y="57713"/>
                  </a:lnTo>
                  <a:lnTo>
                    <a:pt x="0" y="60639"/>
                  </a:lnTo>
                  <a:lnTo>
                    <a:pt x="61615" y="303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827736" y="7235245"/>
              <a:ext cx="514984" cy="406400"/>
            </a:xfrm>
            <a:custGeom>
              <a:avLst/>
              <a:gdLst/>
              <a:ahLst/>
              <a:cxnLst/>
              <a:rect l="l" t="t" r="r" b="b"/>
              <a:pathLst>
                <a:path w="514985" h="406400">
                  <a:moveTo>
                    <a:pt x="0" y="0"/>
                  </a:moveTo>
                  <a:lnTo>
                    <a:pt x="514471" y="405902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311880" y="7607894"/>
              <a:ext cx="66675" cy="62865"/>
            </a:xfrm>
            <a:custGeom>
              <a:avLst/>
              <a:gdLst/>
              <a:ahLst/>
              <a:cxnLst/>
              <a:rect l="l" t="t" r="r" b="b"/>
              <a:pathLst>
                <a:path w="66675" h="62865">
                  <a:moveTo>
                    <a:pt x="38145" y="0"/>
                  </a:moveTo>
                  <a:lnTo>
                    <a:pt x="37170" y="3916"/>
                  </a:lnTo>
                  <a:lnTo>
                    <a:pt x="36194" y="6857"/>
                  </a:lnTo>
                  <a:lnTo>
                    <a:pt x="35219" y="10759"/>
                  </a:lnTo>
                  <a:lnTo>
                    <a:pt x="33253" y="13700"/>
                  </a:lnTo>
                  <a:lnTo>
                    <a:pt x="32278" y="17602"/>
                  </a:lnTo>
                  <a:lnTo>
                    <a:pt x="28361" y="23484"/>
                  </a:lnTo>
                  <a:lnTo>
                    <a:pt x="25435" y="26410"/>
                  </a:lnTo>
                  <a:lnTo>
                    <a:pt x="21518" y="32278"/>
                  </a:lnTo>
                  <a:lnTo>
                    <a:pt x="18592" y="35219"/>
                  </a:lnTo>
                  <a:lnTo>
                    <a:pt x="15651" y="37170"/>
                  </a:lnTo>
                  <a:lnTo>
                    <a:pt x="12725" y="40111"/>
                  </a:lnTo>
                  <a:lnTo>
                    <a:pt x="3916" y="45979"/>
                  </a:lnTo>
                  <a:lnTo>
                    <a:pt x="0" y="47929"/>
                  </a:lnTo>
                  <a:lnTo>
                    <a:pt x="66507" y="62605"/>
                  </a:lnTo>
                  <a:lnTo>
                    <a:pt x="381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212701" y="6134902"/>
              <a:ext cx="59055" cy="406400"/>
            </a:xfrm>
            <a:custGeom>
              <a:avLst/>
              <a:gdLst/>
              <a:ahLst/>
              <a:cxnLst/>
              <a:rect l="l" t="t" r="r" b="b"/>
              <a:pathLst>
                <a:path w="59054" h="406400">
                  <a:moveTo>
                    <a:pt x="57698" y="0"/>
                  </a:moveTo>
                  <a:lnTo>
                    <a:pt x="29336" y="68473"/>
                  </a:lnTo>
                  <a:lnTo>
                    <a:pt x="10759" y="134005"/>
                  </a:lnTo>
                  <a:lnTo>
                    <a:pt x="975" y="194645"/>
                  </a:lnTo>
                  <a:lnTo>
                    <a:pt x="0" y="223982"/>
                  </a:lnTo>
                  <a:lnTo>
                    <a:pt x="975" y="253319"/>
                  </a:lnTo>
                  <a:lnTo>
                    <a:pt x="10759" y="307116"/>
                  </a:lnTo>
                  <a:lnTo>
                    <a:pt x="30312" y="358962"/>
                  </a:lnTo>
                  <a:lnTo>
                    <a:pt x="43037" y="383407"/>
                  </a:lnTo>
                  <a:lnTo>
                    <a:pt x="58689" y="405902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237146" y="6093830"/>
              <a:ext cx="55244" cy="67945"/>
            </a:xfrm>
            <a:custGeom>
              <a:avLst/>
              <a:gdLst/>
              <a:ahLst/>
              <a:cxnLst/>
              <a:rect l="l" t="t" r="r" b="b"/>
              <a:pathLst>
                <a:path w="55245" h="67945">
                  <a:moveTo>
                    <a:pt x="54772" y="0"/>
                  </a:moveTo>
                  <a:lnTo>
                    <a:pt x="0" y="40096"/>
                  </a:lnTo>
                  <a:lnTo>
                    <a:pt x="3916" y="41071"/>
                  </a:lnTo>
                  <a:lnTo>
                    <a:pt x="10759" y="41071"/>
                  </a:lnTo>
                  <a:lnTo>
                    <a:pt x="18592" y="43022"/>
                  </a:lnTo>
                  <a:lnTo>
                    <a:pt x="21518" y="44013"/>
                  </a:lnTo>
                  <a:lnTo>
                    <a:pt x="25435" y="44988"/>
                  </a:lnTo>
                  <a:lnTo>
                    <a:pt x="28376" y="46939"/>
                  </a:lnTo>
                  <a:lnTo>
                    <a:pt x="32278" y="48889"/>
                  </a:lnTo>
                  <a:lnTo>
                    <a:pt x="44013" y="56723"/>
                  </a:lnTo>
                  <a:lnTo>
                    <a:pt x="46954" y="59649"/>
                  </a:lnTo>
                  <a:lnTo>
                    <a:pt x="49895" y="61615"/>
                  </a:lnTo>
                  <a:lnTo>
                    <a:pt x="53797" y="67482"/>
                  </a:lnTo>
                  <a:lnTo>
                    <a:pt x="547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909895" y="7790804"/>
              <a:ext cx="448309" cy="2540"/>
            </a:xfrm>
            <a:custGeom>
              <a:avLst/>
              <a:gdLst/>
              <a:ahLst/>
              <a:cxnLst/>
              <a:rect l="l" t="t" r="r" b="b"/>
              <a:pathLst>
                <a:path w="448310" h="2540">
                  <a:moveTo>
                    <a:pt x="0" y="0"/>
                  </a:moveTo>
                  <a:lnTo>
                    <a:pt x="447964" y="1950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863916" y="7760477"/>
              <a:ext cx="62230" cy="60960"/>
            </a:xfrm>
            <a:custGeom>
              <a:avLst/>
              <a:gdLst/>
              <a:ahLst/>
              <a:cxnLst/>
              <a:rect l="l" t="t" r="r" b="b"/>
              <a:pathLst>
                <a:path w="62230" h="60959">
                  <a:moveTo>
                    <a:pt x="61630" y="0"/>
                  </a:moveTo>
                  <a:lnTo>
                    <a:pt x="0" y="29352"/>
                  </a:lnTo>
                  <a:lnTo>
                    <a:pt x="61630" y="60639"/>
                  </a:lnTo>
                  <a:lnTo>
                    <a:pt x="59664" y="56738"/>
                  </a:lnTo>
                  <a:lnTo>
                    <a:pt x="58689" y="53797"/>
                  </a:lnTo>
                  <a:lnTo>
                    <a:pt x="56738" y="45979"/>
                  </a:lnTo>
                  <a:lnTo>
                    <a:pt x="55763" y="43037"/>
                  </a:lnTo>
                  <a:lnTo>
                    <a:pt x="54772" y="39121"/>
                  </a:lnTo>
                  <a:lnTo>
                    <a:pt x="54772" y="20543"/>
                  </a:lnTo>
                  <a:lnTo>
                    <a:pt x="55763" y="16626"/>
                  </a:lnTo>
                  <a:lnTo>
                    <a:pt x="56738" y="13700"/>
                  </a:lnTo>
                  <a:lnTo>
                    <a:pt x="58689" y="5867"/>
                  </a:lnTo>
                  <a:lnTo>
                    <a:pt x="59664" y="2941"/>
                  </a:lnTo>
                  <a:lnTo>
                    <a:pt x="616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752420" y="6838152"/>
              <a:ext cx="283210" cy="310515"/>
            </a:xfrm>
            <a:custGeom>
              <a:avLst/>
              <a:gdLst/>
              <a:ahLst/>
              <a:cxnLst/>
              <a:rect l="l" t="t" r="r" b="b"/>
              <a:pathLst>
                <a:path w="283210" h="310515">
                  <a:moveTo>
                    <a:pt x="0" y="183870"/>
                  </a:moveTo>
                  <a:lnTo>
                    <a:pt x="975" y="176052"/>
                  </a:lnTo>
                  <a:lnTo>
                    <a:pt x="2941" y="167243"/>
                  </a:lnTo>
                  <a:lnTo>
                    <a:pt x="3916" y="158450"/>
                  </a:lnTo>
                  <a:lnTo>
                    <a:pt x="3916" y="139857"/>
                  </a:lnTo>
                  <a:lnTo>
                    <a:pt x="4892" y="130073"/>
                  </a:lnTo>
                  <a:lnTo>
                    <a:pt x="3916" y="120304"/>
                  </a:lnTo>
                  <a:lnTo>
                    <a:pt x="3916" y="81168"/>
                  </a:lnTo>
                  <a:lnTo>
                    <a:pt x="4892" y="72374"/>
                  </a:lnTo>
                  <a:lnTo>
                    <a:pt x="4892" y="62590"/>
                  </a:lnTo>
                  <a:lnTo>
                    <a:pt x="5867" y="54772"/>
                  </a:lnTo>
                  <a:lnTo>
                    <a:pt x="7833" y="45963"/>
                  </a:lnTo>
                  <a:lnTo>
                    <a:pt x="8808" y="38145"/>
                  </a:lnTo>
                  <a:lnTo>
                    <a:pt x="31302" y="6842"/>
                  </a:lnTo>
                  <a:lnTo>
                    <a:pt x="60639" y="0"/>
                  </a:lnTo>
                  <a:lnTo>
                    <a:pt x="71399" y="0"/>
                  </a:lnTo>
                  <a:lnTo>
                    <a:pt x="83134" y="975"/>
                  </a:lnTo>
                  <a:lnTo>
                    <a:pt x="95859" y="3901"/>
                  </a:lnTo>
                  <a:lnTo>
                    <a:pt x="109545" y="6842"/>
                  </a:lnTo>
                  <a:lnTo>
                    <a:pt x="148666" y="23469"/>
                  </a:lnTo>
                  <a:lnTo>
                    <a:pt x="176052" y="39121"/>
                  </a:lnTo>
                  <a:lnTo>
                    <a:pt x="189753" y="46939"/>
                  </a:lnTo>
                  <a:lnTo>
                    <a:pt x="201488" y="56723"/>
                  </a:lnTo>
                  <a:lnTo>
                    <a:pt x="213222" y="66507"/>
                  </a:lnTo>
                  <a:lnTo>
                    <a:pt x="223982" y="77266"/>
                  </a:lnTo>
                  <a:lnTo>
                    <a:pt x="257235" y="119313"/>
                  </a:lnTo>
                  <a:lnTo>
                    <a:pt x="277779" y="169194"/>
                  </a:lnTo>
                  <a:lnTo>
                    <a:pt x="282671" y="202463"/>
                  </a:lnTo>
                  <a:lnTo>
                    <a:pt x="281696" y="218099"/>
                  </a:lnTo>
                  <a:lnTo>
                    <a:pt x="267995" y="261137"/>
                  </a:lnTo>
                  <a:lnTo>
                    <a:pt x="235717" y="292440"/>
                  </a:lnTo>
                  <a:lnTo>
                    <a:pt x="185836" y="309067"/>
                  </a:lnTo>
                  <a:lnTo>
                    <a:pt x="165293" y="310042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2871749" y="7118857"/>
              <a:ext cx="64769" cy="60960"/>
            </a:xfrm>
            <a:custGeom>
              <a:avLst/>
              <a:gdLst/>
              <a:ahLst/>
              <a:cxnLst/>
              <a:rect l="l" t="t" r="r" b="b"/>
              <a:pathLst>
                <a:path w="64769" h="60959">
                  <a:moveTo>
                    <a:pt x="64556" y="0"/>
                  </a:moveTo>
                  <a:lnTo>
                    <a:pt x="0" y="23469"/>
                  </a:lnTo>
                  <a:lnTo>
                    <a:pt x="57698" y="60639"/>
                  </a:lnTo>
                  <a:lnTo>
                    <a:pt x="55747" y="56723"/>
                  </a:lnTo>
                  <a:lnTo>
                    <a:pt x="54772" y="53797"/>
                  </a:lnTo>
                  <a:lnTo>
                    <a:pt x="54772" y="49880"/>
                  </a:lnTo>
                  <a:lnTo>
                    <a:pt x="53797" y="45963"/>
                  </a:lnTo>
                  <a:lnTo>
                    <a:pt x="53797" y="43037"/>
                  </a:lnTo>
                  <a:lnTo>
                    <a:pt x="52806" y="39121"/>
                  </a:lnTo>
                  <a:lnTo>
                    <a:pt x="52806" y="35204"/>
                  </a:lnTo>
                  <a:lnTo>
                    <a:pt x="53797" y="31302"/>
                  </a:lnTo>
                  <a:lnTo>
                    <a:pt x="53797" y="28361"/>
                  </a:lnTo>
                  <a:lnTo>
                    <a:pt x="56723" y="16626"/>
                  </a:lnTo>
                  <a:lnTo>
                    <a:pt x="57698" y="13685"/>
                  </a:lnTo>
                  <a:lnTo>
                    <a:pt x="58689" y="9784"/>
                  </a:lnTo>
                  <a:lnTo>
                    <a:pt x="62590" y="3916"/>
                  </a:lnTo>
                  <a:lnTo>
                    <a:pt x="645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" name="object 79"/>
          <p:cNvSpPr txBox="1"/>
          <p:nvPr/>
        </p:nvSpPr>
        <p:spPr>
          <a:xfrm>
            <a:off x="3040950" y="6907361"/>
            <a:ext cx="568325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150" i="1">
                <a:solidFill>
                  <a:srgbClr val="FFFFFF"/>
                </a:solidFill>
                <a:latin typeface="Arial"/>
                <a:cs typeface="Arial"/>
              </a:rPr>
              <a:t>self-loop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80" name="object 80"/>
          <p:cNvGrpSpPr/>
          <p:nvPr/>
        </p:nvGrpSpPr>
        <p:grpSpPr>
          <a:xfrm>
            <a:off x="4481461" y="7114941"/>
            <a:ext cx="968375" cy="612140"/>
            <a:chOff x="4481461" y="7114941"/>
            <a:chExt cx="968375" cy="612140"/>
          </a:xfrm>
        </p:grpSpPr>
        <p:sp>
          <p:nvSpPr>
            <p:cNvPr id="81" name="object 81"/>
            <p:cNvSpPr/>
            <p:nvPr/>
          </p:nvSpPr>
          <p:spPr>
            <a:xfrm>
              <a:off x="5195681" y="7208835"/>
              <a:ext cx="142875" cy="435609"/>
            </a:xfrm>
            <a:custGeom>
              <a:avLst/>
              <a:gdLst/>
              <a:ahLst/>
              <a:cxnLst/>
              <a:rect l="l" t="t" r="r" b="b"/>
              <a:pathLst>
                <a:path w="142875" h="435609">
                  <a:moveTo>
                    <a:pt x="43022" y="0"/>
                  </a:moveTo>
                  <a:lnTo>
                    <a:pt x="85084" y="50871"/>
                  </a:lnTo>
                  <a:lnTo>
                    <a:pt x="116387" y="100751"/>
                  </a:lnTo>
                  <a:lnTo>
                    <a:pt x="135940" y="150632"/>
                  </a:lnTo>
                  <a:lnTo>
                    <a:pt x="142798" y="199537"/>
                  </a:lnTo>
                  <a:lnTo>
                    <a:pt x="141808" y="223982"/>
                  </a:lnTo>
                  <a:lnTo>
                    <a:pt x="131048" y="271912"/>
                  </a:lnTo>
                  <a:lnTo>
                    <a:pt x="107579" y="318866"/>
                  </a:lnTo>
                  <a:lnTo>
                    <a:pt x="73350" y="365805"/>
                  </a:lnTo>
                  <a:lnTo>
                    <a:pt x="27386" y="412760"/>
                  </a:lnTo>
                  <a:lnTo>
                    <a:pt x="0" y="435254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2" name="object 8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205450" y="7176556"/>
              <a:ext cx="64556" cy="64556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5223067" y="7139401"/>
              <a:ext cx="221615" cy="582295"/>
            </a:xfrm>
            <a:custGeom>
              <a:avLst/>
              <a:gdLst/>
              <a:ahLst/>
              <a:cxnLst/>
              <a:rect l="l" t="t" r="r" b="b"/>
              <a:pathLst>
                <a:path w="221614" h="582295">
                  <a:moveTo>
                    <a:pt x="39121" y="0"/>
                  </a:moveTo>
                  <a:lnTo>
                    <a:pt x="99761" y="44013"/>
                  </a:lnTo>
                  <a:lnTo>
                    <a:pt x="147690" y="89001"/>
                  </a:lnTo>
                  <a:lnTo>
                    <a:pt x="183870" y="134965"/>
                  </a:lnTo>
                  <a:lnTo>
                    <a:pt x="208330" y="182895"/>
                  </a:lnTo>
                  <a:lnTo>
                    <a:pt x="220065" y="231800"/>
                  </a:lnTo>
                  <a:lnTo>
                    <a:pt x="221040" y="257235"/>
                  </a:lnTo>
                  <a:lnTo>
                    <a:pt x="219090" y="281680"/>
                  </a:lnTo>
                  <a:lnTo>
                    <a:pt x="206364" y="333527"/>
                  </a:lnTo>
                  <a:lnTo>
                    <a:pt x="181919" y="386333"/>
                  </a:lnTo>
                  <a:lnTo>
                    <a:pt x="145724" y="440131"/>
                  </a:lnTo>
                  <a:lnTo>
                    <a:pt x="96819" y="495879"/>
                  </a:lnTo>
                  <a:lnTo>
                    <a:pt x="66507" y="524240"/>
                  </a:lnTo>
                  <a:lnTo>
                    <a:pt x="35204" y="552617"/>
                  </a:lnTo>
                  <a:lnTo>
                    <a:pt x="0" y="581954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5223067" y="7114941"/>
              <a:ext cx="67945" cy="57785"/>
            </a:xfrm>
            <a:custGeom>
              <a:avLst/>
              <a:gdLst/>
              <a:ahLst/>
              <a:cxnLst/>
              <a:rect l="l" t="t" r="r" b="b"/>
              <a:pathLst>
                <a:path w="67945" h="57784">
                  <a:moveTo>
                    <a:pt x="0" y="0"/>
                  </a:moveTo>
                  <a:lnTo>
                    <a:pt x="35204" y="57713"/>
                  </a:lnTo>
                  <a:lnTo>
                    <a:pt x="37155" y="49880"/>
                  </a:lnTo>
                  <a:lnTo>
                    <a:pt x="37155" y="46954"/>
                  </a:lnTo>
                  <a:lnTo>
                    <a:pt x="38145" y="43037"/>
                  </a:lnTo>
                  <a:lnTo>
                    <a:pt x="40096" y="40111"/>
                  </a:lnTo>
                  <a:lnTo>
                    <a:pt x="41071" y="36194"/>
                  </a:lnTo>
                  <a:lnTo>
                    <a:pt x="43022" y="33253"/>
                  </a:lnTo>
                  <a:lnTo>
                    <a:pt x="44988" y="29352"/>
                  </a:lnTo>
                  <a:lnTo>
                    <a:pt x="52806" y="17602"/>
                  </a:lnTo>
                  <a:lnTo>
                    <a:pt x="55747" y="14676"/>
                  </a:lnTo>
                  <a:lnTo>
                    <a:pt x="58673" y="12725"/>
                  </a:lnTo>
                  <a:lnTo>
                    <a:pt x="61615" y="9784"/>
                  </a:lnTo>
                  <a:lnTo>
                    <a:pt x="67482" y="58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486564" y="7181449"/>
              <a:ext cx="526415" cy="405130"/>
            </a:xfrm>
            <a:custGeom>
              <a:avLst/>
              <a:gdLst/>
              <a:ahLst/>
              <a:cxnLst/>
              <a:rect l="l" t="t" r="r" b="b"/>
              <a:pathLst>
                <a:path w="526414" h="405129">
                  <a:moveTo>
                    <a:pt x="0" y="0"/>
                  </a:moveTo>
                  <a:lnTo>
                    <a:pt x="526206" y="404926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982458" y="7553122"/>
              <a:ext cx="66675" cy="60960"/>
            </a:xfrm>
            <a:custGeom>
              <a:avLst/>
              <a:gdLst/>
              <a:ahLst/>
              <a:cxnLst/>
              <a:rect l="l" t="t" r="r" b="b"/>
              <a:pathLst>
                <a:path w="66675" h="60959">
                  <a:moveTo>
                    <a:pt x="37155" y="0"/>
                  </a:moveTo>
                  <a:lnTo>
                    <a:pt x="36179" y="3916"/>
                  </a:lnTo>
                  <a:lnTo>
                    <a:pt x="35204" y="6857"/>
                  </a:lnTo>
                  <a:lnTo>
                    <a:pt x="34229" y="10759"/>
                  </a:lnTo>
                  <a:lnTo>
                    <a:pt x="33253" y="13700"/>
                  </a:lnTo>
                  <a:lnTo>
                    <a:pt x="31287" y="17602"/>
                  </a:lnTo>
                  <a:lnTo>
                    <a:pt x="23469" y="29352"/>
                  </a:lnTo>
                  <a:lnTo>
                    <a:pt x="20528" y="32278"/>
                  </a:lnTo>
                  <a:lnTo>
                    <a:pt x="18577" y="35219"/>
                  </a:lnTo>
                  <a:lnTo>
                    <a:pt x="15636" y="38145"/>
                  </a:lnTo>
                  <a:lnTo>
                    <a:pt x="3901" y="45979"/>
                  </a:lnTo>
                  <a:lnTo>
                    <a:pt x="0" y="47929"/>
                  </a:lnTo>
                  <a:lnTo>
                    <a:pt x="66507" y="60639"/>
                  </a:lnTo>
                  <a:lnTo>
                    <a:pt x="371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5157535" y="7267524"/>
              <a:ext cx="0" cy="346710"/>
            </a:xfrm>
            <a:custGeom>
              <a:avLst/>
              <a:gdLst/>
              <a:ahLst/>
              <a:cxnLst/>
              <a:rect l="l" t="t" r="r" b="b"/>
              <a:pathLst>
                <a:path w="0" h="346709">
                  <a:moveTo>
                    <a:pt x="0" y="0"/>
                  </a:moveTo>
                  <a:lnTo>
                    <a:pt x="0" y="346237"/>
                  </a:lnTo>
                </a:path>
              </a:pathLst>
            </a:custGeom>
            <a:ln w="1020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5127208" y="7221560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59">
                  <a:moveTo>
                    <a:pt x="30327" y="0"/>
                  </a:moveTo>
                  <a:lnTo>
                    <a:pt x="0" y="60639"/>
                  </a:lnTo>
                  <a:lnTo>
                    <a:pt x="2941" y="58673"/>
                  </a:lnTo>
                  <a:lnTo>
                    <a:pt x="6842" y="57698"/>
                  </a:lnTo>
                  <a:lnTo>
                    <a:pt x="9784" y="56723"/>
                  </a:lnTo>
                  <a:lnTo>
                    <a:pt x="13700" y="55747"/>
                  </a:lnTo>
                  <a:lnTo>
                    <a:pt x="16626" y="54772"/>
                  </a:lnTo>
                  <a:lnTo>
                    <a:pt x="20543" y="53781"/>
                  </a:lnTo>
                  <a:lnTo>
                    <a:pt x="39121" y="53781"/>
                  </a:lnTo>
                  <a:lnTo>
                    <a:pt x="43037" y="54772"/>
                  </a:lnTo>
                  <a:lnTo>
                    <a:pt x="45963" y="55747"/>
                  </a:lnTo>
                  <a:lnTo>
                    <a:pt x="53797" y="57698"/>
                  </a:lnTo>
                  <a:lnTo>
                    <a:pt x="56723" y="58673"/>
                  </a:lnTo>
                  <a:lnTo>
                    <a:pt x="60639" y="60639"/>
                  </a:lnTo>
                  <a:lnTo>
                    <a:pt x="303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9" name="object 89"/>
          <p:cNvSpPr txBox="1"/>
          <p:nvPr/>
        </p:nvSpPr>
        <p:spPr>
          <a:xfrm>
            <a:off x="2873704" y="7854146"/>
            <a:ext cx="2267585" cy="5289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  <a:tabLst>
                <a:tab pos="1527175" algn="l"/>
              </a:tabLst>
            </a:pP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digraph	multi</a:t>
            </a:r>
            <a:r>
              <a:rPr dirty="0" sz="1150" spc="-5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150">
                <a:solidFill>
                  <a:srgbClr val="FFFFFF"/>
                </a:solidFill>
                <a:latin typeface="Arial"/>
                <a:cs typeface="Arial"/>
              </a:rPr>
              <a:t>graph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401320">
              <a:lnSpc>
                <a:spcPct val="100000"/>
              </a:lnSpc>
              <a:spcBef>
                <a:spcPts val="5"/>
              </a:spcBef>
            </a:pPr>
            <a:r>
              <a:rPr dirty="0" sz="1200" spc="-10">
                <a:latin typeface="Times New Roman"/>
                <a:cs typeface="Times New Roman"/>
              </a:rPr>
              <a:t>Figure 8.1: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Types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graphs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914400" y="8834704"/>
            <a:ext cx="403860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adjacent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w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3988260" y="9155137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11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11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019300" y="939312"/>
            <a:ext cx="4191000" cy="2075180"/>
            <a:chOff x="2019300" y="939312"/>
            <a:chExt cx="4191000" cy="2075180"/>
          </a:xfrm>
        </p:grpSpPr>
        <p:sp>
          <p:nvSpPr>
            <p:cNvPr id="5" name="object 5"/>
            <p:cNvSpPr/>
            <p:nvPr/>
          </p:nvSpPr>
          <p:spPr>
            <a:xfrm>
              <a:off x="2019300" y="939312"/>
              <a:ext cx="4191000" cy="2075180"/>
            </a:xfrm>
            <a:custGeom>
              <a:avLst/>
              <a:gdLst/>
              <a:ahLst/>
              <a:cxnLst/>
              <a:rect l="l" t="t" r="r" b="b"/>
              <a:pathLst>
                <a:path w="4191000" h="2075180">
                  <a:moveTo>
                    <a:pt x="4190801" y="0"/>
                  </a:moveTo>
                  <a:lnTo>
                    <a:pt x="0" y="0"/>
                  </a:lnTo>
                  <a:lnTo>
                    <a:pt x="0" y="2074651"/>
                  </a:lnTo>
                  <a:lnTo>
                    <a:pt x="4190801" y="2074651"/>
                  </a:lnTo>
                  <a:lnTo>
                    <a:pt x="41908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076770" y="1431777"/>
              <a:ext cx="429895" cy="431800"/>
            </a:xfrm>
            <a:custGeom>
              <a:avLst/>
              <a:gdLst/>
              <a:ahLst/>
              <a:cxnLst/>
              <a:rect l="l" t="t" r="r" b="b"/>
              <a:pathLst>
                <a:path w="429894" h="431800">
                  <a:moveTo>
                    <a:pt x="0" y="214792"/>
                  </a:moveTo>
                  <a:lnTo>
                    <a:pt x="14081" y="140848"/>
                  </a:lnTo>
                  <a:lnTo>
                    <a:pt x="51053" y="77464"/>
                  </a:lnTo>
                  <a:lnTo>
                    <a:pt x="107396" y="28178"/>
                  </a:lnTo>
                  <a:lnTo>
                    <a:pt x="142600" y="12329"/>
                  </a:lnTo>
                  <a:lnTo>
                    <a:pt x="214777" y="0"/>
                  </a:lnTo>
                  <a:lnTo>
                    <a:pt x="251749" y="3535"/>
                  </a:lnTo>
                  <a:lnTo>
                    <a:pt x="322173" y="28178"/>
                  </a:lnTo>
                  <a:lnTo>
                    <a:pt x="353872" y="51069"/>
                  </a:lnTo>
                  <a:lnTo>
                    <a:pt x="401406" y="107396"/>
                  </a:lnTo>
                  <a:lnTo>
                    <a:pt x="426049" y="177820"/>
                  </a:lnTo>
                  <a:lnTo>
                    <a:pt x="429569" y="214792"/>
                  </a:lnTo>
                  <a:lnTo>
                    <a:pt x="426049" y="253532"/>
                  </a:lnTo>
                  <a:lnTo>
                    <a:pt x="401406" y="323956"/>
                  </a:lnTo>
                  <a:lnTo>
                    <a:pt x="353872" y="380283"/>
                  </a:lnTo>
                  <a:lnTo>
                    <a:pt x="322173" y="403174"/>
                  </a:lnTo>
                  <a:lnTo>
                    <a:pt x="251749" y="427817"/>
                  </a:lnTo>
                  <a:lnTo>
                    <a:pt x="214777" y="431337"/>
                  </a:lnTo>
                  <a:lnTo>
                    <a:pt x="177805" y="427817"/>
                  </a:lnTo>
                  <a:lnTo>
                    <a:pt x="107396" y="403174"/>
                  </a:lnTo>
                  <a:lnTo>
                    <a:pt x="51053" y="353872"/>
                  </a:lnTo>
                  <a:lnTo>
                    <a:pt x="14081" y="290504"/>
                  </a:lnTo>
                  <a:lnTo>
                    <a:pt x="3520" y="253532"/>
                  </a:lnTo>
                  <a:lnTo>
                    <a:pt x="0" y="214792"/>
                  </a:lnTo>
                </a:path>
              </a:pathLst>
            </a:custGeom>
            <a:ln w="367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2224645" y="1507366"/>
            <a:ext cx="127635" cy="2724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3367247" y="1431777"/>
            <a:ext cx="429895" cy="431800"/>
          </a:xfrm>
          <a:custGeom>
            <a:avLst/>
            <a:gdLst/>
            <a:ahLst/>
            <a:cxnLst/>
            <a:rect l="l" t="t" r="r" b="b"/>
            <a:pathLst>
              <a:path w="429895" h="431800">
                <a:moveTo>
                  <a:pt x="0" y="214792"/>
                </a:moveTo>
                <a:lnTo>
                  <a:pt x="12329" y="140848"/>
                </a:lnTo>
                <a:lnTo>
                  <a:pt x="49301" y="77464"/>
                </a:lnTo>
                <a:lnTo>
                  <a:pt x="107396" y="28178"/>
                </a:lnTo>
                <a:lnTo>
                  <a:pt x="177820" y="3535"/>
                </a:lnTo>
                <a:lnTo>
                  <a:pt x="214792" y="0"/>
                </a:lnTo>
                <a:lnTo>
                  <a:pt x="251764" y="3535"/>
                </a:lnTo>
                <a:lnTo>
                  <a:pt x="322188" y="28178"/>
                </a:lnTo>
                <a:lnTo>
                  <a:pt x="378515" y="77464"/>
                </a:lnTo>
                <a:lnTo>
                  <a:pt x="415488" y="140848"/>
                </a:lnTo>
                <a:lnTo>
                  <a:pt x="426049" y="177820"/>
                </a:lnTo>
                <a:lnTo>
                  <a:pt x="429569" y="214792"/>
                </a:lnTo>
                <a:lnTo>
                  <a:pt x="426049" y="253532"/>
                </a:lnTo>
                <a:lnTo>
                  <a:pt x="415488" y="290504"/>
                </a:lnTo>
                <a:lnTo>
                  <a:pt x="378515" y="353872"/>
                </a:lnTo>
                <a:lnTo>
                  <a:pt x="322188" y="403174"/>
                </a:lnTo>
                <a:lnTo>
                  <a:pt x="251764" y="427817"/>
                </a:lnTo>
                <a:lnTo>
                  <a:pt x="214792" y="431337"/>
                </a:lnTo>
                <a:lnTo>
                  <a:pt x="177820" y="427817"/>
                </a:lnTo>
                <a:lnTo>
                  <a:pt x="107396" y="403174"/>
                </a:lnTo>
                <a:lnTo>
                  <a:pt x="75712" y="380283"/>
                </a:lnTo>
                <a:lnTo>
                  <a:pt x="28178" y="323956"/>
                </a:lnTo>
                <a:lnTo>
                  <a:pt x="3520" y="253532"/>
                </a:lnTo>
                <a:lnTo>
                  <a:pt x="0" y="214792"/>
                </a:lnTo>
              </a:path>
            </a:pathLst>
          </a:custGeom>
          <a:ln w="3673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3513377" y="1507366"/>
            <a:ext cx="127635" cy="2724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076769" y="2523327"/>
            <a:ext cx="429895" cy="429895"/>
          </a:xfrm>
          <a:custGeom>
            <a:avLst/>
            <a:gdLst/>
            <a:ahLst/>
            <a:cxnLst/>
            <a:rect l="l" t="t" r="r" b="b"/>
            <a:pathLst>
              <a:path w="429894" h="429894">
                <a:moveTo>
                  <a:pt x="0" y="214792"/>
                </a:moveTo>
                <a:lnTo>
                  <a:pt x="14081" y="140848"/>
                </a:lnTo>
                <a:lnTo>
                  <a:pt x="51053" y="77464"/>
                </a:lnTo>
                <a:lnTo>
                  <a:pt x="107396" y="28163"/>
                </a:lnTo>
                <a:lnTo>
                  <a:pt x="142600" y="12329"/>
                </a:lnTo>
                <a:lnTo>
                  <a:pt x="214777" y="0"/>
                </a:lnTo>
                <a:lnTo>
                  <a:pt x="251749" y="3520"/>
                </a:lnTo>
                <a:lnTo>
                  <a:pt x="322173" y="28163"/>
                </a:lnTo>
                <a:lnTo>
                  <a:pt x="353872" y="51053"/>
                </a:lnTo>
                <a:lnTo>
                  <a:pt x="401406" y="107396"/>
                </a:lnTo>
                <a:lnTo>
                  <a:pt x="426049" y="177820"/>
                </a:lnTo>
                <a:lnTo>
                  <a:pt x="429569" y="214792"/>
                </a:lnTo>
                <a:lnTo>
                  <a:pt x="426049" y="251764"/>
                </a:lnTo>
                <a:lnTo>
                  <a:pt x="401406" y="322173"/>
                </a:lnTo>
                <a:lnTo>
                  <a:pt x="353872" y="378515"/>
                </a:lnTo>
                <a:lnTo>
                  <a:pt x="322173" y="401406"/>
                </a:lnTo>
                <a:lnTo>
                  <a:pt x="251749" y="426049"/>
                </a:lnTo>
                <a:lnTo>
                  <a:pt x="214777" y="429569"/>
                </a:lnTo>
                <a:lnTo>
                  <a:pt x="177805" y="426049"/>
                </a:lnTo>
                <a:lnTo>
                  <a:pt x="107396" y="401406"/>
                </a:lnTo>
                <a:lnTo>
                  <a:pt x="51053" y="352104"/>
                </a:lnTo>
                <a:lnTo>
                  <a:pt x="14081" y="288737"/>
                </a:lnTo>
                <a:lnTo>
                  <a:pt x="3520" y="251764"/>
                </a:lnTo>
                <a:lnTo>
                  <a:pt x="0" y="214792"/>
                </a:lnTo>
              </a:path>
            </a:pathLst>
          </a:custGeom>
          <a:ln w="3673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2224645" y="2597140"/>
            <a:ext cx="127635" cy="2724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367247" y="2523327"/>
            <a:ext cx="429895" cy="429895"/>
          </a:xfrm>
          <a:custGeom>
            <a:avLst/>
            <a:gdLst/>
            <a:ahLst/>
            <a:cxnLst/>
            <a:rect l="l" t="t" r="r" b="b"/>
            <a:pathLst>
              <a:path w="429895" h="429894">
                <a:moveTo>
                  <a:pt x="0" y="214792"/>
                </a:moveTo>
                <a:lnTo>
                  <a:pt x="12329" y="140848"/>
                </a:lnTo>
                <a:lnTo>
                  <a:pt x="49301" y="77464"/>
                </a:lnTo>
                <a:lnTo>
                  <a:pt x="107396" y="28163"/>
                </a:lnTo>
                <a:lnTo>
                  <a:pt x="177820" y="3520"/>
                </a:lnTo>
                <a:lnTo>
                  <a:pt x="214792" y="0"/>
                </a:lnTo>
                <a:lnTo>
                  <a:pt x="251764" y="3520"/>
                </a:lnTo>
                <a:lnTo>
                  <a:pt x="322188" y="28163"/>
                </a:lnTo>
                <a:lnTo>
                  <a:pt x="378515" y="77464"/>
                </a:lnTo>
                <a:lnTo>
                  <a:pt x="415488" y="140848"/>
                </a:lnTo>
                <a:lnTo>
                  <a:pt x="426049" y="177820"/>
                </a:lnTo>
                <a:lnTo>
                  <a:pt x="429569" y="214792"/>
                </a:lnTo>
                <a:lnTo>
                  <a:pt x="426049" y="251764"/>
                </a:lnTo>
                <a:lnTo>
                  <a:pt x="415488" y="288737"/>
                </a:lnTo>
                <a:lnTo>
                  <a:pt x="378515" y="352104"/>
                </a:lnTo>
                <a:lnTo>
                  <a:pt x="322188" y="401406"/>
                </a:lnTo>
                <a:lnTo>
                  <a:pt x="251764" y="426049"/>
                </a:lnTo>
                <a:lnTo>
                  <a:pt x="214792" y="429569"/>
                </a:lnTo>
                <a:lnTo>
                  <a:pt x="177820" y="426049"/>
                </a:lnTo>
                <a:lnTo>
                  <a:pt x="107396" y="401406"/>
                </a:lnTo>
                <a:lnTo>
                  <a:pt x="75712" y="378515"/>
                </a:lnTo>
                <a:lnTo>
                  <a:pt x="28178" y="322173"/>
                </a:lnTo>
                <a:lnTo>
                  <a:pt x="3520" y="251764"/>
                </a:lnTo>
                <a:lnTo>
                  <a:pt x="0" y="214792"/>
                </a:lnTo>
              </a:path>
            </a:pathLst>
          </a:custGeom>
          <a:ln w="3673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3513377" y="2597140"/>
            <a:ext cx="127635" cy="2724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2291547" y="1646570"/>
            <a:ext cx="1129030" cy="1091565"/>
          </a:xfrm>
          <a:custGeom>
            <a:avLst/>
            <a:gdLst/>
            <a:ahLst/>
            <a:cxnLst/>
            <a:rect l="l" t="t" r="r" b="b"/>
            <a:pathLst>
              <a:path w="1129029" h="1091564">
                <a:moveTo>
                  <a:pt x="214792" y="0"/>
                </a:moveTo>
                <a:lnTo>
                  <a:pt x="1075700" y="0"/>
                </a:lnTo>
              </a:path>
              <a:path w="1129029" h="1091564">
                <a:moveTo>
                  <a:pt x="0" y="216545"/>
                </a:moveTo>
                <a:lnTo>
                  <a:pt x="0" y="876757"/>
                </a:lnTo>
              </a:path>
              <a:path w="1129029" h="1091564">
                <a:moveTo>
                  <a:pt x="214792" y="1091549"/>
                </a:moveTo>
                <a:lnTo>
                  <a:pt x="1075700" y="1091549"/>
                </a:lnTo>
              </a:path>
              <a:path w="1129029" h="1091564">
                <a:moveTo>
                  <a:pt x="135575" y="169011"/>
                </a:moveTo>
                <a:lnTo>
                  <a:pt x="1128521" y="950701"/>
                </a:lnTo>
              </a:path>
            </a:pathLst>
          </a:custGeom>
          <a:ln w="18369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3920056" y="975668"/>
            <a:ext cx="1556385" cy="2724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5">
                <a:solidFill>
                  <a:srgbClr val="FFFFFF"/>
                </a:solidFill>
                <a:latin typeface="Arial"/>
                <a:cs typeface="Arial"/>
              </a:rPr>
              <a:t>adjacent</a:t>
            </a:r>
            <a:r>
              <a:rPr dirty="0" sz="1600" spc="-3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5">
                <a:solidFill>
                  <a:srgbClr val="FFFFFF"/>
                </a:solidFill>
                <a:latin typeface="Arial"/>
                <a:cs typeface="Arial"/>
              </a:rPr>
              <a:t>vertices</a:t>
            </a:r>
            <a:endParaRPr sz="16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036252" y="1398200"/>
            <a:ext cx="493395" cy="111760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1600" spc="-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16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4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1600" spc="-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16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395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1600" spc="-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16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036252" y="2665797"/>
            <a:ext cx="493395" cy="2724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16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16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10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217416" y="3079294"/>
            <a:ext cx="1794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8.2: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Adjacent</a:t>
            </a:r>
            <a:r>
              <a:rPr dirty="0" sz="1200" spc="-10">
                <a:latin typeface="Times New Roman"/>
                <a:cs typeface="Times New Roman"/>
              </a:rPr>
              <a:t> vertices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14400" y="4367860"/>
            <a:ext cx="609536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In 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undirected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incident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endpoint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14400" y="4551311"/>
            <a:ext cx="104648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edge.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2019300" y="5649569"/>
            <a:ext cx="4191000" cy="1464310"/>
            <a:chOff x="2019300" y="5649569"/>
            <a:chExt cx="4191000" cy="1464310"/>
          </a:xfrm>
        </p:grpSpPr>
        <p:sp>
          <p:nvSpPr>
            <p:cNvPr id="22" name="object 22"/>
            <p:cNvSpPr/>
            <p:nvPr/>
          </p:nvSpPr>
          <p:spPr>
            <a:xfrm>
              <a:off x="2019300" y="5649569"/>
              <a:ext cx="4191000" cy="1464310"/>
            </a:xfrm>
            <a:custGeom>
              <a:avLst/>
              <a:gdLst/>
              <a:ahLst/>
              <a:cxnLst/>
              <a:rect l="l" t="t" r="r" b="b"/>
              <a:pathLst>
                <a:path w="4191000" h="1464309">
                  <a:moveTo>
                    <a:pt x="4190801" y="0"/>
                  </a:moveTo>
                  <a:lnTo>
                    <a:pt x="0" y="0"/>
                  </a:lnTo>
                  <a:lnTo>
                    <a:pt x="0" y="1463954"/>
                  </a:lnTo>
                  <a:lnTo>
                    <a:pt x="4190801" y="1463954"/>
                  </a:lnTo>
                  <a:lnTo>
                    <a:pt x="41908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153046" y="5764738"/>
              <a:ext cx="360680" cy="360680"/>
            </a:xfrm>
            <a:custGeom>
              <a:avLst/>
              <a:gdLst/>
              <a:ahLst/>
              <a:cxnLst/>
              <a:rect l="l" t="t" r="r" b="b"/>
              <a:pathLst>
                <a:path w="360680" h="360679">
                  <a:moveTo>
                    <a:pt x="0" y="179511"/>
                  </a:moveTo>
                  <a:lnTo>
                    <a:pt x="10302" y="117713"/>
                  </a:lnTo>
                  <a:lnTo>
                    <a:pt x="42671" y="64739"/>
                  </a:lnTo>
                  <a:lnTo>
                    <a:pt x="89763" y="25008"/>
                  </a:lnTo>
                  <a:lnTo>
                    <a:pt x="148620" y="2941"/>
                  </a:lnTo>
                  <a:lnTo>
                    <a:pt x="179527" y="0"/>
                  </a:lnTo>
                  <a:lnTo>
                    <a:pt x="210433" y="2941"/>
                  </a:lnTo>
                  <a:lnTo>
                    <a:pt x="269290" y="25008"/>
                  </a:lnTo>
                  <a:lnTo>
                    <a:pt x="317845" y="64739"/>
                  </a:lnTo>
                  <a:lnTo>
                    <a:pt x="350215" y="117713"/>
                  </a:lnTo>
                  <a:lnTo>
                    <a:pt x="360517" y="179511"/>
                  </a:lnTo>
                  <a:lnTo>
                    <a:pt x="357576" y="210418"/>
                  </a:lnTo>
                  <a:lnTo>
                    <a:pt x="336971" y="269275"/>
                  </a:lnTo>
                  <a:lnTo>
                    <a:pt x="294299" y="317845"/>
                  </a:lnTo>
                  <a:lnTo>
                    <a:pt x="241325" y="350215"/>
                  </a:lnTo>
                  <a:lnTo>
                    <a:pt x="179527" y="360517"/>
                  </a:lnTo>
                  <a:lnTo>
                    <a:pt x="148620" y="357576"/>
                  </a:lnTo>
                  <a:lnTo>
                    <a:pt x="89763" y="335493"/>
                  </a:lnTo>
                  <a:lnTo>
                    <a:pt x="42671" y="295762"/>
                  </a:lnTo>
                  <a:lnTo>
                    <a:pt x="10302" y="241325"/>
                  </a:lnTo>
                  <a:lnTo>
                    <a:pt x="0" y="17951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/>
          <p:cNvSpPr txBox="1"/>
          <p:nvPr/>
        </p:nvSpPr>
        <p:spPr>
          <a:xfrm>
            <a:off x="2276651" y="5825818"/>
            <a:ext cx="108585" cy="2317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35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3231657" y="5764738"/>
            <a:ext cx="359410" cy="360680"/>
          </a:xfrm>
          <a:custGeom>
            <a:avLst/>
            <a:gdLst/>
            <a:ahLst/>
            <a:cxnLst/>
            <a:rect l="l" t="t" r="r" b="b"/>
            <a:pathLst>
              <a:path w="359410" h="360679">
                <a:moveTo>
                  <a:pt x="0" y="179511"/>
                </a:moveTo>
                <a:lnTo>
                  <a:pt x="10302" y="117713"/>
                </a:lnTo>
                <a:lnTo>
                  <a:pt x="41208" y="64739"/>
                </a:lnTo>
                <a:lnTo>
                  <a:pt x="91241" y="25008"/>
                </a:lnTo>
                <a:lnTo>
                  <a:pt x="148620" y="2941"/>
                </a:lnTo>
                <a:lnTo>
                  <a:pt x="179527" y="0"/>
                </a:lnTo>
                <a:lnTo>
                  <a:pt x="211896" y="2941"/>
                </a:lnTo>
                <a:lnTo>
                  <a:pt x="269290" y="25008"/>
                </a:lnTo>
                <a:lnTo>
                  <a:pt x="317845" y="64739"/>
                </a:lnTo>
                <a:lnTo>
                  <a:pt x="348752" y="117713"/>
                </a:lnTo>
                <a:lnTo>
                  <a:pt x="359054" y="179511"/>
                </a:lnTo>
                <a:lnTo>
                  <a:pt x="357576" y="210418"/>
                </a:lnTo>
                <a:lnTo>
                  <a:pt x="335508" y="269275"/>
                </a:lnTo>
                <a:lnTo>
                  <a:pt x="295777" y="317845"/>
                </a:lnTo>
                <a:lnTo>
                  <a:pt x="241325" y="350215"/>
                </a:lnTo>
                <a:lnTo>
                  <a:pt x="179527" y="360517"/>
                </a:lnTo>
                <a:lnTo>
                  <a:pt x="148620" y="357576"/>
                </a:lnTo>
                <a:lnTo>
                  <a:pt x="91241" y="335493"/>
                </a:lnTo>
                <a:lnTo>
                  <a:pt x="41208" y="295762"/>
                </a:lnTo>
                <a:lnTo>
                  <a:pt x="10302" y="241325"/>
                </a:lnTo>
                <a:lnTo>
                  <a:pt x="0" y="179511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3355262" y="5825818"/>
            <a:ext cx="108585" cy="2317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350">
              <a:latin typeface="Arial"/>
              <a:cs typeface="Arial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2153046" y="6677066"/>
            <a:ext cx="360680" cy="360680"/>
          </a:xfrm>
          <a:custGeom>
            <a:avLst/>
            <a:gdLst/>
            <a:ahLst/>
            <a:cxnLst/>
            <a:rect l="l" t="t" r="r" b="b"/>
            <a:pathLst>
              <a:path w="360680" h="360679">
                <a:moveTo>
                  <a:pt x="0" y="179527"/>
                </a:moveTo>
                <a:lnTo>
                  <a:pt x="10302" y="117713"/>
                </a:lnTo>
                <a:lnTo>
                  <a:pt x="42671" y="64739"/>
                </a:lnTo>
                <a:lnTo>
                  <a:pt x="89763" y="25008"/>
                </a:lnTo>
                <a:lnTo>
                  <a:pt x="148620" y="2941"/>
                </a:lnTo>
                <a:lnTo>
                  <a:pt x="179527" y="0"/>
                </a:lnTo>
                <a:lnTo>
                  <a:pt x="210433" y="2941"/>
                </a:lnTo>
                <a:lnTo>
                  <a:pt x="269290" y="25008"/>
                </a:lnTo>
                <a:lnTo>
                  <a:pt x="317845" y="64739"/>
                </a:lnTo>
                <a:lnTo>
                  <a:pt x="350215" y="117713"/>
                </a:lnTo>
                <a:lnTo>
                  <a:pt x="360517" y="179527"/>
                </a:lnTo>
                <a:lnTo>
                  <a:pt x="357576" y="210418"/>
                </a:lnTo>
                <a:lnTo>
                  <a:pt x="336971" y="270753"/>
                </a:lnTo>
                <a:lnTo>
                  <a:pt x="294299" y="317845"/>
                </a:lnTo>
                <a:lnTo>
                  <a:pt x="241325" y="350215"/>
                </a:lnTo>
                <a:lnTo>
                  <a:pt x="179527" y="360517"/>
                </a:lnTo>
                <a:lnTo>
                  <a:pt x="148620" y="357576"/>
                </a:lnTo>
                <a:lnTo>
                  <a:pt x="89763" y="336971"/>
                </a:lnTo>
                <a:lnTo>
                  <a:pt x="42671" y="295777"/>
                </a:lnTo>
                <a:lnTo>
                  <a:pt x="10302" y="241325"/>
                </a:lnTo>
                <a:lnTo>
                  <a:pt x="0" y="179527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2276651" y="6736674"/>
            <a:ext cx="108585" cy="2317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350">
              <a:latin typeface="Arial"/>
              <a:cs typeface="Arial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3231657" y="6677066"/>
            <a:ext cx="359410" cy="360680"/>
          </a:xfrm>
          <a:custGeom>
            <a:avLst/>
            <a:gdLst/>
            <a:ahLst/>
            <a:cxnLst/>
            <a:rect l="l" t="t" r="r" b="b"/>
            <a:pathLst>
              <a:path w="359410" h="360679">
                <a:moveTo>
                  <a:pt x="0" y="179527"/>
                </a:moveTo>
                <a:lnTo>
                  <a:pt x="10302" y="117713"/>
                </a:lnTo>
                <a:lnTo>
                  <a:pt x="41208" y="64739"/>
                </a:lnTo>
                <a:lnTo>
                  <a:pt x="91241" y="25008"/>
                </a:lnTo>
                <a:lnTo>
                  <a:pt x="148620" y="2941"/>
                </a:lnTo>
                <a:lnTo>
                  <a:pt x="179527" y="0"/>
                </a:lnTo>
                <a:lnTo>
                  <a:pt x="211896" y="2941"/>
                </a:lnTo>
                <a:lnTo>
                  <a:pt x="269290" y="25008"/>
                </a:lnTo>
                <a:lnTo>
                  <a:pt x="317845" y="64739"/>
                </a:lnTo>
                <a:lnTo>
                  <a:pt x="348752" y="117713"/>
                </a:lnTo>
                <a:lnTo>
                  <a:pt x="359054" y="179527"/>
                </a:lnTo>
                <a:lnTo>
                  <a:pt x="357576" y="210418"/>
                </a:lnTo>
                <a:lnTo>
                  <a:pt x="335508" y="270753"/>
                </a:lnTo>
                <a:lnTo>
                  <a:pt x="295777" y="317845"/>
                </a:lnTo>
                <a:lnTo>
                  <a:pt x="241325" y="350215"/>
                </a:lnTo>
                <a:lnTo>
                  <a:pt x="179527" y="360517"/>
                </a:lnTo>
                <a:lnTo>
                  <a:pt x="148620" y="357576"/>
                </a:lnTo>
                <a:lnTo>
                  <a:pt x="91241" y="336971"/>
                </a:lnTo>
                <a:lnTo>
                  <a:pt x="41208" y="295777"/>
                </a:lnTo>
                <a:lnTo>
                  <a:pt x="10302" y="241325"/>
                </a:lnTo>
                <a:lnTo>
                  <a:pt x="0" y="179527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 txBox="1"/>
          <p:nvPr/>
        </p:nvSpPr>
        <p:spPr>
          <a:xfrm>
            <a:off x="3355262" y="6736674"/>
            <a:ext cx="108585" cy="2317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350">
              <a:latin typeface="Arial"/>
              <a:cs typeface="Arial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2332573" y="5944250"/>
            <a:ext cx="943610" cy="912494"/>
          </a:xfrm>
          <a:custGeom>
            <a:avLst/>
            <a:gdLst/>
            <a:ahLst/>
            <a:cxnLst/>
            <a:rect l="l" t="t" r="r" b="b"/>
            <a:pathLst>
              <a:path w="943610" h="912495">
                <a:moveTo>
                  <a:pt x="180990" y="0"/>
                </a:moveTo>
                <a:lnTo>
                  <a:pt x="899083" y="0"/>
                </a:lnTo>
              </a:path>
              <a:path w="943610" h="912495">
                <a:moveTo>
                  <a:pt x="0" y="181005"/>
                </a:moveTo>
                <a:lnTo>
                  <a:pt x="0" y="732815"/>
                </a:lnTo>
              </a:path>
              <a:path w="943610" h="912495">
                <a:moveTo>
                  <a:pt x="180990" y="912342"/>
                </a:moveTo>
                <a:lnTo>
                  <a:pt x="899083" y="912342"/>
                </a:lnTo>
              </a:path>
              <a:path w="943610" h="912495">
                <a:moveTo>
                  <a:pt x="113309" y="139796"/>
                </a:moveTo>
                <a:lnTo>
                  <a:pt x="943234" y="794613"/>
                </a:lnTo>
              </a:path>
            </a:pathLst>
          </a:custGeom>
          <a:ln w="15353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3874704" y="5800799"/>
            <a:ext cx="2172970" cy="2317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e1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incident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on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vertices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35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119197" y="6171617"/>
            <a:ext cx="204470" cy="2317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e1</a:t>
            </a:r>
            <a:endParaRPr sz="13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852007" y="5688964"/>
            <a:ext cx="204470" cy="2317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e2</a:t>
            </a:r>
            <a:endParaRPr sz="135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852007" y="6171617"/>
            <a:ext cx="204470" cy="2317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e3</a:t>
            </a:r>
            <a:endParaRPr sz="135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852007" y="6820551"/>
            <a:ext cx="204470" cy="2317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e4</a:t>
            </a:r>
            <a:endParaRPr sz="135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874703" y="6007151"/>
            <a:ext cx="2172970" cy="6673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55900"/>
              </a:lnSpc>
              <a:spcBef>
                <a:spcPts val="100"/>
              </a:spcBef>
            </a:pP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e2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incident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on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vertices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3 </a:t>
            </a:r>
            <a:r>
              <a:rPr dirty="0" sz="1350" spc="-3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e3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incident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on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vertices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35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874703" y="6763161"/>
            <a:ext cx="2172970" cy="2317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e4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incident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on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vertices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1350" spc="-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35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827425" y="7179348"/>
            <a:ext cx="25749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8.3: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Incidence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edges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914400" y="8467800"/>
            <a:ext cx="581914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out-degree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vertex.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778790" y="8467800"/>
            <a:ext cx="50038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 marL="1270"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Numb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14400" y="8651100"/>
            <a:ext cx="216852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 </a:t>
            </a:r>
            <a:r>
              <a:rPr dirty="0" sz="1200" spc="-10">
                <a:latin typeface="Times New Roman"/>
                <a:cs typeface="Times New Roman"/>
              </a:rPr>
              <a:t>coming</a:t>
            </a:r>
            <a:r>
              <a:rPr dirty="0" sz="1200" spc="-5">
                <a:latin typeface="Times New Roman"/>
                <a:cs typeface="Times New Roman"/>
              </a:rPr>
              <a:t> in 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in-degree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070082" y="8592095"/>
            <a:ext cx="40849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an undirected </a:t>
            </a:r>
            <a:r>
              <a:rPr dirty="0" sz="1200" spc="-10">
                <a:latin typeface="Times New Roman"/>
                <a:cs typeface="Times New Roman"/>
              </a:rPr>
              <a:t>graph,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just talk of </a:t>
            </a:r>
            <a:r>
              <a:rPr dirty="0" sz="1200" spc="-10">
                <a:latin typeface="Times New Roman"/>
                <a:cs typeface="Times New Roman"/>
              </a:rPr>
              <a:t>degree</a:t>
            </a:r>
            <a:r>
              <a:rPr dirty="0" sz="1200" spc="-5">
                <a:latin typeface="Times New Roman"/>
                <a:cs typeface="Times New Roman"/>
              </a:rPr>
              <a:t> of a </a:t>
            </a:r>
            <a:r>
              <a:rPr dirty="0" sz="1200" spc="-10">
                <a:latin typeface="Times New Roman"/>
                <a:cs typeface="Times New Roman"/>
              </a:rPr>
              <a:t>vertex.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01698" y="8775547"/>
            <a:ext cx="2428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incident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vertex.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17853" y="7229652"/>
            <a:ext cx="3934460" cy="144780"/>
          </a:xfrm>
          <a:custGeom>
            <a:avLst/>
            <a:gdLst/>
            <a:ahLst/>
            <a:cxnLst/>
            <a:rect l="l" t="t" r="r" b="b"/>
            <a:pathLst>
              <a:path w="3934460" h="144779">
                <a:moveTo>
                  <a:pt x="3933977" y="0"/>
                </a:moveTo>
                <a:lnTo>
                  <a:pt x="0" y="0"/>
                </a:lnTo>
                <a:lnTo>
                  <a:pt x="0" y="144691"/>
                </a:lnTo>
                <a:lnTo>
                  <a:pt x="3933977" y="144691"/>
                </a:lnTo>
                <a:lnTo>
                  <a:pt x="3933977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3406711" y="6598869"/>
            <a:ext cx="1416685" cy="330200"/>
          </a:xfrm>
          <a:custGeom>
            <a:avLst/>
            <a:gdLst/>
            <a:ahLst/>
            <a:cxnLst/>
            <a:rect l="l" t="t" r="r" b="b"/>
            <a:pathLst>
              <a:path w="1416685" h="330200">
                <a:moveTo>
                  <a:pt x="219240" y="0"/>
                </a:moveTo>
                <a:lnTo>
                  <a:pt x="0" y="0"/>
                </a:lnTo>
                <a:lnTo>
                  <a:pt x="0" y="329615"/>
                </a:lnTo>
                <a:lnTo>
                  <a:pt x="219240" y="329615"/>
                </a:lnTo>
                <a:lnTo>
                  <a:pt x="219240" y="0"/>
                </a:lnTo>
                <a:close/>
              </a:path>
              <a:path w="1416685" h="330200">
                <a:moveTo>
                  <a:pt x="1416164" y="32194"/>
                </a:moveTo>
                <a:lnTo>
                  <a:pt x="244602" y="32194"/>
                </a:lnTo>
                <a:lnTo>
                  <a:pt x="244602" y="172643"/>
                </a:lnTo>
                <a:lnTo>
                  <a:pt x="1416164" y="172643"/>
                </a:lnTo>
                <a:lnTo>
                  <a:pt x="1416164" y="32194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2534031" y="5270017"/>
            <a:ext cx="3161665" cy="330200"/>
          </a:xfrm>
          <a:custGeom>
            <a:avLst/>
            <a:gdLst/>
            <a:ahLst/>
            <a:cxnLst/>
            <a:rect l="l" t="t" r="r" b="b"/>
            <a:pathLst>
              <a:path w="3161665" h="330200">
                <a:moveTo>
                  <a:pt x="219240" y="0"/>
                </a:moveTo>
                <a:lnTo>
                  <a:pt x="0" y="0"/>
                </a:lnTo>
                <a:lnTo>
                  <a:pt x="0" y="329615"/>
                </a:lnTo>
                <a:lnTo>
                  <a:pt x="219240" y="329615"/>
                </a:lnTo>
                <a:lnTo>
                  <a:pt x="219240" y="0"/>
                </a:lnTo>
                <a:close/>
              </a:path>
              <a:path w="3161665" h="330200">
                <a:moveTo>
                  <a:pt x="1676107" y="0"/>
                </a:moveTo>
                <a:lnTo>
                  <a:pt x="244602" y="0"/>
                </a:lnTo>
                <a:lnTo>
                  <a:pt x="244602" y="212407"/>
                </a:lnTo>
                <a:lnTo>
                  <a:pt x="1676107" y="212407"/>
                </a:lnTo>
                <a:lnTo>
                  <a:pt x="1676107" y="0"/>
                </a:lnTo>
                <a:close/>
              </a:path>
              <a:path w="3161665" h="330200">
                <a:moveTo>
                  <a:pt x="3161525" y="32194"/>
                </a:moveTo>
                <a:lnTo>
                  <a:pt x="1701469" y="32194"/>
                </a:lnTo>
                <a:lnTo>
                  <a:pt x="1701469" y="172643"/>
                </a:lnTo>
                <a:lnTo>
                  <a:pt x="3161525" y="172643"/>
                </a:lnTo>
                <a:lnTo>
                  <a:pt x="3161525" y="32194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11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590800" y="938733"/>
            <a:ext cx="3048000" cy="3145155"/>
            <a:chOff x="2590800" y="938733"/>
            <a:chExt cx="3048000" cy="3145155"/>
          </a:xfrm>
        </p:grpSpPr>
        <p:sp>
          <p:nvSpPr>
            <p:cNvPr id="7" name="object 7"/>
            <p:cNvSpPr/>
            <p:nvPr/>
          </p:nvSpPr>
          <p:spPr>
            <a:xfrm>
              <a:off x="2590800" y="938733"/>
              <a:ext cx="3048000" cy="3145155"/>
            </a:xfrm>
            <a:custGeom>
              <a:avLst/>
              <a:gdLst/>
              <a:ahLst/>
              <a:cxnLst/>
              <a:rect l="l" t="t" r="r" b="b"/>
              <a:pathLst>
                <a:path w="3048000" h="3145154">
                  <a:moveTo>
                    <a:pt x="3047801" y="0"/>
                  </a:moveTo>
                  <a:lnTo>
                    <a:pt x="0" y="0"/>
                  </a:lnTo>
                  <a:lnTo>
                    <a:pt x="0" y="3145078"/>
                  </a:lnTo>
                  <a:lnTo>
                    <a:pt x="3047801" y="3145078"/>
                  </a:lnTo>
                  <a:lnTo>
                    <a:pt x="30478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124535" y="1509837"/>
              <a:ext cx="2273935" cy="2011045"/>
            </a:xfrm>
            <a:custGeom>
              <a:avLst/>
              <a:gdLst/>
              <a:ahLst/>
              <a:cxnLst/>
              <a:rect l="l" t="t" r="r" b="b"/>
              <a:pathLst>
                <a:path w="2273935" h="2011045">
                  <a:moveTo>
                    <a:pt x="0" y="286207"/>
                  </a:moveTo>
                  <a:lnTo>
                    <a:pt x="4663" y="237347"/>
                  </a:lnTo>
                  <a:lnTo>
                    <a:pt x="16291" y="186156"/>
                  </a:lnTo>
                  <a:lnTo>
                    <a:pt x="37231" y="141945"/>
                  </a:lnTo>
                  <a:lnTo>
                    <a:pt x="67482" y="100065"/>
                  </a:lnTo>
                  <a:lnTo>
                    <a:pt x="102382" y="65150"/>
                  </a:lnTo>
                  <a:lnTo>
                    <a:pt x="141945" y="37231"/>
                  </a:lnTo>
                  <a:lnTo>
                    <a:pt x="186156" y="16291"/>
                  </a:lnTo>
                  <a:lnTo>
                    <a:pt x="235031" y="4648"/>
                  </a:lnTo>
                  <a:lnTo>
                    <a:pt x="286222" y="0"/>
                  </a:lnTo>
                  <a:lnTo>
                    <a:pt x="335081" y="4648"/>
                  </a:lnTo>
                  <a:lnTo>
                    <a:pt x="383941" y="16291"/>
                  </a:lnTo>
                  <a:lnTo>
                    <a:pt x="428167" y="37231"/>
                  </a:lnTo>
                  <a:lnTo>
                    <a:pt x="467715" y="65150"/>
                  </a:lnTo>
                  <a:lnTo>
                    <a:pt x="502615" y="100065"/>
                  </a:lnTo>
                  <a:lnTo>
                    <a:pt x="532866" y="141945"/>
                  </a:lnTo>
                  <a:lnTo>
                    <a:pt x="553821" y="186156"/>
                  </a:lnTo>
                  <a:lnTo>
                    <a:pt x="565449" y="237347"/>
                  </a:lnTo>
                  <a:lnTo>
                    <a:pt x="570113" y="286207"/>
                  </a:lnTo>
                  <a:lnTo>
                    <a:pt x="565449" y="335081"/>
                  </a:lnTo>
                  <a:lnTo>
                    <a:pt x="553821" y="381624"/>
                  </a:lnTo>
                  <a:lnTo>
                    <a:pt x="532866" y="428152"/>
                  </a:lnTo>
                  <a:lnTo>
                    <a:pt x="502615" y="467715"/>
                  </a:lnTo>
                  <a:lnTo>
                    <a:pt x="467715" y="502615"/>
                  </a:lnTo>
                  <a:lnTo>
                    <a:pt x="428167" y="530550"/>
                  </a:lnTo>
                  <a:lnTo>
                    <a:pt x="383941" y="551489"/>
                  </a:lnTo>
                  <a:lnTo>
                    <a:pt x="335081" y="565449"/>
                  </a:lnTo>
                  <a:lnTo>
                    <a:pt x="286222" y="570097"/>
                  </a:lnTo>
                  <a:lnTo>
                    <a:pt x="235031" y="565449"/>
                  </a:lnTo>
                  <a:lnTo>
                    <a:pt x="186156" y="551489"/>
                  </a:lnTo>
                  <a:lnTo>
                    <a:pt x="141945" y="530550"/>
                  </a:lnTo>
                  <a:lnTo>
                    <a:pt x="102382" y="502615"/>
                  </a:lnTo>
                  <a:lnTo>
                    <a:pt x="67482" y="467715"/>
                  </a:lnTo>
                  <a:lnTo>
                    <a:pt x="37231" y="428152"/>
                  </a:lnTo>
                  <a:lnTo>
                    <a:pt x="16291" y="381624"/>
                  </a:lnTo>
                  <a:lnTo>
                    <a:pt x="4663" y="335081"/>
                  </a:lnTo>
                  <a:lnTo>
                    <a:pt x="0" y="286207"/>
                  </a:lnTo>
                </a:path>
                <a:path w="2273935" h="2011045">
                  <a:moveTo>
                    <a:pt x="1703329" y="286207"/>
                  </a:moveTo>
                  <a:lnTo>
                    <a:pt x="1707977" y="237347"/>
                  </a:lnTo>
                  <a:lnTo>
                    <a:pt x="1721937" y="186156"/>
                  </a:lnTo>
                  <a:lnTo>
                    <a:pt x="1745208" y="141945"/>
                  </a:lnTo>
                  <a:lnTo>
                    <a:pt x="1773128" y="100065"/>
                  </a:lnTo>
                  <a:lnTo>
                    <a:pt x="1808043" y="65150"/>
                  </a:lnTo>
                  <a:lnTo>
                    <a:pt x="1847590" y="37231"/>
                  </a:lnTo>
                  <a:lnTo>
                    <a:pt x="1894133" y="16291"/>
                  </a:lnTo>
                  <a:lnTo>
                    <a:pt x="1940676" y="4648"/>
                  </a:lnTo>
                  <a:lnTo>
                    <a:pt x="1989536" y="0"/>
                  </a:lnTo>
                  <a:lnTo>
                    <a:pt x="2038410" y="4648"/>
                  </a:lnTo>
                  <a:lnTo>
                    <a:pt x="2087270" y="16291"/>
                  </a:lnTo>
                  <a:lnTo>
                    <a:pt x="2131481" y="37231"/>
                  </a:lnTo>
                  <a:lnTo>
                    <a:pt x="2173376" y="65150"/>
                  </a:lnTo>
                  <a:lnTo>
                    <a:pt x="2208275" y="100065"/>
                  </a:lnTo>
                  <a:lnTo>
                    <a:pt x="2236195" y="141945"/>
                  </a:lnTo>
                  <a:lnTo>
                    <a:pt x="2257135" y="186156"/>
                  </a:lnTo>
                  <a:lnTo>
                    <a:pt x="2268778" y="237347"/>
                  </a:lnTo>
                  <a:lnTo>
                    <a:pt x="2273426" y="286207"/>
                  </a:lnTo>
                  <a:lnTo>
                    <a:pt x="2268778" y="335081"/>
                  </a:lnTo>
                  <a:lnTo>
                    <a:pt x="2257135" y="381624"/>
                  </a:lnTo>
                  <a:lnTo>
                    <a:pt x="2236195" y="428152"/>
                  </a:lnTo>
                  <a:lnTo>
                    <a:pt x="2208275" y="467715"/>
                  </a:lnTo>
                  <a:lnTo>
                    <a:pt x="2173376" y="502615"/>
                  </a:lnTo>
                  <a:lnTo>
                    <a:pt x="2131481" y="530550"/>
                  </a:lnTo>
                  <a:lnTo>
                    <a:pt x="2087270" y="551489"/>
                  </a:lnTo>
                  <a:lnTo>
                    <a:pt x="2038410" y="565449"/>
                  </a:lnTo>
                  <a:lnTo>
                    <a:pt x="1989536" y="570097"/>
                  </a:lnTo>
                  <a:lnTo>
                    <a:pt x="1940676" y="565449"/>
                  </a:lnTo>
                  <a:lnTo>
                    <a:pt x="1894133" y="551489"/>
                  </a:lnTo>
                  <a:lnTo>
                    <a:pt x="1847590" y="530550"/>
                  </a:lnTo>
                  <a:lnTo>
                    <a:pt x="1808043" y="502615"/>
                  </a:lnTo>
                  <a:lnTo>
                    <a:pt x="1773128" y="467715"/>
                  </a:lnTo>
                  <a:lnTo>
                    <a:pt x="1745208" y="428152"/>
                  </a:lnTo>
                  <a:lnTo>
                    <a:pt x="1721937" y="381624"/>
                  </a:lnTo>
                  <a:lnTo>
                    <a:pt x="1707977" y="335081"/>
                  </a:lnTo>
                  <a:lnTo>
                    <a:pt x="1703329" y="286207"/>
                  </a:lnTo>
                </a:path>
                <a:path w="2273935" h="2011045">
                  <a:moveTo>
                    <a:pt x="0" y="1728917"/>
                  </a:moveTo>
                  <a:lnTo>
                    <a:pt x="4663" y="1675394"/>
                  </a:lnTo>
                  <a:lnTo>
                    <a:pt x="16291" y="1628866"/>
                  </a:lnTo>
                  <a:lnTo>
                    <a:pt x="37231" y="1584655"/>
                  </a:lnTo>
                  <a:lnTo>
                    <a:pt x="67482" y="1542760"/>
                  </a:lnTo>
                  <a:lnTo>
                    <a:pt x="102382" y="1507860"/>
                  </a:lnTo>
                  <a:lnTo>
                    <a:pt x="141945" y="1479941"/>
                  </a:lnTo>
                  <a:lnTo>
                    <a:pt x="186156" y="1458986"/>
                  </a:lnTo>
                  <a:lnTo>
                    <a:pt x="235031" y="1447358"/>
                  </a:lnTo>
                  <a:lnTo>
                    <a:pt x="286222" y="1442709"/>
                  </a:lnTo>
                  <a:lnTo>
                    <a:pt x="335081" y="1447358"/>
                  </a:lnTo>
                  <a:lnTo>
                    <a:pt x="383941" y="1458986"/>
                  </a:lnTo>
                  <a:lnTo>
                    <a:pt x="428167" y="1479941"/>
                  </a:lnTo>
                  <a:lnTo>
                    <a:pt x="467715" y="1507860"/>
                  </a:lnTo>
                  <a:lnTo>
                    <a:pt x="502615" y="1542760"/>
                  </a:lnTo>
                  <a:lnTo>
                    <a:pt x="532866" y="1584655"/>
                  </a:lnTo>
                  <a:lnTo>
                    <a:pt x="553821" y="1628866"/>
                  </a:lnTo>
                  <a:lnTo>
                    <a:pt x="565449" y="1675394"/>
                  </a:lnTo>
                  <a:lnTo>
                    <a:pt x="570113" y="1728917"/>
                  </a:lnTo>
                  <a:lnTo>
                    <a:pt x="565449" y="1777791"/>
                  </a:lnTo>
                  <a:lnTo>
                    <a:pt x="553821" y="1824319"/>
                  </a:lnTo>
                  <a:lnTo>
                    <a:pt x="532866" y="1870862"/>
                  </a:lnTo>
                  <a:lnTo>
                    <a:pt x="502615" y="1910425"/>
                  </a:lnTo>
                  <a:lnTo>
                    <a:pt x="467715" y="1945324"/>
                  </a:lnTo>
                  <a:lnTo>
                    <a:pt x="428167" y="1973244"/>
                  </a:lnTo>
                  <a:lnTo>
                    <a:pt x="383941" y="1994184"/>
                  </a:lnTo>
                  <a:lnTo>
                    <a:pt x="335081" y="2008159"/>
                  </a:lnTo>
                  <a:lnTo>
                    <a:pt x="286222" y="2010475"/>
                  </a:lnTo>
                  <a:lnTo>
                    <a:pt x="235031" y="2008159"/>
                  </a:lnTo>
                  <a:lnTo>
                    <a:pt x="186156" y="1994184"/>
                  </a:lnTo>
                  <a:lnTo>
                    <a:pt x="141945" y="1973244"/>
                  </a:lnTo>
                  <a:lnTo>
                    <a:pt x="102382" y="1945324"/>
                  </a:lnTo>
                  <a:lnTo>
                    <a:pt x="67482" y="1910425"/>
                  </a:lnTo>
                  <a:lnTo>
                    <a:pt x="37231" y="1870862"/>
                  </a:lnTo>
                  <a:lnTo>
                    <a:pt x="16291" y="1824319"/>
                  </a:lnTo>
                  <a:lnTo>
                    <a:pt x="4663" y="1777791"/>
                  </a:lnTo>
                  <a:lnTo>
                    <a:pt x="0" y="1728917"/>
                  </a:lnTo>
                </a:path>
                <a:path w="2273935" h="2011045">
                  <a:moveTo>
                    <a:pt x="1703329" y="1728917"/>
                  </a:moveTo>
                  <a:lnTo>
                    <a:pt x="1707977" y="1675394"/>
                  </a:lnTo>
                  <a:lnTo>
                    <a:pt x="1721937" y="1628866"/>
                  </a:lnTo>
                  <a:lnTo>
                    <a:pt x="1745208" y="1584655"/>
                  </a:lnTo>
                  <a:lnTo>
                    <a:pt x="1773128" y="1542760"/>
                  </a:lnTo>
                  <a:lnTo>
                    <a:pt x="1808043" y="1507860"/>
                  </a:lnTo>
                  <a:lnTo>
                    <a:pt x="1847590" y="1479941"/>
                  </a:lnTo>
                  <a:lnTo>
                    <a:pt x="1894133" y="1458986"/>
                  </a:lnTo>
                  <a:lnTo>
                    <a:pt x="1940676" y="1447358"/>
                  </a:lnTo>
                  <a:lnTo>
                    <a:pt x="1989536" y="1442709"/>
                  </a:lnTo>
                  <a:lnTo>
                    <a:pt x="2038410" y="1447358"/>
                  </a:lnTo>
                  <a:lnTo>
                    <a:pt x="2087270" y="1458986"/>
                  </a:lnTo>
                  <a:lnTo>
                    <a:pt x="2131481" y="1479941"/>
                  </a:lnTo>
                  <a:lnTo>
                    <a:pt x="2173376" y="1507860"/>
                  </a:lnTo>
                  <a:lnTo>
                    <a:pt x="2208275" y="1542760"/>
                  </a:lnTo>
                  <a:lnTo>
                    <a:pt x="2236195" y="1584655"/>
                  </a:lnTo>
                  <a:lnTo>
                    <a:pt x="2257135" y="1628866"/>
                  </a:lnTo>
                  <a:lnTo>
                    <a:pt x="2268778" y="1675394"/>
                  </a:lnTo>
                  <a:lnTo>
                    <a:pt x="2273426" y="1728917"/>
                  </a:lnTo>
                  <a:lnTo>
                    <a:pt x="2268778" y="1777791"/>
                  </a:lnTo>
                  <a:lnTo>
                    <a:pt x="2257135" y="1824319"/>
                  </a:lnTo>
                  <a:lnTo>
                    <a:pt x="2236195" y="1870862"/>
                  </a:lnTo>
                  <a:lnTo>
                    <a:pt x="2208275" y="1910425"/>
                  </a:lnTo>
                  <a:lnTo>
                    <a:pt x="2173376" y="1945324"/>
                  </a:lnTo>
                  <a:lnTo>
                    <a:pt x="2131481" y="1973244"/>
                  </a:lnTo>
                  <a:lnTo>
                    <a:pt x="2087270" y="1994184"/>
                  </a:lnTo>
                  <a:lnTo>
                    <a:pt x="2038410" y="2008159"/>
                  </a:lnTo>
                  <a:lnTo>
                    <a:pt x="1989536" y="2010475"/>
                  </a:lnTo>
                  <a:lnTo>
                    <a:pt x="1940676" y="2008159"/>
                  </a:lnTo>
                  <a:lnTo>
                    <a:pt x="1894133" y="1994184"/>
                  </a:lnTo>
                  <a:lnTo>
                    <a:pt x="1847590" y="1973244"/>
                  </a:lnTo>
                  <a:lnTo>
                    <a:pt x="1808043" y="1945324"/>
                  </a:lnTo>
                  <a:lnTo>
                    <a:pt x="1773128" y="1910425"/>
                  </a:lnTo>
                  <a:lnTo>
                    <a:pt x="1745208" y="1870862"/>
                  </a:lnTo>
                  <a:lnTo>
                    <a:pt x="1721937" y="1824319"/>
                  </a:lnTo>
                  <a:lnTo>
                    <a:pt x="1707977" y="1777791"/>
                  </a:lnTo>
                  <a:lnTo>
                    <a:pt x="1703329" y="1728917"/>
                  </a:lnTo>
                </a:path>
              </a:pathLst>
            </a:custGeom>
            <a:ln w="485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694648" y="1796044"/>
              <a:ext cx="1024255" cy="0"/>
            </a:xfrm>
            <a:custGeom>
              <a:avLst/>
              <a:gdLst/>
              <a:ahLst/>
              <a:cxnLst/>
              <a:rect l="l" t="t" r="r" b="b"/>
              <a:pathLst>
                <a:path w="1024254" h="0">
                  <a:moveTo>
                    <a:pt x="0" y="0"/>
                  </a:moveTo>
                  <a:lnTo>
                    <a:pt x="1023853" y="0"/>
                  </a:lnTo>
                </a:path>
              </a:pathLst>
            </a:custGeom>
            <a:ln w="2427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83587" y="1721596"/>
              <a:ext cx="144277" cy="146593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410757" y="2079935"/>
              <a:ext cx="0" cy="763270"/>
            </a:xfrm>
            <a:custGeom>
              <a:avLst/>
              <a:gdLst/>
              <a:ahLst/>
              <a:cxnLst/>
              <a:rect l="l" t="t" r="r" b="b"/>
              <a:pathLst>
                <a:path w="0" h="763269">
                  <a:moveTo>
                    <a:pt x="0" y="0"/>
                  </a:moveTo>
                  <a:lnTo>
                    <a:pt x="0" y="763234"/>
                  </a:lnTo>
                </a:path>
              </a:pathLst>
            </a:custGeom>
            <a:ln w="2427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36295" y="2808269"/>
              <a:ext cx="146593" cy="144277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3694648" y="3238754"/>
              <a:ext cx="1024255" cy="0"/>
            </a:xfrm>
            <a:custGeom>
              <a:avLst/>
              <a:gdLst/>
              <a:ahLst/>
              <a:cxnLst/>
              <a:rect l="l" t="t" r="r" b="b"/>
              <a:pathLst>
                <a:path w="1024254" h="0">
                  <a:moveTo>
                    <a:pt x="0" y="0"/>
                  </a:moveTo>
                  <a:lnTo>
                    <a:pt x="1023853" y="0"/>
                  </a:lnTo>
                </a:path>
              </a:pathLst>
            </a:custGeom>
            <a:ln w="2427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83587" y="3164291"/>
              <a:ext cx="144277" cy="14659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5114071" y="2079935"/>
              <a:ext cx="0" cy="763270"/>
            </a:xfrm>
            <a:custGeom>
              <a:avLst/>
              <a:gdLst/>
              <a:ahLst/>
              <a:cxnLst/>
              <a:rect l="l" t="t" r="r" b="b"/>
              <a:pathLst>
                <a:path w="0" h="763269">
                  <a:moveTo>
                    <a:pt x="0" y="0"/>
                  </a:moveTo>
                  <a:lnTo>
                    <a:pt x="0" y="763234"/>
                  </a:lnTo>
                </a:path>
              </a:pathLst>
            </a:custGeom>
            <a:ln w="2427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41940" y="2808269"/>
              <a:ext cx="144277" cy="144277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3589919" y="2014784"/>
              <a:ext cx="1224280" cy="965835"/>
            </a:xfrm>
            <a:custGeom>
              <a:avLst/>
              <a:gdLst/>
              <a:ahLst/>
              <a:cxnLst/>
              <a:rect l="l" t="t" r="r" b="b"/>
              <a:pathLst>
                <a:path w="1224279" h="965835">
                  <a:moveTo>
                    <a:pt x="0" y="0"/>
                  </a:moveTo>
                  <a:lnTo>
                    <a:pt x="1223985" y="965682"/>
                  </a:lnTo>
                </a:path>
              </a:pathLst>
            </a:custGeom>
            <a:ln w="2427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41758" y="2903672"/>
              <a:ext cx="160568" cy="144277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3036112" y="2107854"/>
              <a:ext cx="139700" cy="965835"/>
            </a:xfrm>
            <a:custGeom>
              <a:avLst/>
              <a:gdLst/>
              <a:ahLst/>
              <a:cxnLst/>
              <a:rect l="l" t="t" r="r" b="b"/>
              <a:pathLst>
                <a:path w="139700" h="965835">
                  <a:moveTo>
                    <a:pt x="139613" y="0"/>
                  </a:moveTo>
                  <a:lnTo>
                    <a:pt x="102382" y="83774"/>
                  </a:lnTo>
                  <a:lnTo>
                    <a:pt x="69814" y="162885"/>
                  </a:lnTo>
                  <a:lnTo>
                    <a:pt x="46542" y="242011"/>
                  </a:lnTo>
                  <a:lnTo>
                    <a:pt x="25603" y="318805"/>
                  </a:lnTo>
                  <a:lnTo>
                    <a:pt x="11643" y="393268"/>
                  </a:lnTo>
                  <a:lnTo>
                    <a:pt x="2331" y="465399"/>
                  </a:lnTo>
                  <a:lnTo>
                    <a:pt x="0" y="535198"/>
                  </a:lnTo>
                  <a:lnTo>
                    <a:pt x="2331" y="602681"/>
                  </a:lnTo>
                  <a:lnTo>
                    <a:pt x="11643" y="667847"/>
                  </a:lnTo>
                  <a:lnTo>
                    <a:pt x="25603" y="732998"/>
                  </a:lnTo>
                  <a:lnTo>
                    <a:pt x="46542" y="793501"/>
                  </a:lnTo>
                  <a:lnTo>
                    <a:pt x="72130" y="851672"/>
                  </a:lnTo>
                  <a:lnTo>
                    <a:pt x="102382" y="909843"/>
                  </a:lnTo>
                  <a:lnTo>
                    <a:pt x="139613" y="965682"/>
                  </a:lnTo>
                </a:path>
              </a:pathLst>
            </a:custGeom>
            <a:ln w="2427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94283" y="2010135"/>
              <a:ext cx="130317" cy="162885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3152456" y="998990"/>
            <a:ext cx="584200" cy="10058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ts val="1814"/>
              </a:lnSpc>
              <a:spcBef>
                <a:spcPts val="95"/>
              </a:spcBef>
            </a:pP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in:</a:t>
            </a:r>
            <a:r>
              <a:rPr dirty="0" sz="1800" spc="-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  <a:p>
            <a:pPr>
              <a:lnSpc>
                <a:spcPts val="1814"/>
              </a:lnSpc>
            </a:pP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out:</a:t>
            </a:r>
            <a:r>
              <a:rPr dirty="0" sz="1800" spc="-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  <a:p>
            <a:pPr marL="153035">
              <a:lnSpc>
                <a:spcPct val="100000"/>
              </a:lnSpc>
              <a:spcBef>
                <a:spcPts val="795"/>
              </a:spcBef>
            </a:pPr>
            <a:r>
              <a:rPr dirty="0" sz="275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275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897664" y="998990"/>
            <a:ext cx="584200" cy="10058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ts val="1814"/>
              </a:lnSpc>
              <a:spcBef>
                <a:spcPts val="95"/>
              </a:spcBef>
            </a:pP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in:</a:t>
            </a:r>
            <a:r>
              <a:rPr dirty="0" sz="1800" spc="-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  <a:p>
            <a:pPr>
              <a:lnSpc>
                <a:spcPts val="1814"/>
              </a:lnSpc>
            </a:pP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out:</a:t>
            </a:r>
            <a:r>
              <a:rPr dirty="0" sz="1800" spc="-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  <a:p>
            <a:pPr marL="113664">
              <a:lnSpc>
                <a:spcPct val="100000"/>
              </a:lnSpc>
              <a:spcBef>
                <a:spcPts val="795"/>
              </a:spcBef>
            </a:pPr>
            <a:r>
              <a:rPr dirty="0" sz="275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27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152456" y="2859959"/>
            <a:ext cx="584200" cy="1140460"/>
          </a:xfrm>
          <a:prstGeom prst="rect">
            <a:avLst/>
          </a:prstGeom>
        </p:spPr>
        <p:txBody>
          <a:bodyPr wrap="square" lIns="0" tIns="154940" rIns="0" bIns="0" rtlCol="0" vert="horz">
            <a:spAutoFit/>
          </a:bodyPr>
          <a:lstStyle/>
          <a:p>
            <a:pPr marL="153035">
              <a:lnSpc>
                <a:spcPct val="100000"/>
              </a:lnSpc>
              <a:spcBef>
                <a:spcPts val="1220"/>
              </a:spcBef>
            </a:pPr>
            <a:r>
              <a:rPr dirty="0" sz="275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2750">
              <a:latin typeface="Arial"/>
              <a:cs typeface="Arial"/>
            </a:endParaRPr>
          </a:p>
          <a:p>
            <a:pPr>
              <a:lnSpc>
                <a:spcPts val="1814"/>
              </a:lnSpc>
              <a:spcBef>
                <a:spcPts val="730"/>
              </a:spcBef>
            </a:pP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in:</a:t>
            </a:r>
            <a:r>
              <a:rPr dirty="0" sz="1800" spc="-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  <a:p>
            <a:pPr>
              <a:lnSpc>
                <a:spcPts val="1814"/>
              </a:lnSpc>
            </a:pP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out:</a:t>
            </a:r>
            <a:r>
              <a:rPr dirty="0" sz="1800" spc="-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897664" y="2859959"/>
            <a:ext cx="584200" cy="1140460"/>
          </a:xfrm>
          <a:prstGeom prst="rect">
            <a:avLst/>
          </a:prstGeom>
        </p:spPr>
        <p:txBody>
          <a:bodyPr wrap="square" lIns="0" tIns="154940" rIns="0" bIns="0" rtlCol="0" vert="horz">
            <a:spAutoFit/>
          </a:bodyPr>
          <a:lstStyle/>
          <a:p>
            <a:pPr marL="113664">
              <a:lnSpc>
                <a:spcPct val="100000"/>
              </a:lnSpc>
              <a:spcBef>
                <a:spcPts val="1220"/>
              </a:spcBef>
            </a:pPr>
            <a:r>
              <a:rPr dirty="0" sz="2750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2750">
              <a:latin typeface="Arial"/>
              <a:cs typeface="Arial"/>
            </a:endParaRPr>
          </a:p>
          <a:p>
            <a:pPr>
              <a:lnSpc>
                <a:spcPts val="1814"/>
              </a:lnSpc>
              <a:spcBef>
                <a:spcPts val="730"/>
              </a:spcBef>
            </a:pP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in:</a:t>
            </a:r>
            <a:r>
              <a:rPr dirty="0" sz="1800" spc="-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  <a:p>
            <a:pPr>
              <a:lnSpc>
                <a:spcPts val="1814"/>
              </a:lnSpc>
            </a:pP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out:</a:t>
            </a:r>
            <a:r>
              <a:rPr dirty="0" sz="1800" spc="-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800" spc="-5">
                <a:solidFill>
                  <a:srgbClr val="FFFFFF"/>
                </a:solidFill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01699" y="4149713"/>
            <a:ext cx="4803140" cy="8261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3576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8.4: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degrees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of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6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2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2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521328" y="5105489"/>
            <a:ext cx="245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975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528072" y="5479339"/>
            <a:ext cx="2317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Verdana"/>
                <a:cs typeface="Verdana"/>
              </a:rPr>
              <a:t>v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80">
                <a:latin typeface="Verdana"/>
                <a:cs typeface="Verdana"/>
              </a:rPr>
              <a:t>V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765930" y="5249736"/>
            <a:ext cx="11957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" i="1">
                <a:latin typeface="Courier New"/>
                <a:cs typeface="Courier New"/>
              </a:rPr>
              <a:t>in-degree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Lucida Sans Unicode"/>
                <a:cs typeface="Lucida Sans Unicode"/>
              </a:rPr>
              <a:t>v</a:t>
            </a:r>
            <a:r>
              <a:rPr dirty="0" sz="1200" spc="10">
                <a:latin typeface="Garamond"/>
                <a:cs typeface="Garamond"/>
              </a:rPr>
              <a:t>)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978195" y="5105489"/>
            <a:ext cx="245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975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985053" y="5479339"/>
            <a:ext cx="2317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Verdana"/>
                <a:cs typeface="Verdana"/>
              </a:rPr>
              <a:t>v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80">
                <a:latin typeface="Verdana"/>
                <a:cs typeface="Verdana"/>
              </a:rPr>
              <a:t>V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222797" y="5249736"/>
            <a:ext cx="14859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" i="1">
                <a:latin typeface="Courier New"/>
                <a:cs typeface="Courier New"/>
              </a:rPr>
              <a:t>out-degree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Lucida Sans Unicode"/>
                <a:cs typeface="Lucida Sans Unicode"/>
              </a:rPr>
              <a:t>v</a:t>
            </a:r>
            <a:r>
              <a:rPr dirty="0" sz="1200" spc="1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|E|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14400" y="5900686"/>
            <a:ext cx="4199890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|E|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cardinality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E</a:t>
            </a:r>
            <a:r>
              <a:rPr dirty="0" sz="1200" spc="3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i.e.,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101014" y="5848210"/>
            <a:ext cx="635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400862" y="6808190"/>
            <a:ext cx="2317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Verdana"/>
                <a:cs typeface="Verdana"/>
              </a:rPr>
              <a:t>v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80">
                <a:latin typeface="Verdana"/>
                <a:cs typeface="Verdana"/>
              </a:rPr>
              <a:t>V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01694" y="6097041"/>
            <a:ext cx="3934460" cy="6896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undir</a:t>
            </a:r>
            <a:r>
              <a:rPr dirty="0" sz="1200" spc="-5">
                <a:latin typeface="Times New Roman"/>
                <a:cs typeface="Times New Roman"/>
              </a:rPr>
              <a:t>ec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2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Times New Roman"/>
              <a:cs typeface="Times New Roman"/>
            </a:endParaRPr>
          </a:p>
          <a:p>
            <a:pPr marL="2504440">
              <a:lnSpc>
                <a:spcPts val="1290"/>
              </a:lnSpc>
              <a:spcBef>
                <a:spcPts val="5"/>
              </a:spcBef>
            </a:pPr>
            <a:r>
              <a:rPr dirty="0" sz="1200" spc="975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  <a:p>
            <a:pPr algn="r" marR="5080">
              <a:lnSpc>
                <a:spcPts val="1290"/>
              </a:lnSpc>
            </a:pPr>
            <a:r>
              <a:rPr dirty="0" sz="1200" spc="15" i="1">
                <a:latin typeface="Courier New"/>
                <a:cs typeface="Courier New"/>
              </a:rPr>
              <a:t>degree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v</a:t>
            </a:r>
            <a:r>
              <a:rPr dirty="0" sz="1200" spc="15">
                <a:latin typeface="Garamond"/>
                <a:cs typeface="Garamond"/>
              </a:rPr>
              <a:t>)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125">
                <a:latin typeface="Lucida Sans Unicode"/>
                <a:cs typeface="Lucida Sans Unicode"/>
              </a:rPr>
              <a:t>2|E|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63591" y="7110541"/>
            <a:ext cx="6316980" cy="523240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620"/>
              </a:spcBef>
            </a:pP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|E|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cardinality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E</a:t>
            </a:r>
            <a:r>
              <a:rPr dirty="0" sz="1200" spc="3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i.e.,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edges.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path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Segoe UI Symbol"/>
                <a:cs typeface="Segoe UI Symbol"/>
              </a:rPr>
              <a:t>⟨</a:t>
            </a:r>
            <a:r>
              <a:rPr dirty="0" sz="1200" spc="-5">
                <a:latin typeface="Lucida Sans Unicode"/>
                <a:cs typeface="Lucida Sans Unicode"/>
              </a:rPr>
              <a:t>v</a:t>
            </a:r>
            <a:r>
              <a:rPr dirty="0" baseline="-13888" sz="1200" spc="-7">
                <a:latin typeface="Verdana"/>
                <a:cs typeface="Verdana"/>
              </a:rPr>
              <a:t>0</a:t>
            </a:r>
            <a:r>
              <a:rPr dirty="0" sz="1200" spc="-5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v</a:t>
            </a:r>
            <a:r>
              <a:rPr dirty="0" baseline="-13888" sz="1200" spc="-60">
                <a:latin typeface="Verdana"/>
                <a:cs typeface="Verdana"/>
              </a:rPr>
              <a:t>1</a:t>
            </a:r>
            <a:r>
              <a:rPr dirty="0" sz="1200" spc="-4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7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baseline="-13888" sz="1200" spc="60">
                <a:latin typeface="Verdana"/>
                <a:cs typeface="Verdana"/>
              </a:rPr>
              <a:t>k</a:t>
            </a:r>
            <a:r>
              <a:rPr dirty="0" sz="1200" spc="40">
                <a:latin typeface="Segoe UI Symbol"/>
                <a:cs typeface="Segoe UI Symbol"/>
              </a:rPr>
              <a:t>⟩</a:t>
            </a:r>
            <a:r>
              <a:rPr dirty="0" sz="1200" spc="-30">
                <a:latin typeface="Segoe UI Symbol"/>
                <a:cs typeface="Segoe UI Symbol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v</a:t>
            </a:r>
            <a:r>
              <a:rPr dirty="0" baseline="-13888" sz="1200" spc="7">
                <a:latin typeface="Verdana"/>
                <a:cs typeface="Verdana"/>
              </a:rPr>
              <a:t>i−1</a:t>
            </a:r>
            <a:r>
              <a:rPr dirty="0" sz="1200" spc="5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v</a:t>
            </a:r>
            <a:r>
              <a:rPr dirty="0" baseline="-13888" sz="1200" spc="104">
                <a:latin typeface="Verdana"/>
                <a:cs typeface="Verdana"/>
              </a:rPr>
              <a:t>i</a:t>
            </a:r>
            <a:r>
              <a:rPr dirty="0" sz="1200" spc="7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894166" y="7665884"/>
            <a:ext cx="2888615" cy="14097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9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length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paths 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of edges,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01693" y="7609458"/>
            <a:ext cx="63455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18585" algn="l"/>
              </a:tabLst>
            </a:pP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2,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.	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reachable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1699" y="7792910"/>
            <a:ext cx="609219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20">
                <a:latin typeface="Lucida Sans Unicode"/>
                <a:cs typeface="Lucida Sans Unicode"/>
              </a:rPr>
              <a:t>u </a:t>
            </a:r>
            <a:r>
              <a:rPr dirty="0" sz="1200" spc="-5">
                <a:latin typeface="Times New Roman"/>
                <a:cs typeface="Times New Roman"/>
              </a:rPr>
              <a:t>is there is a path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20">
                <a:latin typeface="Lucida Sans Unicode"/>
                <a:cs typeface="Lucida Sans Unicode"/>
              </a:rPr>
              <a:t>u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20">
                <a:latin typeface="Lucida Sans Unicode"/>
                <a:cs typeface="Lucida Sans Unicode"/>
              </a:rPr>
              <a:t>w</a:t>
            </a:r>
            <a:r>
              <a:rPr dirty="0" sz="1200" spc="2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A path is </a:t>
            </a:r>
            <a:r>
              <a:rPr dirty="0" sz="1200" spc="-10">
                <a:latin typeface="Times New Roman"/>
                <a:cs typeface="Times New Roman"/>
              </a:rPr>
              <a:t>simple </a:t>
            </a:r>
            <a:r>
              <a:rPr dirty="0" sz="1200" spc="-5">
                <a:latin typeface="Times New Roman"/>
                <a:cs typeface="Times New Roman"/>
              </a:rPr>
              <a:t>if all </a:t>
            </a:r>
            <a:r>
              <a:rPr dirty="0" sz="1200" spc="-10">
                <a:latin typeface="Times New Roman"/>
                <a:cs typeface="Times New Roman"/>
              </a:rPr>
              <a:t>vertices (except </a:t>
            </a:r>
            <a:r>
              <a:rPr dirty="0" sz="1200" spc="-5">
                <a:latin typeface="Times New Roman"/>
                <a:cs typeface="Times New Roman"/>
              </a:rPr>
              <a:t>possibly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fist and last) are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distinct.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914412" y="8284349"/>
            <a:ext cx="497713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cycle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containing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v</a:t>
            </a:r>
            <a:r>
              <a:rPr dirty="0" baseline="-13888" sz="1200" spc="-37">
                <a:latin typeface="Verdana"/>
                <a:cs typeface="Verdana"/>
              </a:rPr>
              <a:t>0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v</a:t>
            </a:r>
            <a:r>
              <a:rPr dirty="0" baseline="-13888" sz="1200" spc="7">
                <a:latin typeface="Verdana"/>
                <a:cs typeface="Verdana"/>
              </a:rPr>
              <a:t>k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925667" y="8284349"/>
            <a:ext cx="130937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Hamiltonian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14412" y="8467800"/>
            <a:ext cx="346392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 spc="-5">
                <a:latin typeface="Times New Roman"/>
                <a:cs typeface="Times New Roman"/>
              </a:rPr>
              <a:t> that visits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in a graph </a:t>
            </a:r>
            <a:r>
              <a:rPr dirty="0" sz="1200" spc="-10">
                <a:latin typeface="Times New Roman"/>
                <a:cs typeface="Times New Roman"/>
              </a:rPr>
              <a:t>exactly</a:t>
            </a:r>
            <a:r>
              <a:rPr dirty="0" sz="1200" spc="-5">
                <a:latin typeface="Times New Roman"/>
                <a:cs typeface="Times New Roman"/>
              </a:rPr>
              <a:t> once.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412208" y="8467800"/>
            <a:ext cx="266763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Eulerian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cycle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057744" y="8651252"/>
            <a:ext cx="1751964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exactly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once.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01716" y="8592095"/>
            <a:ext cx="61607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953895" algn="l"/>
              </a:tabLst>
            </a:pPr>
            <a:r>
              <a:rPr dirty="0" sz="1200" spc="-5">
                <a:latin typeface="Times New Roman"/>
                <a:cs typeface="Times New Roman"/>
              </a:rPr>
              <a:t>ed	There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“path”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versions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return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01716" y="8775547"/>
            <a:ext cx="9315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starting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vertex.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11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019300" y="939190"/>
            <a:ext cx="4191000" cy="1677035"/>
            <a:chOff x="2019300" y="939190"/>
            <a:chExt cx="4191000" cy="1677035"/>
          </a:xfrm>
        </p:grpSpPr>
        <p:sp>
          <p:nvSpPr>
            <p:cNvPr id="5" name="object 5"/>
            <p:cNvSpPr/>
            <p:nvPr/>
          </p:nvSpPr>
          <p:spPr>
            <a:xfrm>
              <a:off x="2019300" y="939190"/>
              <a:ext cx="4191000" cy="1677035"/>
            </a:xfrm>
            <a:custGeom>
              <a:avLst/>
              <a:gdLst/>
              <a:ahLst/>
              <a:cxnLst/>
              <a:rect l="l" t="t" r="r" b="b"/>
              <a:pathLst>
                <a:path w="4191000" h="1677035">
                  <a:moveTo>
                    <a:pt x="4190801" y="0"/>
                  </a:moveTo>
                  <a:lnTo>
                    <a:pt x="0" y="0"/>
                  </a:lnTo>
                  <a:lnTo>
                    <a:pt x="0" y="1677009"/>
                  </a:lnTo>
                  <a:lnTo>
                    <a:pt x="4190801" y="1677009"/>
                  </a:lnTo>
                  <a:lnTo>
                    <a:pt x="41908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441006" y="1007862"/>
              <a:ext cx="437515" cy="435609"/>
            </a:xfrm>
            <a:custGeom>
              <a:avLst/>
              <a:gdLst/>
              <a:ahLst/>
              <a:cxnLst/>
              <a:rect l="l" t="t" r="r" b="b"/>
              <a:pathLst>
                <a:path w="437514" h="435609">
                  <a:moveTo>
                    <a:pt x="0" y="218678"/>
                  </a:moveTo>
                  <a:lnTo>
                    <a:pt x="1798" y="179252"/>
                  </a:lnTo>
                  <a:lnTo>
                    <a:pt x="28681" y="109331"/>
                  </a:lnTo>
                  <a:lnTo>
                    <a:pt x="50200" y="77068"/>
                  </a:lnTo>
                  <a:lnTo>
                    <a:pt x="109346" y="28666"/>
                  </a:lnTo>
                  <a:lnTo>
                    <a:pt x="145191" y="12542"/>
                  </a:lnTo>
                  <a:lnTo>
                    <a:pt x="220492" y="0"/>
                  </a:lnTo>
                  <a:lnTo>
                    <a:pt x="258135" y="1783"/>
                  </a:lnTo>
                  <a:lnTo>
                    <a:pt x="328040" y="28666"/>
                  </a:lnTo>
                  <a:lnTo>
                    <a:pt x="360304" y="50185"/>
                  </a:lnTo>
                  <a:lnTo>
                    <a:pt x="408706" y="109331"/>
                  </a:lnTo>
                  <a:lnTo>
                    <a:pt x="435589" y="179252"/>
                  </a:lnTo>
                  <a:lnTo>
                    <a:pt x="437387" y="218678"/>
                  </a:lnTo>
                  <a:lnTo>
                    <a:pt x="435589" y="256336"/>
                  </a:lnTo>
                  <a:lnTo>
                    <a:pt x="408706" y="326242"/>
                  </a:lnTo>
                  <a:lnTo>
                    <a:pt x="387187" y="358505"/>
                  </a:lnTo>
                  <a:lnTo>
                    <a:pt x="328040" y="406907"/>
                  </a:lnTo>
                  <a:lnTo>
                    <a:pt x="258135" y="433791"/>
                  </a:lnTo>
                  <a:lnTo>
                    <a:pt x="220492" y="435589"/>
                  </a:lnTo>
                  <a:lnTo>
                    <a:pt x="181051" y="433791"/>
                  </a:lnTo>
                  <a:lnTo>
                    <a:pt x="109346" y="406907"/>
                  </a:lnTo>
                  <a:lnTo>
                    <a:pt x="77083" y="385389"/>
                  </a:lnTo>
                  <a:lnTo>
                    <a:pt x="28681" y="326242"/>
                  </a:lnTo>
                  <a:lnTo>
                    <a:pt x="1798" y="256336"/>
                  </a:lnTo>
                  <a:lnTo>
                    <a:pt x="0" y="218678"/>
                  </a:lnTo>
                </a:path>
              </a:pathLst>
            </a:custGeom>
            <a:ln w="374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2569920" y="1041311"/>
            <a:ext cx="175260" cy="3486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1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21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3754952" y="1007862"/>
            <a:ext cx="437515" cy="435609"/>
          </a:xfrm>
          <a:custGeom>
            <a:avLst/>
            <a:gdLst/>
            <a:ahLst/>
            <a:cxnLst/>
            <a:rect l="l" t="t" r="r" b="b"/>
            <a:pathLst>
              <a:path w="437514" h="435609">
                <a:moveTo>
                  <a:pt x="0" y="218678"/>
                </a:moveTo>
                <a:lnTo>
                  <a:pt x="3581" y="179252"/>
                </a:lnTo>
                <a:lnTo>
                  <a:pt x="28681" y="109331"/>
                </a:lnTo>
                <a:lnTo>
                  <a:pt x="51983" y="77068"/>
                </a:lnTo>
                <a:lnTo>
                  <a:pt x="109346" y="28666"/>
                </a:lnTo>
                <a:lnTo>
                  <a:pt x="181051" y="1783"/>
                </a:lnTo>
                <a:lnTo>
                  <a:pt x="218693" y="0"/>
                </a:lnTo>
                <a:lnTo>
                  <a:pt x="256336" y="1783"/>
                </a:lnTo>
                <a:lnTo>
                  <a:pt x="293979" y="12542"/>
                </a:lnTo>
                <a:lnTo>
                  <a:pt x="358520" y="50185"/>
                </a:lnTo>
                <a:lnTo>
                  <a:pt x="408706" y="109331"/>
                </a:lnTo>
                <a:lnTo>
                  <a:pt x="433806" y="179252"/>
                </a:lnTo>
                <a:lnTo>
                  <a:pt x="437387" y="218678"/>
                </a:lnTo>
                <a:lnTo>
                  <a:pt x="433806" y="256336"/>
                </a:lnTo>
                <a:lnTo>
                  <a:pt x="408706" y="326242"/>
                </a:lnTo>
                <a:lnTo>
                  <a:pt x="385404" y="358505"/>
                </a:lnTo>
                <a:lnTo>
                  <a:pt x="328040" y="406907"/>
                </a:lnTo>
                <a:lnTo>
                  <a:pt x="256336" y="433791"/>
                </a:lnTo>
                <a:lnTo>
                  <a:pt x="218693" y="435589"/>
                </a:lnTo>
                <a:lnTo>
                  <a:pt x="181051" y="433791"/>
                </a:lnTo>
                <a:lnTo>
                  <a:pt x="143408" y="423031"/>
                </a:lnTo>
                <a:lnTo>
                  <a:pt x="78866" y="385389"/>
                </a:lnTo>
                <a:lnTo>
                  <a:pt x="28681" y="326242"/>
                </a:lnTo>
                <a:lnTo>
                  <a:pt x="3581" y="256336"/>
                </a:lnTo>
                <a:lnTo>
                  <a:pt x="0" y="218678"/>
                </a:lnTo>
              </a:path>
            </a:pathLst>
          </a:custGeom>
          <a:ln w="374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3882070" y="1041311"/>
            <a:ext cx="175260" cy="3486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100" spc="1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2100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441006" y="2119239"/>
            <a:ext cx="437515" cy="437515"/>
          </a:xfrm>
          <a:custGeom>
            <a:avLst/>
            <a:gdLst/>
            <a:ahLst/>
            <a:cxnLst/>
            <a:rect l="l" t="t" r="r" b="b"/>
            <a:pathLst>
              <a:path w="437514" h="437514">
                <a:moveTo>
                  <a:pt x="0" y="216910"/>
                </a:moveTo>
                <a:lnTo>
                  <a:pt x="12542" y="143408"/>
                </a:lnTo>
                <a:lnTo>
                  <a:pt x="50200" y="77083"/>
                </a:lnTo>
                <a:lnTo>
                  <a:pt x="109346" y="28681"/>
                </a:lnTo>
                <a:lnTo>
                  <a:pt x="145191" y="12557"/>
                </a:lnTo>
                <a:lnTo>
                  <a:pt x="220492" y="0"/>
                </a:lnTo>
                <a:lnTo>
                  <a:pt x="258135" y="1798"/>
                </a:lnTo>
                <a:lnTo>
                  <a:pt x="328040" y="28681"/>
                </a:lnTo>
                <a:lnTo>
                  <a:pt x="360304" y="50200"/>
                </a:lnTo>
                <a:lnTo>
                  <a:pt x="408706" y="109346"/>
                </a:lnTo>
                <a:lnTo>
                  <a:pt x="435589" y="179252"/>
                </a:lnTo>
                <a:lnTo>
                  <a:pt x="437387" y="216910"/>
                </a:lnTo>
                <a:lnTo>
                  <a:pt x="435589" y="256336"/>
                </a:lnTo>
                <a:lnTo>
                  <a:pt x="408706" y="326242"/>
                </a:lnTo>
                <a:lnTo>
                  <a:pt x="387187" y="358520"/>
                </a:lnTo>
                <a:lnTo>
                  <a:pt x="328040" y="408706"/>
                </a:lnTo>
                <a:lnTo>
                  <a:pt x="258135" y="435589"/>
                </a:lnTo>
                <a:lnTo>
                  <a:pt x="220492" y="437387"/>
                </a:lnTo>
                <a:lnTo>
                  <a:pt x="181051" y="435589"/>
                </a:lnTo>
                <a:lnTo>
                  <a:pt x="109346" y="408706"/>
                </a:lnTo>
                <a:lnTo>
                  <a:pt x="77083" y="385404"/>
                </a:lnTo>
                <a:lnTo>
                  <a:pt x="28681" y="326242"/>
                </a:lnTo>
                <a:lnTo>
                  <a:pt x="1798" y="256336"/>
                </a:lnTo>
                <a:lnTo>
                  <a:pt x="0" y="216910"/>
                </a:lnTo>
              </a:path>
            </a:pathLst>
          </a:custGeom>
          <a:ln w="374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2569920" y="2152700"/>
            <a:ext cx="175260" cy="3486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10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2100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754952" y="2119239"/>
            <a:ext cx="437515" cy="437515"/>
          </a:xfrm>
          <a:custGeom>
            <a:avLst/>
            <a:gdLst/>
            <a:ahLst/>
            <a:cxnLst/>
            <a:rect l="l" t="t" r="r" b="b"/>
            <a:pathLst>
              <a:path w="437514" h="437514">
                <a:moveTo>
                  <a:pt x="0" y="216910"/>
                </a:moveTo>
                <a:lnTo>
                  <a:pt x="12542" y="143408"/>
                </a:lnTo>
                <a:lnTo>
                  <a:pt x="51983" y="77083"/>
                </a:lnTo>
                <a:lnTo>
                  <a:pt x="109346" y="28681"/>
                </a:lnTo>
                <a:lnTo>
                  <a:pt x="181051" y="1798"/>
                </a:lnTo>
                <a:lnTo>
                  <a:pt x="218693" y="0"/>
                </a:lnTo>
                <a:lnTo>
                  <a:pt x="256336" y="1798"/>
                </a:lnTo>
                <a:lnTo>
                  <a:pt x="293979" y="12557"/>
                </a:lnTo>
                <a:lnTo>
                  <a:pt x="358520" y="50200"/>
                </a:lnTo>
                <a:lnTo>
                  <a:pt x="408706" y="109346"/>
                </a:lnTo>
                <a:lnTo>
                  <a:pt x="433806" y="179252"/>
                </a:lnTo>
                <a:lnTo>
                  <a:pt x="437387" y="216910"/>
                </a:lnTo>
                <a:lnTo>
                  <a:pt x="433806" y="256336"/>
                </a:lnTo>
                <a:lnTo>
                  <a:pt x="408706" y="326242"/>
                </a:lnTo>
                <a:lnTo>
                  <a:pt x="385404" y="358520"/>
                </a:lnTo>
                <a:lnTo>
                  <a:pt x="328040" y="408706"/>
                </a:lnTo>
                <a:lnTo>
                  <a:pt x="256336" y="435589"/>
                </a:lnTo>
                <a:lnTo>
                  <a:pt x="218693" y="437387"/>
                </a:lnTo>
                <a:lnTo>
                  <a:pt x="181051" y="435589"/>
                </a:lnTo>
                <a:lnTo>
                  <a:pt x="143408" y="424845"/>
                </a:lnTo>
                <a:lnTo>
                  <a:pt x="78866" y="385404"/>
                </a:lnTo>
                <a:lnTo>
                  <a:pt x="28681" y="326242"/>
                </a:lnTo>
                <a:lnTo>
                  <a:pt x="3581" y="256336"/>
                </a:lnTo>
                <a:lnTo>
                  <a:pt x="0" y="216910"/>
                </a:lnTo>
              </a:path>
            </a:pathLst>
          </a:custGeom>
          <a:ln w="374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3882070" y="2152700"/>
            <a:ext cx="175260" cy="3486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2100" spc="10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210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2363531" y="1170975"/>
            <a:ext cx="1666239" cy="1221105"/>
            <a:chOff x="2363531" y="1170975"/>
            <a:chExt cx="1666239" cy="1221105"/>
          </a:xfrm>
        </p:grpSpPr>
        <p:sp>
          <p:nvSpPr>
            <p:cNvPr id="15" name="object 15"/>
            <p:cNvSpPr/>
            <p:nvPr/>
          </p:nvSpPr>
          <p:spPr>
            <a:xfrm>
              <a:off x="2878393" y="1226540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79" h="0">
                  <a:moveTo>
                    <a:pt x="0" y="0"/>
                  </a:moveTo>
                  <a:lnTo>
                    <a:pt x="792312" y="0"/>
                  </a:lnTo>
                </a:path>
              </a:pathLst>
            </a:custGeom>
            <a:ln w="1870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43822" y="1170975"/>
              <a:ext cx="111130" cy="111145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661498" y="1443451"/>
              <a:ext cx="0" cy="591820"/>
            </a:xfrm>
            <a:custGeom>
              <a:avLst/>
              <a:gdLst/>
              <a:ahLst/>
              <a:cxnLst/>
              <a:rect l="l" t="t" r="r" b="b"/>
              <a:pathLst>
                <a:path w="0" h="591819">
                  <a:moveTo>
                    <a:pt x="0" y="0"/>
                  </a:moveTo>
                  <a:lnTo>
                    <a:pt x="0" y="591540"/>
                  </a:lnTo>
                </a:path>
              </a:pathLst>
            </a:custGeom>
            <a:ln w="1870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05917" y="2008109"/>
              <a:ext cx="111145" cy="111130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962640" y="2336149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79" h="0">
                  <a:moveTo>
                    <a:pt x="0" y="0"/>
                  </a:moveTo>
                  <a:lnTo>
                    <a:pt x="792312" y="0"/>
                  </a:lnTo>
                </a:path>
              </a:pathLst>
            </a:custGeom>
            <a:ln w="1870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78393" y="2280569"/>
              <a:ext cx="111145" cy="111145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3973646" y="1443451"/>
              <a:ext cx="0" cy="591820"/>
            </a:xfrm>
            <a:custGeom>
              <a:avLst/>
              <a:gdLst/>
              <a:ahLst/>
              <a:cxnLst/>
              <a:rect l="l" t="t" r="r" b="b"/>
              <a:pathLst>
                <a:path w="0" h="591819">
                  <a:moveTo>
                    <a:pt x="0" y="0"/>
                  </a:moveTo>
                  <a:lnTo>
                    <a:pt x="0" y="591540"/>
                  </a:lnTo>
                </a:path>
              </a:pathLst>
            </a:custGeom>
            <a:ln w="1870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18081" y="2008109"/>
              <a:ext cx="111130" cy="111130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2797728" y="1395049"/>
              <a:ext cx="944880" cy="746125"/>
            </a:xfrm>
            <a:custGeom>
              <a:avLst/>
              <a:gdLst/>
              <a:ahLst/>
              <a:cxnLst/>
              <a:rect l="l" t="t" r="r" b="b"/>
              <a:pathLst>
                <a:path w="944879" h="746125">
                  <a:moveTo>
                    <a:pt x="0" y="0"/>
                  </a:moveTo>
                  <a:lnTo>
                    <a:pt x="944681" y="745708"/>
                  </a:lnTo>
                </a:path>
              </a:pathLst>
            </a:custGeom>
            <a:ln w="1870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86830" y="2079813"/>
              <a:ext cx="121904" cy="112928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2372883" y="1466753"/>
              <a:ext cx="107950" cy="746125"/>
            </a:xfrm>
            <a:custGeom>
              <a:avLst/>
              <a:gdLst/>
              <a:ahLst/>
              <a:cxnLst/>
              <a:rect l="l" t="t" r="r" b="b"/>
              <a:pathLst>
                <a:path w="107950" h="746125">
                  <a:moveTo>
                    <a:pt x="105765" y="0"/>
                  </a:moveTo>
                  <a:lnTo>
                    <a:pt x="77083" y="66324"/>
                  </a:lnTo>
                  <a:lnTo>
                    <a:pt x="53781" y="127269"/>
                  </a:lnTo>
                  <a:lnTo>
                    <a:pt x="34061" y="188213"/>
                  </a:lnTo>
                  <a:lnTo>
                    <a:pt x="19720" y="247375"/>
                  </a:lnTo>
                  <a:lnTo>
                    <a:pt x="8976" y="304739"/>
                  </a:lnTo>
                  <a:lnTo>
                    <a:pt x="1798" y="360304"/>
                  </a:lnTo>
                  <a:lnTo>
                    <a:pt x="0" y="414086"/>
                  </a:lnTo>
                  <a:lnTo>
                    <a:pt x="1798" y="466069"/>
                  </a:lnTo>
                  <a:lnTo>
                    <a:pt x="8976" y="516254"/>
                  </a:lnTo>
                  <a:lnTo>
                    <a:pt x="19720" y="564657"/>
                  </a:lnTo>
                  <a:lnTo>
                    <a:pt x="34061" y="613059"/>
                  </a:lnTo>
                  <a:lnTo>
                    <a:pt x="53781" y="657865"/>
                  </a:lnTo>
                  <a:lnTo>
                    <a:pt x="78882" y="702685"/>
                  </a:lnTo>
                  <a:lnTo>
                    <a:pt x="107563" y="745708"/>
                  </a:lnTo>
                </a:path>
              </a:pathLst>
            </a:custGeom>
            <a:ln w="1870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17703" y="1391468"/>
              <a:ext cx="98587" cy="125470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4626764" y="1167495"/>
            <a:ext cx="1233805" cy="1031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50">
                <a:solidFill>
                  <a:srgbClr val="FFFFFF"/>
                </a:solidFill>
                <a:latin typeface="Arial"/>
                <a:cs typeface="Arial"/>
              </a:rPr>
              <a:t>cycles:</a:t>
            </a:r>
            <a:endParaRPr sz="1650">
              <a:latin typeface="Arial"/>
              <a:cs typeface="Arial"/>
            </a:endParaRPr>
          </a:p>
          <a:p>
            <a:pPr marL="359410">
              <a:lnSpc>
                <a:spcPts val="1980"/>
              </a:lnSpc>
              <a:spcBef>
                <a:spcPts val="10"/>
              </a:spcBef>
            </a:pPr>
            <a:r>
              <a:rPr dirty="0" sz="1650" spc="-5">
                <a:solidFill>
                  <a:srgbClr val="FFFFFF"/>
                </a:solidFill>
                <a:latin typeface="Arial"/>
                <a:cs typeface="Arial"/>
              </a:rPr>
              <a:t>1-3-4-2-1</a:t>
            </a:r>
            <a:endParaRPr sz="1650">
              <a:latin typeface="Arial"/>
              <a:cs typeface="Arial"/>
            </a:endParaRPr>
          </a:p>
          <a:p>
            <a:pPr marL="359410">
              <a:lnSpc>
                <a:spcPts val="1975"/>
              </a:lnSpc>
            </a:pPr>
            <a:r>
              <a:rPr dirty="0" sz="1650" spc="-5">
                <a:solidFill>
                  <a:srgbClr val="FFFFFF"/>
                </a:solidFill>
                <a:latin typeface="Arial"/>
                <a:cs typeface="Arial"/>
              </a:rPr>
              <a:t>1-4-2-1</a:t>
            </a:r>
            <a:endParaRPr sz="1650">
              <a:latin typeface="Arial"/>
              <a:cs typeface="Arial"/>
            </a:endParaRPr>
          </a:p>
          <a:p>
            <a:pPr marL="359410">
              <a:lnSpc>
                <a:spcPts val="1980"/>
              </a:lnSpc>
            </a:pPr>
            <a:r>
              <a:rPr dirty="0" sz="1650" spc="-5">
                <a:solidFill>
                  <a:srgbClr val="FFFFFF"/>
                </a:solidFill>
                <a:latin typeface="Arial"/>
                <a:cs typeface="Arial"/>
              </a:rPr>
              <a:t>1-2-1</a:t>
            </a:r>
            <a:endParaRPr sz="16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952698" y="2681645"/>
            <a:ext cx="23241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8.5: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Cycles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14400" y="3169767"/>
            <a:ext cx="319849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said 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acyclic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 </a:t>
            </a:r>
            <a:r>
              <a:rPr dirty="0" sz="1200" spc="-10">
                <a:latin typeface="Times New Roman"/>
                <a:cs typeface="Times New Roman"/>
              </a:rPr>
              <a:t>cycles.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159707" y="3169767"/>
            <a:ext cx="285623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 </a:t>
            </a:r>
            <a:r>
              <a:rPr dirty="0" sz="1200" spc="-5" i="1">
                <a:latin typeface="Times New Roman"/>
                <a:cs typeface="Times New Roman"/>
              </a:rPr>
              <a:t>connected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reach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14400" y="3353218"/>
            <a:ext cx="562800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 </a:t>
            </a:r>
            <a:r>
              <a:rPr dirty="0" sz="1200" spc="-10">
                <a:latin typeface="Times New Roman"/>
                <a:cs typeface="Times New Roman"/>
              </a:rPr>
              <a:t>vertex.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directed graph that is </a:t>
            </a:r>
            <a:r>
              <a:rPr dirty="0" sz="1200" spc="-10">
                <a:latin typeface="Times New Roman"/>
                <a:cs typeface="Times New Roman"/>
              </a:rPr>
              <a:t>acyclic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 a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directed</a:t>
            </a:r>
            <a:r>
              <a:rPr dirty="0" sz="1200" spc="-5" i="1">
                <a:latin typeface="Times New Roman"/>
                <a:cs typeface="Times New Roman"/>
              </a:rPr>
              <a:t> acyclic </a:t>
            </a:r>
            <a:r>
              <a:rPr dirty="0" sz="1200" spc="-10" i="1">
                <a:latin typeface="Times New Roman"/>
                <a:cs typeface="Times New Roman"/>
              </a:rPr>
              <a:t>graph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(DAG)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007211" y="3601897"/>
            <a:ext cx="253555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01698" y="3542893"/>
            <a:ext cx="28352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87320" algn="l"/>
              </a:tabLst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724338" y="3601897"/>
            <a:ext cx="3411854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adjacency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adjacency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14095" y="3778821"/>
            <a:ext cx="6301105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V,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E</a:t>
            </a:r>
            <a:r>
              <a:rPr dirty="0" sz="1200" spc="9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|V|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 </a:t>
            </a:r>
            <a:r>
              <a:rPr dirty="0" sz="1200" spc="-75">
                <a:latin typeface="Lucida Sans Unicode"/>
                <a:cs typeface="Lucida Sans Unicode"/>
              </a:rPr>
              <a:t>e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80">
                <a:latin typeface="Lucida Sans Unicode"/>
                <a:cs typeface="Lucida Sans Unicode"/>
              </a:rPr>
              <a:t>|E|</a:t>
            </a:r>
            <a:r>
              <a:rPr dirty="0" sz="1200" spc="-8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assume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indexed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14095" y="3962882"/>
            <a:ext cx="793115" cy="14097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5"/>
              </a:lnSpc>
            </a:pPr>
            <a:r>
              <a:rPr dirty="0" sz="1200" spc="-15">
                <a:latin typeface="Lucida Sans Unicode"/>
                <a:cs typeface="Lucida Sans Unicode"/>
              </a:rPr>
              <a:t>{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-15">
                <a:latin typeface="Lucida Sans Unicode"/>
                <a:cs typeface="Lucida Sans Unicode"/>
              </a:rPr>
              <a:t>}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901702" y="4158627"/>
            <a:ext cx="4027170" cy="3575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31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adjacency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matrix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×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 spc="-5">
                <a:latin typeface="Times New Roman"/>
                <a:cs typeface="Times New Roman"/>
              </a:rPr>
              <a:t> defined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v,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r" marR="930910">
              <a:lnSpc>
                <a:spcPts val="1310"/>
              </a:lnSpc>
            </a:pPr>
            <a:r>
              <a:rPr dirty="0" sz="1200" spc="58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188052" y="4567935"/>
            <a:ext cx="650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976837" y="4463922"/>
            <a:ext cx="10496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029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65">
                <a:latin typeface="Lucida Sans Unicode"/>
                <a:cs typeface="Lucida Sans Unicode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976839" y="4684178"/>
            <a:ext cx="8432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029" algn="l"/>
              </a:tabLst>
            </a:pPr>
            <a:r>
              <a:rPr dirty="0" sz="1200" spc="-165">
                <a:latin typeface="Lucida Sans Unicode"/>
                <a:cs typeface="Lucida Sans Unicode"/>
              </a:rPr>
              <a:t>0	</a:t>
            </a:r>
            <a:r>
              <a:rPr dirty="0" sz="1200" spc="-10">
                <a:latin typeface="Times New Roman"/>
                <a:cs typeface="Times New Roman"/>
              </a:rPr>
              <a:t>otherwise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01713" y="5049252"/>
            <a:ext cx="621855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An </a:t>
            </a:r>
            <a:r>
              <a:rPr dirty="0" sz="1200" spc="-5" i="1">
                <a:latin typeface="Times New Roman"/>
                <a:cs typeface="Times New Roman"/>
              </a:rPr>
              <a:t>adjacency list </a:t>
            </a:r>
            <a:r>
              <a:rPr dirty="0" sz="1200" spc="-5">
                <a:latin typeface="Times New Roman"/>
                <a:cs typeface="Times New Roman"/>
              </a:rPr>
              <a:t>is an array </a:t>
            </a:r>
            <a:r>
              <a:rPr dirty="0" sz="1200" spc="-15">
                <a:latin typeface="Lucida Sans Unicode"/>
                <a:cs typeface="Lucida Sans Unicode"/>
              </a:rPr>
              <a:t>Adj</a:t>
            </a:r>
            <a:r>
              <a:rPr dirty="0" sz="1200" spc="-15">
                <a:latin typeface="Garamond"/>
                <a:cs typeface="Garamond"/>
              </a:rPr>
              <a:t>[</a:t>
            </a:r>
            <a:r>
              <a:rPr dirty="0" sz="1200" spc="-15">
                <a:latin typeface="Lucida Sans Unicode"/>
                <a:cs typeface="Lucida Sans Unicode"/>
              </a:rPr>
              <a:t>1..n</a:t>
            </a:r>
            <a:r>
              <a:rPr dirty="0" sz="1200" spc="-15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pointers where for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 </a:t>
            </a:r>
            <a:r>
              <a:rPr dirty="0" sz="1200" spc="-30">
                <a:latin typeface="Lucida Sans Unicode"/>
                <a:cs typeface="Lucida Sans Unicode"/>
              </a:rPr>
              <a:t>v </a:t>
            </a:r>
            <a:r>
              <a:rPr dirty="0" sz="1200" spc="105">
                <a:latin typeface="Segoe UI Symbol"/>
                <a:cs typeface="Segoe UI Symbol"/>
              </a:rPr>
              <a:t>≤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 </a:t>
            </a:r>
            <a:r>
              <a:rPr dirty="0" sz="1200" spc="5">
                <a:latin typeface="Lucida Sans Unicode"/>
                <a:cs typeface="Lucida Sans Unicode"/>
              </a:rPr>
              <a:t>Adj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v</a:t>
            </a:r>
            <a:r>
              <a:rPr dirty="0" sz="1200" spc="5">
                <a:latin typeface="Garamond"/>
                <a:cs typeface="Garamond"/>
              </a:rPr>
              <a:t>] </a:t>
            </a:r>
            <a:r>
              <a:rPr dirty="0" sz="1200" spc="-10">
                <a:latin typeface="Times New Roman"/>
                <a:cs typeface="Times New Roman"/>
              </a:rPr>
              <a:t>points </a:t>
            </a:r>
            <a:r>
              <a:rPr dirty="0" sz="1200" spc="-5">
                <a:latin typeface="Times New Roman"/>
                <a:cs typeface="Times New Roman"/>
              </a:rPr>
              <a:t>to a </a:t>
            </a:r>
            <a:r>
              <a:rPr dirty="0" sz="1200" spc="-10">
                <a:latin typeface="Times New Roman"/>
                <a:cs typeface="Times New Roman"/>
              </a:rPr>
              <a:t>linked </a:t>
            </a:r>
            <a:r>
              <a:rPr dirty="0" sz="1200" spc="-5">
                <a:latin typeface="Times New Roman"/>
                <a:cs typeface="Times New Roman"/>
              </a:rPr>
              <a:t>list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containing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are adjacent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14425" y="5519305"/>
            <a:ext cx="5313045" cy="16002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40"/>
              </a:lnSpc>
            </a:pPr>
            <a:r>
              <a:rPr dirty="0" sz="1200" spc="-10">
                <a:latin typeface="Times New Roman"/>
                <a:cs typeface="Times New Roman"/>
              </a:rPr>
              <a:t>Adjacency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baseline="31250" sz="1200" spc="60">
                <a:latin typeface="Verdana"/>
                <a:cs typeface="Verdana"/>
              </a:rPr>
              <a:t>2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storage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adjacency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requires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e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storage.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1790700" y="5843696"/>
            <a:ext cx="4648200" cy="1669414"/>
            <a:chOff x="1790700" y="5843696"/>
            <a:chExt cx="4648200" cy="1669414"/>
          </a:xfrm>
        </p:grpSpPr>
        <p:sp>
          <p:nvSpPr>
            <p:cNvPr id="44" name="object 44"/>
            <p:cNvSpPr/>
            <p:nvPr/>
          </p:nvSpPr>
          <p:spPr>
            <a:xfrm>
              <a:off x="1790700" y="5843696"/>
              <a:ext cx="4648200" cy="1669414"/>
            </a:xfrm>
            <a:custGeom>
              <a:avLst/>
              <a:gdLst/>
              <a:ahLst/>
              <a:cxnLst/>
              <a:rect l="l" t="t" r="r" b="b"/>
              <a:pathLst>
                <a:path w="4648200" h="1669415">
                  <a:moveTo>
                    <a:pt x="4648001" y="0"/>
                  </a:moveTo>
                  <a:lnTo>
                    <a:pt x="0" y="0"/>
                  </a:lnTo>
                  <a:lnTo>
                    <a:pt x="0" y="1669115"/>
                  </a:lnTo>
                  <a:lnTo>
                    <a:pt x="4648001" y="1669115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1850257" y="6188669"/>
              <a:ext cx="275590" cy="274955"/>
            </a:xfrm>
            <a:custGeom>
              <a:avLst/>
              <a:gdLst/>
              <a:ahLst/>
              <a:cxnLst/>
              <a:rect l="l" t="t" r="r" b="b"/>
              <a:pathLst>
                <a:path w="275589" h="274954">
                  <a:moveTo>
                    <a:pt x="0" y="136641"/>
                  </a:moveTo>
                  <a:lnTo>
                    <a:pt x="7909" y="90342"/>
                  </a:lnTo>
                  <a:lnTo>
                    <a:pt x="31622" y="48554"/>
                  </a:lnTo>
                  <a:lnTo>
                    <a:pt x="68884" y="18059"/>
                  </a:lnTo>
                  <a:lnTo>
                    <a:pt x="114056" y="1127"/>
                  </a:lnTo>
                  <a:lnTo>
                    <a:pt x="137769" y="0"/>
                  </a:lnTo>
                  <a:lnTo>
                    <a:pt x="161498" y="1127"/>
                  </a:lnTo>
                  <a:lnTo>
                    <a:pt x="206669" y="18059"/>
                  </a:lnTo>
                  <a:lnTo>
                    <a:pt x="242803" y="48554"/>
                  </a:lnTo>
                  <a:lnTo>
                    <a:pt x="266517" y="90342"/>
                  </a:lnTo>
                  <a:lnTo>
                    <a:pt x="275554" y="136641"/>
                  </a:lnTo>
                  <a:lnTo>
                    <a:pt x="273298" y="161498"/>
                  </a:lnTo>
                  <a:lnTo>
                    <a:pt x="256352" y="205541"/>
                  </a:lnTo>
                  <a:lnTo>
                    <a:pt x="225872" y="242803"/>
                  </a:lnTo>
                  <a:lnTo>
                    <a:pt x="184083" y="266517"/>
                  </a:lnTo>
                  <a:lnTo>
                    <a:pt x="137769" y="274426"/>
                  </a:lnTo>
                  <a:lnTo>
                    <a:pt x="114056" y="272171"/>
                  </a:lnTo>
                  <a:lnTo>
                    <a:pt x="68884" y="256352"/>
                  </a:lnTo>
                  <a:lnTo>
                    <a:pt x="31622" y="225872"/>
                  </a:lnTo>
                  <a:lnTo>
                    <a:pt x="7909" y="184083"/>
                  </a:lnTo>
                  <a:lnTo>
                    <a:pt x="0" y="136641"/>
                  </a:lnTo>
                </a:path>
              </a:pathLst>
            </a:custGeom>
            <a:ln w="942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/>
          <p:cNvSpPr txBox="1"/>
          <p:nvPr/>
        </p:nvSpPr>
        <p:spPr>
          <a:xfrm>
            <a:off x="1925649" y="6207402"/>
            <a:ext cx="11874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5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300">
              <a:latin typeface="Arial"/>
              <a:cs typeface="Arial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1850257" y="6885472"/>
            <a:ext cx="1100455" cy="275590"/>
          </a:xfrm>
          <a:custGeom>
            <a:avLst/>
            <a:gdLst/>
            <a:ahLst/>
            <a:cxnLst/>
            <a:rect l="l" t="t" r="r" b="b"/>
            <a:pathLst>
              <a:path w="1100455" h="275590">
                <a:moveTo>
                  <a:pt x="0" y="137769"/>
                </a:moveTo>
                <a:lnTo>
                  <a:pt x="7909" y="91470"/>
                </a:lnTo>
                <a:lnTo>
                  <a:pt x="31622" y="49682"/>
                </a:lnTo>
                <a:lnTo>
                  <a:pt x="68884" y="19187"/>
                </a:lnTo>
                <a:lnTo>
                  <a:pt x="114056" y="2255"/>
                </a:lnTo>
                <a:lnTo>
                  <a:pt x="137769" y="0"/>
                </a:lnTo>
                <a:lnTo>
                  <a:pt x="161498" y="2255"/>
                </a:lnTo>
                <a:lnTo>
                  <a:pt x="206669" y="19187"/>
                </a:lnTo>
                <a:lnTo>
                  <a:pt x="242803" y="49682"/>
                </a:lnTo>
                <a:lnTo>
                  <a:pt x="266517" y="91470"/>
                </a:lnTo>
                <a:lnTo>
                  <a:pt x="275554" y="137769"/>
                </a:lnTo>
                <a:lnTo>
                  <a:pt x="273298" y="161483"/>
                </a:lnTo>
                <a:lnTo>
                  <a:pt x="256352" y="206654"/>
                </a:lnTo>
                <a:lnTo>
                  <a:pt x="225872" y="243931"/>
                </a:lnTo>
                <a:lnTo>
                  <a:pt x="184083" y="267644"/>
                </a:lnTo>
                <a:lnTo>
                  <a:pt x="137769" y="275554"/>
                </a:lnTo>
                <a:lnTo>
                  <a:pt x="114056" y="273298"/>
                </a:lnTo>
                <a:lnTo>
                  <a:pt x="68884" y="257479"/>
                </a:lnTo>
                <a:lnTo>
                  <a:pt x="31622" y="226984"/>
                </a:lnTo>
                <a:lnTo>
                  <a:pt x="7909" y="185211"/>
                </a:lnTo>
                <a:lnTo>
                  <a:pt x="0" y="137769"/>
                </a:lnTo>
              </a:path>
              <a:path w="1100455" h="275590">
                <a:moveTo>
                  <a:pt x="824407" y="137769"/>
                </a:moveTo>
                <a:lnTo>
                  <a:pt x="833445" y="91470"/>
                </a:lnTo>
                <a:lnTo>
                  <a:pt x="857158" y="49682"/>
                </a:lnTo>
                <a:lnTo>
                  <a:pt x="893307" y="19187"/>
                </a:lnTo>
                <a:lnTo>
                  <a:pt x="938479" y="2255"/>
                </a:lnTo>
                <a:lnTo>
                  <a:pt x="962192" y="0"/>
                </a:lnTo>
                <a:lnTo>
                  <a:pt x="985906" y="2255"/>
                </a:lnTo>
                <a:lnTo>
                  <a:pt x="1031077" y="19187"/>
                </a:lnTo>
                <a:lnTo>
                  <a:pt x="1067226" y="49682"/>
                </a:lnTo>
                <a:lnTo>
                  <a:pt x="1092067" y="91470"/>
                </a:lnTo>
                <a:lnTo>
                  <a:pt x="1099977" y="137769"/>
                </a:lnTo>
                <a:lnTo>
                  <a:pt x="1097706" y="161483"/>
                </a:lnTo>
                <a:lnTo>
                  <a:pt x="1081902" y="206654"/>
                </a:lnTo>
                <a:lnTo>
                  <a:pt x="1050279" y="243931"/>
                </a:lnTo>
                <a:lnTo>
                  <a:pt x="1009619" y="267644"/>
                </a:lnTo>
                <a:lnTo>
                  <a:pt x="962192" y="275554"/>
                </a:lnTo>
                <a:lnTo>
                  <a:pt x="938479" y="273298"/>
                </a:lnTo>
                <a:lnTo>
                  <a:pt x="893307" y="257479"/>
                </a:lnTo>
                <a:lnTo>
                  <a:pt x="857158" y="226984"/>
                </a:lnTo>
                <a:lnTo>
                  <a:pt x="833445" y="185211"/>
                </a:lnTo>
                <a:lnTo>
                  <a:pt x="824407" y="137769"/>
                </a:lnTo>
              </a:path>
            </a:pathLst>
          </a:custGeom>
          <a:ln w="9426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 txBox="1"/>
          <p:nvPr/>
        </p:nvSpPr>
        <p:spPr>
          <a:xfrm>
            <a:off x="1925649" y="6905330"/>
            <a:ext cx="94297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39395" algn="l"/>
                <a:tab pos="806450" algn="l"/>
              </a:tabLst>
            </a:pPr>
            <a:r>
              <a:rPr dirty="0" sz="1300" spc="5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dirty="0" sz="1300" spc="5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u="sng" sz="1300" spc="5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5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	</a:t>
            </a:r>
            <a:r>
              <a:rPr dirty="0" sz="1300" spc="-1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00" spc="5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300">
              <a:latin typeface="Arial"/>
              <a:cs typeface="Arial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1953021" y="5970455"/>
            <a:ext cx="3585210" cy="1217295"/>
            <a:chOff x="1953021" y="5970455"/>
            <a:chExt cx="3585210" cy="1217295"/>
          </a:xfrm>
        </p:grpSpPr>
        <p:sp>
          <p:nvSpPr>
            <p:cNvPr id="50" name="object 50"/>
            <p:cNvSpPr/>
            <p:nvPr/>
          </p:nvSpPr>
          <p:spPr>
            <a:xfrm>
              <a:off x="1988027" y="6463095"/>
              <a:ext cx="0" cy="369570"/>
            </a:xfrm>
            <a:custGeom>
              <a:avLst/>
              <a:gdLst/>
              <a:ahLst/>
              <a:cxnLst/>
              <a:rect l="l" t="t" r="r" b="b"/>
              <a:pathLst>
                <a:path w="0" h="369570">
                  <a:moveTo>
                    <a:pt x="0" y="0"/>
                  </a:moveTo>
                  <a:lnTo>
                    <a:pt x="0" y="369295"/>
                  </a:lnTo>
                </a:path>
              </a:pathLst>
            </a:custGeom>
            <a:ln w="942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53021" y="6815444"/>
              <a:ext cx="70027" cy="70027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2114519" y="6970161"/>
              <a:ext cx="518795" cy="0"/>
            </a:xfrm>
            <a:custGeom>
              <a:avLst/>
              <a:gdLst/>
              <a:ahLst/>
              <a:cxnLst/>
              <a:rect l="l" t="t" r="r" b="b"/>
              <a:pathLst>
                <a:path w="518794" h="0">
                  <a:moveTo>
                    <a:pt x="0" y="0"/>
                  </a:moveTo>
                  <a:lnTo>
                    <a:pt x="518358" y="0"/>
                  </a:lnTo>
                </a:path>
              </a:pathLst>
            </a:custGeom>
            <a:ln w="942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617073" y="6935154"/>
              <a:ext cx="68884" cy="70027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2074986" y="6432600"/>
              <a:ext cx="591820" cy="467995"/>
            </a:xfrm>
            <a:custGeom>
              <a:avLst/>
              <a:gdLst/>
              <a:ahLst/>
              <a:cxnLst/>
              <a:rect l="l" t="t" r="r" b="b"/>
              <a:pathLst>
                <a:path w="591819" h="467995">
                  <a:moveTo>
                    <a:pt x="0" y="0"/>
                  </a:moveTo>
                  <a:lnTo>
                    <a:pt x="591784" y="467547"/>
                  </a:lnTo>
                </a:path>
              </a:pathLst>
            </a:custGeom>
            <a:ln w="942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631749" y="6861743"/>
              <a:ext cx="76794" cy="71155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116774" y="7036790"/>
              <a:ext cx="70027" cy="70027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1988027" y="5975217"/>
              <a:ext cx="325755" cy="356870"/>
            </a:xfrm>
            <a:custGeom>
              <a:avLst/>
              <a:gdLst/>
              <a:ahLst/>
              <a:cxnLst/>
              <a:rect l="l" t="t" r="r" b="b"/>
              <a:pathLst>
                <a:path w="325755" h="356870">
                  <a:moveTo>
                    <a:pt x="0" y="213451"/>
                  </a:moveTo>
                  <a:lnTo>
                    <a:pt x="2270" y="203286"/>
                  </a:lnTo>
                  <a:lnTo>
                    <a:pt x="3398" y="194249"/>
                  </a:lnTo>
                  <a:lnTo>
                    <a:pt x="4526" y="184083"/>
                  </a:lnTo>
                  <a:lnTo>
                    <a:pt x="4526" y="172791"/>
                  </a:lnTo>
                  <a:lnTo>
                    <a:pt x="5654" y="161498"/>
                  </a:lnTo>
                  <a:lnTo>
                    <a:pt x="5654" y="127619"/>
                  </a:lnTo>
                  <a:lnTo>
                    <a:pt x="4526" y="116326"/>
                  </a:lnTo>
                  <a:lnTo>
                    <a:pt x="4526" y="105034"/>
                  </a:lnTo>
                  <a:lnTo>
                    <a:pt x="5654" y="94868"/>
                  </a:lnTo>
                  <a:lnTo>
                    <a:pt x="5654" y="73411"/>
                  </a:lnTo>
                  <a:lnTo>
                    <a:pt x="6781" y="63245"/>
                  </a:lnTo>
                  <a:lnTo>
                    <a:pt x="9037" y="53080"/>
                  </a:lnTo>
                  <a:lnTo>
                    <a:pt x="11308" y="45171"/>
                  </a:lnTo>
                  <a:lnTo>
                    <a:pt x="13563" y="36149"/>
                  </a:lnTo>
                  <a:lnTo>
                    <a:pt x="46314" y="4526"/>
                  </a:lnTo>
                  <a:lnTo>
                    <a:pt x="70027" y="0"/>
                  </a:lnTo>
                  <a:lnTo>
                    <a:pt x="82448" y="0"/>
                  </a:lnTo>
                  <a:lnTo>
                    <a:pt x="126491" y="9037"/>
                  </a:lnTo>
                  <a:lnTo>
                    <a:pt x="172791" y="27111"/>
                  </a:lnTo>
                  <a:lnTo>
                    <a:pt x="187482" y="36149"/>
                  </a:lnTo>
                  <a:lnTo>
                    <a:pt x="203286" y="45171"/>
                  </a:lnTo>
                  <a:lnTo>
                    <a:pt x="245074" y="76794"/>
                  </a:lnTo>
                  <a:lnTo>
                    <a:pt x="284606" y="119710"/>
                  </a:lnTo>
                  <a:lnTo>
                    <a:pt x="306049" y="156987"/>
                  </a:lnTo>
                  <a:lnTo>
                    <a:pt x="319613" y="195376"/>
                  </a:lnTo>
                  <a:lnTo>
                    <a:pt x="325252" y="233781"/>
                  </a:lnTo>
                  <a:lnTo>
                    <a:pt x="324124" y="251840"/>
                  </a:lnTo>
                  <a:lnTo>
                    <a:pt x="308320" y="301538"/>
                  </a:lnTo>
                  <a:lnTo>
                    <a:pt x="271043" y="337672"/>
                  </a:lnTo>
                  <a:lnTo>
                    <a:pt x="213451" y="355747"/>
                  </a:lnTo>
                  <a:lnTo>
                    <a:pt x="189737" y="356875"/>
                  </a:lnTo>
                </a:path>
              </a:pathLst>
            </a:custGeom>
            <a:ln w="942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125812" y="6299342"/>
              <a:ext cx="73411" cy="68884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4940121" y="6167212"/>
              <a:ext cx="593090" cy="1015365"/>
            </a:xfrm>
            <a:custGeom>
              <a:avLst/>
              <a:gdLst/>
              <a:ahLst/>
              <a:cxnLst/>
              <a:rect l="l" t="t" r="r" b="b"/>
              <a:pathLst>
                <a:path w="593089" h="1015365">
                  <a:moveTo>
                    <a:pt x="0" y="1015272"/>
                  </a:moveTo>
                  <a:lnTo>
                    <a:pt x="169400" y="1015272"/>
                  </a:lnTo>
                  <a:lnTo>
                    <a:pt x="169400" y="0"/>
                  </a:lnTo>
                  <a:lnTo>
                    <a:pt x="0" y="0"/>
                  </a:lnTo>
                  <a:lnTo>
                    <a:pt x="0" y="1015272"/>
                  </a:lnTo>
                  <a:close/>
                </a:path>
                <a:path w="593089" h="1015365">
                  <a:moveTo>
                    <a:pt x="0" y="338798"/>
                  </a:moveTo>
                  <a:lnTo>
                    <a:pt x="169392" y="338798"/>
                  </a:lnTo>
                </a:path>
                <a:path w="593089" h="1015365">
                  <a:moveTo>
                    <a:pt x="0" y="676471"/>
                  </a:moveTo>
                  <a:lnTo>
                    <a:pt x="169392" y="676471"/>
                  </a:lnTo>
                </a:path>
                <a:path w="593089" h="1015365">
                  <a:moveTo>
                    <a:pt x="338785" y="254094"/>
                  </a:moveTo>
                  <a:lnTo>
                    <a:pt x="592886" y="254094"/>
                  </a:lnTo>
                  <a:lnTo>
                    <a:pt x="592886" y="84694"/>
                  </a:lnTo>
                  <a:lnTo>
                    <a:pt x="338785" y="84694"/>
                  </a:lnTo>
                  <a:lnTo>
                    <a:pt x="338785" y="254094"/>
                  </a:lnTo>
                  <a:close/>
                </a:path>
              </a:pathLst>
            </a:custGeom>
            <a:ln w="942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0" name="object 60"/>
          <p:cNvSpPr txBox="1"/>
          <p:nvPr/>
        </p:nvSpPr>
        <p:spPr>
          <a:xfrm>
            <a:off x="3573346" y="5969559"/>
            <a:ext cx="97790" cy="1809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911017" y="5969559"/>
            <a:ext cx="97790" cy="1809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259982" y="5969559"/>
            <a:ext cx="97790" cy="1809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277461" y="6233823"/>
            <a:ext cx="97790" cy="1809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277461" y="6580529"/>
            <a:ext cx="97790" cy="1809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277461" y="6919329"/>
            <a:ext cx="97790" cy="1809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66" name="object 66"/>
          <p:cNvGraphicFramePr>
            <a:graphicFrameLocks noGrp="1"/>
          </p:cNvGraphicFramePr>
          <p:nvPr/>
        </p:nvGraphicFramePr>
        <p:xfrm>
          <a:off x="3443549" y="6162499"/>
          <a:ext cx="1050290" cy="10248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9090"/>
                <a:gridCol w="339090"/>
                <a:gridCol w="358139"/>
              </a:tblGrid>
              <a:tr h="338798"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3144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337672"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8953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8953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31445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8953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338800"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9080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9080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31445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90805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67" name="object 67"/>
          <p:cNvSpPr txBox="1"/>
          <p:nvPr/>
        </p:nvSpPr>
        <p:spPr>
          <a:xfrm>
            <a:off x="5278907" y="6251907"/>
            <a:ext cx="169545" cy="169545"/>
          </a:xfrm>
          <a:prstGeom prst="rect">
            <a:avLst/>
          </a:prstGeom>
          <a:solidFill>
            <a:srgbClr val="7E0000"/>
          </a:solidFill>
          <a:ln w="9426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6990">
              <a:lnSpc>
                <a:spcPts val="1180"/>
              </a:lnSpc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5485340" y="6247145"/>
            <a:ext cx="458470" cy="179070"/>
            <a:chOff x="5485340" y="6247145"/>
            <a:chExt cx="458470" cy="179070"/>
          </a:xfrm>
        </p:grpSpPr>
        <p:sp>
          <p:nvSpPr>
            <p:cNvPr id="69" name="object 69"/>
            <p:cNvSpPr/>
            <p:nvPr/>
          </p:nvSpPr>
          <p:spPr>
            <a:xfrm>
              <a:off x="5490103" y="6336604"/>
              <a:ext cx="159385" cy="0"/>
            </a:xfrm>
            <a:custGeom>
              <a:avLst/>
              <a:gdLst/>
              <a:ahLst/>
              <a:cxnLst/>
              <a:rect l="l" t="t" r="r" b="b"/>
              <a:pathLst>
                <a:path w="159385" h="0">
                  <a:moveTo>
                    <a:pt x="0" y="0"/>
                  </a:moveTo>
                  <a:lnTo>
                    <a:pt x="159227" y="0"/>
                  </a:lnTo>
                </a:path>
              </a:pathLst>
            </a:custGeom>
            <a:ln w="942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5632399" y="6301597"/>
              <a:ext cx="70485" cy="70485"/>
            </a:xfrm>
            <a:custGeom>
              <a:avLst/>
              <a:gdLst/>
              <a:ahLst/>
              <a:cxnLst/>
              <a:rect l="l" t="t" r="r" b="b"/>
              <a:pathLst>
                <a:path w="70485" h="70485">
                  <a:moveTo>
                    <a:pt x="0" y="0"/>
                  </a:moveTo>
                  <a:lnTo>
                    <a:pt x="1127" y="3398"/>
                  </a:lnTo>
                  <a:lnTo>
                    <a:pt x="3383" y="7909"/>
                  </a:lnTo>
                  <a:lnTo>
                    <a:pt x="4511" y="11292"/>
                  </a:lnTo>
                  <a:lnTo>
                    <a:pt x="6766" y="20330"/>
                  </a:lnTo>
                  <a:lnTo>
                    <a:pt x="6766" y="23713"/>
                  </a:lnTo>
                  <a:lnTo>
                    <a:pt x="7909" y="28239"/>
                  </a:lnTo>
                  <a:lnTo>
                    <a:pt x="7909" y="40660"/>
                  </a:lnTo>
                  <a:lnTo>
                    <a:pt x="6766" y="45171"/>
                  </a:lnTo>
                  <a:lnTo>
                    <a:pt x="6766" y="49697"/>
                  </a:lnTo>
                  <a:lnTo>
                    <a:pt x="5638" y="54208"/>
                  </a:lnTo>
                  <a:lnTo>
                    <a:pt x="4511" y="57591"/>
                  </a:lnTo>
                  <a:lnTo>
                    <a:pt x="3383" y="62118"/>
                  </a:lnTo>
                  <a:lnTo>
                    <a:pt x="1127" y="65501"/>
                  </a:lnTo>
                  <a:lnTo>
                    <a:pt x="0" y="70027"/>
                  </a:lnTo>
                  <a:lnTo>
                    <a:pt x="70012" y="350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5685480" y="6251907"/>
              <a:ext cx="253365" cy="169545"/>
            </a:xfrm>
            <a:custGeom>
              <a:avLst/>
              <a:gdLst/>
              <a:ahLst/>
              <a:cxnLst/>
              <a:rect l="l" t="t" r="r" b="b"/>
              <a:pathLst>
                <a:path w="253364" h="169545">
                  <a:moveTo>
                    <a:pt x="0" y="169400"/>
                  </a:moveTo>
                  <a:lnTo>
                    <a:pt x="252970" y="169400"/>
                  </a:lnTo>
                  <a:lnTo>
                    <a:pt x="252970" y="0"/>
                  </a:lnTo>
                  <a:lnTo>
                    <a:pt x="0" y="0"/>
                  </a:lnTo>
                  <a:lnTo>
                    <a:pt x="0" y="169400"/>
                  </a:lnTo>
                  <a:close/>
                </a:path>
              </a:pathLst>
            </a:custGeom>
            <a:ln w="942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" name="object 72"/>
          <p:cNvSpPr txBox="1"/>
          <p:nvPr/>
        </p:nvSpPr>
        <p:spPr>
          <a:xfrm>
            <a:off x="5685480" y="6251907"/>
            <a:ext cx="168275" cy="169545"/>
          </a:xfrm>
          <a:prstGeom prst="rect">
            <a:avLst/>
          </a:prstGeom>
          <a:solidFill>
            <a:srgbClr val="7E0000"/>
          </a:solidFill>
          <a:ln w="9426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6990">
              <a:lnSpc>
                <a:spcPts val="1180"/>
              </a:lnSpc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5061836" y="6247145"/>
            <a:ext cx="1304925" cy="801370"/>
            <a:chOff x="5061836" y="6247145"/>
            <a:chExt cx="1304925" cy="801370"/>
          </a:xfrm>
        </p:grpSpPr>
        <p:sp>
          <p:nvSpPr>
            <p:cNvPr id="74" name="object 74"/>
            <p:cNvSpPr/>
            <p:nvPr/>
          </p:nvSpPr>
          <p:spPr>
            <a:xfrm>
              <a:off x="5896660" y="6336604"/>
              <a:ext cx="158115" cy="0"/>
            </a:xfrm>
            <a:custGeom>
              <a:avLst/>
              <a:gdLst/>
              <a:ahLst/>
              <a:cxnLst/>
              <a:rect l="l" t="t" r="r" b="b"/>
              <a:pathLst>
                <a:path w="158114" h="0">
                  <a:moveTo>
                    <a:pt x="0" y="0"/>
                  </a:moveTo>
                  <a:lnTo>
                    <a:pt x="158099" y="0"/>
                  </a:lnTo>
                </a:path>
              </a:pathLst>
            </a:custGeom>
            <a:ln w="942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6037828" y="6301597"/>
              <a:ext cx="70485" cy="70485"/>
            </a:xfrm>
            <a:custGeom>
              <a:avLst/>
              <a:gdLst/>
              <a:ahLst/>
              <a:cxnLst/>
              <a:rect l="l" t="t" r="r" b="b"/>
              <a:pathLst>
                <a:path w="70485" h="70485">
                  <a:moveTo>
                    <a:pt x="0" y="0"/>
                  </a:moveTo>
                  <a:lnTo>
                    <a:pt x="2255" y="3398"/>
                  </a:lnTo>
                  <a:lnTo>
                    <a:pt x="3383" y="7909"/>
                  </a:lnTo>
                  <a:lnTo>
                    <a:pt x="4511" y="11292"/>
                  </a:lnTo>
                  <a:lnTo>
                    <a:pt x="6781" y="20330"/>
                  </a:lnTo>
                  <a:lnTo>
                    <a:pt x="7909" y="23713"/>
                  </a:lnTo>
                  <a:lnTo>
                    <a:pt x="7909" y="45171"/>
                  </a:lnTo>
                  <a:lnTo>
                    <a:pt x="5638" y="54208"/>
                  </a:lnTo>
                  <a:lnTo>
                    <a:pt x="4511" y="57591"/>
                  </a:lnTo>
                  <a:lnTo>
                    <a:pt x="3383" y="62118"/>
                  </a:lnTo>
                  <a:lnTo>
                    <a:pt x="2255" y="65501"/>
                  </a:lnTo>
                  <a:lnTo>
                    <a:pt x="0" y="70027"/>
                  </a:lnTo>
                  <a:lnTo>
                    <a:pt x="70012" y="350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5066598" y="6336604"/>
              <a:ext cx="159385" cy="0"/>
            </a:xfrm>
            <a:custGeom>
              <a:avLst/>
              <a:gdLst/>
              <a:ahLst/>
              <a:cxnLst/>
              <a:rect l="l" t="t" r="r" b="b"/>
              <a:pathLst>
                <a:path w="159385" h="0">
                  <a:moveTo>
                    <a:pt x="0" y="0"/>
                  </a:moveTo>
                  <a:lnTo>
                    <a:pt x="159242" y="0"/>
                  </a:lnTo>
                </a:path>
              </a:pathLst>
            </a:custGeom>
            <a:ln w="942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5208894" y="6301597"/>
              <a:ext cx="70485" cy="70485"/>
            </a:xfrm>
            <a:custGeom>
              <a:avLst/>
              <a:gdLst/>
              <a:ahLst/>
              <a:cxnLst/>
              <a:rect l="l" t="t" r="r" b="b"/>
              <a:pathLst>
                <a:path w="70485" h="70485">
                  <a:moveTo>
                    <a:pt x="0" y="0"/>
                  </a:moveTo>
                  <a:lnTo>
                    <a:pt x="1127" y="3398"/>
                  </a:lnTo>
                  <a:lnTo>
                    <a:pt x="3383" y="7909"/>
                  </a:lnTo>
                  <a:lnTo>
                    <a:pt x="4526" y="11292"/>
                  </a:lnTo>
                  <a:lnTo>
                    <a:pt x="6781" y="20330"/>
                  </a:lnTo>
                  <a:lnTo>
                    <a:pt x="6781" y="23713"/>
                  </a:lnTo>
                  <a:lnTo>
                    <a:pt x="7909" y="28239"/>
                  </a:lnTo>
                  <a:lnTo>
                    <a:pt x="7909" y="40660"/>
                  </a:lnTo>
                  <a:lnTo>
                    <a:pt x="6781" y="45171"/>
                  </a:lnTo>
                  <a:lnTo>
                    <a:pt x="6781" y="49697"/>
                  </a:lnTo>
                  <a:lnTo>
                    <a:pt x="5654" y="54208"/>
                  </a:lnTo>
                  <a:lnTo>
                    <a:pt x="4526" y="57591"/>
                  </a:lnTo>
                  <a:lnTo>
                    <a:pt x="3383" y="62118"/>
                  </a:lnTo>
                  <a:lnTo>
                    <a:pt x="1127" y="65501"/>
                  </a:lnTo>
                  <a:lnTo>
                    <a:pt x="0" y="70027"/>
                  </a:lnTo>
                  <a:lnTo>
                    <a:pt x="70012" y="350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5066598" y="6675404"/>
              <a:ext cx="159385" cy="0"/>
            </a:xfrm>
            <a:custGeom>
              <a:avLst/>
              <a:gdLst/>
              <a:ahLst/>
              <a:cxnLst/>
              <a:rect l="l" t="t" r="r" b="b"/>
              <a:pathLst>
                <a:path w="159385" h="0">
                  <a:moveTo>
                    <a:pt x="0" y="0"/>
                  </a:moveTo>
                  <a:lnTo>
                    <a:pt x="159242" y="0"/>
                  </a:lnTo>
                </a:path>
              </a:pathLst>
            </a:custGeom>
            <a:ln w="942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5208894" y="6640398"/>
              <a:ext cx="70485" cy="69215"/>
            </a:xfrm>
            <a:custGeom>
              <a:avLst/>
              <a:gdLst/>
              <a:ahLst/>
              <a:cxnLst/>
              <a:rect l="l" t="t" r="r" b="b"/>
              <a:pathLst>
                <a:path w="70485" h="69215">
                  <a:moveTo>
                    <a:pt x="0" y="0"/>
                  </a:moveTo>
                  <a:lnTo>
                    <a:pt x="1127" y="3383"/>
                  </a:lnTo>
                  <a:lnTo>
                    <a:pt x="3383" y="7909"/>
                  </a:lnTo>
                  <a:lnTo>
                    <a:pt x="4526" y="11292"/>
                  </a:lnTo>
                  <a:lnTo>
                    <a:pt x="6781" y="20330"/>
                  </a:lnTo>
                  <a:lnTo>
                    <a:pt x="6781" y="23713"/>
                  </a:lnTo>
                  <a:lnTo>
                    <a:pt x="7909" y="28239"/>
                  </a:lnTo>
                  <a:lnTo>
                    <a:pt x="7909" y="40660"/>
                  </a:lnTo>
                  <a:lnTo>
                    <a:pt x="6781" y="44043"/>
                  </a:lnTo>
                  <a:lnTo>
                    <a:pt x="6781" y="48569"/>
                  </a:lnTo>
                  <a:lnTo>
                    <a:pt x="5654" y="53080"/>
                  </a:lnTo>
                  <a:lnTo>
                    <a:pt x="4526" y="56464"/>
                  </a:lnTo>
                  <a:lnTo>
                    <a:pt x="3383" y="60990"/>
                  </a:lnTo>
                  <a:lnTo>
                    <a:pt x="1127" y="64373"/>
                  </a:lnTo>
                  <a:lnTo>
                    <a:pt x="0" y="68884"/>
                  </a:lnTo>
                  <a:lnTo>
                    <a:pt x="70012" y="350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5066598" y="7013077"/>
              <a:ext cx="159385" cy="0"/>
            </a:xfrm>
            <a:custGeom>
              <a:avLst/>
              <a:gdLst/>
              <a:ahLst/>
              <a:cxnLst/>
              <a:rect l="l" t="t" r="r" b="b"/>
              <a:pathLst>
                <a:path w="159385" h="0">
                  <a:moveTo>
                    <a:pt x="0" y="0"/>
                  </a:moveTo>
                  <a:lnTo>
                    <a:pt x="159242" y="0"/>
                  </a:lnTo>
                </a:path>
              </a:pathLst>
            </a:custGeom>
            <a:ln w="942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5208894" y="6978071"/>
              <a:ext cx="70485" cy="70485"/>
            </a:xfrm>
            <a:custGeom>
              <a:avLst/>
              <a:gdLst/>
              <a:ahLst/>
              <a:cxnLst/>
              <a:rect l="l" t="t" r="r" b="b"/>
              <a:pathLst>
                <a:path w="70485" h="70484">
                  <a:moveTo>
                    <a:pt x="0" y="0"/>
                  </a:moveTo>
                  <a:lnTo>
                    <a:pt x="1127" y="3383"/>
                  </a:lnTo>
                  <a:lnTo>
                    <a:pt x="3383" y="7909"/>
                  </a:lnTo>
                  <a:lnTo>
                    <a:pt x="4526" y="11292"/>
                  </a:lnTo>
                  <a:lnTo>
                    <a:pt x="6781" y="20330"/>
                  </a:lnTo>
                  <a:lnTo>
                    <a:pt x="6781" y="23713"/>
                  </a:lnTo>
                  <a:lnTo>
                    <a:pt x="7909" y="28239"/>
                  </a:lnTo>
                  <a:lnTo>
                    <a:pt x="7909" y="40660"/>
                  </a:lnTo>
                  <a:lnTo>
                    <a:pt x="6781" y="45171"/>
                  </a:lnTo>
                  <a:lnTo>
                    <a:pt x="6781" y="49697"/>
                  </a:lnTo>
                  <a:lnTo>
                    <a:pt x="5654" y="54208"/>
                  </a:lnTo>
                  <a:lnTo>
                    <a:pt x="4526" y="57591"/>
                  </a:lnTo>
                  <a:lnTo>
                    <a:pt x="3383" y="62118"/>
                  </a:lnTo>
                  <a:lnTo>
                    <a:pt x="1127" y="65501"/>
                  </a:lnTo>
                  <a:lnTo>
                    <a:pt x="0" y="70012"/>
                  </a:lnTo>
                  <a:lnTo>
                    <a:pt x="70012" y="350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6107841" y="6251907"/>
              <a:ext cx="254635" cy="169545"/>
            </a:xfrm>
            <a:custGeom>
              <a:avLst/>
              <a:gdLst/>
              <a:ahLst/>
              <a:cxnLst/>
              <a:rect l="l" t="t" r="r" b="b"/>
              <a:pathLst>
                <a:path w="254635" h="169545">
                  <a:moveTo>
                    <a:pt x="0" y="169400"/>
                  </a:moveTo>
                  <a:lnTo>
                    <a:pt x="254099" y="169400"/>
                  </a:lnTo>
                  <a:lnTo>
                    <a:pt x="254099" y="0"/>
                  </a:lnTo>
                  <a:lnTo>
                    <a:pt x="0" y="0"/>
                  </a:lnTo>
                  <a:lnTo>
                    <a:pt x="0" y="169400"/>
                  </a:lnTo>
                  <a:close/>
                </a:path>
              </a:pathLst>
            </a:custGeom>
            <a:ln w="942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" name="object 83"/>
          <p:cNvSpPr txBox="1"/>
          <p:nvPr/>
        </p:nvSpPr>
        <p:spPr>
          <a:xfrm>
            <a:off x="6107841" y="6251907"/>
            <a:ext cx="169545" cy="169545"/>
          </a:xfrm>
          <a:prstGeom prst="rect">
            <a:avLst/>
          </a:prstGeom>
          <a:solidFill>
            <a:srgbClr val="7E0000"/>
          </a:solidFill>
          <a:ln w="9426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6990">
              <a:lnSpc>
                <a:spcPts val="1180"/>
              </a:lnSpc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5281178" y="6251915"/>
            <a:ext cx="1080770" cy="507365"/>
          </a:xfrm>
          <a:custGeom>
            <a:avLst/>
            <a:gdLst/>
            <a:ahLst/>
            <a:cxnLst/>
            <a:rect l="l" t="t" r="r" b="b"/>
            <a:pathLst>
              <a:path w="1080770" h="507365">
                <a:moveTo>
                  <a:pt x="996071" y="0"/>
                </a:moveTo>
                <a:lnTo>
                  <a:pt x="996071" y="169392"/>
                </a:lnTo>
              </a:path>
              <a:path w="1080770" h="507365">
                <a:moveTo>
                  <a:pt x="1080775" y="0"/>
                </a:moveTo>
                <a:lnTo>
                  <a:pt x="996071" y="169392"/>
                </a:lnTo>
              </a:path>
              <a:path w="1080770" h="507365">
                <a:moveTo>
                  <a:pt x="0" y="507065"/>
                </a:moveTo>
                <a:lnTo>
                  <a:pt x="254099" y="507065"/>
                </a:lnTo>
                <a:lnTo>
                  <a:pt x="254099" y="338794"/>
                </a:lnTo>
                <a:lnTo>
                  <a:pt x="0" y="338794"/>
                </a:lnTo>
                <a:lnTo>
                  <a:pt x="0" y="507065"/>
                </a:lnTo>
                <a:close/>
              </a:path>
            </a:pathLst>
          </a:custGeom>
          <a:ln w="9426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 txBox="1"/>
          <p:nvPr/>
        </p:nvSpPr>
        <p:spPr>
          <a:xfrm>
            <a:off x="5281178" y="6590710"/>
            <a:ext cx="169545" cy="168275"/>
          </a:xfrm>
          <a:prstGeom prst="rect">
            <a:avLst/>
          </a:prstGeom>
          <a:solidFill>
            <a:srgbClr val="7E0000"/>
          </a:solidFill>
          <a:ln w="9426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6990">
              <a:lnSpc>
                <a:spcPts val="1170"/>
              </a:lnSpc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5281178" y="6590715"/>
            <a:ext cx="254635" cy="507365"/>
          </a:xfrm>
          <a:custGeom>
            <a:avLst/>
            <a:gdLst/>
            <a:ahLst/>
            <a:cxnLst/>
            <a:rect l="l" t="t" r="r" b="b"/>
            <a:pathLst>
              <a:path w="254635" h="507365">
                <a:moveTo>
                  <a:pt x="169392" y="0"/>
                </a:moveTo>
                <a:lnTo>
                  <a:pt x="169392" y="168264"/>
                </a:lnTo>
              </a:path>
              <a:path w="254635" h="507365">
                <a:moveTo>
                  <a:pt x="254096" y="0"/>
                </a:moveTo>
                <a:lnTo>
                  <a:pt x="169392" y="168264"/>
                </a:lnTo>
              </a:path>
              <a:path w="254635" h="507365">
                <a:moveTo>
                  <a:pt x="0" y="507065"/>
                </a:moveTo>
                <a:lnTo>
                  <a:pt x="254099" y="507065"/>
                </a:lnTo>
                <a:lnTo>
                  <a:pt x="254099" y="337665"/>
                </a:lnTo>
                <a:lnTo>
                  <a:pt x="0" y="337665"/>
                </a:lnTo>
                <a:lnTo>
                  <a:pt x="0" y="507065"/>
                </a:lnTo>
                <a:close/>
              </a:path>
            </a:pathLst>
          </a:custGeom>
          <a:ln w="9426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" name="object 87"/>
          <p:cNvSpPr txBox="1"/>
          <p:nvPr/>
        </p:nvSpPr>
        <p:spPr>
          <a:xfrm>
            <a:off x="5281178" y="6928380"/>
            <a:ext cx="169545" cy="169545"/>
          </a:xfrm>
          <a:prstGeom prst="rect">
            <a:avLst/>
          </a:prstGeom>
          <a:solidFill>
            <a:srgbClr val="7E0000"/>
          </a:solidFill>
          <a:ln w="9426">
            <a:solidFill>
              <a:srgbClr val="FFFFFF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6990">
              <a:lnSpc>
                <a:spcPts val="1180"/>
              </a:lnSpc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5450570" y="6928373"/>
            <a:ext cx="85090" cy="169545"/>
          </a:xfrm>
          <a:custGeom>
            <a:avLst/>
            <a:gdLst/>
            <a:ahLst/>
            <a:cxnLst/>
            <a:rect l="l" t="t" r="r" b="b"/>
            <a:pathLst>
              <a:path w="85089" h="169545">
                <a:moveTo>
                  <a:pt x="0" y="0"/>
                </a:moveTo>
                <a:lnTo>
                  <a:pt x="0" y="169407"/>
                </a:lnTo>
              </a:path>
              <a:path w="85089" h="169545">
                <a:moveTo>
                  <a:pt x="84703" y="0"/>
                </a:moveTo>
                <a:lnTo>
                  <a:pt x="0" y="169407"/>
                </a:lnTo>
              </a:path>
            </a:pathLst>
          </a:custGeom>
          <a:ln w="9426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 txBox="1"/>
          <p:nvPr/>
        </p:nvSpPr>
        <p:spPr>
          <a:xfrm>
            <a:off x="4822391" y="6243979"/>
            <a:ext cx="97790" cy="1809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4822391" y="6591814"/>
            <a:ext cx="97790" cy="1809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4822391" y="6930614"/>
            <a:ext cx="97790" cy="1809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4905961" y="5988750"/>
            <a:ext cx="212725" cy="1809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5" i="1">
                <a:solidFill>
                  <a:srgbClr val="FFFFFF"/>
                </a:solidFill>
                <a:latin typeface="Arial"/>
                <a:cs typeface="Arial"/>
              </a:rPr>
              <a:t>Adj</a:t>
            </a:r>
            <a:endParaRPr sz="1000">
              <a:latin typeface="Arial"/>
              <a:cs typeface="Arial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901699" y="7279588"/>
            <a:ext cx="6252210" cy="170370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2571115">
              <a:lnSpc>
                <a:spcPct val="100000"/>
              </a:lnSpc>
              <a:spcBef>
                <a:spcPts val="120"/>
              </a:spcBef>
              <a:tabLst>
                <a:tab pos="4056379" algn="l"/>
              </a:tabLst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Adjacency</a:t>
            </a: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5">
                <a:solidFill>
                  <a:srgbClr val="FFFFFF"/>
                </a:solidFill>
                <a:latin typeface="Arial"/>
                <a:cs typeface="Arial"/>
              </a:rPr>
              <a:t>Matrix	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Adjacency</a:t>
            </a:r>
            <a:r>
              <a:rPr dirty="0" sz="1000" spc="-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5">
                <a:solidFill>
                  <a:srgbClr val="FFFFFF"/>
                </a:solidFill>
                <a:latin typeface="Arial"/>
                <a:cs typeface="Arial"/>
              </a:rPr>
              <a:t>List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Arial"/>
              <a:cs typeface="Arial"/>
            </a:endParaRPr>
          </a:p>
          <a:p>
            <a:pPr algn="ctr" marL="17399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8.6: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 </a:t>
            </a:r>
            <a:r>
              <a:rPr dirty="0" sz="1200" spc="-5">
                <a:latin typeface="Times New Roman"/>
                <a:cs typeface="Times New Roman"/>
              </a:rPr>
              <a:t>Representations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8.1	Graph</a:t>
            </a:r>
            <a:r>
              <a:rPr dirty="0" sz="1700" spc="-30" b="1">
                <a:latin typeface="Times New Roman"/>
                <a:cs typeface="Times New Roman"/>
              </a:rPr>
              <a:t> </a:t>
            </a:r>
            <a:r>
              <a:rPr dirty="0" sz="1700" spc="-15" b="1">
                <a:latin typeface="Times New Roman"/>
                <a:cs typeface="Times New Roman"/>
              </a:rPr>
              <a:t>Traversal</a:t>
            </a:r>
            <a:endParaRPr sz="17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1660"/>
              </a:spcBef>
            </a:pP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motivate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undirected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V,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E</a:t>
            </a:r>
            <a:r>
              <a:rPr dirty="0" sz="1200" spc="9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5" i="1">
                <a:latin typeface="Times New Roman"/>
                <a:cs typeface="Times New Roman"/>
              </a:rPr>
              <a:t>source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vertex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length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4412" y="1968245"/>
            <a:ext cx="4270375" cy="138430"/>
          </a:xfrm>
          <a:custGeom>
            <a:avLst/>
            <a:gdLst/>
            <a:ahLst/>
            <a:cxnLst/>
            <a:rect l="l" t="t" r="r" b="b"/>
            <a:pathLst>
              <a:path w="4270375" h="138430">
                <a:moveTo>
                  <a:pt x="4269892" y="0"/>
                </a:moveTo>
                <a:lnTo>
                  <a:pt x="0" y="0"/>
                </a:lnTo>
                <a:lnTo>
                  <a:pt x="0" y="138023"/>
                </a:lnTo>
                <a:lnTo>
                  <a:pt x="4269892" y="138023"/>
                </a:lnTo>
                <a:lnTo>
                  <a:pt x="4269892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0987"/>
            <a:ext cx="6426200" cy="21463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185535" algn="l"/>
              </a:tabLst>
            </a:pPr>
            <a:r>
              <a:rPr dirty="0" sz="1200" spc="-10">
                <a:latin typeface="Times New Roman"/>
                <a:cs typeface="Times New Roman"/>
              </a:rPr>
              <a:t>8.1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1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PH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</a:t>
            </a:r>
            <a:r>
              <a:rPr dirty="0" sz="1200" spc="-17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ERS</a:t>
            </a:r>
            <a:r>
              <a:rPr dirty="0" sz="1200" spc="-1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11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path.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way.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distance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(length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path)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-70">
                <a:latin typeface="Lucida Sans Unicode"/>
                <a:cs typeface="Lucida Sans Unicode"/>
              </a:rPr>
              <a:t>s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Note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25">
                <a:latin typeface="Lucida Sans Unicode"/>
                <a:cs typeface="Lucida Sans Unicode"/>
              </a:rPr>
              <a:t>d</a:t>
            </a:r>
            <a:r>
              <a:rPr dirty="0" sz="1200" spc="-25">
                <a:latin typeface="Garamond"/>
                <a:cs typeface="Garamond"/>
              </a:rPr>
              <a:t>[</a:t>
            </a:r>
            <a:r>
              <a:rPr dirty="0" sz="1200" spc="-25">
                <a:latin typeface="Lucida Sans Unicode"/>
                <a:cs typeface="Lucida Sans Unicode"/>
              </a:rPr>
              <a:t>s</a:t>
            </a:r>
            <a:r>
              <a:rPr dirty="0" sz="1200" spc="-25">
                <a:latin typeface="Garamond"/>
                <a:cs typeface="Garamond"/>
              </a:rPr>
              <a:t>]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85">
                <a:latin typeface="Lucida Sans Unicode"/>
                <a:cs typeface="Lucida Sans Unicode"/>
              </a:rPr>
              <a:t>0</a:t>
            </a:r>
            <a:r>
              <a:rPr dirty="0" sz="1200" spc="-85">
                <a:latin typeface="Times New Roman"/>
                <a:cs typeface="Times New Roman"/>
              </a:rPr>
              <a:t>.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also store a predecessor </a:t>
            </a:r>
            <a:r>
              <a:rPr dirty="0" sz="1200" spc="-10">
                <a:latin typeface="Times New Roman"/>
                <a:cs typeface="Times New Roman"/>
              </a:rPr>
              <a:t>(or </a:t>
            </a:r>
            <a:r>
              <a:rPr dirty="0" sz="1200" spc="-5">
                <a:latin typeface="Times New Roman"/>
                <a:cs typeface="Times New Roman"/>
              </a:rPr>
              <a:t>parent)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pointer </a:t>
            </a:r>
            <a:r>
              <a:rPr dirty="0" sz="1200" spc="-60">
                <a:latin typeface="Lucida Sans Unicode"/>
                <a:cs typeface="Lucida Sans Unicode"/>
              </a:rPr>
              <a:t>π</a:t>
            </a:r>
            <a:r>
              <a:rPr dirty="0" sz="1200" spc="-60">
                <a:latin typeface="Garamond"/>
                <a:cs typeface="Garamond"/>
              </a:rPr>
              <a:t>[</a:t>
            </a:r>
            <a:r>
              <a:rPr dirty="0" sz="1200" spc="-60">
                <a:latin typeface="Lucida Sans Unicode"/>
                <a:cs typeface="Lucida Sans Unicode"/>
              </a:rPr>
              <a:t>v</a:t>
            </a:r>
            <a:r>
              <a:rPr dirty="0" sz="1200" spc="-60">
                <a:latin typeface="Garamond"/>
                <a:cs typeface="Garamond"/>
              </a:rPr>
              <a:t>]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 spc="-15">
                <a:latin typeface="Times New Roman"/>
                <a:cs typeface="Times New Roman"/>
              </a:rPr>
              <a:t>vertex </a:t>
            </a:r>
            <a:r>
              <a:rPr dirty="0" sz="1200" spc="-5">
                <a:latin typeface="Times New Roman"/>
                <a:cs typeface="Times New Roman"/>
              </a:rPr>
              <a:t>along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path if </a:t>
            </a:r>
            <a:r>
              <a:rPr dirty="0" sz="1200" spc="-10">
                <a:latin typeface="Times New Roman"/>
                <a:cs typeface="Times New Roman"/>
              </a:rPr>
              <a:t>we walk </a:t>
            </a:r>
            <a:r>
              <a:rPr dirty="0" sz="1200" spc="-25">
                <a:latin typeface="Times New Roman"/>
                <a:cs typeface="Times New Roman"/>
              </a:rPr>
              <a:t>from </a:t>
            </a:r>
            <a:r>
              <a:rPr dirty="0" sz="1200" spc="-30">
                <a:latin typeface="Lucida Sans Unicode"/>
                <a:cs typeface="Lucida Sans Unicode"/>
              </a:rPr>
              <a:t>v </a:t>
            </a:r>
            <a:r>
              <a:rPr dirty="0" sz="1200" spc="-10">
                <a:latin typeface="Times New Roman"/>
                <a:cs typeface="Times New Roman"/>
              </a:rPr>
              <a:t>backwards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35">
                <a:latin typeface="Lucida Sans Unicode"/>
                <a:cs typeface="Lucida Sans Unicode"/>
              </a:rPr>
              <a:t>s</a:t>
            </a:r>
            <a:r>
              <a:rPr dirty="0" sz="1200" spc="-35">
                <a:latin typeface="Times New Roman"/>
                <a:cs typeface="Times New Roman"/>
              </a:rPr>
              <a:t>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π</a:t>
            </a:r>
            <a:r>
              <a:rPr dirty="0" sz="1200" spc="-70">
                <a:latin typeface="Garamond"/>
                <a:cs typeface="Garamond"/>
              </a:rPr>
              <a:t>[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70">
                <a:latin typeface="Garamond"/>
                <a:cs typeface="Garamond"/>
              </a:rPr>
              <a:t>]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Nil</a:t>
            </a:r>
            <a:r>
              <a:rPr dirty="0" sz="1200" spc="6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150495">
              <a:lnSpc>
                <a:spcPct val="100000"/>
              </a:lnSpc>
              <a:spcBef>
                <a:spcPts val="540"/>
              </a:spcBef>
            </a:pP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brute-force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strategy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enumerating </a:t>
            </a:r>
            <a:r>
              <a:rPr dirty="0" sz="1200" spc="-5">
                <a:latin typeface="Times New Roman"/>
                <a:cs typeface="Times New Roman"/>
              </a:rPr>
              <a:t> all </a:t>
            </a:r>
            <a:r>
              <a:rPr dirty="0" sz="1200" spc="-10">
                <a:latin typeface="Times New Roman"/>
                <a:cs typeface="Times New Roman"/>
              </a:rPr>
              <a:t>simple </a:t>
            </a:r>
            <a:r>
              <a:rPr dirty="0" sz="1200" spc="-5">
                <a:latin typeface="Times New Roman"/>
                <a:cs typeface="Times New Roman"/>
              </a:rPr>
              <a:t>paths starting at </a:t>
            </a:r>
            <a:r>
              <a:rPr dirty="0" sz="1200" spc="-35">
                <a:latin typeface="Lucida Sans Unicode"/>
                <a:cs typeface="Lucida Sans Unicode"/>
              </a:rPr>
              <a:t>s</a:t>
            </a:r>
            <a:r>
              <a:rPr dirty="0" sz="1200" spc="-35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keep </a:t>
            </a:r>
            <a:r>
              <a:rPr dirty="0" sz="1200" spc="-5">
                <a:latin typeface="Times New Roman"/>
                <a:cs typeface="Times New Roman"/>
              </a:rPr>
              <a:t>track 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path </a:t>
            </a:r>
            <a:r>
              <a:rPr dirty="0" sz="1200" spc="-10">
                <a:latin typeface="Times New Roman"/>
                <a:cs typeface="Times New Roman"/>
              </a:rPr>
              <a:t>arriving </a:t>
            </a:r>
            <a:r>
              <a:rPr dirty="0" sz="1200" spc="-5">
                <a:latin typeface="Times New Roman"/>
                <a:cs typeface="Times New Roman"/>
              </a:rPr>
              <a:t>at each </a:t>
            </a:r>
            <a:r>
              <a:rPr dirty="0" sz="1200" spc="-10">
                <a:latin typeface="Times New Roman"/>
                <a:cs typeface="Times New Roman"/>
              </a:rPr>
              <a:t>vertex.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 </a:t>
            </a:r>
            <a:r>
              <a:rPr dirty="0" sz="1200" spc="-5">
                <a:latin typeface="Times New Roman"/>
                <a:cs typeface="Times New Roman"/>
              </a:rPr>
              <a:t>there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n</a:t>
            </a:r>
            <a:r>
              <a:rPr dirty="0" sz="1200" spc="70">
                <a:latin typeface="Garamond"/>
                <a:cs typeface="Garamond"/>
              </a:rPr>
              <a:t>!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 spc="-5">
                <a:latin typeface="Times New Roman"/>
                <a:cs typeface="Times New Roman"/>
              </a:rPr>
              <a:t> paths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see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fully</a:t>
            </a:r>
            <a:r>
              <a:rPr dirty="0" sz="1200" spc="-5">
                <a:latin typeface="Times New Roman"/>
                <a:cs typeface="Times New Roman"/>
              </a:rPr>
              <a:t> connected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 8.7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229611" y="3160237"/>
            <a:ext cx="3733800" cy="2303145"/>
            <a:chOff x="2229611" y="3160237"/>
            <a:chExt cx="3733800" cy="2303145"/>
          </a:xfrm>
        </p:grpSpPr>
        <p:sp>
          <p:nvSpPr>
            <p:cNvPr id="5" name="object 5"/>
            <p:cNvSpPr/>
            <p:nvPr/>
          </p:nvSpPr>
          <p:spPr>
            <a:xfrm>
              <a:off x="2229611" y="3160237"/>
              <a:ext cx="3733800" cy="2303145"/>
            </a:xfrm>
            <a:custGeom>
              <a:avLst/>
              <a:gdLst/>
              <a:ahLst/>
              <a:cxnLst/>
              <a:rect l="l" t="t" r="r" b="b"/>
              <a:pathLst>
                <a:path w="3733800" h="2303145">
                  <a:moveTo>
                    <a:pt x="3733601" y="0"/>
                  </a:moveTo>
                  <a:lnTo>
                    <a:pt x="0" y="0"/>
                  </a:lnTo>
                  <a:lnTo>
                    <a:pt x="0" y="2302794"/>
                  </a:lnTo>
                  <a:lnTo>
                    <a:pt x="3733601" y="2302794"/>
                  </a:lnTo>
                  <a:lnTo>
                    <a:pt x="37336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789026" y="3496889"/>
              <a:ext cx="354965" cy="354965"/>
            </a:xfrm>
            <a:custGeom>
              <a:avLst/>
              <a:gdLst/>
              <a:ahLst/>
              <a:cxnLst/>
              <a:rect l="l" t="t" r="r" b="b"/>
              <a:pathLst>
                <a:path w="354964" h="354964">
                  <a:moveTo>
                    <a:pt x="201945" y="0"/>
                  </a:moveTo>
                  <a:lnTo>
                    <a:pt x="152415" y="0"/>
                  </a:lnTo>
                  <a:lnTo>
                    <a:pt x="102885" y="15239"/>
                  </a:lnTo>
                  <a:lnTo>
                    <a:pt x="60975" y="41909"/>
                  </a:lnTo>
                  <a:lnTo>
                    <a:pt x="26669" y="80025"/>
                  </a:lnTo>
                  <a:lnTo>
                    <a:pt x="7619" y="125745"/>
                  </a:lnTo>
                  <a:lnTo>
                    <a:pt x="0" y="175275"/>
                  </a:lnTo>
                  <a:lnTo>
                    <a:pt x="7619" y="228630"/>
                  </a:lnTo>
                  <a:lnTo>
                    <a:pt x="26669" y="274350"/>
                  </a:lnTo>
                  <a:lnTo>
                    <a:pt x="60975" y="312450"/>
                  </a:lnTo>
                  <a:lnTo>
                    <a:pt x="102885" y="339120"/>
                  </a:lnTo>
                  <a:lnTo>
                    <a:pt x="152415" y="354360"/>
                  </a:lnTo>
                  <a:lnTo>
                    <a:pt x="201945" y="354360"/>
                  </a:lnTo>
                  <a:lnTo>
                    <a:pt x="251490" y="339120"/>
                  </a:lnTo>
                  <a:lnTo>
                    <a:pt x="293400" y="312450"/>
                  </a:lnTo>
                  <a:lnTo>
                    <a:pt x="327690" y="274350"/>
                  </a:lnTo>
                  <a:lnTo>
                    <a:pt x="350550" y="228630"/>
                  </a:lnTo>
                  <a:lnTo>
                    <a:pt x="354360" y="175275"/>
                  </a:lnTo>
                  <a:lnTo>
                    <a:pt x="350550" y="125745"/>
                  </a:lnTo>
                  <a:lnTo>
                    <a:pt x="327690" y="80025"/>
                  </a:lnTo>
                  <a:lnTo>
                    <a:pt x="293400" y="41909"/>
                  </a:lnTo>
                  <a:lnTo>
                    <a:pt x="251490" y="15239"/>
                  </a:lnTo>
                  <a:lnTo>
                    <a:pt x="2019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789026" y="3496889"/>
              <a:ext cx="354965" cy="354965"/>
            </a:xfrm>
            <a:custGeom>
              <a:avLst/>
              <a:gdLst/>
              <a:ahLst/>
              <a:cxnLst/>
              <a:rect l="l" t="t" r="r" b="b"/>
              <a:pathLst>
                <a:path w="354964" h="354964">
                  <a:moveTo>
                    <a:pt x="0" y="175275"/>
                  </a:moveTo>
                  <a:lnTo>
                    <a:pt x="7619" y="125745"/>
                  </a:lnTo>
                  <a:lnTo>
                    <a:pt x="26669" y="80025"/>
                  </a:lnTo>
                  <a:lnTo>
                    <a:pt x="60975" y="41909"/>
                  </a:lnTo>
                  <a:lnTo>
                    <a:pt x="102885" y="15239"/>
                  </a:lnTo>
                  <a:lnTo>
                    <a:pt x="152415" y="0"/>
                  </a:lnTo>
                  <a:lnTo>
                    <a:pt x="201945" y="0"/>
                  </a:lnTo>
                  <a:lnTo>
                    <a:pt x="251490" y="15239"/>
                  </a:lnTo>
                  <a:lnTo>
                    <a:pt x="293400" y="41909"/>
                  </a:lnTo>
                  <a:lnTo>
                    <a:pt x="327690" y="80025"/>
                  </a:lnTo>
                  <a:lnTo>
                    <a:pt x="350550" y="125745"/>
                  </a:lnTo>
                  <a:lnTo>
                    <a:pt x="354360" y="175275"/>
                  </a:lnTo>
                  <a:lnTo>
                    <a:pt x="350550" y="228630"/>
                  </a:lnTo>
                  <a:lnTo>
                    <a:pt x="327690" y="274350"/>
                  </a:lnTo>
                  <a:lnTo>
                    <a:pt x="293400" y="312450"/>
                  </a:lnTo>
                  <a:lnTo>
                    <a:pt x="251490" y="339120"/>
                  </a:lnTo>
                  <a:lnTo>
                    <a:pt x="201945" y="354360"/>
                  </a:lnTo>
                  <a:lnTo>
                    <a:pt x="152415" y="354360"/>
                  </a:lnTo>
                  <a:lnTo>
                    <a:pt x="102885" y="339120"/>
                  </a:lnTo>
                  <a:lnTo>
                    <a:pt x="60975" y="312450"/>
                  </a:lnTo>
                  <a:lnTo>
                    <a:pt x="26669" y="274350"/>
                  </a:lnTo>
                  <a:lnTo>
                    <a:pt x="7619" y="228630"/>
                  </a:lnTo>
                  <a:lnTo>
                    <a:pt x="0" y="175275"/>
                  </a:lnTo>
                </a:path>
              </a:pathLst>
            </a:custGeom>
            <a:ln w="3975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793239" y="3496889"/>
              <a:ext cx="358775" cy="354965"/>
            </a:xfrm>
            <a:custGeom>
              <a:avLst/>
              <a:gdLst/>
              <a:ahLst/>
              <a:cxnLst/>
              <a:rect l="l" t="t" r="r" b="b"/>
              <a:pathLst>
                <a:path w="358775" h="354964">
                  <a:moveTo>
                    <a:pt x="205755" y="0"/>
                  </a:moveTo>
                  <a:lnTo>
                    <a:pt x="152415" y="0"/>
                  </a:lnTo>
                  <a:lnTo>
                    <a:pt x="106679" y="15239"/>
                  </a:lnTo>
                  <a:lnTo>
                    <a:pt x="60959" y="41909"/>
                  </a:lnTo>
                  <a:lnTo>
                    <a:pt x="30479" y="80025"/>
                  </a:lnTo>
                  <a:lnTo>
                    <a:pt x="7619" y="125745"/>
                  </a:lnTo>
                  <a:lnTo>
                    <a:pt x="0" y="175275"/>
                  </a:lnTo>
                  <a:lnTo>
                    <a:pt x="7619" y="228630"/>
                  </a:lnTo>
                  <a:lnTo>
                    <a:pt x="30479" y="274350"/>
                  </a:lnTo>
                  <a:lnTo>
                    <a:pt x="60959" y="312450"/>
                  </a:lnTo>
                  <a:lnTo>
                    <a:pt x="106679" y="339120"/>
                  </a:lnTo>
                  <a:lnTo>
                    <a:pt x="152415" y="354360"/>
                  </a:lnTo>
                  <a:lnTo>
                    <a:pt x="205755" y="354360"/>
                  </a:lnTo>
                  <a:lnTo>
                    <a:pt x="255285" y="339120"/>
                  </a:lnTo>
                  <a:lnTo>
                    <a:pt x="297195" y="312450"/>
                  </a:lnTo>
                  <a:lnTo>
                    <a:pt x="331485" y="274350"/>
                  </a:lnTo>
                  <a:lnTo>
                    <a:pt x="350550" y="228630"/>
                  </a:lnTo>
                  <a:lnTo>
                    <a:pt x="358170" y="175275"/>
                  </a:lnTo>
                  <a:lnTo>
                    <a:pt x="350550" y="125745"/>
                  </a:lnTo>
                  <a:lnTo>
                    <a:pt x="331485" y="80025"/>
                  </a:lnTo>
                  <a:lnTo>
                    <a:pt x="297195" y="41909"/>
                  </a:lnTo>
                  <a:lnTo>
                    <a:pt x="255285" y="15239"/>
                  </a:lnTo>
                  <a:lnTo>
                    <a:pt x="2057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793239" y="3496889"/>
              <a:ext cx="358775" cy="354965"/>
            </a:xfrm>
            <a:custGeom>
              <a:avLst/>
              <a:gdLst/>
              <a:ahLst/>
              <a:cxnLst/>
              <a:rect l="l" t="t" r="r" b="b"/>
              <a:pathLst>
                <a:path w="358775" h="354964">
                  <a:moveTo>
                    <a:pt x="0" y="175275"/>
                  </a:moveTo>
                  <a:lnTo>
                    <a:pt x="7619" y="125745"/>
                  </a:lnTo>
                  <a:lnTo>
                    <a:pt x="30479" y="80025"/>
                  </a:lnTo>
                  <a:lnTo>
                    <a:pt x="60959" y="41909"/>
                  </a:lnTo>
                  <a:lnTo>
                    <a:pt x="106679" y="15239"/>
                  </a:lnTo>
                  <a:lnTo>
                    <a:pt x="152415" y="0"/>
                  </a:lnTo>
                  <a:lnTo>
                    <a:pt x="205755" y="0"/>
                  </a:lnTo>
                  <a:lnTo>
                    <a:pt x="255285" y="15239"/>
                  </a:lnTo>
                  <a:lnTo>
                    <a:pt x="297195" y="41909"/>
                  </a:lnTo>
                  <a:lnTo>
                    <a:pt x="331485" y="80025"/>
                  </a:lnTo>
                  <a:lnTo>
                    <a:pt x="350550" y="125745"/>
                  </a:lnTo>
                  <a:lnTo>
                    <a:pt x="358170" y="175275"/>
                  </a:lnTo>
                  <a:lnTo>
                    <a:pt x="350550" y="228630"/>
                  </a:lnTo>
                  <a:lnTo>
                    <a:pt x="331485" y="274350"/>
                  </a:lnTo>
                  <a:lnTo>
                    <a:pt x="297195" y="312450"/>
                  </a:lnTo>
                  <a:lnTo>
                    <a:pt x="255285" y="339120"/>
                  </a:lnTo>
                  <a:lnTo>
                    <a:pt x="205755" y="354360"/>
                  </a:lnTo>
                  <a:lnTo>
                    <a:pt x="152415" y="354360"/>
                  </a:lnTo>
                  <a:lnTo>
                    <a:pt x="106679" y="339120"/>
                  </a:lnTo>
                  <a:lnTo>
                    <a:pt x="60959" y="312450"/>
                  </a:lnTo>
                  <a:lnTo>
                    <a:pt x="30479" y="274350"/>
                  </a:lnTo>
                  <a:lnTo>
                    <a:pt x="7619" y="228630"/>
                  </a:lnTo>
                  <a:lnTo>
                    <a:pt x="0" y="175275"/>
                  </a:lnTo>
                </a:path>
              </a:pathLst>
            </a:custGeom>
            <a:ln w="3975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789026" y="4925746"/>
              <a:ext cx="354965" cy="358775"/>
            </a:xfrm>
            <a:custGeom>
              <a:avLst/>
              <a:gdLst/>
              <a:ahLst/>
              <a:cxnLst/>
              <a:rect l="l" t="t" r="r" b="b"/>
              <a:pathLst>
                <a:path w="354964" h="358775">
                  <a:moveTo>
                    <a:pt x="201945" y="0"/>
                  </a:moveTo>
                  <a:lnTo>
                    <a:pt x="152415" y="0"/>
                  </a:lnTo>
                  <a:lnTo>
                    <a:pt x="102885" y="15239"/>
                  </a:lnTo>
                  <a:lnTo>
                    <a:pt x="60975" y="41909"/>
                  </a:lnTo>
                  <a:lnTo>
                    <a:pt x="26669" y="80025"/>
                  </a:lnTo>
                  <a:lnTo>
                    <a:pt x="7619" y="129555"/>
                  </a:lnTo>
                  <a:lnTo>
                    <a:pt x="0" y="182895"/>
                  </a:lnTo>
                  <a:lnTo>
                    <a:pt x="7619" y="232425"/>
                  </a:lnTo>
                  <a:lnTo>
                    <a:pt x="26669" y="278145"/>
                  </a:lnTo>
                  <a:lnTo>
                    <a:pt x="60975" y="316260"/>
                  </a:lnTo>
                  <a:lnTo>
                    <a:pt x="102885" y="342930"/>
                  </a:lnTo>
                  <a:lnTo>
                    <a:pt x="152415" y="358170"/>
                  </a:lnTo>
                  <a:lnTo>
                    <a:pt x="201945" y="358170"/>
                  </a:lnTo>
                  <a:lnTo>
                    <a:pt x="251490" y="342930"/>
                  </a:lnTo>
                  <a:lnTo>
                    <a:pt x="293400" y="316260"/>
                  </a:lnTo>
                  <a:lnTo>
                    <a:pt x="327690" y="278145"/>
                  </a:lnTo>
                  <a:lnTo>
                    <a:pt x="350550" y="232425"/>
                  </a:lnTo>
                  <a:lnTo>
                    <a:pt x="354360" y="182895"/>
                  </a:lnTo>
                  <a:lnTo>
                    <a:pt x="350550" y="129555"/>
                  </a:lnTo>
                  <a:lnTo>
                    <a:pt x="327690" y="80025"/>
                  </a:lnTo>
                  <a:lnTo>
                    <a:pt x="293400" y="41909"/>
                  </a:lnTo>
                  <a:lnTo>
                    <a:pt x="251490" y="15239"/>
                  </a:lnTo>
                  <a:lnTo>
                    <a:pt x="2019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789026" y="4925746"/>
              <a:ext cx="354965" cy="358775"/>
            </a:xfrm>
            <a:custGeom>
              <a:avLst/>
              <a:gdLst/>
              <a:ahLst/>
              <a:cxnLst/>
              <a:rect l="l" t="t" r="r" b="b"/>
              <a:pathLst>
                <a:path w="354964" h="358775">
                  <a:moveTo>
                    <a:pt x="0" y="182895"/>
                  </a:moveTo>
                  <a:lnTo>
                    <a:pt x="7619" y="129555"/>
                  </a:lnTo>
                  <a:lnTo>
                    <a:pt x="26669" y="80025"/>
                  </a:lnTo>
                  <a:lnTo>
                    <a:pt x="60975" y="41909"/>
                  </a:lnTo>
                  <a:lnTo>
                    <a:pt x="102885" y="15239"/>
                  </a:lnTo>
                  <a:lnTo>
                    <a:pt x="152415" y="0"/>
                  </a:lnTo>
                  <a:lnTo>
                    <a:pt x="201945" y="0"/>
                  </a:lnTo>
                  <a:lnTo>
                    <a:pt x="251490" y="15239"/>
                  </a:lnTo>
                  <a:lnTo>
                    <a:pt x="293400" y="41909"/>
                  </a:lnTo>
                  <a:lnTo>
                    <a:pt x="327690" y="80025"/>
                  </a:lnTo>
                  <a:lnTo>
                    <a:pt x="350550" y="129555"/>
                  </a:lnTo>
                  <a:lnTo>
                    <a:pt x="354360" y="182895"/>
                  </a:lnTo>
                  <a:lnTo>
                    <a:pt x="350550" y="232425"/>
                  </a:lnTo>
                  <a:lnTo>
                    <a:pt x="327690" y="278145"/>
                  </a:lnTo>
                  <a:lnTo>
                    <a:pt x="293400" y="316260"/>
                  </a:lnTo>
                  <a:lnTo>
                    <a:pt x="251490" y="342930"/>
                  </a:lnTo>
                  <a:lnTo>
                    <a:pt x="201945" y="358170"/>
                  </a:lnTo>
                  <a:lnTo>
                    <a:pt x="152415" y="358170"/>
                  </a:lnTo>
                  <a:lnTo>
                    <a:pt x="102885" y="342930"/>
                  </a:lnTo>
                  <a:lnTo>
                    <a:pt x="60975" y="316260"/>
                  </a:lnTo>
                  <a:lnTo>
                    <a:pt x="26669" y="278145"/>
                  </a:lnTo>
                  <a:lnTo>
                    <a:pt x="7619" y="232425"/>
                  </a:lnTo>
                  <a:lnTo>
                    <a:pt x="0" y="182895"/>
                  </a:lnTo>
                </a:path>
              </a:pathLst>
            </a:custGeom>
            <a:ln w="3975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793239" y="4925746"/>
              <a:ext cx="358775" cy="358775"/>
            </a:xfrm>
            <a:custGeom>
              <a:avLst/>
              <a:gdLst/>
              <a:ahLst/>
              <a:cxnLst/>
              <a:rect l="l" t="t" r="r" b="b"/>
              <a:pathLst>
                <a:path w="358775" h="358775">
                  <a:moveTo>
                    <a:pt x="205755" y="0"/>
                  </a:moveTo>
                  <a:lnTo>
                    <a:pt x="152415" y="0"/>
                  </a:lnTo>
                  <a:lnTo>
                    <a:pt x="106679" y="15239"/>
                  </a:lnTo>
                  <a:lnTo>
                    <a:pt x="60959" y="41909"/>
                  </a:lnTo>
                  <a:lnTo>
                    <a:pt x="30479" y="80025"/>
                  </a:lnTo>
                  <a:lnTo>
                    <a:pt x="7619" y="129555"/>
                  </a:lnTo>
                  <a:lnTo>
                    <a:pt x="0" y="182895"/>
                  </a:lnTo>
                  <a:lnTo>
                    <a:pt x="7619" y="232425"/>
                  </a:lnTo>
                  <a:lnTo>
                    <a:pt x="30479" y="278145"/>
                  </a:lnTo>
                  <a:lnTo>
                    <a:pt x="60959" y="316260"/>
                  </a:lnTo>
                  <a:lnTo>
                    <a:pt x="106679" y="342930"/>
                  </a:lnTo>
                  <a:lnTo>
                    <a:pt x="152415" y="358170"/>
                  </a:lnTo>
                  <a:lnTo>
                    <a:pt x="205755" y="358170"/>
                  </a:lnTo>
                  <a:lnTo>
                    <a:pt x="255285" y="342930"/>
                  </a:lnTo>
                  <a:lnTo>
                    <a:pt x="297195" y="316260"/>
                  </a:lnTo>
                  <a:lnTo>
                    <a:pt x="331485" y="278145"/>
                  </a:lnTo>
                  <a:lnTo>
                    <a:pt x="350550" y="232425"/>
                  </a:lnTo>
                  <a:lnTo>
                    <a:pt x="358170" y="182895"/>
                  </a:lnTo>
                  <a:lnTo>
                    <a:pt x="350550" y="129555"/>
                  </a:lnTo>
                  <a:lnTo>
                    <a:pt x="331485" y="80025"/>
                  </a:lnTo>
                  <a:lnTo>
                    <a:pt x="297195" y="41909"/>
                  </a:lnTo>
                  <a:lnTo>
                    <a:pt x="255285" y="15239"/>
                  </a:lnTo>
                  <a:lnTo>
                    <a:pt x="2057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793239" y="4925746"/>
              <a:ext cx="358775" cy="358775"/>
            </a:xfrm>
            <a:custGeom>
              <a:avLst/>
              <a:gdLst/>
              <a:ahLst/>
              <a:cxnLst/>
              <a:rect l="l" t="t" r="r" b="b"/>
              <a:pathLst>
                <a:path w="358775" h="358775">
                  <a:moveTo>
                    <a:pt x="0" y="182895"/>
                  </a:moveTo>
                  <a:lnTo>
                    <a:pt x="7619" y="129555"/>
                  </a:lnTo>
                  <a:lnTo>
                    <a:pt x="30479" y="80025"/>
                  </a:lnTo>
                  <a:lnTo>
                    <a:pt x="60959" y="41909"/>
                  </a:lnTo>
                  <a:lnTo>
                    <a:pt x="106679" y="15239"/>
                  </a:lnTo>
                  <a:lnTo>
                    <a:pt x="152415" y="0"/>
                  </a:lnTo>
                  <a:lnTo>
                    <a:pt x="205755" y="0"/>
                  </a:lnTo>
                  <a:lnTo>
                    <a:pt x="255285" y="15239"/>
                  </a:lnTo>
                  <a:lnTo>
                    <a:pt x="297195" y="41909"/>
                  </a:lnTo>
                  <a:lnTo>
                    <a:pt x="331485" y="80025"/>
                  </a:lnTo>
                  <a:lnTo>
                    <a:pt x="350550" y="129555"/>
                  </a:lnTo>
                  <a:lnTo>
                    <a:pt x="358170" y="182895"/>
                  </a:lnTo>
                  <a:lnTo>
                    <a:pt x="350550" y="232425"/>
                  </a:lnTo>
                  <a:lnTo>
                    <a:pt x="331485" y="278145"/>
                  </a:lnTo>
                  <a:lnTo>
                    <a:pt x="297195" y="316260"/>
                  </a:lnTo>
                  <a:lnTo>
                    <a:pt x="255285" y="342930"/>
                  </a:lnTo>
                  <a:lnTo>
                    <a:pt x="205755" y="358170"/>
                  </a:lnTo>
                  <a:lnTo>
                    <a:pt x="152415" y="358170"/>
                  </a:lnTo>
                  <a:lnTo>
                    <a:pt x="106679" y="342930"/>
                  </a:lnTo>
                  <a:lnTo>
                    <a:pt x="60959" y="316260"/>
                  </a:lnTo>
                  <a:lnTo>
                    <a:pt x="30479" y="278145"/>
                  </a:lnTo>
                  <a:lnTo>
                    <a:pt x="7619" y="232425"/>
                  </a:lnTo>
                  <a:lnTo>
                    <a:pt x="0" y="182895"/>
                  </a:lnTo>
                </a:path>
              </a:pathLst>
            </a:custGeom>
            <a:ln w="3975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968111" y="3672164"/>
              <a:ext cx="2004695" cy="1437005"/>
            </a:xfrm>
            <a:custGeom>
              <a:avLst/>
              <a:gdLst/>
              <a:ahLst/>
              <a:cxnLst/>
              <a:rect l="l" t="t" r="r" b="b"/>
              <a:pathLst>
                <a:path w="2004695" h="1437004">
                  <a:moveTo>
                    <a:pt x="175275" y="0"/>
                  </a:moveTo>
                  <a:lnTo>
                    <a:pt x="1825127" y="0"/>
                  </a:lnTo>
                </a:path>
                <a:path w="2004695" h="1437004">
                  <a:moveTo>
                    <a:pt x="2004212" y="179085"/>
                  </a:moveTo>
                  <a:lnTo>
                    <a:pt x="2004212" y="1253581"/>
                  </a:lnTo>
                </a:path>
                <a:path w="2004695" h="1437004">
                  <a:moveTo>
                    <a:pt x="175275" y="1436476"/>
                  </a:moveTo>
                  <a:lnTo>
                    <a:pt x="1825127" y="1436476"/>
                  </a:lnTo>
                </a:path>
                <a:path w="2004695" h="1437004">
                  <a:moveTo>
                    <a:pt x="0" y="179085"/>
                  </a:moveTo>
                  <a:lnTo>
                    <a:pt x="0" y="1253581"/>
                  </a:lnTo>
                </a:path>
              </a:pathLst>
            </a:custGeom>
            <a:ln w="795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5292380" y="3210386"/>
            <a:ext cx="235585" cy="560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3500">
                <a:solidFill>
                  <a:srgbClr val="FFFFFF"/>
                </a:solidFill>
                <a:latin typeface="Arial"/>
                <a:cs typeface="Arial"/>
              </a:rPr>
              <a:t>v</a:t>
            </a:r>
            <a:endParaRPr sz="35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484207" y="3240868"/>
            <a:ext cx="235585" cy="560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350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3500">
              <a:latin typeface="Arial"/>
              <a:cs typeface="Arial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3093857" y="3759809"/>
            <a:ext cx="1760855" cy="1216025"/>
          </a:xfrm>
          <a:custGeom>
            <a:avLst/>
            <a:gdLst/>
            <a:ahLst/>
            <a:cxnLst/>
            <a:rect l="l" t="t" r="r" b="b"/>
            <a:pathLst>
              <a:path w="1760854" h="1216025">
                <a:moveTo>
                  <a:pt x="30479" y="0"/>
                </a:moveTo>
                <a:lnTo>
                  <a:pt x="1760341" y="1211656"/>
                </a:lnTo>
              </a:path>
              <a:path w="1760854" h="1216025">
                <a:moveTo>
                  <a:pt x="0" y="1215466"/>
                </a:moveTo>
                <a:lnTo>
                  <a:pt x="1737481" y="22859"/>
                </a:lnTo>
              </a:path>
            </a:pathLst>
          </a:custGeom>
          <a:ln w="7951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2427057" y="4780220"/>
            <a:ext cx="260350" cy="560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3500">
                <a:solidFill>
                  <a:srgbClr val="FFFFFF"/>
                </a:solidFill>
                <a:latin typeface="Arial"/>
                <a:cs typeface="Arial"/>
              </a:rPr>
              <a:t>u</a:t>
            </a:r>
            <a:endParaRPr sz="35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292380" y="4787841"/>
            <a:ext cx="334645" cy="560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3500">
                <a:solidFill>
                  <a:srgbClr val="FFFFFF"/>
                </a:solidFill>
                <a:latin typeface="Arial"/>
                <a:cs typeface="Arial"/>
              </a:rPr>
              <a:t>w</a:t>
            </a:r>
            <a:endParaRPr sz="35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066426" y="5528399"/>
            <a:ext cx="20967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8.7: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Fully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01699" y="6300609"/>
            <a:ext cx="6426200" cy="574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source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s</a:t>
            </a:r>
            <a:r>
              <a:rPr dirty="0" sz="1200" spc="-35">
                <a:latin typeface="Times New Roman"/>
                <a:cs typeface="Times New Roman"/>
              </a:rPr>
              <a:t>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1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destination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node,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2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hop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(edge)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path, 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-30">
                <a:latin typeface="Garamond"/>
                <a:cs typeface="Garamond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second, 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4</a:t>
            </a:r>
            <a:r>
              <a:rPr dirty="0" sz="1200" spc="-30">
                <a:latin typeface="Garamond"/>
                <a:cs typeface="Garamond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for third </a:t>
            </a:r>
            <a:r>
              <a:rPr dirty="0" sz="1200" spc="-15">
                <a:latin typeface="Times New Roman"/>
                <a:cs typeface="Times New Roman"/>
              </a:rPr>
              <a:t>down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75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n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1</a:t>
            </a:r>
            <a:r>
              <a:rPr dirty="0" sz="1200" spc="15">
                <a:latin typeface="Garamond"/>
                <a:cs typeface="Garamond"/>
              </a:rPr>
              <a:t>))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last </a:t>
            </a:r>
            <a:r>
              <a:rPr dirty="0" sz="1200" spc="-10">
                <a:latin typeface="Times New Roman"/>
                <a:cs typeface="Times New Roman"/>
              </a:rPr>
              <a:t>leg. </a:t>
            </a:r>
            <a:r>
              <a:rPr dirty="0" sz="1200" spc="-5">
                <a:latin typeface="Times New Roman"/>
                <a:cs typeface="Times New Roman"/>
              </a:rPr>
              <a:t>This leads to </a:t>
            </a:r>
            <a:r>
              <a:rPr dirty="0" sz="1200" spc="70">
                <a:latin typeface="Lucida Sans Unicode"/>
                <a:cs typeface="Lucida Sans Unicode"/>
              </a:rPr>
              <a:t>n</a:t>
            </a:r>
            <a:r>
              <a:rPr dirty="0" sz="1200" spc="70">
                <a:latin typeface="Garamond"/>
                <a:cs typeface="Garamond"/>
              </a:rPr>
              <a:t>! </a:t>
            </a:r>
            <a:r>
              <a:rPr dirty="0" sz="1200" spc="-10">
                <a:latin typeface="Times New Roman"/>
                <a:cs typeface="Times New Roman"/>
              </a:rPr>
              <a:t>simple </a:t>
            </a:r>
            <a:r>
              <a:rPr dirty="0" sz="1200" spc="-5">
                <a:latin typeface="Times New Roman"/>
                <a:cs typeface="Times New Roman"/>
              </a:rPr>
              <a:t> paths.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Clearly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feasible.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01703" y="7575434"/>
            <a:ext cx="6393180" cy="14077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8.1.1	Breadth-first</a:t>
            </a:r>
            <a:r>
              <a:rPr dirty="0" sz="1400" spc="-3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Search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65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Here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breadth-first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search</a:t>
            </a:r>
            <a:r>
              <a:rPr dirty="0" sz="1200" spc="-6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(BFS)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adjacent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nodes.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Label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 1.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neighbors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neighbors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s</a:t>
            </a:r>
            <a:r>
              <a:rPr dirty="0" sz="1200" spc="-3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 2.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neighbors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neighbors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neighbors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35">
                <a:latin typeface="Lucida Sans Unicode"/>
                <a:cs typeface="Lucida Sans Unicode"/>
              </a:rPr>
              <a:t>s</a:t>
            </a:r>
            <a:r>
              <a:rPr dirty="0" sz="1200" spc="-3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  <a:p>
            <a:pPr marL="12700" marR="262890" indent="-635">
              <a:lnSpc>
                <a:spcPct val="100000"/>
              </a:lnSpc>
              <a:spcBef>
                <a:spcPts val="10"/>
              </a:spcBef>
            </a:pPr>
            <a:r>
              <a:rPr dirty="0" sz="1200" spc="-5">
                <a:latin typeface="Times New Roman"/>
                <a:cs typeface="Times New Roman"/>
              </a:rPr>
              <a:t>Repeat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until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unvisited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neighbors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visualized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wave 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front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propagating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outwards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visiting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bands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increasing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s</a:t>
            </a:r>
            <a:r>
              <a:rPr dirty="0" sz="1200" spc="-3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11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971800" y="938474"/>
            <a:ext cx="2287270" cy="2133600"/>
            <a:chOff x="2971800" y="938474"/>
            <a:chExt cx="2287270" cy="2133600"/>
          </a:xfrm>
        </p:grpSpPr>
        <p:sp>
          <p:nvSpPr>
            <p:cNvPr id="5" name="object 5"/>
            <p:cNvSpPr/>
            <p:nvPr/>
          </p:nvSpPr>
          <p:spPr>
            <a:xfrm>
              <a:off x="2971800" y="938474"/>
              <a:ext cx="2287270" cy="2133600"/>
            </a:xfrm>
            <a:custGeom>
              <a:avLst/>
              <a:gdLst/>
              <a:ahLst/>
              <a:cxnLst/>
              <a:rect l="l" t="t" r="r" b="b"/>
              <a:pathLst>
                <a:path w="2287270" h="2133600">
                  <a:moveTo>
                    <a:pt x="2286792" y="0"/>
                  </a:moveTo>
                  <a:lnTo>
                    <a:pt x="0" y="0"/>
                  </a:lnTo>
                  <a:lnTo>
                    <a:pt x="0" y="2133401"/>
                  </a:lnTo>
                  <a:lnTo>
                    <a:pt x="2286792" y="2133401"/>
                  </a:lnTo>
                  <a:lnTo>
                    <a:pt x="2286792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88674" y="1008805"/>
              <a:ext cx="159884" cy="15834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88674" y="1700778"/>
              <a:ext cx="159884" cy="15682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88674" y="2160050"/>
              <a:ext cx="159884" cy="156821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30503" y="2850498"/>
              <a:ext cx="159884" cy="15834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78081" y="1930414"/>
              <a:ext cx="159884" cy="156821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63263" y="2389686"/>
              <a:ext cx="159884" cy="156821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022535" y="2619323"/>
              <a:ext cx="159884" cy="159884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252172" y="2245790"/>
              <a:ext cx="159884" cy="1583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83347" y="2850498"/>
              <a:ext cx="158345" cy="15834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14508" y="2504505"/>
              <a:ext cx="158345" cy="159884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029884" y="2045232"/>
              <a:ext cx="159869" cy="156821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3110438" y="1088740"/>
              <a:ext cx="1999614" cy="1840230"/>
            </a:xfrm>
            <a:custGeom>
              <a:avLst/>
              <a:gdLst/>
              <a:ahLst/>
              <a:cxnLst/>
              <a:rect l="l" t="t" r="r" b="b"/>
              <a:pathLst>
                <a:path w="1999614" h="1840230">
                  <a:moveTo>
                    <a:pt x="130134" y="0"/>
                  </a:moveTo>
                  <a:lnTo>
                    <a:pt x="575630" y="0"/>
                  </a:lnTo>
                </a:path>
                <a:path w="1999614" h="1840230">
                  <a:moveTo>
                    <a:pt x="58186" y="71963"/>
                  </a:moveTo>
                  <a:lnTo>
                    <a:pt x="58186" y="618500"/>
                  </a:lnTo>
                </a:path>
                <a:path w="1999614" h="1840230">
                  <a:moveTo>
                    <a:pt x="58186" y="762396"/>
                  </a:moveTo>
                  <a:lnTo>
                    <a:pt x="58186" y="1077772"/>
                  </a:lnTo>
                </a:path>
                <a:path w="1999614" h="1840230">
                  <a:moveTo>
                    <a:pt x="58186" y="1221668"/>
                  </a:moveTo>
                  <a:lnTo>
                    <a:pt x="0" y="1768205"/>
                  </a:lnTo>
                </a:path>
                <a:path w="1999614" h="1840230">
                  <a:moveTo>
                    <a:pt x="130134" y="1149720"/>
                  </a:moveTo>
                  <a:lnTo>
                    <a:pt x="471525" y="1341089"/>
                  </a:lnTo>
                </a:path>
                <a:path w="1999614" h="1840230">
                  <a:moveTo>
                    <a:pt x="592470" y="1420688"/>
                  </a:moveTo>
                  <a:lnTo>
                    <a:pt x="935400" y="1567662"/>
                  </a:lnTo>
                </a:path>
                <a:path w="1999614" h="1840230">
                  <a:moveTo>
                    <a:pt x="1057869" y="1641149"/>
                  </a:moveTo>
                  <a:lnTo>
                    <a:pt x="1391610" y="1800362"/>
                  </a:lnTo>
                </a:path>
                <a:path w="1999614" h="1840230">
                  <a:moveTo>
                    <a:pt x="71963" y="1840168"/>
                  </a:moveTo>
                  <a:lnTo>
                    <a:pt x="920084" y="1610532"/>
                  </a:lnTo>
                </a:path>
                <a:path w="1999614" h="1840230">
                  <a:moveTo>
                    <a:pt x="1682480" y="1567662"/>
                  </a:moveTo>
                  <a:lnTo>
                    <a:pt x="1491112" y="1780458"/>
                  </a:lnTo>
                </a:path>
                <a:path w="1999614" h="1840230">
                  <a:moveTo>
                    <a:pt x="1999381" y="1106850"/>
                  </a:moveTo>
                  <a:lnTo>
                    <a:pt x="1737588" y="1446717"/>
                  </a:lnTo>
                </a:path>
                <a:path w="1999614" h="1840230">
                  <a:moveTo>
                    <a:pt x="1512554" y="613897"/>
                  </a:moveTo>
                  <a:lnTo>
                    <a:pt x="1962637" y="972129"/>
                  </a:lnTo>
                </a:path>
                <a:path w="1999614" h="1840230">
                  <a:moveTo>
                    <a:pt x="124007" y="661355"/>
                  </a:moveTo>
                  <a:lnTo>
                    <a:pt x="575630" y="575630"/>
                  </a:lnTo>
                </a:path>
                <a:path w="1999614" h="1840230">
                  <a:moveTo>
                    <a:pt x="647578" y="647578"/>
                  </a:moveTo>
                  <a:lnTo>
                    <a:pt x="647578" y="848136"/>
                  </a:lnTo>
                </a:path>
                <a:path w="1999614" h="1840230">
                  <a:moveTo>
                    <a:pt x="647578" y="992032"/>
                  </a:moveTo>
                  <a:lnTo>
                    <a:pt x="532759" y="1307409"/>
                  </a:lnTo>
                </a:path>
                <a:path w="1999614" h="1840230">
                  <a:moveTo>
                    <a:pt x="719541" y="920084"/>
                  </a:moveTo>
                  <a:lnTo>
                    <a:pt x="1178813" y="1178813"/>
                  </a:lnTo>
                </a:path>
                <a:path w="1999614" h="1840230">
                  <a:moveTo>
                    <a:pt x="1451305" y="647578"/>
                  </a:moveTo>
                  <a:lnTo>
                    <a:pt x="1253825" y="1171148"/>
                  </a:lnTo>
                </a:path>
                <a:path w="1999614" h="1840230">
                  <a:moveTo>
                    <a:pt x="1184940" y="1296695"/>
                  </a:moveTo>
                  <a:lnTo>
                    <a:pt x="1028776" y="1547759"/>
                  </a:lnTo>
                </a:path>
                <a:path w="1999614" h="1840230">
                  <a:moveTo>
                    <a:pt x="1285981" y="1267602"/>
                  </a:moveTo>
                  <a:lnTo>
                    <a:pt x="1628896" y="1448257"/>
                  </a:lnTo>
                </a:path>
              </a:pathLst>
            </a:custGeom>
            <a:ln w="3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/>
          <p:nvPr/>
        </p:nvSpPr>
        <p:spPr>
          <a:xfrm>
            <a:off x="2971800" y="938474"/>
            <a:ext cx="2287270" cy="21336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50">
              <a:latin typeface="Times New Roman"/>
              <a:cs typeface="Times New Roman"/>
            </a:endParaRPr>
          </a:p>
          <a:p>
            <a:pPr algn="ctr" marR="457834">
              <a:lnSpc>
                <a:spcPct val="100000"/>
              </a:lnSpc>
            </a:pPr>
            <a:r>
              <a:rPr dirty="0" sz="140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3678081" y="1008805"/>
            <a:ext cx="963930" cy="734060"/>
            <a:chOff x="3678081" y="1008805"/>
            <a:chExt cx="963930" cy="734060"/>
          </a:xfrm>
        </p:grpSpPr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78081" y="1008805"/>
              <a:ext cx="159884" cy="15834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83347" y="1008805"/>
              <a:ext cx="158345" cy="15834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678081" y="1585959"/>
              <a:ext cx="159884" cy="156821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483347" y="1585959"/>
              <a:ext cx="158345" cy="156821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758016" y="1088740"/>
              <a:ext cx="803910" cy="575945"/>
            </a:xfrm>
            <a:custGeom>
              <a:avLst/>
              <a:gdLst/>
              <a:ahLst/>
              <a:cxnLst/>
              <a:rect l="l" t="t" r="r" b="b"/>
              <a:pathLst>
                <a:path w="803910" h="575944">
                  <a:moveTo>
                    <a:pt x="71963" y="0"/>
                  </a:moveTo>
                  <a:lnTo>
                    <a:pt x="733318" y="0"/>
                  </a:lnTo>
                </a:path>
                <a:path w="803910" h="575944">
                  <a:moveTo>
                    <a:pt x="803727" y="71963"/>
                  </a:moveTo>
                  <a:lnTo>
                    <a:pt x="803727" y="503681"/>
                  </a:lnTo>
                </a:path>
                <a:path w="803910" h="575944">
                  <a:moveTo>
                    <a:pt x="71963" y="575630"/>
                  </a:moveTo>
                  <a:lnTo>
                    <a:pt x="733318" y="575630"/>
                  </a:lnTo>
                </a:path>
                <a:path w="803910" h="575944">
                  <a:moveTo>
                    <a:pt x="0" y="71963"/>
                  </a:moveTo>
                  <a:lnTo>
                    <a:pt x="0" y="503681"/>
                  </a:lnTo>
                </a:path>
              </a:pathLst>
            </a:custGeom>
            <a:ln w="31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2406801" y="3137930"/>
            <a:ext cx="34245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8.8: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Source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breadth-first-search (BFS)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2971800" y="3741110"/>
            <a:ext cx="2287270" cy="2133600"/>
            <a:chOff x="2971800" y="3741110"/>
            <a:chExt cx="2287270" cy="2133600"/>
          </a:xfrm>
        </p:grpSpPr>
        <p:sp>
          <p:nvSpPr>
            <p:cNvPr id="27" name="object 27"/>
            <p:cNvSpPr/>
            <p:nvPr/>
          </p:nvSpPr>
          <p:spPr>
            <a:xfrm>
              <a:off x="2971800" y="3741110"/>
              <a:ext cx="2287270" cy="2133600"/>
            </a:xfrm>
            <a:custGeom>
              <a:avLst/>
              <a:gdLst/>
              <a:ahLst/>
              <a:cxnLst/>
              <a:rect l="l" t="t" r="r" b="b"/>
              <a:pathLst>
                <a:path w="2287270" h="2133600">
                  <a:moveTo>
                    <a:pt x="2286792" y="0"/>
                  </a:moveTo>
                  <a:lnTo>
                    <a:pt x="0" y="0"/>
                  </a:lnTo>
                  <a:lnTo>
                    <a:pt x="0" y="2133401"/>
                  </a:lnTo>
                  <a:lnTo>
                    <a:pt x="2286792" y="2133401"/>
                  </a:lnTo>
                  <a:lnTo>
                    <a:pt x="2286792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030503" y="3811106"/>
              <a:ext cx="2159251" cy="2000038"/>
            </a:xfrm>
            <a:prstGeom prst="rect">
              <a:avLst/>
            </a:prstGeom>
          </p:spPr>
        </p:pic>
      </p:grpSp>
      <p:sp>
        <p:nvSpPr>
          <p:cNvPr id="29" name="object 29"/>
          <p:cNvSpPr txBox="1"/>
          <p:nvPr/>
        </p:nvSpPr>
        <p:spPr>
          <a:xfrm>
            <a:off x="2971800" y="3741110"/>
            <a:ext cx="2287270" cy="21336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900">
              <a:latin typeface="Times New Roman"/>
              <a:cs typeface="Times New Roman"/>
            </a:endParaRPr>
          </a:p>
          <a:p>
            <a:pPr algn="ctr" marR="484505">
              <a:lnSpc>
                <a:spcPct val="100000"/>
              </a:lnSpc>
            </a:pPr>
            <a:r>
              <a:rPr dirty="0" sz="140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  <a:p>
            <a:pPr algn="ctr" marR="457834">
              <a:lnSpc>
                <a:spcPct val="100000"/>
              </a:lnSpc>
              <a:spcBef>
                <a:spcPts val="1030"/>
              </a:spcBef>
            </a:pPr>
            <a:r>
              <a:rPr dirty="0" sz="140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Arial"/>
              <a:cs typeface="Arial"/>
            </a:endParaRPr>
          </a:p>
          <a:p>
            <a:pPr marL="1445895">
              <a:lnSpc>
                <a:spcPct val="100000"/>
              </a:lnSpc>
            </a:pPr>
            <a:r>
              <a:rPr dirty="0" sz="140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  <a:p>
            <a:pPr marL="519430">
              <a:lnSpc>
                <a:spcPct val="100000"/>
              </a:lnSpc>
              <a:spcBef>
                <a:spcPts val="1165"/>
              </a:spcBef>
            </a:pPr>
            <a:r>
              <a:rPr dirty="0" sz="140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346908" y="5940336"/>
            <a:ext cx="35356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8.9: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Wave</a:t>
            </a:r>
            <a:r>
              <a:rPr dirty="0" sz="1200" spc="-5">
                <a:latin typeface="Times New Roman"/>
                <a:cs typeface="Times New Roman"/>
              </a:rPr>
              <a:t> reaching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 1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during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BFS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3006851" y="6543746"/>
            <a:ext cx="2215515" cy="2133600"/>
            <a:chOff x="3006851" y="6543746"/>
            <a:chExt cx="2215515" cy="2133600"/>
          </a:xfrm>
        </p:grpSpPr>
        <p:sp>
          <p:nvSpPr>
            <p:cNvPr id="32" name="object 32"/>
            <p:cNvSpPr/>
            <p:nvPr/>
          </p:nvSpPr>
          <p:spPr>
            <a:xfrm>
              <a:off x="3006851" y="6543746"/>
              <a:ext cx="2215515" cy="2133600"/>
            </a:xfrm>
            <a:custGeom>
              <a:avLst/>
              <a:gdLst/>
              <a:ahLst/>
              <a:cxnLst/>
              <a:rect l="l" t="t" r="r" b="b"/>
              <a:pathLst>
                <a:path w="2215515" h="2133600">
                  <a:moveTo>
                    <a:pt x="2215240" y="0"/>
                  </a:moveTo>
                  <a:lnTo>
                    <a:pt x="0" y="0"/>
                  </a:lnTo>
                  <a:lnTo>
                    <a:pt x="0" y="2133401"/>
                  </a:lnTo>
                  <a:lnTo>
                    <a:pt x="2215240" y="2133401"/>
                  </a:lnTo>
                  <a:lnTo>
                    <a:pt x="2215240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182121" y="6776348"/>
              <a:ext cx="1975222" cy="1828187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3920450" y="7457372"/>
            <a:ext cx="94615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250" spc="15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25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903648" y="7142273"/>
            <a:ext cx="104139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250" spc="2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25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605354" y="8130981"/>
            <a:ext cx="104139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250" spc="2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25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451218" y="7799077"/>
            <a:ext cx="104139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250" spc="2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25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683694" y="7236100"/>
            <a:ext cx="104139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250" spc="2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25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851747" y="8236013"/>
            <a:ext cx="104139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250" spc="2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25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104000" y="7836890"/>
            <a:ext cx="104139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250" spc="2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25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115204" y="7314525"/>
            <a:ext cx="104139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250" spc="2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25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788816" y="6577895"/>
            <a:ext cx="104139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250" spc="2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25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308960" y="8392862"/>
            <a:ext cx="3611879" cy="5575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 marL="69215">
              <a:lnSpc>
                <a:spcPct val="100000"/>
              </a:lnSpc>
              <a:spcBef>
                <a:spcPts val="135"/>
              </a:spcBef>
            </a:pPr>
            <a:r>
              <a:rPr dirty="0" sz="1250" spc="2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2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8.10: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Wave</a:t>
            </a:r>
            <a:r>
              <a:rPr dirty="0" sz="1200" spc="-5">
                <a:latin typeface="Times New Roman"/>
                <a:cs typeface="Times New Roman"/>
              </a:rPr>
              <a:t> reaching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during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BFS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764664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8.1.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 spc="-25">
                <a:latin typeface="Times New Roman"/>
                <a:cs typeface="Times New Roman"/>
              </a:rPr>
              <a:t> TRAVERSAL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11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941319" y="938474"/>
            <a:ext cx="2345690" cy="2133600"/>
            <a:chOff x="2941319" y="938474"/>
            <a:chExt cx="2345690" cy="2133600"/>
          </a:xfrm>
        </p:grpSpPr>
        <p:sp>
          <p:nvSpPr>
            <p:cNvPr id="5" name="object 5"/>
            <p:cNvSpPr/>
            <p:nvPr/>
          </p:nvSpPr>
          <p:spPr>
            <a:xfrm>
              <a:off x="2941319" y="938474"/>
              <a:ext cx="2345690" cy="2133600"/>
            </a:xfrm>
            <a:custGeom>
              <a:avLst/>
              <a:gdLst/>
              <a:ahLst/>
              <a:cxnLst/>
              <a:rect l="l" t="t" r="r" b="b"/>
              <a:pathLst>
                <a:path w="2345690" h="2133600">
                  <a:moveTo>
                    <a:pt x="2345542" y="0"/>
                  </a:moveTo>
                  <a:lnTo>
                    <a:pt x="0" y="0"/>
                  </a:lnTo>
                  <a:lnTo>
                    <a:pt x="0" y="2133401"/>
                  </a:lnTo>
                  <a:lnTo>
                    <a:pt x="2345542" y="2133401"/>
                  </a:lnTo>
                  <a:lnTo>
                    <a:pt x="2345542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97541" y="1034487"/>
              <a:ext cx="1949498" cy="1889788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3824908" y="1770577"/>
            <a:ext cx="8699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5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15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809668" y="1484713"/>
            <a:ext cx="95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5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539051" y="2381687"/>
            <a:ext cx="95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306433" y="2081848"/>
            <a:ext cx="95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1</a:t>
            </a:r>
            <a:endParaRPr sz="11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17337" y="1569841"/>
            <a:ext cx="95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5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668525" y="2476978"/>
            <a:ext cx="95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5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991349" y="2619274"/>
            <a:ext cx="95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5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84211" y="2116155"/>
            <a:ext cx="95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94375" y="1640989"/>
            <a:ext cx="95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5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705486" y="972705"/>
            <a:ext cx="95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5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042050" y="1986553"/>
            <a:ext cx="95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498277" y="1006997"/>
            <a:ext cx="95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5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141384" y="970153"/>
            <a:ext cx="95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5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498277" y="2811107"/>
            <a:ext cx="95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084209" y="2774262"/>
            <a:ext cx="95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1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115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01699" y="3137930"/>
            <a:ext cx="5019040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1986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8.11: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Wave</a:t>
            </a:r>
            <a:r>
              <a:rPr dirty="0" sz="1200" spc="-5">
                <a:latin typeface="Times New Roman"/>
                <a:cs typeface="Times New Roman"/>
              </a:rPr>
              <a:t> reaching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during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BFS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50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8.1.2	Depth-first</a:t>
            </a:r>
            <a:r>
              <a:rPr dirty="0" sz="1400" spc="-2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Search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14400" y="4092511"/>
            <a:ext cx="637540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Breadth-first search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family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graph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traversal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algorithms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Traversing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14400" y="4275963"/>
            <a:ext cx="238506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means </a:t>
            </a:r>
            <a:r>
              <a:rPr dirty="0" sz="1200" spc="-10">
                <a:latin typeface="Times New Roman"/>
                <a:cs typeface="Times New Roman"/>
              </a:rPr>
              <a:t>visiting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333358" y="4216807"/>
            <a:ext cx="36398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Another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traversal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strategy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depth-first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search</a:t>
            </a:r>
            <a:r>
              <a:rPr dirty="0" sz="1200" spc="-7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(DFS).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01699" y="4400258"/>
            <a:ext cx="5610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procedure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written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non-recursively.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versions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initially.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16971" y="4849336"/>
            <a:ext cx="5481955" cy="1167765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1270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10"/>
              </a:spcBef>
            </a:pPr>
            <a:r>
              <a:rPr dirty="0" sz="950" spc="55">
                <a:latin typeface="Times New Roman"/>
                <a:cs typeface="Times New Roman"/>
              </a:rPr>
              <a:t>RECURSIVE</a:t>
            </a:r>
            <a:r>
              <a:rPr dirty="0" sz="1200" spc="55">
                <a:latin typeface="Times New Roman"/>
                <a:cs typeface="Times New Roman"/>
              </a:rPr>
              <a:t>DFS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v</a:t>
            </a:r>
            <a:r>
              <a:rPr dirty="0" sz="1200" spc="5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229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unmarked 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36880" indent="-35941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36245" algn="l"/>
                <a:tab pos="43751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endParaRPr sz="1200">
              <a:latin typeface="Lucida Sans Unicode"/>
              <a:cs typeface="Lucida Sans Unicode"/>
            </a:endParaRPr>
          </a:p>
          <a:p>
            <a:pPr marL="761365" indent="-68389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761365" algn="l"/>
                <a:tab pos="762000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761365" indent="-68389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761365" algn="l"/>
                <a:tab pos="76200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 </a:t>
            </a:r>
            <a:r>
              <a:rPr dirty="0" sz="950" spc="60">
                <a:latin typeface="Times New Roman"/>
                <a:cs typeface="Times New Roman"/>
              </a:rPr>
              <a:t>RECURSIVE</a:t>
            </a:r>
            <a:r>
              <a:rPr dirty="0" sz="1200" spc="60">
                <a:latin typeface="Times New Roman"/>
                <a:cs typeface="Times New Roman"/>
              </a:rPr>
              <a:t>DFS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w</a:t>
            </a:r>
            <a:r>
              <a:rPr dirty="0" sz="1200" spc="6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16971" y="6199600"/>
            <a:ext cx="5481955" cy="1717675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2540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20"/>
              </a:spcBef>
            </a:pPr>
            <a:r>
              <a:rPr dirty="0" sz="950" spc="45">
                <a:latin typeface="Times New Roman"/>
                <a:cs typeface="Times New Roman"/>
              </a:rPr>
              <a:t>ITERATIVE</a:t>
            </a:r>
            <a:r>
              <a:rPr dirty="0" sz="1200" spc="45">
                <a:latin typeface="Times New Roman"/>
                <a:cs typeface="Times New Roman"/>
              </a:rPr>
              <a:t>DFS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s</a:t>
            </a:r>
            <a:r>
              <a:rPr dirty="0" sz="1200" spc="4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09880" indent="-232410">
              <a:lnSpc>
                <a:spcPct val="100000"/>
              </a:lnSpc>
              <a:spcBef>
                <a:spcPts val="5"/>
              </a:spcBef>
              <a:buSzPct val="126315"/>
              <a:buAutoNum type="arabicPlain"/>
              <a:tabLst>
                <a:tab pos="309245" algn="l"/>
                <a:tab pos="310515" algn="l"/>
              </a:tabLst>
            </a:pPr>
            <a:r>
              <a:rPr dirty="0" sz="950" spc="50">
                <a:latin typeface="Times New Roman"/>
                <a:cs typeface="Times New Roman"/>
              </a:rPr>
              <a:t>PUSH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s</a:t>
            </a:r>
            <a:r>
              <a:rPr dirty="0" sz="1200" spc="5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27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stack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empty</a:t>
            </a:r>
            <a:endParaRPr sz="1200">
              <a:latin typeface="Times New Roman"/>
              <a:cs typeface="Times New Roman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20">
                <a:latin typeface="Lucida Sans Unicode"/>
                <a:cs typeface="Lucida Sans Unicode"/>
              </a:rPr>
              <a:t> </a:t>
            </a:r>
            <a:r>
              <a:rPr dirty="0" sz="950" spc="55">
                <a:latin typeface="Times New Roman"/>
                <a:cs typeface="Times New Roman"/>
              </a:rPr>
              <a:t>PO</a:t>
            </a:r>
            <a:r>
              <a:rPr dirty="0" sz="950" spc="25">
                <a:latin typeface="Times New Roman"/>
                <a:cs typeface="Times New Roman"/>
              </a:rPr>
              <a:t>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0419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04190" algn="l"/>
                <a:tab pos="50482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22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unmarked</a:t>
            </a:r>
            <a:endParaRPr sz="1200">
              <a:latin typeface="Times New Roman"/>
              <a:cs typeface="Times New Roman"/>
            </a:endParaRPr>
          </a:p>
          <a:p>
            <a:pPr marL="635000" indent="-55753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635000" algn="l"/>
                <a:tab pos="63563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endParaRPr sz="1200">
              <a:latin typeface="Lucida Sans Unicode"/>
              <a:cs typeface="Lucida Sans Unicode"/>
            </a:endParaRPr>
          </a:p>
          <a:p>
            <a:pPr marL="959485" indent="-88201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959485" algn="l"/>
                <a:tab pos="960119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959485" indent="-882015">
              <a:lnSpc>
                <a:spcPct val="100000"/>
              </a:lnSpc>
              <a:buFont typeface="Times New Roman"/>
              <a:buAutoNum type="arabicPlain"/>
              <a:tabLst>
                <a:tab pos="959485" algn="l"/>
                <a:tab pos="960119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950" spc="65">
                <a:latin typeface="Times New Roman"/>
                <a:cs typeface="Times New Roman"/>
              </a:rPr>
              <a:t>PUSH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w</a:t>
            </a:r>
            <a:r>
              <a:rPr dirty="0" sz="1200" spc="6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01699" y="8210484"/>
            <a:ext cx="6426200" cy="7727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8.1.3	Generic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Graph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-5" b="1">
                <a:latin typeface="Times New Roman"/>
                <a:cs typeface="Times New Roman"/>
              </a:rPr>
              <a:t>Traversal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128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 i="1">
                <a:latin typeface="Times New Roman"/>
                <a:cs typeface="Times New Roman"/>
              </a:rPr>
              <a:t>generic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graph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traversal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candidate 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data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structures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we’ll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 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“</a:t>
            </a:r>
            <a:r>
              <a:rPr dirty="0" sz="1200" spc="-10" i="1">
                <a:latin typeface="Times New Roman"/>
                <a:cs typeface="Times New Roman"/>
              </a:rPr>
              <a:t>bag</a:t>
            </a:r>
            <a:r>
              <a:rPr dirty="0" sz="1200" spc="-10">
                <a:latin typeface="Times New Roman"/>
                <a:cs typeface="Times New Roman"/>
              </a:rPr>
              <a:t>”.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properties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“bag”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stuff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stuff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12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14400" y="1372056"/>
            <a:ext cx="5487035" cy="1907539"/>
          </a:xfrm>
          <a:custGeom>
            <a:avLst/>
            <a:gdLst/>
            <a:ahLst/>
            <a:cxnLst/>
            <a:rect l="l" t="t" r="r" b="b"/>
            <a:pathLst>
              <a:path w="5487035" h="1907539">
                <a:moveTo>
                  <a:pt x="5486400" y="1901952"/>
                </a:moveTo>
                <a:lnTo>
                  <a:pt x="0" y="1901952"/>
                </a:lnTo>
                <a:lnTo>
                  <a:pt x="0" y="1907082"/>
                </a:lnTo>
                <a:lnTo>
                  <a:pt x="5486400" y="1907082"/>
                </a:lnTo>
                <a:lnTo>
                  <a:pt x="5486400" y="1901952"/>
                </a:lnTo>
                <a:close/>
              </a:path>
              <a:path w="5487035" h="1907539">
                <a:moveTo>
                  <a:pt x="5486959" y="4978"/>
                </a:moveTo>
                <a:lnTo>
                  <a:pt x="5486400" y="4978"/>
                </a:lnTo>
                <a:lnTo>
                  <a:pt x="5486400" y="0"/>
                </a:lnTo>
                <a:lnTo>
                  <a:pt x="0" y="0"/>
                </a:lnTo>
                <a:lnTo>
                  <a:pt x="0" y="4978"/>
                </a:lnTo>
                <a:lnTo>
                  <a:pt x="0" y="5130"/>
                </a:lnTo>
                <a:lnTo>
                  <a:pt x="0" y="1900986"/>
                </a:lnTo>
                <a:lnTo>
                  <a:pt x="5130" y="1900986"/>
                </a:lnTo>
                <a:lnTo>
                  <a:pt x="5130" y="5130"/>
                </a:lnTo>
                <a:lnTo>
                  <a:pt x="5481828" y="5130"/>
                </a:lnTo>
                <a:lnTo>
                  <a:pt x="5481828" y="1900986"/>
                </a:lnTo>
                <a:lnTo>
                  <a:pt x="5486959" y="1900986"/>
                </a:lnTo>
                <a:lnTo>
                  <a:pt x="5486959" y="4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914400" y="6567372"/>
            <a:ext cx="5487035" cy="1907539"/>
          </a:xfrm>
          <a:custGeom>
            <a:avLst/>
            <a:gdLst/>
            <a:ahLst/>
            <a:cxnLst/>
            <a:rect l="l" t="t" r="r" b="b"/>
            <a:pathLst>
              <a:path w="5487035" h="1907540">
                <a:moveTo>
                  <a:pt x="5486400" y="1901952"/>
                </a:moveTo>
                <a:lnTo>
                  <a:pt x="0" y="1901952"/>
                </a:lnTo>
                <a:lnTo>
                  <a:pt x="0" y="1907082"/>
                </a:lnTo>
                <a:lnTo>
                  <a:pt x="5486400" y="1907082"/>
                </a:lnTo>
                <a:lnTo>
                  <a:pt x="5486400" y="1901952"/>
                </a:lnTo>
                <a:close/>
              </a:path>
              <a:path w="5487035" h="1907540">
                <a:moveTo>
                  <a:pt x="5486959" y="4978"/>
                </a:moveTo>
                <a:lnTo>
                  <a:pt x="5486400" y="4978"/>
                </a:lnTo>
                <a:lnTo>
                  <a:pt x="5486400" y="0"/>
                </a:lnTo>
                <a:lnTo>
                  <a:pt x="0" y="0"/>
                </a:lnTo>
                <a:lnTo>
                  <a:pt x="0" y="4978"/>
                </a:lnTo>
                <a:lnTo>
                  <a:pt x="0" y="5130"/>
                </a:lnTo>
                <a:lnTo>
                  <a:pt x="0" y="1900986"/>
                </a:lnTo>
                <a:lnTo>
                  <a:pt x="5130" y="1900986"/>
                </a:lnTo>
                <a:lnTo>
                  <a:pt x="5130" y="5130"/>
                </a:lnTo>
                <a:lnTo>
                  <a:pt x="5481828" y="5130"/>
                </a:lnTo>
                <a:lnTo>
                  <a:pt x="5481828" y="1900986"/>
                </a:lnTo>
                <a:lnTo>
                  <a:pt x="5486959" y="1900986"/>
                </a:lnTo>
                <a:lnTo>
                  <a:pt x="5486959" y="4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901694" y="926454"/>
            <a:ext cx="6426200" cy="80568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back </a:t>
            </a:r>
            <a:r>
              <a:rPr dirty="0" sz="1200" spc="-10">
                <a:latin typeface="Times New Roman"/>
                <a:cs typeface="Times New Roman"/>
              </a:rPr>
              <a:t>out.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 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generic </a:t>
            </a:r>
            <a:r>
              <a:rPr dirty="0" sz="1200" spc="-10">
                <a:latin typeface="Times New Roman"/>
                <a:cs typeface="Times New Roman"/>
              </a:rPr>
              <a:t>traversal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750">
              <a:latin typeface="Times New Roman"/>
              <a:cs typeface="Times New Roman"/>
            </a:endParaRPr>
          </a:p>
          <a:p>
            <a:pPr marL="59055">
              <a:lnSpc>
                <a:spcPct val="100000"/>
              </a:lnSpc>
            </a:pPr>
            <a:r>
              <a:rPr dirty="0" sz="1200" spc="40">
                <a:latin typeface="Times New Roman"/>
                <a:cs typeface="Times New Roman"/>
              </a:rPr>
              <a:t>T</a:t>
            </a:r>
            <a:r>
              <a:rPr dirty="0" sz="950" spc="40">
                <a:latin typeface="Times New Roman"/>
                <a:cs typeface="Times New Roman"/>
              </a:rPr>
              <a:t>RAVERSE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s</a:t>
            </a:r>
            <a:r>
              <a:rPr dirty="0" sz="1200" spc="4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34010" indent="-241300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334010" algn="l"/>
                <a:tab pos="334645" algn="l"/>
              </a:tabLst>
            </a:pPr>
            <a:r>
              <a:rPr dirty="0" sz="1200" spc="-10">
                <a:latin typeface="Times New Roman"/>
                <a:cs typeface="Times New Roman"/>
              </a:rPr>
              <a:t>pu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250">
                <a:latin typeface="Lucida Sans Unicode"/>
                <a:cs typeface="Lucida Sans Unicode"/>
              </a:rPr>
              <a:t>∅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s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ag</a:t>
            </a:r>
            <a:endParaRPr sz="1200">
              <a:latin typeface="Times New Roman"/>
              <a:cs typeface="Times New Roman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empty</a:t>
            </a:r>
            <a:endParaRPr sz="1200">
              <a:latin typeface="Times New Roman"/>
              <a:cs typeface="Times New Roman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ag</a:t>
            </a:r>
            <a:endParaRPr sz="1200">
              <a:latin typeface="Times New Roman"/>
              <a:cs typeface="Times New Roman"/>
            </a:endParaRPr>
          </a:p>
          <a:p>
            <a:pPr marL="51943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19430" algn="l"/>
                <a:tab pos="5200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229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unmarked 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650240" indent="-557530">
              <a:lnSpc>
                <a:spcPct val="100000"/>
              </a:lnSpc>
              <a:buFont typeface="Times New Roman"/>
              <a:buAutoNum type="arabicPlain"/>
              <a:tabLst>
                <a:tab pos="650240" algn="l"/>
                <a:tab pos="65087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endParaRPr sz="1200">
              <a:latin typeface="Lucida Sans Unicode"/>
              <a:cs typeface="Lucida Sans Unicode"/>
            </a:endParaRPr>
          </a:p>
          <a:p>
            <a:pPr marL="987425" indent="-894715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987425" algn="l"/>
                <a:tab pos="988060" algn="l"/>
              </a:tabLst>
            </a:pPr>
            <a:r>
              <a:rPr dirty="0" sz="1200" spc="-5">
                <a:latin typeface="Times New Roman"/>
                <a:cs typeface="Times New Roman"/>
              </a:rPr>
              <a:t>parent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v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endParaRPr sz="1200">
              <a:latin typeface="Lucida Sans Unicode"/>
              <a:cs typeface="Lucida Sans Unicode"/>
            </a:endParaRPr>
          </a:p>
          <a:p>
            <a:pPr marL="974725" indent="-88201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974725" algn="l"/>
                <a:tab pos="975360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974725" indent="-88201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974725" algn="l"/>
                <a:tab pos="97536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ag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lain"/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lain"/>
            </a:pPr>
            <a:endParaRPr sz="1050">
              <a:latin typeface="Times New Roman"/>
              <a:cs typeface="Times New Roman"/>
            </a:endParaRPr>
          </a:p>
          <a:p>
            <a:pPr marL="12700" marR="93345">
              <a:lnSpc>
                <a:spcPct val="100000"/>
              </a:lnSpc>
              <a:spcBef>
                <a:spcPts val="5"/>
              </a:spcBef>
            </a:pPr>
            <a:r>
              <a:rPr dirty="0" sz="1200" spc="-10">
                <a:latin typeface="Times New Roman"/>
                <a:cs typeface="Times New Roman"/>
              </a:rPr>
              <a:t>Notice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keeping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bag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instead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remember,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whenever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previously-visited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bag.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 </a:t>
            </a:r>
            <a:r>
              <a:rPr dirty="0" sz="1200" spc="-36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parent</a:t>
            </a:r>
            <a:r>
              <a:rPr dirty="0" sz="1200" spc="-5" i="1">
                <a:latin typeface="Times New Roman"/>
                <a:cs typeface="Times New Roman"/>
              </a:rPr>
              <a:t> of 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393065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traversal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depends 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represented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 data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structure</a:t>
            </a:r>
            <a:r>
              <a:rPr dirty="0" sz="1200" spc="-5">
                <a:latin typeface="Times New Roman"/>
                <a:cs typeface="Times New Roman"/>
              </a:rPr>
              <a:t> is used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bag.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0">
                <a:latin typeface="Times New Roman"/>
                <a:cs typeface="Times New Roman"/>
              </a:rPr>
              <a:t>make</a:t>
            </a:r>
            <a:r>
              <a:rPr dirty="0" sz="1200" spc="-5">
                <a:latin typeface="Times New Roman"/>
                <a:cs typeface="Times New Roman"/>
              </a:rPr>
              <a:t> a </a:t>
            </a:r>
            <a:r>
              <a:rPr dirty="0" sz="1200" spc="-15">
                <a:latin typeface="Times New Roman"/>
                <a:cs typeface="Times New Roman"/>
              </a:rPr>
              <a:t>few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 </a:t>
            </a:r>
            <a:r>
              <a:rPr dirty="0" sz="1200" spc="-10">
                <a:latin typeface="Times New Roman"/>
                <a:cs typeface="Times New Roman"/>
              </a:rPr>
              <a:t>observations.</a:t>
            </a:r>
            <a:endParaRPr sz="1200">
              <a:latin typeface="Times New Roman"/>
              <a:cs typeface="Times New Roman"/>
            </a:endParaRPr>
          </a:p>
          <a:p>
            <a:pPr lvl="1" marL="384175" indent="-151130">
              <a:lnSpc>
                <a:spcPct val="100000"/>
              </a:lnSpc>
              <a:spcBef>
                <a:spcPts val="1135"/>
              </a:spcBef>
              <a:buFont typeface="Segoe UI Symbol"/>
              <a:buChar char="•"/>
              <a:tabLst>
                <a:tab pos="384810" algn="l"/>
              </a:tabLst>
            </a:pPr>
            <a:r>
              <a:rPr dirty="0" sz="1200" spc="-5">
                <a:latin typeface="Times New Roman"/>
                <a:cs typeface="Times New Roman"/>
              </a:rPr>
              <a:t>Since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 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once,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executed</a:t>
            </a:r>
            <a:r>
              <a:rPr dirty="0" sz="1200" spc="-5">
                <a:latin typeface="Times New Roman"/>
                <a:cs typeface="Times New Roman"/>
              </a:rPr>
              <a:t> 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times.</a:t>
            </a:r>
            <a:endParaRPr sz="1200">
              <a:latin typeface="Times New Roman"/>
              <a:cs typeface="Times New Roman"/>
            </a:endParaRPr>
          </a:p>
          <a:p>
            <a:pPr lvl="1" marL="384175" marR="66040" indent="-150495">
              <a:lnSpc>
                <a:spcPct val="100000"/>
              </a:lnSpc>
              <a:spcBef>
                <a:spcPts val="825"/>
              </a:spcBef>
              <a:buFont typeface="Segoe UI Symbol"/>
              <a:buChar char="•"/>
              <a:tabLst>
                <a:tab pos="384810" algn="l"/>
              </a:tabLst>
            </a:pPr>
            <a:r>
              <a:rPr dirty="0" sz="1200" spc="-5">
                <a:latin typeface="Times New Roman"/>
                <a:cs typeface="Times New Roman"/>
              </a:rPr>
              <a:t>Each 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exactly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twice; once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v,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u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</a:t>
            </a:r>
            <a:r>
              <a:rPr dirty="0" sz="1200" spc="-5">
                <a:latin typeface="Times New Roman"/>
                <a:cs typeface="Times New Roman"/>
              </a:rPr>
              <a:t> 8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 spc="-45">
                <a:latin typeface="Lucida Sans Unicode"/>
                <a:cs typeface="Lucida Sans Unicode"/>
              </a:rPr>
              <a:t>2E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times.</a:t>
            </a:r>
            <a:endParaRPr sz="1200">
              <a:latin typeface="Times New Roman"/>
              <a:cs typeface="Times New Roman"/>
            </a:endParaRPr>
          </a:p>
          <a:p>
            <a:pPr lvl="1" marL="384175" indent="-151130">
              <a:lnSpc>
                <a:spcPct val="100000"/>
              </a:lnSpc>
              <a:spcBef>
                <a:spcPts val="835"/>
              </a:spcBef>
              <a:buFont typeface="Segoe UI Symbol"/>
              <a:buChar char="•"/>
              <a:tabLst>
                <a:tab pos="384810" algn="l"/>
              </a:tabLst>
            </a:pPr>
            <a:r>
              <a:rPr dirty="0" sz="1200" spc="-15">
                <a:latin typeface="Times New Roman"/>
                <a:cs typeface="Times New Roman"/>
              </a:rPr>
              <a:t>Finally,</a:t>
            </a:r>
            <a:r>
              <a:rPr dirty="0" sz="1200" spc="-5">
                <a:latin typeface="Times New Roman"/>
                <a:cs typeface="Times New Roman"/>
              </a:rPr>
              <a:t> since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can’t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things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</a:t>
            </a:r>
            <a:r>
              <a:rPr dirty="0" sz="1200" spc="-5">
                <a:latin typeface="Times New Roman"/>
                <a:cs typeface="Times New Roman"/>
              </a:rPr>
              <a:t> 3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</a:t>
            </a:r>
            <a:endParaRPr sz="1200">
              <a:latin typeface="Times New Roman"/>
              <a:cs typeface="Times New Roman"/>
            </a:endParaRPr>
          </a:p>
          <a:p>
            <a:pPr marL="384175">
              <a:lnSpc>
                <a:spcPct val="100000"/>
              </a:lnSpc>
              <a:spcBef>
                <a:spcPts val="5"/>
              </a:spcBef>
            </a:pP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</a:t>
            </a:r>
            <a:r>
              <a:rPr dirty="0" sz="1200" spc="-5">
                <a:latin typeface="Times New Roman"/>
                <a:cs typeface="Times New Roman"/>
              </a:rPr>
              <a:t>es.</a:t>
            </a:r>
            <a:endParaRPr sz="1200">
              <a:latin typeface="Times New Roman"/>
              <a:cs typeface="Times New Roman"/>
            </a:endParaRPr>
          </a:p>
          <a:p>
            <a:pPr lvl="1" marL="384175" marR="5080" indent="-150495">
              <a:lnSpc>
                <a:spcPct val="100000"/>
              </a:lnSpc>
              <a:spcBef>
                <a:spcPts val="830"/>
              </a:spcBef>
              <a:buFont typeface="Segoe UI Symbol"/>
              <a:buChar char="•"/>
              <a:tabLst>
                <a:tab pos="384810" algn="l"/>
              </a:tabLst>
            </a:pPr>
            <a:r>
              <a:rPr dirty="0" sz="1200" spc="-5">
                <a:latin typeface="Times New Roman"/>
                <a:cs typeface="Times New Roman"/>
              </a:rPr>
              <a:t>Assume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graph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represented 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Times New Roman"/>
                <a:cs typeface="Times New Roman"/>
              </a:rPr>
              <a:t>adjacency</a:t>
            </a:r>
            <a:r>
              <a:rPr dirty="0" sz="1200" spc="-5">
                <a:latin typeface="Times New Roman"/>
                <a:cs typeface="Times New Roman"/>
              </a:rPr>
              <a:t> list 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overhead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 spc="-10">
                <a:latin typeface="Times New Roman"/>
                <a:cs typeface="Times New Roman"/>
              </a:rPr>
              <a:t> line</a:t>
            </a:r>
            <a:r>
              <a:rPr dirty="0" sz="1200" spc="-5">
                <a:latin typeface="Times New Roman"/>
                <a:cs typeface="Times New Roman"/>
              </a:rPr>
              <a:t> 7 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 edge.</a:t>
            </a:r>
            <a:endParaRPr sz="1200">
              <a:latin typeface="Times New Roman"/>
              <a:cs typeface="Times New Roman"/>
            </a:endParaRPr>
          </a:p>
          <a:p>
            <a:pPr marL="59055" marR="1037590" indent="-46990">
              <a:lnSpc>
                <a:spcPts val="2640"/>
              </a:lnSpc>
              <a:spcBef>
                <a:spcPts val="219"/>
              </a:spcBef>
            </a:pP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implement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stack</a:t>
            </a:r>
            <a:r>
              <a:rPr dirty="0" sz="1200" spc="-1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depth-first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search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(DFS)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traversal.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Times New Roman"/>
                <a:cs typeface="Times New Roman"/>
              </a:rPr>
              <a:t>T</a:t>
            </a:r>
            <a:r>
              <a:rPr dirty="0" sz="950" spc="40">
                <a:latin typeface="Times New Roman"/>
                <a:cs typeface="Times New Roman"/>
              </a:rPr>
              <a:t>RAVERSE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s</a:t>
            </a:r>
            <a:r>
              <a:rPr dirty="0" sz="1200" spc="4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34010" indent="-241300">
              <a:lnSpc>
                <a:spcPts val="1155"/>
              </a:lnSpc>
              <a:buAutoNum type="arabicPlain"/>
              <a:tabLst>
                <a:tab pos="334010" algn="l"/>
                <a:tab pos="334645" algn="l"/>
              </a:tabLst>
            </a:pPr>
            <a:r>
              <a:rPr dirty="0" sz="1200" spc="-10">
                <a:latin typeface="Times New Roman"/>
                <a:cs typeface="Times New Roman"/>
              </a:rPr>
              <a:t>pu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250">
                <a:latin typeface="Lucida Sans Unicode"/>
                <a:cs typeface="Lucida Sans Unicode"/>
              </a:rPr>
              <a:t>∅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s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27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stack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empty</a:t>
            </a:r>
            <a:endParaRPr sz="1200">
              <a:latin typeface="Times New Roman"/>
              <a:cs typeface="Times New Roman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pop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1943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19430" algn="l"/>
                <a:tab pos="5200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229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unmarked 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650240" indent="-55753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650240" algn="l"/>
                <a:tab pos="65087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endParaRPr sz="1200">
              <a:latin typeface="Lucida Sans Unicode"/>
              <a:cs typeface="Lucida Sans Unicode"/>
            </a:endParaRPr>
          </a:p>
          <a:p>
            <a:pPr marL="987425" indent="-894715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987425" algn="l"/>
                <a:tab pos="988060" algn="l"/>
              </a:tabLst>
            </a:pPr>
            <a:r>
              <a:rPr dirty="0" sz="1200" spc="-5">
                <a:latin typeface="Times New Roman"/>
                <a:cs typeface="Times New Roman"/>
              </a:rPr>
              <a:t>parent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v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endParaRPr sz="1200">
              <a:latin typeface="Lucida Sans Unicode"/>
              <a:cs typeface="Lucida Sans Unicode"/>
            </a:endParaRPr>
          </a:p>
          <a:p>
            <a:pPr marL="974725" indent="-88201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974725" algn="l"/>
                <a:tab pos="975360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974725" indent="-88201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974725" algn="l"/>
                <a:tab pos="97536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</a:pPr>
            <a:endParaRPr sz="13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50">
              <a:latin typeface="Garamond"/>
              <a:cs typeface="Garamond"/>
            </a:endParaRPr>
          </a:p>
          <a:p>
            <a:pPr marL="12700" marR="8699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Figures </a:t>
            </a:r>
            <a:r>
              <a:rPr dirty="0" sz="1200" spc="-10">
                <a:latin typeface="Times New Roman"/>
                <a:cs typeface="Times New Roman"/>
              </a:rPr>
              <a:t>8.12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8.20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applied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figures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content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stack </a:t>
            </a:r>
            <a:r>
              <a:rPr dirty="0" sz="1200" spc="-10">
                <a:latin typeface="Times New Roman"/>
                <a:cs typeface="Times New Roman"/>
              </a:rPr>
              <a:t>during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execution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764664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8.1.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 spc="-25">
                <a:latin typeface="Times New Roman"/>
                <a:cs typeface="Times New Roman"/>
              </a:rPr>
              <a:t> TRAVERSAL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12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72411" y="939693"/>
            <a:ext cx="4648200" cy="1934210"/>
            <a:chOff x="1772411" y="939693"/>
            <a:chExt cx="4648200" cy="1934210"/>
          </a:xfrm>
        </p:grpSpPr>
        <p:sp>
          <p:nvSpPr>
            <p:cNvPr id="5" name="object 5"/>
            <p:cNvSpPr/>
            <p:nvPr/>
          </p:nvSpPr>
          <p:spPr>
            <a:xfrm>
              <a:off x="1772411" y="939693"/>
              <a:ext cx="4648200" cy="1934210"/>
            </a:xfrm>
            <a:custGeom>
              <a:avLst/>
              <a:gdLst/>
              <a:ahLst/>
              <a:cxnLst/>
              <a:rect l="l" t="t" r="r" b="b"/>
              <a:pathLst>
                <a:path w="4648200" h="1934210">
                  <a:moveTo>
                    <a:pt x="4648001" y="0"/>
                  </a:moveTo>
                  <a:lnTo>
                    <a:pt x="0" y="0"/>
                  </a:lnTo>
                  <a:lnTo>
                    <a:pt x="0" y="1934062"/>
                  </a:lnTo>
                  <a:lnTo>
                    <a:pt x="4648001" y="1934062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844954" y="1046602"/>
              <a:ext cx="3275329" cy="1597025"/>
            </a:xfrm>
            <a:custGeom>
              <a:avLst/>
              <a:gdLst/>
              <a:ahLst/>
              <a:cxnLst/>
              <a:rect l="l" t="t" r="r" b="b"/>
              <a:pathLst>
                <a:path w="3275329" h="1597025">
                  <a:moveTo>
                    <a:pt x="2988472" y="797951"/>
                  </a:moveTo>
                  <a:lnTo>
                    <a:pt x="3000634" y="743224"/>
                  </a:lnTo>
                  <a:lnTo>
                    <a:pt x="3033735" y="697290"/>
                  </a:lnTo>
                  <a:lnTo>
                    <a:pt x="3065495" y="675665"/>
                  </a:lnTo>
                  <a:lnTo>
                    <a:pt x="3102665" y="662818"/>
                  </a:lnTo>
                  <a:lnTo>
                    <a:pt x="3122249" y="660791"/>
                  </a:lnTo>
                  <a:lnTo>
                    <a:pt x="3141847" y="660791"/>
                  </a:lnTo>
                  <a:lnTo>
                    <a:pt x="3179688" y="668228"/>
                  </a:lnTo>
                  <a:lnTo>
                    <a:pt x="3214816" y="685129"/>
                  </a:lnTo>
                  <a:lnTo>
                    <a:pt x="3243193" y="710793"/>
                  </a:lnTo>
                  <a:lnTo>
                    <a:pt x="3264148" y="743224"/>
                  </a:lnTo>
                  <a:lnTo>
                    <a:pt x="3274954" y="797951"/>
                  </a:lnTo>
                  <a:lnTo>
                    <a:pt x="3274283" y="816879"/>
                  </a:lnTo>
                  <a:lnTo>
                    <a:pt x="3254684" y="868908"/>
                  </a:lnTo>
                  <a:lnTo>
                    <a:pt x="3230361" y="898626"/>
                  </a:lnTo>
                  <a:lnTo>
                    <a:pt x="3197931" y="920252"/>
                  </a:lnTo>
                  <a:lnTo>
                    <a:pt x="3160760" y="932413"/>
                  </a:lnTo>
                  <a:lnTo>
                    <a:pt x="3141847" y="935111"/>
                  </a:lnTo>
                  <a:lnTo>
                    <a:pt x="3122249" y="935111"/>
                  </a:lnTo>
                  <a:lnTo>
                    <a:pt x="3083737" y="927689"/>
                  </a:lnTo>
                  <a:lnTo>
                    <a:pt x="3048609" y="910117"/>
                  </a:lnTo>
                  <a:lnTo>
                    <a:pt x="3020232" y="884438"/>
                  </a:lnTo>
                  <a:lnTo>
                    <a:pt x="2993882" y="835121"/>
                  </a:lnTo>
                  <a:lnTo>
                    <a:pt x="2988472" y="797951"/>
                  </a:lnTo>
                </a:path>
                <a:path w="3275329" h="1597025">
                  <a:moveTo>
                    <a:pt x="0" y="797951"/>
                  </a:moveTo>
                  <a:lnTo>
                    <a:pt x="11490" y="743224"/>
                  </a:lnTo>
                  <a:lnTo>
                    <a:pt x="31760" y="710793"/>
                  </a:lnTo>
                  <a:lnTo>
                    <a:pt x="60822" y="685129"/>
                  </a:lnTo>
                  <a:lnTo>
                    <a:pt x="95280" y="668228"/>
                  </a:lnTo>
                  <a:lnTo>
                    <a:pt x="133106" y="660791"/>
                  </a:lnTo>
                  <a:lnTo>
                    <a:pt x="152704" y="660791"/>
                  </a:lnTo>
                  <a:lnTo>
                    <a:pt x="191216" y="668228"/>
                  </a:lnTo>
                  <a:lnTo>
                    <a:pt x="226359" y="685129"/>
                  </a:lnTo>
                  <a:lnTo>
                    <a:pt x="254736" y="710793"/>
                  </a:lnTo>
                  <a:lnTo>
                    <a:pt x="275005" y="743224"/>
                  </a:lnTo>
                  <a:lnTo>
                    <a:pt x="287167" y="797951"/>
                  </a:lnTo>
                  <a:lnTo>
                    <a:pt x="285810" y="816879"/>
                  </a:lnTo>
                  <a:lnTo>
                    <a:pt x="266212" y="868908"/>
                  </a:lnTo>
                  <a:lnTo>
                    <a:pt x="241218" y="898626"/>
                  </a:lnTo>
                  <a:lnTo>
                    <a:pt x="209458" y="920252"/>
                  </a:lnTo>
                  <a:lnTo>
                    <a:pt x="172303" y="932413"/>
                  </a:lnTo>
                  <a:lnTo>
                    <a:pt x="152704" y="935111"/>
                  </a:lnTo>
                  <a:lnTo>
                    <a:pt x="133106" y="935111"/>
                  </a:lnTo>
                  <a:lnTo>
                    <a:pt x="95280" y="927689"/>
                  </a:lnTo>
                  <a:lnTo>
                    <a:pt x="60822" y="910117"/>
                  </a:lnTo>
                  <a:lnTo>
                    <a:pt x="31760" y="884438"/>
                  </a:lnTo>
                  <a:lnTo>
                    <a:pt x="4739" y="835121"/>
                  </a:lnTo>
                  <a:lnTo>
                    <a:pt x="0" y="797951"/>
                  </a:lnTo>
                </a:path>
                <a:path w="3275329" h="1597025">
                  <a:moveTo>
                    <a:pt x="689183" y="137159"/>
                  </a:moveTo>
                  <a:lnTo>
                    <a:pt x="700674" y="82433"/>
                  </a:lnTo>
                  <a:lnTo>
                    <a:pt x="735131" y="37155"/>
                  </a:lnTo>
                  <a:lnTo>
                    <a:pt x="766892" y="15544"/>
                  </a:lnTo>
                  <a:lnTo>
                    <a:pt x="804047" y="2697"/>
                  </a:lnTo>
                  <a:lnTo>
                    <a:pt x="822959" y="0"/>
                  </a:lnTo>
                  <a:lnTo>
                    <a:pt x="843229" y="0"/>
                  </a:lnTo>
                  <a:lnTo>
                    <a:pt x="881070" y="7437"/>
                  </a:lnTo>
                  <a:lnTo>
                    <a:pt x="915527" y="24993"/>
                  </a:lnTo>
                  <a:lnTo>
                    <a:pt x="943904" y="50672"/>
                  </a:lnTo>
                  <a:lnTo>
                    <a:pt x="970940" y="99989"/>
                  </a:lnTo>
                  <a:lnTo>
                    <a:pt x="976335" y="137159"/>
                  </a:lnTo>
                  <a:lnTo>
                    <a:pt x="974994" y="156072"/>
                  </a:lnTo>
                  <a:lnTo>
                    <a:pt x="955395" y="208772"/>
                  </a:lnTo>
                  <a:lnTo>
                    <a:pt x="915527" y="249996"/>
                  </a:lnTo>
                  <a:lnTo>
                    <a:pt x="881070" y="266882"/>
                  </a:lnTo>
                  <a:lnTo>
                    <a:pt x="843229" y="274990"/>
                  </a:lnTo>
                  <a:lnTo>
                    <a:pt x="822959" y="274990"/>
                  </a:lnTo>
                  <a:lnTo>
                    <a:pt x="785134" y="266882"/>
                  </a:lnTo>
                  <a:lnTo>
                    <a:pt x="749990" y="249996"/>
                  </a:lnTo>
                  <a:lnTo>
                    <a:pt x="721613" y="224317"/>
                  </a:lnTo>
                  <a:lnTo>
                    <a:pt x="700674" y="191886"/>
                  </a:lnTo>
                  <a:lnTo>
                    <a:pt x="689183" y="137159"/>
                  </a:lnTo>
                </a:path>
                <a:path w="3275329" h="1597025">
                  <a:moveTo>
                    <a:pt x="2298618" y="137159"/>
                  </a:moveTo>
                  <a:lnTo>
                    <a:pt x="2310109" y="82433"/>
                  </a:lnTo>
                  <a:lnTo>
                    <a:pt x="2343881" y="37155"/>
                  </a:lnTo>
                  <a:lnTo>
                    <a:pt x="2376312" y="15544"/>
                  </a:lnTo>
                  <a:lnTo>
                    <a:pt x="2412811" y="2697"/>
                  </a:lnTo>
                  <a:lnTo>
                    <a:pt x="2432395" y="0"/>
                  </a:lnTo>
                  <a:lnTo>
                    <a:pt x="2451994" y="0"/>
                  </a:lnTo>
                  <a:lnTo>
                    <a:pt x="2489834" y="7437"/>
                  </a:lnTo>
                  <a:lnTo>
                    <a:pt x="2524963" y="24993"/>
                  </a:lnTo>
                  <a:lnTo>
                    <a:pt x="2553340" y="50672"/>
                  </a:lnTo>
                  <a:lnTo>
                    <a:pt x="2580375" y="99989"/>
                  </a:lnTo>
                  <a:lnTo>
                    <a:pt x="2585770" y="137159"/>
                  </a:lnTo>
                  <a:lnTo>
                    <a:pt x="2584429" y="156072"/>
                  </a:lnTo>
                  <a:lnTo>
                    <a:pt x="2564830" y="208772"/>
                  </a:lnTo>
                  <a:lnTo>
                    <a:pt x="2539837" y="237835"/>
                  </a:lnTo>
                  <a:lnTo>
                    <a:pt x="2508077" y="259445"/>
                  </a:lnTo>
                  <a:lnTo>
                    <a:pt x="2471592" y="272293"/>
                  </a:lnTo>
                  <a:lnTo>
                    <a:pt x="2451994" y="274990"/>
                  </a:lnTo>
                  <a:lnTo>
                    <a:pt x="2432395" y="274990"/>
                  </a:lnTo>
                  <a:lnTo>
                    <a:pt x="2393883" y="266882"/>
                  </a:lnTo>
                  <a:lnTo>
                    <a:pt x="2359426" y="249996"/>
                  </a:lnTo>
                  <a:lnTo>
                    <a:pt x="2330378" y="224317"/>
                  </a:lnTo>
                  <a:lnTo>
                    <a:pt x="2310109" y="191886"/>
                  </a:lnTo>
                  <a:lnTo>
                    <a:pt x="2298618" y="137159"/>
                  </a:lnTo>
                </a:path>
                <a:path w="3275329" h="1597025">
                  <a:moveTo>
                    <a:pt x="689183" y="1458757"/>
                  </a:moveTo>
                  <a:lnTo>
                    <a:pt x="700674" y="1403360"/>
                  </a:lnTo>
                  <a:lnTo>
                    <a:pt x="735131" y="1358752"/>
                  </a:lnTo>
                  <a:lnTo>
                    <a:pt x="766892" y="1336456"/>
                  </a:lnTo>
                  <a:lnTo>
                    <a:pt x="804047" y="1324295"/>
                  </a:lnTo>
                  <a:lnTo>
                    <a:pt x="822959" y="1321597"/>
                  </a:lnTo>
                  <a:lnTo>
                    <a:pt x="843229" y="1321597"/>
                  </a:lnTo>
                  <a:lnTo>
                    <a:pt x="881070" y="1329034"/>
                  </a:lnTo>
                  <a:lnTo>
                    <a:pt x="915527" y="1346591"/>
                  </a:lnTo>
                  <a:lnTo>
                    <a:pt x="943904" y="1372270"/>
                  </a:lnTo>
                  <a:lnTo>
                    <a:pt x="970940" y="1421602"/>
                  </a:lnTo>
                  <a:lnTo>
                    <a:pt x="976335" y="1458757"/>
                  </a:lnTo>
                  <a:lnTo>
                    <a:pt x="974994" y="1477670"/>
                  </a:lnTo>
                  <a:lnTo>
                    <a:pt x="955395" y="1530385"/>
                  </a:lnTo>
                  <a:lnTo>
                    <a:pt x="915527" y="1571594"/>
                  </a:lnTo>
                  <a:lnTo>
                    <a:pt x="881070" y="1588480"/>
                  </a:lnTo>
                  <a:lnTo>
                    <a:pt x="843229" y="1596588"/>
                  </a:lnTo>
                  <a:lnTo>
                    <a:pt x="822959" y="1596588"/>
                  </a:lnTo>
                  <a:lnTo>
                    <a:pt x="785134" y="1588480"/>
                  </a:lnTo>
                  <a:lnTo>
                    <a:pt x="749990" y="1571594"/>
                  </a:lnTo>
                  <a:lnTo>
                    <a:pt x="721613" y="1545915"/>
                  </a:lnTo>
                  <a:lnTo>
                    <a:pt x="700674" y="1513484"/>
                  </a:lnTo>
                  <a:lnTo>
                    <a:pt x="689183" y="1458757"/>
                  </a:lnTo>
                </a:path>
                <a:path w="3275329" h="1597025">
                  <a:moveTo>
                    <a:pt x="2298618" y="1458757"/>
                  </a:moveTo>
                  <a:lnTo>
                    <a:pt x="2310109" y="1403360"/>
                  </a:lnTo>
                  <a:lnTo>
                    <a:pt x="2343881" y="1358752"/>
                  </a:lnTo>
                  <a:lnTo>
                    <a:pt x="2376312" y="1336456"/>
                  </a:lnTo>
                  <a:lnTo>
                    <a:pt x="2412811" y="1324295"/>
                  </a:lnTo>
                  <a:lnTo>
                    <a:pt x="2432395" y="1321597"/>
                  </a:lnTo>
                  <a:lnTo>
                    <a:pt x="2451994" y="1321597"/>
                  </a:lnTo>
                  <a:lnTo>
                    <a:pt x="2489834" y="1329034"/>
                  </a:lnTo>
                  <a:lnTo>
                    <a:pt x="2524963" y="1346591"/>
                  </a:lnTo>
                  <a:lnTo>
                    <a:pt x="2553340" y="1372270"/>
                  </a:lnTo>
                  <a:lnTo>
                    <a:pt x="2580375" y="1421602"/>
                  </a:lnTo>
                  <a:lnTo>
                    <a:pt x="2585770" y="1458757"/>
                  </a:lnTo>
                  <a:lnTo>
                    <a:pt x="2584429" y="1477670"/>
                  </a:lnTo>
                  <a:lnTo>
                    <a:pt x="2564830" y="1530385"/>
                  </a:lnTo>
                  <a:lnTo>
                    <a:pt x="2539837" y="1559432"/>
                  </a:lnTo>
                  <a:lnTo>
                    <a:pt x="2508077" y="1581058"/>
                  </a:lnTo>
                  <a:lnTo>
                    <a:pt x="2471592" y="1593890"/>
                  </a:lnTo>
                  <a:lnTo>
                    <a:pt x="2451994" y="1596588"/>
                  </a:lnTo>
                  <a:lnTo>
                    <a:pt x="2432395" y="1596588"/>
                  </a:lnTo>
                  <a:lnTo>
                    <a:pt x="2393883" y="1588480"/>
                  </a:lnTo>
                  <a:lnTo>
                    <a:pt x="2359426" y="1571594"/>
                  </a:lnTo>
                  <a:lnTo>
                    <a:pt x="2330378" y="1545915"/>
                  </a:lnTo>
                  <a:lnTo>
                    <a:pt x="2310109" y="1513484"/>
                  </a:lnTo>
                  <a:lnTo>
                    <a:pt x="2298618" y="1458757"/>
                  </a:lnTo>
                </a:path>
                <a:path w="3275329" h="1597025">
                  <a:moveTo>
                    <a:pt x="976335" y="137159"/>
                  </a:moveTo>
                  <a:lnTo>
                    <a:pt x="2298618" y="137159"/>
                  </a:lnTo>
                </a:path>
                <a:path w="3275329" h="1597025">
                  <a:moveTo>
                    <a:pt x="2442529" y="274990"/>
                  </a:moveTo>
                  <a:lnTo>
                    <a:pt x="2442529" y="1321597"/>
                  </a:lnTo>
                </a:path>
                <a:path w="3275329" h="1597025">
                  <a:moveTo>
                    <a:pt x="976335" y="1458757"/>
                  </a:moveTo>
                  <a:lnTo>
                    <a:pt x="2298618" y="1458757"/>
                  </a:lnTo>
                </a:path>
                <a:path w="3275329" h="1597025">
                  <a:moveTo>
                    <a:pt x="833094" y="274990"/>
                  </a:moveTo>
                  <a:lnTo>
                    <a:pt x="833094" y="1321597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2625355" y="1052827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3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622652" y="2374426"/>
            <a:ext cx="97155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3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257764" y="2398751"/>
            <a:ext cx="5969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3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226008" y="1077151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3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912483" y="1689303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300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367232" y="1707393"/>
            <a:ext cx="288290" cy="274320"/>
          </a:xfrm>
          <a:custGeom>
            <a:avLst/>
            <a:gdLst/>
            <a:ahLst/>
            <a:cxnLst/>
            <a:rect l="l" t="t" r="r" b="b"/>
            <a:pathLst>
              <a:path w="288289" h="274319">
                <a:moveTo>
                  <a:pt x="0" y="137159"/>
                </a:moveTo>
                <a:lnTo>
                  <a:pt x="12161" y="82433"/>
                </a:lnTo>
                <a:lnTo>
                  <a:pt x="32430" y="50002"/>
                </a:lnTo>
                <a:lnTo>
                  <a:pt x="61493" y="24338"/>
                </a:lnTo>
                <a:lnTo>
                  <a:pt x="95951" y="7437"/>
                </a:lnTo>
                <a:lnTo>
                  <a:pt x="134462" y="0"/>
                </a:lnTo>
                <a:lnTo>
                  <a:pt x="154045" y="0"/>
                </a:lnTo>
                <a:lnTo>
                  <a:pt x="191886" y="7437"/>
                </a:lnTo>
                <a:lnTo>
                  <a:pt x="226344" y="24338"/>
                </a:lnTo>
                <a:lnTo>
                  <a:pt x="255407" y="50002"/>
                </a:lnTo>
                <a:lnTo>
                  <a:pt x="275676" y="82433"/>
                </a:lnTo>
                <a:lnTo>
                  <a:pt x="287837" y="137159"/>
                </a:lnTo>
                <a:lnTo>
                  <a:pt x="286481" y="156088"/>
                </a:lnTo>
                <a:lnTo>
                  <a:pt x="266882" y="208117"/>
                </a:lnTo>
                <a:lnTo>
                  <a:pt x="241889" y="237835"/>
                </a:lnTo>
                <a:lnTo>
                  <a:pt x="210129" y="259460"/>
                </a:lnTo>
                <a:lnTo>
                  <a:pt x="172973" y="271622"/>
                </a:lnTo>
                <a:lnTo>
                  <a:pt x="154045" y="274319"/>
                </a:lnTo>
                <a:lnTo>
                  <a:pt x="134462" y="274319"/>
                </a:lnTo>
                <a:lnTo>
                  <a:pt x="95951" y="266898"/>
                </a:lnTo>
                <a:lnTo>
                  <a:pt x="61493" y="249326"/>
                </a:lnTo>
                <a:lnTo>
                  <a:pt x="32430" y="223646"/>
                </a:lnTo>
                <a:lnTo>
                  <a:pt x="5410" y="174330"/>
                </a:lnTo>
                <a:lnTo>
                  <a:pt x="0" y="137159"/>
                </a:lnTo>
              </a:path>
            </a:pathLst>
          </a:custGeom>
          <a:ln w="16891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3458449" y="1713620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300">
              <a:latin typeface="Arial"/>
              <a:cs typeface="Arial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2067930" y="1260114"/>
            <a:ext cx="3880485" cy="1240155"/>
          </a:xfrm>
          <a:custGeom>
            <a:avLst/>
            <a:gdLst/>
            <a:ahLst/>
            <a:cxnLst/>
            <a:rect l="l" t="t" r="r" b="b"/>
            <a:pathLst>
              <a:path w="3880485" h="1240155">
                <a:moveTo>
                  <a:pt x="8778" y="476341"/>
                </a:moveTo>
                <a:lnTo>
                  <a:pt x="490529" y="0"/>
                </a:lnTo>
              </a:path>
              <a:path w="3880485" h="1240155">
                <a:moveTo>
                  <a:pt x="0" y="698632"/>
                </a:moveTo>
                <a:lnTo>
                  <a:pt x="491886" y="1166865"/>
                </a:lnTo>
              </a:path>
              <a:path w="3880485" h="1240155">
                <a:moveTo>
                  <a:pt x="2324968" y="1152677"/>
                </a:moveTo>
                <a:lnTo>
                  <a:pt x="2814812" y="688497"/>
                </a:lnTo>
              </a:path>
              <a:path w="3880485" h="1240155">
                <a:moveTo>
                  <a:pt x="2333076" y="7421"/>
                </a:moveTo>
                <a:lnTo>
                  <a:pt x="2820893" y="474985"/>
                </a:lnTo>
              </a:path>
              <a:path w="3880485" h="1240155">
                <a:moveTo>
                  <a:pt x="711479" y="20939"/>
                </a:moveTo>
                <a:lnTo>
                  <a:pt x="1329705" y="499993"/>
                </a:lnTo>
              </a:path>
              <a:path w="3880485" h="1240155">
                <a:moveTo>
                  <a:pt x="1551995" y="673638"/>
                </a:moveTo>
                <a:lnTo>
                  <a:pt x="2126315" y="1140515"/>
                </a:lnTo>
              </a:path>
              <a:path w="3880485" h="1240155">
                <a:moveTo>
                  <a:pt x="1551995" y="494583"/>
                </a:moveTo>
                <a:lnTo>
                  <a:pt x="2112797" y="16215"/>
                </a:lnTo>
              </a:path>
              <a:path w="3880485" h="1240155">
                <a:moveTo>
                  <a:pt x="1327678" y="665530"/>
                </a:moveTo>
                <a:lnTo>
                  <a:pt x="711479" y="1147952"/>
                </a:lnTo>
              </a:path>
              <a:path w="3880485" h="1240155">
                <a:moveTo>
                  <a:pt x="3425616" y="27020"/>
                </a:moveTo>
                <a:lnTo>
                  <a:pt x="3425616" y="1239834"/>
                </a:lnTo>
              </a:path>
              <a:path w="3880485" h="1240155">
                <a:moveTo>
                  <a:pt x="3880347" y="27020"/>
                </a:moveTo>
                <a:lnTo>
                  <a:pt x="3880347" y="1239834"/>
                </a:lnTo>
              </a:path>
              <a:path w="3880485" h="1240155">
                <a:moveTo>
                  <a:pt x="3425616" y="1239834"/>
                </a:moveTo>
                <a:lnTo>
                  <a:pt x="3880347" y="1239834"/>
                </a:lnTo>
              </a:path>
            </a:pathLst>
          </a:custGeom>
          <a:ln w="16891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1926716" y="1419038"/>
            <a:ext cx="116205" cy="523240"/>
          </a:xfrm>
          <a:prstGeom prst="rect">
            <a:avLst/>
          </a:prstGeom>
        </p:spPr>
        <p:txBody>
          <a:bodyPr wrap="square" lIns="0" tIns="6223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490"/>
              </a:spcBef>
            </a:pPr>
            <a:r>
              <a:rPr dirty="0" sz="1300" spc="1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300">
              <a:latin typeface="Arial"/>
              <a:cs typeface="Arial"/>
            </a:endParaRPr>
          </a:p>
        </p:txBody>
      </p:sp>
      <p:pic>
        <p:nvPicPr>
          <p:cNvPr id="16" name="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02002" y="2287455"/>
            <a:ext cx="177688" cy="156646"/>
          </a:xfrm>
          <a:prstGeom prst="rect">
            <a:avLst/>
          </a:prstGeom>
        </p:spPr>
      </p:pic>
      <p:sp>
        <p:nvSpPr>
          <p:cNvPr id="17" name="object 17"/>
          <p:cNvSpPr txBox="1"/>
          <p:nvPr/>
        </p:nvSpPr>
        <p:spPr>
          <a:xfrm>
            <a:off x="5512469" y="2173744"/>
            <a:ext cx="407034" cy="5568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R="5080" indent="170815">
              <a:lnSpc>
                <a:spcPct val="134000"/>
              </a:lnSpc>
              <a:spcBef>
                <a:spcPts val="95"/>
              </a:spcBef>
            </a:pPr>
            <a:r>
              <a:rPr dirty="0" sz="1300" spc="5" i="1">
                <a:solidFill>
                  <a:srgbClr val="FFFF00"/>
                </a:solidFill>
                <a:latin typeface="Arial"/>
                <a:cs typeface="Arial"/>
              </a:rPr>
              <a:t>, </a:t>
            </a:r>
            <a:r>
              <a:rPr dirty="0" sz="1300" spc="15" i="1">
                <a:solidFill>
                  <a:srgbClr val="FFFF00"/>
                </a:solidFill>
                <a:latin typeface="Arial"/>
                <a:cs typeface="Arial"/>
              </a:rPr>
              <a:t>s </a:t>
            </a:r>
            <a:r>
              <a:rPr dirty="0" sz="1300" spc="-35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300" spc="10" i="1">
                <a:solidFill>
                  <a:srgbClr val="FFFF00"/>
                </a:solidFill>
                <a:latin typeface="Arial"/>
                <a:cs typeface="Arial"/>
              </a:rPr>
              <a:t>stack</a:t>
            </a:r>
            <a:endParaRPr sz="13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025496" y="2938590"/>
            <a:ext cx="41789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8.12: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Depth-first-search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source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‘s’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0700" y="3841389"/>
            <a:ext cx="4648200" cy="1934210"/>
            <a:chOff x="1790700" y="3841389"/>
            <a:chExt cx="4648200" cy="1934210"/>
          </a:xfrm>
        </p:grpSpPr>
        <p:sp>
          <p:nvSpPr>
            <p:cNvPr id="20" name="object 20"/>
            <p:cNvSpPr/>
            <p:nvPr/>
          </p:nvSpPr>
          <p:spPr>
            <a:xfrm>
              <a:off x="1790700" y="3841389"/>
              <a:ext cx="4648200" cy="1934210"/>
            </a:xfrm>
            <a:custGeom>
              <a:avLst/>
              <a:gdLst/>
              <a:ahLst/>
              <a:cxnLst/>
              <a:rect l="l" t="t" r="r" b="b"/>
              <a:pathLst>
                <a:path w="4648200" h="1934210">
                  <a:moveTo>
                    <a:pt x="4648001" y="0"/>
                  </a:moveTo>
                  <a:lnTo>
                    <a:pt x="0" y="0"/>
                  </a:lnTo>
                  <a:lnTo>
                    <a:pt x="0" y="1934062"/>
                  </a:lnTo>
                  <a:lnTo>
                    <a:pt x="4648001" y="1934062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852400" y="4609470"/>
              <a:ext cx="287020" cy="274320"/>
            </a:xfrm>
            <a:custGeom>
              <a:avLst/>
              <a:gdLst/>
              <a:ahLst/>
              <a:cxnLst/>
              <a:rect l="l" t="t" r="r" b="b"/>
              <a:pathLst>
                <a:path w="287020" h="274320">
                  <a:moveTo>
                    <a:pt x="0" y="137159"/>
                  </a:moveTo>
                  <a:lnTo>
                    <a:pt x="12161" y="82433"/>
                  </a:lnTo>
                  <a:lnTo>
                    <a:pt x="45262" y="36484"/>
                  </a:lnTo>
                  <a:lnTo>
                    <a:pt x="77022" y="14874"/>
                  </a:lnTo>
                  <a:lnTo>
                    <a:pt x="114193" y="2026"/>
                  </a:lnTo>
                  <a:lnTo>
                    <a:pt x="133776" y="0"/>
                  </a:lnTo>
                  <a:lnTo>
                    <a:pt x="153375" y="0"/>
                  </a:lnTo>
                  <a:lnTo>
                    <a:pt x="191216" y="7437"/>
                  </a:lnTo>
                  <a:lnTo>
                    <a:pt x="226344" y="24323"/>
                  </a:lnTo>
                  <a:lnTo>
                    <a:pt x="254721" y="50002"/>
                  </a:lnTo>
                  <a:lnTo>
                    <a:pt x="275676" y="82433"/>
                  </a:lnTo>
                  <a:lnTo>
                    <a:pt x="286481" y="137159"/>
                  </a:lnTo>
                  <a:lnTo>
                    <a:pt x="285810" y="156088"/>
                  </a:lnTo>
                  <a:lnTo>
                    <a:pt x="266212" y="208117"/>
                  </a:lnTo>
                  <a:lnTo>
                    <a:pt x="241889" y="237835"/>
                  </a:lnTo>
                  <a:lnTo>
                    <a:pt x="209458" y="259460"/>
                  </a:lnTo>
                  <a:lnTo>
                    <a:pt x="172288" y="271622"/>
                  </a:lnTo>
                  <a:lnTo>
                    <a:pt x="153375" y="274319"/>
                  </a:lnTo>
                  <a:lnTo>
                    <a:pt x="133776" y="274319"/>
                  </a:lnTo>
                  <a:lnTo>
                    <a:pt x="95265" y="266898"/>
                  </a:lnTo>
                  <a:lnTo>
                    <a:pt x="60137" y="249326"/>
                  </a:lnTo>
                  <a:lnTo>
                    <a:pt x="31760" y="223646"/>
                  </a:lnTo>
                  <a:lnTo>
                    <a:pt x="5410" y="174330"/>
                  </a:lnTo>
                  <a:lnTo>
                    <a:pt x="0" y="137159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1863928" y="4609470"/>
              <a:ext cx="287655" cy="274320"/>
            </a:xfrm>
            <a:custGeom>
              <a:avLst/>
              <a:gdLst/>
              <a:ahLst/>
              <a:cxnLst/>
              <a:rect l="l" t="t" r="r" b="b"/>
              <a:pathLst>
                <a:path w="287655" h="274320">
                  <a:moveTo>
                    <a:pt x="152704" y="0"/>
                  </a:moveTo>
                  <a:lnTo>
                    <a:pt x="133106" y="0"/>
                  </a:lnTo>
                  <a:lnTo>
                    <a:pt x="113522" y="2026"/>
                  </a:lnTo>
                  <a:lnTo>
                    <a:pt x="60822" y="24323"/>
                  </a:lnTo>
                  <a:lnTo>
                    <a:pt x="31760" y="50002"/>
                  </a:lnTo>
                  <a:lnTo>
                    <a:pt x="11490" y="82433"/>
                  </a:lnTo>
                  <a:lnTo>
                    <a:pt x="0" y="137159"/>
                  </a:lnTo>
                  <a:lnTo>
                    <a:pt x="685" y="156088"/>
                  </a:lnTo>
                  <a:lnTo>
                    <a:pt x="20954" y="208117"/>
                  </a:lnTo>
                  <a:lnTo>
                    <a:pt x="45278" y="237835"/>
                  </a:lnTo>
                  <a:lnTo>
                    <a:pt x="77708" y="259460"/>
                  </a:lnTo>
                  <a:lnTo>
                    <a:pt x="133106" y="274319"/>
                  </a:lnTo>
                  <a:lnTo>
                    <a:pt x="152704" y="274319"/>
                  </a:lnTo>
                  <a:lnTo>
                    <a:pt x="191216" y="266898"/>
                  </a:lnTo>
                  <a:lnTo>
                    <a:pt x="226359" y="249326"/>
                  </a:lnTo>
                  <a:lnTo>
                    <a:pt x="254736" y="223646"/>
                  </a:lnTo>
                  <a:lnTo>
                    <a:pt x="281757" y="174330"/>
                  </a:lnTo>
                  <a:lnTo>
                    <a:pt x="287167" y="137159"/>
                  </a:lnTo>
                  <a:lnTo>
                    <a:pt x="285810" y="118917"/>
                  </a:lnTo>
                  <a:lnTo>
                    <a:pt x="266212" y="65547"/>
                  </a:lnTo>
                  <a:lnTo>
                    <a:pt x="241218" y="36484"/>
                  </a:lnTo>
                  <a:lnTo>
                    <a:pt x="209458" y="14874"/>
                  </a:lnTo>
                  <a:lnTo>
                    <a:pt x="172303" y="2026"/>
                  </a:lnTo>
                  <a:lnTo>
                    <a:pt x="152704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1863928" y="3948679"/>
              <a:ext cx="2586355" cy="1597025"/>
            </a:xfrm>
            <a:custGeom>
              <a:avLst/>
              <a:gdLst/>
              <a:ahLst/>
              <a:cxnLst/>
              <a:rect l="l" t="t" r="r" b="b"/>
              <a:pathLst>
                <a:path w="2586354" h="1597025">
                  <a:moveTo>
                    <a:pt x="0" y="797951"/>
                  </a:moveTo>
                  <a:lnTo>
                    <a:pt x="11490" y="743224"/>
                  </a:lnTo>
                  <a:lnTo>
                    <a:pt x="31760" y="710793"/>
                  </a:lnTo>
                  <a:lnTo>
                    <a:pt x="60822" y="685114"/>
                  </a:lnTo>
                  <a:lnTo>
                    <a:pt x="95280" y="668228"/>
                  </a:lnTo>
                  <a:lnTo>
                    <a:pt x="133106" y="660791"/>
                  </a:lnTo>
                  <a:lnTo>
                    <a:pt x="152704" y="660791"/>
                  </a:lnTo>
                  <a:lnTo>
                    <a:pt x="191216" y="668228"/>
                  </a:lnTo>
                  <a:lnTo>
                    <a:pt x="226359" y="685114"/>
                  </a:lnTo>
                  <a:lnTo>
                    <a:pt x="254736" y="710793"/>
                  </a:lnTo>
                  <a:lnTo>
                    <a:pt x="275005" y="743224"/>
                  </a:lnTo>
                  <a:lnTo>
                    <a:pt x="287167" y="797951"/>
                  </a:lnTo>
                  <a:lnTo>
                    <a:pt x="285810" y="816879"/>
                  </a:lnTo>
                  <a:lnTo>
                    <a:pt x="266212" y="868908"/>
                  </a:lnTo>
                  <a:lnTo>
                    <a:pt x="241218" y="898626"/>
                  </a:lnTo>
                  <a:lnTo>
                    <a:pt x="209458" y="920252"/>
                  </a:lnTo>
                  <a:lnTo>
                    <a:pt x="172303" y="932413"/>
                  </a:lnTo>
                  <a:lnTo>
                    <a:pt x="152704" y="935111"/>
                  </a:lnTo>
                  <a:lnTo>
                    <a:pt x="133106" y="935111"/>
                  </a:lnTo>
                  <a:lnTo>
                    <a:pt x="95280" y="927689"/>
                  </a:lnTo>
                  <a:lnTo>
                    <a:pt x="60822" y="910117"/>
                  </a:lnTo>
                  <a:lnTo>
                    <a:pt x="31760" y="884438"/>
                  </a:lnTo>
                  <a:lnTo>
                    <a:pt x="4739" y="835121"/>
                  </a:lnTo>
                  <a:lnTo>
                    <a:pt x="0" y="797951"/>
                  </a:lnTo>
                </a:path>
                <a:path w="2586354" h="1597025">
                  <a:moveTo>
                    <a:pt x="689183" y="137159"/>
                  </a:moveTo>
                  <a:lnTo>
                    <a:pt x="700674" y="82433"/>
                  </a:lnTo>
                  <a:lnTo>
                    <a:pt x="735131" y="37155"/>
                  </a:lnTo>
                  <a:lnTo>
                    <a:pt x="766892" y="15544"/>
                  </a:lnTo>
                  <a:lnTo>
                    <a:pt x="804047" y="2697"/>
                  </a:lnTo>
                  <a:lnTo>
                    <a:pt x="822959" y="0"/>
                  </a:lnTo>
                  <a:lnTo>
                    <a:pt x="843229" y="0"/>
                  </a:lnTo>
                  <a:lnTo>
                    <a:pt x="881070" y="7437"/>
                  </a:lnTo>
                  <a:lnTo>
                    <a:pt x="915527" y="24993"/>
                  </a:lnTo>
                  <a:lnTo>
                    <a:pt x="943904" y="50672"/>
                  </a:lnTo>
                  <a:lnTo>
                    <a:pt x="970940" y="99989"/>
                  </a:lnTo>
                  <a:lnTo>
                    <a:pt x="976335" y="137159"/>
                  </a:lnTo>
                  <a:lnTo>
                    <a:pt x="974994" y="156072"/>
                  </a:lnTo>
                  <a:lnTo>
                    <a:pt x="955395" y="208772"/>
                  </a:lnTo>
                  <a:lnTo>
                    <a:pt x="915527" y="249996"/>
                  </a:lnTo>
                  <a:lnTo>
                    <a:pt x="881070" y="266882"/>
                  </a:lnTo>
                  <a:lnTo>
                    <a:pt x="843229" y="274990"/>
                  </a:lnTo>
                  <a:lnTo>
                    <a:pt x="822959" y="274990"/>
                  </a:lnTo>
                  <a:lnTo>
                    <a:pt x="785134" y="266882"/>
                  </a:lnTo>
                  <a:lnTo>
                    <a:pt x="749990" y="249996"/>
                  </a:lnTo>
                  <a:lnTo>
                    <a:pt x="721613" y="224317"/>
                  </a:lnTo>
                  <a:lnTo>
                    <a:pt x="700674" y="191886"/>
                  </a:lnTo>
                  <a:lnTo>
                    <a:pt x="689183" y="137159"/>
                  </a:lnTo>
                </a:path>
                <a:path w="2586354" h="1597025">
                  <a:moveTo>
                    <a:pt x="2298618" y="137159"/>
                  </a:moveTo>
                  <a:lnTo>
                    <a:pt x="2310109" y="82433"/>
                  </a:lnTo>
                  <a:lnTo>
                    <a:pt x="2343881" y="37155"/>
                  </a:lnTo>
                  <a:lnTo>
                    <a:pt x="2376312" y="15544"/>
                  </a:lnTo>
                  <a:lnTo>
                    <a:pt x="2412811" y="2697"/>
                  </a:lnTo>
                  <a:lnTo>
                    <a:pt x="2432395" y="0"/>
                  </a:lnTo>
                  <a:lnTo>
                    <a:pt x="2451994" y="0"/>
                  </a:lnTo>
                  <a:lnTo>
                    <a:pt x="2489834" y="7437"/>
                  </a:lnTo>
                  <a:lnTo>
                    <a:pt x="2524963" y="24993"/>
                  </a:lnTo>
                  <a:lnTo>
                    <a:pt x="2553340" y="50672"/>
                  </a:lnTo>
                  <a:lnTo>
                    <a:pt x="2580375" y="99989"/>
                  </a:lnTo>
                  <a:lnTo>
                    <a:pt x="2585770" y="137159"/>
                  </a:lnTo>
                  <a:lnTo>
                    <a:pt x="2584429" y="156072"/>
                  </a:lnTo>
                  <a:lnTo>
                    <a:pt x="2564830" y="208772"/>
                  </a:lnTo>
                  <a:lnTo>
                    <a:pt x="2539837" y="237835"/>
                  </a:lnTo>
                  <a:lnTo>
                    <a:pt x="2508077" y="259445"/>
                  </a:lnTo>
                  <a:lnTo>
                    <a:pt x="2471592" y="272293"/>
                  </a:lnTo>
                  <a:lnTo>
                    <a:pt x="2451994" y="274990"/>
                  </a:lnTo>
                  <a:lnTo>
                    <a:pt x="2432395" y="274990"/>
                  </a:lnTo>
                  <a:lnTo>
                    <a:pt x="2393883" y="266882"/>
                  </a:lnTo>
                  <a:lnTo>
                    <a:pt x="2359426" y="249996"/>
                  </a:lnTo>
                  <a:lnTo>
                    <a:pt x="2330378" y="224317"/>
                  </a:lnTo>
                  <a:lnTo>
                    <a:pt x="2310109" y="191886"/>
                  </a:lnTo>
                  <a:lnTo>
                    <a:pt x="2298618" y="137159"/>
                  </a:lnTo>
                </a:path>
                <a:path w="2586354" h="1597025">
                  <a:moveTo>
                    <a:pt x="689183" y="1458757"/>
                  </a:moveTo>
                  <a:lnTo>
                    <a:pt x="700674" y="1403360"/>
                  </a:lnTo>
                  <a:lnTo>
                    <a:pt x="735131" y="1358752"/>
                  </a:lnTo>
                  <a:lnTo>
                    <a:pt x="766892" y="1336456"/>
                  </a:lnTo>
                  <a:lnTo>
                    <a:pt x="804047" y="1324295"/>
                  </a:lnTo>
                  <a:lnTo>
                    <a:pt x="822959" y="1321597"/>
                  </a:lnTo>
                  <a:lnTo>
                    <a:pt x="843229" y="1321597"/>
                  </a:lnTo>
                  <a:lnTo>
                    <a:pt x="881070" y="1329034"/>
                  </a:lnTo>
                  <a:lnTo>
                    <a:pt x="915527" y="1346591"/>
                  </a:lnTo>
                  <a:lnTo>
                    <a:pt x="943904" y="1372270"/>
                  </a:lnTo>
                  <a:lnTo>
                    <a:pt x="970940" y="1421602"/>
                  </a:lnTo>
                  <a:lnTo>
                    <a:pt x="976335" y="1458757"/>
                  </a:lnTo>
                  <a:lnTo>
                    <a:pt x="974994" y="1477670"/>
                  </a:lnTo>
                  <a:lnTo>
                    <a:pt x="955395" y="1530385"/>
                  </a:lnTo>
                  <a:lnTo>
                    <a:pt x="915527" y="1571594"/>
                  </a:lnTo>
                  <a:lnTo>
                    <a:pt x="881070" y="1588480"/>
                  </a:lnTo>
                  <a:lnTo>
                    <a:pt x="843229" y="1596588"/>
                  </a:lnTo>
                  <a:lnTo>
                    <a:pt x="822959" y="1596588"/>
                  </a:lnTo>
                  <a:lnTo>
                    <a:pt x="785134" y="1588480"/>
                  </a:lnTo>
                  <a:lnTo>
                    <a:pt x="749990" y="1571594"/>
                  </a:lnTo>
                  <a:lnTo>
                    <a:pt x="721613" y="1545915"/>
                  </a:lnTo>
                  <a:lnTo>
                    <a:pt x="700674" y="1513484"/>
                  </a:lnTo>
                  <a:lnTo>
                    <a:pt x="689183" y="1458757"/>
                  </a:lnTo>
                </a:path>
                <a:path w="2586354" h="1597025">
                  <a:moveTo>
                    <a:pt x="2298618" y="1458757"/>
                  </a:moveTo>
                  <a:lnTo>
                    <a:pt x="2310109" y="1403360"/>
                  </a:lnTo>
                  <a:lnTo>
                    <a:pt x="2343881" y="1358752"/>
                  </a:lnTo>
                  <a:lnTo>
                    <a:pt x="2376312" y="1336456"/>
                  </a:lnTo>
                  <a:lnTo>
                    <a:pt x="2412811" y="1324295"/>
                  </a:lnTo>
                  <a:lnTo>
                    <a:pt x="2432395" y="1321597"/>
                  </a:lnTo>
                  <a:lnTo>
                    <a:pt x="2451994" y="1321597"/>
                  </a:lnTo>
                  <a:lnTo>
                    <a:pt x="2489834" y="1329034"/>
                  </a:lnTo>
                  <a:lnTo>
                    <a:pt x="2524963" y="1346591"/>
                  </a:lnTo>
                  <a:lnTo>
                    <a:pt x="2553340" y="1372270"/>
                  </a:lnTo>
                  <a:lnTo>
                    <a:pt x="2580375" y="1421602"/>
                  </a:lnTo>
                  <a:lnTo>
                    <a:pt x="2585770" y="1458757"/>
                  </a:lnTo>
                  <a:lnTo>
                    <a:pt x="2584429" y="1477670"/>
                  </a:lnTo>
                  <a:lnTo>
                    <a:pt x="2564830" y="1530385"/>
                  </a:lnTo>
                  <a:lnTo>
                    <a:pt x="2539837" y="1559432"/>
                  </a:lnTo>
                  <a:lnTo>
                    <a:pt x="2508077" y="1581058"/>
                  </a:lnTo>
                  <a:lnTo>
                    <a:pt x="2471592" y="1593890"/>
                  </a:lnTo>
                  <a:lnTo>
                    <a:pt x="2451994" y="1596588"/>
                  </a:lnTo>
                  <a:lnTo>
                    <a:pt x="2432395" y="1596588"/>
                  </a:lnTo>
                  <a:lnTo>
                    <a:pt x="2393883" y="1588480"/>
                  </a:lnTo>
                  <a:lnTo>
                    <a:pt x="2359426" y="1571594"/>
                  </a:lnTo>
                  <a:lnTo>
                    <a:pt x="2330378" y="1545915"/>
                  </a:lnTo>
                  <a:lnTo>
                    <a:pt x="2310109" y="1513484"/>
                  </a:lnTo>
                  <a:lnTo>
                    <a:pt x="2298618" y="1458757"/>
                  </a:lnTo>
                </a:path>
                <a:path w="2586354" h="1597025">
                  <a:moveTo>
                    <a:pt x="976335" y="137159"/>
                  </a:moveTo>
                  <a:lnTo>
                    <a:pt x="2298618" y="137159"/>
                  </a:lnTo>
                </a:path>
                <a:path w="2586354" h="1597025">
                  <a:moveTo>
                    <a:pt x="2442529" y="274990"/>
                  </a:moveTo>
                  <a:lnTo>
                    <a:pt x="2442529" y="1321597"/>
                  </a:lnTo>
                </a:path>
                <a:path w="2586354" h="1597025">
                  <a:moveTo>
                    <a:pt x="976335" y="1458757"/>
                  </a:moveTo>
                  <a:lnTo>
                    <a:pt x="2298618" y="1458757"/>
                  </a:lnTo>
                </a:path>
                <a:path w="2586354" h="1597025">
                  <a:moveTo>
                    <a:pt x="833094" y="274990"/>
                  </a:moveTo>
                  <a:lnTo>
                    <a:pt x="833094" y="1321597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/>
          <p:cNvSpPr txBox="1"/>
          <p:nvPr/>
        </p:nvSpPr>
        <p:spPr>
          <a:xfrm>
            <a:off x="2644329" y="3954890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3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641626" y="5276489"/>
            <a:ext cx="97155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3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276738" y="5300814"/>
            <a:ext cx="5969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3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244981" y="3979214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3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931457" y="4591365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300">
              <a:latin typeface="Arial"/>
              <a:cs typeface="Arial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3386206" y="4609470"/>
            <a:ext cx="288290" cy="274320"/>
          </a:xfrm>
          <a:custGeom>
            <a:avLst/>
            <a:gdLst/>
            <a:ahLst/>
            <a:cxnLst/>
            <a:rect l="l" t="t" r="r" b="b"/>
            <a:pathLst>
              <a:path w="288289" h="274320">
                <a:moveTo>
                  <a:pt x="0" y="137159"/>
                </a:moveTo>
                <a:lnTo>
                  <a:pt x="12161" y="82433"/>
                </a:lnTo>
                <a:lnTo>
                  <a:pt x="32430" y="50002"/>
                </a:lnTo>
                <a:lnTo>
                  <a:pt x="61493" y="24323"/>
                </a:lnTo>
                <a:lnTo>
                  <a:pt x="95951" y="7437"/>
                </a:lnTo>
                <a:lnTo>
                  <a:pt x="134462" y="0"/>
                </a:lnTo>
                <a:lnTo>
                  <a:pt x="154045" y="0"/>
                </a:lnTo>
                <a:lnTo>
                  <a:pt x="191886" y="7437"/>
                </a:lnTo>
                <a:lnTo>
                  <a:pt x="226344" y="24323"/>
                </a:lnTo>
                <a:lnTo>
                  <a:pt x="255407" y="50002"/>
                </a:lnTo>
                <a:lnTo>
                  <a:pt x="275676" y="82433"/>
                </a:lnTo>
                <a:lnTo>
                  <a:pt x="287837" y="137159"/>
                </a:lnTo>
                <a:lnTo>
                  <a:pt x="286481" y="156088"/>
                </a:lnTo>
                <a:lnTo>
                  <a:pt x="266882" y="208117"/>
                </a:lnTo>
                <a:lnTo>
                  <a:pt x="241889" y="237835"/>
                </a:lnTo>
                <a:lnTo>
                  <a:pt x="210129" y="259460"/>
                </a:lnTo>
                <a:lnTo>
                  <a:pt x="172973" y="271622"/>
                </a:lnTo>
                <a:lnTo>
                  <a:pt x="154045" y="274319"/>
                </a:lnTo>
                <a:lnTo>
                  <a:pt x="134462" y="274319"/>
                </a:lnTo>
                <a:lnTo>
                  <a:pt x="95951" y="266898"/>
                </a:lnTo>
                <a:lnTo>
                  <a:pt x="61493" y="249326"/>
                </a:lnTo>
                <a:lnTo>
                  <a:pt x="32430" y="223646"/>
                </a:lnTo>
                <a:lnTo>
                  <a:pt x="5410" y="174330"/>
                </a:lnTo>
                <a:lnTo>
                  <a:pt x="0" y="137159"/>
                </a:lnTo>
              </a:path>
            </a:pathLst>
          </a:custGeom>
          <a:ln w="16891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 txBox="1"/>
          <p:nvPr/>
        </p:nvSpPr>
        <p:spPr>
          <a:xfrm>
            <a:off x="3477423" y="4615696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300">
              <a:latin typeface="Arial"/>
              <a:cs typeface="Arial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2086904" y="4162191"/>
            <a:ext cx="3880485" cy="1240155"/>
          </a:xfrm>
          <a:custGeom>
            <a:avLst/>
            <a:gdLst/>
            <a:ahLst/>
            <a:cxnLst/>
            <a:rect l="l" t="t" r="r" b="b"/>
            <a:pathLst>
              <a:path w="3880485" h="1240154">
                <a:moveTo>
                  <a:pt x="8778" y="476341"/>
                </a:moveTo>
                <a:lnTo>
                  <a:pt x="490529" y="0"/>
                </a:lnTo>
              </a:path>
              <a:path w="3880485" h="1240154">
                <a:moveTo>
                  <a:pt x="0" y="698632"/>
                </a:moveTo>
                <a:lnTo>
                  <a:pt x="491886" y="1166865"/>
                </a:lnTo>
              </a:path>
              <a:path w="3880485" h="1240154">
                <a:moveTo>
                  <a:pt x="2324968" y="1152677"/>
                </a:moveTo>
                <a:lnTo>
                  <a:pt x="2814812" y="688497"/>
                </a:lnTo>
              </a:path>
              <a:path w="3880485" h="1240154">
                <a:moveTo>
                  <a:pt x="2333076" y="7421"/>
                </a:moveTo>
                <a:lnTo>
                  <a:pt x="2820893" y="474985"/>
                </a:lnTo>
              </a:path>
              <a:path w="3880485" h="1240154">
                <a:moveTo>
                  <a:pt x="711479" y="20939"/>
                </a:moveTo>
                <a:lnTo>
                  <a:pt x="1329705" y="499993"/>
                </a:lnTo>
              </a:path>
              <a:path w="3880485" h="1240154">
                <a:moveTo>
                  <a:pt x="1551995" y="673638"/>
                </a:moveTo>
                <a:lnTo>
                  <a:pt x="2126315" y="1140515"/>
                </a:lnTo>
              </a:path>
              <a:path w="3880485" h="1240154">
                <a:moveTo>
                  <a:pt x="1551995" y="494583"/>
                </a:moveTo>
                <a:lnTo>
                  <a:pt x="2112797" y="16215"/>
                </a:lnTo>
              </a:path>
              <a:path w="3880485" h="1240154">
                <a:moveTo>
                  <a:pt x="1327678" y="665530"/>
                </a:moveTo>
                <a:lnTo>
                  <a:pt x="711479" y="1147952"/>
                </a:lnTo>
              </a:path>
              <a:path w="3880485" h="1240154">
                <a:moveTo>
                  <a:pt x="3425616" y="27020"/>
                </a:moveTo>
                <a:lnTo>
                  <a:pt x="3425616" y="1239834"/>
                </a:lnTo>
              </a:path>
              <a:path w="3880485" h="1240154">
                <a:moveTo>
                  <a:pt x="3880347" y="27020"/>
                </a:moveTo>
                <a:lnTo>
                  <a:pt x="3880347" y="1239834"/>
                </a:lnTo>
              </a:path>
              <a:path w="3880485" h="1240154">
                <a:moveTo>
                  <a:pt x="3425616" y="1239834"/>
                </a:moveTo>
                <a:lnTo>
                  <a:pt x="3880347" y="1239834"/>
                </a:lnTo>
              </a:path>
            </a:pathLst>
          </a:custGeom>
          <a:ln w="16891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1945689" y="4321115"/>
            <a:ext cx="116205" cy="523240"/>
          </a:xfrm>
          <a:prstGeom prst="rect">
            <a:avLst/>
          </a:prstGeom>
        </p:spPr>
        <p:txBody>
          <a:bodyPr wrap="square" lIns="0" tIns="6223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490"/>
              </a:spcBef>
            </a:pPr>
            <a:r>
              <a:rPr dirty="0" sz="1300" spc="1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3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526039" y="4962316"/>
            <a:ext cx="412750" cy="670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(a,c)</a:t>
            </a:r>
            <a:endParaRPr sz="1300">
              <a:latin typeface="Arial"/>
              <a:cs typeface="Arial"/>
            </a:endParaRPr>
          </a:p>
          <a:p>
            <a:pPr marL="8255">
              <a:lnSpc>
                <a:spcPct val="100000"/>
              </a:lnSpc>
              <a:spcBef>
                <a:spcPts val="30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(a,b)</a:t>
            </a:r>
            <a:endParaRPr sz="1300">
              <a:latin typeface="Arial"/>
              <a:cs typeface="Arial"/>
            </a:endParaRPr>
          </a:p>
          <a:p>
            <a:pPr marL="5080">
              <a:lnSpc>
                <a:spcPct val="100000"/>
              </a:lnSpc>
              <a:spcBef>
                <a:spcPts val="330"/>
              </a:spcBef>
            </a:pPr>
            <a:r>
              <a:rPr dirty="0" sz="1300" spc="10" i="1">
                <a:solidFill>
                  <a:srgbClr val="FFFF00"/>
                </a:solidFill>
                <a:latin typeface="Arial"/>
                <a:cs typeface="Arial"/>
              </a:rPr>
              <a:t>stack</a:t>
            </a:r>
            <a:endParaRPr sz="1300">
              <a:latin typeface="Arial"/>
              <a:cs typeface="Arial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2172035" y="4218259"/>
            <a:ext cx="164465" cy="1098550"/>
            <a:chOff x="2172035" y="4218259"/>
            <a:chExt cx="164465" cy="1098550"/>
          </a:xfrm>
        </p:grpSpPr>
        <p:pic>
          <p:nvPicPr>
            <p:cNvPr id="35" name="object 3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72035" y="4218259"/>
              <a:ext cx="158785" cy="160141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6759" y="5156083"/>
              <a:ext cx="159471" cy="160141"/>
            </a:xfrm>
            <a:prstGeom prst="rect">
              <a:avLst/>
            </a:prstGeom>
          </p:spPr>
        </p:pic>
      </p:grpSp>
      <p:sp>
        <p:nvSpPr>
          <p:cNvPr id="37" name="object 37"/>
          <p:cNvSpPr txBox="1"/>
          <p:nvPr/>
        </p:nvSpPr>
        <p:spPr>
          <a:xfrm>
            <a:off x="2404858" y="5840667"/>
            <a:ext cx="34194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8.13: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‘a’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popped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1790700" y="6743085"/>
            <a:ext cx="4648200" cy="1934210"/>
            <a:chOff x="1790700" y="6743085"/>
            <a:chExt cx="4648200" cy="1934210"/>
          </a:xfrm>
        </p:grpSpPr>
        <p:sp>
          <p:nvSpPr>
            <p:cNvPr id="39" name="object 39"/>
            <p:cNvSpPr/>
            <p:nvPr/>
          </p:nvSpPr>
          <p:spPr>
            <a:xfrm>
              <a:off x="1790700" y="6743085"/>
              <a:ext cx="4648200" cy="1934210"/>
            </a:xfrm>
            <a:custGeom>
              <a:avLst/>
              <a:gdLst/>
              <a:ahLst/>
              <a:cxnLst/>
              <a:rect l="l" t="t" r="r" b="b"/>
              <a:pathLst>
                <a:path w="4648200" h="1934209">
                  <a:moveTo>
                    <a:pt x="4648001" y="0"/>
                  </a:moveTo>
                  <a:lnTo>
                    <a:pt x="0" y="0"/>
                  </a:lnTo>
                  <a:lnTo>
                    <a:pt x="0" y="1934062"/>
                  </a:lnTo>
                  <a:lnTo>
                    <a:pt x="4648001" y="1934062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852400" y="7511547"/>
              <a:ext cx="287020" cy="274320"/>
            </a:xfrm>
            <a:custGeom>
              <a:avLst/>
              <a:gdLst/>
              <a:ahLst/>
              <a:cxnLst/>
              <a:rect l="l" t="t" r="r" b="b"/>
              <a:pathLst>
                <a:path w="287020" h="274320">
                  <a:moveTo>
                    <a:pt x="0" y="137159"/>
                  </a:moveTo>
                  <a:lnTo>
                    <a:pt x="12161" y="82433"/>
                  </a:lnTo>
                  <a:lnTo>
                    <a:pt x="45262" y="36484"/>
                  </a:lnTo>
                  <a:lnTo>
                    <a:pt x="77022" y="14874"/>
                  </a:lnTo>
                  <a:lnTo>
                    <a:pt x="114193" y="2026"/>
                  </a:lnTo>
                  <a:lnTo>
                    <a:pt x="133776" y="0"/>
                  </a:lnTo>
                  <a:lnTo>
                    <a:pt x="153375" y="0"/>
                  </a:lnTo>
                  <a:lnTo>
                    <a:pt x="191216" y="7437"/>
                  </a:lnTo>
                  <a:lnTo>
                    <a:pt x="226344" y="24323"/>
                  </a:lnTo>
                  <a:lnTo>
                    <a:pt x="254721" y="50002"/>
                  </a:lnTo>
                  <a:lnTo>
                    <a:pt x="275676" y="82433"/>
                  </a:lnTo>
                  <a:lnTo>
                    <a:pt x="286481" y="137159"/>
                  </a:lnTo>
                  <a:lnTo>
                    <a:pt x="285810" y="156088"/>
                  </a:lnTo>
                  <a:lnTo>
                    <a:pt x="266212" y="208117"/>
                  </a:lnTo>
                  <a:lnTo>
                    <a:pt x="241889" y="237835"/>
                  </a:lnTo>
                  <a:lnTo>
                    <a:pt x="209458" y="259460"/>
                  </a:lnTo>
                  <a:lnTo>
                    <a:pt x="172288" y="271622"/>
                  </a:lnTo>
                  <a:lnTo>
                    <a:pt x="153375" y="274319"/>
                  </a:lnTo>
                  <a:lnTo>
                    <a:pt x="133776" y="274319"/>
                  </a:lnTo>
                  <a:lnTo>
                    <a:pt x="95265" y="266898"/>
                  </a:lnTo>
                  <a:lnTo>
                    <a:pt x="60137" y="249326"/>
                  </a:lnTo>
                  <a:lnTo>
                    <a:pt x="31760" y="223646"/>
                  </a:lnTo>
                  <a:lnTo>
                    <a:pt x="5410" y="174330"/>
                  </a:lnTo>
                  <a:lnTo>
                    <a:pt x="0" y="137159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1863928" y="7511547"/>
              <a:ext cx="287655" cy="274320"/>
            </a:xfrm>
            <a:custGeom>
              <a:avLst/>
              <a:gdLst/>
              <a:ahLst/>
              <a:cxnLst/>
              <a:rect l="l" t="t" r="r" b="b"/>
              <a:pathLst>
                <a:path w="287655" h="274320">
                  <a:moveTo>
                    <a:pt x="152704" y="0"/>
                  </a:moveTo>
                  <a:lnTo>
                    <a:pt x="133106" y="0"/>
                  </a:lnTo>
                  <a:lnTo>
                    <a:pt x="113522" y="2026"/>
                  </a:lnTo>
                  <a:lnTo>
                    <a:pt x="60822" y="24323"/>
                  </a:lnTo>
                  <a:lnTo>
                    <a:pt x="31760" y="50002"/>
                  </a:lnTo>
                  <a:lnTo>
                    <a:pt x="11490" y="82433"/>
                  </a:lnTo>
                  <a:lnTo>
                    <a:pt x="0" y="137159"/>
                  </a:lnTo>
                  <a:lnTo>
                    <a:pt x="685" y="156088"/>
                  </a:lnTo>
                  <a:lnTo>
                    <a:pt x="20954" y="208117"/>
                  </a:lnTo>
                  <a:lnTo>
                    <a:pt x="45278" y="237835"/>
                  </a:lnTo>
                  <a:lnTo>
                    <a:pt x="77708" y="259460"/>
                  </a:lnTo>
                  <a:lnTo>
                    <a:pt x="133106" y="274319"/>
                  </a:lnTo>
                  <a:lnTo>
                    <a:pt x="152704" y="274319"/>
                  </a:lnTo>
                  <a:lnTo>
                    <a:pt x="191216" y="266898"/>
                  </a:lnTo>
                  <a:lnTo>
                    <a:pt x="226359" y="249326"/>
                  </a:lnTo>
                  <a:lnTo>
                    <a:pt x="254736" y="223646"/>
                  </a:lnTo>
                  <a:lnTo>
                    <a:pt x="281757" y="174330"/>
                  </a:lnTo>
                  <a:lnTo>
                    <a:pt x="287167" y="137159"/>
                  </a:lnTo>
                  <a:lnTo>
                    <a:pt x="285810" y="118917"/>
                  </a:lnTo>
                  <a:lnTo>
                    <a:pt x="266212" y="65547"/>
                  </a:lnTo>
                  <a:lnTo>
                    <a:pt x="241218" y="36484"/>
                  </a:lnTo>
                  <a:lnTo>
                    <a:pt x="209458" y="14874"/>
                  </a:lnTo>
                  <a:lnTo>
                    <a:pt x="172303" y="2026"/>
                  </a:lnTo>
                  <a:lnTo>
                    <a:pt x="152704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1863928" y="6850755"/>
              <a:ext cx="2586355" cy="935355"/>
            </a:xfrm>
            <a:custGeom>
              <a:avLst/>
              <a:gdLst/>
              <a:ahLst/>
              <a:cxnLst/>
              <a:rect l="l" t="t" r="r" b="b"/>
              <a:pathLst>
                <a:path w="2586354" h="935354">
                  <a:moveTo>
                    <a:pt x="0" y="797951"/>
                  </a:moveTo>
                  <a:lnTo>
                    <a:pt x="11490" y="743224"/>
                  </a:lnTo>
                  <a:lnTo>
                    <a:pt x="31760" y="710793"/>
                  </a:lnTo>
                  <a:lnTo>
                    <a:pt x="60822" y="685114"/>
                  </a:lnTo>
                  <a:lnTo>
                    <a:pt x="95280" y="668228"/>
                  </a:lnTo>
                  <a:lnTo>
                    <a:pt x="133106" y="660791"/>
                  </a:lnTo>
                  <a:lnTo>
                    <a:pt x="152704" y="660791"/>
                  </a:lnTo>
                  <a:lnTo>
                    <a:pt x="191216" y="668228"/>
                  </a:lnTo>
                  <a:lnTo>
                    <a:pt x="226359" y="685114"/>
                  </a:lnTo>
                  <a:lnTo>
                    <a:pt x="254736" y="710793"/>
                  </a:lnTo>
                  <a:lnTo>
                    <a:pt x="275005" y="743224"/>
                  </a:lnTo>
                  <a:lnTo>
                    <a:pt x="287167" y="797951"/>
                  </a:lnTo>
                  <a:lnTo>
                    <a:pt x="285810" y="816879"/>
                  </a:lnTo>
                  <a:lnTo>
                    <a:pt x="266212" y="868908"/>
                  </a:lnTo>
                  <a:lnTo>
                    <a:pt x="241218" y="898626"/>
                  </a:lnTo>
                  <a:lnTo>
                    <a:pt x="209458" y="920252"/>
                  </a:lnTo>
                  <a:lnTo>
                    <a:pt x="172303" y="932413"/>
                  </a:lnTo>
                  <a:lnTo>
                    <a:pt x="152704" y="935111"/>
                  </a:lnTo>
                  <a:lnTo>
                    <a:pt x="133106" y="935111"/>
                  </a:lnTo>
                  <a:lnTo>
                    <a:pt x="95280" y="927689"/>
                  </a:lnTo>
                  <a:lnTo>
                    <a:pt x="60822" y="910117"/>
                  </a:lnTo>
                  <a:lnTo>
                    <a:pt x="31760" y="884438"/>
                  </a:lnTo>
                  <a:lnTo>
                    <a:pt x="4739" y="835121"/>
                  </a:lnTo>
                  <a:lnTo>
                    <a:pt x="0" y="797951"/>
                  </a:lnTo>
                </a:path>
                <a:path w="2586354" h="935354">
                  <a:moveTo>
                    <a:pt x="689183" y="137159"/>
                  </a:moveTo>
                  <a:lnTo>
                    <a:pt x="700674" y="82433"/>
                  </a:lnTo>
                  <a:lnTo>
                    <a:pt x="735131" y="37155"/>
                  </a:lnTo>
                  <a:lnTo>
                    <a:pt x="766892" y="15544"/>
                  </a:lnTo>
                  <a:lnTo>
                    <a:pt x="804047" y="2697"/>
                  </a:lnTo>
                  <a:lnTo>
                    <a:pt x="822959" y="0"/>
                  </a:lnTo>
                  <a:lnTo>
                    <a:pt x="843229" y="0"/>
                  </a:lnTo>
                  <a:lnTo>
                    <a:pt x="881070" y="7437"/>
                  </a:lnTo>
                  <a:lnTo>
                    <a:pt x="915527" y="24993"/>
                  </a:lnTo>
                  <a:lnTo>
                    <a:pt x="943904" y="50672"/>
                  </a:lnTo>
                  <a:lnTo>
                    <a:pt x="970940" y="99989"/>
                  </a:lnTo>
                  <a:lnTo>
                    <a:pt x="976335" y="137159"/>
                  </a:lnTo>
                  <a:lnTo>
                    <a:pt x="974994" y="156072"/>
                  </a:lnTo>
                  <a:lnTo>
                    <a:pt x="955395" y="208772"/>
                  </a:lnTo>
                  <a:lnTo>
                    <a:pt x="915527" y="249996"/>
                  </a:lnTo>
                  <a:lnTo>
                    <a:pt x="881070" y="266882"/>
                  </a:lnTo>
                  <a:lnTo>
                    <a:pt x="843229" y="274990"/>
                  </a:lnTo>
                  <a:lnTo>
                    <a:pt x="822959" y="274990"/>
                  </a:lnTo>
                  <a:lnTo>
                    <a:pt x="785134" y="266882"/>
                  </a:lnTo>
                  <a:lnTo>
                    <a:pt x="749990" y="249996"/>
                  </a:lnTo>
                  <a:lnTo>
                    <a:pt x="721613" y="224317"/>
                  </a:lnTo>
                  <a:lnTo>
                    <a:pt x="700674" y="191886"/>
                  </a:lnTo>
                  <a:lnTo>
                    <a:pt x="689183" y="137159"/>
                  </a:lnTo>
                </a:path>
                <a:path w="2586354" h="935354">
                  <a:moveTo>
                    <a:pt x="2298618" y="137159"/>
                  </a:moveTo>
                  <a:lnTo>
                    <a:pt x="2310109" y="82433"/>
                  </a:lnTo>
                  <a:lnTo>
                    <a:pt x="2343881" y="37155"/>
                  </a:lnTo>
                  <a:lnTo>
                    <a:pt x="2376312" y="15544"/>
                  </a:lnTo>
                  <a:lnTo>
                    <a:pt x="2412811" y="2697"/>
                  </a:lnTo>
                  <a:lnTo>
                    <a:pt x="2432395" y="0"/>
                  </a:lnTo>
                  <a:lnTo>
                    <a:pt x="2451994" y="0"/>
                  </a:lnTo>
                  <a:lnTo>
                    <a:pt x="2489834" y="7437"/>
                  </a:lnTo>
                  <a:lnTo>
                    <a:pt x="2524963" y="24993"/>
                  </a:lnTo>
                  <a:lnTo>
                    <a:pt x="2553340" y="50672"/>
                  </a:lnTo>
                  <a:lnTo>
                    <a:pt x="2580375" y="99989"/>
                  </a:lnTo>
                  <a:lnTo>
                    <a:pt x="2585770" y="137159"/>
                  </a:lnTo>
                  <a:lnTo>
                    <a:pt x="2584429" y="156072"/>
                  </a:lnTo>
                  <a:lnTo>
                    <a:pt x="2564830" y="208772"/>
                  </a:lnTo>
                  <a:lnTo>
                    <a:pt x="2539837" y="237835"/>
                  </a:lnTo>
                  <a:lnTo>
                    <a:pt x="2508077" y="259445"/>
                  </a:lnTo>
                  <a:lnTo>
                    <a:pt x="2471592" y="272293"/>
                  </a:lnTo>
                  <a:lnTo>
                    <a:pt x="2451994" y="274990"/>
                  </a:lnTo>
                  <a:lnTo>
                    <a:pt x="2432395" y="274990"/>
                  </a:lnTo>
                  <a:lnTo>
                    <a:pt x="2393883" y="266882"/>
                  </a:lnTo>
                  <a:lnTo>
                    <a:pt x="2359426" y="249996"/>
                  </a:lnTo>
                  <a:lnTo>
                    <a:pt x="2330378" y="224317"/>
                  </a:lnTo>
                  <a:lnTo>
                    <a:pt x="2310109" y="191886"/>
                  </a:lnTo>
                  <a:lnTo>
                    <a:pt x="2298618" y="137159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553111" y="8172353"/>
              <a:ext cx="287655" cy="275590"/>
            </a:xfrm>
            <a:custGeom>
              <a:avLst/>
              <a:gdLst/>
              <a:ahLst/>
              <a:cxnLst/>
              <a:rect l="l" t="t" r="r" b="b"/>
              <a:pathLst>
                <a:path w="287655" h="275590">
                  <a:moveTo>
                    <a:pt x="154045" y="0"/>
                  </a:moveTo>
                  <a:lnTo>
                    <a:pt x="133776" y="0"/>
                  </a:lnTo>
                  <a:lnTo>
                    <a:pt x="114863" y="2697"/>
                  </a:lnTo>
                  <a:lnTo>
                    <a:pt x="77708" y="14858"/>
                  </a:lnTo>
                  <a:lnTo>
                    <a:pt x="45948" y="37155"/>
                  </a:lnTo>
                  <a:lnTo>
                    <a:pt x="20939" y="66217"/>
                  </a:lnTo>
                  <a:lnTo>
                    <a:pt x="1356" y="118247"/>
                  </a:lnTo>
                  <a:lnTo>
                    <a:pt x="0" y="137159"/>
                  </a:lnTo>
                  <a:lnTo>
                    <a:pt x="1356" y="156072"/>
                  </a:lnTo>
                  <a:lnTo>
                    <a:pt x="20939" y="208787"/>
                  </a:lnTo>
                  <a:lnTo>
                    <a:pt x="45948" y="237835"/>
                  </a:lnTo>
                  <a:lnTo>
                    <a:pt x="77708" y="259460"/>
                  </a:lnTo>
                  <a:lnTo>
                    <a:pt x="114863" y="272293"/>
                  </a:lnTo>
                  <a:lnTo>
                    <a:pt x="133776" y="274990"/>
                  </a:lnTo>
                  <a:lnTo>
                    <a:pt x="154045" y="274990"/>
                  </a:lnTo>
                  <a:lnTo>
                    <a:pt x="191886" y="266882"/>
                  </a:lnTo>
                  <a:lnTo>
                    <a:pt x="226344" y="249996"/>
                  </a:lnTo>
                  <a:lnTo>
                    <a:pt x="254721" y="224317"/>
                  </a:lnTo>
                  <a:lnTo>
                    <a:pt x="275676" y="191886"/>
                  </a:lnTo>
                  <a:lnTo>
                    <a:pt x="287152" y="137159"/>
                  </a:lnTo>
                  <a:lnTo>
                    <a:pt x="285810" y="118247"/>
                  </a:lnTo>
                  <a:lnTo>
                    <a:pt x="266212" y="66217"/>
                  </a:lnTo>
                  <a:lnTo>
                    <a:pt x="226344" y="24993"/>
                  </a:lnTo>
                  <a:lnTo>
                    <a:pt x="191886" y="7437"/>
                  </a:lnTo>
                  <a:lnTo>
                    <a:pt x="154045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553111" y="6987915"/>
              <a:ext cx="1896745" cy="1459865"/>
            </a:xfrm>
            <a:custGeom>
              <a:avLst/>
              <a:gdLst/>
              <a:ahLst/>
              <a:cxnLst/>
              <a:rect l="l" t="t" r="r" b="b"/>
              <a:pathLst>
                <a:path w="1896745" h="1459865">
                  <a:moveTo>
                    <a:pt x="0" y="1321597"/>
                  </a:moveTo>
                  <a:lnTo>
                    <a:pt x="11490" y="1266200"/>
                  </a:lnTo>
                  <a:lnTo>
                    <a:pt x="45948" y="1221592"/>
                  </a:lnTo>
                  <a:lnTo>
                    <a:pt x="77708" y="1199296"/>
                  </a:lnTo>
                  <a:lnTo>
                    <a:pt x="114863" y="1187135"/>
                  </a:lnTo>
                  <a:lnTo>
                    <a:pt x="133776" y="1184437"/>
                  </a:lnTo>
                  <a:lnTo>
                    <a:pt x="154045" y="1184437"/>
                  </a:lnTo>
                  <a:lnTo>
                    <a:pt x="191886" y="1191874"/>
                  </a:lnTo>
                  <a:lnTo>
                    <a:pt x="226344" y="1209431"/>
                  </a:lnTo>
                  <a:lnTo>
                    <a:pt x="254721" y="1235110"/>
                  </a:lnTo>
                  <a:lnTo>
                    <a:pt x="281757" y="1284442"/>
                  </a:lnTo>
                  <a:lnTo>
                    <a:pt x="287152" y="1321597"/>
                  </a:lnTo>
                  <a:lnTo>
                    <a:pt x="285810" y="1340510"/>
                  </a:lnTo>
                  <a:lnTo>
                    <a:pt x="266212" y="1393225"/>
                  </a:lnTo>
                  <a:lnTo>
                    <a:pt x="226344" y="1434434"/>
                  </a:lnTo>
                  <a:lnTo>
                    <a:pt x="191886" y="1451320"/>
                  </a:lnTo>
                  <a:lnTo>
                    <a:pt x="154045" y="1459428"/>
                  </a:lnTo>
                  <a:lnTo>
                    <a:pt x="133776" y="1459428"/>
                  </a:lnTo>
                  <a:lnTo>
                    <a:pt x="95951" y="1451320"/>
                  </a:lnTo>
                  <a:lnTo>
                    <a:pt x="60807" y="1434434"/>
                  </a:lnTo>
                  <a:lnTo>
                    <a:pt x="32430" y="1408755"/>
                  </a:lnTo>
                  <a:lnTo>
                    <a:pt x="11490" y="1376324"/>
                  </a:lnTo>
                  <a:lnTo>
                    <a:pt x="0" y="1321597"/>
                  </a:lnTo>
                </a:path>
                <a:path w="1896745" h="1459865">
                  <a:moveTo>
                    <a:pt x="1609435" y="1321597"/>
                  </a:moveTo>
                  <a:lnTo>
                    <a:pt x="1620926" y="1266200"/>
                  </a:lnTo>
                  <a:lnTo>
                    <a:pt x="1654698" y="1221592"/>
                  </a:lnTo>
                  <a:lnTo>
                    <a:pt x="1687128" y="1199296"/>
                  </a:lnTo>
                  <a:lnTo>
                    <a:pt x="1723628" y="1187135"/>
                  </a:lnTo>
                  <a:lnTo>
                    <a:pt x="1743212" y="1184437"/>
                  </a:lnTo>
                  <a:lnTo>
                    <a:pt x="1762810" y="1184437"/>
                  </a:lnTo>
                  <a:lnTo>
                    <a:pt x="1800651" y="1191874"/>
                  </a:lnTo>
                  <a:lnTo>
                    <a:pt x="1835779" y="1209431"/>
                  </a:lnTo>
                  <a:lnTo>
                    <a:pt x="1864156" y="1235110"/>
                  </a:lnTo>
                  <a:lnTo>
                    <a:pt x="1891192" y="1284442"/>
                  </a:lnTo>
                  <a:lnTo>
                    <a:pt x="1896587" y="1321597"/>
                  </a:lnTo>
                  <a:lnTo>
                    <a:pt x="1895246" y="1340510"/>
                  </a:lnTo>
                  <a:lnTo>
                    <a:pt x="1875647" y="1393225"/>
                  </a:lnTo>
                  <a:lnTo>
                    <a:pt x="1850654" y="1422272"/>
                  </a:lnTo>
                  <a:lnTo>
                    <a:pt x="1818893" y="1443898"/>
                  </a:lnTo>
                  <a:lnTo>
                    <a:pt x="1782409" y="1456730"/>
                  </a:lnTo>
                  <a:lnTo>
                    <a:pt x="1762810" y="1459428"/>
                  </a:lnTo>
                  <a:lnTo>
                    <a:pt x="1743212" y="1459428"/>
                  </a:lnTo>
                  <a:lnTo>
                    <a:pt x="1704700" y="1451320"/>
                  </a:lnTo>
                  <a:lnTo>
                    <a:pt x="1670243" y="1434434"/>
                  </a:lnTo>
                  <a:lnTo>
                    <a:pt x="1641195" y="1408755"/>
                  </a:lnTo>
                  <a:lnTo>
                    <a:pt x="1620926" y="1376324"/>
                  </a:lnTo>
                  <a:lnTo>
                    <a:pt x="1609435" y="1321597"/>
                  </a:lnTo>
                </a:path>
                <a:path w="1896745" h="1459865">
                  <a:moveTo>
                    <a:pt x="287152" y="0"/>
                  </a:moveTo>
                  <a:lnTo>
                    <a:pt x="1609435" y="0"/>
                  </a:lnTo>
                </a:path>
                <a:path w="1896745" h="1459865">
                  <a:moveTo>
                    <a:pt x="1753346" y="137830"/>
                  </a:moveTo>
                  <a:lnTo>
                    <a:pt x="1753346" y="1184437"/>
                  </a:lnTo>
                </a:path>
                <a:path w="1896745" h="1459865">
                  <a:moveTo>
                    <a:pt x="287152" y="1321597"/>
                  </a:moveTo>
                  <a:lnTo>
                    <a:pt x="1609435" y="1321597"/>
                  </a:lnTo>
                </a:path>
                <a:path w="1896745" h="1459865">
                  <a:moveTo>
                    <a:pt x="143911" y="137830"/>
                  </a:moveTo>
                  <a:lnTo>
                    <a:pt x="143911" y="1184437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/>
          <p:cNvSpPr txBox="1"/>
          <p:nvPr/>
        </p:nvSpPr>
        <p:spPr>
          <a:xfrm>
            <a:off x="2644329" y="6856979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3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641626" y="8178579"/>
            <a:ext cx="97155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3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276738" y="8202902"/>
            <a:ext cx="5969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3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244981" y="6881303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3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931457" y="7493455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300">
              <a:latin typeface="Arial"/>
              <a:cs typeface="Arial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3386206" y="7511546"/>
            <a:ext cx="288290" cy="274320"/>
          </a:xfrm>
          <a:custGeom>
            <a:avLst/>
            <a:gdLst/>
            <a:ahLst/>
            <a:cxnLst/>
            <a:rect l="l" t="t" r="r" b="b"/>
            <a:pathLst>
              <a:path w="288289" h="274320">
                <a:moveTo>
                  <a:pt x="0" y="137159"/>
                </a:moveTo>
                <a:lnTo>
                  <a:pt x="12161" y="82433"/>
                </a:lnTo>
                <a:lnTo>
                  <a:pt x="32430" y="50002"/>
                </a:lnTo>
                <a:lnTo>
                  <a:pt x="61493" y="24323"/>
                </a:lnTo>
                <a:lnTo>
                  <a:pt x="95951" y="7437"/>
                </a:lnTo>
                <a:lnTo>
                  <a:pt x="134462" y="0"/>
                </a:lnTo>
                <a:lnTo>
                  <a:pt x="154045" y="0"/>
                </a:lnTo>
                <a:lnTo>
                  <a:pt x="191886" y="7437"/>
                </a:lnTo>
                <a:lnTo>
                  <a:pt x="226344" y="24323"/>
                </a:lnTo>
                <a:lnTo>
                  <a:pt x="255407" y="50002"/>
                </a:lnTo>
                <a:lnTo>
                  <a:pt x="275676" y="82433"/>
                </a:lnTo>
                <a:lnTo>
                  <a:pt x="287837" y="137159"/>
                </a:lnTo>
                <a:lnTo>
                  <a:pt x="286481" y="156088"/>
                </a:lnTo>
                <a:lnTo>
                  <a:pt x="266882" y="208117"/>
                </a:lnTo>
                <a:lnTo>
                  <a:pt x="241889" y="237835"/>
                </a:lnTo>
                <a:lnTo>
                  <a:pt x="210129" y="259460"/>
                </a:lnTo>
                <a:lnTo>
                  <a:pt x="172973" y="271622"/>
                </a:lnTo>
                <a:lnTo>
                  <a:pt x="154045" y="274319"/>
                </a:lnTo>
                <a:lnTo>
                  <a:pt x="134462" y="274319"/>
                </a:lnTo>
                <a:lnTo>
                  <a:pt x="95951" y="266898"/>
                </a:lnTo>
                <a:lnTo>
                  <a:pt x="61493" y="249326"/>
                </a:lnTo>
                <a:lnTo>
                  <a:pt x="32430" y="223646"/>
                </a:lnTo>
                <a:lnTo>
                  <a:pt x="5410" y="174330"/>
                </a:lnTo>
                <a:lnTo>
                  <a:pt x="0" y="137159"/>
                </a:lnTo>
              </a:path>
            </a:pathLst>
          </a:custGeom>
          <a:ln w="16891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 txBox="1"/>
          <p:nvPr/>
        </p:nvSpPr>
        <p:spPr>
          <a:xfrm>
            <a:off x="3477423" y="7517772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300">
              <a:latin typeface="Arial"/>
              <a:cs typeface="Arial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2061504" y="7055695"/>
            <a:ext cx="3914775" cy="1257300"/>
            <a:chOff x="2061504" y="7055695"/>
            <a:chExt cx="3914775" cy="1257300"/>
          </a:xfrm>
        </p:grpSpPr>
        <p:sp>
          <p:nvSpPr>
            <p:cNvPr id="53" name="object 53"/>
            <p:cNvSpPr/>
            <p:nvPr/>
          </p:nvSpPr>
          <p:spPr>
            <a:xfrm>
              <a:off x="2095682" y="7064268"/>
              <a:ext cx="481965" cy="476884"/>
            </a:xfrm>
            <a:custGeom>
              <a:avLst/>
              <a:gdLst/>
              <a:ahLst/>
              <a:cxnLst/>
              <a:rect l="l" t="t" r="r" b="b"/>
              <a:pathLst>
                <a:path w="481964" h="476884">
                  <a:moveTo>
                    <a:pt x="0" y="476341"/>
                  </a:moveTo>
                  <a:lnTo>
                    <a:pt x="481751" y="0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086904" y="7762900"/>
              <a:ext cx="492125" cy="468630"/>
            </a:xfrm>
            <a:custGeom>
              <a:avLst/>
              <a:gdLst/>
              <a:ahLst/>
              <a:cxnLst/>
              <a:rect l="l" t="t" r="r" b="b"/>
              <a:pathLst>
                <a:path w="492125" h="468629">
                  <a:moveTo>
                    <a:pt x="0" y="0"/>
                  </a:moveTo>
                  <a:lnTo>
                    <a:pt x="491886" y="468233"/>
                  </a:lnTo>
                </a:path>
              </a:pathLst>
            </a:custGeom>
            <a:ln w="50674">
              <a:solidFill>
                <a:srgbClr val="E84A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798383" y="7071690"/>
              <a:ext cx="3169285" cy="1232535"/>
            </a:xfrm>
            <a:custGeom>
              <a:avLst/>
              <a:gdLst/>
              <a:ahLst/>
              <a:cxnLst/>
              <a:rect l="l" t="t" r="r" b="b"/>
              <a:pathLst>
                <a:path w="3169285" h="1232534">
                  <a:moveTo>
                    <a:pt x="1613489" y="1145255"/>
                  </a:moveTo>
                  <a:lnTo>
                    <a:pt x="2103333" y="681075"/>
                  </a:lnTo>
                </a:path>
                <a:path w="3169285" h="1232534">
                  <a:moveTo>
                    <a:pt x="1621596" y="0"/>
                  </a:moveTo>
                  <a:lnTo>
                    <a:pt x="2109414" y="467563"/>
                  </a:lnTo>
                </a:path>
                <a:path w="3169285" h="1232534">
                  <a:moveTo>
                    <a:pt x="0" y="13517"/>
                  </a:moveTo>
                  <a:lnTo>
                    <a:pt x="618225" y="492572"/>
                  </a:lnTo>
                </a:path>
                <a:path w="3169285" h="1232534">
                  <a:moveTo>
                    <a:pt x="840516" y="666216"/>
                  </a:moveTo>
                  <a:lnTo>
                    <a:pt x="1414835" y="1133093"/>
                  </a:lnTo>
                </a:path>
                <a:path w="3169285" h="1232534">
                  <a:moveTo>
                    <a:pt x="840516" y="487161"/>
                  </a:moveTo>
                  <a:lnTo>
                    <a:pt x="1401317" y="8793"/>
                  </a:lnTo>
                </a:path>
                <a:path w="3169285" h="1232534">
                  <a:moveTo>
                    <a:pt x="616198" y="658108"/>
                  </a:moveTo>
                  <a:lnTo>
                    <a:pt x="0" y="1140531"/>
                  </a:lnTo>
                </a:path>
                <a:path w="3169285" h="1232534">
                  <a:moveTo>
                    <a:pt x="2714137" y="19598"/>
                  </a:moveTo>
                  <a:lnTo>
                    <a:pt x="2714137" y="1232413"/>
                  </a:lnTo>
                </a:path>
                <a:path w="3169285" h="1232534">
                  <a:moveTo>
                    <a:pt x="3168868" y="19598"/>
                  </a:moveTo>
                  <a:lnTo>
                    <a:pt x="3168868" y="1232413"/>
                  </a:lnTo>
                </a:path>
                <a:path w="3169285" h="1232534">
                  <a:moveTo>
                    <a:pt x="2714137" y="1232413"/>
                  </a:moveTo>
                  <a:lnTo>
                    <a:pt x="3168868" y="1232413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6" name="object 56"/>
          <p:cNvSpPr txBox="1"/>
          <p:nvPr/>
        </p:nvSpPr>
        <p:spPr>
          <a:xfrm>
            <a:off x="1945689" y="7223190"/>
            <a:ext cx="116205" cy="523240"/>
          </a:xfrm>
          <a:prstGeom prst="rect">
            <a:avLst/>
          </a:prstGeom>
        </p:spPr>
        <p:txBody>
          <a:bodyPr wrap="square" lIns="0" tIns="6223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490"/>
              </a:spcBef>
            </a:pPr>
            <a:r>
              <a:rPr dirty="0" sz="1300" spc="1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300">
              <a:latin typeface="Arial"/>
              <a:cs typeface="Arial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2047036" y="7531145"/>
            <a:ext cx="1357630" cy="955040"/>
            <a:chOff x="2047036" y="7531145"/>
            <a:chExt cx="1357630" cy="955040"/>
          </a:xfrm>
        </p:grpSpPr>
        <p:pic>
          <p:nvPicPr>
            <p:cNvPr id="58" name="object 5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39581" y="8341944"/>
              <a:ext cx="164866" cy="143911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49057" y="7531145"/>
              <a:ext cx="143240" cy="165536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23372" y="7716281"/>
              <a:ext cx="143240" cy="165536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047036" y="7971688"/>
              <a:ext cx="160141" cy="159456"/>
            </a:xfrm>
            <a:prstGeom prst="rect">
              <a:avLst/>
            </a:prstGeom>
          </p:spPr>
        </p:pic>
      </p:grpSp>
      <p:sp>
        <p:nvSpPr>
          <p:cNvPr id="62" name="object 62"/>
          <p:cNvSpPr txBox="1"/>
          <p:nvPr/>
        </p:nvSpPr>
        <p:spPr>
          <a:xfrm>
            <a:off x="5531444" y="7266429"/>
            <a:ext cx="407034" cy="1268095"/>
          </a:xfrm>
          <a:prstGeom prst="rect">
            <a:avLst/>
          </a:prstGeom>
        </p:spPr>
        <p:txBody>
          <a:bodyPr wrap="square" lIns="0" tIns="33020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260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(c,f)</a:t>
            </a:r>
            <a:endParaRPr sz="1300">
              <a:latin typeface="Arial"/>
              <a:cs typeface="Arial"/>
            </a:endParaRPr>
          </a:p>
          <a:p>
            <a:pPr marL="12065">
              <a:lnSpc>
                <a:spcPts val="1520"/>
              </a:lnSpc>
              <a:spcBef>
                <a:spcPts val="170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(c,a)</a:t>
            </a:r>
            <a:endParaRPr sz="1300">
              <a:latin typeface="Arial"/>
              <a:cs typeface="Arial"/>
            </a:endParaRPr>
          </a:p>
          <a:p>
            <a:pPr marL="9525">
              <a:lnSpc>
                <a:spcPts val="148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(c,d)</a:t>
            </a:r>
            <a:endParaRPr sz="1300">
              <a:latin typeface="Arial"/>
              <a:cs typeface="Arial"/>
            </a:endParaRPr>
          </a:p>
          <a:p>
            <a:pPr marL="9525">
              <a:lnSpc>
                <a:spcPts val="148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(c,b)</a:t>
            </a:r>
            <a:endParaRPr sz="1300">
              <a:latin typeface="Arial"/>
              <a:cs typeface="Arial"/>
            </a:endParaRPr>
          </a:p>
          <a:p>
            <a:pPr marL="3175">
              <a:lnSpc>
                <a:spcPts val="152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(a,b)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30"/>
              </a:spcBef>
            </a:pPr>
            <a:r>
              <a:rPr dirty="0" sz="1300" spc="10" i="1">
                <a:solidFill>
                  <a:srgbClr val="FFFF00"/>
                </a:solidFill>
                <a:latin typeface="Arial"/>
                <a:cs typeface="Arial"/>
              </a:rPr>
              <a:t>stack</a:t>
            </a:r>
            <a:endParaRPr sz="13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404858" y="8742743"/>
            <a:ext cx="34194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8.14: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‘c’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popped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12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90700" y="938855"/>
            <a:ext cx="4648200" cy="2052320"/>
            <a:chOff x="1790700" y="938855"/>
            <a:chExt cx="4648200" cy="2052320"/>
          </a:xfrm>
        </p:grpSpPr>
        <p:sp>
          <p:nvSpPr>
            <p:cNvPr id="5" name="object 5"/>
            <p:cNvSpPr/>
            <p:nvPr/>
          </p:nvSpPr>
          <p:spPr>
            <a:xfrm>
              <a:off x="1790700" y="938855"/>
              <a:ext cx="4648200" cy="2052320"/>
            </a:xfrm>
            <a:custGeom>
              <a:avLst/>
              <a:gdLst/>
              <a:ahLst/>
              <a:cxnLst/>
              <a:rect l="l" t="t" r="r" b="b"/>
              <a:pathLst>
                <a:path w="4648200" h="2052320">
                  <a:moveTo>
                    <a:pt x="4648001" y="0"/>
                  </a:moveTo>
                  <a:lnTo>
                    <a:pt x="0" y="0"/>
                  </a:lnTo>
                  <a:lnTo>
                    <a:pt x="0" y="2052248"/>
                  </a:lnTo>
                  <a:lnTo>
                    <a:pt x="4648001" y="2052248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851730" y="1825701"/>
              <a:ext cx="287655" cy="273685"/>
            </a:xfrm>
            <a:custGeom>
              <a:avLst/>
              <a:gdLst/>
              <a:ahLst/>
              <a:cxnLst/>
              <a:rect l="l" t="t" r="r" b="b"/>
              <a:pathLst>
                <a:path w="287654" h="273685">
                  <a:moveTo>
                    <a:pt x="0" y="137159"/>
                  </a:moveTo>
                  <a:lnTo>
                    <a:pt x="12161" y="81747"/>
                  </a:lnTo>
                  <a:lnTo>
                    <a:pt x="45933" y="35813"/>
                  </a:lnTo>
                  <a:lnTo>
                    <a:pt x="95265" y="7437"/>
                  </a:lnTo>
                  <a:lnTo>
                    <a:pt x="133776" y="0"/>
                  </a:lnTo>
                  <a:lnTo>
                    <a:pt x="153375" y="0"/>
                  </a:lnTo>
                  <a:lnTo>
                    <a:pt x="191201" y="7437"/>
                  </a:lnTo>
                  <a:lnTo>
                    <a:pt x="226344" y="24323"/>
                  </a:lnTo>
                  <a:lnTo>
                    <a:pt x="254721" y="50002"/>
                  </a:lnTo>
                  <a:lnTo>
                    <a:pt x="281741" y="100004"/>
                  </a:lnTo>
                  <a:lnTo>
                    <a:pt x="287152" y="137159"/>
                  </a:lnTo>
                  <a:lnTo>
                    <a:pt x="285795" y="155402"/>
                  </a:lnTo>
                  <a:lnTo>
                    <a:pt x="266212" y="208772"/>
                  </a:lnTo>
                  <a:lnTo>
                    <a:pt x="226344" y="249996"/>
                  </a:lnTo>
                  <a:lnTo>
                    <a:pt x="191201" y="266212"/>
                  </a:lnTo>
                  <a:lnTo>
                    <a:pt x="153375" y="273649"/>
                  </a:lnTo>
                  <a:lnTo>
                    <a:pt x="133776" y="273649"/>
                  </a:lnTo>
                  <a:lnTo>
                    <a:pt x="95265" y="266212"/>
                  </a:lnTo>
                  <a:lnTo>
                    <a:pt x="45933" y="237835"/>
                  </a:lnTo>
                  <a:lnTo>
                    <a:pt x="20939" y="208772"/>
                  </a:lnTo>
                  <a:lnTo>
                    <a:pt x="1341" y="155402"/>
                  </a:lnTo>
                  <a:lnTo>
                    <a:pt x="0" y="137159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863928" y="1825701"/>
              <a:ext cx="287655" cy="273685"/>
            </a:xfrm>
            <a:custGeom>
              <a:avLst/>
              <a:gdLst/>
              <a:ahLst/>
              <a:cxnLst/>
              <a:rect l="l" t="t" r="r" b="b"/>
              <a:pathLst>
                <a:path w="287655" h="273685">
                  <a:moveTo>
                    <a:pt x="152704" y="0"/>
                  </a:moveTo>
                  <a:lnTo>
                    <a:pt x="133106" y="0"/>
                  </a:lnTo>
                  <a:lnTo>
                    <a:pt x="113522" y="2697"/>
                  </a:lnTo>
                  <a:lnTo>
                    <a:pt x="60822" y="24323"/>
                  </a:lnTo>
                  <a:lnTo>
                    <a:pt x="31760" y="50002"/>
                  </a:lnTo>
                  <a:lnTo>
                    <a:pt x="4739" y="100004"/>
                  </a:lnTo>
                  <a:lnTo>
                    <a:pt x="0" y="137159"/>
                  </a:lnTo>
                  <a:lnTo>
                    <a:pt x="685" y="155402"/>
                  </a:lnTo>
                  <a:lnTo>
                    <a:pt x="20954" y="208772"/>
                  </a:lnTo>
                  <a:lnTo>
                    <a:pt x="60822" y="249996"/>
                  </a:lnTo>
                  <a:lnTo>
                    <a:pt x="113522" y="271622"/>
                  </a:lnTo>
                  <a:lnTo>
                    <a:pt x="133106" y="273649"/>
                  </a:lnTo>
                  <a:lnTo>
                    <a:pt x="152704" y="273649"/>
                  </a:lnTo>
                  <a:lnTo>
                    <a:pt x="191216" y="266212"/>
                  </a:lnTo>
                  <a:lnTo>
                    <a:pt x="226359" y="249996"/>
                  </a:lnTo>
                  <a:lnTo>
                    <a:pt x="254736" y="224317"/>
                  </a:lnTo>
                  <a:lnTo>
                    <a:pt x="275005" y="191886"/>
                  </a:lnTo>
                  <a:lnTo>
                    <a:pt x="287167" y="137159"/>
                  </a:lnTo>
                  <a:lnTo>
                    <a:pt x="285810" y="118247"/>
                  </a:lnTo>
                  <a:lnTo>
                    <a:pt x="266212" y="64861"/>
                  </a:lnTo>
                  <a:lnTo>
                    <a:pt x="241218" y="35813"/>
                  </a:lnTo>
                  <a:lnTo>
                    <a:pt x="191216" y="7437"/>
                  </a:lnTo>
                  <a:lnTo>
                    <a:pt x="152704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863928" y="1164224"/>
              <a:ext cx="2585720" cy="935355"/>
            </a:xfrm>
            <a:custGeom>
              <a:avLst/>
              <a:gdLst/>
              <a:ahLst/>
              <a:cxnLst/>
              <a:rect l="l" t="t" r="r" b="b"/>
              <a:pathLst>
                <a:path w="2585720" h="935355">
                  <a:moveTo>
                    <a:pt x="0" y="798636"/>
                  </a:moveTo>
                  <a:lnTo>
                    <a:pt x="11490" y="743224"/>
                  </a:lnTo>
                  <a:lnTo>
                    <a:pt x="45278" y="697290"/>
                  </a:lnTo>
                  <a:lnTo>
                    <a:pt x="77708" y="676335"/>
                  </a:lnTo>
                  <a:lnTo>
                    <a:pt x="133106" y="661476"/>
                  </a:lnTo>
                  <a:lnTo>
                    <a:pt x="152704" y="661476"/>
                  </a:lnTo>
                  <a:lnTo>
                    <a:pt x="191216" y="668914"/>
                  </a:lnTo>
                  <a:lnTo>
                    <a:pt x="226359" y="685799"/>
                  </a:lnTo>
                  <a:lnTo>
                    <a:pt x="254736" y="711479"/>
                  </a:lnTo>
                  <a:lnTo>
                    <a:pt x="281757" y="761481"/>
                  </a:lnTo>
                  <a:lnTo>
                    <a:pt x="287167" y="798636"/>
                  </a:lnTo>
                  <a:lnTo>
                    <a:pt x="285810" y="816879"/>
                  </a:lnTo>
                  <a:lnTo>
                    <a:pt x="266212" y="870249"/>
                  </a:lnTo>
                  <a:lnTo>
                    <a:pt x="241218" y="899312"/>
                  </a:lnTo>
                  <a:lnTo>
                    <a:pt x="209458" y="920937"/>
                  </a:lnTo>
                  <a:lnTo>
                    <a:pt x="172303" y="933099"/>
                  </a:lnTo>
                  <a:lnTo>
                    <a:pt x="152704" y="935126"/>
                  </a:lnTo>
                  <a:lnTo>
                    <a:pt x="133106" y="935126"/>
                  </a:lnTo>
                  <a:lnTo>
                    <a:pt x="94594" y="927689"/>
                  </a:lnTo>
                  <a:lnTo>
                    <a:pt x="45278" y="899312"/>
                  </a:lnTo>
                  <a:lnTo>
                    <a:pt x="11490" y="853363"/>
                  </a:lnTo>
                  <a:lnTo>
                    <a:pt x="0" y="798636"/>
                  </a:lnTo>
                </a:path>
                <a:path w="2585720" h="935355">
                  <a:moveTo>
                    <a:pt x="689183" y="137830"/>
                  </a:moveTo>
                  <a:lnTo>
                    <a:pt x="700674" y="83103"/>
                  </a:lnTo>
                  <a:lnTo>
                    <a:pt x="721613" y="50672"/>
                  </a:lnTo>
                  <a:lnTo>
                    <a:pt x="749990" y="24993"/>
                  </a:lnTo>
                  <a:lnTo>
                    <a:pt x="785134" y="8107"/>
                  </a:lnTo>
                  <a:lnTo>
                    <a:pt x="822959" y="0"/>
                  </a:lnTo>
                  <a:lnTo>
                    <a:pt x="842558" y="0"/>
                  </a:lnTo>
                  <a:lnTo>
                    <a:pt x="880399" y="8107"/>
                  </a:lnTo>
                  <a:lnTo>
                    <a:pt x="915527" y="24993"/>
                  </a:lnTo>
                  <a:lnTo>
                    <a:pt x="943904" y="50672"/>
                  </a:lnTo>
                  <a:lnTo>
                    <a:pt x="964859" y="83103"/>
                  </a:lnTo>
                  <a:lnTo>
                    <a:pt x="976335" y="137830"/>
                  </a:lnTo>
                  <a:lnTo>
                    <a:pt x="974994" y="156758"/>
                  </a:lnTo>
                  <a:lnTo>
                    <a:pt x="955395" y="208787"/>
                  </a:lnTo>
                  <a:lnTo>
                    <a:pt x="915527" y="249996"/>
                  </a:lnTo>
                  <a:lnTo>
                    <a:pt x="880399" y="267568"/>
                  </a:lnTo>
                  <a:lnTo>
                    <a:pt x="842558" y="274990"/>
                  </a:lnTo>
                  <a:lnTo>
                    <a:pt x="822959" y="274990"/>
                  </a:lnTo>
                  <a:lnTo>
                    <a:pt x="785134" y="267568"/>
                  </a:lnTo>
                  <a:lnTo>
                    <a:pt x="749990" y="249996"/>
                  </a:lnTo>
                  <a:lnTo>
                    <a:pt x="721613" y="224317"/>
                  </a:lnTo>
                  <a:lnTo>
                    <a:pt x="694593" y="175000"/>
                  </a:lnTo>
                  <a:lnTo>
                    <a:pt x="689183" y="137830"/>
                  </a:lnTo>
                </a:path>
                <a:path w="2585720" h="935355">
                  <a:moveTo>
                    <a:pt x="2298618" y="137830"/>
                  </a:moveTo>
                  <a:lnTo>
                    <a:pt x="2310109" y="83103"/>
                  </a:lnTo>
                  <a:lnTo>
                    <a:pt x="2343210" y="37155"/>
                  </a:lnTo>
                  <a:lnTo>
                    <a:pt x="2375641" y="15544"/>
                  </a:lnTo>
                  <a:lnTo>
                    <a:pt x="2412126" y="2697"/>
                  </a:lnTo>
                  <a:lnTo>
                    <a:pt x="2431724" y="0"/>
                  </a:lnTo>
                  <a:lnTo>
                    <a:pt x="2451323" y="0"/>
                  </a:lnTo>
                  <a:lnTo>
                    <a:pt x="2489834" y="8107"/>
                  </a:lnTo>
                  <a:lnTo>
                    <a:pt x="2524963" y="24993"/>
                  </a:lnTo>
                  <a:lnTo>
                    <a:pt x="2553340" y="50672"/>
                  </a:lnTo>
                  <a:lnTo>
                    <a:pt x="2579689" y="100675"/>
                  </a:lnTo>
                  <a:lnTo>
                    <a:pt x="2585100" y="137830"/>
                  </a:lnTo>
                  <a:lnTo>
                    <a:pt x="2583743" y="156758"/>
                  </a:lnTo>
                  <a:lnTo>
                    <a:pt x="2564160" y="208787"/>
                  </a:lnTo>
                  <a:lnTo>
                    <a:pt x="2524963" y="249996"/>
                  </a:lnTo>
                  <a:lnTo>
                    <a:pt x="2489834" y="267568"/>
                  </a:lnTo>
                  <a:lnTo>
                    <a:pt x="2451323" y="274990"/>
                  </a:lnTo>
                  <a:lnTo>
                    <a:pt x="2431724" y="274990"/>
                  </a:lnTo>
                  <a:lnTo>
                    <a:pt x="2393213" y="267568"/>
                  </a:lnTo>
                  <a:lnTo>
                    <a:pt x="2358755" y="249996"/>
                  </a:lnTo>
                  <a:lnTo>
                    <a:pt x="2329693" y="224317"/>
                  </a:lnTo>
                  <a:lnTo>
                    <a:pt x="2303343" y="175000"/>
                  </a:lnTo>
                  <a:lnTo>
                    <a:pt x="2298618" y="137830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553111" y="2485821"/>
              <a:ext cx="287655" cy="275590"/>
            </a:xfrm>
            <a:custGeom>
              <a:avLst/>
              <a:gdLst/>
              <a:ahLst/>
              <a:cxnLst/>
              <a:rect l="l" t="t" r="r" b="b"/>
              <a:pathLst>
                <a:path w="287655" h="275589">
                  <a:moveTo>
                    <a:pt x="153375" y="0"/>
                  </a:moveTo>
                  <a:lnTo>
                    <a:pt x="133776" y="0"/>
                  </a:lnTo>
                  <a:lnTo>
                    <a:pt x="114863" y="2712"/>
                  </a:lnTo>
                  <a:lnTo>
                    <a:pt x="77708" y="15544"/>
                  </a:lnTo>
                  <a:lnTo>
                    <a:pt x="45948" y="37170"/>
                  </a:lnTo>
                  <a:lnTo>
                    <a:pt x="20939" y="66217"/>
                  </a:lnTo>
                  <a:lnTo>
                    <a:pt x="1356" y="118247"/>
                  </a:lnTo>
                  <a:lnTo>
                    <a:pt x="0" y="137159"/>
                  </a:lnTo>
                  <a:lnTo>
                    <a:pt x="1356" y="156088"/>
                  </a:lnTo>
                  <a:lnTo>
                    <a:pt x="20939" y="208787"/>
                  </a:lnTo>
                  <a:lnTo>
                    <a:pt x="45948" y="237835"/>
                  </a:lnTo>
                  <a:lnTo>
                    <a:pt x="77708" y="259460"/>
                  </a:lnTo>
                  <a:lnTo>
                    <a:pt x="114863" y="272293"/>
                  </a:lnTo>
                  <a:lnTo>
                    <a:pt x="133776" y="275005"/>
                  </a:lnTo>
                  <a:lnTo>
                    <a:pt x="153375" y="275005"/>
                  </a:lnTo>
                  <a:lnTo>
                    <a:pt x="191216" y="267568"/>
                  </a:lnTo>
                  <a:lnTo>
                    <a:pt x="226344" y="249996"/>
                  </a:lnTo>
                  <a:lnTo>
                    <a:pt x="254721" y="224317"/>
                  </a:lnTo>
                  <a:lnTo>
                    <a:pt x="275676" y="191886"/>
                  </a:lnTo>
                  <a:lnTo>
                    <a:pt x="287152" y="137159"/>
                  </a:lnTo>
                  <a:lnTo>
                    <a:pt x="285810" y="118247"/>
                  </a:lnTo>
                  <a:lnTo>
                    <a:pt x="266212" y="66217"/>
                  </a:lnTo>
                  <a:lnTo>
                    <a:pt x="226344" y="25008"/>
                  </a:lnTo>
                  <a:lnTo>
                    <a:pt x="191216" y="8107"/>
                  </a:lnTo>
                  <a:lnTo>
                    <a:pt x="153375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553111" y="2485821"/>
              <a:ext cx="287655" cy="275590"/>
            </a:xfrm>
            <a:custGeom>
              <a:avLst/>
              <a:gdLst/>
              <a:ahLst/>
              <a:cxnLst/>
              <a:rect l="l" t="t" r="r" b="b"/>
              <a:pathLst>
                <a:path w="287655" h="275589">
                  <a:moveTo>
                    <a:pt x="0" y="137159"/>
                  </a:moveTo>
                  <a:lnTo>
                    <a:pt x="11490" y="83103"/>
                  </a:lnTo>
                  <a:lnTo>
                    <a:pt x="32430" y="50672"/>
                  </a:lnTo>
                  <a:lnTo>
                    <a:pt x="60807" y="25008"/>
                  </a:lnTo>
                  <a:lnTo>
                    <a:pt x="95951" y="8107"/>
                  </a:lnTo>
                  <a:lnTo>
                    <a:pt x="133776" y="0"/>
                  </a:lnTo>
                  <a:lnTo>
                    <a:pt x="153375" y="0"/>
                  </a:lnTo>
                  <a:lnTo>
                    <a:pt x="191216" y="8107"/>
                  </a:lnTo>
                  <a:lnTo>
                    <a:pt x="226344" y="25008"/>
                  </a:lnTo>
                  <a:lnTo>
                    <a:pt x="254721" y="50672"/>
                  </a:lnTo>
                  <a:lnTo>
                    <a:pt x="275676" y="83103"/>
                  </a:lnTo>
                  <a:lnTo>
                    <a:pt x="287152" y="137159"/>
                  </a:lnTo>
                  <a:lnTo>
                    <a:pt x="285810" y="156088"/>
                  </a:lnTo>
                  <a:lnTo>
                    <a:pt x="266212" y="208787"/>
                  </a:lnTo>
                  <a:lnTo>
                    <a:pt x="226344" y="249996"/>
                  </a:lnTo>
                  <a:lnTo>
                    <a:pt x="191216" y="267568"/>
                  </a:lnTo>
                  <a:lnTo>
                    <a:pt x="153375" y="275005"/>
                  </a:lnTo>
                  <a:lnTo>
                    <a:pt x="133776" y="275005"/>
                  </a:lnTo>
                  <a:lnTo>
                    <a:pt x="95951" y="267568"/>
                  </a:lnTo>
                  <a:lnTo>
                    <a:pt x="60807" y="249996"/>
                  </a:lnTo>
                  <a:lnTo>
                    <a:pt x="32430" y="224317"/>
                  </a:lnTo>
                  <a:lnTo>
                    <a:pt x="11490" y="191886"/>
                  </a:lnTo>
                  <a:lnTo>
                    <a:pt x="0" y="137159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162546" y="2485821"/>
              <a:ext cx="287020" cy="275590"/>
            </a:xfrm>
            <a:custGeom>
              <a:avLst/>
              <a:gdLst/>
              <a:ahLst/>
              <a:cxnLst/>
              <a:rect l="l" t="t" r="r" b="b"/>
              <a:pathLst>
                <a:path w="287020" h="275589">
                  <a:moveTo>
                    <a:pt x="152704" y="0"/>
                  </a:moveTo>
                  <a:lnTo>
                    <a:pt x="133106" y="0"/>
                  </a:lnTo>
                  <a:lnTo>
                    <a:pt x="113507" y="2712"/>
                  </a:lnTo>
                  <a:lnTo>
                    <a:pt x="77022" y="15544"/>
                  </a:lnTo>
                  <a:lnTo>
                    <a:pt x="44592" y="37170"/>
                  </a:lnTo>
                  <a:lnTo>
                    <a:pt x="11490" y="83103"/>
                  </a:lnTo>
                  <a:lnTo>
                    <a:pt x="0" y="137159"/>
                  </a:lnTo>
                  <a:lnTo>
                    <a:pt x="1356" y="156088"/>
                  </a:lnTo>
                  <a:lnTo>
                    <a:pt x="20269" y="208787"/>
                  </a:lnTo>
                  <a:lnTo>
                    <a:pt x="60137" y="249996"/>
                  </a:lnTo>
                  <a:lnTo>
                    <a:pt x="94594" y="267568"/>
                  </a:lnTo>
                  <a:lnTo>
                    <a:pt x="133106" y="275005"/>
                  </a:lnTo>
                  <a:lnTo>
                    <a:pt x="152704" y="275005"/>
                  </a:lnTo>
                  <a:lnTo>
                    <a:pt x="191216" y="267568"/>
                  </a:lnTo>
                  <a:lnTo>
                    <a:pt x="226344" y="249996"/>
                  </a:lnTo>
                  <a:lnTo>
                    <a:pt x="254721" y="224317"/>
                  </a:lnTo>
                  <a:lnTo>
                    <a:pt x="281071" y="174330"/>
                  </a:lnTo>
                  <a:lnTo>
                    <a:pt x="286481" y="137159"/>
                  </a:lnTo>
                  <a:lnTo>
                    <a:pt x="285125" y="118247"/>
                  </a:lnTo>
                  <a:lnTo>
                    <a:pt x="265541" y="66217"/>
                  </a:lnTo>
                  <a:lnTo>
                    <a:pt x="226344" y="25008"/>
                  </a:lnTo>
                  <a:lnTo>
                    <a:pt x="191216" y="8107"/>
                  </a:lnTo>
                  <a:lnTo>
                    <a:pt x="152704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840263" y="1302054"/>
              <a:ext cx="1609090" cy="1459230"/>
            </a:xfrm>
            <a:custGeom>
              <a:avLst/>
              <a:gdLst/>
              <a:ahLst/>
              <a:cxnLst/>
              <a:rect l="l" t="t" r="r" b="b"/>
              <a:pathLst>
                <a:path w="1609089" h="1459230">
                  <a:moveTo>
                    <a:pt x="1322283" y="1320926"/>
                  </a:moveTo>
                  <a:lnTo>
                    <a:pt x="1333774" y="1266870"/>
                  </a:lnTo>
                  <a:lnTo>
                    <a:pt x="1366875" y="1220937"/>
                  </a:lnTo>
                  <a:lnTo>
                    <a:pt x="1399306" y="1199311"/>
                  </a:lnTo>
                  <a:lnTo>
                    <a:pt x="1435790" y="1186479"/>
                  </a:lnTo>
                  <a:lnTo>
                    <a:pt x="1455389" y="1183766"/>
                  </a:lnTo>
                  <a:lnTo>
                    <a:pt x="1474988" y="1183766"/>
                  </a:lnTo>
                  <a:lnTo>
                    <a:pt x="1513499" y="1191874"/>
                  </a:lnTo>
                  <a:lnTo>
                    <a:pt x="1548627" y="1208775"/>
                  </a:lnTo>
                  <a:lnTo>
                    <a:pt x="1577004" y="1234439"/>
                  </a:lnTo>
                  <a:lnTo>
                    <a:pt x="1603354" y="1283771"/>
                  </a:lnTo>
                  <a:lnTo>
                    <a:pt x="1608764" y="1320926"/>
                  </a:lnTo>
                  <a:lnTo>
                    <a:pt x="1607408" y="1339855"/>
                  </a:lnTo>
                  <a:lnTo>
                    <a:pt x="1587825" y="1392554"/>
                  </a:lnTo>
                  <a:lnTo>
                    <a:pt x="1548627" y="1433763"/>
                  </a:lnTo>
                  <a:lnTo>
                    <a:pt x="1513499" y="1451335"/>
                  </a:lnTo>
                  <a:lnTo>
                    <a:pt x="1474988" y="1458772"/>
                  </a:lnTo>
                  <a:lnTo>
                    <a:pt x="1455389" y="1458772"/>
                  </a:lnTo>
                  <a:lnTo>
                    <a:pt x="1416878" y="1451335"/>
                  </a:lnTo>
                  <a:lnTo>
                    <a:pt x="1382420" y="1433763"/>
                  </a:lnTo>
                  <a:lnTo>
                    <a:pt x="1353357" y="1408084"/>
                  </a:lnTo>
                  <a:lnTo>
                    <a:pt x="1327007" y="1358097"/>
                  </a:lnTo>
                  <a:lnTo>
                    <a:pt x="1322283" y="1320926"/>
                  </a:lnTo>
                </a:path>
                <a:path w="1609089" h="1459230">
                  <a:moveTo>
                    <a:pt x="0" y="0"/>
                  </a:moveTo>
                  <a:lnTo>
                    <a:pt x="1322283" y="0"/>
                  </a:lnTo>
                </a:path>
                <a:path w="1609089" h="1459230">
                  <a:moveTo>
                    <a:pt x="1465524" y="137159"/>
                  </a:moveTo>
                  <a:lnTo>
                    <a:pt x="1465524" y="1183766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840263" y="2622981"/>
              <a:ext cx="1322705" cy="0"/>
            </a:xfrm>
            <a:custGeom>
              <a:avLst/>
              <a:gdLst/>
              <a:ahLst/>
              <a:cxnLst/>
              <a:rect l="l" t="t" r="r" b="b"/>
              <a:pathLst>
                <a:path w="1322704" h="0">
                  <a:moveTo>
                    <a:pt x="0" y="0"/>
                  </a:moveTo>
                  <a:lnTo>
                    <a:pt x="1322283" y="0"/>
                  </a:lnTo>
                </a:path>
              </a:pathLst>
            </a:custGeom>
            <a:ln w="50674">
              <a:solidFill>
                <a:srgbClr val="E84A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696352" y="1439214"/>
              <a:ext cx="0" cy="1047115"/>
            </a:xfrm>
            <a:custGeom>
              <a:avLst/>
              <a:gdLst/>
              <a:ahLst/>
              <a:cxnLst/>
              <a:rect l="l" t="t" r="r" b="b"/>
              <a:pathLst>
                <a:path w="0" h="1047114">
                  <a:moveTo>
                    <a:pt x="0" y="0"/>
                  </a:moveTo>
                  <a:lnTo>
                    <a:pt x="0" y="1046606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2644329" y="1170442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3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641626" y="2492041"/>
            <a:ext cx="97155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3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276065" y="2516365"/>
            <a:ext cx="5969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3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244309" y="1194765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3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930784" y="1806918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3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386206" y="1825701"/>
            <a:ext cx="288290" cy="273685"/>
          </a:xfrm>
          <a:custGeom>
            <a:avLst/>
            <a:gdLst/>
            <a:ahLst/>
            <a:cxnLst/>
            <a:rect l="l" t="t" r="r" b="b"/>
            <a:pathLst>
              <a:path w="288289" h="273685">
                <a:moveTo>
                  <a:pt x="0" y="137159"/>
                </a:moveTo>
                <a:lnTo>
                  <a:pt x="12161" y="81747"/>
                </a:lnTo>
                <a:lnTo>
                  <a:pt x="45948" y="35813"/>
                </a:lnTo>
                <a:lnTo>
                  <a:pt x="95265" y="7437"/>
                </a:lnTo>
                <a:lnTo>
                  <a:pt x="133776" y="0"/>
                </a:lnTo>
                <a:lnTo>
                  <a:pt x="153375" y="0"/>
                </a:lnTo>
                <a:lnTo>
                  <a:pt x="191886" y="7437"/>
                </a:lnTo>
                <a:lnTo>
                  <a:pt x="226344" y="24323"/>
                </a:lnTo>
                <a:lnTo>
                  <a:pt x="255407" y="50002"/>
                </a:lnTo>
                <a:lnTo>
                  <a:pt x="282427" y="100004"/>
                </a:lnTo>
                <a:lnTo>
                  <a:pt x="287837" y="137159"/>
                </a:lnTo>
                <a:lnTo>
                  <a:pt x="286481" y="155402"/>
                </a:lnTo>
                <a:lnTo>
                  <a:pt x="266882" y="208772"/>
                </a:lnTo>
                <a:lnTo>
                  <a:pt x="241889" y="237835"/>
                </a:lnTo>
                <a:lnTo>
                  <a:pt x="210129" y="259460"/>
                </a:lnTo>
                <a:lnTo>
                  <a:pt x="172973" y="271622"/>
                </a:lnTo>
                <a:lnTo>
                  <a:pt x="153375" y="273649"/>
                </a:lnTo>
                <a:lnTo>
                  <a:pt x="133776" y="273649"/>
                </a:lnTo>
                <a:lnTo>
                  <a:pt x="95265" y="266212"/>
                </a:lnTo>
                <a:lnTo>
                  <a:pt x="45948" y="237835"/>
                </a:lnTo>
                <a:lnTo>
                  <a:pt x="20939" y="208772"/>
                </a:lnTo>
                <a:lnTo>
                  <a:pt x="1356" y="155402"/>
                </a:lnTo>
                <a:lnTo>
                  <a:pt x="0" y="137159"/>
                </a:lnTo>
              </a:path>
            </a:pathLst>
          </a:custGeom>
          <a:ln w="16891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3476750" y="1831921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300">
              <a:latin typeface="Arial"/>
              <a:cs typeface="Arial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2061504" y="992141"/>
            <a:ext cx="3914140" cy="1634489"/>
            <a:chOff x="2061504" y="992141"/>
            <a:chExt cx="3914140" cy="1634489"/>
          </a:xfrm>
        </p:grpSpPr>
        <p:sp>
          <p:nvSpPr>
            <p:cNvPr id="23" name="object 23"/>
            <p:cNvSpPr/>
            <p:nvPr/>
          </p:nvSpPr>
          <p:spPr>
            <a:xfrm>
              <a:off x="2095682" y="1377736"/>
              <a:ext cx="481965" cy="476884"/>
            </a:xfrm>
            <a:custGeom>
              <a:avLst/>
              <a:gdLst/>
              <a:ahLst/>
              <a:cxnLst/>
              <a:rect l="l" t="t" r="r" b="b"/>
              <a:pathLst>
                <a:path w="481964" h="476885">
                  <a:moveTo>
                    <a:pt x="0" y="476341"/>
                  </a:moveTo>
                  <a:lnTo>
                    <a:pt x="481751" y="0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086904" y="2077725"/>
              <a:ext cx="492125" cy="467359"/>
            </a:xfrm>
            <a:custGeom>
              <a:avLst/>
              <a:gdLst/>
              <a:ahLst/>
              <a:cxnLst/>
              <a:rect l="l" t="t" r="r" b="b"/>
              <a:pathLst>
                <a:path w="492125" h="467360">
                  <a:moveTo>
                    <a:pt x="0" y="0"/>
                  </a:moveTo>
                  <a:lnTo>
                    <a:pt x="491886" y="466877"/>
                  </a:lnTo>
                </a:path>
              </a:pathLst>
            </a:custGeom>
            <a:ln w="50674">
              <a:solidFill>
                <a:srgbClr val="E84A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798383" y="1000714"/>
              <a:ext cx="3168650" cy="1617345"/>
            </a:xfrm>
            <a:custGeom>
              <a:avLst/>
              <a:gdLst/>
              <a:ahLst/>
              <a:cxnLst/>
              <a:rect l="l" t="t" r="r" b="b"/>
              <a:pathLst>
                <a:path w="3168650" h="1617345">
                  <a:moveTo>
                    <a:pt x="1613489" y="1529699"/>
                  </a:moveTo>
                  <a:lnTo>
                    <a:pt x="2103333" y="1066876"/>
                  </a:lnTo>
                </a:path>
                <a:path w="3168650" h="1617345">
                  <a:moveTo>
                    <a:pt x="1621596" y="385130"/>
                  </a:moveTo>
                  <a:lnTo>
                    <a:pt x="2109414" y="852693"/>
                  </a:lnTo>
                </a:path>
                <a:path w="3168650" h="1617345">
                  <a:moveTo>
                    <a:pt x="0" y="398647"/>
                  </a:moveTo>
                  <a:lnTo>
                    <a:pt x="618225" y="877016"/>
                  </a:lnTo>
                </a:path>
                <a:path w="3168650" h="1617345">
                  <a:moveTo>
                    <a:pt x="840516" y="1052001"/>
                  </a:moveTo>
                  <a:lnTo>
                    <a:pt x="1414165" y="1517538"/>
                  </a:lnTo>
                </a:path>
                <a:path w="3168650" h="1617345">
                  <a:moveTo>
                    <a:pt x="840516" y="872276"/>
                  </a:moveTo>
                  <a:lnTo>
                    <a:pt x="1400647" y="393908"/>
                  </a:lnTo>
                </a:path>
                <a:path w="3168650" h="1617345">
                  <a:moveTo>
                    <a:pt x="616198" y="1043223"/>
                  </a:moveTo>
                  <a:lnTo>
                    <a:pt x="0" y="1525645"/>
                  </a:lnTo>
                </a:path>
                <a:path w="3168650" h="1617345">
                  <a:moveTo>
                    <a:pt x="2713466" y="0"/>
                  </a:moveTo>
                  <a:lnTo>
                    <a:pt x="2713466" y="1616872"/>
                  </a:lnTo>
                </a:path>
                <a:path w="3168650" h="1617345">
                  <a:moveTo>
                    <a:pt x="3168182" y="0"/>
                  </a:moveTo>
                  <a:lnTo>
                    <a:pt x="3168182" y="1616872"/>
                  </a:lnTo>
                </a:path>
                <a:path w="3168650" h="1617345">
                  <a:moveTo>
                    <a:pt x="2713466" y="1616872"/>
                  </a:moveTo>
                  <a:lnTo>
                    <a:pt x="3168182" y="1616872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 txBox="1"/>
          <p:nvPr/>
        </p:nvSpPr>
        <p:spPr>
          <a:xfrm>
            <a:off x="1945689" y="1538686"/>
            <a:ext cx="116205" cy="521334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484"/>
              </a:spcBef>
            </a:pPr>
            <a:r>
              <a:rPr dirty="0" sz="1300" spc="1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300">
              <a:latin typeface="Arial"/>
              <a:cs typeface="Arial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3594994" y="1907448"/>
            <a:ext cx="1263650" cy="899794"/>
            <a:chOff x="3594994" y="1907448"/>
            <a:chExt cx="1263650" cy="899794"/>
          </a:xfrm>
        </p:grpSpPr>
        <p:pic>
          <p:nvPicPr>
            <p:cNvPr id="28" name="object 2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98354" y="2334473"/>
              <a:ext cx="160126" cy="159456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60514" y="1907448"/>
              <a:ext cx="143240" cy="166222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97005" y="2047321"/>
              <a:ext cx="159456" cy="159456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94994" y="2663520"/>
              <a:ext cx="164851" cy="143240"/>
            </a:xfrm>
            <a:prstGeom prst="rect">
              <a:avLst/>
            </a:prstGeom>
          </p:spPr>
        </p:pic>
      </p:grpSp>
      <p:sp>
        <p:nvSpPr>
          <p:cNvPr id="32" name="object 32"/>
          <p:cNvSpPr txBox="1"/>
          <p:nvPr/>
        </p:nvSpPr>
        <p:spPr>
          <a:xfrm>
            <a:off x="5515223" y="1056253"/>
            <a:ext cx="422909" cy="17919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0320">
              <a:lnSpc>
                <a:spcPts val="1500"/>
              </a:lnSpc>
              <a:spcBef>
                <a:spcPts val="130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(f,g)</a:t>
            </a:r>
            <a:endParaRPr sz="1300">
              <a:latin typeface="Arial"/>
              <a:cs typeface="Arial"/>
            </a:endParaRPr>
          </a:p>
          <a:p>
            <a:pPr marL="29209">
              <a:lnSpc>
                <a:spcPts val="149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(f,c)</a:t>
            </a:r>
            <a:endParaRPr sz="1300">
              <a:latin typeface="Arial"/>
              <a:cs typeface="Arial"/>
            </a:endParaRPr>
          </a:p>
          <a:p>
            <a:pPr marL="20320">
              <a:lnSpc>
                <a:spcPts val="155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(f,d)</a:t>
            </a:r>
            <a:endParaRPr sz="1300">
              <a:latin typeface="Arial"/>
              <a:cs typeface="Arial"/>
            </a:endParaRPr>
          </a:p>
          <a:p>
            <a:pPr marL="22860">
              <a:lnSpc>
                <a:spcPts val="1560"/>
              </a:lnSpc>
              <a:spcBef>
                <a:spcPts val="35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(f,e)</a:t>
            </a:r>
            <a:endParaRPr sz="1300">
              <a:latin typeface="Arial"/>
              <a:cs typeface="Arial"/>
            </a:endParaRPr>
          </a:p>
          <a:p>
            <a:pPr marL="8255">
              <a:lnSpc>
                <a:spcPts val="152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(c,a)</a:t>
            </a:r>
            <a:endParaRPr sz="1300">
              <a:latin typeface="Arial"/>
              <a:cs typeface="Arial"/>
            </a:endParaRPr>
          </a:p>
          <a:p>
            <a:pPr marL="6350">
              <a:lnSpc>
                <a:spcPts val="148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(c,d)</a:t>
            </a:r>
            <a:endParaRPr sz="1300">
              <a:latin typeface="Arial"/>
              <a:cs typeface="Arial"/>
            </a:endParaRPr>
          </a:p>
          <a:p>
            <a:pPr marL="6350">
              <a:lnSpc>
                <a:spcPts val="148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(c,b)</a:t>
            </a:r>
            <a:endParaRPr sz="1300">
              <a:latin typeface="Arial"/>
              <a:cs typeface="Arial"/>
            </a:endParaRPr>
          </a:p>
          <a:p>
            <a:pPr>
              <a:lnSpc>
                <a:spcPts val="152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(a,b)</a:t>
            </a:r>
            <a:endParaRPr sz="1300">
              <a:latin typeface="Arial"/>
              <a:cs typeface="Arial"/>
            </a:endParaRPr>
          </a:p>
          <a:p>
            <a:pPr marL="15240">
              <a:lnSpc>
                <a:spcPct val="100000"/>
              </a:lnSpc>
              <a:spcBef>
                <a:spcPts val="175"/>
              </a:spcBef>
            </a:pPr>
            <a:r>
              <a:rPr dirty="0" sz="1300" spc="10" i="1">
                <a:solidFill>
                  <a:srgbClr val="FFFF00"/>
                </a:solidFill>
                <a:latin typeface="Arial"/>
                <a:cs typeface="Arial"/>
              </a:rPr>
              <a:t>stack</a:t>
            </a:r>
            <a:endParaRPr sz="13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409087" y="3056891"/>
            <a:ext cx="34112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8.15: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Times New Roman"/>
                <a:cs typeface="Times New Roman"/>
              </a:rPr>
              <a:t>‘f’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popped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1790700" y="6422237"/>
            <a:ext cx="4648200" cy="2255520"/>
            <a:chOff x="1790700" y="6422237"/>
            <a:chExt cx="4648200" cy="2255520"/>
          </a:xfrm>
        </p:grpSpPr>
        <p:sp>
          <p:nvSpPr>
            <p:cNvPr id="35" name="object 35"/>
            <p:cNvSpPr/>
            <p:nvPr/>
          </p:nvSpPr>
          <p:spPr>
            <a:xfrm>
              <a:off x="1790700" y="6422237"/>
              <a:ext cx="4648200" cy="2255520"/>
            </a:xfrm>
            <a:custGeom>
              <a:avLst/>
              <a:gdLst/>
              <a:ahLst/>
              <a:cxnLst/>
              <a:rect l="l" t="t" r="r" b="b"/>
              <a:pathLst>
                <a:path w="4648200" h="2255520">
                  <a:moveTo>
                    <a:pt x="4648001" y="0"/>
                  </a:moveTo>
                  <a:lnTo>
                    <a:pt x="0" y="0"/>
                  </a:lnTo>
                  <a:lnTo>
                    <a:pt x="0" y="2254910"/>
                  </a:lnTo>
                  <a:lnTo>
                    <a:pt x="4648001" y="2254910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851730" y="7511547"/>
              <a:ext cx="287020" cy="274320"/>
            </a:xfrm>
            <a:custGeom>
              <a:avLst/>
              <a:gdLst/>
              <a:ahLst/>
              <a:cxnLst/>
              <a:rect l="l" t="t" r="r" b="b"/>
              <a:pathLst>
                <a:path w="287020" h="274320">
                  <a:moveTo>
                    <a:pt x="153375" y="0"/>
                  </a:moveTo>
                  <a:lnTo>
                    <a:pt x="133776" y="0"/>
                  </a:lnTo>
                  <a:lnTo>
                    <a:pt x="114178" y="2712"/>
                  </a:lnTo>
                  <a:lnTo>
                    <a:pt x="77022" y="14874"/>
                  </a:lnTo>
                  <a:lnTo>
                    <a:pt x="45262" y="36484"/>
                  </a:lnTo>
                  <a:lnTo>
                    <a:pt x="20269" y="65547"/>
                  </a:lnTo>
                  <a:lnTo>
                    <a:pt x="1341" y="118247"/>
                  </a:lnTo>
                  <a:lnTo>
                    <a:pt x="0" y="137159"/>
                  </a:lnTo>
                  <a:lnTo>
                    <a:pt x="1341" y="155402"/>
                  </a:lnTo>
                  <a:lnTo>
                    <a:pt x="20269" y="208787"/>
                  </a:lnTo>
                  <a:lnTo>
                    <a:pt x="45262" y="237835"/>
                  </a:lnTo>
                  <a:lnTo>
                    <a:pt x="77022" y="259460"/>
                  </a:lnTo>
                  <a:lnTo>
                    <a:pt x="114178" y="272293"/>
                  </a:lnTo>
                  <a:lnTo>
                    <a:pt x="133776" y="274319"/>
                  </a:lnTo>
                  <a:lnTo>
                    <a:pt x="153375" y="274319"/>
                  </a:lnTo>
                  <a:lnTo>
                    <a:pt x="191201" y="266898"/>
                  </a:lnTo>
                  <a:lnTo>
                    <a:pt x="226344" y="249996"/>
                  </a:lnTo>
                  <a:lnTo>
                    <a:pt x="265526" y="208787"/>
                  </a:lnTo>
                  <a:lnTo>
                    <a:pt x="285125" y="155402"/>
                  </a:lnTo>
                  <a:lnTo>
                    <a:pt x="286481" y="137159"/>
                  </a:lnTo>
                  <a:lnTo>
                    <a:pt x="285125" y="118247"/>
                  </a:lnTo>
                  <a:lnTo>
                    <a:pt x="265526" y="65547"/>
                  </a:lnTo>
                  <a:lnTo>
                    <a:pt x="226344" y="25008"/>
                  </a:lnTo>
                  <a:lnTo>
                    <a:pt x="191201" y="7437"/>
                  </a:lnTo>
                  <a:lnTo>
                    <a:pt x="153375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851730" y="7511547"/>
              <a:ext cx="287020" cy="274320"/>
            </a:xfrm>
            <a:custGeom>
              <a:avLst/>
              <a:gdLst/>
              <a:ahLst/>
              <a:cxnLst/>
              <a:rect l="l" t="t" r="r" b="b"/>
              <a:pathLst>
                <a:path w="287020" h="274320">
                  <a:moveTo>
                    <a:pt x="0" y="137159"/>
                  </a:moveTo>
                  <a:lnTo>
                    <a:pt x="11475" y="81762"/>
                  </a:lnTo>
                  <a:lnTo>
                    <a:pt x="45262" y="36484"/>
                  </a:lnTo>
                  <a:lnTo>
                    <a:pt x="77022" y="14874"/>
                  </a:lnTo>
                  <a:lnTo>
                    <a:pt x="114178" y="2712"/>
                  </a:lnTo>
                  <a:lnTo>
                    <a:pt x="133776" y="0"/>
                  </a:lnTo>
                  <a:lnTo>
                    <a:pt x="153375" y="0"/>
                  </a:lnTo>
                  <a:lnTo>
                    <a:pt x="191201" y="7437"/>
                  </a:lnTo>
                  <a:lnTo>
                    <a:pt x="226344" y="25008"/>
                  </a:lnTo>
                  <a:lnTo>
                    <a:pt x="265526" y="65547"/>
                  </a:lnTo>
                  <a:lnTo>
                    <a:pt x="285125" y="118247"/>
                  </a:lnTo>
                  <a:lnTo>
                    <a:pt x="286481" y="137159"/>
                  </a:lnTo>
                  <a:lnTo>
                    <a:pt x="285125" y="155402"/>
                  </a:lnTo>
                  <a:lnTo>
                    <a:pt x="265526" y="208787"/>
                  </a:lnTo>
                  <a:lnTo>
                    <a:pt x="226344" y="249996"/>
                  </a:lnTo>
                  <a:lnTo>
                    <a:pt x="191201" y="266898"/>
                  </a:lnTo>
                  <a:lnTo>
                    <a:pt x="153375" y="274319"/>
                  </a:lnTo>
                  <a:lnTo>
                    <a:pt x="133776" y="274319"/>
                  </a:lnTo>
                  <a:lnTo>
                    <a:pt x="95265" y="266898"/>
                  </a:lnTo>
                  <a:lnTo>
                    <a:pt x="60121" y="249996"/>
                  </a:lnTo>
                  <a:lnTo>
                    <a:pt x="31744" y="224332"/>
                  </a:lnTo>
                  <a:lnTo>
                    <a:pt x="11475" y="191902"/>
                  </a:lnTo>
                  <a:lnTo>
                    <a:pt x="0" y="137159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1863928" y="7511547"/>
              <a:ext cx="287655" cy="274320"/>
            </a:xfrm>
            <a:custGeom>
              <a:avLst/>
              <a:gdLst/>
              <a:ahLst/>
              <a:cxnLst/>
              <a:rect l="l" t="t" r="r" b="b"/>
              <a:pathLst>
                <a:path w="287655" h="274320">
                  <a:moveTo>
                    <a:pt x="152704" y="0"/>
                  </a:moveTo>
                  <a:lnTo>
                    <a:pt x="133106" y="0"/>
                  </a:lnTo>
                  <a:lnTo>
                    <a:pt x="113522" y="2712"/>
                  </a:lnTo>
                  <a:lnTo>
                    <a:pt x="60822" y="25008"/>
                  </a:lnTo>
                  <a:lnTo>
                    <a:pt x="31760" y="50002"/>
                  </a:lnTo>
                  <a:lnTo>
                    <a:pt x="4739" y="100004"/>
                  </a:lnTo>
                  <a:lnTo>
                    <a:pt x="0" y="137159"/>
                  </a:lnTo>
                  <a:lnTo>
                    <a:pt x="685" y="155402"/>
                  </a:lnTo>
                  <a:lnTo>
                    <a:pt x="20954" y="208787"/>
                  </a:lnTo>
                  <a:lnTo>
                    <a:pt x="60822" y="249996"/>
                  </a:lnTo>
                  <a:lnTo>
                    <a:pt x="113522" y="272293"/>
                  </a:lnTo>
                  <a:lnTo>
                    <a:pt x="133106" y="274319"/>
                  </a:lnTo>
                  <a:lnTo>
                    <a:pt x="152704" y="274319"/>
                  </a:lnTo>
                  <a:lnTo>
                    <a:pt x="191216" y="266898"/>
                  </a:lnTo>
                  <a:lnTo>
                    <a:pt x="226359" y="249996"/>
                  </a:lnTo>
                  <a:lnTo>
                    <a:pt x="254736" y="224332"/>
                  </a:lnTo>
                  <a:lnTo>
                    <a:pt x="275005" y="191902"/>
                  </a:lnTo>
                  <a:lnTo>
                    <a:pt x="287167" y="137159"/>
                  </a:lnTo>
                  <a:lnTo>
                    <a:pt x="285810" y="118247"/>
                  </a:lnTo>
                  <a:lnTo>
                    <a:pt x="266212" y="65547"/>
                  </a:lnTo>
                  <a:lnTo>
                    <a:pt x="241218" y="36484"/>
                  </a:lnTo>
                  <a:lnTo>
                    <a:pt x="209458" y="14874"/>
                  </a:lnTo>
                  <a:lnTo>
                    <a:pt x="172303" y="2712"/>
                  </a:lnTo>
                  <a:lnTo>
                    <a:pt x="152704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1863928" y="7511547"/>
              <a:ext cx="287655" cy="274320"/>
            </a:xfrm>
            <a:custGeom>
              <a:avLst/>
              <a:gdLst/>
              <a:ahLst/>
              <a:cxnLst/>
              <a:rect l="l" t="t" r="r" b="b"/>
              <a:pathLst>
                <a:path w="287655" h="274320">
                  <a:moveTo>
                    <a:pt x="0" y="137159"/>
                  </a:moveTo>
                  <a:lnTo>
                    <a:pt x="11490" y="81762"/>
                  </a:lnTo>
                  <a:lnTo>
                    <a:pt x="45278" y="36484"/>
                  </a:lnTo>
                  <a:lnTo>
                    <a:pt x="77708" y="14874"/>
                  </a:lnTo>
                  <a:lnTo>
                    <a:pt x="133106" y="0"/>
                  </a:lnTo>
                  <a:lnTo>
                    <a:pt x="152704" y="0"/>
                  </a:lnTo>
                  <a:lnTo>
                    <a:pt x="191216" y="7437"/>
                  </a:lnTo>
                  <a:lnTo>
                    <a:pt x="226359" y="25008"/>
                  </a:lnTo>
                  <a:lnTo>
                    <a:pt x="266212" y="65547"/>
                  </a:lnTo>
                  <a:lnTo>
                    <a:pt x="285810" y="118247"/>
                  </a:lnTo>
                  <a:lnTo>
                    <a:pt x="287167" y="137159"/>
                  </a:lnTo>
                  <a:lnTo>
                    <a:pt x="285810" y="155402"/>
                  </a:lnTo>
                  <a:lnTo>
                    <a:pt x="266212" y="208787"/>
                  </a:lnTo>
                  <a:lnTo>
                    <a:pt x="241218" y="237835"/>
                  </a:lnTo>
                  <a:lnTo>
                    <a:pt x="209458" y="259460"/>
                  </a:lnTo>
                  <a:lnTo>
                    <a:pt x="172303" y="272293"/>
                  </a:lnTo>
                  <a:lnTo>
                    <a:pt x="152704" y="274319"/>
                  </a:lnTo>
                  <a:lnTo>
                    <a:pt x="133106" y="274319"/>
                  </a:lnTo>
                  <a:lnTo>
                    <a:pt x="94594" y="266898"/>
                  </a:lnTo>
                  <a:lnTo>
                    <a:pt x="45278" y="237835"/>
                  </a:lnTo>
                  <a:lnTo>
                    <a:pt x="11490" y="191902"/>
                  </a:lnTo>
                  <a:lnTo>
                    <a:pt x="0" y="137159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553111" y="6850070"/>
              <a:ext cx="1896110" cy="275590"/>
            </a:xfrm>
            <a:custGeom>
              <a:avLst/>
              <a:gdLst/>
              <a:ahLst/>
              <a:cxnLst/>
              <a:rect l="l" t="t" r="r" b="b"/>
              <a:pathLst>
                <a:path w="1896110" h="275590">
                  <a:moveTo>
                    <a:pt x="0" y="137845"/>
                  </a:moveTo>
                  <a:lnTo>
                    <a:pt x="11490" y="83118"/>
                  </a:lnTo>
                  <a:lnTo>
                    <a:pt x="32430" y="50688"/>
                  </a:lnTo>
                  <a:lnTo>
                    <a:pt x="60807" y="25008"/>
                  </a:lnTo>
                  <a:lnTo>
                    <a:pt x="95951" y="8122"/>
                  </a:lnTo>
                  <a:lnTo>
                    <a:pt x="133106" y="0"/>
                  </a:lnTo>
                  <a:lnTo>
                    <a:pt x="153375" y="0"/>
                  </a:lnTo>
                  <a:lnTo>
                    <a:pt x="191216" y="8122"/>
                  </a:lnTo>
                  <a:lnTo>
                    <a:pt x="226344" y="25008"/>
                  </a:lnTo>
                  <a:lnTo>
                    <a:pt x="254721" y="50688"/>
                  </a:lnTo>
                  <a:lnTo>
                    <a:pt x="275676" y="83118"/>
                  </a:lnTo>
                  <a:lnTo>
                    <a:pt x="287152" y="137845"/>
                  </a:lnTo>
                  <a:lnTo>
                    <a:pt x="285810" y="156758"/>
                  </a:lnTo>
                  <a:lnTo>
                    <a:pt x="266212" y="209458"/>
                  </a:lnTo>
                  <a:lnTo>
                    <a:pt x="226344" y="249996"/>
                  </a:lnTo>
                  <a:lnTo>
                    <a:pt x="191216" y="267568"/>
                  </a:lnTo>
                  <a:lnTo>
                    <a:pt x="153375" y="275005"/>
                  </a:lnTo>
                  <a:lnTo>
                    <a:pt x="133106" y="275005"/>
                  </a:lnTo>
                  <a:lnTo>
                    <a:pt x="77708" y="260131"/>
                  </a:lnTo>
                  <a:lnTo>
                    <a:pt x="45948" y="237835"/>
                  </a:lnTo>
                  <a:lnTo>
                    <a:pt x="11490" y="193243"/>
                  </a:lnTo>
                  <a:lnTo>
                    <a:pt x="0" y="137845"/>
                  </a:lnTo>
                </a:path>
                <a:path w="1896110" h="275590">
                  <a:moveTo>
                    <a:pt x="1608764" y="137845"/>
                  </a:moveTo>
                  <a:lnTo>
                    <a:pt x="1620240" y="83118"/>
                  </a:lnTo>
                  <a:lnTo>
                    <a:pt x="1640509" y="50688"/>
                  </a:lnTo>
                  <a:lnTo>
                    <a:pt x="1669572" y="25008"/>
                  </a:lnTo>
                  <a:lnTo>
                    <a:pt x="1704030" y="8122"/>
                  </a:lnTo>
                  <a:lnTo>
                    <a:pt x="1742541" y="0"/>
                  </a:lnTo>
                  <a:lnTo>
                    <a:pt x="1762140" y="0"/>
                  </a:lnTo>
                  <a:lnTo>
                    <a:pt x="1800651" y="8122"/>
                  </a:lnTo>
                  <a:lnTo>
                    <a:pt x="1835109" y="25008"/>
                  </a:lnTo>
                  <a:lnTo>
                    <a:pt x="1863486" y="50688"/>
                  </a:lnTo>
                  <a:lnTo>
                    <a:pt x="1883755" y="83118"/>
                  </a:lnTo>
                  <a:lnTo>
                    <a:pt x="1895916" y="137845"/>
                  </a:lnTo>
                  <a:lnTo>
                    <a:pt x="1894560" y="156758"/>
                  </a:lnTo>
                  <a:lnTo>
                    <a:pt x="1874977" y="209458"/>
                  </a:lnTo>
                  <a:lnTo>
                    <a:pt x="1835109" y="249996"/>
                  </a:lnTo>
                  <a:lnTo>
                    <a:pt x="1800651" y="267568"/>
                  </a:lnTo>
                  <a:lnTo>
                    <a:pt x="1762140" y="275005"/>
                  </a:lnTo>
                  <a:lnTo>
                    <a:pt x="1742541" y="275005"/>
                  </a:lnTo>
                  <a:lnTo>
                    <a:pt x="1704030" y="267568"/>
                  </a:lnTo>
                  <a:lnTo>
                    <a:pt x="1669572" y="249996"/>
                  </a:lnTo>
                  <a:lnTo>
                    <a:pt x="1640509" y="224332"/>
                  </a:lnTo>
                  <a:lnTo>
                    <a:pt x="1613489" y="175000"/>
                  </a:lnTo>
                  <a:lnTo>
                    <a:pt x="1608764" y="137845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553111" y="8171683"/>
              <a:ext cx="287655" cy="275590"/>
            </a:xfrm>
            <a:custGeom>
              <a:avLst/>
              <a:gdLst/>
              <a:ahLst/>
              <a:cxnLst/>
              <a:rect l="l" t="t" r="r" b="b"/>
              <a:pathLst>
                <a:path w="287655" h="275590">
                  <a:moveTo>
                    <a:pt x="153375" y="0"/>
                  </a:moveTo>
                  <a:lnTo>
                    <a:pt x="133106" y="0"/>
                  </a:lnTo>
                  <a:lnTo>
                    <a:pt x="114863" y="2697"/>
                  </a:lnTo>
                  <a:lnTo>
                    <a:pt x="77708" y="15529"/>
                  </a:lnTo>
                  <a:lnTo>
                    <a:pt x="45948" y="37155"/>
                  </a:lnTo>
                  <a:lnTo>
                    <a:pt x="20939" y="66217"/>
                  </a:lnTo>
                  <a:lnTo>
                    <a:pt x="1356" y="118231"/>
                  </a:lnTo>
                  <a:lnTo>
                    <a:pt x="0" y="137159"/>
                  </a:lnTo>
                  <a:lnTo>
                    <a:pt x="1356" y="156072"/>
                  </a:lnTo>
                  <a:lnTo>
                    <a:pt x="20939" y="208772"/>
                  </a:lnTo>
                  <a:lnTo>
                    <a:pt x="45948" y="237835"/>
                  </a:lnTo>
                  <a:lnTo>
                    <a:pt x="77708" y="259445"/>
                  </a:lnTo>
                  <a:lnTo>
                    <a:pt x="114863" y="272293"/>
                  </a:lnTo>
                  <a:lnTo>
                    <a:pt x="133106" y="274990"/>
                  </a:lnTo>
                  <a:lnTo>
                    <a:pt x="153375" y="274990"/>
                  </a:lnTo>
                  <a:lnTo>
                    <a:pt x="191216" y="267553"/>
                  </a:lnTo>
                  <a:lnTo>
                    <a:pt x="226344" y="249996"/>
                  </a:lnTo>
                  <a:lnTo>
                    <a:pt x="254721" y="224317"/>
                  </a:lnTo>
                  <a:lnTo>
                    <a:pt x="275676" y="191886"/>
                  </a:lnTo>
                  <a:lnTo>
                    <a:pt x="287152" y="137159"/>
                  </a:lnTo>
                  <a:lnTo>
                    <a:pt x="285810" y="118231"/>
                  </a:lnTo>
                  <a:lnTo>
                    <a:pt x="266212" y="66217"/>
                  </a:lnTo>
                  <a:lnTo>
                    <a:pt x="226344" y="24993"/>
                  </a:lnTo>
                  <a:lnTo>
                    <a:pt x="191216" y="8107"/>
                  </a:lnTo>
                  <a:lnTo>
                    <a:pt x="153375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553111" y="8171683"/>
              <a:ext cx="287655" cy="275590"/>
            </a:xfrm>
            <a:custGeom>
              <a:avLst/>
              <a:gdLst/>
              <a:ahLst/>
              <a:cxnLst/>
              <a:rect l="l" t="t" r="r" b="b"/>
              <a:pathLst>
                <a:path w="287655" h="275590">
                  <a:moveTo>
                    <a:pt x="0" y="137159"/>
                  </a:moveTo>
                  <a:lnTo>
                    <a:pt x="11490" y="83103"/>
                  </a:lnTo>
                  <a:lnTo>
                    <a:pt x="32430" y="50672"/>
                  </a:lnTo>
                  <a:lnTo>
                    <a:pt x="60807" y="24993"/>
                  </a:lnTo>
                  <a:lnTo>
                    <a:pt x="95951" y="8107"/>
                  </a:lnTo>
                  <a:lnTo>
                    <a:pt x="133106" y="0"/>
                  </a:lnTo>
                  <a:lnTo>
                    <a:pt x="153375" y="0"/>
                  </a:lnTo>
                  <a:lnTo>
                    <a:pt x="191216" y="8107"/>
                  </a:lnTo>
                  <a:lnTo>
                    <a:pt x="226344" y="24993"/>
                  </a:lnTo>
                  <a:lnTo>
                    <a:pt x="254721" y="50672"/>
                  </a:lnTo>
                  <a:lnTo>
                    <a:pt x="275676" y="83103"/>
                  </a:lnTo>
                  <a:lnTo>
                    <a:pt x="287152" y="137159"/>
                  </a:lnTo>
                  <a:lnTo>
                    <a:pt x="285810" y="156072"/>
                  </a:lnTo>
                  <a:lnTo>
                    <a:pt x="266212" y="208772"/>
                  </a:lnTo>
                  <a:lnTo>
                    <a:pt x="226344" y="249996"/>
                  </a:lnTo>
                  <a:lnTo>
                    <a:pt x="191216" y="267553"/>
                  </a:lnTo>
                  <a:lnTo>
                    <a:pt x="153375" y="274990"/>
                  </a:lnTo>
                  <a:lnTo>
                    <a:pt x="133106" y="274990"/>
                  </a:lnTo>
                  <a:lnTo>
                    <a:pt x="77708" y="259445"/>
                  </a:lnTo>
                  <a:lnTo>
                    <a:pt x="45948" y="237835"/>
                  </a:lnTo>
                  <a:lnTo>
                    <a:pt x="20939" y="208772"/>
                  </a:lnTo>
                  <a:lnTo>
                    <a:pt x="1356" y="156072"/>
                  </a:lnTo>
                  <a:lnTo>
                    <a:pt x="0" y="137159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161876" y="8171683"/>
              <a:ext cx="287655" cy="275590"/>
            </a:xfrm>
            <a:custGeom>
              <a:avLst/>
              <a:gdLst/>
              <a:ahLst/>
              <a:cxnLst/>
              <a:rect l="l" t="t" r="r" b="b"/>
              <a:pathLst>
                <a:path w="287654" h="275590">
                  <a:moveTo>
                    <a:pt x="153375" y="0"/>
                  </a:moveTo>
                  <a:lnTo>
                    <a:pt x="133776" y="0"/>
                  </a:lnTo>
                  <a:lnTo>
                    <a:pt x="114178" y="2697"/>
                  </a:lnTo>
                  <a:lnTo>
                    <a:pt x="77693" y="15529"/>
                  </a:lnTo>
                  <a:lnTo>
                    <a:pt x="45262" y="37155"/>
                  </a:lnTo>
                  <a:lnTo>
                    <a:pt x="11475" y="83103"/>
                  </a:lnTo>
                  <a:lnTo>
                    <a:pt x="0" y="137159"/>
                  </a:lnTo>
                  <a:lnTo>
                    <a:pt x="1341" y="156072"/>
                  </a:lnTo>
                  <a:lnTo>
                    <a:pt x="20939" y="208772"/>
                  </a:lnTo>
                  <a:lnTo>
                    <a:pt x="60807" y="249996"/>
                  </a:lnTo>
                  <a:lnTo>
                    <a:pt x="95265" y="267553"/>
                  </a:lnTo>
                  <a:lnTo>
                    <a:pt x="133776" y="274990"/>
                  </a:lnTo>
                  <a:lnTo>
                    <a:pt x="153375" y="274990"/>
                  </a:lnTo>
                  <a:lnTo>
                    <a:pt x="191886" y="267553"/>
                  </a:lnTo>
                  <a:lnTo>
                    <a:pt x="226344" y="249996"/>
                  </a:lnTo>
                  <a:lnTo>
                    <a:pt x="254721" y="224317"/>
                  </a:lnTo>
                  <a:lnTo>
                    <a:pt x="274990" y="191886"/>
                  </a:lnTo>
                  <a:lnTo>
                    <a:pt x="287152" y="137159"/>
                  </a:lnTo>
                  <a:lnTo>
                    <a:pt x="285795" y="118231"/>
                  </a:lnTo>
                  <a:lnTo>
                    <a:pt x="266212" y="66217"/>
                  </a:lnTo>
                  <a:lnTo>
                    <a:pt x="241203" y="37155"/>
                  </a:lnTo>
                  <a:lnTo>
                    <a:pt x="209443" y="15529"/>
                  </a:lnTo>
                  <a:lnTo>
                    <a:pt x="172958" y="2697"/>
                  </a:lnTo>
                  <a:lnTo>
                    <a:pt x="153375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840263" y="6987916"/>
              <a:ext cx="1609090" cy="1459230"/>
            </a:xfrm>
            <a:custGeom>
              <a:avLst/>
              <a:gdLst/>
              <a:ahLst/>
              <a:cxnLst/>
              <a:rect l="l" t="t" r="r" b="b"/>
              <a:pathLst>
                <a:path w="1609089" h="1459229">
                  <a:moveTo>
                    <a:pt x="1321612" y="1320926"/>
                  </a:moveTo>
                  <a:lnTo>
                    <a:pt x="1333088" y="1266870"/>
                  </a:lnTo>
                  <a:lnTo>
                    <a:pt x="1353357" y="1234439"/>
                  </a:lnTo>
                  <a:lnTo>
                    <a:pt x="1382420" y="1208760"/>
                  </a:lnTo>
                  <a:lnTo>
                    <a:pt x="1416878" y="1191874"/>
                  </a:lnTo>
                  <a:lnTo>
                    <a:pt x="1455389" y="1183766"/>
                  </a:lnTo>
                  <a:lnTo>
                    <a:pt x="1474988" y="1183766"/>
                  </a:lnTo>
                  <a:lnTo>
                    <a:pt x="1513499" y="1191874"/>
                  </a:lnTo>
                  <a:lnTo>
                    <a:pt x="1547957" y="1208760"/>
                  </a:lnTo>
                  <a:lnTo>
                    <a:pt x="1576334" y="1234439"/>
                  </a:lnTo>
                  <a:lnTo>
                    <a:pt x="1596603" y="1266870"/>
                  </a:lnTo>
                  <a:lnTo>
                    <a:pt x="1608764" y="1320926"/>
                  </a:lnTo>
                  <a:lnTo>
                    <a:pt x="1607408" y="1339839"/>
                  </a:lnTo>
                  <a:lnTo>
                    <a:pt x="1587825" y="1392539"/>
                  </a:lnTo>
                  <a:lnTo>
                    <a:pt x="1562816" y="1421602"/>
                  </a:lnTo>
                  <a:lnTo>
                    <a:pt x="1531056" y="1443212"/>
                  </a:lnTo>
                  <a:lnTo>
                    <a:pt x="1494571" y="1456060"/>
                  </a:lnTo>
                  <a:lnTo>
                    <a:pt x="1474988" y="1458757"/>
                  </a:lnTo>
                  <a:lnTo>
                    <a:pt x="1455389" y="1458757"/>
                  </a:lnTo>
                  <a:lnTo>
                    <a:pt x="1416878" y="1451320"/>
                  </a:lnTo>
                  <a:lnTo>
                    <a:pt x="1382420" y="1433763"/>
                  </a:lnTo>
                  <a:lnTo>
                    <a:pt x="1353357" y="1408084"/>
                  </a:lnTo>
                  <a:lnTo>
                    <a:pt x="1333088" y="1375653"/>
                  </a:lnTo>
                  <a:lnTo>
                    <a:pt x="1321612" y="1320926"/>
                  </a:lnTo>
                </a:path>
                <a:path w="1609089" h="1459229">
                  <a:moveTo>
                    <a:pt x="0" y="0"/>
                  </a:moveTo>
                  <a:lnTo>
                    <a:pt x="1321612" y="0"/>
                  </a:lnTo>
                </a:path>
                <a:path w="1609089" h="1459229">
                  <a:moveTo>
                    <a:pt x="1465524" y="137159"/>
                  </a:moveTo>
                  <a:lnTo>
                    <a:pt x="1465524" y="1183766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840263" y="8308843"/>
              <a:ext cx="1322070" cy="0"/>
            </a:xfrm>
            <a:custGeom>
              <a:avLst/>
              <a:gdLst/>
              <a:ahLst/>
              <a:cxnLst/>
              <a:rect l="l" t="t" r="r" b="b"/>
              <a:pathLst>
                <a:path w="1322070" h="0">
                  <a:moveTo>
                    <a:pt x="0" y="0"/>
                  </a:moveTo>
                  <a:lnTo>
                    <a:pt x="1321612" y="0"/>
                  </a:lnTo>
                </a:path>
              </a:pathLst>
            </a:custGeom>
            <a:ln w="50674">
              <a:solidFill>
                <a:srgbClr val="E84A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696352" y="7125076"/>
              <a:ext cx="0" cy="1047115"/>
            </a:xfrm>
            <a:custGeom>
              <a:avLst/>
              <a:gdLst/>
              <a:ahLst/>
              <a:cxnLst/>
              <a:rect l="l" t="t" r="r" b="b"/>
              <a:pathLst>
                <a:path w="0" h="1047115">
                  <a:moveTo>
                    <a:pt x="0" y="0"/>
                  </a:moveTo>
                  <a:lnTo>
                    <a:pt x="0" y="1046606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/>
          <p:cNvSpPr txBox="1"/>
          <p:nvPr/>
        </p:nvSpPr>
        <p:spPr>
          <a:xfrm>
            <a:off x="2644329" y="6856979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3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641626" y="8177905"/>
            <a:ext cx="97155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3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276065" y="8202229"/>
            <a:ext cx="5969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3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244309" y="6881976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3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930784" y="7492776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300">
              <a:latin typeface="Arial"/>
              <a:cs typeface="Arial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3386206" y="7511546"/>
            <a:ext cx="287655" cy="274320"/>
          </a:xfrm>
          <a:custGeom>
            <a:avLst/>
            <a:gdLst/>
            <a:ahLst/>
            <a:cxnLst/>
            <a:rect l="l" t="t" r="r" b="b"/>
            <a:pathLst>
              <a:path w="287654" h="274320">
                <a:moveTo>
                  <a:pt x="0" y="137159"/>
                </a:moveTo>
                <a:lnTo>
                  <a:pt x="12161" y="81762"/>
                </a:lnTo>
                <a:lnTo>
                  <a:pt x="45278" y="36484"/>
                </a:lnTo>
                <a:lnTo>
                  <a:pt x="77022" y="14874"/>
                </a:lnTo>
                <a:lnTo>
                  <a:pt x="114193" y="2712"/>
                </a:lnTo>
                <a:lnTo>
                  <a:pt x="133776" y="0"/>
                </a:lnTo>
                <a:lnTo>
                  <a:pt x="153375" y="0"/>
                </a:lnTo>
                <a:lnTo>
                  <a:pt x="191886" y="7437"/>
                </a:lnTo>
                <a:lnTo>
                  <a:pt x="226344" y="25008"/>
                </a:lnTo>
                <a:lnTo>
                  <a:pt x="255407" y="50002"/>
                </a:lnTo>
                <a:lnTo>
                  <a:pt x="281757" y="100004"/>
                </a:lnTo>
                <a:lnTo>
                  <a:pt x="287152" y="137159"/>
                </a:lnTo>
                <a:lnTo>
                  <a:pt x="285810" y="155402"/>
                </a:lnTo>
                <a:lnTo>
                  <a:pt x="266212" y="208787"/>
                </a:lnTo>
                <a:lnTo>
                  <a:pt x="226344" y="249996"/>
                </a:lnTo>
                <a:lnTo>
                  <a:pt x="191886" y="266898"/>
                </a:lnTo>
                <a:lnTo>
                  <a:pt x="153375" y="274319"/>
                </a:lnTo>
                <a:lnTo>
                  <a:pt x="133776" y="274319"/>
                </a:lnTo>
                <a:lnTo>
                  <a:pt x="95265" y="266898"/>
                </a:lnTo>
                <a:lnTo>
                  <a:pt x="60807" y="249996"/>
                </a:lnTo>
                <a:lnTo>
                  <a:pt x="31760" y="224332"/>
                </a:lnTo>
                <a:lnTo>
                  <a:pt x="5410" y="174330"/>
                </a:lnTo>
                <a:lnTo>
                  <a:pt x="0" y="137159"/>
                </a:lnTo>
              </a:path>
            </a:pathLst>
          </a:custGeom>
          <a:ln w="16891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 txBox="1"/>
          <p:nvPr/>
        </p:nvSpPr>
        <p:spPr>
          <a:xfrm>
            <a:off x="3476750" y="7517772"/>
            <a:ext cx="1066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300">
              <a:latin typeface="Arial"/>
              <a:cs typeface="Arial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2061504" y="6475966"/>
            <a:ext cx="3919854" cy="1836420"/>
            <a:chOff x="2061504" y="6475966"/>
            <a:chExt cx="3919854" cy="1836420"/>
          </a:xfrm>
        </p:grpSpPr>
        <p:sp>
          <p:nvSpPr>
            <p:cNvPr id="55" name="object 55"/>
            <p:cNvSpPr/>
            <p:nvPr/>
          </p:nvSpPr>
          <p:spPr>
            <a:xfrm>
              <a:off x="2095682" y="7064268"/>
              <a:ext cx="481965" cy="476884"/>
            </a:xfrm>
            <a:custGeom>
              <a:avLst/>
              <a:gdLst/>
              <a:ahLst/>
              <a:cxnLst/>
              <a:rect l="l" t="t" r="r" b="b"/>
              <a:pathLst>
                <a:path w="481964" h="476884">
                  <a:moveTo>
                    <a:pt x="0" y="476341"/>
                  </a:moveTo>
                  <a:lnTo>
                    <a:pt x="481751" y="0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086904" y="7753436"/>
              <a:ext cx="2814320" cy="477520"/>
            </a:xfrm>
            <a:custGeom>
              <a:avLst/>
              <a:gdLst/>
              <a:ahLst/>
              <a:cxnLst/>
              <a:rect l="l" t="t" r="r" b="b"/>
              <a:pathLst>
                <a:path w="2814320" h="477520">
                  <a:moveTo>
                    <a:pt x="0" y="10134"/>
                  </a:moveTo>
                  <a:lnTo>
                    <a:pt x="491886" y="477027"/>
                  </a:lnTo>
                </a:path>
                <a:path w="2814320" h="477520">
                  <a:moveTo>
                    <a:pt x="2324282" y="462838"/>
                  </a:moveTo>
                  <a:lnTo>
                    <a:pt x="2814142" y="0"/>
                  </a:lnTo>
                </a:path>
              </a:pathLst>
            </a:custGeom>
            <a:ln w="50674">
              <a:solidFill>
                <a:srgbClr val="E84A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798383" y="6484538"/>
              <a:ext cx="3174365" cy="1819275"/>
            </a:xfrm>
            <a:custGeom>
              <a:avLst/>
              <a:gdLst/>
              <a:ahLst/>
              <a:cxnLst/>
              <a:rect l="l" t="t" r="r" b="b"/>
              <a:pathLst>
                <a:path w="3174365" h="1819275">
                  <a:moveTo>
                    <a:pt x="1620911" y="587151"/>
                  </a:moveTo>
                  <a:lnTo>
                    <a:pt x="2108743" y="1055385"/>
                  </a:lnTo>
                </a:path>
                <a:path w="3174365" h="1819275">
                  <a:moveTo>
                    <a:pt x="0" y="600669"/>
                  </a:moveTo>
                  <a:lnTo>
                    <a:pt x="617555" y="1079037"/>
                  </a:lnTo>
                </a:path>
                <a:path w="3174365" h="1819275">
                  <a:moveTo>
                    <a:pt x="840516" y="1254038"/>
                  </a:moveTo>
                  <a:lnTo>
                    <a:pt x="1414165" y="1719574"/>
                  </a:lnTo>
                </a:path>
                <a:path w="3174365" h="1819275">
                  <a:moveTo>
                    <a:pt x="840516" y="1074313"/>
                  </a:moveTo>
                  <a:lnTo>
                    <a:pt x="1400647" y="595944"/>
                  </a:lnTo>
                </a:path>
                <a:path w="3174365" h="1819275">
                  <a:moveTo>
                    <a:pt x="615528" y="1245260"/>
                  </a:moveTo>
                  <a:lnTo>
                    <a:pt x="0" y="1727682"/>
                  </a:lnTo>
                </a:path>
                <a:path w="3174365" h="1819275">
                  <a:moveTo>
                    <a:pt x="2713466" y="0"/>
                  </a:moveTo>
                  <a:lnTo>
                    <a:pt x="2713466" y="1818893"/>
                  </a:lnTo>
                </a:path>
                <a:path w="3174365" h="1819275">
                  <a:moveTo>
                    <a:pt x="3174263" y="0"/>
                  </a:moveTo>
                  <a:lnTo>
                    <a:pt x="3174263" y="1818893"/>
                  </a:lnTo>
                </a:path>
                <a:path w="3174365" h="1819275">
                  <a:moveTo>
                    <a:pt x="2713466" y="1818893"/>
                  </a:moveTo>
                  <a:lnTo>
                    <a:pt x="3168182" y="1818893"/>
                  </a:lnTo>
                </a:path>
              </a:pathLst>
            </a:custGeom>
            <a:ln w="168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/>
          <p:cNvSpPr txBox="1"/>
          <p:nvPr/>
        </p:nvSpPr>
        <p:spPr>
          <a:xfrm>
            <a:off x="1945689" y="7224537"/>
            <a:ext cx="116205" cy="521334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484"/>
              </a:spcBef>
            </a:pPr>
            <a:r>
              <a:rPr dirty="0" sz="1300" spc="1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300">
              <a:latin typeface="Arial"/>
              <a:cs typeface="Arial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4698354" y="7150069"/>
            <a:ext cx="224154" cy="1029969"/>
            <a:chOff x="4698354" y="7150069"/>
            <a:chExt cx="224154" cy="1029969"/>
          </a:xfrm>
        </p:grpSpPr>
        <p:pic>
          <p:nvPicPr>
            <p:cNvPr id="60" name="object 6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98354" y="8020334"/>
              <a:ext cx="159456" cy="159456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62530" y="7150069"/>
              <a:ext cx="159456" cy="159456"/>
            </a:xfrm>
            <a:prstGeom prst="rect">
              <a:avLst/>
            </a:prstGeom>
          </p:spPr>
        </p:pic>
      </p:grpSp>
      <p:sp>
        <p:nvSpPr>
          <p:cNvPr id="62" name="object 62"/>
          <p:cNvSpPr txBox="1"/>
          <p:nvPr/>
        </p:nvSpPr>
        <p:spPr>
          <a:xfrm>
            <a:off x="5530771" y="6521173"/>
            <a:ext cx="407034" cy="20129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6985">
              <a:lnSpc>
                <a:spcPct val="100000"/>
              </a:lnSpc>
              <a:spcBef>
                <a:spcPts val="130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(g,e)</a:t>
            </a:r>
            <a:endParaRPr sz="1300">
              <a:latin typeface="Arial"/>
              <a:cs typeface="Arial"/>
            </a:endParaRPr>
          </a:p>
          <a:p>
            <a:pPr marL="27305">
              <a:lnSpc>
                <a:spcPct val="100000"/>
              </a:lnSpc>
              <a:spcBef>
                <a:spcPts val="30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(g,f)</a:t>
            </a:r>
            <a:endParaRPr sz="1300">
              <a:latin typeface="Arial"/>
              <a:cs typeface="Arial"/>
            </a:endParaRPr>
          </a:p>
          <a:p>
            <a:pPr marL="36195">
              <a:lnSpc>
                <a:spcPts val="1550"/>
              </a:lnSpc>
              <a:spcBef>
                <a:spcPts val="110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(f,c)</a:t>
            </a:r>
            <a:endParaRPr sz="1300">
              <a:latin typeface="Arial"/>
              <a:cs typeface="Arial"/>
            </a:endParaRPr>
          </a:p>
          <a:p>
            <a:pPr marL="27305">
              <a:lnSpc>
                <a:spcPts val="155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(f,d)</a:t>
            </a:r>
            <a:endParaRPr sz="1300">
              <a:latin typeface="Arial"/>
              <a:cs typeface="Arial"/>
            </a:endParaRPr>
          </a:p>
          <a:p>
            <a:pPr marL="29845">
              <a:lnSpc>
                <a:spcPts val="1555"/>
              </a:lnSpc>
              <a:spcBef>
                <a:spcPts val="35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(f,e)</a:t>
            </a:r>
            <a:endParaRPr sz="1300">
              <a:latin typeface="Arial"/>
              <a:cs typeface="Arial"/>
            </a:endParaRPr>
          </a:p>
          <a:p>
            <a:pPr marL="15240">
              <a:lnSpc>
                <a:spcPts val="1515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(c,a)</a:t>
            </a:r>
            <a:endParaRPr sz="1300">
              <a:latin typeface="Arial"/>
              <a:cs typeface="Arial"/>
            </a:endParaRPr>
          </a:p>
          <a:p>
            <a:pPr marL="13335">
              <a:lnSpc>
                <a:spcPts val="148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(c,d)</a:t>
            </a:r>
            <a:endParaRPr sz="1300">
              <a:latin typeface="Arial"/>
              <a:cs typeface="Arial"/>
            </a:endParaRPr>
          </a:p>
          <a:p>
            <a:pPr marL="13335">
              <a:lnSpc>
                <a:spcPts val="148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(c,b)</a:t>
            </a:r>
            <a:endParaRPr sz="1300">
              <a:latin typeface="Arial"/>
              <a:cs typeface="Arial"/>
            </a:endParaRPr>
          </a:p>
          <a:p>
            <a:pPr marL="6350">
              <a:lnSpc>
                <a:spcPts val="152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(a,b)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300" spc="10" i="1">
                <a:solidFill>
                  <a:srgbClr val="FFFF00"/>
                </a:solidFill>
                <a:latin typeface="Arial"/>
                <a:cs typeface="Arial"/>
              </a:rPr>
              <a:t>stack</a:t>
            </a:r>
            <a:endParaRPr sz="13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400629" y="8742743"/>
            <a:ext cx="3428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8.16: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‘g’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popped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764664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8.1.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 spc="-25">
                <a:latin typeface="Times New Roman"/>
                <a:cs typeface="Times New Roman"/>
              </a:rPr>
              <a:t> TRAVERSAL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12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90700" y="939541"/>
            <a:ext cx="4648200" cy="2861310"/>
            <a:chOff x="1790700" y="939541"/>
            <a:chExt cx="4648200" cy="2861310"/>
          </a:xfrm>
        </p:grpSpPr>
        <p:sp>
          <p:nvSpPr>
            <p:cNvPr id="5" name="object 5"/>
            <p:cNvSpPr/>
            <p:nvPr/>
          </p:nvSpPr>
          <p:spPr>
            <a:xfrm>
              <a:off x="1790700" y="939541"/>
              <a:ext cx="4648200" cy="2861310"/>
            </a:xfrm>
            <a:custGeom>
              <a:avLst/>
              <a:gdLst/>
              <a:ahLst/>
              <a:cxnLst/>
              <a:rect l="l" t="t" r="r" b="b"/>
              <a:pathLst>
                <a:path w="4648200" h="2861310">
                  <a:moveTo>
                    <a:pt x="4648001" y="0"/>
                  </a:moveTo>
                  <a:lnTo>
                    <a:pt x="0" y="0"/>
                  </a:lnTo>
                  <a:lnTo>
                    <a:pt x="0" y="2860807"/>
                  </a:lnTo>
                  <a:lnTo>
                    <a:pt x="4648001" y="2860807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855448" y="2007788"/>
              <a:ext cx="288290" cy="274955"/>
            </a:xfrm>
            <a:custGeom>
              <a:avLst/>
              <a:gdLst/>
              <a:ahLst/>
              <a:cxnLst/>
              <a:rect l="l" t="t" r="r" b="b"/>
              <a:pathLst>
                <a:path w="288289" h="274955">
                  <a:moveTo>
                    <a:pt x="153573" y="0"/>
                  </a:moveTo>
                  <a:lnTo>
                    <a:pt x="133944" y="0"/>
                  </a:lnTo>
                  <a:lnTo>
                    <a:pt x="115001" y="2026"/>
                  </a:lnTo>
                  <a:lnTo>
                    <a:pt x="77800" y="14874"/>
                  </a:lnTo>
                  <a:lnTo>
                    <a:pt x="46009" y="36530"/>
                  </a:lnTo>
                  <a:lnTo>
                    <a:pt x="20970" y="65608"/>
                  </a:lnTo>
                  <a:lnTo>
                    <a:pt x="1356" y="118384"/>
                  </a:lnTo>
                  <a:lnTo>
                    <a:pt x="0" y="136641"/>
                  </a:lnTo>
                  <a:lnTo>
                    <a:pt x="1356" y="155585"/>
                  </a:lnTo>
                  <a:lnTo>
                    <a:pt x="20970" y="208361"/>
                  </a:lnTo>
                  <a:lnTo>
                    <a:pt x="46009" y="238124"/>
                  </a:lnTo>
                  <a:lnTo>
                    <a:pt x="77800" y="259765"/>
                  </a:lnTo>
                  <a:lnTo>
                    <a:pt x="115001" y="271942"/>
                  </a:lnTo>
                  <a:lnTo>
                    <a:pt x="133944" y="274655"/>
                  </a:lnTo>
                  <a:lnTo>
                    <a:pt x="153573" y="274655"/>
                  </a:lnTo>
                  <a:lnTo>
                    <a:pt x="192130" y="267218"/>
                  </a:lnTo>
                  <a:lnTo>
                    <a:pt x="226634" y="249615"/>
                  </a:lnTo>
                  <a:lnTo>
                    <a:pt x="255711" y="223921"/>
                  </a:lnTo>
                  <a:lnTo>
                    <a:pt x="282778" y="173857"/>
                  </a:lnTo>
                  <a:lnTo>
                    <a:pt x="288188" y="136641"/>
                  </a:lnTo>
                  <a:lnTo>
                    <a:pt x="286832" y="118384"/>
                  </a:lnTo>
                  <a:lnTo>
                    <a:pt x="267218" y="65608"/>
                  </a:lnTo>
                  <a:lnTo>
                    <a:pt x="242194" y="36530"/>
                  </a:lnTo>
                  <a:lnTo>
                    <a:pt x="209717" y="14874"/>
                  </a:lnTo>
                  <a:lnTo>
                    <a:pt x="173187" y="2026"/>
                  </a:lnTo>
                  <a:lnTo>
                    <a:pt x="153573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855448" y="2007788"/>
              <a:ext cx="288290" cy="274955"/>
            </a:xfrm>
            <a:custGeom>
              <a:avLst/>
              <a:gdLst/>
              <a:ahLst/>
              <a:cxnLst/>
              <a:rect l="l" t="t" r="r" b="b"/>
              <a:pathLst>
                <a:path w="288289" h="274955">
                  <a:moveTo>
                    <a:pt x="0" y="136641"/>
                  </a:moveTo>
                  <a:lnTo>
                    <a:pt x="12176" y="82524"/>
                  </a:lnTo>
                  <a:lnTo>
                    <a:pt x="32476" y="50048"/>
                  </a:lnTo>
                  <a:lnTo>
                    <a:pt x="60883" y="24353"/>
                  </a:lnTo>
                  <a:lnTo>
                    <a:pt x="96072" y="7437"/>
                  </a:lnTo>
                  <a:lnTo>
                    <a:pt x="133944" y="0"/>
                  </a:lnTo>
                  <a:lnTo>
                    <a:pt x="153573" y="0"/>
                  </a:lnTo>
                  <a:lnTo>
                    <a:pt x="192130" y="7437"/>
                  </a:lnTo>
                  <a:lnTo>
                    <a:pt x="226634" y="24353"/>
                  </a:lnTo>
                  <a:lnTo>
                    <a:pt x="255711" y="50048"/>
                  </a:lnTo>
                  <a:lnTo>
                    <a:pt x="276011" y="82524"/>
                  </a:lnTo>
                  <a:lnTo>
                    <a:pt x="288188" y="136641"/>
                  </a:lnTo>
                  <a:lnTo>
                    <a:pt x="286832" y="155585"/>
                  </a:lnTo>
                  <a:lnTo>
                    <a:pt x="267218" y="208361"/>
                  </a:lnTo>
                  <a:lnTo>
                    <a:pt x="242194" y="238124"/>
                  </a:lnTo>
                  <a:lnTo>
                    <a:pt x="209717" y="259765"/>
                  </a:lnTo>
                  <a:lnTo>
                    <a:pt x="173187" y="271942"/>
                  </a:lnTo>
                  <a:lnTo>
                    <a:pt x="153573" y="274655"/>
                  </a:lnTo>
                  <a:lnTo>
                    <a:pt x="133944" y="274655"/>
                  </a:lnTo>
                  <a:lnTo>
                    <a:pt x="96072" y="267218"/>
                  </a:lnTo>
                  <a:lnTo>
                    <a:pt x="60883" y="249615"/>
                  </a:lnTo>
                  <a:lnTo>
                    <a:pt x="32476" y="223921"/>
                  </a:lnTo>
                  <a:lnTo>
                    <a:pt x="5410" y="173857"/>
                  </a:lnTo>
                  <a:lnTo>
                    <a:pt x="0" y="136641"/>
                  </a:lnTo>
                </a:path>
              </a:pathLst>
            </a:custGeom>
            <a:ln w="169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863973" y="2007788"/>
              <a:ext cx="287655" cy="274955"/>
            </a:xfrm>
            <a:custGeom>
              <a:avLst/>
              <a:gdLst/>
              <a:ahLst/>
              <a:cxnLst/>
              <a:rect l="l" t="t" r="r" b="b"/>
              <a:pathLst>
                <a:path w="287655" h="274955">
                  <a:moveTo>
                    <a:pt x="153573" y="0"/>
                  </a:moveTo>
                  <a:lnTo>
                    <a:pt x="133944" y="0"/>
                  </a:lnTo>
                  <a:lnTo>
                    <a:pt x="114330" y="2026"/>
                  </a:lnTo>
                  <a:lnTo>
                    <a:pt x="77800" y="14874"/>
                  </a:lnTo>
                  <a:lnTo>
                    <a:pt x="46009" y="36530"/>
                  </a:lnTo>
                  <a:lnTo>
                    <a:pt x="20970" y="65608"/>
                  </a:lnTo>
                  <a:lnTo>
                    <a:pt x="1356" y="118384"/>
                  </a:lnTo>
                  <a:lnTo>
                    <a:pt x="0" y="136641"/>
                  </a:lnTo>
                  <a:lnTo>
                    <a:pt x="1356" y="155585"/>
                  </a:lnTo>
                  <a:lnTo>
                    <a:pt x="20970" y="208361"/>
                  </a:lnTo>
                  <a:lnTo>
                    <a:pt x="46009" y="238124"/>
                  </a:lnTo>
                  <a:lnTo>
                    <a:pt x="77800" y="259765"/>
                  </a:lnTo>
                  <a:lnTo>
                    <a:pt x="114330" y="271942"/>
                  </a:lnTo>
                  <a:lnTo>
                    <a:pt x="133944" y="274655"/>
                  </a:lnTo>
                  <a:lnTo>
                    <a:pt x="153573" y="274655"/>
                  </a:lnTo>
                  <a:lnTo>
                    <a:pt x="192130" y="267218"/>
                  </a:lnTo>
                  <a:lnTo>
                    <a:pt x="226634" y="249615"/>
                  </a:lnTo>
                  <a:lnTo>
                    <a:pt x="255727" y="223921"/>
                  </a:lnTo>
                  <a:lnTo>
                    <a:pt x="282107" y="173857"/>
                  </a:lnTo>
                  <a:lnTo>
                    <a:pt x="287517" y="136641"/>
                  </a:lnTo>
                  <a:lnTo>
                    <a:pt x="286161" y="118384"/>
                  </a:lnTo>
                  <a:lnTo>
                    <a:pt x="266547" y="65608"/>
                  </a:lnTo>
                  <a:lnTo>
                    <a:pt x="226634" y="24353"/>
                  </a:lnTo>
                  <a:lnTo>
                    <a:pt x="192130" y="7437"/>
                  </a:lnTo>
                  <a:lnTo>
                    <a:pt x="153573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863973" y="2007788"/>
              <a:ext cx="287655" cy="274955"/>
            </a:xfrm>
            <a:custGeom>
              <a:avLst/>
              <a:gdLst/>
              <a:ahLst/>
              <a:cxnLst/>
              <a:rect l="l" t="t" r="r" b="b"/>
              <a:pathLst>
                <a:path w="287655" h="274955">
                  <a:moveTo>
                    <a:pt x="0" y="136641"/>
                  </a:moveTo>
                  <a:lnTo>
                    <a:pt x="12176" y="82524"/>
                  </a:lnTo>
                  <a:lnTo>
                    <a:pt x="32476" y="50048"/>
                  </a:lnTo>
                  <a:lnTo>
                    <a:pt x="60883" y="24353"/>
                  </a:lnTo>
                  <a:lnTo>
                    <a:pt x="95387" y="7437"/>
                  </a:lnTo>
                  <a:lnTo>
                    <a:pt x="133944" y="0"/>
                  </a:lnTo>
                  <a:lnTo>
                    <a:pt x="153573" y="0"/>
                  </a:lnTo>
                  <a:lnTo>
                    <a:pt x="192130" y="7437"/>
                  </a:lnTo>
                  <a:lnTo>
                    <a:pt x="226634" y="24353"/>
                  </a:lnTo>
                  <a:lnTo>
                    <a:pt x="255727" y="50048"/>
                  </a:lnTo>
                  <a:lnTo>
                    <a:pt x="276011" y="82524"/>
                  </a:lnTo>
                  <a:lnTo>
                    <a:pt x="287517" y="136641"/>
                  </a:lnTo>
                  <a:lnTo>
                    <a:pt x="286161" y="155585"/>
                  </a:lnTo>
                  <a:lnTo>
                    <a:pt x="266547" y="208361"/>
                  </a:lnTo>
                  <a:lnTo>
                    <a:pt x="242194" y="238124"/>
                  </a:lnTo>
                  <a:lnTo>
                    <a:pt x="209717" y="259765"/>
                  </a:lnTo>
                  <a:lnTo>
                    <a:pt x="173187" y="271942"/>
                  </a:lnTo>
                  <a:lnTo>
                    <a:pt x="153573" y="274655"/>
                  </a:lnTo>
                  <a:lnTo>
                    <a:pt x="133944" y="274655"/>
                  </a:lnTo>
                  <a:lnTo>
                    <a:pt x="95387" y="267218"/>
                  </a:lnTo>
                  <a:lnTo>
                    <a:pt x="60883" y="249615"/>
                  </a:lnTo>
                  <a:lnTo>
                    <a:pt x="32476" y="223921"/>
                  </a:lnTo>
                  <a:lnTo>
                    <a:pt x="5410" y="173857"/>
                  </a:lnTo>
                  <a:lnTo>
                    <a:pt x="0" y="136641"/>
                  </a:lnTo>
                </a:path>
              </a:pathLst>
            </a:custGeom>
            <a:ln w="169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554010" y="1346174"/>
              <a:ext cx="288290" cy="274955"/>
            </a:xfrm>
            <a:custGeom>
              <a:avLst/>
              <a:gdLst/>
              <a:ahLst/>
              <a:cxnLst/>
              <a:rect l="l" t="t" r="r" b="b"/>
              <a:pathLst>
                <a:path w="288289" h="274955">
                  <a:moveTo>
                    <a:pt x="0" y="137327"/>
                  </a:moveTo>
                  <a:lnTo>
                    <a:pt x="12176" y="82524"/>
                  </a:lnTo>
                  <a:lnTo>
                    <a:pt x="32461" y="50048"/>
                  </a:lnTo>
                  <a:lnTo>
                    <a:pt x="61554" y="24353"/>
                  </a:lnTo>
                  <a:lnTo>
                    <a:pt x="96057" y="7437"/>
                  </a:lnTo>
                  <a:lnTo>
                    <a:pt x="134614" y="0"/>
                  </a:lnTo>
                  <a:lnTo>
                    <a:pt x="154228" y="0"/>
                  </a:lnTo>
                  <a:lnTo>
                    <a:pt x="192115" y="7437"/>
                  </a:lnTo>
                  <a:lnTo>
                    <a:pt x="226618" y="24353"/>
                  </a:lnTo>
                  <a:lnTo>
                    <a:pt x="255711" y="50048"/>
                  </a:lnTo>
                  <a:lnTo>
                    <a:pt x="276011" y="82524"/>
                  </a:lnTo>
                  <a:lnTo>
                    <a:pt x="288188" y="137327"/>
                  </a:lnTo>
                  <a:lnTo>
                    <a:pt x="286832" y="156270"/>
                  </a:lnTo>
                  <a:lnTo>
                    <a:pt x="267218" y="209031"/>
                  </a:lnTo>
                  <a:lnTo>
                    <a:pt x="242178" y="238124"/>
                  </a:lnTo>
                  <a:lnTo>
                    <a:pt x="210388" y="259765"/>
                  </a:lnTo>
                  <a:lnTo>
                    <a:pt x="173172" y="271942"/>
                  </a:lnTo>
                  <a:lnTo>
                    <a:pt x="154228" y="274655"/>
                  </a:lnTo>
                  <a:lnTo>
                    <a:pt x="134614" y="274655"/>
                  </a:lnTo>
                  <a:lnTo>
                    <a:pt x="96057" y="266532"/>
                  </a:lnTo>
                  <a:lnTo>
                    <a:pt x="61554" y="250301"/>
                  </a:lnTo>
                  <a:lnTo>
                    <a:pt x="32461" y="224591"/>
                  </a:lnTo>
                  <a:lnTo>
                    <a:pt x="12176" y="192115"/>
                  </a:lnTo>
                  <a:lnTo>
                    <a:pt x="0" y="137327"/>
                  </a:lnTo>
                </a:path>
              </a:pathLst>
            </a:custGeom>
            <a:ln w="169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165427" y="1346174"/>
              <a:ext cx="287655" cy="274955"/>
            </a:xfrm>
            <a:custGeom>
              <a:avLst/>
              <a:gdLst/>
              <a:ahLst/>
              <a:cxnLst/>
              <a:rect l="l" t="t" r="r" b="b"/>
              <a:pathLst>
                <a:path w="287654" h="274955">
                  <a:moveTo>
                    <a:pt x="153558" y="0"/>
                  </a:moveTo>
                  <a:lnTo>
                    <a:pt x="133944" y="0"/>
                  </a:lnTo>
                  <a:lnTo>
                    <a:pt x="114330" y="2697"/>
                  </a:lnTo>
                  <a:lnTo>
                    <a:pt x="77114" y="14874"/>
                  </a:lnTo>
                  <a:lnTo>
                    <a:pt x="32461" y="50048"/>
                  </a:lnTo>
                  <a:lnTo>
                    <a:pt x="12176" y="82524"/>
                  </a:lnTo>
                  <a:lnTo>
                    <a:pt x="0" y="137327"/>
                  </a:lnTo>
                  <a:lnTo>
                    <a:pt x="1356" y="156270"/>
                  </a:lnTo>
                  <a:lnTo>
                    <a:pt x="20970" y="209031"/>
                  </a:lnTo>
                  <a:lnTo>
                    <a:pt x="45994" y="238124"/>
                  </a:lnTo>
                  <a:lnTo>
                    <a:pt x="95387" y="266532"/>
                  </a:lnTo>
                  <a:lnTo>
                    <a:pt x="133944" y="274655"/>
                  </a:lnTo>
                  <a:lnTo>
                    <a:pt x="153558" y="274655"/>
                  </a:lnTo>
                  <a:lnTo>
                    <a:pt x="191444" y="266532"/>
                  </a:lnTo>
                  <a:lnTo>
                    <a:pt x="226618" y="250301"/>
                  </a:lnTo>
                  <a:lnTo>
                    <a:pt x="255041" y="224591"/>
                  </a:lnTo>
                  <a:lnTo>
                    <a:pt x="276011" y="192115"/>
                  </a:lnTo>
                  <a:lnTo>
                    <a:pt x="287502" y="137327"/>
                  </a:lnTo>
                  <a:lnTo>
                    <a:pt x="286161" y="118384"/>
                  </a:lnTo>
                  <a:lnTo>
                    <a:pt x="266532" y="65608"/>
                  </a:lnTo>
                  <a:lnTo>
                    <a:pt x="226618" y="24353"/>
                  </a:lnTo>
                  <a:lnTo>
                    <a:pt x="191444" y="7437"/>
                  </a:lnTo>
                  <a:lnTo>
                    <a:pt x="153558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165427" y="1346174"/>
              <a:ext cx="287655" cy="274955"/>
            </a:xfrm>
            <a:custGeom>
              <a:avLst/>
              <a:gdLst/>
              <a:ahLst/>
              <a:cxnLst/>
              <a:rect l="l" t="t" r="r" b="b"/>
              <a:pathLst>
                <a:path w="287654" h="274955">
                  <a:moveTo>
                    <a:pt x="0" y="137327"/>
                  </a:moveTo>
                  <a:lnTo>
                    <a:pt x="12176" y="82524"/>
                  </a:lnTo>
                  <a:lnTo>
                    <a:pt x="32461" y="50048"/>
                  </a:lnTo>
                  <a:lnTo>
                    <a:pt x="60883" y="24353"/>
                  </a:lnTo>
                  <a:lnTo>
                    <a:pt x="95387" y="7437"/>
                  </a:lnTo>
                  <a:lnTo>
                    <a:pt x="133944" y="0"/>
                  </a:lnTo>
                  <a:lnTo>
                    <a:pt x="153558" y="0"/>
                  </a:lnTo>
                  <a:lnTo>
                    <a:pt x="191444" y="7437"/>
                  </a:lnTo>
                  <a:lnTo>
                    <a:pt x="226618" y="24353"/>
                  </a:lnTo>
                  <a:lnTo>
                    <a:pt x="255041" y="50048"/>
                  </a:lnTo>
                  <a:lnTo>
                    <a:pt x="276011" y="82524"/>
                  </a:lnTo>
                  <a:lnTo>
                    <a:pt x="287502" y="137327"/>
                  </a:lnTo>
                  <a:lnTo>
                    <a:pt x="286161" y="156270"/>
                  </a:lnTo>
                  <a:lnTo>
                    <a:pt x="266532" y="209031"/>
                  </a:lnTo>
                  <a:lnTo>
                    <a:pt x="226618" y="250301"/>
                  </a:lnTo>
                  <a:lnTo>
                    <a:pt x="191444" y="266532"/>
                  </a:lnTo>
                  <a:lnTo>
                    <a:pt x="153558" y="274655"/>
                  </a:lnTo>
                  <a:lnTo>
                    <a:pt x="133944" y="274655"/>
                  </a:lnTo>
                  <a:lnTo>
                    <a:pt x="95387" y="266532"/>
                  </a:lnTo>
                  <a:lnTo>
                    <a:pt x="60883" y="250301"/>
                  </a:lnTo>
                  <a:lnTo>
                    <a:pt x="32461" y="224591"/>
                  </a:lnTo>
                  <a:lnTo>
                    <a:pt x="12176" y="192115"/>
                  </a:lnTo>
                  <a:lnTo>
                    <a:pt x="0" y="137327"/>
                  </a:lnTo>
                </a:path>
              </a:pathLst>
            </a:custGeom>
            <a:ln w="169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554010" y="2668717"/>
              <a:ext cx="288290" cy="275590"/>
            </a:xfrm>
            <a:custGeom>
              <a:avLst/>
              <a:gdLst/>
              <a:ahLst/>
              <a:cxnLst/>
              <a:rect l="l" t="t" r="r" b="b"/>
              <a:pathLst>
                <a:path w="288289" h="275589">
                  <a:moveTo>
                    <a:pt x="154228" y="0"/>
                  </a:moveTo>
                  <a:lnTo>
                    <a:pt x="134614" y="0"/>
                  </a:lnTo>
                  <a:lnTo>
                    <a:pt x="115001" y="2712"/>
                  </a:lnTo>
                  <a:lnTo>
                    <a:pt x="77784" y="14889"/>
                  </a:lnTo>
                  <a:lnTo>
                    <a:pt x="45994" y="36530"/>
                  </a:lnTo>
                  <a:lnTo>
                    <a:pt x="20970" y="66309"/>
                  </a:lnTo>
                  <a:lnTo>
                    <a:pt x="1341" y="119070"/>
                  </a:lnTo>
                  <a:lnTo>
                    <a:pt x="0" y="138013"/>
                  </a:lnTo>
                  <a:lnTo>
                    <a:pt x="1341" y="156956"/>
                  </a:lnTo>
                  <a:lnTo>
                    <a:pt x="20970" y="209047"/>
                  </a:lnTo>
                  <a:lnTo>
                    <a:pt x="45994" y="238124"/>
                  </a:lnTo>
                  <a:lnTo>
                    <a:pt x="77784" y="259781"/>
                  </a:lnTo>
                  <a:lnTo>
                    <a:pt x="115001" y="272628"/>
                  </a:lnTo>
                  <a:lnTo>
                    <a:pt x="134614" y="275341"/>
                  </a:lnTo>
                  <a:lnTo>
                    <a:pt x="154228" y="275341"/>
                  </a:lnTo>
                  <a:lnTo>
                    <a:pt x="192115" y="267218"/>
                  </a:lnTo>
                  <a:lnTo>
                    <a:pt x="226618" y="250316"/>
                  </a:lnTo>
                  <a:lnTo>
                    <a:pt x="255711" y="224607"/>
                  </a:lnTo>
                  <a:lnTo>
                    <a:pt x="282778" y="175214"/>
                  </a:lnTo>
                  <a:lnTo>
                    <a:pt x="288188" y="138013"/>
                  </a:lnTo>
                  <a:lnTo>
                    <a:pt x="286832" y="119070"/>
                  </a:lnTo>
                  <a:lnTo>
                    <a:pt x="267218" y="66309"/>
                  </a:lnTo>
                  <a:lnTo>
                    <a:pt x="242178" y="36530"/>
                  </a:lnTo>
                  <a:lnTo>
                    <a:pt x="210388" y="14889"/>
                  </a:lnTo>
                  <a:lnTo>
                    <a:pt x="173172" y="2712"/>
                  </a:lnTo>
                  <a:lnTo>
                    <a:pt x="154228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554010" y="2668717"/>
              <a:ext cx="288290" cy="275590"/>
            </a:xfrm>
            <a:custGeom>
              <a:avLst/>
              <a:gdLst/>
              <a:ahLst/>
              <a:cxnLst/>
              <a:rect l="l" t="t" r="r" b="b"/>
              <a:pathLst>
                <a:path w="288289" h="275589">
                  <a:moveTo>
                    <a:pt x="0" y="138013"/>
                  </a:moveTo>
                  <a:lnTo>
                    <a:pt x="12176" y="82539"/>
                  </a:lnTo>
                  <a:lnTo>
                    <a:pt x="45994" y="36530"/>
                  </a:lnTo>
                  <a:lnTo>
                    <a:pt x="77784" y="14889"/>
                  </a:lnTo>
                  <a:lnTo>
                    <a:pt x="115001" y="2712"/>
                  </a:lnTo>
                  <a:lnTo>
                    <a:pt x="134614" y="0"/>
                  </a:lnTo>
                  <a:lnTo>
                    <a:pt x="154228" y="0"/>
                  </a:lnTo>
                  <a:lnTo>
                    <a:pt x="192115" y="7452"/>
                  </a:lnTo>
                  <a:lnTo>
                    <a:pt x="226618" y="25039"/>
                  </a:lnTo>
                  <a:lnTo>
                    <a:pt x="255711" y="50749"/>
                  </a:lnTo>
                  <a:lnTo>
                    <a:pt x="282778" y="100797"/>
                  </a:lnTo>
                  <a:lnTo>
                    <a:pt x="288188" y="138013"/>
                  </a:lnTo>
                  <a:lnTo>
                    <a:pt x="286832" y="156956"/>
                  </a:lnTo>
                  <a:lnTo>
                    <a:pt x="267218" y="209047"/>
                  </a:lnTo>
                  <a:lnTo>
                    <a:pt x="242178" y="238124"/>
                  </a:lnTo>
                  <a:lnTo>
                    <a:pt x="210388" y="259781"/>
                  </a:lnTo>
                  <a:lnTo>
                    <a:pt x="173172" y="272628"/>
                  </a:lnTo>
                  <a:lnTo>
                    <a:pt x="154228" y="275341"/>
                  </a:lnTo>
                  <a:lnTo>
                    <a:pt x="134614" y="275341"/>
                  </a:lnTo>
                  <a:lnTo>
                    <a:pt x="96057" y="267218"/>
                  </a:lnTo>
                  <a:lnTo>
                    <a:pt x="61554" y="250316"/>
                  </a:lnTo>
                  <a:lnTo>
                    <a:pt x="32461" y="224607"/>
                  </a:lnTo>
                  <a:lnTo>
                    <a:pt x="5410" y="175214"/>
                  </a:lnTo>
                  <a:lnTo>
                    <a:pt x="0" y="138013"/>
                  </a:lnTo>
                </a:path>
              </a:pathLst>
            </a:custGeom>
            <a:ln w="169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165427" y="2668717"/>
              <a:ext cx="287655" cy="275590"/>
            </a:xfrm>
            <a:custGeom>
              <a:avLst/>
              <a:gdLst/>
              <a:ahLst/>
              <a:cxnLst/>
              <a:rect l="l" t="t" r="r" b="b"/>
              <a:pathLst>
                <a:path w="287654" h="275589">
                  <a:moveTo>
                    <a:pt x="153558" y="0"/>
                  </a:moveTo>
                  <a:lnTo>
                    <a:pt x="133944" y="0"/>
                  </a:lnTo>
                  <a:lnTo>
                    <a:pt x="114330" y="2712"/>
                  </a:lnTo>
                  <a:lnTo>
                    <a:pt x="77114" y="14889"/>
                  </a:lnTo>
                  <a:lnTo>
                    <a:pt x="32461" y="50749"/>
                  </a:lnTo>
                  <a:lnTo>
                    <a:pt x="5410" y="100797"/>
                  </a:lnTo>
                  <a:lnTo>
                    <a:pt x="0" y="138013"/>
                  </a:lnTo>
                  <a:lnTo>
                    <a:pt x="1356" y="156956"/>
                  </a:lnTo>
                  <a:lnTo>
                    <a:pt x="20970" y="209047"/>
                  </a:lnTo>
                  <a:lnTo>
                    <a:pt x="45994" y="238124"/>
                  </a:lnTo>
                  <a:lnTo>
                    <a:pt x="95387" y="267218"/>
                  </a:lnTo>
                  <a:lnTo>
                    <a:pt x="133944" y="275341"/>
                  </a:lnTo>
                  <a:lnTo>
                    <a:pt x="153558" y="275341"/>
                  </a:lnTo>
                  <a:lnTo>
                    <a:pt x="191444" y="267218"/>
                  </a:lnTo>
                  <a:lnTo>
                    <a:pt x="226618" y="250316"/>
                  </a:lnTo>
                  <a:lnTo>
                    <a:pt x="255041" y="224607"/>
                  </a:lnTo>
                  <a:lnTo>
                    <a:pt x="282092" y="175214"/>
                  </a:lnTo>
                  <a:lnTo>
                    <a:pt x="287502" y="138013"/>
                  </a:lnTo>
                  <a:lnTo>
                    <a:pt x="286161" y="119070"/>
                  </a:lnTo>
                  <a:lnTo>
                    <a:pt x="266532" y="66309"/>
                  </a:lnTo>
                  <a:lnTo>
                    <a:pt x="242178" y="36530"/>
                  </a:lnTo>
                  <a:lnTo>
                    <a:pt x="209717" y="14889"/>
                  </a:lnTo>
                  <a:lnTo>
                    <a:pt x="172501" y="2712"/>
                  </a:lnTo>
                  <a:lnTo>
                    <a:pt x="153558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842198" y="1483502"/>
              <a:ext cx="1610995" cy="1461135"/>
            </a:xfrm>
            <a:custGeom>
              <a:avLst/>
              <a:gdLst/>
              <a:ahLst/>
              <a:cxnLst/>
              <a:rect l="l" t="t" r="r" b="b"/>
              <a:pathLst>
                <a:path w="1610995" h="1461135">
                  <a:moveTo>
                    <a:pt x="1323228" y="1323228"/>
                  </a:moveTo>
                  <a:lnTo>
                    <a:pt x="1335404" y="1267754"/>
                  </a:lnTo>
                  <a:lnTo>
                    <a:pt x="1369222" y="1221745"/>
                  </a:lnTo>
                  <a:lnTo>
                    <a:pt x="1418615" y="1192667"/>
                  </a:lnTo>
                  <a:lnTo>
                    <a:pt x="1457172" y="1185214"/>
                  </a:lnTo>
                  <a:lnTo>
                    <a:pt x="1476786" y="1185214"/>
                  </a:lnTo>
                  <a:lnTo>
                    <a:pt x="1514673" y="1192667"/>
                  </a:lnTo>
                  <a:lnTo>
                    <a:pt x="1549847" y="1210254"/>
                  </a:lnTo>
                  <a:lnTo>
                    <a:pt x="1578269" y="1235963"/>
                  </a:lnTo>
                  <a:lnTo>
                    <a:pt x="1605320" y="1286012"/>
                  </a:lnTo>
                  <a:lnTo>
                    <a:pt x="1610730" y="1323228"/>
                  </a:lnTo>
                  <a:lnTo>
                    <a:pt x="1609389" y="1342171"/>
                  </a:lnTo>
                  <a:lnTo>
                    <a:pt x="1589760" y="1394261"/>
                  </a:lnTo>
                  <a:lnTo>
                    <a:pt x="1549847" y="1435531"/>
                  </a:lnTo>
                  <a:lnTo>
                    <a:pt x="1514673" y="1452432"/>
                  </a:lnTo>
                  <a:lnTo>
                    <a:pt x="1476786" y="1460555"/>
                  </a:lnTo>
                  <a:lnTo>
                    <a:pt x="1457172" y="1460555"/>
                  </a:lnTo>
                  <a:lnTo>
                    <a:pt x="1418615" y="1452432"/>
                  </a:lnTo>
                  <a:lnTo>
                    <a:pt x="1384112" y="1435531"/>
                  </a:lnTo>
                  <a:lnTo>
                    <a:pt x="1355689" y="1409821"/>
                  </a:lnTo>
                  <a:lnTo>
                    <a:pt x="1328638" y="1360429"/>
                  </a:lnTo>
                  <a:lnTo>
                    <a:pt x="1323228" y="1323228"/>
                  </a:lnTo>
                </a:path>
                <a:path w="1610995" h="1461135">
                  <a:moveTo>
                    <a:pt x="0" y="0"/>
                  </a:moveTo>
                  <a:lnTo>
                    <a:pt x="1323228" y="0"/>
                  </a:lnTo>
                </a:path>
                <a:path w="1610995" h="1461135">
                  <a:moveTo>
                    <a:pt x="1466636" y="137327"/>
                  </a:moveTo>
                  <a:lnTo>
                    <a:pt x="1466636" y="1184544"/>
                  </a:lnTo>
                </a:path>
              </a:pathLst>
            </a:custGeom>
            <a:ln w="169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842198" y="2806730"/>
              <a:ext cx="1323340" cy="0"/>
            </a:xfrm>
            <a:custGeom>
              <a:avLst/>
              <a:gdLst/>
              <a:ahLst/>
              <a:cxnLst/>
              <a:rect l="l" t="t" r="r" b="b"/>
              <a:pathLst>
                <a:path w="1323339" h="0">
                  <a:moveTo>
                    <a:pt x="0" y="0"/>
                  </a:moveTo>
                  <a:lnTo>
                    <a:pt x="1323228" y="0"/>
                  </a:lnTo>
                </a:path>
              </a:pathLst>
            </a:custGeom>
            <a:ln w="50737">
              <a:solidFill>
                <a:srgbClr val="E84A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698104" y="1620830"/>
              <a:ext cx="0" cy="1047750"/>
            </a:xfrm>
            <a:custGeom>
              <a:avLst/>
              <a:gdLst/>
              <a:ahLst/>
              <a:cxnLst/>
              <a:rect l="l" t="t" r="r" b="b"/>
              <a:pathLst>
                <a:path w="0" h="1047750">
                  <a:moveTo>
                    <a:pt x="0" y="0"/>
                  </a:moveTo>
                  <a:lnTo>
                    <a:pt x="0" y="1047216"/>
                  </a:lnTo>
                </a:path>
              </a:pathLst>
            </a:custGeom>
            <a:ln w="169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2645332" y="1352415"/>
            <a:ext cx="107314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3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643303" y="2675640"/>
            <a:ext cx="9779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3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279075" y="2699318"/>
            <a:ext cx="60325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3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247279" y="1351734"/>
            <a:ext cx="107314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3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935954" y="1988994"/>
            <a:ext cx="107314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3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3388796" y="2007788"/>
            <a:ext cx="287655" cy="274955"/>
          </a:xfrm>
          <a:custGeom>
            <a:avLst/>
            <a:gdLst/>
            <a:ahLst/>
            <a:cxnLst/>
            <a:rect l="l" t="t" r="r" b="b"/>
            <a:pathLst>
              <a:path w="287654" h="274955">
                <a:moveTo>
                  <a:pt x="0" y="136641"/>
                </a:moveTo>
                <a:lnTo>
                  <a:pt x="11506" y="82524"/>
                </a:lnTo>
                <a:lnTo>
                  <a:pt x="32476" y="50048"/>
                </a:lnTo>
                <a:lnTo>
                  <a:pt x="60899" y="24353"/>
                </a:lnTo>
                <a:lnTo>
                  <a:pt x="95387" y="7437"/>
                </a:lnTo>
                <a:lnTo>
                  <a:pt x="133273" y="0"/>
                </a:lnTo>
                <a:lnTo>
                  <a:pt x="152902" y="0"/>
                </a:lnTo>
                <a:lnTo>
                  <a:pt x="191460" y="7437"/>
                </a:lnTo>
                <a:lnTo>
                  <a:pt x="226634" y="24353"/>
                </a:lnTo>
                <a:lnTo>
                  <a:pt x="255041" y="50048"/>
                </a:lnTo>
                <a:lnTo>
                  <a:pt x="275341" y="82524"/>
                </a:lnTo>
                <a:lnTo>
                  <a:pt x="287517" y="136641"/>
                </a:lnTo>
                <a:lnTo>
                  <a:pt x="286161" y="155585"/>
                </a:lnTo>
                <a:lnTo>
                  <a:pt x="266547" y="208361"/>
                </a:lnTo>
                <a:lnTo>
                  <a:pt x="241523" y="238124"/>
                </a:lnTo>
                <a:lnTo>
                  <a:pt x="209717" y="259765"/>
                </a:lnTo>
                <a:lnTo>
                  <a:pt x="172516" y="271942"/>
                </a:lnTo>
                <a:lnTo>
                  <a:pt x="152902" y="274655"/>
                </a:lnTo>
                <a:lnTo>
                  <a:pt x="133273" y="274655"/>
                </a:lnTo>
                <a:lnTo>
                  <a:pt x="95387" y="267218"/>
                </a:lnTo>
                <a:lnTo>
                  <a:pt x="60899" y="249615"/>
                </a:lnTo>
                <a:lnTo>
                  <a:pt x="32476" y="223921"/>
                </a:lnTo>
                <a:lnTo>
                  <a:pt x="5425" y="173857"/>
                </a:lnTo>
                <a:lnTo>
                  <a:pt x="0" y="136641"/>
                </a:lnTo>
              </a:path>
            </a:pathLst>
          </a:custGeom>
          <a:ln w="16912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3478782" y="2013348"/>
            <a:ext cx="107314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300">
              <a:latin typeface="Arial"/>
              <a:cs typeface="Arial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2061824" y="1541983"/>
            <a:ext cx="2875280" cy="1211580"/>
            <a:chOff x="2061824" y="1541983"/>
            <a:chExt cx="2875280" cy="1211580"/>
          </a:xfrm>
        </p:grpSpPr>
        <p:sp>
          <p:nvSpPr>
            <p:cNvPr id="27" name="object 27"/>
            <p:cNvSpPr/>
            <p:nvPr/>
          </p:nvSpPr>
          <p:spPr>
            <a:xfrm>
              <a:off x="2096688" y="1559946"/>
              <a:ext cx="481965" cy="477520"/>
            </a:xfrm>
            <a:custGeom>
              <a:avLst/>
              <a:gdLst/>
              <a:ahLst/>
              <a:cxnLst/>
              <a:rect l="l" t="t" r="r" b="b"/>
              <a:pathLst>
                <a:path w="481964" h="477519">
                  <a:moveTo>
                    <a:pt x="0" y="476920"/>
                  </a:moveTo>
                  <a:lnTo>
                    <a:pt x="481675" y="0"/>
                  </a:lnTo>
                </a:path>
              </a:pathLst>
            </a:custGeom>
            <a:ln w="169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087224" y="1567383"/>
              <a:ext cx="2824480" cy="1160780"/>
            </a:xfrm>
            <a:custGeom>
              <a:avLst/>
              <a:gdLst/>
              <a:ahLst/>
              <a:cxnLst/>
              <a:rect l="l" t="t" r="r" b="b"/>
              <a:pathLst>
                <a:path w="2824479" h="1160780">
                  <a:moveTo>
                    <a:pt x="0" y="692063"/>
                  </a:moveTo>
                  <a:lnTo>
                    <a:pt x="493166" y="1160190"/>
                  </a:lnTo>
                </a:path>
                <a:path w="2824479" h="1160780">
                  <a:moveTo>
                    <a:pt x="2327833" y="1145987"/>
                  </a:moveTo>
                  <a:lnTo>
                    <a:pt x="2818957" y="681913"/>
                  </a:lnTo>
                </a:path>
                <a:path w="2824479" h="1160780">
                  <a:moveTo>
                    <a:pt x="2335941" y="0"/>
                  </a:moveTo>
                  <a:lnTo>
                    <a:pt x="2824383" y="468142"/>
                  </a:lnTo>
                </a:path>
              </a:pathLst>
            </a:custGeom>
            <a:ln w="50737">
              <a:solidFill>
                <a:srgbClr val="E84A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799572" y="1576176"/>
              <a:ext cx="1416685" cy="1132840"/>
            </a:xfrm>
            <a:custGeom>
              <a:avLst/>
              <a:gdLst/>
              <a:ahLst/>
              <a:cxnLst/>
              <a:rect l="l" t="t" r="r" b="b"/>
              <a:pathLst>
                <a:path w="1416685" h="1132839">
                  <a:moveTo>
                    <a:pt x="0" y="4739"/>
                  </a:moveTo>
                  <a:lnTo>
                    <a:pt x="619673" y="484372"/>
                  </a:lnTo>
                </a:path>
                <a:path w="1416685" h="1132839">
                  <a:moveTo>
                    <a:pt x="842238" y="658230"/>
                  </a:moveTo>
                  <a:lnTo>
                    <a:pt x="1416588" y="1125016"/>
                  </a:lnTo>
                </a:path>
                <a:path w="1416685" h="1132839">
                  <a:moveTo>
                    <a:pt x="842238" y="478962"/>
                  </a:moveTo>
                  <a:lnTo>
                    <a:pt x="1403055" y="0"/>
                  </a:lnTo>
                </a:path>
                <a:path w="1416685" h="1132839">
                  <a:moveTo>
                    <a:pt x="616960" y="650123"/>
                  </a:moveTo>
                  <a:lnTo>
                    <a:pt x="0" y="1132453"/>
                  </a:lnTo>
                </a:path>
              </a:pathLst>
            </a:custGeom>
            <a:ln w="169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/>
          <p:cNvSpPr txBox="1"/>
          <p:nvPr/>
        </p:nvSpPr>
        <p:spPr>
          <a:xfrm>
            <a:off x="1945829" y="1719752"/>
            <a:ext cx="116205" cy="52197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484"/>
              </a:spcBef>
            </a:pPr>
            <a:r>
              <a:rPr dirty="0" sz="1300" spc="1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300">
              <a:latin typeface="Arial"/>
              <a:cs typeface="Arial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3401659" y="995967"/>
            <a:ext cx="2582545" cy="2439035"/>
            <a:chOff x="3401659" y="995967"/>
            <a:chExt cx="2582545" cy="2439035"/>
          </a:xfrm>
        </p:grpSpPr>
        <p:pic>
          <p:nvPicPr>
            <p:cNvPr id="32" name="object 3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18314" y="2038223"/>
              <a:ext cx="143408" cy="165064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01659" y="1287988"/>
              <a:ext cx="165064" cy="143423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45194" y="1699300"/>
              <a:ext cx="159654" cy="160324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5513009" y="1004539"/>
              <a:ext cx="462280" cy="2421890"/>
            </a:xfrm>
            <a:custGeom>
              <a:avLst/>
              <a:gdLst/>
              <a:ahLst/>
              <a:cxnLst/>
              <a:rect l="l" t="t" r="r" b="b"/>
              <a:pathLst>
                <a:path w="462279" h="2421890">
                  <a:moveTo>
                    <a:pt x="0" y="0"/>
                  </a:moveTo>
                  <a:lnTo>
                    <a:pt x="0" y="2421864"/>
                  </a:lnTo>
                </a:path>
                <a:path w="462279" h="2421890">
                  <a:moveTo>
                    <a:pt x="462046" y="0"/>
                  </a:moveTo>
                  <a:lnTo>
                    <a:pt x="462046" y="2421864"/>
                  </a:lnTo>
                </a:path>
                <a:path w="462279" h="2421890">
                  <a:moveTo>
                    <a:pt x="0" y="2421864"/>
                  </a:moveTo>
                  <a:lnTo>
                    <a:pt x="455965" y="2421864"/>
                  </a:lnTo>
                </a:path>
              </a:pathLst>
            </a:custGeom>
            <a:ln w="169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/>
          <p:cNvSpPr txBox="1"/>
          <p:nvPr/>
        </p:nvSpPr>
        <p:spPr>
          <a:xfrm>
            <a:off x="5520441" y="1035137"/>
            <a:ext cx="419100" cy="26219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(e,b)</a:t>
            </a:r>
            <a:endParaRPr sz="1300">
              <a:latin typeface="Arial"/>
              <a:cs typeface="Arial"/>
            </a:endParaRPr>
          </a:p>
          <a:p>
            <a:pPr>
              <a:lnSpc>
                <a:spcPts val="1500"/>
              </a:lnSpc>
              <a:spcBef>
                <a:spcPts val="35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(e,g)</a:t>
            </a:r>
            <a:endParaRPr sz="1300">
              <a:latin typeface="Arial"/>
              <a:cs typeface="Arial"/>
            </a:endParaRPr>
          </a:p>
          <a:p>
            <a:pPr marL="5715">
              <a:lnSpc>
                <a:spcPts val="150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(e,d)</a:t>
            </a:r>
            <a:endParaRPr sz="1300">
              <a:latin typeface="Arial"/>
              <a:cs typeface="Arial"/>
            </a:endParaRPr>
          </a:p>
          <a:p>
            <a:pPr marL="28575">
              <a:lnSpc>
                <a:spcPct val="100000"/>
              </a:lnSpc>
              <a:spcBef>
                <a:spcPts val="130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(e,f)</a:t>
            </a:r>
            <a:endParaRPr sz="1300">
              <a:latin typeface="Arial"/>
              <a:cs typeface="Arial"/>
            </a:endParaRPr>
          </a:p>
          <a:p>
            <a:pPr marL="39370">
              <a:lnSpc>
                <a:spcPct val="100000"/>
              </a:lnSpc>
              <a:spcBef>
                <a:spcPts val="80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(g,f)</a:t>
            </a:r>
            <a:endParaRPr sz="1300">
              <a:latin typeface="Arial"/>
              <a:cs typeface="Arial"/>
            </a:endParaRPr>
          </a:p>
          <a:p>
            <a:pPr marL="48260">
              <a:lnSpc>
                <a:spcPts val="1550"/>
              </a:lnSpc>
              <a:spcBef>
                <a:spcPts val="114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(f,c)</a:t>
            </a:r>
            <a:endParaRPr sz="1300">
              <a:latin typeface="Arial"/>
              <a:cs typeface="Arial"/>
            </a:endParaRPr>
          </a:p>
          <a:p>
            <a:pPr marL="39370">
              <a:lnSpc>
                <a:spcPts val="155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(f,d)</a:t>
            </a:r>
            <a:endParaRPr sz="1300">
              <a:latin typeface="Arial"/>
              <a:cs typeface="Arial"/>
            </a:endParaRPr>
          </a:p>
          <a:p>
            <a:pPr marL="41910">
              <a:lnSpc>
                <a:spcPct val="100000"/>
              </a:lnSpc>
              <a:spcBef>
                <a:spcPts val="35"/>
              </a:spcBef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(f,e)</a:t>
            </a:r>
            <a:endParaRPr sz="1300">
              <a:latin typeface="Arial"/>
              <a:cs typeface="Arial"/>
            </a:endParaRPr>
          </a:p>
          <a:p>
            <a:pPr marL="27305">
              <a:lnSpc>
                <a:spcPts val="152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(c,a)</a:t>
            </a:r>
            <a:endParaRPr sz="1300">
              <a:latin typeface="Arial"/>
              <a:cs typeface="Arial"/>
            </a:endParaRPr>
          </a:p>
          <a:p>
            <a:pPr marL="25400">
              <a:lnSpc>
                <a:spcPts val="1480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(c,d)</a:t>
            </a:r>
            <a:endParaRPr sz="1300">
              <a:latin typeface="Arial"/>
              <a:cs typeface="Arial"/>
            </a:endParaRPr>
          </a:p>
          <a:p>
            <a:pPr marL="25400">
              <a:lnSpc>
                <a:spcPts val="1485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(c,b)</a:t>
            </a:r>
            <a:endParaRPr sz="1300">
              <a:latin typeface="Arial"/>
              <a:cs typeface="Arial"/>
            </a:endParaRPr>
          </a:p>
          <a:p>
            <a:pPr marL="18415">
              <a:lnSpc>
                <a:spcPts val="1525"/>
              </a:lnSpc>
            </a:pPr>
            <a:r>
              <a:rPr dirty="0" sz="1300" spc="10">
                <a:solidFill>
                  <a:srgbClr val="FFFF00"/>
                </a:solidFill>
                <a:latin typeface="Arial"/>
                <a:cs typeface="Arial"/>
              </a:rPr>
              <a:t>(a,b)</a:t>
            </a:r>
            <a:endParaRPr sz="1300">
              <a:latin typeface="Arial"/>
              <a:cs typeface="Arial"/>
            </a:endParaRPr>
          </a:p>
          <a:p>
            <a:pPr marL="11430">
              <a:lnSpc>
                <a:spcPct val="100000"/>
              </a:lnSpc>
              <a:spcBef>
                <a:spcPts val="95"/>
              </a:spcBef>
            </a:pPr>
            <a:r>
              <a:rPr dirty="0" sz="1300" spc="10" i="1">
                <a:solidFill>
                  <a:srgbClr val="FFFF00"/>
                </a:solidFill>
                <a:latin typeface="Arial"/>
                <a:cs typeface="Arial"/>
              </a:rPr>
              <a:t>stack</a:t>
            </a:r>
            <a:endParaRPr sz="1300">
              <a:latin typeface="Arial"/>
              <a:cs typeface="Arial"/>
            </a:endParaRPr>
          </a:p>
        </p:txBody>
      </p:sp>
      <p:pic>
        <p:nvPicPr>
          <p:cNvPr id="37" name="object 3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724217" y="1620144"/>
            <a:ext cx="159654" cy="160340"/>
          </a:xfrm>
          <a:prstGeom prst="rect">
            <a:avLst/>
          </a:prstGeom>
        </p:spPr>
      </p:pic>
      <p:sp>
        <p:nvSpPr>
          <p:cNvPr id="38" name="object 38"/>
          <p:cNvSpPr txBox="1"/>
          <p:nvPr/>
        </p:nvSpPr>
        <p:spPr>
          <a:xfrm>
            <a:off x="2404858" y="3865449"/>
            <a:ext cx="34194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8.17: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‘e’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popped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1790700" y="5788558"/>
            <a:ext cx="4648200" cy="2888615"/>
            <a:chOff x="1790700" y="5788558"/>
            <a:chExt cx="4648200" cy="2888615"/>
          </a:xfrm>
        </p:grpSpPr>
        <p:sp>
          <p:nvSpPr>
            <p:cNvPr id="40" name="object 40"/>
            <p:cNvSpPr/>
            <p:nvPr/>
          </p:nvSpPr>
          <p:spPr>
            <a:xfrm>
              <a:off x="1790700" y="5788558"/>
              <a:ext cx="4648200" cy="2888615"/>
            </a:xfrm>
            <a:custGeom>
              <a:avLst/>
              <a:gdLst/>
              <a:ahLst/>
              <a:cxnLst/>
              <a:rect l="l" t="t" r="r" b="b"/>
              <a:pathLst>
                <a:path w="4648200" h="2888615">
                  <a:moveTo>
                    <a:pt x="4648001" y="0"/>
                  </a:moveTo>
                  <a:lnTo>
                    <a:pt x="0" y="0"/>
                  </a:lnTo>
                  <a:lnTo>
                    <a:pt x="0" y="2888589"/>
                  </a:lnTo>
                  <a:lnTo>
                    <a:pt x="4648001" y="2888589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885608" y="7177791"/>
              <a:ext cx="290830" cy="277495"/>
            </a:xfrm>
            <a:custGeom>
              <a:avLst/>
              <a:gdLst/>
              <a:ahLst/>
              <a:cxnLst/>
              <a:rect l="l" t="t" r="r" b="b"/>
              <a:pathLst>
                <a:path w="290829" h="277495">
                  <a:moveTo>
                    <a:pt x="155097" y="0"/>
                  </a:moveTo>
                  <a:lnTo>
                    <a:pt x="135285" y="0"/>
                  </a:lnTo>
                  <a:lnTo>
                    <a:pt x="116144" y="2727"/>
                  </a:lnTo>
                  <a:lnTo>
                    <a:pt x="78562" y="15026"/>
                  </a:lnTo>
                  <a:lnTo>
                    <a:pt x="46451" y="36896"/>
                  </a:lnTo>
                  <a:lnTo>
                    <a:pt x="21183" y="65592"/>
                  </a:lnTo>
                  <a:lnTo>
                    <a:pt x="5455" y="100431"/>
                  </a:lnTo>
                  <a:lnTo>
                    <a:pt x="0" y="138699"/>
                  </a:lnTo>
                  <a:lnTo>
                    <a:pt x="1356" y="157139"/>
                  </a:lnTo>
                  <a:lnTo>
                    <a:pt x="12298" y="194035"/>
                  </a:lnTo>
                  <a:lnTo>
                    <a:pt x="46451" y="240502"/>
                  </a:lnTo>
                  <a:lnTo>
                    <a:pt x="78562" y="262371"/>
                  </a:lnTo>
                  <a:lnTo>
                    <a:pt x="116144" y="275341"/>
                  </a:lnTo>
                  <a:lnTo>
                    <a:pt x="135285" y="277398"/>
                  </a:lnTo>
                  <a:lnTo>
                    <a:pt x="155097" y="277398"/>
                  </a:lnTo>
                  <a:lnTo>
                    <a:pt x="194035" y="269885"/>
                  </a:lnTo>
                  <a:lnTo>
                    <a:pt x="228874" y="252115"/>
                  </a:lnTo>
                  <a:lnTo>
                    <a:pt x="258257" y="226146"/>
                  </a:lnTo>
                  <a:lnTo>
                    <a:pt x="285597" y="176281"/>
                  </a:lnTo>
                  <a:lnTo>
                    <a:pt x="290367" y="138699"/>
                  </a:lnTo>
                  <a:lnTo>
                    <a:pt x="289697" y="119573"/>
                  </a:lnTo>
                  <a:lnTo>
                    <a:pt x="278754" y="82676"/>
                  </a:lnTo>
                  <a:lnTo>
                    <a:pt x="244601" y="36896"/>
                  </a:lnTo>
                  <a:lnTo>
                    <a:pt x="211805" y="15026"/>
                  </a:lnTo>
                  <a:lnTo>
                    <a:pt x="174909" y="2727"/>
                  </a:lnTo>
                  <a:lnTo>
                    <a:pt x="155097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885608" y="7177791"/>
              <a:ext cx="290830" cy="277495"/>
            </a:xfrm>
            <a:custGeom>
              <a:avLst/>
              <a:gdLst/>
              <a:ahLst/>
              <a:cxnLst/>
              <a:rect l="l" t="t" r="r" b="b"/>
              <a:pathLst>
                <a:path w="290829" h="277495">
                  <a:moveTo>
                    <a:pt x="0" y="138699"/>
                  </a:moveTo>
                  <a:lnTo>
                    <a:pt x="5455" y="100431"/>
                  </a:lnTo>
                  <a:lnTo>
                    <a:pt x="21183" y="65592"/>
                  </a:lnTo>
                  <a:lnTo>
                    <a:pt x="46451" y="36896"/>
                  </a:lnTo>
                  <a:lnTo>
                    <a:pt x="78562" y="15026"/>
                  </a:lnTo>
                  <a:lnTo>
                    <a:pt x="116144" y="2727"/>
                  </a:lnTo>
                  <a:lnTo>
                    <a:pt x="135285" y="0"/>
                  </a:lnTo>
                  <a:lnTo>
                    <a:pt x="155097" y="0"/>
                  </a:lnTo>
                  <a:lnTo>
                    <a:pt x="194035" y="7513"/>
                  </a:lnTo>
                  <a:lnTo>
                    <a:pt x="228874" y="25283"/>
                  </a:lnTo>
                  <a:lnTo>
                    <a:pt x="258257" y="51236"/>
                  </a:lnTo>
                  <a:lnTo>
                    <a:pt x="285597" y="100431"/>
                  </a:lnTo>
                  <a:lnTo>
                    <a:pt x="290367" y="138699"/>
                  </a:lnTo>
                  <a:lnTo>
                    <a:pt x="289697" y="157139"/>
                  </a:lnTo>
                  <a:lnTo>
                    <a:pt x="278754" y="194035"/>
                  </a:lnTo>
                  <a:lnTo>
                    <a:pt x="244601" y="240502"/>
                  </a:lnTo>
                  <a:lnTo>
                    <a:pt x="211805" y="262371"/>
                  </a:lnTo>
                  <a:lnTo>
                    <a:pt x="174909" y="275341"/>
                  </a:lnTo>
                  <a:lnTo>
                    <a:pt x="155097" y="277398"/>
                  </a:lnTo>
                  <a:lnTo>
                    <a:pt x="135285" y="277398"/>
                  </a:lnTo>
                  <a:lnTo>
                    <a:pt x="97017" y="269885"/>
                  </a:lnTo>
                  <a:lnTo>
                    <a:pt x="61493" y="252115"/>
                  </a:lnTo>
                  <a:lnTo>
                    <a:pt x="32796" y="226146"/>
                  </a:lnTo>
                  <a:lnTo>
                    <a:pt x="5455" y="176281"/>
                  </a:lnTo>
                  <a:lnTo>
                    <a:pt x="0" y="138699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1864324" y="7177791"/>
              <a:ext cx="290830" cy="277495"/>
            </a:xfrm>
            <a:custGeom>
              <a:avLst/>
              <a:gdLst/>
              <a:ahLst/>
              <a:cxnLst/>
              <a:rect l="l" t="t" r="r" b="b"/>
              <a:pathLst>
                <a:path w="290830" h="277495">
                  <a:moveTo>
                    <a:pt x="154411" y="0"/>
                  </a:moveTo>
                  <a:lnTo>
                    <a:pt x="134599" y="0"/>
                  </a:lnTo>
                  <a:lnTo>
                    <a:pt x="114787" y="2727"/>
                  </a:lnTo>
                  <a:lnTo>
                    <a:pt x="78577" y="15026"/>
                  </a:lnTo>
                  <a:lnTo>
                    <a:pt x="45780" y="36896"/>
                  </a:lnTo>
                  <a:lnTo>
                    <a:pt x="11612" y="82676"/>
                  </a:lnTo>
                  <a:lnTo>
                    <a:pt x="1371" y="119573"/>
                  </a:lnTo>
                  <a:lnTo>
                    <a:pt x="0" y="138699"/>
                  </a:lnTo>
                  <a:lnTo>
                    <a:pt x="1371" y="157139"/>
                  </a:lnTo>
                  <a:lnTo>
                    <a:pt x="11612" y="194035"/>
                  </a:lnTo>
                  <a:lnTo>
                    <a:pt x="45780" y="240502"/>
                  </a:lnTo>
                  <a:lnTo>
                    <a:pt x="78577" y="262371"/>
                  </a:lnTo>
                  <a:lnTo>
                    <a:pt x="114787" y="275341"/>
                  </a:lnTo>
                  <a:lnTo>
                    <a:pt x="134599" y="277398"/>
                  </a:lnTo>
                  <a:lnTo>
                    <a:pt x="154411" y="277398"/>
                  </a:lnTo>
                  <a:lnTo>
                    <a:pt x="193365" y="269885"/>
                  </a:lnTo>
                  <a:lnTo>
                    <a:pt x="228889" y="252115"/>
                  </a:lnTo>
                  <a:lnTo>
                    <a:pt x="257586" y="226146"/>
                  </a:lnTo>
                  <a:lnTo>
                    <a:pt x="284911" y="176281"/>
                  </a:lnTo>
                  <a:lnTo>
                    <a:pt x="290382" y="138699"/>
                  </a:lnTo>
                  <a:lnTo>
                    <a:pt x="289011" y="119573"/>
                  </a:lnTo>
                  <a:lnTo>
                    <a:pt x="278084" y="82676"/>
                  </a:lnTo>
                  <a:lnTo>
                    <a:pt x="243916" y="36896"/>
                  </a:lnTo>
                  <a:lnTo>
                    <a:pt x="211805" y="15026"/>
                  </a:lnTo>
                  <a:lnTo>
                    <a:pt x="174223" y="2727"/>
                  </a:lnTo>
                  <a:lnTo>
                    <a:pt x="15441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1864324" y="7177791"/>
              <a:ext cx="290830" cy="277495"/>
            </a:xfrm>
            <a:custGeom>
              <a:avLst/>
              <a:gdLst/>
              <a:ahLst/>
              <a:cxnLst/>
              <a:rect l="l" t="t" r="r" b="b"/>
              <a:pathLst>
                <a:path w="290830" h="277495">
                  <a:moveTo>
                    <a:pt x="0" y="138699"/>
                  </a:moveTo>
                  <a:lnTo>
                    <a:pt x="4785" y="100431"/>
                  </a:lnTo>
                  <a:lnTo>
                    <a:pt x="21183" y="65592"/>
                  </a:lnTo>
                  <a:lnTo>
                    <a:pt x="61493" y="25283"/>
                  </a:lnTo>
                  <a:lnTo>
                    <a:pt x="95661" y="7513"/>
                  </a:lnTo>
                  <a:lnTo>
                    <a:pt x="134599" y="0"/>
                  </a:lnTo>
                  <a:lnTo>
                    <a:pt x="154411" y="0"/>
                  </a:lnTo>
                  <a:lnTo>
                    <a:pt x="193365" y="7513"/>
                  </a:lnTo>
                  <a:lnTo>
                    <a:pt x="228889" y="25283"/>
                  </a:lnTo>
                  <a:lnTo>
                    <a:pt x="257586" y="51236"/>
                  </a:lnTo>
                  <a:lnTo>
                    <a:pt x="284911" y="100431"/>
                  </a:lnTo>
                  <a:lnTo>
                    <a:pt x="290382" y="138699"/>
                  </a:lnTo>
                  <a:lnTo>
                    <a:pt x="289011" y="157139"/>
                  </a:lnTo>
                  <a:lnTo>
                    <a:pt x="278084" y="194035"/>
                  </a:lnTo>
                  <a:lnTo>
                    <a:pt x="243916" y="240502"/>
                  </a:lnTo>
                  <a:lnTo>
                    <a:pt x="211805" y="262371"/>
                  </a:lnTo>
                  <a:lnTo>
                    <a:pt x="174223" y="275341"/>
                  </a:lnTo>
                  <a:lnTo>
                    <a:pt x="154411" y="277398"/>
                  </a:lnTo>
                  <a:lnTo>
                    <a:pt x="134599" y="277398"/>
                  </a:lnTo>
                  <a:lnTo>
                    <a:pt x="95661" y="269885"/>
                  </a:lnTo>
                  <a:lnTo>
                    <a:pt x="61493" y="252115"/>
                  </a:lnTo>
                  <a:lnTo>
                    <a:pt x="32110" y="226146"/>
                  </a:lnTo>
                  <a:lnTo>
                    <a:pt x="4785" y="176281"/>
                  </a:lnTo>
                  <a:lnTo>
                    <a:pt x="0" y="138699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561234" y="6508907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30" h="278129">
                  <a:moveTo>
                    <a:pt x="155768" y="0"/>
                  </a:moveTo>
                  <a:lnTo>
                    <a:pt x="135956" y="0"/>
                  </a:lnTo>
                  <a:lnTo>
                    <a:pt x="116144" y="2727"/>
                  </a:lnTo>
                  <a:lnTo>
                    <a:pt x="78562" y="15712"/>
                  </a:lnTo>
                  <a:lnTo>
                    <a:pt x="46451" y="37566"/>
                  </a:lnTo>
                  <a:lnTo>
                    <a:pt x="21183" y="66949"/>
                  </a:lnTo>
                  <a:lnTo>
                    <a:pt x="5455" y="101803"/>
                  </a:lnTo>
                  <a:lnTo>
                    <a:pt x="0" y="139369"/>
                  </a:lnTo>
                  <a:lnTo>
                    <a:pt x="1356" y="158511"/>
                  </a:lnTo>
                  <a:lnTo>
                    <a:pt x="21183" y="211805"/>
                  </a:lnTo>
                  <a:lnTo>
                    <a:pt x="46451" y="240487"/>
                  </a:lnTo>
                  <a:lnTo>
                    <a:pt x="78562" y="262356"/>
                  </a:lnTo>
                  <a:lnTo>
                    <a:pt x="116144" y="275341"/>
                  </a:lnTo>
                  <a:lnTo>
                    <a:pt x="135956" y="278069"/>
                  </a:lnTo>
                  <a:lnTo>
                    <a:pt x="155768" y="278069"/>
                  </a:lnTo>
                  <a:lnTo>
                    <a:pt x="193349" y="270555"/>
                  </a:lnTo>
                  <a:lnTo>
                    <a:pt x="228874" y="252785"/>
                  </a:lnTo>
                  <a:lnTo>
                    <a:pt x="257571" y="226832"/>
                  </a:lnTo>
                  <a:lnTo>
                    <a:pt x="278754" y="194721"/>
                  </a:lnTo>
                  <a:lnTo>
                    <a:pt x="290367" y="139369"/>
                  </a:lnTo>
                  <a:lnTo>
                    <a:pt x="289011" y="120243"/>
                  </a:lnTo>
                  <a:lnTo>
                    <a:pt x="269199" y="66949"/>
                  </a:lnTo>
                  <a:lnTo>
                    <a:pt x="244601" y="37566"/>
                  </a:lnTo>
                  <a:lnTo>
                    <a:pt x="211805" y="15712"/>
                  </a:lnTo>
                  <a:lnTo>
                    <a:pt x="174223" y="2727"/>
                  </a:lnTo>
                  <a:lnTo>
                    <a:pt x="155768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561234" y="6508907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30" h="278129">
                  <a:moveTo>
                    <a:pt x="0" y="139369"/>
                  </a:moveTo>
                  <a:lnTo>
                    <a:pt x="12298" y="84033"/>
                  </a:lnTo>
                  <a:lnTo>
                    <a:pt x="32796" y="51236"/>
                  </a:lnTo>
                  <a:lnTo>
                    <a:pt x="61493" y="25267"/>
                  </a:lnTo>
                  <a:lnTo>
                    <a:pt x="97017" y="8199"/>
                  </a:lnTo>
                  <a:lnTo>
                    <a:pt x="135956" y="0"/>
                  </a:lnTo>
                  <a:lnTo>
                    <a:pt x="155768" y="0"/>
                  </a:lnTo>
                  <a:lnTo>
                    <a:pt x="193349" y="8199"/>
                  </a:lnTo>
                  <a:lnTo>
                    <a:pt x="228874" y="25267"/>
                  </a:lnTo>
                  <a:lnTo>
                    <a:pt x="257571" y="51236"/>
                  </a:lnTo>
                  <a:lnTo>
                    <a:pt x="278754" y="84033"/>
                  </a:lnTo>
                  <a:lnTo>
                    <a:pt x="290367" y="139369"/>
                  </a:lnTo>
                  <a:lnTo>
                    <a:pt x="289011" y="158511"/>
                  </a:lnTo>
                  <a:lnTo>
                    <a:pt x="269199" y="211805"/>
                  </a:lnTo>
                  <a:lnTo>
                    <a:pt x="228874" y="252785"/>
                  </a:lnTo>
                  <a:lnTo>
                    <a:pt x="193349" y="270555"/>
                  </a:lnTo>
                  <a:lnTo>
                    <a:pt x="155768" y="278069"/>
                  </a:lnTo>
                  <a:lnTo>
                    <a:pt x="135956" y="278069"/>
                  </a:lnTo>
                  <a:lnTo>
                    <a:pt x="97017" y="270555"/>
                  </a:lnTo>
                  <a:lnTo>
                    <a:pt x="61493" y="252785"/>
                  </a:lnTo>
                  <a:lnTo>
                    <a:pt x="32796" y="226832"/>
                  </a:lnTo>
                  <a:lnTo>
                    <a:pt x="5455" y="176951"/>
                  </a:lnTo>
                  <a:lnTo>
                    <a:pt x="0" y="139369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188698" y="6508907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29" h="278129">
                  <a:moveTo>
                    <a:pt x="154411" y="0"/>
                  </a:moveTo>
                  <a:lnTo>
                    <a:pt x="134599" y="0"/>
                  </a:lnTo>
                  <a:lnTo>
                    <a:pt x="115473" y="2727"/>
                  </a:lnTo>
                  <a:lnTo>
                    <a:pt x="77891" y="15712"/>
                  </a:lnTo>
                  <a:lnTo>
                    <a:pt x="45780" y="37566"/>
                  </a:lnTo>
                  <a:lnTo>
                    <a:pt x="21183" y="66949"/>
                  </a:lnTo>
                  <a:lnTo>
                    <a:pt x="5471" y="101803"/>
                  </a:lnTo>
                  <a:lnTo>
                    <a:pt x="0" y="139369"/>
                  </a:lnTo>
                  <a:lnTo>
                    <a:pt x="1371" y="158511"/>
                  </a:lnTo>
                  <a:lnTo>
                    <a:pt x="21183" y="211805"/>
                  </a:lnTo>
                  <a:lnTo>
                    <a:pt x="61493" y="252785"/>
                  </a:lnTo>
                  <a:lnTo>
                    <a:pt x="96347" y="270555"/>
                  </a:lnTo>
                  <a:lnTo>
                    <a:pt x="134599" y="278069"/>
                  </a:lnTo>
                  <a:lnTo>
                    <a:pt x="154411" y="278069"/>
                  </a:lnTo>
                  <a:lnTo>
                    <a:pt x="193365" y="270555"/>
                  </a:lnTo>
                  <a:lnTo>
                    <a:pt x="228889" y="252785"/>
                  </a:lnTo>
                  <a:lnTo>
                    <a:pt x="257586" y="226832"/>
                  </a:lnTo>
                  <a:lnTo>
                    <a:pt x="284911" y="176951"/>
                  </a:lnTo>
                  <a:lnTo>
                    <a:pt x="290382" y="139369"/>
                  </a:lnTo>
                  <a:lnTo>
                    <a:pt x="289011" y="120243"/>
                  </a:lnTo>
                  <a:lnTo>
                    <a:pt x="269199" y="66949"/>
                  </a:lnTo>
                  <a:lnTo>
                    <a:pt x="243916" y="37566"/>
                  </a:lnTo>
                  <a:lnTo>
                    <a:pt x="211805" y="15712"/>
                  </a:lnTo>
                  <a:lnTo>
                    <a:pt x="174223" y="2727"/>
                  </a:lnTo>
                  <a:lnTo>
                    <a:pt x="15441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188698" y="6508907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29" h="278129">
                  <a:moveTo>
                    <a:pt x="0" y="139369"/>
                  </a:moveTo>
                  <a:lnTo>
                    <a:pt x="11612" y="84033"/>
                  </a:lnTo>
                  <a:lnTo>
                    <a:pt x="32796" y="51236"/>
                  </a:lnTo>
                  <a:lnTo>
                    <a:pt x="61493" y="25267"/>
                  </a:lnTo>
                  <a:lnTo>
                    <a:pt x="96347" y="8199"/>
                  </a:lnTo>
                  <a:lnTo>
                    <a:pt x="134599" y="0"/>
                  </a:lnTo>
                  <a:lnTo>
                    <a:pt x="154411" y="0"/>
                  </a:lnTo>
                  <a:lnTo>
                    <a:pt x="193365" y="8199"/>
                  </a:lnTo>
                  <a:lnTo>
                    <a:pt x="228889" y="25267"/>
                  </a:lnTo>
                  <a:lnTo>
                    <a:pt x="257586" y="51236"/>
                  </a:lnTo>
                  <a:lnTo>
                    <a:pt x="278084" y="84033"/>
                  </a:lnTo>
                  <a:lnTo>
                    <a:pt x="290382" y="139369"/>
                  </a:lnTo>
                  <a:lnTo>
                    <a:pt x="289011" y="158511"/>
                  </a:lnTo>
                  <a:lnTo>
                    <a:pt x="269199" y="211805"/>
                  </a:lnTo>
                  <a:lnTo>
                    <a:pt x="243916" y="240487"/>
                  </a:lnTo>
                  <a:lnTo>
                    <a:pt x="211805" y="262356"/>
                  </a:lnTo>
                  <a:lnTo>
                    <a:pt x="174223" y="275341"/>
                  </a:lnTo>
                  <a:lnTo>
                    <a:pt x="154411" y="278069"/>
                  </a:lnTo>
                  <a:lnTo>
                    <a:pt x="134599" y="278069"/>
                  </a:lnTo>
                  <a:lnTo>
                    <a:pt x="96347" y="270555"/>
                  </a:lnTo>
                  <a:lnTo>
                    <a:pt x="61493" y="252785"/>
                  </a:lnTo>
                  <a:lnTo>
                    <a:pt x="32796" y="226832"/>
                  </a:lnTo>
                  <a:lnTo>
                    <a:pt x="11612" y="194721"/>
                  </a:lnTo>
                  <a:lnTo>
                    <a:pt x="0" y="139369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561234" y="7845318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30" h="278129">
                  <a:moveTo>
                    <a:pt x="155768" y="0"/>
                  </a:moveTo>
                  <a:lnTo>
                    <a:pt x="135956" y="0"/>
                  </a:lnTo>
                  <a:lnTo>
                    <a:pt x="116144" y="2727"/>
                  </a:lnTo>
                  <a:lnTo>
                    <a:pt x="78562" y="15712"/>
                  </a:lnTo>
                  <a:lnTo>
                    <a:pt x="46451" y="37581"/>
                  </a:lnTo>
                  <a:lnTo>
                    <a:pt x="21183" y="66949"/>
                  </a:lnTo>
                  <a:lnTo>
                    <a:pt x="5455" y="101803"/>
                  </a:lnTo>
                  <a:lnTo>
                    <a:pt x="0" y="139385"/>
                  </a:lnTo>
                  <a:lnTo>
                    <a:pt x="1356" y="157825"/>
                  </a:lnTo>
                  <a:lnTo>
                    <a:pt x="21183" y="211119"/>
                  </a:lnTo>
                  <a:lnTo>
                    <a:pt x="46451" y="240502"/>
                  </a:lnTo>
                  <a:lnTo>
                    <a:pt x="78562" y="262356"/>
                  </a:lnTo>
                  <a:lnTo>
                    <a:pt x="116144" y="275341"/>
                  </a:lnTo>
                  <a:lnTo>
                    <a:pt x="135956" y="278069"/>
                  </a:lnTo>
                  <a:lnTo>
                    <a:pt x="155768" y="278069"/>
                  </a:lnTo>
                  <a:lnTo>
                    <a:pt x="193349" y="270555"/>
                  </a:lnTo>
                  <a:lnTo>
                    <a:pt x="228874" y="252801"/>
                  </a:lnTo>
                  <a:lnTo>
                    <a:pt x="257571" y="226832"/>
                  </a:lnTo>
                  <a:lnTo>
                    <a:pt x="278754" y="194035"/>
                  </a:lnTo>
                  <a:lnTo>
                    <a:pt x="290367" y="139385"/>
                  </a:lnTo>
                  <a:lnTo>
                    <a:pt x="289011" y="120243"/>
                  </a:lnTo>
                  <a:lnTo>
                    <a:pt x="269199" y="66949"/>
                  </a:lnTo>
                  <a:lnTo>
                    <a:pt x="244601" y="37581"/>
                  </a:lnTo>
                  <a:lnTo>
                    <a:pt x="211805" y="15712"/>
                  </a:lnTo>
                  <a:lnTo>
                    <a:pt x="174223" y="2727"/>
                  </a:lnTo>
                  <a:lnTo>
                    <a:pt x="155768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561234" y="7845318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30" h="278129">
                  <a:moveTo>
                    <a:pt x="0" y="139385"/>
                  </a:moveTo>
                  <a:lnTo>
                    <a:pt x="12298" y="84033"/>
                  </a:lnTo>
                  <a:lnTo>
                    <a:pt x="32796" y="51236"/>
                  </a:lnTo>
                  <a:lnTo>
                    <a:pt x="61493" y="25283"/>
                  </a:lnTo>
                  <a:lnTo>
                    <a:pt x="97017" y="8199"/>
                  </a:lnTo>
                  <a:lnTo>
                    <a:pt x="135956" y="0"/>
                  </a:lnTo>
                  <a:lnTo>
                    <a:pt x="155768" y="0"/>
                  </a:lnTo>
                  <a:lnTo>
                    <a:pt x="193349" y="8199"/>
                  </a:lnTo>
                  <a:lnTo>
                    <a:pt x="228874" y="25283"/>
                  </a:lnTo>
                  <a:lnTo>
                    <a:pt x="257571" y="51236"/>
                  </a:lnTo>
                  <a:lnTo>
                    <a:pt x="278754" y="84033"/>
                  </a:lnTo>
                  <a:lnTo>
                    <a:pt x="290367" y="139385"/>
                  </a:lnTo>
                  <a:lnTo>
                    <a:pt x="289011" y="157825"/>
                  </a:lnTo>
                  <a:lnTo>
                    <a:pt x="269199" y="211119"/>
                  </a:lnTo>
                  <a:lnTo>
                    <a:pt x="244601" y="240502"/>
                  </a:lnTo>
                  <a:lnTo>
                    <a:pt x="211805" y="262356"/>
                  </a:lnTo>
                  <a:lnTo>
                    <a:pt x="174223" y="275341"/>
                  </a:lnTo>
                  <a:lnTo>
                    <a:pt x="155768" y="278069"/>
                  </a:lnTo>
                  <a:lnTo>
                    <a:pt x="135956" y="278069"/>
                  </a:lnTo>
                  <a:lnTo>
                    <a:pt x="97017" y="270555"/>
                  </a:lnTo>
                  <a:lnTo>
                    <a:pt x="61493" y="252801"/>
                  </a:lnTo>
                  <a:lnTo>
                    <a:pt x="32796" y="226832"/>
                  </a:lnTo>
                  <a:lnTo>
                    <a:pt x="12298" y="194035"/>
                  </a:lnTo>
                  <a:lnTo>
                    <a:pt x="0" y="139385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188698" y="7845318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29" h="278129">
                  <a:moveTo>
                    <a:pt x="154411" y="0"/>
                  </a:moveTo>
                  <a:lnTo>
                    <a:pt x="134599" y="0"/>
                  </a:lnTo>
                  <a:lnTo>
                    <a:pt x="115473" y="2727"/>
                  </a:lnTo>
                  <a:lnTo>
                    <a:pt x="77891" y="15712"/>
                  </a:lnTo>
                  <a:lnTo>
                    <a:pt x="45780" y="37581"/>
                  </a:lnTo>
                  <a:lnTo>
                    <a:pt x="21183" y="66949"/>
                  </a:lnTo>
                  <a:lnTo>
                    <a:pt x="5471" y="101803"/>
                  </a:lnTo>
                  <a:lnTo>
                    <a:pt x="0" y="139385"/>
                  </a:lnTo>
                  <a:lnTo>
                    <a:pt x="1371" y="157825"/>
                  </a:lnTo>
                  <a:lnTo>
                    <a:pt x="21183" y="211119"/>
                  </a:lnTo>
                  <a:lnTo>
                    <a:pt x="45780" y="240502"/>
                  </a:lnTo>
                  <a:lnTo>
                    <a:pt x="77891" y="262356"/>
                  </a:lnTo>
                  <a:lnTo>
                    <a:pt x="115473" y="275341"/>
                  </a:lnTo>
                  <a:lnTo>
                    <a:pt x="134599" y="278069"/>
                  </a:lnTo>
                  <a:lnTo>
                    <a:pt x="154411" y="278069"/>
                  </a:lnTo>
                  <a:lnTo>
                    <a:pt x="193365" y="270555"/>
                  </a:lnTo>
                  <a:lnTo>
                    <a:pt x="228889" y="252801"/>
                  </a:lnTo>
                  <a:lnTo>
                    <a:pt x="257586" y="226832"/>
                  </a:lnTo>
                  <a:lnTo>
                    <a:pt x="278084" y="194035"/>
                  </a:lnTo>
                  <a:lnTo>
                    <a:pt x="290382" y="139385"/>
                  </a:lnTo>
                  <a:lnTo>
                    <a:pt x="289011" y="120243"/>
                  </a:lnTo>
                  <a:lnTo>
                    <a:pt x="269199" y="66949"/>
                  </a:lnTo>
                  <a:lnTo>
                    <a:pt x="243916" y="37581"/>
                  </a:lnTo>
                  <a:lnTo>
                    <a:pt x="211805" y="15712"/>
                  </a:lnTo>
                  <a:lnTo>
                    <a:pt x="174223" y="2727"/>
                  </a:lnTo>
                  <a:lnTo>
                    <a:pt x="15441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188698" y="7845318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29" h="278129">
                  <a:moveTo>
                    <a:pt x="0" y="139385"/>
                  </a:moveTo>
                  <a:lnTo>
                    <a:pt x="11612" y="84033"/>
                  </a:lnTo>
                  <a:lnTo>
                    <a:pt x="32796" y="51236"/>
                  </a:lnTo>
                  <a:lnTo>
                    <a:pt x="61493" y="25283"/>
                  </a:lnTo>
                  <a:lnTo>
                    <a:pt x="96347" y="8199"/>
                  </a:lnTo>
                  <a:lnTo>
                    <a:pt x="134599" y="0"/>
                  </a:lnTo>
                  <a:lnTo>
                    <a:pt x="154411" y="0"/>
                  </a:lnTo>
                  <a:lnTo>
                    <a:pt x="193365" y="8199"/>
                  </a:lnTo>
                  <a:lnTo>
                    <a:pt x="228889" y="25283"/>
                  </a:lnTo>
                  <a:lnTo>
                    <a:pt x="257586" y="51236"/>
                  </a:lnTo>
                  <a:lnTo>
                    <a:pt x="278084" y="84033"/>
                  </a:lnTo>
                  <a:lnTo>
                    <a:pt x="290382" y="139385"/>
                  </a:lnTo>
                  <a:lnTo>
                    <a:pt x="289011" y="157825"/>
                  </a:lnTo>
                  <a:lnTo>
                    <a:pt x="269199" y="211119"/>
                  </a:lnTo>
                  <a:lnTo>
                    <a:pt x="243916" y="240502"/>
                  </a:lnTo>
                  <a:lnTo>
                    <a:pt x="211805" y="262356"/>
                  </a:lnTo>
                  <a:lnTo>
                    <a:pt x="174223" y="275341"/>
                  </a:lnTo>
                  <a:lnTo>
                    <a:pt x="154411" y="278069"/>
                  </a:lnTo>
                  <a:lnTo>
                    <a:pt x="134599" y="278069"/>
                  </a:lnTo>
                  <a:lnTo>
                    <a:pt x="96347" y="270555"/>
                  </a:lnTo>
                  <a:lnTo>
                    <a:pt x="61493" y="252801"/>
                  </a:lnTo>
                  <a:lnTo>
                    <a:pt x="32796" y="226832"/>
                  </a:lnTo>
                  <a:lnTo>
                    <a:pt x="11612" y="194035"/>
                  </a:lnTo>
                  <a:lnTo>
                    <a:pt x="0" y="139385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851602" y="6648277"/>
              <a:ext cx="1337310" cy="0"/>
            </a:xfrm>
            <a:custGeom>
              <a:avLst/>
              <a:gdLst/>
              <a:ahLst/>
              <a:cxnLst/>
              <a:rect l="l" t="t" r="r" b="b"/>
              <a:pathLst>
                <a:path w="1337310" h="0">
                  <a:moveTo>
                    <a:pt x="0" y="0"/>
                  </a:moveTo>
                  <a:lnTo>
                    <a:pt x="1337096" y="0"/>
                  </a:lnTo>
                </a:path>
              </a:pathLst>
            </a:custGeom>
            <a:ln w="51242">
              <a:solidFill>
                <a:srgbClr val="E84A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333554" y="6786976"/>
              <a:ext cx="0" cy="1058545"/>
            </a:xfrm>
            <a:custGeom>
              <a:avLst/>
              <a:gdLst/>
              <a:ahLst/>
              <a:cxnLst/>
              <a:rect l="l" t="t" r="r" b="b"/>
              <a:pathLst>
                <a:path w="0" h="1058545">
                  <a:moveTo>
                    <a:pt x="0" y="0"/>
                  </a:moveTo>
                  <a:lnTo>
                    <a:pt x="0" y="1058341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851602" y="7984703"/>
              <a:ext cx="1337310" cy="0"/>
            </a:xfrm>
            <a:custGeom>
              <a:avLst/>
              <a:gdLst/>
              <a:ahLst/>
              <a:cxnLst/>
              <a:rect l="l" t="t" r="r" b="b"/>
              <a:pathLst>
                <a:path w="1337310" h="0">
                  <a:moveTo>
                    <a:pt x="0" y="0"/>
                  </a:moveTo>
                  <a:lnTo>
                    <a:pt x="1337096" y="0"/>
                  </a:lnTo>
                </a:path>
              </a:pathLst>
            </a:custGeom>
            <a:ln w="51242">
              <a:solidFill>
                <a:srgbClr val="E84A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706761" y="6786976"/>
              <a:ext cx="0" cy="1058545"/>
            </a:xfrm>
            <a:custGeom>
              <a:avLst/>
              <a:gdLst/>
              <a:ahLst/>
              <a:cxnLst/>
              <a:rect l="l" t="t" r="r" b="b"/>
              <a:pathLst>
                <a:path w="0" h="1058545">
                  <a:moveTo>
                    <a:pt x="0" y="0"/>
                  </a:moveTo>
                  <a:lnTo>
                    <a:pt x="0" y="1058341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" name="object 57"/>
          <p:cNvSpPr txBox="1"/>
          <p:nvPr/>
        </p:nvSpPr>
        <p:spPr>
          <a:xfrm>
            <a:off x="2640760" y="6516020"/>
            <a:ext cx="120650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35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638027" y="7851755"/>
            <a:ext cx="111125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35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290779" y="7876352"/>
            <a:ext cx="73025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35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4258667" y="6515344"/>
            <a:ext cx="120650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35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954203" y="7158953"/>
            <a:ext cx="120650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350">
              <a:latin typeface="Arial"/>
              <a:cs typeface="Arial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3403655" y="7177791"/>
            <a:ext cx="291465" cy="277495"/>
          </a:xfrm>
          <a:custGeom>
            <a:avLst/>
            <a:gdLst/>
            <a:ahLst/>
            <a:cxnLst/>
            <a:rect l="l" t="t" r="r" b="b"/>
            <a:pathLst>
              <a:path w="291464" h="277495">
                <a:moveTo>
                  <a:pt x="0" y="138699"/>
                </a:moveTo>
                <a:lnTo>
                  <a:pt x="5471" y="100431"/>
                </a:lnTo>
                <a:lnTo>
                  <a:pt x="21183" y="65592"/>
                </a:lnTo>
                <a:lnTo>
                  <a:pt x="46466" y="36896"/>
                </a:lnTo>
                <a:lnTo>
                  <a:pt x="79263" y="15026"/>
                </a:lnTo>
                <a:lnTo>
                  <a:pt x="115473" y="2727"/>
                </a:lnTo>
                <a:lnTo>
                  <a:pt x="135285" y="0"/>
                </a:lnTo>
                <a:lnTo>
                  <a:pt x="155097" y="0"/>
                </a:lnTo>
                <a:lnTo>
                  <a:pt x="194050" y="7513"/>
                </a:lnTo>
                <a:lnTo>
                  <a:pt x="229575" y="25283"/>
                </a:lnTo>
                <a:lnTo>
                  <a:pt x="258272" y="51236"/>
                </a:lnTo>
                <a:lnTo>
                  <a:pt x="285597" y="100431"/>
                </a:lnTo>
                <a:lnTo>
                  <a:pt x="291068" y="138699"/>
                </a:lnTo>
                <a:lnTo>
                  <a:pt x="289697" y="157139"/>
                </a:lnTo>
                <a:lnTo>
                  <a:pt x="278770" y="194035"/>
                </a:lnTo>
                <a:lnTo>
                  <a:pt x="244601" y="240502"/>
                </a:lnTo>
                <a:lnTo>
                  <a:pt x="212491" y="262371"/>
                </a:lnTo>
                <a:lnTo>
                  <a:pt x="174909" y="275341"/>
                </a:lnTo>
                <a:lnTo>
                  <a:pt x="155097" y="277398"/>
                </a:lnTo>
                <a:lnTo>
                  <a:pt x="135285" y="277398"/>
                </a:lnTo>
                <a:lnTo>
                  <a:pt x="96347" y="269885"/>
                </a:lnTo>
                <a:lnTo>
                  <a:pt x="62179" y="252115"/>
                </a:lnTo>
                <a:lnTo>
                  <a:pt x="32796" y="226146"/>
                </a:lnTo>
                <a:lnTo>
                  <a:pt x="5471" y="176281"/>
                </a:lnTo>
                <a:lnTo>
                  <a:pt x="0" y="138699"/>
                </a:lnTo>
              </a:path>
            </a:pathLst>
          </a:custGeom>
          <a:ln w="17080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 txBox="1"/>
          <p:nvPr/>
        </p:nvSpPr>
        <p:spPr>
          <a:xfrm>
            <a:off x="3482516" y="7184218"/>
            <a:ext cx="120650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64" name="object 64"/>
          <p:cNvGrpSpPr/>
          <p:nvPr/>
        </p:nvGrpSpPr>
        <p:grpSpPr>
          <a:xfrm>
            <a:off x="2064082" y="6707294"/>
            <a:ext cx="2904490" cy="1223645"/>
            <a:chOff x="2064082" y="6707294"/>
            <a:chExt cx="2904490" cy="1223645"/>
          </a:xfrm>
        </p:grpSpPr>
        <p:sp>
          <p:nvSpPr>
            <p:cNvPr id="65" name="object 65"/>
            <p:cNvSpPr/>
            <p:nvPr/>
          </p:nvSpPr>
          <p:spPr>
            <a:xfrm>
              <a:off x="2098685" y="6724812"/>
              <a:ext cx="487680" cy="482600"/>
            </a:xfrm>
            <a:custGeom>
              <a:avLst/>
              <a:gdLst/>
              <a:ahLst/>
              <a:cxnLst/>
              <a:rect l="l" t="t" r="r" b="b"/>
              <a:pathLst>
                <a:path w="487680" h="482600">
                  <a:moveTo>
                    <a:pt x="0" y="482361"/>
                  </a:moveTo>
                  <a:lnTo>
                    <a:pt x="487146" y="0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2089800" y="6733011"/>
              <a:ext cx="2853055" cy="1172210"/>
            </a:xfrm>
            <a:custGeom>
              <a:avLst/>
              <a:gdLst/>
              <a:ahLst/>
              <a:cxnLst/>
              <a:rect l="l" t="t" r="r" b="b"/>
              <a:pathLst>
                <a:path w="2853054" h="1172209">
                  <a:moveTo>
                    <a:pt x="0" y="699622"/>
                  </a:moveTo>
                  <a:lnTo>
                    <a:pt x="497387" y="1171742"/>
                  </a:lnTo>
                </a:path>
                <a:path w="2853054" h="1172209">
                  <a:moveTo>
                    <a:pt x="2351013" y="1157401"/>
                  </a:moveTo>
                  <a:lnTo>
                    <a:pt x="2847045" y="689381"/>
                  </a:lnTo>
                </a:path>
                <a:path w="2853054" h="1172209">
                  <a:moveTo>
                    <a:pt x="2359212" y="0"/>
                  </a:moveTo>
                  <a:lnTo>
                    <a:pt x="2852516" y="473476"/>
                  </a:lnTo>
                </a:path>
              </a:pathLst>
            </a:custGeom>
            <a:ln w="51242">
              <a:solidFill>
                <a:srgbClr val="E84A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2809250" y="6741211"/>
              <a:ext cx="1431290" cy="1145540"/>
            </a:xfrm>
            <a:custGeom>
              <a:avLst/>
              <a:gdLst/>
              <a:ahLst/>
              <a:cxnLst/>
              <a:rect l="l" t="t" r="r" b="b"/>
              <a:pathLst>
                <a:path w="1431289" h="1145540">
                  <a:moveTo>
                    <a:pt x="0" y="5455"/>
                  </a:moveTo>
                  <a:lnTo>
                    <a:pt x="625160" y="489874"/>
                  </a:lnTo>
                </a:path>
                <a:path w="1431289" h="1145540">
                  <a:moveTo>
                    <a:pt x="850620" y="666155"/>
                  </a:moveTo>
                  <a:lnTo>
                    <a:pt x="1430700" y="1136903"/>
                  </a:lnTo>
                </a:path>
                <a:path w="1431289" h="1145540">
                  <a:moveTo>
                    <a:pt x="850620" y="485089"/>
                  </a:moveTo>
                  <a:lnTo>
                    <a:pt x="1417030" y="0"/>
                  </a:lnTo>
                </a:path>
                <a:path w="1431289" h="1145540">
                  <a:moveTo>
                    <a:pt x="623102" y="657270"/>
                  </a:moveTo>
                  <a:lnTo>
                    <a:pt x="0" y="1145103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/>
          <p:cNvSpPr txBox="1"/>
          <p:nvPr/>
        </p:nvSpPr>
        <p:spPr>
          <a:xfrm>
            <a:off x="1934298" y="6887693"/>
            <a:ext cx="130175" cy="52705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marL="31750">
              <a:lnSpc>
                <a:spcPct val="100000"/>
              </a:lnSpc>
              <a:spcBef>
                <a:spcPts val="455"/>
              </a:spcBef>
            </a:pPr>
            <a:r>
              <a:rPr dirty="0" sz="1350" spc="-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35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500111" y="6088989"/>
            <a:ext cx="377190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(e,g)</a:t>
            </a:r>
            <a:endParaRPr sz="1350">
              <a:latin typeface="Arial"/>
              <a:cs typeface="Arial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5505297" y="5854364"/>
            <a:ext cx="466725" cy="2446020"/>
          </a:xfrm>
          <a:custGeom>
            <a:avLst/>
            <a:gdLst/>
            <a:ahLst/>
            <a:cxnLst/>
            <a:rect l="l" t="t" r="r" b="b"/>
            <a:pathLst>
              <a:path w="466725" h="2446020">
                <a:moveTo>
                  <a:pt x="0" y="0"/>
                </a:moveTo>
                <a:lnTo>
                  <a:pt x="0" y="2445989"/>
                </a:lnTo>
              </a:path>
              <a:path w="466725" h="2446020">
                <a:moveTo>
                  <a:pt x="466648" y="0"/>
                </a:moveTo>
                <a:lnTo>
                  <a:pt x="466648" y="2445989"/>
                </a:lnTo>
              </a:path>
              <a:path w="466725" h="2446020">
                <a:moveTo>
                  <a:pt x="0" y="2445989"/>
                </a:moveTo>
                <a:lnTo>
                  <a:pt x="460507" y="2445989"/>
                </a:lnTo>
              </a:path>
            </a:pathLst>
          </a:custGeom>
          <a:ln w="17080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 txBox="1"/>
          <p:nvPr/>
        </p:nvSpPr>
        <p:spPr>
          <a:xfrm>
            <a:off x="5512420" y="8302681"/>
            <a:ext cx="424180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50" spc="-5" i="1">
                <a:solidFill>
                  <a:srgbClr val="FFFF00"/>
                </a:solidFill>
                <a:latin typeface="Arial"/>
                <a:cs typeface="Arial"/>
              </a:rPr>
              <a:t>stack</a:t>
            </a:r>
            <a:endParaRPr sz="135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506260" y="6262530"/>
            <a:ext cx="389255" cy="205803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(e,d)</a:t>
            </a:r>
            <a:endParaRPr sz="1350">
              <a:latin typeface="Arial"/>
              <a:cs typeface="Arial"/>
            </a:endParaRPr>
          </a:p>
          <a:p>
            <a:pPr marL="34925">
              <a:lnSpc>
                <a:spcPct val="100000"/>
              </a:lnSpc>
              <a:spcBef>
                <a:spcPts val="90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(e,f)</a:t>
            </a:r>
            <a:endParaRPr sz="1350">
              <a:latin typeface="Arial"/>
              <a:cs typeface="Arial"/>
            </a:endParaRPr>
          </a:p>
          <a:p>
            <a:pPr marL="45720">
              <a:lnSpc>
                <a:spcPct val="100000"/>
              </a:lnSpc>
              <a:spcBef>
                <a:spcPts val="3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(g,f)</a:t>
            </a:r>
            <a:endParaRPr sz="1350">
              <a:latin typeface="Arial"/>
              <a:cs typeface="Arial"/>
            </a:endParaRPr>
          </a:p>
          <a:p>
            <a:pPr marL="54610">
              <a:lnSpc>
                <a:spcPts val="1590"/>
              </a:lnSpc>
              <a:spcBef>
                <a:spcPts val="70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(f,c)</a:t>
            </a:r>
            <a:endParaRPr sz="1350">
              <a:latin typeface="Arial"/>
              <a:cs typeface="Arial"/>
            </a:endParaRPr>
          </a:p>
          <a:p>
            <a:pPr marL="45720">
              <a:lnSpc>
                <a:spcPts val="1585"/>
              </a:lnSpc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(f,d)</a:t>
            </a:r>
            <a:endParaRPr sz="1350">
              <a:latin typeface="Arial"/>
              <a:cs typeface="Arial"/>
            </a:endParaRPr>
          </a:p>
          <a:p>
            <a:pPr marL="48895">
              <a:lnSpc>
                <a:spcPts val="1590"/>
              </a:lnSpc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(f,e)</a:t>
            </a:r>
            <a:endParaRPr sz="1350">
              <a:latin typeface="Arial"/>
              <a:cs typeface="Arial"/>
            </a:endParaRPr>
          </a:p>
          <a:p>
            <a:pPr marL="33655">
              <a:lnSpc>
                <a:spcPts val="1535"/>
              </a:lnSpc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(c,a)</a:t>
            </a:r>
            <a:endParaRPr sz="1350">
              <a:latin typeface="Arial"/>
              <a:cs typeface="Arial"/>
            </a:endParaRPr>
          </a:p>
          <a:p>
            <a:pPr marL="31750">
              <a:lnSpc>
                <a:spcPts val="1495"/>
              </a:lnSpc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(c,d)</a:t>
            </a:r>
            <a:endParaRPr sz="1350">
              <a:latin typeface="Arial"/>
              <a:cs typeface="Arial"/>
            </a:endParaRPr>
          </a:p>
          <a:p>
            <a:pPr marL="31750">
              <a:lnSpc>
                <a:spcPts val="1500"/>
              </a:lnSpc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(c,b)</a:t>
            </a:r>
            <a:endParaRPr sz="1350">
              <a:latin typeface="Arial"/>
              <a:cs typeface="Arial"/>
            </a:endParaRPr>
          </a:p>
          <a:p>
            <a:pPr marL="24765">
              <a:lnSpc>
                <a:spcPts val="1560"/>
              </a:lnSpc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(a,b)</a:t>
            </a:r>
            <a:endParaRPr sz="135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400629" y="8742743"/>
            <a:ext cx="3428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8.18: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‘b’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popped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12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90700" y="939190"/>
            <a:ext cx="4648200" cy="2888615"/>
            <a:chOff x="1790700" y="939190"/>
            <a:chExt cx="4648200" cy="2888615"/>
          </a:xfrm>
        </p:grpSpPr>
        <p:sp>
          <p:nvSpPr>
            <p:cNvPr id="5" name="object 5"/>
            <p:cNvSpPr/>
            <p:nvPr/>
          </p:nvSpPr>
          <p:spPr>
            <a:xfrm>
              <a:off x="1790700" y="939190"/>
              <a:ext cx="4648200" cy="2888615"/>
            </a:xfrm>
            <a:custGeom>
              <a:avLst/>
              <a:gdLst/>
              <a:ahLst/>
              <a:cxnLst/>
              <a:rect l="l" t="t" r="r" b="b"/>
              <a:pathLst>
                <a:path w="4648200" h="2888615">
                  <a:moveTo>
                    <a:pt x="4648001" y="0"/>
                  </a:moveTo>
                  <a:lnTo>
                    <a:pt x="0" y="0"/>
                  </a:lnTo>
                  <a:lnTo>
                    <a:pt x="0" y="2888589"/>
                  </a:lnTo>
                  <a:lnTo>
                    <a:pt x="4648001" y="2888589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885608" y="2328270"/>
              <a:ext cx="290830" cy="277495"/>
            </a:xfrm>
            <a:custGeom>
              <a:avLst/>
              <a:gdLst/>
              <a:ahLst/>
              <a:cxnLst/>
              <a:rect l="l" t="t" r="r" b="b"/>
              <a:pathLst>
                <a:path w="290829" h="277494">
                  <a:moveTo>
                    <a:pt x="155097" y="0"/>
                  </a:moveTo>
                  <a:lnTo>
                    <a:pt x="135285" y="0"/>
                  </a:lnTo>
                  <a:lnTo>
                    <a:pt x="116144" y="2727"/>
                  </a:lnTo>
                  <a:lnTo>
                    <a:pt x="78562" y="15026"/>
                  </a:lnTo>
                  <a:lnTo>
                    <a:pt x="46451" y="36896"/>
                  </a:lnTo>
                  <a:lnTo>
                    <a:pt x="21183" y="65592"/>
                  </a:lnTo>
                  <a:lnTo>
                    <a:pt x="5455" y="100431"/>
                  </a:lnTo>
                  <a:lnTo>
                    <a:pt x="0" y="138699"/>
                  </a:lnTo>
                  <a:lnTo>
                    <a:pt x="1356" y="157139"/>
                  </a:lnTo>
                  <a:lnTo>
                    <a:pt x="12298" y="194035"/>
                  </a:lnTo>
                  <a:lnTo>
                    <a:pt x="46451" y="240502"/>
                  </a:lnTo>
                  <a:lnTo>
                    <a:pt x="78562" y="262371"/>
                  </a:lnTo>
                  <a:lnTo>
                    <a:pt x="116144" y="275341"/>
                  </a:lnTo>
                  <a:lnTo>
                    <a:pt x="135285" y="277398"/>
                  </a:lnTo>
                  <a:lnTo>
                    <a:pt x="155097" y="277398"/>
                  </a:lnTo>
                  <a:lnTo>
                    <a:pt x="194035" y="269885"/>
                  </a:lnTo>
                  <a:lnTo>
                    <a:pt x="228874" y="252115"/>
                  </a:lnTo>
                  <a:lnTo>
                    <a:pt x="258257" y="226146"/>
                  </a:lnTo>
                  <a:lnTo>
                    <a:pt x="285597" y="176281"/>
                  </a:lnTo>
                  <a:lnTo>
                    <a:pt x="290367" y="138699"/>
                  </a:lnTo>
                  <a:lnTo>
                    <a:pt x="289697" y="119573"/>
                  </a:lnTo>
                  <a:lnTo>
                    <a:pt x="278754" y="82676"/>
                  </a:lnTo>
                  <a:lnTo>
                    <a:pt x="244601" y="36896"/>
                  </a:lnTo>
                  <a:lnTo>
                    <a:pt x="211805" y="15026"/>
                  </a:lnTo>
                  <a:lnTo>
                    <a:pt x="174909" y="2727"/>
                  </a:lnTo>
                  <a:lnTo>
                    <a:pt x="155097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885608" y="2328270"/>
              <a:ext cx="290830" cy="277495"/>
            </a:xfrm>
            <a:custGeom>
              <a:avLst/>
              <a:gdLst/>
              <a:ahLst/>
              <a:cxnLst/>
              <a:rect l="l" t="t" r="r" b="b"/>
              <a:pathLst>
                <a:path w="290829" h="277494">
                  <a:moveTo>
                    <a:pt x="0" y="138699"/>
                  </a:moveTo>
                  <a:lnTo>
                    <a:pt x="5455" y="100431"/>
                  </a:lnTo>
                  <a:lnTo>
                    <a:pt x="21183" y="65592"/>
                  </a:lnTo>
                  <a:lnTo>
                    <a:pt x="46451" y="36896"/>
                  </a:lnTo>
                  <a:lnTo>
                    <a:pt x="78562" y="15026"/>
                  </a:lnTo>
                  <a:lnTo>
                    <a:pt x="116144" y="2727"/>
                  </a:lnTo>
                  <a:lnTo>
                    <a:pt x="135285" y="0"/>
                  </a:lnTo>
                  <a:lnTo>
                    <a:pt x="155097" y="0"/>
                  </a:lnTo>
                  <a:lnTo>
                    <a:pt x="194035" y="7513"/>
                  </a:lnTo>
                  <a:lnTo>
                    <a:pt x="228874" y="25283"/>
                  </a:lnTo>
                  <a:lnTo>
                    <a:pt x="258257" y="51236"/>
                  </a:lnTo>
                  <a:lnTo>
                    <a:pt x="285597" y="100431"/>
                  </a:lnTo>
                  <a:lnTo>
                    <a:pt x="290367" y="138699"/>
                  </a:lnTo>
                  <a:lnTo>
                    <a:pt x="289697" y="157139"/>
                  </a:lnTo>
                  <a:lnTo>
                    <a:pt x="278754" y="194035"/>
                  </a:lnTo>
                  <a:lnTo>
                    <a:pt x="244601" y="240502"/>
                  </a:lnTo>
                  <a:lnTo>
                    <a:pt x="211805" y="262371"/>
                  </a:lnTo>
                  <a:lnTo>
                    <a:pt x="174909" y="275341"/>
                  </a:lnTo>
                  <a:lnTo>
                    <a:pt x="155097" y="277398"/>
                  </a:lnTo>
                  <a:lnTo>
                    <a:pt x="135285" y="277398"/>
                  </a:lnTo>
                  <a:lnTo>
                    <a:pt x="97017" y="269885"/>
                  </a:lnTo>
                  <a:lnTo>
                    <a:pt x="61493" y="252115"/>
                  </a:lnTo>
                  <a:lnTo>
                    <a:pt x="32796" y="226146"/>
                  </a:lnTo>
                  <a:lnTo>
                    <a:pt x="5455" y="176281"/>
                  </a:lnTo>
                  <a:lnTo>
                    <a:pt x="0" y="138699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864324" y="2328270"/>
              <a:ext cx="290830" cy="277495"/>
            </a:xfrm>
            <a:custGeom>
              <a:avLst/>
              <a:gdLst/>
              <a:ahLst/>
              <a:cxnLst/>
              <a:rect l="l" t="t" r="r" b="b"/>
              <a:pathLst>
                <a:path w="290830" h="277494">
                  <a:moveTo>
                    <a:pt x="154411" y="0"/>
                  </a:moveTo>
                  <a:lnTo>
                    <a:pt x="134599" y="0"/>
                  </a:lnTo>
                  <a:lnTo>
                    <a:pt x="114787" y="2727"/>
                  </a:lnTo>
                  <a:lnTo>
                    <a:pt x="78577" y="15026"/>
                  </a:lnTo>
                  <a:lnTo>
                    <a:pt x="45780" y="36896"/>
                  </a:lnTo>
                  <a:lnTo>
                    <a:pt x="11612" y="82676"/>
                  </a:lnTo>
                  <a:lnTo>
                    <a:pt x="1371" y="119573"/>
                  </a:lnTo>
                  <a:lnTo>
                    <a:pt x="0" y="138699"/>
                  </a:lnTo>
                  <a:lnTo>
                    <a:pt x="1371" y="157139"/>
                  </a:lnTo>
                  <a:lnTo>
                    <a:pt x="11612" y="194035"/>
                  </a:lnTo>
                  <a:lnTo>
                    <a:pt x="45780" y="240502"/>
                  </a:lnTo>
                  <a:lnTo>
                    <a:pt x="78577" y="262371"/>
                  </a:lnTo>
                  <a:lnTo>
                    <a:pt x="114787" y="275341"/>
                  </a:lnTo>
                  <a:lnTo>
                    <a:pt x="134599" y="277398"/>
                  </a:lnTo>
                  <a:lnTo>
                    <a:pt x="154411" y="277398"/>
                  </a:lnTo>
                  <a:lnTo>
                    <a:pt x="193365" y="269885"/>
                  </a:lnTo>
                  <a:lnTo>
                    <a:pt x="228889" y="252115"/>
                  </a:lnTo>
                  <a:lnTo>
                    <a:pt x="257586" y="226146"/>
                  </a:lnTo>
                  <a:lnTo>
                    <a:pt x="284911" y="176281"/>
                  </a:lnTo>
                  <a:lnTo>
                    <a:pt x="290382" y="138699"/>
                  </a:lnTo>
                  <a:lnTo>
                    <a:pt x="289011" y="119573"/>
                  </a:lnTo>
                  <a:lnTo>
                    <a:pt x="278084" y="82676"/>
                  </a:lnTo>
                  <a:lnTo>
                    <a:pt x="243916" y="36896"/>
                  </a:lnTo>
                  <a:lnTo>
                    <a:pt x="211805" y="15026"/>
                  </a:lnTo>
                  <a:lnTo>
                    <a:pt x="174223" y="2727"/>
                  </a:lnTo>
                  <a:lnTo>
                    <a:pt x="15441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864324" y="2328270"/>
              <a:ext cx="290830" cy="277495"/>
            </a:xfrm>
            <a:custGeom>
              <a:avLst/>
              <a:gdLst/>
              <a:ahLst/>
              <a:cxnLst/>
              <a:rect l="l" t="t" r="r" b="b"/>
              <a:pathLst>
                <a:path w="290830" h="277494">
                  <a:moveTo>
                    <a:pt x="0" y="138699"/>
                  </a:moveTo>
                  <a:lnTo>
                    <a:pt x="4785" y="100431"/>
                  </a:lnTo>
                  <a:lnTo>
                    <a:pt x="21183" y="65592"/>
                  </a:lnTo>
                  <a:lnTo>
                    <a:pt x="61493" y="25283"/>
                  </a:lnTo>
                  <a:lnTo>
                    <a:pt x="95661" y="7513"/>
                  </a:lnTo>
                  <a:lnTo>
                    <a:pt x="134599" y="0"/>
                  </a:lnTo>
                  <a:lnTo>
                    <a:pt x="154411" y="0"/>
                  </a:lnTo>
                  <a:lnTo>
                    <a:pt x="193365" y="7513"/>
                  </a:lnTo>
                  <a:lnTo>
                    <a:pt x="228889" y="25283"/>
                  </a:lnTo>
                  <a:lnTo>
                    <a:pt x="257586" y="51236"/>
                  </a:lnTo>
                  <a:lnTo>
                    <a:pt x="284911" y="100431"/>
                  </a:lnTo>
                  <a:lnTo>
                    <a:pt x="290382" y="138699"/>
                  </a:lnTo>
                  <a:lnTo>
                    <a:pt x="289011" y="157139"/>
                  </a:lnTo>
                  <a:lnTo>
                    <a:pt x="278084" y="194035"/>
                  </a:lnTo>
                  <a:lnTo>
                    <a:pt x="243916" y="240502"/>
                  </a:lnTo>
                  <a:lnTo>
                    <a:pt x="211805" y="262371"/>
                  </a:lnTo>
                  <a:lnTo>
                    <a:pt x="174223" y="275341"/>
                  </a:lnTo>
                  <a:lnTo>
                    <a:pt x="154411" y="277398"/>
                  </a:lnTo>
                  <a:lnTo>
                    <a:pt x="134599" y="277398"/>
                  </a:lnTo>
                  <a:lnTo>
                    <a:pt x="95661" y="269885"/>
                  </a:lnTo>
                  <a:lnTo>
                    <a:pt x="61493" y="252115"/>
                  </a:lnTo>
                  <a:lnTo>
                    <a:pt x="32110" y="226146"/>
                  </a:lnTo>
                  <a:lnTo>
                    <a:pt x="4785" y="176281"/>
                  </a:lnTo>
                  <a:lnTo>
                    <a:pt x="0" y="138699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561234" y="1659387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30" h="278130">
                  <a:moveTo>
                    <a:pt x="155768" y="0"/>
                  </a:moveTo>
                  <a:lnTo>
                    <a:pt x="135956" y="0"/>
                  </a:lnTo>
                  <a:lnTo>
                    <a:pt x="116144" y="2727"/>
                  </a:lnTo>
                  <a:lnTo>
                    <a:pt x="78562" y="15712"/>
                  </a:lnTo>
                  <a:lnTo>
                    <a:pt x="46451" y="37566"/>
                  </a:lnTo>
                  <a:lnTo>
                    <a:pt x="21183" y="66949"/>
                  </a:lnTo>
                  <a:lnTo>
                    <a:pt x="5455" y="101803"/>
                  </a:lnTo>
                  <a:lnTo>
                    <a:pt x="0" y="139369"/>
                  </a:lnTo>
                  <a:lnTo>
                    <a:pt x="1356" y="158511"/>
                  </a:lnTo>
                  <a:lnTo>
                    <a:pt x="21183" y="211805"/>
                  </a:lnTo>
                  <a:lnTo>
                    <a:pt x="46451" y="240487"/>
                  </a:lnTo>
                  <a:lnTo>
                    <a:pt x="78562" y="262356"/>
                  </a:lnTo>
                  <a:lnTo>
                    <a:pt x="116144" y="275341"/>
                  </a:lnTo>
                  <a:lnTo>
                    <a:pt x="135956" y="278069"/>
                  </a:lnTo>
                  <a:lnTo>
                    <a:pt x="155768" y="278069"/>
                  </a:lnTo>
                  <a:lnTo>
                    <a:pt x="193349" y="270555"/>
                  </a:lnTo>
                  <a:lnTo>
                    <a:pt x="228874" y="252785"/>
                  </a:lnTo>
                  <a:lnTo>
                    <a:pt x="257571" y="226832"/>
                  </a:lnTo>
                  <a:lnTo>
                    <a:pt x="278754" y="194721"/>
                  </a:lnTo>
                  <a:lnTo>
                    <a:pt x="290367" y="139369"/>
                  </a:lnTo>
                  <a:lnTo>
                    <a:pt x="289011" y="120243"/>
                  </a:lnTo>
                  <a:lnTo>
                    <a:pt x="269199" y="66949"/>
                  </a:lnTo>
                  <a:lnTo>
                    <a:pt x="244601" y="37566"/>
                  </a:lnTo>
                  <a:lnTo>
                    <a:pt x="211805" y="15712"/>
                  </a:lnTo>
                  <a:lnTo>
                    <a:pt x="174223" y="2727"/>
                  </a:lnTo>
                  <a:lnTo>
                    <a:pt x="155768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561234" y="1659387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30" h="278130">
                  <a:moveTo>
                    <a:pt x="0" y="139369"/>
                  </a:moveTo>
                  <a:lnTo>
                    <a:pt x="12298" y="84033"/>
                  </a:lnTo>
                  <a:lnTo>
                    <a:pt x="32796" y="51236"/>
                  </a:lnTo>
                  <a:lnTo>
                    <a:pt x="61493" y="25267"/>
                  </a:lnTo>
                  <a:lnTo>
                    <a:pt x="97017" y="8199"/>
                  </a:lnTo>
                  <a:lnTo>
                    <a:pt x="135956" y="0"/>
                  </a:lnTo>
                  <a:lnTo>
                    <a:pt x="155768" y="0"/>
                  </a:lnTo>
                  <a:lnTo>
                    <a:pt x="193349" y="8199"/>
                  </a:lnTo>
                  <a:lnTo>
                    <a:pt x="228874" y="25267"/>
                  </a:lnTo>
                  <a:lnTo>
                    <a:pt x="257571" y="51236"/>
                  </a:lnTo>
                  <a:lnTo>
                    <a:pt x="278754" y="84033"/>
                  </a:lnTo>
                  <a:lnTo>
                    <a:pt x="290367" y="139369"/>
                  </a:lnTo>
                  <a:lnTo>
                    <a:pt x="289011" y="158511"/>
                  </a:lnTo>
                  <a:lnTo>
                    <a:pt x="269199" y="211805"/>
                  </a:lnTo>
                  <a:lnTo>
                    <a:pt x="228874" y="252785"/>
                  </a:lnTo>
                  <a:lnTo>
                    <a:pt x="193349" y="270555"/>
                  </a:lnTo>
                  <a:lnTo>
                    <a:pt x="155768" y="278069"/>
                  </a:lnTo>
                  <a:lnTo>
                    <a:pt x="135956" y="278069"/>
                  </a:lnTo>
                  <a:lnTo>
                    <a:pt x="97017" y="270555"/>
                  </a:lnTo>
                  <a:lnTo>
                    <a:pt x="61493" y="252785"/>
                  </a:lnTo>
                  <a:lnTo>
                    <a:pt x="32796" y="226832"/>
                  </a:lnTo>
                  <a:lnTo>
                    <a:pt x="5455" y="176951"/>
                  </a:lnTo>
                  <a:lnTo>
                    <a:pt x="0" y="139369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188698" y="1659387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29" h="278130">
                  <a:moveTo>
                    <a:pt x="154411" y="0"/>
                  </a:moveTo>
                  <a:lnTo>
                    <a:pt x="134599" y="0"/>
                  </a:lnTo>
                  <a:lnTo>
                    <a:pt x="115473" y="2727"/>
                  </a:lnTo>
                  <a:lnTo>
                    <a:pt x="77891" y="15712"/>
                  </a:lnTo>
                  <a:lnTo>
                    <a:pt x="45780" y="37566"/>
                  </a:lnTo>
                  <a:lnTo>
                    <a:pt x="21183" y="66949"/>
                  </a:lnTo>
                  <a:lnTo>
                    <a:pt x="5471" y="101803"/>
                  </a:lnTo>
                  <a:lnTo>
                    <a:pt x="0" y="139369"/>
                  </a:lnTo>
                  <a:lnTo>
                    <a:pt x="1371" y="158511"/>
                  </a:lnTo>
                  <a:lnTo>
                    <a:pt x="21183" y="211805"/>
                  </a:lnTo>
                  <a:lnTo>
                    <a:pt x="61493" y="252785"/>
                  </a:lnTo>
                  <a:lnTo>
                    <a:pt x="96347" y="270555"/>
                  </a:lnTo>
                  <a:lnTo>
                    <a:pt x="134599" y="278069"/>
                  </a:lnTo>
                  <a:lnTo>
                    <a:pt x="154411" y="278069"/>
                  </a:lnTo>
                  <a:lnTo>
                    <a:pt x="193365" y="270555"/>
                  </a:lnTo>
                  <a:lnTo>
                    <a:pt x="228889" y="252785"/>
                  </a:lnTo>
                  <a:lnTo>
                    <a:pt x="257586" y="226832"/>
                  </a:lnTo>
                  <a:lnTo>
                    <a:pt x="284911" y="176951"/>
                  </a:lnTo>
                  <a:lnTo>
                    <a:pt x="290382" y="139369"/>
                  </a:lnTo>
                  <a:lnTo>
                    <a:pt x="289011" y="120243"/>
                  </a:lnTo>
                  <a:lnTo>
                    <a:pt x="269199" y="66949"/>
                  </a:lnTo>
                  <a:lnTo>
                    <a:pt x="243916" y="37566"/>
                  </a:lnTo>
                  <a:lnTo>
                    <a:pt x="211805" y="15712"/>
                  </a:lnTo>
                  <a:lnTo>
                    <a:pt x="174223" y="2727"/>
                  </a:lnTo>
                  <a:lnTo>
                    <a:pt x="15441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188698" y="1659387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29" h="278130">
                  <a:moveTo>
                    <a:pt x="0" y="139369"/>
                  </a:moveTo>
                  <a:lnTo>
                    <a:pt x="11612" y="84033"/>
                  </a:lnTo>
                  <a:lnTo>
                    <a:pt x="32796" y="51236"/>
                  </a:lnTo>
                  <a:lnTo>
                    <a:pt x="61493" y="25267"/>
                  </a:lnTo>
                  <a:lnTo>
                    <a:pt x="96347" y="8199"/>
                  </a:lnTo>
                  <a:lnTo>
                    <a:pt x="134599" y="0"/>
                  </a:lnTo>
                  <a:lnTo>
                    <a:pt x="154411" y="0"/>
                  </a:lnTo>
                  <a:lnTo>
                    <a:pt x="193365" y="8199"/>
                  </a:lnTo>
                  <a:lnTo>
                    <a:pt x="228889" y="25267"/>
                  </a:lnTo>
                  <a:lnTo>
                    <a:pt x="257586" y="51236"/>
                  </a:lnTo>
                  <a:lnTo>
                    <a:pt x="278084" y="84033"/>
                  </a:lnTo>
                  <a:lnTo>
                    <a:pt x="290382" y="139369"/>
                  </a:lnTo>
                  <a:lnTo>
                    <a:pt x="289011" y="158511"/>
                  </a:lnTo>
                  <a:lnTo>
                    <a:pt x="269199" y="211805"/>
                  </a:lnTo>
                  <a:lnTo>
                    <a:pt x="243916" y="240487"/>
                  </a:lnTo>
                  <a:lnTo>
                    <a:pt x="211805" y="262356"/>
                  </a:lnTo>
                  <a:lnTo>
                    <a:pt x="174223" y="275341"/>
                  </a:lnTo>
                  <a:lnTo>
                    <a:pt x="154411" y="278069"/>
                  </a:lnTo>
                  <a:lnTo>
                    <a:pt x="134599" y="278069"/>
                  </a:lnTo>
                  <a:lnTo>
                    <a:pt x="96347" y="270555"/>
                  </a:lnTo>
                  <a:lnTo>
                    <a:pt x="61493" y="252785"/>
                  </a:lnTo>
                  <a:lnTo>
                    <a:pt x="32796" y="226832"/>
                  </a:lnTo>
                  <a:lnTo>
                    <a:pt x="11612" y="194721"/>
                  </a:lnTo>
                  <a:lnTo>
                    <a:pt x="0" y="139369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561234" y="2995798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30" h="278129">
                  <a:moveTo>
                    <a:pt x="155768" y="0"/>
                  </a:moveTo>
                  <a:lnTo>
                    <a:pt x="135956" y="0"/>
                  </a:lnTo>
                  <a:lnTo>
                    <a:pt x="116144" y="2727"/>
                  </a:lnTo>
                  <a:lnTo>
                    <a:pt x="78562" y="15712"/>
                  </a:lnTo>
                  <a:lnTo>
                    <a:pt x="46451" y="37581"/>
                  </a:lnTo>
                  <a:lnTo>
                    <a:pt x="21183" y="66949"/>
                  </a:lnTo>
                  <a:lnTo>
                    <a:pt x="5455" y="101803"/>
                  </a:lnTo>
                  <a:lnTo>
                    <a:pt x="0" y="139385"/>
                  </a:lnTo>
                  <a:lnTo>
                    <a:pt x="1356" y="157825"/>
                  </a:lnTo>
                  <a:lnTo>
                    <a:pt x="21183" y="211119"/>
                  </a:lnTo>
                  <a:lnTo>
                    <a:pt x="46451" y="240502"/>
                  </a:lnTo>
                  <a:lnTo>
                    <a:pt x="78562" y="262356"/>
                  </a:lnTo>
                  <a:lnTo>
                    <a:pt x="116144" y="275341"/>
                  </a:lnTo>
                  <a:lnTo>
                    <a:pt x="135956" y="278069"/>
                  </a:lnTo>
                  <a:lnTo>
                    <a:pt x="155768" y="278069"/>
                  </a:lnTo>
                  <a:lnTo>
                    <a:pt x="193349" y="270555"/>
                  </a:lnTo>
                  <a:lnTo>
                    <a:pt x="228874" y="252801"/>
                  </a:lnTo>
                  <a:lnTo>
                    <a:pt x="257571" y="226832"/>
                  </a:lnTo>
                  <a:lnTo>
                    <a:pt x="278754" y="194035"/>
                  </a:lnTo>
                  <a:lnTo>
                    <a:pt x="290367" y="139385"/>
                  </a:lnTo>
                  <a:lnTo>
                    <a:pt x="289011" y="120243"/>
                  </a:lnTo>
                  <a:lnTo>
                    <a:pt x="269199" y="66949"/>
                  </a:lnTo>
                  <a:lnTo>
                    <a:pt x="244601" y="37581"/>
                  </a:lnTo>
                  <a:lnTo>
                    <a:pt x="211805" y="15712"/>
                  </a:lnTo>
                  <a:lnTo>
                    <a:pt x="174223" y="2727"/>
                  </a:lnTo>
                  <a:lnTo>
                    <a:pt x="155768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561234" y="2995798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30" h="278129">
                  <a:moveTo>
                    <a:pt x="0" y="139385"/>
                  </a:moveTo>
                  <a:lnTo>
                    <a:pt x="12298" y="84033"/>
                  </a:lnTo>
                  <a:lnTo>
                    <a:pt x="32796" y="51236"/>
                  </a:lnTo>
                  <a:lnTo>
                    <a:pt x="61493" y="25283"/>
                  </a:lnTo>
                  <a:lnTo>
                    <a:pt x="97017" y="8199"/>
                  </a:lnTo>
                  <a:lnTo>
                    <a:pt x="135956" y="0"/>
                  </a:lnTo>
                  <a:lnTo>
                    <a:pt x="155768" y="0"/>
                  </a:lnTo>
                  <a:lnTo>
                    <a:pt x="193349" y="8199"/>
                  </a:lnTo>
                  <a:lnTo>
                    <a:pt x="228874" y="25283"/>
                  </a:lnTo>
                  <a:lnTo>
                    <a:pt x="257571" y="51236"/>
                  </a:lnTo>
                  <a:lnTo>
                    <a:pt x="278754" y="84033"/>
                  </a:lnTo>
                  <a:lnTo>
                    <a:pt x="290367" y="139385"/>
                  </a:lnTo>
                  <a:lnTo>
                    <a:pt x="289011" y="157825"/>
                  </a:lnTo>
                  <a:lnTo>
                    <a:pt x="269199" y="211119"/>
                  </a:lnTo>
                  <a:lnTo>
                    <a:pt x="244601" y="240502"/>
                  </a:lnTo>
                  <a:lnTo>
                    <a:pt x="211805" y="262356"/>
                  </a:lnTo>
                  <a:lnTo>
                    <a:pt x="174223" y="275341"/>
                  </a:lnTo>
                  <a:lnTo>
                    <a:pt x="155768" y="278069"/>
                  </a:lnTo>
                  <a:lnTo>
                    <a:pt x="135956" y="278069"/>
                  </a:lnTo>
                  <a:lnTo>
                    <a:pt x="97017" y="270555"/>
                  </a:lnTo>
                  <a:lnTo>
                    <a:pt x="61493" y="252801"/>
                  </a:lnTo>
                  <a:lnTo>
                    <a:pt x="32796" y="226832"/>
                  </a:lnTo>
                  <a:lnTo>
                    <a:pt x="12298" y="194035"/>
                  </a:lnTo>
                  <a:lnTo>
                    <a:pt x="0" y="139385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188698" y="2995798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29" h="278129">
                  <a:moveTo>
                    <a:pt x="154411" y="0"/>
                  </a:moveTo>
                  <a:lnTo>
                    <a:pt x="134599" y="0"/>
                  </a:lnTo>
                  <a:lnTo>
                    <a:pt x="115473" y="2727"/>
                  </a:lnTo>
                  <a:lnTo>
                    <a:pt x="77891" y="15712"/>
                  </a:lnTo>
                  <a:lnTo>
                    <a:pt x="45780" y="37581"/>
                  </a:lnTo>
                  <a:lnTo>
                    <a:pt x="21183" y="66949"/>
                  </a:lnTo>
                  <a:lnTo>
                    <a:pt x="5471" y="101803"/>
                  </a:lnTo>
                  <a:lnTo>
                    <a:pt x="0" y="139385"/>
                  </a:lnTo>
                  <a:lnTo>
                    <a:pt x="1371" y="157825"/>
                  </a:lnTo>
                  <a:lnTo>
                    <a:pt x="21183" y="211119"/>
                  </a:lnTo>
                  <a:lnTo>
                    <a:pt x="45780" y="240502"/>
                  </a:lnTo>
                  <a:lnTo>
                    <a:pt x="77891" y="262356"/>
                  </a:lnTo>
                  <a:lnTo>
                    <a:pt x="115473" y="275341"/>
                  </a:lnTo>
                  <a:lnTo>
                    <a:pt x="134599" y="278069"/>
                  </a:lnTo>
                  <a:lnTo>
                    <a:pt x="154411" y="278069"/>
                  </a:lnTo>
                  <a:lnTo>
                    <a:pt x="193365" y="270555"/>
                  </a:lnTo>
                  <a:lnTo>
                    <a:pt x="228889" y="252801"/>
                  </a:lnTo>
                  <a:lnTo>
                    <a:pt x="257586" y="226832"/>
                  </a:lnTo>
                  <a:lnTo>
                    <a:pt x="278084" y="194035"/>
                  </a:lnTo>
                  <a:lnTo>
                    <a:pt x="290382" y="139385"/>
                  </a:lnTo>
                  <a:lnTo>
                    <a:pt x="289011" y="120243"/>
                  </a:lnTo>
                  <a:lnTo>
                    <a:pt x="269199" y="66949"/>
                  </a:lnTo>
                  <a:lnTo>
                    <a:pt x="243916" y="37581"/>
                  </a:lnTo>
                  <a:lnTo>
                    <a:pt x="211805" y="15712"/>
                  </a:lnTo>
                  <a:lnTo>
                    <a:pt x="174223" y="2727"/>
                  </a:lnTo>
                  <a:lnTo>
                    <a:pt x="15441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188698" y="2995798"/>
              <a:ext cx="290830" cy="278130"/>
            </a:xfrm>
            <a:custGeom>
              <a:avLst/>
              <a:gdLst/>
              <a:ahLst/>
              <a:cxnLst/>
              <a:rect l="l" t="t" r="r" b="b"/>
              <a:pathLst>
                <a:path w="290829" h="278129">
                  <a:moveTo>
                    <a:pt x="0" y="139385"/>
                  </a:moveTo>
                  <a:lnTo>
                    <a:pt x="11612" y="84033"/>
                  </a:lnTo>
                  <a:lnTo>
                    <a:pt x="32796" y="51236"/>
                  </a:lnTo>
                  <a:lnTo>
                    <a:pt x="61493" y="25283"/>
                  </a:lnTo>
                  <a:lnTo>
                    <a:pt x="96347" y="8199"/>
                  </a:lnTo>
                  <a:lnTo>
                    <a:pt x="134599" y="0"/>
                  </a:lnTo>
                  <a:lnTo>
                    <a:pt x="154411" y="0"/>
                  </a:lnTo>
                  <a:lnTo>
                    <a:pt x="193365" y="8199"/>
                  </a:lnTo>
                  <a:lnTo>
                    <a:pt x="228889" y="25283"/>
                  </a:lnTo>
                  <a:lnTo>
                    <a:pt x="257586" y="51236"/>
                  </a:lnTo>
                  <a:lnTo>
                    <a:pt x="278084" y="84033"/>
                  </a:lnTo>
                  <a:lnTo>
                    <a:pt x="290382" y="139385"/>
                  </a:lnTo>
                  <a:lnTo>
                    <a:pt x="289011" y="157825"/>
                  </a:lnTo>
                  <a:lnTo>
                    <a:pt x="269199" y="211119"/>
                  </a:lnTo>
                  <a:lnTo>
                    <a:pt x="243916" y="240502"/>
                  </a:lnTo>
                  <a:lnTo>
                    <a:pt x="211805" y="262356"/>
                  </a:lnTo>
                  <a:lnTo>
                    <a:pt x="174223" y="275341"/>
                  </a:lnTo>
                  <a:lnTo>
                    <a:pt x="154411" y="278069"/>
                  </a:lnTo>
                  <a:lnTo>
                    <a:pt x="134599" y="278069"/>
                  </a:lnTo>
                  <a:lnTo>
                    <a:pt x="96347" y="270555"/>
                  </a:lnTo>
                  <a:lnTo>
                    <a:pt x="61493" y="252801"/>
                  </a:lnTo>
                  <a:lnTo>
                    <a:pt x="32796" y="226832"/>
                  </a:lnTo>
                  <a:lnTo>
                    <a:pt x="11612" y="194035"/>
                  </a:lnTo>
                  <a:lnTo>
                    <a:pt x="0" y="139385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851602" y="1798757"/>
              <a:ext cx="1337310" cy="0"/>
            </a:xfrm>
            <a:custGeom>
              <a:avLst/>
              <a:gdLst/>
              <a:ahLst/>
              <a:cxnLst/>
              <a:rect l="l" t="t" r="r" b="b"/>
              <a:pathLst>
                <a:path w="1337310" h="0">
                  <a:moveTo>
                    <a:pt x="0" y="0"/>
                  </a:moveTo>
                  <a:lnTo>
                    <a:pt x="1337096" y="0"/>
                  </a:lnTo>
                </a:path>
              </a:pathLst>
            </a:custGeom>
            <a:ln w="51242">
              <a:solidFill>
                <a:srgbClr val="E84A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333554" y="1937456"/>
              <a:ext cx="0" cy="1058545"/>
            </a:xfrm>
            <a:custGeom>
              <a:avLst/>
              <a:gdLst/>
              <a:ahLst/>
              <a:cxnLst/>
              <a:rect l="l" t="t" r="r" b="b"/>
              <a:pathLst>
                <a:path w="0" h="1058545">
                  <a:moveTo>
                    <a:pt x="0" y="0"/>
                  </a:moveTo>
                  <a:lnTo>
                    <a:pt x="0" y="1058341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851602" y="3135183"/>
              <a:ext cx="1337310" cy="0"/>
            </a:xfrm>
            <a:custGeom>
              <a:avLst/>
              <a:gdLst/>
              <a:ahLst/>
              <a:cxnLst/>
              <a:rect l="l" t="t" r="r" b="b"/>
              <a:pathLst>
                <a:path w="1337310" h="0">
                  <a:moveTo>
                    <a:pt x="0" y="0"/>
                  </a:moveTo>
                  <a:lnTo>
                    <a:pt x="1337096" y="0"/>
                  </a:lnTo>
                </a:path>
              </a:pathLst>
            </a:custGeom>
            <a:ln w="51242">
              <a:solidFill>
                <a:srgbClr val="E84A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706761" y="1937456"/>
              <a:ext cx="0" cy="1058545"/>
            </a:xfrm>
            <a:custGeom>
              <a:avLst/>
              <a:gdLst/>
              <a:ahLst/>
              <a:cxnLst/>
              <a:rect l="l" t="t" r="r" b="b"/>
              <a:pathLst>
                <a:path w="0" h="1058545">
                  <a:moveTo>
                    <a:pt x="0" y="0"/>
                  </a:moveTo>
                  <a:lnTo>
                    <a:pt x="0" y="1058341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2653460" y="1666502"/>
            <a:ext cx="107950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3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650727" y="3002237"/>
            <a:ext cx="98425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3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303479" y="3026834"/>
            <a:ext cx="60325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35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271367" y="1665826"/>
            <a:ext cx="107950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3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966903" y="2309437"/>
            <a:ext cx="107950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3395083" y="2319698"/>
            <a:ext cx="308610" cy="294640"/>
            <a:chOff x="3395083" y="2319698"/>
            <a:chExt cx="308610" cy="294640"/>
          </a:xfrm>
        </p:grpSpPr>
        <p:sp>
          <p:nvSpPr>
            <p:cNvPr id="28" name="object 28"/>
            <p:cNvSpPr/>
            <p:nvPr/>
          </p:nvSpPr>
          <p:spPr>
            <a:xfrm>
              <a:off x="3403655" y="2328270"/>
              <a:ext cx="291465" cy="277495"/>
            </a:xfrm>
            <a:custGeom>
              <a:avLst/>
              <a:gdLst/>
              <a:ahLst/>
              <a:cxnLst/>
              <a:rect l="l" t="t" r="r" b="b"/>
              <a:pathLst>
                <a:path w="291464" h="277494">
                  <a:moveTo>
                    <a:pt x="155097" y="0"/>
                  </a:moveTo>
                  <a:lnTo>
                    <a:pt x="135285" y="0"/>
                  </a:lnTo>
                  <a:lnTo>
                    <a:pt x="115473" y="2727"/>
                  </a:lnTo>
                  <a:lnTo>
                    <a:pt x="79263" y="15026"/>
                  </a:lnTo>
                  <a:lnTo>
                    <a:pt x="46466" y="36896"/>
                  </a:lnTo>
                  <a:lnTo>
                    <a:pt x="21183" y="65592"/>
                  </a:lnTo>
                  <a:lnTo>
                    <a:pt x="5471" y="100431"/>
                  </a:lnTo>
                  <a:lnTo>
                    <a:pt x="0" y="138699"/>
                  </a:lnTo>
                  <a:lnTo>
                    <a:pt x="1371" y="157139"/>
                  </a:lnTo>
                  <a:lnTo>
                    <a:pt x="12298" y="194035"/>
                  </a:lnTo>
                  <a:lnTo>
                    <a:pt x="46466" y="240502"/>
                  </a:lnTo>
                  <a:lnTo>
                    <a:pt x="79263" y="262371"/>
                  </a:lnTo>
                  <a:lnTo>
                    <a:pt x="115473" y="275341"/>
                  </a:lnTo>
                  <a:lnTo>
                    <a:pt x="135285" y="277398"/>
                  </a:lnTo>
                  <a:lnTo>
                    <a:pt x="155097" y="277398"/>
                  </a:lnTo>
                  <a:lnTo>
                    <a:pt x="194050" y="269885"/>
                  </a:lnTo>
                  <a:lnTo>
                    <a:pt x="229575" y="252115"/>
                  </a:lnTo>
                  <a:lnTo>
                    <a:pt x="258272" y="226146"/>
                  </a:lnTo>
                  <a:lnTo>
                    <a:pt x="285597" y="176281"/>
                  </a:lnTo>
                  <a:lnTo>
                    <a:pt x="291068" y="138699"/>
                  </a:lnTo>
                  <a:lnTo>
                    <a:pt x="289697" y="119573"/>
                  </a:lnTo>
                  <a:lnTo>
                    <a:pt x="278770" y="82676"/>
                  </a:lnTo>
                  <a:lnTo>
                    <a:pt x="244601" y="36896"/>
                  </a:lnTo>
                  <a:lnTo>
                    <a:pt x="212491" y="15026"/>
                  </a:lnTo>
                  <a:lnTo>
                    <a:pt x="174909" y="2727"/>
                  </a:lnTo>
                  <a:lnTo>
                    <a:pt x="155097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403655" y="2328270"/>
              <a:ext cx="291465" cy="277495"/>
            </a:xfrm>
            <a:custGeom>
              <a:avLst/>
              <a:gdLst/>
              <a:ahLst/>
              <a:cxnLst/>
              <a:rect l="l" t="t" r="r" b="b"/>
              <a:pathLst>
                <a:path w="291464" h="277494">
                  <a:moveTo>
                    <a:pt x="0" y="138699"/>
                  </a:moveTo>
                  <a:lnTo>
                    <a:pt x="5471" y="100431"/>
                  </a:lnTo>
                  <a:lnTo>
                    <a:pt x="21183" y="65592"/>
                  </a:lnTo>
                  <a:lnTo>
                    <a:pt x="46466" y="36896"/>
                  </a:lnTo>
                  <a:lnTo>
                    <a:pt x="79263" y="15026"/>
                  </a:lnTo>
                  <a:lnTo>
                    <a:pt x="115473" y="2727"/>
                  </a:lnTo>
                  <a:lnTo>
                    <a:pt x="135285" y="0"/>
                  </a:lnTo>
                  <a:lnTo>
                    <a:pt x="155097" y="0"/>
                  </a:lnTo>
                  <a:lnTo>
                    <a:pt x="194050" y="7513"/>
                  </a:lnTo>
                  <a:lnTo>
                    <a:pt x="229575" y="25283"/>
                  </a:lnTo>
                  <a:lnTo>
                    <a:pt x="258272" y="51236"/>
                  </a:lnTo>
                  <a:lnTo>
                    <a:pt x="285597" y="100431"/>
                  </a:lnTo>
                  <a:lnTo>
                    <a:pt x="291068" y="138699"/>
                  </a:lnTo>
                  <a:lnTo>
                    <a:pt x="289697" y="157139"/>
                  </a:lnTo>
                  <a:lnTo>
                    <a:pt x="278770" y="194035"/>
                  </a:lnTo>
                  <a:lnTo>
                    <a:pt x="244601" y="240502"/>
                  </a:lnTo>
                  <a:lnTo>
                    <a:pt x="212491" y="262371"/>
                  </a:lnTo>
                  <a:lnTo>
                    <a:pt x="174909" y="275341"/>
                  </a:lnTo>
                  <a:lnTo>
                    <a:pt x="155097" y="277398"/>
                  </a:lnTo>
                  <a:lnTo>
                    <a:pt x="135285" y="277398"/>
                  </a:lnTo>
                  <a:lnTo>
                    <a:pt x="96347" y="269885"/>
                  </a:lnTo>
                  <a:lnTo>
                    <a:pt x="62179" y="252115"/>
                  </a:lnTo>
                  <a:lnTo>
                    <a:pt x="32796" y="226146"/>
                  </a:lnTo>
                  <a:lnTo>
                    <a:pt x="5471" y="176281"/>
                  </a:lnTo>
                  <a:lnTo>
                    <a:pt x="0" y="138699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/>
          <p:cNvSpPr txBox="1"/>
          <p:nvPr/>
        </p:nvSpPr>
        <p:spPr>
          <a:xfrm>
            <a:off x="3495216" y="2334699"/>
            <a:ext cx="107950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2064082" y="1857774"/>
            <a:ext cx="2904490" cy="1223645"/>
            <a:chOff x="2064082" y="1857774"/>
            <a:chExt cx="2904490" cy="1223645"/>
          </a:xfrm>
        </p:grpSpPr>
        <p:sp>
          <p:nvSpPr>
            <p:cNvPr id="32" name="object 32"/>
            <p:cNvSpPr/>
            <p:nvPr/>
          </p:nvSpPr>
          <p:spPr>
            <a:xfrm>
              <a:off x="2098685" y="1875292"/>
              <a:ext cx="487680" cy="482600"/>
            </a:xfrm>
            <a:custGeom>
              <a:avLst/>
              <a:gdLst/>
              <a:ahLst/>
              <a:cxnLst/>
              <a:rect l="l" t="t" r="r" b="b"/>
              <a:pathLst>
                <a:path w="487680" h="482600">
                  <a:moveTo>
                    <a:pt x="0" y="482361"/>
                  </a:moveTo>
                  <a:lnTo>
                    <a:pt x="487146" y="0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089800" y="1883491"/>
              <a:ext cx="2853055" cy="1172210"/>
            </a:xfrm>
            <a:custGeom>
              <a:avLst/>
              <a:gdLst/>
              <a:ahLst/>
              <a:cxnLst/>
              <a:rect l="l" t="t" r="r" b="b"/>
              <a:pathLst>
                <a:path w="2853054" h="1172210">
                  <a:moveTo>
                    <a:pt x="0" y="699622"/>
                  </a:moveTo>
                  <a:lnTo>
                    <a:pt x="497387" y="1171742"/>
                  </a:lnTo>
                </a:path>
                <a:path w="2853054" h="1172210">
                  <a:moveTo>
                    <a:pt x="2351013" y="1157401"/>
                  </a:moveTo>
                  <a:lnTo>
                    <a:pt x="2847045" y="689381"/>
                  </a:lnTo>
                </a:path>
                <a:path w="2853054" h="1172210">
                  <a:moveTo>
                    <a:pt x="2359212" y="0"/>
                  </a:moveTo>
                  <a:lnTo>
                    <a:pt x="2852516" y="473476"/>
                  </a:lnTo>
                </a:path>
              </a:pathLst>
            </a:custGeom>
            <a:ln w="51242">
              <a:solidFill>
                <a:srgbClr val="E84A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809250" y="1897146"/>
              <a:ext cx="625475" cy="484505"/>
            </a:xfrm>
            <a:custGeom>
              <a:avLst/>
              <a:gdLst/>
              <a:ahLst/>
              <a:cxnLst/>
              <a:rect l="l" t="t" r="r" b="b"/>
              <a:pathLst>
                <a:path w="625475" h="484505">
                  <a:moveTo>
                    <a:pt x="0" y="0"/>
                  </a:moveTo>
                  <a:lnTo>
                    <a:pt x="625160" y="484418"/>
                  </a:lnTo>
                </a:path>
              </a:pathLst>
            </a:custGeom>
            <a:ln w="51242">
              <a:solidFill>
                <a:srgbClr val="FC390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809250" y="1891675"/>
              <a:ext cx="1431290" cy="1145540"/>
            </a:xfrm>
            <a:custGeom>
              <a:avLst/>
              <a:gdLst/>
              <a:ahLst/>
              <a:cxnLst/>
              <a:rect l="l" t="t" r="r" b="b"/>
              <a:pathLst>
                <a:path w="1431289" h="1145539">
                  <a:moveTo>
                    <a:pt x="850620" y="666170"/>
                  </a:moveTo>
                  <a:lnTo>
                    <a:pt x="1430700" y="1136919"/>
                  </a:lnTo>
                </a:path>
                <a:path w="1431289" h="1145539">
                  <a:moveTo>
                    <a:pt x="850620" y="485104"/>
                  </a:moveTo>
                  <a:lnTo>
                    <a:pt x="1417030" y="0"/>
                  </a:lnTo>
                </a:path>
                <a:path w="1431289" h="1145539">
                  <a:moveTo>
                    <a:pt x="623102" y="657285"/>
                  </a:moveTo>
                  <a:lnTo>
                    <a:pt x="0" y="1145118"/>
                  </a:lnTo>
                </a:path>
              </a:pathLst>
            </a:custGeom>
            <a:ln w="1708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/>
          <p:cNvSpPr txBox="1"/>
          <p:nvPr/>
        </p:nvSpPr>
        <p:spPr>
          <a:xfrm>
            <a:off x="1946998" y="2038175"/>
            <a:ext cx="117475" cy="52705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455"/>
              </a:spcBef>
            </a:pPr>
            <a:r>
              <a:rPr dirty="0" sz="1350" spc="-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3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r>
              <a:rPr dirty="0" sz="1350" spc="-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350">
              <a:latin typeface="Arial"/>
              <a:cs typeface="Arial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5505297" y="1004844"/>
            <a:ext cx="466725" cy="2446020"/>
          </a:xfrm>
          <a:custGeom>
            <a:avLst/>
            <a:gdLst/>
            <a:ahLst/>
            <a:cxnLst/>
            <a:rect l="l" t="t" r="r" b="b"/>
            <a:pathLst>
              <a:path w="466725" h="2446020">
                <a:moveTo>
                  <a:pt x="0" y="0"/>
                </a:moveTo>
                <a:lnTo>
                  <a:pt x="0" y="2445989"/>
                </a:lnTo>
              </a:path>
              <a:path w="466725" h="2446020">
                <a:moveTo>
                  <a:pt x="466648" y="0"/>
                </a:moveTo>
                <a:lnTo>
                  <a:pt x="466648" y="2445989"/>
                </a:lnTo>
              </a:path>
              <a:path w="466725" h="2446020">
                <a:moveTo>
                  <a:pt x="0" y="2445989"/>
                </a:moveTo>
                <a:lnTo>
                  <a:pt x="460507" y="2445989"/>
                </a:lnTo>
              </a:path>
            </a:pathLst>
          </a:custGeom>
          <a:ln w="17080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 txBox="1"/>
          <p:nvPr/>
        </p:nvSpPr>
        <p:spPr>
          <a:xfrm>
            <a:off x="5525120" y="3453163"/>
            <a:ext cx="411480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350" spc="-5" i="1">
                <a:solidFill>
                  <a:srgbClr val="FFFF00"/>
                </a:solidFill>
                <a:latin typeface="Arial"/>
                <a:cs typeface="Arial"/>
              </a:rPr>
              <a:t>stack</a:t>
            </a:r>
            <a:endParaRPr sz="135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400629" y="3893223"/>
            <a:ext cx="3428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8.19: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‘d’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popped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1772411" y="4775250"/>
            <a:ext cx="4648200" cy="2885440"/>
            <a:chOff x="1772411" y="4775250"/>
            <a:chExt cx="4648200" cy="2885440"/>
          </a:xfrm>
        </p:grpSpPr>
        <p:sp>
          <p:nvSpPr>
            <p:cNvPr id="41" name="object 41"/>
            <p:cNvSpPr/>
            <p:nvPr/>
          </p:nvSpPr>
          <p:spPr>
            <a:xfrm>
              <a:off x="1772411" y="4775250"/>
              <a:ext cx="4648200" cy="2885440"/>
            </a:xfrm>
            <a:custGeom>
              <a:avLst/>
              <a:gdLst/>
              <a:ahLst/>
              <a:cxnLst/>
              <a:rect l="l" t="t" r="r" b="b"/>
              <a:pathLst>
                <a:path w="4648200" h="2885440">
                  <a:moveTo>
                    <a:pt x="4648001" y="0"/>
                  </a:moveTo>
                  <a:lnTo>
                    <a:pt x="0" y="0"/>
                  </a:lnTo>
                  <a:lnTo>
                    <a:pt x="0" y="2885389"/>
                  </a:lnTo>
                  <a:lnTo>
                    <a:pt x="4648001" y="2885389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942167" y="5811052"/>
              <a:ext cx="393700" cy="375920"/>
            </a:xfrm>
            <a:custGeom>
              <a:avLst/>
              <a:gdLst/>
              <a:ahLst/>
              <a:cxnLst/>
              <a:rect l="l" t="t" r="r" b="b"/>
              <a:pathLst>
                <a:path w="393700" h="375920">
                  <a:moveTo>
                    <a:pt x="210601" y="0"/>
                  </a:moveTo>
                  <a:lnTo>
                    <a:pt x="183809" y="0"/>
                  </a:lnTo>
                  <a:lnTo>
                    <a:pt x="157032" y="3703"/>
                  </a:lnTo>
                  <a:lnTo>
                    <a:pt x="106222" y="21244"/>
                  </a:lnTo>
                  <a:lnTo>
                    <a:pt x="62819" y="50810"/>
                  </a:lnTo>
                  <a:lnTo>
                    <a:pt x="28635" y="90525"/>
                  </a:lnTo>
                  <a:lnTo>
                    <a:pt x="7391" y="137632"/>
                  </a:lnTo>
                  <a:lnTo>
                    <a:pt x="0" y="188427"/>
                  </a:lnTo>
                  <a:lnTo>
                    <a:pt x="1859" y="214289"/>
                  </a:lnTo>
                  <a:lnTo>
                    <a:pt x="16626" y="262326"/>
                  </a:lnTo>
                  <a:lnTo>
                    <a:pt x="44348" y="306659"/>
                  </a:lnTo>
                  <a:lnTo>
                    <a:pt x="83134" y="341756"/>
                  </a:lnTo>
                  <a:lnTo>
                    <a:pt x="131170" y="365759"/>
                  </a:lnTo>
                  <a:lnTo>
                    <a:pt x="183809" y="375925"/>
                  </a:lnTo>
                  <a:lnTo>
                    <a:pt x="210601" y="375925"/>
                  </a:lnTo>
                  <a:lnTo>
                    <a:pt x="262326" y="365759"/>
                  </a:lnTo>
                  <a:lnTo>
                    <a:pt x="309432" y="341756"/>
                  </a:lnTo>
                  <a:lnTo>
                    <a:pt x="349148" y="306659"/>
                  </a:lnTo>
                  <a:lnTo>
                    <a:pt x="376854" y="262326"/>
                  </a:lnTo>
                  <a:lnTo>
                    <a:pt x="391622" y="214289"/>
                  </a:lnTo>
                  <a:lnTo>
                    <a:pt x="393481" y="188427"/>
                  </a:lnTo>
                  <a:lnTo>
                    <a:pt x="391622" y="162565"/>
                  </a:lnTo>
                  <a:lnTo>
                    <a:pt x="376854" y="113614"/>
                  </a:lnTo>
                  <a:lnTo>
                    <a:pt x="349148" y="69281"/>
                  </a:lnTo>
                  <a:lnTo>
                    <a:pt x="309432" y="34183"/>
                  </a:lnTo>
                  <a:lnTo>
                    <a:pt x="262326" y="11094"/>
                  </a:lnTo>
                  <a:lnTo>
                    <a:pt x="21060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5942167" y="5811052"/>
              <a:ext cx="393700" cy="375920"/>
            </a:xfrm>
            <a:custGeom>
              <a:avLst/>
              <a:gdLst/>
              <a:ahLst/>
              <a:cxnLst/>
              <a:rect l="l" t="t" r="r" b="b"/>
              <a:pathLst>
                <a:path w="393700" h="375920">
                  <a:moveTo>
                    <a:pt x="0" y="188427"/>
                  </a:moveTo>
                  <a:lnTo>
                    <a:pt x="7391" y="137632"/>
                  </a:lnTo>
                  <a:lnTo>
                    <a:pt x="28635" y="90525"/>
                  </a:lnTo>
                  <a:lnTo>
                    <a:pt x="62819" y="50810"/>
                  </a:lnTo>
                  <a:lnTo>
                    <a:pt x="106222" y="21244"/>
                  </a:lnTo>
                  <a:lnTo>
                    <a:pt x="157032" y="3703"/>
                  </a:lnTo>
                  <a:lnTo>
                    <a:pt x="183809" y="0"/>
                  </a:lnTo>
                  <a:lnTo>
                    <a:pt x="210601" y="0"/>
                  </a:lnTo>
                  <a:lnTo>
                    <a:pt x="262326" y="11094"/>
                  </a:lnTo>
                  <a:lnTo>
                    <a:pt x="309432" y="34183"/>
                  </a:lnTo>
                  <a:lnTo>
                    <a:pt x="349148" y="69281"/>
                  </a:lnTo>
                  <a:lnTo>
                    <a:pt x="376854" y="113614"/>
                  </a:lnTo>
                  <a:lnTo>
                    <a:pt x="391622" y="162565"/>
                  </a:lnTo>
                  <a:lnTo>
                    <a:pt x="393481" y="188427"/>
                  </a:lnTo>
                  <a:lnTo>
                    <a:pt x="391622" y="214289"/>
                  </a:lnTo>
                  <a:lnTo>
                    <a:pt x="376854" y="262326"/>
                  </a:lnTo>
                  <a:lnTo>
                    <a:pt x="349148" y="306659"/>
                  </a:lnTo>
                  <a:lnTo>
                    <a:pt x="309432" y="341756"/>
                  </a:lnTo>
                  <a:lnTo>
                    <a:pt x="262326" y="365759"/>
                  </a:lnTo>
                  <a:lnTo>
                    <a:pt x="210601" y="375925"/>
                  </a:lnTo>
                  <a:lnTo>
                    <a:pt x="183809" y="375925"/>
                  </a:lnTo>
                  <a:lnTo>
                    <a:pt x="131170" y="365759"/>
                  </a:lnTo>
                  <a:lnTo>
                    <a:pt x="83134" y="341756"/>
                  </a:lnTo>
                  <a:lnTo>
                    <a:pt x="44348" y="306659"/>
                  </a:lnTo>
                  <a:lnTo>
                    <a:pt x="16626" y="262326"/>
                  </a:lnTo>
                  <a:lnTo>
                    <a:pt x="1859" y="214289"/>
                  </a:lnTo>
                  <a:lnTo>
                    <a:pt x="0" y="188427"/>
                  </a:lnTo>
                </a:path>
              </a:pathLst>
            </a:custGeom>
            <a:ln w="2309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1857847" y="5811052"/>
              <a:ext cx="393065" cy="375920"/>
            </a:xfrm>
            <a:custGeom>
              <a:avLst/>
              <a:gdLst/>
              <a:ahLst/>
              <a:cxnLst/>
              <a:rect l="l" t="t" r="r" b="b"/>
              <a:pathLst>
                <a:path w="393064" h="375920">
                  <a:moveTo>
                    <a:pt x="209671" y="0"/>
                  </a:moveTo>
                  <a:lnTo>
                    <a:pt x="182879" y="0"/>
                  </a:lnTo>
                  <a:lnTo>
                    <a:pt x="156103" y="3703"/>
                  </a:lnTo>
                  <a:lnTo>
                    <a:pt x="106222" y="21244"/>
                  </a:lnTo>
                  <a:lnTo>
                    <a:pt x="62819" y="50810"/>
                  </a:lnTo>
                  <a:lnTo>
                    <a:pt x="28635" y="90525"/>
                  </a:lnTo>
                  <a:lnTo>
                    <a:pt x="7391" y="137632"/>
                  </a:lnTo>
                  <a:lnTo>
                    <a:pt x="0" y="188427"/>
                  </a:lnTo>
                  <a:lnTo>
                    <a:pt x="1859" y="214289"/>
                  </a:lnTo>
                  <a:lnTo>
                    <a:pt x="16626" y="262326"/>
                  </a:lnTo>
                  <a:lnTo>
                    <a:pt x="44348" y="306659"/>
                  </a:lnTo>
                  <a:lnTo>
                    <a:pt x="83134" y="341756"/>
                  </a:lnTo>
                  <a:lnTo>
                    <a:pt x="130241" y="365759"/>
                  </a:lnTo>
                  <a:lnTo>
                    <a:pt x="182879" y="375925"/>
                  </a:lnTo>
                  <a:lnTo>
                    <a:pt x="209671" y="375925"/>
                  </a:lnTo>
                  <a:lnTo>
                    <a:pt x="262326" y="365759"/>
                  </a:lnTo>
                  <a:lnTo>
                    <a:pt x="309432" y="341756"/>
                  </a:lnTo>
                  <a:lnTo>
                    <a:pt x="349148" y="306659"/>
                  </a:lnTo>
                  <a:lnTo>
                    <a:pt x="376854" y="262326"/>
                  </a:lnTo>
                  <a:lnTo>
                    <a:pt x="390707" y="214289"/>
                  </a:lnTo>
                  <a:lnTo>
                    <a:pt x="392551" y="188427"/>
                  </a:lnTo>
                  <a:lnTo>
                    <a:pt x="390707" y="162565"/>
                  </a:lnTo>
                  <a:lnTo>
                    <a:pt x="376854" y="113614"/>
                  </a:lnTo>
                  <a:lnTo>
                    <a:pt x="349148" y="69281"/>
                  </a:lnTo>
                  <a:lnTo>
                    <a:pt x="309432" y="34183"/>
                  </a:lnTo>
                  <a:lnTo>
                    <a:pt x="262326" y="11094"/>
                  </a:lnTo>
                  <a:lnTo>
                    <a:pt x="20967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1857847" y="5811052"/>
              <a:ext cx="393065" cy="375920"/>
            </a:xfrm>
            <a:custGeom>
              <a:avLst/>
              <a:gdLst/>
              <a:ahLst/>
              <a:cxnLst/>
              <a:rect l="l" t="t" r="r" b="b"/>
              <a:pathLst>
                <a:path w="393064" h="375920">
                  <a:moveTo>
                    <a:pt x="0" y="188427"/>
                  </a:moveTo>
                  <a:lnTo>
                    <a:pt x="7391" y="137632"/>
                  </a:lnTo>
                  <a:lnTo>
                    <a:pt x="28635" y="90525"/>
                  </a:lnTo>
                  <a:lnTo>
                    <a:pt x="62819" y="50810"/>
                  </a:lnTo>
                  <a:lnTo>
                    <a:pt x="106222" y="21244"/>
                  </a:lnTo>
                  <a:lnTo>
                    <a:pt x="156103" y="3703"/>
                  </a:lnTo>
                  <a:lnTo>
                    <a:pt x="182879" y="0"/>
                  </a:lnTo>
                  <a:lnTo>
                    <a:pt x="209671" y="0"/>
                  </a:lnTo>
                  <a:lnTo>
                    <a:pt x="262326" y="11094"/>
                  </a:lnTo>
                  <a:lnTo>
                    <a:pt x="309432" y="34183"/>
                  </a:lnTo>
                  <a:lnTo>
                    <a:pt x="349148" y="69281"/>
                  </a:lnTo>
                  <a:lnTo>
                    <a:pt x="376854" y="113614"/>
                  </a:lnTo>
                  <a:lnTo>
                    <a:pt x="390707" y="162565"/>
                  </a:lnTo>
                  <a:lnTo>
                    <a:pt x="392551" y="188427"/>
                  </a:lnTo>
                  <a:lnTo>
                    <a:pt x="390707" y="214289"/>
                  </a:lnTo>
                  <a:lnTo>
                    <a:pt x="376854" y="262326"/>
                  </a:lnTo>
                  <a:lnTo>
                    <a:pt x="349148" y="306659"/>
                  </a:lnTo>
                  <a:lnTo>
                    <a:pt x="309432" y="341756"/>
                  </a:lnTo>
                  <a:lnTo>
                    <a:pt x="262326" y="365759"/>
                  </a:lnTo>
                  <a:lnTo>
                    <a:pt x="209671" y="375925"/>
                  </a:lnTo>
                  <a:lnTo>
                    <a:pt x="182879" y="375925"/>
                  </a:lnTo>
                  <a:lnTo>
                    <a:pt x="130241" y="365759"/>
                  </a:lnTo>
                  <a:lnTo>
                    <a:pt x="83134" y="341756"/>
                  </a:lnTo>
                  <a:lnTo>
                    <a:pt x="44348" y="306659"/>
                  </a:lnTo>
                  <a:lnTo>
                    <a:pt x="16626" y="262326"/>
                  </a:lnTo>
                  <a:lnTo>
                    <a:pt x="1859" y="214289"/>
                  </a:lnTo>
                  <a:lnTo>
                    <a:pt x="0" y="188427"/>
                  </a:lnTo>
                </a:path>
              </a:pathLst>
            </a:custGeom>
            <a:ln w="2309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799968" y="4908661"/>
              <a:ext cx="393700" cy="375285"/>
            </a:xfrm>
            <a:custGeom>
              <a:avLst/>
              <a:gdLst/>
              <a:ahLst/>
              <a:cxnLst/>
              <a:rect l="l" t="t" r="r" b="b"/>
              <a:pathLst>
                <a:path w="393700" h="375285">
                  <a:moveTo>
                    <a:pt x="210586" y="0"/>
                  </a:moveTo>
                  <a:lnTo>
                    <a:pt x="183794" y="0"/>
                  </a:lnTo>
                  <a:lnTo>
                    <a:pt x="157017" y="3703"/>
                  </a:lnTo>
                  <a:lnTo>
                    <a:pt x="106207" y="20330"/>
                  </a:lnTo>
                  <a:lnTo>
                    <a:pt x="62804" y="49880"/>
                  </a:lnTo>
                  <a:lnTo>
                    <a:pt x="28620" y="89595"/>
                  </a:lnTo>
                  <a:lnTo>
                    <a:pt x="7391" y="136702"/>
                  </a:lnTo>
                  <a:lnTo>
                    <a:pt x="0" y="187497"/>
                  </a:lnTo>
                  <a:lnTo>
                    <a:pt x="1844" y="213359"/>
                  </a:lnTo>
                  <a:lnTo>
                    <a:pt x="16626" y="262310"/>
                  </a:lnTo>
                  <a:lnTo>
                    <a:pt x="44333" y="306659"/>
                  </a:lnTo>
                  <a:lnTo>
                    <a:pt x="84048" y="341756"/>
                  </a:lnTo>
                  <a:lnTo>
                    <a:pt x="131155" y="364845"/>
                  </a:lnTo>
                  <a:lnTo>
                    <a:pt x="183794" y="374995"/>
                  </a:lnTo>
                  <a:lnTo>
                    <a:pt x="210586" y="374995"/>
                  </a:lnTo>
                  <a:lnTo>
                    <a:pt x="262310" y="364845"/>
                  </a:lnTo>
                  <a:lnTo>
                    <a:pt x="309417" y="341756"/>
                  </a:lnTo>
                  <a:lnTo>
                    <a:pt x="349133" y="306659"/>
                  </a:lnTo>
                  <a:lnTo>
                    <a:pt x="376839" y="262310"/>
                  </a:lnTo>
                  <a:lnTo>
                    <a:pt x="391622" y="213359"/>
                  </a:lnTo>
                  <a:lnTo>
                    <a:pt x="393466" y="187497"/>
                  </a:lnTo>
                  <a:lnTo>
                    <a:pt x="391622" y="161635"/>
                  </a:lnTo>
                  <a:lnTo>
                    <a:pt x="376839" y="111770"/>
                  </a:lnTo>
                  <a:lnTo>
                    <a:pt x="349133" y="69281"/>
                  </a:lnTo>
                  <a:lnTo>
                    <a:pt x="309417" y="34183"/>
                  </a:lnTo>
                  <a:lnTo>
                    <a:pt x="262310" y="10165"/>
                  </a:lnTo>
                  <a:lnTo>
                    <a:pt x="210586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799968" y="4908661"/>
              <a:ext cx="393700" cy="375285"/>
            </a:xfrm>
            <a:custGeom>
              <a:avLst/>
              <a:gdLst/>
              <a:ahLst/>
              <a:cxnLst/>
              <a:rect l="l" t="t" r="r" b="b"/>
              <a:pathLst>
                <a:path w="393700" h="375285">
                  <a:moveTo>
                    <a:pt x="0" y="187497"/>
                  </a:moveTo>
                  <a:lnTo>
                    <a:pt x="7391" y="136702"/>
                  </a:lnTo>
                  <a:lnTo>
                    <a:pt x="28620" y="89595"/>
                  </a:lnTo>
                  <a:lnTo>
                    <a:pt x="62804" y="49880"/>
                  </a:lnTo>
                  <a:lnTo>
                    <a:pt x="106207" y="20330"/>
                  </a:lnTo>
                  <a:lnTo>
                    <a:pt x="157017" y="3703"/>
                  </a:lnTo>
                  <a:lnTo>
                    <a:pt x="183794" y="0"/>
                  </a:lnTo>
                  <a:lnTo>
                    <a:pt x="210586" y="0"/>
                  </a:lnTo>
                  <a:lnTo>
                    <a:pt x="262310" y="10165"/>
                  </a:lnTo>
                  <a:lnTo>
                    <a:pt x="309417" y="34183"/>
                  </a:lnTo>
                  <a:lnTo>
                    <a:pt x="349133" y="69281"/>
                  </a:lnTo>
                  <a:lnTo>
                    <a:pt x="376839" y="111770"/>
                  </a:lnTo>
                  <a:lnTo>
                    <a:pt x="391622" y="161635"/>
                  </a:lnTo>
                  <a:lnTo>
                    <a:pt x="393466" y="187497"/>
                  </a:lnTo>
                  <a:lnTo>
                    <a:pt x="391622" y="213359"/>
                  </a:lnTo>
                  <a:lnTo>
                    <a:pt x="376839" y="262310"/>
                  </a:lnTo>
                  <a:lnTo>
                    <a:pt x="349133" y="306659"/>
                  </a:lnTo>
                  <a:lnTo>
                    <a:pt x="309417" y="341756"/>
                  </a:lnTo>
                  <a:lnTo>
                    <a:pt x="262310" y="364845"/>
                  </a:lnTo>
                  <a:lnTo>
                    <a:pt x="210586" y="374995"/>
                  </a:lnTo>
                  <a:lnTo>
                    <a:pt x="183794" y="374995"/>
                  </a:lnTo>
                  <a:lnTo>
                    <a:pt x="131155" y="364845"/>
                  </a:lnTo>
                  <a:lnTo>
                    <a:pt x="84048" y="341756"/>
                  </a:lnTo>
                  <a:lnTo>
                    <a:pt x="44333" y="306659"/>
                  </a:lnTo>
                  <a:lnTo>
                    <a:pt x="16626" y="262310"/>
                  </a:lnTo>
                  <a:lnTo>
                    <a:pt x="1844" y="213359"/>
                  </a:lnTo>
                  <a:lnTo>
                    <a:pt x="0" y="187497"/>
                  </a:lnTo>
                </a:path>
              </a:pathLst>
            </a:custGeom>
            <a:ln w="2309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000061" y="4908661"/>
              <a:ext cx="393065" cy="375285"/>
            </a:xfrm>
            <a:custGeom>
              <a:avLst/>
              <a:gdLst/>
              <a:ahLst/>
              <a:cxnLst/>
              <a:rect l="l" t="t" r="r" b="b"/>
              <a:pathLst>
                <a:path w="393064" h="375285">
                  <a:moveTo>
                    <a:pt x="209671" y="0"/>
                  </a:moveTo>
                  <a:lnTo>
                    <a:pt x="182879" y="0"/>
                  </a:lnTo>
                  <a:lnTo>
                    <a:pt x="156103" y="3703"/>
                  </a:lnTo>
                  <a:lnTo>
                    <a:pt x="106222" y="20330"/>
                  </a:lnTo>
                  <a:lnTo>
                    <a:pt x="62819" y="49880"/>
                  </a:lnTo>
                  <a:lnTo>
                    <a:pt x="28635" y="89595"/>
                  </a:lnTo>
                  <a:lnTo>
                    <a:pt x="7391" y="136702"/>
                  </a:lnTo>
                  <a:lnTo>
                    <a:pt x="0" y="187497"/>
                  </a:lnTo>
                  <a:lnTo>
                    <a:pt x="1859" y="213359"/>
                  </a:lnTo>
                  <a:lnTo>
                    <a:pt x="16626" y="262310"/>
                  </a:lnTo>
                  <a:lnTo>
                    <a:pt x="44333" y="306659"/>
                  </a:lnTo>
                  <a:lnTo>
                    <a:pt x="83134" y="341756"/>
                  </a:lnTo>
                  <a:lnTo>
                    <a:pt x="131155" y="364845"/>
                  </a:lnTo>
                  <a:lnTo>
                    <a:pt x="182879" y="374995"/>
                  </a:lnTo>
                  <a:lnTo>
                    <a:pt x="209671" y="374995"/>
                  </a:lnTo>
                  <a:lnTo>
                    <a:pt x="262310" y="364845"/>
                  </a:lnTo>
                  <a:lnTo>
                    <a:pt x="309417" y="341756"/>
                  </a:lnTo>
                  <a:lnTo>
                    <a:pt x="349133" y="306659"/>
                  </a:lnTo>
                  <a:lnTo>
                    <a:pt x="376854" y="262310"/>
                  </a:lnTo>
                  <a:lnTo>
                    <a:pt x="390707" y="213359"/>
                  </a:lnTo>
                  <a:lnTo>
                    <a:pt x="392551" y="187497"/>
                  </a:lnTo>
                  <a:lnTo>
                    <a:pt x="390707" y="161635"/>
                  </a:lnTo>
                  <a:lnTo>
                    <a:pt x="376854" y="111770"/>
                  </a:lnTo>
                  <a:lnTo>
                    <a:pt x="349133" y="69281"/>
                  </a:lnTo>
                  <a:lnTo>
                    <a:pt x="309417" y="34183"/>
                  </a:lnTo>
                  <a:lnTo>
                    <a:pt x="262310" y="10165"/>
                  </a:lnTo>
                  <a:lnTo>
                    <a:pt x="20967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000061" y="4908661"/>
              <a:ext cx="393065" cy="375285"/>
            </a:xfrm>
            <a:custGeom>
              <a:avLst/>
              <a:gdLst/>
              <a:ahLst/>
              <a:cxnLst/>
              <a:rect l="l" t="t" r="r" b="b"/>
              <a:pathLst>
                <a:path w="393064" h="375285">
                  <a:moveTo>
                    <a:pt x="0" y="187497"/>
                  </a:moveTo>
                  <a:lnTo>
                    <a:pt x="7391" y="136702"/>
                  </a:lnTo>
                  <a:lnTo>
                    <a:pt x="28635" y="89595"/>
                  </a:lnTo>
                  <a:lnTo>
                    <a:pt x="62819" y="49880"/>
                  </a:lnTo>
                  <a:lnTo>
                    <a:pt x="106222" y="20330"/>
                  </a:lnTo>
                  <a:lnTo>
                    <a:pt x="156103" y="3703"/>
                  </a:lnTo>
                  <a:lnTo>
                    <a:pt x="182879" y="0"/>
                  </a:lnTo>
                  <a:lnTo>
                    <a:pt x="209671" y="0"/>
                  </a:lnTo>
                  <a:lnTo>
                    <a:pt x="262310" y="10165"/>
                  </a:lnTo>
                  <a:lnTo>
                    <a:pt x="309417" y="34183"/>
                  </a:lnTo>
                  <a:lnTo>
                    <a:pt x="349133" y="69281"/>
                  </a:lnTo>
                  <a:lnTo>
                    <a:pt x="376854" y="111770"/>
                  </a:lnTo>
                  <a:lnTo>
                    <a:pt x="390707" y="161635"/>
                  </a:lnTo>
                  <a:lnTo>
                    <a:pt x="392551" y="187497"/>
                  </a:lnTo>
                  <a:lnTo>
                    <a:pt x="390707" y="213359"/>
                  </a:lnTo>
                  <a:lnTo>
                    <a:pt x="376854" y="262310"/>
                  </a:lnTo>
                  <a:lnTo>
                    <a:pt x="349133" y="306659"/>
                  </a:lnTo>
                  <a:lnTo>
                    <a:pt x="309417" y="341756"/>
                  </a:lnTo>
                  <a:lnTo>
                    <a:pt x="262310" y="364845"/>
                  </a:lnTo>
                  <a:lnTo>
                    <a:pt x="209671" y="374995"/>
                  </a:lnTo>
                  <a:lnTo>
                    <a:pt x="182879" y="374995"/>
                  </a:lnTo>
                  <a:lnTo>
                    <a:pt x="131155" y="364845"/>
                  </a:lnTo>
                  <a:lnTo>
                    <a:pt x="83134" y="341756"/>
                  </a:lnTo>
                  <a:lnTo>
                    <a:pt x="44333" y="306659"/>
                  </a:lnTo>
                  <a:lnTo>
                    <a:pt x="16626" y="262310"/>
                  </a:lnTo>
                  <a:lnTo>
                    <a:pt x="1859" y="213359"/>
                  </a:lnTo>
                  <a:lnTo>
                    <a:pt x="0" y="187497"/>
                  </a:lnTo>
                </a:path>
              </a:pathLst>
            </a:custGeom>
            <a:ln w="2309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799968" y="6715302"/>
              <a:ext cx="393700" cy="375285"/>
            </a:xfrm>
            <a:custGeom>
              <a:avLst/>
              <a:gdLst/>
              <a:ahLst/>
              <a:cxnLst/>
              <a:rect l="l" t="t" r="r" b="b"/>
              <a:pathLst>
                <a:path w="393700" h="375284">
                  <a:moveTo>
                    <a:pt x="210586" y="0"/>
                  </a:moveTo>
                  <a:lnTo>
                    <a:pt x="183794" y="0"/>
                  </a:lnTo>
                  <a:lnTo>
                    <a:pt x="157017" y="3688"/>
                  </a:lnTo>
                  <a:lnTo>
                    <a:pt x="106207" y="20314"/>
                  </a:lnTo>
                  <a:lnTo>
                    <a:pt x="62804" y="48950"/>
                  </a:lnTo>
                  <a:lnTo>
                    <a:pt x="28620" y="88666"/>
                  </a:lnTo>
                  <a:lnTo>
                    <a:pt x="7391" y="135773"/>
                  </a:lnTo>
                  <a:lnTo>
                    <a:pt x="0" y="187497"/>
                  </a:lnTo>
                  <a:lnTo>
                    <a:pt x="1844" y="212430"/>
                  </a:lnTo>
                  <a:lnTo>
                    <a:pt x="16626" y="262310"/>
                  </a:lnTo>
                  <a:lnTo>
                    <a:pt x="44333" y="305714"/>
                  </a:lnTo>
                  <a:lnTo>
                    <a:pt x="84048" y="340812"/>
                  </a:lnTo>
                  <a:lnTo>
                    <a:pt x="131155" y="364830"/>
                  </a:lnTo>
                  <a:lnTo>
                    <a:pt x="183794" y="374995"/>
                  </a:lnTo>
                  <a:lnTo>
                    <a:pt x="210586" y="374995"/>
                  </a:lnTo>
                  <a:lnTo>
                    <a:pt x="262310" y="364830"/>
                  </a:lnTo>
                  <a:lnTo>
                    <a:pt x="309417" y="340812"/>
                  </a:lnTo>
                  <a:lnTo>
                    <a:pt x="349133" y="305714"/>
                  </a:lnTo>
                  <a:lnTo>
                    <a:pt x="376839" y="262310"/>
                  </a:lnTo>
                  <a:lnTo>
                    <a:pt x="391622" y="212430"/>
                  </a:lnTo>
                  <a:lnTo>
                    <a:pt x="393466" y="187497"/>
                  </a:lnTo>
                  <a:lnTo>
                    <a:pt x="391622" y="161635"/>
                  </a:lnTo>
                  <a:lnTo>
                    <a:pt x="376839" y="111754"/>
                  </a:lnTo>
                  <a:lnTo>
                    <a:pt x="349133" y="68351"/>
                  </a:lnTo>
                  <a:lnTo>
                    <a:pt x="309417" y="33253"/>
                  </a:lnTo>
                  <a:lnTo>
                    <a:pt x="262310" y="10165"/>
                  </a:lnTo>
                  <a:lnTo>
                    <a:pt x="210586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799968" y="6715302"/>
              <a:ext cx="393700" cy="375285"/>
            </a:xfrm>
            <a:custGeom>
              <a:avLst/>
              <a:gdLst/>
              <a:ahLst/>
              <a:cxnLst/>
              <a:rect l="l" t="t" r="r" b="b"/>
              <a:pathLst>
                <a:path w="393700" h="375284">
                  <a:moveTo>
                    <a:pt x="0" y="187497"/>
                  </a:moveTo>
                  <a:lnTo>
                    <a:pt x="7391" y="135773"/>
                  </a:lnTo>
                  <a:lnTo>
                    <a:pt x="28620" y="88666"/>
                  </a:lnTo>
                  <a:lnTo>
                    <a:pt x="62804" y="48950"/>
                  </a:lnTo>
                  <a:lnTo>
                    <a:pt x="106207" y="20314"/>
                  </a:lnTo>
                  <a:lnTo>
                    <a:pt x="157017" y="3688"/>
                  </a:lnTo>
                  <a:lnTo>
                    <a:pt x="183794" y="0"/>
                  </a:lnTo>
                  <a:lnTo>
                    <a:pt x="210586" y="0"/>
                  </a:lnTo>
                  <a:lnTo>
                    <a:pt x="262310" y="10165"/>
                  </a:lnTo>
                  <a:lnTo>
                    <a:pt x="309417" y="33253"/>
                  </a:lnTo>
                  <a:lnTo>
                    <a:pt x="349133" y="68351"/>
                  </a:lnTo>
                  <a:lnTo>
                    <a:pt x="376839" y="111754"/>
                  </a:lnTo>
                  <a:lnTo>
                    <a:pt x="391622" y="161635"/>
                  </a:lnTo>
                  <a:lnTo>
                    <a:pt x="393466" y="187497"/>
                  </a:lnTo>
                  <a:lnTo>
                    <a:pt x="391622" y="212430"/>
                  </a:lnTo>
                  <a:lnTo>
                    <a:pt x="376839" y="262310"/>
                  </a:lnTo>
                  <a:lnTo>
                    <a:pt x="349133" y="305714"/>
                  </a:lnTo>
                  <a:lnTo>
                    <a:pt x="309417" y="340812"/>
                  </a:lnTo>
                  <a:lnTo>
                    <a:pt x="262310" y="364830"/>
                  </a:lnTo>
                  <a:lnTo>
                    <a:pt x="210586" y="374995"/>
                  </a:lnTo>
                  <a:lnTo>
                    <a:pt x="183794" y="374995"/>
                  </a:lnTo>
                  <a:lnTo>
                    <a:pt x="131155" y="364830"/>
                  </a:lnTo>
                  <a:lnTo>
                    <a:pt x="84048" y="340812"/>
                  </a:lnTo>
                  <a:lnTo>
                    <a:pt x="44333" y="305714"/>
                  </a:lnTo>
                  <a:lnTo>
                    <a:pt x="16626" y="262310"/>
                  </a:lnTo>
                  <a:lnTo>
                    <a:pt x="1844" y="212430"/>
                  </a:lnTo>
                  <a:lnTo>
                    <a:pt x="0" y="187497"/>
                  </a:lnTo>
                </a:path>
              </a:pathLst>
            </a:custGeom>
            <a:ln w="2309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000061" y="6715302"/>
              <a:ext cx="393065" cy="375285"/>
            </a:xfrm>
            <a:custGeom>
              <a:avLst/>
              <a:gdLst/>
              <a:ahLst/>
              <a:cxnLst/>
              <a:rect l="l" t="t" r="r" b="b"/>
              <a:pathLst>
                <a:path w="393064" h="375284">
                  <a:moveTo>
                    <a:pt x="209671" y="0"/>
                  </a:moveTo>
                  <a:lnTo>
                    <a:pt x="182879" y="0"/>
                  </a:lnTo>
                  <a:lnTo>
                    <a:pt x="156103" y="3688"/>
                  </a:lnTo>
                  <a:lnTo>
                    <a:pt x="106222" y="20314"/>
                  </a:lnTo>
                  <a:lnTo>
                    <a:pt x="62819" y="48950"/>
                  </a:lnTo>
                  <a:lnTo>
                    <a:pt x="28635" y="88666"/>
                  </a:lnTo>
                  <a:lnTo>
                    <a:pt x="7391" y="135773"/>
                  </a:lnTo>
                  <a:lnTo>
                    <a:pt x="0" y="187497"/>
                  </a:lnTo>
                  <a:lnTo>
                    <a:pt x="1859" y="212430"/>
                  </a:lnTo>
                  <a:lnTo>
                    <a:pt x="16626" y="262310"/>
                  </a:lnTo>
                  <a:lnTo>
                    <a:pt x="44333" y="305714"/>
                  </a:lnTo>
                  <a:lnTo>
                    <a:pt x="83134" y="340812"/>
                  </a:lnTo>
                  <a:lnTo>
                    <a:pt x="131155" y="364830"/>
                  </a:lnTo>
                  <a:lnTo>
                    <a:pt x="182879" y="374995"/>
                  </a:lnTo>
                  <a:lnTo>
                    <a:pt x="209671" y="374995"/>
                  </a:lnTo>
                  <a:lnTo>
                    <a:pt x="262310" y="364830"/>
                  </a:lnTo>
                  <a:lnTo>
                    <a:pt x="309417" y="340812"/>
                  </a:lnTo>
                  <a:lnTo>
                    <a:pt x="349133" y="305714"/>
                  </a:lnTo>
                  <a:lnTo>
                    <a:pt x="376854" y="262310"/>
                  </a:lnTo>
                  <a:lnTo>
                    <a:pt x="390707" y="212430"/>
                  </a:lnTo>
                  <a:lnTo>
                    <a:pt x="392551" y="187497"/>
                  </a:lnTo>
                  <a:lnTo>
                    <a:pt x="390707" y="161635"/>
                  </a:lnTo>
                  <a:lnTo>
                    <a:pt x="376854" y="111754"/>
                  </a:lnTo>
                  <a:lnTo>
                    <a:pt x="349133" y="68351"/>
                  </a:lnTo>
                  <a:lnTo>
                    <a:pt x="309417" y="33253"/>
                  </a:lnTo>
                  <a:lnTo>
                    <a:pt x="262310" y="10165"/>
                  </a:lnTo>
                  <a:lnTo>
                    <a:pt x="209671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000061" y="6715302"/>
              <a:ext cx="393065" cy="375285"/>
            </a:xfrm>
            <a:custGeom>
              <a:avLst/>
              <a:gdLst/>
              <a:ahLst/>
              <a:cxnLst/>
              <a:rect l="l" t="t" r="r" b="b"/>
              <a:pathLst>
                <a:path w="393064" h="375284">
                  <a:moveTo>
                    <a:pt x="0" y="187497"/>
                  </a:moveTo>
                  <a:lnTo>
                    <a:pt x="7391" y="135773"/>
                  </a:lnTo>
                  <a:lnTo>
                    <a:pt x="28635" y="88666"/>
                  </a:lnTo>
                  <a:lnTo>
                    <a:pt x="62819" y="48950"/>
                  </a:lnTo>
                  <a:lnTo>
                    <a:pt x="106222" y="20314"/>
                  </a:lnTo>
                  <a:lnTo>
                    <a:pt x="156103" y="3688"/>
                  </a:lnTo>
                  <a:lnTo>
                    <a:pt x="182879" y="0"/>
                  </a:lnTo>
                  <a:lnTo>
                    <a:pt x="209671" y="0"/>
                  </a:lnTo>
                  <a:lnTo>
                    <a:pt x="262310" y="10165"/>
                  </a:lnTo>
                  <a:lnTo>
                    <a:pt x="309417" y="33253"/>
                  </a:lnTo>
                  <a:lnTo>
                    <a:pt x="349133" y="68351"/>
                  </a:lnTo>
                  <a:lnTo>
                    <a:pt x="376854" y="111754"/>
                  </a:lnTo>
                  <a:lnTo>
                    <a:pt x="390707" y="161635"/>
                  </a:lnTo>
                  <a:lnTo>
                    <a:pt x="392551" y="187497"/>
                  </a:lnTo>
                  <a:lnTo>
                    <a:pt x="390707" y="212430"/>
                  </a:lnTo>
                  <a:lnTo>
                    <a:pt x="376854" y="262310"/>
                  </a:lnTo>
                  <a:lnTo>
                    <a:pt x="349133" y="305714"/>
                  </a:lnTo>
                  <a:lnTo>
                    <a:pt x="309417" y="340812"/>
                  </a:lnTo>
                  <a:lnTo>
                    <a:pt x="262310" y="364830"/>
                  </a:lnTo>
                  <a:lnTo>
                    <a:pt x="209671" y="374995"/>
                  </a:lnTo>
                  <a:lnTo>
                    <a:pt x="182879" y="374995"/>
                  </a:lnTo>
                  <a:lnTo>
                    <a:pt x="131155" y="364830"/>
                  </a:lnTo>
                  <a:lnTo>
                    <a:pt x="83134" y="340812"/>
                  </a:lnTo>
                  <a:lnTo>
                    <a:pt x="44333" y="305714"/>
                  </a:lnTo>
                  <a:lnTo>
                    <a:pt x="16626" y="262310"/>
                  </a:lnTo>
                  <a:lnTo>
                    <a:pt x="1859" y="212430"/>
                  </a:lnTo>
                  <a:lnTo>
                    <a:pt x="0" y="187497"/>
                  </a:lnTo>
                </a:path>
              </a:pathLst>
            </a:custGeom>
            <a:ln w="2309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193435" y="5096159"/>
              <a:ext cx="1807210" cy="0"/>
            </a:xfrm>
            <a:custGeom>
              <a:avLst/>
              <a:gdLst/>
              <a:ahLst/>
              <a:cxnLst/>
              <a:rect l="l" t="t" r="r" b="b"/>
              <a:pathLst>
                <a:path w="1807210" h="0">
                  <a:moveTo>
                    <a:pt x="0" y="0"/>
                  </a:moveTo>
                  <a:lnTo>
                    <a:pt x="1806625" y="0"/>
                  </a:lnTo>
                </a:path>
              </a:pathLst>
            </a:custGeom>
            <a:ln w="69272">
              <a:solidFill>
                <a:srgbClr val="CDCDC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195879" y="5284586"/>
              <a:ext cx="0" cy="1430020"/>
            </a:xfrm>
            <a:custGeom>
              <a:avLst/>
              <a:gdLst/>
              <a:ahLst/>
              <a:cxnLst/>
              <a:rect l="l" t="t" r="r" b="b"/>
              <a:pathLst>
                <a:path w="0" h="1430020">
                  <a:moveTo>
                    <a:pt x="0" y="0"/>
                  </a:moveTo>
                  <a:lnTo>
                    <a:pt x="0" y="1429786"/>
                  </a:lnTo>
                </a:path>
              </a:pathLst>
            </a:custGeom>
            <a:ln w="2309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193435" y="6902800"/>
              <a:ext cx="1807210" cy="0"/>
            </a:xfrm>
            <a:custGeom>
              <a:avLst/>
              <a:gdLst/>
              <a:ahLst/>
              <a:cxnLst/>
              <a:rect l="l" t="t" r="r" b="b"/>
              <a:pathLst>
                <a:path w="1807210" h="0">
                  <a:moveTo>
                    <a:pt x="0" y="0"/>
                  </a:moveTo>
                  <a:lnTo>
                    <a:pt x="1806625" y="0"/>
                  </a:lnTo>
                </a:path>
              </a:pathLst>
            </a:custGeom>
            <a:ln w="69272">
              <a:solidFill>
                <a:srgbClr val="CDCDC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996702" y="5284586"/>
              <a:ext cx="0" cy="1430020"/>
            </a:xfrm>
            <a:custGeom>
              <a:avLst/>
              <a:gdLst/>
              <a:ahLst/>
              <a:cxnLst/>
              <a:rect l="l" t="t" r="r" b="b"/>
              <a:pathLst>
                <a:path w="0" h="1430020">
                  <a:moveTo>
                    <a:pt x="0" y="0"/>
                  </a:moveTo>
                  <a:lnTo>
                    <a:pt x="0" y="1429786"/>
                  </a:lnTo>
                </a:path>
              </a:pathLst>
            </a:custGeom>
            <a:ln w="2309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/>
          <p:cNvSpPr txBox="1"/>
          <p:nvPr/>
        </p:nvSpPr>
        <p:spPr>
          <a:xfrm>
            <a:off x="2924656" y="4921826"/>
            <a:ext cx="141605" cy="3028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8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921885" y="6728464"/>
            <a:ext cx="128270" cy="3028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8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155243" y="6761715"/>
            <a:ext cx="77470" cy="3028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8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112755" y="4920913"/>
            <a:ext cx="141605" cy="3028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8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052092" y="5791902"/>
            <a:ext cx="141605" cy="3028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3927990" y="5799305"/>
            <a:ext cx="416559" cy="399415"/>
            <a:chOff x="3927990" y="5799305"/>
            <a:chExt cx="416559" cy="399415"/>
          </a:xfrm>
        </p:grpSpPr>
        <p:sp>
          <p:nvSpPr>
            <p:cNvPr id="64" name="object 64"/>
            <p:cNvSpPr/>
            <p:nvPr/>
          </p:nvSpPr>
          <p:spPr>
            <a:xfrm>
              <a:off x="3939737" y="5811052"/>
              <a:ext cx="393065" cy="375920"/>
            </a:xfrm>
            <a:custGeom>
              <a:avLst/>
              <a:gdLst/>
              <a:ahLst/>
              <a:cxnLst/>
              <a:rect l="l" t="t" r="r" b="b"/>
              <a:pathLst>
                <a:path w="393064" h="375920">
                  <a:moveTo>
                    <a:pt x="209656" y="0"/>
                  </a:moveTo>
                  <a:lnTo>
                    <a:pt x="181950" y="0"/>
                  </a:lnTo>
                  <a:lnTo>
                    <a:pt x="156088" y="3703"/>
                  </a:lnTo>
                  <a:lnTo>
                    <a:pt x="106207" y="21244"/>
                  </a:lnTo>
                  <a:lnTo>
                    <a:pt x="61874" y="50810"/>
                  </a:lnTo>
                  <a:lnTo>
                    <a:pt x="28620" y="90525"/>
                  </a:lnTo>
                  <a:lnTo>
                    <a:pt x="7376" y="137632"/>
                  </a:lnTo>
                  <a:lnTo>
                    <a:pt x="0" y="188427"/>
                  </a:lnTo>
                  <a:lnTo>
                    <a:pt x="1844" y="214289"/>
                  </a:lnTo>
                  <a:lnTo>
                    <a:pt x="15697" y="262326"/>
                  </a:lnTo>
                  <a:lnTo>
                    <a:pt x="44333" y="306659"/>
                  </a:lnTo>
                  <a:lnTo>
                    <a:pt x="83118" y="341756"/>
                  </a:lnTo>
                  <a:lnTo>
                    <a:pt x="131155" y="365759"/>
                  </a:lnTo>
                  <a:lnTo>
                    <a:pt x="181950" y="375925"/>
                  </a:lnTo>
                  <a:lnTo>
                    <a:pt x="209656" y="375925"/>
                  </a:lnTo>
                  <a:lnTo>
                    <a:pt x="261381" y="365759"/>
                  </a:lnTo>
                  <a:lnTo>
                    <a:pt x="309417" y="341756"/>
                  </a:lnTo>
                  <a:lnTo>
                    <a:pt x="348203" y="306659"/>
                  </a:lnTo>
                  <a:lnTo>
                    <a:pt x="375909" y="262326"/>
                  </a:lnTo>
                  <a:lnTo>
                    <a:pt x="390692" y="214289"/>
                  </a:lnTo>
                  <a:lnTo>
                    <a:pt x="392536" y="188427"/>
                  </a:lnTo>
                  <a:lnTo>
                    <a:pt x="390692" y="162565"/>
                  </a:lnTo>
                  <a:lnTo>
                    <a:pt x="375909" y="113614"/>
                  </a:lnTo>
                  <a:lnTo>
                    <a:pt x="348203" y="69281"/>
                  </a:lnTo>
                  <a:lnTo>
                    <a:pt x="309417" y="34183"/>
                  </a:lnTo>
                  <a:lnTo>
                    <a:pt x="261381" y="11094"/>
                  </a:lnTo>
                  <a:lnTo>
                    <a:pt x="209656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939737" y="5811052"/>
              <a:ext cx="393065" cy="375920"/>
            </a:xfrm>
            <a:custGeom>
              <a:avLst/>
              <a:gdLst/>
              <a:ahLst/>
              <a:cxnLst/>
              <a:rect l="l" t="t" r="r" b="b"/>
              <a:pathLst>
                <a:path w="393064" h="375920">
                  <a:moveTo>
                    <a:pt x="0" y="188427"/>
                  </a:moveTo>
                  <a:lnTo>
                    <a:pt x="7376" y="137632"/>
                  </a:lnTo>
                  <a:lnTo>
                    <a:pt x="28620" y="90525"/>
                  </a:lnTo>
                  <a:lnTo>
                    <a:pt x="61874" y="50810"/>
                  </a:lnTo>
                  <a:lnTo>
                    <a:pt x="106207" y="21244"/>
                  </a:lnTo>
                  <a:lnTo>
                    <a:pt x="156088" y="3703"/>
                  </a:lnTo>
                  <a:lnTo>
                    <a:pt x="181950" y="0"/>
                  </a:lnTo>
                  <a:lnTo>
                    <a:pt x="209656" y="0"/>
                  </a:lnTo>
                  <a:lnTo>
                    <a:pt x="261381" y="11094"/>
                  </a:lnTo>
                  <a:lnTo>
                    <a:pt x="309417" y="34183"/>
                  </a:lnTo>
                  <a:lnTo>
                    <a:pt x="348203" y="69281"/>
                  </a:lnTo>
                  <a:lnTo>
                    <a:pt x="375909" y="113614"/>
                  </a:lnTo>
                  <a:lnTo>
                    <a:pt x="390692" y="162565"/>
                  </a:lnTo>
                  <a:lnTo>
                    <a:pt x="392536" y="188427"/>
                  </a:lnTo>
                  <a:lnTo>
                    <a:pt x="390692" y="214289"/>
                  </a:lnTo>
                  <a:lnTo>
                    <a:pt x="375909" y="262326"/>
                  </a:lnTo>
                  <a:lnTo>
                    <a:pt x="348203" y="306659"/>
                  </a:lnTo>
                  <a:lnTo>
                    <a:pt x="309417" y="341756"/>
                  </a:lnTo>
                  <a:lnTo>
                    <a:pt x="261381" y="365759"/>
                  </a:lnTo>
                  <a:lnTo>
                    <a:pt x="209656" y="375925"/>
                  </a:lnTo>
                  <a:lnTo>
                    <a:pt x="181950" y="375925"/>
                  </a:lnTo>
                  <a:lnTo>
                    <a:pt x="131155" y="365759"/>
                  </a:lnTo>
                  <a:lnTo>
                    <a:pt x="83118" y="341756"/>
                  </a:lnTo>
                  <a:lnTo>
                    <a:pt x="44333" y="306659"/>
                  </a:lnTo>
                  <a:lnTo>
                    <a:pt x="15697" y="262326"/>
                  </a:lnTo>
                  <a:lnTo>
                    <a:pt x="1844" y="214289"/>
                  </a:lnTo>
                  <a:lnTo>
                    <a:pt x="0" y="188427"/>
                  </a:lnTo>
                </a:path>
              </a:pathLst>
            </a:custGeom>
            <a:ln w="2309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6" name="object 66"/>
          <p:cNvSpPr txBox="1"/>
          <p:nvPr/>
        </p:nvSpPr>
        <p:spPr>
          <a:xfrm>
            <a:off x="4063503" y="5824224"/>
            <a:ext cx="141605" cy="3028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2128011" y="5165902"/>
            <a:ext cx="3925570" cy="1663064"/>
            <a:chOff x="2128011" y="5165902"/>
            <a:chExt cx="3925570" cy="1663064"/>
          </a:xfrm>
        </p:grpSpPr>
        <p:sp>
          <p:nvSpPr>
            <p:cNvPr id="68" name="object 68"/>
            <p:cNvSpPr/>
            <p:nvPr/>
          </p:nvSpPr>
          <p:spPr>
            <a:xfrm>
              <a:off x="2162647" y="5200538"/>
              <a:ext cx="673735" cy="1593850"/>
            </a:xfrm>
            <a:custGeom>
              <a:avLst/>
              <a:gdLst/>
              <a:ahLst/>
              <a:cxnLst/>
              <a:rect l="l" t="t" r="r" b="b"/>
              <a:pathLst>
                <a:path w="673735" h="1593850">
                  <a:moveTo>
                    <a:pt x="12938" y="651159"/>
                  </a:moveTo>
                  <a:lnTo>
                    <a:pt x="670559" y="0"/>
                  </a:lnTo>
                </a:path>
                <a:path w="673735" h="1593850">
                  <a:moveTo>
                    <a:pt x="0" y="955045"/>
                  </a:moveTo>
                  <a:lnTo>
                    <a:pt x="673333" y="1593265"/>
                  </a:lnTo>
                </a:path>
              </a:pathLst>
            </a:custGeom>
            <a:ln w="69272">
              <a:solidFill>
                <a:srgbClr val="CDCDC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5340888" y="6141715"/>
              <a:ext cx="670560" cy="633730"/>
            </a:xfrm>
            <a:custGeom>
              <a:avLst/>
              <a:gdLst/>
              <a:ahLst/>
              <a:cxnLst/>
              <a:rect l="l" t="t" r="r" b="b"/>
              <a:pathLst>
                <a:path w="670560" h="633729">
                  <a:moveTo>
                    <a:pt x="0" y="633618"/>
                  </a:moveTo>
                  <a:lnTo>
                    <a:pt x="670559" y="0"/>
                  </a:lnTo>
                </a:path>
              </a:pathLst>
            </a:custGeom>
            <a:ln w="2309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135248" y="5210703"/>
              <a:ext cx="2884170" cy="673735"/>
            </a:xfrm>
            <a:custGeom>
              <a:avLst/>
              <a:gdLst/>
              <a:ahLst/>
              <a:cxnLst/>
              <a:rect l="l" t="t" r="r" b="b"/>
              <a:pathLst>
                <a:path w="2884170" h="673735">
                  <a:moveTo>
                    <a:pt x="2216718" y="0"/>
                  </a:moveTo>
                  <a:lnTo>
                    <a:pt x="2883590" y="639150"/>
                  </a:lnTo>
                </a:path>
                <a:path w="2884170" h="673735">
                  <a:moveTo>
                    <a:pt x="0" y="18470"/>
                  </a:moveTo>
                  <a:lnTo>
                    <a:pt x="846048" y="673318"/>
                  </a:lnTo>
                </a:path>
              </a:pathLst>
            </a:custGeom>
            <a:ln w="69272">
              <a:solidFill>
                <a:srgbClr val="CDCDC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135248" y="5222697"/>
              <a:ext cx="1934210" cy="1546225"/>
            </a:xfrm>
            <a:custGeom>
              <a:avLst/>
              <a:gdLst/>
              <a:ahLst/>
              <a:cxnLst/>
              <a:rect l="l" t="t" r="r" b="b"/>
              <a:pathLst>
                <a:path w="1934210" h="1546225">
                  <a:moveTo>
                    <a:pt x="1149918" y="898702"/>
                  </a:moveTo>
                  <a:lnTo>
                    <a:pt x="1934093" y="1536009"/>
                  </a:lnTo>
                </a:path>
                <a:path w="1934210" h="1546225">
                  <a:moveTo>
                    <a:pt x="1149918" y="653948"/>
                  </a:moveTo>
                  <a:lnTo>
                    <a:pt x="1915622" y="0"/>
                  </a:lnTo>
                </a:path>
                <a:path w="1934210" h="1546225">
                  <a:moveTo>
                    <a:pt x="842345" y="887623"/>
                  </a:moveTo>
                  <a:lnTo>
                    <a:pt x="0" y="1546174"/>
                  </a:lnTo>
                </a:path>
              </a:pathLst>
            </a:custGeom>
            <a:ln w="2309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" name="object 72"/>
          <p:cNvSpPr txBox="1"/>
          <p:nvPr/>
        </p:nvSpPr>
        <p:spPr>
          <a:xfrm>
            <a:off x="1969616" y="5423363"/>
            <a:ext cx="154305" cy="703580"/>
          </a:xfrm>
          <a:prstGeom prst="rect">
            <a:avLst/>
          </a:prstGeom>
        </p:spPr>
        <p:txBody>
          <a:bodyPr wrap="square" lIns="0" tIns="768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605"/>
              </a:spcBef>
            </a:pPr>
            <a:r>
              <a:rPr dirty="0" sz="1800" spc="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9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80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3598911" y="7303888"/>
            <a:ext cx="1000760" cy="3028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10">
                <a:solidFill>
                  <a:srgbClr val="FFFF00"/>
                </a:solidFill>
                <a:latin typeface="Arial"/>
                <a:cs typeface="Arial"/>
              </a:rPr>
              <a:t>BFS</a:t>
            </a:r>
            <a:r>
              <a:rPr dirty="0" sz="1800" spc="-6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Tree</a:t>
            </a:r>
            <a:endParaRPr sz="18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901699" y="7725816"/>
            <a:ext cx="6357620" cy="12579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7683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8.20: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Trace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 tree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650">
              <a:latin typeface="Times New Roman"/>
              <a:cs typeface="Times New Roman"/>
            </a:endParaRPr>
          </a:p>
          <a:p>
            <a:pPr marL="12700" marR="10223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Times New Roman"/>
                <a:cs typeface="Times New Roman"/>
              </a:rPr>
              <a:t>T</a:t>
            </a:r>
            <a:r>
              <a:rPr dirty="0" sz="950" spc="40">
                <a:latin typeface="Times New Roman"/>
                <a:cs typeface="Times New Roman"/>
              </a:rPr>
              <a:t>RAVERSE</a:t>
            </a:r>
            <a:r>
              <a:rPr dirty="0" sz="1200" spc="40">
                <a:latin typeface="Times New Roman"/>
                <a:cs typeface="Times New Roman"/>
              </a:rPr>
              <a:t>-DFS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overall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O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E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6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graph is connected,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55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O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E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6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implement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bag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 a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queue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breadth-first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search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(BFS).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 spc="-10">
                <a:latin typeface="Times New Roman"/>
                <a:cs typeface="Times New Roman"/>
              </a:rPr>
              <a:t>execution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</a:t>
            </a:r>
            <a:r>
              <a:rPr dirty="0" sz="1200" spc="-5">
                <a:latin typeface="Times New Roman"/>
                <a:cs typeface="Times New Roman"/>
              </a:rPr>
              <a:t> 3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743705" y="8395284"/>
            <a:ext cx="3567429" cy="145415"/>
          </a:xfrm>
          <a:custGeom>
            <a:avLst/>
            <a:gdLst/>
            <a:ahLst/>
            <a:cxnLst/>
            <a:rect l="l" t="t" r="r" b="b"/>
            <a:pathLst>
              <a:path w="3567429" h="145415">
                <a:moveTo>
                  <a:pt x="3567429" y="0"/>
                </a:moveTo>
                <a:lnTo>
                  <a:pt x="0" y="0"/>
                </a:lnTo>
                <a:lnTo>
                  <a:pt x="0" y="145148"/>
                </a:lnTo>
                <a:lnTo>
                  <a:pt x="3567429" y="145148"/>
                </a:lnTo>
                <a:lnTo>
                  <a:pt x="3567429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0987"/>
            <a:ext cx="1764664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8.1.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 spc="-25">
                <a:latin typeface="Times New Roman"/>
                <a:cs typeface="Times New Roman"/>
              </a:rPr>
              <a:t> TRAVERSAL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12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914400" y="1372056"/>
            <a:ext cx="5487035" cy="1907539"/>
          </a:xfrm>
          <a:custGeom>
            <a:avLst/>
            <a:gdLst/>
            <a:ahLst/>
            <a:cxnLst/>
            <a:rect l="l" t="t" r="r" b="b"/>
            <a:pathLst>
              <a:path w="5487035" h="1907539">
                <a:moveTo>
                  <a:pt x="5486400" y="1901952"/>
                </a:moveTo>
                <a:lnTo>
                  <a:pt x="0" y="1901952"/>
                </a:lnTo>
                <a:lnTo>
                  <a:pt x="0" y="1907082"/>
                </a:lnTo>
                <a:lnTo>
                  <a:pt x="5486400" y="1907082"/>
                </a:lnTo>
                <a:lnTo>
                  <a:pt x="5486400" y="1901952"/>
                </a:lnTo>
                <a:close/>
              </a:path>
              <a:path w="5487035" h="1907539">
                <a:moveTo>
                  <a:pt x="5486959" y="4978"/>
                </a:moveTo>
                <a:lnTo>
                  <a:pt x="5486400" y="4978"/>
                </a:lnTo>
                <a:lnTo>
                  <a:pt x="5486400" y="0"/>
                </a:lnTo>
                <a:lnTo>
                  <a:pt x="0" y="0"/>
                </a:lnTo>
                <a:lnTo>
                  <a:pt x="0" y="4978"/>
                </a:lnTo>
                <a:lnTo>
                  <a:pt x="0" y="5130"/>
                </a:lnTo>
                <a:lnTo>
                  <a:pt x="0" y="1900986"/>
                </a:lnTo>
                <a:lnTo>
                  <a:pt x="5130" y="1900986"/>
                </a:lnTo>
                <a:lnTo>
                  <a:pt x="5130" y="5130"/>
                </a:lnTo>
                <a:lnTo>
                  <a:pt x="5481828" y="5130"/>
                </a:lnTo>
                <a:lnTo>
                  <a:pt x="5481828" y="1900986"/>
                </a:lnTo>
                <a:lnTo>
                  <a:pt x="5486959" y="1900986"/>
                </a:lnTo>
                <a:lnTo>
                  <a:pt x="5486959" y="4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838198" y="926454"/>
            <a:ext cx="6551295" cy="62826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10">
                <a:latin typeface="Times New Roman"/>
                <a:cs typeface="Times New Roman"/>
              </a:rPr>
              <a:t>line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 still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 spc="-5">
                <a:latin typeface="Times New Roman"/>
                <a:cs typeface="Times New Roman"/>
              </a:rPr>
              <a:t> constant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overall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still </a:t>
            </a:r>
            <a:r>
              <a:rPr dirty="0" sz="1200" spc="60">
                <a:latin typeface="Lucida Sans Unicode"/>
                <a:cs typeface="Lucida Sans Unicode"/>
              </a:rPr>
              <a:t>O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E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6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750">
              <a:latin typeface="Times New Roman"/>
              <a:cs typeface="Times New Roman"/>
            </a:endParaRPr>
          </a:p>
          <a:p>
            <a:pPr marL="122555">
              <a:lnSpc>
                <a:spcPct val="100000"/>
              </a:lnSpc>
            </a:pPr>
            <a:r>
              <a:rPr dirty="0" sz="1200" spc="40">
                <a:latin typeface="Times New Roman"/>
                <a:cs typeface="Times New Roman"/>
              </a:rPr>
              <a:t>T</a:t>
            </a:r>
            <a:r>
              <a:rPr dirty="0" sz="950" spc="40">
                <a:latin typeface="Times New Roman"/>
                <a:cs typeface="Times New Roman"/>
              </a:rPr>
              <a:t>RAVERSE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s</a:t>
            </a:r>
            <a:r>
              <a:rPr dirty="0" sz="1200" spc="4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97510" indent="-241300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397510" algn="l"/>
                <a:tab pos="398145" algn="l"/>
              </a:tabLst>
            </a:pP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nqu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250">
                <a:latin typeface="Lucida Sans Unicode"/>
                <a:cs typeface="Lucida Sans Unicode"/>
              </a:rPr>
              <a:t>∅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s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848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84810" algn="l"/>
                <a:tab pos="3854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28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queue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 empty</a:t>
            </a:r>
            <a:endParaRPr sz="1200">
              <a:latin typeface="Times New Roman"/>
              <a:cs typeface="Times New Roman"/>
            </a:endParaRPr>
          </a:p>
          <a:p>
            <a:pPr marL="3848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84810" algn="l"/>
                <a:tab pos="3854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qu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8293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82930" algn="l"/>
                <a:tab pos="5835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229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unmarked 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713740" indent="-557530">
              <a:lnSpc>
                <a:spcPct val="100000"/>
              </a:lnSpc>
              <a:buFont typeface="Times New Roman"/>
              <a:buAutoNum type="arabicPlain"/>
              <a:tabLst>
                <a:tab pos="713740" algn="l"/>
                <a:tab pos="71437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mark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endParaRPr sz="1200">
              <a:latin typeface="Lucida Sans Unicode"/>
              <a:cs typeface="Lucida Sans Unicode"/>
            </a:endParaRPr>
          </a:p>
          <a:p>
            <a:pPr marL="1050925" indent="-894715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1050925" algn="l"/>
                <a:tab pos="1051560" algn="l"/>
              </a:tabLst>
            </a:pPr>
            <a:r>
              <a:rPr dirty="0" sz="1200" spc="-5">
                <a:latin typeface="Times New Roman"/>
                <a:cs typeface="Times New Roman"/>
              </a:rPr>
              <a:t>parent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v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p</a:t>
            </a:r>
            <a:endParaRPr sz="1200">
              <a:latin typeface="Lucida Sans Unicode"/>
              <a:cs typeface="Lucida Sans Unicode"/>
            </a:endParaRPr>
          </a:p>
          <a:p>
            <a:pPr marL="1038225" indent="-88201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1038225" algn="l"/>
                <a:tab pos="1038860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038225" indent="-882015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1038225" algn="l"/>
                <a:tab pos="103886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nqu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w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</a:pPr>
            <a:endParaRPr sz="13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Garamond"/>
              <a:cs typeface="Garamond"/>
            </a:endParaRPr>
          </a:p>
          <a:p>
            <a:pPr marL="76200" marR="18034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 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adjacency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matrix</a:t>
            </a:r>
            <a:r>
              <a:rPr dirty="0" sz="1200" spc="-5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neighbors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line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O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 depth-first and breadth-first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O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V</a:t>
            </a:r>
            <a:r>
              <a:rPr dirty="0" baseline="31250" sz="1200" spc="89">
                <a:latin typeface="Verdana"/>
                <a:cs typeface="Verdana"/>
              </a:rPr>
              <a:t>2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overall.</a:t>
            </a:r>
            <a:endParaRPr sz="1200">
              <a:latin typeface="Times New Roman"/>
              <a:cs typeface="Times New Roman"/>
            </a:endParaRPr>
          </a:p>
          <a:p>
            <a:pPr marL="76200" marR="6858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Either DFS or BFS </a:t>
            </a:r>
            <a:r>
              <a:rPr dirty="0" sz="1200" spc="-10">
                <a:latin typeface="Times New Roman"/>
                <a:cs typeface="Times New Roman"/>
              </a:rPr>
              <a:t>yields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spanning </a:t>
            </a:r>
            <a:r>
              <a:rPr dirty="0" sz="1200" spc="-5">
                <a:latin typeface="Times New Roman"/>
                <a:cs typeface="Times New Roman"/>
              </a:rPr>
              <a:t>tree of </a:t>
            </a:r>
            <a:r>
              <a:rPr dirty="0" sz="1200" spc="-10">
                <a:latin typeface="Times New Roman"/>
                <a:cs typeface="Times New Roman"/>
              </a:rPr>
              <a:t>the graph.</a:t>
            </a:r>
            <a:r>
              <a:rPr dirty="0" sz="1200" spc="-5">
                <a:latin typeface="Times New Roman"/>
                <a:cs typeface="Times New Roman"/>
              </a:rPr>
              <a:t> The tree visits </a:t>
            </a:r>
            <a:r>
              <a:rPr dirty="0" sz="1200" spc="-15">
                <a:latin typeface="Times New Roman"/>
                <a:cs typeface="Times New Roman"/>
              </a:rPr>
              <a:t>every vertex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 graph.</a:t>
            </a:r>
            <a:r>
              <a:rPr dirty="0" sz="1200" spc="-5">
                <a:latin typeface="Times New Roman"/>
                <a:cs typeface="Times New Roman"/>
              </a:rPr>
              <a:t> This </a:t>
            </a:r>
            <a:r>
              <a:rPr dirty="0" sz="1200" spc="-10">
                <a:latin typeface="Times New Roman"/>
                <a:cs typeface="Times New Roman"/>
              </a:rPr>
              <a:t>fact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established by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lemma:</a:t>
            </a:r>
            <a:endParaRPr sz="1200">
              <a:latin typeface="Times New Roman"/>
              <a:cs typeface="Times New Roman"/>
            </a:endParaRPr>
          </a:p>
          <a:p>
            <a:pPr marL="113664">
              <a:lnSpc>
                <a:spcPct val="100000"/>
              </a:lnSpc>
              <a:spcBef>
                <a:spcPts val="520"/>
              </a:spcBef>
            </a:pPr>
            <a:r>
              <a:rPr dirty="0" sz="1200" spc="-5" b="1">
                <a:latin typeface="Times New Roman"/>
                <a:cs typeface="Times New Roman"/>
              </a:rPr>
              <a:t>Lemma: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The generic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Times New Roman"/>
                <a:cs typeface="Times New Roman"/>
              </a:rPr>
              <a:t>T</a:t>
            </a:r>
            <a:r>
              <a:rPr dirty="0" sz="950" spc="40">
                <a:latin typeface="Times New Roman"/>
                <a:cs typeface="Times New Roman"/>
              </a:rPr>
              <a:t>RAVERSE</a:t>
            </a:r>
            <a:r>
              <a:rPr dirty="0" sz="1200" spc="40">
                <a:latin typeface="Times New Roman"/>
                <a:cs typeface="Times New Roman"/>
              </a:rPr>
              <a:t>(</a:t>
            </a:r>
            <a:r>
              <a:rPr dirty="0" sz="950" spc="40">
                <a:latin typeface="Times New Roman"/>
                <a:cs typeface="Times New Roman"/>
              </a:rPr>
              <a:t>S</a:t>
            </a:r>
            <a:r>
              <a:rPr dirty="0" sz="1200" spc="40">
                <a:latin typeface="Times New Roman"/>
                <a:cs typeface="Times New Roman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marks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connected 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exactly</a:t>
            </a:r>
            <a:r>
              <a:rPr dirty="0" sz="1200" spc="-5">
                <a:latin typeface="Times New Roman"/>
                <a:cs typeface="Times New Roman"/>
              </a:rPr>
              <a:t> once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5"/>
              </a:spcBef>
            </a:pP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v,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parent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v</a:t>
            </a:r>
            <a:r>
              <a:rPr dirty="0" sz="1200" spc="35">
                <a:latin typeface="Garamond"/>
                <a:cs typeface="Garamond"/>
              </a:rPr>
              <a:t>))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parent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50">
                <a:latin typeface="Segoe UI Symbol"/>
                <a:cs typeface="Segoe UI Symbol"/>
              </a:rPr>
              <a:t>/</a:t>
            </a:r>
            <a:r>
              <a:rPr dirty="0" sz="1200" spc="50">
                <a:latin typeface="Garamond"/>
                <a:cs typeface="Garamond"/>
              </a:rPr>
              <a:t>=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-245">
                <a:latin typeface="Lucida Sans Unicode"/>
                <a:cs typeface="Lucida Sans Unicode"/>
              </a:rPr>
              <a:t>∅</a:t>
            </a:r>
            <a:r>
              <a:rPr dirty="0" sz="1200" spc="-2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spanning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endParaRPr sz="1200">
              <a:latin typeface="Times New Roman"/>
              <a:cs typeface="Times New Roman"/>
            </a:endParaRPr>
          </a:p>
          <a:p>
            <a:pPr marL="113664">
              <a:lnSpc>
                <a:spcPct val="100000"/>
              </a:lnSpc>
              <a:spcBef>
                <a:spcPts val="520"/>
              </a:spcBef>
            </a:pPr>
            <a:r>
              <a:rPr dirty="0" sz="1200" spc="-10" b="1">
                <a:latin typeface="Times New Roman"/>
                <a:cs typeface="Times New Roman"/>
              </a:rPr>
              <a:t>Proof: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First,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obvious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marked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once.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Clearly,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marks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s</a:t>
            </a:r>
            <a:r>
              <a:rPr dirty="0" sz="1200" spc="-3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5"/>
              </a:spcBef>
            </a:pP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Segoe UI Symbol"/>
                <a:cs typeface="Segoe UI Symbol"/>
              </a:rPr>
              <a:t>/</a:t>
            </a:r>
            <a:r>
              <a:rPr dirty="0" sz="1200" spc="5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let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25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-13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·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edges.</a:t>
            </a:r>
            <a:endParaRPr sz="1200">
              <a:latin typeface="Times New Roman"/>
              <a:cs typeface="Times New Roman"/>
            </a:endParaRPr>
          </a:p>
          <a:p>
            <a:pPr marL="76200" marR="76835" indent="-635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Since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graph is connected, such a path </a:t>
            </a:r>
            <a:r>
              <a:rPr dirty="0" sz="1200" spc="-10">
                <a:latin typeface="Times New Roman"/>
                <a:cs typeface="Times New Roman"/>
              </a:rPr>
              <a:t>always exists. </a:t>
            </a:r>
            <a:r>
              <a:rPr dirty="0" sz="1200" spc="-5">
                <a:latin typeface="Times New Roman"/>
                <a:cs typeface="Times New Roman"/>
              </a:rPr>
              <a:t>If the </a:t>
            </a:r>
            <a:r>
              <a:rPr dirty="0" sz="1200" spc="-10">
                <a:latin typeface="Times New Roman"/>
                <a:cs typeface="Times New Roman"/>
              </a:rPr>
              <a:t>algorithm marks 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then it must </a:t>
            </a:r>
            <a:r>
              <a:rPr dirty="0" sz="1200" spc="-10">
                <a:latin typeface="Times New Roman"/>
                <a:cs typeface="Times New Roman"/>
              </a:rPr>
              <a:t>put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 </a:t>
            </a:r>
            <a:r>
              <a:rPr dirty="0" sz="1200" spc="4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 the </a:t>
            </a:r>
            <a:r>
              <a:rPr dirty="0" sz="1200" spc="-5">
                <a:latin typeface="Times New Roman"/>
                <a:cs typeface="Times New Roman"/>
              </a:rPr>
              <a:t>bag, so it must </a:t>
            </a:r>
            <a:r>
              <a:rPr dirty="0" sz="1200" spc="-10">
                <a:latin typeface="Times New Roman"/>
                <a:cs typeface="Times New Roman"/>
              </a:rPr>
              <a:t>take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out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bag at </a:t>
            </a:r>
            <a:r>
              <a:rPr dirty="0" sz="1200" spc="-10">
                <a:latin typeface="Times New Roman"/>
                <a:cs typeface="Times New Roman"/>
              </a:rPr>
              <a:t>which point </a:t>
            </a:r>
            <a:r>
              <a:rPr dirty="0" sz="1200" spc="-30">
                <a:latin typeface="Lucida Sans Unicode"/>
                <a:cs typeface="Lucida Sans Unicode"/>
              </a:rPr>
              <a:t>v </a:t>
            </a:r>
            <a:r>
              <a:rPr dirty="0" sz="1200" spc="-5">
                <a:latin typeface="Times New Roman"/>
                <a:cs typeface="Times New Roman"/>
              </a:rPr>
              <a:t>must be </a:t>
            </a:r>
            <a:r>
              <a:rPr dirty="0" sz="1200" spc="-10">
                <a:latin typeface="Times New Roman"/>
                <a:cs typeface="Times New Roman"/>
              </a:rPr>
              <a:t>marked. </a:t>
            </a:r>
            <a:r>
              <a:rPr dirty="0" sz="1200" spc="-5">
                <a:latin typeface="Times New Roman"/>
                <a:cs typeface="Times New Roman"/>
              </a:rPr>
              <a:t>Thus, by </a:t>
            </a:r>
            <a:r>
              <a:rPr dirty="0" sz="1200" spc="-10">
                <a:latin typeface="Times New Roman"/>
                <a:cs typeface="Times New Roman"/>
              </a:rPr>
              <a:t>induction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shortest-path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s</a:t>
            </a:r>
            <a:r>
              <a:rPr dirty="0" sz="1200" spc="-3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marks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endParaRPr sz="1200">
              <a:latin typeface="Times New Roman"/>
              <a:cs typeface="Times New Roman"/>
            </a:endParaRPr>
          </a:p>
          <a:p>
            <a:pPr marL="76200" marR="270510" indent="-635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Call an edge 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v, </a:t>
            </a:r>
            <a:r>
              <a:rPr dirty="0" sz="1200" spc="35">
                <a:latin typeface="Lucida Sans Unicode"/>
                <a:cs typeface="Lucida Sans Unicode"/>
              </a:rPr>
              <a:t>parent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v</a:t>
            </a:r>
            <a:r>
              <a:rPr dirty="0" sz="1200" spc="35">
                <a:latin typeface="Garamond"/>
                <a:cs typeface="Garamond"/>
              </a:rPr>
              <a:t>)) </a:t>
            </a:r>
            <a:r>
              <a:rPr dirty="0" sz="1200" spc="-10">
                <a:latin typeface="Times New Roman"/>
                <a:cs typeface="Times New Roman"/>
              </a:rPr>
              <a:t>with </a:t>
            </a:r>
            <a:r>
              <a:rPr dirty="0" sz="1200" spc="25">
                <a:latin typeface="Lucida Sans Unicode"/>
                <a:cs typeface="Lucida Sans Unicode"/>
              </a:rPr>
              <a:t>parent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) </a:t>
            </a:r>
            <a:r>
              <a:rPr dirty="0" sz="1200" spc="50">
                <a:latin typeface="Segoe UI Symbol"/>
                <a:cs typeface="Segoe UI Symbol"/>
              </a:rPr>
              <a:t>/</a:t>
            </a:r>
            <a:r>
              <a:rPr dirty="0" sz="1200" spc="50">
                <a:latin typeface="Garamond"/>
                <a:cs typeface="Garamond"/>
              </a:rPr>
              <a:t>= </a:t>
            </a:r>
            <a:r>
              <a:rPr dirty="0" sz="1200" spc="-125">
                <a:latin typeface="Lucida Sans Unicode"/>
                <a:cs typeface="Lucida Sans Unicode"/>
              </a:rPr>
              <a:t>∅</a:t>
            </a:r>
            <a:r>
              <a:rPr dirty="0" sz="1200" spc="-125">
                <a:latin typeface="Times New Roman"/>
                <a:cs typeface="Times New Roman"/>
              </a:rPr>
              <a:t>,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5" i="1">
                <a:latin typeface="Times New Roman"/>
                <a:cs typeface="Times New Roman"/>
              </a:rPr>
              <a:t>parent </a:t>
            </a:r>
            <a:r>
              <a:rPr dirty="0" sz="1200" spc="-10" i="1">
                <a:latin typeface="Times New Roman"/>
                <a:cs typeface="Times New Roman"/>
              </a:rPr>
              <a:t>edge</a:t>
            </a:r>
            <a:r>
              <a:rPr dirty="0" sz="1200" spc="-10">
                <a:latin typeface="Times New Roman"/>
                <a:cs typeface="Times New Roman"/>
              </a:rPr>
              <a:t>.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any node 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path of parent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parent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parent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parent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v</a:t>
            </a:r>
            <a:r>
              <a:rPr dirty="0" sz="1200" spc="30">
                <a:latin typeface="Garamond"/>
                <a:cs typeface="Garamond"/>
              </a:rPr>
              <a:t>))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114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eventually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leads back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s</a:t>
            </a:r>
            <a:r>
              <a:rPr dirty="0" sz="1200" spc="-3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parent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 spc="-10">
                <a:latin typeface="Times New Roman"/>
                <a:cs typeface="Times New Roman"/>
              </a:rPr>
              <a:t> form</a:t>
            </a:r>
            <a:r>
              <a:rPr dirty="0" sz="1200" spc="-5">
                <a:latin typeface="Times New Roman"/>
                <a:cs typeface="Times New Roman"/>
              </a:rPr>
              <a:t> a connected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endParaRPr sz="1200">
              <a:latin typeface="Times New Roman"/>
              <a:cs typeface="Times New Roman"/>
            </a:endParaRPr>
          </a:p>
          <a:p>
            <a:pPr marL="76200" marR="321945">
              <a:lnSpc>
                <a:spcPct val="100000"/>
              </a:lnSpc>
              <a:spcBef>
                <a:spcPts val="530"/>
              </a:spcBef>
            </a:pPr>
            <a:r>
              <a:rPr dirty="0" sz="1200" spc="-15">
                <a:latin typeface="Times New Roman"/>
                <a:cs typeface="Times New Roman"/>
              </a:rPr>
              <a:t>Clearly,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marked,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exactly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parent edges </a:t>
            </a:r>
            <a:r>
              <a:rPr dirty="0" sz="1200" spc="-10">
                <a:latin typeface="Times New Roman"/>
                <a:cs typeface="Times New Roman"/>
              </a:rPr>
              <a:t>form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spanning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tree</a:t>
            </a:r>
            <a:r>
              <a:rPr dirty="0" sz="1200" spc="-1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1741" y="7729510"/>
            <a:ext cx="6429375" cy="8216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8.1.4	</a:t>
            </a:r>
            <a:r>
              <a:rPr dirty="0" sz="1400" spc="20" b="1">
                <a:latin typeface="Times New Roman"/>
                <a:cs typeface="Times New Roman"/>
              </a:rPr>
              <a:t>DFS</a:t>
            </a:r>
            <a:r>
              <a:rPr dirty="0" sz="1400" spc="-1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-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Timestamp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Structure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5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traverse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order,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associate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 spc="-10">
                <a:latin typeface="Times New Roman"/>
                <a:cs typeface="Times New Roman"/>
              </a:rPr>
              <a:t>vertex.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discover</a:t>
            </a:r>
            <a:r>
              <a:rPr dirty="0" sz="1200" spc="-5">
                <a:latin typeface="Times New Roman"/>
                <a:cs typeface="Times New Roman"/>
              </a:rPr>
              <a:t> a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 a counter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d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finished processing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vertex,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store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counter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14438" y="8578736"/>
            <a:ext cx="2694940" cy="14541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5"/>
              </a:lnSpc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f</a:t>
            </a:r>
            <a:r>
              <a:rPr dirty="0" sz="1200" spc="15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15">
                <a:latin typeface="Times New Roman"/>
                <a:cs typeface="Times New Roman"/>
              </a:rPr>
              <a:t>.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-10">
                <a:latin typeface="Times New Roman"/>
                <a:cs typeface="Times New Roman"/>
              </a:rPr>
              <a:t> two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 i="1">
                <a:latin typeface="Times New Roman"/>
                <a:cs typeface="Times New Roman"/>
              </a:rPr>
              <a:t>time</a:t>
            </a:r>
            <a:r>
              <a:rPr dirty="0" sz="1200" spc="-5" i="1">
                <a:latin typeface="Times New Roman"/>
                <a:cs typeface="Times New Roman"/>
              </a:rPr>
              <a:t> stamps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14438" y="8834704"/>
            <a:ext cx="3244850" cy="13779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0" i="1">
                <a:latin typeface="Times New Roman"/>
                <a:cs typeface="Times New Roman"/>
              </a:rPr>
              <a:t>recursive </a:t>
            </a:r>
            <a:r>
              <a:rPr dirty="0" sz="1200" spc="-10">
                <a:latin typeface="Times New Roman"/>
                <a:cs typeface="Times New Roman"/>
              </a:rPr>
              <a:t>version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depth-first</a:t>
            </a:r>
            <a:r>
              <a:rPr dirty="0" sz="1200" spc="-10">
                <a:latin typeface="Times New Roman"/>
                <a:cs typeface="Times New Roman"/>
              </a:rPr>
              <a:t> traversal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12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14400" y="1085544"/>
            <a:ext cx="5487035" cy="1722755"/>
          </a:xfrm>
          <a:custGeom>
            <a:avLst/>
            <a:gdLst/>
            <a:ahLst/>
            <a:cxnLst/>
            <a:rect l="l" t="t" r="r" b="b"/>
            <a:pathLst>
              <a:path w="5487035" h="1722755">
                <a:moveTo>
                  <a:pt x="5486400" y="0"/>
                </a:moveTo>
                <a:lnTo>
                  <a:pt x="0" y="0"/>
                </a:lnTo>
                <a:lnTo>
                  <a:pt x="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  <a:path w="5487035" h="1722755">
                <a:moveTo>
                  <a:pt x="5486959" y="5562"/>
                </a:moveTo>
                <a:lnTo>
                  <a:pt x="5481828" y="5562"/>
                </a:lnTo>
                <a:lnTo>
                  <a:pt x="5481828" y="1717548"/>
                </a:lnTo>
                <a:lnTo>
                  <a:pt x="5130" y="1717548"/>
                </a:lnTo>
                <a:lnTo>
                  <a:pt x="5130" y="5562"/>
                </a:lnTo>
                <a:lnTo>
                  <a:pt x="0" y="5562"/>
                </a:lnTo>
                <a:lnTo>
                  <a:pt x="0" y="1717548"/>
                </a:lnTo>
                <a:lnTo>
                  <a:pt x="0" y="1718106"/>
                </a:lnTo>
                <a:lnTo>
                  <a:pt x="0" y="1722678"/>
                </a:lnTo>
                <a:lnTo>
                  <a:pt x="5486400" y="1722678"/>
                </a:lnTo>
                <a:lnTo>
                  <a:pt x="5486400" y="1718106"/>
                </a:lnTo>
                <a:lnTo>
                  <a:pt x="5486959" y="1718106"/>
                </a:lnTo>
                <a:lnTo>
                  <a:pt x="5486959" y="55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914400" y="3269436"/>
            <a:ext cx="5487035" cy="1905635"/>
          </a:xfrm>
          <a:custGeom>
            <a:avLst/>
            <a:gdLst/>
            <a:ahLst/>
            <a:cxnLst/>
            <a:rect l="l" t="t" r="r" b="b"/>
            <a:pathLst>
              <a:path w="5487035" h="1905635">
                <a:moveTo>
                  <a:pt x="5486959" y="4978"/>
                </a:moveTo>
                <a:lnTo>
                  <a:pt x="5486400" y="4978"/>
                </a:lnTo>
                <a:lnTo>
                  <a:pt x="5486400" y="0"/>
                </a:lnTo>
                <a:lnTo>
                  <a:pt x="5481828" y="0"/>
                </a:lnTo>
                <a:lnTo>
                  <a:pt x="5481828" y="5130"/>
                </a:lnTo>
                <a:lnTo>
                  <a:pt x="5481828" y="1900428"/>
                </a:lnTo>
                <a:lnTo>
                  <a:pt x="5130" y="1900428"/>
                </a:lnTo>
                <a:lnTo>
                  <a:pt x="5130" y="5130"/>
                </a:lnTo>
                <a:lnTo>
                  <a:pt x="5481828" y="5130"/>
                </a:lnTo>
                <a:lnTo>
                  <a:pt x="5481828" y="0"/>
                </a:lnTo>
                <a:lnTo>
                  <a:pt x="0" y="0"/>
                </a:lnTo>
                <a:lnTo>
                  <a:pt x="0" y="4978"/>
                </a:lnTo>
                <a:lnTo>
                  <a:pt x="0" y="5130"/>
                </a:lnTo>
                <a:lnTo>
                  <a:pt x="0" y="1900428"/>
                </a:lnTo>
                <a:lnTo>
                  <a:pt x="0" y="1900986"/>
                </a:lnTo>
                <a:lnTo>
                  <a:pt x="0" y="1905558"/>
                </a:lnTo>
                <a:lnTo>
                  <a:pt x="5486400" y="1905558"/>
                </a:lnTo>
                <a:lnTo>
                  <a:pt x="5486400" y="1900986"/>
                </a:lnTo>
                <a:lnTo>
                  <a:pt x="5486959" y="1900986"/>
                </a:lnTo>
                <a:lnTo>
                  <a:pt x="5486959" y="4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901699" y="1078130"/>
            <a:ext cx="6170295" cy="44240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9055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Times New Roman"/>
                <a:cs typeface="Times New Roman"/>
              </a:rPr>
              <a:t>DFS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G</a:t>
            </a:r>
            <a:r>
              <a:rPr dirty="0" sz="1200" spc="6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Lucida Sans Unicode"/>
                <a:cs typeface="Lucida Sans Unicode"/>
              </a:rPr>
              <a:t>each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V</a:t>
            </a:r>
            <a:r>
              <a:rPr dirty="0" sz="1200" spc="9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color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white</a:t>
            </a:r>
            <a:endParaRPr sz="1200">
              <a:latin typeface="Lucida Sans Unicode"/>
              <a:cs typeface="Lucida Sans Unicode"/>
            </a:endParaRPr>
          </a:p>
          <a:p>
            <a:pPr marL="51943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19430" algn="l"/>
                <a:tab pos="520065" algn="l"/>
              </a:tabLst>
            </a:pPr>
            <a:r>
              <a:rPr dirty="0" sz="1200" spc="-20">
                <a:latin typeface="Lucida Sans Unicode"/>
                <a:cs typeface="Lucida Sans Unicode"/>
              </a:rPr>
              <a:t>pred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u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nil</a:t>
            </a:r>
            <a:endParaRPr sz="1200">
              <a:latin typeface="Lucida Sans Unicode"/>
              <a:cs typeface="Lucida Sans Unicode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5">
                <a:latin typeface="Lucida Sans Unicode"/>
                <a:cs typeface="Lucida Sans Unicode"/>
              </a:rPr>
              <a:t>time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 marL="321310" indent="-228600">
              <a:lnSpc>
                <a:spcPct val="100000"/>
              </a:lnSpc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each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15">
                <a:latin typeface="Segoe UI Symbol"/>
                <a:cs typeface="Segoe UI Symbol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endParaRPr sz="1200">
              <a:latin typeface="Lucida Sans Unicode"/>
              <a:cs typeface="Lucida Sans Unicode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color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white</a:t>
            </a:r>
            <a:r>
              <a:rPr dirty="0" sz="1200" spc="3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650240" indent="-55753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650240" algn="l"/>
                <a:tab pos="65087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Times New Roman"/>
                <a:cs typeface="Times New Roman"/>
              </a:rPr>
              <a:t>DFS</a:t>
            </a:r>
            <a:r>
              <a:rPr dirty="0" sz="950" spc="60">
                <a:latin typeface="Times New Roman"/>
                <a:cs typeface="Times New Roman"/>
              </a:rPr>
              <a:t>VISIT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u</a:t>
            </a:r>
            <a:r>
              <a:rPr dirty="0" sz="1200" spc="6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</a:pPr>
            <a:endParaRPr sz="13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50">
              <a:latin typeface="Garamond"/>
              <a:cs typeface="Garamond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Times New Roman"/>
                <a:cs typeface="Times New Roman"/>
              </a:rPr>
              <a:t>DFS</a:t>
            </a:r>
            <a:r>
              <a:rPr dirty="0" sz="950" spc="45">
                <a:latin typeface="Times New Roman"/>
                <a:cs typeface="Times New Roman"/>
              </a:rPr>
              <a:t>VISIT</a:t>
            </a:r>
            <a:r>
              <a:rPr dirty="0" sz="95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routine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10">
                <a:latin typeface="Times New Roman"/>
                <a:cs typeface="Times New Roman"/>
              </a:rPr>
              <a:t>follows: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Times New Roman"/>
              <a:cs typeface="Times New Roman"/>
            </a:endParaRPr>
          </a:p>
          <a:p>
            <a:pPr marL="59055">
              <a:lnSpc>
                <a:spcPct val="100000"/>
              </a:lnSpc>
              <a:spcBef>
                <a:spcPts val="5"/>
              </a:spcBef>
            </a:pPr>
            <a:r>
              <a:rPr dirty="0" sz="1200" spc="60">
                <a:latin typeface="Times New Roman"/>
                <a:cs typeface="Times New Roman"/>
              </a:rPr>
              <a:t>DFS</a:t>
            </a:r>
            <a:r>
              <a:rPr dirty="0" sz="950" spc="60">
                <a:latin typeface="Times New Roman"/>
                <a:cs typeface="Times New Roman"/>
              </a:rPr>
              <a:t>VISIT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u</a:t>
            </a:r>
            <a:r>
              <a:rPr dirty="0" sz="1200" spc="6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>
                <a:latin typeface="Lucida Sans Unicode"/>
                <a:cs typeface="Lucida Sans Unicode"/>
              </a:rPr>
              <a:t>color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gray</a:t>
            </a:r>
            <a:r>
              <a:rPr dirty="0" sz="1200" spc="15">
                <a:latin typeface="Garamond"/>
                <a:cs typeface="Garamond"/>
              </a:rPr>
              <a:t>; </a:t>
            </a:r>
            <a:r>
              <a:rPr dirty="0" sz="1200" spc="195">
                <a:latin typeface="Garamond"/>
                <a:cs typeface="Garamond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//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mark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visited</a:t>
            </a:r>
            <a:endParaRPr sz="1200">
              <a:latin typeface="Times New Roman"/>
              <a:cs typeface="Times New Roman"/>
            </a:endParaRPr>
          </a:p>
          <a:p>
            <a:pPr marL="321310" indent="-228600">
              <a:lnSpc>
                <a:spcPct val="100000"/>
              </a:lnSpc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>
                <a:latin typeface="Lucida Sans Unicode"/>
                <a:cs typeface="Lucida Sans Unicode"/>
              </a:rPr>
              <a:t>d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←</a:t>
            </a:r>
            <a:r>
              <a:rPr dirty="0" sz="1100" spc="60">
                <a:latin typeface="Times New Roman"/>
                <a:cs typeface="Times New Roman"/>
              </a:rPr>
              <a:t>++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time</a:t>
            </a:r>
            <a:endParaRPr sz="1200">
              <a:latin typeface="Lucida Sans Unicode"/>
              <a:cs typeface="Lucida Sans Unicode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Lucida Sans Unicode"/>
                <a:cs typeface="Lucida Sans Unicode"/>
              </a:rPr>
              <a:t>each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Adj</a:t>
            </a:r>
            <a:r>
              <a:rPr dirty="0" sz="1200" spc="3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u</a:t>
            </a:r>
            <a:r>
              <a:rPr dirty="0" sz="1200" spc="30">
                <a:latin typeface="Garamond"/>
                <a:cs typeface="Garamond"/>
              </a:rPr>
              <a:t>])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Garamond"/>
                <a:cs typeface="Garamond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color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white</a:t>
            </a:r>
            <a:r>
              <a:rPr dirty="0" sz="1200" spc="3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650240" indent="-55753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650240" algn="l"/>
                <a:tab pos="65087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pred</a:t>
            </a:r>
            <a:r>
              <a:rPr dirty="0" sz="1200" spc="-25">
                <a:latin typeface="Garamond"/>
                <a:cs typeface="Garamond"/>
              </a:rPr>
              <a:t>[</a:t>
            </a:r>
            <a:r>
              <a:rPr dirty="0" sz="1200" spc="-25">
                <a:latin typeface="Lucida Sans Unicode"/>
                <a:cs typeface="Lucida Sans Unicode"/>
              </a:rPr>
              <a:t>v</a:t>
            </a:r>
            <a:r>
              <a:rPr dirty="0" sz="1200" spc="-25">
                <a:latin typeface="Garamond"/>
                <a:cs typeface="Garamond"/>
              </a:rPr>
              <a:t>]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endParaRPr sz="1200">
              <a:latin typeface="Lucida Sans Unicode"/>
              <a:cs typeface="Lucida Sans Unicode"/>
            </a:endParaRPr>
          </a:p>
          <a:p>
            <a:pPr marL="978535" indent="-885825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978535" algn="l"/>
                <a:tab pos="979169" algn="l"/>
              </a:tabLst>
            </a:pPr>
            <a:r>
              <a:rPr dirty="0" sz="1200" spc="55">
                <a:latin typeface="Times New Roman"/>
                <a:cs typeface="Times New Roman"/>
              </a:rPr>
              <a:t>DFS</a:t>
            </a:r>
            <a:r>
              <a:rPr dirty="0" sz="950" spc="55">
                <a:latin typeface="Times New Roman"/>
                <a:cs typeface="Times New Roman"/>
              </a:rPr>
              <a:t>VISIT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v</a:t>
            </a:r>
            <a:r>
              <a:rPr dirty="0" sz="1200" spc="5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>
                <a:latin typeface="Lucida Sans Unicode"/>
                <a:cs typeface="Lucida Sans Unicode"/>
              </a:rPr>
              <a:t>color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black</a:t>
            </a:r>
            <a:r>
              <a:rPr dirty="0" sz="1200">
                <a:latin typeface="Garamond"/>
                <a:cs typeface="Garamond"/>
              </a:rPr>
              <a:t>;</a:t>
            </a:r>
            <a:r>
              <a:rPr dirty="0" sz="1200" spc="225">
                <a:latin typeface="Garamond"/>
                <a:cs typeface="Garamond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// we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are</a:t>
            </a:r>
            <a:r>
              <a:rPr dirty="0" sz="1200" spc="-10" i="1">
                <a:latin typeface="Times New Roman"/>
                <a:cs typeface="Times New Roman"/>
              </a:rPr>
              <a:t> done</a:t>
            </a:r>
            <a:r>
              <a:rPr dirty="0" sz="1200" spc="-5" i="1">
                <a:latin typeface="Times New Roman"/>
                <a:cs typeface="Times New Roman"/>
              </a:rPr>
              <a:t> with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endParaRPr sz="1200">
              <a:latin typeface="Lucida Sans Unicode"/>
              <a:cs typeface="Lucida Sans Unicode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20">
                <a:latin typeface="Lucida Sans Unicode"/>
                <a:cs typeface="Lucida Sans Unicode"/>
              </a:rPr>
              <a:t>f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20">
                <a:latin typeface="Garamond"/>
                <a:cs typeface="Garamond"/>
              </a:rPr>
              <a:t>]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←</a:t>
            </a:r>
            <a:r>
              <a:rPr dirty="0" sz="1100" spc="60">
                <a:latin typeface="Times New Roman"/>
                <a:cs typeface="Times New Roman"/>
              </a:rPr>
              <a:t>++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time</a:t>
            </a:r>
            <a:r>
              <a:rPr dirty="0" sz="1200">
                <a:latin typeface="Garamond"/>
                <a:cs typeface="Garamond"/>
              </a:rPr>
              <a:t>;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</a:pPr>
            <a:endParaRPr sz="13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50">
              <a:latin typeface="Garamond"/>
              <a:cs typeface="Garamond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Figures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8.21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8.25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execution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stamping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Terms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1699" y="5477421"/>
            <a:ext cx="29273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“2/5”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indicate</a:t>
            </a:r>
            <a:r>
              <a:rPr dirty="0" sz="1200" spc="-10">
                <a:latin typeface="Times New Roman"/>
                <a:cs typeface="Times New Roman"/>
              </a:rPr>
              <a:t> the value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counter </a:t>
            </a:r>
            <a:r>
              <a:rPr dirty="0" sz="1200" spc="-10">
                <a:latin typeface="Times New Roman"/>
                <a:cs typeface="Times New Roman"/>
              </a:rPr>
              <a:t>(time).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816464" y="5536577"/>
            <a:ext cx="3337560" cy="13779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he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before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“/”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14400" y="5720029"/>
            <a:ext cx="604139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discovered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(colored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gray)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“/”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14400" y="5903480"/>
            <a:ext cx="1454785" cy="13779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finished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(colored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black)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351863" y="5844324"/>
            <a:ext cx="635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772411" y="6469100"/>
            <a:ext cx="4648200" cy="2208530"/>
            <a:chOff x="1772411" y="6469100"/>
            <a:chExt cx="4648200" cy="2208530"/>
          </a:xfrm>
        </p:grpSpPr>
        <p:sp>
          <p:nvSpPr>
            <p:cNvPr id="13" name="object 13"/>
            <p:cNvSpPr/>
            <p:nvPr/>
          </p:nvSpPr>
          <p:spPr>
            <a:xfrm>
              <a:off x="1772411" y="6469100"/>
              <a:ext cx="4648200" cy="2208530"/>
            </a:xfrm>
            <a:custGeom>
              <a:avLst/>
              <a:gdLst/>
              <a:ahLst/>
              <a:cxnLst/>
              <a:rect l="l" t="t" r="r" b="b"/>
              <a:pathLst>
                <a:path w="4648200" h="2208529">
                  <a:moveTo>
                    <a:pt x="4648001" y="0"/>
                  </a:moveTo>
                  <a:lnTo>
                    <a:pt x="0" y="0"/>
                  </a:lnTo>
                  <a:lnTo>
                    <a:pt x="0" y="2208047"/>
                  </a:lnTo>
                  <a:lnTo>
                    <a:pt x="4648001" y="2208047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617927" y="6649786"/>
              <a:ext cx="491490" cy="267970"/>
            </a:xfrm>
            <a:custGeom>
              <a:avLst/>
              <a:gdLst/>
              <a:ahLst/>
              <a:cxnLst/>
              <a:rect l="l" t="t" r="r" b="b"/>
              <a:pathLst>
                <a:path w="491489" h="267970">
                  <a:moveTo>
                    <a:pt x="0" y="134081"/>
                  </a:moveTo>
                  <a:lnTo>
                    <a:pt x="12329" y="91318"/>
                  </a:lnTo>
                  <a:lnTo>
                    <a:pt x="50002" y="52898"/>
                  </a:lnTo>
                  <a:lnTo>
                    <a:pt x="86974" y="31882"/>
                  </a:lnTo>
                  <a:lnTo>
                    <a:pt x="130454" y="15941"/>
                  </a:lnTo>
                  <a:lnTo>
                    <a:pt x="179740" y="5074"/>
                  </a:lnTo>
                  <a:lnTo>
                    <a:pt x="232653" y="0"/>
                  </a:lnTo>
                  <a:lnTo>
                    <a:pt x="258744" y="0"/>
                  </a:lnTo>
                  <a:lnTo>
                    <a:pt x="311642" y="5074"/>
                  </a:lnTo>
                  <a:lnTo>
                    <a:pt x="360928" y="15941"/>
                  </a:lnTo>
                  <a:lnTo>
                    <a:pt x="404408" y="31882"/>
                  </a:lnTo>
                  <a:lnTo>
                    <a:pt x="441380" y="52898"/>
                  </a:lnTo>
                  <a:lnTo>
                    <a:pt x="479069" y="91318"/>
                  </a:lnTo>
                  <a:lnTo>
                    <a:pt x="491383" y="134081"/>
                  </a:lnTo>
                  <a:lnTo>
                    <a:pt x="489935" y="148574"/>
                  </a:lnTo>
                  <a:lnTo>
                    <a:pt x="468919" y="190606"/>
                  </a:lnTo>
                  <a:lnTo>
                    <a:pt x="423976" y="226847"/>
                  </a:lnTo>
                  <a:lnTo>
                    <a:pt x="384124" y="245684"/>
                  </a:lnTo>
                  <a:lnTo>
                    <a:pt x="337017" y="258013"/>
                  </a:lnTo>
                  <a:lnTo>
                    <a:pt x="285551" y="265983"/>
                  </a:lnTo>
                  <a:lnTo>
                    <a:pt x="258744" y="267431"/>
                  </a:lnTo>
                  <a:lnTo>
                    <a:pt x="232653" y="267431"/>
                  </a:lnTo>
                  <a:lnTo>
                    <a:pt x="179740" y="263088"/>
                  </a:lnTo>
                  <a:lnTo>
                    <a:pt x="130454" y="252938"/>
                  </a:lnTo>
                  <a:lnTo>
                    <a:pt x="86974" y="236265"/>
                  </a:lnTo>
                  <a:lnTo>
                    <a:pt x="50002" y="215249"/>
                  </a:lnTo>
                  <a:lnTo>
                    <a:pt x="12329" y="176844"/>
                  </a:lnTo>
                  <a:lnTo>
                    <a:pt x="0" y="134081"/>
                  </a:lnTo>
                </a:path>
              </a:pathLst>
            </a:custGeom>
            <a:ln w="1207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2970884" y="6484158"/>
            <a:ext cx="93345" cy="1993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150" spc="-5" i="1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15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829394" y="7474560"/>
            <a:ext cx="492125" cy="267970"/>
          </a:xfrm>
          <a:custGeom>
            <a:avLst/>
            <a:gdLst/>
            <a:ahLst/>
            <a:cxnLst/>
            <a:rect l="l" t="t" r="r" b="b"/>
            <a:pathLst>
              <a:path w="492125" h="267970">
                <a:moveTo>
                  <a:pt x="0" y="134081"/>
                </a:moveTo>
                <a:lnTo>
                  <a:pt x="13045" y="91318"/>
                </a:lnTo>
                <a:lnTo>
                  <a:pt x="50002" y="52898"/>
                </a:lnTo>
                <a:lnTo>
                  <a:pt x="86974" y="31882"/>
                </a:lnTo>
                <a:lnTo>
                  <a:pt x="130454" y="15209"/>
                </a:lnTo>
                <a:lnTo>
                  <a:pt x="179740" y="5074"/>
                </a:lnTo>
                <a:lnTo>
                  <a:pt x="232653" y="0"/>
                </a:lnTo>
                <a:lnTo>
                  <a:pt x="259460" y="0"/>
                </a:lnTo>
                <a:lnTo>
                  <a:pt x="311642" y="5074"/>
                </a:lnTo>
                <a:lnTo>
                  <a:pt x="361660" y="15209"/>
                </a:lnTo>
                <a:lnTo>
                  <a:pt x="405140" y="31882"/>
                </a:lnTo>
                <a:lnTo>
                  <a:pt x="441380" y="52898"/>
                </a:lnTo>
                <a:lnTo>
                  <a:pt x="479069" y="91318"/>
                </a:lnTo>
                <a:lnTo>
                  <a:pt x="492114" y="134081"/>
                </a:lnTo>
                <a:lnTo>
                  <a:pt x="490651" y="148574"/>
                </a:lnTo>
                <a:lnTo>
                  <a:pt x="468919" y="190606"/>
                </a:lnTo>
                <a:lnTo>
                  <a:pt x="423976" y="226115"/>
                </a:lnTo>
                <a:lnTo>
                  <a:pt x="383392" y="244236"/>
                </a:lnTo>
                <a:lnTo>
                  <a:pt x="337017" y="258013"/>
                </a:lnTo>
                <a:lnTo>
                  <a:pt x="285551" y="265983"/>
                </a:lnTo>
                <a:lnTo>
                  <a:pt x="259460" y="267431"/>
                </a:lnTo>
                <a:lnTo>
                  <a:pt x="232653" y="267431"/>
                </a:lnTo>
                <a:lnTo>
                  <a:pt x="179740" y="263088"/>
                </a:lnTo>
                <a:lnTo>
                  <a:pt x="130454" y="252206"/>
                </a:lnTo>
                <a:lnTo>
                  <a:pt x="86974" y="235549"/>
                </a:lnTo>
                <a:lnTo>
                  <a:pt x="50002" y="215249"/>
                </a:lnTo>
                <a:lnTo>
                  <a:pt x="13045" y="176829"/>
                </a:lnTo>
                <a:lnTo>
                  <a:pt x="0" y="134081"/>
                </a:lnTo>
              </a:path>
            </a:pathLst>
          </a:custGeom>
          <a:ln w="12079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2182354" y="7308933"/>
            <a:ext cx="93345" cy="1993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150" spc="-5" i="1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150">
              <a:latin typeface="Arial"/>
              <a:cs typeface="Arial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3423863" y="6649786"/>
            <a:ext cx="492125" cy="267970"/>
          </a:xfrm>
          <a:custGeom>
            <a:avLst/>
            <a:gdLst/>
            <a:ahLst/>
            <a:cxnLst/>
            <a:rect l="l" t="t" r="r" b="b"/>
            <a:pathLst>
              <a:path w="492125" h="267970">
                <a:moveTo>
                  <a:pt x="0" y="134081"/>
                </a:moveTo>
                <a:lnTo>
                  <a:pt x="13045" y="91318"/>
                </a:lnTo>
                <a:lnTo>
                  <a:pt x="50718" y="52898"/>
                </a:lnTo>
                <a:lnTo>
                  <a:pt x="86959" y="31882"/>
                </a:lnTo>
                <a:lnTo>
                  <a:pt x="130454" y="15941"/>
                </a:lnTo>
                <a:lnTo>
                  <a:pt x="180456" y="5074"/>
                </a:lnTo>
                <a:lnTo>
                  <a:pt x="232638" y="0"/>
                </a:lnTo>
                <a:lnTo>
                  <a:pt x="259460" y="0"/>
                </a:lnTo>
                <a:lnTo>
                  <a:pt x="312359" y="5074"/>
                </a:lnTo>
                <a:lnTo>
                  <a:pt x="361645" y="15941"/>
                </a:lnTo>
                <a:lnTo>
                  <a:pt x="405124" y="31882"/>
                </a:lnTo>
                <a:lnTo>
                  <a:pt x="442097" y="52898"/>
                </a:lnTo>
                <a:lnTo>
                  <a:pt x="479054" y="91318"/>
                </a:lnTo>
                <a:lnTo>
                  <a:pt x="492099" y="134081"/>
                </a:lnTo>
                <a:lnTo>
                  <a:pt x="490651" y="148574"/>
                </a:lnTo>
                <a:lnTo>
                  <a:pt x="469635" y="190606"/>
                </a:lnTo>
                <a:lnTo>
                  <a:pt x="424693" y="226847"/>
                </a:lnTo>
                <a:lnTo>
                  <a:pt x="384108" y="245684"/>
                </a:lnTo>
                <a:lnTo>
                  <a:pt x="337733" y="258013"/>
                </a:lnTo>
                <a:lnTo>
                  <a:pt x="286268" y="265983"/>
                </a:lnTo>
                <a:lnTo>
                  <a:pt x="259460" y="267431"/>
                </a:lnTo>
                <a:lnTo>
                  <a:pt x="232638" y="267431"/>
                </a:lnTo>
                <a:lnTo>
                  <a:pt x="180456" y="263088"/>
                </a:lnTo>
                <a:lnTo>
                  <a:pt x="130454" y="252938"/>
                </a:lnTo>
                <a:lnTo>
                  <a:pt x="86959" y="236265"/>
                </a:lnTo>
                <a:lnTo>
                  <a:pt x="50718" y="215249"/>
                </a:lnTo>
                <a:lnTo>
                  <a:pt x="13045" y="176844"/>
                </a:lnTo>
                <a:lnTo>
                  <a:pt x="0" y="134081"/>
                </a:lnTo>
              </a:path>
            </a:pathLst>
          </a:custGeom>
          <a:ln w="12079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3778985" y="6484158"/>
            <a:ext cx="93345" cy="1993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150" spc="-5" i="1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15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423863" y="7474560"/>
            <a:ext cx="492125" cy="267970"/>
          </a:xfrm>
          <a:custGeom>
            <a:avLst/>
            <a:gdLst/>
            <a:ahLst/>
            <a:cxnLst/>
            <a:rect l="l" t="t" r="r" b="b"/>
            <a:pathLst>
              <a:path w="492125" h="267970">
                <a:moveTo>
                  <a:pt x="0" y="134081"/>
                </a:moveTo>
                <a:lnTo>
                  <a:pt x="13045" y="91318"/>
                </a:lnTo>
                <a:lnTo>
                  <a:pt x="50718" y="52898"/>
                </a:lnTo>
                <a:lnTo>
                  <a:pt x="86959" y="31882"/>
                </a:lnTo>
                <a:lnTo>
                  <a:pt x="130454" y="15209"/>
                </a:lnTo>
                <a:lnTo>
                  <a:pt x="180456" y="5074"/>
                </a:lnTo>
                <a:lnTo>
                  <a:pt x="232638" y="0"/>
                </a:lnTo>
                <a:lnTo>
                  <a:pt x="259460" y="0"/>
                </a:lnTo>
                <a:lnTo>
                  <a:pt x="312359" y="5074"/>
                </a:lnTo>
                <a:lnTo>
                  <a:pt x="361645" y="15209"/>
                </a:lnTo>
                <a:lnTo>
                  <a:pt x="405124" y="31882"/>
                </a:lnTo>
                <a:lnTo>
                  <a:pt x="442097" y="52898"/>
                </a:lnTo>
                <a:lnTo>
                  <a:pt x="479054" y="91318"/>
                </a:lnTo>
                <a:lnTo>
                  <a:pt x="492099" y="134081"/>
                </a:lnTo>
                <a:lnTo>
                  <a:pt x="490651" y="148574"/>
                </a:lnTo>
                <a:lnTo>
                  <a:pt x="469635" y="190606"/>
                </a:lnTo>
                <a:lnTo>
                  <a:pt x="424693" y="226115"/>
                </a:lnTo>
                <a:lnTo>
                  <a:pt x="384108" y="244236"/>
                </a:lnTo>
                <a:lnTo>
                  <a:pt x="337733" y="258013"/>
                </a:lnTo>
                <a:lnTo>
                  <a:pt x="286268" y="265983"/>
                </a:lnTo>
                <a:lnTo>
                  <a:pt x="259460" y="267431"/>
                </a:lnTo>
                <a:lnTo>
                  <a:pt x="232638" y="267431"/>
                </a:lnTo>
                <a:lnTo>
                  <a:pt x="180456" y="263088"/>
                </a:lnTo>
                <a:lnTo>
                  <a:pt x="130454" y="252206"/>
                </a:lnTo>
                <a:lnTo>
                  <a:pt x="86959" y="235549"/>
                </a:lnTo>
                <a:lnTo>
                  <a:pt x="50718" y="215249"/>
                </a:lnTo>
                <a:lnTo>
                  <a:pt x="13045" y="176829"/>
                </a:lnTo>
                <a:lnTo>
                  <a:pt x="0" y="134081"/>
                </a:lnTo>
              </a:path>
            </a:pathLst>
          </a:custGeom>
          <a:ln w="12079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3797108" y="7308933"/>
            <a:ext cx="53340" cy="1993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150" spc="-5" i="1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15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2617927" y="7474560"/>
            <a:ext cx="491490" cy="267970"/>
          </a:xfrm>
          <a:custGeom>
            <a:avLst/>
            <a:gdLst/>
            <a:ahLst/>
            <a:cxnLst/>
            <a:rect l="l" t="t" r="r" b="b"/>
            <a:pathLst>
              <a:path w="491489" h="267970">
                <a:moveTo>
                  <a:pt x="0" y="134081"/>
                </a:moveTo>
                <a:lnTo>
                  <a:pt x="12329" y="91318"/>
                </a:lnTo>
                <a:lnTo>
                  <a:pt x="50002" y="52898"/>
                </a:lnTo>
                <a:lnTo>
                  <a:pt x="86974" y="31882"/>
                </a:lnTo>
                <a:lnTo>
                  <a:pt x="130454" y="15209"/>
                </a:lnTo>
                <a:lnTo>
                  <a:pt x="179740" y="5074"/>
                </a:lnTo>
                <a:lnTo>
                  <a:pt x="232653" y="0"/>
                </a:lnTo>
                <a:lnTo>
                  <a:pt x="258744" y="0"/>
                </a:lnTo>
                <a:lnTo>
                  <a:pt x="311642" y="5074"/>
                </a:lnTo>
                <a:lnTo>
                  <a:pt x="360928" y="15209"/>
                </a:lnTo>
                <a:lnTo>
                  <a:pt x="404408" y="31882"/>
                </a:lnTo>
                <a:lnTo>
                  <a:pt x="441380" y="52898"/>
                </a:lnTo>
                <a:lnTo>
                  <a:pt x="479069" y="91318"/>
                </a:lnTo>
                <a:lnTo>
                  <a:pt x="491383" y="134081"/>
                </a:lnTo>
                <a:lnTo>
                  <a:pt x="489935" y="148574"/>
                </a:lnTo>
                <a:lnTo>
                  <a:pt x="468919" y="190606"/>
                </a:lnTo>
                <a:lnTo>
                  <a:pt x="423976" y="226115"/>
                </a:lnTo>
                <a:lnTo>
                  <a:pt x="384124" y="244236"/>
                </a:lnTo>
                <a:lnTo>
                  <a:pt x="337017" y="258013"/>
                </a:lnTo>
                <a:lnTo>
                  <a:pt x="285551" y="265983"/>
                </a:lnTo>
                <a:lnTo>
                  <a:pt x="258744" y="267431"/>
                </a:lnTo>
                <a:lnTo>
                  <a:pt x="232653" y="267431"/>
                </a:lnTo>
                <a:lnTo>
                  <a:pt x="179740" y="263088"/>
                </a:lnTo>
                <a:lnTo>
                  <a:pt x="130454" y="252206"/>
                </a:lnTo>
                <a:lnTo>
                  <a:pt x="86974" y="235549"/>
                </a:lnTo>
                <a:lnTo>
                  <a:pt x="50002" y="215249"/>
                </a:lnTo>
                <a:lnTo>
                  <a:pt x="12329" y="176829"/>
                </a:lnTo>
                <a:lnTo>
                  <a:pt x="0" y="134081"/>
                </a:lnTo>
              </a:path>
            </a:pathLst>
          </a:custGeom>
          <a:ln w="12079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2972332" y="7308933"/>
            <a:ext cx="93345" cy="1993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150" spc="-5" i="1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15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3423863" y="8351515"/>
            <a:ext cx="492125" cy="267970"/>
          </a:xfrm>
          <a:custGeom>
            <a:avLst/>
            <a:gdLst/>
            <a:ahLst/>
            <a:cxnLst/>
            <a:rect l="l" t="t" r="r" b="b"/>
            <a:pathLst>
              <a:path w="492125" h="267970">
                <a:moveTo>
                  <a:pt x="0" y="134081"/>
                </a:moveTo>
                <a:lnTo>
                  <a:pt x="13045" y="91318"/>
                </a:lnTo>
                <a:lnTo>
                  <a:pt x="50718" y="52898"/>
                </a:lnTo>
                <a:lnTo>
                  <a:pt x="86959" y="31882"/>
                </a:lnTo>
                <a:lnTo>
                  <a:pt x="130454" y="15209"/>
                </a:lnTo>
                <a:lnTo>
                  <a:pt x="180456" y="4343"/>
                </a:lnTo>
                <a:lnTo>
                  <a:pt x="232638" y="0"/>
                </a:lnTo>
                <a:lnTo>
                  <a:pt x="259460" y="0"/>
                </a:lnTo>
                <a:lnTo>
                  <a:pt x="312359" y="4343"/>
                </a:lnTo>
                <a:lnTo>
                  <a:pt x="361645" y="15209"/>
                </a:lnTo>
                <a:lnTo>
                  <a:pt x="405124" y="31882"/>
                </a:lnTo>
                <a:lnTo>
                  <a:pt x="442097" y="52898"/>
                </a:lnTo>
                <a:lnTo>
                  <a:pt x="479054" y="91318"/>
                </a:lnTo>
                <a:lnTo>
                  <a:pt x="492099" y="134081"/>
                </a:lnTo>
                <a:lnTo>
                  <a:pt x="490651" y="148574"/>
                </a:lnTo>
                <a:lnTo>
                  <a:pt x="469635" y="189158"/>
                </a:lnTo>
                <a:lnTo>
                  <a:pt x="424693" y="225399"/>
                </a:lnTo>
                <a:lnTo>
                  <a:pt x="384108" y="244236"/>
                </a:lnTo>
                <a:lnTo>
                  <a:pt x="337733" y="258013"/>
                </a:lnTo>
                <a:lnTo>
                  <a:pt x="286268" y="265252"/>
                </a:lnTo>
                <a:lnTo>
                  <a:pt x="259460" y="267431"/>
                </a:lnTo>
                <a:lnTo>
                  <a:pt x="232638" y="267431"/>
                </a:lnTo>
                <a:lnTo>
                  <a:pt x="180456" y="262356"/>
                </a:lnTo>
                <a:lnTo>
                  <a:pt x="130454" y="251490"/>
                </a:lnTo>
                <a:lnTo>
                  <a:pt x="86959" y="235534"/>
                </a:lnTo>
                <a:lnTo>
                  <a:pt x="50718" y="214518"/>
                </a:lnTo>
                <a:lnTo>
                  <a:pt x="13045" y="176113"/>
                </a:lnTo>
                <a:lnTo>
                  <a:pt x="0" y="134081"/>
                </a:lnTo>
              </a:path>
            </a:pathLst>
          </a:custGeom>
          <a:ln w="12079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3777537" y="8185157"/>
            <a:ext cx="93345" cy="1993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150" spc="-5" i="1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15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1829394" y="8351515"/>
            <a:ext cx="492125" cy="267970"/>
          </a:xfrm>
          <a:custGeom>
            <a:avLst/>
            <a:gdLst/>
            <a:ahLst/>
            <a:cxnLst/>
            <a:rect l="l" t="t" r="r" b="b"/>
            <a:pathLst>
              <a:path w="492125" h="267970">
                <a:moveTo>
                  <a:pt x="0" y="134081"/>
                </a:moveTo>
                <a:lnTo>
                  <a:pt x="13045" y="91318"/>
                </a:lnTo>
                <a:lnTo>
                  <a:pt x="50002" y="52898"/>
                </a:lnTo>
                <a:lnTo>
                  <a:pt x="86974" y="31882"/>
                </a:lnTo>
                <a:lnTo>
                  <a:pt x="130454" y="15209"/>
                </a:lnTo>
                <a:lnTo>
                  <a:pt x="179740" y="4343"/>
                </a:lnTo>
                <a:lnTo>
                  <a:pt x="232653" y="0"/>
                </a:lnTo>
                <a:lnTo>
                  <a:pt x="259460" y="0"/>
                </a:lnTo>
                <a:lnTo>
                  <a:pt x="311642" y="4343"/>
                </a:lnTo>
                <a:lnTo>
                  <a:pt x="361660" y="15209"/>
                </a:lnTo>
                <a:lnTo>
                  <a:pt x="405140" y="31882"/>
                </a:lnTo>
                <a:lnTo>
                  <a:pt x="441380" y="52898"/>
                </a:lnTo>
                <a:lnTo>
                  <a:pt x="479069" y="91318"/>
                </a:lnTo>
                <a:lnTo>
                  <a:pt x="492114" y="134081"/>
                </a:lnTo>
                <a:lnTo>
                  <a:pt x="490651" y="148574"/>
                </a:lnTo>
                <a:lnTo>
                  <a:pt x="468919" y="189158"/>
                </a:lnTo>
                <a:lnTo>
                  <a:pt x="423976" y="225399"/>
                </a:lnTo>
                <a:lnTo>
                  <a:pt x="383392" y="244236"/>
                </a:lnTo>
                <a:lnTo>
                  <a:pt x="337017" y="258013"/>
                </a:lnTo>
                <a:lnTo>
                  <a:pt x="285551" y="265252"/>
                </a:lnTo>
                <a:lnTo>
                  <a:pt x="259460" y="267431"/>
                </a:lnTo>
                <a:lnTo>
                  <a:pt x="232653" y="267431"/>
                </a:lnTo>
                <a:lnTo>
                  <a:pt x="179740" y="262356"/>
                </a:lnTo>
                <a:lnTo>
                  <a:pt x="130454" y="251490"/>
                </a:lnTo>
                <a:lnTo>
                  <a:pt x="86974" y="235534"/>
                </a:lnTo>
                <a:lnTo>
                  <a:pt x="50002" y="214518"/>
                </a:lnTo>
                <a:lnTo>
                  <a:pt x="13045" y="176113"/>
                </a:lnTo>
                <a:lnTo>
                  <a:pt x="0" y="134081"/>
                </a:lnTo>
              </a:path>
            </a:pathLst>
          </a:custGeom>
          <a:ln w="12079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 txBox="1"/>
          <p:nvPr/>
        </p:nvSpPr>
        <p:spPr>
          <a:xfrm>
            <a:off x="2189593" y="8185157"/>
            <a:ext cx="85725" cy="1993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150" spc="-5" i="1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2027255" y="6754149"/>
            <a:ext cx="3538854" cy="1764664"/>
            <a:chOff x="2027255" y="6754149"/>
            <a:chExt cx="3538854" cy="1764664"/>
          </a:xfrm>
        </p:grpSpPr>
        <p:sp>
          <p:nvSpPr>
            <p:cNvPr id="29" name="object 29"/>
            <p:cNvSpPr/>
            <p:nvPr/>
          </p:nvSpPr>
          <p:spPr>
            <a:xfrm>
              <a:off x="3112206" y="6782419"/>
              <a:ext cx="276225" cy="0"/>
            </a:xfrm>
            <a:custGeom>
              <a:avLst/>
              <a:gdLst/>
              <a:ahLst/>
              <a:cxnLst/>
              <a:rect l="l" t="t" r="r" b="b"/>
              <a:pathLst>
                <a:path w="276225" h="0">
                  <a:moveTo>
                    <a:pt x="0" y="0"/>
                  </a:moveTo>
                  <a:lnTo>
                    <a:pt x="276133" y="0"/>
                  </a:lnTo>
                </a:path>
              </a:pathLst>
            </a:custGeom>
            <a:ln w="1207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374577" y="6754149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0" y="0"/>
                  </a:moveTo>
                  <a:lnTo>
                    <a:pt x="1447" y="2895"/>
                  </a:lnTo>
                  <a:lnTo>
                    <a:pt x="2164" y="6522"/>
                  </a:lnTo>
                  <a:lnTo>
                    <a:pt x="3611" y="9418"/>
                  </a:lnTo>
                  <a:lnTo>
                    <a:pt x="4343" y="13045"/>
                  </a:lnTo>
                  <a:lnTo>
                    <a:pt x="5074" y="15941"/>
                  </a:lnTo>
                  <a:lnTo>
                    <a:pt x="6522" y="23195"/>
                  </a:lnTo>
                  <a:lnTo>
                    <a:pt x="6522" y="33345"/>
                  </a:lnTo>
                  <a:lnTo>
                    <a:pt x="5074" y="40584"/>
                  </a:lnTo>
                  <a:lnTo>
                    <a:pt x="4343" y="43479"/>
                  </a:lnTo>
                  <a:lnTo>
                    <a:pt x="3611" y="47106"/>
                  </a:lnTo>
                  <a:lnTo>
                    <a:pt x="2164" y="50002"/>
                  </a:lnTo>
                  <a:lnTo>
                    <a:pt x="1447" y="53629"/>
                  </a:lnTo>
                  <a:lnTo>
                    <a:pt x="0" y="56525"/>
                  </a:lnTo>
                  <a:lnTo>
                    <a:pt x="56525" y="28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118728" y="7605730"/>
              <a:ext cx="276225" cy="0"/>
            </a:xfrm>
            <a:custGeom>
              <a:avLst/>
              <a:gdLst/>
              <a:ahLst/>
              <a:cxnLst/>
              <a:rect l="l" t="t" r="r" b="b"/>
              <a:pathLst>
                <a:path w="276225" h="0">
                  <a:moveTo>
                    <a:pt x="0" y="0"/>
                  </a:moveTo>
                  <a:lnTo>
                    <a:pt x="276133" y="0"/>
                  </a:lnTo>
                </a:path>
              </a:pathLst>
            </a:custGeom>
            <a:ln w="1207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381100" y="7577475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0" y="0"/>
                  </a:moveTo>
                  <a:lnTo>
                    <a:pt x="1447" y="2895"/>
                  </a:lnTo>
                  <a:lnTo>
                    <a:pt x="2895" y="6522"/>
                  </a:lnTo>
                  <a:lnTo>
                    <a:pt x="3611" y="9418"/>
                  </a:lnTo>
                  <a:lnTo>
                    <a:pt x="5074" y="13045"/>
                  </a:lnTo>
                  <a:lnTo>
                    <a:pt x="5791" y="16672"/>
                  </a:lnTo>
                  <a:lnTo>
                    <a:pt x="5791" y="19568"/>
                  </a:lnTo>
                  <a:lnTo>
                    <a:pt x="6522" y="23195"/>
                  </a:lnTo>
                  <a:lnTo>
                    <a:pt x="6522" y="33329"/>
                  </a:lnTo>
                  <a:lnTo>
                    <a:pt x="5791" y="36956"/>
                  </a:lnTo>
                  <a:lnTo>
                    <a:pt x="5791" y="40584"/>
                  </a:lnTo>
                  <a:lnTo>
                    <a:pt x="5074" y="43479"/>
                  </a:lnTo>
                  <a:lnTo>
                    <a:pt x="3611" y="47106"/>
                  </a:lnTo>
                  <a:lnTo>
                    <a:pt x="2895" y="50002"/>
                  </a:lnTo>
                  <a:lnTo>
                    <a:pt x="1447" y="53629"/>
                  </a:lnTo>
                  <a:lnTo>
                    <a:pt x="0" y="56525"/>
                  </a:lnTo>
                  <a:lnTo>
                    <a:pt x="56525" y="28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348316" y="7605730"/>
              <a:ext cx="276225" cy="0"/>
            </a:xfrm>
            <a:custGeom>
              <a:avLst/>
              <a:gdLst/>
              <a:ahLst/>
              <a:cxnLst/>
              <a:rect l="l" t="t" r="r" b="b"/>
              <a:pathLst>
                <a:path w="276225" h="0">
                  <a:moveTo>
                    <a:pt x="0" y="0"/>
                  </a:moveTo>
                  <a:lnTo>
                    <a:pt x="276133" y="0"/>
                  </a:lnTo>
                </a:path>
              </a:pathLst>
            </a:custGeom>
            <a:ln w="1207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305552" y="7577475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56540" y="0"/>
                  </a:moveTo>
                  <a:lnTo>
                    <a:pt x="0" y="28254"/>
                  </a:lnTo>
                  <a:lnTo>
                    <a:pt x="56540" y="56525"/>
                  </a:lnTo>
                  <a:lnTo>
                    <a:pt x="55092" y="53629"/>
                  </a:lnTo>
                  <a:lnTo>
                    <a:pt x="54361" y="50002"/>
                  </a:lnTo>
                  <a:lnTo>
                    <a:pt x="52913" y="47106"/>
                  </a:lnTo>
                  <a:lnTo>
                    <a:pt x="52181" y="43479"/>
                  </a:lnTo>
                  <a:lnTo>
                    <a:pt x="51465" y="40584"/>
                  </a:lnTo>
                  <a:lnTo>
                    <a:pt x="50017" y="33329"/>
                  </a:lnTo>
                  <a:lnTo>
                    <a:pt x="50017" y="23195"/>
                  </a:lnTo>
                  <a:lnTo>
                    <a:pt x="50733" y="19568"/>
                  </a:lnTo>
                  <a:lnTo>
                    <a:pt x="51465" y="16672"/>
                  </a:lnTo>
                  <a:lnTo>
                    <a:pt x="52913" y="9418"/>
                  </a:lnTo>
                  <a:lnTo>
                    <a:pt x="54361" y="6522"/>
                  </a:lnTo>
                  <a:lnTo>
                    <a:pt x="55092" y="2895"/>
                  </a:lnTo>
                  <a:lnTo>
                    <a:pt x="5654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362093" y="8490656"/>
              <a:ext cx="1069340" cy="6985"/>
            </a:xfrm>
            <a:custGeom>
              <a:avLst/>
              <a:gdLst/>
              <a:ahLst/>
              <a:cxnLst/>
              <a:rect l="l" t="t" r="r" b="b"/>
              <a:pathLst>
                <a:path w="1069339" h="6984">
                  <a:moveTo>
                    <a:pt x="0" y="0"/>
                  </a:moveTo>
                  <a:lnTo>
                    <a:pt x="1069009" y="6522"/>
                  </a:lnTo>
                </a:path>
              </a:pathLst>
            </a:custGeom>
            <a:ln w="1207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319329" y="8462401"/>
              <a:ext cx="57150" cy="55880"/>
            </a:xfrm>
            <a:custGeom>
              <a:avLst/>
              <a:gdLst/>
              <a:ahLst/>
              <a:cxnLst/>
              <a:rect l="l" t="t" r="r" b="b"/>
              <a:pathLst>
                <a:path w="57150" h="55879">
                  <a:moveTo>
                    <a:pt x="56525" y="0"/>
                  </a:moveTo>
                  <a:lnTo>
                    <a:pt x="0" y="28254"/>
                  </a:lnTo>
                  <a:lnTo>
                    <a:pt x="56525" y="55808"/>
                  </a:lnTo>
                  <a:lnTo>
                    <a:pt x="55077" y="52898"/>
                  </a:lnTo>
                  <a:lnTo>
                    <a:pt x="53629" y="49286"/>
                  </a:lnTo>
                  <a:lnTo>
                    <a:pt x="52913" y="46375"/>
                  </a:lnTo>
                  <a:lnTo>
                    <a:pt x="51450" y="43479"/>
                  </a:lnTo>
                  <a:lnTo>
                    <a:pt x="50733" y="40584"/>
                  </a:lnTo>
                  <a:lnTo>
                    <a:pt x="50733" y="36956"/>
                  </a:lnTo>
                  <a:lnTo>
                    <a:pt x="50002" y="33329"/>
                  </a:lnTo>
                  <a:lnTo>
                    <a:pt x="50002" y="23195"/>
                  </a:lnTo>
                  <a:lnTo>
                    <a:pt x="50733" y="19568"/>
                  </a:lnTo>
                  <a:lnTo>
                    <a:pt x="51450" y="16672"/>
                  </a:lnTo>
                  <a:lnTo>
                    <a:pt x="52913" y="9418"/>
                  </a:lnTo>
                  <a:lnTo>
                    <a:pt x="53629" y="6522"/>
                  </a:lnTo>
                  <a:lnTo>
                    <a:pt x="55077" y="2895"/>
                  </a:lnTo>
                  <a:lnTo>
                    <a:pt x="5652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276566" y="7723870"/>
              <a:ext cx="463550" cy="637540"/>
            </a:xfrm>
            <a:custGeom>
              <a:avLst/>
              <a:gdLst/>
              <a:ahLst/>
              <a:cxnLst/>
              <a:rect l="l" t="t" r="r" b="b"/>
              <a:pathLst>
                <a:path w="463550" h="637540">
                  <a:moveTo>
                    <a:pt x="0" y="637062"/>
                  </a:moveTo>
                  <a:lnTo>
                    <a:pt x="463128" y="0"/>
                  </a:lnTo>
                </a:path>
              </a:pathLst>
            </a:custGeom>
            <a:ln w="1207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251207" y="8332663"/>
              <a:ext cx="57150" cy="62865"/>
            </a:xfrm>
            <a:custGeom>
              <a:avLst/>
              <a:gdLst/>
              <a:ahLst/>
              <a:cxnLst/>
              <a:rect l="l" t="t" r="r" b="b"/>
              <a:pathLst>
                <a:path w="57150" h="62865">
                  <a:moveTo>
                    <a:pt x="10866" y="0"/>
                  </a:moveTo>
                  <a:lnTo>
                    <a:pt x="0" y="62331"/>
                  </a:lnTo>
                  <a:lnTo>
                    <a:pt x="56525" y="33345"/>
                  </a:lnTo>
                  <a:lnTo>
                    <a:pt x="49270" y="31897"/>
                  </a:lnTo>
                  <a:lnTo>
                    <a:pt x="46375" y="31165"/>
                  </a:lnTo>
                  <a:lnTo>
                    <a:pt x="42748" y="29717"/>
                  </a:lnTo>
                  <a:lnTo>
                    <a:pt x="34061" y="25374"/>
                  </a:lnTo>
                  <a:lnTo>
                    <a:pt x="25359" y="18851"/>
                  </a:lnTo>
                  <a:lnTo>
                    <a:pt x="23180" y="16672"/>
                  </a:lnTo>
                  <a:lnTo>
                    <a:pt x="20284" y="14493"/>
                  </a:lnTo>
                  <a:lnTo>
                    <a:pt x="18120" y="11597"/>
                  </a:lnTo>
                  <a:lnTo>
                    <a:pt x="15941" y="9418"/>
                  </a:lnTo>
                  <a:lnTo>
                    <a:pt x="13761" y="6522"/>
                  </a:lnTo>
                  <a:lnTo>
                    <a:pt x="12313" y="3627"/>
                  </a:lnTo>
                  <a:lnTo>
                    <a:pt x="1086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036844" y="7750693"/>
              <a:ext cx="503555" cy="631825"/>
            </a:xfrm>
            <a:custGeom>
              <a:avLst/>
              <a:gdLst/>
              <a:ahLst/>
              <a:cxnLst/>
              <a:rect l="l" t="t" r="r" b="b"/>
              <a:pathLst>
                <a:path w="503554" h="631825">
                  <a:moveTo>
                    <a:pt x="502965" y="631256"/>
                  </a:moveTo>
                  <a:lnTo>
                    <a:pt x="0" y="0"/>
                  </a:lnTo>
                </a:path>
              </a:pathLst>
            </a:custGeom>
            <a:ln w="1207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010021" y="7717348"/>
              <a:ext cx="57785" cy="61594"/>
            </a:xfrm>
            <a:custGeom>
              <a:avLst/>
              <a:gdLst/>
              <a:ahLst/>
              <a:cxnLst/>
              <a:rect l="l" t="t" r="r" b="b"/>
              <a:pathLst>
                <a:path w="57785" h="61595">
                  <a:moveTo>
                    <a:pt x="0" y="0"/>
                  </a:moveTo>
                  <a:lnTo>
                    <a:pt x="13045" y="61600"/>
                  </a:lnTo>
                  <a:lnTo>
                    <a:pt x="15224" y="58704"/>
                  </a:lnTo>
                  <a:lnTo>
                    <a:pt x="16672" y="55808"/>
                  </a:lnTo>
                  <a:lnTo>
                    <a:pt x="18836" y="52913"/>
                  </a:lnTo>
                  <a:lnTo>
                    <a:pt x="47838" y="29717"/>
                  </a:lnTo>
                  <a:lnTo>
                    <a:pt x="50733" y="28270"/>
                  </a:lnTo>
                  <a:lnTo>
                    <a:pt x="54361" y="27538"/>
                  </a:lnTo>
                  <a:lnTo>
                    <a:pt x="57256" y="268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854924" y="6917949"/>
              <a:ext cx="0" cy="520700"/>
            </a:xfrm>
            <a:custGeom>
              <a:avLst/>
              <a:gdLst/>
              <a:ahLst/>
              <a:cxnLst/>
              <a:rect l="l" t="t" r="r" b="b"/>
              <a:pathLst>
                <a:path w="0" h="520700">
                  <a:moveTo>
                    <a:pt x="0" y="520369"/>
                  </a:moveTo>
                  <a:lnTo>
                    <a:pt x="0" y="0"/>
                  </a:lnTo>
                </a:path>
              </a:pathLst>
            </a:custGeom>
            <a:ln w="1207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826654" y="7424542"/>
              <a:ext cx="57150" cy="55880"/>
            </a:xfrm>
            <a:custGeom>
              <a:avLst/>
              <a:gdLst/>
              <a:ahLst/>
              <a:cxnLst/>
              <a:rect l="l" t="t" r="r" b="b"/>
              <a:pathLst>
                <a:path w="57150" h="55879">
                  <a:moveTo>
                    <a:pt x="56540" y="0"/>
                  </a:moveTo>
                  <a:lnTo>
                    <a:pt x="52913" y="1463"/>
                  </a:lnTo>
                  <a:lnTo>
                    <a:pt x="50017" y="2179"/>
                  </a:lnTo>
                  <a:lnTo>
                    <a:pt x="47106" y="3627"/>
                  </a:lnTo>
                  <a:lnTo>
                    <a:pt x="39867" y="5074"/>
                  </a:lnTo>
                  <a:lnTo>
                    <a:pt x="36972" y="5806"/>
                  </a:lnTo>
                  <a:lnTo>
                    <a:pt x="33345" y="6522"/>
                  </a:lnTo>
                  <a:lnTo>
                    <a:pt x="23195" y="6522"/>
                  </a:lnTo>
                  <a:lnTo>
                    <a:pt x="15941" y="5074"/>
                  </a:lnTo>
                  <a:lnTo>
                    <a:pt x="13045" y="4358"/>
                  </a:lnTo>
                  <a:lnTo>
                    <a:pt x="9418" y="3627"/>
                  </a:lnTo>
                  <a:lnTo>
                    <a:pt x="5806" y="2179"/>
                  </a:lnTo>
                  <a:lnTo>
                    <a:pt x="2895" y="1463"/>
                  </a:lnTo>
                  <a:lnTo>
                    <a:pt x="0" y="0"/>
                  </a:lnTo>
                  <a:lnTo>
                    <a:pt x="28270" y="55808"/>
                  </a:lnTo>
                  <a:lnTo>
                    <a:pt x="5654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684772" y="6917949"/>
              <a:ext cx="0" cy="520700"/>
            </a:xfrm>
            <a:custGeom>
              <a:avLst/>
              <a:gdLst/>
              <a:ahLst/>
              <a:cxnLst/>
              <a:rect l="l" t="t" r="r" b="b"/>
              <a:pathLst>
                <a:path w="0" h="520700">
                  <a:moveTo>
                    <a:pt x="0" y="520369"/>
                  </a:moveTo>
                  <a:lnTo>
                    <a:pt x="0" y="0"/>
                  </a:lnTo>
                </a:path>
              </a:pathLst>
            </a:custGeom>
            <a:ln w="1207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656502" y="7424542"/>
              <a:ext cx="57150" cy="55880"/>
            </a:xfrm>
            <a:custGeom>
              <a:avLst/>
              <a:gdLst/>
              <a:ahLst/>
              <a:cxnLst/>
              <a:rect l="l" t="t" r="r" b="b"/>
              <a:pathLst>
                <a:path w="57150" h="55879">
                  <a:moveTo>
                    <a:pt x="56525" y="0"/>
                  </a:moveTo>
                  <a:lnTo>
                    <a:pt x="53629" y="1463"/>
                  </a:lnTo>
                  <a:lnTo>
                    <a:pt x="50733" y="2179"/>
                  </a:lnTo>
                  <a:lnTo>
                    <a:pt x="47106" y="3627"/>
                  </a:lnTo>
                  <a:lnTo>
                    <a:pt x="43479" y="4358"/>
                  </a:lnTo>
                  <a:lnTo>
                    <a:pt x="40584" y="5074"/>
                  </a:lnTo>
                  <a:lnTo>
                    <a:pt x="33345" y="6522"/>
                  </a:lnTo>
                  <a:lnTo>
                    <a:pt x="23195" y="6522"/>
                  </a:lnTo>
                  <a:lnTo>
                    <a:pt x="19568" y="5806"/>
                  </a:lnTo>
                  <a:lnTo>
                    <a:pt x="16672" y="5074"/>
                  </a:lnTo>
                  <a:lnTo>
                    <a:pt x="13045" y="4358"/>
                  </a:lnTo>
                  <a:lnTo>
                    <a:pt x="10149" y="3627"/>
                  </a:lnTo>
                  <a:lnTo>
                    <a:pt x="6522" y="2179"/>
                  </a:lnTo>
                  <a:lnTo>
                    <a:pt x="3627" y="1463"/>
                  </a:lnTo>
                  <a:lnTo>
                    <a:pt x="0" y="0"/>
                  </a:lnTo>
                  <a:lnTo>
                    <a:pt x="28270" y="55808"/>
                  </a:lnTo>
                  <a:lnTo>
                    <a:pt x="5652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681862" y="7744170"/>
              <a:ext cx="6985" cy="575310"/>
            </a:xfrm>
            <a:custGeom>
              <a:avLst/>
              <a:gdLst/>
              <a:ahLst/>
              <a:cxnLst/>
              <a:rect l="l" t="t" r="r" b="b"/>
              <a:pathLst>
                <a:path w="6985" h="575309">
                  <a:moveTo>
                    <a:pt x="0" y="574730"/>
                  </a:moveTo>
                  <a:lnTo>
                    <a:pt x="6522" y="0"/>
                  </a:lnTo>
                </a:path>
              </a:pathLst>
            </a:custGeom>
            <a:ln w="1207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653607" y="8304408"/>
              <a:ext cx="57150" cy="57785"/>
            </a:xfrm>
            <a:custGeom>
              <a:avLst/>
              <a:gdLst/>
              <a:ahLst/>
              <a:cxnLst/>
              <a:rect l="l" t="t" r="r" b="b"/>
              <a:pathLst>
                <a:path w="57150" h="57784">
                  <a:moveTo>
                    <a:pt x="0" y="0"/>
                  </a:moveTo>
                  <a:lnTo>
                    <a:pt x="28254" y="57241"/>
                  </a:lnTo>
                  <a:lnTo>
                    <a:pt x="56525" y="716"/>
                  </a:lnTo>
                  <a:lnTo>
                    <a:pt x="50733" y="3611"/>
                  </a:lnTo>
                  <a:lnTo>
                    <a:pt x="47106" y="4343"/>
                  </a:lnTo>
                  <a:lnTo>
                    <a:pt x="44211" y="5059"/>
                  </a:lnTo>
                  <a:lnTo>
                    <a:pt x="33329" y="7238"/>
                  </a:lnTo>
                  <a:lnTo>
                    <a:pt x="26807" y="7238"/>
                  </a:lnTo>
                  <a:lnTo>
                    <a:pt x="23195" y="6522"/>
                  </a:lnTo>
                  <a:lnTo>
                    <a:pt x="20284" y="6522"/>
                  </a:lnTo>
                  <a:lnTo>
                    <a:pt x="13045" y="5059"/>
                  </a:lnTo>
                  <a:lnTo>
                    <a:pt x="10149" y="4343"/>
                  </a:lnTo>
                  <a:lnTo>
                    <a:pt x="6522" y="2895"/>
                  </a:lnTo>
                  <a:lnTo>
                    <a:pt x="3627" y="14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055510" y="7757932"/>
              <a:ext cx="6985" cy="574040"/>
            </a:xfrm>
            <a:custGeom>
              <a:avLst/>
              <a:gdLst/>
              <a:ahLst/>
              <a:cxnLst/>
              <a:rect l="l" t="t" r="r" b="b"/>
              <a:pathLst>
                <a:path w="6985" h="574040">
                  <a:moveTo>
                    <a:pt x="0" y="574014"/>
                  </a:moveTo>
                  <a:lnTo>
                    <a:pt x="6537" y="0"/>
                  </a:lnTo>
                </a:path>
              </a:pathLst>
            </a:custGeom>
            <a:ln w="1207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027255" y="8318169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0" y="0"/>
                  </a:moveTo>
                  <a:lnTo>
                    <a:pt x="27538" y="56525"/>
                  </a:lnTo>
                  <a:lnTo>
                    <a:pt x="56525" y="731"/>
                  </a:lnTo>
                  <a:lnTo>
                    <a:pt x="53629" y="2179"/>
                  </a:lnTo>
                  <a:lnTo>
                    <a:pt x="50002" y="2895"/>
                  </a:lnTo>
                  <a:lnTo>
                    <a:pt x="47106" y="4343"/>
                  </a:lnTo>
                  <a:lnTo>
                    <a:pt x="43479" y="5074"/>
                  </a:lnTo>
                  <a:lnTo>
                    <a:pt x="40584" y="5806"/>
                  </a:lnTo>
                  <a:lnTo>
                    <a:pt x="36956" y="6522"/>
                  </a:lnTo>
                  <a:lnTo>
                    <a:pt x="33329" y="6522"/>
                  </a:lnTo>
                  <a:lnTo>
                    <a:pt x="30434" y="7254"/>
                  </a:lnTo>
                  <a:lnTo>
                    <a:pt x="26807" y="6522"/>
                  </a:lnTo>
                  <a:lnTo>
                    <a:pt x="19568" y="6522"/>
                  </a:lnTo>
                  <a:lnTo>
                    <a:pt x="16672" y="5806"/>
                  </a:lnTo>
                  <a:lnTo>
                    <a:pt x="13045" y="5074"/>
                  </a:lnTo>
                  <a:lnTo>
                    <a:pt x="9418" y="3627"/>
                  </a:lnTo>
                  <a:lnTo>
                    <a:pt x="6522" y="2895"/>
                  </a:lnTo>
                  <a:lnTo>
                    <a:pt x="3627" y="14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071231" y="7474559"/>
              <a:ext cx="491490" cy="267970"/>
            </a:xfrm>
            <a:custGeom>
              <a:avLst/>
              <a:gdLst/>
              <a:ahLst/>
              <a:cxnLst/>
              <a:rect l="l" t="t" r="r" b="b"/>
              <a:pathLst>
                <a:path w="491489" h="267970">
                  <a:moveTo>
                    <a:pt x="258729" y="0"/>
                  </a:moveTo>
                  <a:lnTo>
                    <a:pt x="232638" y="0"/>
                  </a:lnTo>
                  <a:lnTo>
                    <a:pt x="205831" y="1447"/>
                  </a:lnTo>
                  <a:lnTo>
                    <a:pt x="154365" y="9418"/>
                  </a:lnTo>
                  <a:lnTo>
                    <a:pt x="107259" y="23195"/>
                  </a:lnTo>
                  <a:lnTo>
                    <a:pt x="67391" y="42031"/>
                  </a:lnTo>
                  <a:lnTo>
                    <a:pt x="34777" y="65227"/>
                  </a:lnTo>
                  <a:lnTo>
                    <a:pt x="5791" y="105079"/>
                  </a:lnTo>
                  <a:lnTo>
                    <a:pt x="0" y="134081"/>
                  </a:lnTo>
                  <a:lnTo>
                    <a:pt x="1447" y="148574"/>
                  </a:lnTo>
                  <a:lnTo>
                    <a:pt x="22463" y="190606"/>
                  </a:lnTo>
                  <a:lnTo>
                    <a:pt x="67391" y="226115"/>
                  </a:lnTo>
                  <a:lnTo>
                    <a:pt x="107259" y="244236"/>
                  </a:lnTo>
                  <a:lnTo>
                    <a:pt x="154365" y="258013"/>
                  </a:lnTo>
                  <a:lnTo>
                    <a:pt x="205831" y="265983"/>
                  </a:lnTo>
                  <a:lnTo>
                    <a:pt x="232638" y="267431"/>
                  </a:lnTo>
                  <a:lnTo>
                    <a:pt x="258729" y="267431"/>
                  </a:lnTo>
                  <a:lnTo>
                    <a:pt x="311642" y="263088"/>
                  </a:lnTo>
                  <a:lnTo>
                    <a:pt x="360197" y="252206"/>
                  </a:lnTo>
                  <a:lnTo>
                    <a:pt x="404408" y="235549"/>
                  </a:lnTo>
                  <a:lnTo>
                    <a:pt x="441365" y="215249"/>
                  </a:lnTo>
                  <a:lnTo>
                    <a:pt x="479054" y="176829"/>
                  </a:lnTo>
                  <a:lnTo>
                    <a:pt x="491383" y="134081"/>
                  </a:lnTo>
                  <a:lnTo>
                    <a:pt x="489935" y="119588"/>
                  </a:lnTo>
                  <a:lnTo>
                    <a:pt x="468904" y="77541"/>
                  </a:lnTo>
                  <a:lnTo>
                    <a:pt x="423976" y="42031"/>
                  </a:lnTo>
                  <a:lnTo>
                    <a:pt x="383392" y="23195"/>
                  </a:lnTo>
                  <a:lnTo>
                    <a:pt x="336285" y="9418"/>
                  </a:lnTo>
                  <a:lnTo>
                    <a:pt x="285551" y="1447"/>
                  </a:lnTo>
                  <a:lnTo>
                    <a:pt x="258729" y="0"/>
                  </a:lnTo>
                  <a:close/>
                </a:path>
              </a:pathLst>
            </a:custGeom>
            <a:solidFill>
              <a:srgbClr val="E352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5071231" y="7474559"/>
              <a:ext cx="491490" cy="267970"/>
            </a:xfrm>
            <a:custGeom>
              <a:avLst/>
              <a:gdLst/>
              <a:ahLst/>
              <a:cxnLst/>
              <a:rect l="l" t="t" r="r" b="b"/>
              <a:pathLst>
                <a:path w="491489" h="267970">
                  <a:moveTo>
                    <a:pt x="0" y="134081"/>
                  </a:moveTo>
                  <a:lnTo>
                    <a:pt x="12313" y="91318"/>
                  </a:lnTo>
                  <a:lnTo>
                    <a:pt x="50002" y="52898"/>
                  </a:lnTo>
                  <a:lnTo>
                    <a:pt x="86243" y="31882"/>
                  </a:lnTo>
                  <a:lnTo>
                    <a:pt x="130454" y="15209"/>
                  </a:lnTo>
                  <a:lnTo>
                    <a:pt x="179740" y="5074"/>
                  </a:lnTo>
                  <a:lnTo>
                    <a:pt x="232638" y="0"/>
                  </a:lnTo>
                  <a:lnTo>
                    <a:pt x="258729" y="0"/>
                  </a:lnTo>
                  <a:lnTo>
                    <a:pt x="311642" y="5074"/>
                  </a:lnTo>
                  <a:lnTo>
                    <a:pt x="360197" y="15209"/>
                  </a:lnTo>
                  <a:lnTo>
                    <a:pt x="404408" y="31882"/>
                  </a:lnTo>
                  <a:lnTo>
                    <a:pt x="441365" y="52898"/>
                  </a:lnTo>
                  <a:lnTo>
                    <a:pt x="479054" y="91318"/>
                  </a:lnTo>
                  <a:lnTo>
                    <a:pt x="491383" y="134081"/>
                  </a:lnTo>
                  <a:lnTo>
                    <a:pt x="489935" y="148574"/>
                  </a:lnTo>
                  <a:lnTo>
                    <a:pt x="468904" y="190606"/>
                  </a:lnTo>
                  <a:lnTo>
                    <a:pt x="423976" y="226115"/>
                  </a:lnTo>
                  <a:lnTo>
                    <a:pt x="383392" y="244236"/>
                  </a:lnTo>
                  <a:lnTo>
                    <a:pt x="336285" y="258013"/>
                  </a:lnTo>
                  <a:lnTo>
                    <a:pt x="285551" y="265983"/>
                  </a:lnTo>
                  <a:lnTo>
                    <a:pt x="258729" y="267431"/>
                  </a:lnTo>
                  <a:lnTo>
                    <a:pt x="232638" y="267431"/>
                  </a:lnTo>
                  <a:lnTo>
                    <a:pt x="179740" y="263088"/>
                  </a:lnTo>
                  <a:lnTo>
                    <a:pt x="130454" y="252206"/>
                  </a:lnTo>
                  <a:lnTo>
                    <a:pt x="86243" y="235549"/>
                  </a:lnTo>
                  <a:lnTo>
                    <a:pt x="50002" y="215249"/>
                  </a:lnTo>
                  <a:lnTo>
                    <a:pt x="12313" y="176829"/>
                  </a:lnTo>
                  <a:lnTo>
                    <a:pt x="0" y="134081"/>
                  </a:lnTo>
                </a:path>
              </a:pathLst>
            </a:custGeom>
            <a:ln w="60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" name="object 51"/>
          <p:cNvSpPr txBox="1"/>
          <p:nvPr/>
        </p:nvSpPr>
        <p:spPr>
          <a:xfrm>
            <a:off x="5423456" y="7308933"/>
            <a:ext cx="93345" cy="1993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150" spc="-5" i="1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5855858" y="7471385"/>
            <a:ext cx="498475" cy="274320"/>
            <a:chOff x="5855858" y="7471385"/>
            <a:chExt cx="498475" cy="274320"/>
          </a:xfrm>
        </p:grpSpPr>
        <p:sp>
          <p:nvSpPr>
            <p:cNvPr id="53" name="object 53"/>
            <p:cNvSpPr/>
            <p:nvPr/>
          </p:nvSpPr>
          <p:spPr>
            <a:xfrm>
              <a:off x="5859033" y="7474560"/>
              <a:ext cx="492125" cy="267970"/>
            </a:xfrm>
            <a:custGeom>
              <a:avLst/>
              <a:gdLst/>
              <a:ahLst/>
              <a:cxnLst/>
              <a:rect l="l" t="t" r="r" b="b"/>
              <a:pathLst>
                <a:path w="492125" h="267970">
                  <a:moveTo>
                    <a:pt x="259460" y="0"/>
                  </a:moveTo>
                  <a:lnTo>
                    <a:pt x="232653" y="0"/>
                  </a:lnTo>
                  <a:lnTo>
                    <a:pt x="206562" y="1447"/>
                  </a:lnTo>
                  <a:lnTo>
                    <a:pt x="155097" y="9418"/>
                  </a:lnTo>
                  <a:lnTo>
                    <a:pt x="107990" y="23195"/>
                  </a:lnTo>
                  <a:lnTo>
                    <a:pt x="68122" y="42031"/>
                  </a:lnTo>
                  <a:lnTo>
                    <a:pt x="35509" y="65227"/>
                  </a:lnTo>
                  <a:lnTo>
                    <a:pt x="5806" y="105079"/>
                  </a:lnTo>
                  <a:lnTo>
                    <a:pt x="0" y="134081"/>
                  </a:lnTo>
                  <a:lnTo>
                    <a:pt x="1447" y="148574"/>
                  </a:lnTo>
                  <a:lnTo>
                    <a:pt x="23195" y="190606"/>
                  </a:lnTo>
                  <a:lnTo>
                    <a:pt x="68122" y="226115"/>
                  </a:lnTo>
                  <a:lnTo>
                    <a:pt x="107990" y="244236"/>
                  </a:lnTo>
                  <a:lnTo>
                    <a:pt x="155097" y="258013"/>
                  </a:lnTo>
                  <a:lnTo>
                    <a:pt x="206562" y="265983"/>
                  </a:lnTo>
                  <a:lnTo>
                    <a:pt x="232653" y="267431"/>
                  </a:lnTo>
                  <a:lnTo>
                    <a:pt x="259460" y="267431"/>
                  </a:lnTo>
                  <a:lnTo>
                    <a:pt x="312374" y="263088"/>
                  </a:lnTo>
                  <a:lnTo>
                    <a:pt x="360928" y="252206"/>
                  </a:lnTo>
                  <a:lnTo>
                    <a:pt x="405140" y="235549"/>
                  </a:lnTo>
                  <a:lnTo>
                    <a:pt x="442097" y="215249"/>
                  </a:lnTo>
                  <a:lnTo>
                    <a:pt x="479069" y="176829"/>
                  </a:lnTo>
                  <a:lnTo>
                    <a:pt x="492114" y="134081"/>
                  </a:lnTo>
                  <a:lnTo>
                    <a:pt x="490667" y="119588"/>
                  </a:lnTo>
                  <a:lnTo>
                    <a:pt x="469651" y="77541"/>
                  </a:lnTo>
                  <a:lnTo>
                    <a:pt x="424708" y="42031"/>
                  </a:lnTo>
                  <a:lnTo>
                    <a:pt x="384124" y="23195"/>
                  </a:lnTo>
                  <a:lnTo>
                    <a:pt x="337733" y="9418"/>
                  </a:lnTo>
                  <a:lnTo>
                    <a:pt x="286283" y="1447"/>
                  </a:lnTo>
                  <a:lnTo>
                    <a:pt x="259460" y="0"/>
                  </a:lnTo>
                  <a:close/>
                </a:path>
              </a:pathLst>
            </a:custGeom>
            <a:solidFill>
              <a:srgbClr val="E352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859033" y="7474560"/>
              <a:ext cx="492125" cy="267970"/>
            </a:xfrm>
            <a:custGeom>
              <a:avLst/>
              <a:gdLst/>
              <a:ahLst/>
              <a:cxnLst/>
              <a:rect l="l" t="t" r="r" b="b"/>
              <a:pathLst>
                <a:path w="492125" h="267970">
                  <a:moveTo>
                    <a:pt x="0" y="134081"/>
                  </a:moveTo>
                  <a:lnTo>
                    <a:pt x="13045" y="91318"/>
                  </a:lnTo>
                  <a:lnTo>
                    <a:pt x="50733" y="52898"/>
                  </a:lnTo>
                  <a:lnTo>
                    <a:pt x="86243" y="31882"/>
                  </a:lnTo>
                  <a:lnTo>
                    <a:pt x="130454" y="15209"/>
                  </a:lnTo>
                  <a:lnTo>
                    <a:pt x="180472" y="5074"/>
                  </a:lnTo>
                  <a:lnTo>
                    <a:pt x="232653" y="0"/>
                  </a:lnTo>
                  <a:lnTo>
                    <a:pt x="259460" y="0"/>
                  </a:lnTo>
                  <a:lnTo>
                    <a:pt x="312374" y="5074"/>
                  </a:lnTo>
                  <a:lnTo>
                    <a:pt x="360928" y="15209"/>
                  </a:lnTo>
                  <a:lnTo>
                    <a:pt x="405140" y="31882"/>
                  </a:lnTo>
                  <a:lnTo>
                    <a:pt x="442097" y="52898"/>
                  </a:lnTo>
                  <a:lnTo>
                    <a:pt x="479069" y="91318"/>
                  </a:lnTo>
                  <a:lnTo>
                    <a:pt x="492114" y="134081"/>
                  </a:lnTo>
                  <a:lnTo>
                    <a:pt x="490667" y="148574"/>
                  </a:lnTo>
                  <a:lnTo>
                    <a:pt x="469651" y="190606"/>
                  </a:lnTo>
                  <a:lnTo>
                    <a:pt x="424708" y="226115"/>
                  </a:lnTo>
                  <a:lnTo>
                    <a:pt x="384124" y="244236"/>
                  </a:lnTo>
                  <a:lnTo>
                    <a:pt x="337733" y="258013"/>
                  </a:lnTo>
                  <a:lnTo>
                    <a:pt x="286283" y="265983"/>
                  </a:lnTo>
                  <a:lnTo>
                    <a:pt x="259460" y="267431"/>
                  </a:lnTo>
                  <a:lnTo>
                    <a:pt x="232653" y="267431"/>
                  </a:lnTo>
                  <a:lnTo>
                    <a:pt x="180472" y="263088"/>
                  </a:lnTo>
                  <a:lnTo>
                    <a:pt x="130454" y="252206"/>
                  </a:lnTo>
                  <a:lnTo>
                    <a:pt x="86243" y="235549"/>
                  </a:lnTo>
                  <a:lnTo>
                    <a:pt x="50733" y="215249"/>
                  </a:lnTo>
                  <a:lnTo>
                    <a:pt x="13045" y="176829"/>
                  </a:lnTo>
                  <a:lnTo>
                    <a:pt x="0" y="134081"/>
                  </a:lnTo>
                </a:path>
              </a:pathLst>
            </a:custGeom>
            <a:ln w="60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/>
          <p:cNvSpPr txBox="1"/>
          <p:nvPr/>
        </p:nvSpPr>
        <p:spPr>
          <a:xfrm>
            <a:off x="6213434" y="7308933"/>
            <a:ext cx="93345" cy="1993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150" spc="-5" i="1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5068056" y="8348340"/>
            <a:ext cx="497840" cy="274320"/>
            <a:chOff x="5068056" y="8348340"/>
            <a:chExt cx="497840" cy="274320"/>
          </a:xfrm>
        </p:grpSpPr>
        <p:sp>
          <p:nvSpPr>
            <p:cNvPr id="57" name="object 57"/>
            <p:cNvSpPr/>
            <p:nvPr/>
          </p:nvSpPr>
          <p:spPr>
            <a:xfrm>
              <a:off x="5071231" y="8351515"/>
              <a:ext cx="491490" cy="267970"/>
            </a:xfrm>
            <a:custGeom>
              <a:avLst/>
              <a:gdLst/>
              <a:ahLst/>
              <a:cxnLst/>
              <a:rect l="l" t="t" r="r" b="b"/>
              <a:pathLst>
                <a:path w="491489" h="267970">
                  <a:moveTo>
                    <a:pt x="258729" y="0"/>
                  </a:moveTo>
                  <a:lnTo>
                    <a:pt x="232638" y="0"/>
                  </a:lnTo>
                  <a:lnTo>
                    <a:pt x="205831" y="1447"/>
                  </a:lnTo>
                  <a:lnTo>
                    <a:pt x="154365" y="9418"/>
                  </a:lnTo>
                  <a:lnTo>
                    <a:pt x="107259" y="22463"/>
                  </a:lnTo>
                  <a:lnTo>
                    <a:pt x="67391" y="41300"/>
                  </a:lnTo>
                  <a:lnTo>
                    <a:pt x="34777" y="64495"/>
                  </a:lnTo>
                  <a:lnTo>
                    <a:pt x="5791" y="105079"/>
                  </a:lnTo>
                  <a:lnTo>
                    <a:pt x="0" y="134081"/>
                  </a:lnTo>
                  <a:lnTo>
                    <a:pt x="1447" y="148574"/>
                  </a:lnTo>
                  <a:lnTo>
                    <a:pt x="22463" y="189158"/>
                  </a:lnTo>
                  <a:lnTo>
                    <a:pt x="67391" y="225399"/>
                  </a:lnTo>
                  <a:lnTo>
                    <a:pt x="107259" y="244236"/>
                  </a:lnTo>
                  <a:lnTo>
                    <a:pt x="154365" y="258013"/>
                  </a:lnTo>
                  <a:lnTo>
                    <a:pt x="205831" y="265252"/>
                  </a:lnTo>
                  <a:lnTo>
                    <a:pt x="232638" y="267431"/>
                  </a:lnTo>
                  <a:lnTo>
                    <a:pt x="258729" y="267431"/>
                  </a:lnTo>
                  <a:lnTo>
                    <a:pt x="311642" y="262356"/>
                  </a:lnTo>
                  <a:lnTo>
                    <a:pt x="360197" y="251490"/>
                  </a:lnTo>
                  <a:lnTo>
                    <a:pt x="404408" y="235534"/>
                  </a:lnTo>
                  <a:lnTo>
                    <a:pt x="441365" y="214518"/>
                  </a:lnTo>
                  <a:lnTo>
                    <a:pt x="479054" y="176113"/>
                  </a:lnTo>
                  <a:lnTo>
                    <a:pt x="491383" y="134081"/>
                  </a:lnTo>
                  <a:lnTo>
                    <a:pt x="489935" y="119573"/>
                  </a:lnTo>
                  <a:lnTo>
                    <a:pt x="468904" y="77541"/>
                  </a:lnTo>
                  <a:lnTo>
                    <a:pt x="423976" y="41300"/>
                  </a:lnTo>
                  <a:lnTo>
                    <a:pt x="383392" y="22463"/>
                  </a:lnTo>
                  <a:lnTo>
                    <a:pt x="336285" y="9418"/>
                  </a:lnTo>
                  <a:lnTo>
                    <a:pt x="285551" y="1447"/>
                  </a:lnTo>
                  <a:lnTo>
                    <a:pt x="258729" y="0"/>
                  </a:lnTo>
                  <a:close/>
                </a:path>
              </a:pathLst>
            </a:custGeom>
            <a:solidFill>
              <a:srgbClr val="E352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071231" y="8351515"/>
              <a:ext cx="491490" cy="267970"/>
            </a:xfrm>
            <a:custGeom>
              <a:avLst/>
              <a:gdLst/>
              <a:ahLst/>
              <a:cxnLst/>
              <a:rect l="l" t="t" r="r" b="b"/>
              <a:pathLst>
                <a:path w="491489" h="267970">
                  <a:moveTo>
                    <a:pt x="0" y="134081"/>
                  </a:moveTo>
                  <a:lnTo>
                    <a:pt x="12313" y="91318"/>
                  </a:lnTo>
                  <a:lnTo>
                    <a:pt x="50002" y="52898"/>
                  </a:lnTo>
                  <a:lnTo>
                    <a:pt x="86243" y="31882"/>
                  </a:lnTo>
                  <a:lnTo>
                    <a:pt x="130454" y="15209"/>
                  </a:lnTo>
                  <a:lnTo>
                    <a:pt x="179740" y="4343"/>
                  </a:lnTo>
                  <a:lnTo>
                    <a:pt x="232638" y="0"/>
                  </a:lnTo>
                  <a:lnTo>
                    <a:pt x="258729" y="0"/>
                  </a:lnTo>
                  <a:lnTo>
                    <a:pt x="311642" y="4343"/>
                  </a:lnTo>
                  <a:lnTo>
                    <a:pt x="360197" y="15209"/>
                  </a:lnTo>
                  <a:lnTo>
                    <a:pt x="404408" y="31882"/>
                  </a:lnTo>
                  <a:lnTo>
                    <a:pt x="441365" y="52898"/>
                  </a:lnTo>
                  <a:lnTo>
                    <a:pt x="479054" y="91318"/>
                  </a:lnTo>
                  <a:lnTo>
                    <a:pt x="491383" y="134081"/>
                  </a:lnTo>
                  <a:lnTo>
                    <a:pt x="489935" y="148574"/>
                  </a:lnTo>
                  <a:lnTo>
                    <a:pt x="468904" y="189158"/>
                  </a:lnTo>
                  <a:lnTo>
                    <a:pt x="423976" y="225399"/>
                  </a:lnTo>
                  <a:lnTo>
                    <a:pt x="383392" y="244236"/>
                  </a:lnTo>
                  <a:lnTo>
                    <a:pt x="336285" y="258013"/>
                  </a:lnTo>
                  <a:lnTo>
                    <a:pt x="285551" y="265252"/>
                  </a:lnTo>
                  <a:lnTo>
                    <a:pt x="258729" y="267431"/>
                  </a:lnTo>
                  <a:lnTo>
                    <a:pt x="232638" y="267431"/>
                  </a:lnTo>
                  <a:lnTo>
                    <a:pt x="179740" y="262356"/>
                  </a:lnTo>
                  <a:lnTo>
                    <a:pt x="130454" y="251490"/>
                  </a:lnTo>
                  <a:lnTo>
                    <a:pt x="86243" y="235534"/>
                  </a:lnTo>
                  <a:lnTo>
                    <a:pt x="50002" y="214518"/>
                  </a:lnTo>
                  <a:lnTo>
                    <a:pt x="12313" y="176113"/>
                  </a:lnTo>
                  <a:lnTo>
                    <a:pt x="0" y="134081"/>
                  </a:lnTo>
                </a:path>
              </a:pathLst>
            </a:custGeom>
            <a:ln w="603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" name="object 59"/>
          <p:cNvSpPr txBox="1"/>
          <p:nvPr/>
        </p:nvSpPr>
        <p:spPr>
          <a:xfrm>
            <a:off x="5430708" y="8185157"/>
            <a:ext cx="85725" cy="1993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150" spc="-5" i="1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5269077" y="7577475"/>
            <a:ext cx="603885" cy="797560"/>
            <a:chOff x="5269077" y="7577475"/>
            <a:chExt cx="603885" cy="797560"/>
          </a:xfrm>
        </p:grpSpPr>
        <p:sp>
          <p:nvSpPr>
            <p:cNvPr id="61" name="object 61"/>
            <p:cNvSpPr/>
            <p:nvPr/>
          </p:nvSpPr>
          <p:spPr>
            <a:xfrm>
              <a:off x="5590153" y="7605730"/>
              <a:ext cx="276225" cy="0"/>
            </a:xfrm>
            <a:custGeom>
              <a:avLst/>
              <a:gdLst/>
              <a:ahLst/>
              <a:cxnLst/>
              <a:rect l="l" t="t" r="r" b="b"/>
              <a:pathLst>
                <a:path w="276225" h="0">
                  <a:moveTo>
                    <a:pt x="0" y="0"/>
                  </a:moveTo>
                  <a:lnTo>
                    <a:pt x="276133" y="0"/>
                  </a:lnTo>
                </a:path>
              </a:pathLst>
            </a:custGeom>
            <a:ln w="1207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547390" y="7577475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56525" y="0"/>
                  </a:moveTo>
                  <a:lnTo>
                    <a:pt x="0" y="28254"/>
                  </a:lnTo>
                  <a:lnTo>
                    <a:pt x="56525" y="56525"/>
                  </a:lnTo>
                  <a:lnTo>
                    <a:pt x="55077" y="53629"/>
                  </a:lnTo>
                  <a:lnTo>
                    <a:pt x="53629" y="50002"/>
                  </a:lnTo>
                  <a:lnTo>
                    <a:pt x="52913" y="47106"/>
                  </a:lnTo>
                  <a:lnTo>
                    <a:pt x="52181" y="43479"/>
                  </a:lnTo>
                  <a:lnTo>
                    <a:pt x="50733" y="40584"/>
                  </a:lnTo>
                  <a:lnTo>
                    <a:pt x="50733" y="36956"/>
                  </a:lnTo>
                  <a:lnTo>
                    <a:pt x="50002" y="33329"/>
                  </a:lnTo>
                  <a:lnTo>
                    <a:pt x="50002" y="23195"/>
                  </a:lnTo>
                  <a:lnTo>
                    <a:pt x="50733" y="19568"/>
                  </a:lnTo>
                  <a:lnTo>
                    <a:pt x="50733" y="16672"/>
                  </a:lnTo>
                  <a:lnTo>
                    <a:pt x="52181" y="13045"/>
                  </a:lnTo>
                  <a:lnTo>
                    <a:pt x="52913" y="9418"/>
                  </a:lnTo>
                  <a:lnTo>
                    <a:pt x="53629" y="6522"/>
                  </a:lnTo>
                  <a:lnTo>
                    <a:pt x="55077" y="2895"/>
                  </a:lnTo>
                  <a:lnTo>
                    <a:pt x="5652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5297347" y="7757932"/>
              <a:ext cx="6985" cy="574040"/>
            </a:xfrm>
            <a:custGeom>
              <a:avLst/>
              <a:gdLst/>
              <a:ahLst/>
              <a:cxnLst/>
              <a:rect l="l" t="t" r="r" b="b"/>
              <a:pathLst>
                <a:path w="6985" h="574040">
                  <a:moveTo>
                    <a:pt x="0" y="574014"/>
                  </a:moveTo>
                  <a:lnTo>
                    <a:pt x="6522" y="0"/>
                  </a:lnTo>
                </a:path>
              </a:pathLst>
            </a:custGeom>
            <a:ln w="1207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5269077" y="8318169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0" y="0"/>
                  </a:moveTo>
                  <a:lnTo>
                    <a:pt x="27553" y="56525"/>
                  </a:lnTo>
                  <a:lnTo>
                    <a:pt x="56540" y="731"/>
                  </a:lnTo>
                  <a:lnTo>
                    <a:pt x="53644" y="2179"/>
                  </a:lnTo>
                  <a:lnTo>
                    <a:pt x="50017" y="2895"/>
                  </a:lnTo>
                  <a:lnTo>
                    <a:pt x="47122" y="4343"/>
                  </a:lnTo>
                  <a:lnTo>
                    <a:pt x="43494" y="5074"/>
                  </a:lnTo>
                  <a:lnTo>
                    <a:pt x="40599" y="5806"/>
                  </a:lnTo>
                  <a:lnTo>
                    <a:pt x="36972" y="6522"/>
                  </a:lnTo>
                  <a:lnTo>
                    <a:pt x="33345" y="6522"/>
                  </a:lnTo>
                  <a:lnTo>
                    <a:pt x="29717" y="7254"/>
                  </a:lnTo>
                  <a:lnTo>
                    <a:pt x="26822" y="6522"/>
                  </a:lnTo>
                  <a:lnTo>
                    <a:pt x="19568" y="6522"/>
                  </a:lnTo>
                  <a:lnTo>
                    <a:pt x="15956" y="5806"/>
                  </a:lnTo>
                  <a:lnTo>
                    <a:pt x="13045" y="5074"/>
                  </a:lnTo>
                  <a:lnTo>
                    <a:pt x="9433" y="3627"/>
                  </a:lnTo>
                  <a:lnTo>
                    <a:pt x="6522" y="2895"/>
                  </a:lnTo>
                  <a:lnTo>
                    <a:pt x="2910" y="14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5" name="object 65"/>
          <p:cNvSpPr txBox="1"/>
          <p:nvPr/>
        </p:nvSpPr>
        <p:spPr>
          <a:xfrm>
            <a:off x="5174863" y="7495916"/>
            <a:ext cx="1014094" cy="1993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  <a:tabLst>
                <a:tab pos="798830" algn="l"/>
              </a:tabLst>
            </a:pPr>
            <a:r>
              <a:rPr dirty="0" sz="1150" spc="-5">
                <a:solidFill>
                  <a:srgbClr val="FFFF00"/>
                </a:solidFill>
                <a:latin typeface="Arial"/>
                <a:cs typeface="Arial"/>
              </a:rPr>
              <a:t>2/..</a:t>
            </a:r>
            <a:r>
              <a:rPr dirty="0" sz="115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150" spc="-5">
                <a:solidFill>
                  <a:srgbClr val="FFFF00"/>
                </a:solidFill>
                <a:latin typeface="Arial"/>
                <a:cs typeface="Arial"/>
              </a:rPr>
              <a:t>1/..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4258055" y="7576743"/>
            <a:ext cx="603250" cy="81280"/>
            <a:chOff x="4258055" y="7576743"/>
            <a:chExt cx="603250" cy="81280"/>
          </a:xfrm>
        </p:grpSpPr>
        <p:sp>
          <p:nvSpPr>
            <p:cNvPr id="67" name="object 67"/>
            <p:cNvSpPr/>
            <p:nvPr/>
          </p:nvSpPr>
          <p:spPr>
            <a:xfrm>
              <a:off x="4258055" y="7576743"/>
              <a:ext cx="603250" cy="81280"/>
            </a:xfrm>
            <a:custGeom>
              <a:avLst/>
              <a:gdLst/>
              <a:ahLst/>
              <a:cxnLst/>
              <a:rect l="l" t="t" r="r" b="b"/>
              <a:pathLst>
                <a:path w="603250" h="81279">
                  <a:moveTo>
                    <a:pt x="562401" y="0"/>
                  </a:moveTo>
                  <a:lnTo>
                    <a:pt x="562401" y="26822"/>
                  </a:lnTo>
                  <a:lnTo>
                    <a:pt x="0" y="26822"/>
                  </a:lnTo>
                  <a:lnTo>
                    <a:pt x="0" y="54361"/>
                  </a:lnTo>
                  <a:lnTo>
                    <a:pt x="562401" y="54361"/>
                  </a:lnTo>
                  <a:lnTo>
                    <a:pt x="562401" y="81168"/>
                  </a:lnTo>
                  <a:lnTo>
                    <a:pt x="602985" y="40584"/>
                  </a:lnTo>
                  <a:lnTo>
                    <a:pt x="5624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258055" y="7576743"/>
              <a:ext cx="603250" cy="81280"/>
            </a:xfrm>
            <a:custGeom>
              <a:avLst/>
              <a:gdLst/>
              <a:ahLst/>
              <a:cxnLst/>
              <a:rect l="l" t="t" r="r" b="b"/>
              <a:pathLst>
                <a:path w="603250" h="81279">
                  <a:moveTo>
                    <a:pt x="602985" y="40584"/>
                  </a:moveTo>
                  <a:lnTo>
                    <a:pt x="562401" y="81168"/>
                  </a:lnTo>
                  <a:lnTo>
                    <a:pt x="562401" y="54361"/>
                  </a:lnTo>
                  <a:lnTo>
                    <a:pt x="0" y="54361"/>
                  </a:lnTo>
                  <a:lnTo>
                    <a:pt x="0" y="26822"/>
                  </a:lnTo>
                  <a:lnTo>
                    <a:pt x="562401" y="26822"/>
                  </a:lnTo>
                  <a:lnTo>
                    <a:pt x="562401" y="0"/>
                  </a:lnTo>
                  <a:lnTo>
                    <a:pt x="602985" y="40584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" name="object 69"/>
          <p:cNvSpPr txBox="1"/>
          <p:nvPr/>
        </p:nvSpPr>
        <p:spPr>
          <a:xfrm>
            <a:off x="4316753" y="7002356"/>
            <a:ext cx="480059" cy="54673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ts val="1370"/>
              </a:lnSpc>
              <a:spcBef>
                <a:spcPts val="90"/>
              </a:spcBef>
            </a:pPr>
            <a:r>
              <a:rPr dirty="0" sz="1150" spc="-5" i="1">
                <a:solidFill>
                  <a:srgbClr val="FFFF00"/>
                </a:solidFill>
                <a:latin typeface="Arial"/>
                <a:cs typeface="Arial"/>
              </a:rPr>
              <a:t>DFS(a)</a:t>
            </a:r>
            <a:endParaRPr sz="1150">
              <a:latin typeface="Arial"/>
              <a:cs typeface="Arial"/>
            </a:endParaRPr>
          </a:p>
          <a:p>
            <a:pPr>
              <a:lnSpc>
                <a:spcPts val="1365"/>
              </a:lnSpc>
            </a:pPr>
            <a:r>
              <a:rPr dirty="0" sz="1150" spc="-5" i="1">
                <a:solidFill>
                  <a:srgbClr val="FFFF00"/>
                </a:solidFill>
                <a:latin typeface="Arial"/>
                <a:cs typeface="Arial"/>
              </a:rPr>
              <a:t>DFS(b)</a:t>
            </a:r>
            <a:endParaRPr sz="1150">
              <a:latin typeface="Arial"/>
              <a:cs typeface="Arial"/>
            </a:endParaRPr>
          </a:p>
          <a:p>
            <a:pPr>
              <a:lnSpc>
                <a:spcPts val="1375"/>
              </a:lnSpc>
            </a:pPr>
            <a:r>
              <a:rPr dirty="0" sz="1150" spc="-5" i="1">
                <a:solidFill>
                  <a:srgbClr val="FFFF00"/>
                </a:solidFill>
                <a:latin typeface="Arial"/>
                <a:cs typeface="Arial"/>
              </a:rPr>
              <a:t>DFS(c)</a:t>
            </a:r>
            <a:endParaRPr sz="115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901138" y="8369246"/>
            <a:ext cx="4427220" cy="58166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r" marR="937260">
              <a:lnSpc>
                <a:spcPct val="100000"/>
              </a:lnSpc>
              <a:spcBef>
                <a:spcPts val="90"/>
              </a:spcBef>
            </a:pPr>
            <a:r>
              <a:rPr dirty="0" sz="1150" spc="-5">
                <a:solidFill>
                  <a:srgbClr val="FFFF00"/>
                </a:solidFill>
                <a:latin typeface="Arial"/>
                <a:cs typeface="Arial"/>
              </a:rPr>
              <a:t>3/..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8.21: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stamps: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initiated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‘a’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12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790700" y="938550"/>
            <a:ext cx="4648200" cy="1793875"/>
            <a:chOff x="1790700" y="938550"/>
            <a:chExt cx="4648200" cy="1793875"/>
          </a:xfrm>
        </p:grpSpPr>
        <p:sp>
          <p:nvSpPr>
            <p:cNvPr id="4" name="object 4"/>
            <p:cNvSpPr/>
            <p:nvPr/>
          </p:nvSpPr>
          <p:spPr>
            <a:xfrm>
              <a:off x="1790700" y="938550"/>
              <a:ext cx="4648200" cy="1793875"/>
            </a:xfrm>
            <a:custGeom>
              <a:avLst/>
              <a:gdLst/>
              <a:ahLst/>
              <a:cxnLst/>
              <a:rect l="l" t="t" r="r" b="b"/>
              <a:pathLst>
                <a:path w="4648200" h="1793875">
                  <a:moveTo>
                    <a:pt x="4648001" y="0"/>
                  </a:moveTo>
                  <a:lnTo>
                    <a:pt x="0" y="0"/>
                  </a:lnTo>
                  <a:lnTo>
                    <a:pt x="0" y="1793473"/>
                  </a:lnTo>
                  <a:lnTo>
                    <a:pt x="4648001" y="1793473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426058" y="2393101"/>
              <a:ext cx="794385" cy="107314"/>
            </a:xfrm>
            <a:custGeom>
              <a:avLst/>
              <a:gdLst/>
              <a:ahLst/>
              <a:cxnLst/>
              <a:rect l="l" t="t" r="r" b="b"/>
              <a:pathLst>
                <a:path w="794385" h="107314">
                  <a:moveTo>
                    <a:pt x="740420" y="0"/>
                  </a:moveTo>
                  <a:lnTo>
                    <a:pt x="740420" y="35295"/>
                  </a:lnTo>
                  <a:lnTo>
                    <a:pt x="0" y="35295"/>
                  </a:lnTo>
                  <a:lnTo>
                    <a:pt x="0" y="71551"/>
                  </a:lnTo>
                  <a:lnTo>
                    <a:pt x="740420" y="71551"/>
                  </a:lnTo>
                  <a:lnTo>
                    <a:pt x="740420" y="106862"/>
                  </a:lnTo>
                  <a:lnTo>
                    <a:pt x="793851" y="53431"/>
                  </a:lnTo>
                  <a:lnTo>
                    <a:pt x="7404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426058" y="2393101"/>
              <a:ext cx="794385" cy="107314"/>
            </a:xfrm>
            <a:custGeom>
              <a:avLst/>
              <a:gdLst/>
              <a:ahLst/>
              <a:cxnLst/>
              <a:rect l="l" t="t" r="r" b="b"/>
              <a:pathLst>
                <a:path w="794385" h="107314">
                  <a:moveTo>
                    <a:pt x="793851" y="53431"/>
                  </a:moveTo>
                  <a:lnTo>
                    <a:pt x="740420" y="106862"/>
                  </a:lnTo>
                  <a:lnTo>
                    <a:pt x="740420" y="71551"/>
                  </a:lnTo>
                  <a:lnTo>
                    <a:pt x="0" y="71551"/>
                  </a:lnTo>
                  <a:lnTo>
                    <a:pt x="0" y="35295"/>
                  </a:lnTo>
                  <a:lnTo>
                    <a:pt x="740420" y="35295"/>
                  </a:lnTo>
                  <a:lnTo>
                    <a:pt x="740420" y="0"/>
                  </a:lnTo>
                  <a:lnTo>
                    <a:pt x="793851" y="53431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3502392" y="1844238"/>
            <a:ext cx="663575" cy="480059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R="5080">
              <a:lnSpc>
                <a:spcPct val="103200"/>
              </a:lnSpc>
              <a:spcBef>
                <a:spcPts val="80"/>
              </a:spcBef>
            </a:pPr>
            <a:r>
              <a:rPr dirty="0" sz="1450" spc="15" i="1">
                <a:solidFill>
                  <a:srgbClr val="FFFF00"/>
                </a:solidFill>
                <a:latin typeface="Arial"/>
                <a:cs typeface="Arial"/>
              </a:rPr>
              <a:t>return</a:t>
            </a:r>
            <a:r>
              <a:rPr dirty="0" sz="1450" spc="-65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450" spc="15" i="1">
                <a:solidFill>
                  <a:srgbClr val="FFFF00"/>
                </a:solidFill>
                <a:latin typeface="Arial"/>
                <a:cs typeface="Arial"/>
              </a:rPr>
              <a:t>c </a:t>
            </a:r>
            <a:r>
              <a:rPr dirty="0" sz="1450" spc="-39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450" spc="15" i="1">
                <a:solidFill>
                  <a:srgbClr val="FFFF00"/>
                </a:solidFill>
                <a:latin typeface="Arial"/>
                <a:cs typeface="Arial"/>
              </a:rPr>
              <a:t>return</a:t>
            </a:r>
            <a:r>
              <a:rPr dirty="0" sz="1450" spc="-85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450" spc="20" i="1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450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1842808" y="1165735"/>
            <a:ext cx="1694814" cy="1514475"/>
            <a:chOff x="1842808" y="1165735"/>
            <a:chExt cx="1694814" cy="1514475"/>
          </a:xfrm>
        </p:grpSpPr>
        <p:sp>
          <p:nvSpPr>
            <p:cNvPr id="9" name="object 9"/>
            <p:cNvSpPr/>
            <p:nvPr/>
          </p:nvSpPr>
          <p:spPr>
            <a:xfrm>
              <a:off x="1846935" y="1169863"/>
              <a:ext cx="648335" cy="352425"/>
            </a:xfrm>
            <a:custGeom>
              <a:avLst/>
              <a:gdLst/>
              <a:ahLst/>
              <a:cxnLst/>
              <a:rect l="l" t="t" r="r" b="b"/>
              <a:pathLst>
                <a:path w="648335" h="352425">
                  <a:moveTo>
                    <a:pt x="341574" y="0"/>
                  </a:moveTo>
                  <a:lnTo>
                    <a:pt x="306278" y="0"/>
                  </a:lnTo>
                  <a:lnTo>
                    <a:pt x="271927" y="1920"/>
                  </a:lnTo>
                  <a:lnTo>
                    <a:pt x="204185" y="12405"/>
                  </a:lnTo>
                  <a:lnTo>
                    <a:pt x="143118" y="29580"/>
                  </a:lnTo>
                  <a:lnTo>
                    <a:pt x="89687" y="54391"/>
                  </a:lnTo>
                  <a:lnTo>
                    <a:pt x="46741" y="84917"/>
                  </a:lnTo>
                  <a:lnTo>
                    <a:pt x="17160" y="120228"/>
                  </a:lnTo>
                  <a:lnTo>
                    <a:pt x="1904" y="157444"/>
                  </a:lnTo>
                  <a:lnTo>
                    <a:pt x="0" y="176524"/>
                  </a:lnTo>
                  <a:lnTo>
                    <a:pt x="1904" y="195605"/>
                  </a:lnTo>
                  <a:lnTo>
                    <a:pt x="17160" y="232821"/>
                  </a:lnTo>
                  <a:lnTo>
                    <a:pt x="46741" y="267172"/>
                  </a:lnTo>
                  <a:lnTo>
                    <a:pt x="89687" y="297698"/>
                  </a:lnTo>
                  <a:lnTo>
                    <a:pt x="143118" y="322508"/>
                  </a:lnTo>
                  <a:lnTo>
                    <a:pt x="204185" y="339684"/>
                  </a:lnTo>
                  <a:lnTo>
                    <a:pt x="271927" y="349224"/>
                  </a:lnTo>
                  <a:lnTo>
                    <a:pt x="306278" y="352089"/>
                  </a:lnTo>
                  <a:lnTo>
                    <a:pt x="341574" y="352089"/>
                  </a:lnTo>
                  <a:lnTo>
                    <a:pt x="411236" y="345414"/>
                  </a:lnTo>
                  <a:lnTo>
                    <a:pt x="476112" y="331104"/>
                  </a:lnTo>
                  <a:lnTo>
                    <a:pt x="533369" y="311063"/>
                  </a:lnTo>
                  <a:lnTo>
                    <a:pt x="582030" y="283387"/>
                  </a:lnTo>
                  <a:lnTo>
                    <a:pt x="618286" y="249996"/>
                  </a:lnTo>
                  <a:lnTo>
                    <a:pt x="640232" y="214685"/>
                  </a:lnTo>
                  <a:lnTo>
                    <a:pt x="647867" y="176524"/>
                  </a:lnTo>
                  <a:lnTo>
                    <a:pt x="645962" y="157444"/>
                  </a:lnTo>
                  <a:lnTo>
                    <a:pt x="630692" y="120228"/>
                  </a:lnTo>
                  <a:lnTo>
                    <a:pt x="601111" y="84917"/>
                  </a:lnTo>
                  <a:lnTo>
                    <a:pt x="559125" y="54391"/>
                  </a:lnTo>
                  <a:lnTo>
                    <a:pt x="505693" y="29580"/>
                  </a:lnTo>
                  <a:lnTo>
                    <a:pt x="444626" y="12405"/>
                  </a:lnTo>
                  <a:lnTo>
                    <a:pt x="376885" y="1920"/>
                  </a:lnTo>
                  <a:lnTo>
                    <a:pt x="341574" y="0"/>
                  </a:lnTo>
                  <a:close/>
                </a:path>
              </a:pathLst>
            </a:custGeom>
            <a:solidFill>
              <a:srgbClr val="E352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846935" y="1169863"/>
              <a:ext cx="648335" cy="352425"/>
            </a:xfrm>
            <a:custGeom>
              <a:avLst/>
              <a:gdLst/>
              <a:ahLst/>
              <a:cxnLst/>
              <a:rect l="l" t="t" r="r" b="b"/>
              <a:pathLst>
                <a:path w="648335" h="352425">
                  <a:moveTo>
                    <a:pt x="0" y="176524"/>
                  </a:moveTo>
                  <a:lnTo>
                    <a:pt x="7619" y="138363"/>
                  </a:lnTo>
                  <a:lnTo>
                    <a:pt x="30525" y="102092"/>
                  </a:lnTo>
                  <a:lnTo>
                    <a:pt x="66781" y="69662"/>
                  </a:lnTo>
                  <a:lnTo>
                    <a:pt x="114498" y="41986"/>
                  </a:lnTo>
                  <a:lnTo>
                    <a:pt x="171739" y="20040"/>
                  </a:lnTo>
                  <a:lnTo>
                    <a:pt x="237576" y="5730"/>
                  </a:lnTo>
                  <a:lnTo>
                    <a:pt x="306278" y="0"/>
                  </a:lnTo>
                  <a:lnTo>
                    <a:pt x="341574" y="0"/>
                  </a:lnTo>
                  <a:lnTo>
                    <a:pt x="411236" y="5730"/>
                  </a:lnTo>
                  <a:lnTo>
                    <a:pt x="476112" y="20040"/>
                  </a:lnTo>
                  <a:lnTo>
                    <a:pt x="533369" y="41986"/>
                  </a:lnTo>
                  <a:lnTo>
                    <a:pt x="582030" y="69662"/>
                  </a:lnTo>
                  <a:lnTo>
                    <a:pt x="618286" y="102092"/>
                  </a:lnTo>
                  <a:lnTo>
                    <a:pt x="640232" y="138363"/>
                  </a:lnTo>
                  <a:lnTo>
                    <a:pt x="647867" y="176524"/>
                  </a:lnTo>
                  <a:lnTo>
                    <a:pt x="645962" y="195605"/>
                  </a:lnTo>
                  <a:lnTo>
                    <a:pt x="630692" y="232821"/>
                  </a:lnTo>
                  <a:lnTo>
                    <a:pt x="601111" y="267172"/>
                  </a:lnTo>
                  <a:lnTo>
                    <a:pt x="559125" y="297698"/>
                  </a:lnTo>
                  <a:lnTo>
                    <a:pt x="505693" y="322508"/>
                  </a:lnTo>
                  <a:lnTo>
                    <a:pt x="444626" y="339684"/>
                  </a:lnTo>
                  <a:lnTo>
                    <a:pt x="376885" y="349224"/>
                  </a:lnTo>
                  <a:lnTo>
                    <a:pt x="341574" y="352089"/>
                  </a:lnTo>
                  <a:lnTo>
                    <a:pt x="306278" y="352089"/>
                  </a:lnTo>
                  <a:lnTo>
                    <a:pt x="237576" y="345414"/>
                  </a:lnTo>
                  <a:lnTo>
                    <a:pt x="171739" y="331104"/>
                  </a:lnTo>
                  <a:lnTo>
                    <a:pt x="114498" y="311063"/>
                  </a:lnTo>
                  <a:lnTo>
                    <a:pt x="66781" y="283387"/>
                  </a:lnTo>
                  <a:lnTo>
                    <a:pt x="30525" y="249996"/>
                  </a:lnTo>
                  <a:lnTo>
                    <a:pt x="7619" y="214685"/>
                  </a:lnTo>
                  <a:lnTo>
                    <a:pt x="0" y="176524"/>
                  </a:lnTo>
                </a:path>
              </a:pathLst>
            </a:custGeom>
            <a:ln w="795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885053" y="1169863"/>
              <a:ext cx="648335" cy="352425"/>
            </a:xfrm>
            <a:custGeom>
              <a:avLst/>
              <a:gdLst/>
              <a:ahLst/>
              <a:cxnLst/>
              <a:rect l="l" t="t" r="r" b="b"/>
              <a:pathLst>
                <a:path w="648335" h="352425">
                  <a:moveTo>
                    <a:pt x="341589" y="0"/>
                  </a:moveTo>
                  <a:lnTo>
                    <a:pt x="306278" y="0"/>
                  </a:lnTo>
                  <a:lnTo>
                    <a:pt x="270982" y="1920"/>
                  </a:lnTo>
                  <a:lnTo>
                    <a:pt x="203225" y="12405"/>
                  </a:lnTo>
                  <a:lnTo>
                    <a:pt x="142158" y="29580"/>
                  </a:lnTo>
                  <a:lnTo>
                    <a:pt x="88727" y="54391"/>
                  </a:lnTo>
                  <a:lnTo>
                    <a:pt x="46756" y="84917"/>
                  </a:lnTo>
                  <a:lnTo>
                    <a:pt x="17175" y="120228"/>
                  </a:lnTo>
                  <a:lnTo>
                    <a:pt x="1904" y="157444"/>
                  </a:lnTo>
                  <a:lnTo>
                    <a:pt x="0" y="176524"/>
                  </a:lnTo>
                  <a:lnTo>
                    <a:pt x="1904" y="195605"/>
                  </a:lnTo>
                  <a:lnTo>
                    <a:pt x="17175" y="232821"/>
                  </a:lnTo>
                  <a:lnTo>
                    <a:pt x="46756" y="267172"/>
                  </a:lnTo>
                  <a:lnTo>
                    <a:pt x="88727" y="297698"/>
                  </a:lnTo>
                  <a:lnTo>
                    <a:pt x="142158" y="322508"/>
                  </a:lnTo>
                  <a:lnTo>
                    <a:pt x="203225" y="339684"/>
                  </a:lnTo>
                  <a:lnTo>
                    <a:pt x="270982" y="349224"/>
                  </a:lnTo>
                  <a:lnTo>
                    <a:pt x="306278" y="352089"/>
                  </a:lnTo>
                  <a:lnTo>
                    <a:pt x="341589" y="352089"/>
                  </a:lnTo>
                  <a:lnTo>
                    <a:pt x="411236" y="345414"/>
                  </a:lnTo>
                  <a:lnTo>
                    <a:pt x="476128" y="331104"/>
                  </a:lnTo>
                  <a:lnTo>
                    <a:pt x="533369" y="311063"/>
                  </a:lnTo>
                  <a:lnTo>
                    <a:pt x="581070" y="283387"/>
                  </a:lnTo>
                  <a:lnTo>
                    <a:pt x="617341" y="249996"/>
                  </a:lnTo>
                  <a:lnTo>
                    <a:pt x="640232" y="214685"/>
                  </a:lnTo>
                  <a:lnTo>
                    <a:pt x="647867" y="176524"/>
                  </a:lnTo>
                  <a:lnTo>
                    <a:pt x="645962" y="157444"/>
                  </a:lnTo>
                  <a:lnTo>
                    <a:pt x="630692" y="120228"/>
                  </a:lnTo>
                  <a:lnTo>
                    <a:pt x="601111" y="84917"/>
                  </a:lnTo>
                  <a:lnTo>
                    <a:pt x="559125" y="54391"/>
                  </a:lnTo>
                  <a:lnTo>
                    <a:pt x="504748" y="29580"/>
                  </a:lnTo>
                  <a:lnTo>
                    <a:pt x="443682" y="12405"/>
                  </a:lnTo>
                  <a:lnTo>
                    <a:pt x="376885" y="1920"/>
                  </a:lnTo>
                  <a:lnTo>
                    <a:pt x="341589" y="0"/>
                  </a:lnTo>
                  <a:close/>
                </a:path>
              </a:pathLst>
            </a:custGeom>
            <a:solidFill>
              <a:srgbClr val="E352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885053" y="1169863"/>
              <a:ext cx="648335" cy="352425"/>
            </a:xfrm>
            <a:custGeom>
              <a:avLst/>
              <a:gdLst/>
              <a:ahLst/>
              <a:cxnLst/>
              <a:rect l="l" t="t" r="r" b="b"/>
              <a:pathLst>
                <a:path w="648335" h="352425">
                  <a:moveTo>
                    <a:pt x="0" y="176524"/>
                  </a:moveTo>
                  <a:lnTo>
                    <a:pt x="7635" y="138363"/>
                  </a:lnTo>
                  <a:lnTo>
                    <a:pt x="30525" y="102092"/>
                  </a:lnTo>
                  <a:lnTo>
                    <a:pt x="66781" y="69662"/>
                  </a:lnTo>
                  <a:lnTo>
                    <a:pt x="114498" y="41986"/>
                  </a:lnTo>
                  <a:lnTo>
                    <a:pt x="171739" y="20040"/>
                  </a:lnTo>
                  <a:lnTo>
                    <a:pt x="236631" y="5730"/>
                  </a:lnTo>
                  <a:lnTo>
                    <a:pt x="306278" y="0"/>
                  </a:lnTo>
                  <a:lnTo>
                    <a:pt x="341589" y="0"/>
                  </a:lnTo>
                  <a:lnTo>
                    <a:pt x="411236" y="5730"/>
                  </a:lnTo>
                  <a:lnTo>
                    <a:pt x="476128" y="20040"/>
                  </a:lnTo>
                  <a:lnTo>
                    <a:pt x="533369" y="41986"/>
                  </a:lnTo>
                  <a:lnTo>
                    <a:pt x="581070" y="69662"/>
                  </a:lnTo>
                  <a:lnTo>
                    <a:pt x="617341" y="102092"/>
                  </a:lnTo>
                  <a:lnTo>
                    <a:pt x="640232" y="138363"/>
                  </a:lnTo>
                  <a:lnTo>
                    <a:pt x="647867" y="176524"/>
                  </a:lnTo>
                  <a:lnTo>
                    <a:pt x="645962" y="195605"/>
                  </a:lnTo>
                  <a:lnTo>
                    <a:pt x="630692" y="232821"/>
                  </a:lnTo>
                  <a:lnTo>
                    <a:pt x="601111" y="267172"/>
                  </a:lnTo>
                  <a:lnTo>
                    <a:pt x="559125" y="297698"/>
                  </a:lnTo>
                  <a:lnTo>
                    <a:pt x="504748" y="322508"/>
                  </a:lnTo>
                  <a:lnTo>
                    <a:pt x="443682" y="339684"/>
                  </a:lnTo>
                  <a:lnTo>
                    <a:pt x="376885" y="349224"/>
                  </a:lnTo>
                  <a:lnTo>
                    <a:pt x="341589" y="352089"/>
                  </a:lnTo>
                  <a:lnTo>
                    <a:pt x="306278" y="352089"/>
                  </a:lnTo>
                  <a:lnTo>
                    <a:pt x="236631" y="345414"/>
                  </a:lnTo>
                  <a:lnTo>
                    <a:pt x="171739" y="331104"/>
                  </a:lnTo>
                  <a:lnTo>
                    <a:pt x="114498" y="311063"/>
                  </a:lnTo>
                  <a:lnTo>
                    <a:pt x="66781" y="283387"/>
                  </a:lnTo>
                  <a:lnTo>
                    <a:pt x="30525" y="249996"/>
                  </a:lnTo>
                  <a:lnTo>
                    <a:pt x="7635" y="214685"/>
                  </a:lnTo>
                  <a:lnTo>
                    <a:pt x="0" y="176524"/>
                  </a:lnTo>
                </a:path>
              </a:pathLst>
            </a:custGeom>
            <a:ln w="795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846935" y="2323439"/>
              <a:ext cx="648335" cy="352425"/>
            </a:xfrm>
            <a:custGeom>
              <a:avLst/>
              <a:gdLst/>
              <a:ahLst/>
              <a:cxnLst/>
              <a:rect l="l" t="t" r="r" b="b"/>
              <a:pathLst>
                <a:path w="648335" h="352425">
                  <a:moveTo>
                    <a:pt x="341574" y="0"/>
                  </a:moveTo>
                  <a:lnTo>
                    <a:pt x="306278" y="0"/>
                  </a:lnTo>
                  <a:lnTo>
                    <a:pt x="271927" y="2865"/>
                  </a:lnTo>
                  <a:lnTo>
                    <a:pt x="204185" y="12405"/>
                  </a:lnTo>
                  <a:lnTo>
                    <a:pt x="143118" y="30540"/>
                  </a:lnTo>
                  <a:lnTo>
                    <a:pt x="89687" y="55351"/>
                  </a:lnTo>
                  <a:lnTo>
                    <a:pt x="46741" y="85877"/>
                  </a:lnTo>
                  <a:lnTo>
                    <a:pt x="17160" y="120228"/>
                  </a:lnTo>
                  <a:lnTo>
                    <a:pt x="1904" y="157444"/>
                  </a:lnTo>
                  <a:lnTo>
                    <a:pt x="0" y="176524"/>
                  </a:lnTo>
                  <a:lnTo>
                    <a:pt x="1904" y="195605"/>
                  </a:lnTo>
                  <a:lnTo>
                    <a:pt x="17160" y="231861"/>
                  </a:lnTo>
                  <a:lnTo>
                    <a:pt x="46741" y="267172"/>
                  </a:lnTo>
                  <a:lnTo>
                    <a:pt x="89687" y="297698"/>
                  </a:lnTo>
                  <a:lnTo>
                    <a:pt x="143118" y="322508"/>
                  </a:lnTo>
                  <a:lnTo>
                    <a:pt x="204185" y="339684"/>
                  </a:lnTo>
                  <a:lnTo>
                    <a:pt x="271927" y="350184"/>
                  </a:lnTo>
                  <a:lnTo>
                    <a:pt x="306278" y="352089"/>
                  </a:lnTo>
                  <a:lnTo>
                    <a:pt x="341574" y="352089"/>
                  </a:lnTo>
                  <a:lnTo>
                    <a:pt x="411236" y="346359"/>
                  </a:lnTo>
                  <a:lnTo>
                    <a:pt x="476112" y="332049"/>
                  </a:lnTo>
                  <a:lnTo>
                    <a:pt x="533369" y="310103"/>
                  </a:lnTo>
                  <a:lnTo>
                    <a:pt x="582030" y="282427"/>
                  </a:lnTo>
                  <a:lnTo>
                    <a:pt x="618286" y="249996"/>
                  </a:lnTo>
                  <a:lnTo>
                    <a:pt x="640232" y="213740"/>
                  </a:lnTo>
                  <a:lnTo>
                    <a:pt x="647867" y="176524"/>
                  </a:lnTo>
                  <a:lnTo>
                    <a:pt x="645962" y="157444"/>
                  </a:lnTo>
                  <a:lnTo>
                    <a:pt x="630692" y="120228"/>
                  </a:lnTo>
                  <a:lnTo>
                    <a:pt x="601111" y="85877"/>
                  </a:lnTo>
                  <a:lnTo>
                    <a:pt x="559125" y="55351"/>
                  </a:lnTo>
                  <a:lnTo>
                    <a:pt x="505693" y="30540"/>
                  </a:lnTo>
                  <a:lnTo>
                    <a:pt x="444626" y="12405"/>
                  </a:lnTo>
                  <a:lnTo>
                    <a:pt x="376885" y="2865"/>
                  </a:lnTo>
                  <a:lnTo>
                    <a:pt x="341574" y="0"/>
                  </a:lnTo>
                  <a:close/>
                </a:path>
              </a:pathLst>
            </a:custGeom>
            <a:solidFill>
              <a:srgbClr val="E352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846935" y="2323439"/>
              <a:ext cx="648335" cy="352425"/>
            </a:xfrm>
            <a:custGeom>
              <a:avLst/>
              <a:gdLst/>
              <a:ahLst/>
              <a:cxnLst/>
              <a:rect l="l" t="t" r="r" b="b"/>
              <a:pathLst>
                <a:path w="648335" h="352425">
                  <a:moveTo>
                    <a:pt x="0" y="176524"/>
                  </a:moveTo>
                  <a:lnTo>
                    <a:pt x="17160" y="120228"/>
                  </a:lnTo>
                  <a:lnTo>
                    <a:pt x="46741" y="85877"/>
                  </a:lnTo>
                  <a:lnTo>
                    <a:pt x="89687" y="55351"/>
                  </a:lnTo>
                  <a:lnTo>
                    <a:pt x="143118" y="30540"/>
                  </a:lnTo>
                  <a:lnTo>
                    <a:pt x="204185" y="12405"/>
                  </a:lnTo>
                  <a:lnTo>
                    <a:pt x="271927" y="2865"/>
                  </a:lnTo>
                  <a:lnTo>
                    <a:pt x="306278" y="0"/>
                  </a:lnTo>
                  <a:lnTo>
                    <a:pt x="341574" y="0"/>
                  </a:lnTo>
                  <a:lnTo>
                    <a:pt x="411236" y="6675"/>
                  </a:lnTo>
                  <a:lnTo>
                    <a:pt x="476112" y="21000"/>
                  </a:lnTo>
                  <a:lnTo>
                    <a:pt x="533369" y="41986"/>
                  </a:lnTo>
                  <a:lnTo>
                    <a:pt x="582030" y="69662"/>
                  </a:lnTo>
                  <a:lnTo>
                    <a:pt x="618286" y="103052"/>
                  </a:lnTo>
                  <a:lnTo>
                    <a:pt x="640232" y="139308"/>
                  </a:lnTo>
                  <a:lnTo>
                    <a:pt x="647867" y="176524"/>
                  </a:lnTo>
                  <a:lnTo>
                    <a:pt x="645962" y="195605"/>
                  </a:lnTo>
                  <a:lnTo>
                    <a:pt x="630692" y="231861"/>
                  </a:lnTo>
                  <a:lnTo>
                    <a:pt x="601111" y="267172"/>
                  </a:lnTo>
                  <a:lnTo>
                    <a:pt x="559125" y="297698"/>
                  </a:lnTo>
                  <a:lnTo>
                    <a:pt x="505693" y="322508"/>
                  </a:lnTo>
                  <a:lnTo>
                    <a:pt x="444626" y="339684"/>
                  </a:lnTo>
                  <a:lnTo>
                    <a:pt x="376885" y="350184"/>
                  </a:lnTo>
                  <a:lnTo>
                    <a:pt x="341574" y="352089"/>
                  </a:lnTo>
                  <a:lnTo>
                    <a:pt x="306278" y="352089"/>
                  </a:lnTo>
                  <a:lnTo>
                    <a:pt x="237576" y="346359"/>
                  </a:lnTo>
                  <a:lnTo>
                    <a:pt x="171739" y="332049"/>
                  </a:lnTo>
                  <a:lnTo>
                    <a:pt x="114498" y="310103"/>
                  </a:lnTo>
                  <a:lnTo>
                    <a:pt x="66781" y="282427"/>
                  </a:lnTo>
                  <a:lnTo>
                    <a:pt x="30525" y="249996"/>
                  </a:lnTo>
                  <a:lnTo>
                    <a:pt x="7619" y="213740"/>
                  </a:lnTo>
                  <a:lnTo>
                    <a:pt x="0" y="176524"/>
                  </a:lnTo>
                </a:path>
              </a:pathLst>
            </a:custGeom>
            <a:ln w="795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2322092" y="2111408"/>
            <a:ext cx="107314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450" spc="15" i="1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450">
              <a:latin typeface="Arial"/>
              <a:cs typeface="Arial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2108362" y="1165735"/>
            <a:ext cx="4266565" cy="1189355"/>
            <a:chOff x="2108362" y="1165735"/>
            <a:chExt cx="4266565" cy="1189355"/>
          </a:xfrm>
        </p:grpSpPr>
        <p:sp>
          <p:nvSpPr>
            <p:cNvPr id="17" name="object 17"/>
            <p:cNvSpPr/>
            <p:nvPr/>
          </p:nvSpPr>
          <p:spPr>
            <a:xfrm>
              <a:off x="2531059" y="1342562"/>
              <a:ext cx="362585" cy="0"/>
            </a:xfrm>
            <a:custGeom>
              <a:avLst/>
              <a:gdLst/>
              <a:ahLst/>
              <a:cxnLst/>
              <a:rect l="l" t="t" r="r" b="b"/>
              <a:pathLst>
                <a:path w="362585" h="0">
                  <a:moveTo>
                    <a:pt x="0" y="0"/>
                  </a:moveTo>
                  <a:lnTo>
                    <a:pt x="362574" y="0"/>
                  </a:lnTo>
                </a:path>
              </a:pathLst>
            </a:custGeom>
            <a:ln w="1590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74762" y="1305362"/>
              <a:ext cx="74432" cy="74416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145578" y="1542938"/>
              <a:ext cx="8255" cy="756285"/>
            </a:xfrm>
            <a:custGeom>
              <a:avLst/>
              <a:gdLst/>
              <a:ahLst/>
              <a:cxnLst/>
              <a:rect l="l" t="t" r="r" b="b"/>
              <a:pathLst>
                <a:path w="8255" h="756285">
                  <a:moveTo>
                    <a:pt x="0" y="755690"/>
                  </a:moveTo>
                  <a:lnTo>
                    <a:pt x="7635" y="0"/>
                  </a:lnTo>
                </a:path>
              </a:pathLst>
            </a:custGeom>
            <a:ln w="1590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08362" y="2280508"/>
              <a:ext cx="74432" cy="74416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4684593" y="1169863"/>
              <a:ext cx="648335" cy="352425"/>
            </a:xfrm>
            <a:custGeom>
              <a:avLst/>
              <a:gdLst/>
              <a:ahLst/>
              <a:cxnLst/>
              <a:rect l="l" t="t" r="r" b="b"/>
              <a:pathLst>
                <a:path w="648335" h="352425">
                  <a:moveTo>
                    <a:pt x="341589" y="0"/>
                  </a:moveTo>
                  <a:lnTo>
                    <a:pt x="306278" y="0"/>
                  </a:lnTo>
                  <a:lnTo>
                    <a:pt x="270982" y="1920"/>
                  </a:lnTo>
                  <a:lnTo>
                    <a:pt x="204185" y="12405"/>
                  </a:lnTo>
                  <a:lnTo>
                    <a:pt x="142158" y="29580"/>
                  </a:lnTo>
                  <a:lnTo>
                    <a:pt x="87782" y="54391"/>
                  </a:lnTo>
                  <a:lnTo>
                    <a:pt x="46756" y="84917"/>
                  </a:lnTo>
                  <a:lnTo>
                    <a:pt x="17175" y="120228"/>
                  </a:lnTo>
                  <a:lnTo>
                    <a:pt x="1904" y="157444"/>
                  </a:lnTo>
                  <a:lnTo>
                    <a:pt x="0" y="176524"/>
                  </a:lnTo>
                  <a:lnTo>
                    <a:pt x="1904" y="195605"/>
                  </a:lnTo>
                  <a:lnTo>
                    <a:pt x="17175" y="232821"/>
                  </a:lnTo>
                  <a:lnTo>
                    <a:pt x="46756" y="267172"/>
                  </a:lnTo>
                  <a:lnTo>
                    <a:pt x="87782" y="297698"/>
                  </a:lnTo>
                  <a:lnTo>
                    <a:pt x="142158" y="322508"/>
                  </a:lnTo>
                  <a:lnTo>
                    <a:pt x="204185" y="339684"/>
                  </a:lnTo>
                  <a:lnTo>
                    <a:pt x="270982" y="349224"/>
                  </a:lnTo>
                  <a:lnTo>
                    <a:pt x="306278" y="352089"/>
                  </a:lnTo>
                  <a:lnTo>
                    <a:pt x="341589" y="352089"/>
                  </a:lnTo>
                  <a:lnTo>
                    <a:pt x="410291" y="345414"/>
                  </a:lnTo>
                  <a:lnTo>
                    <a:pt x="475167" y="331104"/>
                  </a:lnTo>
                  <a:lnTo>
                    <a:pt x="533369" y="311063"/>
                  </a:lnTo>
                  <a:lnTo>
                    <a:pt x="581070" y="283387"/>
                  </a:lnTo>
                  <a:lnTo>
                    <a:pt x="617341" y="249996"/>
                  </a:lnTo>
                  <a:lnTo>
                    <a:pt x="640232" y="214685"/>
                  </a:lnTo>
                  <a:lnTo>
                    <a:pt x="647867" y="176524"/>
                  </a:lnTo>
                  <a:lnTo>
                    <a:pt x="645962" y="157444"/>
                  </a:lnTo>
                  <a:lnTo>
                    <a:pt x="630692" y="120228"/>
                  </a:lnTo>
                  <a:lnTo>
                    <a:pt x="601111" y="84917"/>
                  </a:lnTo>
                  <a:lnTo>
                    <a:pt x="559125" y="54391"/>
                  </a:lnTo>
                  <a:lnTo>
                    <a:pt x="505693" y="29580"/>
                  </a:lnTo>
                  <a:lnTo>
                    <a:pt x="443682" y="12405"/>
                  </a:lnTo>
                  <a:lnTo>
                    <a:pt x="376885" y="1920"/>
                  </a:lnTo>
                  <a:lnTo>
                    <a:pt x="341589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684593" y="1169863"/>
              <a:ext cx="648335" cy="352425"/>
            </a:xfrm>
            <a:custGeom>
              <a:avLst/>
              <a:gdLst/>
              <a:ahLst/>
              <a:cxnLst/>
              <a:rect l="l" t="t" r="r" b="b"/>
              <a:pathLst>
                <a:path w="648335" h="352425">
                  <a:moveTo>
                    <a:pt x="0" y="176524"/>
                  </a:moveTo>
                  <a:lnTo>
                    <a:pt x="7635" y="138363"/>
                  </a:lnTo>
                  <a:lnTo>
                    <a:pt x="30525" y="102092"/>
                  </a:lnTo>
                  <a:lnTo>
                    <a:pt x="65836" y="69662"/>
                  </a:lnTo>
                  <a:lnTo>
                    <a:pt x="113537" y="41986"/>
                  </a:lnTo>
                  <a:lnTo>
                    <a:pt x="171739" y="20040"/>
                  </a:lnTo>
                  <a:lnTo>
                    <a:pt x="236631" y="5730"/>
                  </a:lnTo>
                  <a:lnTo>
                    <a:pt x="306278" y="0"/>
                  </a:lnTo>
                  <a:lnTo>
                    <a:pt x="341589" y="0"/>
                  </a:lnTo>
                  <a:lnTo>
                    <a:pt x="410291" y="5730"/>
                  </a:lnTo>
                  <a:lnTo>
                    <a:pt x="475167" y="20040"/>
                  </a:lnTo>
                  <a:lnTo>
                    <a:pt x="533369" y="41986"/>
                  </a:lnTo>
                  <a:lnTo>
                    <a:pt x="581070" y="69662"/>
                  </a:lnTo>
                  <a:lnTo>
                    <a:pt x="617341" y="102092"/>
                  </a:lnTo>
                  <a:lnTo>
                    <a:pt x="640232" y="138363"/>
                  </a:lnTo>
                  <a:lnTo>
                    <a:pt x="647867" y="176524"/>
                  </a:lnTo>
                  <a:lnTo>
                    <a:pt x="645962" y="195605"/>
                  </a:lnTo>
                  <a:lnTo>
                    <a:pt x="630692" y="232821"/>
                  </a:lnTo>
                  <a:lnTo>
                    <a:pt x="601111" y="267172"/>
                  </a:lnTo>
                  <a:lnTo>
                    <a:pt x="559125" y="297698"/>
                  </a:lnTo>
                  <a:lnTo>
                    <a:pt x="505693" y="322508"/>
                  </a:lnTo>
                  <a:lnTo>
                    <a:pt x="443682" y="339684"/>
                  </a:lnTo>
                  <a:lnTo>
                    <a:pt x="376885" y="349224"/>
                  </a:lnTo>
                  <a:lnTo>
                    <a:pt x="341589" y="352089"/>
                  </a:lnTo>
                  <a:lnTo>
                    <a:pt x="306278" y="352089"/>
                  </a:lnTo>
                  <a:lnTo>
                    <a:pt x="236631" y="345414"/>
                  </a:lnTo>
                  <a:lnTo>
                    <a:pt x="171739" y="331104"/>
                  </a:lnTo>
                  <a:lnTo>
                    <a:pt x="113537" y="311063"/>
                  </a:lnTo>
                  <a:lnTo>
                    <a:pt x="65836" y="283387"/>
                  </a:lnTo>
                  <a:lnTo>
                    <a:pt x="30525" y="249996"/>
                  </a:lnTo>
                  <a:lnTo>
                    <a:pt x="7635" y="214685"/>
                  </a:lnTo>
                  <a:lnTo>
                    <a:pt x="0" y="176524"/>
                  </a:lnTo>
                </a:path>
              </a:pathLst>
            </a:custGeom>
            <a:ln w="795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5722711" y="1169863"/>
              <a:ext cx="648335" cy="352425"/>
            </a:xfrm>
            <a:custGeom>
              <a:avLst/>
              <a:gdLst/>
              <a:ahLst/>
              <a:cxnLst/>
              <a:rect l="l" t="t" r="r" b="b"/>
              <a:pathLst>
                <a:path w="648335" h="352425">
                  <a:moveTo>
                    <a:pt x="341589" y="0"/>
                  </a:moveTo>
                  <a:lnTo>
                    <a:pt x="306278" y="0"/>
                  </a:lnTo>
                  <a:lnTo>
                    <a:pt x="270982" y="1920"/>
                  </a:lnTo>
                  <a:lnTo>
                    <a:pt x="203240" y="12405"/>
                  </a:lnTo>
                  <a:lnTo>
                    <a:pt x="141213" y="29580"/>
                  </a:lnTo>
                  <a:lnTo>
                    <a:pt x="87782" y="54391"/>
                  </a:lnTo>
                  <a:lnTo>
                    <a:pt x="45796" y="84917"/>
                  </a:lnTo>
                  <a:lnTo>
                    <a:pt x="17175" y="120228"/>
                  </a:lnTo>
                  <a:lnTo>
                    <a:pt x="1904" y="157444"/>
                  </a:lnTo>
                  <a:lnTo>
                    <a:pt x="0" y="176524"/>
                  </a:lnTo>
                  <a:lnTo>
                    <a:pt x="1904" y="195605"/>
                  </a:lnTo>
                  <a:lnTo>
                    <a:pt x="17175" y="232821"/>
                  </a:lnTo>
                  <a:lnTo>
                    <a:pt x="45796" y="267172"/>
                  </a:lnTo>
                  <a:lnTo>
                    <a:pt x="87782" y="297698"/>
                  </a:lnTo>
                  <a:lnTo>
                    <a:pt x="141213" y="322508"/>
                  </a:lnTo>
                  <a:lnTo>
                    <a:pt x="203240" y="339684"/>
                  </a:lnTo>
                  <a:lnTo>
                    <a:pt x="270982" y="349224"/>
                  </a:lnTo>
                  <a:lnTo>
                    <a:pt x="306278" y="352089"/>
                  </a:lnTo>
                  <a:lnTo>
                    <a:pt x="341589" y="352089"/>
                  </a:lnTo>
                  <a:lnTo>
                    <a:pt x="409331" y="345414"/>
                  </a:lnTo>
                  <a:lnTo>
                    <a:pt x="475167" y="331104"/>
                  </a:lnTo>
                  <a:lnTo>
                    <a:pt x="533369" y="311063"/>
                  </a:lnTo>
                  <a:lnTo>
                    <a:pt x="581085" y="283387"/>
                  </a:lnTo>
                  <a:lnTo>
                    <a:pt x="617341" y="249996"/>
                  </a:lnTo>
                  <a:lnTo>
                    <a:pt x="640232" y="214685"/>
                  </a:lnTo>
                  <a:lnTo>
                    <a:pt x="647867" y="176524"/>
                  </a:lnTo>
                  <a:lnTo>
                    <a:pt x="645962" y="157444"/>
                  </a:lnTo>
                  <a:lnTo>
                    <a:pt x="630692" y="120228"/>
                  </a:lnTo>
                  <a:lnTo>
                    <a:pt x="601126" y="84917"/>
                  </a:lnTo>
                  <a:lnTo>
                    <a:pt x="558180" y="54391"/>
                  </a:lnTo>
                  <a:lnTo>
                    <a:pt x="504748" y="29580"/>
                  </a:lnTo>
                  <a:lnTo>
                    <a:pt x="442721" y="12405"/>
                  </a:lnTo>
                  <a:lnTo>
                    <a:pt x="375940" y="1920"/>
                  </a:lnTo>
                  <a:lnTo>
                    <a:pt x="341589" y="0"/>
                  </a:lnTo>
                  <a:close/>
                </a:path>
              </a:pathLst>
            </a:custGeom>
            <a:solidFill>
              <a:srgbClr val="E3524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5722711" y="1169863"/>
              <a:ext cx="648335" cy="352425"/>
            </a:xfrm>
            <a:custGeom>
              <a:avLst/>
              <a:gdLst/>
              <a:ahLst/>
              <a:cxnLst/>
              <a:rect l="l" t="t" r="r" b="b"/>
              <a:pathLst>
                <a:path w="648335" h="352425">
                  <a:moveTo>
                    <a:pt x="0" y="176524"/>
                  </a:moveTo>
                  <a:lnTo>
                    <a:pt x="7635" y="138363"/>
                  </a:lnTo>
                  <a:lnTo>
                    <a:pt x="29580" y="102092"/>
                  </a:lnTo>
                  <a:lnTo>
                    <a:pt x="64876" y="69662"/>
                  </a:lnTo>
                  <a:lnTo>
                    <a:pt x="113537" y="41986"/>
                  </a:lnTo>
                  <a:lnTo>
                    <a:pt x="171754" y="20040"/>
                  </a:lnTo>
                  <a:lnTo>
                    <a:pt x="236631" y="5730"/>
                  </a:lnTo>
                  <a:lnTo>
                    <a:pt x="306278" y="0"/>
                  </a:lnTo>
                  <a:lnTo>
                    <a:pt x="341589" y="0"/>
                  </a:lnTo>
                  <a:lnTo>
                    <a:pt x="409331" y="5730"/>
                  </a:lnTo>
                  <a:lnTo>
                    <a:pt x="475167" y="20040"/>
                  </a:lnTo>
                  <a:lnTo>
                    <a:pt x="533369" y="41986"/>
                  </a:lnTo>
                  <a:lnTo>
                    <a:pt x="581085" y="69662"/>
                  </a:lnTo>
                  <a:lnTo>
                    <a:pt x="617341" y="102092"/>
                  </a:lnTo>
                  <a:lnTo>
                    <a:pt x="640232" y="138363"/>
                  </a:lnTo>
                  <a:lnTo>
                    <a:pt x="647867" y="176524"/>
                  </a:lnTo>
                  <a:lnTo>
                    <a:pt x="645962" y="195605"/>
                  </a:lnTo>
                  <a:lnTo>
                    <a:pt x="630692" y="232821"/>
                  </a:lnTo>
                  <a:lnTo>
                    <a:pt x="601126" y="267172"/>
                  </a:lnTo>
                  <a:lnTo>
                    <a:pt x="558180" y="297698"/>
                  </a:lnTo>
                  <a:lnTo>
                    <a:pt x="504748" y="322508"/>
                  </a:lnTo>
                  <a:lnTo>
                    <a:pt x="442721" y="339684"/>
                  </a:lnTo>
                  <a:lnTo>
                    <a:pt x="375940" y="349224"/>
                  </a:lnTo>
                  <a:lnTo>
                    <a:pt x="341589" y="352089"/>
                  </a:lnTo>
                  <a:lnTo>
                    <a:pt x="306278" y="352089"/>
                  </a:lnTo>
                  <a:lnTo>
                    <a:pt x="236631" y="345414"/>
                  </a:lnTo>
                  <a:lnTo>
                    <a:pt x="171754" y="331104"/>
                  </a:lnTo>
                  <a:lnTo>
                    <a:pt x="113537" y="311063"/>
                  </a:lnTo>
                  <a:lnTo>
                    <a:pt x="64876" y="283387"/>
                  </a:lnTo>
                  <a:lnTo>
                    <a:pt x="29580" y="249996"/>
                  </a:lnTo>
                  <a:lnTo>
                    <a:pt x="7635" y="214685"/>
                  </a:lnTo>
                  <a:lnTo>
                    <a:pt x="0" y="176524"/>
                  </a:lnTo>
                </a:path>
              </a:pathLst>
            </a:custGeom>
            <a:ln w="795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6188339" y="956877"/>
            <a:ext cx="118110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450" spc="20" i="1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450">
              <a:latin typeface="Arial"/>
              <a:cs typeface="Arial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4680465" y="2319312"/>
            <a:ext cx="656590" cy="360680"/>
            <a:chOff x="4680465" y="2319312"/>
            <a:chExt cx="656590" cy="360680"/>
          </a:xfrm>
        </p:grpSpPr>
        <p:sp>
          <p:nvSpPr>
            <p:cNvPr id="27" name="object 27"/>
            <p:cNvSpPr/>
            <p:nvPr/>
          </p:nvSpPr>
          <p:spPr>
            <a:xfrm>
              <a:off x="4684592" y="2323439"/>
              <a:ext cx="648335" cy="352425"/>
            </a:xfrm>
            <a:custGeom>
              <a:avLst/>
              <a:gdLst/>
              <a:ahLst/>
              <a:cxnLst/>
              <a:rect l="l" t="t" r="r" b="b"/>
              <a:pathLst>
                <a:path w="648335" h="352425">
                  <a:moveTo>
                    <a:pt x="341589" y="0"/>
                  </a:moveTo>
                  <a:lnTo>
                    <a:pt x="306278" y="0"/>
                  </a:lnTo>
                  <a:lnTo>
                    <a:pt x="270982" y="2865"/>
                  </a:lnTo>
                  <a:lnTo>
                    <a:pt x="204185" y="12405"/>
                  </a:lnTo>
                  <a:lnTo>
                    <a:pt x="142158" y="30540"/>
                  </a:lnTo>
                  <a:lnTo>
                    <a:pt x="87782" y="55351"/>
                  </a:lnTo>
                  <a:lnTo>
                    <a:pt x="46756" y="85877"/>
                  </a:lnTo>
                  <a:lnTo>
                    <a:pt x="17175" y="120228"/>
                  </a:lnTo>
                  <a:lnTo>
                    <a:pt x="1904" y="157444"/>
                  </a:lnTo>
                  <a:lnTo>
                    <a:pt x="0" y="176524"/>
                  </a:lnTo>
                  <a:lnTo>
                    <a:pt x="1904" y="195605"/>
                  </a:lnTo>
                  <a:lnTo>
                    <a:pt x="17175" y="231861"/>
                  </a:lnTo>
                  <a:lnTo>
                    <a:pt x="46756" y="267172"/>
                  </a:lnTo>
                  <a:lnTo>
                    <a:pt x="87782" y="297698"/>
                  </a:lnTo>
                  <a:lnTo>
                    <a:pt x="142158" y="322508"/>
                  </a:lnTo>
                  <a:lnTo>
                    <a:pt x="204185" y="339684"/>
                  </a:lnTo>
                  <a:lnTo>
                    <a:pt x="270982" y="350184"/>
                  </a:lnTo>
                  <a:lnTo>
                    <a:pt x="306278" y="352089"/>
                  </a:lnTo>
                  <a:lnTo>
                    <a:pt x="341589" y="352089"/>
                  </a:lnTo>
                  <a:lnTo>
                    <a:pt x="410291" y="346359"/>
                  </a:lnTo>
                  <a:lnTo>
                    <a:pt x="475167" y="332049"/>
                  </a:lnTo>
                  <a:lnTo>
                    <a:pt x="533369" y="310103"/>
                  </a:lnTo>
                  <a:lnTo>
                    <a:pt x="581070" y="282427"/>
                  </a:lnTo>
                  <a:lnTo>
                    <a:pt x="617341" y="249996"/>
                  </a:lnTo>
                  <a:lnTo>
                    <a:pt x="640232" y="213740"/>
                  </a:lnTo>
                  <a:lnTo>
                    <a:pt x="647867" y="176524"/>
                  </a:lnTo>
                  <a:lnTo>
                    <a:pt x="645962" y="157444"/>
                  </a:lnTo>
                  <a:lnTo>
                    <a:pt x="630692" y="120228"/>
                  </a:lnTo>
                  <a:lnTo>
                    <a:pt x="601111" y="85877"/>
                  </a:lnTo>
                  <a:lnTo>
                    <a:pt x="559125" y="55351"/>
                  </a:lnTo>
                  <a:lnTo>
                    <a:pt x="505693" y="30540"/>
                  </a:lnTo>
                  <a:lnTo>
                    <a:pt x="443682" y="12405"/>
                  </a:lnTo>
                  <a:lnTo>
                    <a:pt x="376885" y="2865"/>
                  </a:lnTo>
                  <a:lnTo>
                    <a:pt x="341589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684592" y="2323439"/>
              <a:ext cx="648335" cy="352425"/>
            </a:xfrm>
            <a:custGeom>
              <a:avLst/>
              <a:gdLst/>
              <a:ahLst/>
              <a:cxnLst/>
              <a:rect l="l" t="t" r="r" b="b"/>
              <a:pathLst>
                <a:path w="648335" h="352425">
                  <a:moveTo>
                    <a:pt x="0" y="176524"/>
                  </a:moveTo>
                  <a:lnTo>
                    <a:pt x="17175" y="120228"/>
                  </a:lnTo>
                  <a:lnTo>
                    <a:pt x="46756" y="85877"/>
                  </a:lnTo>
                  <a:lnTo>
                    <a:pt x="87782" y="55351"/>
                  </a:lnTo>
                  <a:lnTo>
                    <a:pt x="142158" y="30540"/>
                  </a:lnTo>
                  <a:lnTo>
                    <a:pt x="204185" y="12405"/>
                  </a:lnTo>
                  <a:lnTo>
                    <a:pt x="270982" y="2865"/>
                  </a:lnTo>
                  <a:lnTo>
                    <a:pt x="306278" y="0"/>
                  </a:lnTo>
                  <a:lnTo>
                    <a:pt x="341589" y="0"/>
                  </a:lnTo>
                  <a:lnTo>
                    <a:pt x="410291" y="6675"/>
                  </a:lnTo>
                  <a:lnTo>
                    <a:pt x="475167" y="21000"/>
                  </a:lnTo>
                  <a:lnTo>
                    <a:pt x="533369" y="41986"/>
                  </a:lnTo>
                  <a:lnTo>
                    <a:pt x="581070" y="69662"/>
                  </a:lnTo>
                  <a:lnTo>
                    <a:pt x="617341" y="103052"/>
                  </a:lnTo>
                  <a:lnTo>
                    <a:pt x="640232" y="139308"/>
                  </a:lnTo>
                  <a:lnTo>
                    <a:pt x="647867" y="176524"/>
                  </a:lnTo>
                  <a:lnTo>
                    <a:pt x="645962" y="195605"/>
                  </a:lnTo>
                  <a:lnTo>
                    <a:pt x="630692" y="231861"/>
                  </a:lnTo>
                  <a:lnTo>
                    <a:pt x="601111" y="267172"/>
                  </a:lnTo>
                  <a:lnTo>
                    <a:pt x="559125" y="297698"/>
                  </a:lnTo>
                  <a:lnTo>
                    <a:pt x="505693" y="322508"/>
                  </a:lnTo>
                  <a:lnTo>
                    <a:pt x="443682" y="339684"/>
                  </a:lnTo>
                  <a:lnTo>
                    <a:pt x="376885" y="350184"/>
                  </a:lnTo>
                  <a:lnTo>
                    <a:pt x="341589" y="352089"/>
                  </a:lnTo>
                  <a:lnTo>
                    <a:pt x="306278" y="352089"/>
                  </a:lnTo>
                  <a:lnTo>
                    <a:pt x="236631" y="346359"/>
                  </a:lnTo>
                  <a:lnTo>
                    <a:pt x="171739" y="332049"/>
                  </a:lnTo>
                  <a:lnTo>
                    <a:pt x="113537" y="310103"/>
                  </a:lnTo>
                  <a:lnTo>
                    <a:pt x="65836" y="282427"/>
                  </a:lnTo>
                  <a:lnTo>
                    <a:pt x="30525" y="249996"/>
                  </a:lnTo>
                  <a:lnTo>
                    <a:pt x="7635" y="213740"/>
                  </a:lnTo>
                  <a:lnTo>
                    <a:pt x="0" y="176524"/>
                  </a:lnTo>
                </a:path>
              </a:pathLst>
            </a:custGeom>
            <a:ln w="795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 txBox="1"/>
          <p:nvPr/>
        </p:nvSpPr>
        <p:spPr>
          <a:xfrm>
            <a:off x="5158801" y="2111408"/>
            <a:ext cx="107314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450" spc="15" i="1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450">
              <a:latin typeface="Arial"/>
              <a:cs typeface="Arial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4946035" y="1305362"/>
            <a:ext cx="793750" cy="1049655"/>
            <a:chOff x="4946035" y="1305362"/>
            <a:chExt cx="793750" cy="1049655"/>
          </a:xfrm>
        </p:grpSpPr>
        <p:sp>
          <p:nvSpPr>
            <p:cNvPr id="31" name="object 31"/>
            <p:cNvSpPr/>
            <p:nvPr/>
          </p:nvSpPr>
          <p:spPr>
            <a:xfrm>
              <a:off x="5368716" y="1342562"/>
              <a:ext cx="362585" cy="0"/>
            </a:xfrm>
            <a:custGeom>
              <a:avLst/>
              <a:gdLst/>
              <a:ahLst/>
              <a:cxnLst/>
              <a:rect l="l" t="t" r="r" b="b"/>
              <a:pathLst>
                <a:path w="362585" h="0">
                  <a:moveTo>
                    <a:pt x="0" y="0"/>
                  </a:moveTo>
                  <a:lnTo>
                    <a:pt x="362590" y="0"/>
                  </a:lnTo>
                </a:path>
              </a:pathLst>
            </a:custGeom>
            <a:ln w="1590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12420" y="1305362"/>
              <a:ext cx="74432" cy="74416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4982291" y="1542938"/>
              <a:ext cx="8890" cy="756285"/>
            </a:xfrm>
            <a:custGeom>
              <a:avLst/>
              <a:gdLst/>
              <a:ahLst/>
              <a:cxnLst/>
              <a:rect l="l" t="t" r="r" b="b"/>
              <a:pathLst>
                <a:path w="8889" h="756285">
                  <a:moveTo>
                    <a:pt x="0" y="755690"/>
                  </a:moveTo>
                  <a:lnTo>
                    <a:pt x="8580" y="0"/>
                  </a:lnTo>
                </a:path>
              </a:pathLst>
            </a:custGeom>
            <a:ln w="1590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46035" y="2280508"/>
              <a:ext cx="74416" cy="74416"/>
            </a:xfrm>
            <a:prstGeom prst="rect">
              <a:avLst/>
            </a:prstGeom>
          </p:spPr>
        </p:pic>
      </p:grpSp>
      <p:sp>
        <p:nvSpPr>
          <p:cNvPr id="35" name="object 35"/>
          <p:cNvSpPr txBox="1"/>
          <p:nvPr/>
        </p:nvSpPr>
        <p:spPr>
          <a:xfrm>
            <a:off x="901699" y="520987"/>
            <a:ext cx="5247005" cy="9340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8.1.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TRAVERSAL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750">
              <a:latin typeface="Times New Roman"/>
              <a:cs typeface="Times New Roman"/>
            </a:endParaRPr>
          </a:p>
          <a:p>
            <a:pPr marL="1409700">
              <a:lnSpc>
                <a:spcPct val="100000"/>
              </a:lnSpc>
              <a:tabLst>
                <a:tab pos="2450465" algn="l"/>
                <a:tab pos="4246245" algn="l"/>
              </a:tabLst>
            </a:pPr>
            <a:r>
              <a:rPr dirty="0" sz="1450" spc="20" i="1">
                <a:solidFill>
                  <a:srgbClr val="FFFF00"/>
                </a:solidFill>
                <a:latin typeface="Arial"/>
                <a:cs typeface="Arial"/>
              </a:rPr>
              <a:t>b	a	b</a:t>
            </a:r>
            <a:endParaRPr sz="1450">
              <a:latin typeface="Arial"/>
              <a:cs typeface="Arial"/>
            </a:endParaRPr>
          </a:p>
          <a:p>
            <a:pPr marL="1082040">
              <a:lnSpc>
                <a:spcPct val="100000"/>
              </a:lnSpc>
              <a:spcBef>
                <a:spcPts val="200"/>
              </a:spcBef>
              <a:tabLst>
                <a:tab pos="2134870" algn="l"/>
                <a:tab pos="3928745" algn="l"/>
                <a:tab pos="4971415" algn="l"/>
              </a:tabLst>
            </a:pPr>
            <a:r>
              <a:rPr dirty="0" sz="1450" spc="10">
                <a:solidFill>
                  <a:srgbClr val="FFFF00"/>
                </a:solidFill>
                <a:latin typeface="Arial"/>
                <a:cs typeface="Arial"/>
              </a:rPr>
              <a:t>2/..</a:t>
            </a:r>
            <a:r>
              <a:rPr dirty="0" sz="1450" spc="1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450" spc="10">
                <a:solidFill>
                  <a:srgbClr val="FFFF00"/>
                </a:solidFill>
                <a:latin typeface="Arial"/>
                <a:cs typeface="Arial"/>
              </a:rPr>
              <a:t>1/..</a:t>
            </a:r>
            <a:r>
              <a:rPr dirty="0" sz="1450" spc="1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450" spc="15">
                <a:solidFill>
                  <a:srgbClr val="FFFF00"/>
                </a:solidFill>
                <a:latin typeface="Arial"/>
                <a:cs typeface="Arial"/>
              </a:rPr>
              <a:t>2/5</a:t>
            </a:r>
            <a:r>
              <a:rPr dirty="0" sz="1450" spc="1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450" spc="10">
                <a:solidFill>
                  <a:srgbClr val="FFFF00"/>
                </a:solidFill>
                <a:latin typeface="Arial"/>
                <a:cs typeface="Arial"/>
              </a:rPr>
              <a:t>1/..</a:t>
            </a:r>
            <a:endParaRPr sz="1450">
              <a:latin typeface="Arial"/>
              <a:cs typeface="Arial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5232272" y="1500636"/>
            <a:ext cx="651510" cy="892810"/>
            <a:chOff x="5232272" y="1500636"/>
            <a:chExt cx="651510" cy="892810"/>
          </a:xfrm>
        </p:grpSpPr>
        <p:sp>
          <p:nvSpPr>
            <p:cNvPr id="37" name="object 37"/>
            <p:cNvSpPr/>
            <p:nvPr/>
          </p:nvSpPr>
          <p:spPr>
            <a:xfrm>
              <a:off x="5265663" y="1508587"/>
              <a:ext cx="610235" cy="838835"/>
            </a:xfrm>
            <a:custGeom>
              <a:avLst/>
              <a:gdLst/>
              <a:ahLst/>
              <a:cxnLst/>
              <a:rect l="l" t="t" r="r" b="b"/>
              <a:pathLst>
                <a:path w="610235" h="838835">
                  <a:moveTo>
                    <a:pt x="0" y="838702"/>
                  </a:moveTo>
                  <a:lnTo>
                    <a:pt x="20040" y="811042"/>
                  </a:lnTo>
                </a:path>
                <a:path w="610235" h="838835">
                  <a:moveTo>
                    <a:pt x="40081" y="783366"/>
                  </a:moveTo>
                  <a:lnTo>
                    <a:pt x="60121" y="755690"/>
                  </a:lnTo>
                </a:path>
                <a:path w="610235" h="838835">
                  <a:moveTo>
                    <a:pt x="80162" y="728030"/>
                  </a:moveTo>
                  <a:lnTo>
                    <a:pt x="100187" y="700354"/>
                  </a:lnTo>
                </a:path>
                <a:path w="610235" h="838835">
                  <a:moveTo>
                    <a:pt x="121188" y="672678"/>
                  </a:moveTo>
                  <a:lnTo>
                    <a:pt x="141229" y="645962"/>
                  </a:lnTo>
                </a:path>
                <a:path w="610235" h="838835">
                  <a:moveTo>
                    <a:pt x="160309" y="618302"/>
                  </a:moveTo>
                  <a:lnTo>
                    <a:pt x="180350" y="590626"/>
                  </a:lnTo>
                </a:path>
                <a:path w="610235" h="838835">
                  <a:moveTo>
                    <a:pt x="200375" y="562950"/>
                  </a:moveTo>
                  <a:lnTo>
                    <a:pt x="220416" y="535289"/>
                  </a:lnTo>
                </a:path>
                <a:path w="610235" h="838835">
                  <a:moveTo>
                    <a:pt x="240456" y="507613"/>
                  </a:moveTo>
                  <a:lnTo>
                    <a:pt x="260497" y="479953"/>
                  </a:lnTo>
                </a:path>
                <a:path w="610235" h="838835">
                  <a:moveTo>
                    <a:pt x="280522" y="452277"/>
                  </a:moveTo>
                  <a:lnTo>
                    <a:pt x="300563" y="424601"/>
                  </a:lnTo>
                </a:path>
                <a:path w="610235" h="838835">
                  <a:moveTo>
                    <a:pt x="321563" y="396941"/>
                  </a:moveTo>
                  <a:lnTo>
                    <a:pt x="341589" y="369265"/>
                  </a:lnTo>
                </a:path>
                <a:path w="610235" h="838835">
                  <a:moveTo>
                    <a:pt x="361629" y="341589"/>
                  </a:moveTo>
                  <a:lnTo>
                    <a:pt x="381670" y="314873"/>
                  </a:lnTo>
                </a:path>
                <a:path w="610235" h="838835">
                  <a:moveTo>
                    <a:pt x="401711" y="287213"/>
                  </a:moveTo>
                  <a:lnTo>
                    <a:pt x="421751" y="259537"/>
                  </a:lnTo>
                </a:path>
                <a:path w="610235" h="838835">
                  <a:moveTo>
                    <a:pt x="441777" y="231861"/>
                  </a:moveTo>
                  <a:lnTo>
                    <a:pt x="461817" y="204200"/>
                  </a:lnTo>
                </a:path>
                <a:path w="610235" h="838835">
                  <a:moveTo>
                    <a:pt x="481858" y="176524"/>
                  </a:moveTo>
                  <a:lnTo>
                    <a:pt x="501898" y="148849"/>
                  </a:lnTo>
                </a:path>
                <a:path w="610235" h="838835">
                  <a:moveTo>
                    <a:pt x="521924" y="121188"/>
                  </a:moveTo>
                  <a:lnTo>
                    <a:pt x="541964" y="93512"/>
                  </a:lnTo>
                </a:path>
                <a:path w="610235" h="838835">
                  <a:moveTo>
                    <a:pt x="562005" y="65836"/>
                  </a:moveTo>
                  <a:lnTo>
                    <a:pt x="582046" y="38176"/>
                  </a:lnTo>
                </a:path>
                <a:path w="610235" h="838835">
                  <a:moveTo>
                    <a:pt x="602086" y="10500"/>
                  </a:moveTo>
                  <a:lnTo>
                    <a:pt x="609706" y="0"/>
                  </a:lnTo>
                </a:path>
              </a:pathLst>
            </a:custGeom>
            <a:ln w="1590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232272" y="2311034"/>
              <a:ext cx="74930" cy="82550"/>
            </a:xfrm>
            <a:custGeom>
              <a:avLst/>
              <a:gdLst/>
              <a:ahLst/>
              <a:cxnLst/>
              <a:rect l="l" t="t" r="r" b="b"/>
              <a:pathLst>
                <a:path w="74929" h="82550">
                  <a:moveTo>
                    <a:pt x="14310" y="0"/>
                  </a:moveTo>
                  <a:lnTo>
                    <a:pt x="0" y="82067"/>
                  </a:lnTo>
                  <a:lnTo>
                    <a:pt x="74432" y="42946"/>
                  </a:lnTo>
                  <a:lnTo>
                    <a:pt x="69662" y="41986"/>
                  </a:lnTo>
                  <a:lnTo>
                    <a:pt x="65836" y="41026"/>
                  </a:lnTo>
                  <a:lnTo>
                    <a:pt x="61066" y="40081"/>
                  </a:lnTo>
                  <a:lnTo>
                    <a:pt x="57256" y="38176"/>
                  </a:lnTo>
                  <a:lnTo>
                    <a:pt x="52486" y="36255"/>
                  </a:lnTo>
                  <a:lnTo>
                    <a:pt x="44851" y="32445"/>
                  </a:lnTo>
                  <a:lnTo>
                    <a:pt x="33390" y="23865"/>
                  </a:lnTo>
                  <a:lnTo>
                    <a:pt x="21000" y="11460"/>
                  </a:lnTo>
                  <a:lnTo>
                    <a:pt x="19080" y="7635"/>
                  </a:lnTo>
                  <a:lnTo>
                    <a:pt x="16230" y="3825"/>
                  </a:lnTo>
                  <a:lnTo>
                    <a:pt x="1431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/>
          <p:cNvSpPr txBox="1"/>
          <p:nvPr/>
        </p:nvSpPr>
        <p:spPr>
          <a:xfrm>
            <a:off x="1904338" y="2353766"/>
            <a:ext cx="4420870" cy="65214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135"/>
              </a:spcBef>
              <a:tabLst>
                <a:tab pos="2934335" algn="l"/>
              </a:tabLst>
            </a:pPr>
            <a:r>
              <a:rPr dirty="0" sz="1450" spc="10">
                <a:solidFill>
                  <a:srgbClr val="FFFF00"/>
                </a:solidFill>
                <a:latin typeface="Arial"/>
                <a:cs typeface="Arial"/>
              </a:rPr>
              <a:t>3/..	</a:t>
            </a:r>
            <a:r>
              <a:rPr dirty="0" sz="1450" spc="15">
                <a:solidFill>
                  <a:srgbClr val="FFFF00"/>
                </a:solidFill>
                <a:latin typeface="Arial"/>
                <a:cs typeface="Arial"/>
              </a:rPr>
              <a:t>3/4</a:t>
            </a:r>
            <a:endParaRPr sz="1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8.22: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stamps: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processing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‘b’</a:t>
            </a:r>
            <a:r>
              <a:rPr dirty="0" sz="1200" spc="-5">
                <a:latin typeface="Times New Roman"/>
                <a:cs typeface="Times New Roman"/>
              </a:rPr>
              <a:t> and ‘c’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1790700" y="5494807"/>
            <a:ext cx="4648200" cy="3182620"/>
            <a:chOff x="1790700" y="5494807"/>
            <a:chExt cx="4648200" cy="3182620"/>
          </a:xfrm>
        </p:grpSpPr>
        <p:sp>
          <p:nvSpPr>
            <p:cNvPr id="41" name="object 41"/>
            <p:cNvSpPr/>
            <p:nvPr/>
          </p:nvSpPr>
          <p:spPr>
            <a:xfrm>
              <a:off x="1790700" y="5494807"/>
              <a:ext cx="4648200" cy="3182620"/>
            </a:xfrm>
            <a:custGeom>
              <a:avLst/>
              <a:gdLst/>
              <a:ahLst/>
              <a:cxnLst/>
              <a:rect l="l" t="t" r="r" b="b"/>
              <a:pathLst>
                <a:path w="4648200" h="3182620">
                  <a:moveTo>
                    <a:pt x="4648001" y="0"/>
                  </a:moveTo>
                  <a:lnTo>
                    <a:pt x="0" y="0"/>
                  </a:lnTo>
                  <a:lnTo>
                    <a:pt x="0" y="3182340"/>
                  </a:lnTo>
                  <a:lnTo>
                    <a:pt x="4648001" y="3182340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538328" y="7929702"/>
              <a:ext cx="832485" cy="113030"/>
            </a:xfrm>
            <a:custGeom>
              <a:avLst/>
              <a:gdLst/>
              <a:ahLst/>
              <a:cxnLst/>
              <a:rect l="l" t="t" r="r" b="b"/>
              <a:pathLst>
                <a:path w="832485" h="113029">
                  <a:moveTo>
                    <a:pt x="776493" y="0"/>
                  </a:moveTo>
                  <a:lnTo>
                    <a:pt x="776493" y="36972"/>
                  </a:lnTo>
                  <a:lnTo>
                    <a:pt x="0" y="36972"/>
                  </a:lnTo>
                  <a:lnTo>
                    <a:pt x="0" y="74950"/>
                  </a:lnTo>
                  <a:lnTo>
                    <a:pt x="776493" y="74950"/>
                  </a:lnTo>
                  <a:lnTo>
                    <a:pt x="776493" y="112928"/>
                  </a:lnTo>
                  <a:lnTo>
                    <a:pt x="832454" y="55961"/>
                  </a:lnTo>
                  <a:lnTo>
                    <a:pt x="7764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538328" y="7929702"/>
              <a:ext cx="832485" cy="113030"/>
            </a:xfrm>
            <a:custGeom>
              <a:avLst/>
              <a:gdLst/>
              <a:ahLst/>
              <a:cxnLst/>
              <a:rect l="l" t="t" r="r" b="b"/>
              <a:pathLst>
                <a:path w="832485" h="113029">
                  <a:moveTo>
                    <a:pt x="832454" y="55961"/>
                  </a:moveTo>
                  <a:lnTo>
                    <a:pt x="776493" y="112928"/>
                  </a:lnTo>
                  <a:lnTo>
                    <a:pt x="776493" y="74950"/>
                  </a:lnTo>
                  <a:lnTo>
                    <a:pt x="0" y="74950"/>
                  </a:lnTo>
                  <a:lnTo>
                    <a:pt x="0" y="36972"/>
                  </a:lnTo>
                  <a:lnTo>
                    <a:pt x="776493" y="36972"/>
                  </a:lnTo>
                  <a:lnTo>
                    <a:pt x="776493" y="0"/>
                  </a:lnTo>
                  <a:lnTo>
                    <a:pt x="832454" y="55961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/>
          <p:cNvSpPr txBox="1"/>
          <p:nvPr/>
        </p:nvSpPr>
        <p:spPr>
          <a:xfrm>
            <a:off x="2582302" y="7376443"/>
            <a:ext cx="650240" cy="5016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550" i="1">
                <a:solidFill>
                  <a:srgbClr val="FFFF00"/>
                </a:solidFill>
                <a:latin typeface="Arial"/>
                <a:cs typeface="Arial"/>
              </a:rPr>
              <a:t>DFS(f)</a:t>
            </a:r>
            <a:endParaRPr sz="15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r>
              <a:rPr dirty="0" sz="1550" i="1">
                <a:solidFill>
                  <a:srgbClr val="FFFF00"/>
                </a:solidFill>
                <a:latin typeface="Arial"/>
                <a:cs typeface="Arial"/>
              </a:rPr>
              <a:t>DFS(g)</a:t>
            </a:r>
            <a:endParaRPr sz="1550">
              <a:latin typeface="Arial"/>
              <a:cs typeface="Arial"/>
            </a:endParaRPr>
          </a:p>
        </p:txBody>
      </p:sp>
      <p:pic>
        <p:nvPicPr>
          <p:cNvPr id="45" name="object 4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843625" y="5728982"/>
            <a:ext cx="4524366" cy="2894433"/>
          </a:xfrm>
          <a:prstGeom prst="rect">
            <a:avLst/>
          </a:prstGeom>
        </p:spPr>
      </p:pic>
      <p:sp>
        <p:nvSpPr>
          <p:cNvPr id="46" name="object 46"/>
          <p:cNvSpPr txBox="1"/>
          <p:nvPr/>
        </p:nvSpPr>
        <p:spPr>
          <a:xfrm>
            <a:off x="2334462" y="5511665"/>
            <a:ext cx="123189" cy="2628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550" i="1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55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422750" y="5511665"/>
            <a:ext cx="123189" cy="2628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550" i="1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55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344457" y="6719878"/>
            <a:ext cx="111760" cy="2628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550" i="1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55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000687" y="5769500"/>
            <a:ext cx="1380490" cy="2628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  <a:tabLst>
                <a:tab pos="1092200" algn="l"/>
              </a:tabLst>
            </a:pPr>
            <a:r>
              <a:rPr dirty="0" sz="1550">
                <a:solidFill>
                  <a:srgbClr val="FFFF00"/>
                </a:solidFill>
                <a:latin typeface="Arial"/>
                <a:cs typeface="Arial"/>
              </a:rPr>
              <a:t>2/5</a:t>
            </a:r>
            <a:r>
              <a:rPr dirty="0" sz="155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550">
                <a:solidFill>
                  <a:srgbClr val="FFFF00"/>
                </a:solidFill>
                <a:latin typeface="Arial"/>
                <a:cs typeface="Arial"/>
              </a:rPr>
              <a:t>1/..</a:t>
            </a:r>
            <a:endParaRPr sz="155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009681" y="6973709"/>
            <a:ext cx="287655" cy="2628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550">
                <a:solidFill>
                  <a:srgbClr val="FFFF00"/>
                </a:solidFill>
                <a:latin typeface="Arial"/>
                <a:cs typeface="Arial"/>
              </a:rPr>
              <a:t>3/4</a:t>
            </a:r>
            <a:endParaRPr sz="155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198930" y="6819802"/>
            <a:ext cx="67945" cy="2628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550" i="1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55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6171943" y="8028016"/>
            <a:ext cx="123189" cy="2628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550" i="1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550">
              <a:latin typeface="Arial"/>
              <a:cs typeface="Arial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4365132" y="8435038"/>
            <a:ext cx="1263650" cy="24765"/>
            <a:chOff x="4365132" y="8435038"/>
            <a:chExt cx="1263650" cy="24765"/>
          </a:xfrm>
        </p:grpSpPr>
        <p:sp>
          <p:nvSpPr>
            <p:cNvPr id="54" name="object 54"/>
            <p:cNvSpPr/>
            <p:nvPr/>
          </p:nvSpPr>
          <p:spPr>
            <a:xfrm>
              <a:off x="4365132" y="8443366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 h="0">
                  <a:moveTo>
                    <a:pt x="0" y="0"/>
                  </a:moveTo>
                  <a:lnTo>
                    <a:pt x="35981" y="0"/>
                  </a:lnTo>
                </a:path>
              </a:pathLst>
            </a:custGeom>
            <a:ln w="1665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436089" y="8443366"/>
              <a:ext cx="36195" cy="1270"/>
            </a:xfrm>
            <a:custGeom>
              <a:avLst/>
              <a:gdLst/>
              <a:ahLst/>
              <a:cxnLst/>
              <a:rect l="l" t="t" r="r" b="b"/>
              <a:pathLst>
                <a:path w="36195" h="1270">
                  <a:moveTo>
                    <a:pt x="-8327" y="502"/>
                  </a:moveTo>
                  <a:lnTo>
                    <a:pt x="44309" y="502"/>
                  </a:lnTo>
                </a:path>
              </a:pathLst>
            </a:custGeom>
            <a:ln w="1766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508037" y="8444372"/>
              <a:ext cx="394970" cy="2540"/>
            </a:xfrm>
            <a:custGeom>
              <a:avLst/>
              <a:gdLst/>
              <a:ahLst/>
              <a:cxnLst/>
              <a:rect l="l" t="t" r="r" b="b"/>
              <a:pathLst>
                <a:path w="394970" h="2540">
                  <a:moveTo>
                    <a:pt x="0" y="0"/>
                  </a:moveTo>
                  <a:lnTo>
                    <a:pt x="35981" y="0"/>
                  </a:lnTo>
                </a:path>
                <a:path w="394970" h="2540">
                  <a:moveTo>
                    <a:pt x="71963" y="0"/>
                  </a:moveTo>
                  <a:lnTo>
                    <a:pt x="107929" y="0"/>
                  </a:lnTo>
                </a:path>
                <a:path w="394970" h="2540">
                  <a:moveTo>
                    <a:pt x="143911" y="990"/>
                  </a:moveTo>
                  <a:lnTo>
                    <a:pt x="179892" y="990"/>
                  </a:lnTo>
                </a:path>
                <a:path w="394970" h="2540">
                  <a:moveTo>
                    <a:pt x="215859" y="990"/>
                  </a:moveTo>
                  <a:lnTo>
                    <a:pt x="250835" y="990"/>
                  </a:lnTo>
                </a:path>
                <a:path w="394970" h="2540">
                  <a:moveTo>
                    <a:pt x="286816" y="1996"/>
                  </a:moveTo>
                  <a:lnTo>
                    <a:pt x="322798" y="1996"/>
                  </a:lnTo>
                </a:path>
                <a:path w="394970" h="2540">
                  <a:moveTo>
                    <a:pt x="358764" y="1996"/>
                  </a:moveTo>
                  <a:lnTo>
                    <a:pt x="394746" y="1996"/>
                  </a:lnTo>
                </a:path>
              </a:pathLst>
            </a:custGeom>
            <a:ln w="1665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938765" y="8446368"/>
              <a:ext cx="36195" cy="1270"/>
            </a:xfrm>
            <a:custGeom>
              <a:avLst/>
              <a:gdLst/>
              <a:ahLst/>
              <a:cxnLst/>
              <a:rect l="l" t="t" r="r" b="b"/>
              <a:pathLst>
                <a:path w="36195" h="1270">
                  <a:moveTo>
                    <a:pt x="-8327" y="495"/>
                  </a:moveTo>
                  <a:lnTo>
                    <a:pt x="44294" y="495"/>
                  </a:lnTo>
                </a:path>
              </a:pathLst>
            </a:custGeom>
            <a:ln w="1764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010713" y="8447359"/>
              <a:ext cx="394970" cy="2540"/>
            </a:xfrm>
            <a:custGeom>
              <a:avLst/>
              <a:gdLst/>
              <a:ahLst/>
              <a:cxnLst/>
              <a:rect l="l" t="t" r="r" b="b"/>
              <a:pathLst>
                <a:path w="394970" h="2540">
                  <a:moveTo>
                    <a:pt x="0" y="0"/>
                  </a:moveTo>
                  <a:lnTo>
                    <a:pt x="35966" y="0"/>
                  </a:lnTo>
                </a:path>
                <a:path w="394970" h="2540">
                  <a:moveTo>
                    <a:pt x="71948" y="0"/>
                  </a:moveTo>
                  <a:lnTo>
                    <a:pt x="106923" y="0"/>
                  </a:lnTo>
                </a:path>
                <a:path w="394970" h="2540">
                  <a:moveTo>
                    <a:pt x="142905" y="1005"/>
                  </a:moveTo>
                  <a:lnTo>
                    <a:pt x="178887" y="1005"/>
                  </a:lnTo>
                </a:path>
                <a:path w="394970" h="2540">
                  <a:moveTo>
                    <a:pt x="214853" y="1005"/>
                  </a:moveTo>
                  <a:lnTo>
                    <a:pt x="250835" y="1005"/>
                  </a:lnTo>
                </a:path>
                <a:path w="394970" h="2540">
                  <a:moveTo>
                    <a:pt x="286801" y="1996"/>
                  </a:moveTo>
                  <a:lnTo>
                    <a:pt x="322783" y="1996"/>
                  </a:lnTo>
                </a:path>
                <a:path w="394970" h="2540">
                  <a:moveTo>
                    <a:pt x="358764" y="1996"/>
                  </a:moveTo>
                  <a:lnTo>
                    <a:pt x="394731" y="1996"/>
                  </a:lnTo>
                </a:path>
              </a:pathLst>
            </a:custGeom>
            <a:ln w="1665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441426" y="8449355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60" h="1270">
                  <a:moveTo>
                    <a:pt x="-8327" y="502"/>
                  </a:moveTo>
                  <a:lnTo>
                    <a:pt x="43303" y="502"/>
                  </a:lnTo>
                </a:path>
              </a:pathLst>
            </a:custGeom>
            <a:ln w="1766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512383" y="845036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 h="0">
                  <a:moveTo>
                    <a:pt x="0" y="0"/>
                  </a:moveTo>
                  <a:lnTo>
                    <a:pt x="35981" y="0"/>
                  </a:lnTo>
                </a:path>
              </a:pathLst>
            </a:custGeom>
            <a:ln w="1665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5584332" y="8450361"/>
              <a:ext cx="36195" cy="1270"/>
            </a:xfrm>
            <a:custGeom>
              <a:avLst/>
              <a:gdLst/>
              <a:ahLst/>
              <a:cxnLst/>
              <a:rect l="l" t="t" r="r" b="b"/>
              <a:pathLst>
                <a:path w="36195" h="1270">
                  <a:moveTo>
                    <a:pt x="-8327" y="502"/>
                  </a:moveTo>
                  <a:lnTo>
                    <a:pt x="44309" y="502"/>
                  </a:lnTo>
                </a:path>
              </a:pathLst>
            </a:custGeom>
            <a:ln w="1766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/>
          <p:cNvSpPr txBox="1"/>
          <p:nvPr/>
        </p:nvSpPr>
        <p:spPr>
          <a:xfrm>
            <a:off x="4017364" y="8028016"/>
            <a:ext cx="111760" cy="2628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550" i="1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55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682582" y="8267855"/>
            <a:ext cx="2414270" cy="2628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  <a:tabLst>
                <a:tab pos="2125980" algn="l"/>
              </a:tabLst>
            </a:pPr>
            <a:r>
              <a:rPr dirty="0" baseline="-3584" sz="2325">
                <a:solidFill>
                  <a:srgbClr val="FFFF00"/>
                </a:solidFill>
                <a:latin typeface="Arial"/>
                <a:cs typeface="Arial"/>
              </a:rPr>
              <a:t>3/4</a:t>
            </a:r>
            <a:r>
              <a:rPr dirty="0" baseline="-3584" sz="232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550">
                <a:solidFill>
                  <a:srgbClr val="FFFF00"/>
                </a:solidFill>
                <a:latin typeface="Arial"/>
                <a:cs typeface="Arial"/>
              </a:rPr>
              <a:t>7/..</a:t>
            </a:r>
            <a:endParaRPr sz="155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673588" y="6799311"/>
            <a:ext cx="2460625" cy="54165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332740">
              <a:lnSpc>
                <a:spcPct val="100000"/>
              </a:lnSpc>
              <a:spcBef>
                <a:spcPts val="265"/>
              </a:spcBef>
              <a:tabLst>
                <a:tab pos="1422400" algn="l"/>
              </a:tabLst>
            </a:pPr>
            <a:r>
              <a:rPr dirty="0" sz="1550" i="1">
                <a:solidFill>
                  <a:srgbClr val="FFFF00"/>
                </a:solidFill>
                <a:latin typeface="Arial"/>
                <a:cs typeface="Arial"/>
              </a:rPr>
              <a:t>b	a</a:t>
            </a:r>
            <a:endParaRPr sz="15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70"/>
              </a:spcBef>
              <a:tabLst>
                <a:tab pos="1090930" algn="l"/>
                <a:tab pos="2172335" algn="l"/>
              </a:tabLst>
            </a:pPr>
            <a:r>
              <a:rPr dirty="0" sz="1550">
                <a:solidFill>
                  <a:srgbClr val="FFFF00"/>
                </a:solidFill>
                <a:latin typeface="Arial"/>
                <a:cs typeface="Arial"/>
              </a:rPr>
              <a:t>2/5</a:t>
            </a:r>
            <a:r>
              <a:rPr dirty="0" sz="155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550">
                <a:solidFill>
                  <a:srgbClr val="FFFF00"/>
                </a:solidFill>
                <a:latin typeface="Arial"/>
                <a:cs typeface="Arial"/>
              </a:rPr>
              <a:t>1/..</a:t>
            </a:r>
            <a:r>
              <a:rPr dirty="0" sz="155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baseline="1792" sz="2325">
                <a:solidFill>
                  <a:srgbClr val="FFFF00"/>
                </a:solidFill>
                <a:latin typeface="Arial"/>
                <a:cs typeface="Arial"/>
              </a:rPr>
              <a:t>6/..</a:t>
            </a:r>
            <a:endParaRPr baseline="1792" sz="2325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949601" y="8742743"/>
            <a:ext cx="43307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8.23: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stamps: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processing of </a:t>
            </a:r>
            <a:r>
              <a:rPr dirty="0" sz="1200" spc="20">
                <a:latin typeface="Times New Roman"/>
                <a:cs typeface="Times New Roman"/>
              </a:rPr>
              <a:t>‘f’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‘g’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12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90700" y="939464"/>
            <a:ext cx="4648200" cy="3004185"/>
            <a:chOff x="1790700" y="939464"/>
            <a:chExt cx="4648200" cy="3004185"/>
          </a:xfrm>
        </p:grpSpPr>
        <p:sp>
          <p:nvSpPr>
            <p:cNvPr id="5" name="object 5"/>
            <p:cNvSpPr/>
            <p:nvPr/>
          </p:nvSpPr>
          <p:spPr>
            <a:xfrm>
              <a:off x="1790700" y="939464"/>
              <a:ext cx="4648200" cy="3004185"/>
            </a:xfrm>
            <a:custGeom>
              <a:avLst/>
              <a:gdLst/>
              <a:ahLst/>
              <a:cxnLst/>
              <a:rect l="l" t="t" r="r" b="b"/>
              <a:pathLst>
                <a:path w="4648200" h="3004185">
                  <a:moveTo>
                    <a:pt x="4648001" y="0"/>
                  </a:moveTo>
                  <a:lnTo>
                    <a:pt x="0" y="0"/>
                  </a:lnTo>
                  <a:lnTo>
                    <a:pt x="0" y="3004139"/>
                  </a:lnTo>
                  <a:lnTo>
                    <a:pt x="4648001" y="3004139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40651" y="1131590"/>
              <a:ext cx="2279472" cy="1267658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3985829" y="953718"/>
            <a:ext cx="5715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25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964265" y="1919234"/>
            <a:ext cx="10160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250">
              <a:latin typeface="Arial"/>
              <a:cs typeface="Aria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512915" y="2248060"/>
            <a:ext cx="1017269" cy="21590"/>
            <a:chOff x="2512915" y="2248060"/>
            <a:chExt cx="1017269" cy="21590"/>
          </a:xfrm>
        </p:grpSpPr>
        <p:sp>
          <p:nvSpPr>
            <p:cNvPr id="10" name="object 10"/>
            <p:cNvSpPr/>
            <p:nvPr/>
          </p:nvSpPr>
          <p:spPr>
            <a:xfrm>
              <a:off x="2519583" y="2255362"/>
              <a:ext cx="29209" cy="0"/>
            </a:xfrm>
            <a:custGeom>
              <a:avLst/>
              <a:gdLst/>
              <a:ahLst/>
              <a:cxnLst/>
              <a:rect l="l" t="t" r="r" b="b"/>
              <a:pathLst>
                <a:path w="29210" h="0">
                  <a:moveTo>
                    <a:pt x="0" y="0"/>
                  </a:moveTo>
                  <a:lnTo>
                    <a:pt x="28757" y="0"/>
                  </a:lnTo>
                </a:path>
              </a:pathLst>
            </a:custGeom>
            <a:ln w="1331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576291" y="2255362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69">
                  <a:moveTo>
                    <a:pt x="-6655" y="396"/>
                  </a:moveTo>
                  <a:lnTo>
                    <a:pt x="35397" y="396"/>
                  </a:lnTo>
                </a:path>
              </a:pathLst>
            </a:custGeom>
            <a:ln w="1410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633792" y="2256155"/>
              <a:ext cx="315595" cy="1905"/>
            </a:xfrm>
            <a:custGeom>
              <a:avLst/>
              <a:gdLst/>
              <a:ahLst/>
              <a:cxnLst/>
              <a:rect l="l" t="t" r="r" b="b"/>
              <a:pathLst>
                <a:path w="315594" h="1905">
                  <a:moveTo>
                    <a:pt x="0" y="0"/>
                  </a:moveTo>
                  <a:lnTo>
                    <a:pt x="28742" y="0"/>
                  </a:lnTo>
                </a:path>
                <a:path w="315594" h="1905">
                  <a:moveTo>
                    <a:pt x="57500" y="0"/>
                  </a:moveTo>
                  <a:lnTo>
                    <a:pt x="86243" y="0"/>
                  </a:lnTo>
                </a:path>
                <a:path w="315594" h="1905">
                  <a:moveTo>
                    <a:pt x="115001" y="807"/>
                  </a:moveTo>
                  <a:lnTo>
                    <a:pt x="143743" y="807"/>
                  </a:lnTo>
                </a:path>
                <a:path w="315594" h="1905">
                  <a:moveTo>
                    <a:pt x="172501" y="807"/>
                  </a:moveTo>
                  <a:lnTo>
                    <a:pt x="201244" y="807"/>
                  </a:lnTo>
                </a:path>
                <a:path w="315594" h="1905">
                  <a:moveTo>
                    <a:pt x="229194" y="1600"/>
                  </a:moveTo>
                  <a:lnTo>
                    <a:pt x="257952" y="1600"/>
                  </a:lnTo>
                </a:path>
                <a:path w="315594" h="1905">
                  <a:moveTo>
                    <a:pt x="286694" y="1600"/>
                  </a:moveTo>
                  <a:lnTo>
                    <a:pt x="315452" y="1600"/>
                  </a:lnTo>
                </a:path>
              </a:pathLst>
            </a:custGeom>
            <a:ln w="1331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977987" y="2257755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69">
                  <a:moveTo>
                    <a:pt x="-6655" y="403"/>
                  </a:moveTo>
                  <a:lnTo>
                    <a:pt x="35412" y="403"/>
                  </a:lnTo>
                </a:path>
              </a:pathLst>
            </a:custGeom>
            <a:ln w="1411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035487" y="2258563"/>
              <a:ext cx="315595" cy="1905"/>
            </a:xfrm>
            <a:custGeom>
              <a:avLst/>
              <a:gdLst/>
              <a:ahLst/>
              <a:cxnLst/>
              <a:rect l="l" t="t" r="r" b="b"/>
              <a:pathLst>
                <a:path w="315595" h="1905">
                  <a:moveTo>
                    <a:pt x="0" y="0"/>
                  </a:moveTo>
                  <a:lnTo>
                    <a:pt x="28742" y="0"/>
                  </a:lnTo>
                </a:path>
                <a:path w="315595" h="1905">
                  <a:moveTo>
                    <a:pt x="57500" y="0"/>
                  </a:moveTo>
                  <a:lnTo>
                    <a:pt x="86243" y="0"/>
                  </a:lnTo>
                </a:path>
                <a:path w="315595" h="1905">
                  <a:moveTo>
                    <a:pt x="114193" y="792"/>
                  </a:moveTo>
                  <a:lnTo>
                    <a:pt x="142951" y="792"/>
                  </a:lnTo>
                </a:path>
                <a:path w="315595" h="1905">
                  <a:moveTo>
                    <a:pt x="171693" y="792"/>
                  </a:moveTo>
                  <a:lnTo>
                    <a:pt x="200451" y="792"/>
                  </a:lnTo>
                </a:path>
                <a:path w="315595" h="1905">
                  <a:moveTo>
                    <a:pt x="229194" y="1584"/>
                  </a:moveTo>
                  <a:lnTo>
                    <a:pt x="257952" y="1584"/>
                  </a:lnTo>
                </a:path>
                <a:path w="315595" h="1905">
                  <a:moveTo>
                    <a:pt x="286694" y="1584"/>
                  </a:moveTo>
                  <a:lnTo>
                    <a:pt x="315452" y="1584"/>
                  </a:lnTo>
                </a:path>
              </a:pathLst>
            </a:custGeom>
            <a:ln w="1331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379683" y="2260148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69">
                  <a:moveTo>
                    <a:pt x="-6655" y="403"/>
                  </a:moveTo>
                  <a:lnTo>
                    <a:pt x="35412" y="403"/>
                  </a:lnTo>
                </a:path>
              </a:pathLst>
            </a:custGeom>
            <a:ln w="1411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437183" y="2260955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0" y="0"/>
                  </a:moveTo>
                  <a:lnTo>
                    <a:pt x="27950" y="0"/>
                  </a:lnTo>
                </a:path>
              </a:pathLst>
            </a:custGeom>
            <a:ln w="1331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493891" y="2260955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69">
                  <a:moveTo>
                    <a:pt x="-6655" y="396"/>
                  </a:moveTo>
                  <a:lnTo>
                    <a:pt x="35397" y="396"/>
                  </a:lnTo>
                </a:path>
              </a:pathLst>
            </a:custGeom>
            <a:ln w="1410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/>
          <p:nvPr/>
        </p:nvSpPr>
        <p:spPr>
          <a:xfrm>
            <a:off x="2241676" y="1919234"/>
            <a:ext cx="9271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25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974149" y="2122876"/>
            <a:ext cx="193548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  <a:tabLst>
                <a:tab pos="1699895" algn="l"/>
              </a:tabLst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3/4</a:t>
            </a: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baseline="4444" sz="1875">
                <a:solidFill>
                  <a:srgbClr val="FFFF00"/>
                </a:solidFill>
                <a:latin typeface="Arial"/>
                <a:cs typeface="Arial"/>
              </a:rPr>
              <a:t>7/..</a:t>
            </a:r>
            <a:endParaRPr baseline="4444" sz="1875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966962" y="939337"/>
            <a:ext cx="1971675" cy="437515"/>
          </a:xfrm>
          <a:prstGeom prst="rect">
            <a:avLst/>
          </a:prstGeom>
        </p:spPr>
        <p:txBody>
          <a:bodyPr wrap="square" lIns="0" tIns="27940" rIns="0" bIns="0" rtlCol="0" vert="horz">
            <a:spAutoFit/>
          </a:bodyPr>
          <a:lstStyle/>
          <a:p>
            <a:pPr marL="265430">
              <a:lnSpc>
                <a:spcPct val="100000"/>
              </a:lnSpc>
              <a:spcBef>
                <a:spcPts val="220"/>
              </a:spcBef>
              <a:tabLst>
                <a:tab pos="1136650" algn="l"/>
              </a:tabLst>
            </a:pP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b	a</a:t>
            </a:r>
            <a:endParaRPr sz="12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20"/>
              </a:spcBef>
              <a:tabLst>
                <a:tab pos="873125" algn="l"/>
                <a:tab pos="1736725" algn="l"/>
              </a:tabLst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2/5</a:t>
            </a: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1/..</a:t>
            </a: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baseline="2222" sz="1875">
                <a:solidFill>
                  <a:srgbClr val="FFFF00"/>
                </a:solidFill>
                <a:latin typeface="Arial"/>
                <a:cs typeface="Arial"/>
              </a:rPr>
              <a:t>6/..</a:t>
            </a:r>
            <a:endParaRPr baseline="2222" sz="1875">
              <a:latin typeface="Arial"/>
              <a:cs typeface="Arial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2896529" y="3487608"/>
            <a:ext cx="665480" cy="89535"/>
            <a:chOff x="2896529" y="3487608"/>
            <a:chExt cx="665480" cy="89535"/>
          </a:xfrm>
        </p:grpSpPr>
        <p:sp>
          <p:nvSpPr>
            <p:cNvPr id="22" name="object 22"/>
            <p:cNvSpPr/>
            <p:nvPr/>
          </p:nvSpPr>
          <p:spPr>
            <a:xfrm>
              <a:off x="2896529" y="3487608"/>
              <a:ext cx="665480" cy="89535"/>
            </a:xfrm>
            <a:custGeom>
              <a:avLst/>
              <a:gdLst/>
              <a:ahLst/>
              <a:cxnLst/>
              <a:rect l="l" t="t" r="r" b="b"/>
              <a:pathLst>
                <a:path w="665479" h="89535">
                  <a:moveTo>
                    <a:pt x="619719" y="0"/>
                  </a:moveTo>
                  <a:lnTo>
                    <a:pt x="619719" y="29550"/>
                  </a:lnTo>
                  <a:lnTo>
                    <a:pt x="0" y="29550"/>
                  </a:lnTo>
                  <a:lnTo>
                    <a:pt x="0" y="59893"/>
                  </a:lnTo>
                  <a:lnTo>
                    <a:pt x="619719" y="59893"/>
                  </a:lnTo>
                  <a:lnTo>
                    <a:pt x="619719" y="89443"/>
                  </a:lnTo>
                  <a:lnTo>
                    <a:pt x="665241" y="44714"/>
                  </a:lnTo>
                  <a:lnTo>
                    <a:pt x="6197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896529" y="3487608"/>
              <a:ext cx="665480" cy="89535"/>
            </a:xfrm>
            <a:custGeom>
              <a:avLst/>
              <a:gdLst/>
              <a:ahLst/>
              <a:cxnLst/>
              <a:rect l="l" t="t" r="r" b="b"/>
              <a:pathLst>
                <a:path w="665479" h="89535">
                  <a:moveTo>
                    <a:pt x="665241" y="44714"/>
                  </a:moveTo>
                  <a:lnTo>
                    <a:pt x="619719" y="89443"/>
                  </a:lnTo>
                  <a:lnTo>
                    <a:pt x="619719" y="59893"/>
                  </a:lnTo>
                  <a:lnTo>
                    <a:pt x="0" y="59893"/>
                  </a:lnTo>
                  <a:lnTo>
                    <a:pt x="0" y="29550"/>
                  </a:lnTo>
                  <a:lnTo>
                    <a:pt x="619719" y="29550"/>
                  </a:lnTo>
                  <a:lnTo>
                    <a:pt x="619719" y="0"/>
                  </a:lnTo>
                  <a:lnTo>
                    <a:pt x="665241" y="44714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/>
          <p:cNvSpPr txBox="1"/>
          <p:nvPr/>
        </p:nvSpPr>
        <p:spPr>
          <a:xfrm>
            <a:off x="2871773" y="2886339"/>
            <a:ext cx="563245" cy="6000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just" marR="5080">
              <a:lnSpc>
                <a:spcPct val="100000"/>
              </a:lnSpc>
              <a:spcBef>
                <a:spcPts val="105"/>
              </a:spcBef>
            </a:pP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return</a:t>
            </a:r>
            <a:r>
              <a:rPr dirty="0" sz="1250" spc="-75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g </a:t>
            </a:r>
            <a:r>
              <a:rPr dirty="0" sz="1250" spc="-34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return f </a:t>
            </a:r>
            <a:r>
              <a:rPr dirty="0" sz="1250" spc="-335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return</a:t>
            </a:r>
            <a:r>
              <a:rPr dirty="0" sz="1250" spc="-75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250">
              <a:latin typeface="Arial"/>
              <a:cs typeface="Arial"/>
            </a:endParaRPr>
          </a:p>
        </p:txBody>
      </p:sp>
      <p:pic>
        <p:nvPicPr>
          <p:cNvPr id="25" name="object 2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095897" y="2624988"/>
            <a:ext cx="2279472" cy="1267643"/>
          </a:xfrm>
          <a:prstGeom prst="rect">
            <a:avLst/>
          </a:prstGeom>
        </p:spPr>
      </p:pic>
      <p:sp>
        <p:nvSpPr>
          <p:cNvPr id="26" name="object 26"/>
          <p:cNvSpPr txBox="1"/>
          <p:nvPr/>
        </p:nvSpPr>
        <p:spPr>
          <a:xfrm>
            <a:off x="6241082" y="2447110"/>
            <a:ext cx="5715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25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219517" y="3412614"/>
            <a:ext cx="10160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250">
              <a:latin typeface="Arial"/>
              <a:cs typeface="Arial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4774844" y="3742090"/>
            <a:ext cx="1010919" cy="20320"/>
            <a:chOff x="4774844" y="3742090"/>
            <a:chExt cx="1010919" cy="20320"/>
          </a:xfrm>
        </p:grpSpPr>
        <p:sp>
          <p:nvSpPr>
            <p:cNvPr id="29" name="object 29"/>
            <p:cNvSpPr/>
            <p:nvPr/>
          </p:nvSpPr>
          <p:spPr>
            <a:xfrm>
              <a:off x="4774844" y="3748745"/>
              <a:ext cx="29209" cy="0"/>
            </a:xfrm>
            <a:custGeom>
              <a:avLst/>
              <a:gdLst/>
              <a:ahLst/>
              <a:cxnLst/>
              <a:rect l="l" t="t" r="r" b="b"/>
              <a:pathLst>
                <a:path w="29210" h="0">
                  <a:moveTo>
                    <a:pt x="0" y="0"/>
                  </a:moveTo>
                  <a:lnTo>
                    <a:pt x="28742" y="0"/>
                  </a:lnTo>
                </a:path>
              </a:pathLst>
            </a:custGeom>
            <a:ln w="1331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832344" y="3748745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70">
                  <a:moveTo>
                    <a:pt x="-6655" y="403"/>
                  </a:moveTo>
                  <a:lnTo>
                    <a:pt x="35397" y="403"/>
                  </a:lnTo>
                </a:path>
              </a:pathLst>
            </a:custGeom>
            <a:ln w="1411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889845" y="3749553"/>
              <a:ext cx="314960" cy="1905"/>
            </a:xfrm>
            <a:custGeom>
              <a:avLst/>
              <a:gdLst/>
              <a:ahLst/>
              <a:cxnLst/>
              <a:rect l="l" t="t" r="r" b="b"/>
              <a:pathLst>
                <a:path w="314960" h="1904">
                  <a:moveTo>
                    <a:pt x="0" y="0"/>
                  </a:moveTo>
                  <a:lnTo>
                    <a:pt x="27950" y="0"/>
                  </a:lnTo>
                </a:path>
                <a:path w="314960" h="1904">
                  <a:moveTo>
                    <a:pt x="56692" y="0"/>
                  </a:moveTo>
                  <a:lnTo>
                    <a:pt x="85450" y="0"/>
                  </a:lnTo>
                </a:path>
                <a:path w="314960" h="1904">
                  <a:moveTo>
                    <a:pt x="114193" y="792"/>
                  </a:moveTo>
                  <a:lnTo>
                    <a:pt x="142951" y="792"/>
                  </a:lnTo>
                </a:path>
                <a:path w="314960" h="1904">
                  <a:moveTo>
                    <a:pt x="171693" y="792"/>
                  </a:moveTo>
                  <a:lnTo>
                    <a:pt x="200451" y="792"/>
                  </a:lnTo>
                </a:path>
                <a:path w="314960" h="1904">
                  <a:moveTo>
                    <a:pt x="229194" y="1584"/>
                  </a:moveTo>
                  <a:lnTo>
                    <a:pt x="257952" y="1584"/>
                  </a:lnTo>
                </a:path>
                <a:path w="314960" h="1904">
                  <a:moveTo>
                    <a:pt x="286694" y="1584"/>
                  </a:moveTo>
                  <a:lnTo>
                    <a:pt x="314645" y="1584"/>
                  </a:lnTo>
                </a:path>
              </a:pathLst>
            </a:custGeom>
            <a:ln w="1331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5233248" y="3751138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70">
                  <a:moveTo>
                    <a:pt x="-6655" y="403"/>
                  </a:moveTo>
                  <a:lnTo>
                    <a:pt x="35397" y="403"/>
                  </a:lnTo>
                </a:path>
              </a:pathLst>
            </a:custGeom>
            <a:ln w="1411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5290748" y="3751945"/>
              <a:ext cx="315595" cy="1905"/>
            </a:xfrm>
            <a:custGeom>
              <a:avLst/>
              <a:gdLst/>
              <a:ahLst/>
              <a:cxnLst/>
              <a:rect l="l" t="t" r="r" b="b"/>
              <a:pathLst>
                <a:path w="315595" h="1904">
                  <a:moveTo>
                    <a:pt x="0" y="0"/>
                  </a:moveTo>
                  <a:lnTo>
                    <a:pt x="28742" y="0"/>
                  </a:lnTo>
                </a:path>
                <a:path w="315595" h="1904">
                  <a:moveTo>
                    <a:pt x="57485" y="0"/>
                  </a:moveTo>
                  <a:lnTo>
                    <a:pt x="86243" y="0"/>
                  </a:lnTo>
                </a:path>
                <a:path w="315595" h="1904">
                  <a:moveTo>
                    <a:pt x="114985" y="792"/>
                  </a:moveTo>
                  <a:lnTo>
                    <a:pt x="143743" y="792"/>
                  </a:lnTo>
                </a:path>
                <a:path w="315595" h="1904">
                  <a:moveTo>
                    <a:pt x="172486" y="792"/>
                  </a:moveTo>
                  <a:lnTo>
                    <a:pt x="200436" y="792"/>
                  </a:lnTo>
                </a:path>
                <a:path w="315595" h="1904">
                  <a:moveTo>
                    <a:pt x="229194" y="1600"/>
                  </a:moveTo>
                  <a:lnTo>
                    <a:pt x="257936" y="1600"/>
                  </a:lnTo>
                </a:path>
                <a:path w="315595" h="1904">
                  <a:moveTo>
                    <a:pt x="286694" y="1600"/>
                  </a:moveTo>
                  <a:lnTo>
                    <a:pt x="315437" y="1600"/>
                  </a:lnTo>
                </a:path>
              </a:pathLst>
            </a:custGeom>
            <a:ln w="1331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5634944" y="3753546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70">
                  <a:moveTo>
                    <a:pt x="-6655" y="396"/>
                  </a:moveTo>
                  <a:lnTo>
                    <a:pt x="35397" y="396"/>
                  </a:lnTo>
                </a:path>
              </a:pathLst>
            </a:custGeom>
            <a:ln w="1410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692444" y="3754338"/>
              <a:ext cx="29209" cy="0"/>
            </a:xfrm>
            <a:custGeom>
              <a:avLst/>
              <a:gdLst/>
              <a:ahLst/>
              <a:cxnLst/>
              <a:rect l="l" t="t" r="r" b="b"/>
              <a:pathLst>
                <a:path w="29210" h="0">
                  <a:moveTo>
                    <a:pt x="0" y="0"/>
                  </a:moveTo>
                  <a:lnTo>
                    <a:pt x="28742" y="0"/>
                  </a:lnTo>
                </a:path>
              </a:pathLst>
            </a:custGeom>
            <a:ln w="1331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749945" y="3754338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70">
                  <a:moveTo>
                    <a:pt x="-6655" y="396"/>
                  </a:moveTo>
                  <a:lnTo>
                    <a:pt x="35397" y="396"/>
                  </a:lnTo>
                </a:path>
              </a:pathLst>
            </a:custGeom>
            <a:ln w="1410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/>
          <p:cNvSpPr txBox="1"/>
          <p:nvPr/>
        </p:nvSpPr>
        <p:spPr>
          <a:xfrm>
            <a:off x="4488140" y="2447110"/>
            <a:ext cx="10160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25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496928" y="3412614"/>
            <a:ext cx="9271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25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051956" y="2432743"/>
            <a:ext cx="408305" cy="437515"/>
          </a:xfrm>
          <a:prstGeom prst="rect">
            <a:avLst/>
          </a:prstGeom>
        </p:spPr>
        <p:txBody>
          <a:bodyPr wrap="square" lIns="0" tIns="27940" rIns="0" bIns="0" rtlCol="0" vert="horz">
            <a:spAutoFit/>
          </a:bodyPr>
          <a:lstStyle/>
          <a:p>
            <a:pPr marL="306070">
              <a:lnSpc>
                <a:spcPct val="100000"/>
              </a:lnSpc>
              <a:spcBef>
                <a:spcPts val="220"/>
              </a:spcBef>
            </a:pP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2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1/10</a:t>
            </a:r>
            <a:endParaRPr sz="125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221409" y="2653142"/>
            <a:ext cx="23495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2/5</a:t>
            </a:r>
            <a:endParaRPr sz="125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966350" y="2649954"/>
            <a:ext cx="23495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6/9</a:t>
            </a:r>
            <a:endParaRPr sz="125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908567" y="3615457"/>
            <a:ext cx="4412615" cy="6013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320290">
              <a:lnSpc>
                <a:spcPct val="100000"/>
              </a:lnSpc>
              <a:spcBef>
                <a:spcPts val="105"/>
              </a:spcBef>
              <a:tabLst>
                <a:tab pos="4027804" algn="l"/>
              </a:tabLst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3/4	</a:t>
            </a:r>
            <a:r>
              <a:rPr dirty="0" baseline="4444" sz="1875">
                <a:solidFill>
                  <a:srgbClr val="FFFF00"/>
                </a:solidFill>
                <a:latin typeface="Arial"/>
                <a:cs typeface="Arial"/>
              </a:rPr>
              <a:t>7/8</a:t>
            </a:r>
            <a:endParaRPr baseline="4444" sz="1875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8.24: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stamps: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15">
                <a:latin typeface="Times New Roman"/>
                <a:cs typeface="Times New Roman"/>
              </a:rPr>
              <a:t>‘f’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‘g’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1772411" y="4487336"/>
            <a:ext cx="4648200" cy="2945130"/>
            <a:chOff x="1772411" y="4487336"/>
            <a:chExt cx="4648200" cy="2945130"/>
          </a:xfrm>
        </p:grpSpPr>
        <p:sp>
          <p:nvSpPr>
            <p:cNvPr id="44" name="object 44"/>
            <p:cNvSpPr/>
            <p:nvPr/>
          </p:nvSpPr>
          <p:spPr>
            <a:xfrm>
              <a:off x="1772411" y="4487336"/>
              <a:ext cx="4648200" cy="2945130"/>
            </a:xfrm>
            <a:custGeom>
              <a:avLst/>
              <a:gdLst/>
              <a:ahLst/>
              <a:cxnLst/>
              <a:rect l="l" t="t" r="r" b="b"/>
              <a:pathLst>
                <a:path w="4648200" h="2945129">
                  <a:moveTo>
                    <a:pt x="4648001" y="0"/>
                  </a:moveTo>
                  <a:lnTo>
                    <a:pt x="0" y="0"/>
                  </a:lnTo>
                  <a:lnTo>
                    <a:pt x="0" y="2944703"/>
                  </a:lnTo>
                  <a:lnTo>
                    <a:pt x="4648001" y="2944703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29913" y="5682838"/>
              <a:ext cx="2790455" cy="1695958"/>
            </a:xfrm>
            <a:prstGeom prst="rect">
              <a:avLst/>
            </a:prstGeom>
          </p:spPr>
        </p:pic>
      </p:grpSp>
      <p:sp>
        <p:nvSpPr>
          <p:cNvPr id="46" name="object 46"/>
          <p:cNvSpPr txBox="1"/>
          <p:nvPr/>
        </p:nvSpPr>
        <p:spPr>
          <a:xfrm>
            <a:off x="6155916" y="5611457"/>
            <a:ext cx="67310" cy="2603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550" spc="-5" i="1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55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129512" y="6794804"/>
            <a:ext cx="121920" cy="2603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550" spc="-10" i="1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550">
              <a:latin typeface="Arial"/>
              <a:cs typeface="Arial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4353082" y="7194687"/>
            <a:ext cx="1245870" cy="26034"/>
            <a:chOff x="4353082" y="7194687"/>
            <a:chExt cx="1245870" cy="26034"/>
          </a:xfrm>
        </p:grpSpPr>
        <p:sp>
          <p:nvSpPr>
            <p:cNvPr id="49" name="object 49"/>
            <p:cNvSpPr/>
            <p:nvPr/>
          </p:nvSpPr>
          <p:spPr>
            <a:xfrm>
              <a:off x="4361337" y="7203577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 h="0">
                  <a:moveTo>
                    <a:pt x="0" y="0"/>
                  </a:moveTo>
                  <a:lnTo>
                    <a:pt x="35219" y="0"/>
                  </a:lnTo>
                </a:path>
              </a:pathLst>
            </a:custGeom>
            <a:ln w="1629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431761" y="7203577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60" h="1270">
                  <a:moveTo>
                    <a:pt x="-8149" y="487"/>
                  </a:moveTo>
                  <a:lnTo>
                    <a:pt x="43354" y="487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501194" y="7204552"/>
              <a:ext cx="386715" cy="2540"/>
            </a:xfrm>
            <a:custGeom>
              <a:avLst/>
              <a:gdLst/>
              <a:ahLst/>
              <a:cxnLst/>
              <a:rect l="l" t="t" r="r" b="b"/>
              <a:pathLst>
                <a:path w="386714" h="2540">
                  <a:moveTo>
                    <a:pt x="0" y="0"/>
                  </a:moveTo>
                  <a:lnTo>
                    <a:pt x="35204" y="0"/>
                  </a:lnTo>
                </a:path>
                <a:path w="386714" h="2540">
                  <a:moveTo>
                    <a:pt x="70408" y="0"/>
                  </a:moveTo>
                  <a:lnTo>
                    <a:pt x="105613" y="0"/>
                  </a:lnTo>
                </a:path>
                <a:path w="386714" h="2540">
                  <a:moveTo>
                    <a:pt x="140832" y="975"/>
                  </a:moveTo>
                  <a:lnTo>
                    <a:pt x="176037" y="975"/>
                  </a:lnTo>
                </a:path>
                <a:path w="386714" h="2540">
                  <a:moveTo>
                    <a:pt x="211241" y="975"/>
                  </a:moveTo>
                  <a:lnTo>
                    <a:pt x="246446" y="975"/>
                  </a:lnTo>
                </a:path>
                <a:path w="386714" h="2540">
                  <a:moveTo>
                    <a:pt x="281650" y="1965"/>
                  </a:moveTo>
                  <a:lnTo>
                    <a:pt x="316854" y="1965"/>
                  </a:lnTo>
                </a:path>
                <a:path w="386714" h="2540">
                  <a:moveTo>
                    <a:pt x="351083" y="1965"/>
                  </a:moveTo>
                  <a:lnTo>
                    <a:pt x="386288" y="1965"/>
                  </a:lnTo>
                </a:path>
              </a:pathLst>
            </a:custGeom>
            <a:ln w="1629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922702" y="7206518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60" h="1270">
                  <a:moveTo>
                    <a:pt x="-8149" y="487"/>
                  </a:moveTo>
                  <a:lnTo>
                    <a:pt x="43354" y="487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993111" y="7207493"/>
              <a:ext cx="386715" cy="2540"/>
            </a:xfrm>
            <a:custGeom>
              <a:avLst/>
              <a:gdLst/>
              <a:ahLst/>
              <a:cxnLst/>
              <a:rect l="l" t="t" r="r" b="b"/>
              <a:pathLst>
                <a:path w="386714" h="2540">
                  <a:moveTo>
                    <a:pt x="0" y="0"/>
                  </a:moveTo>
                  <a:lnTo>
                    <a:pt x="35204" y="0"/>
                  </a:lnTo>
                </a:path>
                <a:path w="386714" h="2540">
                  <a:moveTo>
                    <a:pt x="70408" y="0"/>
                  </a:moveTo>
                  <a:lnTo>
                    <a:pt x="105613" y="0"/>
                  </a:lnTo>
                </a:path>
                <a:path w="386714" h="2540">
                  <a:moveTo>
                    <a:pt x="140832" y="975"/>
                  </a:moveTo>
                  <a:lnTo>
                    <a:pt x="176037" y="975"/>
                  </a:lnTo>
                </a:path>
                <a:path w="386714" h="2540">
                  <a:moveTo>
                    <a:pt x="211241" y="975"/>
                  </a:moveTo>
                  <a:lnTo>
                    <a:pt x="245470" y="975"/>
                  </a:lnTo>
                </a:path>
                <a:path w="386714" h="2540">
                  <a:moveTo>
                    <a:pt x="280675" y="1950"/>
                  </a:moveTo>
                  <a:lnTo>
                    <a:pt x="315879" y="1950"/>
                  </a:lnTo>
                </a:path>
                <a:path w="386714" h="2540">
                  <a:moveTo>
                    <a:pt x="351083" y="1950"/>
                  </a:moveTo>
                  <a:lnTo>
                    <a:pt x="386303" y="1950"/>
                  </a:lnTo>
                </a:path>
              </a:pathLst>
            </a:custGeom>
            <a:ln w="1629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414619" y="7209444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60" h="1270">
                  <a:moveTo>
                    <a:pt x="-8149" y="487"/>
                  </a:moveTo>
                  <a:lnTo>
                    <a:pt x="43354" y="487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485028" y="7210419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 h="0">
                  <a:moveTo>
                    <a:pt x="0" y="0"/>
                  </a:moveTo>
                  <a:lnTo>
                    <a:pt x="35204" y="0"/>
                  </a:lnTo>
                </a:path>
              </a:pathLst>
            </a:custGeom>
            <a:ln w="1629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555437" y="7210419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89" h="1270">
                  <a:moveTo>
                    <a:pt x="-8149" y="495"/>
                  </a:moveTo>
                  <a:lnTo>
                    <a:pt x="42378" y="495"/>
                  </a:lnTo>
                </a:path>
              </a:pathLst>
            </a:custGeom>
            <a:ln w="1729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" name="object 57"/>
          <p:cNvSpPr txBox="1"/>
          <p:nvPr/>
        </p:nvSpPr>
        <p:spPr>
          <a:xfrm>
            <a:off x="4010252" y="5611457"/>
            <a:ext cx="121920" cy="2603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550" spc="-10" i="1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55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4020030" y="6794804"/>
            <a:ext cx="111125" cy="2603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550" spc="-5" i="1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55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700699" y="5593846"/>
            <a:ext cx="497205" cy="53022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75285">
              <a:lnSpc>
                <a:spcPct val="100000"/>
              </a:lnSpc>
              <a:spcBef>
                <a:spcPts val="225"/>
              </a:spcBef>
            </a:pPr>
            <a:r>
              <a:rPr dirty="0" sz="1550" spc="-10" i="1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5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1/10</a:t>
            </a:r>
            <a:endParaRPr sz="155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683613" y="5863781"/>
            <a:ext cx="285115" cy="2603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2/5</a:t>
            </a:r>
            <a:endParaRPr sz="155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692414" y="7029513"/>
            <a:ext cx="2375535" cy="2603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  <a:tabLst>
                <a:tab pos="2090420" algn="l"/>
              </a:tabLst>
            </a:pPr>
            <a:r>
              <a:rPr dirty="0" baseline="-3584" sz="2325" spc="-7">
                <a:solidFill>
                  <a:srgbClr val="FFFF00"/>
                </a:solidFill>
                <a:latin typeface="Arial"/>
                <a:cs typeface="Arial"/>
              </a:rPr>
              <a:t>3/4</a:t>
            </a:r>
            <a:r>
              <a:rPr dirty="0" baseline="-3584" sz="2325" spc="-7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7/8</a:t>
            </a:r>
            <a:endParaRPr sz="155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820473" y="5859864"/>
            <a:ext cx="285115" cy="2603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6/9</a:t>
            </a:r>
            <a:endParaRPr sz="1550">
              <a:latin typeface="Arial"/>
              <a:cs typeface="Arial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4593887" y="4721288"/>
            <a:ext cx="1760220" cy="934719"/>
            <a:chOff x="4593887" y="4721288"/>
            <a:chExt cx="1760220" cy="934719"/>
          </a:xfrm>
        </p:grpSpPr>
        <p:sp>
          <p:nvSpPr>
            <p:cNvPr id="64" name="object 64"/>
            <p:cNvSpPr/>
            <p:nvPr/>
          </p:nvSpPr>
          <p:spPr>
            <a:xfrm>
              <a:off x="4598014" y="4725416"/>
              <a:ext cx="663575" cy="361315"/>
            </a:xfrm>
            <a:custGeom>
              <a:avLst/>
              <a:gdLst/>
              <a:ahLst/>
              <a:cxnLst/>
              <a:rect l="l" t="t" r="r" b="b"/>
              <a:pathLst>
                <a:path w="663575" h="361314">
                  <a:moveTo>
                    <a:pt x="350108" y="0"/>
                  </a:moveTo>
                  <a:lnTo>
                    <a:pt x="313928" y="0"/>
                  </a:lnTo>
                  <a:lnTo>
                    <a:pt x="277733" y="1950"/>
                  </a:lnTo>
                  <a:lnTo>
                    <a:pt x="209275" y="12710"/>
                  </a:lnTo>
                  <a:lnTo>
                    <a:pt x="145709" y="31287"/>
                  </a:lnTo>
                  <a:lnTo>
                    <a:pt x="90952" y="55732"/>
                  </a:lnTo>
                  <a:lnTo>
                    <a:pt x="47914" y="87035"/>
                  </a:lnTo>
                  <a:lnTo>
                    <a:pt x="17602" y="123215"/>
                  </a:lnTo>
                  <a:lnTo>
                    <a:pt x="1950" y="161361"/>
                  </a:lnTo>
                  <a:lnTo>
                    <a:pt x="0" y="180914"/>
                  </a:lnTo>
                  <a:lnTo>
                    <a:pt x="1950" y="200482"/>
                  </a:lnTo>
                  <a:lnTo>
                    <a:pt x="17602" y="238612"/>
                  </a:lnTo>
                  <a:lnTo>
                    <a:pt x="47914" y="273817"/>
                  </a:lnTo>
                  <a:lnTo>
                    <a:pt x="90952" y="305120"/>
                  </a:lnTo>
                  <a:lnTo>
                    <a:pt x="145709" y="330540"/>
                  </a:lnTo>
                  <a:lnTo>
                    <a:pt x="209275" y="348142"/>
                  </a:lnTo>
                  <a:lnTo>
                    <a:pt x="277733" y="358901"/>
                  </a:lnTo>
                  <a:lnTo>
                    <a:pt x="313928" y="360867"/>
                  </a:lnTo>
                  <a:lnTo>
                    <a:pt x="350108" y="360867"/>
                  </a:lnTo>
                  <a:lnTo>
                    <a:pt x="420517" y="354009"/>
                  </a:lnTo>
                  <a:lnTo>
                    <a:pt x="488000" y="340324"/>
                  </a:lnTo>
                  <a:lnTo>
                    <a:pt x="546674" y="318805"/>
                  </a:lnTo>
                  <a:lnTo>
                    <a:pt x="596554" y="290443"/>
                  </a:lnTo>
                  <a:lnTo>
                    <a:pt x="632749" y="257205"/>
                  </a:lnTo>
                  <a:lnTo>
                    <a:pt x="656219" y="220035"/>
                  </a:lnTo>
                  <a:lnTo>
                    <a:pt x="663061" y="180914"/>
                  </a:lnTo>
                  <a:lnTo>
                    <a:pt x="661095" y="161361"/>
                  </a:lnTo>
                  <a:lnTo>
                    <a:pt x="646435" y="123215"/>
                  </a:lnTo>
                  <a:lnTo>
                    <a:pt x="616122" y="87035"/>
                  </a:lnTo>
                  <a:lnTo>
                    <a:pt x="573084" y="55732"/>
                  </a:lnTo>
                  <a:lnTo>
                    <a:pt x="518327" y="31287"/>
                  </a:lnTo>
                  <a:lnTo>
                    <a:pt x="454746" y="12710"/>
                  </a:lnTo>
                  <a:lnTo>
                    <a:pt x="385312" y="1950"/>
                  </a:lnTo>
                  <a:lnTo>
                    <a:pt x="35010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598014" y="4725416"/>
              <a:ext cx="663575" cy="361315"/>
            </a:xfrm>
            <a:custGeom>
              <a:avLst/>
              <a:gdLst/>
              <a:ahLst/>
              <a:cxnLst/>
              <a:rect l="l" t="t" r="r" b="b"/>
              <a:pathLst>
                <a:path w="663575" h="361314">
                  <a:moveTo>
                    <a:pt x="0" y="180914"/>
                  </a:moveTo>
                  <a:lnTo>
                    <a:pt x="7818" y="141792"/>
                  </a:lnTo>
                  <a:lnTo>
                    <a:pt x="30312" y="104637"/>
                  </a:lnTo>
                  <a:lnTo>
                    <a:pt x="67482" y="71384"/>
                  </a:lnTo>
                  <a:lnTo>
                    <a:pt x="117347" y="43022"/>
                  </a:lnTo>
                  <a:lnTo>
                    <a:pt x="177012" y="20528"/>
                  </a:lnTo>
                  <a:lnTo>
                    <a:pt x="243504" y="5867"/>
                  </a:lnTo>
                  <a:lnTo>
                    <a:pt x="313928" y="0"/>
                  </a:lnTo>
                  <a:lnTo>
                    <a:pt x="350108" y="0"/>
                  </a:lnTo>
                  <a:lnTo>
                    <a:pt x="420517" y="5867"/>
                  </a:lnTo>
                  <a:lnTo>
                    <a:pt x="488000" y="20528"/>
                  </a:lnTo>
                  <a:lnTo>
                    <a:pt x="546674" y="43022"/>
                  </a:lnTo>
                  <a:lnTo>
                    <a:pt x="596554" y="71384"/>
                  </a:lnTo>
                  <a:lnTo>
                    <a:pt x="632749" y="104637"/>
                  </a:lnTo>
                  <a:lnTo>
                    <a:pt x="656219" y="141792"/>
                  </a:lnTo>
                  <a:lnTo>
                    <a:pt x="663061" y="180914"/>
                  </a:lnTo>
                  <a:lnTo>
                    <a:pt x="661095" y="200482"/>
                  </a:lnTo>
                  <a:lnTo>
                    <a:pt x="646435" y="238612"/>
                  </a:lnTo>
                  <a:lnTo>
                    <a:pt x="616122" y="273817"/>
                  </a:lnTo>
                  <a:lnTo>
                    <a:pt x="573084" y="305120"/>
                  </a:lnTo>
                  <a:lnTo>
                    <a:pt x="518327" y="330540"/>
                  </a:lnTo>
                  <a:lnTo>
                    <a:pt x="454746" y="348142"/>
                  </a:lnTo>
                  <a:lnTo>
                    <a:pt x="385312" y="358901"/>
                  </a:lnTo>
                  <a:lnTo>
                    <a:pt x="350108" y="360867"/>
                  </a:lnTo>
                  <a:lnTo>
                    <a:pt x="313928" y="360867"/>
                  </a:lnTo>
                  <a:lnTo>
                    <a:pt x="243504" y="354009"/>
                  </a:lnTo>
                  <a:lnTo>
                    <a:pt x="177012" y="340324"/>
                  </a:lnTo>
                  <a:lnTo>
                    <a:pt x="117347" y="318805"/>
                  </a:lnTo>
                  <a:lnTo>
                    <a:pt x="67482" y="290443"/>
                  </a:lnTo>
                  <a:lnTo>
                    <a:pt x="30312" y="257205"/>
                  </a:lnTo>
                  <a:lnTo>
                    <a:pt x="7818" y="220035"/>
                  </a:lnTo>
                  <a:lnTo>
                    <a:pt x="0" y="180914"/>
                  </a:lnTo>
                </a:path>
              </a:pathLst>
            </a:custGeom>
            <a:ln w="814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5685510" y="4725416"/>
              <a:ext cx="664210" cy="361315"/>
            </a:xfrm>
            <a:custGeom>
              <a:avLst/>
              <a:gdLst/>
              <a:ahLst/>
              <a:cxnLst/>
              <a:rect l="l" t="t" r="r" b="b"/>
              <a:pathLst>
                <a:path w="664210" h="361314">
                  <a:moveTo>
                    <a:pt x="350108" y="0"/>
                  </a:moveTo>
                  <a:lnTo>
                    <a:pt x="313928" y="0"/>
                  </a:lnTo>
                  <a:lnTo>
                    <a:pt x="278724" y="1950"/>
                  </a:lnTo>
                  <a:lnTo>
                    <a:pt x="210266" y="12710"/>
                  </a:lnTo>
                  <a:lnTo>
                    <a:pt x="146700" y="31287"/>
                  </a:lnTo>
                  <a:lnTo>
                    <a:pt x="91927" y="55732"/>
                  </a:lnTo>
                  <a:lnTo>
                    <a:pt x="47914" y="87035"/>
                  </a:lnTo>
                  <a:lnTo>
                    <a:pt x="17602" y="123215"/>
                  </a:lnTo>
                  <a:lnTo>
                    <a:pt x="1950" y="161361"/>
                  </a:lnTo>
                  <a:lnTo>
                    <a:pt x="0" y="180914"/>
                  </a:lnTo>
                  <a:lnTo>
                    <a:pt x="1950" y="200482"/>
                  </a:lnTo>
                  <a:lnTo>
                    <a:pt x="17602" y="238612"/>
                  </a:lnTo>
                  <a:lnTo>
                    <a:pt x="47914" y="273817"/>
                  </a:lnTo>
                  <a:lnTo>
                    <a:pt x="91927" y="305120"/>
                  </a:lnTo>
                  <a:lnTo>
                    <a:pt x="146700" y="330540"/>
                  </a:lnTo>
                  <a:lnTo>
                    <a:pt x="210266" y="348142"/>
                  </a:lnTo>
                  <a:lnTo>
                    <a:pt x="278724" y="358901"/>
                  </a:lnTo>
                  <a:lnTo>
                    <a:pt x="313928" y="360867"/>
                  </a:lnTo>
                  <a:lnTo>
                    <a:pt x="350108" y="360867"/>
                  </a:lnTo>
                  <a:lnTo>
                    <a:pt x="421507" y="354009"/>
                  </a:lnTo>
                  <a:lnTo>
                    <a:pt x="488000" y="340324"/>
                  </a:lnTo>
                  <a:lnTo>
                    <a:pt x="547664" y="318805"/>
                  </a:lnTo>
                  <a:lnTo>
                    <a:pt x="596554" y="290443"/>
                  </a:lnTo>
                  <a:lnTo>
                    <a:pt x="633724" y="257205"/>
                  </a:lnTo>
                  <a:lnTo>
                    <a:pt x="656219" y="220035"/>
                  </a:lnTo>
                  <a:lnTo>
                    <a:pt x="664037" y="180914"/>
                  </a:lnTo>
                  <a:lnTo>
                    <a:pt x="662086" y="161361"/>
                  </a:lnTo>
                  <a:lnTo>
                    <a:pt x="646435" y="123215"/>
                  </a:lnTo>
                  <a:lnTo>
                    <a:pt x="616122" y="87035"/>
                  </a:lnTo>
                  <a:lnTo>
                    <a:pt x="574075" y="55732"/>
                  </a:lnTo>
                  <a:lnTo>
                    <a:pt x="519302" y="31287"/>
                  </a:lnTo>
                  <a:lnTo>
                    <a:pt x="455736" y="12710"/>
                  </a:lnTo>
                  <a:lnTo>
                    <a:pt x="386303" y="1950"/>
                  </a:lnTo>
                  <a:lnTo>
                    <a:pt x="35010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5685510" y="4725416"/>
              <a:ext cx="664210" cy="361315"/>
            </a:xfrm>
            <a:custGeom>
              <a:avLst/>
              <a:gdLst/>
              <a:ahLst/>
              <a:cxnLst/>
              <a:rect l="l" t="t" r="r" b="b"/>
              <a:pathLst>
                <a:path w="664210" h="361314">
                  <a:moveTo>
                    <a:pt x="0" y="180914"/>
                  </a:moveTo>
                  <a:lnTo>
                    <a:pt x="7818" y="141792"/>
                  </a:lnTo>
                  <a:lnTo>
                    <a:pt x="31302" y="104637"/>
                  </a:lnTo>
                  <a:lnTo>
                    <a:pt x="68458" y="71384"/>
                  </a:lnTo>
                  <a:lnTo>
                    <a:pt x="117363" y="43022"/>
                  </a:lnTo>
                  <a:lnTo>
                    <a:pt x="177012" y="20528"/>
                  </a:lnTo>
                  <a:lnTo>
                    <a:pt x="243519" y="5867"/>
                  </a:lnTo>
                  <a:lnTo>
                    <a:pt x="313928" y="0"/>
                  </a:lnTo>
                  <a:lnTo>
                    <a:pt x="350108" y="0"/>
                  </a:lnTo>
                  <a:lnTo>
                    <a:pt x="421507" y="5867"/>
                  </a:lnTo>
                  <a:lnTo>
                    <a:pt x="488000" y="20528"/>
                  </a:lnTo>
                  <a:lnTo>
                    <a:pt x="547664" y="43022"/>
                  </a:lnTo>
                  <a:lnTo>
                    <a:pt x="596554" y="71384"/>
                  </a:lnTo>
                  <a:lnTo>
                    <a:pt x="633724" y="104637"/>
                  </a:lnTo>
                  <a:lnTo>
                    <a:pt x="656219" y="141792"/>
                  </a:lnTo>
                  <a:lnTo>
                    <a:pt x="664037" y="180914"/>
                  </a:lnTo>
                  <a:lnTo>
                    <a:pt x="662086" y="200482"/>
                  </a:lnTo>
                  <a:lnTo>
                    <a:pt x="646435" y="238612"/>
                  </a:lnTo>
                  <a:lnTo>
                    <a:pt x="616122" y="273817"/>
                  </a:lnTo>
                  <a:lnTo>
                    <a:pt x="574075" y="305120"/>
                  </a:lnTo>
                  <a:lnTo>
                    <a:pt x="519302" y="330540"/>
                  </a:lnTo>
                  <a:lnTo>
                    <a:pt x="455736" y="348142"/>
                  </a:lnTo>
                  <a:lnTo>
                    <a:pt x="386303" y="358901"/>
                  </a:lnTo>
                  <a:lnTo>
                    <a:pt x="350108" y="360867"/>
                  </a:lnTo>
                  <a:lnTo>
                    <a:pt x="313928" y="360867"/>
                  </a:lnTo>
                  <a:lnTo>
                    <a:pt x="243519" y="354009"/>
                  </a:lnTo>
                  <a:lnTo>
                    <a:pt x="177012" y="340324"/>
                  </a:lnTo>
                  <a:lnTo>
                    <a:pt x="117363" y="318805"/>
                  </a:lnTo>
                  <a:lnTo>
                    <a:pt x="68458" y="290443"/>
                  </a:lnTo>
                  <a:lnTo>
                    <a:pt x="31302" y="257205"/>
                  </a:lnTo>
                  <a:lnTo>
                    <a:pt x="7818" y="220035"/>
                  </a:lnTo>
                  <a:lnTo>
                    <a:pt x="0" y="180914"/>
                  </a:lnTo>
                </a:path>
              </a:pathLst>
            </a:custGeom>
            <a:ln w="814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5264993" y="4903404"/>
              <a:ext cx="372745" cy="0"/>
            </a:xfrm>
            <a:custGeom>
              <a:avLst/>
              <a:gdLst/>
              <a:ahLst/>
              <a:cxnLst/>
              <a:rect l="l" t="t" r="r" b="b"/>
              <a:pathLst>
                <a:path w="372745" h="0">
                  <a:moveTo>
                    <a:pt x="0" y="0"/>
                  </a:moveTo>
                  <a:lnTo>
                    <a:pt x="372602" y="0"/>
                  </a:lnTo>
                </a:path>
              </a:pathLst>
            </a:custGeom>
            <a:ln w="1629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9" name="object 6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619003" y="4865258"/>
              <a:ext cx="76291" cy="76276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4917810" y="5120513"/>
              <a:ext cx="1120140" cy="527685"/>
            </a:xfrm>
            <a:custGeom>
              <a:avLst/>
              <a:gdLst/>
              <a:ahLst/>
              <a:cxnLst/>
              <a:rect l="l" t="t" r="r" b="b"/>
              <a:pathLst>
                <a:path w="1120139" h="527685">
                  <a:moveTo>
                    <a:pt x="0" y="527121"/>
                  </a:moveTo>
                  <a:lnTo>
                    <a:pt x="0" y="491916"/>
                  </a:lnTo>
                </a:path>
                <a:path w="1120139" h="527685">
                  <a:moveTo>
                    <a:pt x="0" y="456712"/>
                  </a:moveTo>
                  <a:lnTo>
                    <a:pt x="0" y="421492"/>
                  </a:lnTo>
                </a:path>
                <a:path w="1120139" h="527685">
                  <a:moveTo>
                    <a:pt x="0" y="386288"/>
                  </a:moveTo>
                  <a:lnTo>
                    <a:pt x="0" y="351083"/>
                  </a:lnTo>
                </a:path>
                <a:path w="1120139" h="527685">
                  <a:moveTo>
                    <a:pt x="0" y="315879"/>
                  </a:moveTo>
                  <a:lnTo>
                    <a:pt x="0" y="281650"/>
                  </a:lnTo>
                </a:path>
                <a:path w="1120139" h="527685">
                  <a:moveTo>
                    <a:pt x="0" y="246446"/>
                  </a:moveTo>
                  <a:lnTo>
                    <a:pt x="0" y="211241"/>
                  </a:lnTo>
                </a:path>
                <a:path w="1120139" h="527685">
                  <a:moveTo>
                    <a:pt x="0" y="176021"/>
                  </a:moveTo>
                  <a:lnTo>
                    <a:pt x="0" y="140817"/>
                  </a:lnTo>
                </a:path>
                <a:path w="1120139" h="527685">
                  <a:moveTo>
                    <a:pt x="0" y="105613"/>
                  </a:moveTo>
                  <a:lnTo>
                    <a:pt x="0" y="70408"/>
                  </a:lnTo>
                </a:path>
                <a:path w="1120139" h="527685">
                  <a:moveTo>
                    <a:pt x="0" y="35204"/>
                  </a:moveTo>
                  <a:lnTo>
                    <a:pt x="0" y="0"/>
                  </a:lnTo>
                </a:path>
                <a:path w="1120139" h="527685">
                  <a:moveTo>
                    <a:pt x="1119774" y="527121"/>
                  </a:moveTo>
                  <a:lnTo>
                    <a:pt x="1119774" y="491916"/>
                  </a:lnTo>
                </a:path>
                <a:path w="1120139" h="527685">
                  <a:moveTo>
                    <a:pt x="1119774" y="456712"/>
                  </a:moveTo>
                  <a:lnTo>
                    <a:pt x="1119774" y="421492"/>
                  </a:lnTo>
                </a:path>
                <a:path w="1120139" h="527685">
                  <a:moveTo>
                    <a:pt x="1119774" y="386288"/>
                  </a:moveTo>
                  <a:lnTo>
                    <a:pt x="1119774" y="351083"/>
                  </a:lnTo>
                </a:path>
                <a:path w="1120139" h="527685">
                  <a:moveTo>
                    <a:pt x="1119774" y="315879"/>
                  </a:moveTo>
                  <a:lnTo>
                    <a:pt x="1119774" y="281650"/>
                  </a:lnTo>
                </a:path>
                <a:path w="1120139" h="527685">
                  <a:moveTo>
                    <a:pt x="1119774" y="246446"/>
                  </a:moveTo>
                  <a:lnTo>
                    <a:pt x="1119774" y="211241"/>
                  </a:lnTo>
                </a:path>
                <a:path w="1120139" h="527685">
                  <a:moveTo>
                    <a:pt x="1119774" y="176021"/>
                  </a:moveTo>
                  <a:lnTo>
                    <a:pt x="1119774" y="140817"/>
                  </a:lnTo>
                </a:path>
                <a:path w="1120139" h="527685">
                  <a:moveTo>
                    <a:pt x="1119774" y="105613"/>
                  </a:moveTo>
                  <a:lnTo>
                    <a:pt x="1119774" y="70408"/>
                  </a:lnTo>
                </a:path>
                <a:path w="1120139" h="527685">
                  <a:moveTo>
                    <a:pt x="1119774" y="35204"/>
                  </a:moveTo>
                  <a:lnTo>
                    <a:pt x="1119774" y="0"/>
                  </a:lnTo>
                </a:path>
              </a:pathLst>
            </a:custGeom>
            <a:ln w="1629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" name="object 71"/>
          <p:cNvSpPr txBox="1"/>
          <p:nvPr/>
        </p:nvSpPr>
        <p:spPr>
          <a:xfrm>
            <a:off x="4623433" y="4505376"/>
            <a:ext cx="572770" cy="5029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450215">
              <a:lnSpc>
                <a:spcPct val="100000"/>
              </a:lnSpc>
              <a:spcBef>
                <a:spcPts val="90"/>
              </a:spcBef>
            </a:pPr>
            <a:r>
              <a:rPr dirty="0" sz="1550" spc="-10" i="1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5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r>
              <a:rPr dirty="0" sz="1550" spc="-10">
                <a:solidFill>
                  <a:srgbClr val="FFFF00"/>
                </a:solidFill>
                <a:latin typeface="Arial"/>
                <a:cs typeface="Arial"/>
              </a:rPr>
              <a:t>11/14</a:t>
            </a:r>
            <a:endParaRPr sz="155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720714" y="4505376"/>
            <a:ext cx="567055" cy="5029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444500">
              <a:lnSpc>
                <a:spcPct val="100000"/>
              </a:lnSpc>
              <a:spcBef>
                <a:spcPts val="90"/>
              </a:spcBef>
            </a:pPr>
            <a:r>
              <a:rPr dirty="0" sz="1550" spc="-10" i="1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5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r>
              <a:rPr dirty="0" sz="1550" spc="-10">
                <a:solidFill>
                  <a:srgbClr val="FFFF00"/>
                </a:solidFill>
                <a:latin typeface="Arial"/>
                <a:cs typeface="Arial"/>
              </a:rPr>
              <a:t>12/13</a:t>
            </a:r>
            <a:endParaRPr sz="1550">
              <a:latin typeface="Arial"/>
              <a:cs typeface="Arial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1820585" y="6018286"/>
            <a:ext cx="1208405" cy="109855"/>
            <a:chOff x="1820585" y="6018286"/>
            <a:chExt cx="1208405" cy="109855"/>
          </a:xfrm>
        </p:grpSpPr>
        <p:sp>
          <p:nvSpPr>
            <p:cNvPr id="74" name="object 74"/>
            <p:cNvSpPr/>
            <p:nvPr/>
          </p:nvSpPr>
          <p:spPr>
            <a:xfrm>
              <a:off x="1820585" y="6018286"/>
              <a:ext cx="1208405" cy="109855"/>
            </a:xfrm>
            <a:custGeom>
              <a:avLst/>
              <a:gdLst/>
              <a:ahLst/>
              <a:cxnLst/>
              <a:rect l="l" t="t" r="r" b="b"/>
              <a:pathLst>
                <a:path w="1208405" h="109854">
                  <a:moveTo>
                    <a:pt x="1153027" y="0"/>
                  </a:moveTo>
                  <a:lnTo>
                    <a:pt x="1153027" y="36179"/>
                  </a:lnTo>
                  <a:lnTo>
                    <a:pt x="0" y="32263"/>
                  </a:lnTo>
                  <a:lnTo>
                    <a:pt x="0" y="69433"/>
                  </a:lnTo>
                  <a:lnTo>
                    <a:pt x="1153027" y="73350"/>
                  </a:lnTo>
                  <a:lnTo>
                    <a:pt x="1153027" y="109529"/>
                  </a:lnTo>
                  <a:lnTo>
                    <a:pt x="1207785" y="54757"/>
                  </a:lnTo>
                  <a:lnTo>
                    <a:pt x="11530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1820585" y="6018286"/>
              <a:ext cx="1208405" cy="109855"/>
            </a:xfrm>
            <a:custGeom>
              <a:avLst/>
              <a:gdLst/>
              <a:ahLst/>
              <a:cxnLst/>
              <a:rect l="l" t="t" r="r" b="b"/>
              <a:pathLst>
                <a:path w="1208405" h="109854">
                  <a:moveTo>
                    <a:pt x="1207785" y="54757"/>
                  </a:moveTo>
                  <a:lnTo>
                    <a:pt x="1153027" y="109529"/>
                  </a:lnTo>
                  <a:lnTo>
                    <a:pt x="1153027" y="73350"/>
                  </a:lnTo>
                  <a:lnTo>
                    <a:pt x="0" y="69433"/>
                  </a:lnTo>
                  <a:lnTo>
                    <a:pt x="0" y="32263"/>
                  </a:lnTo>
                  <a:lnTo>
                    <a:pt x="1153027" y="36179"/>
                  </a:lnTo>
                  <a:lnTo>
                    <a:pt x="1153027" y="0"/>
                  </a:lnTo>
                  <a:lnTo>
                    <a:pt x="1207785" y="54757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6" name="object 76"/>
          <p:cNvSpPr txBox="1"/>
          <p:nvPr/>
        </p:nvSpPr>
        <p:spPr>
          <a:xfrm>
            <a:off x="2009329" y="5054016"/>
            <a:ext cx="687070" cy="96266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ts val="1850"/>
              </a:lnSpc>
              <a:spcBef>
                <a:spcPts val="90"/>
              </a:spcBef>
            </a:pPr>
            <a:r>
              <a:rPr dirty="0" sz="1550" spc="-10" i="1">
                <a:solidFill>
                  <a:srgbClr val="FFFF00"/>
                </a:solidFill>
                <a:latin typeface="Arial"/>
                <a:cs typeface="Arial"/>
              </a:rPr>
              <a:t>DFS(d)</a:t>
            </a:r>
            <a:endParaRPr sz="1550">
              <a:latin typeface="Arial"/>
              <a:cs typeface="Arial"/>
            </a:endParaRPr>
          </a:p>
          <a:p>
            <a:pPr>
              <a:lnSpc>
                <a:spcPts val="1845"/>
              </a:lnSpc>
            </a:pPr>
            <a:r>
              <a:rPr dirty="0" sz="1550" spc="-10" i="1">
                <a:solidFill>
                  <a:srgbClr val="FFFF00"/>
                </a:solidFill>
                <a:latin typeface="Arial"/>
                <a:cs typeface="Arial"/>
              </a:rPr>
              <a:t>DFS(e)</a:t>
            </a:r>
            <a:endParaRPr sz="1550">
              <a:latin typeface="Arial"/>
              <a:cs typeface="Arial"/>
            </a:endParaRPr>
          </a:p>
          <a:p>
            <a:pPr marR="5080">
              <a:lnSpc>
                <a:spcPts val="1839"/>
              </a:lnSpc>
              <a:spcBef>
                <a:spcPts val="70"/>
              </a:spcBef>
            </a:pPr>
            <a:r>
              <a:rPr dirty="0" sz="1550" spc="-5" i="1">
                <a:solidFill>
                  <a:srgbClr val="FFFF00"/>
                </a:solidFill>
                <a:latin typeface="Arial"/>
                <a:cs typeface="Arial"/>
              </a:rPr>
              <a:t>return</a:t>
            </a:r>
            <a:r>
              <a:rPr dirty="0" sz="1550" spc="-95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50" spc="-10" i="1">
                <a:solidFill>
                  <a:srgbClr val="FFFF00"/>
                </a:solidFill>
                <a:latin typeface="Arial"/>
                <a:cs typeface="Arial"/>
              </a:rPr>
              <a:t>e </a:t>
            </a:r>
            <a:r>
              <a:rPr dirty="0" sz="1550" spc="-42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50" spc="-5" i="1">
                <a:solidFill>
                  <a:srgbClr val="FFFF00"/>
                </a:solidFill>
                <a:latin typeface="Arial"/>
                <a:cs typeface="Arial"/>
              </a:rPr>
              <a:t>return</a:t>
            </a:r>
            <a:r>
              <a:rPr dirty="0" sz="1550" spc="-55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50" spc="-5" i="1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55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901699" y="7497788"/>
            <a:ext cx="6426200" cy="11741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8.25: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stamps: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processing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‘d’</a:t>
            </a:r>
            <a:r>
              <a:rPr dirty="0" sz="1200" spc="-5">
                <a:latin typeface="Times New Roman"/>
                <a:cs typeface="Times New Roman"/>
              </a:rPr>
              <a:t> and ‘e’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55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Notice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structure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(actually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collection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trees,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forest)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structure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just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recursion tree, </a:t>
            </a:r>
            <a:r>
              <a:rPr dirty="0" sz="1200" spc="-10">
                <a:latin typeface="Times New Roman"/>
                <a:cs typeface="Times New Roman"/>
              </a:rPr>
              <a:t>where the </a:t>
            </a:r>
            <a:r>
              <a:rPr dirty="0" sz="1200" spc="-5">
                <a:latin typeface="Times New Roman"/>
                <a:cs typeface="Times New Roman"/>
              </a:rPr>
              <a:t>edge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arises when processing </a:t>
            </a:r>
            <a:r>
              <a:rPr dirty="0" sz="1200" spc="-15">
                <a:latin typeface="Times New Roman"/>
                <a:cs typeface="Times New Roman"/>
              </a:rPr>
              <a:t>vertex </a:t>
            </a:r>
            <a:r>
              <a:rPr dirty="0" sz="1200" spc="-5">
                <a:latin typeface="Times New Roman"/>
                <a:cs typeface="Times New Roman"/>
              </a:rPr>
              <a:t>u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call </a:t>
            </a:r>
            <a:r>
              <a:rPr dirty="0" sz="1200" spc="50">
                <a:latin typeface="Times New Roman"/>
                <a:cs typeface="Times New Roman"/>
              </a:rPr>
              <a:t>DFSV</a:t>
            </a:r>
            <a:r>
              <a:rPr dirty="0" sz="950" spc="50">
                <a:latin typeface="Times New Roman"/>
                <a:cs typeface="Times New Roman"/>
              </a:rPr>
              <a:t>ISIT</a:t>
            </a:r>
            <a:r>
              <a:rPr dirty="0" sz="1200" spc="50">
                <a:latin typeface="Times New Roman"/>
                <a:cs typeface="Times New Roman"/>
              </a:rPr>
              <a:t>(</a:t>
            </a:r>
            <a:r>
              <a:rPr dirty="0" sz="950" spc="50">
                <a:latin typeface="Times New Roman"/>
                <a:cs typeface="Times New Roman"/>
              </a:rPr>
              <a:t>V</a:t>
            </a:r>
            <a:r>
              <a:rPr dirty="0" sz="1200" spc="50">
                <a:latin typeface="Times New Roman"/>
                <a:cs typeface="Times New Roman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 spc="-10">
                <a:latin typeface="Times New Roman"/>
                <a:cs typeface="Times New Roman"/>
              </a:rPr>
              <a:t>neighbor 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r>
              <a:rPr dirty="0" sz="1200" spc="-15">
                <a:latin typeface="Times New Roman"/>
                <a:cs typeface="Times New Roman"/>
              </a:rPr>
              <a:t> For </a:t>
            </a:r>
            <a:r>
              <a:rPr dirty="0" sz="1200" spc="-10" i="1">
                <a:latin typeface="Times New Roman"/>
                <a:cs typeface="Times New Roman"/>
              </a:rPr>
              <a:t>directed graphs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edges that are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part 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tree (indicated as dashed edges 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Figures </a:t>
            </a:r>
            <a:r>
              <a:rPr dirty="0" sz="1200" spc="-10">
                <a:latin typeface="Times New Roman"/>
                <a:cs typeface="Times New Roman"/>
              </a:rPr>
              <a:t>8.21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8.25)</a:t>
            </a:r>
            <a:r>
              <a:rPr dirty="0" sz="1200" spc="-5">
                <a:latin typeface="Times New Roman"/>
                <a:cs typeface="Times New Roman"/>
              </a:rPr>
              <a:t> edges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graph can be </a:t>
            </a:r>
            <a:r>
              <a:rPr dirty="0" sz="1200" spc="-10">
                <a:latin typeface="Times New Roman"/>
                <a:cs typeface="Times New Roman"/>
              </a:rPr>
              <a:t>classified</a:t>
            </a:r>
            <a:r>
              <a:rPr dirty="0" sz="1200" spc="-5">
                <a:latin typeface="Times New Roman"/>
                <a:cs typeface="Times New Roman"/>
              </a:rPr>
              <a:t> as </a:t>
            </a:r>
            <a:r>
              <a:rPr dirty="0" sz="1200" spc="-10">
                <a:latin typeface="Times New Roman"/>
                <a:cs typeface="Times New Roman"/>
              </a:rPr>
              <a:t>follows: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914412" y="8828023"/>
            <a:ext cx="3514725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-5" b="1">
                <a:latin typeface="Times New Roman"/>
                <a:cs typeface="Times New Roman"/>
              </a:rPr>
              <a:t>B</a:t>
            </a:r>
            <a:r>
              <a:rPr dirty="0" sz="1200" spc="-10" b="1">
                <a:latin typeface="Times New Roman"/>
                <a:cs typeface="Times New Roman"/>
              </a:rPr>
              <a:t>a</a:t>
            </a:r>
            <a:r>
              <a:rPr dirty="0" sz="1200" spc="-5" b="1">
                <a:latin typeface="Times New Roman"/>
                <a:cs typeface="Times New Roman"/>
              </a:rPr>
              <a:t>ck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ed</a:t>
            </a:r>
            <a:r>
              <a:rPr dirty="0" sz="1200" spc="-10" b="1">
                <a:latin typeface="Times New Roman"/>
                <a:cs typeface="Times New Roman"/>
              </a:rPr>
              <a:t>g</a:t>
            </a:r>
            <a:r>
              <a:rPr dirty="0" sz="1200" spc="-5" b="1">
                <a:latin typeface="Times New Roman"/>
                <a:cs typeface="Times New Roman"/>
              </a:rPr>
              <a:t>e: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 spc="-1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216203" y="2986379"/>
            <a:ext cx="99695" cy="145415"/>
          </a:xfrm>
          <a:custGeom>
            <a:avLst/>
            <a:gdLst/>
            <a:ahLst/>
            <a:cxnLst/>
            <a:rect l="l" t="t" r="r" b="b"/>
            <a:pathLst>
              <a:path w="99695" h="145414">
                <a:moveTo>
                  <a:pt x="99453" y="0"/>
                </a:moveTo>
                <a:lnTo>
                  <a:pt x="0" y="0"/>
                </a:lnTo>
                <a:lnTo>
                  <a:pt x="0" y="145160"/>
                </a:lnTo>
                <a:lnTo>
                  <a:pt x="99453" y="145160"/>
                </a:lnTo>
                <a:lnTo>
                  <a:pt x="99453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3603307" y="2810065"/>
            <a:ext cx="3656965" cy="321945"/>
          </a:xfrm>
          <a:custGeom>
            <a:avLst/>
            <a:gdLst/>
            <a:ahLst/>
            <a:cxnLst/>
            <a:rect l="l" t="t" r="r" b="b"/>
            <a:pathLst>
              <a:path w="3656965" h="321944">
                <a:moveTo>
                  <a:pt x="3565931" y="176314"/>
                </a:moveTo>
                <a:lnTo>
                  <a:pt x="0" y="176314"/>
                </a:lnTo>
                <a:lnTo>
                  <a:pt x="0" y="321475"/>
                </a:lnTo>
                <a:lnTo>
                  <a:pt x="3565931" y="321475"/>
                </a:lnTo>
                <a:lnTo>
                  <a:pt x="3565931" y="176314"/>
                </a:lnTo>
                <a:close/>
              </a:path>
              <a:path w="3656965" h="321944">
                <a:moveTo>
                  <a:pt x="3656876" y="0"/>
                </a:moveTo>
                <a:lnTo>
                  <a:pt x="2602039" y="0"/>
                </a:lnTo>
                <a:lnTo>
                  <a:pt x="2602039" y="138023"/>
                </a:lnTo>
                <a:lnTo>
                  <a:pt x="3656876" y="138023"/>
                </a:lnTo>
                <a:lnTo>
                  <a:pt x="3656876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901699" y="520987"/>
            <a:ext cx="1764664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8.1.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 spc="-25">
                <a:latin typeface="Times New Roman"/>
                <a:cs typeface="Times New Roman"/>
              </a:rPr>
              <a:t> TRAVERSAL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12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4400" y="978928"/>
            <a:ext cx="4282440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-10" b="1">
                <a:latin typeface="Times New Roman"/>
                <a:cs typeface="Times New Roman"/>
              </a:rPr>
              <a:t>Forward</a:t>
            </a:r>
            <a:r>
              <a:rPr dirty="0" sz="1200" spc="-5" b="1">
                <a:latin typeface="Times New Roman"/>
                <a:cs typeface="Times New Roman"/>
              </a:rPr>
              <a:t> edge:</a:t>
            </a:r>
            <a:r>
              <a:rPr dirty="0" sz="1200" spc="285" b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 </a:t>
            </a:r>
            <a:r>
              <a:rPr dirty="0" sz="1200" spc="-10">
                <a:latin typeface="Times New Roman"/>
                <a:cs typeface="Times New Roman"/>
              </a:rPr>
              <a:t>proper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descendent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tree.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4400" y="1819833"/>
            <a:ext cx="6167755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-10" b="1">
                <a:latin typeface="Times New Roman"/>
                <a:cs typeface="Times New Roman"/>
              </a:rPr>
              <a:t>Cross</a:t>
            </a:r>
            <a:r>
              <a:rPr dirty="0" sz="1200" spc="-5" b="1">
                <a:latin typeface="Times New Roman"/>
                <a:cs typeface="Times New Roman"/>
              </a:rPr>
              <a:t> edge: 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ancestor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descendent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another.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fact,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68791" y="1767358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286116" y="2009965"/>
            <a:ext cx="234886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go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r>
              <a:rPr dirty="0" sz="1200" spc="-10">
                <a:latin typeface="Times New Roman"/>
                <a:cs typeface="Times New Roman"/>
              </a:rPr>
              <a:t> different </a:t>
            </a:r>
            <a:r>
              <a:rPr dirty="0" sz="1200" spc="-5">
                <a:latin typeface="Times New Roman"/>
                <a:cs typeface="Times New Roman"/>
              </a:rPr>
              <a:t>trees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forest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621756" y="1950810"/>
            <a:ext cx="635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14400" y="2810065"/>
            <a:ext cx="525716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ancestor 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descendent relation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be nicely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inferred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parenthesis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lemma.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192651" y="2750909"/>
            <a:ext cx="10801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esce</a:t>
            </a:r>
            <a:r>
              <a:rPr dirty="0" sz="1200" spc="-10">
                <a:latin typeface="Times New Roman"/>
                <a:cs typeface="Times New Roman"/>
              </a:rPr>
              <a:t>nd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14400" y="2986379"/>
            <a:ext cx="2654935" cy="14541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5"/>
              </a:lnSpc>
            </a:pP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f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Garamond"/>
                <a:cs typeface="Garamond"/>
              </a:rPr>
              <a:t>]]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⊆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f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590606" y="2934361"/>
            <a:ext cx="3736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 spc="-1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f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Garamond"/>
                <a:cs typeface="Garamond"/>
              </a:rPr>
              <a:t>]]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⊇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f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14400" y="3169831"/>
            <a:ext cx="4147820" cy="14541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5"/>
              </a:lnSpc>
            </a:pPr>
            <a:r>
              <a:rPr dirty="0" sz="1200" spc="-5">
                <a:latin typeface="Times New Roman"/>
                <a:cs typeface="Times New Roman"/>
              </a:rPr>
              <a:t>is unrelated to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if </a:t>
            </a:r>
            <a:r>
              <a:rPr dirty="0" sz="1200" spc="-10">
                <a:latin typeface="Garamond"/>
                <a:cs typeface="Garamond"/>
              </a:rPr>
              <a:t>[</a:t>
            </a:r>
            <a:r>
              <a:rPr dirty="0" sz="1200" spc="-10">
                <a:latin typeface="Lucida Sans Unicode"/>
                <a:cs typeface="Lucida Sans Unicode"/>
              </a:rPr>
              <a:t>d</a:t>
            </a:r>
            <a:r>
              <a:rPr dirty="0" sz="1200" spc="-10">
                <a:latin typeface="Garamond"/>
                <a:cs typeface="Garamond"/>
              </a:rPr>
              <a:t>[</a:t>
            </a:r>
            <a:r>
              <a:rPr dirty="0" sz="1200" spc="-10">
                <a:latin typeface="Lucida Sans Unicode"/>
                <a:cs typeface="Lucida Sans Unicode"/>
              </a:rPr>
              <a:t>u</a:t>
            </a:r>
            <a:r>
              <a:rPr dirty="0" sz="1200" spc="-10">
                <a:latin typeface="Garamond"/>
                <a:cs typeface="Garamond"/>
              </a:rPr>
              <a:t>]</a:t>
            </a:r>
            <a:r>
              <a:rPr dirty="0" sz="1200" spc="-1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f</a:t>
            </a:r>
            <a:r>
              <a:rPr dirty="0" sz="1200" spc="15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15">
                <a:latin typeface="Garamond"/>
                <a:cs typeface="Garamond"/>
              </a:rPr>
              <a:t>]]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2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f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v</a:t>
            </a:r>
            <a:r>
              <a:rPr dirty="0" sz="1200" spc="5">
                <a:latin typeface="Garamond"/>
                <a:cs typeface="Garamond"/>
              </a:rPr>
              <a:t>]]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disjoint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048830" y="3117812"/>
            <a:ext cx="2131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 spc="-10">
                <a:latin typeface="Times New Roman"/>
                <a:cs typeface="Times New Roman"/>
              </a:rPr>
              <a:t>Figure 8.26.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01709" y="3301263"/>
            <a:ext cx="6372860" cy="9417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width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rectangle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associated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discovered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processed (colored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black).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Imagine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Times New Roman"/>
                <a:cs typeface="Times New Roman"/>
              </a:rPr>
              <a:t>opening</a:t>
            </a:r>
            <a:r>
              <a:rPr dirty="0" sz="1200" spc="-5">
                <a:latin typeface="Times New Roman"/>
                <a:cs typeface="Times New Roman"/>
              </a:rPr>
              <a:t> parenthesis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‘(’ 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start 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rectangle and and closing parenthesis ‘)’ 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end of the rectangle.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rectangle (parentheses)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‘b’</a:t>
            </a:r>
            <a:r>
              <a:rPr dirty="0" sz="1200" spc="-5">
                <a:latin typeface="Times New Roman"/>
                <a:cs typeface="Times New Roman"/>
              </a:rPr>
              <a:t> is completely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enclosed by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rectangle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‘a’.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Rectangle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‘c’ is completely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enclosed by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10">
                <a:latin typeface="Times New Roman"/>
                <a:cs typeface="Times New Roman"/>
              </a:rPr>
              <a:t> ‘b’</a:t>
            </a:r>
            <a:r>
              <a:rPr dirty="0" sz="1200" spc="-5">
                <a:latin typeface="Times New Roman"/>
                <a:cs typeface="Times New Roman"/>
              </a:rPr>
              <a:t> rectangle.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1772411" y="4846238"/>
            <a:ext cx="4648200" cy="2796540"/>
          </a:xfrm>
          <a:custGeom>
            <a:avLst/>
            <a:gdLst/>
            <a:ahLst/>
            <a:cxnLst/>
            <a:rect l="l" t="t" r="r" b="b"/>
            <a:pathLst>
              <a:path w="4648200" h="2796540">
                <a:moveTo>
                  <a:pt x="4648001" y="0"/>
                </a:moveTo>
                <a:lnTo>
                  <a:pt x="0" y="0"/>
                </a:lnTo>
                <a:lnTo>
                  <a:pt x="0" y="2796113"/>
                </a:lnTo>
                <a:lnTo>
                  <a:pt x="4648001" y="2796113"/>
                </a:lnTo>
                <a:lnTo>
                  <a:pt x="4648001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1922908" y="4899931"/>
          <a:ext cx="2964180" cy="24853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8295"/>
                <a:gridCol w="328930"/>
                <a:gridCol w="153034"/>
                <a:gridCol w="175259"/>
                <a:gridCol w="328294"/>
                <a:gridCol w="328930"/>
                <a:gridCol w="328930"/>
                <a:gridCol w="167005"/>
                <a:gridCol w="160019"/>
                <a:gridCol w="328930"/>
                <a:gridCol w="323850"/>
              </a:tblGrid>
              <a:tr h="1534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8264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marL="100965">
                        <a:lnSpc>
                          <a:spcPts val="1340"/>
                        </a:lnSpc>
                      </a:pPr>
                      <a:r>
                        <a:rPr dirty="0" sz="1600" i="1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</a:tr>
              <a:tr h="638918">
                <a:tc row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 row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 row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</a:tr>
              <a:tr h="181259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10489">
                        <a:lnSpc>
                          <a:spcPts val="1325"/>
                        </a:lnSpc>
                      </a:pPr>
                      <a:r>
                        <a:rPr dirty="0" sz="1600" i="1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b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marR="13970">
                        <a:lnSpc>
                          <a:spcPts val="1325"/>
                        </a:lnSpc>
                      </a:pPr>
                      <a:r>
                        <a:rPr dirty="0" sz="1600" i="1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</a:tr>
              <a:tr h="765669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190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285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28575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</a:tr>
              <a:tr h="181954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99695">
                        <a:lnSpc>
                          <a:spcPts val="1335"/>
                        </a:lnSpc>
                      </a:pPr>
                      <a:r>
                        <a:rPr dirty="0" sz="1600" i="1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c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93980">
                        <a:lnSpc>
                          <a:spcPts val="1335"/>
                        </a:lnSpc>
                      </a:pPr>
                      <a:r>
                        <a:rPr dirty="0" sz="1600" i="1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g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952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</a:tr>
              <a:tr h="375368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5206412" y="4899931"/>
          <a:ext cx="995680" cy="24853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8930"/>
                <a:gridCol w="172085"/>
                <a:gridCol w="156209"/>
                <a:gridCol w="328294"/>
              </a:tblGrid>
              <a:tr h="1548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1819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93345">
                        <a:lnSpc>
                          <a:spcPts val="1335"/>
                        </a:lnSpc>
                      </a:pPr>
                      <a:r>
                        <a:rPr dirty="0" sz="1600" i="1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d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</a:tr>
              <a:tr h="651423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285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28575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</a:tr>
              <a:tr h="181259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97790">
                        <a:lnSpc>
                          <a:spcPts val="1325"/>
                        </a:lnSpc>
                      </a:pPr>
                      <a:r>
                        <a:rPr dirty="0" sz="1600" i="1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e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</a:tr>
              <a:tr h="1309801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FFFF00"/>
                      </a:solidFill>
                      <a:prstDash val="solid"/>
                    </a:lnL>
                    <a:lnR w="6350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grpSp>
        <p:nvGrpSpPr>
          <p:cNvPr id="21" name="object 21"/>
          <p:cNvGrpSpPr/>
          <p:nvPr/>
        </p:nvGrpSpPr>
        <p:grpSpPr>
          <a:xfrm>
            <a:off x="2730703" y="5236525"/>
            <a:ext cx="334010" cy="631825"/>
            <a:chOff x="2730703" y="5236525"/>
            <a:chExt cx="334010" cy="631825"/>
          </a:xfrm>
        </p:grpSpPr>
        <p:sp>
          <p:nvSpPr>
            <p:cNvPr id="22" name="object 22"/>
            <p:cNvSpPr/>
            <p:nvPr/>
          </p:nvSpPr>
          <p:spPr>
            <a:xfrm>
              <a:off x="2753624" y="5245206"/>
              <a:ext cx="302260" cy="579755"/>
            </a:xfrm>
            <a:custGeom>
              <a:avLst/>
              <a:gdLst/>
              <a:ahLst/>
              <a:cxnLst/>
              <a:rect l="l" t="t" r="r" b="b"/>
              <a:pathLst>
                <a:path w="302260" h="579754">
                  <a:moveTo>
                    <a:pt x="302102" y="0"/>
                  </a:moveTo>
                  <a:lnTo>
                    <a:pt x="0" y="579196"/>
                  </a:lnTo>
                </a:path>
              </a:pathLst>
            </a:custGeom>
            <a:ln w="1736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730703" y="5795233"/>
              <a:ext cx="59055" cy="73025"/>
            </a:xfrm>
            <a:custGeom>
              <a:avLst/>
              <a:gdLst/>
              <a:ahLst/>
              <a:cxnLst/>
              <a:rect l="l" t="t" r="r" b="b"/>
              <a:pathLst>
                <a:path w="59055" h="73025">
                  <a:moveTo>
                    <a:pt x="1386" y="0"/>
                  </a:moveTo>
                  <a:lnTo>
                    <a:pt x="0" y="72923"/>
                  </a:lnTo>
                  <a:lnTo>
                    <a:pt x="59039" y="29870"/>
                  </a:lnTo>
                  <a:lnTo>
                    <a:pt x="51389" y="29870"/>
                  </a:lnTo>
                  <a:lnTo>
                    <a:pt x="43068" y="28468"/>
                  </a:lnTo>
                  <a:lnTo>
                    <a:pt x="39593" y="27081"/>
                  </a:lnTo>
                  <a:lnTo>
                    <a:pt x="35417" y="25694"/>
                  </a:lnTo>
                  <a:lnTo>
                    <a:pt x="28483" y="22920"/>
                  </a:lnTo>
                  <a:lnTo>
                    <a:pt x="14584" y="14584"/>
                  </a:lnTo>
                  <a:lnTo>
                    <a:pt x="3474" y="3474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/>
          <p:cNvGrpSpPr/>
          <p:nvPr/>
        </p:nvGrpSpPr>
        <p:grpSpPr>
          <a:xfrm>
            <a:off x="3663046" y="5236525"/>
            <a:ext cx="393065" cy="651510"/>
            <a:chOff x="3663046" y="5236525"/>
            <a:chExt cx="393065" cy="651510"/>
          </a:xfrm>
        </p:grpSpPr>
        <p:sp>
          <p:nvSpPr>
            <p:cNvPr id="25" name="object 25"/>
            <p:cNvSpPr/>
            <p:nvPr/>
          </p:nvSpPr>
          <p:spPr>
            <a:xfrm>
              <a:off x="3671727" y="5245206"/>
              <a:ext cx="358775" cy="600075"/>
            </a:xfrm>
            <a:custGeom>
              <a:avLst/>
              <a:gdLst/>
              <a:ahLst/>
              <a:cxnLst/>
              <a:rect l="l" t="t" r="r" b="b"/>
              <a:pathLst>
                <a:path w="358775" h="600075">
                  <a:moveTo>
                    <a:pt x="0" y="0"/>
                  </a:moveTo>
                  <a:lnTo>
                    <a:pt x="358353" y="600029"/>
                  </a:lnTo>
                </a:path>
              </a:pathLst>
            </a:custGeom>
            <a:ln w="1736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993962" y="5814679"/>
              <a:ext cx="62230" cy="73025"/>
            </a:xfrm>
            <a:custGeom>
              <a:avLst/>
              <a:gdLst/>
              <a:ahLst/>
              <a:cxnLst/>
              <a:rect l="l" t="t" r="r" b="b"/>
              <a:pathLst>
                <a:path w="62229" h="73025">
                  <a:moveTo>
                    <a:pt x="56266" y="0"/>
                  </a:moveTo>
                  <a:lnTo>
                    <a:pt x="54178" y="3474"/>
                  </a:lnTo>
                  <a:lnTo>
                    <a:pt x="51404" y="6949"/>
                  </a:lnTo>
                  <a:lnTo>
                    <a:pt x="40279" y="18059"/>
                  </a:lnTo>
                  <a:lnTo>
                    <a:pt x="36819" y="20147"/>
                  </a:lnTo>
                  <a:lnTo>
                    <a:pt x="34030" y="22219"/>
                  </a:lnTo>
                  <a:lnTo>
                    <a:pt x="27096" y="26395"/>
                  </a:lnTo>
                  <a:lnTo>
                    <a:pt x="22920" y="27782"/>
                  </a:lnTo>
                  <a:lnTo>
                    <a:pt x="19446" y="29870"/>
                  </a:lnTo>
                  <a:lnTo>
                    <a:pt x="15986" y="30556"/>
                  </a:lnTo>
                  <a:lnTo>
                    <a:pt x="11810" y="31943"/>
                  </a:lnTo>
                  <a:lnTo>
                    <a:pt x="7650" y="32644"/>
                  </a:lnTo>
                  <a:lnTo>
                    <a:pt x="4175" y="33329"/>
                  </a:lnTo>
                  <a:lnTo>
                    <a:pt x="0" y="34030"/>
                  </a:lnTo>
                  <a:lnTo>
                    <a:pt x="61813" y="72923"/>
                  </a:lnTo>
                  <a:lnTo>
                    <a:pt x="5626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7" name="object 2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76000" y="5815381"/>
            <a:ext cx="65288" cy="65973"/>
          </a:xfrm>
          <a:prstGeom prst="rect">
            <a:avLst/>
          </a:prstGeom>
        </p:spPr>
      </p:pic>
      <p:pic>
        <p:nvPicPr>
          <p:cNvPr id="28" name="object 2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704322" y="6750842"/>
            <a:ext cx="65272" cy="65272"/>
          </a:xfrm>
          <a:prstGeom prst="rect">
            <a:avLst/>
          </a:prstGeom>
        </p:spPr>
      </p:pic>
      <p:pic>
        <p:nvPicPr>
          <p:cNvPr id="29" name="object 2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035643" y="6757090"/>
            <a:ext cx="65272" cy="65288"/>
          </a:xfrm>
          <a:prstGeom prst="rect">
            <a:avLst/>
          </a:prstGeom>
        </p:spPr>
      </p:pic>
      <p:sp>
        <p:nvSpPr>
          <p:cNvPr id="30" name="object 30"/>
          <p:cNvSpPr txBox="1"/>
          <p:nvPr/>
        </p:nvSpPr>
        <p:spPr>
          <a:xfrm>
            <a:off x="1854770" y="7362484"/>
            <a:ext cx="4439285" cy="5537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40995" algn="l"/>
                <a:tab pos="669925" algn="l"/>
                <a:tab pos="999490" algn="l"/>
                <a:tab pos="1327785" algn="l"/>
                <a:tab pos="1656714" algn="l"/>
                <a:tab pos="1986280" algn="l"/>
                <a:tab pos="2314575" algn="l"/>
                <a:tab pos="2643505" algn="l"/>
                <a:tab pos="2917190" algn="l"/>
                <a:tab pos="3246755" algn="l"/>
                <a:tab pos="3575050" algn="l"/>
                <a:tab pos="3903979" algn="l"/>
                <a:tab pos="4232910" algn="l"/>
              </a:tabLst>
            </a:pP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1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2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3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4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5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6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7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8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9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10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11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12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13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14</a:t>
            </a:r>
            <a:endParaRPr sz="1350">
              <a:latin typeface="Arial"/>
              <a:cs typeface="Arial"/>
            </a:endParaRPr>
          </a:p>
          <a:p>
            <a:pPr algn="ctr" marL="80645">
              <a:lnSpc>
                <a:spcPct val="100000"/>
              </a:lnSpc>
              <a:spcBef>
                <a:spcPts val="108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8.26: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Parenthesis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lemma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01699" y="8592095"/>
            <a:ext cx="615759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8.27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classification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non-tree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based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parenthesis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lemma.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labelled ‘F’, ‘B’ and ‘C’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forward,</a:t>
            </a:r>
            <a:r>
              <a:rPr dirty="0" sz="1200" spc="-5">
                <a:latin typeface="Times New Roman"/>
                <a:cs typeface="Times New Roman"/>
              </a:rPr>
              <a:t> back and cross edge </a:t>
            </a:r>
            <a:r>
              <a:rPr dirty="0" sz="1200" spc="-15">
                <a:latin typeface="Times New Roman"/>
                <a:cs typeface="Times New Roman"/>
              </a:rPr>
              <a:t>respectively.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13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229611" y="938550"/>
            <a:ext cx="3733800" cy="3896995"/>
            <a:chOff x="2229611" y="938550"/>
            <a:chExt cx="3733800" cy="3896995"/>
          </a:xfrm>
        </p:grpSpPr>
        <p:sp>
          <p:nvSpPr>
            <p:cNvPr id="5" name="object 5"/>
            <p:cNvSpPr/>
            <p:nvPr/>
          </p:nvSpPr>
          <p:spPr>
            <a:xfrm>
              <a:off x="2229611" y="938550"/>
              <a:ext cx="3733800" cy="3896995"/>
            </a:xfrm>
            <a:custGeom>
              <a:avLst/>
              <a:gdLst/>
              <a:ahLst/>
              <a:cxnLst/>
              <a:rect l="l" t="t" r="r" b="b"/>
              <a:pathLst>
                <a:path w="3733800" h="3896995">
                  <a:moveTo>
                    <a:pt x="3733601" y="0"/>
                  </a:moveTo>
                  <a:lnTo>
                    <a:pt x="0" y="0"/>
                  </a:lnTo>
                  <a:lnTo>
                    <a:pt x="0" y="3896593"/>
                  </a:lnTo>
                  <a:lnTo>
                    <a:pt x="3733601" y="3896593"/>
                  </a:lnTo>
                  <a:lnTo>
                    <a:pt x="37336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86376" y="2511470"/>
              <a:ext cx="3489708" cy="2231242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5569252" y="2338612"/>
            <a:ext cx="81280" cy="3194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900" spc="5" i="1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9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536245" y="3816739"/>
            <a:ext cx="149225" cy="3194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900" spc="10" i="1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900">
              <a:latin typeface="Arial"/>
              <a:cs typeface="Aria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3315317" y="4312574"/>
            <a:ext cx="1558290" cy="31750"/>
            <a:chOff x="3315317" y="4312574"/>
            <a:chExt cx="1558290" cy="31750"/>
          </a:xfrm>
        </p:grpSpPr>
        <p:sp>
          <p:nvSpPr>
            <p:cNvPr id="10" name="object 10"/>
            <p:cNvSpPr/>
            <p:nvPr/>
          </p:nvSpPr>
          <p:spPr>
            <a:xfrm>
              <a:off x="3325794" y="4323369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 h="0">
                  <a:moveTo>
                    <a:pt x="0" y="0"/>
                  </a:moveTo>
                  <a:lnTo>
                    <a:pt x="44013" y="0"/>
                  </a:lnTo>
                </a:path>
              </a:pathLst>
            </a:custGeom>
            <a:ln w="2037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413820" y="4323369"/>
              <a:ext cx="44450" cy="1270"/>
            </a:xfrm>
            <a:custGeom>
              <a:avLst/>
              <a:gdLst/>
              <a:ahLst/>
              <a:cxnLst/>
              <a:rect l="l" t="t" r="r" b="b"/>
              <a:pathLst>
                <a:path w="44450" h="1270">
                  <a:moveTo>
                    <a:pt x="-10188" y="609"/>
                  </a:moveTo>
                  <a:lnTo>
                    <a:pt x="54201" y="609"/>
                  </a:lnTo>
                </a:path>
              </a:pathLst>
            </a:custGeom>
            <a:ln w="215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500627" y="4324588"/>
              <a:ext cx="483234" cy="2540"/>
            </a:xfrm>
            <a:custGeom>
              <a:avLst/>
              <a:gdLst/>
              <a:ahLst/>
              <a:cxnLst/>
              <a:rect l="l" t="t" r="r" b="b"/>
              <a:pathLst>
                <a:path w="483235" h="2539">
                  <a:moveTo>
                    <a:pt x="0" y="0"/>
                  </a:moveTo>
                  <a:lnTo>
                    <a:pt x="44013" y="0"/>
                  </a:lnTo>
                </a:path>
                <a:path w="483235" h="2539">
                  <a:moveTo>
                    <a:pt x="88026" y="0"/>
                  </a:moveTo>
                  <a:lnTo>
                    <a:pt x="132039" y="0"/>
                  </a:lnTo>
                </a:path>
                <a:path w="483235" h="2539">
                  <a:moveTo>
                    <a:pt x="176052" y="1219"/>
                  </a:moveTo>
                  <a:lnTo>
                    <a:pt x="220065" y="1219"/>
                  </a:lnTo>
                </a:path>
                <a:path w="483235" h="2539">
                  <a:moveTo>
                    <a:pt x="264078" y="1219"/>
                  </a:moveTo>
                  <a:lnTo>
                    <a:pt x="308091" y="1219"/>
                  </a:lnTo>
                </a:path>
                <a:path w="483235" h="2539">
                  <a:moveTo>
                    <a:pt x="352104" y="2438"/>
                  </a:moveTo>
                  <a:lnTo>
                    <a:pt x="396118" y="2438"/>
                  </a:lnTo>
                </a:path>
                <a:path w="483235" h="2539">
                  <a:moveTo>
                    <a:pt x="438911" y="2438"/>
                  </a:moveTo>
                  <a:lnTo>
                    <a:pt x="482925" y="2438"/>
                  </a:lnTo>
                </a:path>
              </a:pathLst>
            </a:custGeom>
            <a:ln w="2037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027566" y="4327027"/>
              <a:ext cx="44450" cy="1270"/>
            </a:xfrm>
            <a:custGeom>
              <a:avLst/>
              <a:gdLst/>
              <a:ahLst/>
              <a:cxnLst/>
              <a:rect l="l" t="t" r="r" b="b"/>
              <a:pathLst>
                <a:path w="44450" h="1270">
                  <a:moveTo>
                    <a:pt x="-10188" y="609"/>
                  </a:moveTo>
                  <a:lnTo>
                    <a:pt x="54201" y="609"/>
                  </a:lnTo>
                </a:path>
              </a:pathLst>
            </a:custGeom>
            <a:ln w="215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115592" y="4328246"/>
              <a:ext cx="483234" cy="2540"/>
            </a:xfrm>
            <a:custGeom>
              <a:avLst/>
              <a:gdLst/>
              <a:ahLst/>
              <a:cxnLst/>
              <a:rect l="l" t="t" r="r" b="b"/>
              <a:pathLst>
                <a:path w="483235" h="2539">
                  <a:moveTo>
                    <a:pt x="0" y="0"/>
                  </a:moveTo>
                  <a:lnTo>
                    <a:pt x="44013" y="0"/>
                  </a:lnTo>
                </a:path>
                <a:path w="483235" h="2539">
                  <a:moveTo>
                    <a:pt x="88026" y="0"/>
                  </a:moveTo>
                  <a:lnTo>
                    <a:pt x="132039" y="0"/>
                  </a:lnTo>
                </a:path>
                <a:path w="483235" h="2539">
                  <a:moveTo>
                    <a:pt x="176052" y="1234"/>
                  </a:moveTo>
                  <a:lnTo>
                    <a:pt x="220065" y="1234"/>
                  </a:lnTo>
                </a:path>
                <a:path w="483235" h="2539">
                  <a:moveTo>
                    <a:pt x="264078" y="1234"/>
                  </a:moveTo>
                  <a:lnTo>
                    <a:pt x="306872" y="1234"/>
                  </a:lnTo>
                </a:path>
                <a:path w="483235" h="2539">
                  <a:moveTo>
                    <a:pt x="350885" y="2453"/>
                  </a:moveTo>
                  <a:lnTo>
                    <a:pt x="394898" y="2453"/>
                  </a:lnTo>
                </a:path>
                <a:path w="483235" h="2539">
                  <a:moveTo>
                    <a:pt x="438911" y="2453"/>
                  </a:moveTo>
                  <a:lnTo>
                    <a:pt x="482925" y="2453"/>
                  </a:lnTo>
                </a:path>
              </a:pathLst>
            </a:custGeom>
            <a:ln w="2037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642530" y="4330700"/>
              <a:ext cx="44450" cy="1270"/>
            </a:xfrm>
            <a:custGeom>
              <a:avLst/>
              <a:gdLst/>
              <a:ahLst/>
              <a:cxnLst/>
              <a:rect l="l" t="t" r="r" b="b"/>
              <a:pathLst>
                <a:path w="44450" h="1270">
                  <a:moveTo>
                    <a:pt x="-10188" y="609"/>
                  </a:moveTo>
                  <a:lnTo>
                    <a:pt x="54201" y="609"/>
                  </a:lnTo>
                </a:path>
              </a:pathLst>
            </a:custGeom>
            <a:ln w="215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730556" y="4331919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 h="0">
                  <a:moveTo>
                    <a:pt x="0" y="0"/>
                  </a:moveTo>
                  <a:lnTo>
                    <a:pt x="44013" y="0"/>
                  </a:lnTo>
                </a:path>
              </a:pathLst>
            </a:custGeom>
            <a:ln w="2037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818583" y="4331919"/>
              <a:ext cx="44450" cy="1270"/>
            </a:xfrm>
            <a:custGeom>
              <a:avLst/>
              <a:gdLst/>
              <a:ahLst/>
              <a:cxnLst/>
              <a:rect l="l" t="t" r="r" b="b"/>
              <a:pathLst>
                <a:path w="44450" h="1270">
                  <a:moveTo>
                    <a:pt x="-10188" y="609"/>
                  </a:moveTo>
                  <a:lnTo>
                    <a:pt x="54201" y="609"/>
                  </a:lnTo>
                </a:path>
              </a:pathLst>
            </a:custGeom>
            <a:ln w="215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/>
          <p:nvPr/>
        </p:nvSpPr>
        <p:spPr>
          <a:xfrm>
            <a:off x="2886886" y="2338612"/>
            <a:ext cx="149225" cy="3194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900" spc="10" i="1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9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899104" y="3816739"/>
            <a:ext cx="135255" cy="3194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900" spc="10" i="1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9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750029" y="2317824"/>
            <a:ext cx="618490" cy="65405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469265">
              <a:lnSpc>
                <a:spcPct val="100000"/>
              </a:lnSpc>
              <a:spcBef>
                <a:spcPts val="290"/>
              </a:spcBef>
            </a:pPr>
            <a:r>
              <a:rPr dirty="0" sz="1900" spc="10" i="1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1/10</a:t>
            </a:r>
            <a:endParaRPr sz="19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478531" y="2652823"/>
            <a:ext cx="353060" cy="3194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2/5</a:t>
            </a:r>
            <a:endParaRPr sz="19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149901" y="2647934"/>
            <a:ext cx="353060" cy="3194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6/9</a:t>
            </a:r>
            <a:endParaRPr sz="1900">
              <a:latin typeface="Arial"/>
              <a:cs typeface="Arial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3616569" y="1221431"/>
            <a:ext cx="2201545" cy="1246505"/>
            <a:chOff x="3616569" y="1221431"/>
            <a:chExt cx="2201545" cy="1246505"/>
          </a:xfrm>
        </p:grpSpPr>
        <p:sp>
          <p:nvSpPr>
            <p:cNvPr id="24" name="object 24"/>
            <p:cNvSpPr/>
            <p:nvPr/>
          </p:nvSpPr>
          <p:spPr>
            <a:xfrm>
              <a:off x="3621664" y="1226525"/>
              <a:ext cx="830580" cy="451484"/>
            </a:xfrm>
            <a:custGeom>
              <a:avLst/>
              <a:gdLst/>
              <a:ahLst/>
              <a:cxnLst/>
              <a:rect l="l" t="t" r="r" b="b"/>
              <a:pathLst>
                <a:path w="830579" h="451485">
                  <a:moveTo>
                    <a:pt x="437692" y="0"/>
                  </a:moveTo>
                  <a:lnTo>
                    <a:pt x="392445" y="0"/>
                  </a:lnTo>
                  <a:lnTo>
                    <a:pt x="347212" y="2453"/>
                  </a:lnTo>
                  <a:lnTo>
                    <a:pt x="304418" y="7330"/>
                  </a:lnTo>
                  <a:lnTo>
                    <a:pt x="261640" y="15895"/>
                  </a:lnTo>
                  <a:lnTo>
                    <a:pt x="221284" y="25679"/>
                  </a:lnTo>
                  <a:lnTo>
                    <a:pt x="182163" y="37901"/>
                  </a:lnTo>
                  <a:lnTo>
                    <a:pt x="146715" y="52577"/>
                  </a:lnTo>
                  <a:lnTo>
                    <a:pt x="84353" y="89245"/>
                  </a:lnTo>
                  <a:lnTo>
                    <a:pt x="37901" y="130820"/>
                  </a:lnTo>
                  <a:lnTo>
                    <a:pt x="9784" y="177271"/>
                  </a:lnTo>
                  <a:lnTo>
                    <a:pt x="0" y="226176"/>
                  </a:lnTo>
                  <a:lnTo>
                    <a:pt x="2438" y="250637"/>
                  </a:lnTo>
                  <a:lnTo>
                    <a:pt x="22006" y="298307"/>
                  </a:lnTo>
                  <a:lnTo>
                    <a:pt x="59908" y="342320"/>
                  </a:lnTo>
                  <a:lnTo>
                    <a:pt x="113705" y="381457"/>
                  </a:lnTo>
                  <a:lnTo>
                    <a:pt x="182163" y="413232"/>
                  </a:lnTo>
                  <a:lnTo>
                    <a:pt x="221284" y="425470"/>
                  </a:lnTo>
                  <a:lnTo>
                    <a:pt x="261640" y="436473"/>
                  </a:lnTo>
                  <a:lnTo>
                    <a:pt x="304418" y="443804"/>
                  </a:lnTo>
                  <a:lnTo>
                    <a:pt x="347212" y="448696"/>
                  </a:lnTo>
                  <a:lnTo>
                    <a:pt x="392445" y="451134"/>
                  </a:lnTo>
                  <a:lnTo>
                    <a:pt x="437692" y="451134"/>
                  </a:lnTo>
                  <a:lnTo>
                    <a:pt x="481705" y="448696"/>
                  </a:lnTo>
                  <a:lnTo>
                    <a:pt x="525719" y="443804"/>
                  </a:lnTo>
                  <a:lnTo>
                    <a:pt x="568497" y="436473"/>
                  </a:lnTo>
                  <a:lnTo>
                    <a:pt x="610072" y="425470"/>
                  </a:lnTo>
                  <a:lnTo>
                    <a:pt x="647974" y="413232"/>
                  </a:lnTo>
                  <a:lnTo>
                    <a:pt x="684656" y="398571"/>
                  </a:lnTo>
                  <a:lnTo>
                    <a:pt x="745784" y="363108"/>
                  </a:lnTo>
                  <a:lnTo>
                    <a:pt x="791016" y="320314"/>
                  </a:lnTo>
                  <a:lnTo>
                    <a:pt x="820353" y="273862"/>
                  </a:lnTo>
                  <a:lnTo>
                    <a:pt x="830138" y="226176"/>
                  </a:lnTo>
                  <a:lnTo>
                    <a:pt x="827699" y="201731"/>
                  </a:lnTo>
                  <a:lnTo>
                    <a:pt x="808131" y="152826"/>
                  </a:lnTo>
                  <a:lnTo>
                    <a:pt x="771448" y="108813"/>
                  </a:lnTo>
                  <a:lnTo>
                    <a:pt x="716432" y="69692"/>
                  </a:lnTo>
                  <a:lnTo>
                    <a:pt x="647974" y="37901"/>
                  </a:lnTo>
                  <a:lnTo>
                    <a:pt x="610072" y="25679"/>
                  </a:lnTo>
                  <a:lnTo>
                    <a:pt x="568497" y="15895"/>
                  </a:lnTo>
                  <a:lnTo>
                    <a:pt x="525719" y="7330"/>
                  </a:lnTo>
                  <a:lnTo>
                    <a:pt x="481705" y="2453"/>
                  </a:lnTo>
                  <a:lnTo>
                    <a:pt x="43769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621664" y="1226525"/>
              <a:ext cx="830580" cy="451484"/>
            </a:xfrm>
            <a:custGeom>
              <a:avLst/>
              <a:gdLst/>
              <a:ahLst/>
              <a:cxnLst/>
              <a:rect l="l" t="t" r="r" b="b"/>
              <a:pathLst>
                <a:path w="830579" h="451485">
                  <a:moveTo>
                    <a:pt x="0" y="226176"/>
                  </a:moveTo>
                  <a:lnTo>
                    <a:pt x="9784" y="177271"/>
                  </a:lnTo>
                  <a:lnTo>
                    <a:pt x="37901" y="130820"/>
                  </a:lnTo>
                  <a:lnTo>
                    <a:pt x="84353" y="89245"/>
                  </a:lnTo>
                  <a:lnTo>
                    <a:pt x="146715" y="52577"/>
                  </a:lnTo>
                  <a:lnTo>
                    <a:pt x="182163" y="37901"/>
                  </a:lnTo>
                  <a:lnTo>
                    <a:pt x="221284" y="25679"/>
                  </a:lnTo>
                  <a:lnTo>
                    <a:pt x="261640" y="15895"/>
                  </a:lnTo>
                  <a:lnTo>
                    <a:pt x="304418" y="7330"/>
                  </a:lnTo>
                  <a:lnTo>
                    <a:pt x="347212" y="2453"/>
                  </a:lnTo>
                  <a:lnTo>
                    <a:pt x="392445" y="0"/>
                  </a:lnTo>
                  <a:lnTo>
                    <a:pt x="437692" y="0"/>
                  </a:lnTo>
                  <a:lnTo>
                    <a:pt x="481705" y="2453"/>
                  </a:lnTo>
                  <a:lnTo>
                    <a:pt x="525719" y="7330"/>
                  </a:lnTo>
                  <a:lnTo>
                    <a:pt x="568497" y="15895"/>
                  </a:lnTo>
                  <a:lnTo>
                    <a:pt x="610072" y="25679"/>
                  </a:lnTo>
                  <a:lnTo>
                    <a:pt x="647974" y="37901"/>
                  </a:lnTo>
                  <a:lnTo>
                    <a:pt x="684656" y="52577"/>
                  </a:lnTo>
                  <a:lnTo>
                    <a:pt x="745784" y="89245"/>
                  </a:lnTo>
                  <a:lnTo>
                    <a:pt x="791016" y="130820"/>
                  </a:lnTo>
                  <a:lnTo>
                    <a:pt x="820353" y="177271"/>
                  </a:lnTo>
                  <a:lnTo>
                    <a:pt x="830138" y="226176"/>
                  </a:lnTo>
                  <a:lnTo>
                    <a:pt x="827699" y="250637"/>
                  </a:lnTo>
                  <a:lnTo>
                    <a:pt x="808131" y="298307"/>
                  </a:lnTo>
                  <a:lnTo>
                    <a:pt x="771448" y="342320"/>
                  </a:lnTo>
                  <a:lnTo>
                    <a:pt x="716432" y="381457"/>
                  </a:lnTo>
                  <a:lnTo>
                    <a:pt x="647974" y="413232"/>
                  </a:lnTo>
                  <a:lnTo>
                    <a:pt x="610072" y="425470"/>
                  </a:lnTo>
                  <a:lnTo>
                    <a:pt x="568497" y="436473"/>
                  </a:lnTo>
                  <a:lnTo>
                    <a:pt x="525719" y="443804"/>
                  </a:lnTo>
                  <a:lnTo>
                    <a:pt x="481705" y="448696"/>
                  </a:lnTo>
                  <a:lnTo>
                    <a:pt x="437692" y="451134"/>
                  </a:lnTo>
                  <a:lnTo>
                    <a:pt x="392445" y="451134"/>
                  </a:lnTo>
                  <a:lnTo>
                    <a:pt x="347212" y="448696"/>
                  </a:lnTo>
                  <a:lnTo>
                    <a:pt x="304418" y="443804"/>
                  </a:lnTo>
                  <a:lnTo>
                    <a:pt x="261640" y="436473"/>
                  </a:lnTo>
                  <a:lnTo>
                    <a:pt x="221284" y="425470"/>
                  </a:lnTo>
                  <a:lnTo>
                    <a:pt x="182163" y="413232"/>
                  </a:lnTo>
                  <a:lnTo>
                    <a:pt x="146715" y="398571"/>
                  </a:lnTo>
                  <a:lnTo>
                    <a:pt x="84353" y="363108"/>
                  </a:lnTo>
                  <a:lnTo>
                    <a:pt x="37901" y="320314"/>
                  </a:lnTo>
                  <a:lnTo>
                    <a:pt x="9784" y="273862"/>
                  </a:lnTo>
                  <a:lnTo>
                    <a:pt x="0" y="226176"/>
                  </a:lnTo>
                </a:path>
              </a:pathLst>
            </a:custGeom>
            <a:ln w="1018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982413" y="1226525"/>
              <a:ext cx="830580" cy="451484"/>
            </a:xfrm>
            <a:custGeom>
              <a:avLst/>
              <a:gdLst/>
              <a:ahLst/>
              <a:cxnLst/>
              <a:rect l="l" t="t" r="r" b="b"/>
              <a:pathLst>
                <a:path w="830579" h="451485">
                  <a:moveTo>
                    <a:pt x="436458" y="0"/>
                  </a:moveTo>
                  <a:lnTo>
                    <a:pt x="391226" y="0"/>
                  </a:lnTo>
                  <a:lnTo>
                    <a:pt x="348432" y="2453"/>
                  </a:lnTo>
                  <a:lnTo>
                    <a:pt x="304418" y="7330"/>
                  </a:lnTo>
                  <a:lnTo>
                    <a:pt x="261640" y="15895"/>
                  </a:lnTo>
                  <a:lnTo>
                    <a:pt x="220065" y="25679"/>
                  </a:lnTo>
                  <a:lnTo>
                    <a:pt x="182163" y="37901"/>
                  </a:lnTo>
                  <a:lnTo>
                    <a:pt x="146715" y="52577"/>
                  </a:lnTo>
                  <a:lnTo>
                    <a:pt x="84353" y="89245"/>
                  </a:lnTo>
                  <a:lnTo>
                    <a:pt x="37901" y="130820"/>
                  </a:lnTo>
                  <a:lnTo>
                    <a:pt x="8549" y="177271"/>
                  </a:lnTo>
                  <a:lnTo>
                    <a:pt x="0" y="226176"/>
                  </a:lnTo>
                  <a:lnTo>
                    <a:pt x="2438" y="250637"/>
                  </a:lnTo>
                  <a:lnTo>
                    <a:pt x="20787" y="298307"/>
                  </a:lnTo>
                  <a:lnTo>
                    <a:pt x="58689" y="342320"/>
                  </a:lnTo>
                  <a:lnTo>
                    <a:pt x="113705" y="381457"/>
                  </a:lnTo>
                  <a:lnTo>
                    <a:pt x="182163" y="413232"/>
                  </a:lnTo>
                  <a:lnTo>
                    <a:pt x="220065" y="425470"/>
                  </a:lnTo>
                  <a:lnTo>
                    <a:pt x="261640" y="436473"/>
                  </a:lnTo>
                  <a:lnTo>
                    <a:pt x="304418" y="443804"/>
                  </a:lnTo>
                  <a:lnTo>
                    <a:pt x="348432" y="448696"/>
                  </a:lnTo>
                  <a:lnTo>
                    <a:pt x="391226" y="451134"/>
                  </a:lnTo>
                  <a:lnTo>
                    <a:pt x="436458" y="451134"/>
                  </a:lnTo>
                  <a:lnTo>
                    <a:pt x="481705" y="448696"/>
                  </a:lnTo>
                  <a:lnTo>
                    <a:pt x="525719" y="443804"/>
                  </a:lnTo>
                  <a:lnTo>
                    <a:pt x="568512" y="436473"/>
                  </a:lnTo>
                  <a:lnTo>
                    <a:pt x="608853" y="425470"/>
                  </a:lnTo>
                  <a:lnTo>
                    <a:pt x="647974" y="413232"/>
                  </a:lnTo>
                  <a:lnTo>
                    <a:pt x="683422" y="398571"/>
                  </a:lnTo>
                  <a:lnTo>
                    <a:pt x="745784" y="363108"/>
                  </a:lnTo>
                  <a:lnTo>
                    <a:pt x="792236" y="320314"/>
                  </a:lnTo>
                  <a:lnTo>
                    <a:pt x="820353" y="273862"/>
                  </a:lnTo>
                  <a:lnTo>
                    <a:pt x="830138" y="226176"/>
                  </a:lnTo>
                  <a:lnTo>
                    <a:pt x="827699" y="201731"/>
                  </a:lnTo>
                  <a:lnTo>
                    <a:pt x="808131" y="152826"/>
                  </a:lnTo>
                  <a:lnTo>
                    <a:pt x="770229" y="108813"/>
                  </a:lnTo>
                  <a:lnTo>
                    <a:pt x="716432" y="69692"/>
                  </a:lnTo>
                  <a:lnTo>
                    <a:pt x="647974" y="37901"/>
                  </a:lnTo>
                  <a:lnTo>
                    <a:pt x="608853" y="25679"/>
                  </a:lnTo>
                  <a:lnTo>
                    <a:pt x="568512" y="15895"/>
                  </a:lnTo>
                  <a:lnTo>
                    <a:pt x="525719" y="7330"/>
                  </a:lnTo>
                  <a:lnTo>
                    <a:pt x="481705" y="2453"/>
                  </a:lnTo>
                  <a:lnTo>
                    <a:pt x="43645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982413" y="1226525"/>
              <a:ext cx="830580" cy="451484"/>
            </a:xfrm>
            <a:custGeom>
              <a:avLst/>
              <a:gdLst/>
              <a:ahLst/>
              <a:cxnLst/>
              <a:rect l="l" t="t" r="r" b="b"/>
              <a:pathLst>
                <a:path w="830579" h="451485">
                  <a:moveTo>
                    <a:pt x="0" y="226176"/>
                  </a:moveTo>
                  <a:lnTo>
                    <a:pt x="8549" y="177271"/>
                  </a:lnTo>
                  <a:lnTo>
                    <a:pt x="37901" y="130820"/>
                  </a:lnTo>
                  <a:lnTo>
                    <a:pt x="84353" y="89245"/>
                  </a:lnTo>
                  <a:lnTo>
                    <a:pt x="146715" y="52577"/>
                  </a:lnTo>
                  <a:lnTo>
                    <a:pt x="182163" y="37901"/>
                  </a:lnTo>
                  <a:lnTo>
                    <a:pt x="220065" y="25679"/>
                  </a:lnTo>
                  <a:lnTo>
                    <a:pt x="261640" y="15895"/>
                  </a:lnTo>
                  <a:lnTo>
                    <a:pt x="304418" y="7330"/>
                  </a:lnTo>
                  <a:lnTo>
                    <a:pt x="348432" y="2453"/>
                  </a:lnTo>
                  <a:lnTo>
                    <a:pt x="391226" y="0"/>
                  </a:lnTo>
                  <a:lnTo>
                    <a:pt x="436458" y="0"/>
                  </a:lnTo>
                  <a:lnTo>
                    <a:pt x="481705" y="2453"/>
                  </a:lnTo>
                  <a:lnTo>
                    <a:pt x="525719" y="7330"/>
                  </a:lnTo>
                  <a:lnTo>
                    <a:pt x="568512" y="15895"/>
                  </a:lnTo>
                  <a:lnTo>
                    <a:pt x="608853" y="25679"/>
                  </a:lnTo>
                  <a:lnTo>
                    <a:pt x="647974" y="37901"/>
                  </a:lnTo>
                  <a:lnTo>
                    <a:pt x="683422" y="52577"/>
                  </a:lnTo>
                  <a:lnTo>
                    <a:pt x="745784" y="89245"/>
                  </a:lnTo>
                  <a:lnTo>
                    <a:pt x="792236" y="130820"/>
                  </a:lnTo>
                  <a:lnTo>
                    <a:pt x="820353" y="177271"/>
                  </a:lnTo>
                  <a:lnTo>
                    <a:pt x="830138" y="226176"/>
                  </a:lnTo>
                  <a:lnTo>
                    <a:pt x="827699" y="250637"/>
                  </a:lnTo>
                  <a:lnTo>
                    <a:pt x="808131" y="298307"/>
                  </a:lnTo>
                  <a:lnTo>
                    <a:pt x="770229" y="342320"/>
                  </a:lnTo>
                  <a:lnTo>
                    <a:pt x="716432" y="381457"/>
                  </a:lnTo>
                  <a:lnTo>
                    <a:pt x="647974" y="413232"/>
                  </a:lnTo>
                  <a:lnTo>
                    <a:pt x="608853" y="425470"/>
                  </a:lnTo>
                  <a:lnTo>
                    <a:pt x="568512" y="436473"/>
                  </a:lnTo>
                  <a:lnTo>
                    <a:pt x="525719" y="443804"/>
                  </a:lnTo>
                  <a:lnTo>
                    <a:pt x="481705" y="448696"/>
                  </a:lnTo>
                  <a:lnTo>
                    <a:pt x="436458" y="451134"/>
                  </a:lnTo>
                  <a:lnTo>
                    <a:pt x="391226" y="451134"/>
                  </a:lnTo>
                  <a:lnTo>
                    <a:pt x="348432" y="448696"/>
                  </a:lnTo>
                  <a:lnTo>
                    <a:pt x="304418" y="443804"/>
                  </a:lnTo>
                  <a:lnTo>
                    <a:pt x="261640" y="436473"/>
                  </a:lnTo>
                  <a:lnTo>
                    <a:pt x="220065" y="425470"/>
                  </a:lnTo>
                  <a:lnTo>
                    <a:pt x="182163" y="413232"/>
                  </a:lnTo>
                  <a:lnTo>
                    <a:pt x="146715" y="398571"/>
                  </a:lnTo>
                  <a:lnTo>
                    <a:pt x="84353" y="363108"/>
                  </a:lnTo>
                  <a:lnTo>
                    <a:pt x="37901" y="320314"/>
                  </a:lnTo>
                  <a:lnTo>
                    <a:pt x="8549" y="273862"/>
                  </a:lnTo>
                  <a:lnTo>
                    <a:pt x="0" y="226176"/>
                  </a:lnTo>
                </a:path>
              </a:pathLst>
            </a:custGeom>
            <a:ln w="1018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455474" y="1449044"/>
              <a:ext cx="466090" cy="0"/>
            </a:xfrm>
            <a:custGeom>
              <a:avLst/>
              <a:gdLst/>
              <a:ahLst/>
              <a:cxnLst/>
              <a:rect l="l" t="t" r="r" b="b"/>
              <a:pathLst>
                <a:path w="466089" h="0">
                  <a:moveTo>
                    <a:pt x="0" y="0"/>
                  </a:moveTo>
                  <a:lnTo>
                    <a:pt x="465810" y="0"/>
                  </a:lnTo>
                </a:path>
              </a:pathLst>
            </a:custGeom>
            <a:ln w="2037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98059" y="1401358"/>
              <a:ext cx="95356" cy="95356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4021455" y="1720453"/>
              <a:ext cx="1400175" cy="747395"/>
            </a:xfrm>
            <a:custGeom>
              <a:avLst/>
              <a:gdLst/>
              <a:ahLst/>
              <a:cxnLst/>
              <a:rect l="l" t="t" r="r" b="b"/>
              <a:pathLst>
                <a:path w="1400175" h="747394">
                  <a:moveTo>
                    <a:pt x="0" y="747003"/>
                  </a:moveTo>
                  <a:lnTo>
                    <a:pt x="0" y="702990"/>
                  </a:lnTo>
                </a:path>
                <a:path w="1400175" h="747394">
                  <a:moveTo>
                    <a:pt x="0" y="658977"/>
                  </a:moveTo>
                  <a:lnTo>
                    <a:pt x="0" y="614964"/>
                  </a:lnTo>
                </a:path>
                <a:path w="1400175" h="747394">
                  <a:moveTo>
                    <a:pt x="0" y="570951"/>
                  </a:moveTo>
                  <a:lnTo>
                    <a:pt x="0" y="526938"/>
                  </a:lnTo>
                </a:path>
                <a:path w="1400175" h="747394">
                  <a:moveTo>
                    <a:pt x="0" y="482925"/>
                  </a:moveTo>
                  <a:lnTo>
                    <a:pt x="0" y="440131"/>
                  </a:lnTo>
                </a:path>
                <a:path w="1400175" h="747394">
                  <a:moveTo>
                    <a:pt x="0" y="396118"/>
                  </a:moveTo>
                  <a:lnTo>
                    <a:pt x="0" y="352104"/>
                  </a:lnTo>
                </a:path>
                <a:path w="1400175" h="747394">
                  <a:moveTo>
                    <a:pt x="0" y="308091"/>
                  </a:moveTo>
                  <a:lnTo>
                    <a:pt x="0" y="264078"/>
                  </a:lnTo>
                </a:path>
                <a:path w="1400175" h="747394">
                  <a:moveTo>
                    <a:pt x="0" y="220065"/>
                  </a:moveTo>
                  <a:lnTo>
                    <a:pt x="0" y="176052"/>
                  </a:lnTo>
                </a:path>
                <a:path w="1400175" h="747394">
                  <a:moveTo>
                    <a:pt x="0" y="132039"/>
                  </a:moveTo>
                  <a:lnTo>
                    <a:pt x="0" y="88026"/>
                  </a:lnTo>
                </a:path>
                <a:path w="1400175" h="747394">
                  <a:moveTo>
                    <a:pt x="0" y="44013"/>
                  </a:moveTo>
                  <a:lnTo>
                    <a:pt x="0" y="0"/>
                  </a:lnTo>
                </a:path>
                <a:path w="1400175" h="747394">
                  <a:moveTo>
                    <a:pt x="1399870" y="747003"/>
                  </a:moveTo>
                  <a:lnTo>
                    <a:pt x="1399870" y="702990"/>
                  </a:lnTo>
                </a:path>
                <a:path w="1400175" h="747394">
                  <a:moveTo>
                    <a:pt x="1399870" y="658977"/>
                  </a:moveTo>
                  <a:lnTo>
                    <a:pt x="1399870" y="614964"/>
                  </a:lnTo>
                </a:path>
                <a:path w="1400175" h="747394">
                  <a:moveTo>
                    <a:pt x="1399870" y="570951"/>
                  </a:moveTo>
                  <a:lnTo>
                    <a:pt x="1399870" y="526938"/>
                  </a:lnTo>
                </a:path>
                <a:path w="1400175" h="747394">
                  <a:moveTo>
                    <a:pt x="1399870" y="482925"/>
                  </a:moveTo>
                  <a:lnTo>
                    <a:pt x="1399870" y="440131"/>
                  </a:lnTo>
                </a:path>
                <a:path w="1400175" h="747394">
                  <a:moveTo>
                    <a:pt x="1399870" y="396118"/>
                  </a:moveTo>
                  <a:lnTo>
                    <a:pt x="1399870" y="352104"/>
                  </a:lnTo>
                </a:path>
                <a:path w="1400175" h="747394">
                  <a:moveTo>
                    <a:pt x="1399870" y="308091"/>
                  </a:moveTo>
                  <a:lnTo>
                    <a:pt x="1399870" y="264078"/>
                  </a:lnTo>
                </a:path>
                <a:path w="1400175" h="747394">
                  <a:moveTo>
                    <a:pt x="1399870" y="220065"/>
                  </a:moveTo>
                  <a:lnTo>
                    <a:pt x="1399870" y="176052"/>
                  </a:lnTo>
                </a:path>
                <a:path w="1400175" h="747394">
                  <a:moveTo>
                    <a:pt x="1399870" y="132039"/>
                  </a:moveTo>
                  <a:lnTo>
                    <a:pt x="1399870" y="88026"/>
                  </a:lnTo>
                </a:path>
                <a:path w="1400175" h="747394">
                  <a:moveTo>
                    <a:pt x="1399870" y="44013"/>
                  </a:moveTo>
                  <a:lnTo>
                    <a:pt x="1399870" y="0"/>
                  </a:lnTo>
                </a:path>
              </a:pathLst>
            </a:custGeom>
            <a:ln w="2037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/>
          <p:cNvSpPr txBox="1"/>
          <p:nvPr/>
        </p:nvSpPr>
        <p:spPr>
          <a:xfrm>
            <a:off x="3654664" y="955863"/>
            <a:ext cx="711200" cy="6210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61975">
              <a:lnSpc>
                <a:spcPct val="100000"/>
              </a:lnSpc>
              <a:spcBef>
                <a:spcPts val="125"/>
              </a:spcBef>
            </a:pPr>
            <a:r>
              <a:rPr dirty="0" sz="1900" spc="10" i="1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11/14</a:t>
            </a:r>
            <a:endParaRPr sz="19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026418" y="955863"/>
            <a:ext cx="704215" cy="6210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54990">
              <a:lnSpc>
                <a:spcPct val="100000"/>
              </a:lnSpc>
              <a:spcBef>
                <a:spcPts val="125"/>
              </a:spcBef>
            </a:pPr>
            <a:r>
              <a:rPr dirty="0" sz="1900" spc="10" i="1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12/13</a:t>
            </a:r>
            <a:endParaRPr sz="19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093502" y="3269009"/>
            <a:ext cx="200025" cy="3924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2400">
                <a:solidFill>
                  <a:srgbClr val="FF0000"/>
                </a:solidFill>
                <a:latin typeface="Arial"/>
                <a:cs typeface="Arial"/>
              </a:rPr>
              <a:t>F</a:t>
            </a:r>
            <a:endParaRPr sz="24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489534" y="4111380"/>
            <a:ext cx="2966720" cy="66294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ts val="2195"/>
              </a:lnSpc>
              <a:spcBef>
                <a:spcPts val="125"/>
              </a:spcBef>
              <a:tabLst>
                <a:tab pos="2613660" algn="l"/>
              </a:tabLst>
            </a:pPr>
            <a:r>
              <a:rPr dirty="0" baseline="-4385" sz="2850" spc="15">
                <a:solidFill>
                  <a:srgbClr val="FFFF00"/>
                </a:solidFill>
                <a:latin typeface="Arial"/>
                <a:cs typeface="Arial"/>
              </a:rPr>
              <a:t>3/4</a:t>
            </a:r>
            <a:r>
              <a:rPr dirty="0" baseline="-4385" sz="2850" spc="1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900" spc="10">
                <a:solidFill>
                  <a:srgbClr val="FFFF00"/>
                </a:solidFill>
                <a:latin typeface="Arial"/>
                <a:cs typeface="Arial"/>
              </a:rPr>
              <a:t>7/8</a:t>
            </a:r>
            <a:endParaRPr sz="1900">
              <a:latin typeface="Arial"/>
              <a:cs typeface="Arial"/>
            </a:endParaRPr>
          </a:p>
          <a:p>
            <a:pPr algn="ctr" marL="219710">
              <a:lnSpc>
                <a:spcPts val="2795"/>
              </a:lnSpc>
            </a:pPr>
            <a:r>
              <a:rPr dirty="0" sz="2400">
                <a:solidFill>
                  <a:srgbClr val="FF0000"/>
                </a:solidFill>
                <a:latin typeface="Arial"/>
                <a:cs typeface="Arial"/>
              </a:rPr>
              <a:t>C</a:t>
            </a:r>
            <a:endParaRPr sz="24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647343" y="1850048"/>
            <a:ext cx="321945" cy="3314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 marL="50800">
              <a:lnSpc>
                <a:spcPts val="2610"/>
              </a:lnSpc>
            </a:pPr>
            <a:r>
              <a:rPr dirty="0" sz="2400">
                <a:solidFill>
                  <a:srgbClr val="FF0000"/>
                </a:solidFill>
                <a:latin typeface="Arial"/>
                <a:cs typeface="Arial"/>
              </a:rPr>
              <a:t>C</a:t>
            </a:r>
            <a:endParaRPr sz="24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476341" y="1850048"/>
            <a:ext cx="323215" cy="3314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 marL="50800">
              <a:lnSpc>
                <a:spcPts val="2610"/>
              </a:lnSpc>
            </a:pPr>
            <a:r>
              <a:rPr dirty="0" sz="2400">
                <a:solidFill>
                  <a:srgbClr val="FF0000"/>
                </a:solidFill>
                <a:latin typeface="Arial"/>
                <a:cs typeface="Arial"/>
              </a:rPr>
              <a:t>C</a:t>
            </a:r>
            <a:endParaRPr sz="24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888265" y="3238453"/>
            <a:ext cx="217170" cy="3924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2400">
                <a:solidFill>
                  <a:srgbClr val="FF0000"/>
                </a:solidFill>
                <a:latin typeface="Arial"/>
                <a:cs typeface="Arial"/>
              </a:rPr>
              <a:t>B</a:t>
            </a:r>
            <a:endParaRPr sz="24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01699" y="4901235"/>
            <a:ext cx="6316980" cy="40824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0922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8.27: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Classfication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non-tree</a:t>
            </a:r>
            <a:r>
              <a:rPr dirty="0" sz="1200" spc="-5">
                <a:latin typeface="Times New Roman"/>
                <a:cs typeface="Times New Roman"/>
              </a:rPr>
              <a:t> 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 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850">
              <a:latin typeface="Times New Roman"/>
              <a:cs typeface="Times New Roman"/>
            </a:endParaRPr>
          </a:p>
          <a:p>
            <a:pPr marL="12700" marR="58419">
              <a:lnSpc>
                <a:spcPct val="100000"/>
              </a:lnSpc>
            </a:pP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undirected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graphs, 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distinction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forward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convention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 called back edges.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Furthermore,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no cross 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see </a:t>
            </a:r>
            <a:r>
              <a:rPr dirty="0" sz="1200" spc="-10">
                <a:latin typeface="Times New Roman"/>
                <a:cs typeface="Times New Roman"/>
              </a:rPr>
              <a:t>why</a:t>
            </a:r>
            <a:r>
              <a:rPr dirty="0" sz="1200" spc="-5">
                <a:latin typeface="Times New Roman"/>
                <a:cs typeface="Times New Roman"/>
              </a:rPr>
              <a:t> not?)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8.1.5	</a:t>
            </a:r>
            <a:r>
              <a:rPr dirty="0" sz="1400" spc="20" b="1">
                <a:latin typeface="Times New Roman"/>
                <a:cs typeface="Times New Roman"/>
              </a:rPr>
              <a:t>DFS</a:t>
            </a:r>
            <a:r>
              <a:rPr dirty="0" sz="1400" spc="-2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-</a:t>
            </a:r>
            <a:r>
              <a:rPr dirty="0" sz="1400" spc="-2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Cycles</a:t>
            </a:r>
            <a:endParaRPr sz="1400">
              <a:latin typeface="Times New Roman"/>
              <a:cs typeface="Times New Roman"/>
            </a:endParaRPr>
          </a:p>
          <a:p>
            <a:pPr marL="12700" marR="66040">
              <a:lnSpc>
                <a:spcPct val="100000"/>
              </a:lnSpc>
              <a:spcBef>
                <a:spcPts val="1290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stamps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allow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determine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things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 example,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determine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contains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cycles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help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lemmas.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50">
              <a:latin typeface="Times New Roman"/>
              <a:cs typeface="Times New Roman"/>
            </a:endParaRPr>
          </a:p>
          <a:p>
            <a:pPr marL="384175" marR="20955" indent="-372110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Lemma:</a:t>
            </a:r>
            <a:r>
              <a:rPr dirty="0" sz="1200" spc="280" b="1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a </a:t>
            </a:r>
            <a:r>
              <a:rPr dirty="0" sz="1200" spc="-10">
                <a:latin typeface="Times New Roman"/>
                <a:cs typeface="Times New Roman"/>
              </a:rPr>
              <a:t>digraph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V,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E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6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DFS forest of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consider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edge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E</a:t>
            </a:r>
            <a:r>
              <a:rPr dirty="0" sz="1200" spc="35">
                <a:latin typeface="Times New Roman"/>
                <a:cs typeface="Times New Roman"/>
              </a:rPr>
              <a:t>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forward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cross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f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20">
                <a:latin typeface="Garamond"/>
                <a:cs typeface="Garamond"/>
              </a:rPr>
              <a:t>]</a:t>
            </a:r>
            <a:r>
              <a:rPr dirty="0" sz="1200" spc="6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20">
                <a:latin typeface="Lucida Sans Unicode"/>
                <a:cs typeface="Lucida Sans Unicode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f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v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back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f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20">
                <a:latin typeface="Garamond"/>
                <a:cs typeface="Garamond"/>
              </a:rPr>
              <a:t>]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f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v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00"/>
              </a:spcBef>
            </a:pPr>
            <a:r>
              <a:rPr dirty="0" sz="1200" spc="-10" b="1">
                <a:latin typeface="Times New Roman"/>
                <a:cs typeface="Times New Roman"/>
              </a:rPr>
              <a:t>Proof: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non-tree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forward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parenthesis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lemma.</a:t>
            </a:r>
            <a:endParaRPr sz="1200">
              <a:latin typeface="Times New Roman"/>
              <a:cs typeface="Times New Roman"/>
            </a:endParaRPr>
          </a:p>
          <a:p>
            <a:pPr marL="384175" marR="99060">
              <a:lnSpc>
                <a:spcPct val="100000"/>
              </a:lnSpc>
              <a:spcBef>
                <a:spcPts val="5"/>
              </a:spcBef>
            </a:pP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example, for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forward </a:t>
            </a:r>
            <a:r>
              <a:rPr dirty="0" sz="1200" spc="-5">
                <a:latin typeface="Times New Roman"/>
                <a:cs typeface="Times New Roman"/>
              </a:rPr>
              <a:t>edge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 v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, </a:t>
            </a:r>
            <a:r>
              <a:rPr dirty="0" sz="1200" spc="-30">
                <a:latin typeface="Lucida Sans Unicode"/>
                <a:cs typeface="Lucida Sans Unicode"/>
              </a:rPr>
              <a:t>v </a:t>
            </a:r>
            <a:r>
              <a:rPr dirty="0" sz="1200" spc="-5">
                <a:latin typeface="Times New Roman"/>
                <a:cs typeface="Times New Roman"/>
              </a:rPr>
              <a:t>is a descendent of </a:t>
            </a:r>
            <a:r>
              <a:rPr dirty="0" sz="1200" spc="20">
                <a:latin typeface="Lucida Sans Unicode"/>
                <a:cs typeface="Lucida Sans Unicode"/>
              </a:rPr>
              <a:t>u </a:t>
            </a:r>
            <a:r>
              <a:rPr dirty="0" sz="1200" spc="-5">
                <a:latin typeface="Times New Roman"/>
                <a:cs typeface="Times New Roman"/>
              </a:rPr>
              <a:t>and so </a:t>
            </a:r>
            <a:r>
              <a:rPr dirty="0" sz="1200" spc="-40">
                <a:latin typeface="Lucida Sans Unicode"/>
                <a:cs typeface="Lucida Sans Unicode"/>
              </a:rPr>
              <a:t>v</a:t>
            </a:r>
            <a:r>
              <a:rPr dirty="0" sz="1200" spc="-40">
                <a:latin typeface="Times New Roman"/>
                <a:cs typeface="Times New Roman"/>
              </a:rPr>
              <a:t>’s </a:t>
            </a:r>
            <a:r>
              <a:rPr dirty="0" sz="1200" spc="-5">
                <a:latin typeface="Times New Roman"/>
                <a:cs typeface="Times New Roman"/>
              </a:rPr>
              <a:t>start-finish </a:t>
            </a:r>
            <a:r>
              <a:rPr dirty="0" sz="1200" spc="-10">
                <a:latin typeface="Times New Roman"/>
                <a:cs typeface="Times New Roman"/>
              </a:rPr>
              <a:t>interval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contained </a:t>
            </a:r>
            <a:r>
              <a:rPr dirty="0" sz="1200" spc="-10">
                <a:latin typeface="Times New Roman"/>
                <a:cs typeface="Times New Roman"/>
              </a:rPr>
              <a:t>within </a:t>
            </a:r>
            <a:r>
              <a:rPr dirty="0" sz="1200" spc="-20">
                <a:latin typeface="Lucida Sans Unicode"/>
                <a:cs typeface="Lucida Sans Unicode"/>
              </a:rPr>
              <a:t>u</a:t>
            </a:r>
            <a:r>
              <a:rPr dirty="0" sz="1200" spc="-20">
                <a:latin typeface="Times New Roman"/>
                <a:cs typeface="Times New Roman"/>
              </a:rPr>
              <a:t>’s </a:t>
            </a:r>
            <a:r>
              <a:rPr dirty="0" sz="1200" spc="-10">
                <a:latin typeface="Times New Roman"/>
                <a:cs typeface="Times New Roman"/>
              </a:rPr>
              <a:t>implying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30">
                <a:latin typeface="Lucida Sans Unicode"/>
                <a:cs typeface="Lucida Sans Unicode"/>
              </a:rPr>
              <a:t>v </a:t>
            </a:r>
            <a:r>
              <a:rPr dirty="0" sz="1200" spc="-5">
                <a:latin typeface="Times New Roman"/>
                <a:cs typeface="Times New Roman"/>
              </a:rPr>
              <a:t>has an earlier finish time.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a cross edge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15">
                <a:latin typeface="Times New Roman"/>
                <a:cs typeface="Times New Roman"/>
              </a:rPr>
              <a:t>know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 two time intervals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disjoint.</a:t>
            </a:r>
            <a:r>
              <a:rPr dirty="0" sz="1200" spc="-5">
                <a:latin typeface="Times New Roman"/>
                <a:cs typeface="Times New Roman"/>
              </a:rPr>
              <a:t> When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were processing 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Times New Roman"/>
                <a:cs typeface="Times New Roman"/>
              </a:rPr>
              <a:t>, </a:t>
            </a:r>
            <a:r>
              <a:rPr dirty="0" sz="1200" spc="-30">
                <a:latin typeface="Lucida Sans Unicode"/>
                <a:cs typeface="Lucida Sans Unicode"/>
              </a:rPr>
              <a:t>v </a:t>
            </a:r>
            <a:r>
              <a:rPr dirty="0" sz="1200" spc="-10">
                <a:latin typeface="Times New Roman"/>
                <a:cs typeface="Times New Roman"/>
              </a:rPr>
              <a:t>was not white (otherwise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would </a:t>
            </a:r>
            <a:r>
              <a:rPr dirty="0" sz="1200" spc="-5">
                <a:latin typeface="Times New Roman"/>
                <a:cs typeface="Times New Roman"/>
              </a:rPr>
              <a:t>be a tree edge), </a:t>
            </a:r>
            <a:r>
              <a:rPr dirty="0" sz="1200" spc="-10">
                <a:latin typeface="Times New Roman"/>
                <a:cs typeface="Times New Roman"/>
              </a:rPr>
              <a:t>implying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30">
                <a:latin typeface="Lucida Sans Unicode"/>
                <a:cs typeface="Lucida Sans Unicode"/>
              </a:rPr>
              <a:t>v </a:t>
            </a:r>
            <a:r>
              <a:rPr dirty="0" sz="1200" spc="-10">
                <a:latin typeface="Times New Roman"/>
                <a:cs typeface="Times New Roman"/>
              </a:rPr>
              <a:t>was </a:t>
            </a:r>
            <a:r>
              <a:rPr dirty="0" sz="1200" spc="-5">
                <a:latin typeface="Times New Roman"/>
                <a:cs typeface="Times New Roman"/>
              </a:rPr>
              <a:t>started </a:t>
            </a:r>
            <a:r>
              <a:rPr dirty="0" sz="1200" spc="-10">
                <a:latin typeface="Times New Roman"/>
                <a:cs typeface="Times New Roman"/>
              </a:rPr>
              <a:t>before 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Because </a:t>
            </a:r>
            <a:r>
              <a:rPr dirty="0" sz="1200" spc="-10">
                <a:latin typeface="Times New Roman"/>
                <a:cs typeface="Times New Roman"/>
              </a:rPr>
              <a:t>the intervals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joint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</a:t>
            </a:r>
            <a:r>
              <a:rPr dirty="0" sz="1200" spc="-10">
                <a:latin typeface="Times New Roman"/>
                <a:cs typeface="Times New Roman"/>
              </a:rPr>
              <a:t>ni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642620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185535" algn="l"/>
              </a:tabLst>
            </a:pPr>
            <a:r>
              <a:rPr dirty="0" sz="1200" spc="-10">
                <a:latin typeface="Times New Roman"/>
                <a:cs typeface="Times New Roman"/>
              </a:rPr>
              <a:t>8.2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PRECE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STR</a:t>
            </a:r>
            <a:r>
              <a:rPr dirty="0" sz="1200" spc="-10">
                <a:latin typeface="Times New Roman"/>
                <a:cs typeface="Times New Roman"/>
              </a:rPr>
              <a:t>AIN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1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PH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13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1699" y="926454"/>
            <a:ext cx="5740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Lemm</a:t>
            </a:r>
            <a:r>
              <a:rPr dirty="0" sz="1200" spc="-10" b="1">
                <a:latin typeface="Times New Roman"/>
                <a:cs typeface="Times New Roman"/>
              </a:rPr>
              <a:t>a</a:t>
            </a:r>
            <a:r>
              <a:rPr dirty="0" sz="1200" spc="-5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536877" y="978928"/>
            <a:ext cx="5722620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-5">
                <a:latin typeface="Times New Roman"/>
                <a:cs typeface="Times New Roman"/>
              </a:rPr>
              <a:t>Consider a </a:t>
            </a:r>
            <a:r>
              <a:rPr dirty="0" sz="1200" spc="-10">
                <a:latin typeface="Times New Roman"/>
                <a:cs typeface="Times New Roman"/>
              </a:rPr>
              <a:t>digraph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V,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E</a:t>
            </a:r>
            <a:r>
              <a:rPr dirty="0" sz="1200" spc="9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 forest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if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86103" y="1169060"/>
            <a:ext cx="127317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forest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back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46103" y="1109906"/>
            <a:ext cx="1308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1693" y="2110258"/>
            <a:ext cx="6306820" cy="1533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4175" marR="53975" indent="-372110">
              <a:lnSpc>
                <a:spcPct val="100000"/>
              </a:lnSpc>
              <a:spcBef>
                <a:spcPts val="95"/>
              </a:spcBef>
            </a:pPr>
            <a:r>
              <a:rPr dirty="0" sz="1200" spc="-10" b="1">
                <a:latin typeface="Times New Roman"/>
                <a:cs typeface="Times New Roman"/>
              </a:rPr>
              <a:t>Proof: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there is a back 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an ancestor of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by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tree edge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Times New Roman"/>
                <a:cs typeface="Times New Roman"/>
              </a:rPr>
              <a:t>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get a </a:t>
            </a:r>
            <a:r>
              <a:rPr dirty="0" sz="1200" spc="-10">
                <a:latin typeface="Times New Roman"/>
                <a:cs typeface="Times New Roman"/>
              </a:rPr>
              <a:t>cycle.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Times New Roman"/>
              <a:cs typeface="Times New Roman"/>
            </a:endParaRPr>
          </a:p>
          <a:p>
            <a:pPr marL="384175" marR="5080">
              <a:lnSpc>
                <a:spcPct val="100000"/>
              </a:lnSpc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contrapositive: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 back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lemma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above,</a:t>
            </a:r>
            <a:r>
              <a:rPr dirty="0" sz="1200" spc="-5">
                <a:latin typeface="Times New Roman"/>
                <a:cs typeface="Times New Roman"/>
              </a:rPr>
              <a:t>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remaining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types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forward,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cross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property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 higher </a:t>
            </a:r>
            <a:r>
              <a:rPr dirty="0" sz="1200" spc="-5">
                <a:latin typeface="Times New Roman"/>
                <a:cs typeface="Times New Roman"/>
              </a:rPr>
              <a:t>finishing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vertices with lower </a:t>
            </a:r>
            <a:r>
              <a:rPr dirty="0" sz="1200" spc="-5">
                <a:latin typeface="Times New Roman"/>
                <a:cs typeface="Times New Roman"/>
              </a:rPr>
              <a:t>finishing </a:t>
            </a:r>
            <a:r>
              <a:rPr dirty="0" sz="1200" spc="-30">
                <a:latin typeface="Times New Roman"/>
                <a:cs typeface="Times New Roman"/>
              </a:rPr>
              <a:t>time.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 along </a:t>
            </a:r>
            <a:r>
              <a:rPr dirty="0" sz="1200" spc="-1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path, finish times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decrease </a:t>
            </a:r>
            <a:r>
              <a:rPr dirty="0" sz="1200" spc="-15">
                <a:latin typeface="Times New Roman"/>
                <a:cs typeface="Times New Roman"/>
              </a:rPr>
              <a:t>monotonically,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implying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can be no </a:t>
            </a:r>
            <a:r>
              <a:rPr dirty="0" sz="1200" spc="-10">
                <a:latin typeface="Times New Roman"/>
                <a:cs typeface="Times New Roman"/>
              </a:rPr>
              <a:t>cycle.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01704" y="4611141"/>
            <a:ext cx="6382385" cy="132270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8.27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‘g’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‘a’.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‘a-g-f’.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200" spc="-5" b="1" i="1">
                <a:latin typeface="Times New Roman"/>
                <a:cs typeface="Times New Roman"/>
              </a:rPr>
              <a:t>Beware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infer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relationship </a:t>
            </a:r>
            <a:r>
              <a:rPr dirty="0" sz="1200" spc="-5">
                <a:latin typeface="Times New Roman"/>
                <a:cs typeface="Times New Roman"/>
              </a:rPr>
              <a:t> between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cycles.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single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back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exponential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theorem applies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undirected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graphs, 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hard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5">
                <a:latin typeface="Times New Roman"/>
                <a:cs typeface="Times New Roman"/>
              </a:rPr>
              <a:t>prove.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01699" y="6987496"/>
            <a:ext cx="6434455" cy="11969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8.2	</a:t>
            </a:r>
            <a:r>
              <a:rPr dirty="0" sz="1700" b="1">
                <a:latin typeface="Times New Roman"/>
                <a:cs typeface="Times New Roman"/>
              </a:rPr>
              <a:t>Precedence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Constraint</a:t>
            </a:r>
            <a:r>
              <a:rPr dirty="0" sz="170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Graph</a:t>
            </a:r>
            <a:endParaRPr sz="1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245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 i="1">
                <a:latin typeface="Times New Roman"/>
                <a:cs typeface="Times New Roman"/>
              </a:rPr>
              <a:t>directed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acyclic </a:t>
            </a:r>
            <a:r>
              <a:rPr dirty="0" sz="1200" spc="-10" i="1">
                <a:latin typeface="Times New Roman"/>
                <a:cs typeface="Times New Roman"/>
              </a:rPr>
              <a:t>graph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(DAG)</a:t>
            </a:r>
            <a:r>
              <a:rPr dirty="0" sz="1200" spc="-5">
                <a:latin typeface="Times New Roman"/>
                <a:cs typeface="Times New Roman"/>
              </a:rPr>
              <a:t> arise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applications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precedence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ordering </a:t>
            </a:r>
            <a:r>
              <a:rPr dirty="0" sz="1200" spc="-5">
                <a:latin typeface="Times New Roman"/>
                <a:cs typeface="Times New Roman"/>
              </a:rPr>
              <a:t> constraints.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are a series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tasks to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performed</a:t>
            </a:r>
            <a:r>
              <a:rPr dirty="0" sz="1200" spc="-5">
                <a:latin typeface="Times New Roman"/>
                <a:cs typeface="Times New Roman"/>
              </a:rPr>
              <a:t> and certain tasks must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precede other tasks.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 example,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construction,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build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before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second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floor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electrical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01699" y="8159812"/>
            <a:ext cx="31070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work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while doors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windows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installed.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042435" y="8218970"/>
            <a:ext cx="328549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precedence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constraint graph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DAG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14400" y="8395741"/>
            <a:ext cx="6231890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tasks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task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before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task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begins.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01710" y="8592095"/>
            <a:ext cx="622744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 spc="-5">
                <a:latin typeface="Times New Roman"/>
                <a:cs typeface="Times New Roman"/>
              </a:rPr>
              <a:t> 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sequence </a:t>
            </a:r>
            <a:r>
              <a:rPr dirty="0" sz="1200" spc="-10">
                <a:latin typeface="Times New Roman"/>
                <a:cs typeface="Times New Roman"/>
              </a:rPr>
              <a:t>followed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wants</a:t>
            </a:r>
            <a:r>
              <a:rPr dirty="0" sz="1200" spc="-5">
                <a:latin typeface="Times New Roman"/>
                <a:cs typeface="Times New Roman"/>
              </a:rPr>
              <a:t> to dress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suit.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 order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DAG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8.28.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8.29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stamps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DAG.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13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363723" y="938474"/>
            <a:ext cx="3465829" cy="2590800"/>
            <a:chOff x="2363723" y="938474"/>
            <a:chExt cx="3465829" cy="2590800"/>
          </a:xfrm>
        </p:grpSpPr>
        <p:sp>
          <p:nvSpPr>
            <p:cNvPr id="5" name="object 5"/>
            <p:cNvSpPr/>
            <p:nvPr/>
          </p:nvSpPr>
          <p:spPr>
            <a:xfrm>
              <a:off x="2363723" y="938474"/>
              <a:ext cx="3465829" cy="2590800"/>
            </a:xfrm>
            <a:custGeom>
              <a:avLst/>
              <a:gdLst/>
              <a:ahLst/>
              <a:cxnLst/>
              <a:rect l="l" t="t" r="r" b="b"/>
              <a:pathLst>
                <a:path w="3465829" h="2590800">
                  <a:moveTo>
                    <a:pt x="3465575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465575" y="2590601"/>
                  </a:lnTo>
                  <a:lnTo>
                    <a:pt x="3465575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422108" y="998657"/>
              <a:ext cx="897890" cy="259715"/>
            </a:xfrm>
            <a:custGeom>
              <a:avLst/>
              <a:gdLst/>
              <a:ahLst/>
              <a:cxnLst/>
              <a:rect l="l" t="t" r="r" b="b"/>
              <a:pathLst>
                <a:path w="897889" h="259715">
                  <a:moveTo>
                    <a:pt x="897410" y="0"/>
                  </a:moveTo>
                  <a:lnTo>
                    <a:pt x="0" y="0"/>
                  </a:lnTo>
                  <a:lnTo>
                    <a:pt x="0" y="259506"/>
                  </a:lnTo>
                  <a:lnTo>
                    <a:pt x="897410" y="259506"/>
                  </a:lnTo>
                  <a:lnTo>
                    <a:pt x="89741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422108" y="998657"/>
              <a:ext cx="897890" cy="259715"/>
            </a:xfrm>
            <a:custGeom>
              <a:avLst/>
              <a:gdLst/>
              <a:ahLst/>
              <a:cxnLst/>
              <a:rect l="l" t="t" r="r" b="b"/>
              <a:pathLst>
                <a:path w="897889" h="259715">
                  <a:moveTo>
                    <a:pt x="0" y="259506"/>
                  </a:moveTo>
                  <a:lnTo>
                    <a:pt x="897410" y="259506"/>
                  </a:lnTo>
                  <a:lnTo>
                    <a:pt x="897410" y="0"/>
                  </a:lnTo>
                  <a:lnTo>
                    <a:pt x="0" y="0"/>
                  </a:lnTo>
                  <a:lnTo>
                    <a:pt x="0" y="259506"/>
                  </a:lnTo>
                  <a:close/>
                </a:path>
              </a:pathLst>
            </a:custGeom>
            <a:ln w="1508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460725" y="1012524"/>
            <a:ext cx="72580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underwear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557515" y="1525138"/>
            <a:ext cx="633730" cy="274955"/>
            <a:chOff x="2557515" y="1525138"/>
            <a:chExt cx="633730" cy="274955"/>
          </a:xfrm>
        </p:grpSpPr>
        <p:sp>
          <p:nvSpPr>
            <p:cNvPr id="10" name="object 10"/>
            <p:cNvSpPr/>
            <p:nvPr/>
          </p:nvSpPr>
          <p:spPr>
            <a:xfrm>
              <a:off x="2565135" y="1532758"/>
              <a:ext cx="618490" cy="259715"/>
            </a:xfrm>
            <a:custGeom>
              <a:avLst/>
              <a:gdLst/>
              <a:ahLst/>
              <a:cxnLst/>
              <a:rect l="l" t="t" r="r" b="b"/>
              <a:pathLst>
                <a:path w="618489" h="259714">
                  <a:moveTo>
                    <a:pt x="617988" y="0"/>
                  </a:moveTo>
                  <a:lnTo>
                    <a:pt x="0" y="0"/>
                  </a:lnTo>
                  <a:lnTo>
                    <a:pt x="0" y="259506"/>
                  </a:lnTo>
                  <a:lnTo>
                    <a:pt x="617988" y="259506"/>
                  </a:lnTo>
                  <a:lnTo>
                    <a:pt x="61798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565135" y="1532758"/>
              <a:ext cx="618490" cy="259715"/>
            </a:xfrm>
            <a:custGeom>
              <a:avLst/>
              <a:gdLst/>
              <a:ahLst/>
              <a:cxnLst/>
              <a:rect l="l" t="t" r="r" b="b"/>
              <a:pathLst>
                <a:path w="618489" h="259714">
                  <a:moveTo>
                    <a:pt x="0" y="259506"/>
                  </a:moveTo>
                  <a:lnTo>
                    <a:pt x="617988" y="259506"/>
                  </a:lnTo>
                  <a:lnTo>
                    <a:pt x="617988" y="0"/>
                  </a:lnTo>
                  <a:lnTo>
                    <a:pt x="0" y="0"/>
                  </a:lnTo>
                  <a:lnTo>
                    <a:pt x="0" y="259506"/>
                  </a:lnTo>
                  <a:close/>
                </a:path>
              </a:pathLst>
            </a:custGeom>
            <a:ln w="1508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2660496" y="1539980"/>
            <a:ext cx="38227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pants</a:t>
            </a:r>
            <a:endParaRPr sz="115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565135" y="2428367"/>
            <a:ext cx="618490" cy="259715"/>
          </a:xfrm>
          <a:prstGeom prst="rect">
            <a:avLst/>
          </a:prstGeom>
          <a:solidFill>
            <a:srgbClr val="0000FF"/>
          </a:solidFill>
          <a:ln w="15087">
            <a:solidFill>
              <a:srgbClr val="FFFF00"/>
            </a:solidFill>
          </a:ln>
        </p:spPr>
        <p:txBody>
          <a:bodyPr wrap="square" lIns="0" tIns="24130" rIns="0" bIns="0" rtlCol="0" vert="horz">
            <a:spAutoFit/>
          </a:bodyPr>
          <a:lstStyle/>
          <a:p>
            <a:pPr marL="161290">
              <a:lnSpc>
                <a:spcPct val="100000"/>
              </a:lnSpc>
              <a:spcBef>
                <a:spcPts val="190"/>
              </a:spcBef>
            </a:pP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belt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3919621" y="1870954"/>
            <a:ext cx="633095" cy="275590"/>
            <a:chOff x="3919621" y="1870954"/>
            <a:chExt cx="633095" cy="275590"/>
          </a:xfrm>
        </p:grpSpPr>
        <p:sp>
          <p:nvSpPr>
            <p:cNvPr id="15" name="object 15"/>
            <p:cNvSpPr/>
            <p:nvPr/>
          </p:nvSpPr>
          <p:spPr>
            <a:xfrm>
              <a:off x="3927241" y="1878574"/>
              <a:ext cx="617855" cy="260350"/>
            </a:xfrm>
            <a:custGeom>
              <a:avLst/>
              <a:gdLst/>
              <a:ahLst/>
              <a:cxnLst/>
              <a:rect l="l" t="t" r="r" b="b"/>
              <a:pathLst>
                <a:path w="617854" h="260350">
                  <a:moveTo>
                    <a:pt x="617384" y="0"/>
                  </a:moveTo>
                  <a:lnTo>
                    <a:pt x="0" y="0"/>
                  </a:lnTo>
                  <a:lnTo>
                    <a:pt x="0" y="260110"/>
                  </a:lnTo>
                  <a:lnTo>
                    <a:pt x="617384" y="260110"/>
                  </a:lnTo>
                  <a:lnTo>
                    <a:pt x="61738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927241" y="1878574"/>
              <a:ext cx="617855" cy="260350"/>
            </a:xfrm>
            <a:custGeom>
              <a:avLst/>
              <a:gdLst/>
              <a:ahLst/>
              <a:cxnLst/>
              <a:rect l="l" t="t" r="r" b="b"/>
              <a:pathLst>
                <a:path w="617854" h="260350">
                  <a:moveTo>
                    <a:pt x="0" y="260110"/>
                  </a:moveTo>
                  <a:lnTo>
                    <a:pt x="617384" y="260110"/>
                  </a:lnTo>
                  <a:lnTo>
                    <a:pt x="617384" y="0"/>
                  </a:lnTo>
                  <a:lnTo>
                    <a:pt x="0" y="0"/>
                  </a:lnTo>
                  <a:lnTo>
                    <a:pt x="0" y="260110"/>
                  </a:lnTo>
                  <a:close/>
                </a:path>
              </a:pathLst>
            </a:custGeom>
            <a:ln w="1508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4061826" y="1885788"/>
            <a:ext cx="29781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50" spc="10">
                <a:solidFill>
                  <a:srgbClr val="FFFF00"/>
                </a:solidFill>
                <a:latin typeface="Arial"/>
                <a:cs typeface="Arial"/>
              </a:rPr>
              <a:t>shirt</a:t>
            </a:r>
            <a:endParaRPr sz="11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927241" y="3210499"/>
            <a:ext cx="617855" cy="259715"/>
          </a:xfrm>
          <a:prstGeom prst="rect">
            <a:avLst/>
          </a:prstGeom>
          <a:solidFill>
            <a:srgbClr val="0000FF"/>
          </a:solidFill>
          <a:ln w="15087">
            <a:solidFill>
              <a:srgbClr val="FFFF00"/>
            </a:solidFill>
          </a:ln>
        </p:spPr>
        <p:txBody>
          <a:bodyPr wrap="square" lIns="0" tIns="24130" rIns="0" bIns="0" rtlCol="0" vert="horz">
            <a:spAutoFit/>
          </a:bodyPr>
          <a:lstStyle/>
          <a:p>
            <a:pPr marL="144145">
              <a:lnSpc>
                <a:spcPct val="100000"/>
              </a:lnSpc>
              <a:spcBef>
                <a:spcPts val="190"/>
              </a:spcBef>
            </a:pP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coat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3919621" y="2472645"/>
            <a:ext cx="633095" cy="275590"/>
            <a:chOff x="3919621" y="2472645"/>
            <a:chExt cx="633095" cy="275590"/>
          </a:xfrm>
        </p:grpSpPr>
        <p:sp>
          <p:nvSpPr>
            <p:cNvPr id="20" name="object 20"/>
            <p:cNvSpPr/>
            <p:nvPr/>
          </p:nvSpPr>
          <p:spPr>
            <a:xfrm>
              <a:off x="3927241" y="2480265"/>
              <a:ext cx="617855" cy="260350"/>
            </a:xfrm>
            <a:custGeom>
              <a:avLst/>
              <a:gdLst/>
              <a:ahLst/>
              <a:cxnLst/>
              <a:rect l="l" t="t" r="r" b="b"/>
              <a:pathLst>
                <a:path w="617854" h="260350">
                  <a:moveTo>
                    <a:pt x="617384" y="0"/>
                  </a:moveTo>
                  <a:lnTo>
                    <a:pt x="0" y="0"/>
                  </a:lnTo>
                  <a:lnTo>
                    <a:pt x="0" y="260110"/>
                  </a:lnTo>
                  <a:lnTo>
                    <a:pt x="617384" y="260110"/>
                  </a:lnTo>
                  <a:lnTo>
                    <a:pt x="61738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927241" y="2480265"/>
              <a:ext cx="617855" cy="260350"/>
            </a:xfrm>
            <a:custGeom>
              <a:avLst/>
              <a:gdLst/>
              <a:ahLst/>
              <a:cxnLst/>
              <a:rect l="l" t="t" r="r" b="b"/>
              <a:pathLst>
                <a:path w="617854" h="260350">
                  <a:moveTo>
                    <a:pt x="0" y="260110"/>
                  </a:moveTo>
                  <a:lnTo>
                    <a:pt x="617384" y="260110"/>
                  </a:lnTo>
                  <a:lnTo>
                    <a:pt x="617384" y="0"/>
                  </a:lnTo>
                  <a:lnTo>
                    <a:pt x="0" y="0"/>
                  </a:lnTo>
                  <a:lnTo>
                    <a:pt x="0" y="260110"/>
                  </a:lnTo>
                  <a:close/>
                </a:path>
              </a:pathLst>
            </a:custGeom>
            <a:ln w="1508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4135448" y="2488085"/>
            <a:ext cx="17208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50" spc="10">
                <a:solidFill>
                  <a:srgbClr val="FFFF00"/>
                </a:solidFill>
                <a:latin typeface="Arial"/>
                <a:cs typeface="Arial"/>
              </a:rPr>
              <a:t>tie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033695" y="1013378"/>
            <a:ext cx="633095" cy="274955"/>
            <a:chOff x="5033695" y="1013378"/>
            <a:chExt cx="633095" cy="274955"/>
          </a:xfrm>
        </p:grpSpPr>
        <p:sp>
          <p:nvSpPr>
            <p:cNvPr id="24" name="object 24"/>
            <p:cNvSpPr/>
            <p:nvPr/>
          </p:nvSpPr>
          <p:spPr>
            <a:xfrm>
              <a:off x="5041315" y="1020998"/>
              <a:ext cx="617855" cy="259715"/>
            </a:xfrm>
            <a:custGeom>
              <a:avLst/>
              <a:gdLst/>
              <a:ahLst/>
              <a:cxnLst/>
              <a:rect l="l" t="t" r="r" b="b"/>
              <a:pathLst>
                <a:path w="617854" h="259715">
                  <a:moveTo>
                    <a:pt x="617384" y="0"/>
                  </a:moveTo>
                  <a:lnTo>
                    <a:pt x="0" y="0"/>
                  </a:lnTo>
                  <a:lnTo>
                    <a:pt x="0" y="259506"/>
                  </a:lnTo>
                  <a:lnTo>
                    <a:pt x="617384" y="259506"/>
                  </a:lnTo>
                  <a:lnTo>
                    <a:pt x="61738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5041315" y="1020998"/>
              <a:ext cx="617855" cy="259715"/>
            </a:xfrm>
            <a:custGeom>
              <a:avLst/>
              <a:gdLst/>
              <a:ahLst/>
              <a:cxnLst/>
              <a:rect l="l" t="t" r="r" b="b"/>
              <a:pathLst>
                <a:path w="617854" h="259715">
                  <a:moveTo>
                    <a:pt x="0" y="259506"/>
                  </a:moveTo>
                  <a:lnTo>
                    <a:pt x="617384" y="259506"/>
                  </a:lnTo>
                  <a:lnTo>
                    <a:pt x="617384" y="0"/>
                  </a:lnTo>
                  <a:lnTo>
                    <a:pt x="0" y="0"/>
                  </a:lnTo>
                  <a:lnTo>
                    <a:pt x="0" y="259506"/>
                  </a:lnTo>
                  <a:close/>
                </a:path>
              </a:pathLst>
            </a:custGeom>
            <a:ln w="1508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 txBox="1"/>
          <p:nvPr/>
        </p:nvSpPr>
        <p:spPr>
          <a:xfrm>
            <a:off x="5137274" y="1027611"/>
            <a:ext cx="39878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socks</a:t>
            </a:r>
            <a:endParaRPr sz="115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041315" y="1592505"/>
            <a:ext cx="617855" cy="260350"/>
          </a:xfrm>
          <a:prstGeom prst="rect">
            <a:avLst/>
          </a:prstGeom>
          <a:solidFill>
            <a:srgbClr val="0000FF"/>
          </a:solidFill>
          <a:ln w="15087">
            <a:solidFill>
              <a:srgbClr val="FFFF00"/>
            </a:solidFill>
          </a:ln>
        </p:spPr>
        <p:txBody>
          <a:bodyPr wrap="square" lIns="0" tIns="25400" rIns="0" bIns="0" rtlCol="0" vert="horz">
            <a:spAutoFit/>
          </a:bodyPr>
          <a:lstStyle/>
          <a:p>
            <a:pPr marL="86995">
              <a:lnSpc>
                <a:spcPct val="100000"/>
              </a:lnSpc>
              <a:spcBef>
                <a:spcPts val="200"/>
              </a:spcBef>
            </a:pPr>
            <a:r>
              <a:rPr dirty="0" sz="1150" spc="20">
                <a:solidFill>
                  <a:srgbClr val="FFFF00"/>
                </a:solidFill>
                <a:latin typeface="Arial"/>
                <a:cs typeface="Arial"/>
              </a:rPr>
              <a:t>shoes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2815589" y="1105184"/>
            <a:ext cx="2540635" cy="2113280"/>
            <a:chOff x="2815589" y="1105184"/>
            <a:chExt cx="2540635" cy="2113280"/>
          </a:xfrm>
        </p:grpSpPr>
        <p:sp>
          <p:nvSpPr>
            <p:cNvPr id="29" name="object 29"/>
            <p:cNvSpPr/>
            <p:nvPr/>
          </p:nvSpPr>
          <p:spPr>
            <a:xfrm>
              <a:off x="2843951" y="1254551"/>
              <a:ext cx="0" cy="204470"/>
            </a:xfrm>
            <a:custGeom>
              <a:avLst/>
              <a:gdLst/>
              <a:ahLst/>
              <a:cxnLst/>
              <a:rect l="l" t="t" r="r" b="b"/>
              <a:pathLst>
                <a:path w="0" h="204469">
                  <a:moveTo>
                    <a:pt x="0" y="0"/>
                  </a:moveTo>
                  <a:lnTo>
                    <a:pt x="0" y="203987"/>
                  </a:lnTo>
                </a:path>
              </a:pathLst>
            </a:custGeom>
            <a:ln w="1508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815589" y="1451285"/>
              <a:ext cx="57150" cy="85725"/>
            </a:xfrm>
            <a:custGeom>
              <a:avLst/>
              <a:gdLst/>
              <a:ahLst/>
              <a:cxnLst/>
              <a:rect l="l" t="t" r="r" b="b"/>
              <a:pathLst>
                <a:path w="57150" h="85725">
                  <a:moveTo>
                    <a:pt x="56738" y="0"/>
                  </a:moveTo>
                  <a:lnTo>
                    <a:pt x="0" y="0"/>
                  </a:lnTo>
                  <a:lnTo>
                    <a:pt x="28361" y="85100"/>
                  </a:lnTo>
                  <a:lnTo>
                    <a:pt x="5673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843951" y="1789856"/>
              <a:ext cx="0" cy="560705"/>
            </a:xfrm>
            <a:custGeom>
              <a:avLst/>
              <a:gdLst/>
              <a:ahLst/>
              <a:cxnLst/>
              <a:rect l="l" t="t" r="r" b="b"/>
              <a:pathLst>
                <a:path w="0" h="560705">
                  <a:moveTo>
                    <a:pt x="0" y="0"/>
                  </a:moveTo>
                  <a:lnTo>
                    <a:pt x="0" y="560649"/>
                  </a:lnTo>
                </a:path>
              </a:pathLst>
            </a:custGeom>
            <a:ln w="1508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815589" y="2343267"/>
              <a:ext cx="57150" cy="85725"/>
            </a:xfrm>
            <a:custGeom>
              <a:avLst/>
              <a:gdLst/>
              <a:ahLst/>
              <a:cxnLst/>
              <a:rect l="l" t="t" r="r" b="b"/>
              <a:pathLst>
                <a:path w="57150" h="85725">
                  <a:moveTo>
                    <a:pt x="56738" y="0"/>
                  </a:moveTo>
                  <a:lnTo>
                    <a:pt x="0" y="0"/>
                  </a:lnTo>
                  <a:lnTo>
                    <a:pt x="28361" y="85100"/>
                  </a:lnTo>
                  <a:lnTo>
                    <a:pt x="5673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209684" y="2134463"/>
              <a:ext cx="0" cy="278765"/>
            </a:xfrm>
            <a:custGeom>
              <a:avLst/>
              <a:gdLst/>
              <a:ahLst/>
              <a:cxnLst/>
              <a:rect l="l" t="t" r="r" b="b"/>
              <a:pathLst>
                <a:path w="0" h="278764">
                  <a:moveTo>
                    <a:pt x="0" y="0"/>
                  </a:moveTo>
                  <a:lnTo>
                    <a:pt x="0" y="278206"/>
                  </a:lnTo>
                </a:path>
              </a:pathLst>
            </a:custGeom>
            <a:ln w="1508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181322" y="2405430"/>
              <a:ext cx="57150" cy="85090"/>
            </a:xfrm>
            <a:custGeom>
              <a:avLst/>
              <a:gdLst/>
              <a:ahLst/>
              <a:cxnLst/>
              <a:rect l="l" t="t" r="r" b="b"/>
              <a:pathLst>
                <a:path w="57150" h="85089">
                  <a:moveTo>
                    <a:pt x="56723" y="0"/>
                  </a:moveTo>
                  <a:lnTo>
                    <a:pt x="0" y="0"/>
                  </a:lnTo>
                  <a:lnTo>
                    <a:pt x="28361" y="84490"/>
                  </a:lnTo>
                  <a:lnTo>
                    <a:pt x="56723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209684" y="2738562"/>
              <a:ext cx="0" cy="396875"/>
            </a:xfrm>
            <a:custGeom>
              <a:avLst/>
              <a:gdLst/>
              <a:ahLst/>
              <a:cxnLst/>
              <a:rect l="l" t="t" r="r" b="b"/>
              <a:pathLst>
                <a:path w="0" h="396875">
                  <a:moveTo>
                    <a:pt x="0" y="0"/>
                  </a:moveTo>
                  <a:lnTo>
                    <a:pt x="0" y="396499"/>
                  </a:lnTo>
                </a:path>
              </a:pathLst>
            </a:custGeom>
            <a:ln w="1508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181322" y="3127822"/>
              <a:ext cx="57150" cy="85090"/>
            </a:xfrm>
            <a:custGeom>
              <a:avLst/>
              <a:gdLst/>
              <a:ahLst/>
              <a:cxnLst/>
              <a:rect l="l" t="t" r="r" b="b"/>
              <a:pathLst>
                <a:path w="57150" h="85089">
                  <a:moveTo>
                    <a:pt x="56723" y="0"/>
                  </a:moveTo>
                  <a:lnTo>
                    <a:pt x="0" y="0"/>
                  </a:lnTo>
                  <a:lnTo>
                    <a:pt x="28361" y="84490"/>
                  </a:lnTo>
                  <a:lnTo>
                    <a:pt x="56723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327370" y="1276878"/>
              <a:ext cx="0" cy="238760"/>
            </a:xfrm>
            <a:custGeom>
              <a:avLst/>
              <a:gdLst/>
              <a:ahLst/>
              <a:cxnLst/>
              <a:rect l="l" t="t" r="r" b="b"/>
              <a:pathLst>
                <a:path w="0" h="238759">
                  <a:moveTo>
                    <a:pt x="0" y="0"/>
                  </a:moveTo>
                  <a:lnTo>
                    <a:pt x="0" y="238384"/>
                  </a:lnTo>
                </a:path>
              </a:pathLst>
            </a:custGeom>
            <a:ln w="1508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299008" y="1508023"/>
              <a:ext cx="57150" cy="85090"/>
            </a:xfrm>
            <a:custGeom>
              <a:avLst/>
              <a:gdLst/>
              <a:ahLst/>
              <a:cxnLst/>
              <a:rect l="l" t="t" r="r" b="b"/>
              <a:pathLst>
                <a:path w="57150" h="85090">
                  <a:moveTo>
                    <a:pt x="56738" y="0"/>
                  </a:moveTo>
                  <a:lnTo>
                    <a:pt x="0" y="0"/>
                  </a:lnTo>
                  <a:lnTo>
                    <a:pt x="28361" y="84490"/>
                  </a:lnTo>
                  <a:lnTo>
                    <a:pt x="5673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183133" y="1671564"/>
              <a:ext cx="1773555" cy="0"/>
            </a:xfrm>
            <a:custGeom>
              <a:avLst/>
              <a:gdLst/>
              <a:ahLst/>
              <a:cxnLst/>
              <a:rect l="l" t="t" r="r" b="b"/>
              <a:pathLst>
                <a:path w="1773554" h="0">
                  <a:moveTo>
                    <a:pt x="0" y="0"/>
                  </a:moveTo>
                  <a:lnTo>
                    <a:pt x="1773082" y="0"/>
                  </a:lnTo>
                </a:path>
              </a:pathLst>
            </a:custGeom>
            <a:ln w="1508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948976" y="1643202"/>
              <a:ext cx="85090" cy="57150"/>
            </a:xfrm>
            <a:custGeom>
              <a:avLst/>
              <a:gdLst/>
              <a:ahLst/>
              <a:cxnLst/>
              <a:rect l="l" t="t" r="r" b="b"/>
              <a:pathLst>
                <a:path w="85089" h="57150">
                  <a:moveTo>
                    <a:pt x="0" y="0"/>
                  </a:moveTo>
                  <a:lnTo>
                    <a:pt x="0" y="56738"/>
                  </a:lnTo>
                  <a:lnTo>
                    <a:pt x="84490" y="283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318311" y="1112728"/>
              <a:ext cx="1647189" cy="492125"/>
            </a:xfrm>
            <a:custGeom>
              <a:avLst/>
              <a:gdLst/>
              <a:ahLst/>
              <a:cxnLst/>
              <a:rect l="l" t="t" r="r" b="b"/>
              <a:pathLst>
                <a:path w="1647189" h="492125">
                  <a:moveTo>
                    <a:pt x="0" y="0"/>
                  </a:moveTo>
                  <a:lnTo>
                    <a:pt x="1646956" y="491855"/>
                  </a:lnTo>
                </a:path>
              </a:pathLst>
            </a:custGeom>
            <a:ln w="1508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950180" y="1575003"/>
              <a:ext cx="88900" cy="54610"/>
            </a:xfrm>
            <a:custGeom>
              <a:avLst/>
              <a:gdLst/>
              <a:ahLst/>
              <a:cxnLst/>
              <a:rect l="l" t="t" r="r" b="b"/>
              <a:pathLst>
                <a:path w="88900" h="54610">
                  <a:moveTo>
                    <a:pt x="16306" y="0"/>
                  </a:moveTo>
                  <a:lnTo>
                    <a:pt x="0" y="54315"/>
                  </a:lnTo>
                  <a:lnTo>
                    <a:pt x="88727" y="51297"/>
                  </a:lnTo>
                  <a:lnTo>
                    <a:pt x="1630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077519" y="1976943"/>
              <a:ext cx="850265" cy="417195"/>
            </a:xfrm>
            <a:custGeom>
              <a:avLst/>
              <a:gdLst/>
              <a:ahLst/>
              <a:cxnLst/>
              <a:rect l="l" t="t" r="r" b="b"/>
              <a:pathLst>
                <a:path w="850264" h="417194">
                  <a:moveTo>
                    <a:pt x="849721" y="0"/>
                  </a:moveTo>
                  <a:lnTo>
                    <a:pt x="0" y="417027"/>
                  </a:lnTo>
                </a:path>
              </a:pathLst>
            </a:custGeom>
            <a:ln w="1508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007507" y="2365593"/>
              <a:ext cx="88900" cy="62865"/>
            </a:xfrm>
            <a:custGeom>
              <a:avLst/>
              <a:gdLst/>
              <a:ahLst/>
              <a:cxnLst/>
              <a:rect l="l" t="t" r="r" b="b"/>
              <a:pathLst>
                <a:path w="88900" h="62864">
                  <a:moveTo>
                    <a:pt x="63977" y="0"/>
                  </a:moveTo>
                  <a:lnTo>
                    <a:pt x="0" y="62773"/>
                  </a:lnTo>
                  <a:lnTo>
                    <a:pt x="88712" y="50703"/>
                  </a:lnTo>
                  <a:lnTo>
                    <a:pt x="6397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171657" y="2687873"/>
              <a:ext cx="692785" cy="485775"/>
            </a:xfrm>
            <a:custGeom>
              <a:avLst/>
              <a:gdLst/>
              <a:ahLst/>
              <a:cxnLst/>
              <a:rect l="l" t="t" r="r" b="b"/>
              <a:pathLst>
                <a:path w="692785" h="485775">
                  <a:moveTo>
                    <a:pt x="0" y="0"/>
                  </a:moveTo>
                  <a:lnTo>
                    <a:pt x="692216" y="485211"/>
                  </a:lnTo>
                </a:path>
              </a:pathLst>
            </a:custGeom>
            <a:ln w="1508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842156" y="3146536"/>
              <a:ext cx="85090" cy="72390"/>
            </a:xfrm>
            <a:custGeom>
              <a:avLst/>
              <a:gdLst/>
              <a:ahLst/>
              <a:cxnLst/>
              <a:rect l="l" t="t" r="r" b="b"/>
              <a:pathLst>
                <a:path w="85089" h="72389">
                  <a:moveTo>
                    <a:pt x="32583" y="0"/>
                  </a:moveTo>
                  <a:lnTo>
                    <a:pt x="0" y="45857"/>
                  </a:lnTo>
                  <a:lnTo>
                    <a:pt x="85084" y="71810"/>
                  </a:lnTo>
                  <a:lnTo>
                    <a:pt x="32583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/>
          <p:cNvSpPr txBox="1"/>
          <p:nvPr/>
        </p:nvSpPr>
        <p:spPr>
          <a:xfrm>
            <a:off x="2821824" y="3595129"/>
            <a:ext cx="25863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8.28: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Order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dressing up in 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suit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1918716" y="5038034"/>
            <a:ext cx="4354195" cy="2590800"/>
            <a:chOff x="1918716" y="5038034"/>
            <a:chExt cx="4354195" cy="2590800"/>
          </a:xfrm>
        </p:grpSpPr>
        <p:sp>
          <p:nvSpPr>
            <p:cNvPr id="49" name="object 49"/>
            <p:cNvSpPr/>
            <p:nvPr/>
          </p:nvSpPr>
          <p:spPr>
            <a:xfrm>
              <a:off x="1918716" y="5038034"/>
              <a:ext cx="4354195" cy="2590800"/>
            </a:xfrm>
            <a:custGeom>
              <a:avLst/>
              <a:gdLst/>
              <a:ahLst/>
              <a:cxnLst/>
              <a:rect l="l" t="t" r="r" b="b"/>
              <a:pathLst>
                <a:path w="4354195" h="2590800">
                  <a:moveTo>
                    <a:pt x="4354144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4354144" y="2590601"/>
                  </a:lnTo>
                  <a:lnTo>
                    <a:pt x="4354144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145330" y="5354965"/>
              <a:ext cx="0" cy="290195"/>
            </a:xfrm>
            <a:custGeom>
              <a:avLst/>
              <a:gdLst/>
              <a:ahLst/>
              <a:cxnLst/>
              <a:rect l="l" t="t" r="r" b="b"/>
              <a:pathLst>
                <a:path w="0" h="290195">
                  <a:moveTo>
                    <a:pt x="0" y="0"/>
                  </a:moveTo>
                  <a:lnTo>
                    <a:pt x="0" y="289594"/>
                  </a:lnTo>
                </a:path>
              </a:pathLst>
            </a:custGeom>
            <a:ln w="1599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116869" y="5630032"/>
              <a:ext cx="55880" cy="83185"/>
            </a:xfrm>
            <a:custGeom>
              <a:avLst/>
              <a:gdLst/>
              <a:ahLst/>
              <a:cxnLst/>
              <a:rect l="l" t="t" r="r" b="b"/>
              <a:pathLst>
                <a:path w="55880" h="83185">
                  <a:moveTo>
                    <a:pt x="0" y="0"/>
                  </a:moveTo>
                  <a:lnTo>
                    <a:pt x="27279" y="82997"/>
                  </a:lnTo>
                  <a:lnTo>
                    <a:pt x="55732" y="5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658023" y="6625996"/>
              <a:ext cx="0" cy="550545"/>
            </a:xfrm>
            <a:custGeom>
              <a:avLst/>
              <a:gdLst/>
              <a:ahLst/>
              <a:cxnLst/>
              <a:rect l="l" t="t" r="r" b="b"/>
              <a:pathLst>
                <a:path w="0" h="550545">
                  <a:moveTo>
                    <a:pt x="0" y="0"/>
                  </a:moveTo>
                  <a:lnTo>
                    <a:pt x="0" y="550148"/>
                  </a:lnTo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630164" y="7169622"/>
              <a:ext cx="55880" cy="83185"/>
            </a:xfrm>
            <a:custGeom>
              <a:avLst/>
              <a:gdLst/>
              <a:ahLst/>
              <a:cxnLst/>
              <a:rect l="l" t="t" r="r" b="b"/>
              <a:pathLst>
                <a:path w="55880" h="83184">
                  <a:moveTo>
                    <a:pt x="55717" y="0"/>
                  </a:moveTo>
                  <a:lnTo>
                    <a:pt x="0" y="0"/>
                  </a:lnTo>
                  <a:lnTo>
                    <a:pt x="27858" y="82997"/>
                  </a:lnTo>
                  <a:lnTo>
                    <a:pt x="5571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659721" y="5354965"/>
              <a:ext cx="0" cy="300990"/>
            </a:xfrm>
            <a:custGeom>
              <a:avLst/>
              <a:gdLst/>
              <a:ahLst/>
              <a:cxnLst/>
              <a:rect l="l" t="t" r="r" b="b"/>
              <a:pathLst>
                <a:path w="0" h="300989">
                  <a:moveTo>
                    <a:pt x="0" y="0"/>
                  </a:moveTo>
                  <a:lnTo>
                    <a:pt x="0" y="300856"/>
                  </a:lnTo>
                </a:path>
              </a:pathLst>
            </a:custGeom>
            <a:ln w="1777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630384" y="5641294"/>
              <a:ext cx="55880" cy="83185"/>
            </a:xfrm>
            <a:custGeom>
              <a:avLst/>
              <a:gdLst/>
              <a:ahLst/>
              <a:cxnLst/>
              <a:rect l="l" t="t" r="r" b="b"/>
              <a:pathLst>
                <a:path w="55879" h="83185">
                  <a:moveTo>
                    <a:pt x="0" y="0"/>
                  </a:moveTo>
                  <a:lnTo>
                    <a:pt x="27264" y="82997"/>
                  </a:lnTo>
                  <a:lnTo>
                    <a:pt x="55717" y="5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758211" y="5953729"/>
              <a:ext cx="351155" cy="370205"/>
            </a:xfrm>
            <a:custGeom>
              <a:avLst/>
              <a:gdLst/>
              <a:ahLst/>
              <a:cxnLst/>
              <a:rect l="l" t="t" r="r" b="b"/>
              <a:pathLst>
                <a:path w="351155" h="370204">
                  <a:moveTo>
                    <a:pt x="350961" y="0"/>
                  </a:moveTo>
                  <a:lnTo>
                    <a:pt x="0" y="369920"/>
                  </a:lnTo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706044" y="6299342"/>
              <a:ext cx="77470" cy="79375"/>
            </a:xfrm>
            <a:custGeom>
              <a:avLst/>
              <a:gdLst/>
              <a:ahLst/>
              <a:cxnLst/>
              <a:rect l="l" t="t" r="r" b="b"/>
              <a:pathLst>
                <a:path w="77469" h="79375">
                  <a:moveTo>
                    <a:pt x="37337" y="0"/>
                  </a:moveTo>
                  <a:lnTo>
                    <a:pt x="0" y="78851"/>
                  </a:lnTo>
                  <a:lnTo>
                    <a:pt x="77068" y="37353"/>
                  </a:lnTo>
                  <a:lnTo>
                    <a:pt x="3733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3286429" y="5968543"/>
              <a:ext cx="400685" cy="368935"/>
            </a:xfrm>
            <a:custGeom>
              <a:avLst/>
              <a:gdLst/>
              <a:ahLst/>
              <a:cxnLst/>
              <a:rect l="l" t="t" r="r" b="b"/>
              <a:pathLst>
                <a:path w="400685" h="368935">
                  <a:moveTo>
                    <a:pt x="0" y="0"/>
                  </a:moveTo>
                  <a:lnTo>
                    <a:pt x="400156" y="368747"/>
                  </a:lnTo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662872" y="6312982"/>
              <a:ext cx="80645" cy="76835"/>
            </a:xfrm>
            <a:custGeom>
              <a:avLst/>
              <a:gdLst/>
              <a:ahLst/>
              <a:cxnLst/>
              <a:rect l="l" t="t" r="r" b="b"/>
              <a:pathLst>
                <a:path w="80645" h="76835">
                  <a:moveTo>
                    <a:pt x="37353" y="0"/>
                  </a:moveTo>
                  <a:lnTo>
                    <a:pt x="0" y="40309"/>
                  </a:lnTo>
                  <a:lnTo>
                    <a:pt x="80040" y="76474"/>
                  </a:lnTo>
                  <a:lnTo>
                    <a:pt x="37353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713161" y="5100047"/>
              <a:ext cx="881380" cy="255270"/>
            </a:xfrm>
            <a:custGeom>
              <a:avLst/>
              <a:gdLst/>
              <a:ahLst/>
              <a:cxnLst/>
              <a:rect l="l" t="t" r="r" b="b"/>
              <a:pathLst>
                <a:path w="881379" h="255270">
                  <a:moveTo>
                    <a:pt x="880949" y="0"/>
                  </a:moveTo>
                  <a:lnTo>
                    <a:pt x="0" y="0"/>
                  </a:lnTo>
                  <a:lnTo>
                    <a:pt x="0" y="254917"/>
                  </a:lnTo>
                  <a:lnTo>
                    <a:pt x="880949" y="254917"/>
                  </a:lnTo>
                  <a:lnTo>
                    <a:pt x="880949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713161" y="5100047"/>
              <a:ext cx="881380" cy="255270"/>
            </a:xfrm>
            <a:custGeom>
              <a:avLst/>
              <a:gdLst/>
              <a:ahLst/>
              <a:cxnLst/>
              <a:rect l="l" t="t" r="r" b="b"/>
              <a:pathLst>
                <a:path w="881379" h="255270">
                  <a:moveTo>
                    <a:pt x="0" y="254917"/>
                  </a:moveTo>
                  <a:lnTo>
                    <a:pt x="880949" y="254917"/>
                  </a:lnTo>
                  <a:lnTo>
                    <a:pt x="880949" y="0"/>
                  </a:lnTo>
                  <a:lnTo>
                    <a:pt x="0" y="0"/>
                  </a:lnTo>
                  <a:lnTo>
                    <a:pt x="0" y="254917"/>
                  </a:lnTo>
                  <a:close/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/>
          <p:cNvSpPr txBox="1"/>
          <p:nvPr/>
        </p:nvSpPr>
        <p:spPr>
          <a:xfrm>
            <a:off x="2853659" y="5705913"/>
            <a:ext cx="606425" cy="255270"/>
          </a:xfrm>
          <a:prstGeom prst="rect">
            <a:avLst/>
          </a:prstGeom>
          <a:solidFill>
            <a:srgbClr val="0000FF"/>
          </a:solidFill>
          <a:ln w="14820">
            <a:solidFill>
              <a:srgbClr val="FFFF00"/>
            </a:solidFill>
          </a:ln>
        </p:spPr>
        <p:txBody>
          <a:bodyPr wrap="square" lIns="0" tIns="21590" rIns="0" bIns="0" rtlCol="0" vert="horz">
            <a:spAutoFit/>
          </a:bodyPr>
          <a:lstStyle/>
          <a:p>
            <a:pPr marL="93345">
              <a:lnSpc>
                <a:spcPct val="100000"/>
              </a:lnSpc>
              <a:spcBef>
                <a:spcPts val="170"/>
              </a:spcBef>
            </a:pP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pants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2354579" y="6363458"/>
            <a:ext cx="622300" cy="270510"/>
            <a:chOff x="2354579" y="6363458"/>
            <a:chExt cx="622300" cy="270510"/>
          </a:xfrm>
        </p:grpSpPr>
        <p:sp>
          <p:nvSpPr>
            <p:cNvPr id="64" name="object 64"/>
            <p:cNvSpPr/>
            <p:nvPr/>
          </p:nvSpPr>
          <p:spPr>
            <a:xfrm>
              <a:off x="2362199" y="6371078"/>
              <a:ext cx="607060" cy="255270"/>
            </a:xfrm>
            <a:custGeom>
              <a:avLst/>
              <a:gdLst/>
              <a:ahLst/>
              <a:cxnLst/>
              <a:rect l="l" t="t" r="r" b="b"/>
              <a:pathLst>
                <a:path w="607060" h="255270">
                  <a:moveTo>
                    <a:pt x="606468" y="0"/>
                  </a:moveTo>
                  <a:lnTo>
                    <a:pt x="0" y="0"/>
                  </a:lnTo>
                  <a:lnTo>
                    <a:pt x="0" y="254917"/>
                  </a:lnTo>
                  <a:lnTo>
                    <a:pt x="606468" y="254917"/>
                  </a:lnTo>
                  <a:lnTo>
                    <a:pt x="60646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2362199" y="6371078"/>
              <a:ext cx="607060" cy="255270"/>
            </a:xfrm>
            <a:custGeom>
              <a:avLst/>
              <a:gdLst/>
              <a:ahLst/>
              <a:cxnLst/>
              <a:rect l="l" t="t" r="r" b="b"/>
              <a:pathLst>
                <a:path w="607060" h="255270">
                  <a:moveTo>
                    <a:pt x="0" y="254917"/>
                  </a:moveTo>
                  <a:lnTo>
                    <a:pt x="606468" y="254917"/>
                  </a:lnTo>
                  <a:lnTo>
                    <a:pt x="606468" y="0"/>
                  </a:lnTo>
                  <a:lnTo>
                    <a:pt x="0" y="0"/>
                  </a:lnTo>
                  <a:lnTo>
                    <a:pt x="0" y="254917"/>
                  </a:lnTo>
                  <a:close/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6" name="object 66"/>
          <p:cNvSpPr txBox="1"/>
          <p:nvPr/>
        </p:nvSpPr>
        <p:spPr>
          <a:xfrm>
            <a:off x="2521075" y="6377942"/>
            <a:ext cx="252095" cy="2038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belt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4372584" y="5092427"/>
            <a:ext cx="622300" cy="876300"/>
            <a:chOff x="4372584" y="5092427"/>
            <a:chExt cx="622300" cy="876300"/>
          </a:xfrm>
        </p:grpSpPr>
        <p:sp>
          <p:nvSpPr>
            <p:cNvPr id="68" name="object 68"/>
            <p:cNvSpPr/>
            <p:nvPr/>
          </p:nvSpPr>
          <p:spPr>
            <a:xfrm>
              <a:off x="4380204" y="5100047"/>
              <a:ext cx="607060" cy="255270"/>
            </a:xfrm>
            <a:custGeom>
              <a:avLst/>
              <a:gdLst/>
              <a:ahLst/>
              <a:cxnLst/>
              <a:rect l="l" t="t" r="r" b="b"/>
              <a:pathLst>
                <a:path w="607060" h="255270">
                  <a:moveTo>
                    <a:pt x="606468" y="0"/>
                  </a:moveTo>
                  <a:lnTo>
                    <a:pt x="0" y="0"/>
                  </a:lnTo>
                  <a:lnTo>
                    <a:pt x="0" y="254917"/>
                  </a:lnTo>
                  <a:lnTo>
                    <a:pt x="606468" y="254917"/>
                  </a:lnTo>
                  <a:lnTo>
                    <a:pt x="60646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380204" y="5100047"/>
              <a:ext cx="607060" cy="255270"/>
            </a:xfrm>
            <a:custGeom>
              <a:avLst/>
              <a:gdLst/>
              <a:ahLst/>
              <a:cxnLst/>
              <a:rect l="l" t="t" r="r" b="b"/>
              <a:pathLst>
                <a:path w="607060" h="255270">
                  <a:moveTo>
                    <a:pt x="0" y="254917"/>
                  </a:moveTo>
                  <a:lnTo>
                    <a:pt x="606468" y="254917"/>
                  </a:lnTo>
                  <a:lnTo>
                    <a:pt x="606468" y="0"/>
                  </a:lnTo>
                  <a:lnTo>
                    <a:pt x="0" y="0"/>
                  </a:lnTo>
                  <a:lnTo>
                    <a:pt x="0" y="254917"/>
                  </a:lnTo>
                  <a:close/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380204" y="5705913"/>
              <a:ext cx="607060" cy="255270"/>
            </a:xfrm>
            <a:custGeom>
              <a:avLst/>
              <a:gdLst/>
              <a:ahLst/>
              <a:cxnLst/>
              <a:rect l="l" t="t" r="r" b="b"/>
              <a:pathLst>
                <a:path w="607060" h="255270">
                  <a:moveTo>
                    <a:pt x="606468" y="0"/>
                  </a:moveTo>
                  <a:lnTo>
                    <a:pt x="0" y="0"/>
                  </a:lnTo>
                  <a:lnTo>
                    <a:pt x="0" y="254917"/>
                  </a:lnTo>
                  <a:lnTo>
                    <a:pt x="606468" y="254917"/>
                  </a:lnTo>
                  <a:lnTo>
                    <a:pt x="60646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380204" y="5705913"/>
              <a:ext cx="607060" cy="255270"/>
            </a:xfrm>
            <a:custGeom>
              <a:avLst/>
              <a:gdLst/>
              <a:ahLst/>
              <a:cxnLst/>
              <a:rect l="l" t="t" r="r" b="b"/>
              <a:pathLst>
                <a:path w="607060" h="255270">
                  <a:moveTo>
                    <a:pt x="0" y="254917"/>
                  </a:moveTo>
                  <a:lnTo>
                    <a:pt x="606468" y="254917"/>
                  </a:lnTo>
                  <a:lnTo>
                    <a:pt x="606468" y="0"/>
                  </a:lnTo>
                  <a:lnTo>
                    <a:pt x="0" y="0"/>
                  </a:lnTo>
                  <a:lnTo>
                    <a:pt x="0" y="254917"/>
                  </a:lnTo>
                  <a:close/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" name="object 72"/>
          <p:cNvSpPr txBox="1"/>
          <p:nvPr/>
        </p:nvSpPr>
        <p:spPr>
          <a:xfrm>
            <a:off x="4584723" y="5712780"/>
            <a:ext cx="169545" cy="2038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tie</a:t>
            </a:r>
            <a:endParaRPr sz="115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369911" y="7250838"/>
            <a:ext cx="607060" cy="255270"/>
          </a:xfrm>
          <a:prstGeom prst="rect">
            <a:avLst/>
          </a:prstGeom>
          <a:solidFill>
            <a:srgbClr val="0000FF"/>
          </a:solidFill>
          <a:ln w="14820">
            <a:solidFill>
              <a:srgbClr val="FFFF00"/>
            </a:solidFill>
          </a:ln>
        </p:spPr>
        <p:txBody>
          <a:bodyPr wrap="square" lIns="0" tIns="21590" rIns="0" bIns="0" rtlCol="0" vert="horz">
            <a:spAutoFit/>
          </a:bodyPr>
          <a:lstStyle/>
          <a:p>
            <a:pPr marL="141605">
              <a:lnSpc>
                <a:spcPct val="100000"/>
              </a:lnSpc>
              <a:spcBef>
                <a:spcPts val="170"/>
              </a:spcBef>
            </a:pP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coat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5148605" y="5092427"/>
            <a:ext cx="621665" cy="270510"/>
            <a:chOff x="5148605" y="5092427"/>
            <a:chExt cx="621665" cy="270510"/>
          </a:xfrm>
        </p:grpSpPr>
        <p:sp>
          <p:nvSpPr>
            <p:cNvPr id="75" name="object 75"/>
            <p:cNvSpPr/>
            <p:nvPr/>
          </p:nvSpPr>
          <p:spPr>
            <a:xfrm>
              <a:off x="5156225" y="5100047"/>
              <a:ext cx="606425" cy="255270"/>
            </a:xfrm>
            <a:custGeom>
              <a:avLst/>
              <a:gdLst/>
              <a:ahLst/>
              <a:cxnLst/>
              <a:rect l="l" t="t" r="r" b="b"/>
              <a:pathLst>
                <a:path w="606425" h="255270">
                  <a:moveTo>
                    <a:pt x="605875" y="0"/>
                  </a:moveTo>
                  <a:lnTo>
                    <a:pt x="0" y="0"/>
                  </a:lnTo>
                  <a:lnTo>
                    <a:pt x="0" y="254917"/>
                  </a:lnTo>
                  <a:lnTo>
                    <a:pt x="605875" y="254917"/>
                  </a:lnTo>
                  <a:lnTo>
                    <a:pt x="60587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5156225" y="5100047"/>
              <a:ext cx="606425" cy="255270"/>
            </a:xfrm>
            <a:custGeom>
              <a:avLst/>
              <a:gdLst/>
              <a:ahLst/>
              <a:cxnLst/>
              <a:rect l="l" t="t" r="r" b="b"/>
              <a:pathLst>
                <a:path w="606425" h="255270">
                  <a:moveTo>
                    <a:pt x="0" y="254917"/>
                  </a:moveTo>
                  <a:lnTo>
                    <a:pt x="605875" y="254917"/>
                  </a:lnTo>
                  <a:lnTo>
                    <a:pt x="605875" y="0"/>
                  </a:lnTo>
                  <a:lnTo>
                    <a:pt x="0" y="0"/>
                  </a:lnTo>
                  <a:lnTo>
                    <a:pt x="0" y="254917"/>
                  </a:lnTo>
                  <a:close/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7" name="object 77"/>
          <p:cNvSpPr txBox="1"/>
          <p:nvPr/>
        </p:nvSpPr>
        <p:spPr>
          <a:xfrm>
            <a:off x="3455974" y="6371078"/>
            <a:ext cx="607060" cy="255270"/>
          </a:xfrm>
          <a:prstGeom prst="rect">
            <a:avLst/>
          </a:prstGeom>
          <a:solidFill>
            <a:srgbClr val="0000FF"/>
          </a:solidFill>
          <a:ln w="14820">
            <a:solidFill>
              <a:srgbClr val="FFFF00"/>
            </a:solidFill>
          </a:ln>
        </p:spPr>
        <p:txBody>
          <a:bodyPr wrap="square" lIns="0" tIns="21590" rIns="0" bIns="0" rtlCol="0" vert="horz">
            <a:spAutoFit/>
          </a:bodyPr>
          <a:lstStyle/>
          <a:p>
            <a:pPr marL="85725">
              <a:lnSpc>
                <a:spcPct val="100000"/>
              </a:lnSpc>
              <a:spcBef>
                <a:spcPts val="170"/>
              </a:spcBef>
            </a:pP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shoes</a:t>
            </a:r>
            <a:endParaRPr sz="1150">
              <a:latin typeface="Arial"/>
              <a:cs typeface="Arial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3582253" y="5347848"/>
            <a:ext cx="20955" cy="22860"/>
          </a:xfrm>
          <a:custGeom>
            <a:avLst/>
            <a:gdLst/>
            <a:ahLst/>
            <a:cxnLst/>
            <a:rect l="l" t="t" r="r" b="b"/>
            <a:pathLst>
              <a:path w="20954" h="22860">
                <a:moveTo>
                  <a:pt x="0" y="0"/>
                </a:moveTo>
                <a:lnTo>
                  <a:pt x="20741" y="22524"/>
                </a:lnTo>
              </a:path>
            </a:pathLst>
          </a:custGeom>
          <a:ln w="14820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4363013" y="5397058"/>
            <a:ext cx="8890" cy="29209"/>
          </a:xfrm>
          <a:custGeom>
            <a:avLst/>
            <a:gdLst/>
            <a:ahLst/>
            <a:cxnLst/>
            <a:rect l="l" t="t" r="r" b="b"/>
            <a:pathLst>
              <a:path w="8889" h="29210">
                <a:moveTo>
                  <a:pt x="8884" y="0"/>
                </a:moveTo>
                <a:lnTo>
                  <a:pt x="0" y="29047"/>
                </a:lnTo>
              </a:path>
            </a:pathLst>
          </a:custGeom>
          <a:ln w="14820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0" name="object 80"/>
          <p:cNvGrpSpPr/>
          <p:nvPr/>
        </p:nvGrpSpPr>
        <p:grpSpPr>
          <a:xfrm>
            <a:off x="2950296" y="5329175"/>
            <a:ext cx="2497455" cy="1975485"/>
            <a:chOff x="2950296" y="5329175"/>
            <a:chExt cx="2497455" cy="1975485"/>
          </a:xfrm>
        </p:grpSpPr>
        <p:sp>
          <p:nvSpPr>
            <p:cNvPr id="81" name="object 81"/>
            <p:cNvSpPr/>
            <p:nvPr/>
          </p:nvSpPr>
          <p:spPr>
            <a:xfrm>
              <a:off x="3623157" y="5393492"/>
              <a:ext cx="190500" cy="480059"/>
            </a:xfrm>
            <a:custGeom>
              <a:avLst/>
              <a:gdLst/>
              <a:ahLst/>
              <a:cxnLst/>
              <a:rect l="l" t="t" r="r" b="b"/>
              <a:pathLst>
                <a:path w="190500" h="480060">
                  <a:moveTo>
                    <a:pt x="0" y="0"/>
                  </a:moveTo>
                  <a:lnTo>
                    <a:pt x="18973" y="24307"/>
                  </a:lnTo>
                </a:path>
                <a:path w="190500" h="480060">
                  <a:moveTo>
                    <a:pt x="37337" y="48615"/>
                  </a:moveTo>
                  <a:lnTo>
                    <a:pt x="53949" y="74112"/>
                  </a:lnTo>
                </a:path>
                <a:path w="190500" h="480060">
                  <a:moveTo>
                    <a:pt x="69357" y="100782"/>
                  </a:moveTo>
                  <a:lnTo>
                    <a:pt x="82997" y="124495"/>
                  </a:lnTo>
                </a:path>
                <a:path w="190500" h="480060">
                  <a:moveTo>
                    <a:pt x="82997" y="124495"/>
                  </a:moveTo>
                  <a:lnTo>
                    <a:pt x="84764" y="127467"/>
                  </a:lnTo>
                </a:path>
                <a:path w="190500" h="480060">
                  <a:moveTo>
                    <a:pt x="97810" y="155326"/>
                  </a:moveTo>
                  <a:lnTo>
                    <a:pt x="106116" y="172516"/>
                  </a:lnTo>
                </a:path>
                <a:path w="190500" h="480060">
                  <a:moveTo>
                    <a:pt x="106116" y="172516"/>
                  </a:moveTo>
                  <a:lnTo>
                    <a:pt x="110855" y="183184"/>
                  </a:lnTo>
                </a:path>
                <a:path w="190500" h="480060">
                  <a:moveTo>
                    <a:pt x="122712" y="211653"/>
                  </a:moveTo>
                  <a:lnTo>
                    <a:pt x="126857" y="222321"/>
                  </a:lnTo>
                </a:path>
                <a:path w="190500" h="480060">
                  <a:moveTo>
                    <a:pt x="126857" y="222321"/>
                  </a:moveTo>
                  <a:lnTo>
                    <a:pt x="133380" y="240700"/>
                  </a:lnTo>
                </a:path>
                <a:path w="190500" h="480060">
                  <a:moveTo>
                    <a:pt x="143469" y="269153"/>
                  </a:moveTo>
                  <a:lnTo>
                    <a:pt x="144642" y="273298"/>
                  </a:lnTo>
                </a:path>
                <a:path w="190500" h="480060">
                  <a:moveTo>
                    <a:pt x="144642" y="273298"/>
                  </a:moveTo>
                  <a:lnTo>
                    <a:pt x="152354" y="298795"/>
                  </a:lnTo>
                </a:path>
                <a:path w="190500" h="480060">
                  <a:moveTo>
                    <a:pt x="160660" y="328437"/>
                  </a:moveTo>
                  <a:lnTo>
                    <a:pt x="167761" y="358673"/>
                  </a:lnTo>
                </a:path>
                <a:path w="190500" h="480060">
                  <a:moveTo>
                    <a:pt x="174284" y="388909"/>
                  </a:moveTo>
                  <a:lnTo>
                    <a:pt x="180212" y="419130"/>
                  </a:lnTo>
                </a:path>
                <a:path w="190500" h="480060">
                  <a:moveTo>
                    <a:pt x="185546" y="449366"/>
                  </a:moveTo>
                  <a:lnTo>
                    <a:pt x="190301" y="479602"/>
                  </a:lnTo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3817010" y="5903330"/>
              <a:ext cx="3810" cy="31115"/>
            </a:xfrm>
            <a:custGeom>
              <a:avLst/>
              <a:gdLst/>
              <a:ahLst/>
              <a:cxnLst/>
              <a:rect l="l" t="t" r="r" b="b"/>
              <a:pathLst>
                <a:path w="3810" h="31114">
                  <a:moveTo>
                    <a:pt x="1775" y="-7410"/>
                  </a:moveTo>
                  <a:lnTo>
                    <a:pt x="1775" y="38240"/>
                  </a:lnTo>
                </a:path>
              </a:pathLst>
            </a:custGeom>
            <a:ln w="1837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3823532" y="5964992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39" h="31114">
                  <a:moveTo>
                    <a:pt x="1188" y="-7410"/>
                  </a:moveTo>
                  <a:lnTo>
                    <a:pt x="1188" y="38240"/>
                  </a:lnTo>
                </a:path>
              </a:pathLst>
            </a:custGeom>
            <a:ln w="1719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3827678" y="6026637"/>
              <a:ext cx="1905" cy="31115"/>
            </a:xfrm>
            <a:custGeom>
              <a:avLst/>
              <a:gdLst/>
              <a:ahLst/>
              <a:cxnLst/>
              <a:rect l="l" t="t" r="r" b="b"/>
              <a:pathLst>
                <a:path w="1904" h="31114">
                  <a:moveTo>
                    <a:pt x="891" y="-7410"/>
                  </a:moveTo>
                  <a:lnTo>
                    <a:pt x="891" y="38240"/>
                  </a:lnTo>
                </a:path>
              </a:pathLst>
            </a:custGeom>
            <a:ln w="1660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3830055" y="6088298"/>
              <a:ext cx="1270" cy="30480"/>
            </a:xfrm>
            <a:custGeom>
              <a:avLst/>
              <a:gdLst/>
              <a:ahLst/>
              <a:cxnLst/>
              <a:rect l="l" t="t" r="r" b="b"/>
              <a:pathLst>
                <a:path w="1270" h="30479">
                  <a:moveTo>
                    <a:pt x="594" y="-7410"/>
                  </a:moveTo>
                  <a:lnTo>
                    <a:pt x="594" y="37646"/>
                  </a:lnTo>
                </a:path>
              </a:pathLst>
            </a:custGeom>
            <a:ln w="1600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3831244" y="6149365"/>
              <a:ext cx="635" cy="31115"/>
            </a:xfrm>
            <a:custGeom>
              <a:avLst/>
              <a:gdLst/>
              <a:ahLst/>
              <a:cxnLst/>
              <a:rect l="l" t="t" r="r" b="b"/>
              <a:pathLst>
                <a:path w="635" h="31114">
                  <a:moveTo>
                    <a:pt x="297" y="-7410"/>
                  </a:moveTo>
                  <a:lnTo>
                    <a:pt x="297" y="38225"/>
                  </a:lnTo>
                </a:path>
              </a:pathLst>
            </a:custGeom>
            <a:ln w="154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3831244" y="6211011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79">
                  <a:moveTo>
                    <a:pt x="0" y="0"/>
                  </a:moveTo>
                  <a:lnTo>
                    <a:pt x="0" y="30236"/>
                  </a:lnTo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3831244" y="62412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7410" y="297"/>
                  </a:moveTo>
                  <a:lnTo>
                    <a:pt x="7410" y="297"/>
                  </a:lnTo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829461" y="6272672"/>
              <a:ext cx="635" cy="29845"/>
            </a:xfrm>
            <a:custGeom>
              <a:avLst/>
              <a:gdLst/>
              <a:ahLst/>
              <a:cxnLst/>
              <a:rect l="l" t="t" r="r" b="b"/>
              <a:pathLst>
                <a:path w="635" h="29845">
                  <a:moveTo>
                    <a:pt x="297" y="-7410"/>
                  </a:moveTo>
                  <a:lnTo>
                    <a:pt x="297" y="37052"/>
                  </a:lnTo>
                </a:path>
              </a:pathLst>
            </a:custGeom>
            <a:ln w="154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3801602" y="6294008"/>
              <a:ext cx="55880" cy="84455"/>
            </a:xfrm>
            <a:custGeom>
              <a:avLst/>
              <a:gdLst/>
              <a:ahLst/>
              <a:cxnLst/>
              <a:rect l="l" t="t" r="r" b="b"/>
              <a:pathLst>
                <a:path w="55879" h="84454">
                  <a:moveTo>
                    <a:pt x="0" y="0"/>
                  </a:moveTo>
                  <a:lnTo>
                    <a:pt x="24307" y="84185"/>
                  </a:lnTo>
                  <a:lnTo>
                    <a:pt x="55717" y="29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3016087" y="5336585"/>
              <a:ext cx="1369695" cy="975360"/>
            </a:xfrm>
            <a:custGeom>
              <a:avLst/>
              <a:gdLst/>
              <a:ahLst/>
              <a:cxnLst/>
              <a:rect l="l" t="t" r="r" b="b"/>
              <a:pathLst>
                <a:path w="1369695" h="975360">
                  <a:moveTo>
                    <a:pt x="1369451" y="0"/>
                  </a:moveTo>
                  <a:lnTo>
                    <a:pt x="1362928" y="30236"/>
                  </a:lnTo>
                </a:path>
                <a:path w="1369695" h="975360">
                  <a:moveTo>
                    <a:pt x="1337431" y="118567"/>
                  </a:moveTo>
                  <a:lnTo>
                    <a:pt x="1326169" y="147020"/>
                  </a:lnTo>
                </a:path>
                <a:path w="1369695" h="975360">
                  <a:moveTo>
                    <a:pt x="1313124" y="174878"/>
                  </a:moveTo>
                  <a:lnTo>
                    <a:pt x="1299499" y="202752"/>
                  </a:lnTo>
                </a:path>
                <a:path w="1369695" h="975360">
                  <a:moveTo>
                    <a:pt x="1283482" y="229422"/>
                  </a:moveTo>
                  <a:lnTo>
                    <a:pt x="1272219" y="248396"/>
                  </a:lnTo>
                </a:path>
                <a:path w="1369695" h="975360">
                  <a:moveTo>
                    <a:pt x="1272219" y="248396"/>
                  </a:moveTo>
                  <a:lnTo>
                    <a:pt x="1266885" y="255513"/>
                  </a:lnTo>
                </a:path>
                <a:path w="1369695" h="975360">
                  <a:moveTo>
                    <a:pt x="1249100" y="280415"/>
                  </a:moveTo>
                  <a:lnTo>
                    <a:pt x="1241983" y="289895"/>
                  </a:lnTo>
                </a:path>
                <a:path w="1369695" h="975360">
                  <a:moveTo>
                    <a:pt x="1241983" y="289895"/>
                  </a:moveTo>
                  <a:lnTo>
                    <a:pt x="1229547" y="304708"/>
                  </a:lnTo>
                </a:path>
                <a:path w="1369695" h="975360">
                  <a:moveTo>
                    <a:pt x="1209979" y="327842"/>
                  </a:moveTo>
                  <a:lnTo>
                    <a:pt x="1208196" y="329610"/>
                  </a:lnTo>
                </a:path>
                <a:path w="1369695" h="975360">
                  <a:moveTo>
                    <a:pt x="1208196" y="329610"/>
                  </a:moveTo>
                  <a:lnTo>
                    <a:pt x="1188628" y="349773"/>
                  </a:lnTo>
                </a:path>
                <a:path w="1369695" h="975360">
                  <a:moveTo>
                    <a:pt x="1166698" y="371703"/>
                  </a:moveTo>
                  <a:lnTo>
                    <a:pt x="1144173" y="392460"/>
                  </a:lnTo>
                </a:path>
                <a:path w="1369695" h="975360">
                  <a:moveTo>
                    <a:pt x="1121054" y="412607"/>
                  </a:moveTo>
                  <a:lnTo>
                    <a:pt x="1097935" y="432175"/>
                  </a:lnTo>
                </a:path>
                <a:path w="1369695" h="975360">
                  <a:moveTo>
                    <a:pt x="1073033" y="450555"/>
                  </a:moveTo>
                  <a:lnTo>
                    <a:pt x="1049319" y="468340"/>
                  </a:lnTo>
                </a:path>
                <a:path w="1369695" h="975360">
                  <a:moveTo>
                    <a:pt x="1049319" y="468340"/>
                  </a:moveTo>
                  <a:lnTo>
                    <a:pt x="1048130" y="468934"/>
                  </a:lnTo>
                </a:path>
                <a:path w="1369695" h="975360">
                  <a:moveTo>
                    <a:pt x="1022649" y="486125"/>
                  </a:moveTo>
                  <a:lnTo>
                    <a:pt x="1004270" y="498576"/>
                  </a:lnTo>
                </a:path>
                <a:path w="1369695" h="975360">
                  <a:moveTo>
                    <a:pt x="1004270" y="498576"/>
                  </a:moveTo>
                  <a:lnTo>
                    <a:pt x="997153" y="503316"/>
                  </a:lnTo>
                </a:path>
                <a:path w="1369695" h="975360">
                  <a:moveTo>
                    <a:pt x="970467" y="519318"/>
                  </a:moveTo>
                  <a:lnTo>
                    <a:pt x="956843" y="527624"/>
                  </a:lnTo>
                </a:path>
                <a:path w="1369695" h="975360">
                  <a:moveTo>
                    <a:pt x="956843" y="527624"/>
                  </a:moveTo>
                  <a:lnTo>
                    <a:pt x="943797" y="534741"/>
                  </a:lnTo>
                </a:path>
                <a:path w="1369695" h="975360">
                  <a:moveTo>
                    <a:pt x="917112" y="549554"/>
                  </a:moveTo>
                  <a:lnTo>
                    <a:pt x="908227" y="554294"/>
                  </a:lnTo>
                </a:path>
                <a:path w="1369695" h="975360">
                  <a:moveTo>
                    <a:pt x="908227" y="554294"/>
                  </a:moveTo>
                  <a:lnTo>
                    <a:pt x="889848" y="563788"/>
                  </a:lnTo>
                </a:path>
                <a:path w="1369695" h="975360">
                  <a:moveTo>
                    <a:pt x="863178" y="578007"/>
                  </a:moveTo>
                  <a:lnTo>
                    <a:pt x="859017" y="580384"/>
                  </a:lnTo>
                </a:path>
                <a:path w="1369695" h="975360">
                  <a:moveTo>
                    <a:pt x="859017" y="580384"/>
                  </a:moveTo>
                  <a:lnTo>
                    <a:pt x="835898" y="591647"/>
                  </a:lnTo>
                </a:path>
                <a:path w="1369695" h="975360">
                  <a:moveTo>
                    <a:pt x="808040" y="605287"/>
                  </a:moveTo>
                  <a:lnTo>
                    <a:pt x="780181" y="618317"/>
                  </a:lnTo>
                </a:path>
                <a:path w="1369695" h="975360">
                  <a:moveTo>
                    <a:pt x="752307" y="631362"/>
                  </a:moveTo>
                  <a:lnTo>
                    <a:pt x="723854" y="643813"/>
                  </a:lnTo>
                </a:path>
                <a:path w="1369695" h="975360">
                  <a:moveTo>
                    <a:pt x="695401" y="656264"/>
                  </a:moveTo>
                  <a:lnTo>
                    <a:pt x="666948" y="668715"/>
                  </a:lnTo>
                </a:path>
                <a:path w="1369695" h="975360">
                  <a:moveTo>
                    <a:pt x="639074" y="680572"/>
                  </a:moveTo>
                  <a:lnTo>
                    <a:pt x="610621" y="691835"/>
                  </a:lnTo>
                </a:path>
                <a:path w="1369695" h="975360">
                  <a:moveTo>
                    <a:pt x="582167" y="703097"/>
                  </a:moveTo>
                  <a:lnTo>
                    <a:pt x="553714" y="714954"/>
                  </a:lnTo>
                </a:path>
                <a:path w="1369695" h="975360">
                  <a:moveTo>
                    <a:pt x="525261" y="726216"/>
                  </a:moveTo>
                  <a:lnTo>
                    <a:pt x="496793" y="737478"/>
                  </a:lnTo>
                </a:path>
                <a:path w="1369695" h="975360">
                  <a:moveTo>
                    <a:pt x="468340" y="748741"/>
                  </a:moveTo>
                  <a:lnTo>
                    <a:pt x="440481" y="760003"/>
                  </a:lnTo>
                </a:path>
                <a:path w="1369695" h="975360">
                  <a:moveTo>
                    <a:pt x="440481" y="760003"/>
                  </a:moveTo>
                  <a:lnTo>
                    <a:pt x="439887" y="760003"/>
                  </a:lnTo>
                </a:path>
                <a:path w="1369695" h="975360">
                  <a:moveTo>
                    <a:pt x="412028" y="770686"/>
                  </a:moveTo>
                  <a:lnTo>
                    <a:pt x="389503" y="779571"/>
                  </a:lnTo>
                </a:path>
                <a:path w="1369695" h="975360">
                  <a:moveTo>
                    <a:pt x="389503" y="779571"/>
                  </a:moveTo>
                  <a:lnTo>
                    <a:pt x="383575" y="781949"/>
                  </a:lnTo>
                </a:path>
                <a:path w="1369695" h="975360">
                  <a:moveTo>
                    <a:pt x="355107" y="793805"/>
                  </a:moveTo>
                  <a:lnTo>
                    <a:pt x="338510" y="800328"/>
                  </a:lnTo>
                </a:path>
                <a:path w="1369695" h="975360">
                  <a:moveTo>
                    <a:pt x="338510" y="800328"/>
                  </a:moveTo>
                  <a:lnTo>
                    <a:pt x="326654" y="805662"/>
                  </a:lnTo>
                </a:path>
                <a:path w="1369695" h="975360">
                  <a:moveTo>
                    <a:pt x="298201" y="817519"/>
                  </a:moveTo>
                  <a:lnTo>
                    <a:pt x="289316" y="821070"/>
                  </a:lnTo>
                </a:path>
                <a:path w="1369695" h="975360">
                  <a:moveTo>
                    <a:pt x="289316" y="821070"/>
                  </a:moveTo>
                  <a:lnTo>
                    <a:pt x="269747" y="829376"/>
                  </a:lnTo>
                </a:path>
                <a:path w="1369695" h="975360">
                  <a:moveTo>
                    <a:pt x="241889" y="841827"/>
                  </a:moveTo>
                  <a:lnTo>
                    <a:pt x="240700" y="842421"/>
                  </a:lnTo>
                </a:path>
                <a:path w="1369695" h="975360">
                  <a:moveTo>
                    <a:pt x="240700" y="842421"/>
                  </a:moveTo>
                  <a:lnTo>
                    <a:pt x="214015" y="854857"/>
                  </a:lnTo>
                </a:path>
                <a:path w="1369695" h="975360">
                  <a:moveTo>
                    <a:pt x="186750" y="867308"/>
                  </a:moveTo>
                  <a:lnTo>
                    <a:pt x="158892" y="880948"/>
                  </a:lnTo>
                </a:path>
                <a:path w="1369695" h="975360">
                  <a:moveTo>
                    <a:pt x="131612" y="895182"/>
                  </a:moveTo>
                  <a:lnTo>
                    <a:pt x="106710" y="908212"/>
                  </a:lnTo>
                </a:path>
                <a:path w="1369695" h="975360">
                  <a:moveTo>
                    <a:pt x="106710" y="908212"/>
                  </a:moveTo>
                  <a:lnTo>
                    <a:pt x="104348" y="909401"/>
                  </a:lnTo>
                </a:path>
                <a:path w="1369695" h="975360">
                  <a:moveTo>
                    <a:pt x="77663" y="924824"/>
                  </a:moveTo>
                  <a:lnTo>
                    <a:pt x="65806" y="931925"/>
                  </a:lnTo>
                </a:path>
                <a:path w="1369695" h="975360">
                  <a:moveTo>
                    <a:pt x="65806" y="931925"/>
                  </a:moveTo>
                  <a:lnTo>
                    <a:pt x="51587" y="940826"/>
                  </a:lnTo>
                </a:path>
                <a:path w="1369695" h="975360">
                  <a:moveTo>
                    <a:pt x="25496" y="957422"/>
                  </a:moveTo>
                  <a:lnTo>
                    <a:pt x="0" y="975207"/>
                  </a:lnTo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950296" y="6292225"/>
              <a:ext cx="80645" cy="75565"/>
            </a:xfrm>
            <a:custGeom>
              <a:avLst/>
              <a:gdLst/>
              <a:ahLst/>
              <a:cxnLst/>
              <a:rect l="l" t="t" r="r" b="b"/>
              <a:pathLst>
                <a:path w="80644" h="75564">
                  <a:moveTo>
                    <a:pt x="44455" y="0"/>
                  </a:moveTo>
                  <a:lnTo>
                    <a:pt x="0" y="75300"/>
                  </a:lnTo>
                  <a:lnTo>
                    <a:pt x="80619" y="42092"/>
                  </a:lnTo>
                  <a:lnTo>
                    <a:pt x="4445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4654676" y="5951352"/>
              <a:ext cx="3175" cy="31115"/>
            </a:xfrm>
            <a:custGeom>
              <a:avLst/>
              <a:gdLst/>
              <a:ahLst/>
              <a:cxnLst/>
              <a:rect l="l" t="t" r="r" b="b"/>
              <a:pathLst>
                <a:path w="3175" h="31114">
                  <a:moveTo>
                    <a:pt x="1485" y="-7410"/>
                  </a:moveTo>
                  <a:lnTo>
                    <a:pt x="1485" y="38240"/>
                  </a:lnTo>
                </a:path>
              </a:pathLst>
            </a:custGeom>
            <a:ln w="1779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4649342" y="6013013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1188" y="0"/>
                  </a:moveTo>
                  <a:lnTo>
                    <a:pt x="0" y="10073"/>
                  </a:lnTo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646386" y="6023086"/>
              <a:ext cx="3175" cy="20955"/>
            </a:xfrm>
            <a:custGeom>
              <a:avLst/>
              <a:gdLst/>
              <a:ahLst/>
              <a:cxnLst/>
              <a:rect l="l" t="t" r="r" b="b"/>
              <a:pathLst>
                <a:path w="3175" h="20954">
                  <a:moveTo>
                    <a:pt x="1478" y="-7410"/>
                  </a:moveTo>
                  <a:lnTo>
                    <a:pt x="1478" y="28152"/>
                  </a:lnTo>
                </a:path>
              </a:pathLst>
            </a:custGeom>
            <a:ln w="1777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4622078" y="6074064"/>
              <a:ext cx="19050" cy="89535"/>
            </a:xfrm>
            <a:custGeom>
              <a:avLst/>
              <a:gdLst/>
              <a:ahLst/>
              <a:cxnLst/>
              <a:rect l="l" t="t" r="r" b="b"/>
              <a:pathLst>
                <a:path w="19050" h="89535">
                  <a:moveTo>
                    <a:pt x="18973" y="0"/>
                  </a:moveTo>
                  <a:lnTo>
                    <a:pt x="15407" y="19568"/>
                  </a:lnTo>
                </a:path>
                <a:path w="19050" h="89535">
                  <a:moveTo>
                    <a:pt x="15407" y="19568"/>
                  </a:moveTo>
                  <a:lnTo>
                    <a:pt x="13045" y="30236"/>
                  </a:lnTo>
                </a:path>
                <a:path w="19050" h="89535">
                  <a:moveTo>
                    <a:pt x="7117" y="59877"/>
                  </a:moveTo>
                  <a:lnTo>
                    <a:pt x="0" y="89519"/>
                  </a:lnTo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622078" y="61635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7410" y="297"/>
                  </a:moveTo>
                  <a:lnTo>
                    <a:pt x="7410" y="297"/>
                  </a:lnTo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3044555" y="6193820"/>
              <a:ext cx="1569720" cy="1086485"/>
            </a:xfrm>
            <a:custGeom>
              <a:avLst/>
              <a:gdLst/>
              <a:ahLst/>
              <a:cxnLst/>
              <a:rect l="l" t="t" r="r" b="b"/>
              <a:pathLst>
                <a:path w="1569720" h="1086484">
                  <a:moveTo>
                    <a:pt x="1569217" y="0"/>
                  </a:moveTo>
                  <a:lnTo>
                    <a:pt x="1568043" y="4739"/>
                  </a:lnTo>
                </a:path>
                <a:path w="1569720" h="1086484">
                  <a:moveTo>
                    <a:pt x="1568043" y="4739"/>
                  </a:moveTo>
                  <a:lnTo>
                    <a:pt x="1560332" y="29641"/>
                  </a:lnTo>
                </a:path>
                <a:path w="1569720" h="1086484">
                  <a:moveTo>
                    <a:pt x="1550837" y="58689"/>
                  </a:moveTo>
                  <a:lnTo>
                    <a:pt x="1546097" y="72923"/>
                  </a:lnTo>
                </a:path>
                <a:path w="1569720" h="1086484">
                  <a:moveTo>
                    <a:pt x="1546097" y="72923"/>
                  </a:moveTo>
                  <a:lnTo>
                    <a:pt x="1540763" y="87736"/>
                  </a:lnTo>
                </a:path>
                <a:path w="1569720" h="1086484">
                  <a:moveTo>
                    <a:pt x="1530095" y="116189"/>
                  </a:moveTo>
                  <a:lnTo>
                    <a:pt x="1520616" y="139903"/>
                  </a:lnTo>
                </a:path>
                <a:path w="1569720" h="1086484">
                  <a:moveTo>
                    <a:pt x="1520616" y="139903"/>
                  </a:moveTo>
                  <a:lnTo>
                    <a:pt x="1518239" y="144063"/>
                  </a:lnTo>
                </a:path>
                <a:path w="1569720" h="1086484">
                  <a:moveTo>
                    <a:pt x="1506382" y="172516"/>
                  </a:moveTo>
                  <a:lnTo>
                    <a:pt x="1492742" y="200375"/>
                  </a:lnTo>
                </a:path>
                <a:path w="1569720" h="1086484">
                  <a:moveTo>
                    <a:pt x="1479118" y="227655"/>
                  </a:moveTo>
                  <a:lnTo>
                    <a:pt x="1474363" y="236540"/>
                  </a:lnTo>
                </a:path>
                <a:path w="1569720" h="1086484">
                  <a:moveTo>
                    <a:pt x="1474363" y="236540"/>
                  </a:moveTo>
                  <a:lnTo>
                    <a:pt x="1464289" y="254325"/>
                  </a:lnTo>
                </a:path>
                <a:path w="1569720" h="1086484">
                  <a:moveTo>
                    <a:pt x="1448287" y="281010"/>
                  </a:moveTo>
                  <a:lnTo>
                    <a:pt x="1438214" y="297606"/>
                  </a:lnTo>
                </a:path>
                <a:path w="1569720" h="1086484">
                  <a:moveTo>
                    <a:pt x="1438214" y="297606"/>
                  </a:moveTo>
                  <a:lnTo>
                    <a:pt x="1431691" y="307085"/>
                  </a:lnTo>
                </a:path>
                <a:path w="1569720" h="1086484">
                  <a:moveTo>
                    <a:pt x="1414500" y="332582"/>
                  </a:moveTo>
                  <a:lnTo>
                    <a:pt x="1397888" y="356295"/>
                  </a:lnTo>
                </a:path>
                <a:path w="1569720" h="1086484">
                  <a:moveTo>
                    <a:pt x="1397888" y="356295"/>
                  </a:moveTo>
                  <a:lnTo>
                    <a:pt x="1396715" y="357484"/>
                  </a:lnTo>
                </a:path>
                <a:path w="1569720" h="1086484">
                  <a:moveTo>
                    <a:pt x="1377741" y="381198"/>
                  </a:moveTo>
                  <a:lnTo>
                    <a:pt x="1375958" y="383560"/>
                  </a:lnTo>
                </a:path>
                <a:path w="1569720" h="1086484">
                  <a:moveTo>
                    <a:pt x="1375958" y="383560"/>
                  </a:moveTo>
                  <a:lnTo>
                    <a:pt x="1358173" y="404911"/>
                  </a:lnTo>
                </a:path>
                <a:path w="1569720" h="1086484">
                  <a:moveTo>
                    <a:pt x="1338011" y="428030"/>
                  </a:moveTo>
                  <a:lnTo>
                    <a:pt x="1329126" y="437509"/>
                  </a:lnTo>
                </a:path>
                <a:path w="1569720" h="1086484">
                  <a:moveTo>
                    <a:pt x="1329126" y="437509"/>
                  </a:moveTo>
                  <a:lnTo>
                    <a:pt x="1316675" y="449960"/>
                  </a:lnTo>
                </a:path>
                <a:path w="1569720" h="1086484">
                  <a:moveTo>
                    <a:pt x="1295339" y="471296"/>
                  </a:moveTo>
                  <a:lnTo>
                    <a:pt x="1278727" y="486719"/>
                  </a:lnTo>
                </a:path>
                <a:path w="1569720" h="1086484">
                  <a:moveTo>
                    <a:pt x="1278727" y="486719"/>
                  </a:moveTo>
                  <a:lnTo>
                    <a:pt x="1272219" y="492053"/>
                  </a:lnTo>
                </a:path>
                <a:path w="1569720" h="1086484">
                  <a:moveTo>
                    <a:pt x="1248506" y="512201"/>
                  </a:moveTo>
                  <a:lnTo>
                    <a:pt x="1224793" y="531769"/>
                  </a:lnTo>
                </a:path>
                <a:path w="1569720" h="1086484">
                  <a:moveTo>
                    <a:pt x="1199296" y="549554"/>
                  </a:moveTo>
                  <a:lnTo>
                    <a:pt x="1193962" y="553120"/>
                  </a:lnTo>
                </a:path>
                <a:path w="1569720" h="1086484">
                  <a:moveTo>
                    <a:pt x="1193962" y="553120"/>
                  </a:moveTo>
                  <a:lnTo>
                    <a:pt x="1173205" y="566150"/>
                  </a:lnTo>
                </a:path>
                <a:path w="1569720" h="1086484">
                  <a:moveTo>
                    <a:pt x="1147130" y="582762"/>
                  </a:moveTo>
                  <a:lnTo>
                    <a:pt x="1145346" y="583935"/>
                  </a:lnTo>
                </a:path>
                <a:path w="1569720" h="1086484">
                  <a:moveTo>
                    <a:pt x="1145346" y="583935"/>
                  </a:moveTo>
                  <a:lnTo>
                    <a:pt x="1126373" y="594619"/>
                  </a:lnTo>
                </a:path>
                <a:path w="1569720" h="1086484">
                  <a:moveTo>
                    <a:pt x="1126373" y="594619"/>
                  </a:moveTo>
                  <a:lnTo>
                    <a:pt x="1120444" y="597575"/>
                  </a:lnTo>
                </a:path>
                <a:path w="1569720" h="1086484">
                  <a:moveTo>
                    <a:pt x="1093180" y="611809"/>
                  </a:moveTo>
                  <a:lnTo>
                    <a:pt x="1087846" y="614766"/>
                  </a:lnTo>
                </a:path>
                <a:path w="1569720" h="1086484">
                  <a:moveTo>
                    <a:pt x="1087846" y="614766"/>
                  </a:moveTo>
                  <a:lnTo>
                    <a:pt x="1068872" y="624260"/>
                  </a:lnTo>
                </a:path>
                <a:path w="1569720" h="1086484">
                  <a:moveTo>
                    <a:pt x="1068872" y="624260"/>
                  </a:moveTo>
                  <a:lnTo>
                    <a:pt x="1065900" y="625434"/>
                  </a:lnTo>
                </a:path>
                <a:path w="1569720" h="1086484">
                  <a:moveTo>
                    <a:pt x="1038042" y="638479"/>
                  </a:moveTo>
                  <a:lnTo>
                    <a:pt x="1028562" y="642625"/>
                  </a:lnTo>
                </a:path>
                <a:path w="1569720" h="1086484">
                  <a:moveTo>
                    <a:pt x="1028562" y="642625"/>
                  </a:moveTo>
                  <a:lnTo>
                    <a:pt x="1009589" y="650336"/>
                  </a:lnTo>
                </a:path>
                <a:path w="1569720" h="1086484">
                  <a:moveTo>
                    <a:pt x="981135" y="662193"/>
                  </a:moveTo>
                  <a:lnTo>
                    <a:pt x="966901" y="667527"/>
                  </a:lnTo>
                </a:path>
                <a:path w="1569720" h="1086484">
                  <a:moveTo>
                    <a:pt x="966901" y="667527"/>
                  </a:moveTo>
                  <a:lnTo>
                    <a:pt x="952088" y="673455"/>
                  </a:lnTo>
                </a:path>
                <a:path w="1569720" h="1086484">
                  <a:moveTo>
                    <a:pt x="923041" y="684123"/>
                  </a:moveTo>
                  <a:lnTo>
                    <a:pt x="903472" y="691240"/>
                  </a:lnTo>
                </a:path>
                <a:path w="1569720" h="1086484">
                  <a:moveTo>
                    <a:pt x="903472" y="691240"/>
                  </a:moveTo>
                  <a:lnTo>
                    <a:pt x="893978" y="694806"/>
                  </a:lnTo>
                </a:path>
                <a:path w="1569720" h="1086484">
                  <a:moveTo>
                    <a:pt x="864930" y="704880"/>
                  </a:moveTo>
                  <a:lnTo>
                    <a:pt x="860785" y="706069"/>
                  </a:lnTo>
                </a:path>
                <a:path w="1569720" h="1086484">
                  <a:moveTo>
                    <a:pt x="860785" y="706069"/>
                  </a:moveTo>
                  <a:lnTo>
                    <a:pt x="840044" y="713765"/>
                  </a:lnTo>
                </a:path>
                <a:path w="1569720" h="1086484">
                  <a:moveTo>
                    <a:pt x="840044" y="713765"/>
                  </a:moveTo>
                  <a:lnTo>
                    <a:pt x="836477" y="714954"/>
                  </a:lnTo>
                </a:path>
                <a:path w="1569720" h="1086484">
                  <a:moveTo>
                    <a:pt x="807430" y="724448"/>
                  </a:moveTo>
                  <a:lnTo>
                    <a:pt x="797356" y="727999"/>
                  </a:lnTo>
                </a:path>
                <a:path w="1569720" h="1086484">
                  <a:moveTo>
                    <a:pt x="797356" y="727999"/>
                  </a:moveTo>
                  <a:lnTo>
                    <a:pt x="778382" y="734522"/>
                  </a:lnTo>
                </a:path>
                <a:path w="1569720" h="1086484">
                  <a:moveTo>
                    <a:pt x="749335" y="744595"/>
                  </a:moveTo>
                  <a:lnTo>
                    <a:pt x="733333" y="749929"/>
                  </a:lnTo>
                </a:path>
                <a:path w="1569720" h="1086484">
                  <a:moveTo>
                    <a:pt x="733333" y="749929"/>
                  </a:moveTo>
                  <a:lnTo>
                    <a:pt x="720288" y="754684"/>
                  </a:lnTo>
                </a:path>
                <a:path w="1569720" h="1086484">
                  <a:moveTo>
                    <a:pt x="691240" y="764164"/>
                  </a:moveTo>
                  <a:lnTo>
                    <a:pt x="670483" y="771875"/>
                  </a:lnTo>
                </a:path>
                <a:path w="1569720" h="1086484">
                  <a:moveTo>
                    <a:pt x="670483" y="771875"/>
                  </a:moveTo>
                  <a:lnTo>
                    <a:pt x="662193" y="774832"/>
                  </a:lnTo>
                </a:path>
                <a:path w="1569720" h="1086484">
                  <a:moveTo>
                    <a:pt x="633145" y="786094"/>
                  </a:moveTo>
                  <a:lnTo>
                    <a:pt x="629579" y="787283"/>
                  </a:lnTo>
                </a:path>
                <a:path w="1569720" h="1086484">
                  <a:moveTo>
                    <a:pt x="629579" y="787283"/>
                  </a:moveTo>
                  <a:lnTo>
                    <a:pt x="604677" y="796762"/>
                  </a:lnTo>
                </a:path>
                <a:path w="1569720" h="1086484">
                  <a:moveTo>
                    <a:pt x="576224" y="808024"/>
                  </a:moveTo>
                  <a:lnTo>
                    <a:pt x="552510" y="818113"/>
                  </a:lnTo>
                </a:path>
                <a:path w="1569720" h="1086484">
                  <a:moveTo>
                    <a:pt x="552510" y="818113"/>
                  </a:moveTo>
                  <a:lnTo>
                    <a:pt x="547771" y="820475"/>
                  </a:lnTo>
                </a:path>
                <a:path w="1569720" h="1086484">
                  <a:moveTo>
                    <a:pt x="519912" y="832332"/>
                  </a:moveTo>
                  <a:lnTo>
                    <a:pt x="497387" y="842421"/>
                  </a:lnTo>
                </a:path>
                <a:path w="1569720" h="1086484">
                  <a:moveTo>
                    <a:pt x="497387" y="842421"/>
                  </a:moveTo>
                  <a:lnTo>
                    <a:pt x="492038" y="844783"/>
                  </a:lnTo>
                </a:path>
                <a:path w="1569720" h="1086484">
                  <a:moveTo>
                    <a:pt x="464179" y="857829"/>
                  </a:moveTo>
                  <a:lnTo>
                    <a:pt x="444032" y="867902"/>
                  </a:lnTo>
                </a:path>
                <a:path w="1569720" h="1086484">
                  <a:moveTo>
                    <a:pt x="444032" y="867902"/>
                  </a:moveTo>
                  <a:lnTo>
                    <a:pt x="436321" y="871468"/>
                  </a:lnTo>
                </a:path>
                <a:path w="1569720" h="1086484">
                  <a:moveTo>
                    <a:pt x="409041" y="885687"/>
                  </a:moveTo>
                  <a:lnTo>
                    <a:pt x="392445" y="893993"/>
                  </a:lnTo>
                </a:path>
                <a:path w="1569720" h="1086484">
                  <a:moveTo>
                    <a:pt x="392445" y="893993"/>
                  </a:moveTo>
                  <a:lnTo>
                    <a:pt x="381777" y="899327"/>
                  </a:lnTo>
                </a:path>
                <a:path w="1569720" h="1086484">
                  <a:moveTo>
                    <a:pt x="354512" y="913561"/>
                  </a:moveTo>
                  <a:lnTo>
                    <a:pt x="341467" y="920084"/>
                  </a:lnTo>
                </a:path>
                <a:path w="1569720" h="1086484">
                  <a:moveTo>
                    <a:pt x="341467" y="920084"/>
                  </a:moveTo>
                  <a:lnTo>
                    <a:pt x="327233" y="927780"/>
                  </a:lnTo>
                </a:path>
                <a:path w="1569720" h="1086484">
                  <a:moveTo>
                    <a:pt x="299968" y="942014"/>
                  </a:moveTo>
                  <a:lnTo>
                    <a:pt x="291068" y="946754"/>
                  </a:lnTo>
                </a:path>
                <a:path w="1569720" h="1086484">
                  <a:moveTo>
                    <a:pt x="291068" y="946754"/>
                  </a:moveTo>
                  <a:lnTo>
                    <a:pt x="272689" y="956828"/>
                  </a:lnTo>
                </a:path>
                <a:path w="1569720" h="1086484">
                  <a:moveTo>
                    <a:pt x="245424" y="971062"/>
                  </a:moveTo>
                  <a:lnTo>
                    <a:pt x="241874" y="972845"/>
                  </a:lnTo>
                </a:path>
                <a:path w="1569720" h="1086484">
                  <a:moveTo>
                    <a:pt x="241874" y="972845"/>
                  </a:moveTo>
                  <a:lnTo>
                    <a:pt x="218160" y="985296"/>
                  </a:lnTo>
                </a:path>
                <a:path w="1569720" h="1086484">
                  <a:moveTo>
                    <a:pt x="190880" y="998921"/>
                  </a:moveTo>
                  <a:lnTo>
                    <a:pt x="168950" y="1010183"/>
                  </a:lnTo>
                </a:path>
                <a:path w="1569720" h="1086484">
                  <a:moveTo>
                    <a:pt x="168950" y="1010183"/>
                  </a:moveTo>
                  <a:lnTo>
                    <a:pt x="164210" y="1013155"/>
                  </a:lnTo>
                </a:path>
                <a:path w="1569720" h="1086484">
                  <a:moveTo>
                    <a:pt x="136352" y="1026200"/>
                  </a:moveTo>
                  <a:lnTo>
                    <a:pt x="120929" y="1033896"/>
                  </a:lnTo>
                </a:path>
                <a:path w="1569720" h="1086484">
                  <a:moveTo>
                    <a:pt x="120929" y="1033896"/>
                  </a:moveTo>
                  <a:lnTo>
                    <a:pt x="108478" y="1039825"/>
                  </a:lnTo>
                </a:path>
                <a:path w="1569720" h="1086484">
                  <a:moveTo>
                    <a:pt x="80619" y="1052870"/>
                  </a:moveTo>
                  <a:lnTo>
                    <a:pt x="72908" y="1055842"/>
                  </a:lnTo>
                </a:path>
                <a:path w="1569720" h="1086484">
                  <a:moveTo>
                    <a:pt x="72908" y="1055842"/>
                  </a:moveTo>
                  <a:lnTo>
                    <a:pt x="52166" y="1064132"/>
                  </a:lnTo>
                </a:path>
                <a:path w="1569720" h="1086484">
                  <a:moveTo>
                    <a:pt x="23713" y="1075989"/>
                  </a:moveTo>
                  <a:lnTo>
                    <a:pt x="0" y="1086063"/>
                  </a:lnTo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972226" y="7250836"/>
              <a:ext cx="88265" cy="53975"/>
            </a:xfrm>
            <a:custGeom>
              <a:avLst/>
              <a:gdLst/>
              <a:ahLst/>
              <a:cxnLst/>
              <a:rect l="l" t="t" r="r" b="b"/>
              <a:pathLst>
                <a:path w="88264" h="53975">
                  <a:moveTo>
                    <a:pt x="69951" y="0"/>
                  </a:moveTo>
                  <a:lnTo>
                    <a:pt x="0" y="53355"/>
                  </a:lnTo>
                  <a:lnTo>
                    <a:pt x="87736" y="52760"/>
                  </a:lnTo>
                  <a:lnTo>
                    <a:pt x="69951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5433669" y="5347848"/>
              <a:ext cx="3810" cy="31115"/>
            </a:xfrm>
            <a:custGeom>
              <a:avLst/>
              <a:gdLst/>
              <a:ahLst/>
              <a:cxnLst/>
              <a:rect l="l" t="t" r="r" b="b"/>
              <a:pathLst>
                <a:path w="3810" h="31114">
                  <a:moveTo>
                    <a:pt x="1775" y="-7410"/>
                  </a:moveTo>
                  <a:lnTo>
                    <a:pt x="1775" y="38240"/>
                  </a:lnTo>
                </a:path>
              </a:pathLst>
            </a:custGeom>
            <a:ln w="1837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5439003" y="5409509"/>
              <a:ext cx="1270" cy="26034"/>
            </a:xfrm>
            <a:custGeom>
              <a:avLst/>
              <a:gdLst/>
              <a:ahLst/>
              <a:cxnLst/>
              <a:rect l="l" t="t" r="r" b="b"/>
              <a:pathLst>
                <a:path w="1270" h="26035">
                  <a:moveTo>
                    <a:pt x="594" y="-7410"/>
                  </a:moveTo>
                  <a:lnTo>
                    <a:pt x="594" y="32891"/>
                  </a:lnTo>
                </a:path>
              </a:pathLst>
            </a:custGeom>
            <a:ln w="1600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5440192" y="543499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w="0" h="5079">
                  <a:moveTo>
                    <a:pt x="-7410" y="2377"/>
                  </a:moveTo>
                  <a:lnTo>
                    <a:pt x="7410" y="2377"/>
                  </a:lnTo>
                </a:path>
              </a:pathLst>
            </a:custGeom>
            <a:ln w="475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5439003" y="547056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-7410" y="3558"/>
                  </a:moveTo>
                  <a:lnTo>
                    <a:pt x="7410" y="3558"/>
                  </a:lnTo>
                </a:path>
              </a:pathLst>
            </a:custGeom>
            <a:ln w="711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5436626" y="5477677"/>
              <a:ext cx="2540" cy="24130"/>
            </a:xfrm>
            <a:custGeom>
              <a:avLst/>
              <a:gdLst/>
              <a:ahLst/>
              <a:cxnLst/>
              <a:rect l="l" t="t" r="r" b="b"/>
              <a:pathLst>
                <a:path w="2539" h="24129">
                  <a:moveTo>
                    <a:pt x="1188" y="-7410"/>
                  </a:moveTo>
                  <a:lnTo>
                    <a:pt x="1188" y="31123"/>
                  </a:lnTo>
                </a:path>
              </a:pathLst>
            </a:custGeom>
            <a:ln w="1719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4125879" y="5531627"/>
              <a:ext cx="1306830" cy="880744"/>
            </a:xfrm>
            <a:custGeom>
              <a:avLst/>
              <a:gdLst/>
              <a:ahLst/>
              <a:cxnLst/>
              <a:rect l="l" t="t" r="r" b="b"/>
              <a:pathLst>
                <a:path w="1306829" h="880745">
                  <a:moveTo>
                    <a:pt x="1306601" y="0"/>
                  </a:moveTo>
                  <a:lnTo>
                    <a:pt x="1301861" y="29047"/>
                  </a:lnTo>
                </a:path>
                <a:path w="1306829" h="880745">
                  <a:moveTo>
                    <a:pt x="1301861" y="29047"/>
                  </a:moveTo>
                  <a:lnTo>
                    <a:pt x="1301267" y="30236"/>
                  </a:lnTo>
                </a:path>
                <a:path w="1306829" h="880745">
                  <a:moveTo>
                    <a:pt x="1294150" y="60472"/>
                  </a:moveTo>
                  <a:lnTo>
                    <a:pt x="1291772" y="69357"/>
                  </a:lnTo>
                </a:path>
                <a:path w="1306829" h="880745">
                  <a:moveTo>
                    <a:pt x="1291772" y="69357"/>
                  </a:moveTo>
                  <a:lnTo>
                    <a:pt x="1285265" y="90114"/>
                  </a:lnTo>
                </a:path>
                <a:path w="1306829" h="880745">
                  <a:moveTo>
                    <a:pt x="1275770" y="118567"/>
                  </a:moveTo>
                  <a:lnTo>
                    <a:pt x="1265102" y="145831"/>
                  </a:lnTo>
                </a:path>
                <a:path w="1306829" h="880745">
                  <a:moveTo>
                    <a:pt x="1265102" y="145831"/>
                  </a:moveTo>
                  <a:lnTo>
                    <a:pt x="1264508" y="147020"/>
                  </a:lnTo>
                </a:path>
                <a:path w="1306829" h="880745">
                  <a:moveTo>
                    <a:pt x="1252057" y="174878"/>
                  </a:moveTo>
                  <a:lnTo>
                    <a:pt x="1247912" y="183779"/>
                  </a:lnTo>
                </a:path>
                <a:path w="1306829" h="880745">
                  <a:moveTo>
                    <a:pt x="1247912" y="183779"/>
                  </a:moveTo>
                  <a:lnTo>
                    <a:pt x="1238432" y="202158"/>
                  </a:lnTo>
                </a:path>
                <a:path w="1306829" h="880745">
                  <a:moveTo>
                    <a:pt x="1223604" y="228828"/>
                  </a:moveTo>
                  <a:lnTo>
                    <a:pt x="1207602" y="255513"/>
                  </a:lnTo>
                </a:path>
                <a:path w="1306829" h="880745">
                  <a:moveTo>
                    <a:pt x="1223604" y="228828"/>
                  </a:moveTo>
                  <a:lnTo>
                    <a:pt x="1207602" y="255513"/>
                  </a:lnTo>
                </a:path>
                <a:path w="1306829" h="880745">
                  <a:moveTo>
                    <a:pt x="1189817" y="280995"/>
                  </a:moveTo>
                  <a:lnTo>
                    <a:pt x="1183888" y="289895"/>
                  </a:lnTo>
                </a:path>
                <a:path w="1306829" h="880745">
                  <a:moveTo>
                    <a:pt x="1183888" y="289895"/>
                  </a:moveTo>
                  <a:lnTo>
                    <a:pt x="1171437" y="305897"/>
                  </a:lnTo>
                </a:path>
                <a:path w="1306829" h="880745">
                  <a:moveTo>
                    <a:pt x="1152464" y="330205"/>
                  </a:moveTo>
                  <a:lnTo>
                    <a:pt x="1133490" y="353324"/>
                  </a:lnTo>
                </a:path>
                <a:path w="1306829" h="880745">
                  <a:moveTo>
                    <a:pt x="1112748" y="375848"/>
                  </a:moveTo>
                  <a:lnTo>
                    <a:pt x="1103254" y="386532"/>
                  </a:lnTo>
                </a:path>
                <a:path w="1306829" h="880745">
                  <a:moveTo>
                    <a:pt x="1103254" y="386532"/>
                  </a:moveTo>
                  <a:lnTo>
                    <a:pt x="1091397" y="398388"/>
                  </a:lnTo>
                </a:path>
                <a:path w="1306829" h="880745">
                  <a:moveTo>
                    <a:pt x="1069466" y="420319"/>
                  </a:moveTo>
                  <a:lnTo>
                    <a:pt x="1046347" y="441060"/>
                  </a:lnTo>
                </a:path>
                <a:path w="1306829" h="880745">
                  <a:moveTo>
                    <a:pt x="1023228" y="461223"/>
                  </a:moveTo>
                  <a:lnTo>
                    <a:pt x="1007226" y="474863"/>
                  </a:lnTo>
                </a:path>
                <a:path w="1306829" h="880745">
                  <a:moveTo>
                    <a:pt x="1007226" y="474863"/>
                  </a:moveTo>
                  <a:lnTo>
                    <a:pt x="999515" y="480791"/>
                  </a:lnTo>
                </a:path>
                <a:path w="1306829" h="880745">
                  <a:moveTo>
                    <a:pt x="975207" y="499170"/>
                  </a:moveTo>
                  <a:lnTo>
                    <a:pt x="972235" y="501533"/>
                  </a:lnTo>
                </a:path>
                <a:path w="1306829" h="880745">
                  <a:moveTo>
                    <a:pt x="972235" y="501533"/>
                  </a:moveTo>
                  <a:lnTo>
                    <a:pt x="950305" y="517535"/>
                  </a:lnTo>
                </a:path>
                <a:path w="1306829" h="880745">
                  <a:moveTo>
                    <a:pt x="924824" y="535320"/>
                  </a:moveTo>
                  <a:lnTo>
                    <a:pt x="899921" y="553120"/>
                  </a:lnTo>
                </a:path>
                <a:path w="1306829" h="880745">
                  <a:moveTo>
                    <a:pt x="924824" y="535320"/>
                  </a:moveTo>
                  <a:lnTo>
                    <a:pt x="899921" y="553120"/>
                  </a:lnTo>
                </a:path>
                <a:path w="1306829" h="880745">
                  <a:moveTo>
                    <a:pt x="873831" y="569716"/>
                  </a:moveTo>
                  <a:lnTo>
                    <a:pt x="861974" y="576239"/>
                  </a:lnTo>
                </a:path>
                <a:path w="1306829" h="880745">
                  <a:moveTo>
                    <a:pt x="861974" y="576239"/>
                  </a:moveTo>
                  <a:lnTo>
                    <a:pt x="847161" y="584530"/>
                  </a:lnTo>
                </a:path>
                <a:path w="1306829" h="880745">
                  <a:moveTo>
                    <a:pt x="820475" y="599953"/>
                  </a:moveTo>
                  <a:lnTo>
                    <a:pt x="793211" y="614171"/>
                  </a:lnTo>
                </a:path>
                <a:path w="1306829" h="880745">
                  <a:moveTo>
                    <a:pt x="765931" y="628406"/>
                  </a:moveTo>
                  <a:lnTo>
                    <a:pt x="748146" y="637885"/>
                  </a:lnTo>
                </a:path>
                <a:path w="1306829" h="880745">
                  <a:moveTo>
                    <a:pt x="748146" y="637885"/>
                  </a:moveTo>
                  <a:lnTo>
                    <a:pt x="738667" y="642625"/>
                  </a:lnTo>
                </a:path>
                <a:path w="1306829" h="880745">
                  <a:moveTo>
                    <a:pt x="710808" y="655076"/>
                  </a:moveTo>
                  <a:lnTo>
                    <a:pt x="683529" y="667527"/>
                  </a:lnTo>
                </a:path>
                <a:path w="1306829" h="880745">
                  <a:moveTo>
                    <a:pt x="655076" y="679978"/>
                  </a:moveTo>
                  <a:lnTo>
                    <a:pt x="640841" y="685906"/>
                  </a:lnTo>
                </a:path>
                <a:path w="1306829" h="880745">
                  <a:moveTo>
                    <a:pt x="640841" y="685906"/>
                  </a:moveTo>
                  <a:lnTo>
                    <a:pt x="626623" y="691835"/>
                  </a:lnTo>
                </a:path>
                <a:path w="1306829" h="880745">
                  <a:moveTo>
                    <a:pt x="598169" y="703097"/>
                  </a:moveTo>
                  <a:lnTo>
                    <a:pt x="569122" y="713765"/>
                  </a:lnTo>
                </a:path>
                <a:path w="1306829" h="880745">
                  <a:moveTo>
                    <a:pt x="540075" y="724448"/>
                  </a:moveTo>
                  <a:lnTo>
                    <a:pt x="531174" y="727999"/>
                  </a:lnTo>
                </a:path>
                <a:path w="1306829" h="880745">
                  <a:moveTo>
                    <a:pt x="531174" y="727999"/>
                  </a:moveTo>
                  <a:lnTo>
                    <a:pt x="511012" y="734522"/>
                  </a:lnTo>
                </a:path>
                <a:path w="1306829" h="880745">
                  <a:moveTo>
                    <a:pt x="481964" y="744595"/>
                  </a:moveTo>
                  <a:lnTo>
                    <a:pt x="457078" y="752307"/>
                  </a:lnTo>
                </a:path>
                <a:path w="1306829" h="880745">
                  <a:moveTo>
                    <a:pt x="457078" y="752307"/>
                  </a:moveTo>
                  <a:lnTo>
                    <a:pt x="452917" y="753496"/>
                  </a:lnTo>
                </a:path>
                <a:path w="1306829" h="880745">
                  <a:moveTo>
                    <a:pt x="423870" y="762975"/>
                  </a:moveTo>
                  <a:lnTo>
                    <a:pt x="420319" y="764164"/>
                  </a:lnTo>
                </a:path>
                <a:path w="1306829" h="880745">
                  <a:moveTo>
                    <a:pt x="420319" y="764164"/>
                  </a:moveTo>
                  <a:lnTo>
                    <a:pt x="394228" y="771875"/>
                  </a:lnTo>
                </a:path>
                <a:path w="1306829" h="880745">
                  <a:moveTo>
                    <a:pt x="364586" y="780760"/>
                  </a:moveTo>
                  <a:lnTo>
                    <a:pt x="346801" y="786094"/>
                  </a:lnTo>
                </a:path>
                <a:path w="1306829" h="880745">
                  <a:moveTo>
                    <a:pt x="346801" y="786094"/>
                  </a:moveTo>
                  <a:lnTo>
                    <a:pt x="334944" y="789660"/>
                  </a:lnTo>
                </a:path>
                <a:path w="1306829" h="880745">
                  <a:moveTo>
                    <a:pt x="305302" y="797951"/>
                  </a:moveTo>
                  <a:lnTo>
                    <a:pt x="275661" y="805662"/>
                  </a:lnTo>
                </a:path>
                <a:path w="1306829" h="880745">
                  <a:moveTo>
                    <a:pt x="246019" y="813374"/>
                  </a:moveTo>
                  <a:lnTo>
                    <a:pt x="237728" y="815736"/>
                  </a:lnTo>
                </a:path>
                <a:path w="1306829" h="880745">
                  <a:moveTo>
                    <a:pt x="237728" y="815736"/>
                  </a:moveTo>
                  <a:lnTo>
                    <a:pt x="216971" y="821664"/>
                  </a:lnTo>
                </a:path>
                <a:path w="1306829" h="880745">
                  <a:moveTo>
                    <a:pt x="187330" y="829376"/>
                  </a:moveTo>
                  <a:lnTo>
                    <a:pt x="167761" y="834710"/>
                  </a:lnTo>
                </a:path>
                <a:path w="1306829" h="880745">
                  <a:moveTo>
                    <a:pt x="167761" y="834710"/>
                  </a:moveTo>
                  <a:lnTo>
                    <a:pt x="157688" y="837666"/>
                  </a:lnTo>
                </a:path>
                <a:path w="1306829" h="880745">
                  <a:moveTo>
                    <a:pt x="128046" y="845378"/>
                  </a:moveTo>
                  <a:lnTo>
                    <a:pt x="98999" y="853089"/>
                  </a:lnTo>
                </a:path>
                <a:path w="1306829" h="880745">
                  <a:moveTo>
                    <a:pt x="98999" y="853089"/>
                  </a:moveTo>
                  <a:lnTo>
                    <a:pt x="98404" y="853089"/>
                  </a:lnTo>
                </a:path>
                <a:path w="1306829" h="880745">
                  <a:moveTo>
                    <a:pt x="68762" y="860785"/>
                  </a:moveTo>
                  <a:lnTo>
                    <a:pt x="65211" y="861974"/>
                  </a:lnTo>
                </a:path>
                <a:path w="1306829" h="880745">
                  <a:moveTo>
                    <a:pt x="65211" y="861974"/>
                  </a:moveTo>
                  <a:lnTo>
                    <a:pt x="39121" y="869685"/>
                  </a:lnTo>
                </a:path>
                <a:path w="1306829" h="880745">
                  <a:moveTo>
                    <a:pt x="9479" y="877991"/>
                  </a:moveTo>
                  <a:lnTo>
                    <a:pt x="0" y="880353"/>
                  </a:lnTo>
                </a:path>
              </a:pathLst>
            </a:custGeom>
            <a:ln w="1482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4053550" y="6383528"/>
              <a:ext cx="87630" cy="53975"/>
            </a:xfrm>
            <a:custGeom>
              <a:avLst/>
              <a:gdLst/>
              <a:ahLst/>
              <a:cxnLst/>
              <a:rect l="l" t="t" r="r" b="b"/>
              <a:pathLst>
                <a:path w="87629" h="53975">
                  <a:moveTo>
                    <a:pt x="71734" y="0"/>
                  </a:moveTo>
                  <a:lnTo>
                    <a:pt x="0" y="50383"/>
                  </a:lnTo>
                  <a:lnTo>
                    <a:pt x="87142" y="53355"/>
                  </a:lnTo>
                  <a:lnTo>
                    <a:pt x="7173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7" name="object 107"/>
          <p:cNvSpPr txBox="1"/>
          <p:nvPr/>
        </p:nvSpPr>
        <p:spPr>
          <a:xfrm>
            <a:off x="3941507" y="5117582"/>
            <a:ext cx="863600" cy="2038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  <a:tabLst>
                <a:tab pos="570230" algn="l"/>
              </a:tabLst>
            </a:pP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11/14</a:t>
            </a: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baseline="4830" sz="1725" spc="7">
                <a:solidFill>
                  <a:srgbClr val="FFFF00"/>
                </a:solidFill>
                <a:latin typeface="Arial"/>
                <a:cs typeface="Arial"/>
              </a:rPr>
              <a:t>shirt</a:t>
            </a:r>
            <a:endParaRPr baseline="4830" sz="1725">
              <a:latin typeface="Arial"/>
              <a:cs typeface="Arial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2353905" y="5115211"/>
            <a:ext cx="1109980" cy="2038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1/10 </a:t>
            </a:r>
            <a:r>
              <a:rPr dirty="0" sz="1150" spc="15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underwear</a:t>
            </a:r>
            <a:endParaRPr sz="1150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2572067" y="5716344"/>
            <a:ext cx="219075" cy="2038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2/9</a:t>
            </a:r>
            <a:endParaRPr sz="1150">
              <a:latin typeface="Arial"/>
              <a:cs typeface="Arial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2090095" y="6401658"/>
            <a:ext cx="219075" cy="2038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3/6</a:t>
            </a:r>
            <a:endParaRPr sz="1150">
              <a:latin typeface="Arial"/>
              <a:cs typeface="Arial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2112622" y="7266009"/>
            <a:ext cx="219075" cy="2038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4/5</a:t>
            </a:r>
            <a:endParaRPr sz="1150">
              <a:latin typeface="Arial"/>
              <a:cs typeface="Arial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3193357" y="6402251"/>
            <a:ext cx="219075" cy="2038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7/8</a:t>
            </a:r>
            <a:endParaRPr sz="1150">
              <a:latin typeface="Arial"/>
              <a:cs typeface="Arial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3926691" y="5730572"/>
            <a:ext cx="383540" cy="2038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12/13</a:t>
            </a:r>
            <a:endParaRPr sz="1150">
              <a:latin typeface="Arial"/>
              <a:cs typeface="Arial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5251067" y="5109876"/>
            <a:ext cx="870585" cy="2038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baseline="2415" sz="1725" spc="7">
                <a:solidFill>
                  <a:srgbClr val="FFFF00"/>
                </a:solidFill>
                <a:latin typeface="Arial"/>
                <a:cs typeface="Arial"/>
              </a:rPr>
              <a:t>socks </a:t>
            </a:r>
            <a:r>
              <a:rPr dirty="0" baseline="2415" sz="1725" spc="217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15/16</a:t>
            </a:r>
            <a:endParaRPr sz="1150">
              <a:latin typeface="Arial"/>
              <a:cs typeface="Arial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2384970" y="7694041"/>
            <a:ext cx="34220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8.29: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 of dressing up </a:t>
            </a:r>
            <a:r>
              <a:rPr dirty="0" sz="1200" spc="-40">
                <a:latin typeface="Times New Roman"/>
                <a:cs typeface="Times New Roman"/>
              </a:rPr>
              <a:t>DAG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stamps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901699" y="8592095"/>
            <a:ext cx="622998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Another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 spc="-5">
                <a:latin typeface="Times New Roman"/>
                <a:cs typeface="Times New Roman"/>
              </a:rPr>
              <a:t> of precedence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constraint graph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sets of prerequisites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CS courses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a typical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undergraduate program.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815464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8.3.</a:t>
            </a:r>
            <a:r>
              <a:rPr dirty="0" sz="1200" spc="3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SORT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13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203703" y="939229"/>
          <a:ext cx="3825875" cy="2364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5130"/>
                <a:gridCol w="2576830"/>
                <a:gridCol w="835025"/>
              </a:tblGrid>
              <a:tr h="138304">
                <a:tc>
                  <a:txBody>
                    <a:bodyPr/>
                    <a:lstStyle/>
                    <a:p>
                      <a:pPr marL="75565">
                        <a:lnSpc>
                          <a:spcPts val="99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99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Introduction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to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Computers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55905">
                <a:tc>
                  <a:txBody>
                    <a:bodyPr/>
                    <a:lstStyle/>
                    <a:p>
                      <a:pPr marL="75565">
                        <a:lnSpc>
                          <a:spcPts val="11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13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Introduction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Computer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Programming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54447">
                <a:tc>
                  <a:txBody>
                    <a:bodyPr/>
                    <a:lstStyle/>
                    <a:p>
                      <a:pPr marL="75565">
                        <a:lnSpc>
                          <a:spcPts val="11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11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Discrete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Mathematics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79231">
                <a:tc>
                  <a:txBody>
                    <a:bodyPr/>
                    <a:lstStyle/>
                    <a:p>
                      <a:pPr marL="75565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Data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Structures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9237">
                <a:tc>
                  <a:txBody>
                    <a:bodyPr/>
                    <a:lstStyle/>
                    <a:p>
                      <a:pPr marL="75565">
                        <a:lnSpc>
                          <a:spcPts val="994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994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Digital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Logic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Design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994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55962">
                <a:tc>
                  <a:txBody>
                    <a:bodyPr/>
                    <a:lstStyle/>
                    <a:p>
                      <a:pPr marL="75565">
                        <a:lnSpc>
                          <a:spcPts val="11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13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Automata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Theory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1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55905">
                <a:tc>
                  <a:txBody>
                    <a:bodyPr/>
                    <a:lstStyle/>
                    <a:p>
                      <a:pPr marL="75565">
                        <a:lnSpc>
                          <a:spcPts val="11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13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Analysis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Algorithms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1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C3,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78307">
                <a:tc>
                  <a:txBody>
                    <a:bodyPr/>
                    <a:lstStyle/>
                    <a:p>
                      <a:pPr marL="7556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5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Computer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Organization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and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Assembly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46">
                <a:tc>
                  <a:txBody>
                    <a:bodyPr/>
                    <a:lstStyle/>
                    <a:p>
                      <a:pPr marL="75565">
                        <a:lnSpc>
                          <a:spcPts val="99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99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Data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Base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Systems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99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C4,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55962">
                <a:tc>
                  <a:txBody>
                    <a:bodyPr/>
                    <a:lstStyle/>
                    <a:p>
                      <a:pPr marL="75565">
                        <a:lnSpc>
                          <a:spcPts val="11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13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Computer Architecture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1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C4,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C5,C8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55962">
                <a:tc>
                  <a:txBody>
                    <a:bodyPr/>
                    <a:lstStyle/>
                    <a:p>
                      <a:pPr marL="75565">
                        <a:lnSpc>
                          <a:spcPts val="11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13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Computer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Graphics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1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C4,C7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78840">
                <a:tc>
                  <a:txBody>
                    <a:bodyPr/>
                    <a:lstStyle/>
                    <a:p>
                      <a:pPr marL="7556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5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Software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Engineering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C7,C11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112">
                <a:tc>
                  <a:txBody>
                    <a:bodyPr/>
                    <a:lstStyle/>
                    <a:p>
                      <a:pPr marL="75565">
                        <a:lnSpc>
                          <a:spcPts val="99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C13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99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Operating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System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99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C4,C7,C11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55905">
                <a:tc>
                  <a:txBody>
                    <a:bodyPr/>
                    <a:lstStyle/>
                    <a:p>
                      <a:pPr marL="75565">
                        <a:lnSpc>
                          <a:spcPts val="11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C14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13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Compiler Construction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13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C4,C6,C8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78421">
                <a:tc>
                  <a:txBody>
                    <a:bodyPr/>
                    <a:lstStyle/>
                    <a:p>
                      <a:pPr marL="75565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5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Computer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Networks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ts val="125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C4,C7,C10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901699" y="3546209"/>
            <a:ext cx="6270625" cy="6254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55575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Times New Roman"/>
                <a:cs typeface="Times New Roman"/>
              </a:rPr>
              <a:t>Table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8.1: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Prerequisites</a:t>
            </a:r>
            <a:r>
              <a:rPr dirty="0" sz="1200" spc="-10">
                <a:latin typeface="Times New Roman"/>
                <a:cs typeface="Times New Roman"/>
              </a:rPr>
              <a:t> for </a:t>
            </a:r>
            <a:r>
              <a:rPr dirty="0" sz="1200" spc="-5">
                <a:latin typeface="Times New Roman"/>
                <a:cs typeface="Times New Roman"/>
              </a:rPr>
              <a:t>CS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The prerequisites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precedence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constraint 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8.30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570988" y="4309562"/>
            <a:ext cx="3049270" cy="2590800"/>
            <a:chOff x="2570988" y="4309562"/>
            <a:chExt cx="3049270" cy="2590800"/>
          </a:xfrm>
        </p:grpSpPr>
        <p:sp>
          <p:nvSpPr>
            <p:cNvPr id="7" name="object 7"/>
            <p:cNvSpPr/>
            <p:nvPr/>
          </p:nvSpPr>
          <p:spPr>
            <a:xfrm>
              <a:off x="2570988" y="4309562"/>
              <a:ext cx="3049270" cy="2590800"/>
            </a:xfrm>
            <a:custGeom>
              <a:avLst/>
              <a:gdLst/>
              <a:ahLst/>
              <a:cxnLst/>
              <a:rect l="l" t="t" r="r" b="b"/>
              <a:pathLst>
                <a:path w="3049270" h="2590800">
                  <a:moveTo>
                    <a:pt x="3048838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048838" y="2590601"/>
                  </a:lnTo>
                  <a:lnTo>
                    <a:pt x="3048838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20118" y="4497330"/>
              <a:ext cx="2942439" cy="1902812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3223373" y="5224186"/>
            <a:ext cx="135255" cy="140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C5</a:t>
            </a:r>
            <a:endParaRPr sz="7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245369" y="5637368"/>
            <a:ext cx="135255" cy="140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C6</a:t>
            </a:r>
            <a:endParaRPr sz="7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246804" y="4798584"/>
            <a:ext cx="670560" cy="353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C4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6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C7</a:t>
            </a:r>
            <a:endParaRPr sz="75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718865" y="4673768"/>
            <a:ext cx="135255" cy="140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C1</a:t>
            </a:r>
            <a:endParaRPr sz="75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23640" y="5250018"/>
            <a:ext cx="135255" cy="140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C2</a:t>
            </a:r>
            <a:endParaRPr sz="75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725076" y="5630192"/>
            <a:ext cx="135255" cy="140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C3</a:t>
            </a:r>
            <a:endParaRPr sz="7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379694" y="5217493"/>
            <a:ext cx="135255" cy="140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C8</a:t>
            </a:r>
            <a:endParaRPr sz="75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242446" y="5835818"/>
            <a:ext cx="135255" cy="140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C9</a:t>
            </a:r>
            <a:endParaRPr sz="75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757481" y="4682379"/>
            <a:ext cx="188595" cy="140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C10</a:t>
            </a:r>
            <a:endParaRPr sz="7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764657" y="5228009"/>
            <a:ext cx="188595" cy="140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C11</a:t>
            </a:r>
            <a:endParaRPr sz="75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294031" y="4682379"/>
            <a:ext cx="188595" cy="140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C12</a:t>
            </a:r>
            <a:endParaRPr sz="75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282080" y="5226104"/>
            <a:ext cx="188595" cy="140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C13</a:t>
            </a:r>
            <a:endParaRPr sz="7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263906" y="5798048"/>
            <a:ext cx="188595" cy="140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C14</a:t>
            </a:r>
            <a:endParaRPr sz="75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283998" y="6194961"/>
            <a:ext cx="188595" cy="140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FFFF00"/>
                </a:solidFill>
                <a:latin typeface="Arial"/>
                <a:cs typeface="Arial"/>
              </a:rPr>
              <a:t>C15</a:t>
            </a:r>
            <a:endParaRPr sz="7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01699" y="6965836"/>
            <a:ext cx="6426200" cy="20173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8.30: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Precedence constraint graph</a:t>
            </a:r>
            <a:r>
              <a:rPr dirty="0" sz="1200" spc="-10">
                <a:latin typeface="Times New Roman"/>
                <a:cs typeface="Times New Roman"/>
              </a:rPr>
              <a:t> for</a:t>
            </a:r>
            <a:r>
              <a:rPr dirty="0" sz="1200" spc="-5">
                <a:latin typeface="Times New Roman"/>
                <a:cs typeface="Times New Roman"/>
              </a:rPr>
              <a:t> CS courses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8.3	</a:t>
            </a:r>
            <a:r>
              <a:rPr dirty="0" sz="1700" spc="-10" b="1">
                <a:latin typeface="Times New Roman"/>
                <a:cs typeface="Times New Roman"/>
              </a:rPr>
              <a:t>Topological</a:t>
            </a:r>
            <a:r>
              <a:rPr dirty="0" sz="1700" spc="-2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Sort</a:t>
            </a:r>
            <a:endParaRPr sz="1700">
              <a:latin typeface="Times New Roman"/>
              <a:cs typeface="Times New Roman"/>
            </a:endParaRPr>
          </a:p>
          <a:p>
            <a:pPr marL="12700" marR="5080" indent="-635">
              <a:lnSpc>
                <a:spcPct val="100000"/>
              </a:lnSpc>
              <a:spcBef>
                <a:spcPts val="1660"/>
              </a:spcBef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topological </a:t>
            </a:r>
            <a:r>
              <a:rPr dirty="0" sz="1200" spc="-5">
                <a:latin typeface="Times New Roman"/>
                <a:cs typeface="Times New Roman"/>
              </a:rPr>
              <a:t>sort of a </a:t>
            </a:r>
            <a:r>
              <a:rPr dirty="0" sz="1200" spc="-40">
                <a:latin typeface="Times New Roman"/>
                <a:cs typeface="Times New Roman"/>
              </a:rPr>
              <a:t>DAG </a:t>
            </a:r>
            <a:r>
              <a:rPr dirty="0" sz="1200" spc="-5">
                <a:latin typeface="Times New Roman"/>
                <a:cs typeface="Times New Roman"/>
              </a:rPr>
              <a:t>is a linear </a:t>
            </a:r>
            <a:r>
              <a:rPr dirty="0" sz="1200" spc="-10">
                <a:latin typeface="Times New Roman"/>
                <a:cs typeface="Times New Roman"/>
              </a:rPr>
              <a:t>ordering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vertices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40">
                <a:latin typeface="Times New Roman"/>
                <a:cs typeface="Times New Roman"/>
              </a:rPr>
              <a:t>DAG </a:t>
            </a:r>
            <a:r>
              <a:rPr dirty="0" sz="1200" spc="-5">
                <a:latin typeface="Times New Roman"/>
                <a:cs typeface="Times New Roman"/>
              </a:rPr>
              <a:t>such that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each edge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 v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,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appears</a:t>
            </a:r>
            <a:r>
              <a:rPr dirty="0" sz="1200" spc="-10">
                <a:latin typeface="Times New Roman"/>
                <a:cs typeface="Times New Roman"/>
              </a:rPr>
              <a:t> before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ordering.</a:t>
            </a:r>
            <a:endParaRPr sz="1200">
              <a:latin typeface="Times New Roman"/>
              <a:cs typeface="Times New Roman"/>
            </a:endParaRPr>
          </a:p>
          <a:p>
            <a:pPr marL="12700" marR="99695">
              <a:lnSpc>
                <a:spcPct val="100000"/>
              </a:lnSpc>
              <a:spcBef>
                <a:spcPts val="520"/>
              </a:spcBef>
            </a:pPr>
            <a:r>
              <a:rPr dirty="0" sz="1200" spc="-10">
                <a:latin typeface="Times New Roman"/>
                <a:cs typeface="Times New Roman"/>
              </a:rPr>
              <a:t>Computing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ordering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actually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quite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easy,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DAG.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 </a:t>
            </a:r>
            <a:r>
              <a:rPr dirty="0" sz="1200" spc="-28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a </a:t>
            </a:r>
            <a:r>
              <a:rPr dirty="0" sz="1200" spc="-30">
                <a:latin typeface="Times New Roman"/>
                <a:cs typeface="Times New Roman"/>
              </a:rPr>
              <a:t>DAG,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finish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20">
                <a:latin typeface="Lucida Sans Unicode"/>
                <a:cs typeface="Lucida Sans Unicode"/>
              </a:rPr>
              <a:t>u </a:t>
            </a:r>
            <a:r>
              <a:rPr dirty="0" sz="1200" spc="-5">
                <a:latin typeface="Times New Roman"/>
                <a:cs typeface="Times New Roman"/>
              </a:rPr>
              <a:t>is greater than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finish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30">
                <a:latin typeface="Lucida Sans Unicode"/>
                <a:cs typeface="Lucida Sans Unicode"/>
              </a:rPr>
              <a:t>v </a:t>
            </a:r>
            <a:r>
              <a:rPr dirty="0" sz="1200" spc="-10">
                <a:latin typeface="Times New Roman"/>
                <a:cs typeface="Times New Roman"/>
              </a:rPr>
              <a:t>(by the </a:t>
            </a:r>
            <a:r>
              <a:rPr dirty="0" sz="1200" spc="-5">
                <a:latin typeface="Times New Roman"/>
                <a:cs typeface="Times New Roman"/>
              </a:rPr>
              <a:t>lemma). Thus, it </a:t>
            </a:r>
            <a:r>
              <a:rPr dirty="0" sz="1200" spc="-10">
                <a:latin typeface="Times New Roman"/>
                <a:cs typeface="Times New Roman"/>
              </a:rPr>
              <a:t>suffices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reverse</a:t>
            </a:r>
            <a:r>
              <a:rPr dirty="0" sz="1200" spc="-5">
                <a:latin typeface="Times New Roman"/>
                <a:cs typeface="Times New Roman"/>
              </a:rPr>
              <a:t> order of finish times.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4400" y="1556460"/>
            <a:ext cx="5486400" cy="1717039"/>
          </a:xfrm>
          <a:custGeom>
            <a:avLst/>
            <a:gdLst/>
            <a:ahLst/>
            <a:cxnLst/>
            <a:rect l="l" t="t" r="r" b="b"/>
            <a:pathLst>
              <a:path w="5486400" h="1717039">
                <a:moveTo>
                  <a:pt x="5486400" y="0"/>
                </a:moveTo>
                <a:lnTo>
                  <a:pt x="0" y="0"/>
                </a:lnTo>
                <a:lnTo>
                  <a:pt x="0" y="4038"/>
                </a:lnTo>
                <a:lnTo>
                  <a:pt x="0" y="5130"/>
                </a:lnTo>
                <a:lnTo>
                  <a:pt x="0" y="1716582"/>
                </a:lnTo>
                <a:lnTo>
                  <a:pt x="5130" y="1716582"/>
                </a:lnTo>
                <a:lnTo>
                  <a:pt x="513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0987"/>
            <a:ext cx="6426835" cy="25196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885690" algn="l"/>
              </a:tabLst>
            </a:pPr>
            <a:r>
              <a:rPr dirty="0" sz="1200" spc="-10">
                <a:latin typeface="Times New Roman"/>
                <a:cs typeface="Times New Roman"/>
              </a:rPr>
              <a:t>134	</a:t>
            </a: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38735">
              <a:lnSpc>
                <a:spcPct val="100000"/>
              </a:lnSpc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DAG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finished,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add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linked.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general, there may be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legal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orders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DAG.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750">
              <a:latin typeface="Times New Roman"/>
              <a:cs typeface="Times New Roman"/>
            </a:endParaRPr>
          </a:p>
          <a:p>
            <a:pPr marL="59055">
              <a:lnSpc>
                <a:spcPct val="100000"/>
              </a:lnSpc>
            </a:pPr>
            <a:r>
              <a:rPr dirty="0" sz="1200" spc="55">
                <a:latin typeface="Times New Roman"/>
                <a:cs typeface="Times New Roman"/>
              </a:rPr>
              <a:t>T</a:t>
            </a:r>
            <a:r>
              <a:rPr dirty="0" sz="950" spc="55">
                <a:latin typeface="Times New Roman"/>
                <a:cs typeface="Times New Roman"/>
              </a:rPr>
              <a:t>OPOLOGICAL</a:t>
            </a:r>
            <a:r>
              <a:rPr dirty="0" sz="1200" spc="55">
                <a:latin typeface="Times New Roman"/>
                <a:cs typeface="Times New Roman"/>
              </a:rPr>
              <a:t>S</a:t>
            </a:r>
            <a:r>
              <a:rPr dirty="0" sz="950" spc="55">
                <a:latin typeface="Times New Roman"/>
                <a:cs typeface="Times New Roman"/>
              </a:rPr>
              <a:t>ORT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G</a:t>
            </a:r>
            <a:r>
              <a:rPr dirty="0" sz="1200" spc="5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Lucida Sans Unicode"/>
                <a:cs typeface="Lucida Sans Unicode"/>
              </a:rPr>
              <a:t>each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V</a:t>
            </a:r>
            <a:r>
              <a:rPr dirty="0" sz="1200" spc="9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color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white</a:t>
            </a:r>
            <a:endParaRPr sz="1200">
              <a:latin typeface="Lucida Sans Unicode"/>
              <a:cs typeface="Lucida Sans Unicode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new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LinkedList</a:t>
            </a:r>
            <a:r>
              <a:rPr dirty="0" sz="1200" spc="25">
                <a:latin typeface="Garamond"/>
                <a:cs typeface="Garamond"/>
              </a:rPr>
              <a:t>()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each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15">
                <a:latin typeface="Segoe UI Symbol"/>
                <a:cs typeface="Segoe UI Symbol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endParaRPr sz="1200">
              <a:latin typeface="Lucida Sans Unicode"/>
              <a:cs typeface="Lucida Sans Unicode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color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white</a:t>
            </a:r>
            <a:r>
              <a:rPr dirty="0" sz="1200" spc="3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650240" indent="-55753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650240" algn="l"/>
                <a:tab pos="65087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Times New Roman"/>
                <a:cs typeface="Times New Roman"/>
              </a:rPr>
              <a:t>T</a:t>
            </a:r>
            <a:r>
              <a:rPr dirty="0" sz="950" spc="55">
                <a:latin typeface="Times New Roman"/>
                <a:cs typeface="Times New Roman"/>
              </a:rPr>
              <a:t>OP</a:t>
            </a:r>
            <a:r>
              <a:rPr dirty="0" sz="1200" spc="55">
                <a:latin typeface="Times New Roman"/>
                <a:cs typeface="Times New Roman"/>
              </a:rPr>
              <a:t>V</a:t>
            </a:r>
            <a:r>
              <a:rPr dirty="0" sz="950" spc="55">
                <a:latin typeface="Times New Roman"/>
                <a:cs typeface="Times New Roman"/>
              </a:rPr>
              <a:t>ISIT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u</a:t>
            </a:r>
            <a:r>
              <a:rPr dirty="0" sz="1200" spc="5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return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14400" y="1560499"/>
            <a:ext cx="5487035" cy="1718945"/>
          </a:xfrm>
          <a:custGeom>
            <a:avLst/>
            <a:gdLst/>
            <a:ahLst/>
            <a:cxnLst/>
            <a:rect l="l" t="t" r="r" b="b"/>
            <a:pathLst>
              <a:path w="5487035" h="1718945">
                <a:moveTo>
                  <a:pt x="5486400" y="1713509"/>
                </a:moveTo>
                <a:lnTo>
                  <a:pt x="0" y="1713509"/>
                </a:lnTo>
                <a:lnTo>
                  <a:pt x="0" y="1718640"/>
                </a:lnTo>
                <a:lnTo>
                  <a:pt x="5486400" y="1718640"/>
                </a:lnTo>
                <a:lnTo>
                  <a:pt x="5486400" y="1713509"/>
                </a:lnTo>
                <a:close/>
              </a:path>
              <a:path w="5487035" h="1718945">
                <a:moveTo>
                  <a:pt x="5486959" y="0"/>
                </a:moveTo>
                <a:lnTo>
                  <a:pt x="5481828" y="0"/>
                </a:lnTo>
                <a:lnTo>
                  <a:pt x="5481828" y="1712544"/>
                </a:lnTo>
                <a:lnTo>
                  <a:pt x="5486959" y="1712544"/>
                </a:lnTo>
                <a:lnTo>
                  <a:pt x="5486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914400" y="3458412"/>
            <a:ext cx="5487035" cy="1355725"/>
          </a:xfrm>
          <a:custGeom>
            <a:avLst/>
            <a:gdLst/>
            <a:ahLst/>
            <a:cxnLst/>
            <a:rect l="l" t="t" r="r" b="b"/>
            <a:pathLst>
              <a:path w="5487035" h="1355725">
                <a:moveTo>
                  <a:pt x="5486400" y="0"/>
                </a:moveTo>
                <a:lnTo>
                  <a:pt x="0" y="0"/>
                </a:lnTo>
                <a:lnTo>
                  <a:pt x="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  <a:path w="5487035" h="1355725">
                <a:moveTo>
                  <a:pt x="5486959" y="5283"/>
                </a:moveTo>
                <a:lnTo>
                  <a:pt x="5481828" y="5283"/>
                </a:lnTo>
                <a:lnTo>
                  <a:pt x="5481828" y="1350264"/>
                </a:lnTo>
                <a:lnTo>
                  <a:pt x="5130" y="1350264"/>
                </a:lnTo>
                <a:lnTo>
                  <a:pt x="5130" y="5283"/>
                </a:lnTo>
                <a:lnTo>
                  <a:pt x="0" y="5283"/>
                </a:lnTo>
                <a:lnTo>
                  <a:pt x="0" y="1350264"/>
                </a:lnTo>
                <a:lnTo>
                  <a:pt x="0" y="1350822"/>
                </a:lnTo>
                <a:lnTo>
                  <a:pt x="0" y="1355394"/>
                </a:lnTo>
                <a:lnTo>
                  <a:pt x="5486400" y="1355394"/>
                </a:lnTo>
                <a:lnTo>
                  <a:pt x="5486400" y="1350822"/>
                </a:lnTo>
                <a:lnTo>
                  <a:pt x="5486959" y="1350822"/>
                </a:lnTo>
                <a:lnTo>
                  <a:pt x="5486959" y="52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901699" y="3450197"/>
            <a:ext cx="6402705" cy="201866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905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Times New Roman"/>
                <a:cs typeface="Times New Roman"/>
              </a:rPr>
              <a:t>T</a:t>
            </a:r>
            <a:r>
              <a:rPr dirty="0" sz="950" spc="55">
                <a:latin typeface="Times New Roman"/>
                <a:cs typeface="Times New Roman"/>
              </a:rPr>
              <a:t>OP</a:t>
            </a:r>
            <a:r>
              <a:rPr dirty="0" sz="1200" spc="55">
                <a:latin typeface="Times New Roman"/>
                <a:cs typeface="Times New Roman"/>
              </a:rPr>
              <a:t>V</a:t>
            </a:r>
            <a:r>
              <a:rPr dirty="0" sz="950" spc="55">
                <a:latin typeface="Times New Roman"/>
                <a:cs typeface="Times New Roman"/>
              </a:rPr>
              <a:t>ISIT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u</a:t>
            </a:r>
            <a:r>
              <a:rPr dirty="0" sz="1200" spc="5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>
                <a:latin typeface="Lucida Sans Unicode"/>
                <a:cs typeface="Lucida Sans Unicode"/>
              </a:rPr>
              <a:t>color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gray</a:t>
            </a:r>
            <a:r>
              <a:rPr dirty="0" sz="1200" spc="15">
                <a:latin typeface="Garamond"/>
                <a:cs typeface="Garamond"/>
              </a:rPr>
              <a:t>; </a:t>
            </a:r>
            <a:r>
              <a:rPr dirty="0" sz="1200" spc="195">
                <a:latin typeface="Garamond"/>
                <a:cs typeface="Garamond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//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mark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visited</a:t>
            </a:r>
            <a:endParaRPr sz="1200">
              <a:latin typeface="Times New Roman"/>
              <a:cs typeface="Times New Roman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Lucida Sans Unicode"/>
                <a:cs typeface="Lucida Sans Unicode"/>
              </a:rPr>
              <a:t>each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Adj</a:t>
            </a:r>
            <a:r>
              <a:rPr dirty="0" sz="1200" spc="30">
                <a:latin typeface="Garamond"/>
                <a:cs typeface="Garamond"/>
              </a:rPr>
              <a:t>[</a:t>
            </a:r>
            <a:r>
              <a:rPr dirty="0" sz="1200" spc="30">
                <a:latin typeface="Lucida Sans Unicode"/>
                <a:cs typeface="Lucida Sans Unicode"/>
              </a:rPr>
              <a:t>u</a:t>
            </a:r>
            <a:r>
              <a:rPr dirty="0" sz="1200" spc="30">
                <a:latin typeface="Garamond"/>
                <a:cs typeface="Garamond"/>
              </a:rPr>
              <a:t>])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Garamond"/>
                <a:cs typeface="Garamond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color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white</a:t>
            </a:r>
            <a:r>
              <a:rPr dirty="0" sz="1200" spc="3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650240" indent="-55753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650240" algn="l"/>
                <a:tab pos="65087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then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Times New Roman"/>
                <a:cs typeface="Times New Roman"/>
              </a:rPr>
              <a:t>T</a:t>
            </a:r>
            <a:r>
              <a:rPr dirty="0" sz="950" spc="50">
                <a:latin typeface="Times New Roman"/>
                <a:cs typeface="Times New Roman"/>
              </a:rPr>
              <a:t>OP</a:t>
            </a:r>
            <a:r>
              <a:rPr dirty="0" sz="1200" spc="50">
                <a:latin typeface="Times New Roman"/>
                <a:cs typeface="Times New Roman"/>
              </a:rPr>
              <a:t>V</a:t>
            </a:r>
            <a:r>
              <a:rPr dirty="0" sz="950" spc="50">
                <a:latin typeface="Times New Roman"/>
                <a:cs typeface="Times New Roman"/>
              </a:rPr>
              <a:t>ISIT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v</a:t>
            </a:r>
            <a:r>
              <a:rPr dirty="0" sz="1200" spc="5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15">
                <a:latin typeface="Lucida Sans Unicode"/>
                <a:cs typeface="Lucida Sans Unicode"/>
              </a:rPr>
              <a:t>Append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to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the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front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of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750">
              <a:latin typeface="Lucida Sans Unicode"/>
              <a:cs typeface="Lucida Sans Unicode"/>
            </a:endParaRPr>
          </a:p>
          <a:p>
            <a:pPr marL="12700" marR="5080">
              <a:lnSpc>
                <a:spcPct val="100000"/>
              </a:lnSpc>
              <a:spcBef>
                <a:spcPts val="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8.31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linear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obtained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sequence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putting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suit.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40">
                <a:latin typeface="Times New Roman"/>
                <a:cs typeface="Times New Roman"/>
              </a:rPr>
              <a:t>DAG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same;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 laid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special.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a result, all directed edges go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right.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084832" y="5653730"/>
            <a:ext cx="4023360" cy="2590800"/>
          </a:xfrm>
          <a:custGeom>
            <a:avLst/>
            <a:gdLst/>
            <a:ahLst/>
            <a:cxnLst/>
            <a:rect l="l" t="t" r="r" b="b"/>
            <a:pathLst>
              <a:path w="4023360" h="2590800">
                <a:moveTo>
                  <a:pt x="4023359" y="0"/>
                </a:moveTo>
                <a:lnTo>
                  <a:pt x="0" y="0"/>
                </a:lnTo>
                <a:lnTo>
                  <a:pt x="0" y="2590601"/>
                </a:lnTo>
                <a:lnTo>
                  <a:pt x="4023359" y="2590601"/>
                </a:lnTo>
                <a:lnTo>
                  <a:pt x="4023359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2209220" y="7851544"/>
            <a:ext cx="393700" cy="210185"/>
          </a:xfrm>
          <a:prstGeom prst="rect">
            <a:avLst/>
          </a:prstGeom>
          <a:solidFill>
            <a:srgbClr val="0000FF"/>
          </a:solidFill>
          <a:ln w="14424">
            <a:solidFill>
              <a:srgbClr val="FFFF00"/>
            </a:solidFill>
          </a:ln>
        </p:spPr>
        <p:txBody>
          <a:bodyPr wrap="square" lIns="0" tIns="22860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80"/>
              </a:spcBef>
            </a:pPr>
            <a:r>
              <a:rPr dirty="0" sz="900">
                <a:solidFill>
                  <a:srgbClr val="FFFF00"/>
                </a:solidFill>
                <a:latin typeface="Arial"/>
                <a:cs typeface="Arial"/>
              </a:rPr>
              <a:t>socks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2667042" y="7844332"/>
          <a:ext cx="851535" cy="2247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93065"/>
                <a:gridCol w="43814"/>
                <a:gridCol w="393064"/>
              </a:tblGrid>
              <a:tr h="210014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9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shirt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lnL w="19050">
                      <a:solidFill>
                        <a:srgbClr val="FFFF00"/>
                      </a:solidFill>
                      <a:prstDash val="solid"/>
                    </a:lnL>
                    <a:lnR w="19050">
                      <a:solidFill>
                        <a:srgbClr val="FFFF00"/>
                      </a:solidFill>
                      <a:prstDash val="solid"/>
                    </a:lnR>
                    <a:lnT w="19050">
                      <a:solidFill>
                        <a:srgbClr val="FFFF00"/>
                      </a:solidFill>
                      <a:prstDash val="solid"/>
                    </a:lnT>
                    <a:lnB w="19050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00"/>
                      </a:solidFill>
                      <a:prstDash val="solid"/>
                    </a:lnL>
                    <a:lnR w="19050">
                      <a:solidFill>
                        <a:srgbClr val="FFFF00"/>
                      </a:solidFill>
                      <a:prstDash val="solid"/>
                    </a:lnR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9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tie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lnL w="19050">
                      <a:solidFill>
                        <a:srgbClr val="FFFF00"/>
                      </a:solidFill>
                      <a:prstDash val="solid"/>
                    </a:lnL>
                    <a:lnR w="19050">
                      <a:solidFill>
                        <a:srgbClr val="FFFF00"/>
                      </a:solidFill>
                      <a:prstDash val="solid"/>
                    </a:lnR>
                    <a:lnT w="19050">
                      <a:solidFill>
                        <a:srgbClr val="FFFF00"/>
                      </a:solidFill>
                      <a:prstDash val="solid"/>
                    </a:lnT>
                    <a:lnB w="19050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5073837" y="7851544"/>
            <a:ext cx="393700" cy="210185"/>
          </a:xfrm>
          <a:prstGeom prst="rect">
            <a:avLst/>
          </a:prstGeom>
          <a:solidFill>
            <a:srgbClr val="0000FF"/>
          </a:solidFill>
          <a:ln w="14424">
            <a:solidFill>
              <a:srgbClr val="FFFF00"/>
            </a:solidFill>
          </a:ln>
        </p:spPr>
        <p:txBody>
          <a:bodyPr wrap="square" lIns="0" tIns="22860" rIns="0" bIns="0" rtlCol="0" vert="horz">
            <a:spAutoFit/>
          </a:bodyPr>
          <a:lstStyle/>
          <a:p>
            <a:pPr marL="83820">
              <a:lnSpc>
                <a:spcPct val="100000"/>
              </a:lnSpc>
              <a:spcBef>
                <a:spcPts val="180"/>
              </a:spcBef>
            </a:pPr>
            <a:r>
              <a:rPr dirty="0" sz="900">
                <a:solidFill>
                  <a:srgbClr val="FFFF00"/>
                </a:solidFill>
                <a:latin typeface="Arial"/>
                <a:cs typeface="Arial"/>
              </a:rPr>
              <a:t>belt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557286" y="7844332"/>
          <a:ext cx="1472565" cy="2247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1500"/>
                <a:gridCol w="41275"/>
                <a:gridCol w="393065"/>
                <a:gridCol w="50165"/>
                <a:gridCol w="392430"/>
              </a:tblGrid>
              <a:tr h="210014">
                <a:tc>
                  <a:txBody>
                    <a:bodyPr/>
                    <a:lstStyle/>
                    <a:p>
                      <a:pPr marL="140335" marR="142875" indent="-53340">
                        <a:lnSpc>
                          <a:spcPct val="67300"/>
                        </a:lnSpc>
                        <a:spcBef>
                          <a:spcPts val="234"/>
                        </a:spcBef>
                      </a:pPr>
                      <a:r>
                        <a:rPr dirty="0" sz="9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under-  </a:t>
                      </a:r>
                      <a:r>
                        <a:rPr dirty="0" sz="9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wear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29844">
                    <a:lnL w="19050">
                      <a:solidFill>
                        <a:srgbClr val="FFFF00"/>
                      </a:solidFill>
                      <a:prstDash val="solid"/>
                    </a:lnL>
                    <a:lnR w="19050">
                      <a:solidFill>
                        <a:srgbClr val="FFFF00"/>
                      </a:solidFill>
                      <a:prstDash val="solid"/>
                    </a:lnR>
                    <a:lnT w="19050">
                      <a:solidFill>
                        <a:srgbClr val="FFFF00"/>
                      </a:solidFill>
                      <a:prstDash val="solid"/>
                    </a:lnT>
                    <a:lnB w="19050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00"/>
                      </a:solidFill>
                      <a:prstDash val="solid"/>
                    </a:lnL>
                    <a:lnR w="19050">
                      <a:solidFill>
                        <a:srgbClr val="FFFF00"/>
                      </a:solidFill>
                      <a:prstDash val="solid"/>
                    </a:lnR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3365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9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pants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lnL w="19050">
                      <a:solidFill>
                        <a:srgbClr val="FFFF00"/>
                      </a:solidFill>
                      <a:prstDash val="solid"/>
                    </a:lnL>
                    <a:lnR w="19050">
                      <a:solidFill>
                        <a:srgbClr val="FFFF00"/>
                      </a:solidFill>
                      <a:prstDash val="solid"/>
                    </a:lnR>
                    <a:lnT w="19050">
                      <a:solidFill>
                        <a:srgbClr val="FFFF00"/>
                      </a:solidFill>
                      <a:prstDash val="solid"/>
                    </a:lnT>
                    <a:lnB w="19050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00"/>
                      </a:solidFill>
                      <a:prstDash val="solid"/>
                    </a:lnL>
                    <a:lnR w="19050">
                      <a:solidFill>
                        <a:srgbClr val="FFFF00"/>
                      </a:solidFill>
                      <a:prstDash val="solid"/>
                    </a:lnR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2794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9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shoes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lnL w="19050">
                      <a:solidFill>
                        <a:srgbClr val="FFFF00"/>
                      </a:solidFill>
                      <a:prstDash val="solid"/>
                    </a:lnL>
                    <a:lnR w="19050">
                      <a:solidFill>
                        <a:srgbClr val="FFFF00"/>
                      </a:solidFill>
                      <a:prstDash val="solid"/>
                    </a:lnR>
                    <a:lnT w="19050">
                      <a:solidFill>
                        <a:srgbClr val="FFFF00"/>
                      </a:solidFill>
                      <a:prstDash val="solid"/>
                    </a:lnT>
                    <a:lnB w="19050">
                      <a:solidFill>
                        <a:srgbClr val="FFFF00"/>
                      </a:solidFill>
                      <a:prstDash val="solid"/>
                    </a:lnB>
                    <a:solidFill>
                      <a:srgbClr val="0000FF"/>
                    </a:solidFill>
                  </a:tcPr>
                </a:tc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5582137" y="7851544"/>
            <a:ext cx="393700" cy="210185"/>
          </a:xfrm>
          <a:prstGeom prst="rect">
            <a:avLst/>
          </a:prstGeom>
          <a:solidFill>
            <a:srgbClr val="0000FF"/>
          </a:solidFill>
          <a:ln w="14424">
            <a:solidFill>
              <a:srgbClr val="FFFF00"/>
            </a:solidFill>
          </a:ln>
        </p:spPr>
        <p:txBody>
          <a:bodyPr wrap="square" lIns="0" tIns="22860" rIns="0" bIns="0" rtlCol="0" vert="horz">
            <a:spAutoFit/>
          </a:bodyPr>
          <a:lstStyle/>
          <a:p>
            <a:pPr marL="71120">
              <a:lnSpc>
                <a:spcPct val="100000"/>
              </a:lnSpc>
              <a:spcBef>
                <a:spcPts val="180"/>
              </a:spcBef>
            </a:pPr>
            <a:r>
              <a:rPr dirty="0" sz="900">
                <a:solidFill>
                  <a:srgbClr val="FFFF00"/>
                </a:solidFill>
                <a:latin typeface="Arial"/>
                <a:cs typeface="Arial"/>
              </a:rPr>
              <a:t>coat</a:t>
            </a:r>
            <a:endParaRPr sz="9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605582" y="5720813"/>
            <a:ext cx="785495" cy="150495"/>
          </a:xfrm>
          <a:prstGeom prst="rect">
            <a:avLst/>
          </a:prstGeom>
          <a:solidFill>
            <a:srgbClr val="0000FF"/>
          </a:solidFill>
          <a:ln w="14424">
            <a:solidFill>
              <a:srgbClr val="FFFF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88265">
              <a:lnSpc>
                <a:spcPts val="1050"/>
              </a:lnSpc>
            </a:pPr>
            <a:r>
              <a:rPr dirty="0" sz="900">
                <a:solidFill>
                  <a:srgbClr val="FFFF00"/>
                </a:solidFill>
                <a:latin typeface="Arial"/>
                <a:cs typeface="Arial"/>
              </a:rPr>
              <a:t>underwear</a:t>
            </a:r>
            <a:endParaRPr sz="9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819643" y="6029501"/>
            <a:ext cx="467359" cy="151130"/>
          </a:xfrm>
          <a:prstGeom prst="rect">
            <a:avLst/>
          </a:prstGeom>
          <a:solidFill>
            <a:srgbClr val="0000FF"/>
          </a:solidFill>
          <a:ln w="14424">
            <a:solidFill>
              <a:srgbClr val="FFFF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9850">
              <a:lnSpc>
                <a:spcPts val="1025"/>
              </a:lnSpc>
            </a:pPr>
            <a:r>
              <a:rPr dirty="0" sz="900">
                <a:solidFill>
                  <a:srgbClr val="FFFF00"/>
                </a:solidFill>
                <a:latin typeface="Arial"/>
                <a:cs typeface="Arial"/>
              </a:rPr>
              <a:t>pants</a:t>
            </a:r>
            <a:endParaRPr sz="9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819643" y="6547614"/>
            <a:ext cx="467359" cy="150495"/>
          </a:xfrm>
          <a:prstGeom prst="rect">
            <a:avLst/>
          </a:prstGeom>
          <a:solidFill>
            <a:srgbClr val="0000FF"/>
          </a:solidFill>
          <a:ln w="14424">
            <a:solidFill>
              <a:srgbClr val="FFFF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120650">
              <a:lnSpc>
                <a:spcPts val="1019"/>
              </a:lnSpc>
            </a:pPr>
            <a:r>
              <a:rPr dirty="0" sz="900">
                <a:solidFill>
                  <a:srgbClr val="FFFF00"/>
                </a:solidFill>
                <a:latin typeface="Arial"/>
                <a:cs typeface="Arial"/>
              </a:rPr>
              <a:t>belt</a:t>
            </a:r>
            <a:endParaRPr sz="9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851833" y="6229694"/>
            <a:ext cx="467359" cy="151130"/>
          </a:xfrm>
          <a:prstGeom prst="rect">
            <a:avLst/>
          </a:prstGeom>
          <a:solidFill>
            <a:srgbClr val="0000FF"/>
          </a:solidFill>
          <a:ln w="14424">
            <a:solidFill>
              <a:srgbClr val="FFFF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100330">
              <a:lnSpc>
                <a:spcPts val="1025"/>
              </a:lnSpc>
            </a:pPr>
            <a:r>
              <a:rPr dirty="0" sz="900">
                <a:solidFill>
                  <a:srgbClr val="FFFF00"/>
                </a:solidFill>
                <a:latin typeface="Arial"/>
                <a:cs typeface="Arial"/>
              </a:rPr>
              <a:t>shirt</a:t>
            </a:r>
            <a:endParaRPr sz="9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851833" y="6999952"/>
            <a:ext cx="467359" cy="150495"/>
          </a:xfrm>
          <a:prstGeom prst="rect">
            <a:avLst/>
          </a:prstGeom>
          <a:solidFill>
            <a:srgbClr val="0000FF"/>
          </a:solidFill>
          <a:ln w="14424">
            <a:solidFill>
              <a:srgbClr val="FFFF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107314">
              <a:lnSpc>
                <a:spcPts val="1019"/>
              </a:lnSpc>
            </a:pPr>
            <a:r>
              <a:rPr dirty="0" sz="900">
                <a:solidFill>
                  <a:srgbClr val="FFFF00"/>
                </a:solidFill>
                <a:latin typeface="Arial"/>
                <a:cs typeface="Arial"/>
              </a:rPr>
              <a:t>coat</a:t>
            </a:r>
            <a:endParaRPr sz="9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851833" y="6578185"/>
            <a:ext cx="467359" cy="150495"/>
          </a:xfrm>
          <a:prstGeom prst="rect">
            <a:avLst/>
          </a:prstGeom>
          <a:solidFill>
            <a:srgbClr val="0000FF"/>
          </a:solidFill>
          <a:ln w="14424">
            <a:solidFill>
              <a:srgbClr val="FFFF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ctr" marR="23495">
              <a:lnSpc>
                <a:spcPts val="1019"/>
              </a:lnSpc>
            </a:pPr>
            <a:r>
              <a:rPr dirty="0" sz="900">
                <a:solidFill>
                  <a:srgbClr val="FFFF00"/>
                </a:solidFill>
                <a:latin typeface="Arial"/>
                <a:cs typeface="Arial"/>
              </a:rPr>
              <a:t>tie</a:t>
            </a:r>
            <a:endParaRPr sz="9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695352" y="5733508"/>
            <a:ext cx="467359" cy="150495"/>
          </a:xfrm>
          <a:prstGeom prst="rect">
            <a:avLst/>
          </a:prstGeom>
          <a:solidFill>
            <a:srgbClr val="0000FF"/>
          </a:solidFill>
          <a:ln w="14424">
            <a:solidFill>
              <a:srgbClr val="FFFF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71120">
              <a:lnSpc>
                <a:spcPts val="1025"/>
              </a:lnSpc>
            </a:pPr>
            <a:r>
              <a:rPr dirty="0" sz="900">
                <a:solidFill>
                  <a:srgbClr val="FFFF00"/>
                </a:solidFill>
                <a:latin typeface="Arial"/>
                <a:cs typeface="Arial"/>
              </a:rPr>
              <a:t>socks</a:t>
            </a:r>
            <a:endParaRPr sz="9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695352" y="6064111"/>
            <a:ext cx="467359" cy="151130"/>
          </a:xfrm>
          <a:prstGeom prst="rect">
            <a:avLst/>
          </a:prstGeom>
          <a:solidFill>
            <a:srgbClr val="0000FF"/>
          </a:solidFill>
          <a:ln w="14424">
            <a:solidFill>
              <a:srgbClr val="FFFF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64135">
              <a:lnSpc>
                <a:spcPts val="1025"/>
              </a:lnSpc>
            </a:pPr>
            <a:r>
              <a:rPr dirty="0" sz="900">
                <a:solidFill>
                  <a:srgbClr val="FFFF00"/>
                </a:solidFill>
                <a:latin typeface="Arial"/>
                <a:cs typeface="Arial"/>
              </a:rPr>
              <a:t>shoes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2350278" y="5779959"/>
            <a:ext cx="3459479" cy="2096770"/>
            <a:chOff x="2350278" y="5779959"/>
            <a:chExt cx="3459479" cy="2096770"/>
          </a:xfrm>
        </p:grpSpPr>
        <p:sp>
          <p:nvSpPr>
            <p:cNvPr id="22" name="object 22"/>
            <p:cNvSpPr/>
            <p:nvPr/>
          </p:nvSpPr>
          <p:spPr>
            <a:xfrm>
              <a:off x="3030809" y="5868522"/>
              <a:ext cx="0" cy="88900"/>
            </a:xfrm>
            <a:custGeom>
              <a:avLst/>
              <a:gdLst/>
              <a:ahLst/>
              <a:cxnLst/>
              <a:rect l="l" t="t" r="r" b="b"/>
              <a:pathLst>
                <a:path w="0" h="88900">
                  <a:moveTo>
                    <a:pt x="0" y="0"/>
                  </a:moveTo>
                  <a:lnTo>
                    <a:pt x="0" y="88849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003697" y="5951032"/>
              <a:ext cx="54610" cy="81280"/>
            </a:xfrm>
            <a:custGeom>
              <a:avLst/>
              <a:gdLst/>
              <a:ahLst/>
              <a:cxnLst/>
              <a:rect l="l" t="t" r="r" b="b"/>
              <a:pathLst>
                <a:path w="54610" h="81279">
                  <a:moveTo>
                    <a:pt x="54223" y="0"/>
                  </a:moveTo>
                  <a:lnTo>
                    <a:pt x="0" y="0"/>
                  </a:lnTo>
                  <a:lnTo>
                    <a:pt x="27111" y="80771"/>
                  </a:lnTo>
                  <a:lnTo>
                    <a:pt x="54223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030809" y="6178931"/>
              <a:ext cx="0" cy="294640"/>
            </a:xfrm>
            <a:custGeom>
              <a:avLst/>
              <a:gdLst/>
              <a:ahLst/>
              <a:cxnLst/>
              <a:rect l="l" t="t" r="r" b="b"/>
              <a:pathLst>
                <a:path w="0" h="294639">
                  <a:moveTo>
                    <a:pt x="0" y="0"/>
                  </a:moveTo>
                  <a:lnTo>
                    <a:pt x="0" y="294253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003697" y="6466250"/>
              <a:ext cx="54610" cy="81915"/>
            </a:xfrm>
            <a:custGeom>
              <a:avLst/>
              <a:gdLst/>
              <a:ahLst/>
              <a:cxnLst/>
              <a:rect l="l" t="t" r="r" b="b"/>
              <a:pathLst>
                <a:path w="54610" h="81915">
                  <a:moveTo>
                    <a:pt x="54223" y="0"/>
                  </a:moveTo>
                  <a:lnTo>
                    <a:pt x="0" y="0"/>
                  </a:lnTo>
                  <a:lnTo>
                    <a:pt x="27111" y="81351"/>
                  </a:lnTo>
                  <a:lnTo>
                    <a:pt x="54223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065879" y="6377980"/>
              <a:ext cx="0" cy="131445"/>
            </a:xfrm>
            <a:custGeom>
              <a:avLst/>
              <a:gdLst/>
              <a:ahLst/>
              <a:cxnLst/>
              <a:rect l="l" t="t" r="r" b="b"/>
              <a:pathLst>
                <a:path w="0" h="131445">
                  <a:moveTo>
                    <a:pt x="0" y="0"/>
                  </a:moveTo>
                  <a:lnTo>
                    <a:pt x="0" y="130972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038767" y="6502034"/>
              <a:ext cx="54610" cy="81915"/>
            </a:xfrm>
            <a:custGeom>
              <a:avLst/>
              <a:gdLst/>
              <a:ahLst/>
              <a:cxnLst/>
              <a:rect l="l" t="t" r="r" b="b"/>
              <a:pathLst>
                <a:path w="54610" h="81915">
                  <a:moveTo>
                    <a:pt x="54239" y="0"/>
                  </a:moveTo>
                  <a:lnTo>
                    <a:pt x="0" y="0"/>
                  </a:lnTo>
                  <a:lnTo>
                    <a:pt x="27111" y="81351"/>
                  </a:lnTo>
                  <a:lnTo>
                    <a:pt x="5423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065879" y="6727037"/>
              <a:ext cx="0" cy="200025"/>
            </a:xfrm>
            <a:custGeom>
              <a:avLst/>
              <a:gdLst/>
              <a:ahLst/>
              <a:cxnLst/>
              <a:rect l="l" t="t" r="r" b="b"/>
              <a:pathLst>
                <a:path w="0" h="200025">
                  <a:moveTo>
                    <a:pt x="0" y="0"/>
                  </a:moveTo>
                  <a:lnTo>
                    <a:pt x="0" y="199628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038767" y="6919747"/>
              <a:ext cx="54610" cy="81915"/>
            </a:xfrm>
            <a:custGeom>
              <a:avLst/>
              <a:gdLst/>
              <a:ahLst/>
              <a:cxnLst/>
              <a:rect l="l" t="t" r="r" b="b"/>
              <a:pathLst>
                <a:path w="54610" h="81915">
                  <a:moveTo>
                    <a:pt x="54239" y="0"/>
                  </a:moveTo>
                  <a:lnTo>
                    <a:pt x="0" y="0"/>
                  </a:lnTo>
                  <a:lnTo>
                    <a:pt x="27111" y="81351"/>
                  </a:lnTo>
                  <a:lnTo>
                    <a:pt x="5423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912293" y="5881796"/>
              <a:ext cx="0" cy="108585"/>
            </a:xfrm>
            <a:custGeom>
              <a:avLst/>
              <a:gdLst/>
              <a:ahLst/>
              <a:cxnLst/>
              <a:rect l="l" t="t" r="r" b="b"/>
              <a:pathLst>
                <a:path w="0" h="108585">
                  <a:moveTo>
                    <a:pt x="0" y="0"/>
                  </a:moveTo>
                  <a:lnTo>
                    <a:pt x="0" y="108463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885166" y="5983340"/>
              <a:ext cx="54610" cy="81280"/>
            </a:xfrm>
            <a:custGeom>
              <a:avLst/>
              <a:gdLst/>
              <a:ahLst/>
              <a:cxnLst/>
              <a:rect l="l" t="t" r="r" b="b"/>
              <a:pathLst>
                <a:path w="54610" h="81279">
                  <a:moveTo>
                    <a:pt x="54239" y="0"/>
                  </a:moveTo>
                  <a:lnTo>
                    <a:pt x="0" y="0"/>
                  </a:lnTo>
                  <a:lnTo>
                    <a:pt x="27127" y="80771"/>
                  </a:lnTo>
                  <a:lnTo>
                    <a:pt x="5423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286978" y="6110274"/>
              <a:ext cx="1328420" cy="0"/>
            </a:xfrm>
            <a:custGeom>
              <a:avLst/>
              <a:gdLst/>
              <a:ahLst/>
              <a:cxnLst/>
              <a:rect l="l" t="t" r="r" b="b"/>
              <a:pathLst>
                <a:path w="1328420" h="0">
                  <a:moveTo>
                    <a:pt x="0" y="0"/>
                  </a:moveTo>
                  <a:lnTo>
                    <a:pt x="1328181" y="0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608804" y="6083147"/>
              <a:ext cx="81915" cy="54610"/>
            </a:xfrm>
            <a:custGeom>
              <a:avLst/>
              <a:gdLst/>
              <a:ahLst/>
              <a:cxnLst/>
              <a:rect l="l" t="t" r="r" b="b"/>
              <a:pathLst>
                <a:path w="81914" h="54610">
                  <a:moveTo>
                    <a:pt x="0" y="0"/>
                  </a:moveTo>
                  <a:lnTo>
                    <a:pt x="0" y="54239"/>
                  </a:lnTo>
                  <a:lnTo>
                    <a:pt x="81351" y="271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389680" y="5787171"/>
              <a:ext cx="1231900" cy="280670"/>
            </a:xfrm>
            <a:custGeom>
              <a:avLst/>
              <a:gdLst/>
              <a:ahLst/>
              <a:cxnLst/>
              <a:rect l="l" t="t" r="r" b="b"/>
              <a:pathLst>
                <a:path w="1231900" h="280670">
                  <a:moveTo>
                    <a:pt x="0" y="0"/>
                  </a:moveTo>
                  <a:lnTo>
                    <a:pt x="1231818" y="280400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608804" y="6039302"/>
              <a:ext cx="85725" cy="53340"/>
            </a:xfrm>
            <a:custGeom>
              <a:avLst/>
              <a:gdLst/>
              <a:ahLst/>
              <a:cxnLst/>
              <a:rect l="l" t="t" r="r" b="b"/>
              <a:pathLst>
                <a:path w="85725" h="53339">
                  <a:moveTo>
                    <a:pt x="12115" y="0"/>
                  </a:moveTo>
                  <a:lnTo>
                    <a:pt x="0" y="53080"/>
                  </a:lnTo>
                  <a:lnTo>
                    <a:pt x="85389" y="44424"/>
                  </a:lnTo>
                  <a:lnTo>
                    <a:pt x="1211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224677" y="6286251"/>
              <a:ext cx="627380" cy="234950"/>
            </a:xfrm>
            <a:custGeom>
              <a:avLst/>
              <a:gdLst/>
              <a:ahLst/>
              <a:cxnLst/>
              <a:rect l="l" t="t" r="r" b="b"/>
              <a:pathLst>
                <a:path w="627379" h="234950">
                  <a:moveTo>
                    <a:pt x="627156" y="0"/>
                  </a:moveTo>
                  <a:lnTo>
                    <a:pt x="0" y="234817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154862" y="6493377"/>
              <a:ext cx="85725" cy="54610"/>
            </a:xfrm>
            <a:custGeom>
              <a:avLst/>
              <a:gdLst/>
              <a:ahLst/>
              <a:cxnLst/>
              <a:rect l="l" t="t" r="r" b="b"/>
              <a:pathLst>
                <a:path w="85725" h="54609">
                  <a:moveTo>
                    <a:pt x="66339" y="0"/>
                  </a:moveTo>
                  <a:lnTo>
                    <a:pt x="0" y="54223"/>
                  </a:lnTo>
                  <a:lnTo>
                    <a:pt x="85389" y="50764"/>
                  </a:lnTo>
                  <a:lnTo>
                    <a:pt x="6633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278322" y="6697624"/>
              <a:ext cx="508000" cy="271780"/>
            </a:xfrm>
            <a:custGeom>
              <a:avLst/>
              <a:gdLst/>
              <a:ahLst/>
              <a:cxnLst/>
              <a:rect l="l" t="t" r="r" b="b"/>
              <a:pathLst>
                <a:path w="508000" h="271779">
                  <a:moveTo>
                    <a:pt x="0" y="0"/>
                  </a:moveTo>
                  <a:lnTo>
                    <a:pt x="507735" y="271744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767023" y="6942256"/>
              <a:ext cx="85090" cy="62865"/>
            </a:xfrm>
            <a:custGeom>
              <a:avLst/>
              <a:gdLst/>
              <a:ahLst/>
              <a:cxnLst/>
              <a:rect l="l" t="t" r="r" b="b"/>
              <a:pathLst>
                <a:path w="85089" h="62865">
                  <a:moveTo>
                    <a:pt x="25953" y="0"/>
                  </a:moveTo>
                  <a:lnTo>
                    <a:pt x="0" y="47884"/>
                  </a:lnTo>
                  <a:lnTo>
                    <a:pt x="84810" y="62301"/>
                  </a:lnTo>
                  <a:lnTo>
                    <a:pt x="25953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806830" y="7692308"/>
              <a:ext cx="481330" cy="165100"/>
            </a:xfrm>
            <a:custGeom>
              <a:avLst/>
              <a:gdLst/>
              <a:ahLst/>
              <a:cxnLst/>
              <a:rect l="l" t="t" r="r" b="b"/>
              <a:pathLst>
                <a:path w="481329" h="165100">
                  <a:moveTo>
                    <a:pt x="0" y="165003"/>
                  </a:moveTo>
                  <a:lnTo>
                    <a:pt x="12694" y="113080"/>
                  </a:lnTo>
                  <a:lnTo>
                    <a:pt x="39227" y="71536"/>
                  </a:lnTo>
                  <a:lnTo>
                    <a:pt x="76733" y="39806"/>
                  </a:lnTo>
                  <a:lnTo>
                    <a:pt x="121737" y="17297"/>
                  </a:lnTo>
                  <a:lnTo>
                    <a:pt x="173659" y="4038"/>
                  </a:lnTo>
                  <a:lnTo>
                    <a:pt x="229057" y="0"/>
                  </a:lnTo>
                  <a:lnTo>
                    <a:pt x="257327" y="579"/>
                  </a:lnTo>
                  <a:lnTo>
                    <a:pt x="311551" y="9220"/>
                  </a:lnTo>
                  <a:lnTo>
                    <a:pt x="363489" y="25374"/>
                  </a:lnTo>
                  <a:lnTo>
                    <a:pt x="409635" y="49042"/>
                  </a:lnTo>
                  <a:lnTo>
                    <a:pt x="446562" y="80192"/>
                  </a:lnTo>
                  <a:lnTo>
                    <a:pt x="473110" y="118856"/>
                  </a:lnTo>
                  <a:lnTo>
                    <a:pt x="481187" y="140192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259168" y="7816347"/>
              <a:ext cx="54610" cy="57150"/>
            </a:xfrm>
            <a:custGeom>
              <a:avLst/>
              <a:gdLst/>
              <a:ahLst/>
              <a:cxnLst/>
              <a:rect l="l" t="t" r="r" b="b"/>
              <a:pathLst>
                <a:path w="54610" h="57150">
                  <a:moveTo>
                    <a:pt x="54239" y="0"/>
                  </a:moveTo>
                  <a:lnTo>
                    <a:pt x="48463" y="3459"/>
                  </a:lnTo>
                  <a:lnTo>
                    <a:pt x="45582" y="4617"/>
                  </a:lnTo>
                  <a:lnTo>
                    <a:pt x="42123" y="5775"/>
                  </a:lnTo>
                  <a:lnTo>
                    <a:pt x="39227" y="6934"/>
                  </a:lnTo>
                  <a:lnTo>
                    <a:pt x="35768" y="8077"/>
                  </a:lnTo>
                  <a:lnTo>
                    <a:pt x="32887" y="8656"/>
                  </a:lnTo>
                  <a:lnTo>
                    <a:pt x="29428" y="9235"/>
                  </a:lnTo>
                  <a:lnTo>
                    <a:pt x="26532" y="9814"/>
                  </a:lnTo>
                  <a:lnTo>
                    <a:pt x="16154" y="9814"/>
                  </a:lnTo>
                  <a:lnTo>
                    <a:pt x="13274" y="9235"/>
                  </a:lnTo>
                  <a:lnTo>
                    <a:pt x="6339" y="8077"/>
                  </a:lnTo>
                  <a:lnTo>
                    <a:pt x="3459" y="7498"/>
                  </a:lnTo>
                  <a:lnTo>
                    <a:pt x="0" y="6355"/>
                  </a:lnTo>
                  <a:lnTo>
                    <a:pt x="33467" y="57119"/>
                  </a:lnTo>
                  <a:lnTo>
                    <a:pt x="5423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392442" y="7690571"/>
              <a:ext cx="716280" cy="179070"/>
            </a:xfrm>
            <a:custGeom>
              <a:avLst/>
              <a:gdLst/>
              <a:ahLst/>
              <a:cxnLst/>
              <a:rect l="l" t="t" r="r" b="b"/>
              <a:pathLst>
                <a:path w="716279" h="179070">
                  <a:moveTo>
                    <a:pt x="0" y="178856"/>
                  </a:moveTo>
                  <a:lnTo>
                    <a:pt x="11536" y="133273"/>
                  </a:lnTo>
                  <a:lnTo>
                    <a:pt x="39242" y="94625"/>
                  </a:lnTo>
                  <a:lnTo>
                    <a:pt x="80771" y="62895"/>
                  </a:lnTo>
                  <a:lnTo>
                    <a:pt x="132709" y="37505"/>
                  </a:lnTo>
                  <a:lnTo>
                    <a:pt x="193288" y="19034"/>
                  </a:lnTo>
                  <a:lnTo>
                    <a:pt x="260207" y="6355"/>
                  </a:lnTo>
                  <a:lnTo>
                    <a:pt x="331180" y="579"/>
                  </a:lnTo>
                  <a:lnTo>
                    <a:pt x="366369" y="0"/>
                  </a:lnTo>
                  <a:lnTo>
                    <a:pt x="402153" y="1158"/>
                  </a:lnTo>
                  <a:lnTo>
                    <a:pt x="472531" y="7498"/>
                  </a:lnTo>
                  <a:lnTo>
                    <a:pt x="539465" y="19613"/>
                  </a:lnTo>
                  <a:lnTo>
                    <a:pt x="598886" y="37505"/>
                  </a:lnTo>
                  <a:lnTo>
                    <a:pt x="650245" y="61737"/>
                  </a:lnTo>
                  <a:lnTo>
                    <a:pt x="690051" y="91165"/>
                  </a:lnTo>
                  <a:lnTo>
                    <a:pt x="705048" y="108478"/>
                  </a:lnTo>
                  <a:lnTo>
                    <a:pt x="716020" y="126354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5079034" y="7797891"/>
              <a:ext cx="52705" cy="59690"/>
            </a:xfrm>
            <a:custGeom>
              <a:avLst/>
              <a:gdLst/>
              <a:ahLst/>
              <a:cxnLst/>
              <a:rect l="l" t="t" r="r" b="b"/>
              <a:pathLst>
                <a:path w="52704" h="59690">
                  <a:moveTo>
                    <a:pt x="52501" y="0"/>
                  </a:moveTo>
                  <a:lnTo>
                    <a:pt x="50200" y="2301"/>
                  </a:lnTo>
                  <a:lnTo>
                    <a:pt x="41544" y="7498"/>
                  </a:lnTo>
                  <a:lnTo>
                    <a:pt x="38648" y="8656"/>
                  </a:lnTo>
                  <a:lnTo>
                    <a:pt x="35768" y="10378"/>
                  </a:lnTo>
                  <a:lnTo>
                    <a:pt x="32308" y="11536"/>
                  </a:lnTo>
                  <a:lnTo>
                    <a:pt x="29428" y="12115"/>
                  </a:lnTo>
                  <a:lnTo>
                    <a:pt x="25953" y="13274"/>
                  </a:lnTo>
                  <a:lnTo>
                    <a:pt x="23073" y="13837"/>
                  </a:lnTo>
                  <a:lnTo>
                    <a:pt x="19613" y="13837"/>
                  </a:lnTo>
                  <a:lnTo>
                    <a:pt x="16154" y="14417"/>
                  </a:lnTo>
                  <a:lnTo>
                    <a:pt x="9799" y="14417"/>
                  </a:lnTo>
                  <a:lnTo>
                    <a:pt x="2880" y="13274"/>
                  </a:lnTo>
                  <a:lnTo>
                    <a:pt x="0" y="12694"/>
                  </a:lnTo>
                  <a:lnTo>
                    <a:pt x="39227" y="59420"/>
                  </a:lnTo>
                  <a:lnTo>
                    <a:pt x="52501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392902" y="7690571"/>
              <a:ext cx="308610" cy="167005"/>
            </a:xfrm>
            <a:custGeom>
              <a:avLst/>
              <a:gdLst/>
              <a:ahLst/>
              <a:cxnLst/>
              <a:rect l="l" t="t" r="r" b="b"/>
              <a:pathLst>
                <a:path w="308610" h="167004">
                  <a:moveTo>
                    <a:pt x="0" y="166740"/>
                  </a:moveTo>
                  <a:lnTo>
                    <a:pt x="10957" y="107899"/>
                  </a:lnTo>
                  <a:lnTo>
                    <a:pt x="32887" y="62895"/>
                  </a:lnTo>
                  <a:lnTo>
                    <a:pt x="63459" y="30007"/>
                  </a:lnTo>
                  <a:lnTo>
                    <a:pt x="99806" y="9235"/>
                  </a:lnTo>
                  <a:lnTo>
                    <a:pt x="139628" y="0"/>
                  </a:lnTo>
                  <a:lnTo>
                    <a:pt x="159821" y="0"/>
                  </a:lnTo>
                  <a:lnTo>
                    <a:pt x="199628" y="7498"/>
                  </a:lnTo>
                  <a:lnTo>
                    <a:pt x="237134" y="25389"/>
                  </a:lnTo>
                  <a:lnTo>
                    <a:pt x="269443" y="53660"/>
                  </a:lnTo>
                  <a:lnTo>
                    <a:pt x="293674" y="91165"/>
                  </a:lnTo>
                  <a:lnTo>
                    <a:pt x="302331" y="113659"/>
                  </a:lnTo>
                  <a:lnTo>
                    <a:pt x="308091" y="137891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673303" y="7813466"/>
              <a:ext cx="53975" cy="56515"/>
            </a:xfrm>
            <a:custGeom>
              <a:avLst/>
              <a:gdLst/>
              <a:ahLst/>
              <a:cxnLst/>
              <a:rect l="l" t="t" r="r" b="b"/>
              <a:pathLst>
                <a:path w="53975" h="56515">
                  <a:moveTo>
                    <a:pt x="53660" y="0"/>
                  </a:moveTo>
                  <a:lnTo>
                    <a:pt x="35189" y="6918"/>
                  </a:lnTo>
                  <a:lnTo>
                    <a:pt x="32308" y="7498"/>
                  </a:lnTo>
                  <a:lnTo>
                    <a:pt x="28849" y="8077"/>
                  </a:lnTo>
                  <a:lnTo>
                    <a:pt x="15575" y="8077"/>
                  </a:lnTo>
                  <a:lnTo>
                    <a:pt x="12115" y="7498"/>
                  </a:lnTo>
                  <a:lnTo>
                    <a:pt x="9235" y="6339"/>
                  </a:lnTo>
                  <a:lnTo>
                    <a:pt x="5775" y="5775"/>
                  </a:lnTo>
                  <a:lnTo>
                    <a:pt x="0" y="3459"/>
                  </a:lnTo>
                  <a:lnTo>
                    <a:pt x="30007" y="55961"/>
                  </a:lnTo>
                  <a:lnTo>
                    <a:pt x="5366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012353" y="7684231"/>
              <a:ext cx="274955" cy="167640"/>
            </a:xfrm>
            <a:custGeom>
              <a:avLst/>
              <a:gdLst/>
              <a:ahLst/>
              <a:cxnLst/>
              <a:rect l="l" t="t" r="r" b="b"/>
              <a:pathLst>
                <a:path w="274954" h="167640">
                  <a:moveTo>
                    <a:pt x="0" y="167319"/>
                  </a:moveTo>
                  <a:lnTo>
                    <a:pt x="9799" y="109042"/>
                  </a:lnTo>
                  <a:lnTo>
                    <a:pt x="29992" y="63459"/>
                  </a:lnTo>
                  <a:lnTo>
                    <a:pt x="56540" y="30571"/>
                  </a:lnTo>
                  <a:lnTo>
                    <a:pt x="88849" y="9799"/>
                  </a:lnTo>
                  <a:lnTo>
                    <a:pt x="142509" y="0"/>
                  </a:lnTo>
                  <a:lnTo>
                    <a:pt x="160964" y="2301"/>
                  </a:lnTo>
                  <a:lnTo>
                    <a:pt x="212323" y="25374"/>
                  </a:lnTo>
                  <a:lnTo>
                    <a:pt x="241157" y="53080"/>
                  </a:lnTo>
                  <a:lnTo>
                    <a:pt x="261929" y="90571"/>
                  </a:lnTo>
                  <a:lnTo>
                    <a:pt x="269443" y="113080"/>
                  </a:lnTo>
                  <a:lnTo>
                    <a:pt x="274624" y="137312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259866" y="7807126"/>
              <a:ext cx="53975" cy="55880"/>
            </a:xfrm>
            <a:custGeom>
              <a:avLst/>
              <a:gdLst/>
              <a:ahLst/>
              <a:cxnLst/>
              <a:rect l="l" t="t" r="r" b="b"/>
              <a:pathLst>
                <a:path w="53975" h="55879">
                  <a:moveTo>
                    <a:pt x="53660" y="0"/>
                  </a:moveTo>
                  <a:lnTo>
                    <a:pt x="50764" y="1142"/>
                  </a:lnTo>
                  <a:lnTo>
                    <a:pt x="47304" y="2880"/>
                  </a:lnTo>
                  <a:lnTo>
                    <a:pt x="41544" y="5181"/>
                  </a:lnTo>
                  <a:lnTo>
                    <a:pt x="34610" y="6339"/>
                  </a:lnTo>
                  <a:lnTo>
                    <a:pt x="31729" y="6918"/>
                  </a:lnTo>
                  <a:lnTo>
                    <a:pt x="28270" y="7498"/>
                  </a:lnTo>
                  <a:lnTo>
                    <a:pt x="18455" y="7498"/>
                  </a:lnTo>
                  <a:lnTo>
                    <a:pt x="14996" y="6918"/>
                  </a:lnTo>
                  <a:lnTo>
                    <a:pt x="12694" y="6339"/>
                  </a:lnTo>
                  <a:lnTo>
                    <a:pt x="9235" y="5760"/>
                  </a:lnTo>
                  <a:lnTo>
                    <a:pt x="5775" y="4602"/>
                  </a:lnTo>
                  <a:lnTo>
                    <a:pt x="2880" y="4038"/>
                  </a:lnTo>
                  <a:lnTo>
                    <a:pt x="0" y="2301"/>
                  </a:lnTo>
                  <a:lnTo>
                    <a:pt x="28849" y="55382"/>
                  </a:lnTo>
                  <a:lnTo>
                    <a:pt x="5366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814447" y="7514015"/>
              <a:ext cx="2377440" cy="343535"/>
            </a:xfrm>
            <a:custGeom>
              <a:avLst/>
              <a:gdLst/>
              <a:ahLst/>
              <a:cxnLst/>
              <a:rect l="l" t="t" r="r" b="b"/>
              <a:pathLst>
                <a:path w="2377440" h="343534">
                  <a:moveTo>
                    <a:pt x="0" y="343296"/>
                  </a:moveTo>
                  <a:lnTo>
                    <a:pt x="18470" y="286755"/>
                  </a:lnTo>
                  <a:lnTo>
                    <a:pt x="55961" y="235412"/>
                  </a:lnTo>
                  <a:lnTo>
                    <a:pt x="113080" y="189250"/>
                  </a:lnTo>
                  <a:lnTo>
                    <a:pt x="148285" y="168478"/>
                  </a:lnTo>
                  <a:lnTo>
                    <a:pt x="186933" y="148864"/>
                  </a:lnTo>
                  <a:lnTo>
                    <a:pt x="229636" y="130393"/>
                  </a:lnTo>
                  <a:lnTo>
                    <a:pt x="274640" y="113096"/>
                  </a:lnTo>
                  <a:lnTo>
                    <a:pt x="324261" y="96941"/>
                  </a:lnTo>
                  <a:lnTo>
                    <a:pt x="376763" y="82509"/>
                  </a:lnTo>
                  <a:lnTo>
                    <a:pt x="431566" y="68671"/>
                  </a:lnTo>
                  <a:lnTo>
                    <a:pt x="488685" y="56555"/>
                  </a:lnTo>
                  <a:lnTo>
                    <a:pt x="548700" y="45582"/>
                  </a:lnTo>
                  <a:lnTo>
                    <a:pt x="611002" y="35783"/>
                  </a:lnTo>
                  <a:lnTo>
                    <a:pt x="674476" y="27127"/>
                  </a:lnTo>
                  <a:lnTo>
                    <a:pt x="740816" y="19629"/>
                  </a:lnTo>
                  <a:lnTo>
                    <a:pt x="807750" y="13274"/>
                  </a:lnTo>
                  <a:lnTo>
                    <a:pt x="876406" y="8656"/>
                  </a:lnTo>
                  <a:lnTo>
                    <a:pt x="945641" y="4617"/>
                  </a:lnTo>
                  <a:lnTo>
                    <a:pt x="1016035" y="1737"/>
                  </a:lnTo>
                  <a:lnTo>
                    <a:pt x="1086429" y="0"/>
                  </a:lnTo>
                  <a:lnTo>
                    <a:pt x="1157386" y="0"/>
                  </a:lnTo>
                  <a:lnTo>
                    <a:pt x="1228938" y="579"/>
                  </a:lnTo>
                  <a:lnTo>
                    <a:pt x="1299331" y="2316"/>
                  </a:lnTo>
                  <a:lnTo>
                    <a:pt x="1370289" y="5196"/>
                  </a:lnTo>
                  <a:lnTo>
                    <a:pt x="1440682" y="9235"/>
                  </a:lnTo>
                  <a:lnTo>
                    <a:pt x="1509339" y="14432"/>
                  </a:lnTo>
                  <a:lnTo>
                    <a:pt x="1577995" y="20772"/>
                  </a:lnTo>
                  <a:lnTo>
                    <a:pt x="1645508" y="27706"/>
                  </a:lnTo>
                  <a:lnTo>
                    <a:pt x="1711284" y="36362"/>
                  </a:lnTo>
                  <a:lnTo>
                    <a:pt x="1774743" y="45582"/>
                  </a:lnTo>
                  <a:lnTo>
                    <a:pt x="1836480" y="55976"/>
                  </a:lnTo>
                  <a:lnTo>
                    <a:pt x="1896480" y="67513"/>
                  </a:lnTo>
                  <a:lnTo>
                    <a:pt x="1953600" y="80208"/>
                  </a:lnTo>
                  <a:lnTo>
                    <a:pt x="2008997" y="94046"/>
                  </a:lnTo>
                  <a:lnTo>
                    <a:pt x="2060920" y="108478"/>
                  </a:lnTo>
                  <a:lnTo>
                    <a:pt x="2109962" y="124053"/>
                  </a:lnTo>
                  <a:lnTo>
                    <a:pt x="2155545" y="140787"/>
                  </a:lnTo>
                  <a:lnTo>
                    <a:pt x="2197653" y="158099"/>
                  </a:lnTo>
                  <a:lnTo>
                    <a:pt x="2236317" y="176555"/>
                  </a:lnTo>
                  <a:lnTo>
                    <a:pt x="2271506" y="196169"/>
                  </a:lnTo>
                  <a:lnTo>
                    <a:pt x="2328047" y="237713"/>
                  </a:lnTo>
                  <a:lnTo>
                    <a:pt x="2365552" y="283875"/>
                  </a:lnTo>
                  <a:lnTo>
                    <a:pt x="2377089" y="308107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162107" y="7804231"/>
              <a:ext cx="53975" cy="58419"/>
            </a:xfrm>
            <a:custGeom>
              <a:avLst/>
              <a:gdLst/>
              <a:ahLst/>
              <a:cxnLst/>
              <a:rect l="l" t="t" r="r" b="b"/>
              <a:pathLst>
                <a:path w="53975" h="58420">
                  <a:moveTo>
                    <a:pt x="53660" y="0"/>
                  </a:moveTo>
                  <a:lnTo>
                    <a:pt x="42123" y="6934"/>
                  </a:lnTo>
                  <a:lnTo>
                    <a:pt x="39242" y="8077"/>
                  </a:lnTo>
                  <a:lnTo>
                    <a:pt x="35783" y="9235"/>
                  </a:lnTo>
                  <a:lnTo>
                    <a:pt x="32887" y="9814"/>
                  </a:lnTo>
                  <a:lnTo>
                    <a:pt x="29428" y="10972"/>
                  </a:lnTo>
                  <a:lnTo>
                    <a:pt x="26548" y="11536"/>
                  </a:lnTo>
                  <a:lnTo>
                    <a:pt x="23088" y="12115"/>
                  </a:lnTo>
                  <a:lnTo>
                    <a:pt x="13274" y="12115"/>
                  </a:lnTo>
                  <a:lnTo>
                    <a:pt x="6355" y="10972"/>
                  </a:lnTo>
                  <a:lnTo>
                    <a:pt x="3474" y="10393"/>
                  </a:lnTo>
                  <a:lnTo>
                    <a:pt x="0" y="9814"/>
                  </a:lnTo>
                  <a:lnTo>
                    <a:pt x="36362" y="58277"/>
                  </a:lnTo>
                  <a:lnTo>
                    <a:pt x="5366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393719" y="7505375"/>
              <a:ext cx="2391410" cy="353695"/>
            </a:xfrm>
            <a:custGeom>
              <a:avLst/>
              <a:gdLst/>
              <a:ahLst/>
              <a:cxnLst/>
              <a:rect l="l" t="t" r="r" b="b"/>
              <a:pathLst>
                <a:path w="2391410" h="353695">
                  <a:moveTo>
                    <a:pt x="0" y="353674"/>
                  </a:moveTo>
                  <a:lnTo>
                    <a:pt x="17891" y="295396"/>
                  </a:lnTo>
                  <a:lnTo>
                    <a:pt x="56540" y="242895"/>
                  </a:lnTo>
                  <a:lnTo>
                    <a:pt x="113659" y="195590"/>
                  </a:lnTo>
                  <a:lnTo>
                    <a:pt x="148864" y="174238"/>
                  </a:lnTo>
                  <a:lnTo>
                    <a:pt x="187512" y="154045"/>
                  </a:lnTo>
                  <a:lnTo>
                    <a:pt x="230794" y="134995"/>
                  </a:lnTo>
                  <a:lnTo>
                    <a:pt x="276941" y="117119"/>
                  </a:lnTo>
                  <a:lnTo>
                    <a:pt x="325983" y="100964"/>
                  </a:lnTo>
                  <a:lnTo>
                    <a:pt x="378485" y="85389"/>
                  </a:lnTo>
                  <a:lnTo>
                    <a:pt x="434461" y="71536"/>
                  </a:lnTo>
                  <a:lnTo>
                    <a:pt x="492145" y="58841"/>
                  </a:lnTo>
                  <a:lnTo>
                    <a:pt x="552160" y="47884"/>
                  </a:lnTo>
                  <a:lnTo>
                    <a:pt x="615040" y="37490"/>
                  </a:lnTo>
                  <a:lnTo>
                    <a:pt x="679658" y="28834"/>
                  </a:lnTo>
                  <a:lnTo>
                    <a:pt x="745434" y="20756"/>
                  </a:lnTo>
                  <a:lnTo>
                    <a:pt x="813526" y="14417"/>
                  </a:lnTo>
                  <a:lnTo>
                    <a:pt x="882182" y="9220"/>
                  </a:lnTo>
                  <a:lnTo>
                    <a:pt x="951997" y="5181"/>
                  </a:lnTo>
                  <a:lnTo>
                    <a:pt x="1022375" y="2301"/>
                  </a:lnTo>
                  <a:lnTo>
                    <a:pt x="1093927" y="563"/>
                  </a:lnTo>
                  <a:lnTo>
                    <a:pt x="1164884" y="0"/>
                  </a:lnTo>
                  <a:lnTo>
                    <a:pt x="1237015" y="1142"/>
                  </a:lnTo>
                  <a:lnTo>
                    <a:pt x="1308552" y="2880"/>
                  </a:lnTo>
                  <a:lnTo>
                    <a:pt x="1379524" y="5760"/>
                  </a:lnTo>
                  <a:lnTo>
                    <a:pt x="1450482" y="9799"/>
                  </a:lnTo>
                  <a:lnTo>
                    <a:pt x="1520296" y="14996"/>
                  </a:lnTo>
                  <a:lnTo>
                    <a:pt x="1588388" y="21335"/>
                  </a:lnTo>
                  <a:lnTo>
                    <a:pt x="1656466" y="28834"/>
                  </a:lnTo>
                  <a:lnTo>
                    <a:pt x="1722241" y="37490"/>
                  </a:lnTo>
                  <a:lnTo>
                    <a:pt x="1786280" y="47304"/>
                  </a:lnTo>
                  <a:lnTo>
                    <a:pt x="1849175" y="57683"/>
                  </a:lnTo>
                  <a:lnTo>
                    <a:pt x="1909175" y="69799"/>
                  </a:lnTo>
                  <a:lnTo>
                    <a:pt x="1967453" y="82494"/>
                  </a:lnTo>
                  <a:lnTo>
                    <a:pt x="2022256" y="96347"/>
                  </a:lnTo>
                  <a:lnTo>
                    <a:pt x="2074758" y="111343"/>
                  </a:lnTo>
                  <a:lnTo>
                    <a:pt x="2123800" y="127497"/>
                  </a:lnTo>
                  <a:lnTo>
                    <a:pt x="2169962" y="144810"/>
                  </a:lnTo>
                  <a:lnTo>
                    <a:pt x="2212085" y="162702"/>
                  </a:lnTo>
                  <a:lnTo>
                    <a:pt x="2250734" y="181157"/>
                  </a:lnTo>
                  <a:lnTo>
                    <a:pt x="2285359" y="201350"/>
                  </a:lnTo>
                  <a:lnTo>
                    <a:pt x="2342479" y="244632"/>
                  </a:lnTo>
                  <a:lnTo>
                    <a:pt x="2380548" y="291937"/>
                  </a:lnTo>
                  <a:lnTo>
                    <a:pt x="2390942" y="316748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756391" y="7804231"/>
              <a:ext cx="53340" cy="58419"/>
            </a:xfrm>
            <a:custGeom>
              <a:avLst/>
              <a:gdLst/>
              <a:ahLst/>
              <a:cxnLst/>
              <a:rect l="l" t="t" r="r" b="b"/>
              <a:pathLst>
                <a:path w="53339" h="58420">
                  <a:moveTo>
                    <a:pt x="53080" y="0"/>
                  </a:moveTo>
                  <a:lnTo>
                    <a:pt x="50185" y="2316"/>
                  </a:lnTo>
                  <a:lnTo>
                    <a:pt x="47304" y="4038"/>
                  </a:lnTo>
                  <a:lnTo>
                    <a:pt x="44424" y="5196"/>
                  </a:lnTo>
                  <a:lnTo>
                    <a:pt x="41544" y="6934"/>
                  </a:lnTo>
                  <a:lnTo>
                    <a:pt x="38648" y="8077"/>
                  </a:lnTo>
                  <a:lnTo>
                    <a:pt x="35189" y="9235"/>
                  </a:lnTo>
                  <a:lnTo>
                    <a:pt x="32308" y="9814"/>
                  </a:lnTo>
                  <a:lnTo>
                    <a:pt x="28849" y="10972"/>
                  </a:lnTo>
                  <a:lnTo>
                    <a:pt x="26532" y="11536"/>
                  </a:lnTo>
                  <a:lnTo>
                    <a:pt x="23073" y="11536"/>
                  </a:lnTo>
                  <a:lnTo>
                    <a:pt x="19613" y="12115"/>
                  </a:lnTo>
                  <a:lnTo>
                    <a:pt x="13258" y="12115"/>
                  </a:lnTo>
                  <a:lnTo>
                    <a:pt x="6339" y="10972"/>
                  </a:lnTo>
                  <a:lnTo>
                    <a:pt x="3459" y="10393"/>
                  </a:lnTo>
                  <a:lnTo>
                    <a:pt x="0" y="9235"/>
                  </a:lnTo>
                  <a:lnTo>
                    <a:pt x="35768" y="58277"/>
                  </a:lnTo>
                  <a:lnTo>
                    <a:pt x="5308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724320" y="7640949"/>
              <a:ext cx="1003935" cy="210820"/>
            </a:xfrm>
            <a:custGeom>
              <a:avLst/>
              <a:gdLst/>
              <a:ahLst/>
              <a:cxnLst/>
              <a:rect l="l" t="t" r="r" b="b"/>
              <a:pathLst>
                <a:path w="1003935" h="210820">
                  <a:moveTo>
                    <a:pt x="0" y="210601"/>
                  </a:moveTo>
                  <a:lnTo>
                    <a:pt x="14417" y="159821"/>
                  </a:lnTo>
                  <a:lnTo>
                    <a:pt x="47304" y="116555"/>
                  </a:lnTo>
                  <a:lnTo>
                    <a:pt x="95204" y="80208"/>
                  </a:lnTo>
                  <a:lnTo>
                    <a:pt x="155783" y="50779"/>
                  </a:lnTo>
                  <a:lnTo>
                    <a:pt x="226176" y="28849"/>
                  </a:lnTo>
                  <a:lnTo>
                    <a:pt x="264825" y="19613"/>
                  </a:lnTo>
                  <a:lnTo>
                    <a:pt x="305211" y="12694"/>
                  </a:lnTo>
                  <a:lnTo>
                    <a:pt x="347334" y="6934"/>
                  </a:lnTo>
                  <a:lnTo>
                    <a:pt x="389458" y="2895"/>
                  </a:lnTo>
                  <a:lnTo>
                    <a:pt x="433303" y="579"/>
                  </a:lnTo>
                  <a:lnTo>
                    <a:pt x="477728" y="0"/>
                  </a:lnTo>
                  <a:lnTo>
                    <a:pt x="522152" y="579"/>
                  </a:lnTo>
                  <a:lnTo>
                    <a:pt x="565998" y="2895"/>
                  </a:lnTo>
                  <a:lnTo>
                    <a:pt x="609843" y="6355"/>
                  </a:lnTo>
                  <a:lnTo>
                    <a:pt x="652546" y="11536"/>
                  </a:lnTo>
                  <a:lnTo>
                    <a:pt x="694669" y="18470"/>
                  </a:lnTo>
                  <a:lnTo>
                    <a:pt x="735634" y="26548"/>
                  </a:lnTo>
                  <a:lnTo>
                    <a:pt x="774862" y="35768"/>
                  </a:lnTo>
                  <a:lnTo>
                    <a:pt x="846399" y="58277"/>
                  </a:lnTo>
                  <a:lnTo>
                    <a:pt x="908715" y="87127"/>
                  </a:lnTo>
                  <a:lnTo>
                    <a:pt x="957757" y="120594"/>
                  </a:lnTo>
                  <a:lnTo>
                    <a:pt x="992383" y="159821"/>
                  </a:lnTo>
                  <a:lnTo>
                    <a:pt x="1003340" y="181173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698232" y="7804231"/>
              <a:ext cx="53340" cy="58419"/>
            </a:xfrm>
            <a:custGeom>
              <a:avLst/>
              <a:gdLst/>
              <a:ahLst/>
              <a:cxnLst/>
              <a:rect l="l" t="t" r="r" b="b"/>
              <a:pathLst>
                <a:path w="53339" h="58420">
                  <a:moveTo>
                    <a:pt x="53080" y="0"/>
                  </a:moveTo>
                  <a:lnTo>
                    <a:pt x="23088" y="12115"/>
                  </a:lnTo>
                  <a:lnTo>
                    <a:pt x="9814" y="12115"/>
                  </a:lnTo>
                  <a:lnTo>
                    <a:pt x="6934" y="11536"/>
                  </a:lnTo>
                  <a:lnTo>
                    <a:pt x="3459" y="10972"/>
                  </a:lnTo>
                  <a:lnTo>
                    <a:pt x="0" y="9814"/>
                  </a:lnTo>
                  <a:lnTo>
                    <a:pt x="36926" y="58277"/>
                  </a:lnTo>
                  <a:lnTo>
                    <a:pt x="5308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335322" y="7687111"/>
              <a:ext cx="518159" cy="170815"/>
            </a:xfrm>
            <a:custGeom>
              <a:avLst/>
              <a:gdLst/>
              <a:ahLst/>
              <a:cxnLst/>
              <a:rect l="l" t="t" r="r" b="b"/>
              <a:pathLst>
                <a:path w="518160" h="170815">
                  <a:moveTo>
                    <a:pt x="0" y="170200"/>
                  </a:moveTo>
                  <a:lnTo>
                    <a:pt x="11536" y="120014"/>
                  </a:lnTo>
                  <a:lnTo>
                    <a:pt x="36926" y="79049"/>
                  </a:lnTo>
                  <a:lnTo>
                    <a:pt x="73853" y="46725"/>
                  </a:lnTo>
                  <a:lnTo>
                    <a:pt x="120014" y="23073"/>
                  </a:lnTo>
                  <a:lnTo>
                    <a:pt x="172516" y="7498"/>
                  </a:lnTo>
                  <a:lnTo>
                    <a:pt x="227898" y="579"/>
                  </a:lnTo>
                  <a:lnTo>
                    <a:pt x="256748" y="0"/>
                  </a:lnTo>
                  <a:lnTo>
                    <a:pt x="286176" y="1158"/>
                  </a:lnTo>
                  <a:lnTo>
                    <a:pt x="342717" y="9235"/>
                  </a:lnTo>
                  <a:lnTo>
                    <a:pt x="395798" y="25389"/>
                  </a:lnTo>
                  <a:lnTo>
                    <a:pt x="442539" y="47884"/>
                  </a:lnTo>
                  <a:lnTo>
                    <a:pt x="481187" y="77891"/>
                  </a:lnTo>
                  <a:lnTo>
                    <a:pt x="508878" y="114239"/>
                  </a:lnTo>
                  <a:lnTo>
                    <a:pt x="517535" y="135011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824008" y="7804810"/>
              <a:ext cx="53975" cy="57785"/>
            </a:xfrm>
            <a:custGeom>
              <a:avLst/>
              <a:gdLst/>
              <a:ahLst/>
              <a:cxnLst/>
              <a:rect l="l" t="t" r="r" b="b"/>
              <a:pathLst>
                <a:path w="53975" h="57784">
                  <a:moveTo>
                    <a:pt x="53660" y="0"/>
                  </a:moveTo>
                  <a:lnTo>
                    <a:pt x="45003" y="5196"/>
                  </a:lnTo>
                  <a:lnTo>
                    <a:pt x="42123" y="6355"/>
                  </a:lnTo>
                  <a:lnTo>
                    <a:pt x="38663" y="7498"/>
                  </a:lnTo>
                  <a:lnTo>
                    <a:pt x="35783" y="8656"/>
                  </a:lnTo>
                  <a:lnTo>
                    <a:pt x="32308" y="9235"/>
                  </a:lnTo>
                  <a:lnTo>
                    <a:pt x="29428" y="10393"/>
                  </a:lnTo>
                  <a:lnTo>
                    <a:pt x="25968" y="10393"/>
                  </a:lnTo>
                  <a:lnTo>
                    <a:pt x="22509" y="10957"/>
                  </a:lnTo>
                  <a:lnTo>
                    <a:pt x="12694" y="10957"/>
                  </a:lnTo>
                  <a:lnTo>
                    <a:pt x="9814" y="10393"/>
                  </a:lnTo>
                  <a:lnTo>
                    <a:pt x="2895" y="9235"/>
                  </a:lnTo>
                  <a:lnTo>
                    <a:pt x="0" y="8077"/>
                  </a:lnTo>
                  <a:lnTo>
                    <a:pt x="35204" y="57698"/>
                  </a:lnTo>
                  <a:lnTo>
                    <a:pt x="5366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357490" y="7425166"/>
              <a:ext cx="2599055" cy="426720"/>
            </a:xfrm>
            <a:custGeom>
              <a:avLst/>
              <a:gdLst/>
              <a:ahLst/>
              <a:cxnLst/>
              <a:rect l="l" t="t" r="r" b="b"/>
              <a:pathLst>
                <a:path w="2599054" h="426720">
                  <a:moveTo>
                    <a:pt x="0" y="426384"/>
                  </a:moveTo>
                  <a:lnTo>
                    <a:pt x="19049" y="358292"/>
                  </a:lnTo>
                  <a:lnTo>
                    <a:pt x="58856" y="296555"/>
                  </a:lnTo>
                  <a:lnTo>
                    <a:pt x="84810" y="267721"/>
                  </a:lnTo>
                  <a:lnTo>
                    <a:pt x="116555" y="241172"/>
                  </a:lnTo>
                  <a:lnTo>
                    <a:pt x="152323" y="215783"/>
                  </a:lnTo>
                  <a:lnTo>
                    <a:pt x="192130" y="191551"/>
                  </a:lnTo>
                  <a:lnTo>
                    <a:pt x="235976" y="169057"/>
                  </a:lnTo>
                  <a:lnTo>
                    <a:pt x="283296" y="147706"/>
                  </a:lnTo>
                  <a:lnTo>
                    <a:pt x="333481" y="128092"/>
                  </a:lnTo>
                  <a:lnTo>
                    <a:pt x="387720" y="109621"/>
                  </a:lnTo>
                  <a:lnTo>
                    <a:pt x="444840" y="92887"/>
                  </a:lnTo>
                  <a:lnTo>
                    <a:pt x="503697" y="77312"/>
                  </a:lnTo>
                  <a:lnTo>
                    <a:pt x="565998" y="63474"/>
                  </a:lnTo>
                  <a:lnTo>
                    <a:pt x="630631" y="50779"/>
                  </a:lnTo>
                  <a:lnTo>
                    <a:pt x="696970" y="39806"/>
                  </a:lnTo>
                  <a:lnTo>
                    <a:pt x="765063" y="30586"/>
                  </a:lnTo>
                  <a:lnTo>
                    <a:pt x="834862" y="21930"/>
                  </a:lnTo>
                  <a:lnTo>
                    <a:pt x="906414" y="15011"/>
                  </a:lnTo>
                  <a:lnTo>
                    <a:pt x="978529" y="9235"/>
                  </a:lnTo>
                  <a:lnTo>
                    <a:pt x="1052382" y="4617"/>
                  </a:lnTo>
                  <a:lnTo>
                    <a:pt x="1126235" y="1737"/>
                  </a:lnTo>
                  <a:lnTo>
                    <a:pt x="1201247" y="0"/>
                  </a:lnTo>
                  <a:lnTo>
                    <a:pt x="1276243" y="0"/>
                  </a:lnTo>
                  <a:lnTo>
                    <a:pt x="1350675" y="579"/>
                  </a:lnTo>
                  <a:lnTo>
                    <a:pt x="1426250" y="2880"/>
                  </a:lnTo>
                  <a:lnTo>
                    <a:pt x="1500682" y="6918"/>
                  </a:lnTo>
                  <a:lnTo>
                    <a:pt x="1574535" y="11536"/>
                  </a:lnTo>
                  <a:lnTo>
                    <a:pt x="1647809" y="17891"/>
                  </a:lnTo>
                  <a:lnTo>
                    <a:pt x="1719925" y="24810"/>
                  </a:lnTo>
                  <a:lnTo>
                    <a:pt x="1790318" y="33467"/>
                  </a:lnTo>
                  <a:lnTo>
                    <a:pt x="1860133" y="43281"/>
                  </a:lnTo>
                  <a:lnTo>
                    <a:pt x="1928210" y="54239"/>
                  </a:lnTo>
                  <a:lnTo>
                    <a:pt x="1993407" y="66354"/>
                  </a:lnTo>
                  <a:lnTo>
                    <a:pt x="2056881" y="80208"/>
                  </a:lnTo>
                  <a:lnTo>
                    <a:pt x="2118619" y="94625"/>
                  </a:lnTo>
                  <a:lnTo>
                    <a:pt x="2176881" y="110779"/>
                  </a:lnTo>
                  <a:lnTo>
                    <a:pt x="2232858" y="128092"/>
                  </a:lnTo>
                  <a:lnTo>
                    <a:pt x="2285938" y="145968"/>
                  </a:lnTo>
                  <a:lnTo>
                    <a:pt x="2335545" y="165597"/>
                  </a:lnTo>
                  <a:lnTo>
                    <a:pt x="2381128" y="186354"/>
                  </a:lnTo>
                  <a:lnTo>
                    <a:pt x="2423830" y="208285"/>
                  </a:lnTo>
                  <a:lnTo>
                    <a:pt x="2462479" y="230794"/>
                  </a:lnTo>
                  <a:lnTo>
                    <a:pt x="2496525" y="255026"/>
                  </a:lnTo>
                  <a:lnTo>
                    <a:pt x="2527096" y="279836"/>
                  </a:lnTo>
                  <a:lnTo>
                    <a:pt x="2573258" y="333481"/>
                  </a:lnTo>
                  <a:lnTo>
                    <a:pt x="2588833" y="361751"/>
                  </a:lnTo>
                  <a:lnTo>
                    <a:pt x="2598648" y="391180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927869" y="7799613"/>
              <a:ext cx="53340" cy="57785"/>
            </a:xfrm>
            <a:custGeom>
              <a:avLst/>
              <a:gdLst/>
              <a:ahLst/>
              <a:cxnLst/>
              <a:rect l="l" t="t" r="r" b="b"/>
              <a:pathLst>
                <a:path w="53339" h="57784">
                  <a:moveTo>
                    <a:pt x="53080" y="0"/>
                  </a:moveTo>
                  <a:lnTo>
                    <a:pt x="25389" y="10393"/>
                  </a:lnTo>
                  <a:lnTo>
                    <a:pt x="12694" y="10393"/>
                  </a:lnTo>
                  <a:lnTo>
                    <a:pt x="9799" y="9814"/>
                  </a:lnTo>
                  <a:lnTo>
                    <a:pt x="6339" y="9235"/>
                  </a:lnTo>
                  <a:lnTo>
                    <a:pt x="3459" y="8077"/>
                  </a:lnTo>
                  <a:lnTo>
                    <a:pt x="0" y="6934"/>
                  </a:lnTo>
                  <a:lnTo>
                    <a:pt x="33467" y="57698"/>
                  </a:lnTo>
                  <a:lnTo>
                    <a:pt x="5308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/>
          <p:cNvSpPr txBox="1"/>
          <p:nvPr/>
        </p:nvSpPr>
        <p:spPr>
          <a:xfrm>
            <a:off x="901699" y="8039626"/>
            <a:ext cx="5534660" cy="9436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342390">
              <a:lnSpc>
                <a:spcPct val="100000"/>
              </a:lnSpc>
              <a:spcBef>
                <a:spcPts val="105"/>
              </a:spcBef>
              <a:tabLst>
                <a:tab pos="1796414" algn="l"/>
                <a:tab pos="2229485" algn="l"/>
                <a:tab pos="2790825" algn="l"/>
                <a:tab pos="3355340" algn="l"/>
                <a:tab pos="3791585" algn="l"/>
                <a:tab pos="4266565" algn="l"/>
                <a:tab pos="4751070" algn="l"/>
              </a:tabLst>
            </a:pPr>
            <a:r>
              <a:rPr dirty="0" sz="900">
                <a:solidFill>
                  <a:srgbClr val="FFFF00"/>
                </a:solidFill>
                <a:latin typeface="Arial"/>
                <a:cs typeface="Arial"/>
              </a:rPr>
              <a:t>15/16	11/14	12/13	1/10	2/9	</a:t>
            </a:r>
            <a:r>
              <a:rPr dirty="0" baseline="3086" sz="1350">
                <a:solidFill>
                  <a:srgbClr val="FFFF00"/>
                </a:solidFill>
                <a:latin typeface="Arial"/>
                <a:cs typeface="Arial"/>
              </a:rPr>
              <a:t>7/8	</a:t>
            </a:r>
            <a:r>
              <a:rPr dirty="0" sz="900">
                <a:solidFill>
                  <a:srgbClr val="FFFF00"/>
                </a:solidFill>
                <a:latin typeface="Arial"/>
                <a:cs typeface="Arial"/>
              </a:rPr>
              <a:t>3/6	4/5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Arial"/>
              <a:cs typeface="Arial"/>
            </a:endParaRPr>
          </a:p>
          <a:p>
            <a:pPr marL="1466215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 8.31: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Topological</a:t>
            </a:r>
            <a:r>
              <a:rPr dirty="0" sz="1200" spc="-5">
                <a:latin typeface="Times New Roman"/>
                <a:cs typeface="Times New Roman"/>
              </a:rPr>
              <a:t> sort of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dressing up sequence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This is a typical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DFS used in applications.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Θ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V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E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6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4400" y="2739745"/>
            <a:ext cx="6017260" cy="139065"/>
          </a:xfrm>
          <a:custGeom>
            <a:avLst/>
            <a:gdLst/>
            <a:ahLst/>
            <a:cxnLst/>
            <a:rect l="l" t="t" r="r" b="b"/>
            <a:pathLst>
              <a:path w="6017259" h="139064">
                <a:moveTo>
                  <a:pt x="6016866" y="0"/>
                </a:moveTo>
                <a:lnTo>
                  <a:pt x="0" y="0"/>
                </a:lnTo>
                <a:lnTo>
                  <a:pt x="0" y="138620"/>
                </a:lnTo>
                <a:lnTo>
                  <a:pt x="6016866" y="138620"/>
                </a:lnTo>
                <a:lnTo>
                  <a:pt x="6016866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412603"/>
            <a:ext cx="2378710" cy="735330"/>
          </a:xfrm>
          <a:prstGeom prst="rect">
            <a:avLst/>
          </a:prstGeom>
        </p:spPr>
        <p:txBody>
          <a:bodyPr wrap="square" lIns="0" tIns="1225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65"/>
              </a:spcBef>
            </a:pPr>
            <a:r>
              <a:rPr dirty="0" sz="1200" spc="-10">
                <a:latin typeface="Times New Roman"/>
                <a:cs typeface="Times New Roman"/>
              </a:rPr>
              <a:t>8.4.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STRONG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COMPONENTS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8.4	</a:t>
            </a:r>
            <a:r>
              <a:rPr dirty="0" sz="1700" b="1">
                <a:latin typeface="Times New Roman"/>
                <a:cs typeface="Times New Roman"/>
              </a:rPr>
              <a:t>Strong</a:t>
            </a:r>
            <a:r>
              <a:rPr dirty="0" sz="1700" spc="-3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Components</a:t>
            </a:r>
            <a:endParaRPr sz="17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13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699" y="1882002"/>
            <a:ext cx="6418580" cy="16230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48895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connectivity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digraphs.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diagraphs</a:t>
            </a:r>
            <a:r>
              <a:rPr dirty="0" sz="1200" spc="-5">
                <a:latin typeface="Times New Roman"/>
                <a:cs typeface="Times New Roman"/>
              </a:rPr>
              <a:t>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 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communication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transportation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networks,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people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networks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complete</a:t>
            </a:r>
            <a:r>
              <a:rPr dirty="0" sz="1200" spc="-5">
                <a:latin typeface="Times New Roman"/>
                <a:cs typeface="Times New Roman"/>
              </a:rPr>
              <a:t>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Complete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sense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location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network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reach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location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digraph.</a:t>
            </a:r>
            <a:endParaRPr sz="1200">
              <a:latin typeface="Times New Roman"/>
              <a:cs typeface="Times New Roman"/>
            </a:endParaRPr>
          </a:p>
          <a:p>
            <a:pPr marL="12700" marR="5080" indent="-635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digraph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5" i="1">
                <a:latin typeface="Times New Roman"/>
                <a:cs typeface="Times New Roman"/>
              </a:rPr>
              <a:t>strongly </a:t>
            </a:r>
            <a:r>
              <a:rPr dirty="0" sz="1200" spc="-5" i="1">
                <a:latin typeface="Times New Roman"/>
                <a:cs typeface="Times New Roman"/>
              </a:rPr>
              <a:t>connected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15">
                <a:latin typeface="Times New Roman"/>
                <a:cs typeface="Times New Roman"/>
              </a:rPr>
              <a:t>every </a:t>
            </a:r>
            <a:r>
              <a:rPr dirty="0" sz="1200" spc="-5">
                <a:latin typeface="Times New Roman"/>
                <a:cs typeface="Times New Roman"/>
              </a:rPr>
              <a:t>pair of </a:t>
            </a:r>
            <a:r>
              <a:rPr dirty="0" sz="1200" spc="-10">
                <a:latin typeface="Times New Roman"/>
                <a:cs typeface="Times New Roman"/>
              </a:rPr>
              <a:t>vertices </a:t>
            </a:r>
            <a:r>
              <a:rPr dirty="0" sz="1200" spc="-15">
                <a:latin typeface="Lucida Sans Unicode"/>
                <a:cs typeface="Lucida Sans Unicode"/>
              </a:rPr>
              <a:t>u, </a:t>
            </a:r>
            <a:r>
              <a:rPr dirty="0" sz="1200" spc="-30">
                <a:latin typeface="Lucida Sans Unicode"/>
                <a:cs typeface="Lucida Sans Unicode"/>
              </a:rPr>
              <a:t>v </a:t>
            </a:r>
            <a:r>
              <a:rPr dirty="0" sz="1200" spc="-65">
                <a:latin typeface="Segoe UI Symbol"/>
                <a:cs typeface="Segoe UI Symbol"/>
              </a:rPr>
              <a:t>∈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Times New Roman"/>
                <a:cs typeface="Times New Roman"/>
              </a:rPr>
              <a:t>, </a:t>
            </a:r>
            <a:r>
              <a:rPr dirty="0" sz="1200" spc="20">
                <a:latin typeface="Lucida Sans Unicode"/>
                <a:cs typeface="Lucida Sans Unicode"/>
              </a:rPr>
              <a:t>u </a:t>
            </a:r>
            <a:r>
              <a:rPr dirty="0" sz="1200" spc="-5">
                <a:latin typeface="Times New Roman"/>
                <a:cs typeface="Times New Roman"/>
              </a:rPr>
              <a:t>can reach </a:t>
            </a:r>
            <a:r>
              <a:rPr dirty="0" sz="1200" spc="-30">
                <a:latin typeface="Lucida Sans Unicode"/>
                <a:cs typeface="Lucida Sans Unicode"/>
              </a:rPr>
              <a:t>v </a:t>
            </a:r>
            <a:r>
              <a:rPr dirty="0" sz="1200" spc="-5">
                <a:latin typeface="Times New Roman"/>
                <a:cs typeface="Times New Roman"/>
              </a:rPr>
              <a:t>and vice </a:t>
            </a:r>
            <a:r>
              <a:rPr dirty="0" sz="1200" spc="-10">
                <a:latin typeface="Times New Roman"/>
                <a:cs typeface="Times New Roman"/>
              </a:rPr>
              <a:t>versa.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write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determines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strongly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fact,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generalization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strongly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connected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components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subsets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induced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subgraph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01707" y="3480485"/>
            <a:ext cx="1214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strongly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connected.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50554" y="3539642"/>
            <a:ext cx="495554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say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mutually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reachable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14412" y="3723094"/>
            <a:ext cx="35623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304820" y="3663937"/>
            <a:ext cx="59131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8.32.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strong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illustrated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8.33.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2273807" y="6086546"/>
            <a:ext cx="3642995" cy="2590800"/>
            <a:chOff x="2273807" y="6086546"/>
            <a:chExt cx="3642995" cy="2590800"/>
          </a:xfrm>
        </p:grpSpPr>
        <p:sp>
          <p:nvSpPr>
            <p:cNvPr id="11" name="object 11"/>
            <p:cNvSpPr/>
            <p:nvPr/>
          </p:nvSpPr>
          <p:spPr>
            <a:xfrm>
              <a:off x="2273807" y="6086546"/>
              <a:ext cx="3642995" cy="2590800"/>
            </a:xfrm>
            <a:custGeom>
              <a:avLst/>
              <a:gdLst/>
              <a:ahLst/>
              <a:cxnLst/>
              <a:rect l="l" t="t" r="r" b="b"/>
              <a:pathLst>
                <a:path w="3642995" h="2590800">
                  <a:moveTo>
                    <a:pt x="3642969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642969" y="2590601"/>
                  </a:lnTo>
                  <a:lnTo>
                    <a:pt x="3642969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27651" y="6145693"/>
              <a:ext cx="3527494" cy="2157997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515729" y="7202437"/>
            <a:ext cx="111760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521190" y="7808671"/>
            <a:ext cx="104139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0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006746" y="8008696"/>
            <a:ext cx="119380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05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507837" y="7472095"/>
            <a:ext cx="96520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05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563669" y="6172924"/>
            <a:ext cx="111760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0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045509" y="6630340"/>
            <a:ext cx="104139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062042" y="6634429"/>
            <a:ext cx="104139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05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944768" y="8062632"/>
            <a:ext cx="50800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050" spc="5">
                <a:solidFill>
                  <a:srgbClr val="FFFF00"/>
                </a:solidFill>
                <a:latin typeface="Arial"/>
                <a:cs typeface="Arial"/>
              </a:rPr>
              <a:t>I</a:t>
            </a:r>
            <a:endParaRPr sz="10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560553" y="7498727"/>
            <a:ext cx="111760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H</a:t>
            </a:r>
            <a:endParaRPr sz="105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197299" y="8359665"/>
            <a:ext cx="1835150" cy="591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621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FFF00"/>
                </a:solidFill>
                <a:latin typeface="Arial"/>
                <a:cs typeface="Arial"/>
              </a:rPr>
              <a:t>Digraph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90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8.32: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13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279903" y="938474"/>
            <a:ext cx="3633470" cy="2590800"/>
            <a:chOff x="2279903" y="938474"/>
            <a:chExt cx="3633470" cy="2590800"/>
          </a:xfrm>
        </p:grpSpPr>
        <p:sp>
          <p:nvSpPr>
            <p:cNvPr id="5" name="object 5"/>
            <p:cNvSpPr/>
            <p:nvPr/>
          </p:nvSpPr>
          <p:spPr>
            <a:xfrm>
              <a:off x="2279903" y="938474"/>
              <a:ext cx="3633470" cy="2590800"/>
            </a:xfrm>
            <a:custGeom>
              <a:avLst/>
              <a:gdLst/>
              <a:ahLst/>
              <a:cxnLst/>
              <a:rect l="l" t="t" r="r" b="b"/>
              <a:pathLst>
                <a:path w="3633470" h="2590800">
                  <a:moveTo>
                    <a:pt x="3633474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633474" y="2590601"/>
                  </a:lnTo>
                  <a:lnTo>
                    <a:pt x="3633474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28269" y="990711"/>
              <a:ext cx="3521426" cy="2193489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2594291" y="1973921"/>
            <a:ext cx="98425" cy="1676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900" spc="2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9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599079" y="2504984"/>
            <a:ext cx="92075" cy="1676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900" spc="20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9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900689" y="2680409"/>
            <a:ext cx="105410" cy="1676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900" spc="2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9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340147" y="2209811"/>
            <a:ext cx="85725" cy="1676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900" spc="20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9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512120" y="1071066"/>
            <a:ext cx="98425" cy="1676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900" spc="20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9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057701" y="1472195"/>
            <a:ext cx="92075" cy="1676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900" spc="2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9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949177" y="1475790"/>
            <a:ext cx="92075" cy="1676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900" spc="2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9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723318" y="2727704"/>
            <a:ext cx="45720" cy="1676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900" spc="5">
                <a:solidFill>
                  <a:srgbClr val="FFFF00"/>
                </a:solidFill>
                <a:latin typeface="Arial"/>
                <a:cs typeface="Arial"/>
              </a:rPr>
              <a:t>I</a:t>
            </a:r>
            <a:endParaRPr sz="9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263360" y="2233167"/>
            <a:ext cx="98425" cy="1676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900" spc="20">
                <a:solidFill>
                  <a:srgbClr val="FFFF00"/>
                </a:solidFill>
                <a:latin typeface="Arial"/>
                <a:cs typeface="Arial"/>
              </a:rPr>
              <a:t>H</a:t>
            </a:r>
            <a:endParaRPr sz="9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650577" y="3244400"/>
            <a:ext cx="2868930" cy="55880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1400">
                <a:solidFill>
                  <a:srgbClr val="FFFF00"/>
                </a:solidFill>
                <a:latin typeface="Arial"/>
                <a:cs typeface="Arial"/>
              </a:rPr>
              <a:t>Digraph</a:t>
            </a:r>
            <a:r>
              <a:rPr dirty="0" sz="1400" spc="-1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FFFF00"/>
                </a:solidFill>
                <a:latin typeface="Arial"/>
                <a:cs typeface="Arial"/>
              </a:rPr>
              <a:t>and</a:t>
            </a:r>
            <a:r>
              <a:rPr dirty="0" sz="1400" spc="-1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FFFF00"/>
                </a:solidFill>
                <a:latin typeface="Arial"/>
                <a:cs typeface="Arial"/>
              </a:rPr>
              <a:t>Strong</a:t>
            </a:r>
            <a:r>
              <a:rPr dirty="0" sz="1400" spc="-1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FFFF00"/>
                </a:solidFill>
                <a:latin typeface="Arial"/>
                <a:cs typeface="Arial"/>
              </a:rPr>
              <a:t>Components</a:t>
            </a:r>
            <a:endParaRPr sz="1400">
              <a:latin typeface="Arial"/>
              <a:cs typeface="Arial"/>
            </a:endParaRPr>
          </a:p>
          <a:p>
            <a:pPr marL="71755">
              <a:lnSpc>
                <a:spcPct val="100000"/>
              </a:lnSpc>
              <a:spcBef>
                <a:spcPts val="1070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8.33: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strong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01699" y="4400830"/>
            <a:ext cx="6426200" cy="11906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7302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It is easy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see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mutual</a:t>
            </a:r>
            <a:r>
              <a:rPr dirty="0" sz="1200" spc="-5">
                <a:latin typeface="Times New Roman"/>
                <a:cs typeface="Times New Roman"/>
              </a:rPr>
              <a:t> reachability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equivalence </a:t>
            </a:r>
            <a:r>
              <a:rPr dirty="0" sz="1200" spc="-10" i="1">
                <a:latin typeface="Times New Roman"/>
                <a:cs typeface="Times New Roman"/>
              </a:rPr>
              <a:t>relation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</a:t>
            </a:r>
            <a:r>
              <a:rPr dirty="0" sz="1200" spc="-10">
                <a:latin typeface="Times New Roman"/>
                <a:cs typeface="Times New Roman"/>
              </a:rPr>
              <a:t>equivalence</a:t>
            </a:r>
            <a:r>
              <a:rPr dirty="0" sz="1200" spc="-5">
                <a:latin typeface="Times New Roman"/>
                <a:cs typeface="Times New Roman"/>
              </a:rPr>
              <a:t> relation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equivalence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mutually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reachable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strong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components.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strong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single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super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vertex</a:t>
            </a:r>
            <a:r>
              <a:rPr dirty="0" sz="1200" spc="-1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join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A,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B</a:t>
            </a:r>
            <a:r>
              <a:rPr dirty="0" sz="1200" spc="100">
                <a:latin typeface="Garamond"/>
                <a:cs typeface="Garamond"/>
              </a:rPr>
              <a:t>)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only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are</a:t>
            </a:r>
            <a:r>
              <a:rPr dirty="0" sz="1200" spc="-10">
                <a:latin typeface="Times New Roman"/>
                <a:cs typeface="Times New Roman"/>
              </a:rPr>
              <a:t> vertices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E</a:t>
            </a:r>
            <a:r>
              <a:rPr dirty="0" sz="1200" spc="3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then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resulting digraph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0" i="1">
                <a:latin typeface="Times New Roman"/>
                <a:cs typeface="Times New Roman"/>
              </a:rPr>
              <a:t>component digraph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 The </a:t>
            </a:r>
            <a:r>
              <a:rPr dirty="0" sz="1200" spc="-10">
                <a:latin typeface="Times New Roman"/>
                <a:cs typeface="Times New Roman"/>
              </a:rPr>
              <a:t>component digraph </a:t>
            </a:r>
            <a:r>
              <a:rPr dirty="0" sz="1200" spc="-5">
                <a:latin typeface="Times New Roman"/>
                <a:cs typeface="Times New Roman"/>
              </a:rPr>
              <a:t>is necessarily </a:t>
            </a:r>
            <a:r>
              <a:rPr dirty="0" sz="1200" spc="-10">
                <a:latin typeface="Times New Roman"/>
                <a:cs typeface="Times New Roman"/>
              </a:rPr>
              <a:t>acyclic.</a:t>
            </a:r>
            <a:r>
              <a:rPr dirty="0" sz="1200" spc="-5">
                <a:latin typeface="Times New Roman"/>
                <a:cs typeface="Times New Roman"/>
              </a:rPr>
              <a:t> The is illustrated in </a:t>
            </a:r>
            <a:r>
              <a:rPr dirty="0" sz="1200" spc="-10">
                <a:latin typeface="Times New Roman"/>
                <a:cs typeface="Times New Roman"/>
              </a:rPr>
              <a:t>Figure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8.34.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2110739" y="6086546"/>
            <a:ext cx="3970654" cy="2590800"/>
            <a:chOff x="2110739" y="6086546"/>
            <a:chExt cx="3970654" cy="2590800"/>
          </a:xfrm>
        </p:grpSpPr>
        <p:sp>
          <p:nvSpPr>
            <p:cNvPr id="19" name="object 19"/>
            <p:cNvSpPr/>
            <p:nvPr/>
          </p:nvSpPr>
          <p:spPr>
            <a:xfrm>
              <a:off x="2110739" y="6086546"/>
              <a:ext cx="3970654" cy="2590800"/>
            </a:xfrm>
            <a:custGeom>
              <a:avLst/>
              <a:gdLst/>
              <a:ahLst/>
              <a:cxnLst/>
              <a:rect l="l" t="t" r="r" b="b"/>
              <a:pathLst>
                <a:path w="3970654" h="2590800">
                  <a:moveTo>
                    <a:pt x="3970096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970096" y="2590601"/>
                  </a:lnTo>
                  <a:lnTo>
                    <a:pt x="397009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686004" y="6992015"/>
              <a:ext cx="750570" cy="408305"/>
            </a:xfrm>
            <a:custGeom>
              <a:avLst/>
              <a:gdLst/>
              <a:ahLst/>
              <a:cxnLst/>
              <a:rect l="l" t="t" r="r" b="b"/>
              <a:pathLst>
                <a:path w="750570" h="408304">
                  <a:moveTo>
                    <a:pt x="375498" y="0"/>
                  </a:moveTo>
                  <a:lnTo>
                    <a:pt x="310027" y="3017"/>
                  </a:lnTo>
                  <a:lnTo>
                    <a:pt x="246827" y="12039"/>
                  </a:lnTo>
                  <a:lnTo>
                    <a:pt x="187375" y="27096"/>
                  </a:lnTo>
                  <a:lnTo>
                    <a:pt x="133944" y="48158"/>
                  </a:lnTo>
                  <a:lnTo>
                    <a:pt x="88041" y="72999"/>
                  </a:lnTo>
                  <a:lnTo>
                    <a:pt x="50429" y="102336"/>
                  </a:lnTo>
                  <a:lnTo>
                    <a:pt x="22585" y="133944"/>
                  </a:lnTo>
                  <a:lnTo>
                    <a:pt x="5273" y="168569"/>
                  </a:lnTo>
                  <a:lnTo>
                    <a:pt x="0" y="203926"/>
                  </a:lnTo>
                  <a:lnTo>
                    <a:pt x="1508" y="221985"/>
                  </a:lnTo>
                  <a:lnTo>
                    <a:pt x="22585" y="273908"/>
                  </a:lnTo>
                  <a:lnTo>
                    <a:pt x="50429" y="306263"/>
                  </a:lnTo>
                  <a:lnTo>
                    <a:pt x="88041" y="335615"/>
                  </a:lnTo>
                  <a:lnTo>
                    <a:pt x="133944" y="360456"/>
                  </a:lnTo>
                  <a:lnTo>
                    <a:pt x="187375" y="381518"/>
                  </a:lnTo>
                  <a:lnTo>
                    <a:pt x="246827" y="395813"/>
                  </a:lnTo>
                  <a:lnTo>
                    <a:pt x="310027" y="404850"/>
                  </a:lnTo>
                  <a:lnTo>
                    <a:pt x="375498" y="407852"/>
                  </a:lnTo>
                  <a:lnTo>
                    <a:pt x="407852" y="407106"/>
                  </a:lnTo>
                  <a:lnTo>
                    <a:pt x="471815" y="401086"/>
                  </a:lnTo>
                  <a:lnTo>
                    <a:pt x="533521" y="389793"/>
                  </a:lnTo>
                  <a:lnTo>
                    <a:pt x="590717" y="371734"/>
                  </a:lnTo>
                  <a:lnTo>
                    <a:pt x="640384" y="348416"/>
                  </a:lnTo>
                  <a:lnTo>
                    <a:pt x="682523" y="321320"/>
                  </a:lnTo>
                  <a:lnTo>
                    <a:pt x="715624" y="290474"/>
                  </a:lnTo>
                  <a:lnTo>
                    <a:pt x="737448" y="256611"/>
                  </a:lnTo>
                  <a:lnTo>
                    <a:pt x="750249" y="203926"/>
                  </a:lnTo>
                  <a:lnTo>
                    <a:pt x="748741" y="185867"/>
                  </a:lnTo>
                  <a:lnTo>
                    <a:pt x="727664" y="133944"/>
                  </a:lnTo>
                  <a:lnTo>
                    <a:pt x="700582" y="102336"/>
                  </a:lnTo>
                  <a:lnTo>
                    <a:pt x="662955" y="72999"/>
                  </a:lnTo>
                  <a:lnTo>
                    <a:pt x="616305" y="48158"/>
                  </a:lnTo>
                  <a:lnTo>
                    <a:pt x="562874" y="27096"/>
                  </a:lnTo>
                  <a:lnTo>
                    <a:pt x="503422" y="12039"/>
                  </a:lnTo>
                  <a:lnTo>
                    <a:pt x="440222" y="3017"/>
                  </a:lnTo>
                  <a:lnTo>
                    <a:pt x="37549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686004" y="6992015"/>
              <a:ext cx="750570" cy="408305"/>
            </a:xfrm>
            <a:custGeom>
              <a:avLst/>
              <a:gdLst/>
              <a:ahLst/>
              <a:cxnLst/>
              <a:rect l="l" t="t" r="r" b="b"/>
              <a:pathLst>
                <a:path w="750570" h="408304">
                  <a:moveTo>
                    <a:pt x="0" y="203926"/>
                  </a:moveTo>
                  <a:lnTo>
                    <a:pt x="12801" y="151256"/>
                  </a:lnTo>
                  <a:lnTo>
                    <a:pt x="35372" y="117393"/>
                  </a:lnTo>
                  <a:lnTo>
                    <a:pt x="67726" y="87294"/>
                  </a:lnTo>
                  <a:lnTo>
                    <a:pt x="109865" y="60197"/>
                  </a:lnTo>
                  <a:lnTo>
                    <a:pt x="160294" y="36880"/>
                  </a:lnTo>
                  <a:lnTo>
                    <a:pt x="215966" y="18821"/>
                  </a:lnTo>
                  <a:lnTo>
                    <a:pt x="277672" y="6781"/>
                  </a:lnTo>
                  <a:lnTo>
                    <a:pt x="342397" y="761"/>
                  </a:lnTo>
                  <a:lnTo>
                    <a:pt x="375498" y="0"/>
                  </a:lnTo>
                  <a:lnTo>
                    <a:pt x="407852" y="761"/>
                  </a:lnTo>
                  <a:lnTo>
                    <a:pt x="471815" y="6781"/>
                  </a:lnTo>
                  <a:lnTo>
                    <a:pt x="533521" y="18821"/>
                  </a:lnTo>
                  <a:lnTo>
                    <a:pt x="590717" y="36880"/>
                  </a:lnTo>
                  <a:lnTo>
                    <a:pt x="640384" y="60197"/>
                  </a:lnTo>
                  <a:lnTo>
                    <a:pt x="682523" y="87294"/>
                  </a:lnTo>
                  <a:lnTo>
                    <a:pt x="715624" y="117393"/>
                  </a:lnTo>
                  <a:lnTo>
                    <a:pt x="737448" y="151256"/>
                  </a:lnTo>
                  <a:lnTo>
                    <a:pt x="750249" y="203926"/>
                  </a:lnTo>
                  <a:lnTo>
                    <a:pt x="748741" y="221985"/>
                  </a:lnTo>
                  <a:lnTo>
                    <a:pt x="727664" y="273908"/>
                  </a:lnTo>
                  <a:lnTo>
                    <a:pt x="700582" y="306263"/>
                  </a:lnTo>
                  <a:lnTo>
                    <a:pt x="662955" y="335615"/>
                  </a:lnTo>
                  <a:lnTo>
                    <a:pt x="616305" y="360456"/>
                  </a:lnTo>
                  <a:lnTo>
                    <a:pt x="562874" y="381518"/>
                  </a:lnTo>
                  <a:lnTo>
                    <a:pt x="503422" y="395813"/>
                  </a:lnTo>
                  <a:lnTo>
                    <a:pt x="440222" y="404850"/>
                  </a:lnTo>
                  <a:lnTo>
                    <a:pt x="375498" y="407852"/>
                  </a:lnTo>
                  <a:lnTo>
                    <a:pt x="342397" y="407106"/>
                  </a:lnTo>
                  <a:lnTo>
                    <a:pt x="277672" y="401086"/>
                  </a:lnTo>
                  <a:lnTo>
                    <a:pt x="215966" y="389793"/>
                  </a:lnTo>
                  <a:lnTo>
                    <a:pt x="160294" y="371734"/>
                  </a:lnTo>
                  <a:lnTo>
                    <a:pt x="109865" y="348416"/>
                  </a:lnTo>
                  <a:lnTo>
                    <a:pt x="67726" y="321320"/>
                  </a:lnTo>
                  <a:lnTo>
                    <a:pt x="35372" y="290474"/>
                  </a:lnTo>
                  <a:lnTo>
                    <a:pt x="12801" y="256611"/>
                  </a:lnTo>
                  <a:lnTo>
                    <a:pt x="0" y="203926"/>
                  </a:lnTo>
                </a:path>
              </a:pathLst>
            </a:custGeom>
            <a:ln w="188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591260" y="6153739"/>
              <a:ext cx="750570" cy="408305"/>
            </a:xfrm>
            <a:custGeom>
              <a:avLst/>
              <a:gdLst/>
              <a:ahLst/>
              <a:cxnLst/>
              <a:rect l="l" t="t" r="r" b="b"/>
              <a:pathLst>
                <a:path w="750570" h="408304">
                  <a:moveTo>
                    <a:pt x="374751" y="0"/>
                  </a:moveTo>
                  <a:lnTo>
                    <a:pt x="310027" y="3002"/>
                  </a:lnTo>
                  <a:lnTo>
                    <a:pt x="246827" y="12039"/>
                  </a:lnTo>
                  <a:lnTo>
                    <a:pt x="187375" y="27081"/>
                  </a:lnTo>
                  <a:lnTo>
                    <a:pt x="133944" y="47396"/>
                  </a:lnTo>
                  <a:lnTo>
                    <a:pt x="88041" y="72984"/>
                  </a:lnTo>
                  <a:lnTo>
                    <a:pt x="50429" y="102336"/>
                  </a:lnTo>
                  <a:lnTo>
                    <a:pt x="22585" y="133944"/>
                  </a:lnTo>
                  <a:lnTo>
                    <a:pt x="6019" y="168554"/>
                  </a:lnTo>
                  <a:lnTo>
                    <a:pt x="0" y="203926"/>
                  </a:lnTo>
                  <a:lnTo>
                    <a:pt x="1508" y="221985"/>
                  </a:lnTo>
                  <a:lnTo>
                    <a:pt x="22585" y="273908"/>
                  </a:lnTo>
                  <a:lnTo>
                    <a:pt x="50429" y="306263"/>
                  </a:lnTo>
                  <a:lnTo>
                    <a:pt x="88041" y="335615"/>
                  </a:lnTo>
                  <a:lnTo>
                    <a:pt x="133944" y="360441"/>
                  </a:lnTo>
                  <a:lnTo>
                    <a:pt x="187375" y="380756"/>
                  </a:lnTo>
                  <a:lnTo>
                    <a:pt x="246827" y="395813"/>
                  </a:lnTo>
                  <a:lnTo>
                    <a:pt x="310027" y="404835"/>
                  </a:lnTo>
                  <a:lnTo>
                    <a:pt x="374751" y="407852"/>
                  </a:lnTo>
                  <a:lnTo>
                    <a:pt x="407852" y="407090"/>
                  </a:lnTo>
                  <a:lnTo>
                    <a:pt x="472577" y="401071"/>
                  </a:lnTo>
                  <a:lnTo>
                    <a:pt x="534283" y="389031"/>
                  </a:lnTo>
                  <a:lnTo>
                    <a:pt x="590717" y="371734"/>
                  </a:lnTo>
                  <a:lnTo>
                    <a:pt x="641131" y="348401"/>
                  </a:lnTo>
                  <a:lnTo>
                    <a:pt x="682523" y="321320"/>
                  </a:lnTo>
                  <a:lnTo>
                    <a:pt x="714877" y="290459"/>
                  </a:lnTo>
                  <a:lnTo>
                    <a:pt x="737448" y="256595"/>
                  </a:lnTo>
                  <a:lnTo>
                    <a:pt x="750249" y="203926"/>
                  </a:lnTo>
                  <a:lnTo>
                    <a:pt x="748741" y="185867"/>
                  </a:lnTo>
                  <a:lnTo>
                    <a:pt x="727664" y="133944"/>
                  </a:lnTo>
                  <a:lnTo>
                    <a:pt x="699836" y="102336"/>
                  </a:lnTo>
                  <a:lnTo>
                    <a:pt x="662208" y="72984"/>
                  </a:lnTo>
                  <a:lnTo>
                    <a:pt x="617052" y="47396"/>
                  </a:lnTo>
                  <a:lnTo>
                    <a:pt x="562874" y="27081"/>
                  </a:lnTo>
                  <a:lnTo>
                    <a:pt x="503422" y="12039"/>
                  </a:lnTo>
                  <a:lnTo>
                    <a:pt x="440222" y="3002"/>
                  </a:lnTo>
                  <a:lnTo>
                    <a:pt x="374751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591260" y="6153739"/>
              <a:ext cx="750570" cy="408305"/>
            </a:xfrm>
            <a:custGeom>
              <a:avLst/>
              <a:gdLst/>
              <a:ahLst/>
              <a:cxnLst/>
              <a:rect l="l" t="t" r="r" b="b"/>
              <a:pathLst>
                <a:path w="750570" h="408304">
                  <a:moveTo>
                    <a:pt x="0" y="203926"/>
                  </a:moveTo>
                  <a:lnTo>
                    <a:pt x="12801" y="150494"/>
                  </a:lnTo>
                  <a:lnTo>
                    <a:pt x="35372" y="117378"/>
                  </a:lnTo>
                  <a:lnTo>
                    <a:pt x="68488" y="87279"/>
                  </a:lnTo>
                  <a:lnTo>
                    <a:pt x="109865" y="59435"/>
                  </a:lnTo>
                  <a:lnTo>
                    <a:pt x="159532" y="36865"/>
                  </a:lnTo>
                  <a:lnTo>
                    <a:pt x="216728" y="18806"/>
                  </a:lnTo>
                  <a:lnTo>
                    <a:pt x="278434" y="6766"/>
                  </a:lnTo>
                  <a:lnTo>
                    <a:pt x="343143" y="746"/>
                  </a:lnTo>
                  <a:lnTo>
                    <a:pt x="374751" y="0"/>
                  </a:lnTo>
                  <a:lnTo>
                    <a:pt x="407852" y="746"/>
                  </a:lnTo>
                  <a:lnTo>
                    <a:pt x="472577" y="6766"/>
                  </a:lnTo>
                  <a:lnTo>
                    <a:pt x="534283" y="18806"/>
                  </a:lnTo>
                  <a:lnTo>
                    <a:pt x="590717" y="36865"/>
                  </a:lnTo>
                  <a:lnTo>
                    <a:pt x="641131" y="59435"/>
                  </a:lnTo>
                  <a:lnTo>
                    <a:pt x="682523" y="87279"/>
                  </a:lnTo>
                  <a:lnTo>
                    <a:pt x="714877" y="117378"/>
                  </a:lnTo>
                  <a:lnTo>
                    <a:pt x="737448" y="150494"/>
                  </a:lnTo>
                  <a:lnTo>
                    <a:pt x="750249" y="203926"/>
                  </a:lnTo>
                  <a:lnTo>
                    <a:pt x="748741" y="221985"/>
                  </a:lnTo>
                  <a:lnTo>
                    <a:pt x="727664" y="273908"/>
                  </a:lnTo>
                  <a:lnTo>
                    <a:pt x="699836" y="306263"/>
                  </a:lnTo>
                  <a:lnTo>
                    <a:pt x="662208" y="335615"/>
                  </a:lnTo>
                  <a:lnTo>
                    <a:pt x="617052" y="360441"/>
                  </a:lnTo>
                  <a:lnTo>
                    <a:pt x="562874" y="380756"/>
                  </a:lnTo>
                  <a:lnTo>
                    <a:pt x="503422" y="395813"/>
                  </a:lnTo>
                  <a:lnTo>
                    <a:pt x="440222" y="404835"/>
                  </a:lnTo>
                  <a:lnTo>
                    <a:pt x="374751" y="407852"/>
                  </a:lnTo>
                  <a:lnTo>
                    <a:pt x="343143" y="407090"/>
                  </a:lnTo>
                  <a:lnTo>
                    <a:pt x="278434" y="401071"/>
                  </a:lnTo>
                  <a:lnTo>
                    <a:pt x="216728" y="389031"/>
                  </a:lnTo>
                  <a:lnTo>
                    <a:pt x="159532" y="371734"/>
                  </a:lnTo>
                  <a:lnTo>
                    <a:pt x="109865" y="348401"/>
                  </a:lnTo>
                  <a:lnTo>
                    <a:pt x="68488" y="321320"/>
                  </a:lnTo>
                  <a:lnTo>
                    <a:pt x="35372" y="290459"/>
                  </a:lnTo>
                  <a:lnTo>
                    <a:pt x="12801" y="256595"/>
                  </a:lnTo>
                  <a:lnTo>
                    <a:pt x="0" y="203926"/>
                  </a:lnTo>
                </a:path>
              </a:pathLst>
            </a:custGeom>
            <a:ln w="188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107484" y="6572123"/>
              <a:ext cx="617855" cy="1186815"/>
            </a:xfrm>
            <a:custGeom>
              <a:avLst/>
              <a:gdLst/>
              <a:ahLst/>
              <a:cxnLst/>
              <a:rect l="l" t="t" r="r" b="b"/>
              <a:pathLst>
                <a:path w="617854" h="1186815">
                  <a:moveTo>
                    <a:pt x="0" y="0"/>
                  </a:moveTo>
                  <a:lnTo>
                    <a:pt x="617799" y="1186693"/>
                  </a:lnTo>
                </a:path>
              </a:pathLst>
            </a:custGeom>
            <a:ln w="188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86147" y="7727208"/>
              <a:ext cx="63962" cy="79019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28644" y="7332141"/>
              <a:ext cx="1113155" cy="556260"/>
            </a:xfrm>
            <a:custGeom>
              <a:avLst/>
              <a:gdLst/>
              <a:ahLst/>
              <a:cxnLst/>
              <a:rect l="l" t="t" r="r" b="b"/>
              <a:pathLst>
                <a:path w="1113154" h="556259">
                  <a:moveTo>
                    <a:pt x="0" y="0"/>
                  </a:moveTo>
                  <a:lnTo>
                    <a:pt x="1112946" y="556107"/>
                  </a:lnTo>
                </a:path>
              </a:pathLst>
            </a:custGeom>
            <a:ln w="188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410730" y="7848366"/>
              <a:ext cx="79375" cy="63500"/>
            </a:xfrm>
            <a:custGeom>
              <a:avLst/>
              <a:gdLst/>
              <a:ahLst/>
              <a:cxnLst/>
              <a:rect l="l" t="t" r="r" b="b"/>
              <a:pathLst>
                <a:path w="79375" h="63500">
                  <a:moveTo>
                    <a:pt x="31607" y="0"/>
                  </a:moveTo>
                  <a:lnTo>
                    <a:pt x="31607" y="4511"/>
                  </a:lnTo>
                  <a:lnTo>
                    <a:pt x="30860" y="9022"/>
                  </a:lnTo>
                  <a:lnTo>
                    <a:pt x="30860" y="12786"/>
                  </a:lnTo>
                  <a:lnTo>
                    <a:pt x="30098" y="17297"/>
                  </a:lnTo>
                  <a:lnTo>
                    <a:pt x="28605" y="21823"/>
                  </a:lnTo>
                  <a:lnTo>
                    <a:pt x="25587" y="29336"/>
                  </a:lnTo>
                  <a:lnTo>
                    <a:pt x="24079" y="33863"/>
                  </a:lnTo>
                  <a:lnTo>
                    <a:pt x="22585" y="37627"/>
                  </a:lnTo>
                  <a:lnTo>
                    <a:pt x="18059" y="45140"/>
                  </a:lnTo>
                  <a:lnTo>
                    <a:pt x="15057" y="48158"/>
                  </a:lnTo>
                  <a:lnTo>
                    <a:pt x="12801" y="51922"/>
                  </a:lnTo>
                  <a:lnTo>
                    <a:pt x="3764" y="60944"/>
                  </a:lnTo>
                  <a:lnTo>
                    <a:pt x="0" y="63200"/>
                  </a:lnTo>
                  <a:lnTo>
                    <a:pt x="79019" y="63200"/>
                  </a:lnTo>
                  <a:lnTo>
                    <a:pt x="3160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286505" y="6506652"/>
              <a:ext cx="417195" cy="471170"/>
            </a:xfrm>
            <a:custGeom>
              <a:avLst/>
              <a:gdLst/>
              <a:ahLst/>
              <a:cxnLst/>
              <a:rect l="l" t="t" r="r" b="b"/>
              <a:pathLst>
                <a:path w="417195" h="471170">
                  <a:moveTo>
                    <a:pt x="416874" y="0"/>
                  </a:moveTo>
                  <a:lnTo>
                    <a:pt x="0" y="471068"/>
                  </a:lnTo>
                </a:path>
              </a:pathLst>
            </a:custGeom>
            <a:ln w="188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51133" y="6941601"/>
              <a:ext cx="72999" cy="76748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4459650" y="7779877"/>
              <a:ext cx="750570" cy="408940"/>
            </a:xfrm>
            <a:custGeom>
              <a:avLst/>
              <a:gdLst/>
              <a:ahLst/>
              <a:cxnLst/>
              <a:rect l="l" t="t" r="r" b="b"/>
              <a:pathLst>
                <a:path w="750570" h="408940">
                  <a:moveTo>
                    <a:pt x="374736" y="0"/>
                  </a:moveTo>
                  <a:lnTo>
                    <a:pt x="310027" y="3017"/>
                  </a:lnTo>
                  <a:lnTo>
                    <a:pt x="246811" y="12801"/>
                  </a:lnTo>
                  <a:lnTo>
                    <a:pt x="187375" y="27843"/>
                  </a:lnTo>
                  <a:lnTo>
                    <a:pt x="133197" y="48173"/>
                  </a:lnTo>
                  <a:lnTo>
                    <a:pt x="87294" y="72999"/>
                  </a:lnTo>
                  <a:lnTo>
                    <a:pt x="50413" y="102351"/>
                  </a:lnTo>
                  <a:lnTo>
                    <a:pt x="22570" y="134706"/>
                  </a:lnTo>
                  <a:lnTo>
                    <a:pt x="746" y="185867"/>
                  </a:lnTo>
                  <a:lnTo>
                    <a:pt x="0" y="203941"/>
                  </a:lnTo>
                  <a:lnTo>
                    <a:pt x="746" y="222001"/>
                  </a:lnTo>
                  <a:lnTo>
                    <a:pt x="22570" y="273923"/>
                  </a:lnTo>
                  <a:lnTo>
                    <a:pt x="50413" y="306278"/>
                  </a:lnTo>
                  <a:lnTo>
                    <a:pt x="87294" y="335615"/>
                  </a:lnTo>
                  <a:lnTo>
                    <a:pt x="133197" y="361203"/>
                  </a:lnTo>
                  <a:lnTo>
                    <a:pt x="187375" y="381518"/>
                  </a:lnTo>
                  <a:lnTo>
                    <a:pt x="246811" y="396575"/>
                  </a:lnTo>
                  <a:lnTo>
                    <a:pt x="310027" y="405597"/>
                  </a:lnTo>
                  <a:lnTo>
                    <a:pt x="374736" y="408614"/>
                  </a:lnTo>
                  <a:lnTo>
                    <a:pt x="407106" y="407868"/>
                  </a:lnTo>
                  <a:lnTo>
                    <a:pt x="471815" y="401848"/>
                  </a:lnTo>
                  <a:lnTo>
                    <a:pt x="533521" y="389808"/>
                  </a:lnTo>
                  <a:lnTo>
                    <a:pt x="589955" y="371734"/>
                  </a:lnTo>
                  <a:lnTo>
                    <a:pt x="639622" y="349163"/>
                  </a:lnTo>
                  <a:lnTo>
                    <a:pt x="681761" y="321320"/>
                  </a:lnTo>
                  <a:lnTo>
                    <a:pt x="714877" y="290474"/>
                  </a:lnTo>
                  <a:lnTo>
                    <a:pt x="737448" y="257357"/>
                  </a:lnTo>
                  <a:lnTo>
                    <a:pt x="750234" y="203941"/>
                  </a:lnTo>
                  <a:lnTo>
                    <a:pt x="748741" y="185867"/>
                  </a:lnTo>
                  <a:lnTo>
                    <a:pt x="726917" y="134706"/>
                  </a:lnTo>
                  <a:lnTo>
                    <a:pt x="699820" y="102351"/>
                  </a:lnTo>
                  <a:lnTo>
                    <a:pt x="662193" y="72999"/>
                  </a:lnTo>
                  <a:lnTo>
                    <a:pt x="616290" y="48173"/>
                  </a:lnTo>
                  <a:lnTo>
                    <a:pt x="562874" y="27843"/>
                  </a:lnTo>
                  <a:lnTo>
                    <a:pt x="503422" y="12801"/>
                  </a:lnTo>
                  <a:lnTo>
                    <a:pt x="439460" y="3017"/>
                  </a:lnTo>
                  <a:lnTo>
                    <a:pt x="374736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459650" y="7779877"/>
              <a:ext cx="750570" cy="408940"/>
            </a:xfrm>
            <a:custGeom>
              <a:avLst/>
              <a:gdLst/>
              <a:ahLst/>
              <a:cxnLst/>
              <a:rect l="l" t="t" r="r" b="b"/>
              <a:pathLst>
                <a:path w="750570" h="408940">
                  <a:moveTo>
                    <a:pt x="0" y="203941"/>
                  </a:moveTo>
                  <a:lnTo>
                    <a:pt x="12786" y="152018"/>
                  </a:lnTo>
                  <a:lnTo>
                    <a:pt x="34610" y="118155"/>
                  </a:lnTo>
                  <a:lnTo>
                    <a:pt x="66964" y="87294"/>
                  </a:lnTo>
                  <a:lnTo>
                    <a:pt x="109103" y="60213"/>
                  </a:lnTo>
                  <a:lnTo>
                    <a:pt x="159532" y="36880"/>
                  </a:lnTo>
                  <a:lnTo>
                    <a:pt x="215966" y="19568"/>
                  </a:lnTo>
                  <a:lnTo>
                    <a:pt x="277672" y="6781"/>
                  </a:lnTo>
                  <a:lnTo>
                    <a:pt x="341635" y="761"/>
                  </a:lnTo>
                  <a:lnTo>
                    <a:pt x="374736" y="0"/>
                  </a:lnTo>
                  <a:lnTo>
                    <a:pt x="407106" y="761"/>
                  </a:lnTo>
                  <a:lnTo>
                    <a:pt x="471815" y="6781"/>
                  </a:lnTo>
                  <a:lnTo>
                    <a:pt x="533521" y="19568"/>
                  </a:lnTo>
                  <a:lnTo>
                    <a:pt x="589955" y="36880"/>
                  </a:lnTo>
                  <a:lnTo>
                    <a:pt x="639622" y="60213"/>
                  </a:lnTo>
                  <a:lnTo>
                    <a:pt x="681761" y="87294"/>
                  </a:lnTo>
                  <a:lnTo>
                    <a:pt x="714877" y="118155"/>
                  </a:lnTo>
                  <a:lnTo>
                    <a:pt x="737448" y="152018"/>
                  </a:lnTo>
                  <a:lnTo>
                    <a:pt x="750234" y="203941"/>
                  </a:lnTo>
                  <a:lnTo>
                    <a:pt x="748741" y="222001"/>
                  </a:lnTo>
                  <a:lnTo>
                    <a:pt x="726917" y="273923"/>
                  </a:lnTo>
                  <a:lnTo>
                    <a:pt x="699820" y="306278"/>
                  </a:lnTo>
                  <a:lnTo>
                    <a:pt x="662193" y="335615"/>
                  </a:lnTo>
                  <a:lnTo>
                    <a:pt x="616290" y="361203"/>
                  </a:lnTo>
                  <a:lnTo>
                    <a:pt x="562874" y="381518"/>
                  </a:lnTo>
                  <a:lnTo>
                    <a:pt x="503422" y="396575"/>
                  </a:lnTo>
                  <a:lnTo>
                    <a:pt x="439460" y="405597"/>
                  </a:lnTo>
                  <a:lnTo>
                    <a:pt x="374736" y="408614"/>
                  </a:lnTo>
                  <a:lnTo>
                    <a:pt x="341635" y="407868"/>
                  </a:lnTo>
                  <a:lnTo>
                    <a:pt x="277672" y="401848"/>
                  </a:lnTo>
                  <a:lnTo>
                    <a:pt x="215966" y="389808"/>
                  </a:lnTo>
                  <a:lnTo>
                    <a:pt x="159532" y="371734"/>
                  </a:lnTo>
                  <a:lnTo>
                    <a:pt x="109103" y="349163"/>
                  </a:lnTo>
                  <a:lnTo>
                    <a:pt x="66964" y="321320"/>
                  </a:lnTo>
                  <a:lnTo>
                    <a:pt x="34610" y="290474"/>
                  </a:lnTo>
                  <a:lnTo>
                    <a:pt x="12786" y="257357"/>
                  </a:lnTo>
                  <a:lnTo>
                    <a:pt x="0" y="203941"/>
                  </a:lnTo>
                </a:path>
              </a:pathLst>
            </a:custGeom>
            <a:ln w="1881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/>
          <p:cNvSpPr txBox="1"/>
          <p:nvPr/>
        </p:nvSpPr>
        <p:spPr>
          <a:xfrm>
            <a:off x="2110739" y="6086546"/>
            <a:ext cx="3970654" cy="2590800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Times New Roman"/>
              <a:cs typeface="Times New Roman"/>
            </a:endParaRPr>
          </a:p>
          <a:p>
            <a:pPr algn="ctr" marR="281305">
              <a:lnSpc>
                <a:spcPct val="100000"/>
              </a:lnSpc>
            </a:pP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A,B,C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825500">
              <a:lnSpc>
                <a:spcPct val="100000"/>
              </a:lnSpc>
              <a:spcBef>
                <a:spcPts val="1025"/>
              </a:spcBef>
            </a:pP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D,E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2464435">
              <a:lnSpc>
                <a:spcPct val="100000"/>
              </a:lnSpc>
              <a:spcBef>
                <a:spcPts val="785"/>
              </a:spcBef>
            </a:pP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F,G,H,I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1038225">
              <a:lnSpc>
                <a:spcPct val="100000"/>
              </a:lnSpc>
              <a:spcBef>
                <a:spcPts val="735"/>
              </a:spcBef>
            </a:pPr>
            <a:r>
              <a:rPr dirty="0" sz="1750" spc="5">
                <a:solidFill>
                  <a:srgbClr val="FFFF00"/>
                </a:solidFill>
                <a:latin typeface="Arial"/>
                <a:cs typeface="Arial"/>
              </a:rPr>
              <a:t>Component</a:t>
            </a:r>
            <a:r>
              <a:rPr dirty="0" sz="1750" spc="-3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750" spc="10">
                <a:solidFill>
                  <a:srgbClr val="FFFF00"/>
                </a:solidFill>
                <a:latin typeface="Arial"/>
                <a:cs typeface="Arial"/>
              </a:rPr>
              <a:t>DAG</a:t>
            </a:r>
            <a:endParaRPr sz="175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656203" y="8742743"/>
            <a:ext cx="29171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8.34: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DAG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60982" y="967638"/>
            <a:ext cx="2279650" cy="162560"/>
          </a:xfrm>
          <a:custGeom>
            <a:avLst/>
            <a:gdLst/>
            <a:ahLst/>
            <a:cxnLst/>
            <a:rect l="l" t="t" r="r" b="b"/>
            <a:pathLst>
              <a:path w="2279650" h="162559">
                <a:moveTo>
                  <a:pt x="2279523" y="0"/>
                </a:moveTo>
                <a:lnTo>
                  <a:pt x="0" y="0"/>
                </a:lnTo>
                <a:lnTo>
                  <a:pt x="0" y="162521"/>
                </a:lnTo>
                <a:lnTo>
                  <a:pt x="2279523" y="162521"/>
                </a:lnTo>
                <a:lnTo>
                  <a:pt x="2279523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0987"/>
            <a:ext cx="2851785" cy="6197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lvl="1" marL="325120" indent="-313055">
              <a:lnSpc>
                <a:spcPct val="100000"/>
              </a:lnSpc>
              <a:spcBef>
                <a:spcPts val="110"/>
              </a:spcBef>
              <a:buAutoNum type="arabicPeriod" startAt="4"/>
              <a:tabLst>
                <a:tab pos="325755" algn="l"/>
              </a:tabLst>
            </a:pPr>
            <a:r>
              <a:rPr dirty="0" sz="1200" spc="-15">
                <a:latin typeface="Times New Roman"/>
                <a:cs typeface="Times New Roman"/>
              </a:rPr>
              <a:t>STRONG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COMPONENTS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Font typeface="Times New Roman"/>
              <a:buAutoNum type="arabicPeriod" startAt="4"/>
            </a:pPr>
            <a:endParaRPr sz="1300">
              <a:latin typeface="Times New Roman"/>
              <a:cs typeface="Times New Roman"/>
            </a:endParaRPr>
          </a:p>
          <a:p>
            <a:pPr lvl="2" marL="558800" indent="-546735">
              <a:lnSpc>
                <a:spcPct val="100000"/>
              </a:lnSpc>
              <a:buAutoNum type="arabicPeriod"/>
              <a:tabLst>
                <a:tab pos="558800" algn="l"/>
                <a:tab pos="559435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Strong</a:t>
            </a:r>
            <a:r>
              <a:rPr dirty="0" sz="1400" spc="-1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Components</a:t>
            </a:r>
            <a:r>
              <a:rPr dirty="0" sz="1400" spc="-1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and</a:t>
            </a:r>
            <a:r>
              <a:rPr dirty="0" sz="1400" spc="-15" b="1">
                <a:latin typeface="Times New Roman"/>
                <a:cs typeface="Times New Roman"/>
              </a:rPr>
              <a:t> </a:t>
            </a:r>
            <a:r>
              <a:rPr dirty="0" sz="1400" spc="20" b="1">
                <a:latin typeface="Times New Roman"/>
                <a:cs typeface="Times New Roman"/>
              </a:rPr>
              <a:t>DFS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13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699" y="1286499"/>
            <a:ext cx="6377305" cy="574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Consider DFS of a </a:t>
            </a:r>
            <a:r>
              <a:rPr dirty="0" sz="1200" spc="-10">
                <a:latin typeface="Times New Roman"/>
                <a:cs typeface="Times New Roman"/>
              </a:rPr>
              <a:t>digraph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Figure </a:t>
            </a:r>
            <a:r>
              <a:rPr dirty="0" sz="1200" spc="-10" b="1">
                <a:latin typeface="Times New Roman"/>
                <a:cs typeface="Times New Roman"/>
              </a:rPr>
              <a:t>??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 Once </a:t>
            </a:r>
            <a:r>
              <a:rPr dirty="0" sz="1200" spc="-1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enter a </a:t>
            </a:r>
            <a:r>
              <a:rPr dirty="0" sz="1200" spc="-10">
                <a:latin typeface="Times New Roman"/>
                <a:cs typeface="Times New Roman"/>
              </a:rPr>
              <a:t>strong component, </a:t>
            </a:r>
            <a:r>
              <a:rPr dirty="0" sz="1200" spc="-15">
                <a:latin typeface="Times New Roman"/>
                <a:cs typeface="Times New Roman"/>
              </a:rPr>
              <a:t>every vertex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reachable.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terminate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until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visited.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 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strong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 appear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 tree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forest.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790700" y="2072208"/>
            <a:ext cx="4648200" cy="2421890"/>
            <a:chOff x="1790700" y="2072208"/>
            <a:chExt cx="4648200" cy="2421890"/>
          </a:xfrm>
        </p:grpSpPr>
        <p:sp>
          <p:nvSpPr>
            <p:cNvPr id="7" name="object 7"/>
            <p:cNvSpPr/>
            <p:nvPr/>
          </p:nvSpPr>
          <p:spPr>
            <a:xfrm>
              <a:off x="1790700" y="2072208"/>
              <a:ext cx="4648200" cy="2421890"/>
            </a:xfrm>
            <a:custGeom>
              <a:avLst/>
              <a:gdLst/>
              <a:ahLst/>
              <a:cxnLst/>
              <a:rect l="l" t="t" r="r" b="b"/>
              <a:pathLst>
                <a:path w="4648200" h="2421890">
                  <a:moveTo>
                    <a:pt x="4648001" y="0"/>
                  </a:moveTo>
                  <a:lnTo>
                    <a:pt x="0" y="0"/>
                  </a:lnTo>
                  <a:lnTo>
                    <a:pt x="0" y="2421559"/>
                  </a:lnTo>
                  <a:lnTo>
                    <a:pt x="4648001" y="2421559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6364833" y="3264357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320" y="-8125"/>
                  </a:moveTo>
                  <a:lnTo>
                    <a:pt x="320" y="41927"/>
                  </a:lnTo>
                </a:path>
              </a:pathLst>
            </a:custGeom>
            <a:ln w="1689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6355079" y="3062198"/>
              <a:ext cx="8890" cy="168910"/>
            </a:xfrm>
            <a:custGeom>
              <a:avLst/>
              <a:gdLst/>
              <a:ahLst/>
              <a:cxnLst/>
              <a:rect l="l" t="t" r="r" b="b"/>
              <a:pathLst>
                <a:path w="8889" h="168910">
                  <a:moveTo>
                    <a:pt x="8442" y="168356"/>
                  </a:moveTo>
                  <a:lnTo>
                    <a:pt x="8442" y="163159"/>
                  </a:lnTo>
                  <a:lnTo>
                    <a:pt x="7147" y="134553"/>
                  </a:lnTo>
                </a:path>
                <a:path w="8889" h="168910">
                  <a:moveTo>
                    <a:pt x="5852" y="101406"/>
                  </a:moveTo>
                  <a:lnTo>
                    <a:pt x="5196" y="86456"/>
                  </a:lnTo>
                  <a:lnTo>
                    <a:pt x="4556" y="67604"/>
                  </a:lnTo>
                </a:path>
                <a:path w="8889" h="168910">
                  <a:moveTo>
                    <a:pt x="2606" y="33802"/>
                  </a:moveTo>
                  <a:lnTo>
                    <a:pt x="655" y="7787"/>
                  </a:lnTo>
                  <a:lnTo>
                    <a:pt x="0" y="0"/>
                  </a:lnTo>
                </a:path>
              </a:pathLst>
            </a:custGeom>
            <a:ln w="1625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351833" y="2994594"/>
              <a:ext cx="2540" cy="34290"/>
            </a:xfrm>
            <a:custGeom>
              <a:avLst/>
              <a:gdLst/>
              <a:ahLst/>
              <a:cxnLst/>
              <a:rect l="l" t="t" r="r" b="b"/>
              <a:pathLst>
                <a:path w="2539" h="34289">
                  <a:moveTo>
                    <a:pt x="975" y="-8125"/>
                  </a:moveTo>
                  <a:lnTo>
                    <a:pt x="975" y="41927"/>
                  </a:lnTo>
                </a:path>
              </a:pathLst>
            </a:custGeom>
            <a:ln w="1820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6345981" y="2860024"/>
              <a:ext cx="5080" cy="100965"/>
            </a:xfrm>
            <a:custGeom>
              <a:avLst/>
              <a:gdLst/>
              <a:ahLst/>
              <a:cxnLst/>
              <a:rect l="l" t="t" r="r" b="b"/>
              <a:pathLst>
                <a:path w="5079" h="100964">
                  <a:moveTo>
                    <a:pt x="4541" y="100766"/>
                  </a:moveTo>
                  <a:lnTo>
                    <a:pt x="3901" y="91013"/>
                  </a:lnTo>
                  <a:lnTo>
                    <a:pt x="2590" y="67604"/>
                  </a:lnTo>
                </a:path>
                <a:path w="5079" h="100964">
                  <a:moveTo>
                    <a:pt x="1295" y="33802"/>
                  </a:moveTo>
                  <a:lnTo>
                    <a:pt x="640" y="11048"/>
                  </a:lnTo>
                  <a:lnTo>
                    <a:pt x="0" y="0"/>
                  </a:lnTo>
                </a:path>
              </a:pathLst>
            </a:custGeom>
            <a:ln w="1625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344686" y="2792420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320" y="-8125"/>
                  </a:moveTo>
                  <a:lnTo>
                    <a:pt x="320" y="41927"/>
                  </a:lnTo>
                </a:path>
              </a:pathLst>
            </a:custGeom>
            <a:ln w="1689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6344686" y="2724815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w="0" h="34289">
                  <a:moveTo>
                    <a:pt x="-8125" y="16901"/>
                  </a:moveTo>
                  <a:lnTo>
                    <a:pt x="8125" y="16901"/>
                  </a:lnTo>
                </a:path>
              </a:pathLst>
            </a:custGeom>
            <a:ln w="3380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6345326" y="2590261"/>
              <a:ext cx="3175" cy="101600"/>
            </a:xfrm>
            <a:custGeom>
              <a:avLst/>
              <a:gdLst/>
              <a:ahLst/>
              <a:cxnLst/>
              <a:rect l="l" t="t" r="r" b="b"/>
              <a:pathLst>
                <a:path w="3175" h="101600">
                  <a:moveTo>
                    <a:pt x="0" y="101406"/>
                  </a:moveTo>
                  <a:lnTo>
                    <a:pt x="655" y="87096"/>
                  </a:lnTo>
                  <a:lnTo>
                    <a:pt x="655" y="71506"/>
                  </a:lnTo>
                  <a:lnTo>
                    <a:pt x="655" y="67604"/>
                  </a:lnTo>
                </a:path>
                <a:path w="3175" h="101600">
                  <a:moveTo>
                    <a:pt x="1950" y="33802"/>
                  </a:moveTo>
                  <a:lnTo>
                    <a:pt x="1950" y="25999"/>
                  </a:lnTo>
                  <a:lnTo>
                    <a:pt x="2606" y="10393"/>
                  </a:lnTo>
                  <a:lnTo>
                    <a:pt x="2606" y="0"/>
                  </a:lnTo>
                </a:path>
              </a:pathLst>
            </a:custGeom>
            <a:ln w="1625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70082" y="2127100"/>
              <a:ext cx="4504171" cy="198458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4645454" y="2345550"/>
            <a:ext cx="9906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000" spc="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981336" y="2360497"/>
            <a:ext cx="4889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000">
                <a:solidFill>
                  <a:srgbClr val="FFFF00"/>
                </a:solidFill>
                <a:latin typeface="Arial"/>
                <a:cs typeface="Arial"/>
              </a:rPr>
              <a:t>I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481868" y="3022904"/>
            <a:ext cx="9144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00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498772" y="3613796"/>
            <a:ext cx="11303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0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494444" y="2333791"/>
            <a:ext cx="238760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50" spc="10">
                <a:solidFill>
                  <a:srgbClr val="FFFF00"/>
                </a:solidFill>
                <a:latin typeface="Arial"/>
                <a:cs typeface="Arial"/>
              </a:rPr>
              <a:t>1/8</a:t>
            </a:r>
            <a:endParaRPr sz="12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975706" y="2998138"/>
            <a:ext cx="571500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  <a:tabLst>
                <a:tab pos="464820" algn="l"/>
              </a:tabLst>
            </a:pPr>
            <a:r>
              <a:rPr dirty="0" sz="1250" spc="10">
                <a:solidFill>
                  <a:srgbClr val="FFFF00"/>
                </a:solidFill>
                <a:latin typeface="Arial"/>
                <a:cs typeface="Arial"/>
              </a:rPr>
              <a:t>2/3</a:t>
            </a:r>
            <a:r>
              <a:rPr dirty="0" sz="1250" spc="1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baseline="2777" sz="1500" spc="7">
                <a:solidFill>
                  <a:srgbClr val="FFFF00"/>
                </a:solidFill>
                <a:latin typeface="Arial"/>
                <a:cs typeface="Arial"/>
              </a:rPr>
              <a:t>H</a:t>
            </a:r>
            <a:endParaRPr baseline="2777" sz="15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020982" y="3606582"/>
            <a:ext cx="238760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50" spc="10">
                <a:solidFill>
                  <a:srgbClr val="FFFF00"/>
                </a:solidFill>
                <a:latin typeface="Arial"/>
                <a:cs typeface="Arial"/>
              </a:rPr>
              <a:t>5/6</a:t>
            </a:r>
            <a:endParaRPr sz="12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053484" y="3014389"/>
            <a:ext cx="238760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50" spc="10">
                <a:solidFill>
                  <a:srgbClr val="FFFF00"/>
                </a:solidFill>
                <a:latin typeface="Arial"/>
                <a:cs typeface="Arial"/>
              </a:rPr>
              <a:t>4/7</a:t>
            </a:r>
            <a:endParaRPr sz="12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111761" y="2333791"/>
            <a:ext cx="32956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250" spc="10">
                <a:solidFill>
                  <a:srgbClr val="FFFF00"/>
                </a:solidFill>
                <a:latin typeface="Arial"/>
                <a:cs typeface="Arial"/>
              </a:rPr>
              <a:t>9/12</a:t>
            </a:r>
            <a:endParaRPr sz="125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978452" y="3006589"/>
            <a:ext cx="80962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30"/>
              </a:spcBef>
              <a:tabLst>
                <a:tab pos="677545" algn="l"/>
              </a:tabLst>
            </a:pPr>
            <a:r>
              <a:rPr dirty="0" sz="1250" spc="10">
                <a:solidFill>
                  <a:srgbClr val="FFFF00"/>
                </a:solidFill>
                <a:latin typeface="Arial"/>
                <a:cs typeface="Arial"/>
              </a:rPr>
              <a:t>10/11	</a:t>
            </a:r>
            <a:r>
              <a:rPr dirty="0" baseline="5555" sz="1500" spc="7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baseline="5555" sz="15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483362" y="2321446"/>
            <a:ext cx="681990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  <a:tabLst>
                <a:tab pos="262255" algn="l"/>
              </a:tabLst>
            </a:pPr>
            <a:r>
              <a:rPr dirty="0" sz="100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r>
              <a:rPr dirty="0" sz="100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baseline="2222" sz="1875" spc="15">
                <a:solidFill>
                  <a:srgbClr val="FFFF00"/>
                </a:solidFill>
                <a:latin typeface="Arial"/>
                <a:cs typeface="Arial"/>
              </a:rPr>
              <a:t>13/18</a:t>
            </a:r>
            <a:endParaRPr baseline="2222" sz="1875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474866" y="2982538"/>
            <a:ext cx="72453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30"/>
              </a:spcBef>
              <a:tabLst>
                <a:tab pos="279400" algn="l"/>
              </a:tabLst>
            </a:pPr>
            <a:r>
              <a:rPr dirty="0" baseline="8333" sz="1500" spc="7">
                <a:solidFill>
                  <a:srgbClr val="FFFF00"/>
                </a:solidFill>
                <a:latin typeface="Arial"/>
                <a:cs typeface="Arial"/>
              </a:rPr>
              <a:t>A	</a:t>
            </a:r>
            <a:r>
              <a:rPr dirty="0" sz="1250" spc="10">
                <a:solidFill>
                  <a:srgbClr val="FFFF00"/>
                </a:solidFill>
                <a:latin typeface="Arial"/>
                <a:cs typeface="Arial"/>
              </a:rPr>
              <a:t>14/17</a:t>
            </a:r>
            <a:endParaRPr sz="12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516522" y="3590332"/>
            <a:ext cx="69024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  <a:tabLst>
                <a:tab pos="269875" algn="l"/>
              </a:tabLst>
            </a:pPr>
            <a:r>
              <a:rPr dirty="0" baseline="5555" sz="1500" spc="7">
                <a:solidFill>
                  <a:srgbClr val="FFFF00"/>
                </a:solidFill>
                <a:latin typeface="Arial"/>
                <a:cs typeface="Arial"/>
              </a:rPr>
              <a:t>B</a:t>
            </a:r>
            <a:r>
              <a:rPr dirty="0" baseline="5555" sz="1500" spc="7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250" spc="10">
                <a:solidFill>
                  <a:srgbClr val="FFFF00"/>
                </a:solidFill>
                <a:latin typeface="Arial"/>
                <a:cs typeface="Arial"/>
              </a:rPr>
              <a:t>15/16</a:t>
            </a:r>
            <a:endParaRPr sz="12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01699" y="4189735"/>
            <a:ext cx="6235065" cy="1685289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 marR="351155">
              <a:lnSpc>
                <a:spcPct val="100000"/>
              </a:lnSpc>
              <a:spcBef>
                <a:spcPts val="125"/>
              </a:spcBef>
            </a:pPr>
            <a:r>
              <a:rPr dirty="0" sz="1500" spc="10">
                <a:solidFill>
                  <a:srgbClr val="FFFF00"/>
                </a:solidFill>
                <a:latin typeface="Arial"/>
                <a:cs typeface="Arial"/>
              </a:rPr>
              <a:t>Depth-first</a:t>
            </a:r>
            <a:r>
              <a:rPr dirty="0" sz="1500" spc="-1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00" spc="10">
                <a:solidFill>
                  <a:srgbClr val="FFFF00"/>
                </a:solidFill>
                <a:latin typeface="Arial"/>
                <a:cs typeface="Arial"/>
              </a:rPr>
              <a:t>search</a:t>
            </a:r>
            <a:r>
              <a:rPr dirty="0" sz="1500" spc="-1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00" spc="10">
                <a:solidFill>
                  <a:srgbClr val="FFFF00"/>
                </a:solidFill>
                <a:latin typeface="Arial"/>
                <a:cs typeface="Arial"/>
              </a:rPr>
              <a:t>of</a:t>
            </a:r>
            <a:r>
              <a:rPr dirty="0" sz="1500" spc="-1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00" spc="10">
                <a:solidFill>
                  <a:srgbClr val="FFFF00"/>
                </a:solidFill>
                <a:latin typeface="Arial"/>
                <a:cs typeface="Arial"/>
              </a:rPr>
              <a:t>digraph</a:t>
            </a:r>
            <a:endParaRPr sz="1500">
              <a:latin typeface="Arial"/>
              <a:cs typeface="Arial"/>
            </a:endParaRPr>
          </a:p>
          <a:p>
            <a:pPr algn="ctr" marL="191135">
              <a:lnSpc>
                <a:spcPct val="100000"/>
              </a:lnSpc>
              <a:spcBef>
                <a:spcPts val="1085"/>
              </a:spcBef>
            </a:pPr>
            <a:r>
              <a:rPr dirty="0" sz="1200" spc="-10">
                <a:latin typeface="Times New Roman"/>
                <a:cs typeface="Times New Roman"/>
              </a:rPr>
              <a:t>Figure 8.35: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a</a:t>
            </a:r>
            <a:r>
              <a:rPr dirty="0" sz="1200" spc="-10">
                <a:latin typeface="Times New Roman"/>
                <a:cs typeface="Times New Roman"/>
              </a:rPr>
              <a:t> digraph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35"/>
              </a:spcBef>
            </a:pPr>
            <a:r>
              <a:rPr dirty="0" sz="1200" spc="-10">
                <a:latin typeface="Times New Roman"/>
                <a:cs typeface="Times New Roman"/>
              </a:rPr>
              <a:t>fig:dfsofdigraph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200" spc="-10">
                <a:latin typeface="Times New Roman"/>
                <a:cs typeface="Times New Roman"/>
              </a:rPr>
              <a:t>Observe </a:t>
            </a:r>
            <a:r>
              <a:rPr dirty="0" sz="1200" spc="-5">
                <a:latin typeface="Times New Roman"/>
                <a:cs typeface="Times New Roman"/>
              </a:rPr>
              <a:t>that each </a:t>
            </a:r>
            <a:r>
              <a:rPr dirty="0" sz="1200" spc="-10">
                <a:latin typeface="Times New Roman"/>
                <a:cs typeface="Times New Roman"/>
              </a:rPr>
              <a:t>strong component </a:t>
            </a:r>
            <a:r>
              <a:rPr dirty="0" sz="1200" spc="-5">
                <a:latin typeface="Times New Roman"/>
                <a:cs typeface="Times New Roman"/>
              </a:rPr>
              <a:t>is a subtree 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DFS forest. Is it </a:t>
            </a:r>
            <a:r>
              <a:rPr dirty="0" sz="1200" spc="-10">
                <a:latin typeface="Times New Roman"/>
                <a:cs typeface="Times New Roman"/>
              </a:rPr>
              <a:t>always true for any </a:t>
            </a:r>
            <a:r>
              <a:rPr dirty="0" sz="1200" spc="-5">
                <a:latin typeface="Times New Roman"/>
                <a:cs typeface="Times New Roman"/>
              </a:rPr>
              <a:t>DFS? 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 is “no”. In general, </a:t>
            </a:r>
            <a:r>
              <a:rPr dirty="0" sz="1200" spc="-10">
                <a:latin typeface="Times New Roman"/>
                <a:cs typeface="Times New Roman"/>
              </a:rPr>
              <a:t>many strong components </a:t>
            </a:r>
            <a:r>
              <a:rPr dirty="0" sz="1200" spc="-5">
                <a:latin typeface="Times New Roman"/>
                <a:cs typeface="Times New Roman"/>
              </a:rPr>
              <a:t>may appear 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 DFS tree as illustrated 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 8.36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2394203" y="6086546"/>
            <a:ext cx="3404235" cy="2590800"/>
            <a:chOff x="2394203" y="6086546"/>
            <a:chExt cx="3404235" cy="2590800"/>
          </a:xfrm>
        </p:grpSpPr>
        <p:sp>
          <p:nvSpPr>
            <p:cNvPr id="31" name="object 31"/>
            <p:cNvSpPr/>
            <p:nvPr/>
          </p:nvSpPr>
          <p:spPr>
            <a:xfrm>
              <a:off x="2394203" y="6086546"/>
              <a:ext cx="3404235" cy="2590800"/>
            </a:xfrm>
            <a:custGeom>
              <a:avLst/>
              <a:gdLst/>
              <a:ahLst/>
              <a:cxnLst/>
              <a:rect l="l" t="t" r="r" b="b"/>
              <a:pathLst>
                <a:path w="3404235" h="2590800">
                  <a:moveTo>
                    <a:pt x="3404189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404189" y="2590601"/>
                  </a:lnTo>
                  <a:lnTo>
                    <a:pt x="3404189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41432" y="6231280"/>
              <a:ext cx="3296762" cy="2398775"/>
            </a:xfrm>
            <a:prstGeom prst="rect">
              <a:avLst/>
            </a:prstGeom>
          </p:spPr>
        </p:pic>
      </p:grpSp>
      <p:sp>
        <p:nvSpPr>
          <p:cNvPr id="33" name="object 33"/>
          <p:cNvSpPr txBox="1"/>
          <p:nvPr/>
        </p:nvSpPr>
        <p:spPr>
          <a:xfrm>
            <a:off x="4221986" y="6341327"/>
            <a:ext cx="82550" cy="1504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8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714570" y="6335615"/>
            <a:ext cx="26543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1/18</a:t>
            </a:r>
            <a:endParaRPr sz="10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984938" y="6847704"/>
            <a:ext cx="58674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  <a:tabLst>
                <a:tab pos="248285" algn="l"/>
              </a:tabLst>
            </a:pPr>
            <a:r>
              <a:rPr dirty="0" baseline="3472" sz="1200" spc="15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baseline="3472" sz="1200" spc="1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14/17</a:t>
            </a:r>
            <a:endParaRPr sz="10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125608" y="6853939"/>
            <a:ext cx="57658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  <a:tabLst>
                <a:tab pos="494030" algn="l"/>
              </a:tabLst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2/13</a:t>
            </a: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8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115219" y="7239306"/>
            <a:ext cx="88265" cy="1504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8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635845" y="7223204"/>
            <a:ext cx="193675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3/4</a:t>
            </a:r>
            <a:endParaRPr sz="10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053190" y="7240868"/>
            <a:ext cx="76200" cy="1504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8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607052" y="7236197"/>
            <a:ext cx="26543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5/12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982335" y="7224764"/>
            <a:ext cx="82550" cy="1504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8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208267" y="7223204"/>
            <a:ext cx="33782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15/16</a:t>
            </a:r>
            <a:endParaRPr sz="10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581652" y="7630392"/>
            <a:ext cx="610235" cy="8420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120"/>
              </a:spcBef>
              <a:tabLst>
                <a:tab pos="465455" algn="l"/>
              </a:tabLst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6/11	</a:t>
            </a:r>
            <a:r>
              <a:rPr dirty="0" baseline="10416" sz="1200" spc="1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baseline="10416"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Arial"/>
              <a:cs typeface="Arial"/>
            </a:endParaRPr>
          </a:p>
          <a:p>
            <a:pPr algn="r" marR="68580">
              <a:lnSpc>
                <a:spcPct val="100000"/>
              </a:lnSpc>
              <a:tabLst>
                <a:tab pos="478790" algn="l"/>
              </a:tabLst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7/10	</a:t>
            </a:r>
            <a:r>
              <a:rPr dirty="0" baseline="3472" sz="1200" spc="7">
                <a:solidFill>
                  <a:srgbClr val="FFFF00"/>
                </a:solidFill>
                <a:latin typeface="Arial"/>
                <a:cs typeface="Arial"/>
              </a:rPr>
              <a:t>I</a:t>
            </a:r>
            <a:endParaRPr baseline="3472"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Arial"/>
              <a:cs typeface="Arial"/>
            </a:endParaRPr>
          </a:p>
          <a:p>
            <a:pPr algn="r" marR="33020">
              <a:lnSpc>
                <a:spcPct val="100000"/>
              </a:lnSpc>
              <a:tabLst>
                <a:tab pos="386715" algn="l"/>
              </a:tabLst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8/9	</a:t>
            </a:r>
            <a:r>
              <a:rPr dirty="0" baseline="3472" sz="1200" spc="15">
                <a:solidFill>
                  <a:srgbClr val="FFFF00"/>
                </a:solidFill>
                <a:latin typeface="Arial"/>
                <a:cs typeface="Arial"/>
              </a:rPr>
              <a:t>H</a:t>
            </a:r>
            <a:endParaRPr baseline="3472" sz="12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722840" y="8742743"/>
            <a:ext cx="27838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8.36: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7" y="520987"/>
            <a:ext cx="6426835" cy="153035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885690" algn="l"/>
              </a:tabLst>
            </a:pPr>
            <a:r>
              <a:rPr dirty="0" sz="1200" spc="-10">
                <a:latin typeface="Times New Roman"/>
                <a:cs typeface="Times New Roman"/>
              </a:rPr>
              <a:t>138	</a:t>
            </a: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way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DFS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true?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Fortunately,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“yes”.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knew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DAG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advance.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ridiculous,</a:t>
            </a:r>
            <a:r>
              <a:rPr dirty="0" sz="1200" spc="-5">
                <a:latin typeface="Times New Roman"/>
                <a:cs typeface="Times New Roman"/>
              </a:rPr>
              <a:t> 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strong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trying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solve.)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Further,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suppose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reversed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topological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order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DAG.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7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DAG,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before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8.37.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DAG</a:t>
            </a:r>
            <a:r>
              <a:rPr dirty="0" sz="1200" spc="-5">
                <a:latin typeface="Times New Roman"/>
                <a:cs typeface="Times New Roman"/>
              </a:rPr>
              <a:t> consists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700783" y="2305502"/>
            <a:ext cx="4789805" cy="2590800"/>
            <a:chOff x="1700783" y="2305502"/>
            <a:chExt cx="4789805" cy="2590800"/>
          </a:xfrm>
        </p:grpSpPr>
        <p:sp>
          <p:nvSpPr>
            <p:cNvPr id="4" name="object 4"/>
            <p:cNvSpPr/>
            <p:nvPr/>
          </p:nvSpPr>
          <p:spPr>
            <a:xfrm>
              <a:off x="1700783" y="2305502"/>
              <a:ext cx="4789805" cy="2590800"/>
            </a:xfrm>
            <a:custGeom>
              <a:avLst/>
              <a:gdLst/>
              <a:ahLst/>
              <a:cxnLst/>
              <a:rect l="l" t="t" r="r" b="b"/>
              <a:pathLst>
                <a:path w="4789805" h="2590800">
                  <a:moveTo>
                    <a:pt x="4789398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4789398" y="2590601"/>
                  </a:lnTo>
                  <a:lnTo>
                    <a:pt x="4789398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276221" y="2839969"/>
              <a:ext cx="567690" cy="0"/>
            </a:xfrm>
            <a:custGeom>
              <a:avLst/>
              <a:gdLst/>
              <a:ahLst/>
              <a:cxnLst/>
              <a:rect l="l" t="t" r="r" b="b"/>
              <a:pathLst>
                <a:path w="567689" h="0">
                  <a:moveTo>
                    <a:pt x="0" y="0"/>
                  </a:moveTo>
                  <a:lnTo>
                    <a:pt x="567644" y="0"/>
                  </a:lnTo>
                </a:path>
              </a:pathLst>
            </a:custGeom>
            <a:ln w="1691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828306" y="2808178"/>
              <a:ext cx="63500" cy="64135"/>
            </a:xfrm>
            <a:custGeom>
              <a:avLst/>
              <a:gdLst/>
              <a:ahLst/>
              <a:cxnLst/>
              <a:rect l="l" t="t" r="r" b="b"/>
              <a:pathLst>
                <a:path w="63500" h="64135">
                  <a:moveTo>
                    <a:pt x="0" y="0"/>
                  </a:moveTo>
                  <a:lnTo>
                    <a:pt x="6095" y="18257"/>
                  </a:lnTo>
                  <a:lnTo>
                    <a:pt x="6766" y="21640"/>
                  </a:lnTo>
                  <a:lnTo>
                    <a:pt x="7452" y="25709"/>
                  </a:lnTo>
                  <a:lnTo>
                    <a:pt x="7452" y="37216"/>
                  </a:lnTo>
                  <a:lnTo>
                    <a:pt x="6095" y="45323"/>
                  </a:lnTo>
                  <a:lnTo>
                    <a:pt x="5410" y="48707"/>
                  </a:lnTo>
                  <a:lnTo>
                    <a:pt x="4739" y="52776"/>
                  </a:lnTo>
                  <a:lnTo>
                    <a:pt x="2026" y="59542"/>
                  </a:lnTo>
                  <a:lnTo>
                    <a:pt x="0" y="63596"/>
                  </a:lnTo>
                  <a:lnTo>
                    <a:pt x="62925" y="317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976524" y="2821025"/>
              <a:ext cx="615315" cy="2540"/>
            </a:xfrm>
            <a:custGeom>
              <a:avLst/>
              <a:gdLst/>
              <a:ahLst/>
              <a:cxnLst/>
              <a:rect l="l" t="t" r="r" b="b"/>
              <a:pathLst>
                <a:path w="615314" h="2539">
                  <a:moveTo>
                    <a:pt x="0" y="2042"/>
                  </a:moveTo>
                  <a:lnTo>
                    <a:pt x="615010" y="0"/>
                  </a:lnTo>
                </a:path>
              </a:pathLst>
            </a:custGeom>
            <a:ln w="1691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575974" y="2789235"/>
              <a:ext cx="63500" cy="64135"/>
            </a:xfrm>
            <a:custGeom>
              <a:avLst/>
              <a:gdLst/>
              <a:ahLst/>
              <a:cxnLst/>
              <a:rect l="l" t="t" r="r" b="b"/>
              <a:pathLst>
                <a:path w="63500" h="64135">
                  <a:moveTo>
                    <a:pt x="0" y="0"/>
                  </a:moveTo>
                  <a:lnTo>
                    <a:pt x="2697" y="6766"/>
                  </a:lnTo>
                  <a:lnTo>
                    <a:pt x="4053" y="10820"/>
                  </a:lnTo>
                  <a:lnTo>
                    <a:pt x="5410" y="14203"/>
                  </a:lnTo>
                  <a:lnTo>
                    <a:pt x="6766" y="22326"/>
                  </a:lnTo>
                  <a:lnTo>
                    <a:pt x="6766" y="25709"/>
                  </a:lnTo>
                  <a:lnTo>
                    <a:pt x="7437" y="29763"/>
                  </a:lnTo>
                  <a:lnTo>
                    <a:pt x="7437" y="37200"/>
                  </a:lnTo>
                  <a:lnTo>
                    <a:pt x="6080" y="45323"/>
                  </a:lnTo>
                  <a:lnTo>
                    <a:pt x="5410" y="48707"/>
                  </a:lnTo>
                  <a:lnTo>
                    <a:pt x="4053" y="52776"/>
                  </a:lnTo>
                  <a:lnTo>
                    <a:pt x="2697" y="56159"/>
                  </a:lnTo>
                  <a:lnTo>
                    <a:pt x="1356" y="60213"/>
                  </a:lnTo>
                  <a:lnTo>
                    <a:pt x="0" y="63596"/>
                  </a:lnTo>
                  <a:lnTo>
                    <a:pt x="62925" y="317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618600" y="2649850"/>
              <a:ext cx="675005" cy="367030"/>
            </a:xfrm>
            <a:custGeom>
              <a:avLst/>
              <a:gdLst/>
              <a:ahLst/>
              <a:cxnLst/>
              <a:rect l="l" t="t" r="r" b="b"/>
              <a:pathLst>
                <a:path w="675004" h="367030">
                  <a:moveTo>
                    <a:pt x="336925" y="0"/>
                  </a:moveTo>
                  <a:lnTo>
                    <a:pt x="278069" y="2712"/>
                  </a:lnTo>
                  <a:lnTo>
                    <a:pt x="221909" y="11506"/>
                  </a:lnTo>
                  <a:lnTo>
                    <a:pt x="168462" y="25039"/>
                  </a:lnTo>
                  <a:lnTo>
                    <a:pt x="119755" y="43312"/>
                  </a:lnTo>
                  <a:lnTo>
                    <a:pt x="78470" y="65638"/>
                  </a:lnTo>
                  <a:lnTo>
                    <a:pt x="44653" y="91348"/>
                  </a:lnTo>
                  <a:lnTo>
                    <a:pt x="19613" y="120441"/>
                  </a:lnTo>
                  <a:lnTo>
                    <a:pt x="670" y="167121"/>
                  </a:lnTo>
                  <a:lnTo>
                    <a:pt x="0" y="183352"/>
                  </a:lnTo>
                  <a:lnTo>
                    <a:pt x="670" y="199598"/>
                  </a:lnTo>
                  <a:lnTo>
                    <a:pt x="19613" y="246278"/>
                  </a:lnTo>
                  <a:lnTo>
                    <a:pt x="44653" y="275371"/>
                  </a:lnTo>
                  <a:lnTo>
                    <a:pt x="78470" y="301751"/>
                  </a:lnTo>
                  <a:lnTo>
                    <a:pt x="119755" y="324764"/>
                  </a:lnTo>
                  <a:lnTo>
                    <a:pt x="168462" y="342351"/>
                  </a:lnTo>
                  <a:lnTo>
                    <a:pt x="221909" y="355884"/>
                  </a:lnTo>
                  <a:lnTo>
                    <a:pt x="278069" y="364007"/>
                  </a:lnTo>
                  <a:lnTo>
                    <a:pt x="336925" y="366704"/>
                  </a:lnTo>
                  <a:lnTo>
                    <a:pt x="366019" y="366034"/>
                  </a:lnTo>
                  <a:lnTo>
                    <a:pt x="424205" y="360624"/>
                  </a:lnTo>
                  <a:lnTo>
                    <a:pt x="479678" y="349788"/>
                  </a:lnTo>
                  <a:lnTo>
                    <a:pt x="529757" y="333557"/>
                  </a:lnTo>
                  <a:lnTo>
                    <a:pt x="575081" y="313943"/>
                  </a:lnTo>
                  <a:lnTo>
                    <a:pt x="612968" y="288904"/>
                  </a:lnTo>
                  <a:lnTo>
                    <a:pt x="642746" y="261167"/>
                  </a:lnTo>
                  <a:lnTo>
                    <a:pt x="669127" y="215158"/>
                  </a:lnTo>
                  <a:lnTo>
                    <a:pt x="674537" y="183352"/>
                  </a:lnTo>
                  <a:lnTo>
                    <a:pt x="673181" y="167121"/>
                  </a:lnTo>
                  <a:lnTo>
                    <a:pt x="653567" y="120441"/>
                  </a:lnTo>
                  <a:lnTo>
                    <a:pt x="612968" y="77815"/>
                  </a:lnTo>
                  <a:lnTo>
                    <a:pt x="575081" y="54132"/>
                  </a:lnTo>
                  <a:lnTo>
                    <a:pt x="529757" y="33162"/>
                  </a:lnTo>
                  <a:lnTo>
                    <a:pt x="479678" y="17602"/>
                  </a:lnTo>
                  <a:lnTo>
                    <a:pt x="424205" y="6095"/>
                  </a:lnTo>
                  <a:lnTo>
                    <a:pt x="366019" y="685"/>
                  </a:lnTo>
                  <a:lnTo>
                    <a:pt x="33692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618600" y="2649850"/>
              <a:ext cx="675005" cy="367030"/>
            </a:xfrm>
            <a:custGeom>
              <a:avLst/>
              <a:gdLst/>
              <a:ahLst/>
              <a:cxnLst/>
              <a:rect l="l" t="t" r="r" b="b"/>
              <a:pathLst>
                <a:path w="675004" h="367030">
                  <a:moveTo>
                    <a:pt x="0" y="183352"/>
                  </a:moveTo>
                  <a:lnTo>
                    <a:pt x="10820" y="136001"/>
                  </a:lnTo>
                  <a:lnTo>
                    <a:pt x="44653" y="91348"/>
                  </a:lnTo>
                  <a:lnTo>
                    <a:pt x="78470" y="65638"/>
                  </a:lnTo>
                  <a:lnTo>
                    <a:pt x="119755" y="43312"/>
                  </a:lnTo>
                  <a:lnTo>
                    <a:pt x="168462" y="25039"/>
                  </a:lnTo>
                  <a:lnTo>
                    <a:pt x="221909" y="11506"/>
                  </a:lnTo>
                  <a:lnTo>
                    <a:pt x="278069" y="2712"/>
                  </a:lnTo>
                  <a:lnTo>
                    <a:pt x="336925" y="0"/>
                  </a:lnTo>
                  <a:lnTo>
                    <a:pt x="366019" y="685"/>
                  </a:lnTo>
                  <a:lnTo>
                    <a:pt x="424205" y="6095"/>
                  </a:lnTo>
                  <a:lnTo>
                    <a:pt x="479678" y="17602"/>
                  </a:lnTo>
                  <a:lnTo>
                    <a:pt x="529757" y="33162"/>
                  </a:lnTo>
                  <a:lnTo>
                    <a:pt x="575081" y="54132"/>
                  </a:lnTo>
                  <a:lnTo>
                    <a:pt x="612968" y="77815"/>
                  </a:lnTo>
                  <a:lnTo>
                    <a:pt x="642746" y="105552"/>
                  </a:lnTo>
                  <a:lnTo>
                    <a:pt x="669127" y="151561"/>
                  </a:lnTo>
                  <a:lnTo>
                    <a:pt x="674537" y="183352"/>
                  </a:lnTo>
                  <a:lnTo>
                    <a:pt x="673181" y="199598"/>
                  </a:lnTo>
                  <a:lnTo>
                    <a:pt x="653567" y="246278"/>
                  </a:lnTo>
                  <a:lnTo>
                    <a:pt x="612968" y="288904"/>
                  </a:lnTo>
                  <a:lnTo>
                    <a:pt x="575081" y="313943"/>
                  </a:lnTo>
                  <a:lnTo>
                    <a:pt x="529757" y="333557"/>
                  </a:lnTo>
                  <a:lnTo>
                    <a:pt x="479678" y="349788"/>
                  </a:lnTo>
                  <a:lnTo>
                    <a:pt x="424205" y="360624"/>
                  </a:lnTo>
                  <a:lnTo>
                    <a:pt x="366019" y="366034"/>
                  </a:lnTo>
                  <a:lnTo>
                    <a:pt x="336925" y="366704"/>
                  </a:lnTo>
                  <a:lnTo>
                    <a:pt x="307162" y="366034"/>
                  </a:lnTo>
                  <a:lnTo>
                    <a:pt x="249646" y="360624"/>
                  </a:lnTo>
                  <a:lnTo>
                    <a:pt x="194172" y="349788"/>
                  </a:lnTo>
                  <a:lnTo>
                    <a:pt x="143423" y="333557"/>
                  </a:lnTo>
                  <a:lnTo>
                    <a:pt x="98099" y="313943"/>
                  </a:lnTo>
                  <a:lnTo>
                    <a:pt x="60213" y="288904"/>
                  </a:lnTo>
                  <a:lnTo>
                    <a:pt x="30434" y="261167"/>
                  </a:lnTo>
                  <a:lnTo>
                    <a:pt x="4053" y="215158"/>
                  </a:lnTo>
                  <a:lnTo>
                    <a:pt x="0" y="183352"/>
                  </a:lnTo>
                </a:path>
              </a:pathLst>
            </a:custGeom>
            <a:ln w="1691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318903" y="2649850"/>
              <a:ext cx="675005" cy="367030"/>
            </a:xfrm>
            <a:custGeom>
              <a:avLst/>
              <a:gdLst/>
              <a:ahLst/>
              <a:cxnLst/>
              <a:rect l="l" t="t" r="r" b="b"/>
              <a:pathLst>
                <a:path w="675005" h="367030">
                  <a:moveTo>
                    <a:pt x="336925" y="0"/>
                  </a:moveTo>
                  <a:lnTo>
                    <a:pt x="279425" y="2712"/>
                  </a:lnTo>
                  <a:lnTo>
                    <a:pt x="221909" y="11506"/>
                  </a:lnTo>
                  <a:lnTo>
                    <a:pt x="168462" y="25039"/>
                  </a:lnTo>
                  <a:lnTo>
                    <a:pt x="120426" y="43312"/>
                  </a:lnTo>
                  <a:lnTo>
                    <a:pt x="78470" y="65638"/>
                  </a:lnTo>
                  <a:lnTo>
                    <a:pt x="45323" y="91348"/>
                  </a:lnTo>
                  <a:lnTo>
                    <a:pt x="11490" y="136001"/>
                  </a:lnTo>
                  <a:lnTo>
                    <a:pt x="0" y="183352"/>
                  </a:lnTo>
                  <a:lnTo>
                    <a:pt x="1341" y="199598"/>
                  </a:lnTo>
                  <a:lnTo>
                    <a:pt x="20970" y="246278"/>
                  </a:lnTo>
                  <a:lnTo>
                    <a:pt x="60883" y="288904"/>
                  </a:lnTo>
                  <a:lnTo>
                    <a:pt x="98770" y="313943"/>
                  </a:lnTo>
                  <a:lnTo>
                    <a:pt x="144109" y="333557"/>
                  </a:lnTo>
                  <a:lnTo>
                    <a:pt x="194843" y="349788"/>
                  </a:lnTo>
                  <a:lnTo>
                    <a:pt x="250332" y="360624"/>
                  </a:lnTo>
                  <a:lnTo>
                    <a:pt x="307832" y="366034"/>
                  </a:lnTo>
                  <a:lnTo>
                    <a:pt x="336925" y="366704"/>
                  </a:lnTo>
                  <a:lnTo>
                    <a:pt x="366704" y="366034"/>
                  </a:lnTo>
                  <a:lnTo>
                    <a:pt x="424875" y="360624"/>
                  </a:lnTo>
                  <a:lnTo>
                    <a:pt x="480364" y="349788"/>
                  </a:lnTo>
                  <a:lnTo>
                    <a:pt x="531098" y="333557"/>
                  </a:lnTo>
                  <a:lnTo>
                    <a:pt x="575751" y="313943"/>
                  </a:lnTo>
                  <a:lnTo>
                    <a:pt x="613653" y="288904"/>
                  </a:lnTo>
                  <a:lnTo>
                    <a:pt x="643417" y="261167"/>
                  </a:lnTo>
                  <a:lnTo>
                    <a:pt x="669797" y="215158"/>
                  </a:lnTo>
                  <a:lnTo>
                    <a:pt x="674537" y="183352"/>
                  </a:lnTo>
                  <a:lnTo>
                    <a:pt x="673867" y="167121"/>
                  </a:lnTo>
                  <a:lnTo>
                    <a:pt x="654237" y="120441"/>
                  </a:lnTo>
                  <a:lnTo>
                    <a:pt x="629213" y="91348"/>
                  </a:lnTo>
                  <a:lnTo>
                    <a:pt x="595381" y="65638"/>
                  </a:lnTo>
                  <a:lnTo>
                    <a:pt x="554111" y="43312"/>
                  </a:lnTo>
                  <a:lnTo>
                    <a:pt x="506074" y="25039"/>
                  </a:lnTo>
                  <a:lnTo>
                    <a:pt x="452627" y="11506"/>
                  </a:lnTo>
                  <a:lnTo>
                    <a:pt x="395782" y="2712"/>
                  </a:lnTo>
                  <a:lnTo>
                    <a:pt x="33692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318903" y="2649850"/>
              <a:ext cx="675005" cy="367030"/>
            </a:xfrm>
            <a:custGeom>
              <a:avLst/>
              <a:gdLst/>
              <a:ahLst/>
              <a:cxnLst/>
              <a:rect l="l" t="t" r="r" b="b"/>
              <a:pathLst>
                <a:path w="675005" h="367030">
                  <a:moveTo>
                    <a:pt x="0" y="183352"/>
                  </a:moveTo>
                  <a:lnTo>
                    <a:pt x="11490" y="136001"/>
                  </a:lnTo>
                  <a:lnTo>
                    <a:pt x="45323" y="91348"/>
                  </a:lnTo>
                  <a:lnTo>
                    <a:pt x="78470" y="65638"/>
                  </a:lnTo>
                  <a:lnTo>
                    <a:pt x="120426" y="43312"/>
                  </a:lnTo>
                  <a:lnTo>
                    <a:pt x="168462" y="25039"/>
                  </a:lnTo>
                  <a:lnTo>
                    <a:pt x="221909" y="11506"/>
                  </a:lnTo>
                  <a:lnTo>
                    <a:pt x="279425" y="2712"/>
                  </a:lnTo>
                  <a:lnTo>
                    <a:pt x="336925" y="0"/>
                  </a:lnTo>
                  <a:lnTo>
                    <a:pt x="366704" y="685"/>
                  </a:lnTo>
                  <a:lnTo>
                    <a:pt x="424875" y="6095"/>
                  </a:lnTo>
                  <a:lnTo>
                    <a:pt x="480364" y="17602"/>
                  </a:lnTo>
                  <a:lnTo>
                    <a:pt x="531098" y="33162"/>
                  </a:lnTo>
                  <a:lnTo>
                    <a:pt x="575751" y="54132"/>
                  </a:lnTo>
                  <a:lnTo>
                    <a:pt x="613653" y="77815"/>
                  </a:lnTo>
                  <a:lnTo>
                    <a:pt x="643417" y="105552"/>
                  </a:lnTo>
                  <a:lnTo>
                    <a:pt x="669797" y="151561"/>
                  </a:lnTo>
                  <a:lnTo>
                    <a:pt x="674537" y="183352"/>
                  </a:lnTo>
                  <a:lnTo>
                    <a:pt x="673867" y="199598"/>
                  </a:lnTo>
                  <a:lnTo>
                    <a:pt x="654237" y="246278"/>
                  </a:lnTo>
                  <a:lnTo>
                    <a:pt x="629213" y="275371"/>
                  </a:lnTo>
                  <a:lnTo>
                    <a:pt x="595381" y="301751"/>
                  </a:lnTo>
                  <a:lnTo>
                    <a:pt x="554111" y="324764"/>
                  </a:lnTo>
                  <a:lnTo>
                    <a:pt x="506074" y="342351"/>
                  </a:lnTo>
                  <a:lnTo>
                    <a:pt x="452627" y="355884"/>
                  </a:lnTo>
                  <a:lnTo>
                    <a:pt x="395782" y="364007"/>
                  </a:lnTo>
                  <a:lnTo>
                    <a:pt x="336925" y="366704"/>
                  </a:lnTo>
                  <a:lnTo>
                    <a:pt x="307832" y="366034"/>
                  </a:lnTo>
                  <a:lnTo>
                    <a:pt x="250332" y="360624"/>
                  </a:lnTo>
                  <a:lnTo>
                    <a:pt x="194843" y="349788"/>
                  </a:lnTo>
                  <a:lnTo>
                    <a:pt x="144109" y="333557"/>
                  </a:lnTo>
                  <a:lnTo>
                    <a:pt x="98770" y="313943"/>
                  </a:lnTo>
                  <a:lnTo>
                    <a:pt x="60883" y="288904"/>
                  </a:lnTo>
                  <a:lnTo>
                    <a:pt x="31790" y="261167"/>
                  </a:lnTo>
                  <a:lnTo>
                    <a:pt x="5410" y="215158"/>
                  </a:lnTo>
                  <a:lnTo>
                    <a:pt x="0" y="183352"/>
                  </a:lnTo>
                </a:path>
              </a:pathLst>
            </a:custGeom>
            <a:ln w="1691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900025" y="2649850"/>
              <a:ext cx="675640" cy="367030"/>
            </a:xfrm>
            <a:custGeom>
              <a:avLst/>
              <a:gdLst/>
              <a:ahLst/>
              <a:cxnLst/>
              <a:rect l="l" t="t" r="r" b="b"/>
              <a:pathLst>
                <a:path w="675639" h="367030">
                  <a:moveTo>
                    <a:pt x="337611" y="0"/>
                  </a:moveTo>
                  <a:lnTo>
                    <a:pt x="278754" y="2712"/>
                  </a:lnTo>
                  <a:lnTo>
                    <a:pt x="222595" y="11506"/>
                  </a:lnTo>
                  <a:lnTo>
                    <a:pt x="169148" y="25039"/>
                  </a:lnTo>
                  <a:lnTo>
                    <a:pt x="120426" y="43312"/>
                  </a:lnTo>
                  <a:lnTo>
                    <a:pt x="79156" y="65638"/>
                  </a:lnTo>
                  <a:lnTo>
                    <a:pt x="45338" y="91348"/>
                  </a:lnTo>
                  <a:lnTo>
                    <a:pt x="20299" y="120441"/>
                  </a:lnTo>
                  <a:lnTo>
                    <a:pt x="1356" y="167121"/>
                  </a:lnTo>
                  <a:lnTo>
                    <a:pt x="0" y="183352"/>
                  </a:lnTo>
                  <a:lnTo>
                    <a:pt x="1356" y="199598"/>
                  </a:lnTo>
                  <a:lnTo>
                    <a:pt x="20299" y="246278"/>
                  </a:lnTo>
                  <a:lnTo>
                    <a:pt x="45338" y="275371"/>
                  </a:lnTo>
                  <a:lnTo>
                    <a:pt x="79156" y="301751"/>
                  </a:lnTo>
                  <a:lnTo>
                    <a:pt x="120426" y="324764"/>
                  </a:lnTo>
                  <a:lnTo>
                    <a:pt x="169148" y="342351"/>
                  </a:lnTo>
                  <a:lnTo>
                    <a:pt x="222595" y="355884"/>
                  </a:lnTo>
                  <a:lnTo>
                    <a:pt x="278754" y="364007"/>
                  </a:lnTo>
                  <a:lnTo>
                    <a:pt x="337611" y="366704"/>
                  </a:lnTo>
                  <a:lnTo>
                    <a:pt x="366704" y="366034"/>
                  </a:lnTo>
                  <a:lnTo>
                    <a:pt x="424891" y="360624"/>
                  </a:lnTo>
                  <a:lnTo>
                    <a:pt x="479694" y="349788"/>
                  </a:lnTo>
                  <a:lnTo>
                    <a:pt x="530428" y="333557"/>
                  </a:lnTo>
                  <a:lnTo>
                    <a:pt x="575767" y="313943"/>
                  </a:lnTo>
                  <a:lnTo>
                    <a:pt x="613653" y="288904"/>
                  </a:lnTo>
                  <a:lnTo>
                    <a:pt x="643417" y="261167"/>
                  </a:lnTo>
                  <a:lnTo>
                    <a:pt x="669813" y="215158"/>
                  </a:lnTo>
                  <a:lnTo>
                    <a:pt x="675223" y="183352"/>
                  </a:lnTo>
                  <a:lnTo>
                    <a:pt x="673867" y="167121"/>
                  </a:lnTo>
                  <a:lnTo>
                    <a:pt x="654923" y="120441"/>
                  </a:lnTo>
                  <a:lnTo>
                    <a:pt x="629884" y="91348"/>
                  </a:lnTo>
                  <a:lnTo>
                    <a:pt x="596066" y="65638"/>
                  </a:lnTo>
                  <a:lnTo>
                    <a:pt x="554111" y="43312"/>
                  </a:lnTo>
                  <a:lnTo>
                    <a:pt x="506074" y="25039"/>
                  </a:lnTo>
                  <a:lnTo>
                    <a:pt x="453313" y="11506"/>
                  </a:lnTo>
                  <a:lnTo>
                    <a:pt x="395798" y="2712"/>
                  </a:lnTo>
                  <a:lnTo>
                    <a:pt x="337611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797911" y="2423200"/>
              <a:ext cx="2777490" cy="593725"/>
            </a:xfrm>
            <a:custGeom>
              <a:avLst/>
              <a:gdLst/>
              <a:ahLst/>
              <a:cxnLst/>
              <a:rect l="l" t="t" r="r" b="b"/>
              <a:pathLst>
                <a:path w="2777490" h="593725">
                  <a:moveTo>
                    <a:pt x="2102114" y="410001"/>
                  </a:moveTo>
                  <a:lnTo>
                    <a:pt x="2113620" y="362651"/>
                  </a:lnTo>
                  <a:lnTo>
                    <a:pt x="2147453" y="317997"/>
                  </a:lnTo>
                  <a:lnTo>
                    <a:pt x="2181270" y="292287"/>
                  </a:lnTo>
                  <a:lnTo>
                    <a:pt x="2222540" y="269961"/>
                  </a:lnTo>
                  <a:lnTo>
                    <a:pt x="2271262" y="251688"/>
                  </a:lnTo>
                  <a:lnTo>
                    <a:pt x="2324709" y="238155"/>
                  </a:lnTo>
                  <a:lnTo>
                    <a:pt x="2380868" y="229361"/>
                  </a:lnTo>
                  <a:lnTo>
                    <a:pt x="2439725" y="226649"/>
                  </a:lnTo>
                  <a:lnTo>
                    <a:pt x="2468818" y="227335"/>
                  </a:lnTo>
                  <a:lnTo>
                    <a:pt x="2527005" y="232745"/>
                  </a:lnTo>
                  <a:lnTo>
                    <a:pt x="2581808" y="244251"/>
                  </a:lnTo>
                  <a:lnTo>
                    <a:pt x="2632542" y="259811"/>
                  </a:lnTo>
                  <a:lnTo>
                    <a:pt x="2677881" y="280781"/>
                  </a:lnTo>
                  <a:lnTo>
                    <a:pt x="2715767" y="304464"/>
                  </a:lnTo>
                  <a:lnTo>
                    <a:pt x="2745531" y="332201"/>
                  </a:lnTo>
                  <a:lnTo>
                    <a:pt x="2771927" y="378211"/>
                  </a:lnTo>
                  <a:lnTo>
                    <a:pt x="2777337" y="410001"/>
                  </a:lnTo>
                  <a:lnTo>
                    <a:pt x="2775981" y="426247"/>
                  </a:lnTo>
                  <a:lnTo>
                    <a:pt x="2757037" y="472927"/>
                  </a:lnTo>
                  <a:lnTo>
                    <a:pt x="2731998" y="502020"/>
                  </a:lnTo>
                  <a:lnTo>
                    <a:pt x="2698180" y="528401"/>
                  </a:lnTo>
                  <a:lnTo>
                    <a:pt x="2656225" y="551413"/>
                  </a:lnTo>
                  <a:lnTo>
                    <a:pt x="2608188" y="569000"/>
                  </a:lnTo>
                  <a:lnTo>
                    <a:pt x="2555427" y="582533"/>
                  </a:lnTo>
                  <a:lnTo>
                    <a:pt x="2497912" y="590656"/>
                  </a:lnTo>
                  <a:lnTo>
                    <a:pt x="2439725" y="593354"/>
                  </a:lnTo>
                  <a:lnTo>
                    <a:pt x="2409962" y="592683"/>
                  </a:lnTo>
                  <a:lnTo>
                    <a:pt x="2351775" y="587273"/>
                  </a:lnTo>
                  <a:lnTo>
                    <a:pt x="2296972" y="576437"/>
                  </a:lnTo>
                  <a:lnTo>
                    <a:pt x="2246223" y="560207"/>
                  </a:lnTo>
                  <a:lnTo>
                    <a:pt x="2200899" y="540593"/>
                  </a:lnTo>
                  <a:lnTo>
                    <a:pt x="2163013" y="515553"/>
                  </a:lnTo>
                  <a:lnTo>
                    <a:pt x="2133234" y="487817"/>
                  </a:lnTo>
                  <a:lnTo>
                    <a:pt x="2106853" y="441807"/>
                  </a:lnTo>
                  <a:lnTo>
                    <a:pt x="2102114" y="410001"/>
                  </a:lnTo>
                </a:path>
                <a:path w="2777490" h="593725">
                  <a:moveTo>
                    <a:pt x="0" y="246278"/>
                  </a:moveTo>
                  <a:lnTo>
                    <a:pt x="51419" y="201625"/>
                  </a:lnTo>
                  <a:lnTo>
                    <a:pt x="106222" y="162382"/>
                  </a:lnTo>
                  <a:lnTo>
                    <a:pt x="164409" y="127878"/>
                  </a:lnTo>
                  <a:lnTo>
                    <a:pt x="225978" y="98115"/>
                  </a:lnTo>
                  <a:lnTo>
                    <a:pt x="289575" y="73075"/>
                  </a:lnTo>
                  <a:lnTo>
                    <a:pt x="355884" y="51419"/>
                  </a:lnTo>
                  <a:lnTo>
                    <a:pt x="424891" y="34503"/>
                  </a:lnTo>
                  <a:lnTo>
                    <a:pt x="496610" y="20985"/>
                  </a:lnTo>
                  <a:lnTo>
                    <a:pt x="569671" y="11506"/>
                  </a:lnTo>
                  <a:lnTo>
                    <a:pt x="644773" y="4739"/>
                  </a:lnTo>
                  <a:lnTo>
                    <a:pt x="721232" y="685"/>
                  </a:lnTo>
                  <a:lnTo>
                    <a:pt x="799703" y="0"/>
                  </a:lnTo>
                  <a:lnTo>
                    <a:pt x="878875" y="2026"/>
                  </a:lnTo>
                  <a:lnTo>
                    <a:pt x="959388" y="6095"/>
                  </a:lnTo>
                  <a:lnTo>
                    <a:pt x="1041242" y="12862"/>
                  </a:lnTo>
                  <a:lnTo>
                    <a:pt x="1122441" y="21656"/>
                  </a:lnTo>
                  <a:lnTo>
                    <a:pt x="1205651" y="31805"/>
                  </a:lnTo>
                  <a:lnTo>
                    <a:pt x="1288191" y="43982"/>
                  </a:lnTo>
                  <a:lnTo>
                    <a:pt x="1370746" y="56829"/>
                  </a:lnTo>
                  <a:lnTo>
                    <a:pt x="1453956" y="71719"/>
                  </a:lnTo>
                  <a:lnTo>
                    <a:pt x="1537182" y="87279"/>
                  </a:lnTo>
                  <a:lnTo>
                    <a:pt x="1618366" y="103525"/>
                  </a:lnTo>
                  <a:lnTo>
                    <a:pt x="1700235" y="120441"/>
                  </a:lnTo>
                  <a:lnTo>
                    <a:pt x="1781418" y="138028"/>
                  </a:lnTo>
                  <a:lnTo>
                    <a:pt x="1860575" y="155615"/>
                  </a:lnTo>
                  <a:lnTo>
                    <a:pt x="1939061" y="172532"/>
                  </a:lnTo>
                  <a:lnTo>
                    <a:pt x="2016190" y="189448"/>
                  </a:lnTo>
                  <a:lnTo>
                    <a:pt x="2091293" y="206364"/>
                  </a:lnTo>
                  <a:lnTo>
                    <a:pt x="2165040" y="221924"/>
                  </a:lnTo>
                  <a:lnTo>
                    <a:pt x="2236759" y="236799"/>
                  </a:lnTo>
                </a:path>
              </a:pathLst>
            </a:custGeom>
            <a:ln w="1691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013015" y="2625496"/>
              <a:ext cx="68580" cy="62865"/>
            </a:xfrm>
            <a:custGeom>
              <a:avLst/>
              <a:gdLst/>
              <a:ahLst/>
              <a:cxnLst/>
              <a:rect l="l" t="t" r="r" b="b"/>
              <a:pathLst>
                <a:path w="68579" h="62864">
                  <a:moveTo>
                    <a:pt x="12176" y="0"/>
                  </a:moveTo>
                  <a:lnTo>
                    <a:pt x="13533" y="4069"/>
                  </a:lnTo>
                  <a:lnTo>
                    <a:pt x="14203" y="7452"/>
                  </a:lnTo>
                  <a:lnTo>
                    <a:pt x="14203" y="11506"/>
                  </a:lnTo>
                  <a:lnTo>
                    <a:pt x="14889" y="15560"/>
                  </a:lnTo>
                  <a:lnTo>
                    <a:pt x="14889" y="23012"/>
                  </a:lnTo>
                  <a:lnTo>
                    <a:pt x="14203" y="27066"/>
                  </a:lnTo>
                  <a:lnTo>
                    <a:pt x="14203" y="31120"/>
                  </a:lnTo>
                  <a:lnTo>
                    <a:pt x="12862" y="34503"/>
                  </a:lnTo>
                  <a:lnTo>
                    <a:pt x="12176" y="38572"/>
                  </a:lnTo>
                  <a:lnTo>
                    <a:pt x="10820" y="41955"/>
                  </a:lnTo>
                  <a:lnTo>
                    <a:pt x="9479" y="46009"/>
                  </a:lnTo>
                  <a:lnTo>
                    <a:pt x="8122" y="49392"/>
                  </a:lnTo>
                  <a:lnTo>
                    <a:pt x="6095" y="52776"/>
                  </a:lnTo>
                  <a:lnTo>
                    <a:pt x="4739" y="56159"/>
                  </a:lnTo>
                  <a:lnTo>
                    <a:pt x="2026" y="59542"/>
                  </a:lnTo>
                  <a:lnTo>
                    <a:pt x="0" y="62255"/>
                  </a:lnTo>
                  <a:lnTo>
                    <a:pt x="68336" y="43982"/>
                  </a:lnTo>
                  <a:lnTo>
                    <a:pt x="1217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345243" y="4270928"/>
              <a:ext cx="567055" cy="0"/>
            </a:xfrm>
            <a:custGeom>
              <a:avLst/>
              <a:gdLst/>
              <a:ahLst/>
              <a:cxnLst/>
              <a:rect l="l" t="t" r="r" b="b"/>
              <a:pathLst>
                <a:path w="567054" h="0">
                  <a:moveTo>
                    <a:pt x="0" y="0"/>
                  </a:moveTo>
                  <a:lnTo>
                    <a:pt x="566958" y="0"/>
                  </a:lnTo>
                </a:path>
              </a:pathLst>
            </a:custGeom>
            <a:ln w="1691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97207" y="4239123"/>
              <a:ext cx="63596" cy="63611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046216" y="4251985"/>
              <a:ext cx="614045" cy="2540"/>
            </a:xfrm>
            <a:custGeom>
              <a:avLst/>
              <a:gdLst/>
              <a:ahLst/>
              <a:cxnLst/>
              <a:rect l="l" t="t" r="r" b="b"/>
              <a:pathLst>
                <a:path w="614045" h="2539">
                  <a:moveTo>
                    <a:pt x="0" y="2026"/>
                  </a:moveTo>
                  <a:lnTo>
                    <a:pt x="613653" y="0"/>
                  </a:lnTo>
                </a:path>
              </a:pathLst>
            </a:custGeom>
            <a:ln w="1691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998180" y="4222892"/>
              <a:ext cx="64135" cy="63500"/>
            </a:xfrm>
            <a:custGeom>
              <a:avLst/>
              <a:gdLst/>
              <a:ahLst/>
              <a:cxnLst/>
              <a:rect l="l" t="t" r="r" b="b"/>
              <a:pathLst>
                <a:path w="64135" h="63500">
                  <a:moveTo>
                    <a:pt x="63596" y="0"/>
                  </a:moveTo>
                  <a:lnTo>
                    <a:pt x="0" y="31120"/>
                  </a:lnTo>
                  <a:lnTo>
                    <a:pt x="63596" y="62925"/>
                  </a:lnTo>
                  <a:lnTo>
                    <a:pt x="61569" y="59542"/>
                  </a:lnTo>
                  <a:lnTo>
                    <a:pt x="60213" y="56159"/>
                  </a:lnTo>
                  <a:lnTo>
                    <a:pt x="58856" y="52090"/>
                  </a:lnTo>
                  <a:lnTo>
                    <a:pt x="58186" y="48707"/>
                  </a:lnTo>
                  <a:lnTo>
                    <a:pt x="56829" y="40599"/>
                  </a:lnTo>
                  <a:lnTo>
                    <a:pt x="56159" y="37216"/>
                  </a:lnTo>
                  <a:lnTo>
                    <a:pt x="56159" y="25709"/>
                  </a:lnTo>
                  <a:lnTo>
                    <a:pt x="56829" y="21656"/>
                  </a:lnTo>
                  <a:lnTo>
                    <a:pt x="56829" y="17586"/>
                  </a:lnTo>
                  <a:lnTo>
                    <a:pt x="58186" y="14203"/>
                  </a:lnTo>
                  <a:lnTo>
                    <a:pt x="58856" y="10149"/>
                  </a:lnTo>
                  <a:lnTo>
                    <a:pt x="60213" y="7437"/>
                  </a:lnTo>
                  <a:lnTo>
                    <a:pt x="61569" y="3383"/>
                  </a:lnTo>
                  <a:lnTo>
                    <a:pt x="6359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638900" y="4058483"/>
              <a:ext cx="675640" cy="367665"/>
            </a:xfrm>
            <a:custGeom>
              <a:avLst/>
              <a:gdLst/>
              <a:ahLst/>
              <a:cxnLst/>
              <a:rect l="l" t="t" r="r" b="b"/>
              <a:pathLst>
                <a:path w="675639" h="367664">
                  <a:moveTo>
                    <a:pt x="337596" y="0"/>
                  </a:moveTo>
                  <a:lnTo>
                    <a:pt x="278739" y="2712"/>
                  </a:lnTo>
                  <a:lnTo>
                    <a:pt x="222580" y="10820"/>
                  </a:lnTo>
                  <a:lnTo>
                    <a:pt x="169133" y="24353"/>
                  </a:lnTo>
                  <a:lnTo>
                    <a:pt x="120426" y="42626"/>
                  </a:lnTo>
                  <a:lnTo>
                    <a:pt x="79156" y="65623"/>
                  </a:lnTo>
                  <a:lnTo>
                    <a:pt x="45323" y="92019"/>
                  </a:lnTo>
                  <a:lnTo>
                    <a:pt x="20284" y="121112"/>
                  </a:lnTo>
                  <a:lnTo>
                    <a:pt x="1341" y="167792"/>
                  </a:lnTo>
                  <a:lnTo>
                    <a:pt x="0" y="183352"/>
                  </a:lnTo>
                  <a:lnTo>
                    <a:pt x="1341" y="198912"/>
                  </a:lnTo>
                  <a:lnTo>
                    <a:pt x="20284" y="246278"/>
                  </a:lnTo>
                  <a:lnTo>
                    <a:pt x="45323" y="275371"/>
                  </a:lnTo>
                  <a:lnTo>
                    <a:pt x="79156" y="301751"/>
                  </a:lnTo>
                  <a:lnTo>
                    <a:pt x="120426" y="324078"/>
                  </a:lnTo>
                  <a:lnTo>
                    <a:pt x="169133" y="342351"/>
                  </a:lnTo>
                  <a:lnTo>
                    <a:pt x="222580" y="355884"/>
                  </a:lnTo>
                  <a:lnTo>
                    <a:pt x="278739" y="364677"/>
                  </a:lnTo>
                  <a:lnTo>
                    <a:pt x="337596" y="367375"/>
                  </a:lnTo>
                  <a:lnTo>
                    <a:pt x="366689" y="366704"/>
                  </a:lnTo>
                  <a:lnTo>
                    <a:pt x="424875" y="361294"/>
                  </a:lnTo>
                  <a:lnTo>
                    <a:pt x="480364" y="349788"/>
                  </a:lnTo>
                  <a:lnTo>
                    <a:pt x="531098" y="334228"/>
                  </a:lnTo>
                  <a:lnTo>
                    <a:pt x="575751" y="313258"/>
                  </a:lnTo>
                  <a:lnTo>
                    <a:pt x="613638" y="288904"/>
                  </a:lnTo>
                  <a:lnTo>
                    <a:pt x="643417" y="261152"/>
                  </a:lnTo>
                  <a:lnTo>
                    <a:pt x="669797" y="215158"/>
                  </a:lnTo>
                  <a:lnTo>
                    <a:pt x="675208" y="183352"/>
                  </a:lnTo>
                  <a:lnTo>
                    <a:pt x="673867" y="167792"/>
                  </a:lnTo>
                  <a:lnTo>
                    <a:pt x="654923" y="121112"/>
                  </a:lnTo>
                  <a:lnTo>
                    <a:pt x="629884" y="92019"/>
                  </a:lnTo>
                  <a:lnTo>
                    <a:pt x="596051" y="65623"/>
                  </a:lnTo>
                  <a:lnTo>
                    <a:pt x="554111" y="42626"/>
                  </a:lnTo>
                  <a:lnTo>
                    <a:pt x="506074" y="24353"/>
                  </a:lnTo>
                  <a:lnTo>
                    <a:pt x="453298" y="10820"/>
                  </a:lnTo>
                  <a:lnTo>
                    <a:pt x="396468" y="2712"/>
                  </a:lnTo>
                  <a:lnTo>
                    <a:pt x="337596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638900" y="4058483"/>
              <a:ext cx="675640" cy="367665"/>
            </a:xfrm>
            <a:custGeom>
              <a:avLst/>
              <a:gdLst/>
              <a:ahLst/>
              <a:cxnLst/>
              <a:rect l="l" t="t" r="r" b="b"/>
              <a:pathLst>
                <a:path w="675639" h="367664">
                  <a:moveTo>
                    <a:pt x="0" y="183352"/>
                  </a:moveTo>
                  <a:lnTo>
                    <a:pt x="11490" y="135986"/>
                  </a:lnTo>
                  <a:lnTo>
                    <a:pt x="45323" y="92019"/>
                  </a:lnTo>
                  <a:lnTo>
                    <a:pt x="79156" y="65623"/>
                  </a:lnTo>
                  <a:lnTo>
                    <a:pt x="120426" y="42626"/>
                  </a:lnTo>
                  <a:lnTo>
                    <a:pt x="169133" y="24353"/>
                  </a:lnTo>
                  <a:lnTo>
                    <a:pt x="222580" y="10820"/>
                  </a:lnTo>
                  <a:lnTo>
                    <a:pt x="278739" y="2712"/>
                  </a:lnTo>
                  <a:lnTo>
                    <a:pt x="337596" y="0"/>
                  </a:lnTo>
                  <a:lnTo>
                    <a:pt x="366689" y="670"/>
                  </a:lnTo>
                  <a:lnTo>
                    <a:pt x="424875" y="6095"/>
                  </a:lnTo>
                  <a:lnTo>
                    <a:pt x="480364" y="16916"/>
                  </a:lnTo>
                  <a:lnTo>
                    <a:pt x="531098" y="33146"/>
                  </a:lnTo>
                  <a:lnTo>
                    <a:pt x="575751" y="53446"/>
                  </a:lnTo>
                  <a:lnTo>
                    <a:pt x="613638" y="78485"/>
                  </a:lnTo>
                  <a:lnTo>
                    <a:pt x="643417" y="106222"/>
                  </a:lnTo>
                  <a:lnTo>
                    <a:pt x="669797" y="152232"/>
                  </a:lnTo>
                  <a:lnTo>
                    <a:pt x="675208" y="183352"/>
                  </a:lnTo>
                  <a:lnTo>
                    <a:pt x="673867" y="198912"/>
                  </a:lnTo>
                  <a:lnTo>
                    <a:pt x="654923" y="246278"/>
                  </a:lnTo>
                  <a:lnTo>
                    <a:pt x="629884" y="275371"/>
                  </a:lnTo>
                  <a:lnTo>
                    <a:pt x="596051" y="301751"/>
                  </a:lnTo>
                  <a:lnTo>
                    <a:pt x="554111" y="324078"/>
                  </a:lnTo>
                  <a:lnTo>
                    <a:pt x="506074" y="342351"/>
                  </a:lnTo>
                  <a:lnTo>
                    <a:pt x="453298" y="355884"/>
                  </a:lnTo>
                  <a:lnTo>
                    <a:pt x="396468" y="364677"/>
                  </a:lnTo>
                  <a:lnTo>
                    <a:pt x="337596" y="367375"/>
                  </a:lnTo>
                  <a:lnTo>
                    <a:pt x="307832" y="366704"/>
                  </a:lnTo>
                  <a:lnTo>
                    <a:pt x="249646" y="361294"/>
                  </a:lnTo>
                  <a:lnTo>
                    <a:pt x="194843" y="349788"/>
                  </a:lnTo>
                  <a:lnTo>
                    <a:pt x="144109" y="334228"/>
                  </a:lnTo>
                  <a:lnTo>
                    <a:pt x="98770" y="313258"/>
                  </a:lnTo>
                  <a:lnTo>
                    <a:pt x="60883" y="288904"/>
                  </a:lnTo>
                  <a:lnTo>
                    <a:pt x="31790" y="261152"/>
                  </a:lnTo>
                  <a:lnTo>
                    <a:pt x="4724" y="215158"/>
                  </a:lnTo>
                  <a:lnTo>
                    <a:pt x="0" y="183352"/>
                  </a:lnTo>
                </a:path>
              </a:pathLst>
            </a:custGeom>
            <a:ln w="1691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3864862" y="4141184"/>
            <a:ext cx="238760" cy="1879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050" spc="5">
                <a:solidFill>
                  <a:srgbClr val="FFFF00"/>
                </a:solidFill>
                <a:latin typeface="Arial"/>
                <a:cs typeface="Arial"/>
              </a:rPr>
              <a:t>D,E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4899576" y="4049910"/>
            <a:ext cx="692785" cy="384810"/>
            <a:chOff x="4899576" y="4049910"/>
            <a:chExt cx="692785" cy="384810"/>
          </a:xfrm>
        </p:grpSpPr>
        <p:sp>
          <p:nvSpPr>
            <p:cNvPr id="24" name="object 24"/>
            <p:cNvSpPr/>
            <p:nvPr/>
          </p:nvSpPr>
          <p:spPr>
            <a:xfrm>
              <a:off x="4908148" y="4058483"/>
              <a:ext cx="675640" cy="367665"/>
            </a:xfrm>
            <a:custGeom>
              <a:avLst/>
              <a:gdLst/>
              <a:ahLst/>
              <a:cxnLst/>
              <a:rect l="l" t="t" r="r" b="b"/>
              <a:pathLst>
                <a:path w="675639" h="367664">
                  <a:moveTo>
                    <a:pt x="337611" y="0"/>
                  </a:moveTo>
                  <a:lnTo>
                    <a:pt x="278739" y="2712"/>
                  </a:lnTo>
                  <a:lnTo>
                    <a:pt x="221909" y="10820"/>
                  </a:lnTo>
                  <a:lnTo>
                    <a:pt x="169148" y="24353"/>
                  </a:lnTo>
                  <a:lnTo>
                    <a:pt x="121097" y="42626"/>
                  </a:lnTo>
                  <a:lnTo>
                    <a:pt x="79156" y="65623"/>
                  </a:lnTo>
                  <a:lnTo>
                    <a:pt x="45323" y="92019"/>
                  </a:lnTo>
                  <a:lnTo>
                    <a:pt x="20299" y="121112"/>
                  </a:lnTo>
                  <a:lnTo>
                    <a:pt x="1356" y="167792"/>
                  </a:lnTo>
                  <a:lnTo>
                    <a:pt x="0" y="183352"/>
                  </a:lnTo>
                  <a:lnTo>
                    <a:pt x="1356" y="198912"/>
                  </a:lnTo>
                  <a:lnTo>
                    <a:pt x="20299" y="246278"/>
                  </a:lnTo>
                  <a:lnTo>
                    <a:pt x="45323" y="275371"/>
                  </a:lnTo>
                  <a:lnTo>
                    <a:pt x="79156" y="301751"/>
                  </a:lnTo>
                  <a:lnTo>
                    <a:pt x="121097" y="324078"/>
                  </a:lnTo>
                  <a:lnTo>
                    <a:pt x="169148" y="342351"/>
                  </a:lnTo>
                  <a:lnTo>
                    <a:pt x="221909" y="355884"/>
                  </a:lnTo>
                  <a:lnTo>
                    <a:pt x="278739" y="364677"/>
                  </a:lnTo>
                  <a:lnTo>
                    <a:pt x="337611" y="367375"/>
                  </a:lnTo>
                  <a:lnTo>
                    <a:pt x="367375" y="366704"/>
                  </a:lnTo>
                  <a:lnTo>
                    <a:pt x="425561" y="361294"/>
                  </a:lnTo>
                  <a:lnTo>
                    <a:pt x="479694" y="349788"/>
                  </a:lnTo>
                  <a:lnTo>
                    <a:pt x="531113" y="334228"/>
                  </a:lnTo>
                  <a:lnTo>
                    <a:pt x="576437" y="313258"/>
                  </a:lnTo>
                  <a:lnTo>
                    <a:pt x="614324" y="288904"/>
                  </a:lnTo>
                  <a:lnTo>
                    <a:pt x="643417" y="261152"/>
                  </a:lnTo>
                  <a:lnTo>
                    <a:pt x="670483" y="215158"/>
                  </a:lnTo>
                  <a:lnTo>
                    <a:pt x="675223" y="183352"/>
                  </a:lnTo>
                  <a:lnTo>
                    <a:pt x="673867" y="167792"/>
                  </a:lnTo>
                  <a:lnTo>
                    <a:pt x="654923" y="121112"/>
                  </a:lnTo>
                  <a:lnTo>
                    <a:pt x="629884" y="92019"/>
                  </a:lnTo>
                  <a:lnTo>
                    <a:pt x="596066" y="65623"/>
                  </a:lnTo>
                  <a:lnTo>
                    <a:pt x="554781" y="42626"/>
                  </a:lnTo>
                  <a:lnTo>
                    <a:pt x="506074" y="24353"/>
                  </a:lnTo>
                  <a:lnTo>
                    <a:pt x="453298" y="10820"/>
                  </a:lnTo>
                  <a:lnTo>
                    <a:pt x="396468" y="2712"/>
                  </a:lnTo>
                  <a:lnTo>
                    <a:pt x="337611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908148" y="4058483"/>
              <a:ext cx="675640" cy="367665"/>
            </a:xfrm>
            <a:custGeom>
              <a:avLst/>
              <a:gdLst/>
              <a:ahLst/>
              <a:cxnLst/>
              <a:rect l="l" t="t" r="r" b="b"/>
              <a:pathLst>
                <a:path w="675639" h="367664">
                  <a:moveTo>
                    <a:pt x="0" y="183352"/>
                  </a:moveTo>
                  <a:lnTo>
                    <a:pt x="11506" y="135986"/>
                  </a:lnTo>
                  <a:lnTo>
                    <a:pt x="45323" y="92019"/>
                  </a:lnTo>
                  <a:lnTo>
                    <a:pt x="79156" y="65623"/>
                  </a:lnTo>
                  <a:lnTo>
                    <a:pt x="121097" y="42626"/>
                  </a:lnTo>
                  <a:lnTo>
                    <a:pt x="169148" y="24353"/>
                  </a:lnTo>
                  <a:lnTo>
                    <a:pt x="221909" y="10820"/>
                  </a:lnTo>
                  <a:lnTo>
                    <a:pt x="278739" y="2712"/>
                  </a:lnTo>
                  <a:lnTo>
                    <a:pt x="337611" y="0"/>
                  </a:lnTo>
                  <a:lnTo>
                    <a:pt x="367375" y="670"/>
                  </a:lnTo>
                  <a:lnTo>
                    <a:pt x="425561" y="6095"/>
                  </a:lnTo>
                  <a:lnTo>
                    <a:pt x="479694" y="16916"/>
                  </a:lnTo>
                  <a:lnTo>
                    <a:pt x="531113" y="33146"/>
                  </a:lnTo>
                  <a:lnTo>
                    <a:pt x="576437" y="53446"/>
                  </a:lnTo>
                  <a:lnTo>
                    <a:pt x="614324" y="78485"/>
                  </a:lnTo>
                  <a:lnTo>
                    <a:pt x="643417" y="106222"/>
                  </a:lnTo>
                  <a:lnTo>
                    <a:pt x="670483" y="152232"/>
                  </a:lnTo>
                  <a:lnTo>
                    <a:pt x="675223" y="183352"/>
                  </a:lnTo>
                  <a:lnTo>
                    <a:pt x="673867" y="198912"/>
                  </a:lnTo>
                  <a:lnTo>
                    <a:pt x="654923" y="246278"/>
                  </a:lnTo>
                  <a:lnTo>
                    <a:pt x="629884" y="275371"/>
                  </a:lnTo>
                  <a:lnTo>
                    <a:pt x="596066" y="301751"/>
                  </a:lnTo>
                  <a:lnTo>
                    <a:pt x="554781" y="324078"/>
                  </a:lnTo>
                  <a:lnTo>
                    <a:pt x="506074" y="342351"/>
                  </a:lnTo>
                  <a:lnTo>
                    <a:pt x="453298" y="355884"/>
                  </a:lnTo>
                  <a:lnTo>
                    <a:pt x="396468" y="364677"/>
                  </a:lnTo>
                  <a:lnTo>
                    <a:pt x="337611" y="367375"/>
                  </a:lnTo>
                  <a:lnTo>
                    <a:pt x="308518" y="366704"/>
                  </a:lnTo>
                  <a:lnTo>
                    <a:pt x="250332" y="361294"/>
                  </a:lnTo>
                  <a:lnTo>
                    <a:pt x="195529" y="349788"/>
                  </a:lnTo>
                  <a:lnTo>
                    <a:pt x="144109" y="334228"/>
                  </a:lnTo>
                  <a:lnTo>
                    <a:pt x="99456" y="313258"/>
                  </a:lnTo>
                  <a:lnTo>
                    <a:pt x="61569" y="288904"/>
                  </a:lnTo>
                  <a:lnTo>
                    <a:pt x="31790" y="261152"/>
                  </a:lnTo>
                  <a:lnTo>
                    <a:pt x="5410" y="215158"/>
                  </a:lnTo>
                  <a:lnTo>
                    <a:pt x="0" y="183352"/>
                  </a:lnTo>
                </a:path>
              </a:pathLst>
            </a:custGeom>
            <a:ln w="1691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 txBox="1"/>
          <p:nvPr/>
        </p:nvSpPr>
        <p:spPr>
          <a:xfrm>
            <a:off x="5055639" y="4147267"/>
            <a:ext cx="366395" cy="1879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050" spc="5">
                <a:solidFill>
                  <a:srgbClr val="FFFF00"/>
                </a:solidFill>
                <a:latin typeface="Arial"/>
                <a:cs typeface="Arial"/>
              </a:rPr>
              <a:t>A,B,C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2327247" y="4049910"/>
            <a:ext cx="692150" cy="384810"/>
            <a:chOff x="2327247" y="4049910"/>
            <a:chExt cx="692150" cy="384810"/>
          </a:xfrm>
        </p:grpSpPr>
        <p:sp>
          <p:nvSpPr>
            <p:cNvPr id="28" name="object 28"/>
            <p:cNvSpPr/>
            <p:nvPr/>
          </p:nvSpPr>
          <p:spPr>
            <a:xfrm>
              <a:off x="2335819" y="4058483"/>
              <a:ext cx="675005" cy="367665"/>
            </a:xfrm>
            <a:custGeom>
              <a:avLst/>
              <a:gdLst/>
              <a:ahLst/>
              <a:cxnLst/>
              <a:rect l="l" t="t" r="r" b="b"/>
              <a:pathLst>
                <a:path w="675005" h="367664">
                  <a:moveTo>
                    <a:pt x="336925" y="0"/>
                  </a:moveTo>
                  <a:lnTo>
                    <a:pt x="279410" y="2712"/>
                  </a:lnTo>
                  <a:lnTo>
                    <a:pt x="221909" y="10820"/>
                  </a:lnTo>
                  <a:lnTo>
                    <a:pt x="168462" y="24353"/>
                  </a:lnTo>
                  <a:lnTo>
                    <a:pt x="120426" y="42626"/>
                  </a:lnTo>
                  <a:lnTo>
                    <a:pt x="78470" y="65623"/>
                  </a:lnTo>
                  <a:lnTo>
                    <a:pt x="44653" y="92019"/>
                  </a:lnTo>
                  <a:lnTo>
                    <a:pt x="11490" y="135986"/>
                  </a:lnTo>
                  <a:lnTo>
                    <a:pt x="0" y="183352"/>
                  </a:lnTo>
                  <a:lnTo>
                    <a:pt x="1341" y="198912"/>
                  </a:lnTo>
                  <a:lnTo>
                    <a:pt x="20970" y="246278"/>
                  </a:lnTo>
                  <a:lnTo>
                    <a:pt x="60883" y="288904"/>
                  </a:lnTo>
                  <a:lnTo>
                    <a:pt x="98770" y="313258"/>
                  </a:lnTo>
                  <a:lnTo>
                    <a:pt x="144109" y="334228"/>
                  </a:lnTo>
                  <a:lnTo>
                    <a:pt x="194843" y="349788"/>
                  </a:lnTo>
                  <a:lnTo>
                    <a:pt x="250332" y="361294"/>
                  </a:lnTo>
                  <a:lnTo>
                    <a:pt x="307832" y="366704"/>
                  </a:lnTo>
                  <a:lnTo>
                    <a:pt x="336925" y="367375"/>
                  </a:lnTo>
                  <a:lnTo>
                    <a:pt x="366689" y="366704"/>
                  </a:lnTo>
                  <a:lnTo>
                    <a:pt x="424875" y="361294"/>
                  </a:lnTo>
                  <a:lnTo>
                    <a:pt x="480364" y="349788"/>
                  </a:lnTo>
                  <a:lnTo>
                    <a:pt x="531098" y="334228"/>
                  </a:lnTo>
                  <a:lnTo>
                    <a:pt x="575751" y="313258"/>
                  </a:lnTo>
                  <a:lnTo>
                    <a:pt x="613638" y="288904"/>
                  </a:lnTo>
                  <a:lnTo>
                    <a:pt x="643417" y="261152"/>
                  </a:lnTo>
                  <a:lnTo>
                    <a:pt x="669797" y="215158"/>
                  </a:lnTo>
                  <a:lnTo>
                    <a:pt x="674537" y="183352"/>
                  </a:lnTo>
                  <a:lnTo>
                    <a:pt x="673867" y="167792"/>
                  </a:lnTo>
                  <a:lnTo>
                    <a:pt x="654237" y="121112"/>
                  </a:lnTo>
                  <a:lnTo>
                    <a:pt x="629213" y="92019"/>
                  </a:lnTo>
                  <a:lnTo>
                    <a:pt x="595381" y="65623"/>
                  </a:lnTo>
                  <a:lnTo>
                    <a:pt x="554111" y="42626"/>
                  </a:lnTo>
                  <a:lnTo>
                    <a:pt x="506074" y="24353"/>
                  </a:lnTo>
                  <a:lnTo>
                    <a:pt x="452627" y="10820"/>
                  </a:lnTo>
                  <a:lnTo>
                    <a:pt x="395782" y="2712"/>
                  </a:lnTo>
                  <a:lnTo>
                    <a:pt x="33692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335819" y="4058483"/>
              <a:ext cx="675005" cy="367665"/>
            </a:xfrm>
            <a:custGeom>
              <a:avLst/>
              <a:gdLst/>
              <a:ahLst/>
              <a:cxnLst/>
              <a:rect l="l" t="t" r="r" b="b"/>
              <a:pathLst>
                <a:path w="675005" h="367664">
                  <a:moveTo>
                    <a:pt x="0" y="183352"/>
                  </a:moveTo>
                  <a:lnTo>
                    <a:pt x="11490" y="135986"/>
                  </a:lnTo>
                  <a:lnTo>
                    <a:pt x="44653" y="92019"/>
                  </a:lnTo>
                  <a:lnTo>
                    <a:pt x="78470" y="65623"/>
                  </a:lnTo>
                  <a:lnTo>
                    <a:pt x="120426" y="42626"/>
                  </a:lnTo>
                  <a:lnTo>
                    <a:pt x="168462" y="24353"/>
                  </a:lnTo>
                  <a:lnTo>
                    <a:pt x="221909" y="10820"/>
                  </a:lnTo>
                  <a:lnTo>
                    <a:pt x="279410" y="2712"/>
                  </a:lnTo>
                  <a:lnTo>
                    <a:pt x="336925" y="0"/>
                  </a:lnTo>
                  <a:lnTo>
                    <a:pt x="366689" y="670"/>
                  </a:lnTo>
                  <a:lnTo>
                    <a:pt x="424875" y="6095"/>
                  </a:lnTo>
                  <a:lnTo>
                    <a:pt x="480364" y="16916"/>
                  </a:lnTo>
                  <a:lnTo>
                    <a:pt x="531098" y="33146"/>
                  </a:lnTo>
                  <a:lnTo>
                    <a:pt x="575751" y="53446"/>
                  </a:lnTo>
                  <a:lnTo>
                    <a:pt x="613638" y="78485"/>
                  </a:lnTo>
                  <a:lnTo>
                    <a:pt x="643417" y="106222"/>
                  </a:lnTo>
                  <a:lnTo>
                    <a:pt x="669797" y="152232"/>
                  </a:lnTo>
                  <a:lnTo>
                    <a:pt x="674537" y="183352"/>
                  </a:lnTo>
                  <a:lnTo>
                    <a:pt x="673867" y="198912"/>
                  </a:lnTo>
                  <a:lnTo>
                    <a:pt x="654237" y="246278"/>
                  </a:lnTo>
                  <a:lnTo>
                    <a:pt x="629213" y="275371"/>
                  </a:lnTo>
                  <a:lnTo>
                    <a:pt x="595381" y="301751"/>
                  </a:lnTo>
                  <a:lnTo>
                    <a:pt x="554111" y="324078"/>
                  </a:lnTo>
                  <a:lnTo>
                    <a:pt x="506074" y="342351"/>
                  </a:lnTo>
                  <a:lnTo>
                    <a:pt x="452627" y="355884"/>
                  </a:lnTo>
                  <a:lnTo>
                    <a:pt x="395782" y="364677"/>
                  </a:lnTo>
                  <a:lnTo>
                    <a:pt x="336925" y="367375"/>
                  </a:lnTo>
                  <a:lnTo>
                    <a:pt x="307832" y="366704"/>
                  </a:lnTo>
                  <a:lnTo>
                    <a:pt x="250332" y="361294"/>
                  </a:lnTo>
                  <a:lnTo>
                    <a:pt x="194843" y="349788"/>
                  </a:lnTo>
                  <a:lnTo>
                    <a:pt x="144109" y="334228"/>
                  </a:lnTo>
                  <a:lnTo>
                    <a:pt x="98770" y="313258"/>
                  </a:lnTo>
                  <a:lnTo>
                    <a:pt x="60883" y="288904"/>
                  </a:lnTo>
                  <a:lnTo>
                    <a:pt x="31120" y="261152"/>
                  </a:lnTo>
                  <a:lnTo>
                    <a:pt x="5410" y="215158"/>
                  </a:lnTo>
                  <a:lnTo>
                    <a:pt x="0" y="183352"/>
                  </a:lnTo>
                </a:path>
              </a:pathLst>
            </a:custGeom>
            <a:ln w="1691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/>
          <p:cNvSpPr txBox="1"/>
          <p:nvPr/>
        </p:nvSpPr>
        <p:spPr>
          <a:xfrm>
            <a:off x="2440684" y="4152690"/>
            <a:ext cx="448945" cy="1879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050" spc="5">
                <a:solidFill>
                  <a:srgbClr val="FFFF00"/>
                </a:solidFill>
                <a:latin typeface="Arial"/>
                <a:cs typeface="Arial"/>
              </a:rPr>
              <a:t>F,G,H,I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2778968" y="3606877"/>
            <a:ext cx="2475865" cy="488315"/>
            <a:chOff x="2778968" y="3606877"/>
            <a:chExt cx="2475865" cy="488315"/>
          </a:xfrm>
        </p:grpSpPr>
        <p:sp>
          <p:nvSpPr>
            <p:cNvPr id="32" name="object 32"/>
            <p:cNvSpPr/>
            <p:nvPr/>
          </p:nvSpPr>
          <p:spPr>
            <a:xfrm>
              <a:off x="2804007" y="3615334"/>
              <a:ext cx="2442210" cy="471170"/>
            </a:xfrm>
            <a:custGeom>
              <a:avLst/>
              <a:gdLst/>
              <a:ahLst/>
              <a:cxnLst/>
              <a:rect l="l" t="t" r="r" b="b"/>
              <a:pathLst>
                <a:path w="2442210" h="471170">
                  <a:moveTo>
                    <a:pt x="2441752" y="470885"/>
                  </a:moveTo>
                  <a:lnTo>
                    <a:pt x="2393030" y="434355"/>
                  </a:lnTo>
                  <a:lnTo>
                    <a:pt x="2340940" y="399166"/>
                  </a:lnTo>
                  <a:lnTo>
                    <a:pt x="2285466" y="364662"/>
                  </a:lnTo>
                  <a:lnTo>
                    <a:pt x="2226594" y="330845"/>
                  </a:lnTo>
                  <a:lnTo>
                    <a:pt x="2164354" y="297682"/>
                  </a:lnTo>
                  <a:lnTo>
                    <a:pt x="2099401" y="265892"/>
                  </a:lnTo>
                  <a:lnTo>
                    <a:pt x="2033092" y="234772"/>
                  </a:lnTo>
                  <a:lnTo>
                    <a:pt x="1963414" y="205679"/>
                  </a:lnTo>
                  <a:lnTo>
                    <a:pt x="1891695" y="177256"/>
                  </a:lnTo>
                  <a:lnTo>
                    <a:pt x="1818619" y="150875"/>
                  </a:lnTo>
                  <a:lnTo>
                    <a:pt x="1743532" y="126507"/>
                  </a:lnTo>
                  <a:lnTo>
                    <a:pt x="1667073" y="104180"/>
                  </a:lnTo>
                  <a:lnTo>
                    <a:pt x="1589272" y="83210"/>
                  </a:lnTo>
                  <a:lnTo>
                    <a:pt x="1511457" y="64267"/>
                  </a:lnTo>
                  <a:lnTo>
                    <a:pt x="1431630" y="47350"/>
                  </a:lnTo>
                  <a:lnTo>
                    <a:pt x="1351787" y="33146"/>
                  </a:lnTo>
                  <a:lnTo>
                    <a:pt x="1271945" y="20970"/>
                  </a:lnTo>
                  <a:lnTo>
                    <a:pt x="1192118" y="11490"/>
                  </a:lnTo>
                  <a:lnTo>
                    <a:pt x="1112276" y="4724"/>
                  </a:lnTo>
                  <a:lnTo>
                    <a:pt x="1033119" y="670"/>
                  </a:lnTo>
                  <a:lnTo>
                    <a:pt x="953963" y="0"/>
                  </a:lnTo>
                  <a:lnTo>
                    <a:pt x="876162" y="2026"/>
                  </a:lnTo>
                  <a:lnTo>
                    <a:pt x="799703" y="7437"/>
                  </a:lnTo>
                  <a:lnTo>
                    <a:pt x="723930" y="16230"/>
                  </a:lnTo>
                  <a:lnTo>
                    <a:pt x="649498" y="28407"/>
                  </a:lnTo>
                  <a:lnTo>
                    <a:pt x="577108" y="43967"/>
                  </a:lnTo>
                  <a:lnTo>
                    <a:pt x="506745" y="63596"/>
                  </a:lnTo>
                  <a:lnTo>
                    <a:pt x="439094" y="86593"/>
                  </a:lnTo>
                  <a:lnTo>
                    <a:pt x="372785" y="113659"/>
                  </a:lnTo>
                  <a:lnTo>
                    <a:pt x="310545" y="144109"/>
                  </a:lnTo>
                  <a:lnTo>
                    <a:pt x="250332" y="179283"/>
                  </a:lnTo>
                  <a:lnTo>
                    <a:pt x="192816" y="219196"/>
                  </a:lnTo>
                  <a:lnTo>
                    <a:pt x="138683" y="263865"/>
                  </a:lnTo>
                  <a:lnTo>
                    <a:pt x="88620" y="312572"/>
                  </a:lnTo>
                  <a:lnTo>
                    <a:pt x="42611" y="365348"/>
                  </a:lnTo>
                  <a:lnTo>
                    <a:pt x="0" y="423534"/>
                  </a:lnTo>
                </a:path>
              </a:pathLst>
            </a:custGeom>
            <a:ln w="1691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778968" y="4009090"/>
              <a:ext cx="60325" cy="70485"/>
            </a:xfrm>
            <a:custGeom>
              <a:avLst/>
              <a:gdLst/>
              <a:ahLst/>
              <a:cxnLst/>
              <a:rect l="l" t="t" r="r" b="b"/>
              <a:pathLst>
                <a:path w="60325" h="70485">
                  <a:moveTo>
                    <a:pt x="6766" y="0"/>
                  </a:moveTo>
                  <a:lnTo>
                    <a:pt x="0" y="70363"/>
                  </a:lnTo>
                  <a:lnTo>
                    <a:pt x="60213" y="33832"/>
                  </a:lnTo>
                  <a:lnTo>
                    <a:pt x="56829" y="33162"/>
                  </a:lnTo>
                  <a:lnTo>
                    <a:pt x="52776" y="32476"/>
                  </a:lnTo>
                  <a:lnTo>
                    <a:pt x="48707" y="31120"/>
                  </a:lnTo>
                  <a:lnTo>
                    <a:pt x="45323" y="30449"/>
                  </a:lnTo>
                  <a:lnTo>
                    <a:pt x="41940" y="29093"/>
                  </a:lnTo>
                  <a:lnTo>
                    <a:pt x="37886" y="27736"/>
                  </a:lnTo>
                  <a:lnTo>
                    <a:pt x="27736" y="21656"/>
                  </a:lnTo>
                  <a:lnTo>
                    <a:pt x="25039" y="19629"/>
                  </a:lnTo>
                  <a:lnTo>
                    <a:pt x="21656" y="17602"/>
                  </a:lnTo>
                  <a:lnTo>
                    <a:pt x="13533" y="9479"/>
                  </a:lnTo>
                  <a:lnTo>
                    <a:pt x="10820" y="6095"/>
                  </a:lnTo>
                  <a:lnTo>
                    <a:pt x="8793" y="2712"/>
                  </a:lnTo>
                  <a:lnTo>
                    <a:pt x="676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/>
          <p:cNvSpPr txBox="1"/>
          <p:nvPr/>
        </p:nvSpPr>
        <p:spPr>
          <a:xfrm>
            <a:off x="2186291" y="2744057"/>
            <a:ext cx="3395979" cy="58293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279400">
              <a:lnSpc>
                <a:spcPct val="100000"/>
              </a:lnSpc>
              <a:spcBef>
                <a:spcPts val="114"/>
              </a:spcBef>
              <a:tabLst>
                <a:tab pos="1656714" algn="l"/>
                <a:tab pos="2818130" algn="l"/>
              </a:tabLst>
            </a:pPr>
            <a:r>
              <a:rPr dirty="0" baseline="2645" sz="1575" spc="7">
                <a:solidFill>
                  <a:srgbClr val="FFFF00"/>
                </a:solidFill>
                <a:latin typeface="Arial"/>
                <a:cs typeface="Arial"/>
              </a:rPr>
              <a:t>A,B,C	</a:t>
            </a:r>
            <a:r>
              <a:rPr dirty="0" baseline="5291" sz="1575" spc="7">
                <a:solidFill>
                  <a:srgbClr val="FFFF00"/>
                </a:solidFill>
                <a:latin typeface="Arial"/>
                <a:cs typeface="Arial"/>
              </a:rPr>
              <a:t>D,E	</a:t>
            </a:r>
            <a:r>
              <a:rPr dirty="0" sz="1050" spc="5">
                <a:solidFill>
                  <a:srgbClr val="FFFF00"/>
                </a:solidFill>
                <a:latin typeface="Arial"/>
                <a:cs typeface="Arial"/>
              </a:rPr>
              <a:t>F,G,H,I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550" spc="15">
                <a:solidFill>
                  <a:srgbClr val="FFFF00"/>
                </a:solidFill>
                <a:latin typeface="Arial"/>
                <a:cs typeface="Arial"/>
              </a:rPr>
              <a:t>Topological</a:t>
            </a: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50" spc="15">
                <a:solidFill>
                  <a:srgbClr val="FFFF00"/>
                </a:solidFill>
                <a:latin typeface="Arial"/>
                <a:cs typeface="Arial"/>
              </a:rPr>
              <a:t>order</a:t>
            </a:r>
            <a:r>
              <a:rPr dirty="0" sz="1550" spc="43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50" spc="15">
                <a:solidFill>
                  <a:srgbClr val="FFFF00"/>
                </a:solidFill>
                <a:latin typeface="Arial"/>
                <a:cs typeface="Arial"/>
              </a:rPr>
              <a:t>of</a:t>
            </a:r>
            <a:r>
              <a:rPr dirty="0" sz="155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50" spc="20">
                <a:solidFill>
                  <a:srgbClr val="FFFF00"/>
                </a:solidFill>
                <a:latin typeface="Arial"/>
                <a:cs typeface="Arial"/>
              </a:rPr>
              <a:t>component</a:t>
            </a:r>
            <a:r>
              <a:rPr dirty="0" sz="155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50" spc="25">
                <a:solidFill>
                  <a:srgbClr val="FFFF00"/>
                </a:solidFill>
                <a:latin typeface="Arial"/>
                <a:cs typeface="Arial"/>
              </a:rPr>
              <a:t>DAG</a:t>
            </a:r>
            <a:endParaRPr sz="155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63599" y="4581018"/>
            <a:ext cx="6456680" cy="44024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 marR="307975">
              <a:lnSpc>
                <a:spcPct val="100000"/>
              </a:lnSpc>
              <a:spcBef>
                <a:spcPts val="135"/>
              </a:spcBef>
            </a:pPr>
            <a:r>
              <a:rPr dirty="0" sz="1550" spc="15">
                <a:solidFill>
                  <a:srgbClr val="FFFF00"/>
                </a:solidFill>
                <a:latin typeface="Arial"/>
                <a:cs typeface="Arial"/>
              </a:rPr>
              <a:t>Reversed</a:t>
            </a: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50" spc="15">
                <a:solidFill>
                  <a:srgbClr val="FFFF00"/>
                </a:solidFill>
                <a:latin typeface="Arial"/>
                <a:cs typeface="Arial"/>
              </a:rPr>
              <a:t>topological</a:t>
            </a: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50" spc="15">
                <a:solidFill>
                  <a:srgbClr val="FFFF00"/>
                </a:solidFill>
                <a:latin typeface="Arial"/>
                <a:cs typeface="Arial"/>
              </a:rPr>
              <a:t>order</a:t>
            </a:r>
            <a:endParaRPr sz="1550">
              <a:latin typeface="Arial"/>
              <a:cs typeface="Arial"/>
            </a:endParaRPr>
          </a:p>
          <a:p>
            <a:pPr algn="ctr" marL="45085">
              <a:lnSpc>
                <a:spcPct val="100000"/>
              </a:lnSpc>
              <a:spcBef>
                <a:spcPts val="10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8.37: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Reversed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DAG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imes New Roman"/>
              <a:cs typeface="Times New Roman"/>
            </a:endParaRPr>
          </a:p>
          <a:p>
            <a:pPr marL="50800" marR="43180">
              <a:lnSpc>
                <a:spcPct val="100000"/>
              </a:lnSpc>
            </a:pPr>
            <a:r>
              <a:rPr dirty="0" sz="1200" spc="-35">
                <a:latin typeface="Times New Roman"/>
                <a:cs typeface="Times New Roman"/>
              </a:rPr>
              <a:t>Now,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search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next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available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according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reverse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component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informal </a:t>
            </a:r>
            <a:r>
              <a:rPr dirty="0" sz="1200" spc="-5">
                <a:latin typeface="Times New Roman"/>
                <a:cs typeface="Times New Roman"/>
              </a:rPr>
              <a:t> justification.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Clearly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starts </a:t>
            </a:r>
            <a:r>
              <a:rPr dirty="0" sz="1200" spc="-10">
                <a:latin typeface="Times New Roman"/>
                <a:cs typeface="Times New Roman"/>
              </a:rPr>
              <a:t>within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strong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 </a:t>
            </a:r>
            <a:r>
              <a:rPr dirty="0" sz="1200" spc="-10">
                <a:latin typeface="Times New Roman"/>
                <a:cs typeface="Times New Roman"/>
              </a:rPr>
              <a:t> within the component </a:t>
            </a:r>
            <a:r>
              <a:rPr dirty="0" sz="1200" spc="-5">
                <a:latin typeface="Times New Roman"/>
                <a:cs typeface="Times New Roman"/>
              </a:rPr>
              <a:t>(and possibly some others) </a:t>
            </a:r>
            <a:r>
              <a:rPr dirty="0" sz="1200" spc="-10">
                <a:latin typeface="Times New Roman"/>
                <a:cs typeface="Times New Roman"/>
              </a:rPr>
              <a:t>before </a:t>
            </a:r>
            <a:r>
              <a:rPr dirty="0" sz="1200" spc="-15">
                <a:latin typeface="Times New Roman"/>
                <a:cs typeface="Times New Roman"/>
              </a:rPr>
              <a:t>finishing.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start in </a:t>
            </a:r>
            <a:r>
              <a:rPr dirty="0" sz="1200" spc="-15">
                <a:latin typeface="Times New Roman"/>
                <a:cs typeface="Times New Roman"/>
              </a:rPr>
              <a:t>reverse </a:t>
            </a:r>
            <a:r>
              <a:rPr dirty="0" sz="1200" spc="-10">
                <a:latin typeface="Times New Roman"/>
                <a:cs typeface="Times New Roman"/>
              </a:rPr>
              <a:t> topological,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search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“leak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out”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strong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8.36,</a:t>
            </a:r>
            <a:r>
              <a:rPr dirty="0" sz="1200" spc="-5">
                <a:latin typeface="Times New Roman"/>
                <a:cs typeface="Times New Roman"/>
              </a:rPr>
              <a:t> 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search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‘a’,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‘b’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‘c’,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 visits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 </a:t>
            </a:r>
            <a:r>
              <a:rPr dirty="0" sz="1200" spc="-10">
                <a:latin typeface="Times New Roman"/>
                <a:cs typeface="Times New Roman"/>
              </a:rPr>
              <a:t>components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well.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 spc="-5">
                <a:latin typeface="Times New Roman"/>
                <a:cs typeface="Times New Roman"/>
              </a:rPr>
              <a:t>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visiting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reverse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search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“leak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out”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components,</a:t>
            </a:r>
            <a:r>
              <a:rPr dirty="0" sz="1200" spc="-5">
                <a:latin typeface="Times New Roman"/>
                <a:cs typeface="Times New Roman"/>
              </a:rPr>
              <a:t> 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 </a:t>
            </a:r>
            <a:r>
              <a:rPr dirty="0" sz="1200" spc="-10">
                <a:latin typeface="Times New Roman"/>
                <a:cs typeface="Times New Roman"/>
              </a:rPr>
              <a:t>components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already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been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earlier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search.</a:t>
            </a:r>
            <a:endParaRPr sz="1200">
              <a:latin typeface="Times New Roman"/>
              <a:cs typeface="Times New Roman"/>
            </a:endParaRPr>
          </a:p>
          <a:p>
            <a:pPr marL="50800" marR="15875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This </a:t>
            </a:r>
            <a:r>
              <a:rPr dirty="0" sz="1200" spc="-15">
                <a:latin typeface="Times New Roman"/>
                <a:cs typeface="Times New Roman"/>
              </a:rPr>
              <a:t>leaves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intuition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somehow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strong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according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reverse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order,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easy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computing strong components.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15">
                <a:latin typeface="Times New Roman"/>
                <a:cs typeface="Times New Roman"/>
              </a:rPr>
              <a:t>know </a:t>
            </a:r>
            <a:r>
              <a:rPr dirty="0" sz="1200" spc="-5">
                <a:latin typeface="Times New Roman"/>
                <a:cs typeface="Times New Roman"/>
              </a:rPr>
              <a:t>what the </a:t>
            </a:r>
            <a:r>
              <a:rPr dirty="0" sz="1200" spc="-10">
                <a:latin typeface="Times New Roman"/>
                <a:cs typeface="Times New Roman"/>
              </a:rPr>
              <a:t>component </a:t>
            </a:r>
            <a:r>
              <a:rPr dirty="0" sz="1200" spc="-40">
                <a:latin typeface="Times New Roman"/>
                <a:cs typeface="Times New Roman"/>
              </a:rPr>
              <a:t>DAG </a:t>
            </a:r>
            <a:r>
              <a:rPr dirty="0" sz="1200" spc="-10">
                <a:latin typeface="Times New Roman"/>
                <a:cs typeface="Times New Roman"/>
              </a:rPr>
              <a:t>looks like.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(After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trying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strong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place).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trick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behind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strong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ordering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essentially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necessary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property,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actually </a:t>
            </a:r>
            <a:r>
              <a:rPr dirty="0" sz="1200" spc="-10">
                <a:latin typeface="Times New Roman"/>
                <a:cs typeface="Times New Roman"/>
              </a:rPr>
              <a:t>computing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DAG.</a:t>
            </a:r>
            <a:endParaRPr sz="1200">
              <a:latin typeface="Times New Roman"/>
              <a:cs typeface="Times New Roman"/>
            </a:endParaRPr>
          </a:p>
          <a:p>
            <a:pPr marL="50800" marR="51435">
              <a:lnSpc>
                <a:spcPct val="100000"/>
              </a:lnSpc>
              <a:spcBef>
                <a:spcPts val="54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discuss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without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proof.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Define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baseline="31250" sz="1200" spc="30">
                <a:latin typeface="Verdana"/>
                <a:cs typeface="Verdana"/>
              </a:rPr>
              <a:t>T</a:t>
            </a:r>
            <a:r>
              <a:rPr dirty="0" baseline="31250" sz="1200" spc="15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 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all edges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been </a:t>
            </a:r>
            <a:r>
              <a:rPr dirty="0" sz="1200" spc="-10">
                <a:latin typeface="Times New Roman"/>
                <a:cs typeface="Times New Roman"/>
              </a:rPr>
              <a:t>reversed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direction.</a:t>
            </a:r>
            <a:r>
              <a:rPr dirty="0" sz="1200" spc="-5">
                <a:latin typeface="Times New Roman"/>
                <a:cs typeface="Times New Roman"/>
              </a:rPr>
              <a:t> This is </a:t>
            </a:r>
            <a:r>
              <a:rPr dirty="0" sz="1200" spc="-15">
                <a:latin typeface="Times New Roman"/>
                <a:cs typeface="Times New Roman"/>
              </a:rPr>
              <a:t>shown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Figure 8.38.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Times New Roman"/>
                <a:cs typeface="Times New Roman"/>
              </a:rPr>
              <a:t>adjacency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</a:t>
            </a:r>
            <a:r>
              <a:rPr dirty="0" sz="1200" spc="-10">
                <a:latin typeface="Times New Roman"/>
                <a:cs typeface="Times New Roman"/>
              </a:rPr>
              <a:t> 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it is possible to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baseline="31250" sz="1200" spc="30">
                <a:latin typeface="Verdana"/>
                <a:cs typeface="Verdana"/>
              </a:rPr>
              <a:t>T</a:t>
            </a:r>
            <a:r>
              <a:rPr dirty="0" baseline="31250" sz="1200" spc="135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20">
                <a:latin typeface="Lucida Sans Unicode"/>
                <a:cs typeface="Lucida Sans Unicode"/>
              </a:rPr>
              <a:t>Θ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V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E</a:t>
            </a:r>
            <a:r>
              <a:rPr dirty="0" sz="1200" spc="9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00723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8.4.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STRONG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COMPONENTS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13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72411" y="938809"/>
            <a:ext cx="4648200" cy="3299460"/>
            <a:chOff x="1772411" y="938809"/>
            <a:chExt cx="4648200" cy="3299460"/>
          </a:xfrm>
        </p:grpSpPr>
        <p:sp>
          <p:nvSpPr>
            <p:cNvPr id="5" name="object 5"/>
            <p:cNvSpPr/>
            <p:nvPr/>
          </p:nvSpPr>
          <p:spPr>
            <a:xfrm>
              <a:off x="1772411" y="938809"/>
              <a:ext cx="4648200" cy="3299460"/>
            </a:xfrm>
            <a:custGeom>
              <a:avLst/>
              <a:gdLst/>
              <a:ahLst/>
              <a:cxnLst/>
              <a:rect l="l" t="t" r="r" b="b"/>
              <a:pathLst>
                <a:path w="4648200" h="3299460">
                  <a:moveTo>
                    <a:pt x="4648001" y="0"/>
                  </a:moveTo>
                  <a:lnTo>
                    <a:pt x="0" y="0"/>
                  </a:lnTo>
                  <a:lnTo>
                    <a:pt x="0" y="3298926"/>
                  </a:lnTo>
                  <a:lnTo>
                    <a:pt x="4648001" y="3298926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29520" y="1004026"/>
              <a:ext cx="4521241" cy="2765959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2070581" y="2362052"/>
            <a:ext cx="139065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350" spc="2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35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077579" y="3139076"/>
            <a:ext cx="129539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350" spc="1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35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981638" y="3395463"/>
            <a:ext cx="149225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350" spc="20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3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623903" y="2707695"/>
            <a:ext cx="120014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350" spc="1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3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413745" y="1042522"/>
            <a:ext cx="139065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350" spc="20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35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749599" y="1628792"/>
            <a:ext cx="129539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350" spc="1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35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052504" y="1634037"/>
            <a:ext cx="129539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350" spc="1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35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183909" y="3464589"/>
            <a:ext cx="61594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350" spc="5">
                <a:solidFill>
                  <a:srgbClr val="FFFF00"/>
                </a:solidFill>
                <a:latin typeface="Arial"/>
                <a:cs typeface="Arial"/>
              </a:rPr>
              <a:t>I</a:t>
            </a:r>
            <a:endParaRPr sz="13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973188" y="2741820"/>
            <a:ext cx="139065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350" spc="20">
                <a:solidFill>
                  <a:srgbClr val="FFFF00"/>
                </a:solidFill>
                <a:latin typeface="Arial"/>
                <a:cs typeface="Arial"/>
              </a:rPr>
              <a:t>H</a:t>
            </a:r>
            <a:endParaRPr sz="135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152989" y="3845292"/>
            <a:ext cx="925830" cy="338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050">
                <a:solidFill>
                  <a:srgbClr val="FFFF00"/>
                </a:solidFill>
                <a:latin typeface="Arial"/>
                <a:cs typeface="Arial"/>
              </a:rPr>
              <a:t>Digraph</a:t>
            </a:r>
            <a:endParaRPr sz="205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252870" y="3758664"/>
            <a:ext cx="374650" cy="338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-18970" sz="3075" spc="15" i="1">
                <a:solidFill>
                  <a:srgbClr val="FFFF00"/>
                </a:solidFill>
                <a:latin typeface="Arial"/>
                <a:cs typeface="Arial"/>
              </a:rPr>
              <a:t>G</a:t>
            </a:r>
            <a:r>
              <a:rPr dirty="0" sz="1350" spc="10" i="1">
                <a:solidFill>
                  <a:srgbClr val="FFFF00"/>
                </a:solidFill>
                <a:latin typeface="Arial"/>
                <a:cs typeface="Arial"/>
              </a:rPr>
              <a:t>T</a:t>
            </a:r>
            <a:endParaRPr sz="13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199789" y="4325278"/>
            <a:ext cx="18205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8.38: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digraph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baseline="31250" sz="1200" spc="30">
                <a:latin typeface="Verdana"/>
                <a:cs typeface="Verdana"/>
              </a:rPr>
              <a:t>T</a:t>
            </a:r>
            <a:endParaRPr baseline="31250" sz="1200">
              <a:latin typeface="Verdana"/>
              <a:cs typeface="Verdan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76301" y="6159564"/>
            <a:ext cx="6412230" cy="9417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Observe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strongly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affected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reversal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mutually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reachable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certainly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G</a:t>
            </a:r>
            <a:r>
              <a:rPr dirty="0" baseline="31250" sz="1200" spc="60">
                <a:latin typeface="Verdana"/>
                <a:cs typeface="Verdana"/>
              </a:rPr>
              <a:t>T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changes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DAG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completely </a:t>
            </a:r>
            <a:r>
              <a:rPr dirty="0" sz="1200" spc="-10">
                <a:latin typeface="Times New Roman"/>
                <a:cs typeface="Times New Roman"/>
              </a:rPr>
              <a:t>reversed.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ordering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trick is to order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of G according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their finish times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DFS. 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baseline="31250" sz="1200" spc="30">
                <a:latin typeface="Verdana"/>
                <a:cs typeface="Verdana"/>
              </a:rPr>
              <a:t>T</a:t>
            </a:r>
            <a:r>
              <a:rPr dirty="0" baseline="31250" sz="1200" spc="135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decreasing 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finish times.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steps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quite</a:t>
            </a:r>
            <a:r>
              <a:rPr dirty="0" sz="1200" spc="-5">
                <a:latin typeface="Times New Roman"/>
                <a:cs typeface="Times New Roman"/>
              </a:rPr>
              <a:t> easy to </a:t>
            </a:r>
            <a:r>
              <a:rPr dirty="0" sz="1200" spc="-10">
                <a:latin typeface="Times New Roman"/>
                <a:cs typeface="Times New Roman"/>
              </a:rPr>
              <a:t>implement,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all operate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Θ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V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E</a:t>
            </a:r>
            <a:r>
              <a:rPr dirty="0" sz="1200" spc="9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 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16971" y="7342600"/>
            <a:ext cx="5481955" cy="1350645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1270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10"/>
              </a:spcBef>
            </a:pPr>
            <a:r>
              <a:rPr dirty="0" sz="1200" spc="60">
                <a:latin typeface="Times New Roman"/>
                <a:cs typeface="Times New Roman"/>
              </a:rPr>
              <a:t>S</a:t>
            </a:r>
            <a:r>
              <a:rPr dirty="0" sz="950" spc="60">
                <a:latin typeface="Times New Roman"/>
                <a:cs typeface="Times New Roman"/>
              </a:rPr>
              <a:t>TRONG</a:t>
            </a:r>
            <a:r>
              <a:rPr dirty="0" sz="1200" spc="60">
                <a:latin typeface="Times New Roman"/>
                <a:cs typeface="Times New Roman"/>
              </a:rPr>
              <a:t>C</a:t>
            </a:r>
            <a:r>
              <a:rPr dirty="0" sz="950" spc="60">
                <a:latin typeface="Times New Roman"/>
                <a:cs typeface="Times New Roman"/>
              </a:rPr>
              <a:t>OMPONENTS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G</a:t>
            </a:r>
            <a:r>
              <a:rPr dirty="0" sz="1200" spc="6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43535" indent="-266065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343535" algn="l"/>
                <a:tab pos="344170" algn="l"/>
              </a:tabLst>
            </a:pP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FS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omputin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</a:t>
            </a:r>
            <a:r>
              <a:rPr dirty="0" sz="1200" spc="-10">
                <a:latin typeface="Times New Roman"/>
                <a:cs typeface="Times New Roman"/>
              </a:rPr>
              <a:t>ni</a:t>
            </a:r>
            <a:r>
              <a:rPr dirty="0" sz="1200" spc="-5">
                <a:latin typeface="Times New Roman"/>
                <a:cs typeface="Times New Roman"/>
              </a:rPr>
              <a:t>sh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343535" indent="-266065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343535" algn="l"/>
                <a:tab pos="344170" algn="l"/>
              </a:tabLst>
            </a:pP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baseline="31250" sz="1200" spc="30">
                <a:latin typeface="Verdana"/>
                <a:cs typeface="Verdana"/>
              </a:rPr>
              <a:t>T</a:t>
            </a:r>
            <a:endParaRPr baseline="31250" sz="1200">
              <a:latin typeface="Verdana"/>
              <a:cs typeface="Verdana"/>
            </a:endParaRPr>
          </a:p>
          <a:p>
            <a:pPr marL="343535" indent="-266065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343535" algn="l"/>
                <a:tab pos="344170" algn="l"/>
              </a:tabLst>
            </a:pPr>
            <a:r>
              <a:rPr dirty="0" sz="1200" spc="-5">
                <a:latin typeface="Times New Roman"/>
                <a:cs typeface="Times New Roman"/>
              </a:rPr>
              <a:t>Sort</a:t>
            </a:r>
            <a:r>
              <a:rPr dirty="0" sz="1200" spc="-10">
                <a:latin typeface="Times New Roman"/>
                <a:cs typeface="Times New Roman"/>
              </a:rPr>
              <a:t> vertices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baseline="31250" sz="1200" spc="30">
                <a:latin typeface="Verdana"/>
                <a:cs typeface="Verdana"/>
              </a:rPr>
              <a:t>T</a:t>
            </a:r>
            <a:r>
              <a:rPr dirty="0" baseline="31250" sz="1200" spc="12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decreasing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f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20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343535" indent="-266065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343535" algn="l"/>
                <a:tab pos="344170" algn="l"/>
              </a:tabLst>
            </a:pPr>
            <a:r>
              <a:rPr dirty="0" sz="1200" spc="-5">
                <a:latin typeface="Times New Roman"/>
                <a:cs typeface="Times New Roman"/>
              </a:rPr>
              <a:t>Run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DFS(</a:t>
            </a:r>
            <a:r>
              <a:rPr dirty="0" sz="1200" spc="10">
                <a:latin typeface="Lucida Sans Unicode"/>
                <a:cs typeface="Lucida Sans Unicode"/>
              </a:rPr>
              <a:t>G</a:t>
            </a:r>
            <a:r>
              <a:rPr dirty="0" baseline="31250" sz="1200" spc="15">
                <a:latin typeface="Verdana"/>
                <a:cs typeface="Verdana"/>
              </a:rPr>
              <a:t>T</a:t>
            </a:r>
            <a:r>
              <a:rPr dirty="0" sz="1200" spc="10">
                <a:latin typeface="Times New Roman"/>
                <a:cs typeface="Times New Roman"/>
              </a:rPr>
              <a:t>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endParaRPr sz="1200">
              <a:latin typeface="Times New Roman"/>
              <a:cs typeface="Times New Roman"/>
            </a:endParaRPr>
          </a:p>
          <a:p>
            <a:pPr marL="343535" indent="-266065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343535" algn="l"/>
                <a:tab pos="344170" algn="l"/>
              </a:tabLst>
            </a:pP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 tree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strong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01699" y="8775547"/>
            <a:ext cx="45796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execution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illustrated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Figures 8.39, </a:t>
            </a:r>
            <a:r>
              <a:rPr dirty="0" sz="1200" spc="-10">
                <a:latin typeface="Times New Roman"/>
                <a:cs typeface="Times New Roman"/>
              </a:rPr>
              <a:t>8.40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8.41.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14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72411" y="939419"/>
            <a:ext cx="4648200" cy="3592829"/>
            <a:chOff x="1772411" y="939419"/>
            <a:chExt cx="4648200" cy="3592829"/>
          </a:xfrm>
        </p:grpSpPr>
        <p:sp>
          <p:nvSpPr>
            <p:cNvPr id="5" name="object 5"/>
            <p:cNvSpPr/>
            <p:nvPr/>
          </p:nvSpPr>
          <p:spPr>
            <a:xfrm>
              <a:off x="1772411" y="939419"/>
              <a:ext cx="4648200" cy="3592829"/>
            </a:xfrm>
            <a:custGeom>
              <a:avLst/>
              <a:gdLst/>
              <a:ahLst/>
              <a:cxnLst/>
              <a:rect l="l" t="t" r="r" b="b"/>
              <a:pathLst>
                <a:path w="4648200" h="3592829">
                  <a:moveTo>
                    <a:pt x="4648001" y="0"/>
                  </a:moveTo>
                  <a:lnTo>
                    <a:pt x="0" y="0"/>
                  </a:lnTo>
                  <a:lnTo>
                    <a:pt x="0" y="3592448"/>
                  </a:lnTo>
                  <a:lnTo>
                    <a:pt x="4648001" y="3592448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21712" y="1104788"/>
              <a:ext cx="4040109" cy="2916098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4003749" y="1290245"/>
            <a:ext cx="9779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82552" y="1283243"/>
            <a:ext cx="32258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1/18</a:t>
            </a:r>
            <a:endParaRPr sz="125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939358" y="1910798"/>
            <a:ext cx="71628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304800" algn="l"/>
              </a:tabLst>
            </a:pPr>
            <a:r>
              <a:rPr dirty="0" baseline="2777" sz="1500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baseline="2777" sz="150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14/17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265435" y="1946440"/>
            <a:ext cx="9779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60149" y="1918435"/>
            <a:ext cx="32258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2/13</a:t>
            </a:r>
            <a:endParaRPr sz="125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648063" y="2390699"/>
            <a:ext cx="10477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059962" y="2370969"/>
            <a:ext cx="234315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3/4</a:t>
            </a:r>
            <a:endParaRPr sz="125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796257" y="2393252"/>
            <a:ext cx="9080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250157" y="2386887"/>
            <a:ext cx="32258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5/12</a:t>
            </a:r>
            <a:endParaRPr sz="125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936183" y="2372881"/>
            <a:ext cx="9779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212413" y="2370972"/>
            <a:ext cx="410845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15/16</a:t>
            </a:r>
            <a:endParaRPr sz="12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838268" y="3268396"/>
            <a:ext cx="4826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FFFF00"/>
                </a:solidFill>
                <a:latin typeface="Arial"/>
                <a:cs typeface="Arial"/>
              </a:rPr>
              <a:t>I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250167" y="3243573"/>
            <a:ext cx="32258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7/10</a:t>
            </a:r>
            <a:endParaRPr sz="125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821085" y="2876969"/>
            <a:ext cx="11176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0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250168" y="2870605"/>
            <a:ext cx="32258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6/11</a:t>
            </a:r>
            <a:endParaRPr sz="1250">
              <a:latin typeface="Arial"/>
              <a:cs typeface="Arial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1976901" y="4228484"/>
            <a:ext cx="4377055" cy="250190"/>
            <a:chOff x="1976901" y="4228484"/>
            <a:chExt cx="4377055" cy="250190"/>
          </a:xfrm>
        </p:grpSpPr>
        <p:sp>
          <p:nvSpPr>
            <p:cNvPr id="23" name="object 23"/>
            <p:cNvSpPr/>
            <p:nvPr/>
          </p:nvSpPr>
          <p:spPr>
            <a:xfrm>
              <a:off x="1984857" y="4236440"/>
              <a:ext cx="433070" cy="234315"/>
            </a:xfrm>
            <a:custGeom>
              <a:avLst/>
              <a:gdLst/>
              <a:ahLst/>
              <a:cxnLst/>
              <a:rect l="l" t="t" r="r" b="b"/>
              <a:pathLst>
                <a:path w="433069" h="234314">
                  <a:moveTo>
                    <a:pt x="227853" y="0"/>
                  </a:moveTo>
                  <a:lnTo>
                    <a:pt x="204307" y="0"/>
                  </a:lnTo>
                  <a:lnTo>
                    <a:pt x="182026" y="1280"/>
                  </a:lnTo>
                  <a:lnTo>
                    <a:pt x="136839" y="7635"/>
                  </a:lnTo>
                  <a:lnTo>
                    <a:pt x="95463" y="19735"/>
                  </a:lnTo>
                  <a:lnTo>
                    <a:pt x="59832" y="36286"/>
                  </a:lnTo>
                  <a:lnTo>
                    <a:pt x="20360" y="68107"/>
                  </a:lnTo>
                  <a:lnTo>
                    <a:pt x="1264" y="104378"/>
                  </a:lnTo>
                  <a:lnTo>
                    <a:pt x="0" y="117119"/>
                  </a:lnTo>
                  <a:lnTo>
                    <a:pt x="1264" y="130484"/>
                  </a:lnTo>
                  <a:lnTo>
                    <a:pt x="20360" y="166115"/>
                  </a:lnTo>
                  <a:lnTo>
                    <a:pt x="59832" y="197952"/>
                  </a:lnTo>
                  <a:lnTo>
                    <a:pt x="95463" y="214487"/>
                  </a:lnTo>
                  <a:lnTo>
                    <a:pt x="136839" y="226588"/>
                  </a:lnTo>
                  <a:lnTo>
                    <a:pt x="182026" y="232958"/>
                  </a:lnTo>
                  <a:lnTo>
                    <a:pt x="204307" y="234223"/>
                  </a:lnTo>
                  <a:lnTo>
                    <a:pt x="227853" y="234223"/>
                  </a:lnTo>
                  <a:lnTo>
                    <a:pt x="274319" y="230398"/>
                  </a:lnTo>
                  <a:lnTo>
                    <a:pt x="317601" y="220858"/>
                  </a:lnTo>
                  <a:lnTo>
                    <a:pt x="356417" y="206852"/>
                  </a:lnTo>
                  <a:lnTo>
                    <a:pt x="401619" y="177576"/>
                  </a:lnTo>
                  <a:lnTo>
                    <a:pt x="427710" y="141930"/>
                  </a:lnTo>
                  <a:lnTo>
                    <a:pt x="432800" y="117119"/>
                  </a:lnTo>
                  <a:lnTo>
                    <a:pt x="431520" y="104378"/>
                  </a:lnTo>
                  <a:lnTo>
                    <a:pt x="413064" y="68107"/>
                  </a:lnTo>
                  <a:lnTo>
                    <a:pt x="373608" y="36286"/>
                  </a:lnTo>
                  <a:lnTo>
                    <a:pt x="337962" y="19735"/>
                  </a:lnTo>
                  <a:lnTo>
                    <a:pt x="296600" y="7635"/>
                  </a:lnTo>
                  <a:lnTo>
                    <a:pt x="251399" y="1280"/>
                  </a:lnTo>
                  <a:lnTo>
                    <a:pt x="22785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1984857" y="4236440"/>
              <a:ext cx="433070" cy="234315"/>
            </a:xfrm>
            <a:custGeom>
              <a:avLst/>
              <a:gdLst/>
              <a:ahLst/>
              <a:cxnLst/>
              <a:rect l="l" t="t" r="r" b="b"/>
              <a:pathLst>
                <a:path w="433069" h="234314">
                  <a:moveTo>
                    <a:pt x="0" y="117119"/>
                  </a:moveTo>
                  <a:lnTo>
                    <a:pt x="11460" y="79568"/>
                  </a:lnTo>
                  <a:lnTo>
                    <a:pt x="44546" y="45826"/>
                  </a:lnTo>
                  <a:lnTo>
                    <a:pt x="95463" y="19735"/>
                  </a:lnTo>
                  <a:lnTo>
                    <a:pt x="136839" y="7635"/>
                  </a:lnTo>
                  <a:lnTo>
                    <a:pt x="182026" y="1280"/>
                  </a:lnTo>
                  <a:lnTo>
                    <a:pt x="204307" y="0"/>
                  </a:lnTo>
                  <a:lnTo>
                    <a:pt x="227853" y="0"/>
                  </a:lnTo>
                  <a:lnTo>
                    <a:pt x="274319" y="3825"/>
                  </a:lnTo>
                  <a:lnTo>
                    <a:pt x="317601" y="13365"/>
                  </a:lnTo>
                  <a:lnTo>
                    <a:pt x="356417" y="27371"/>
                  </a:lnTo>
                  <a:lnTo>
                    <a:pt x="401619" y="56647"/>
                  </a:lnTo>
                  <a:lnTo>
                    <a:pt x="427710" y="92293"/>
                  </a:lnTo>
                  <a:lnTo>
                    <a:pt x="432800" y="117119"/>
                  </a:lnTo>
                  <a:lnTo>
                    <a:pt x="431520" y="130484"/>
                  </a:lnTo>
                  <a:lnTo>
                    <a:pt x="413064" y="166115"/>
                  </a:lnTo>
                  <a:lnTo>
                    <a:pt x="373608" y="197952"/>
                  </a:lnTo>
                  <a:lnTo>
                    <a:pt x="337962" y="214487"/>
                  </a:lnTo>
                  <a:lnTo>
                    <a:pt x="296600" y="226588"/>
                  </a:lnTo>
                  <a:lnTo>
                    <a:pt x="251399" y="232958"/>
                  </a:lnTo>
                  <a:lnTo>
                    <a:pt x="227853" y="234223"/>
                  </a:lnTo>
                  <a:lnTo>
                    <a:pt x="204307" y="234223"/>
                  </a:lnTo>
                  <a:lnTo>
                    <a:pt x="159120" y="230398"/>
                  </a:lnTo>
                  <a:lnTo>
                    <a:pt x="115199" y="220858"/>
                  </a:lnTo>
                  <a:lnTo>
                    <a:pt x="76367" y="206852"/>
                  </a:lnTo>
                  <a:lnTo>
                    <a:pt x="31181" y="177576"/>
                  </a:lnTo>
                  <a:lnTo>
                    <a:pt x="5090" y="141930"/>
                  </a:lnTo>
                  <a:lnTo>
                    <a:pt x="0" y="117119"/>
                  </a:lnTo>
                </a:path>
              </a:pathLst>
            </a:custGeom>
            <a:ln w="1591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469855" y="4236440"/>
              <a:ext cx="433070" cy="234315"/>
            </a:xfrm>
            <a:custGeom>
              <a:avLst/>
              <a:gdLst/>
              <a:ahLst/>
              <a:cxnLst/>
              <a:rect l="l" t="t" r="r" b="b"/>
              <a:pathLst>
                <a:path w="433069" h="234314">
                  <a:moveTo>
                    <a:pt x="227853" y="0"/>
                  </a:moveTo>
                  <a:lnTo>
                    <a:pt x="204932" y="0"/>
                  </a:lnTo>
                  <a:lnTo>
                    <a:pt x="182026" y="1280"/>
                  </a:lnTo>
                  <a:lnTo>
                    <a:pt x="136839" y="7635"/>
                  </a:lnTo>
                  <a:lnTo>
                    <a:pt x="95463" y="19735"/>
                  </a:lnTo>
                  <a:lnTo>
                    <a:pt x="59816" y="36286"/>
                  </a:lnTo>
                  <a:lnTo>
                    <a:pt x="20360" y="68107"/>
                  </a:lnTo>
                  <a:lnTo>
                    <a:pt x="1264" y="104378"/>
                  </a:lnTo>
                  <a:lnTo>
                    <a:pt x="0" y="117119"/>
                  </a:lnTo>
                  <a:lnTo>
                    <a:pt x="1264" y="130484"/>
                  </a:lnTo>
                  <a:lnTo>
                    <a:pt x="20360" y="166115"/>
                  </a:lnTo>
                  <a:lnTo>
                    <a:pt x="59816" y="197952"/>
                  </a:lnTo>
                  <a:lnTo>
                    <a:pt x="95463" y="214487"/>
                  </a:lnTo>
                  <a:lnTo>
                    <a:pt x="136839" y="226588"/>
                  </a:lnTo>
                  <a:lnTo>
                    <a:pt x="182026" y="232958"/>
                  </a:lnTo>
                  <a:lnTo>
                    <a:pt x="204932" y="234223"/>
                  </a:lnTo>
                  <a:lnTo>
                    <a:pt x="227853" y="234223"/>
                  </a:lnTo>
                  <a:lnTo>
                    <a:pt x="274319" y="230398"/>
                  </a:lnTo>
                  <a:lnTo>
                    <a:pt x="317586" y="220858"/>
                  </a:lnTo>
                  <a:lnTo>
                    <a:pt x="356417" y="206852"/>
                  </a:lnTo>
                  <a:lnTo>
                    <a:pt x="401604" y="177576"/>
                  </a:lnTo>
                  <a:lnTo>
                    <a:pt x="427710" y="141930"/>
                  </a:lnTo>
                  <a:lnTo>
                    <a:pt x="432800" y="117119"/>
                  </a:lnTo>
                  <a:lnTo>
                    <a:pt x="431520" y="104378"/>
                  </a:lnTo>
                  <a:lnTo>
                    <a:pt x="413064" y="68107"/>
                  </a:lnTo>
                  <a:lnTo>
                    <a:pt x="373608" y="36286"/>
                  </a:lnTo>
                  <a:lnTo>
                    <a:pt x="337962" y="19735"/>
                  </a:lnTo>
                  <a:lnTo>
                    <a:pt x="296585" y="7635"/>
                  </a:lnTo>
                  <a:lnTo>
                    <a:pt x="251399" y="1280"/>
                  </a:lnTo>
                  <a:lnTo>
                    <a:pt x="22785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469855" y="4236440"/>
              <a:ext cx="433070" cy="234315"/>
            </a:xfrm>
            <a:custGeom>
              <a:avLst/>
              <a:gdLst/>
              <a:ahLst/>
              <a:cxnLst/>
              <a:rect l="l" t="t" r="r" b="b"/>
              <a:pathLst>
                <a:path w="433069" h="234314">
                  <a:moveTo>
                    <a:pt x="0" y="117119"/>
                  </a:moveTo>
                  <a:lnTo>
                    <a:pt x="11445" y="79568"/>
                  </a:lnTo>
                  <a:lnTo>
                    <a:pt x="44546" y="45826"/>
                  </a:lnTo>
                  <a:lnTo>
                    <a:pt x="95463" y="19735"/>
                  </a:lnTo>
                  <a:lnTo>
                    <a:pt x="136839" y="7635"/>
                  </a:lnTo>
                  <a:lnTo>
                    <a:pt x="182026" y="1280"/>
                  </a:lnTo>
                  <a:lnTo>
                    <a:pt x="204932" y="0"/>
                  </a:lnTo>
                  <a:lnTo>
                    <a:pt x="227853" y="0"/>
                  </a:lnTo>
                  <a:lnTo>
                    <a:pt x="274319" y="3825"/>
                  </a:lnTo>
                  <a:lnTo>
                    <a:pt x="317586" y="13365"/>
                  </a:lnTo>
                  <a:lnTo>
                    <a:pt x="356417" y="27371"/>
                  </a:lnTo>
                  <a:lnTo>
                    <a:pt x="401604" y="56647"/>
                  </a:lnTo>
                  <a:lnTo>
                    <a:pt x="427710" y="92293"/>
                  </a:lnTo>
                  <a:lnTo>
                    <a:pt x="432800" y="117119"/>
                  </a:lnTo>
                  <a:lnTo>
                    <a:pt x="431520" y="130484"/>
                  </a:lnTo>
                  <a:lnTo>
                    <a:pt x="413064" y="166115"/>
                  </a:lnTo>
                  <a:lnTo>
                    <a:pt x="373608" y="197952"/>
                  </a:lnTo>
                  <a:lnTo>
                    <a:pt x="337962" y="214487"/>
                  </a:lnTo>
                  <a:lnTo>
                    <a:pt x="296585" y="226588"/>
                  </a:lnTo>
                  <a:lnTo>
                    <a:pt x="251399" y="232958"/>
                  </a:lnTo>
                  <a:lnTo>
                    <a:pt x="227853" y="234223"/>
                  </a:lnTo>
                  <a:lnTo>
                    <a:pt x="204932" y="234223"/>
                  </a:lnTo>
                  <a:lnTo>
                    <a:pt x="159105" y="230398"/>
                  </a:lnTo>
                  <a:lnTo>
                    <a:pt x="115199" y="220858"/>
                  </a:lnTo>
                  <a:lnTo>
                    <a:pt x="77007" y="206852"/>
                  </a:lnTo>
                  <a:lnTo>
                    <a:pt x="31181" y="177576"/>
                  </a:lnTo>
                  <a:lnTo>
                    <a:pt x="5090" y="141930"/>
                  </a:lnTo>
                  <a:lnTo>
                    <a:pt x="0" y="117119"/>
                  </a:lnTo>
                </a:path>
              </a:pathLst>
            </a:custGeom>
            <a:ln w="1591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979023" y="4236440"/>
              <a:ext cx="433070" cy="234315"/>
            </a:xfrm>
            <a:custGeom>
              <a:avLst/>
              <a:gdLst/>
              <a:ahLst/>
              <a:cxnLst/>
              <a:rect l="l" t="t" r="r" b="b"/>
              <a:pathLst>
                <a:path w="433070" h="234314">
                  <a:moveTo>
                    <a:pt x="227853" y="0"/>
                  </a:moveTo>
                  <a:lnTo>
                    <a:pt x="204947" y="0"/>
                  </a:lnTo>
                  <a:lnTo>
                    <a:pt x="181401" y="1280"/>
                  </a:lnTo>
                  <a:lnTo>
                    <a:pt x="136215" y="7635"/>
                  </a:lnTo>
                  <a:lnTo>
                    <a:pt x="94838" y="19735"/>
                  </a:lnTo>
                  <a:lnTo>
                    <a:pt x="59192" y="36286"/>
                  </a:lnTo>
                  <a:lnTo>
                    <a:pt x="19735" y="68107"/>
                  </a:lnTo>
                  <a:lnTo>
                    <a:pt x="1280" y="104378"/>
                  </a:lnTo>
                  <a:lnTo>
                    <a:pt x="0" y="117119"/>
                  </a:lnTo>
                  <a:lnTo>
                    <a:pt x="1280" y="130484"/>
                  </a:lnTo>
                  <a:lnTo>
                    <a:pt x="19735" y="166115"/>
                  </a:lnTo>
                  <a:lnTo>
                    <a:pt x="59192" y="197952"/>
                  </a:lnTo>
                  <a:lnTo>
                    <a:pt x="94838" y="214487"/>
                  </a:lnTo>
                  <a:lnTo>
                    <a:pt x="136215" y="226588"/>
                  </a:lnTo>
                  <a:lnTo>
                    <a:pt x="181401" y="232958"/>
                  </a:lnTo>
                  <a:lnTo>
                    <a:pt x="204947" y="234223"/>
                  </a:lnTo>
                  <a:lnTo>
                    <a:pt x="227853" y="234223"/>
                  </a:lnTo>
                  <a:lnTo>
                    <a:pt x="273679" y="230398"/>
                  </a:lnTo>
                  <a:lnTo>
                    <a:pt x="317601" y="220858"/>
                  </a:lnTo>
                  <a:lnTo>
                    <a:pt x="356433" y="206852"/>
                  </a:lnTo>
                  <a:lnTo>
                    <a:pt x="401619" y="177576"/>
                  </a:lnTo>
                  <a:lnTo>
                    <a:pt x="427710" y="141930"/>
                  </a:lnTo>
                  <a:lnTo>
                    <a:pt x="432800" y="117119"/>
                  </a:lnTo>
                  <a:lnTo>
                    <a:pt x="431535" y="104378"/>
                  </a:lnTo>
                  <a:lnTo>
                    <a:pt x="412440" y="68107"/>
                  </a:lnTo>
                  <a:lnTo>
                    <a:pt x="372983" y="36286"/>
                  </a:lnTo>
                  <a:lnTo>
                    <a:pt x="337337" y="19735"/>
                  </a:lnTo>
                  <a:lnTo>
                    <a:pt x="295960" y="7635"/>
                  </a:lnTo>
                  <a:lnTo>
                    <a:pt x="250774" y="1280"/>
                  </a:lnTo>
                  <a:lnTo>
                    <a:pt x="22785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979023" y="4236440"/>
              <a:ext cx="433070" cy="234315"/>
            </a:xfrm>
            <a:custGeom>
              <a:avLst/>
              <a:gdLst/>
              <a:ahLst/>
              <a:cxnLst/>
              <a:rect l="l" t="t" r="r" b="b"/>
              <a:pathLst>
                <a:path w="433070" h="234314">
                  <a:moveTo>
                    <a:pt x="0" y="117119"/>
                  </a:moveTo>
                  <a:lnTo>
                    <a:pt x="11460" y="79568"/>
                  </a:lnTo>
                  <a:lnTo>
                    <a:pt x="43921" y="45826"/>
                  </a:lnTo>
                  <a:lnTo>
                    <a:pt x="94838" y="19735"/>
                  </a:lnTo>
                  <a:lnTo>
                    <a:pt x="136215" y="7635"/>
                  </a:lnTo>
                  <a:lnTo>
                    <a:pt x="181401" y="1280"/>
                  </a:lnTo>
                  <a:lnTo>
                    <a:pt x="204947" y="0"/>
                  </a:lnTo>
                  <a:lnTo>
                    <a:pt x="227853" y="0"/>
                  </a:lnTo>
                  <a:lnTo>
                    <a:pt x="273679" y="3825"/>
                  </a:lnTo>
                  <a:lnTo>
                    <a:pt x="317601" y="13365"/>
                  </a:lnTo>
                  <a:lnTo>
                    <a:pt x="356433" y="27371"/>
                  </a:lnTo>
                  <a:lnTo>
                    <a:pt x="401619" y="56647"/>
                  </a:lnTo>
                  <a:lnTo>
                    <a:pt x="427710" y="92293"/>
                  </a:lnTo>
                  <a:lnTo>
                    <a:pt x="432800" y="117119"/>
                  </a:lnTo>
                  <a:lnTo>
                    <a:pt x="431535" y="130484"/>
                  </a:lnTo>
                  <a:lnTo>
                    <a:pt x="412440" y="166115"/>
                  </a:lnTo>
                  <a:lnTo>
                    <a:pt x="372983" y="197952"/>
                  </a:lnTo>
                  <a:lnTo>
                    <a:pt x="337337" y="214487"/>
                  </a:lnTo>
                  <a:lnTo>
                    <a:pt x="295960" y="226588"/>
                  </a:lnTo>
                  <a:lnTo>
                    <a:pt x="250774" y="232958"/>
                  </a:lnTo>
                  <a:lnTo>
                    <a:pt x="227853" y="234223"/>
                  </a:lnTo>
                  <a:lnTo>
                    <a:pt x="204947" y="234223"/>
                  </a:lnTo>
                  <a:lnTo>
                    <a:pt x="158480" y="230398"/>
                  </a:lnTo>
                  <a:lnTo>
                    <a:pt x="115199" y="220858"/>
                  </a:lnTo>
                  <a:lnTo>
                    <a:pt x="76382" y="206852"/>
                  </a:lnTo>
                  <a:lnTo>
                    <a:pt x="31196" y="177576"/>
                  </a:lnTo>
                  <a:lnTo>
                    <a:pt x="5090" y="141930"/>
                  </a:lnTo>
                  <a:lnTo>
                    <a:pt x="0" y="117119"/>
                  </a:lnTo>
                </a:path>
              </a:pathLst>
            </a:custGeom>
            <a:ln w="1591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464021" y="4236440"/>
              <a:ext cx="433070" cy="234315"/>
            </a:xfrm>
            <a:custGeom>
              <a:avLst/>
              <a:gdLst/>
              <a:ahLst/>
              <a:cxnLst/>
              <a:rect l="l" t="t" r="r" b="b"/>
              <a:pathLst>
                <a:path w="433070" h="234314">
                  <a:moveTo>
                    <a:pt x="228493" y="0"/>
                  </a:moveTo>
                  <a:lnTo>
                    <a:pt x="204947" y="0"/>
                  </a:lnTo>
                  <a:lnTo>
                    <a:pt x="181386" y="1280"/>
                  </a:lnTo>
                  <a:lnTo>
                    <a:pt x="136199" y="7635"/>
                  </a:lnTo>
                  <a:lnTo>
                    <a:pt x="94838" y="19735"/>
                  </a:lnTo>
                  <a:lnTo>
                    <a:pt x="59192" y="36286"/>
                  </a:lnTo>
                  <a:lnTo>
                    <a:pt x="19735" y="68107"/>
                  </a:lnTo>
                  <a:lnTo>
                    <a:pt x="1264" y="104378"/>
                  </a:lnTo>
                  <a:lnTo>
                    <a:pt x="0" y="117119"/>
                  </a:lnTo>
                  <a:lnTo>
                    <a:pt x="1264" y="130484"/>
                  </a:lnTo>
                  <a:lnTo>
                    <a:pt x="19735" y="166115"/>
                  </a:lnTo>
                  <a:lnTo>
                    <a:pt x="59192" y="197952"/>
                  </a:lnTo>
                  <a:lnTo>
                    <a:pt x="94838" y="214487"/>
                  </a:lnTo>
                  <a:lnTo>
                    <a:pt x="136199" y="226588"/>
                  </a:lnTo>
                  <a:lnTo>
                    <a:pt x="181386" y="232958"/>
                  </a:lnTo>
                  <a:lnTo>
                    <a:pt x="204947" y="234223"/>
                  </a:lnTo>
                  <a:lnTo>
                    <a:pt x="228493" y="234223"/>
                  </a:lnTo>
                  <a:lnTo>
                    <a:pt x="273679" y="230398"/>
                  </a:lnTo>
                  <a:lnTo>
                    <a:pt x="317601" y="220858"/>
                  </a:lnTo>
                  <a:lnTo>
                    <a:pt x="356417" y="206852"/>
                  </a:lnTo>
                  <a:lnTo>
                    <a:pt x="401619" y="177576"/>
                  </a:lnTo>
                  <a:lnTo>
                    <a:pt x="427710" y="141930"/>
                  </a:lnTo>
                  <a:lnTo>
                    <a:pt x="432800" y="117119"/>
                  </a:lnTo>
                  <a:lnTo>
                    <a:pt x="431520" y="104378"/>
                  </a:lnTo>
                  <a:lnTo>
                    <a:pt x="412440" y="68107"/>
                  </a:lnTo>
                  <a:lnTo>
                    <a:pt x="372968" y="36286"/>
                  </a:lnTo>
                  <a:lnTo>
                    <a:pt x="337322" y="19735"/>
                  </a:lnTo>
                  <a:lnTo>
                    <a:pt x="295960" y="7635"/>
                  </a:lnTo>
                  <a:lnTo>
                    <a:pt x="250774" y="1280"/>
                  </a:lnTo>
                  <a:lnTo>
                    <a:pt x="22849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464021" y="4236440"/>
              <a:ext cx="433070" cy="234315"/>
            </a:xfrm>
            <a:custGeom>
              <a:avLst/>
              <a:gdLst/>
              <a:ahLst/>
              <a:cxnLst/>
              <a:rect l="l" t="t" r="r" b="b"/>
              <a:pathLst>
                <a:path w="433070" h="234314">
                  <a:moveTo>
                    <a:pt x="0" y="117119"/>
                  </a:moveTo>
                  <a:lnTo>
                    <a:pt x="11460" y="79568"/>
                  </a:lnTo>
                  <a:lnTo>
                    <a:pt x="43921" y="45826"/>
                  </a:lnTo>
                  <a:lnTo>
                    <a:pt x="94838" y="19735"/>
                  </a:lnTo>
                  <a:lnTo>
                    <a:pt x="136199" y="7635"/>
                  </a:lnTo>
                  <a:lnTo>
                    <a:pt x="181386" y="1280"/>
                  </a:lnTo>
                  <a:lnTo>
                    <a:pt x="204947" y="0"/>
                  </a:lnTo>
                  <a:lnTo>
                    <a:pt x="228493" y="0"/>
                  </a:lnTo>
                  <a:lnTo>
                    <a:pt x="273679" y="3825"/>
                  </a:lnTo>
                  <a:lnTo>
                    <a:pt x="317601" y="13365"/>
                  </a:lnTo>
                  <a:lnTo>
                    <a:pt x="356417" y="27371"/>
                  </a:lnTo>
                  <a:lnTo>
                    <a:pt x="401619" y="56647"/>
                  </a:lnTo>
                  <a:lnTo>
                    <a:pt x="427710" y="92293"/>
                  </a:lnTo>
                  <a:lnTo>
                    <a:pt x="432800" y="117119"/>
                  </a:lnTo>
                  <a:lnTo>
                    <a:pt x="431520" y="130484"/>
                  </a:lnTo>
                  <a:lnTo>
                    <a:pt x="412440" y="166115"/>
                  </a:lnTo>
                  <a:lnTo>
                    <a:pt x="372968" y="197952"/>
                  </a:lnTo>
                  <a:lnTo>
                    <a:pt x="337322" y="214487"/>
                  </a:lnTo>
                  <a:lnTo>
                    <a:pt x="295960" y="226588"/>
                  </a:lnTo>
                  <a:lnTo>
                    <a:pt x="250774" y="232958"/>
                  </a:lnTo>
                  <a:lnTo>
                    <a:pt x="228493" y="234223"/>
                  </a:lnTo>
                  <a:lnTo>
                    <a:pt x="204947" y="234223"/>
                  </a:lnTo>
                  <a:lnTo>
                    <a:pt x="158480" y="230398"/>
                  </a:lnTo>
                  <a:lnTo>
                    <a:pt x="115199" y="220858"/>
                  </a:lnTo>
                  <a:lnTo>
                    <a:pt x="76367" y="206852"/>
                  </a:lnTo>
                  <a:lnTo>
                    <a:pt x="31181" y="177576"/>
                  </a:lnTo>
                  <a:lnTo>
                    <a:pt x="5090" y="141930"/>
                  </a:lnTo>
                  <a:lnTo>
                    <a:pt x="0" y="117119"/>
                  </a:lnTo>
                </a:path>
              </a:pathLst>
            </a:custGeom>
            <a:ln w="1591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967474" y="4236440"/>
              <a:ext cx="433070" cy="234315"/>
            </a:xfrm>
            <a:custGeom>
              <a:avLst/>
              <a:gdLst/>
              <a:ahLst/>
              <a:cxnLst/>
              <a:rect l="l" t="t" r="r" b="b"/>
              <a:pathLst>
                <a:path w="433070" h="234314">
                  <a:moveTo>
                    <a:pt x="227853" y="0"/>
                  </a:moveTo>
                  <a:lnTo>
                    <a:pt x="204932" y="0"/>
                  </a:lnTo>
                  <a:lnTo>
                    <a:pt x="181386" y="1280"/>
                  </a:lnTo>
                  <a:lnTo>
                    <a:pt x="136199" y="7635"/>
                  </a:lnTo>
                  <a:lnTo>
                    <a:pt x="94823" y="19735"/>
                  </a:lnTo>
                  <a:lnTo>
                    <a:pt x="59192" y="36286"/>
                  </a:lnTo>
                  <a:lnTo>
                    <a:pt x="19720" y="68107"/>
                  </a:lnTo>
                  <a:lnTo>
                    <a:pt x="1264" y="104378"/>
                  </a:lnTo>
                  <a:lnTo>
                    <a:pt x="0" y="117119"/>
                  </a:lnTo>
                  <a:lnTo>
                    <a:pt x="1264" y="130484"/>
                  </a:lnTo>
                  <a:lnTo>
                    <a:pt x="19720" y="166115"/>
                  </a:lnTo>
                  <a:lnTo>
                    <a:pt x="59192" y="197952"/>
                  </a:lnTo>
                  <a:lnTo>
                    <a:pt x="94823" y="214487"/>
                  </a:lnTo>
                  <a:lnTo>
                    <a:pt x="136199" y="226588"/>
                  </a:lnTo>
                  <a:lnTo>
                    <a:pt x="181386" y="232958"/>
                  </a:lnTo>
                  <a:lnTo>
                    <a:pt x="204932" y="234223"/>
                  </a:lnTo>
                  <a:lnTo>
                    <a:pt x="227853" y="234223"/>
                  </a:lnTo>
                  <a:lnTo>
                    <a:pt x="273679" y="230398"/>
                  </a:lnTo>
                  <a:lnTo>
                    <a:pt x="317601" y="220858"/>
                  </a:lnTo>
                  <a:lnTo>
                    <a:pt x="356417" y="206852"/>
                  </a:lnTo>
                  <a:lnTo>
                    <a:pt x="401604" y="177576"/>
                  </a:lnTo>
                  <a:lnTo>
                    <a:pt x="427710" y="141930"/>
                  </a:lnTo>
                  <a:lnTo>
                    <a:pt x="432800" y="117119"/>
                  </a:lnTo>
                  <a:lnTo>
                    <a:pt x="431520" y="104378"/>
                  </a:lnTo>
                  <a:lnTo>
                    <a:pt x="412424" y="68107"/>
                  </a:lnTo>
                  <a:lnTo>
                    <a:pt x="372968" y="36286"/>
                  </a:lnTo>
                  <a:lnTo>
                    <a:pt x="337322" y="19735"/>
                  </a:lnTo>
                  <a:lnTo>
                    <a:pt x="295960" y="7635"/>
                  </a:lnTo>
                  <a:lnTo>
                    <a:pt x="250758" y="1280"/>
                  </a:lnTo>
                  <a:lnTo>
                    <a:pt x="22785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967474" y="4236440"/>
              <a:ext cx="433070" cy="234315"/>
            </a:xfrm>
            <a:custGeom>
              <a:avLst/>
              <a:gdLst/>
              <a:ahLst/>
              <a:cxnLst/>
              <a:rect l="l" t="t" r="r" b="b"/>
              <a:pathLst>
                <a:path w="433070" h="234314">
                  <a:moveTo>
                    <a:pt x="0" y="117119"/>
                  </a:moveTo>
                  <a:lnTo>
                    <a:pt x="11445" y="79568"/>
                  </a:lnTo>
                  <a:lnTo>
                    <a:pt x="43906" y="45826"/>
                  </a:lnTo>
                  <a:lnTo>
                    <a:pt x="94823" y="19735"/>
                  </a:lnTo>
                  <a:lnTo>
                    <a:pt x="136199" y="7635"/>
                  </a:lnTo>
                  <a:lnTo>
                    <a:pt x="181386" y="1280"/>
                  </a:lnTo>
                  <a:lnTo>
                    <a:pt x="204932" y="0"/>
                  </a:lnTo>
                  <a:lnTo>
                    <a:pt x="227853" y="0"/>
                  </a:lnTo>
                  <a:lnTo>
                    <a:pt x="273679" y="3825"/>
                  </a:lnTo>
                  <a:lnTo>
                    <a:pt x="317601" y="13365"/>
                  </a:lnTo>
                  <a:lnTo>
                    <a:pt x="356417" y="27371"/>
                  </a:lnTo>
                  <a:lnTo>
                    <a:pt x="401604" y="56647"/>
                  </a:lnTo>
                  <a:lnTo>
                    <a:pt x="427710" y="92293"/>
                  </a:lnTo>
                  <a:lnTo>
                    <a:pt x="432800" y="117119"/>
                  </a:lnTo>
                  <a:lnTo>
                    <a:pt x="431520" y="130484"/>
                  </a:lnTo>
                  <a:lnTo>
                    <a:pt x="412424" y="166115"/>
                  </a:lnTo>
                  <a:lnTo>
                    <a:pt x="372968" y="197952"/>
                  </a:lnTo>
                  <a:lnTo>
                    <a:pt x="337322" y="214487"/>
                  </a:lnTo>
                  <a:lnTo>
                    <a:pt x="295960" y="226588"/>
                  </a:lnTo>
                  <a:lnTo>
                    <a:pt x="250758" y="232958"/>
                  </a:lnTo>
                  <a:lnTo>
                    <a:pt x="227853" y="234223"/>
                  </a:lnTo>
                  <a:lnTo>
                    <a:pt x="204932" y="234223"/>
                  </a:lnTo>
                  <a:lnTo>
                    <a:pt x="158480" y="230398"/>
                  </a:lnTo>
                  <a:lnTo>
                    <a:pt x="115199" y="220858"/>
                  </a:lnTo>
                  <a:lnTo>
                    <a:pt x="76367" y="206852"/>
                  </a:lnTo>
                  <a:lnTo>
                    <a:pt x="31181" y="177576"/>
                  </a:lnTo>
                  <a:lnTo>
                    <a:pt x="5090" y="141930"/>
                  </a:lnTo>
                  <a:lnTo>
                    <a:pt x="0" y="117119"/>
                  </a:lnTo>
                </a:path>
              </a:pathLst>
            </a:custGeom>
            <a:ln w="1591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452457" y="4236440"/>
              <a:ext cx="433070" cy="234315"/>
            </a:xfrm>
            <a:custGeom>
              <a:avLst/>
              <a:gdLst/>
              <a:ahLst/>
              <a:cxnLst/>
              <a:rect l="l" t="t" r="r" b="b"/>
              <a:pathLst>
                <a:path w="433070" h="234314">
                  <a:moveTo>
                    <a:pt x="228493" y="0"/>
                  </a:moveTo>
                  <a:lnTo>
                    <a:pt x="204947" y="0"/>
                  </a:lnTo>
                  <a:lnTo>
                    <a:pt x="181401" y="1280"/>
                  </a:lnTo>
                  <a:lnTo>
                    <a:pt x="136215" y="7635"/>
                  </a:lnTo>
                  <a:lnTo>
                    <a:pt x="94838" y="19735"/>
                  </a:lnTo>
                  <a:lnTo>
                    <a:pt x="59192" y="36286"/>
                  </a:lnTo>
                  <a:lnTo>
                    <a:pt x="19735" y="68107"/>
                  </a:lnTo>
                  <a:lnTo>
                    <a:pt x="1280" y="104378"/>
                  </a:lnTo>
                  <a:lnTo>
                    <a:pt x="0" y="117119"/>
                  </a:lnTo>
                  <a:lnTo>
                    <a:pt x="1280" y="130484"/>
                  </a:lnTo>
                  <a:lnTo>
                    <a:pt x="19735" y="166115"/>
                  </a:lnTo>
                  <a:lnTo>
                    <a:pt x="59192" y="197952"/>
                  </a:lnTo>
                  <a:lnTo>
                    <a:pt x="94838" y="214487"/>
                  </a:lnTo>
                  <a:lnTo>
                    <a:pt x="136215" y="226588"/>
                  </a:lnTo>
                  <a:lnTo>
                    <a:pt x="181401" y="232958"/>
                  </a:lnTo>
                  <a:lnTo>
                    <a:pt x="204947" y="234223"/>
                  </a:lnTo>
                  <a:lnTo>
                    <a:pt x="228493" y="234223"/>
                  </a:lnTo>
                  <a:lnTo>
                    <a:pt x="273695" y="230398"/>
                  </a:lnTo>
                  <a:lnTo>
                    <a:pt x="317601" y="220858"/>
                  </a:lnTo>
                  <a:lnTo>
                    <a:pt x="356433" y="206852"/>
                  </a:lnTo>
                  <a:lnTo>
                    <a:pt x="401619" y="177576"/>
                  </a:lnTo>
                  <a:lnTo>
                    <a:pt x="427710" y="141930"/>
                  </a:lnTo>
                  <a:lnTo>
                    <a:pt x="432800" y="117119"/>
                  </a:lnTo>
                  <a:lnTo>
                    <a:pt x="431535" y="104378"/>
                  </a:lnTo>
                  <a:lnTo>
                    <a:pt x="412440" y="68107"/>
                  </a:lnTo>
                  <a:lnTo>
                    <a:pt x="372983" y="36286"/>
                  </a:lnTo>
                  <a:lnTo>
                    <a:pt x="337337" y="19735"/>
                  </a:lnTo>
                  <a:lnTo>
                    <a:pt x="295960" y="7635"/>
                  </a:lnTo>
                  <a:lnTo>
                    <a:pt x="250774" y="1280"/>
                  </a:lnTo>
                  <a:lnTo>
                    <a:pt x="22849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452457" y="4236440"/>
              <a:ext cx="433070" cy="234315"/>
            </a:xfrm>
            <a:custGeom>
              <a:avLst/>
              <a:gdLst/>
              <a:ahLst/>
              <a:cxnLst/>
              <a:rect l="l" t="t" r="r" b="b"/>
              <a:pathLst>
                <a:path w="433070" h="234314">
                  <a:moveTo>
                    <a:pt x="0" y="117119"/>
                  </a:moveTo>
                  <a:lnTo>
                    <a:pt x="11460" y="79568"/>
                  </a:lnTo>
                  <a:lnTo>
                    <a:pt x="43921" y="45826"/>
                  </a:lnTo>
                  <a:lnTo>
                    <a:pt x="94838" y="19735"/>
                  </a:lnTo>
                  <a:lnTo>
                    <a:pt x="136215" y="7635"/>
                  </a:lnTo>
                  <a:lnTo>
                    <a:pt x="181401" y="1280"/>
                  </a:lnTo>
                  <a:lnTo>
                    <a:pt x="204947" y="0"/>
                  </a:lnTo>
                  <a:lnTo>
                    <a:pt x="228493" y="0"/>
                  </a:lnTo>
                  <a:lnTo>
                    <a:pt x="273695" y="3825"/>
                  </a:lnTo>
                  <a:lnTo>
                    <a:pt x="317601" y="13365"/>
                  </a:lnTo>
                  <a:lnTo>
                    <a:pt x="356433" y="27371"/>
                  </a:lnTo>
                  <a:lnTo>
                    <a:pt x="401619" y="56647"/>
                  </a:lnTo>
                  <a:lnTo>
                    <a:pt x="427710" y="92293"/>
                  </a:lnTo>
                  <a:lnTo>
                    <a:pt x="432800" y="117119"/>
                  </a:lnTo>
                  <a:lnTo>
                    <a:pt x="431535" y="130484"/>
                  </a:lnTo>
                  <a:lnTo>
                    <a:pt x="412440" y="166115"/>
                  </a:lnTo>
                  <a:lnTo>
                    <a:pt x="372983" y="197952"/>
                  </a:lnTo>
                  <a:lnTo>
                    <a:pt x="337337" y="214487"/>
                  </a:lnTo>
                  <a:lnTo>
                    <a:pt x="295960" y="226588"/>
                  </a:lnTo>
                  <a:lnTo>
                    <a:pt x="250774" y="232958"/>
                  </a:lnTo>
                  <a:lnTo>
                    <a:pt x="228493" y="234223"/>
                  </a:lnTo>
                  <a:lnTo>
                    <a:pt x="204947" y="234223"/>
                  </a:lnTo>
                  <a:lnTo>
                    <a:pt x="158480" y="230398"/>
                  </a:lnTo>
                  <a:lnTo>
                    <a:pt x="115214" y="220858"/>
                  </a:lnTo>
                  <a:lnTo>
                    <a:pt x="76382" y="206852"/>
                  </a:lnTo>
                  <a:lnTo>
                    <a:pt x="31196" y="177576"/>
                  </a:lnTo>
                  <a:lnTo>
                    <a:pt x="5090" y="141930"/>
                  </a:lnTo>
                  <a:lnTo>
                    <a:pt x="0" y="117119"/>
                  </a:lnTo>
                </a:path>
              </a:pathLst>
            </a:custGeom>
            <a:ln w="1591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943825" y="4236440"/>
              <a:ext cx="432434" cy="234315"/>
            </a:xfrm>
            <a:custGeom>
              <a:avLst/>
              <a:gdLst/>
              <a:ahLst/>
              <a:cxnLst/>
              <a:rect l="l" t="t" r="r" b="b"/>
              <a:pathLst>
                <a:path w="432435" h="234314">
                  <a:moveTo>
                    <a:pt x="227853" y="0"/>
                  </a:moveTo>
                  <a:lnTo>
                    <a:pt x="204307" y="0"/>
                  </a:lnTo>
                  <a:lnTo>
                    <a:pt x="181386" y="1280"/>
                  </a:lnTo>
                  <a:lnTo>
                    <a:pt x="136199" y="7635"/>
                  </a:lnTo>
                  <a:lnTo>
                    <a:pt x="94823" y="19735"/>
                  </a:lnTo>
                  <a:lnTo>
                    <a:pt x="59192" y="36286"/>
                  </a:lnTo>
                  <a:lnTo>
                    <a:pt x="19720" y="68107"/>
                  </a:lnTo>
                  <a:lnTo>
                    <a:pt x="1264" y="104378"/>
                  </a:lnTo>
                  <a:lnTo>
                    <a:pt x="0" y="117119"/>
                  </a:lnTo>
                  <a:lnTo>
                    <a:pt x="1264" y="130484"/>
                  </a:lnTo>
                  <a:lnTo>
                    <a:pt x="19720" y="166115"/>
                  </a:lnTo>
                  <a:lnTo>
                    <a:pt x="59192" y="197952"/>
                  </a:lnTo>
                  <a:lnTo>
                    <a:pt x="94823" y="214487"/>
                  </a:lnTo>
                  <a:lnTo>
                    <a:pt x="136199" y="226588"/>
                  </a:lnTo>
                  <a:lnTo>
                    <a:pt x="181386" y="232958"/>
                  </a:lnTo>
                  <a:lnTo>
                    <a:pt x="204307" y="234223"/>
                  </a:lnTo>
                  <a:lnTo>
                    <a:pt x="227853" y="234223"/>
                  </a:lnTo>
                  <a:lnTo>
                    <a:pt x="273679" y="230398"/>
                  </a:lnTo>
                  <a:lnTo>
                    <a:pt x="316961" y="220858"/>
                  </a:lnTo>
                  <a:lnTo>
                    <a:pt x="355777" y="206852"/>
                  </a:lnTo>
                  <a:lnTo>
                    <a:pt x="400979" y="177576"/>
                  </a:lnTo>
                  <a:lnTo>
                    <a:pt x="427070" y="141930"/>
                  </a:lnTo>
                  <a:lnTo>
                    <a:pt x="432160" y="117119"/>
                  </a:lnTo>
                  <a:lnTo>
                    <a:pt x="430880" y="104378"/>
                  </a:lnTo>
                  <a:lnTo>
                    <a:pt x="412424" y="68107"/>
                  </a:lnTo>
                  <a:lnTo>
                    <a:pt x="372968" y="36286"/>
                  </a:lnTo>
                  <a:lnTo>
                    <a:pt x="337322" y="19735"/>
                  </a:lnTo>
                  <a:lnTo>
                    <a:pt x="295960" y="7635"/>
                  </a:lnTo>
                  <a:lnTo>
                    <a:pt x="251399" y="1280"/>
                  </a:lnTo>
                  <a:lnTo>
                    <a:pt x="22785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943825" y="4236440"/>
              <a:ext cx="432434" cy="234315"/>
            </a:xfrm>
            <a:custGeom>
              <a:avLst/>
              <a:gdLst/>
              <a:ahLst/>
              <a:cxnLst/>
              <a:rect l="l" t="t" r="r" b="b"/>
              <a:pathLst>
                <a:path w="432435" h="234314">
                  <a:moveTo>
                    <a:pt x="0" y="117119"/>
                  </a:moveTo>
                  <a:lnTo>
                    <a:pt x="10820" y="79568"/>
                  </a:lnTo>
                  <a:lnTo>
                    <a:pt x="43906" y="45826"/>
                  </a:lnTo>
                  <a:lnTo>
                    <a:pt x="94823" y="19735"/>
                  </a:lnTo>
                  <a:lnTo>
                    <a:pt x="136199" y="7635"/>
                  </a:lnTo>
                  <a:lnTo>
                    <a:pt x="181386" y="1280"/>
                  </a:lnTo>
                  <a:lnTo>
                    <a:pt x="204307" y="0"/>
                  </a:lnTo>
                  <a:lnTo>
                    <a:pt x="227853" y="0"/>
                  </a:lnTo>
                  <a:lnTo>
                    <a:pt x="273679" y="3825"/>
                  </a:lnTo>
                  <a:lnTo>
                    <a:pt x="316961" y="13365"/>
                  </a:lnTo>
                  <a:lnTo>
                    <a:pt x="355777" y="27371"/>
                  </a:lnTo>
                  <a:lnTo>
                    <a:pt x="400979" y="56647"/>
                  </a:lnTo>
                  <a:lnTo>
                    <a:pt x="427070" y="92293"/>
                  </a:lnTo>
                  <a:lnTo>
                    <a:pt x="432160" y="117119"/>
                  </a:lnTo>
                  <a:lnTo>
                    <a:pt x="430880" y="130484"/>
                  </a:lnTo>
                  <a:lnTo>
                    <a:pt x="412424" y="166115"/>
                  </a:lnTo>
                  <a:lnTo>
                    <a:pt x="372968" y="197952"/>
                  </a:lnTo>
                  <a:lnTo>
                    <a:pt x="337322" y="214487"/>
                  </a:lnTo>
                  <a:lnTo>
                    <a:pt x="295960" y="226588"/>
                  </a:lnTo>
                  <a:lnTo>
                    <a:pt x="251399" y="232958"/>
                  </a:lnTo>
                  <a:lnTo>
                    <a:pt x="227853" y="234223"/>
                  </a:lnTo>
                  <a:lnTo>
                    <a:pt x="204307" y="234223"/>
                  </a:lnTo>
                  <a:lnTo>
                    <a:pt x="158480" y="230398"/>
                  </a:lnTo>
                  <a:lnTo>
                    <a:pt x="114559" y="220858"/>
                  </a:lnTo>
                  <a:lnTo>
                    <a:pt x="75727" y="206852"/>
                  </a:lnTo>
                  <a:lnTo>
                    <a:pt x="30540" y="177576"/>
                  </a:lnTo>
                  <a:lnTo>
                    <a:pt x="5090" y="141930"/>
                  </a:lnTo>
                  <a:lnTo>
                    <a:pt x="0" y="117119"/>
                  </a:lnTo>
                </a:path>
              </a:pathLst>
            </a:custGeom>
            <a:ln w="1591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428807" y="4236440"/>
              <a:ext cx="432434" cy="234315"/>
            </a:xfrm>
            <a:custGeom>
              <a:avLst/>
              <a:gdLst/>
              <a:ahLst/>
              <a:cxnLst/>
              <a:rect l="l" t="t" r="r" b="b"/>
              <a:pathLst>
                <a:path w="432435" h="234314">
                  <a:moveTo>
                    <a:pt x="227868" y="0"/>
                  </a:moveTo>
                  <a:lnTo>
                    <a:pt x="204307" y="0"/>
                  </a:lnTo>
                  <a:lnTo>
                    <a:pt x="181401" y="1280"/>
                  </a:lnTo>
                  <a:lnTo>
                    <a:pt x="136215" y="7635"/>
                  </a:lnTo>
                  <a:lnTo>
                    <a:pt x="94838" y="19735"/>
                  </a:lnTo>
                  <a:lnTo>
                    <a:pt x="59192" y="36286"/>
                  </a:lnTo>
                  <a:lnTo>
                    <a:pt x="20375" y="68107"/>
                  </a:lnTo>
                  <a:lnTo>
                    <a:pt x="1280" y="104378"/>
                  </a:lnTo>
                  <a:lnTo>
                    <a:pt x="0" y="117119"/>
                  </a:lnTo>
                  <a:lnTo>
                    <a:pt x="1280" y="130484"/>
                  </a:lnTo>
                  <a:lnTo>
                    <a:pt x="20375" y="166115"/>
                  </a:lnTo>
                  <a:lnTo>
                    <a:pt x="59192" y="197952"/>
                  </a:lnTo>
                  <a:lnTo>
                    <a:pt x="94838" y="214487"/>
                  </a:lnTo>
                  <a:lnTo>
                    <a:pt x="136215" y="226588"/>
                  </a:lnTo>
                  <a:lnTo>
                    <a:pt x="181401" y="232958"/>
                  </a:lnTo>
                  <a:lnTo>
                    <a:pt x="204307" y="234223"/>
                  </a:lnTo>
                  <a:lnTo>
                    <a:pt x="227868" y="234223"/>
                  </a:lnTo>
                  <a:lnTo>
                    <a:pt x="273695" y="230398"/>
                  </a:lnTo>
                  <a:lnTo>
                    <a:pt x="316961" y="220858"/>
                  </a:lnTo>
                  <a:lnTo>
                    <a:pt x="355793" y="206852"/>
                  </a:lnTo>
                  <a:lnTo>
                    <a:pt x="400979" y="177576"/>
                  </a:lnTo>
                  <a:lnTo>
                    <a:pt x="427085" y="141930"/>
                  </a:lnTo>
                  <a:lnTo>
                    <a:pt x="432175" y="117119"/>
                  </a:lnTo>
                  <a:lnTo>
                    <a:pt x="430895" y="104378"/>
                  </a:lnTo>
                  <a:lnTo>
                    <a:pt x="412440" y="68107"/>
                  </a:lnTo>
                  <a:lnTo>
                    <a:pt x="372983" y="36286"/>
                  </a:lnTo>
                  <a:lnTo>
                    <a:pt x="337337" y="19735"/>
                  </a:lnTo>
                  <a:lnTo>
                    <a:pt x="295960" y="7635"/>
                  </a:lnTo>
                  <a:lnTo>
                    <a:pt x="251414" y="1280"/>
                  </a:lnTo>
                  <a:lnTo>
                    <a:pt x="22786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428807" y="4236440"/>
              <a:ext cx="432434" cy="234315"/>
            </a:xfrm>
            <a:custGeom>
              <a:avLst/>
              <a:gdLst/>
              <a:ahLst/>
              <a:cxnLst/>
              <a:rect l="l" t="t" r="r" b="b"/>
              <a:pathLst>
                <a:path w="432435" h="234314">
                  <a:moveTo>
                    <a:pt x="0" y="117119"/>
                  </a:moveTo>
                  <a:lnTo>
                    <a:pt x="11460" y="79568"/>
                  </a:lnTo>
                  <a:lnTo>
                    <a:pt x="43921" y="45826"/>
                  </a:lnTo>
                  <a:lnTo>
                    <a:pt x="94838" y="19735"/>
                  </a:lnTo>
                  <a:lnTo>
                    <a:pt x="136215" y="7635"/>
                  </a:lnTo>
                  <a:lnTo>
                    <a:pt x="181401" y="1280"/>
                  </a:lnTo>
                  <a:lnTo>
                    <a:pt x="204307" y="0"/>
                  </a:lnTo>
                  <a:lnTo>
                    <a:pt x="227868" y="0"/>
                  </a:lnTo>
                  <a:lnTo>
                    <a:pt x="273695" y="3825"/>
                  </a:lnTo>
                  <a:lnTo>
                    <a:pt x="316961" y="13365"/>
                  </a:lnTo>
                  <a:lnTo>
                    <a:pt x="355793" y="27371"/>
                  </a:lnTo>
                  <a:lnTo>
                    <a:pt x="400979" y="56647"/>
                  </a:lnTo>
                  <a:lnTo>
                    <a:pt x="427085" y="92293"/>
                  </a:lnTo>
                  <a:lnTo>
                    <a:pt x="432175" y="117119"/>
                  </a:lnTo>
                  <a:lnTo>
                    <a:pt x="430895" y="130484"/>
                  </a:lnTo>
                  <a:lnTo>
                    <a:pt x="412440" y="166115"/>
                  </a:lnTo>
                  <a:lnTo>
                    <a:pt x="372983" y="197952"/>
                  </a:lnTo>
                  <a:lnTo>
                    <a:pt x="337337" y="214487"/>
                  </a:lnTo>
                  <a:lnTo>
                    <a:pt x="295960" y="226588"/>
                  </a:lnTo>
                  <a:lnTo>
                    <a:pt x="251414" y="232958"/>
                  </a:lnTo>
                  <a:lnTo>
                    <a:pt x="227868" y="234223"/>
                  </a:lnTo>
                  <a:lnTo>
                    <a:pt x="204307" y="234223"/>
                  </a:lnTo>
                  <a:lnTo>
                    <a:pt x="158480" y="230398"/>
                  </a:lnTo>
                  <a:lnTo>
                    <a:pt x="114574" y="220858"/>
                  </a:lnTo>
                  <a:lnTo>
                    <a:pt x="75742" y="206852"/>
                  </a:lnTo>
                  <a:lnTo>
                    <a:pt x="30556" y="177576"/>
                  </a:lnTo>
                  <a:lnTo>
                    <a:pt x="5090" y="141930"/>
                  </a:lnTo>
                  <a:lnTo>
                    <a:pt x="0" y="117119"/>
                  </a:lnTo>
                </a:path>
              </a:pathLst>
            </a:custGeom>
            <a:ln w="1591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913805" y="4236440"/>
              <a:ext cx="432434" cy="234315"/>
            </a:xfrm>
            <a:custGeom>
              <a:avLst/>
              <a:gdLst/>
              <a:ahLst/>
              <a:cxnLst/>
              <a:rect l="l" t="t" r="r" b="b"/>
              <a:pathLst>
                <a:path w="432435" h="234314">
                  <a:moveTo>
                    <a:pt x="227853" y="0"/>
                  </a:moveTo>
                  <a:lnTo>
                    <a:pt x="204307" y="0"/>
                  </a:lnTo>
                  <a:lnTo>
                    <a:pt x="181401" y="1280"/>
                  </a:lnTo>
                  <a:lnTo>
                    <a:pt x="136199" y="7635"/>
                  </a:lnTo>
                  <a:lnTo>
                    <a:pt x="94838" y="19735"/>
                  </a:lnTo>
                  <a:lnTo>
                    <a:pt x="59192" y="36286"/>
                  </a:lnTo>
                  <a:lnTo>
                    <a:pt x="20360" y="68107"/>
                  </a:lnTo>
                  <a:lnTo>
                    <a:pt x="1280" y="104378"/>
                  </a:lnTo>
                  <a:lnTo>
                    <a:pt x="0" y="117119"/>
                  </a:lnTo>
                  <a:lnTo>
                    <a:pt x="1280" y="130484"/>
                  </a:lnTo>
                  <a:lnTo>
                    <a:pt x="20360" y="166115"/>
                  </a:lnTo>
                  <a:lnTo>
                    <a:pt x="59192" y="197952"/>
                  </a:lnTo>
                  <a:lnTo>
                    <a:pt x="94838" y="214487"/>
                  </a:lnTo>
                  <a:lnTo>
                    <a:pt x="136199" y="226588"/>
                  </a:lnTo>
                  <a:lnTo>
                    <a:pt x="181401" y="232958"/>
                  </a:lnTo>
                  <a:lnTo>
                    <a:pt x="204307" y="234223"/>
                  </a:lnTo>
                  <a:lnTo>
                    <a:pt x="227853" y="234223"/>
                  </a:lnTo>
                  <a:lnTo>
                    <a:pt x="274319" y="230398"/>
                  </a:lnTo>
                  <a:lnTo>
                    <a:pt x="316961" y="220858"/>
                  </a:lnTo>
                  <a:lnTo>
                    <a:pt x="355793" y="206852"/>
                  </a:lnTo>
                  <a:lnTo>
                    <a:pt x="400979" y="177576"/>
                  </a:lnTo>
                  <a:lnTo>
                    <a:pt x="427070" y="141930"/>
                  </a:lnTo>
                  <a:lnTo>
                    <a:pt x="432160" y="117119"/>
                  </a:lnTo>
                  <a:lnTo>
                    <a:pt x="430895" y="104378"/>
                  </a:lnTo>
                  <a:lnTo>
                    <a:pt x="412440" y="68107"/>
                  </a:lnTo>
                  <a:lnTo>
                    <a:pt x="372968" y="36286"/>
                  </a:lnTo>
                  <a:lnTo>
                    <a:pt x="337337" y="19735"/>
                  </a:lnTo>
                  <a:lnTo>
                    <a:pt x="295960" y="7635"/>
                  </a:lnTo>
                  <a:lnTo>
                    <a:pt x="251399" y="1280"/>
                  </a:lnTo>
                  <a:lnTo>
                    <a:pt x="22785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5913805" y="4236440"/>
              <a:ext cx="432434" cy="234315"/>
            </a:xfrm>
            <a:custGeom>
              <a:avLst/>
              <a:gdLst/>
              <a:ahLst/>
              <a:cxnLst/>
              <a:rect l="l" t="t" r="r" b="b"/>
              <a:pathLst>
                <a:path w="432435" h="234314">
                  <a:moveTo>
                    <a:pt x="0" y="117119"/>
                  </a:moveTo>
                  <a:lnTo>
                    <a:pt x="11460" y="79568"/>
                  </a:lnTo>
                  <a:lnTo>
                    <a:pt x="43921" y="45826"/>
                  </a:lnTo>
                  <a:lnTo>
                    <a:pt x="94838" y="19735"/>
                  </a:lnTo>
                  <a:lnTo>
                    <a:pt x="136199" y="7635"/>
                  </a:lnTo>
                  <a:lnTo>
                    <a:pt x="181401" y="1280"/>
                  </a:lnTo>
                  <a:lnTo>
                    <a:pt x="204307" y="0"/>
                  </a:lnTo>
                  <a:lnTo>
                    <a:pt x="227853" y="0"/>
                  </a:lnTo>
                  <a:lnTo>
                    <a:pt x="274319" y="3825"/>
                  </a:lnTo>
                  <a:lnTo>
                    <a:pt x="316961" y="13365"/>
                  </a:lnTo>
                  <a:lnTo>
                    <a:pt x="355793" y="27371"/>
                  </a:lnTo>
                  <a:lnTo>
                    <a:pt x="400979" y="56647"/>
                  </a:lnTo>
                  <a:lnTo>
                    <a:pt x="427070" y="92293"/>
                  </a:lnTo>
                  <a:lnTo>
                    <a:pt x="432160" y="117119"/>
                  </a:lnTo>
                  <a:lnTo>
                    <a:pt x="430895" y="130484"/>
                  </a:lnTo>
                  <a:lnTo>
                    <a:pt x="412440" y="166115"/>
                  </a:lnTo>
                  <a:lnTo>
                    <a:pt x="372968" y="197952"/>
                  </a:lnTo>
                  <a:lnTo>
                    <a:pt x="337337" y="214487"/>
                  </a:lnTo>
                  <a:lnTo>
                    <a:pt x="295960" y="226588"/>
                  </a:lnTo>
                  <a:lnTo>
                    <a:pt x="251399" y="232958"/>
                  </a:lnTo>
                  <a:lnTo>
                    <a:pt x="227853" y="234223"/>
                  </a:lnTo>
                  <a:lnTo>
                    <a:pt x="204307" y="234223"/>
                  </a:lnTo>
                  <a:lnTo>
                    <a:pt x="158480" y="230398"/>
                  </a:lnTo>
                  <a:lnTo>
                    <a:pt x="114559" y="220858"/>
                  </a:lnTo>
                  <a:lnTo>
                    <a:pt x="75742" y="206852"/>
                  </a:lnTo>
                  <a:lnTo>
                    <a:pt x="31181" y="177576"/>
                  </a:lnTo>
                  <a:lnTo>
                    <a:pt x="5090" y="141930"/>
                  </a:lnTo>
                  <a:lnTo>
                    <a:pt x="0" y="117119"/>
                  </a:lnTo>
                </a:path>
              </a:pathLst>
            </a:custGeom>
            <a:ln w="1591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/>
          <p:cNvSpPr txBox="1"/>
          <p:nvPr/>
        </p:nvSpPr>
        <p:spPr>
          <a:xfrm>
            <a:off x="4596356" y="4250474"/>
            <a:ext cx="161861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  <a:tabLst>
                <a:tab pos="527050" algn="l"/>
                <a:tab pos="997585" algn="l"/>
                <a:tab pos="1487805" algn="l"/>
              </a:tabLst>
            </a:pPr>
            <a:r>
              <a:rPr dirty="0" sz="1000">
                <a:solidFill>
                  <a:srgbClr val="FFFF00"/>
                </a:solidFill>
                <a:latin typeface="Arial"/>
                <a:cs typeface="Arial"/>
              </a:rPr>
              <a:t>G	I	H	</a:t>
            </a:r>
            <a:r>
              <a:rPr dirty="0" baseline="-5555" sz="1500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baseline="-5555" sz="15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488102" y="3101009"/>
            <a:ext cx="1541145" cy="521334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 marR="5080">
              <a:lnSpc>
                <a:spcPct val="75000"/>
              </a:lnSpc>
              <a:spcBef>
                <a:spcPts val="400"/>
              </a:spcBef>
            </a:pPr>
            <a:r>
              <a:rPr dirty="0" sz="1000">
                <a:solidFill>
                  <a:srgbClr val="FFFFFF"/>
                </a:solidFill>
                <a:latin typeface="Arial"/>
                <a:cs typeface="Arial"/>
              </a:rPr>
              <a:t>Note that maximum finish </a:t>
            </a:r>
            <a:r>
              <a:rPr dirty="0" sz="10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FFFFFF"/>
                </a:solidFill>
                <a:latin typeface="Arial"/>
                <a:cs typeface="Arial"/>
              </a:rPr>
              <a:t>times</a:t>
            </a:r>
            <a:r>
              <a:rPr dirty="0" sz="1000" spc="-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FFFFFF"/>
                </a:solidFill>
                <a:latin typeface="Arial"/>
                <a:cs typeface="Arial"/>
              </a:rPr>
              <a:t>of</a:t>
            </a:r>
            <a:r>
              <a:rPr dirty="0" sz="1000" spc="-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FFFFFF"/>
                </a:solidFill>
                <a:latin typeface="Arial"/>
                <a:cs typeface="Arial"/>
              </a:rPr>
              <a:t>components</a:t>
            </a:r>
            <a:r>
              <a:rPr dirty="0" sz="1000" spc="-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FFFFFF"/>
                </a:solidFill>
                <a:latin typeface="Arial"/>
                <a:cs typeface="Arial"/>
              </a:rPr>
              <a:t>are</a:t>
            </a:r>
            <a:r>
              <a:rPr dirty="0" sz="1000" spc="-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FFFFFF"/>
                </a:solidFill>
                <a:latin typeface="Arial"/>
                <a:cs typeface="Arial"/>
              </a:rPr>
              <a:t>in </a:t>
            </a:r>
            <a:r>
              <a:rPr dirty="0" sz="1000" spc="-2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FFFFFF"/>
                </a:solidFill>
                <a:latin typeface="Arial"/>
                <a:cs typeface="Arial"/>
              </a:rPr>
              <a:t>valid topological order </a:t>
            </a:r>
            <a:r>
              <a:rPr dirty="0" sz="10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FFFFFF"/>
                </a:solidFill>
                <a:latin typeface="Arial"/>
                <a:cs typeface="Arial"/>
              </a:rPr>
              <a:t>18,17,12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116695" y="3680828"/>
            <a:ext cx="2425065" cy="7524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34440">
              <a:lnSpc>
                <a:spcPct val="100000"/>
              </a:lnSpc>
              <a:spcBef>
                <a:spcPts val="100"/>
              </a:spcBef>
              <a:tabLst>
                <a:tab pos="1707514" algn="l"/>
              </a:tabLst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8/9	</a:t>
            </a:r>
            <a:r>
              <a:rPr dirty="0" baseline="5555" sz="1500">
                <a:solidFill>
                  <a:srgbClr val="FFFF00"/>
                </a:solidFill>
                <a:latin typeface="Arial"/>
                <a:cs typeface="Arial"/>
              </a:rPr>
              <a:t>H</a:t>
            </a:r>
            <a:endParaRPr baseline="5555" sz="1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Arial"/>
              <a:cs typeface="Arial"/>
            </a:endParaRPr>
          </a:p>
          <a:p>
            <a:pPr marL="746760">
              <a:lnSpc>
                <a:spcPct val="100000"/>
              </a:lnSpc>
              <a:tabLst>
                <a:tab pos="2254885" algn="l"/>
              </a:tabLst>
            </a:pPr>
            <a:r>
              <a:rPr dirty="0" sz="750" spc="-5">
                <a:solidFill>
                  <a:srgbClr val="FFFFFF"/>
                </a:solidFill>
                <a:latin typeface="Arial"/>
                <a:cs typeface="Arial"/>
              </a:rPr>
              <a:t>vertices ordered</a:t>
            </a:r>
            <a:r>
              <a:rPr dirty="0" sz="7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50" spc="-5">
                <a:solidFill>
                  <a:srgbClr val="FFFFFF"/>
                </a:solidFill>
                <a:latin typeface="Arial"/>
                <a:cs typeface="Arial"/>
              </a:rPr>
              <a:t>by</a:t>
            </a:r>
            <a:r>
              <a:rPr dirty="0" sz="7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50" spc="-5">
                <a:solidFill>
                  <a:srgbClr val="FFFFFF"/>
                </a:solidFill>
                <a:latin typeface="Arial"/>
                <a:cs typeface="Arial"/>
              </a:rPr>
              <a:t>decreasing	</a:t>
            </a:r>
            <a:r>
              <a:rPr dirty="0" sz="750" spc="-5" i="1">
                <a:solidFill>
                  <a:srgbClr val="FFFFFF"/>
                </a:solidFill>
                <a:latin typeface="Arial"/>
                <a:cs typeface="Arial"/>
              </a:rPr>
              <a:t>f[u]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tabLst>
                <a:tab pos="521334" algn="l"/>
                <a:tab pos="1011555" algn="l"/>
                <a:tab pos="1517015" algn="l"/>
                <a:tab pos="2009139" algn="l"/>
              </a:tabLst>
            </a:pPr>
            <a:r>
              <a:rPr dirty="0" baseline="2777" sz="1500">
                <a:solidFill>
                  <a:srgbClr val="FFFF00"/>
                </a:solidFill>
                <a:latin typeface="Arial"/>
                <a:cs typeface="Arial"/>
              </a:rPr>
              <a:t>A	</a:t>
            </a:r>
            <a:r>
              <a:rPr dirty="0" sz="1000">
                <a:solidFill>
                  <a:srgbClr val="FFFF00"/>
                </a:solidFill>
                <a:latin typeface="Arial"/>
                <a:cs typeface="Arial"/>
              </a:rPr>
              <a:t>D	</a:t>
            </a:r>
            <a:r>
              <a:rPr dirty="0" baseline="5555" sz="1500">
                <a:solidFill>
                  <a:srgbClr val="FFFF00"/>
                </a:solidFill>
                <a:latin typeface="Arial"/>
                <a:cs typeface="Arial"/>
              </a:rPr>
              <a:t>E	</a:t>
            </a:r>
            <a:r>
              <a:rPr dirty="0" sz="1000">
                <a:solidFill>
                  <a:srgbClr val="FFFF00"/>
                </a:solidFill>
                <a:latin typeface="Arial"/>
                <a:cs typeface="Arial"/>
              </a:rPr>
              <a:t>B	</a:t>
            </a:r>
            <a:r>
              <a:rPr dirty="0" baseline="5555" sz="1500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baseline="5555" sz="15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743404" y="4597083"/>
            <a:ext cx="47510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8.39: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descending 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finish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1772411" y="5692820"/>
            <a:ext cx="4648200" cy="2963545"/>
            <a:chOff x="1772411" y="5692820"/>
            <a:chExt cx="4648200" cy="2963545"/>
          </a:xfrm>
        </p:grpSpPr>
        <p:sp>
          <p:nvSpPr>
            <p:cNvPr id="46" name="object 46"/>
            <p:cNvSpPr/>
            <p:nvPr/>
          </p:nvSpPr>
          <p:spPr>
            <a:xfrm>
              <a:off x="1772411" y="5692820"/>
              <a:ext cx="4648200" cy="2963545"/>
            </a:xfrm>
            <a:custGeom>
              <a:avLst/>
              <a:gdLst/>
              <a:ahLst/>
              <a:cxnLst/>
              <a:rect l="l" t="t" r="r" b="b"/>
              <a:pathLst>
                <a:path w="4648200" h="2963545">
                  <a:moveTo>
                    <a:pt x="4648001" y="0"/>
                  </a:moveTo>
                  <a:lnTo>
                    <a:pt x="0" y="0"/>
                  </a:lnTo>
                  <a:lnTo>
                    <a:pt x="0" y="2962991"/>
                  </a:lnTo>
                  <a:lnTo>
                    <a:pt x="4648001" y="2962991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88216" y="5747529"/>
              <a:ext cx="3403144" cy="2082598"/>
            </a:xfrm>
            <a:prstGeom prst="rect">
              <a:avLst/>
            </a:prstGeom>
          </p:spPr>
        </p:pic>
      </p:grpSp>
      <p:sp>
        <p:nvSpPr>
          <p:cNvPr id="48" name="object 48"/>
          <p:cNvSpPr txBox="1"/>
          <p:nvPr/>
        </p:nvSpPr>
        <p:spPr>
          <a:xfrm>
            <a:off x="2369666" y="6767245"/>
            <a:ext cx="10795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00" spc="2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374924" y="7350785"/>
            <a:ext cx="10096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00" spc="20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807458" y="7544422"/>
            <a:ext cx="11557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00" spc="2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0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292204" y="7027405"/>
            <a:ext cx="9334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00" spc="20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0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380002" y="5772709"/>
            <a:ext cx="10795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00" spc="2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0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2880104" y="6214643"/>
            <a:ext cx="10096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00" spc="2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861458" y="6218606"/>
            <a:ext cx="10096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00" spc="2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0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713069" y="7595793"/>
            <a:ext cx="4953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I</a:t>
            </a:r>
            <a:endParaRPr sz="10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307162" y="7051776"/>
            <a:ext cx="10795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00" spc="25">
                <a:solidFill>
                  <a:srgbClr val="FFFF00"/>
                </a:solidFill>
                <a:latin typeface="Arial"/>
                <a:cs typeface="Arial"/>
              </a:rPr>
              <a:t>H</a:t>
            </a:r>
            <a:endParaRPr sz="10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626785" y="5985496"/>
            <a:ext cx="699770" cy="260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Digraph</a:t>
            </a:r>
            <a:endParaRPr sz="155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449044" y="5919634"/>
            <a:ext cx="297180" cy="260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baseline="-17921" sz="2325" spc="7" i="1">
                <a:solidFill>
                  <a:srgbClr val="FFFF00"/>
                </a:solidFill>
                <a:latin typeface="Arial"/>
                <a:cs typeface="Arial"/>
              </a:rPr>
              <a:t>G</a:t>
            </a:r>
            <a:r>
              <a:rPr dirty="0" sz="1000" spc="5" i="1">
                <a:solidFill>
                  <a:srgbClr val="FFFF00"/>
                </a:solidFill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1824629" y="8139669"/>
            <a:ext cx="464184" cy="259715"/>
            <a:chOff x="1824629" y="8139669"/>
            <a:chExt cx="464184" cy="259715"/>
          </a:xfrm>
        </p:grpSpPr>
        <p:sp>
          <p:nvSpPr>
            <p:cNvPr id="60" name="object 60"/>
            <p:cNvSpPr/>
            <p:nvPr/>
          </p:nvSpPr>
          <p:spPr>
            <a:xfrm>
              <a:off x="1832884" y="8147924"/>
              <a:ext cx="447675" cy="243204"/>
            </a:xfrm>
            <a:custGeom>
              <a:avLst/>
              <a:gdLst/>
              <a:ahLst/>
              <a:cxnLst/>
              <a:rect l="l" t="t" r="r" b="b"/>
              <a:pathLst>
                <a:path w="447675" h="243204">
                  <a:moveTo>
                    <a:pt x="235778" y="0"/>
                  </a:moveTo>
                  <a:lnTo>
                    <a:pt x="211409" y="0"/>
                  </a:lnTo>
                  <a:lnTo>
                    <a:pt x="187040" y="1310"/>
                  </a:lnTo>
                  <a:lnTo>
                    <a:pt x="140284" y="8549"/>
                  </a:lnTo>
                  <a:lnTo>
                    <a:pt x="98130" y="21076"/>
                  </a:lnTo>
                  <a:lnTo>
                    <a:pt x="61249" y="38191"/>
                  </a:lnTo>
                  <a:lnTo>
                    <a:pt x="20406" y="70469"/>
                  </a:lnTo>
                  <a:lnTo>
                    <a:pt x="1310" y="108005"/>
                  </a:lnTo>
                  <a:lnTo>
                    <a:pt x="0" y="121188"/>
                  </a:lnTo>
                  <a:lnTo>
                    <a:pt x="1310" y="134355"/>
                  </a:lnTo>
                  <a:lnTo>
                    <a:pt x="20406" y="172547"/>
                  </a:lnTo>
                  <a:lnTo>
                    <a:pt x="61249" y="204825"/>
                  </a:lnTo>
                  <a:lnTo>
                    <a:pt x="98130" y="221955"/>
                  </a:lnTo>
                  <a:lnTo>
                    <a:pt x="140284" y="234467"/>
                  </a:lnTo>
                  <a:lnTo>
                    <a:pt x="187040" y="241706"/>
                  </a:lnTo>
                  <a:lnTo>
                    <a:pt x="211409" y="243032"/>
                  </a:lnTo>
                  <a:lnTo>
                    <a:pt x="235778" y="243032"/>
                  </a:lnTo>
                  <a:lnTo>
                    <a:pt x="283204" y="239069"/>
                  </a:lnTo>
                  <a:lnTo>
                    <a:pt x="328650" y="229194"/>
                  </a:lnTo>
                  <a:lnTo>
                    <a:pt x="368823" y="214045"/>
                  </a:lnTo>
                  <a:lnTo>
                    <a:pt x="414924" y="184403"/>
                  </a:lnTo>
                  <a:lnTo>
                    <a:pt x="441929" y="147523"/>
                  </a:lnTo>
                  <a:lnTo>
                    <a:pt x="447202" y="121188"/>
                  </a:lnTo>
                  <a:lnTo>
                    <a:pt x="445891" y="108005"/>
                  </a:lnTo>
                  <a:lnTo>
                    <a:pt x="426125" y="70469"/>
                  </a:lnTo>
                  <a:lnTo>
                    <a:pt x="385297" y="38191"/>
                  </a:lnTo>
                  <a:lnTo>
                    <a:pt x="349072" y="21076"/>
                  </a:lnTo>
                  <a:lnTo>
                    <a:pt x="306263" y="8549"/>
                  </a:lnTo>
                  <a:lnTo>
                    <a:pt x="259491" y="1310"/>
                  </a:lnTo>
                  <a:lnTo>
                    <a:pt x="23577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1832884" y="8147924"/>
              <a:ext cx="447675" cy="243204"/>
            </a:xfrm>
            <a:custGeom>
              <a:avLst/>
              <a:gdLst/>
              <a:ahLst/>
              <a:cxnLst/>
              <a:rect l="l" t="t" r="r" b="b"/>
              <a:pathLst>
                <a:path w="447675" h="243204">
                  <a:moveTo>
                    <a:pt x="0" y="121188"/>
                  </a:moveTo>
                  <a:lnTo>
                    <a:pt x="11841" y="82326"/>
                  </a:lnTo>
                  <a:lnTo>
                    <a:pt x="45445" y="48066"/>
                  </a:lnTo>
                  <a:lnTo>
                    <a:pt x="79034" y="28971"/>
                  </a:lnTo>
                  <a:lnTo>
                    <a:pt x="118551" y="14477"/>
                  </a:lnTo>
                  <a:lnTo>
                    <a:pt x="163327" y="4602"/>
                  </a:lnTo>
                  <a:lnTo>
                    <a:pt x="211409" y="0"/>
                  </a:lnTo>
                  <a:lnTo>
                    <a:pt x="235778" y="0"/>
                  </a:lnTo>
                  <a:lnTo>
                    <a:pt x="283204" y="4602"/>
                  </a:lnTo>
                  <a:lnTo>
                    <a:pt x="328650" y="14477"/>
                  </a:lnTo>
                  <a:lnTo>
                    <a:pt x="368823" y="28971"/>
                  </a:lnTo>
                  <a:lnTo>
                    <a:pt x="414924" y="59268"/>
                  </a:lnTo>
                  <a:lnTo>
                    <a:pt x="441929" y="94838"/>
                  </a:lnTo>
                  <a:lnTo>
                    <a:pt x="447202" y="121188"/>
                  </a:lnTo>
                  <a:lnTo>
                    <a:pt x="445891" y="134355"/>
                  </a:lnTo>
                  <a:lnTo>
                    <a:pt x="426125" y="172547"/>
                  </a:lnTo>
                  <a:lnTo>
                    <a:pt x="385297" y="204825"/>
                  </a:lnTo>
                  <a:lnTo>
                    <a:pt x="349072" y="221955"/>
                  </a:lnTo>
                  <a:lnTo>
                    <a:pt x="306263" y="234467"/>
                  </a:lnTo>
                  <a:lnTo>
                    <a:pt x="259491" y="241706"/>
                  </a:lnTo>
                  <a:lnTo>
                    <a:pt x="235778" y="243032"/>
                  </a:lnTo>
                  <a:lnTo>
                    <a:pt x="211409" y="243032"/>
                  </a:lnTo>
                  <a:lnTo>
                    <a:pt x="163327" y="239069"/>
                  </a:lnTo>
                  <a:lnTo>
                    <a:pt x="118551" y="229194"/>
                  </a:lnTo>
                  <a:lnTo>
                    <a:pt x="79034" y="214045"/>
                  </a:lnTo>
                  <a:lnTo>
                    <a:pt x="45445" y="194950"/>
                  </a:lnTo>
                  <a:lnTo>
                    <a:pt x="11841" y="160035"/>
                  </a:lnTo>
                  <a:lnTo>
                    <a:pt x="0" y="121188"/>
                  </a:lnTo>
                </a:path>
              </a:pathLst>
            </a:custGeom>
            <a:ln w="1646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/>
          <p:cNvSpPr txBox="1"/>
          <p:nvPr/>
        </p:nvSpPr>
        <p:spPr>
          <a:xfrm>
            <a:off x="2008072" y="8162887"/>
            <a:ext cx="10096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00" spc="2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2326497" y="8139669"/>
            <a:ext cx="464184" cy="259715"/>
            <a:chOff x="2326497" y="8139669"/>
            <a:chExt cx="464184" cy="259715"/>
          </a:xfrm>
        </p:grpSpPr>
        <p:sp>
          <p:nvSpPr>
            <p:cNvPr id="64" name="object 64"/>
            <p:cNvSpPr/>
            <p:nvPr/>
          </p:nvSpPr>
          <p:spPr>
            <a:xfrm>
              <a:off x="2334752" y="8147924"/>
              <a:ext cx="447675" cy="243204"/>
            </a:xfrm>
            <a:custGeom>
              <a:avLst/>
              <a:gdLst/>
              <a:ahLst/>
              <a:cxnLst/>
              <a:rect l="l" t="t" r="r" b="b"/>
              <a:pathLst>
                <a:path w="447675" h="243204">
                  <a:moveTo>
                    <a:pt x="235793" y="0"/>
                  </a:moveTo>
                  <a:lnTo>
                    <a:pt x="211424" y="0"/>
                  </a:lnTo>
                  <a:lnTo>
                    <a:pt x="187055" y="1310"/>
                  </a:lnTo>
                  <a:lnTo>
                    <a:pt x="140284" y="8549"/>
                  </a:lnTo>
                  <a:lnTo>
                    <a:pt x="98145" y="21076"/>
                  </a:lnTo>
                  <a:lnTo>
                    <a:pt x="61249" y="38191"/>
                  </a:lnTo>
                  <a:lnTo>
                    <a:pt x="20421" y="70469"/>
                  </a:lnTo>
                  <a:lnTo>
                    <a:pt x="1325" y="108005"/>
                  </a:lnTo>
                  <a:lnTo>
                    <a:pt x="0" y="121188"/>
                  </a:lnTo>
                  <a:lnTo>
                    <a:pt x="1325" y="134355"/>
                  </a:lnTo>
                  <a:lnTo>
                    <a:pt x="20421" y="172547"/>
                  </a:lnTo>
                  <a:lnTo>
                    <a:pt x="61249" y="204825"/>
                  </a:lnTo>
                  <a:lnTo>
                    <a:pt x="98145" y="221955"/>
                  </a:lnTo>
                  <a:lnTo>
                    <a:pt x="140284" y="234467"/>
                  </a:lnTo>
                  <a:lnTo>
                    <a:pt x="187055" y="241706"/>
                  </a:lnTo>
                  <a:lnTo>
                    <a:pt x="211424" y="243032"/>
                  </a:lnTo>
                  <a:lnTo>
                    <a:pt x="235793" y="243032"/>
                  </a:lnTo>
                  <a:lnTo>
                    <a:pt x="283220" y="239069"/>
                  </a:lnTo>
                  <a:lnTo>
                    <a:pt x="328665" y="229194"/>
                  </a:lnTo>
                  <a:lnTo>
                    <a:pt x="368838" y="214045"/>
                  </a:lnTo>
                  <a:lnTo>
                    <a:pt x="414939" y="184403"/>
                  </a:lnTo>
                  <a:lnTo>
                    <a:pt x="441944" y="147523"/>
                  </a:lnTo>
                  <a:lnTo>
                    <a:pt x="447217" y="121188"/>
                  </a:lnTo>
                  <a:lnTo>
                    <a:pt x="445891" y="108005"/>
                  </a:lnTo>
                  <a:lnTo>
                    <a:pt x="426140" y="70469"/>
                  </a:lnTo>
                  <a:lnTo>
                    <a:pt x="385952" y="38191"/>
                  </a:lnTo>
                  <a:lnTo>
                    <a:pt x="349072" y="21076"/>
                  </a:lnTo>
                  <a:lnTo>
                    <a:pt x="306263" y="8549"/>
                  </a:lnTo>
                  <a:lnTo>
                    <a:pt x="259506" y="1310"/>
                  </a:lnTo>
                  <a:lnTo>
                    <a:pt x="23579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2334752" y="8147924"/>
              <a:ext cx="447675" cy="243204"/>
            </a:xfrm>
            <a:custGeom>
              <a:avLst/>
              <a:gdLst/>
              <a:ahLst/>
              <a:cxnLst/>
              <a:rect l="l" t="t" r="r" b="b"/>
              <a:pathLst>
                <a:path w="447675" h="243204">
                  <a:moveTo>
                    <a:pt x="0" y="121188"/>
                  </a:moveTo>
                  <a:lnTo>
                    <a:pt x="11856" y="82326"/>
                  </a:lnTo>
                  <a:lnTo>
                    <a:pt x="45445" y="48066"/>
                  </a:lnTo>
                  <a:lnTo>
                    <a:pt x="79034" y="28971"/>
                  </a:lnTo>
                  <a:lnTo>
                    <a:pt x="119207" y="14477"/>
                  </a:lnTo>
                  <a:lnTo>
                    <a:pt x="163342" y="4602"/>
                  </a:lnTo>
                  <a:lnTo>
                    <a:pt x="211424" y="0"/>
                  </a:lnTo>
                  <a:lnTo>
                    <a:pt x="235793" y="0"/>
                  </a:lnTo>
                  <a:lnTo>
                    <a:pt x="283220" y="4602"/>
                  </a:lnTo>
                  <a:lnTo>
                    <a:pt x="328665" y="14477"/>
                  </a:lnTo>
                  <a:lnTo>
                    <a:pt x="368838" y="28971"/>
                  </a:lnTo>
                  <a:lnTo>
                    <a:pt x="414939" y="59268"/>
                  </a:lnTo>
                  <a:lnTo>
                    <a:pt x="441944" y="94838"/>
                  </a:lnTo>
                  <a:lnTo>
                    <a:pt x="447217" y="121188"/>
                  </a:lnTo>
                  <a:lnTo>
                    <a:pt x="445891" y="134355"/>
                  </a:lnTo>
                  <a:lnTo>
                    <a:pt x="426140" y="172547"/>
                  </a:lnTo>
                  <a:lnTo>
                    <a:pt x="385952" y="204825"/>
                  </a:lnTo>
                  <a:lnTo>
                    <a:pt x="349072" y="221955"/>
                  </a:lnTo>
                  <a:lnTo>
                    <a:pt x="306263" y="234467"/>
                  </a:lnTo>
                  <a:lnTo>
                    <a:pt x="259506" y="241706"/>
                  </a:lnTo>
                  <a:lnTo>
                    <a:pt x="235793" y="243032"/>
                  </a:lnTo>
                  <a:lnTo>
                    <a:pt x="211424" y="243032"/>
                  </a:lnTo>
                  <a:lnTo>
                    <a:pt x="163342" y="239069"/>
                  </a:lnTo>
                  <a:lnTo>
                    <a:pt x="119207" y="229194"/>
                  </a:lnTo>
                  <a:lnTo>
                    <a:pt x="79034" y="214045"/>
                  </a:lnTo>
                  <a:lnTo>
                    <a:pt x="45445" y="194950"/>
                  </a:lnTo>
                  <a:lnTo>
                    <a:pt x="11856" y="160035"/>
                  </a:lnTo>
                  <a:lnTo>
                    <a:pt x="0" y="121188"/>
                  </a:lnTo>
                </a:path>
              </a:pathLst>
            </a:custGeom>
            <a:ln w="1646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6" name="object 66"/>
          <p:cNvSpPr txBox="1"/>
          <p:nvPr/>
        </p:nvSpPr>
        <p:spPr>
          <a:xfrm>
            <a:off x="2507969" y="8165515"/>
            <a:ext cx="10795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00" spc="2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2852750" y="8139669"/>
            <a:ext cx="2497455" cy="259715"/>
            <a:chOff x="2852750" y="8139669"/>
            <a:chExt cx="2497455" cy="259715"/>
          </a:xfrm>
        </p:grpSpPr>
        <p:sp>
          <p:nvSpPr>
            <p:cNvPr id="68" name="object 68"/>
            <p:cNvSpPr/>
            <p:nvPr/>
          </p:nvSpPr>
          <p:spPr>
            <a:xfrm>
              <a:off x="2861005" y="8147924"/>
              <a:ext cx="447675" cy="243204"/>
            </a:xfrm>
            <a:custGeom>
              <a:avLst/>
              <a:gdLst/>
              <a:ahLst/>
              <a:cxnLst/>
              <a:rect l="l" t="t" r="r" b="b"/>
              <a:pathLst>
                <a:path w="447675" h="243204">
                  <a:moveTo>
                    <a:pt x="235793" y="0"/>
                  </a:moveTo>
                  <a:lnTo>
                    <a:pt x="211409" y="0"/>
                  </a:lnTo>
                  <a:lnTo>
                    <a:pt x="187040" y="1310"/>
                  </a:lnTo>
                  <a:lnTo>
                    <a:pt x="140284" y="8549"/>
                  </a:lnTo>
                  <a:lnTo>
                    <a:pt x="98130" y="21076"/>
                  </a:lnTo>
                  <a:lnTo>
                    <a:pt x="61249" y="38191"/>
                  </a:lnTo>
                  <a:lnTo>
                    <a:pt x="21076" y="70469"/>
                  </a:lnTo>
                  <a:lnTo>
                    <a:pt x="1310" y="108005"/>
                  </a:lnTo>
                  <a:lnTo>
                    <a:pt x="0" y="121188"/>
                  </a:lnTo>
                  <a:lnTo>
                    <a:pt x="1310" y="134355"/>
                  </a:lnTo>
                  <a:lnTo>
                    <a:pt x="21076" y="172547"/>
                  </a:lnTo>
                  <a:lnTo>
                    <a:pt x="61249" y="204825"/>
                  </a:lnTo>
                  <a:lnTo>
                    <a:pt x="98130" y="221955"/>
                  </a:lnTo>
                  <a:lnTo>
                    <a:pt x="140284" y="234467"/>
                  </a:lnTo>
                  <a:lnTo>
                    <a:pt x="187040" y="241706"/>
                  </a:lnTo>
                  <a:lnTo>
                    <a:pt x="211409" y="243032"/>
                  </a:lnTo>
                  <a:lnTo>
                    <a:pt x="235793" y="243032"/>
                  </a:lnTo>
                  <a:lnTo>
                    <a:pt x="283860" y="239069"/>
                  </a:lnTo>
                  <a:lnTo>
                    <a:pt x="328650" y="229194"/>
                  </a:lnTo>
                  <a:lnTo>
                    <a:pt x="368823" y="214045"/>
                  </a:lnTo>
                  <a:lnTo>
                    <a:pt x="414939" y="184403"/>
                  </a:lnTo>
                  <a:lnTo>
                    <a:pt x="441944" y="147523"/>
                  </a:lnTo>
                  <a:lnTo>
                    <a:pt x="447202" y="121188"/>
                  </a:lnTo>
                  <a:lnTo>
                    <a:pt x="445891" y="108005"/>
                  </a:lnTo>
                  <a:lnTo>
                    <a:pt x="426125" y="70469"/>
                  </a:lnTo>
                  <a:lnTo>
                    <a:pt x="386608" y="38191"/>
                  </a:lnTo>
                  <a:lnTo>
                    <a:pt x="349072" y="21076"/>
                  </a:lnTo>
                  <a:lnTo>
                    <a:pt x="306263" y="8549"/>
                  </a:lnTo>
                  <a:lnTo>
                    <a:pt x="260162" y="1310"/>
                  </a:lnTo>
                  <a:lnTo>
                    <a:pt x="23579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861005" y="8147924"/>
              <a:ext cx="447675" cy="243204"/>
            </a:xfrm>
            <a:custGeom>
              <a:avLst/>
              <a:gdLst/>
              <a:ahLst/>
              <a:cxnLst/>
              <a:rect l="l" t="t" r="r" b="b"/>
              <a:pathLst>
                <a:path w="447675" h="243204">
                  <a:moveTo>
                    <a:pt x="0" y="121188"/>
                  </a:moveTo>
                  <a:lnTo>
                    <a:pt x="11856" y="82326"/>
                  </a:lnTo>
                  <a:lnTo>
                    <a:pt x="46100" y="48066"/>
                  </a:lnTo>
                  <a:lnTo>
                    <a:pt x="98130" y="21076"/>
                  </a:lnTo>
                  <a:lnTo>
                    <a:pt x="140284" y="8549"/>
                  </a:lnTo>
                  <a:lnTo>
                    <a:pt x="187040" y="1310"/>
                  </a:lnTo>
                  <a:lnTo>
                    <a:pt x="211409" y="0"/>
                  </a:lnTo>
                  <a:lnTo>
                    <a:pt x="235793" y="0"/>
                  </a:lnTo>
                  <a:lnTo>
                    <a:pt x="283860" y="4602"/>
                  </a:lnTo>
                  <a:lnTo>
                    <a:pt x="328650" y="14477"/>
                  </a:lnTo>
                  <a:lnTo>
                    <a:pt x="368823" y="28971"/>
                  </a:lnTo>
                  <a:lnTo>
                    <a:pt x="414939" y="59268"/>
                  </a:lnTo>
                  <a:lnTo>
                    <a:pt x="441944" y="94838"/>
                  </a:lnTo>
                  <a:lnTo>
                    <a:pt x="447202" y="121188"/>
                  </a:lnTo>
                  <a:lnTo>
                    <a:pt x="445891" y="134355"/>
                  </a:lnTo>
                  <a:lnTo>
                    <a:pt x="426125" y="172547"/>
                  </a:lnTo>
                  <a:lnTo>
                    <a:pt x="386608" y="204825"/>
                  </a:lnTo>
                  <a:lnTo>
                    <a:pt x="349072" y="221955"/>
                  </a:lnTo>
                  <a:lnTo>
                    <a:pt x="306263" y="234467"/>
                  </a:lnTo>
                  <a:lnTo>
                    <a:pt x="260162" y="241706"/>
                  </a:lnTo>
                  <a:lnTo>
                    <a:pt x="235793" y="243032"/>
                  </a:lnTo>
                  <a:lnTo>
                    <a:pt x="211409" y="243032"/>
                  </a:lnTo>
                  <a:lnTo>
                    <a:pt x="163342" y="239069"/>
                  </a:lnTo>
                  <a:lnTo>
                    <a:pt x="119207" y="229194"/>
                  </a:lnTo>
                  <a:lnTo>
                    <a:pt x="79034" y="214045"/>
                  </a:lnTo>
                  <a:lnTo>
                    <a:pt x="32263" y="184403"/>
                  </a:lnTo>
                  <a:lnTo>
                    <a:pt x="5257" y="147523"/>
                  </a:lnTo>
                  <a:lnTo>
                    <a:pt x="0" y="121188"/>
                  </a:lnTo>
                </a:path>
              </a:pathLst>
            </a:custGeom>
            <a:ln w="1646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362873" y="8147924"/>
              <a:ext cx="447675" cy="243204"/>
            </a:xfrm>
            <a:custGeom>
              <a:avLst/>
              <a:gdLst/>
              <a:ahLst/>
              <a:cxnLst/>
              <a:rect l="l" t="t" r="r" b="b"/>
              <a:pathLst>
                <a:path w="447675" h="243204">
                  <a:moveTo>
                    <a:pt x="235793" y="0"/>
                  </a:moveTo>
                  <a:lnTo>
                    <a:pt x="211424" y="0"/>
                  </a:lnTo>
                  <a:lnTo>
                    <a:pt x="187055" y="1310"/>
                  </a:lnTo>
                  <a:lnTo>
                    <a:pt x="140954" y="8549"/>
                  </a:lnTo>
                  <a:lnTo>
                    <a:pt x="98145" y="21076"/>
                  </a:lnTo>
                  <a:lnTo>
                    <a:pt x="61264" y="38191"/>
                  </a:lnTo>
                  <a:lnTo>
                    <a:pt x="21076" y="70469"/>
                  </a:lnTo>
                  <a:lnTo>
                    <a:pt x="1325" y="108005"/>
                  </a:lnTo>
                  <a:lnTo>
                    <a:pt x="0" y="121188"/>
                  </a:lnTo>
                  <a:lnTo>
                    <a:pt x="1325" y="134355"/>
                  </a:lnTo>
                  <a:lnTo>
                    <a:pt x="21076" y="172547"/>
                  </a:lnTo>
                  <a:lnTo>
                    <a:pt x="61264" y="204825"/>
                  </a:lnTo>
                  <a:lnTo>
                    <a:pt x="98145" y="221955"/>
                  </a:lnTo>
                  <a:lnTo>
                    <a:pt x="140954" y="234467"/>
                  </a:lnTo>
                  <a:lnTo>
                    <a:pt x="187055" y="241706"/>
                  </a:lnTo>
                  <a:lnTo>
                    <a:pt x="211424" y="243032"/>
                  </a:lnTo>
                  <a:lnTo>
                    <a:pt x="235793" y="243032"/>
                  </a:lnTo>
                  <a:lnTo>
                    <a:pt x="283875" y="239069"/>
                  </a:lnTo>
                  <a:lnTo>
                    <a:pt x="328665" y="229194"/>
                  </a:lnTo>
                  <a:lnTo>
                    <a:pt x="368838" y="214045"/>
                  </a:lnTo>
                  <a:lnTo>
                    <a:pt x="414939" y="184403"/>
                  </a:lnTo>
                  <a:lnTo>
                    <a:pt x="441944" y="147523"/>
                  </a:lnTo>
                  <a:lnTo>
                    <a:pt x="447217" y="121188"/>
                  </a:lnTo>
                  <a:lnTo>
                    <a:pt x="445891" y="108005"/>
                  </a:lnTo>
                  <a:lnTo>
                    <a:pt x="426140" y="70469"/>
                  </a:lnTo>
                  <a:lnTo>
                    <a:pt x="386623" y="38191"/>
                  </a:lnTo>
                  <a:lnTo>
                    <a:pt x="349072" y="21076"/>
                  </a:lnTo>
                  <a:lnTo>
                    <a:pt x="306263" y="8549"/>
                  </a:lnTo>
                  <a:lnTo>
                    <a:pt x="260162" y="1310"/>
                  </a:lnTo>
                  <a:lnTo>
                    <a:pt x="23579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362873" y="8147924"/>
              <a:ext cx="447675" cy="243204"/>
            </a:xfrm>
            <a:custGeom>
              <a:avLst/>
              <a:gdLst/>
              <a:ahLst/>
              <a:cxnLst/>
              <a:rect l="l" t="t" r="r" b="b"/>
              <a:pathLst>
                <a:path w="447675" h="243204">
                  <a:moveTo>
                    <a:pt x="0" y="121188"/>
                  </a:moveTo>
                  <a:lnTo>
                    <a:pt x="11856" y="82326"/>
                  </a:lnTo>
                  <a:lnTo>
                    <a:pt x="46116" y="48066"/>
                  </a:lnTo>
                  <a:lnTo>
                    <a:pt x="98145" y="21076"/>
                  </a:lnTo>
                  <a:lnTo>
                    <a:pt x="140954" y="8549"/>
                  </a:lnTo>
                  <a:lnTo>
                    <a:pt x="187055" y="1310"/>
                  </a:lnTo>
                  <a:lnTo>
                    <a:pt x="211424" y="0"/>
                  </a:lnTo>
                  <a:lnTo>
                    <a:pt x="235793" y="0"/>
                  </a:lnTo>
                  <a:lnTo>
                    <a:pt x="283875" y="4602"/>
                  </a:lnTo>
                  <a:lnTo>
                    <a:pt x="328665" y="14477"/>
                  </a:lnTo>
                  <a:lnTo>
                    <a:pt x="368838" y="28971"/>
                  </a:lnTo>
                  <a:lnTo>
                    <a:pt x="414939" y="59268"/>
                  </a:lnTo>
                  <a:lnTo>
                    <a:pt x="441944" y="94838"/>
                  </a:lnTo>
                  <a:lnTo>
                    <a:pt x="447217" y="121188"/>
                  </a:lnTo>
                  <a:lnTo>
                    <a:pt x="445891" y="134355"/>
                  </a:lnTo>
                  <a:lnTo>
                    <a:pt x="426140" y="172547"/>
                  </a:lnTo>
                  <a:lnTo>
                    <a:pt x="386623" y="204825"/>
                  </a:lnTo>
                  <a:lnTo>
                    <a:pt x="349072" y="221955"/>
                  </a:lnTo>
                  <a:lnTo>
                    <a:pt x="306263" y="234467"/>
                  </a:lnTo>
                  <a:lnTo>
                    <a:pt x="260162" y="241706"/>
                  </a:lnTo>
                  <a:lnTo>
                    <a:pt x="235793" y="243032"/>
                  </a:lnTo>
                  <a:lnTo>
                    <a:pt x="211424" y="243032"/>
                  </a:lnTo>
                  <a:lnTo>
                    <a:pt x="163342" y="239069"/>
                  </a:lnTo>
                  <a:lnTo>
                    <a:pt x="119222" y="229194"/>
                  </a:lnTo>
                  <a:lnTo>
                    <a:pt x="79034" y="214045"/>
                  </a:lnTo>
                  <a:lnTo>
                    <a:pt x="32278" y="184403"/>
                  </a:lnTo>
                  <a:lnTo>
                    <a:pt x="5273" y="147523"/>
                  </a:lnTo>
                  <a:lnTo>
                    <a:pt x="0" y="121188"/>
                  </a:lnTo>
                </a:path>
              </a:pathLst>
            </a:custGeom>
            <a:ln w="1646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883852" y="8147924"/>
              <a:ext cx="447675" cy="243204"/>
            </a:xfrm>
            <a:custGeom>
              <a:avLst/>
              <a:gdLst/>
              <a:ahLst/>
              <a:cxnLst/>
              <a:rect l="l" t="t" r="r" b="b"/>
              <a:pathLst>
                <a:path w="447675" h="243204">
                  <a:moveTo>
                    <a:pt x="235793" y="0"/>
                  </a:moveTo>
                  <a:lnTo>
                    <a:pt x="211424" y="0"/>
                  </a:lnTo>
                  <a:lnTo>
                    <a:pt x="187055" y="1310"/>
                  </a:lnTo>
                  <a:lnTo>
                    <a:pt x="140954" y="8549"/>
                  </a:lnTo>
                  <a:lnTo>
                    <a:pt x="98145" y="21076"/>
                  </a:lnTo>
                  <a:lnTo>
                    <a:pt x="61249" y="38191"/>
                  </a:lnTo>
                  <a:lnTo>
                    <a:pt x="21076" y="70469"/>
                  </a:lnTo>
                  <a:lnTo>
                    <a:pt x="1325" y="108005"/>
                  </a:lnTo>
                  <a:lnTo>
                    <a:pt x="0" y="121188"/>
                  </a:lnTo>
                  <a:lnTo>
                    <a:pt x="1325" y="134355"/>
                  </a:lnTo>
                  <a:lnTo>
                    <a:pt x="21076" y="172547"/>
                  </a:lnTo>
                  <a:lnTo>
                    <a:pt x="61249" y="204825"/>
                  </a:lnTo>
                  <a:lnTo>
                    <a:pt x="98145" y="221955"/>
                  </a:lnTo>
                  <a:lnTo>
                    <a:pt x="140954" y="234467"/>
                  </a:lnTo>
                  <a:lnTo>
                    <a:pt x="187055" y="241706"/>
                  </a:lnTo>
                  <a:lnTo>
                    <a:pt x="211424" y="243032"/>
                  </a:lnTo>
                  <a:lnTo>
                    <a:pt x="235793" y="243032"/>
                  </a:lnTo>
                  <a:lnTo>
                    <a:pt x="283220" y="239069"/>
                  </a:lnTo>
                  <a:lnTo>
                    <a:pt x="328665" y="229194"/>
                  </a:lnTo>
                  <a:lnTo>
                    <a:pt x="368838" y="214045"/>
                  </a:lnTo>
                  <a:lnTo>
                    <a:pt x="415594" y="184403"/>
                  </a:lnTo>
                  <a:lnTo>
                    <a:pt x="441944" y="147523"/>
                  </a:lnTo>
                  <a:lnTo>
                    <a:pt x="447217" y="121188"/>
                  </a:lnTo>
                  <a:lnTo>
                    <a:pt x="445891" y="108005"/>
                  </a:lnTo>
                  <a:lnTo>
                    <a:pt x="426140" y="70469"/>
                  </a:lnTo>
                  <a:lnTo>
                    <a:pt x="386623" y="38191"/>
                  </a:lnTo>
                  <a:lnTo>
                    <a:pt x="349072" y="21076"/>
                  </a:lnTo>
                  <a:lnTo>
                    <a:pt x="306263" y="8549"/>
                  </a:lnTo>
                  <a:lnTo>
                    <a:pt x="260162" y="1310"/>
                  </a:lnTo>
                  <a:lnTo>
                    <a:pt x="23579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883852" y="8147924"/>
              <a:ext cx="447675" cy="243204"/>
            </a:xfrm>
            <a:custGeom>
              <a:avLst/>
              <a:gdLst/>
              <a:ahLst/>
              <a:cxnLst/>
              <a:rect l="l" t="t" r="r" b="b"/>
              <a:pathLst>
                <a:path w="447675" h="243204">
                  <a:moveTo>
                    <a:pt x="0" y="121188"/>
                  </a:moveTo>
                  <a:lnTo>
                    <a:pt x="11856" y="82326"/>
                  </a:lnTo>
                  <a:lnTo>
                    <a:pt x="45445" y="48066"/>
                  </a:lnTo>
                  <a:lnTo>
                    <a:pt x="79034" y="28971"/>
                  </a:lnTo>
                  <a:lnTo>
                    <a:pt x="119222" y="14477"/>
                  </a:lnTo>
                  <a:lnTo>
                    <a:pt x="163342" y="4602"/>
                  </a:lnTo>
                  <a:lnTo>
                    <a:pt x="211424" y="0"/>
                  </a:lnTo>
                  <a:lnTo>
                    <a:pt x="235793" y="0"/>
                  </a:lnTo>
                  <a:lnTo>
                    <a:pt x="283220" y="4602"/>
                  </a:lnTo>
                  <a:lnTo>
                    <a:pt x="328665" y="14477"/>
                  </a:lnTo>
                  <a:lnTo>
                    <a:pt x="368838" y="28971"/>
                  </a:lnTo>
                  <a:lnTo>
                    <a:pt x="415594" y="59268"/>
                  </a:lnTo>
                  <a:lnTo>
                    <a:pt x="441944" y="94838"/>
                  </a:lnTo>
                  <a:lnTo>
                    <a:pt x="447217" y="121188"/>
                  </a:lnTo>
                  <a:lnTo>
                    <a:pt x="445891" y="134355"/>
                  </a:lnTo>
                  <a:lnTo>
                    <a:pt x="426140" y="172547"/>
                  </a:lnTo>
                  <a:lnTo>
                    <a:pt x="386623" y="204825"/>
                  </a:lnTo>
                  <a:lnTo>
                    <a:pt x="349072" y="221955"/>
                  </a:lnTo>
                  <a:lnTo>
                    <a:pt x="306263" y="234467"/>
                  </a:lnTo>
                  <a:lnTo>
                    <a:pt x="260162" y="241706"/>
                  </a:lnTo>
                  <a:lnTo>
                    <a:pt x="235793" y="243032"/>
                  </a:lnTo>
                  <a:lnTo>
                    <a:pt x="211424" y="243032"/>
                  </a:lnTo>
                  <a:lnTo>
                    <a:pt x="163342" y="239069"/>
                  </a:lnTo>
                  <a:lnTo>
                    <a:pt x="119222" y="229194"/>
                  </a:lnTo>
                  <a:lnTo>
                    <a:pt x="79034" y="214045"/>
                  </a:lnTo>
                  <a:lnTo>
                    <a:pt x="45445" y="194950"/>
                  </a:lnTo>
                  <a:lnTo>
                    <a:pt x="11856" y="160035"/>
                  </a:lnTo>
                  <a:lnTo>
                    <a:pt x="0" y="121188"/>
                  </a:lnTo>
                </a:path>
              </a:pathLst>
            </a:custGeom>
            <a:ln w="1646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385736" y="8147924"/>
              <a:ext cx="447675" cy="243204"/>
            </a:xfrm>
            <a:custGeom>
              <a:avLst/>
              <a:gdLst/>
              <a:ahLst/>
              <a:cxnLst/>
              <a:rect l="l" t="t" r="r" b="b"/>
              <a:pathLst>
                <a:path w="447675" h="243204">
                  <a:moveTo>
                    <a:pt x="235793" y="0"/>
                  </a:moveTo>
                  <a:lnTo>
                    <a:pt x="211424" y="0"/>
                  </a:lnTo>
                  <a:lnTo>
                    <a:pt x="187040" y="1310"/>
                  </a:lnTo>
                  <a:lnTo>
                    <a:pt x="140939" y="8549"/>
                  </a:lnTo>
                  <a:lnTo>
                    <a:pt x="98130" y="21076"/>
                  </a:lnTo>
                  <a:lnTo>
                    <a:pt x="61249" y="38191"/>
                  </a:lnTo>
                  <a:lnTo>
                    <a:pt x="21076" y="70469"/>
                  </a:lnTo>
                  <a:lnTo>
                    <a:pt x="1310" y="108005"/>
                  </a:lnTo>
                  <a:lnTo>
                    <a:pt x="0" y="121188"/>
                  </a:lnTo>
                  <a:lnTo>
                    <a:pt x="1310" y="134355"/>
                  </a:lnTo>
                  <a:lnTo>
                    <a:pt x="21076" y="172547"/>
                  </a:lnTo>
                  <a:lnTo>
                    <a:pt x="61249" y="204825"/>
                  </a:lnTo>
                  <a:lnTo>
                    <a:pt x="98130" y="221955"/>
                  </a:lnTo>
                  <a:lnTo>
                    <a:pt x="140939" y="234467"/>
                  </a:lnTo>
                  <a:lnTo>
                    <a:pt x="187040" y="241706"/>
                  </a:lnTo>
                  <a:lnTo>
                    <a:pt x="211424" y="243032"/>
                  </a:lnTo>
                  <a:lnTo>
                    <a:pt x="235793" y="243032"/>
                  </a:lnTo>
                  <a:lnTo>
                    <a:pt x="283204" y="239069"/>
                  </a:lnTo>
                  <a:lnTo>
                    <a:pt x="328650" y="229194"/>
                  </a:lnTo>
                  <a:lnTo>
                    <a:pt x="368823" y="214045"/>
                  </a:lnTo>
                  <a:lnTo>
                    <a:pt x="415594" y="184403"/>
                  </a:lnTo>
                  <a:lnTo>
                    <a:pt x="441944" y="147523"/>
                  </a:lnTo>
                  <a:lnTo>
                    <a:pt x="447202" y="121188"/>
                  </a:lnTo>
                  <a:lnTo>
                    <a:pt x="445891" y="108005"/>
                  </a:lnTo>
                  <a:lnTo>
                    <a:pt x="426796" y="70469"/>
                  </a:lnTo>
                  <a:lnTo>
                    <a:pt x="386608" y="38191"/>
                  </a:lnTo>
                  <a:lnTo>
                    <a:pt x="349072" y="21076"/>
                  </a:lnTo>
                  <a:lnTo>
                    <a:pt x="306263" y="8549"/>
                  </a:lnTo>
                  <a:lnTo>
                    <a:pt x="259491" y="1310"/>
                  </a:lnTo>
                  <a:lnTo>
                    <a:pt x="23579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385736" y="8147924"/>
              <a:ext cx="447675" cy="243204"/>
            </a:xfrm>
            <a:custGeom>
              <a:avLst/>
              <a:gdLst/>
              <a:ahLst/>
              <a:cxnLst/>
              <a:rect l="l" t="t" r="r" b="b"/>
              <a:pathLst>
                <a:path w="447675" h="243204">
                  <a:moveTo>
                    <a:pt x="0" y="121188"/>
                  </a:moveTo>
                  <a:lnTo>
                    <a:pt x="11856" y="82326"/>
                  </a:lnTo>
                  <a:lnTo>
                    <a:pt x="45445" y="48066"/>
                  </a:lnTo>
                  <a:lnTo>
                    <a:pt x="79034" y="28971"/>
                  </a:lnTo>
                  <a:lnTo>
                    <a:pt x="119207" y="14477"/>
                  </a:lnTo>
                  <a:lnTo>
                    <a:pt x="163997" y="4602"/>
                  </a:lnTo>
                  <a:lnTo>
                    <a:pt x="211424" y="0"/>
                  </a:lnTo>
                  <a:lnTo>
                    <a:pt x="235793" y="0"/>
                  </a:lnTo>
                  <a:lnTo>
                    <a:pt x="283204" y="4602"/>
                  </a:lnTo>
                  <a:lnTo>
                    <a:pt x="328650" y="14477"/>
                  </a:lnTo>
                  <a:lnTo>
                    <a:pt x="368823" y="28971"/>
                  </a:lnTo>
                  <a:lnTo>
                    <a:pt x="415594" y="59268"/>
                  </a:lnTo>
                  <a:lnTo>
                    <a:pt x="441944" y="94838"/>
                  </a:lnTo>
                  <a:lnTo>
                    <a:pt x="447202" y="121188"/>
                  </a:lnTo>
                  <a:lnTo>
                    <a:pt x="445891" y="134355"/>
                  </a:lnTo>
                  <a:lnTo>
                    <a:pt x="426796" y="172547"/>
                  </a:lnTo>
                  <a:lnTo>
                    <a:pt x="386608" y="204825"/>
                  </a:lnTo>
                  <a:lnTo>
                    <a:pt x="349072" y="221955"/>
                  </a:lnTo>
                  <a:lnTo>
                    <a:pt x="306263" y="234467"/>
                  </a:lnTo>
                  <a:lnTo>
                    <a:pt x="259491" y="241706"/>
                  </a:lnTo>
                  <a:lnTo>
                    <a:pt x="235793" y="243032"/>
                  </a:lnTo>
                  <a:lnTo>
                    <a:pt x="211424" y="243032"/>
                  </a:lnTo>
                  <a:lnTo>
                    <a:pt x="163997" y="239069"/>
                  </a:lnTo>
                  <a:lnTo>
                    <a:pt x="119207" y="229194"/>
                  </a:lnTo>
                  <a:lnTo>
                    <a:pt x="79034" y="214045"/>
                  </a:lnTo>
                  <a:lnTo>
                    <a:pt x="45445" y="194950"/>
                  </a:lnTo>
                  <a:lnTo>
                    <a:pt x="11856" y="160035"/>
                  </a:lnTo>
                  <a:lnTo>
                    <a:pt x="0" y="121188"/>
                  </a:lnTo>
                </a:path>
              </a:pathLst>
            </a:custGeom>
            <a:ln w="1646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893533" y="8147924"/>
              <a:ext cx="448309" cy="243204"/>
            </a:xfrm>
            <a:custGeom>
              <a:avLst/>
              <a:gdLst/>
              <a:ahLst/>
              <a:cxnLst/>
              <a:rect l="l" t="t" r="r" b="b"/>
              <a:pathLst>
                <a:path w="448310" h="243204">
                  <a:moveTo>
                    <a:pt x="235793" y="0"/>
                  </a:moveTo>
                  <a:lnTo>
                    <a:pt x="211424" y="0"/>
                  </a:lnTo>
                  <a:lnTo>
                    <a:pt x="188366" y="1310"/>
                  </a:lnTo>
                  <a:lnTo>
                    <a:pt x="141610" y="8549"/>
                  </a:lnTo>
                  <a:lnTo>
                    <a:pt x="98800" y="21076"/>
                  </a:lnTo>
                  <a:lnTo>
                    <a:pt x="61920" y="38191"/>
                  </a:lnTo>
                  <a:lnTo>
                    <a:pt x="21076" y="70469"/>
                  </a:lnTo>
                  <a:lnTo>
                    <a:pt x="1325" y="108005"/>
                  </a:lnTo>
                  <a:lnTo>
                    <a:pt x="0" y="121188"/>
                  </a:lnTo>
                  <a:lnTo>
                    <a:pt x="1325" y="134355"/>
                  </a:lnTo>
                  <a:lnTo>
                    <a:pt x="21076" y="172547"/>
                  </a:lnTo>
                  <a:lnTo>
                    <a:pt x="61920" y="204825"/>
                  </a:lnTo>
                  <a:lnTo>
                    <a:pt x="98800" y="221955"/>
                  </a:lnTo>
                  <a:lnTo>
                    <a:pt x="141610" y="234467"/>
                  </a:lnTo>
                  <a:lnTo>
                    <a:pt x="188366" y="241706"/>
                  </a:lnTo>
                  <a:lnTo>
                    <a:pt x="211424" y="243032"/>
                  </a:lnTo>
                  <a:lnTo>
                    <a:pt x="235793" y="243032"/>
                  </a:lnTo>
                  <a:lnTo>
                    <a:pt x="283875" y="239069"/>
                  </a:lnTo>
                  <a:lnTo>
                    <a:pt x="328665" y="229194"/>
                  </a:lnTo>
                  <a:lnTo>
                    <a:pt x="368838" y="214045"/>
                  </a:lnTo>
                  <a:lnTo>
                    <a:pt x="402427" y="194950"/>
                  </a:lnTo>
                  <a:lnTo>
                    <a:pt x="436016" y="160035"/>
                  </a:lnTo>
                  <a:lnTo>
                    <a:pt x="447873" y="121188"/>
                  </a:lnTo>
                  <a:lnTo>
                    <a:pt x="446562" y="108005"/>
                  </a:lnTo>
                  <a:lnTo>
                    <a:pt x="427451" y="70469"/>
                  </a:lnTo>
                  <a:lnTo>
                    <a:pt x="386623" y="38191"/>
                  </a:lnTo>
                  <a:lnTo>
                    <a:pt x="349742" y="21076"/>
                  </a:lnTo>
                  <a:lnTo>
                    <a:pt x="306933" y="8549"/>
                  </a:lnTo>
                  <a:lnTo>
                    <a:pt x="260162" y="1310"/>
                  </a:lnTo>
                  <a:lnTo>
                    <a:pt x="23579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893533" y="8147924"/>
              <a:ext cx="448309" cy="243204"/>
            </a:xfrm>
            <a:custGeom>
              <a:avLst/>
              <a:gdLst/>
              <a:ahLst/>
              <a:cxnLst/>
              <a:rect l="l" t="t" r="r" b="b"/>
              <a:pathLst>
                <a:path w="448310" h="243204">
                  <a:moveTo>
                    <a:pt x="0" y="121188"/>
                  </a:moveTo>
                  <a:lnTo>
                    <a:pt x="11856" y="82326"/>
                  </a:lnTo>
                  <a:lnTo>
                    <a:pt x="46116" y="48066"/>
                  </a:lnTo>
                  <a:lnTo>
                    <a:pt x="98800" y="21076"/>
                  </a:lnTo>
                  <a:lnTo>
                    <a:pt x="141610" y="8549"/>
                  </a:lnTo>
                  <a:lnTo>
                    <a:pt x="188366" y="1310"/>
                  </a:lnTo>
                  <a:lnTo>
                    <a:pt x="211424" y="0"/>
                  </a:lnTo>
                  <a:lnTo>
                    <a:pt x="235793" y="0"/>
                  </a:lnTo>
                  <a:lnTo>
                    <a:pt x="283875" y="4602"/>
                  </a:lnTo>
                  <a:lnTo>
                    <a:pt x="328665" y="14477"/>
                  </a:lnTo>
                  <a:lnTo>
                    <a:pt x="368838" y="28971"/>
                  </a:lnTo>
                  <a:lnTo>
                    <a:pt x="402427" y="48066"/>
                  </a:lnTo>
                  <a:lnTo>
                    <a:pt x="436016" y="82326"/>
                  </a:lnTo>
                  <a:lnTo>
                    <a:pt x="447873" y="121188"/>
                  </a:lnTo>
                  <a:lnTo>
                    <a:pt x="446562" y="134355"/>
                  </a:lnTo>
                  <a:lnTo>
                    <a:pt x="427451" y="172547"/>
                  </a:lnTo>
                  <a:lnTo>
                    <a:pt x="386623" y="204825"/>
                  </a:lnTo>
                  <a:lnTo>
                    <a:pt x="349742" y="221955"/>
                  </a:lnTo>
                  <a:lnTo>
                    <a:pt x="306933" y="234467"/>
                  </a:lnTo>
                  <a:lnTo>
                    <a:pt x="260162" y="241706"/>
                  </a:lnTo>
                  <a:lnTo>
                    <a:pt x="235793" y="243032"/>
                  </a:lnTo>
                  <a:lnTo>
                    <a:pt x="211424" y="243032"/>
                  </a:lnTo>
                  <a:lnTo>
                    <a:pt x="164668" y="239069"/>
                  </a:lnTo>
                  <a:lnTo>
                    <a:pt x="119222" y="229194"/>
                  </a:lnTo>
                  <a:lnTo>
                    <a:pt x="79034" y="214045"/>
                  </a:lnTo>
                  <a:lnTo>
                    <a:pt x="32278" y="184403"/>
                  </a:lnTo>
                  <a:lnTo>
                    <a:pt x="5273" y="147523"/>
                  </a:lnTo>
                  <a:lnTo>
                    <a:pt x="0" y="121188"/>
                  </a:lnTo>
                </a:path>
              </a:pathLst>
            </a:custGeom>
            <a:ln w="1646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/>
          <p:cNvSpPr txBox="1"/>
          <p:nvPr/>
        </p:nvSpPr>
        <p:spPr>
          <a:xfrm>
            <a:off x="5080582" y="8165515"/>
            <a:ext cx="4953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I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79" name="object 79"/>
          <p:cNvGrpSpPr/>
          <p:nvPr/>
        </p:nvGrpSpPr>
        <p:grpSpPr>
          <a:xfrm>
            <a:off x="5387162" y="8139669"/>
            <a:ext cx="464820" cy="259715"/>
            <a:chOff x="5387162" y="8139669"/>
            <a:chExt cx="464820" cy="259715"/>
          </a:xfrm>
        </p:grpSpPr>
        <p:sp>
          <p:nvSpPr>
            <p:cNvPr id="80" name="object 80"/>
            <p:cNvSpPr/>
            <p:nvPr/>
          </p:nvSpPr>
          <p:spPr>
            <a:xfrm>
              <a:off x="5395417" y="8147924"/>
              <a:ext cx="448309" cy="243204"/>
            </a:xfrm>
            <a:custGeom>
              <a:avLst/>
              <a:gdLst/>
              <a:ahLst/>
              <a:cxnLst/>
              <a:rect l="l" t="t" r="r" b="b"/>
              <a:pathLst>
                <a:path w="448310" h="243204">
                  <a:moveTo>
                    <a:pt x="235793" y="0"/>
                  </a:moveTo>
                  <a:lnTo>
                    <a:pt x="212079" y="0"/>
                  </a:lnTo>
                  <a:lnTo>
                    <a:pt x="188366" y="1310"/>
                  </a:lnTo>
                  <a:lnTo>
                    <a:pt x="141610" y="8549"/>
                  </a:lnTo>
                  <a:lnTo>
                    <a:pt x="98785" y="21076"/>
                  </a:lnTo>
                  <a:lnTo>
                    <a:pt x="61904" y="38191"/>
                  </a:lnTo>
                  <a:lnTo>
                    <a:pt x="21076" y="70469"/>
                  </a:lnTo>
                  <a:lnTo>
                    <a:pt x="1310" y="108005"/>
                  </a:lnTo>
                  <a:lnTo>
                    <a:pt x="0" y="121188"/>
                  </a:lnTo>
                  <a:lnTo>
                    <a:pt x="1310" y="134355"/>
                  </a:lnTo>
                  <a:lnTo>
                    <a:pt x="21076" y="172547"/>
                  </a:lnTo>
                  <a:lnTo>
                    <a:pt x="61904" y="204825"/>
                  </a:lnTo>
                  <a:lnTo>
                    <a:pt x="98785" y="221955"/>
                  </a:lnTo>
                  <a:lnTo>
                    <a:pt x="141610" y="234467"/>
                  </a:lnTo>
                  <a:lnTo>
                    <a:pt x="188366" y="241706"/>
                  </a:lnTo>
                  <a:lnTo>
                    <a:pt x="212079" y="243032"/>
                  </a:lnTo>
                  <a:lnTo>
                    <a:pt x="235793" y="243032"/>
                  </a:lnTo>
                  <a:lnTo>
                    <a:pt x="283875" y="239069"/>
                  </a:lnTo>
                  <a:lnTo>
                    <a:pt x="328650" y="229194"/>
                  </a:lnTo>
                  <a:lnTo>
                    <a:pt x="368838" y="214045"/>
                  </a:lnTo>
                  <a:lnTo>
                    <a:pt x="402427" y="194950"/>
                  </a:lnTo>
                  <a:lnTo>
                    <a:pt x="436016" y="160035"/>
                  </a:lnTo>
                  <a:lnTo>
                    <a:pt x="447873" y="121188"/>
                  </a:lnTo>
                  <a:lnTo>
                    <a:pt x="446547" y="108005"/>
                  </a:lnTo>
                  <a:lnTo>
                    <a:pt x="427451" y="70469"/>
                  </a:lnTo>
                  <a:lnTo>
                    <a:pt x="386608" y="38191"/>
                  </a:lnTo>
                  <a:lnTo>
                    <a:pt x="349727" y="21076"/>
                  </a:lnTo>
                  <a:lnTo>
                    <a:pt x="306918" y="8549"/>
                  </a:lnTo>
                  <a:lnTo>
                    <a:pt x="260162" y="1310"/>
                  </a:lnTo>
                  <a:lnTo>
                    <a:pt x="23579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5395417" y="8147924"/>
              <a:ext cx="448309" cy="243204"/>
            </a:xfrm>
            <a:custGeom>
              <a:avLst/>
              <a:gdLst/>
              <a:ahLst/>
              <a:cxnLst/>
              <a:rect l="l" t="t" r="r" b="b"/>
              <a:pathLst>
                <a:path w="448310" h="243204">
                  <a:moveTo>
                    <a:pt x="0" y="121188"/>
                  </a:moveTo>
                  <a:lnTo>
                    <a:pt x="11856" y="82326"/>
                  </a:lnTo>
                  <a:lnTo>
                    <a:pt x="46100" y="48066"/>
                  </a:lnTo>
                  <a:lnTo>
                    <a:pt x="98785" y="21076"/>
                  </a:lnTo>
                  <a:lnTo>
                    <a:pt x="141610" y="8549"/>
                  </a:lnTo>
                  <a:lnTo>
                    <a:pt x="188366" y="1310"/>
                  </a:lnTo>
                  <a:lnTo>
                    <a:pt x="212079" y="0"/>
                  </a:lnTo>
                  <a:lnTo>
                    <a:pt x="235793" y="0"/>
                  </a:lnTo>
                  <a:lnTo>
                    <a:pt x="283875" y="4602"/>
                  </a:lnTo>
                  <a:lnTo>
                    <a:pt x="328650" y="14477"/>
                  </a:lnTo>
                  <a:lnTo>
                    <a:pt x="368838" y="28971"/>
                  </a:lnTo>
                  <a:lnTo>
                    <a:pt x="402427" y="48066"/>
                  </a:lnTo>
                  <a:lnTo>
                    <a:pt x="436016" y="82326"/>
                  </a:lnTo>
                  <a:lnTo>
                    <a:pt x="447873" y="121188"/>
                  </a:lnTo>
                  <a:lnTo>
                    <a:pt x="446547" y="134355"/>
                  </a:lnTo>
                  <a:lnTo>
                    <a:pt x="427451" y="172547"/>
                  </a:lnTo>
                  <a:lnTo>
                    <a:pt x="386608" y="204825"/>
                  </a:lnTo>
                  <a:lnTo>
                    <a:pt x="349727" y="221955"/>
                  </a:lnTo>
                  <a:lnTo>
                    <a:pt x="306918" y="234467"/>
                  </a:lnTo>
                  <a:lnTo>
                    <a:pt x="260162" y="241706"/>
                  </a:lnTo>
                  <a:lnTo>
                    <a:pt x="235793" y="243032"/>
                  </a:lnTo>
                  <a:lnTo>
                    <a:pt x="212079" y="243032"/>
                  </a:lnTo>
                  <a:lnTo>
                    <a:pt x="164652" y="239069"/>
                  </a:lnTo>
                  <a:lnTo>
                    <a:pt x="119207" y="229194"/>
                  </a:lnTo>
                  <a:lnTo>
                    <a:pt x="79034" y="214045"/>
                  </a:lnTo>
                  <a:lnTo>
                    <a:pt x="32278" y="184403"/>
                  </a:lnTo>
                  <a:lnTo>
                    <a:pt x="5273" y="147523"/>
                  </a:lnTo>
                  <a:lnTo>
                    <a:pt x="0" y="121188"/>
                  </a:lnTo>
                </a:path>
              </a:pathLst>
            </a:custGeom>
            <a:ln w="1646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2" name="object 82"/>
          <p:cNvSpPr txBox="1"/>
          <p:nvPr/>
        </p:nvSpPr>
        <p:spPr>
          <a:xfrm>
            <a:off x="5567322" y="8162887"/>
            <a:ext cx="10795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00" spc="25">
                <a:solidFill>
                  <a:srgbClr val="FFFF00"/>
                </a:solidFill>
                <a:latin typeface="Arial"/>
                <a:cs typeface="Arial"/>
              </a:rPr>
              <a:t>H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83" name="object 83"/>
          <p:cNvGrpSpPr/>
          <p:nvPr/>
        </p:nvGrpSpPr>
        <p:grpSpPr>
          <a:xfrm>
            <a:off x="5889052" y="8139690"/>
            <a:ext cx="464820" cy="259715"/>
            <a:chOff x="5889052" y="8139690"/>
            <a:chExt cx="464820" cy="259715"/>
          </a:xfrm>
        </p:grpSpPr>
        <p:sp>
          <p:nvSpPr>
            <p:cNvPr id="84" name="object 84"/>
            <p:cNvSpPr/>
            <p:nvPr/>
          </p:nvSpPr>
          <p:spPr>
            <a:xfrm>
              <a:off x="5897285" y="8147923"/>
              <a:ext cx="448309" cy="243204"/>
            </a:xfrm>
            <a:custGeom>
              <a:avLst/>
              <a:gdLst/>
              <a:ahLst/>
              <a:cxnLst/>
              <a:rect l="l" t="t" r="r" b="b"/>
              <a:pathLst>
                <a:path w="448310" h="243204">
                  <a:moveTo>
                    <a:pt x="236448" y="0"/>
                  </a:moveTo>
                  <a:lnTo>
                    <a:pt x="212079" y="0"/>
                  </a:lnTo>
                  <a:lnTo>
                    <a:pt x="188381" y="1310"/>
                  </a:lnTo>
                  <a:lnTo>
                    <a:pt x="141610" y="8549"/>
                  </a:lnTo>
                  <a:lnTo>
                    <a:pt x="98800" y="21076"/>
                  </a:lnTo>
                  <a:lnTo>
                    <a:pt x="61920" y="38191"/>
                  </a:lnTo>
                  <a:lnTo>
                    <a:pt x="21076" y="70469"/>
                  </a:lnTo>
                  <a:lnTo>
                    <a:pt x="1325" y="108005"/>
                  </a:lnTo>
                  <a:lnTo>
                    <a:pt x="0" y="121188"/>
                  </a:lnTo>
                  <a:lnTo>
                    <a:pt x="1325" y="134355"/>
                  </a:lnTo>
                  <a:lnTo>
                    <a:pt x="21076" y="172547"/>
                  </a:lnTo>
                  <a:lnTo>
                    <a:pt x="61920" y="204825"/>
                  </a:lnTo>
                  <a:lnTo>
                    <a:pt x="98800" y="221955"/>
                  </a:lnTo>
                  <a:lnTo>
                    <a:pt x="141610" y="234467"/>
                  </a:lnTo>
                  <a:lnTo>
                    <a:pt x="188381" y="241706"/>
                  </a:lnTo>
                  <a:lnTo>
                    <a:pt x="212079" y="243032"/>
                  </a:lnTo>
                  <a:lnTo>
                    <a:pt x="236448" y="243032"/>
                  </a:lnTo>
                  <a:lnTo>
                    <a:pt x="283875" y="239069"/>
                  </a:lnTo>
                  <a:lnTo>
                    <a:pt x="328665" y="229194"/>
                  </a:lnTo>
                  <a:lnTo>
                    <a:pt x="368838" y="214045"/>
                  </a:lnTo>
                  <a:lnTo>
                    <a:pt x="402427" y="194950"/>
                  </a:lnTo>
                  <a:lnTo>
                    <a:pt x="436016" y="160035"/>
                  </a:lnTo>
                  <a:lnTo>
                    <a:pt x="447873" y="121188"/>
                  </a:lnTo>
                  <a:lnTo>
                    <a:pt x="446562" y="108005"/>
                  </a:lnTo>
                  <a:lnTo>
                    <a:pt x="427451" y="70469"/>
                  </a:lnTo>
                  <a:lnTo>
                    <a:pt x="386623" y="38191"/>
                  </a:lnTo>
                  <a:lnTo>
                    <a:pt x="349742" y="21076"/>
                  </a:lnTo>
                  <a:lnTo>
                    <a:pt x="306933" y="8549"/>
                  </a:lnTo>
                  <a:lnTo>
                    <a:pt x="260162" y="1310"/>
                  </a:lnTo>
                  <a:lnTo>
                    <a:pt x="23644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5897285" y="8147923"/>
              <a:ext cx="448309" cy="243204"/>
            </a:xfrm>
            <a:custGeom>
              <a:avLst/>
              <a:gdLst/>
              <a:ahLst/>
              <a:cxnLst/>
              <a:rect l="l" t="t" r="r" b="b"/>
              <a:pathLst>
                <a:path w="448310" h="243204">
                  <a:moveTo>
                    <a:pt x="0" y="121188"/>
                  </a:moveTo>
                  <a:lnTo>
                    <a:pt x="11856" y="82326"/>
                  </a:lnTo>
                  <a:lnTo>
                    <a:pt x="46116" y="48066"/>
                  </a:lnTo>
                  <a:lnTo>
                    <a:pt x="98800" y="21076"/>
                  </a:lnTo>
                  <a:lnTo>
                    <a:pt x="141610" y="8549"/>
                  </a:lnTo>
                  <a:lnTo>
                    <a:pt x="188381" y="1310"/>
                  </a:lnTo>
                  <a:lnTo>
                    <a:pt x="212079" y="0"/>
                  </a:lnTo>
                  <a:lnTo>
                    <a:pt x="236448" y="0"/>
                  </a:lnTo>
                  <a:lnTo>
                    <a:pt x="283875" y="4602"/>
                  </a:lnTo>
                  <a:lnTo>
                    <a:pt x="328665" y="14477"/>
                  </a:lnTo>
                  <a:lnTo>
                    <a:pt x="368838" y="28971"/>
                  </a:lnTo>
                  <a:lnTo>
                    <a:pt x="402427" y="48066"/>
                  </a:lnTo>
                  <a:lnTo>
                    <a:pt x="436016" y="82326"/>
                  </a:lnTo>
                  <a:lnTo>
                    <a:pt x="447873" y="121188"/>
                  </a:lnTo>
                  <a:lnTo>
                    <a:pt x="446562" y="134355"/>
                  </a:lnTo>
                  <a:lnTo>
                    <a:pt x="427451" y="172547"/>
                  </a:lnTo>
                  <a:lnTo>
                    <a:pt x="386623" y="204825"/>
                  </a:lnTo>
                  <a:lnTo>
                    <a:pt x="349742" y="221955"/>
                  </a:lnTo>
                  <a:lnTo>
                    <a:pt x="306933" y="234467"/>
                  </a:lnTo>
                  <a:lnTo>
                    <a:pt x="260162" y="241706"/>
                  </a:lnTo>
                  <a:lnTo>
                    <a:pt x="236448" y="243032"/>
                  </a:lnTo>
                  <a:lnTo>
                    <a:pt x="212079" y="243032"/>
                  </a:lnTo>
                  <a:lnTo>
                    <a:pt x="164668" y="239069"/>
                  </a:lnTo>
                  <a:lnTo>
                    <a:pt x="119222" y="229194"/>
                  </a:lnTo>
                  <a:lnTo>
                    <a:pt x="79049" y="214045"/>
                  </a:lnTo>
                  <a:lnTo>
                    <a:pt x="32278" y="184403"/>
                  </a:lnTo>
                  <a:lnTo>
                    <a:pt x="5273" y="147523"/>
                  </a:lnTo>
                  <a:lnTo>
                    <a:pt x="0" y="121188"/>
                  </a:lnTo>
                </a:path>
              </a:pathLst>
            </a:custGeom>
            <a:ln w="1646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6" name="object 86"/>
          <p:cNvSpPr txBox="1"/>
          <p:nvPr/>
        </p:nvSpPr>
        <p:spPr>
          <a:xfrm>
            <a:off x="6074458" y="8176717"/>
            <a:ext cx="10795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00" spc="2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00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2784702" y="8168144"/>
            <a:ext cx="2190750" cy="44386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229870">
              <a:lnSpc>
                <a:spcPct val="100000"/>
              </a:lnSpc>
              <a:spcBef>
                <a:spcPts val="135"/>
              </a:spcBef>
              <a:tabLst>
                <a:tab pos="753110" algn="l"/>
                <a:tab pos="1262380" algn="l"/>
                <a:tab pos="1776095" algn="l"/>
              </a:tabLst>
            </a:pPr>
            <a:r>
              <a:rPr dirty="0" baseline="5555" sz="1500" spc="30">
                <a:solidFill>
                  <a:srgbClr val="FFFF00"/>
                </a:solidFill>
                <a:latin typeface="Arial"/>
                <a:cs typeface="Arial"/>
              </a:rPr>
              <a:t>E	</a:t>
            </a:r>
            <a:r>
              <a:rPr dirty="0" sz="1000" spc="20">
                <a:solidFill>
                  <a:srgbClr val="FFFF00"/>
                </a:solidFill>
                <a:latin typeface="Arial"/>
                <a:cs typeface="Arial"/>
              </a:rPr>
              <a:t>B	</a:t>
            </a:r>
            <a:r>
              <a:rPr dirty="0" baseline="5555" sz="1500" spc="30">
                <a:solidFill>
                  <a:srgbClr val="FFFF00"/>
                </a:solidFill>
                <a:latin typeface="Arial"/>
                <a:cs typeface="Arial"/>
              </a:rPr>
              <a:t>F	</a:t>
            </a:r>
            <a:r>
              <a:rPr dirty="0" baseline="2777" sz="1500" spc="37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baseline="2777" sz="15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850"/>
              </a:spcBef>
            </a:pPr>
            <a:r>
              <a:rPr dirty="0" sz="1000" spc="20">
                <a:solidFill>
                  <a:srgbClr val="FFFFFF"/>
                </a:solidFill>
                <a:latin typeface="Arial"/>
                <a:cs typeface="Arial"/>
              </a:rPr>
              <a:t>Run</a:t>
            </a:r>
            <a:r>
              <a:rPr dirty="0" sz="10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20">
                <a:solidFill>
                  <a:srgbClr val="FFFFFF"/>
                </a:solidFill>
                <a:latin typeface="Arial"/>
                <a:cs typeface="Arial"/>
              </a:rPr>
              <a:t>DFS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20">
                <a:solidFill>
                  <a:srgbClr val="FFFFFF"/>
                </a:solidFill>
                <a:latin typeface="Arial"/>
                <a:cs typeface="Arial"/>
              </a:rPr>
              <a:t>on</a:t>
            </a:r>
            <a:r>
              <a:rPr dirty="0" sz="10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25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dirty="0" sz="1000" spc="2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baseline="29914" sz="975" spc="22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dirty="0" baseline="29914" sz="975" spc="1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in</a:t>
            </a:r>
            <a:r>
              <a:rPr dirty="0" sz="10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this </a:t>
            </a: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vertex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5">
                <a:solidFill>
                  <a:srgbClr val="FFFFFF"/>
                </a:solidFill>
                <a:latin typeface="Arial"/>
                <a:cs typeface="Arial"/>
              </a:rPr>
              <a:t>order</a:t>
            </a:r>
            <a:endParaRPr sz="100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2428378" y="8742743"/>
            <a:ext cx="33731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8.40: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baseline="31250" sz="1200" spc="30">
                <a:latin typeface="Verdana"/>
                <a:cs typeface="Verdana"/>
              </a:rPr>
              <a:t>T</a:t>
            </a:r>
            <a:r>
              <a:rPr dirty="0" baseline="31250" sz="1200" spc="142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00723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8.4.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STRONG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COMPONENTS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14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72411" y="938428"/>
            <a:ext cx="4648200" cy="2625725"/>
            <a:chOff x="1772411" y="938428"/>
            <a:chExt cx="4648200" cy="2625725"/>
          </a:xfrm>
        </p:grpSpPr>
        <p:sp>
          <p:nvSpPr>
            <p:cNvPr id="5" name="object 5"/>
            <p:cNvSpPr/>
            <p:nvPr/>
          </p:nvSpPr>
          <p:spPr>
            <a:xfrm>
              <a:off x="1772411" y="938428"/>
              <a:ext cx="4648200" cy="2625725"/>
            </a:xfrm>
            <a:custGeom>
              <a:avLst/>
              <a:gdLst/>
              <a:ahLst/>
              <a:cxnLst/>
              <a:rect l="l" t="t" r="r" b="b"/>
              <a:pathLst>
                <a:path w="4648200" h="2625725">
                  <a:moveTo>
                    <a:pt x="4648001" y="0"/>
                  </a:moveTo>
                  <a:lnTo>
                    <a:pt x="0" y="0"/>
                  </a:lnTo>
                  <a:lnTo>
                    <a:pt x="0" y="2625699"/>
                  </a:lnTo>
                  <a:lnTo>
                    <a:pt x="4648001" y="2625699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6343116" y="2213620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w="0" h="34289">
                  <a:moveTo>
                    <a:pt x="-8154" y="16962"/>
                  </a:moveTo>
                  <a:lnTo>
                    <a:pt x="8154" y="16962"/>
                  </a:lnTo>
                </a:path>
              </a:pathLst>
            </a:custGeom>
            <a:ln w="339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6341821" y="2145771"/>
              <a:ext cx="1905" cy="34290"/>
            </a:xfrm>
            <a:custGeom>
              <a:avLst/>
              <a:gdLst/>
              <a:ahLst/>
              <a:cxnLst/>
              <a:rect l="l" t="t" r="r" b="b"/>
              <a:pathLst>
                <a:path w="1904" h="34289">
                  <a:moveTo>
                    <a:pt x="647" y="-8154"/>
                  </a:moveTo>
                  <a:lnTo>
                    <a:pt x="647" y="42078"/>
                  </a:lnTo>
                </a:path>
              </a:pathLst>
            </a:custGeom>
            <a:ln w="1760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6332677" y="1942881"/>
              <a:ext cx="8255" cy="169545"/>
            </a:xfrm>
            <a:custGeom>
              <a:avLst/>
              <a:gdLst/>
              <a:ahLst/>
              <a:cxnLst/>
              <a:rect l="l" t="t" r="r" b="b"/>
              <a:pathLst>
                <a:path w="8254" h="169544">
                  <a:moveTo>
                    <a:pt x="7833" y="168965"/>
                  </a:moveTo>
                  <a:lnTo>
                    <a:pt x="7833" y="163738"/>
                  </a:lnTo>
                  <a:lnTo>
                    <a:pt x="7178" y="135041"/>
                  </a:lnTo>
                </a:path>
                <a:path w="8254" h="169544">
                  <a:moveTo>
                    <a:pt x="5227" y="101117"/>
                  </a:moveTo>
                  <a:lnTo>
                    <a:pt x="4571" y="86121"/>
                  </a:lnTo>
                  <a:lnTo>
                    <a:pt x="3916" y="67848"/>
                  </a:lnTo>
                </a:path>
                <a:path w="8254" h="169544">
                  <a:moveTo>
                    <a:pt x="1965" y="33924"/>
                  </a:moveTo>
                  <a:lnTo>
                    <a:pt x="655" y="7833"/>
                  </a:lnTo>
                  <a:lnTo>
                    <a:pt x="0" y="0"/>
                  </a:lnTo>
                </a:path>
              </a:pathLst>
            </a:custGeom>
            <a:ln w="1630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6328760" y="1875033"/>
              <a:ext cx="3175" cy="34290"/>
            </a:xfrm>
            <a:custGeom>
              <a:avLst/>
              <a:gdLst/>
              <a:ahLst/>
              <a:cxnLst/>
              <a:rect l="l" t="t" r="r" b="b"/>
              <a:pathLst>
                <a:path w="3175" h="34289">
                  <a:moveTo>
                    <a:pt x="1310" y="-8154"/>
                  </a:moveTo>
                  <a:lnTo>
                    <a:pt x="1310" y="42078"/>
                  </a:lnTo>
                </a:path>
              </a:pathLst>
            </a:custGeom>
            <a:ln w="1893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323548" y="1739991"/>
              <a:ext cx="4445" cy="101600"/>
            </a:xfrm>
            <a:custGeom>
              <a:avLst/>
              <a:gdLst/>
              <a:ahLst/>
              <a:cxnLst/>
              <a:rect l="l" t="t" r="r" b="b"/>
              <a:pathLst>
                <a:path w="4445" h="101600">
                  <a:moveTo>
                    <a:pt x="3916" y="101117"/>
                  </a:moveTo>
                  <a:lnTo>
                    <a:pt x="3261" y="91333"/>
                  </a:lnTo>
                  <a:lnTo>
                    <a:pt x="2606" y="67193"/>
                  </a:lnTo>
                </a:path>
                <a:path w="4445" h="101600">
                  <a:moveTo>
                    <a:pt x="1310" y="33924"/>
                  </a:moveTo>
                  <a:lnTo>
                    <a:pt x="655" y="11094"/>
                  </a:lnTo>
                  <a:lnTo>
                    <a:pt x="0" y="0"/>
                  </a:lnTo>
                </a:path>
              </a:pathLst>
            </a:custGeom>
            <a:ln w="1630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6322237" y="1672158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70" h="34289">
                  <a:moveTo>
                    <a:pt x="327" y="-8154"/>
                  </a:moveTo>
                  <a:lnTo>
                    <a:pt x="327" y="42063"/>
                  </a:lnTo>
                </a:path>
              </a:pathLst>
            </a:custGeom>
            <a:ln w="1696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322237" y="1604309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w="0" h="34289">
                  <a:moveTo>
                    <a:pt x="-8154" y="16962"/>
                  </a:moveTo>
                  <a:lnTo>
                    <a:pt x="8154" y="16962"/>
                  </a:lnTo>
                </a:path>
              </a:pathLst>
            </a:custGeom>
            <a:ln w="339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6322893" y="1469268"/>
              <a:ext cx="3175" cy="101600"/>
            </a:xfrm>
            <a:custGeom>
              <a:avLst/>
              <a:gdLst/>
              <a:ahLst/>
              <a:cxnLst/>
              <a:rect l="l" t="t" r="r" b="b"/>
              <a:pathLst>
                <a:path w="3175" h="101600">
                  <a:moveTo>
                    <a:pt x="0" y="101117"/>
                  </a:moveTo>
                  <a:lnTo>
                    <a:pt x="0" y="87416"/>
                  </a:lnTo>
                  <a:lnTo>
                    <a:pt x="655" y="72405"/>
                  </a:lnTo>
                  <a:lnTo>
                    <a:pt x="655" y="67848"/>
                  </a:lnTo>
                </a:path>
                <a:path w="3175" h="101600">
                  <a:moveTo>
                    <a:pt x="1310" y="33924"/>
                  </a:moveTo>
                  <a:lnTo>
                    <a:pt x="1965" y="26090"/>
                  </a:lnTo>
                  <a:lnTo>
                    <a:pt x="1965" y="10439"/>
                  </a:lnTo>
                  <a:lnTo>
                    <a:pt x="2606" y="0"/>
                  </a:lnTo>
                </a:path>
              </a:pathLst>
            </a:custGeom>
            <a:ln w="1630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24501" y="995973"/>
              <a:ext cx="4526114" cy="2009944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799624" y="1330965"/>
              <a:ext cx="169545" cy="0"/>
            </a:xfrm>
            <a:custGeom>
              <a:avLst/>
              <a:gdLst/>
              <a:ahLst/>
              <a:cxnLst/>
              <a:rect l="l" t="t" r="r" b="b"/>
              <a:pathLst>
                <a:path w="169545" h="0">
                  <a:moveTo>
                    <a:pt x="168950" y="0"/>
                  </a:moveTo>
                  <a:lnTo>
                    <a:pt x="135041" y="0"/>
                  </a:lnTo>
                </a:path>
                <a:path w="169545" h="0">
                  <a:moveTo>
                    <a:pt x="101757" y="0"/>
                  </a:moveTo>
                  <a:lnTo>
                    <a:pt x="67848" y="0"/>
                  </a:lnTo>
                </a:path>
                <a:path w="169545" h="0">
                  <a:moveTo>
                    <a:pt x="33924" y="0"/>
                  </a:moveTo>
                  <a:lnTo>
                    <a:pt x="0" y="0"/>
                  </a:lnTo>
                </a:path>
              </a:pathLst>
            </a:custGeom>
            <a:ln w="1630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2847084" y="3123412"/>
            <a:ext cx="2432050" cy="2590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500" spc="10">
                <a:solidFill>
                  <a:srgbClr val="FFFF00"/>
                </a:solidFill>
                <a:latin typeface="Arial"/>
                <a:cs typeface="Arial"/>
              </a:rPr>
              <a:t>Final</a:t>
            </a:r>
            <a:r>
              <a:rPr dirty="0" sz="1500" spc="-1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00" spc="20">
                <a:solidFill>
                  <a:srgbClr val="FFFF00"/>
                </a:solidFill>
                <a:latin typeface="Arial"/>
                <a:cs typeface="Arial"/>
              </a:rPr>
              <a:t>DFS</a:t>
            </a:r>
            <a:r>
              <a:rPr dirty="0" sz="1500" spc="-1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00" spc="10">
                <a:solidFill>
                  <a:srgbClr val="FFFF00"/>
                </a:solidFill>
                <a:latin typeface="Arial"/>
                <a:cs typeface="Arial"/>
              </a:rPr>
              <a:t>with</a:t>
            </a:r>
            <a:r>
              <a:rPr dirty="0" sz="1500" spc="-1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00" spc="15">
                <a:solidFill>
                  <a:srgbClr val="FFFF00"/>
                </a:solidFill>
                <a:latin typeface="Arial"/>
                <a:cs typeface="Arial"/>
              </a:rPr>
              <a:t>Components</a:t>
            </a:r>
            <a:endParaRPr sz="15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459156" y="1225026"/>
            <a:ext cx="99060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462994" y="1910013"/>
            <a:ext cx="99060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470169" y="1241338"/>
            <a:ext cx="106045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971684" y="1925025"/>
            <a:ext cx="48895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000">
                <a:solidFill>
                  <a:srgbClr val="FFFF00"/>
                </a:solidFill>
                <a:latin typeface="Arial"/>
                <a:cs typeface="Arial"/>
              </a:rPr>
              <a:t>I</a:t>
            </a:r>
            <a:endParaRPr sz="10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462920" y="2461917"/>
            <a:ext cx="106045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H</a:t>
            </a:r>
            <a:endParaRPr sz="10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961902" y="1243949"/>
            <a:ext cx="92075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0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411958" y="2461917"/>
            <a:ext cx="113664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0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474168" y="1892402"/>
            <a:ext cx="106045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0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491782" y="2494530"/>
            <a:ext cx="99060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000" spc="1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0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38202" y="3652051"/>
            <a:ext cx="6553200" cy="5331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127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8.41: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DFS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strong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baseline="31250" sz="1200" spc="30">
                <a:latin typeface="Verdana"/>
                <a:cs typeface="Verdana"/>
              </a:rPr>
              <a:t>T</a:t>
            </a:r>
            <a:endParaRPr baseline="31250" sz="12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13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Verdana"/>
              <a:cs typeface="Verdana"/>
            </a:endParaRPr>
          </a:p>
          <a:p>
            <a:pPr marL="76200" marR="685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CLR.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discuss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intuition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behind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decreasing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finish </a:t>
            </a:r>
            <a:r>
              <a:rPr dirty="0" sz="1200" spc="-20">
                <a:latin typeface="Times New Roman"/>
                <a:cs typeface="Times New Roman"/>
              </a:rPr>
              <a:t>times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revered.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Recall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main intent is to visit </a:t>
            </a:r>
            <a:r>
              <a:rPr dirty="0" sz="1200" spc="-10">
                <a:latin typeface="Times New Roman"/>
                <a:cs typeface="Times New Roman"/>
              </a:rPr>
              <a:t>the strong components </a:t>
            </a:r>
            <a:r>
              <a:rPr dirty="0" sz="1200" spc="-5">
                <a:latin typeface="Times New Roman"/>
                <a:cs typeface="Times New Roman"/>
              </a:rPr>
              <a:t>in a </a:t>
            </a:r>
            <a:r>
              <a:rPr dirty="0" sz="1200" spc="-15">
                <a:latin typeface="Times New Roman"/>
                <a:cs typeface="Times New Roman"/>
              </a:rPr>
              <a:t>reverse </a:t>
            </a:r>
            <a:r>
              <a:rPr dirty="0" sz="1200" spc="-5">
                <a:latin typeface="Times New Roman"/>
                <a:cs typeface="Times New Roman"/>
              </a:rPr>
              <a:t>topological </a:t>
            </a:r>
            <a:r>
              <a:rPr dirty="0" sz="1200" spc="-20">
                <a:latin typeface="Times New Roman"/>
                <a:cs typeface="Times New Roman"/>
              </a:rPr>
              <a:t>order.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problem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5">
                <a:latin typeface="Times New Roman"/>
                <a:cs typeface="Times New Roman"/>
              </a:rPr>
              <a:t>how </a:t>
            </a:r>
            <a:r>
              <a:rPr dirty="0" sz="1200" spc="-5">
                <a:latin typeface="Times New Roman"/>
                <a:cs typeface="Times New Roman"/>
              </a:rPr>
              <a:t>to order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true.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sorting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DAG,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finish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occur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reverse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(i.e.,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highest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finish </a:t>
            </a:r>
            <a:r>
              <a:rPr dirty="0" sz="1200" spc="-10">
                <a:latin typeface="Times New Roman"/>
                <a:cs typeface="Times New Roman"/>
              </a:rPr>
              <a:t>time).</a:t>
            </a:r>
            <a:r>
              <a:rPr dirty="0" sz="1200" spc="-5">
                <a:latin typeface="Times New Roman"/>
                <a:cs typeface="Times New Roman"/>
              </a:rPr>
              <a:t> So, if </a:t>
            </a:r>
            <a:r>
              <a:rPr dirty="0" sz="1200" spc="-10">
                <a:latin typeface="Times New Roman"/>
                <a:cs typeface="Times New Roman"/>
              </a:rPr>
              <a:t>we wanted </a:t>
            </a:r>
            <a:r>
              <a:rPr dirty="0" sz="1200" spc="-5">
                <a:latin typeface="Times New Roman"/>
                <a:cs typeface="Times New Roman"/>
              </a:rPr>
              <a:t>to visit </a:t>
            </a:r>
            <a:r>
              <a:rPr dirty="0" sz="1200" spc="-10">
                <a:latin typeface="Times New Roman"/>
                <a:cs typeface="Times New Roman"/>
              </a:rPr>
              <a:t>the components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20">
                <a:latin typeface="Times New Roman"/>
                <a:cs typeface="Times New Roman"/>
              </a:rPr>
              <a:t>reverse </a:t>
            </a:r>
            <a:r>
              <a:rPr dirty="0" sz="1200" spc="-10">
                <a:latin typeface="Times New Roman"/>
                <a:cs typeface="Times New Roman"/>
              </a:rPr>
              <a:t>topological </a:t>
            </a:r>
            <a:r>
              <a:rPr dirty="0" sz="1200" spc="-15">
                <a:latin typeface="Times New Roman"/>
                <a:cs typeface="Times New Roman"/>
              </a:rPr>
              <a:t>order,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suggests that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 spc="-5">
                <a:latin typeface="Times New Roman"/>
                <a:cs typeface="Times New Roman"/>
              </a:rPr>
              <a:t> visit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increasing 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finish time,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starting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lowest</a:t>
            </a:r>
            <a:r>
              <a:rPr dirty="0" sz="1200" spc="-5">
                <a:latin typeface="Times New Roman"/>
                <a:cs typeface="Times New Roman"/>
              </a:rPr>
              <a:t> finishing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marL="76200" marR="68580">
              <a:lnSpc>
                <a:spcPct val="100000"/>
              </a:lnSpc>
              <a:spcBef>
                <a:spcPts val="545"/>
              </a:spcBef>
            </a:pPr>
            <a:r>
              <a:rPr dirty="0" sz="1200" spc="-5">
                <a:latin typeface="Times New Roman"/>
                <a:cs typeface="Times New Roman"/>
              </a:rPr>
              <a:t>This is a </a:t>
            </a:r>
            <a:r>
              <a:rPr dirty="0" sz="1200" spc="-10">
                <a:latin typeface="Times New Roman"/>
                <a:cs typeface="Times New Roman"/>
              </a:rPr>
              <a:t>good </a:t>
            </a:r>
            <a:r>
              <a:rPr dirty="0" sz="1200" spc="-5">
                <a:latin typeface="Times New Roman"/>
                <a:cs typeface="Times New Roman"/>
              </a:rPr>
              <a:t>starting idea, </a:t>
            </a:r>
            <a:r>
              <a:rPr dirty="0" sz="1200" spc="-15">
                <a:latin typeface="Times New Roman"/>
                <a:cs typeface="Times New Roman"/>
              </a:rPr>
              <a:t>but </a:t>
            </a: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 spc="-10">
                <a:latin typeface="Times New Roman"/>
                <a:cs typeface="Times New Roman"/>
              </a:rPr>
              <a:t>turns out </a:t>
            </a:r>
            <a:r>
              <a:rPr dirty="0" sz="1200" spc="-5">
                <a:latin typeface="Times New Roman"/>
                <a:cs typeface="Times New Roman"/>
              </a:rPr>
              <a:t>that it </a:t>
            </a:r>
            <a:r>
              <a:rPr dirty="0" sz="1200" spc="-10">
                <a:latin typeface="Times New Roman"/>
                <a:cs typeface="Times New Roman"/>
              </a:rPr>
              <a:t>doesn’t work. </a:t>
            </a:r>
            <a:r>
              <a:rPr dirty="0" sz="1200" spc="-5">
                <a:latin typeface="Times New Roman"/>
                <a:cs typeface="Times New Roman"/>
              </a:rPr>
              <a:t>The reason is that there are </a:t>
            </a:r>
            <a:r>
              <a:rPr dirty="0" sz="1200" spc="-10">
                <a:latin typeface="Times New Roman"/>
                <a:cs typeface="Times New Roman"/>
              </a:rPr>
              <a:t>many vertices </a:t>
            </a:r>
            <a:r>
              <a:rPr dirty="0" sz="1200" spc="-5">
                <a:latin typeface="Times New Roman"/>
                <a:cs typeface="Times New Roman"/>
              </a:rPr>
              <a:t> in each </a:t>
            </a:r>
            <a:r>
              <a:rPr dirty="0" sz="1200" spc="-10">
                <a:latin typeface="Times New Roman"/>
                <a:cs typeface="Times New Roman"/>
              </a:rPr>
              <a:t>strong component,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10">
                <a:latin typeface="Times New Roman"/>
                <a:cs typeface="Times New Roman"/>
              </a:rPr>
              <a:t>different </a:t>
            </a:r>
            <a:r>
              <a:rPr dirty="0" sz="1200" spc="-5">
                <a:latin typeface="Times New Roman"/>
                <a:cs typeface="Times New Roman"/>
              </a:rPr>
              <a:t>finish </a:t>
            </a:r>
            <a:r>
              <a:rPr dirty="0" sz="1200" spc="-15">
                <a:latin typeface="Times New Roman"/>
                <a:cs typeface="Times New Roman"/>
              </a:rPr>
              <a:t>times.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example,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Figure 8.36, observe </a:t>
            </a:r>
            <a:r>
              <a:rPr dirty="0" sz="1200" spc="-5">
                <a:latin typeface="Times New Roman"/>
                <a:cs typeface="Times New Roman"/>
              </a:rPr>
              <a:t> that 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first DFS, </a:t>
            </a:r>
            <a:r>
              <a:rPr dirty="0" sz="1200" spc="-10">
                <a:latin typeface="Times New Roman"/>
                <a:cs typeface="Times New Roman"/>
              </a:rPr>
              <a:t>the lowest </a:t>
            </a:r>
            <a:r>
              <a:rPr dirty="0" sz="1200" spc="-5">
                <a:latin typeface="Times New Roman"/>
                <a:cs typeface="Times New Roman"/>
              </a:rPr>
              <a:t>finish </a:t>
            </a:r>
            <a:r>
              <a:rPr dirty="0" sz="1200" spc="-10">
                <a:latin typeface="Times New Roman"/>
                <a:cs typeface="Times New Roman"/>
              </a:rPr>
              <a:t>time (of </a:t>
            </a:r>
            <a:r>
              <a:rPr dirty="0" sz="1200" spc="-5">
                <a:latin typeface="Times New Roman"/>
                <a:cs typeface="Times New Roman"/>
              </a:rPr>
              <a:t>4) is </a:t>
            </a:r>
            <a:r>
              <a:rPr dirty="0" sz="1200" spc="-10">
                <a:latin typeface="Times New Roman"/>
                <a:cs typeface="Times New Roman"/>
              </a:rPr>
              <a:t>achieved </a:t>
            </a:r>
            <a:r>
              <a:rPr dirty="0" sz="1200" spc="-70">
                <a:latin typeface="Times New Roman"/>
                <a:cs typeface="Times New Roman"/>
              </a:rPr>
              <a:t>by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 </a:t>
            </a:r>
            <a:r>
              <a:rPr dirty="0" sz="1200" spc="-5">
                <a:latin typeface="Times New Roman"/>
                <a:cs typeface="Times New Roman"/>
              </a:rPr>
              <a:t>‘c’, and its </a:t>
            </a:r>
            <a:r>
              <a:rPr dirty="0" sz="1200" spc="-10">
                <a:latin typeface="Times New Roman"/>
                <a:cs typeface="Times New Roman"/>
              </a:rPr>
              <a:t>strong component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first,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last, in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order.</a:t>
            </a:r>
            <a:endParaRPr sz="1200">
              <a:latin typeface="Times New Roman"/>
              <a:cs typeface="Times New Roman"/>
            </a:endParaRPr>
          </a:p>
          <a:p>
            <a:pPr marL="76200" marR="205104" indent="-635">
              <a:lnSpc>
                <a:spcPct val="100000"/>
              </a:lnSpc>
              <a:spcBef>
                <a:spcPts val="535"/>
              </a:spcBef>
            </a:pP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 spc="-5">
                <a:latin typeface="Times New Roman"/>
                <a:cs typeface="Times New Roman"/>
              </a:rPr>
              <a:t> 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something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notice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finish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maximum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finish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time</a:t>
            </a:r>
            <a:r>
              <a:rPr dirty="0" sz="1200" spc="-6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 spc="-10">
                <a:latin typeface="Times New Roman"/>
                <a:cs typeface="Times New Roman"/>
              </a:rPr>
              <a:t>component, </a:t>
            </a:r>
            <a:r>
              <a:rPr dirty="0" sz="1200" spc="-5">
                <a:latin typeface="Times New Roman"/>
                <a:cs typeface="Times New Roman"/>
              </a:rPr>
              <a:t>then these are related to </a:t>
            </a:r>
            <a:r>
              <a:rPr dirty="0" sz="1200" spc="-10">
                <a:latin typeface="Times New Roman"/>
                <a:cs typeface="Times New Roman"/>
              </a:rPr>
              <a:t>the topological </a:t>
            </a:r>
            <a:r>
              <a:rPr dirty="0" sz="1200" spc="-5">
                <a:latin typeface="Times New Roman"/>
                <a:cs typeface="Times New Roman"/>
              </a:rPr>
              <a:t>order of </a:t>
            </a:r>
            <a:r>
              <a:rPr dirty="0" sz="1200" spc="-10">
                <a:latin typeface="Times New Roman"/>
                <a:cs typeface="Times New Roman"/>
              </a:rPr>
              <a:t>the component graph.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 spc="-10">
                <a:latin typeface="Times New Roman"/>
                <a:cs typeface="Times New Roman"/>
              </a:rPr>
              <a:t>fact </a:t>
            </a:r>
            <a:r>
              <a:rPr dirty="0" sz="1200" spc="-5">
                <a:latin typeface="Times New Roman"/>
                <a:cs typeface="Times New Roman"/>
              </a:rPr>
              <a:t>it 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 to </a:t>
            </a:r>
            <a:r>
              <a:rPr dirty="0" sz="1200" spc="-15">
                <a:latin typeface="Times New Roman"/>
                <a:cs typeface="Times New Roman"/>
              </a:rPr>
              <a:t>prove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(but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won’t).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algn="just" marL="447675" marR="157480" indent="-372110">
              <a:lnSpc>
                <a:spcPct val="100000"/>
              </a:lnSpc>
              <a:spcBef>
                <a:spcPts val="810"/>
              </a:spcBef>
            </a:pPr>
            <a:r>
              <a:rPr dirty="0" sz="1200" spc="-5" b="1">
                <a:latin typeface="Times New Roman"/>
                <a:cs typeface="Times New Roman"/>
              </a:rPr>
              <a:t>Lemma: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 a </a:t>
            </a:r>
            <a:r>
              <a:rPr dirty="0" sz="1200" spc="-10">
                <a:latin typeface="Times New Roman"/>
                <a:cs typeface="Times New Roman"/>
              </a:rPr>
              <a:t>digraph </a:t>
            </a:r>
            <a:r>
              <a:rPr dirty="0" sz="1200" spc="-5">
                <a:latin typeface="Times New Roman"/>
                <a:cs typeface="Times New Roman"/>
              </a:rPr>
              <a:t>G on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DFS has been </a:t>
            </a:r>
            <a:r>
              <a:rPr dirty="0" sz="1200" spc="-10">
                <a:latin typeface="Times New Roman"/>
                <a:cs typeface="Times New Roman"/>
              </a:rPr>
              <a:t>run. </a:t>
            </a:r>
            <a:r>
              <a:rPr dirty="0" sz="1200" spc="-5">
                <a:latin typeface="Times New Roman"/>
                <a:cs typeface="Times New Roman"/>
              </a:rPr>
              <a:t>Label each component </a:t>
            </a:r>
            <a:r>
              <a:rPr dirty="0" sz="1200" spc="-10">
                <a:latin typeface="Times New Roman"/>
                <a:cs typeface="Times New Roman"/>
              </a:rPr>
              <a:t>with the maximum </a:t>
            </a:r>
            <a:r>
              <a:rPr dirty="0" sz="1200" spc="-5">
                <a:latin typeface="Times New Roman"/>
                <a:cs typeface="Times New Roman"/>
              </a:rPr>
              <a:t> finish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of all </a:t>
            </a:r>
            <a:r>
              <a:rPr dirty="0" sz="1200" spc="-10">
                <a:latin typeface="Times New Roman"/>
                <a:cs typeface="Times New Roman"/>
              </a:rPr>
              <a:t>the vertices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 component, </a:t>
            </a:r>
            <a:r>
              <a:rPr dirty="0" sz="1200" spc="-5">
                <a:latin typeface="Times New Roman"/>
                <a:cs typeface="Times New Roman"/>
              </a:rPr>
              <a:t>and sort </a:t>
            </a:r>
            <a:r>
              <a:rPr dirty="0" sz="1200" spc="-20">
                <a:latin typeface="Times New Roman"/>
                <a:cs typeface="Times New Roman"/>
              </a:rPr>
              <a:t>these </a:t>
            </a:r>
            <a:r>
              <a:rPr dirty="0" sz="1200" spc="-5">
                <a:latin typeface="Times New Roman"/>
                <a:cs typeface="Times New Roman"/>
              </a:rPr>
              <a:t>in decreasing </a:t>
            </a:r>
            <a:r>
              <a:rPr dirty="0" sz="1200" spc="-20">
                <a:latin typeface="Times New Roman"/>
                <a:cs typeface="Times New Roman"/>
              </a:rPr>
              <a:t>order.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order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 spc="-5">
                <a:latin typeface="Times New Roman"/>
                <a:cs typeface="Times New Roman"/>
              </a:rPr>
              <a:t> order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810"/>
              </a:spcBef>
            </a:pP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8.36,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maximum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finish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18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{</a:t>
            </a:r>
            <a:r>
              <a:rPr dirty="0" sz="1200" spc="70" i="1">
                <a:latin typeface="Times New Roman"/>
                <a:cs typeface="Times New Roman"/>
              </a:rPr>
              <a:t>a,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b,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55" i="1">
                <a:latin typeface="Times New Roman"/>
                <a:cs typeface="Times New Roman"/>
              </a:rPr>
              <a:t>c</a:t>
            </a:r>
            <a:r>
              <a:rPr dirty="0" sz="1200" spc="55">
                <a:latin typeface="Segoe UI Symbol"/>
                <a:cs typeface="Segoe UI Symbol"/>
              </a:rPr>
              <a:t>}</a:t>
            </a:r>
            <a:r>
              <a:rPr dirty="0" sz="1200" spc="55">
                <a:latin typeface="Times New Roman"/>
                <a:cs typeface="Times New Roman"/>
              </a:rPr>
              <a:t>),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17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(for</a:t>
            </a:r>
            <a:endParaRPr sz="1200">
              <a:latin typeface="Times New Roman"/>
              <a:cs typeface="Times New Roman"/>
            </a:endParaRPr>
          </a:p>
          <a:p>
            <a:pPr marL="76200" marR="231775" indent="-635">
              <a:lnSpc>
                <a:spcPct val="100000"/>
              </a:lnSpc>
              <a:spcBef>
                <a:spcPts val="5"/>
              </a:spcBef>
            </a:pPr>
            <a:r>
              <a:rPr dirty="0" sz="1200" spc="60">
                <a:latin typeface="Segoe UI Symbol"/>
                <a:cs typeface="Segoe UI Symbol"/>
              </a:rPr>
              <a:t>{</a:t>
            </a:r>
            <a:r>
              <a:rPr dirty="0" sz="1200" spc="60" i="1">
                <a:latin typeface="Times New Roman"/>
                <a:cs typeface="Times New Roman"/>
              </a:rPr>
              <a:t>d,e</a:t>
            </a:r>
            <a:r>
              <a:rPr dirty="0" sz="1200" spc="60">
                <a:latin typeface="Segoe UI Symbol"/>
                <a:cs typeface="Segoe UI Symbol"/>
              </a:rPr>
              <a:t>}</a:t>
            </a:r>
            <a:r>
              <a:rPr dirty="0" sz="1200" spc="60">
                <a:latin typeface="Times New Roman"/>
                <a:cs typeface="Times New Roman"/>
              </a:rPr>
              <a:t>),</a:t>
            </a:r>
            <a:r>
              <a:rPr dirty="0" sz="1200" spc="-5">
                <a:latin typeface="Times New Roman"/>
                <a:cs typeface="Times New Roman"/>
              </a:rPr>
              <a:t>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12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Segoe UI Symbol"/>
                <a:cs typeface="Segoe UI Symbol"/>
              </a:rPr>
              <a:t>{</a:t>
            </a:r>
            <a:r>
              <a:rPr dirty="0" sz="1200" spc="35" i="1">
                <a:latin typeface="Times New Roman"/>
                <a:cs typeface="Times New Roman"/>
              </a:rPr>
              <a:t>f,g,h,i</a:t>
            </a:r>
            <a:r>
              <a:rPr dirty="0" sz="1200" spc="35">
                <a:latin typeface="Segoe UI Symbol"/>
                <a:cs typeface="Segoe UI Symbol"/>
              </a:rPr>
              <a:t>}</a:t>
            </a:r>
            <a:r>
              <a:rPr dirty="0" sz="1200" spc="35">
                <a:latin typeface="Times New Roman"/>
                <a:cs typeface="Times New Roman"/>
              </a:rPr>
              <a:t>).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(18,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17,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12)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valid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digraph.</a:t>
            </a:r>
            <a:r>
              <a:rPr dirty="0" sz="1200" spc="-5">
                <a:latin typeface="Times New Roman"/>
                <a:cs typeface="Times New Roman"/>
              </a:rPr>
              <a:t> The </a:t>
            </a:r>
            <a:r>
              <a:rPr dirty="0" sz="1200" spc="-10">
                <a:latin typeface="Times New Roman"/>
                <a:cs typeface="Times New Roman"/>
              </a:rPr>
              <a:t>problem </a:t>
            </a:r>
            <a:r>
              <a:rPr dirty="0" sz="1200" spc="-5">
                <a:latin typeface="Times New Roman"/>
                <a:cs typeface="Times New Roman"/>
              </a:rPr>
              <a:t>is that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 spc="-10">
                <a:latin typeface="Times New Roman"/>
                <a:cs typeface="Times New Roman"/>
              </a:rPr>
              <a:t>we wanted.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wanted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5">
                <a:latin typeface="Times New Roman"/>
                <a:cs typeface="Times New Roman"/>
              </a:rPr>
              <a:t>reverse </a:t>
            </a:r>
            <a:r>
              <a:rPr dirty="0" sz="1200" spc="-10">
                <a:latin typeface="Times New Roman"/>
                <a:cs typeface="Times New Roman"/>
              </a:rPr>
              <a:t>topological </a:t>
            </a:r>
            <a:r>
              <a:rPr dirty="0" sz="1200" spc="-5">
                <a:latin typeface="Times New Roman"/>
                <a:cs typeface="Times New Roman"/>
              </a:rPr>
              <a:t>order </a:t>
            </a:r>
            <a:r>
              <a:rPr dirty="0" sz="1200" spc="-10">
                <a:latin typeface="Times New Roman"/>
                <a:cs typeface="Times New Roman"/>
              </a:rPr>
              <a:t>for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component digraph.</a:t>
            </a:r>
            <a:r>
              <a:rPr dirty="0" sz="1200" spc="-5">
                <a:latin typeface="Times New Roman"/>
                <a:cs typeface="Times New Roman"/>
              </a:rPr>
              <a:t> So,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final trick is to </a:t>
            </a:r>
            <a:r>
              <a:rPr dirty="0" sz="1200" spc="-15">
                <a:latin typeface="Times New Roman"/>
                <a:cs typeface="Times New Roman"/>
              </a:rPr>
              <a:t>reverse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digraph.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does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change </a:t>
            </a:r>
            <a:r>
              <a:rPr dirty="0" sz="1200" spc="-10">
                <a:latin typeface="Times New Roman"/>
                <a:cs typeface="Times New Roman"/>
              </a:rPr>
              <a:t>the component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it </a:t>
            </a:r>
            <a:r>
              <a:rPr dirty="0" sz="1200" spc="-10">
                <a:latin typeface="Times New Roman"/>
                <a:cs typeface="Times New Roman"/>
              </a:rPr>
              <a:t>reverses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topological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order,</a:t>
            </a:r>
            <a:r>
              <a:rPr dirty="0" sz="1200" spc="-5">
                <a:latin typeface="Times New Roman"/>
                <a:cs typeface="Times New Roman"/>
              </a:rPr>
              <a:t> as desired.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146666" y="8280489"/>
            <a:ext cx="3921760" cy="140970"/>
          </a:xfrm>
          <a:custGeom>
            <a:avLst/>
            <a:gdLst/>
            <a:ahLst/>
            <a:cxnLst/>
            <a:rect l="l" t="t" r="r" b="b"/>
            <a:pathLst>
              <a:path w="3921759" h="140970">
                <a:moveTo>
                  <a:pt x="3921150" y="0"/>
                </a:moveTo>
                <a:lnTo>
                  <a:pt x="0" y="0"/>
                </a:lnTo>
                <a:lnTo>
                  <a:pt x="0" y="140817"/>
                </a:lnTo>
                <a:lnTo>
                  <a:pt x="3921150" y="140817"/>
                </a:lnTo>
                <a:lnTo>
                  <a:pt x="3921150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914653" y="8280489"/>
            <a:ext cx="2146935" cy="140970"/>
          </a:xfrm>
          <a:custGeom>
            <a:avLst/>
            <a:gdLst/>
            <a:ahLst/>
            <a:cxnLst/>
            <a:rect l="l" t="t" r="r" b="b"/>
            <a:pathLst>
              <a:path w="2146935" h="140970">
                <a:moveTo>
                  <a:pt x="2146795" y="0"/>
                </a:moveTo>
                <a:lnTo>
                  <a:pt x="0" y="0"/>
                </a:lnTo>
                <a:lnTo>
                  <a:pt x="0" y="140817"/>
                </a:lnTo>
                <a:lnTo>
                  <a:pt x="2146795" y="140817"/>
                </a:lnTo>
                <a:lnTo>
                  <a:pt x="2146795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914653" y="7483614"/>
            <a:ext cx="5015230" cy="138430"/>
          </a:xfrm>
          <a:custGeom>
            <a:avLst/>
            <a:gdLst/>
            <a:ahLst/>
            <a:cxnLst/>
            <a:rect l="l" t="t" r="r" b="b"/>
            <a:pathLst>
              <a:path w="5015230" h="138429">
                <a:moveTo>
                  <a:pt x="5014899" y="0"/>
                </a:moveTo>
                <a:lnTo>
                  <a:pt x="0" y="0"/>
                </a:lnTo>
                <a:lnTo>
                  <a:pt x="0" y="138087"/>
                </a:lnTo>
                <a:lnTo>
                  <a:pt x="5014899" y="138087"/>
                </a:lnTo>
                <a:lnTo>
                  <a:pt x="5014899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007135" y="2147277"/>
            <a:ext cx="4819015" cy="138430"/>
          </a:xfrm>
          <a:custGeom>
            <a:avLst/>
            <a:gdLst/>
            <a:ahLst/>
            <a:cxnLst/>
            <a:rect l="l" t="t" r="r" b="b"/>
            <a:pathLst>
              <a:path w="4819015" h="138430">
                <a:moveTo>
                  <a:pt x="4818722" y="0"/>
                </a:moveTo>
                <a:lnTo>
                  <a:pt x="0" y="0"/>
                </a:lnTo>
                <a:lnTo>
                  <a:pt x="0" y="138010"/>
                </a:lnTo>
                <a:lnTo>
                  <a:pt x="4818722" y="138010"/>
                </a:lnTo>
                <a:lnTo>
                  <a:pt x="4818722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901661" y="416315"/>
            <a:ext cx="2950845" cy="731520"/>
          </a:xfrm>
          <a:prstGeom prst="rect">
            <a:avLst/>
          </a:prstGeom>
        </p:spPr>
        <p:txBody>
          <a:bodyPr wrap="square" lIns="0" tIns="1193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40"/>
              </a:spcBef>
            </a:pPr>
            <a:r>
              <a:rPr dirty="0" sz="1200" spc="-5">
                <a:latin typeface="Times New Roman"/>
                <a:cs typeface="Times New Roman"/>
              </a:rPr>
              <a:t>142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8.5	</a:t>
            </a:r>
            <a:r>
              <a:rPr dirty="0" sz="1700" spc="10" b="1">
                <a:latin typeface="Times New Roman"/>
                <a:cs typeface="Times New Roman"/>
              </a:rPr>
              <a:t>Minimum</a:t>
            </a:r>
            <a:r>
              <a:rPr dirty="0" sz="1700" spc="-30" b="1">
                <a:latin typeface="Times New Roman"/>
                <a:cs typeface="Times New Roman"/>
              </a:rPr>
              <a:t> </a:t>
            </a:r>
            <a:r>
              <a:rPr dirty="0" sz="1700" spc="10" b="1">
                <a:latin typeface="Times New Roman"/>
                <a:cs typeface="Times New Roman"/>
              </a:rPr>
              <a:t>Spanning</a:t>
            </a:r>
            <a:r>
              <a:rPr dirty="0" sz="1700" spc="-25" b="1">
                <a:latin typeface="Times New Roman"/>
                <a:cs typeface="Times New Roman"/>
              </a:rPr>
              <a:t> Trees</a:t>
            </a:r>
            <a:endParaRPr sz="17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74756" y="521402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95343" y="3199565"/>
            <a:ext cx="5156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w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01659" y="1472378"/>
            <a:ext cx="6425565" cy="17907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communications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networks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circuit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together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nodes 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network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minimum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length.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length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lengths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wires.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Times New Roman"/>
                <a:cs typeface="Times New Roman"/>
              </a:rPr>
              <a:t>Consider,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example, laying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cable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cable </a:t>
            </a:r>
            <a:r>
              <a:rPr dirty="0" sz="1200" spc="-25">
                <a:latin typeface="Times New Roman"/>
                <a:cs typeface="Times New Roman"/>
              </a:rPr>
              <a:t>t.v.</a:t>
            </a:r>
            <a:endParaRPr sz="1200">
              <a:latin typeface="Times New Roman"/>
              <a:cs typeface="Times New Roman"/>
            </a:endParaRPr>
          </a:p>
          <a:p>
            <a:pPr marL="12700" marR="17780">
              <a:lnSpc>
                <a:spcPct val="100000"/>
              </a:lnSpc>
              <a:spcBef>
                <a:spcPts val="51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computational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minimum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spanning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tree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(MST)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problem.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Formally,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connected, undirected graph </a:t>
            </a:r>
            <a:r>
              <a:rPr dirty="0" sz="1200" spc="45">
                <a:latin typeface="Lucida Sans Unicode"/>
                <a:cs typeface="Lucida Sans Unicode"/>
              </a:rPr>
              <a:t>G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V, </a:t>
            </a:r>
            <a:r>
              <a:rPr dirty="0" sz="1200" spc="90">
                <a:latin typeface="Lucida Sans Unicode"/>
                <a:cs typeface="Lucida Sans Unicode"/>
              </a:rPr>
              <a:t>E</a:t>
            </a:r>
            <a:r>
              <a:rPr dirty="0" sz="1200" spc="9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Each edge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has numeric weight of cost.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define 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cost of a spanning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sum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costs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imes New Roman"/>
              <a:cs typeface="Times New Roman"/>
            </a:endParaRPr>
          </a:p>
          <a:p>
            <a:pPr algn="ctr" marL="26034">
              <a:lnSpc>
                <a:spcPct val="100000"/>
              </a:lnSpc>
            </a:pPr>
            <a:r>
              <a:rPr dirty="0" sz="1200" spc="975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927524" y="3434998"/>
            <a:ext cx="3962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Verdana"/>
                <a:cs typeface="Verdana"/>
              </a:rPr>
              <a:t>(</a:t>
            </a:r>
            <a:r>
              <a:rPr dirty="0" sz="800" spc="45">
                <a:latin typeface="Verdana"/>
                <a:cs typeface="Verdana"/>
              </a:rPr>
              <a:t>u</a:t>
            </a:r>
            <a:r>
              <a:rPr dirty="0" sz="800" spc="-55">
                <a:latin typeface="Verdana"/>
                <a:cs typeface="Verdana"/>
              </a:rPr>
              <a:t>,</a:t>
            </a:r>
            <a:r>
              <a:rPr dirty="0" sz="800" spc="-50">
                <a:latin typeface="Verdana"/>
                <a:cs typeface="Verdana"/>
              </a:rPr>
              <a:t>v</a:t>
            </a:r>
            <a:r>
              <a:rPr dirty="0" sz="800" spc="-50">
                <a:latin typeface="Verdana"/>
                <a:cs typeface="Verdana"/>
              </a:rPr>
              <a:t>)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-5">
                <a:latin typeface="Verdana"/>
                <a:cs typeface="Verdana"/>
              </a:rPr>
              <a:t>T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327118" y="3199567"/>
            <a:ext cx="507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5">
                <a:latin typeface="Lucida Sans Unicode"/>
                <a:cs typeface="Lucida Sans Unicode"/>
              </a:rPr>
              <a:t>u,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01661" y="4014070"/>
            <a:ext cx="6416675" cy="70675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5">
                <a:latin typeface="Times New Roman"/>
                <a:cs typeface="Times New Roman"/>
              </a:rPr>
              <a:t>A minimum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 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tree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minimum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weight.</a:t>
            </a:r>
            <a:endParaRPr sz="1200">
              <a:latin typeface="Times New Roman"/>
              <a:cs typeface="Times New Roman"/>
            </a:endParaRPr>
          </a:p>
          <a:p>
            <a:pPr marL="12700" marR="5080" indent="-635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Figures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??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??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??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spanning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spanning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MST;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914400" y="5103566"/>
            <a:ext cx="2272665" cy="1859280"/>
            <a:chOff x="914400" y="5103566"/>
            <a:chExt cx="2272665" cy="1859280"/>
          </a:xfrm>
        </p:grpSpPr>
        <p:sp>
          <p:nvSpPr>
            <p:cNvPr id="14" name="object 14"/>
            <p:cNvSpPr/>
            <p:nvPr/>
          </p:nvSpPr>
          <p:spPr>
            <a:xfrm>
              <a:off x="914400" y="5103566"/>
              <a:ext cx="2272665" cy="1859280"/>
            </a:xfrm>
            <a:custGeom>
              <a:avLst/>
              <a:gdLst/>
              <a:ahLst/>
              <a:cxnLst/>
              <a:rect l="l" t="t" r="r" b="b"/>
              <a:pathLst>
                <a:path w="2272665" h="1859279">
                  <a:moveTo>
                    <a:pt x="2272055" y="0"/>
                  </a:moveTo>
                  <a:lnTo>
                    <a:pt x="0" y="0"/>
                  </a:lnTo>
                  <a:lnTo>
                    <a:pt x="0" y="1859081"/>
                  </a:lnTo>
                  <a:lnTo>
                    <a:pt x="2272055" y="1859081"/>
                  </a:lnTo>
                  <a:lnTo>
                    <a:pt x="2272055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078992" y="5376049"/>
              <a:ext cx="1943735" cy="981710"/>
            </a:xfrm>
            <a:custGeom>
              <a:avLst/>
              <a:gdLst/>
              <a:ahLst/>
              <a:cxnLst/>
              <a:rect l="l" t="t" r="r" b="b"/>
              <a:pathLst>
                <a:path w="1943735" h="981710">
                  <a:moveTo>
                    <a:pt x="961288" y="607275"/>
                  </a:moveTo>
                  <a:lnTo>
                    <a:pt x="898753" y="533336"/>
                  </a:lnTo>
                  <a:lnTo>
                    <a:pt x="491261" y="875169"/>
                  </a:lnTo>
                  <a:lnTo>
                    <a:pt x="491261" y="137655"/>
                  </a:lnTo>
                  <a:lnTo>
                    <a:pt x="422440" y="137655"/>
                  </a:lnTo>
                  <a:lnTo>
                    <a:pt x="356743" y="71958"/>
                  </a:lnTo>
                  <a:lnTo>
                    <a:pt x="0" y="428713"/>
                  </a:lnTo>
                  <a:lnTo>
                    <a:pt x="68440" y="496760"/>
                  </a:lnTo>
                  <a:lnTo>
                    <a:pt x="396468" y="168363"/>
                  </a:lnTo>
                  <a:lnTo>
                    <a:pt x="396468" y="914869"/>
                  </a:lnTo>
                  <a:lnTo>
                    <a:pt x="491121" y="914869"/>
                  </a:lnTo>
                  <a:lnTo>
                    <a:pt x="534136" y="966000"/>
                  </a:lnTo>
                  <a:lnTo>
                    <a:pt x="961288" y="607275"/>
                  </a:lnTo>
                  <a:close/>
                </a:path>
                <a:path w="1943735" h="981710">
                  <a:moveTo>
                    <a:pt x="1426591" y="0"/>
                  </a:moveTo>
                  <a:lnTo>
                    <a:pt x="519582" y="0"/>
                  </a:lnTo>
                  <a:lnTo>
                    <a:pt x="519582" y="98323"/>
                  </a:lnTo>
                  <a:lnTo>
                    <a:pt x="1426591" y="98323"/>
                  </a:lnTo>
                  <a:lnTo>
                    <a:pt x="1426591" y="0"/>
                  </a:lnTo>
                  <a:close/>
                </a:path>
                <a:path w="1943735" h="981710">
                  <a:moveTo>
                    <a:pt x="1941855" y="629323"/>
                  </a:moveTo>
                  <a:lnTo>
                    <a:pt x="1873808" y="561657"/>
                  </a:lnTo>
                  <a:lnTo>
                    <a:pt x="1522183" y="912901"/>
                  </a:lnTo>
                  <a:lnTo>
                    <a:pt x="1589836" y="981329"/>
                  </a:lnTo>
                  <a:lnTo>
                    <a:pt x="1941855" y="629323"/>
                  </a:lnTo>
                  <a:close/>
                </a:path>
                <a:path w="1943735" h="981710">
                  <a:moveTo>
                    <a:pt x="1943430" y="416521"/>
                  </a:moveTo>
                  <a:lnTo>
                    <a:pt x="1605559" y="78257"/>
                  </a:lnTo>
                  <a:lnTo>
                    <a:pt x="1537512" y="146304"/>
                  </a:lnTo>
                  <a:lnTo>
                    <a:pt x="1875383" y="484174"/>
                  </a:lnTo>
                  <a:lnTo>
                    <a:pt x="1943430" y="416521"/>
                  </a:lnTo>
                  <a:close/>
                </a:path>
              </a:pathLst>
            </a:custGeom>
            <a:solidFill>
              <a:srgbClr val="FF8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35306" y="5794340"/>
              <a:ext cx="198626" cy="206093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9850" y="5794340"/>
              <a:ext cx="199022" cy="206093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1019494" y="5816041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423419" y="5322105"/>
            <a:ext cx="1257300" cy="1150620"/>
            <a:chOff x="1423419" y="5322105"/>
            <a:chExt cx="1257300" cy="1150620"/>
          </a:xfrm>
        </p:grpSpPr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3419" y="5322105"/>
              <a:ext cx="199035" cy="205721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81903" y="5322105"/>
              <a:ext cx="198635" cy="205721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3419" y="6266128"/>
              <a:ext cx="199035" cy="206118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81903" y="6266128"/>
              <a:ext cx="198635" cy="206118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1522738" y="5424974"/>
              <a:ext cx="1058545" cy="944880"/>
            </a:xfrm>
            <a:custGeom>
              <a:avLst/>
              <a:gdLst/>
              <a:ahLst/>
              <a:cxnLst/>
              <a:rect l="l" t="t" r="r" b="b"/>
              <a:pathLst>
                <a:path w="1058545" h="944879">
                  <a:moveTo>
                    <a:pt x="94800" y="0"/>
                  </a:moveTo>
                  <a:lnTo>
                    <a:pt x="964082" y="0"/>
                  </a:lnTo>
                </a:path>
                <a:path w="1058545" h="944879">
                  <a:moveTo>
                    <a:pt x="1058482" y="98332"/>
                  </a:moveTo>
                  <a:lnTo>
                    <a:pt x="1058482" y="845689"/>
                  </a:lnTo>
                </a:path>
                <a:path w="1058545" h="944879">
                  <a:moveTo>
                    <a:pt x="94800" y="944418"/>
                  </a:moveTo>
                  <a:lnTo>
                    <a:pt x="964082" y="944418"/>
                  </a:lnTo>
                </a:path>
                <a:path w="1058545" h="944879">
                  <a:moveTo>
                    <a:pt x="0" y="98332"/>
                  </a:moveTo>
                  <a:lnTo>
                    <a:pt x="0" y="845689"/>
                  </a:lnTo>
                </a:path>
              </a:pathLst>
            </a:custGeom>
            <a:ln w="983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1479365" y="5343416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7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477005" y="6287876"/>
            <a:ext cx="74930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75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551274" y="6305184"/>
            <a:ext cx="53340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7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531999" y="5346956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7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983971" y="5798142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750">
              <a:latin typeface="Arial"/>
              <a:cs typeface="Arial"/>
            </a:endParaRPr>
          </a:p>
        </p:txBody>
      </p:sp>
      <p:pic>
        <p:nvPicPr>
          <p:cNvPr id="30" name="object 3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971427" y="5793909"/>
            <a:ext cx="199040" cy="206112"/>
          </a:xfrm>
          <a:prstGeom prst="rect">
            <a:avLst/>
          </a:prstGeom>
        </p:spPr>
      </p:pic>
      <p:sp>
        <p:nvSpPr>
          <p:cNvPr id="31" name="object 31"/>
          <p:cNvSpPr txBox="1"/>
          <p:nvPr/>
        </p:nvSpPr>
        <p:spPr>
          <a:xfrm>
            <a:off x="2020297" y="5815613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750">
              <a:latin typeface="Arial"/>
              <a:cs typeface="Arial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1122019" y="5484686"/>
            <a:ext cx="1856105" cy="828040"/>
          </a:xfrm>
          <a:custGeom>
            <a:avLst/>
            <a:gdLst/>
            <a:ahLst/>
            <a:cxnLst/>
            <a:rect l="l" t="t" r="r" b="b"/>
            <a:pathLst>
              <a:path w="1856105" h="828039">
                <a:moveTo>
                  <a:pt x="5900" y="334379"/>
                </a:moveTo>
                <a:lnTo>
                  <a:pt x="334371" y="6294"/>
                </a:lnTo>
              </a:path>
              <a:path w="1856105" h="828039">
                <a:moveTo>
                  <a:pt x="0" y="493688"/>
                </a:moveTo>
                <a:lnTo>
                  <a:pt x="323749" y="827671"/>
                </a:lnTo>
              </a:path>
              <a:path w="1856105" h="828039">
                <a:moveTo>
                  <a:pt x="1529450" y="817840"/>
                </a:moveTo>
                <a:lnTo>
                  <a:pt x="1855964" y="490945"/>
                </a:lnTo>
              </a:path>
              <a:path w="1856105" h="828039">
                <a:moveTo>
                  <a:pt x="1534571" y="0"/>
                </a:moveTo>
                <a:lnTo>
                  <a:pt x="1855172" y="333982"/>
                </a:lnTo>
              </a:path>
              <a:path w="1856105" h="828039">
                <a:moveTo>
                  <a:pt x="467722" y="9450"/>
                </a:moveTo>
                <a:lnTo>
                  <a:pt x="874486" y="351678"/>
                </a:lnTo>
              </a:path>
              <a:path w="1856105" h="828039">
                <a:moveTo>
                  <a:pt x="1020809" y="475992"/>
                </a:moveTo>
                <a:lnTo>
                  <a:pt x="1398064" y="809183"/>
                </a:lnTo>
              </a:path>
              <a:path w="1856105" h="828039">
                <a:moveTo>
                  <a:pt x="1020809" y="347746"/>
                </a:moveTo>
                <a:lnTo>
                  <a:pt x="1389803" y="6294"/>
                </a:lnTo>
              </a:path>
              <a:path w="1856105" h="828039">
                <a:moveTo>
                  <a:pt x="872900" y="470490"/>
                </a:moveTo>
                <a:lnTo>
                  <a:pt x="467722" y="814685"/>
                </a:lnTo>
              </a:path>
            </a:pathLst>
          </a:custGeom>
          <a:ln w="9834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 txBox="1"/>
          <p:nvPr/>
        </p:nvSpPr>
        <p:spPr>
          <a:xfrm>
            <a:off x="1348885" y="5832699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7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119929" y="5517981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101045" y="6147414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75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820966" y="6147414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811907" y="6147414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992476" y="5202871"/>
            <a:ext cx="13525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75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159669" y="6147414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75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811907" y="5517981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75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008211" y="6427512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75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601845" y="5832699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215925" y="5517981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75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851648" y="5517981"/>
            <a:ext cx="806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850067" y="6698561"/>
            <a:ext cx="449580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Cost</a:t>
            </a:r>
            <a:r>
              <a:rPr dirty="0" sz="750" spc="-3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=</a:t>
            </a:r>
            <a:r>
              <a:rPr dirty="0" sz="750" spc="-2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33</a:t>
            </a:r>
            <a:endParaRPr sz="75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01822" y="7027172"/>
            <a:ext cx="185483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Figure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8.42: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spanning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5" i="1">
                <a:latin typeface="Times New Roman"/>
                <a:cs typeface="Times New Roman"/>
              </a:rPr>
              <a:t>not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MST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7" name="object 47"/>
          <p:cNvGrpSpPr/>
          <p:nvPr/>
        </p:nvGrpSpPr>
        <p:grpSpPr>
          <a:xfrm>
            <a:off x="3200963" y="5102582"/>
            <a:ext cx="2360930" cy="1859914"/>
            <a:chOff x="3200963" y="5102582"/>
            <a:chExt cx="2360930" cy="1859914"/>
          </a:xfrm>
        </p:grpSpPr>
        <p:sp>
          <p:nvSpPr>
            <p:cNvPr id="48" name="object 48"/>
            <p:cNvSpPr/>
            <p:nvPr/>
          </p:nvSpPr>
          <p:spPr>
            <a:xfrm>
              <a:off x="3200963" y="5102582"/>
              <a:ext cx="2360930" cy="1859914"/>
            </a:xfrm>
            <a:custGeom>
              <a:avLst/>
              <a:gdLst/>
              <a:ahLst/>
              <a:cxnLst/>
              <a:rect l="l" t="t" r="r" b="b"/>
              <a:pathLst>
                <a:path w="2360929" h="1859915">
                  <a:moveTo>
                    <a:pt x="2360588" y="0"/>
                  </a:moveTo>
                  <a:lnTo>
                    <a:pt x="0" y="0"/>
                  </a:lnTo>
                  <a:lnTo>
                    <a:pt x="0" y="1859409"/>
                  </a:lnTo>
                  <a:lnTo>
                    <a:pt x="2360588" y="1859409"/>
                  </a:lnTo>
                  <a:lnTo>
                    <a:pt x="2360588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3377006" y="5439193"/>
              <a:ext cx="2003425" cy="979169"/>
            </a:xfrm>
            <a:custGeom>
              <a:avLst/>
              <a:gdLst/>
              <a:ahLst/>
              <a:cxnLst/>
              <a:rect l="l" t="t" r="r" b="b"/>
              <a:pathLst>
                <a:path w="2003425" h="979170">
                  <a:moveTo>
                    <a:pt x="421957" y="69850"/>
                  </a:moveTo>
                  <a:lnTo>
                    <a:pt x="352501" y="0"/>
                  </a:lnTo>
                  <a:lnTo>
                    <a:pt x="3632" y="348869"/>
                  </a:lnTo>
                  <a:lnTo>
                    <a:pt x="73088" y="418325"/>
                  </a:lnTo>
                  <a:lnTo>
                    <a:pt x="421957" y="69850"/>
                  </a:lnTo>
                  <a:close/>
                </a:path>
                <a:path w="2003425" h="979170">
                  <a:moveTo>
                    <a:pt x="428015" y="861275"/>
                  </a:moveTo>
                  <a:lnTo>
                    <a:pt x="69443" y="502704"/>
                  </a:lnTo>
                  <a:lnTo>
                    <a:pt x="0" y="571754"/>
                  </a:lnTo>
                  <a:lnTo>
                    <a:pt x="358965" y="930719"/>
                  </a:lnTo>
                  <a:lnTo>
                    <a:pt x="428015" y="861275"/>
                  </a:lnTo>
                  <a:close/>
                </a:path>
                <a:path w="2003425" h="979170">
                  <a:moveTo>
                    <a:pt x="1477060" y="881049"/>
                  </a:moveTo>
                  <a:lnTo>
                    <a:pt x="582536" y="881049"/>
                  </a:lnTo>
                  <a:lnTo>
                    <a:pt x="981202" y="546722"/>
                  </a:lnTo>
                  <a:lnTo>
                    <a:pt x="918210" y="471627"/>
                  </a:lnTo>
                  <a:lnTo>
                    <a:pt x="485343" y="834212"/>
                  </a:lnTo>
                  <a:lnTo>
                    <a:pt x="533400" y="891819"/>
                  </a:lnTo>
                  <a:lnTo>
                    <a:pt x="533400" y="979170"/>
                  </a:lnTo>
                  <a:lnTo>
                    <a:pt x="1477060" y="979170"/>
                  </a:lnTo>
                  <a:lnTo>
                    <a:pt x="1477060" y="881049"/>
                  </a:lnTo>
                  <a:close/>
                </a:path>
                <a:path w="2003425" h="979170">
                  <a:moveTo>
                    <a:pt x="2003183" y="551967"/>
                  </a:moveTo>
                  <a:lnTo>
                    <a:pt x="1933333" y="482917"/>
                  </a:lnTo>
                  <a:lnTo>
                    <a:pt x="1596986" y="819277"/>
                  </a:lnTo>
                  <a:lnTo>
                    <a:pt x="1596986" y="75095"/>
                  </a:lnTo>
                  <a:lnTo>
                    <a:pt x="1498866" y="75095"/>
                  </a:lnTo>
                  <a:lnTo>
                    <a:pt x="1498866" y="851573"/>
                  </a:lnTo>
                  <a:lnTo>
                    <a:pt x="1585645" y="851573"/>
                  </a:lnTo>
                  <a:lnTo>
                    <a:pt x="1644624" y="910539"/>
                  </a:lnTo>
                  <a:lnTo>
                    <a:pt x="2003183" y="551967"/>
                  </a:lnTo>
                  <a:close/>
                </a:path>
              </a:pathLst>
            </a:custGeom>
            <a:solidFill>
              <a:srgbClr val="3117E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300854" y="5794720"/>
              <a:ext cx="206740" cy="20593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257283" y="5794720"/>
              <a:ext cx="206740" cy="205932"/>
            </a:xfrm>
            <a:prstGeom prst="rect">
              <a:avLst/>
            </a:prstGeom>
          </p:spPr>
        </p:pic>
      </p:grpSp>
      <p:sp>
        <p:nvSpPr>
          <p:cNvPr id="52" name="object 52"/>
          <p:cNvSpPr txBox="1"/>
          <p:nvPr/>
        </p:nvSpPr>
        <p:spPr>
          <a:xfrm>
            <a:off x="3309807" y="5814504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3729070" y="5322859"/>
            <a:ext cx="1307465" cy="1149985"/>
            <a:chOff x="3729070" y="5322859"/>
            <a:chExt cx="1307465" cy="1149985"/>
          </a:xfrm>
        </p:grpSpPr>
        <p:pic>
          <p:nvPicPr>
            <p:cNvPr id="54" name="object 5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29070" y="5322859"/>
              <a:ext cx="206353" cy="205941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829442" y="5322859"/>
              <a:ext cx="206749" cy="205941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729070" y="6266149"/>
              <a:ext cx="206353" cy="206337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829442" y="6266149"/>
              <a:ext cx="206749" cy="206337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3832255" y="5426028"/>
              <a:ext cx="1101090" cy="943610"/>
            </a:xfrm>
            <a:custGeom>
              <a:avLst/>
              <a:gdLst/>
              <a:ahLst/>
              <a:cxnLst/>
              <a:rect l="l" t="t" r="r" b="b"/>
              <a:pathLst>
                <a:path w="1101089" h="943610">
                  <a:moveTo>
                    <a:pt x="98121" y="0"/>
                  </a:moveTo>
                  <a:lnTo>
                    <a:pt x="1002235" y="0"/>
                  </a:lnTo>
                </a:path>
                <a:path w="1101089" h="943610">
                  <a:moveTo>
                    <a:pt x="1100768" y="98121"/>
                  </a:moveTo>
                  <a:lnTo>
                    <a:pt x="1100768" y="844756"/>
                  </a:lnTo>
                </a:path>
                <a:path w="1101089" h="943610">
                  <a:moveTo>
                    <a:pt x="98121" y="943289"/>
                  </a:moveTo>
                  <a:lnTo>
                    <a:pt x="1002235" y="943289"/>
                  </a:lnTo>
                </a:path>
                <a:path w="1101089" h="943610">
                  <a:moveTo>
                    <a:pt x="0" y="98121"/>
                  </a:moveTo>
                  <a:lnTo>
                    <a:pt x="0" y="844756"/>
                  </a:lnTo>
                </a:path>
              </a:pathLst>
            </a:custGeom>
            <a:ln w="100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" name="object 59"/>
          <p:cNvSpPr txBox="1"/>
          <p:nvPr/>
        </p:nvSpPr>
        <p:spPr>
          <a:xfrm>
            <a:off x="3788061" y="5342646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8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785638" y="6285977"/>
            <a:ext cx="76200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8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902612" y="6302937"/>
            <a:ext cx="5397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8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882421" y="5360010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8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352874" y="5796543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800">
              <a:latin typeface="Arial"/>
              <a:cs typeface="Arial"/>
            </a:endParaRPr>
          </a:p>
        </p:txBody>
      </p:sp>
      <p:pic>
        <p:nvPicPr>
          <p:cNvPr id="64" name="object 64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299041" y="5794288"/>
            <a:ext cx="206743" cy="205950"/>
          </a:xfrm>
          <a:prstGeom prst="rect">
            <a:avLst/>
          </a:prstGeom>
        </p:spPr>
      </p:pic>
      <p:sp>
        <p:nvSpPr>
          <p:cNvPr id="65" name="object 65"/>
          <p:cNvSpPr txBox="1"/>
          <p:nvPr/>
        </p:nvSpPr>
        <p:spPr>
          <a:xfrm>
            <a:off x="4326523" y="5814076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800">
              <a:latin typeface="Arial"/>
              <a:cs typeface="Arial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3415421" y="5480080"/>
            <a:ext cx="1929764" cy="832485"/>
          </a:xfrm>
          <a:custGeom>
            <a:avLst/>
            <a:gdLst/>
            <a:ahLst/>
            <a:cxnLst/>
            <a:rect l="l" t="t" r="r" b="b"/>
            <a:pathLst>
              <a:path w="1929764" h="832485">
                <a:moveTo>
                  <a:pt x="6052" y="339636"/>
                </a:moveTo>
                <a:lnTo>
                  <a:pt x="335581" y="0"/>
                </a:lnTo>
              </a:path>
              <a:path w="1929764" h="832485">
                <a:moveTo>
                  <a:pt x="0" y="498745"/>
                </a:moveTo>
                <a:lnTo>
                  <a:pt x="336801" y="832314"/>
                </a:lnTo>
              </a:path>
              <a:path w="1929764" h="832485">
                <a:moveTo>
                  <a:pt x="1590326" y="822222"/>
                </a:moveTo>
                <a:lnTo>
                  <a:pt x="1925511" y="491473"/>
                </a:lnTo>
              </a:path>
              <a:path w="1929764" h="832485">
                <a:moveTo>
                  <a:pt x="1595570" y="5259"/>
                </a:moveTo>
                <a:lnTo>
                  <a:pt x="1929551" y="338828"/>
                </a:lnTo>
              </a:path>
              <a:path w="1929764" h="832485">
                <a:moveTo>
                  <a:pt x="486625" y="14939"/>
                </a:moveTo>
                <a:lnTo>
                  <a:pt x="909849" y="356588"/>
                </a:lnTo>
              </a:path>
              <a:path w="1929764" h="832485">
                <a:moveTo>
                  <a:pt x="1061701" y="480970"/>
                </a:moveTo>
                <a:lnTo>
                  <a:pt x="1454221" y="813746"/>
                </a:lnTo>
              </a:path>
              <a:path w="1929764" h="832485">
                <a:moveTo>
                  <a:pt x="1061701" y="352960"/>
                </a:moveTo>
                <a:lnTo>
                  <a:pt x="1444937" y="11707"/>
                </a:lnTo>
              </a:path>
              <a:path w="1929764" h="832485">
                <a:moveTo>
                  <a:pt x="907836" y="475329"/>
                </a:moveTo>
                <a:lnTo>
                  <a:pt x="486625" y="819402"/>
                </a:lnTo>
              </a:path>
            </a:pathLst>
          </a:custGeom>
          <a:ln w="10095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/>
          <p:cNvSpPr txBox="1"/>
          <p:nvPr/>
        </p:nvSpPr>
        <p:spPr>
          <a:xfrm>
            <a:off x="3677339" y="5831227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8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414427" y="5516621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80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394637" y="6145429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80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183325" y="6145429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4134101" y="6145429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4322299" y="5202420"/>
            <a:ext cx="13779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80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4495151" y="6145429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8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4134101" y="5516621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80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4338453" y="6425302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966856" y="5831226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554516" y="5516620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80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215231" y="5516620"/>
            <a:ext cx="81915" cy="146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188694" y="6695888"/>
            <a:ext cx="1854835" cy="7219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00125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Cost</a:t>
            </a:r>
            <a:r>
              <a:rPr dirty="0" sz="800" spc="-3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=</a:t>
            </a:r>
            <a:r>
              <a:rPr dirty="0" sz="800" spc="-3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22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6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spcBef>
                <a:spcPts val="5"/>
              </a:spcBef>
              <a:tabLst>
                <a:tab pos="1028065" algn="l"/>
              </a:tabLst>
            </a:pPr>
            <a:r>
              <a:rPr dirty="0" sz="1200" spc="-5">
                <a:latin typeface="Times New Roman"/>
                <a:cs typeface="Times New Roman"/>
              </a:rPr>
              <a:t>Figure</a:t>
            </a:r>
            <a:r>
              <a:rPr dirty="0" sz="1200" spc="6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8.43:	A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minimum </a:t>
            </a:r>
            <a:r>
              <a:rPr dirty="0" sz="1200" spc="-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spanning tree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80" name="object 80"/>
          <p:cNvGrpSpPr/>
          <p:nvPr/>
        </p:nvGrpSpPr>
        <p:grpSpPr>
          <a:xfrm>
            <a:off x="5532867" y="5109440"/>
            <a:ext cx="2023745" cy="1859914"/>
            <a:chOff x="5532867" y="5109440"/>
            <a:chExt cx="2023745" cy="1859914"/>
          </a:xfrm>
        </p:grpSpPr>
        <p:sp>
          <p:nvSpPr>
            <p:cNvPr id="81" name="object 81"/>
            <p:cNvSpPr/>
            <p:nvPr/>
          </p:nvSpPr>
          <p:spPr>
            <a:xfrm>
              <a:off x="5532867" y="5109440"/>
              <a:ext cx="2023745" cy="1859914"/>
            </a:xfrm>
            <a:custGeom>
              <a:avLst/>
              <a:gdLst/>
              <a:ahLst/>
              <a:cxnLst/>
              <a:rect l="l" t="t" r="r" b="b"/>
              <a:pathLst>
                <a:path w="2023745" h="1859915">
                  <a:moveTo>
                    <a:pt x="0" y="1859736"/>
                  </a:moveTo>
                  <a:lnTo>
                    <a:pt x="2023632" y="1859736"/>
                  </a:lnTo>
                  <a:lnTo>
                    <a:pt x="2023632" y="0"/>
                  </a:lnTo>
                  <a:lnTo>
                    <a:pt x="0" y="0"/>
                  </a:lnTo>
                  <a:lnTo>
                    <a:pt x="0" y="1859736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5673522" y="5381459"/>
              <a:ext cx="1883410" cy="1024890"/>
            </a:xfrm>
            <a:custGeom>
              <a:avLst/>
              <a:gdLst/>
              <a:ahLst/>
              <a:cxnLst/>
              <a:rect l="l" t="t" r="r" b="b"/>
              <a:pathLst>
                <a:path w="1883409" h="1024889">
                  <a:moveTo>
                    <a:pt x="434238" y="71640"/>
                  </a:moveTo>
                  <a:lnTo>
                    <a:pt x="362153" y="0"/>
                  </a:lnTo>
                  <a:lnTo>
                    <a:pt x="0" y="361721"/>
                  </a:lnTo>
                  <a:lnTo>
                    <a:pt x="72529" y="434238"/>
                  </a:lnTo>
                  <a:lnTo>
                    <a:pt x="434238" y="71640"/>
                  </a:lnTo>
                  <a:close/>
                </a:path>
                <a:path w="1883409" h="1024889">
                  <a:moveTo>
                    <a:pt x="1014399" y="399961"/>
                  </a:moveTo>
                  <a:lnTo>
                    <a:pt x="561263" y="19329"/>
                  </a:lnTo>
                  <a:lnTo>
                    <a:pt x="495338" y="97574"/>
                  </a:lnTo>
                  <a:lnTo>
                    <a:pt x="948918" y="478193"/>
                  </a:lnTo>
                  <a:lnTo>
                    <a:pt x="1014399" y="399961"/>
                  </a:lnTo>
                  <a:close/>
                </a:path>
                <a:path w="1883409" h="1024889">
                  <a:moveTo>
                    <a:pt x="1540497" y="922540"/>
                  </a:moveTo>
                  <a:lnTo>
                    <a:pt x="592226" y="922540"/>
                  </a:lnTo>
                  <a:lnTo>
                    <a:pt x="1015288" y="567423"/>
                  </a:lnTo>
                  <a:lnTo>
                    <a:pt x="949363" y="489178"/>
                  </a:lnTo>
                  <a:lnTo>
                    <a:pt x="506336" y="861453"/>
                  </a:lnTo>
                  <a:lnTo>
                    <a:pt x="560819" y="926566"/>
                  </a:lnTo>
                  <a:lnTo>
                    <a:pt x="560819" y="1024509"/>
                  </a:lnTo>
                  <a:lnTo>
                    <a:pt x="1540497" y="1024509"/>
                  </a:lnTo>
                  <a:lnTo>
                    <a:pt x="1540497" y="922540"/>
                  </a:lnTo>
                  <a:close/>
                </a:path>
                <a:path w="1883409" h="1024889">
                  <a:moveTo>
                    <a:pt x="1882965" y="622134"/>
                  </a:moveTo>
                  <a:lnTo>
                    <a:pt x="1662696" y="842137"/>
                  </a:lnTo>
                  <a:lnTo>
                    <a:pt x="1662696" y="85712"/>
                  </a:lnTo>
                  <a:lnTo>
                    <a:pt x="1560728" y="85712"/>
                  </a:lnTo>
                  <a:lnTo>
                    <a:pt x="1560728" y="892225"/>
                  </a:lnTo>
                  <a:lnTo>
                    <a:pt x="1651279" y="892225"/>
                  </a:lnTo>
                  <a:lnTo>
                    <a:pt x="1704454" y="945400"/>
                  </a:lnTo>
                  <a:lnTo>
                    <a:pt x="1882965" y="766660"/>
                  </a:lnTo>
                  <a:lnTo>
                    <a:pt x="1882965" y="622134"/>
                  </a:lnTo>
                  <a:close/>
                </a:path>
              </a:pathLst>
            </a:custGeom>
            <a:solidFill>
              <a:srgbClr val="3117E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" name="object 8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544976" y="5749550"/>
              <a:ext cx="215352" cy="215367"/>
            </a:xfrm>
            <a:prstGeom prst="rect">
              <a:avLst/>
            </a:prstGeom>
          </p:spPr>
        </p:pic>
      </p:grpSp>
      <p:sp>
        <p:nvSpPr>
          <p:cNvPr id="84" name="object 84"/>
          <p:cNvSpPr txBox="1"/>
          <p:nvPr/>
        </p:nvSpPr>
        <p:spPr>
          <a:xfrm>
            <a:off x="5598866" y="5767381"/>
            <a:ext cx="8699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850">
              <a:latin typeface="Arial"/>
              <a:cs typeface="Arial"/>
            </a:endParaRPr>
          </a:p>
        </p:txBody>
      </p:sp>
      <p:grpSp>
        <p:nvGrpSpPr>
          <p:cNvPr id="85" name="object 85"/>
          <p:cNvGrpSpPr/>
          <p:nvPr/>
        </p:nvGrpSpPr>
        <p:grpSpPr>
          <a:xfrm>
            <a:off x="6035304" y="5259691"/>
            <a:ext cx="1358265" cy="1195070"/>
            <a:chOff x="6035304" y="5259691"/>
            <a:chExt cx="1358265" cy="1195070"/>
          </a:xfrm>
        </p:grpSpPr>
        <p:pic>
          <p:nvPicPr>
            <p:cNvPr id="86" name="object 8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035304" y="5259691"/>
              <a:ext cx="214919" cy="215361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178085" y="5259691"/>
              <a:ext cx="215376" cy="215361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035304" y="6239417"/>
              <a:ext cx="214919" cy="214934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178085" y="6239417"/>
              <a:ext cx="215376" cy="214934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6142763" y="5367593"/>
              <a:ext cx="1143000" cy="979805"/>
            </a:xfrm>
            <a:custGeom>
              <a:avLst/>
              <a:gdLst/>
              <a:ahLst/>
              <a:cxnLst/>
              <a:rect l="l" t="t" r="r" b="b"/>
              <a:pathLst>
                <a:path w="1143000" h="979804">
                  <a:moveTo>
                    <a:pt x="101965" y="0"/>
                  </a:moveTo>
                  <a:lnTo>
                    <a:pt x="1040816" y="0"/>
                  </a:lnTo>
                </a:path>
                <a:path w="1143000" h="979804">
                  <a:moveTo>
                    <a:pt x="1142797" y="101965"/>
                  </a:moveTo>
                  <a:lnTo>
                    <a:pt x="1142797" y="877317"/>
                  </a:lnTo>
                </a:path>
                <a:path w="1143000" h="979804">
                  <a:moveTo>
                    <a:pt x="101965" y="979725"/>
                  </a:moveTo>
                  <a:lnTo>
                    <a:pt x="1040816" y="979725"/>
                  </a:lnTo>
                </a:path>
                <a:path w="1143000" h="979804">
                  <a:moveTo>
                    <a:pt x="0" y="101965"/>
                  </a:moveTo>
                  <a:lnTo>
                    <a:pt x="0" y="877317"/>
                  </a:lnTo>
                </a:path>
              </a:pathLst>
            </a:custGeom>
            <a:ln w="1098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1" name="object 91"/>
          <p:cNvSpPr txBox="1"/>
          <p:nvPr/>
        </p:nvSpPr>
        <p:spPr>
          <a:xfrm>
            <a:off x="6095359" y="5277512"/>
            <a:ext cx="8699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85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6093161" y="6257282"/>
            <a:ext cx="8064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850">
              <a:latin typeface="Arial"/>
              <a:cs typeface="Arial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7253589" y="6275303"/>
            <a:ext cx="5651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85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7232050" y="5295533"/>
            <a:ext cx="8699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850">
              <a:latin typeface="Arial"/>
              <a:cs typeface="Arial"/>
            </a:endParaRPr>
          </a:p>
        </p:txBody>
      </p:sp>
      <p:pic>
        <p:nvPicPr>
          <p:cNvPr id="95" name="object 95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6627202" y="5749116"/>
            <a:ext cx="215386" cy="215386"/>
          </a:xfrm>
          <a:prstGeom prst="rect">
            <a:avLst/>
          </a:prstGeom>
        </p:spPr>
      </p:pic>
      <p:sp>
        <p:nvSpPr>
          <p:cNvPr id="96" name="object 96"/>
          <p:cNvSpPr txBox="1"/>
          <p:nvPr/>
        </p:nvSpPr>
        <p:spPr>
          <a:xfrm>
            <a:off x="6683314" y="5766949"/>
            <a:ext cx="8699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850">
              <a:latin typeface="Arial"/>
              <a:cs typeface="Arial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5709882" y="5423387"/>
            <a:ext cx="1847214" cy="864869"/>
          </a:xfrm>
          <a:custGeom>
            <a:avLst/>
            <a:gdLst/>
            <a:ahLst/>
            <a:cxnLst/>
            <a:rect l="l" t="t" r="r" b="b"/>
            <a:pathLst>
              <a:path w="1847215" h="864870">
                <a:moveTo>
                  <a:pt x="6602" y="352976"/>
                </a:moveTo>
                <a:lnTo>
                  <a:pt x="348585" y="0"/>
                </a:lnTo>
              </a:path>
              <a:path w="1847215" h="864870">
                <a:moveTo>
                  <a:pt x="0" y="518258"/>
                </a:moveTo>
                <a:lnTo>
                  <a:pt x="349896" y="864648"/>
                </a:lnTo>
              </a:path>
              <a:path w="1847215" h="864870">
                <a:moveTo>
                  <a:pt x="1651931" y="854097"/>
                </a:moveTo>
                <a:lnTo>
                  <a:pt x="1846618" y="662113"/>
                </a:lnTo>
              </a:path>
              <a:path w="1847215" h="864870">
                <a:moveTo>
                  <a:pt x="1657206" y="5717"/>
                </a:moveTo>
                <a:lnTo>
                  <a:pt x="1846618" y="195129"/>
                </a:lnTo>
              </a:path>
              <a:path w="1847215" h="864870">
                <a:moveTo>
                  <a:pt x="505511" y="15384"/>
                </a:moveTo>
                <a:lnTo>
                  <a:pt x="944651" y="370557"/>
                </a:lnTo>
              </a:path>
              <a:path w="1847215" h="864870">
                <a:moveTo>
                  <a:pt x="1102888" y="499793"/>
                </a:moveTo>
                <a:lnTo>
                  <a:pt x="1510816" y="845299"/>
                </a:lnTo>
              </a:path>
              <a:path w="1847215" h="864870">
                <a:moveTo>
                  <a:pt x="1102888" y="367050"/>
                </a:moveTo>
                <a:lnTo>
                  <a:pt x="1501150" y="11877"/>
                </a:lnTo>
              </a:path>
              <a:path w="1847215" h="864870">
                <a:moveTo>
                  <a:pt x="942882" y="493649"/>
                </a:moveTo>
                <a:lnTo>
                  <a:pt x="505511" y="851017"/>
                </a:lnTo>
              </a:path>
            </a:pathLst>
          </a:custGeom>
          <a:ln w="10989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/>
          <p:cNvSpPr txBox="1"/>
          <p:nvPr/>
        </p:nvSpPr>
        <p:spPr>
          <a:xfrm>
            <a:off x="5981160" y="5785194"/>
            <a:ext cx="8699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85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5707732" y="5458576"/>
            <a:ext cx="8699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85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5687510" y="6111814"/>
            <a:ext cx="8699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850">
              <a:latin typeface="Arial"/>
              <a:cs typeface="Arial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6455043" y="6111814"/>
            <a:ext cx="8699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850">
              <a:latin typeface="Arial"/>
              <a:cs typeface="Arial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6648904" y="5197896"/>
            <a:ext cx="14795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 i="1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850">
              <a:latin typeface="Arial"/>
              <a:cs typeface="Arial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6830457" y="6111814"/>
            <a:ext cx="8699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850">
              <a:latin typeface="Arial"/>
              <a:cs typeface="Arial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6455043" y="5458576"/>
            <a:ext cx="8699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850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6667367" y="6401946"/>
            <a:ext cx="8699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850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7307856" y="5785194"/>
            <a:ext cx="8699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850">
              <a:latin typeface="Arial"/>
              <a:cs typeface="Arial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6892000" y="5458576"/>
            <a:ext cx="86995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 i="1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850">
              <a:latin typeface="Arial"/>
              <a:cs typeface="Arial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6488011" y="6683286"/>
            <a:ext cx="499109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5">
                <a:solidFill>
                  <a:srgbClr val="FFFF00"/>
                </a:solidFill>
                <a:latin typeface="Arial"/>
                <a:cs typeface="Arial"/>
              </a:rPr>
              <a:t>Cost</a:t>
            </a:r>
            <a:r>
              <a:rPr dirty="0" sz="850" spc="-3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850" spc="5">
                <a:solidFill>
                  <a:srgbClr val="FFFF00"/>
                </a:solidFill>
                <a:latin typeface="Arial"/>
                <a:cs typeface="Arial"/>
              </a:rPr>
              <a:t>=</a:t>
            </a:r>
            <a:r>
              <a:rPr dirty="0" sz="850" spc="-3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850" spc="5">
                <a:solidFill>
                  <a:srgbClr val="FFFF00"/>
                </a:solidFill>
                <a:latin typeface="Arial"/>
                <a:cs typeface="Arial"/>
              </a:rPr>
              <a:t>22</a:t>
            </a:r>
            <a:endParaRPr sz="850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5476369" y="7025886"/>
            <a:ext cx="1855470" cy="3917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  <a:tabLst>
                <a:tab pos="933450" algn="l"/>
              </a:tabLst>
            </a:pPr>
            <a:r>
              <a:rPr dirty="0" sz="1200" spc="-5">
                <a:latin typeface="Times New Roman"/>
                <a:cs typeface="Times New Roman"/>
              </a:rPr>
              <a:t>Figure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8.44:	Another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mini-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spanning tree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901954" y="7424432"/>
            <a:ext cx="6315075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greedy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algorithms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(Kruskal’s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Prim’s)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MST.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Recall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builds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solution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repeatedly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cheapest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among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options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stage.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Once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 is made, it is </a:t>
            </a:r>
            <a:r>
              <a:rPr dirty="0" sz="1200" spc="-15">
                <a:latin typeface="Times New Roman"/>
                <a:cs typeface="Times New Roman"/>
              </a:rPr>
              <a:t>never</a:t>
            </a:r>
            <a:r>
              <a:rPr dirty="0" sz="1200" spc="-5">
                <a:latin typeface="Times New Roman"/>
                <a:cs typeface="Times New Roman"/>
              </a:rPr>
              <a:t> undone.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901954" y="8040491"/>
            <a:ext cx="4463415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Before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algorithms,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review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facts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free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trees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5399252" y="8099679"/>
            <a:ext cx="166878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free tree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901952" y="8224039"/>
            <a:ext cx="6430010" cy="758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vertex </a:t>
            </a:r>
            <a:r>
              <a:rPr dirty="0" sz="1200" spc="-5">
                <a:latin typeface="Times New Roman"/>
                <a:cs typeface="Times New Roman"/>
              </a:rPr>
              <a:t>designated as the root </a:t>
            </a:r>
            <a:r>
              <a:rPr dirty="0" sz="1200" spc="-10">
                <a:latin typeface="Times New Roman"/>
                <a:cs typeface="Times New Roman"/>
              </a:rPr>
              <a:t>vertex. </a:t>
            </a:r>
            <a:r>
              <a:rPr dirty="0" sz="1200" spc="-5">
                <a:latin typeface="Times New Roman"/>
                <a:cs typeface="Times New Roman"/>
              </a:rPr>
              <a:t>A free tree with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5">
                <a:latin typeface="Times New Roman"/>
                <a:cs typeface="Times New Roman"/>
              </a:rPr>
              <a:t>vertices has exactly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edges. There exists 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unique path between </a:t>
            </a:r>
            <a:r>
              <a:rPr dirty="0" sz="1200" spc="-10">
                <a:latin typeface="Times New Roman"/>
                <a:cs typeface="Times New Roman"/>
              </a:rPr>
              <a:t>any two </a:t>
            </a:r>
            <a:r>
              <a:rPr dirty="0" sz="1200" spc="-5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free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Adding </a:t>
            </a:r>
            <a:r>
              <a:rPr dirty="0" sz="1200" spc="-1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 creates a unique cycle.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Breaking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restores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illustrated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Figure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8.45.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Garamond"/>
                <a:cs typeface="Garamond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b,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e</a:t>
            </a:r>
            <a:r>
              <a:rPr dirty="0" sz="1200" spc="2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>
                <a:latin typeface="Garamond"/>
                <a:cs typeface="Garamond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b,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d</a:t>
            </a:r>
            <a:r>
              <a:rPr dirty="0" sz="1200" spc="35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added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free tree,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 is a cycle.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35775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8.5.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SPANNING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14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72411" y="938702"/>
            <a:ext cx="4648200" cy="3395345"/>
            <a:chOff x="1772411" y="938702"/>
            <a:chExt cx="4648200" cy="3395345"/>
          </a:xfrm>
        </p:grpSpPr>
        <p:sp>
          <p:nvSpPr>
            <p:cNvPr id="5" name="object 5"/>
            <p:cNvSpPr/>
            <p:nvPr/>
          </p:nvSpPr>
          <p:spPr>
            <a:xfrm>
              <a:off x="1772411" y="938702"/>
              <a:ext cx="4648200" cy="3395345"/>
            </a:xfrm>
            <a:custGeom>
              <a:avLst/>
              <a:gdLst/>
              <a:ahLst/>
              <a:cxnLst/>
              <a:rect l="l" t="t" r="r" b="b"/>
              <a:pathLst>
                <a:path w="4648200" h="3395345">
                  <a:moveTo>
                    <a:pt x="4648001" y="0"/>
                  </a:moveTo>
                  <a:lnTo>
                    <a:pt x="0" y="0"/>
                  </a:lnTo>
                  <a:lnTo>
                    <a:pt x="0" y="3395045"/>
                  </a:lnTo>
                  <a:lnTo>
                    <a:pt x="4648001" y="3395045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27284" y="1060400"/>
              <a:ext cx="4523777" cy="3168442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2518066" y="3222603"/>
            <a:ext cx="735965" cy="3752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02235">
              <a:lnSpc>
                <a:spcPts val="119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  <a:p>
            <a:pPr>
              <a:lnSpc>
                <a:spcPts val="1550"/>
              </a:lnSpc>
            </a:pPr>
            <a:r>
              <a:rPr dirty="0" sz="1400">
                <a:solidFill>
                  <a:srgbClr val="FFFF00"/>
                </a:solidFill>
                <a:latin typeface="Arial"/>
                <a:cs typeface="Arial"/>
              </a:rPr>
              <a:t>Free</a:t>
            </a:r>
            <a:r>
              <a:rPr dirty="0" sz="1400" spc="-7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FFFF00"/>
                </a:solidFill>
                <a:latin typeface="Arial"/>
                <a:cs typeface="Arial"/>
              </a:rPr>
              <a:t>tree</a:t>
            </a:r>
            <a:endParaRPr sz="1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83218" y="2510083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1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354896" y="1960732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354896" y="3059437"/>
            <a:ext cx="8382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462150" y="3080100"/>
            <a:ext cx="52069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437212" y="1980682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901061" y="2489420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917798" y="2510083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244457" y="2530035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984388" y="2164512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965150" y="2896982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732914" y="2896982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01894" y="2859930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868624" y="1863829"/>
            <a:ext cx="169545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090217" y="2847106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696195" y="2164513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556205" y="2530036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111594" y="2164513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764261" y="2164513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74678" y="3445616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646369" y="2895553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620969" y="3994970"/>
            <a:ext cx="1210945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10"/>
              </a:spcBef>
              <a:tabLst>
                <a:tab pos="1132840" algn="l"/>
              </a:tabLst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c	</a:t>
            </a:r>
            <a:r>
              <a:rPr dirty="0" baseline="-7575" sz="1650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baseline="-7575" sz="16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728685" y="2916216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193247" y="3424955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1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209258" y="3445616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1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536641" y="3465567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276572" y="3099332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256621" y="3831802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024384" y="3831802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993365" y="3794752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160095" y="2797936"/>
            <a:ext cx="169545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381688" y="3781925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988378" y="3099333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847676" y="3465567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403065" y="3099333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055732" y="3099333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174678" y="1686412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646369" y="1137061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646369" y="2235765"/>
            <a:ext cx="8382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754335" y="2256428"/>
            <a:ext cx="52069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1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728685" y="1157725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193247" y="1666463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1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209258" y="1686412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1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536641" y="1707075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276572" y="1340128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256621" y="2073310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024384" y="2073310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993365" y="2036259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160095" y="1039445"/>
            <a:ext cx="169545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11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381688" y="2023433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988378" y="1340128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847676" y="1707075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403065" y="1340128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055732" y="1340128"/>
            <a:ext cx="9144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100" spc="5" i="1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278224" y="4399687"/>
            <a:ext cx="1673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8.45: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Free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 spc="-10">
                <a:latin typeface="Times New Roman"/>
                <a:cs typeface="Times New Roman"/>
              </a:rPr>
              <a:t> facts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901694" y="5456199"/>
            <a:ext cx="6309360" cy="131318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8.5.1	</a:t>
            </a:r>
            <a:r>
              <a:rPr dirty="0" sz="1400" spc="15" b="1">
                <a:latin typeface="Times New Roman"/>
                <a:cs typeface="Times New Roman"/>
              </a:rPr>
              <a:t>Computing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-10" b="1">
                <a:latin typeface="Times New Roman"/>
                <a:cs typeface="Times New Roman"/>
              </a:rPr>
              <a:t>MST: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Generic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5" b="1">
                <a:latin typeface="Times New Roman"/>
                <a:cs typeface="Times New Roman"/>
              </a:rPr>
              <a:t>Approach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85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Let </a:t>
            </a:r>
            <a:r>
              <a:rPr dirty="0" sz="1200" spc="45">
                <a:latin typeface="Lucida Sans Unicode"/>
                <a:cs typeface="Lucida Sans Unicode"/>
              </a:rPr>
              <a:t>G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V, </a:t>
            </a:r>
            <a:r>
              <a:rPr dirty="0" sz="1200" spc="90">
                <a:latin typeface="Lucida Sans Unicode"/>
                <a:cs typeface="Lucida Sans Unicode"/>
              </a:rPr>
              <a:t>E</a:t>
            </a:r>
            <a:r>
              <a:rPr dirty="0" sz="1200" spc="9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be an undirected, connected graph </a:t>
            </a:r>
            <a:r>
              <a:rPr dirty="0" sz="1200" spc="-10">
                <a:latin typeface="Times New Roman"/>
                <a:cs typeface="Times New Roman"/>
              </a:rPr>
              <a:t>whose </a:t>
            </a:r>
            <a:r>
              <a:rPr dirty="0" sz="1200" spc="-5">
                <a:latin typeface="Times New Roman"/>
                <a:cs typeface="Times New Roman"/>
              </a:rPr>
              <a:t>edges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10">
                <a:latin typeface="Times New Roman"/>
                <a:cs typeface="Times New Roman"/>
              </a:rPr>
              <a:t>numeric </a:t>
            </a:r>
            <a:r>
              <a:rPr dirty="0" sz="1200" spc="-5">
                <a:latin typeface="Times New Roman"/>
                <a:cs typeface="Times New Roman"/>
              </a:rPr>
              <a:t>weights. The </a:t>
            </a:r>
            <a:r>
              <a:rPr dirty="0" sz="1200" spc="-10">
                <a:latin typeface="Times New Roman"/>
                <a:cs typeface="Times New Roman"/>
              </a:rPr>
              <a:t>intuition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behind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simple: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maintain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subset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Initially,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empty.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until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equals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MST.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A subset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⊆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viable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 subset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edges of </a:t>
            </a:r>
            <a:r>
              <a:rPr dirty="0" sz="1200" spc="-5" i="1">
                <a:latin typeface="Times New Roman"/>
                <a:cs typeface="Times New Roman"/>
              </a:rPr>
              <a:t>some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MST.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5" i="1">
                <a:latin typeface="Times New Roman"/>
                <a:cs typeface="Times New Roman"/>
              </a:rPr>
              <a:t>safe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01702" y="6744894"/>
            <a:ext cx="60394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Segoe UI Symbol"/>
                <a:cs typeface="Segoe UI Symbol"/>
              </a:rPr>
              <a:t>∪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{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v</a:t>
            </a:r>
            <a:r>
              <a:rPr dirty="0" sz="1200" spc="20">
                <a:latin typeface="Garamond"/>
                <a:cs typeface="Garamond"/>
              </a:rPr>
              <a:t>)</a:t>
            </a:r>
            <a:r>
              <a:rPr dirty="0" sz="1200" spc="20">
                <a:latin typeface="Lucida Sans Unicode"/>
                <a:cs typeface="Lucida Sans Unicode"/>
              </a:rPr>
              <a:t>}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viable.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other </a:t>
            </a:r>
            <a:r>
              <a:rPr dirty="0" sz="1200" spc="-10">
                <a:latin typeface="Times New Roman"/>
                <a:cs typeface="Times New Roman"/>
              </a:rPr>
              <a:t>words,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choice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 safe choice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 so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still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901710" y="6861709"/>
            <a:ext cx="6393180" cy="95567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10">
                <a:latin typeface="Times New Roman"/>
                <a:cs typeface="Times New Roman"/>
              </a:rPr>
              <a:t>extended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form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MST.</a:t>
            </a:r>
            <a:endParaRPr sz="1200">
              <a:latin typeface="Times New Roman"/>
              <a:cs typeface="Times New Roman"/>
            </a:endParaRPr>
          </a:p>
          <a:p>
            <a:pPr marL="12700" marR="265430">
              <a:lnSpc>
                <a:spcPct val="100000"/>
              </a:lnSpc>
              <a:spcBef>
                <a:spcPts val="520"/>
              </a:spcBef>
            </a:pPr>
            <a:r>
              <a:rPr dirty="0" sz="1200" spc="-10">
                <a:latin typeface="Times New Roman"/>
                <a:cs typeface="Times New Roman"/>
              </a:rPr>
              <a:t>Note </a:t>
            </a:r>
            <a:r>
              <a:rPr dirty="0" sz="1200" spc="-5">
                <a:latin typeface="Times New Roman"/>
                <a:cs typeface="Times New Roman"/>
              </a:rPr>
              <a:t>that if </a:t>
            </a:r>
            <a:r>
              <a:rPr dirty="0" sz="1200" spc="90">
                <a:latin typeface="Lucida Sans Unicode"/>
                <a:cs typeface="Lucida Sans Unicode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is viable, it cannot contain a </a:t>
            </a:r>
            <a:r>
              <a:rPr dirty="0" sz="1200" spc="-10">
                <a:latin typeface="Times New Roman"/>
                <a:cs typeface="Times New Roman"/>
              </a:rPr>
              <a:t>cycle. </a:t>
            </a:r>
            <a:r>
              <a:rPr dirty="0" sz="1200" spc="-5">
                <a:latin typeface="Times New Roman"/>
                <a:cs typeface="Times New Roman"/>
              </a:rPr>
              <a:t>A generic greedy </a:t>
            </a:r>
            <a:r>
              <a:rPr dirty="0" sz="1200" spc="-10">
                <a:latin typeface="Times New Roman"/>
                <a:cs typeface="Times New Roman"/>
              </a:rPr>
              <a:t>algorithm </a:t>
            </a:r>
            <a:r>
              <a:rPr dirty="0" sz="1200" spc="-5">
                <a:latin typeface="Times New Roman"/>
                <a:cs typeface="Times New Roman"/>
              </a:rPr>
              <a:t>operates by repeatedly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safe </a:t>
            </a:r>
            <a:r>
              <a:rPr dirty="0" sz="1200" spc="-5">
                <a:latin typeface="Times New Roman"/>
                <a:cs typeface="Times New Roman"/>
              </a:rPr>
              <a:t>edge to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current </a:t>
            </a:r>
            <a:r>
              <a:rPr dirty="0" sz="1200" spc="-10">
                <a:latin typeface="Times New Roman"/>
                <a:cs typeface="Times New Roman"/>
              </a:rPr>
              <a:t>spanning</a:t>
            </a:r>
            <a:r>
              <a:rPr dirty="0" sz="1200" spc="-5">
                <a:latin typeface="Times New Roman"/>
                <a:cs typeface="Times New Roman"/>
              </a:rPr>
              <a:t> tree.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When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safe?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theoretical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issues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behind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determining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safe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901710" y="7792910"/>
            <a:ext cx="60655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Let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⊆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cut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S,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S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just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disjoint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901717" y="7909726"/>
            <a:ext cx="6304280" cy="107378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5">
                <a:latin typeface="Times New Roman"/>
                <a:cs typeface="Times New Roman"/>
              </a:rPr>
              <a:t>subsets.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300">
                <a:latin typeface="Garamond"/>
                <a:cs typeface="Garamond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crosses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cut 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endpoint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5">
                <a:latin typeface="Times New Roman"/>
                <a:cs typeface="Times New Roman"/>
              </a:rPr>
              <a:t>a subset of edges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a cut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respects </a:t>
            </a:r>
            <a:r>
              <a:rPr dirty="0" sz="1200" spc="90">
                <a:latin typeface="Lucida Sans Unicode"/>
                <a:cs typeface="Lucida Sans Unicode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if no edge in </a:t>
            </a:r>
            <a:r>
              <a:rPr dirty="0" sz="1200" spc="90">
                <a:latin typeface="Lucida Sans Unicode"/>
                <a:cs typeface="Lucida Sans Unicode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crosses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cut. It is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hard to see </a:t>
            </a:r>
            <a:r>
              <a:rPr dirty="0" sz="1200" spc="-10">
                <a:latin typeface="Times New Roman"/>
                <a:cs typeface="Times New Roman"/>
              </a:rPr>
              <a:t>why </a:t>
            </a:r>
            <a:r>
              <a:rPr dirty="0" sz="1200" spc="-5">
                <a:latin typeface="Times New Roman"/>
                <a:cs typeface="Times New Roman"/>
              </a:rPr>
              <a:t> respecting cuts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computed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MST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wish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 </a:t>
            </a:r>
            <a:r>
              <a:rPr dirty="0" sz="1200" spc="-10">
                <a:latin typeface="Times New Roman"/>
                <a:cs typeface="Times New Roman"/>
              </a:rPr>
              <a:t> which</a:t>
            </a:r>
            <a:r>
              <a:rPr dirty="0" sz="1200" spc="-5">
                <a:latin typeface="Times New Roman"/>
                <a:cs typeface="Times New Roman"/>
              </a:rPr>
              <a:t> edges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added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do </a:t>
            </a:r>
            <a:r>
              <a:rPr dirty="0" sz="1200" spc="-10" i="1">
                <a:latin typeface="Times New Roman"/>
                <a:cs typeface="Times New Roman"/>
              </a:rPr>
              <a:t>not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induce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current </a:t>
            </a:r>
            <a:r>
              <a:rPr dirty="0" sz="1200" spc="-30">
                <a:latin typeface="Times New Roman"/>
                <a:cs typeface="Times New Roman"/>
              </a:rPr>
              <a:t>MST,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edge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crosses 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respecting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cut is a possible candidate.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87805" y="967447"/>
            <a:ext cx="1287780" cy="163195"/>
          </a:xfrm>
          <a:custGeom>
            <a:avLst/>
            <a:gdLst/>
            <a:ahLst/>
            <a:cxnLst/>
            <a:rect l="l" t="t" r="r" b="b"/>
            <a:pathLst>
              <a:path w="1287780" h="163194">
                <a:moveTo>
                  <a:pt x="1287157" y="0"/>
                </a:moveTo>
                <a:lnTo>
                  <a:pt x="0" y="0"/>
                </a:lnTo>
                <a:lnTo>
                  <a:pt x="0" y="162712"/>
                </a:lnTo>
                <a:lnTo>
                  <a:pt x="1287157" y="162712"/>
                </a:lnTo>
                <a:lnTo>
                  <a:pt x="1287157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3090"/>
            <a:ext cx="1586230" cy="617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144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8.5.2	Greedy</a:t>
            </a:r>
            <a:r>
              <a:rPr dirty="0" sz="1400" spc="-55" b="1">
                <a:latin typeface="Times New Roman"/>
                <a:cs typeface="Times New Roman"/>
              </a:rPr>
              <a:t> </a:t>
            </a:r>
            <a:r>
              <a:rPr dirty="0" sz="1400" spc="20" b="1">
                <a:latin typeface="Times New Roman"/>
                <a:cs typeface="Times New Roman"/>
              </a:rPr>
              <a:t>MST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699" y="1407658"/>
            <a:ext cx="6251575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An </a:t>
            </a:r>
            <a:r>
              <a:rPr dirty="0" sz="1200" spc="-5">
                <a:latin typeface="Times New Roman"/>
                <a:cs typeface="Times New Roman"/>
              </a:rPr>
              <a:t>edge of </a:t>
            </a:r>
            <a:r>
              <a:rPr dirty="0" sz="1200" spc="70">
                <a:latin typeface="Lucida Sans Unicode"/>
                <a:cs typeface="Lucida Sans Unicode"/>
              </a:rPr>
              <a:t>E </a:t>
            </a:r>
            <a:r>
              <a:rPr dirty="0" sz="1200" spc="-5">
                <a:latin typeface="Times New Roman"/>
                <a:cs typeface="Times New Roman"/>
              </a:rPr>
              <a:t>is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light edge </a:t>
            </a:r>
            <a:r>
              <a:rPr dirty="0" sz="1200" spc="-5">
                <a:latin typeface="Times New Roman"/>
                <a:cs typeface="Times New Roman"/>
              </a:rPr>
              <a:t>crossing a cut if </a:t>
            </a:r>
            <a:r>
              <a:rPr dirty="0" sz="1200" spc="-10">
                <a:latin typeface="Times New Roman"/>
                <a:cs typeface="Times New Roman"/>
              </a:rPr>
              <a:t>among </a:t>
            </a:r>
            <a:r>
              <a:rPr dirty="0" sz="1200" spc="-5">
                <a:latin typeface="Times New Roman"/>
                <a:cs typeface="Times New Roman"/>
              </a:rPr>
              <a:t>all edges crossing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cut, it has </a:t>
            </a:r>
            <a:r>
              <a:rPr dirty="0" sz="1200" spc="-10">
                <a:latin typeface="Times New Roman"/>
                <a:cs typeface="Times New Roman"/>
              </a:rPr>
              <a:t>the minimum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Intuition </a:t>
            </a:r>
            <a:r>
              <a:rPr dirty="0" sz="1200" spc="-5">
                <a:latin typeface="Times New Roman"/>
                <a:cs typeface="Times New Roman"/>
              </a:rPr>
              <a:t>says that since all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edges that cross a respecting cut do </a:t>
            </a:r>
            <a:r>
              <a:rPr dirty="0" sz="1200" spc="-10">
                <a:latin typeface="Times New Roman"/>
                <a:cs typeface="Times New Roman"/>
              </a:rPr>
              <a:t>not induce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cycle,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lightest 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crossing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natural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main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theorem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drives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01709" y="3093353"/>
            <a:ext cx="6344285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4175" marR="5080" indent="-37211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MST Lemma:  </a:t>
            </a:r>
            <a:r>
              <a:rPr dirty="0" sz="1200" spc="-5">
                <a:latin typeface="Times New Roman"/>
                <a:cs typeface="Times New Roman"/>
              </a:rPr>
              <a:t>Let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V,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E</a:t>
            </a:r>
            <a:r>
              <a:rPr dirty="0" sz="1200" spc="9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connected,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undirected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real-valued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 </a:t>
            </a:r>
            <a:r>
              <a:rPr dirty="0" sz="1200" spc="90">
                <a:latin typeface="Lucida Sans Unicode"/>
                <a:cs typeface="Lucida Sans Unicode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be a </a:t>
            </a:r>
            <a:r>
              <a:rPr dirty="0" sz="1200" spc="-10">
                <a:latin typeface="Times New Roman"/>
                <a:cs typeface="Times New Roman"/>
              </a:rPr>
              <a:t>viable </a:t>
            </a:r>
            <a:r>
              <a:rPr dirty="0" sz="1200" spc="-5">
                <a:latin typeface="Times New Roman"/>
                <a:cs typeface="Times New Roman"/>
              </a:rPr>
              <a:t>subset of </a:t>
            </a:r>
            <a:r>
              <a:rPr dirty="0" sz="1200" spc="70">
                <a:latin typeface="Lucida Sans Unicode"/>
                <a:cs typeface="Lucida Sans Unicode"/>
              </a:rPr>
              <a:t>E </a:t>
            </a:r>
            <a:r>
              <a:rPr dirty="0" sz="1200" spc="-5">
                <a:latin typeface="Times New Roman"/>
                <a:cs typeface="Times New Roman"/>
              </a:rPr>
              <a:t>(i.e., a subset of some MST). Let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S, </a:t>
            </a:r>
            <a:r>
              <a:rPr dirty="0" sz="1200" spc="-15">
                <a:latin typeface="Lucida Sans Unicode"/>
                <a:cs typeface="Lucida Sans Unicode"/>
              </a:rPr>
              <a:t>V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S</a:t>
            </a:r>
            <a:r>
              <a:rPr dirty="0" sz="1200" spc="65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cut that respects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and let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be a </a:t>
            </a:r>
            <a:r>
              <a:rPr dirty="0" sz="1200" spc="-10">
                <a:latin typeface="Times New Roman"/>
                <a:cs typeface="Times New Roman"/>
              </a:rPr>
              <a:t>light </a:t>
            </a:r>
            <a:r>
              <a:rPr dirty="0" sz="1200" spc="-5">
                <a:latin typeface="Times New Roman"/>
                <a:cs typeface="Times New Roman"/>
              </a:rPr>
              <a:t>edge crossing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cut. Then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edge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safe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This 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illustrated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8.46.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2647188" y="4512254"/>
            <a:ext cx="2897505" cy="2590800"/>
            <a:chOff x="2647188" y="4512254"/>
            <a:chExt cx="2897505" cy="2590800"/>
          </a:xfrm>
        </p:grpSpPr>
        <p:sp>
          <p:nvSpPr>
            <p:cNvPr id="8" name="object 8"/>
            <p:cNvSpPr/>
            <p:nvPr/>
          </p:nvSpPr>
          <p:spPr>
            <a:xfrm>
              <a:off x="2647188" y="4512254"/>
              <a:ext cx="2897505" cy="2590800"/>
            </a:xfrm>
            <a:custGeom>
              <a:avLst/>
              <a:gdLst/>
              <a:ahLst/>
              <a:cxnLst/>
              <a:rect l="l" t="t" r="r" b="b"/>
              <a:pathLst>
                <a:path w="2897504" h="2590800">
                  <a:moveTo>
                    <a:pt x="2897154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2897154" y="2590601"/>
                  </a:lnTo>
                  <a:lnTo>
                    <a:pt x="2897154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927439" y="6144686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5" h="36829">
                  <a:moveTo>
                    <a:pt x="533" y="0"/>
                  </a:moveTo>
                  <a:lnTo>
                    <a:pt x="0" y="11734"/>
                  </a:lnTo>
                  <a:lnTo>
                    <a:pt x="0" y="29321"/>
                  </a:lnTo>
                  <a:lnTo>
                    <a:pt x="0" y="36255"/>
                  </a:lnTo>
                </a:path>
              </a:pathLst>
            </a:custGeom>
            <a:ln w="1777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3155" y="4572665"/>
              <a:ext cx="2782588" cy="2446706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602921" y="4611939"/>
              <a:ext cx="205740" cy="205740"/>
            </a:xfrm>
            <a:custGeom>
              <a:avLst/>
              <a:gdLst/>
              <a:ahLst/>
              <a:cxnLst/>
              <a:rect l="l" t="t" r="r" b="b"/>
              <a:pathLst>
                <a:path w="205739" h="205739">
                  <a:moveTo>
                    <a:pt x="102885" y="0"/>
                  </a:moveTo>
                  <a:lnTo>
                    <a:pt x="60243" y="9052"/>
                  </a:lnTo>
                  <a:lnTo>
                    <a:pt x="25587" y="35189"/>
                  </a:lnTo>
                  <a:lnTo>
                    <a:pt x="4267" y="73030"/>
                  </a:lnTo>
                  <a:lnTo>
                    <a:pt x="0" y="102351"/>
                  </a:lnTo>
                  <a:lnTo>
                    <a:pt x="1066" y="116753"/>
                  </a:lnTo>
                  <a:lnTo>
                    <a:pt x="16520" y="157810"/>
                  </a:lnTo>
                  <a:lnTo>
                    <a:pt x="47442" y="188732"/>
                  </a:lnTo>
                  <a:lnTo>
                    <a:pt x="88498" y="204185"/>
                  </a:lnTo>
                  <a:lnTo>
                    <a:pt x="102885" y="205252"/>
                  </a:lnTo>
                  <a:lnTo>
                    <a:pt x="117287" y="204185"/>
                  </a:lnTo>
                  <a:lnTo>
                    <a:pt x="158343" y="188732"/>
                  </a:lnTo>
                  <a:lnTo>
                    <a:pt x="189265" y="157810"/>
                  </a:lnTo>
                  <a:lnTo>
                    <a:pt x="204185" y="116753"/>
                  </a:lnTo>
                  <a:lnTo>
                    <a:pt x="205252" y="102351"/>
                  </a:lnTo>
                  <a:lnTo>
                    <a:pt x="204185" y="87431"/>
                  </a:lnTo>
                  <a:lnTo>
                    <a:pt x="189265" y="46375"/>
                  </a:lnTo>
                  <a:lnTo>
                    <a:pt x="158343" y="15986"/>
                  </a:lnTo>
                  <a:lnTo>
                    <a:pt x="117287" y="1066"/>
                  </a:lnTo>
                  <a:lnTo>
                    <a:pt x="1028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602921" y="4611939"/>
              <a:ext cx="205740" cy="205740"/>
            </a:xfrm>
            <a:custGeom>
              <a:avLst/>
              <a:gdLst/>
              <a:ahLst/>
              <a:cxnLst/>
              <a:rect l="l" t="t" r="r" b="b"/>
              <a:pathLst>
                <a:path w="205739" h="205739">
                  <a:moveTo>
                    <a:pt x="0" y="102351"/>
                  </a:moveTo>
                  <a:lnTo>
                    <a:pt x="9601" y="59710"/>
                  </a:lnTo>
                  <a:lnTo>
                    <a:pt x="35722" y="25054"/>
                  </a:lnTo>
                  <a:lnTo>
                    <a:pt x="74096" y="3733"/>
                  </a:lnTo>
                  <a:lnTo>
                    <a:pt x="102885" y="0"/>
                  </a:lnTo>
                  <a:lnTo>
                    <a:pt x="117287" y="1066"/>
                  </a:lnTo>
                  <a:lnTo>
                    <a:pt x="158343" y="15986"/>
                  </a:lnTo>
                  <a:lnTo>
                    <a:pt x="189265" y="46375"/>
                  </a:lnTo>
                  <a:lnTo>
                    <a:pt x="204185" y="87431"/>
                  </a:lnTo>
                  <a:lnTo>
                    <a:pt x="205252" y="102351"/>
                  </a:lnTo>
                  <a:lnTo>
                    <a:pt x="204185" y="116753"/>
                  </a:lnTo>
                  <a:lnTo>
                    <a:pt x="189265" y="157810"/>
                  </a:lnTo>
                  <a:lnTo>
                    <a:pt x="158343" y="188732"/>
                  </a:lnTo>
                  <a:lnTo>
                    <a:pt x="117287" y="204185"/>
                  </a:lnTo>
                  <a:lnTo>
                    <a:pt x="102885" y="205252"/>
                  </a:lnTo>
                  <a:lnTo>
                    <a:pt x="88498" y="204185"/>
                  </a:lnTo>
                  <a:lnTo>
                    <a:pt x="47442" y="188732"/>
                  </a:lnTo>
                  <a:lnTo>
                    <a:pt x="16520" y="157810"/>
                  </a:lnTo>
                  <a:lnTo>
                    <a:pt x="1066" y="116753"/>
                  </a:lnTo>
                  <a:lnTo>
                    <a:pt x="0" y="102351"/>
                  </a:lnTo>
                </a:path>
              </a:pathLst>
            </a:custGeom>
            <a:ln w="444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79368" y="4905602"/>
              <a:ext cx="209710" cy="209695"/>
            </a:xfrm>
            <a:prstGeom prst="rect">
              <a:avLst/>
            </a:prstGeom>
          </p:spPr>
        </p:pic>
      </p:grpSp>
      <p:sp>
        <p:nvSpPr>
          <p:cNvPr id="14" name="object 14"/>
          <p:cNvSpPr txBox="1"/>
          <p:nvPr/>
        </p:nvSpPr>
        <p:spPr>
          <a:xfrm>
            <a:off x="4140693" y="5226195"/>
            <a:ext cx="8699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spc="-5" i="1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0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071920" y="5525281"/>
            <a:ext cx="162560" cy="4718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715">
              <a:lnSpc>
                <a:spcPct val="100000"/>
              </a:lnSpc>
              <a:spcBef>
                <a:spcPts val="100"/>
              </a:spcBef>
            </a:pPr>
            <a:r>
              <a:rPr dirty="0" sz="1050" spc="-5" i="1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050" spc="-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05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569330" y="4807688"/>
            <a:ext cx="7937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v</a:t>
            </a:r>
            <a:endParaRPr sz="105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499336" y="5593522"/>
            <a:ext cx="7937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endParaRPr sz="10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074585" y="4821006"/>
            <a:ext cx="24384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230504" algn="l"/>
              </a:tabLst>
            </a:pPr>
            <a:r>
              <a:rPr dirty="0" u="heavy" sz="1050" spc="-5" i="1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4	</a:t>
            </a:r>
            <a:endParaRPr sz="105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543053" y="4504315"/>
            <a:ext cx="1073150" cy="422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 indent="85090">
              <a:lnSpc>
                <a:spcPct val="123900"/>
              </a:lnSpc>
              <a:spcBef>
                <a:spcPts val="100"/>
              </a:spcBef>
              <a:tabLst>
                <a:tab pos="353060" algn="l"/>
                <a:tab pos="374650" algn="l"/>
                <a:tab pos="517525" algn="l"/>
                <a:tab pos="1059180" algn="l"/>
              </a:tabLst>
            </a:pPr>
            <a:r>
              <a:rPr dirty="0" u="heavy" sz="1050" i="1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050" i="1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		</a:t>
            </a: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u="heavy" sz="1050" spc="-5" i="1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9 	</a:t>
            </a: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50" spc="-5" i="1">
                <a:solidFill>
                  <a:srgbClr val="FFFF00"/>
                </a:solidFill>
                <a:latin typeface="Arial"/>
                <a:cs typeface="Arial"/>
              </a:rPr>
              <a:t>u</a:t>
            </a:r>
            <a:r>
              <a:rPr dirty="0" sz="1050" spc="15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u="heavy" sz="1050" i="1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050" i="1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	</a:t>
            </a:r>
            <a:endParaRPr sz="105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689284" y="5844613"/>
            <a:ext cx="7937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y</a:t>
            </a:r>
            <a:endParaRPr sz="10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270784" y="6389485"/>
            <a:ext cx="3688715" cy="988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25400">
              <a:lnSpc>
                <a:spcPct val="100000"/>
              </a:lnSpc>
              <a:spcBef>
                <a:spcPts val="100"/>
              </a:spcBef>
            </a:pPr>
            <a:r>
              <a:rPr dirty="0" sz="1050" spc="-5" i="1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ctr" marR="276860">
              <a:lnSpc>
                <a:spcPct val="100000"/>
              </a:lnSpc>
            </a:pPr>
            <a:r>
              <a:rPr dirty="0" sz="1250" spc="-5" b="1" i="1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2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06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8.46: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Subset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a cut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(wavy</a:t>
            </a:r>
            <a:r>
              <a:rPr dirty="0" sz="1200" spc="-5">
                <a:latin typeface="Times New Roman"/>
                <a:cs typeface="Times New Roman"/>
              </a:rPr>
              <a:t> line)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respects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01698" y="8408644"/>
            <a:ext cx="6341745" cy="574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4175" marR="5080" indent="-372110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MST </a:t>
            </a:r>
            <a:r>
              <a:rPr dirty="0" sz="1200" spc="-10" b="1">
                <a:latin typeface="Times New Roman"/>
                <a:cs typeface="Times New Roman"/>
              </a:rPr>
              <a:t>Proof: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simplify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assume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 </a:t>
            </a:r>
            <a:r>
              <a:rPr dirty="0" sz="1200" spc="-10">
                <a:latin typeface="Times New Roman"/>
                <a:cs typeface="Times New Roman"/>
              </a:rPr>
              <a:t>weights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distinct.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 MST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sz="1200" spc="2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6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contains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are done. This is </a:t>
            </a:r>
            <a:r>
              <a:rPr dirty="0" sz="1200" spc="-15">
                <a:latin typeface="Times New Roman"/>
                <a:cs typeface="Times New Roman"/>
              </a:rPr>
              <a:t>shown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Figure 8.47 where the </a:t>
            </a:r>
            <a:r>
              <a:rPr dirty="0" sz="1200" spc="-5">
                <a:latin typeface="Times New Roman"/>
                <a:cs typeface="Times New Roman"/>
              </a:rPr>
              <a:t>lightest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cost 4 has been chosen.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35775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8.5.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SPANNING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14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644139" y="938474"/>
            <a:ext cx="2902585" cy="2590800"/>
            <a:chOff x="2644139" y="938474"/>
            <a:chExt cx="2902585" cy="2590800"/>
          </a:xfrm>
        </p:grpSpPr>
        <p:sp>
          <p:nvSpPr>
            <p:cNvPr id="5" name="object 5"/>
            <p:cNvSpPr/>
            <p:nvPr/>
          </p:nvSpPr>
          <p:spPr>
            <a:xfrm>
              <a:off x="2644139" y="938474"/>
              <a:ext cx="2902585" cy="2590800"/>
            </a:xfrm>
            <a:custGeom>
              <a:avLst/>
              <a:gdLst/>
              <a:ahLst/>
              <a:cxnLst/>
              <a:rect l="l" t="t" r="r" b="b"/>
              <a:pathLst>
                <a:path w="2902585" h="2590800">
                  <a:moveTo>
                    <a:pt x="2902076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2902076" y="2590601"/>
                  </a:lnTo>
                  <a:lnTo>
                    <a:pt x="290207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064386" y="1714342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-8901" y="18158"/>
                  </a:moveTo>
                  <a:lnTo>
                    <a:pt x="8901" y="18158"/>
                  </a:lnTo>
                </a:path>
              </a:pathLst>
            </a:custGeom>
            <a:ln w="3631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927134" y="1786976"/>
              <a:ext cx="135890" cy="819150"/>
            </a:xfrm>
            <a:custGeom>
              <a:avLst/>
              <a:gdLst/>
              <a:ahLst/>
              <a:cxnLst/>
              <a:rect l="l" t="t" r="r" b="b"/>
              <a:pathLst>
                <a:path w="135889" h="819150">
                  <a:moveTo>
                    <a:pt x="135651" y="0"/>
                  </a:moveTo>
                  <a:lnTo>
                    <a:pt x="134584" y="17084"/>
                  </a:lnTo>
                  <a:lnTo>
                    <a:pt x="132984" y="36316"/>
                  </a:lnTo>
                </a:path>
                <a:path w="135889" h="819150">
                  <a:moveTo>
                    <a:pt x="130301" y="72633"/>
                  </a:moveTo>
                  <a:lnTo>
                    <a:pt x="129768" y="77967"/>
                  </a:lnTo>
                  <a:lnTo>
                    <a:pt x="127634" y="97734"/>
                  </a:lnTo>
                  <a:lnTo>
                    <a:pt x="126568" y="108950"/>
                  </a:lnTo>
                </a:path>
                <a:path w="135889" h="819150">
                  <a:moveTo>
                    <a:pt x="121767" y="144200"/>
                  </a:moveTo>
                  <a:lnTo>
                    <a:pt x="120700" y="152735"/>
                  </a:lnTo>
                  <a:lnTo>
                    <a:pt x="115884" y="179984"/>
                  </a:lnTo>
                </a:path>
                <a:path w="135889" h="819150">
                  <a:moveTo>
                    <a:pt x="110017" y="215767"/>
                  </a:moveTo>
                  <a:lnTo>
                    <a:pt x="108950" y="220568"/>
                  </a:lnTo>
                  <a:lnTo>
                    <a:pt x="105201" y="236052"/>
                  </a:lnTo>
                  <a:lnTo>
                    <a:pt x="101467" y="251018"/>
                  </a:lnTo>
                </a:path>
                <a:path w="135889" h="819150">
                  <a:moveTo>
                    <a:pt x="92384" y="286252"/>
                  </a:moveTo>
                  <a:lnTo>
                    <a:pt x="89717" y="294269"/>
                  </a:lnTo>
                  <a:lnTo>
                    <a:pt x="85984" y="308152"/>
                  </a:lnTo>
                  <a:lnTo>
                    <a:pt x="81701" y="320969"/>
                  </a:lnTo>
                </a:path>
                <a:path w="135889" h="819150">
                  <a:moveTo>
                    <a:pt x="71551" y="355152"/>
                  </a:moveTo>
                  <a:lnTo>
                    <a:pt x="69418" y="361568"/>
                  </a:lnTo>
                  <a:lnTo>
                    <a:pt x="65150" y="374919"/>
                  </a:lnTo>
                  <a:lnTo>
                    <a:pt x="60883" y="388269"/>
                  </a:lnTo>
                  <a:lnTo>
                    <a:pt x="60350" y="389869"/>
                  </a:lnTo>
                </a:path>
                <a:path w="135889" h="819150">
                  <a:moveTo>
                    <a:pt x="50200" y="424586"/>
                  </a:moveTo>
                  <a:lnTo>
                    <a:pt x="48600" y="430453"/>
                  </a:lnTo>
                  <a:lnTo>
                    <a:pt x="44851" y="444886"/>
                  </a:lnTo>
                  <a:lnTo>
                    <a:pt x="40584" y="459836"/>
                  </a:lnTo>
                </a:path>
                <a:path w="135889" h="819150">
                  <a:moveTo>
                    <a:pt x="44851" y="444886"/>
                  </a:moveTo>
                  <a:lnTo>
                    <a:pt x="40584" y="459836"/>
                  </a:lnTo>
                </a:path>
                <a:path w="135889" h="819150">
                  <a:moveTo>
                    <a:pt x="32567" y="495086"/>
                  </a:moveTo>
                  <a:lnTo>
                    <a:pt x="29900" y="507903"/>
                  </a:lnTo>
                  <a:lnTo>
                    <a:pt x="26167" y="524987"/>
                  </a:lnTo>
                  <a:lnTo>
                    <a:pt x="25100" y="530870"/>
                  </a:lnTo>
                </a:path>
                <a:path w="135889" h="819150">
                  <a:moveTo>
                    <a:pt x="19217" y="566120"/>
                  </a:moveTo>
                  <a:lnTo>
                    <a:pt x="14950" y="594954"/>
                  </a:lnTo>
                  <a:lnTo>
                    <a:pt x="14417" y="601903"/>
                  </a:lnTo>
                </a:path>
                <a:path w="135889" h="819150">
                  <a:moveTo>
                    <a:pt x="10134" y="637687"/>
                  </a:moveTo>
                  <a:lnTo>
                    <a:pt x="9601" y="641421"/>
                  </a:lnTo>
                  <a:lnTo>
                    <a:pt x="8000" y="657438"/>
                  </a:lnTo>
                  <a:lnTo>
                    <a:pt x="6934" y="674004"/>
                  </a:lnTo>
                </a:path>
                <a:path w="135889" h="819150">
                  <a:moveTo>
                    <a:pt x="8000" y="657438"/>
                  </a:moveTo>
                  <a:lnTo>
                    <a:pt x="6934" y="674004"/>
                  </a:lnTo>
                </a:path>
                <a:path w="135889" h="819150">
                  <a:moveTo>
                    <a:pt x="4267" y="710321"/>
                  </a:moveTo>
                  <a:lnTo>
                    <a:pt x="3200" y="724738"/>
                  </a:lnTo>
                  <a:lnTo>
                    <a:pt x="2133" y="741822"/>
                  </a:lnTo>
                  <a:lnTo>
                    <a:pt x="2133" y="746638"/>
                  </a:lnTo>
                </a:path>
                <a:path w="135889" h="819150">
                  <a:moveTo>
                    <a:pt x="533" y="782421"/>
                  </a:moveTo>
                  <a:lnTo>
                    <a:pt x="0" y="794705"/>
                  </a:lnTo>
                  <a:lnTo>
                    <a:pt x="0" y="812322"/>
                  </a:lnTo>
                  <a:lnTo>
                    <a:pt x="0" y="818738"/>
                  </a:lnTo>
                </a:path>
              </a:pathLst>
            </a:custGeom>
            <a:ln w="1780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0652" y="994586"/>
              <a:ext cx="2801402" cy="2452118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3542053" y="1163294"/>
            <a:ext cx="8699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u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70681" y="1230053"/>
            <a:ext cx="8001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v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498260" y="2017279"/>
            <a:ext cx="8001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074526" y="1243406"/>
            <a:ext cx="8699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690313" y="2269362"/>
            <a:ext cx="8001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y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491383" y="3270262"/>
            <a:ext cx="3247390" cy="5429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276860">
              <a:lnSpc>
                <a:spcPct val="100000"/>
              </a:lnSpc>
              <a:spcBef>
                <a:spcPts val="100"/>
              </a:spcBef>
            </a:pPr>
            <a:r>
              <a:rPr dirty="0" sz="1250" b="1" i="1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2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8.47: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MST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contains </a:t>
            </a:r>
            <a:r>
              <a:rPr dirty="0" sz="1200" spc="-10">
                <a:latin typeface="Times New Roman"/>
                <a:cs typeface="Times New Roman"/>
              </a:rPr>
              <a:t>light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273401" y="4465181"/>
            <a:ext cx="531812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Suppose 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MST contains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8.48.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derive</a:t>
            </a:r>
            <a:r>
              <a:rPr dirty="0" sz="1200" spc="-5">
                <a:latin typeface="Times New Roman"/>
                <a:cs typeface="Times New Roman"/>
              </a:rPr>
              <a:t> 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contradiction.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2644139" y="5249870"/>
            <a:ext cx="2902585" cy="2590800"/>
            <a:chOff x="2644139" y="5249870"/>
            <a:chExt cx="2902585" cy="2590800"/>
          </a:xfrm>
        </p:grpSpPr>
        <p:sp>
          <p:nvSpPr>
            <p:cNvPr id="17" name="object 17"/>
            <p:cNvSpPr/>
            <p:nvPr/>
          </p:nvSpPr>
          <p:spPr>
            <a:xfrm>
              <a:off x="2644139" y="5249870"/>
              <a:ext cx="2902585" cy="2590800"/>
            </a:xfrm>
            <a:custGeom>
              <a:avLst/>
              <a:gdLst/>
              <a:ahLst/>
              <a:cxnLst/>
              <a:rect l="l" t="t" r="r" b="b"/>
              <a:pathLst>
                <a:path w="2902585" h="2590800">
                  <a:moveTo>
                    <a:pt x="2902076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2902076" y="2590601"/>
                  </a:lnTo>
                  <a:lnTo>
                    <a:pt x="290207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927134" y="6879757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5" h="36829">
                  <a:moveTo>
                    <a:pt x="533" y="0"/>
                  </a:moveTo>
                  <a:lnTo>
                    <a:pt x="0" y="12283"/>
                  </a:lnTo>
                  <a:lnTo>
                    <a:pt x="0" y="29916"/>
                  </a:lnTo>
                  <a:lnTo>
                    <a:pt x="0" y="36316"/>
                  </a:lnTo>
                </a:path>
              </a:pathLst>
            </a:custGeom>
            <a:ln w="1780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90652" y="5304946"/>
              <a:ext cx="2801402" cy="2452118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3542053" y="5473660"/>
            <a:ext cx="8699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u</a:t>
            </a:r>
            <a:endParaRPr sz="10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570681" y="5540419"/>
            <a:ext cx="8001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v</a:t>
            </a:r>
            <a:endParaRPr sz="105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498260" y="6327644"/>
            <a:ext cx="8001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endParaRPr sz="10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074526" y="5553771"/>
            <a:ext cx="8699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0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690313" y="6579727"/>
            <a:ext cx="8001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y</a:t>
            </a:r>
            <a:endParaRPr sz="105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141290" y="6559433"/>
            <a:ext cx="8699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0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215920" y="7580627"/>
            <a:ext cx="3797935" cy="5429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276860">
              <a:lnSpc>
                <a:spcPct val="100000"/>
              </a:lnSpc>
              <a:spcBef>
                <a:spcPts val="100"/>
              </a:spcBef>
            </a:pPr>
            <a:r>
              <a:rPr dirty="0" sz="1250" b="1" i="1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2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8.48: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MST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5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does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not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contains </a:t>
            </a:r>
            <a:r>
              <a:rPr dirty="0" sz="1200" spc="-10">
                <a:latin typeface="Times New Roman"/>
                <a:cs typeface="Times New Roman"/>
              </a:rPr>
              <a:t>light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73399" y="8775547"/>
            <a:ext cx="39897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Add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thus</a:t>
            </a:r>
            <a:r>
              <a:rPr dirty="0" sz="1200" spc="-5">
                <a:latin typeface="Times New Roman"/>
                <a:cs typeface="Times New Roman"/>
              </a:rPr>
              <a:t> creating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 spc="-5">
                <a:latin typeface="Times New Roman"/>
                <a:cs typeface="Times New Roman"/>
              </a:rPr>
              <a:t> as illustrated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8.49.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14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644139" y="938474"/>
            <a:ext cx="2902585" cy="2590800"/>
            <a:chOff x="2644139" y="938474"/>
            <a:chExt cx="2902585" cy="2590800"/>
          </a:xfrm>
        </p:grpSpPr>
        <p:sp>
          <p:nvSpPr>
            <p:cNvPr id="5" name="object 5"/>
            <p:cNvSpPr/>
            <p:nvPr/>
          </p:nvSpPr>
          <p:spPr>
            <a:xfrm>
              <a:off x="2644139" y="938474"/>
              <a:ext cx="2902585" cy="2590800"/>
            </a:xfrm>
            <a:custGeom>
              <a:avLst/>
              <a:gdLst/>
              <a:ahLst/>
              <a:cxnLst/>
              <a:rect l="l" t="t" r="r" b="b"/>
              <a:pathLst>
                <a:path w="2902585" h="2590800">
                  <a:moveTo>
                    <a:pt x="2902076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2902076" y="2590601"/>
                  </a:lnTo>
                  <a:lnTo>
                    <a:pt x="290207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927134" y="25693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5" h="36830">
                  <a:moveTo>
                    <a:pt x="533" y="0"/>
                  </a:moveTo>
                  <a:lnTo>
                    <a:pt x="0" y="12283"/>
                  </a:lnTo>
                  <a:lnTo>
                    <a:pt x="0" y="29900"/>
                  </a:lnTo>
                  <a:lnTo>
                    <a:pt x="0" y="36316"/>
                  </a:lnTo>
                </a:path>
              </a:pathLst>
            </a:custGeom>
            <a:ln w="1780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0652" y="994586"/>
              <a:ext cx="2801402" cy="2452118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3542053" y="1163294"/>
            <a:ext cx="8699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u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70681" y="1230053"/>
            <a:ext cx="8001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v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98260" y="2017279"/>
            <a:ext cx="8001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074526" y="1243406"/>
            <a:ext cx="8699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690313" y="2269362"/>
            <a:ext cx="8001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y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41290" y="2249068"/>
            <a:ext cx="8699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35301" y="3270262"/>
            <a:ext cx="6130925" cy="165988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648970">
              <a:lnSpc>
                <a:spcPct val="100000"/>
              </a:lnSpc>
              <a:spcBef>
                <a:spcPts val="100"/>
              </a:spcBef>
            </a:pPr>
            <a:r>
              <a:rPr dirty="0" sz="1250" b="1" i="1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2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150876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8.49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ea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du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</a:pPr>
            <a:endParaRPr sz="13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50">
              <a:latin typeface="Garamond"/>
              <a:cs typeface="Garamond"/>
            </a:endParaRPr>
          </a:p>
          <a:p>
            <a:pPr marL="50800" marR="431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oppo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id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ut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ro</a:t>
            </a:r>
            <a:r>
              <a:rPr dirty="0" sz="1200" spc="-5">
                <a:latin typeface="Times New Roman"/>
                <a:cs typeface="Times New Roman"/>
              </a:rPr>
              <a:t>ss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e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 </a:t>
            </a:r>
            <a:r>
              <a:rPr dirty="0" sz="1200" spc="-10">
                <a:latin typeface="Times New Roman"/>
                <a:cs typeface="Times New Roman"/>
              </a:rPr>
              <a:t>tim</a:t>
            </a:r>
            <a:r>
              <a:rPr dirty="0" sz="1200" spc="-5">
                <a:latin typeface="Times New Roman"/>
                <a:cs typeface="Times New Roman"/>
              </a:rPr>
              <a:t>es,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east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oth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y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4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ro</a:t>
            </a:r>
            <a:r>
              <a:rPr dirty="0" sz="1200" spc="-5">
                <a:latin typeface="Times New Roman"/>
                <a:cs typeface="Times New Roman"/>
              </a:rPr>
              <a:t>sses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ut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y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eca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ec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2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vin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y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10">
                <a:latin typeface="Times New Roman"/>
                <a:cs typeface="Times New Roman"/>
              </a:rPr>
              <a:t>tor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nnin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ee,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1250" sz="1200" spc="112">
                <a:latin typeface="Cambria"/>
                <a:cs typeface="Cambria"/>
              </a:rPr>
              <a:t>j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 s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644139" y="5173670"/>
            <a:ext cx="2902585" cy="2590800"/>
            <a:chOff x="2644139" y="5173670"/>
            <a:chExt cx="2902585" cy="2590800"/>
          </a:xfrm>
        </p:grpSpPr>
        <p:sp>
          <p:nvSpPr>
            <p:cNvPr id="16" name="object 16"/>
            <p:cNvSpPr/>
            <p:nvPr/>
          </p:nvSpPr>
          <p:spPr>
            <a:xfrm>
              <a:off x="2644139" y="5173670"/>
              <a:ext cx="2902585" cy="2590800"/>
            </a:xfrm>
            <a:custGeom>
              <a:avLst/>
              <a:gdLst/>
              <a:ahLst/>
              <a:cxnLst/>
              <a:rect l="l" t="t" r="r" b="b"/>
              <a:pathLst>
                <a:path w="2902585" h="2590800">
                  <a:moveTo>
                    <a:pt x="2902076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2902076" y="2590601"/>
                  </a:lnTo>
                  <a:lnTo>
                    <a:pt x="290207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064386" y="5948929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-8901" y="18158"/>
                  </a:moveTo>
                  <a:lnTo>
                    <a:pt x="8901" y="18158"/>
                  </a:lnTo>
                </a:path>
              </a:pathLst>
            </a:custGeom>
            <a:ln w="3631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927134" y="6021562"/>
              <a:ext cx="135890" cy="819150"/>
            </a:xfrm>
            <a:custGeom>
              <a:avLst/>
              <a:gdLst/>
              <a:ahLst/>
              <a:cxnLst/>
              <a:rect l="l" t="t" r="r" b="b"/>
              <a:pathLst>
                <a:path w="135889" h="819150">
                  <a:moveTo>
                    <a:pt x="135651" y="0"/>
                  </a:moveTo>
                  <a:lnTo>
                    <a:pt x="134584" y="17084"/>
                  </a:lnTo>
                  <a:lnTo>
                    <a:pt x="132984" y="36316"/>
                  </a:lnTo>
                </a:path>
                <a:path w="135889" h="819150">
                  <a:moveTo>
                    <a:pt x="130301" y="72633"/>
                  </a:moveTo>
                  <a:lnTo>
                    <a:pt x="129768" y="77967"/>
                  </a:lnTo>
                  <a:lnTo>
                    <a:pt x="127634" y="97734"/>
                  </a:lnTo>
                  <a:lnTo>
                    <a:pt x="126568" y="108950"/>
                  </a:lnTo>
                </a:path>
                <a:path w="135889" h="819150">
                  <a:moveTo>
                    <a:pt x="121767" y="144200"/>
                  </a:moveTo>
                  <a:lnTo>
                    <a:pt x="120700" y="152735"/>
                  </a:lnTo>
                  <a:lnTo>
                    <a:pt x="115884" y="179984"/>
                  </a:lnTo>
                </a:path>
                <a:path w="135889" h="819150">
                  <a:moveTo>
                    <a:pt x="110017" y="215767"/>
                  </a:moveTo>
                  <a:lnTo>
                    <a:pt x="108950" y="220568"/>
                  </a:lnTo>
                  <a:lnTo>
                    <a:pt x="105201" y="236052"/>
                  </a:lnTo>
                  <a:lnTo>
                    <a:pt x="101467" y="251018"/>
                  </a:lnTo>
                </a:path>
                <a:path w="135889" h="819150">
                  <a:moveTo>
                    <a:pt x="92384" y="286252"/>
                  </a:moveTo>
                  <a:lnTo>
                    <a:pt x="89717" y="294269"/>
                  </a:lnTo>
                  <a:lnTo>
                    <a:pt x="85984" y="308152"/>
                  </a:lnTo>
                  <a:lnTo>
                    <a:pt x="81701" y="320969"/>
                  </a:lnTo>
                </a:path>
                <a:path w="135889" h="819150">
                  <a:moveTo>
                    <a:pt x="71551" y="355152"/>
                  </a:moveTo>
                  <a:lnTo>
                    <a:pt x="69418" y="361568"/>
                  </a:lnTo>
                  <a:lnTo>
                    <a:pt x="65150" y="374919"/>
                  </a:lnTo>
                  <a:lnTo>
                    <a:pt x="60883" y="388269"/>
                  </a:lnTo>
                  <a:lnTo>
                    <a:pt x="60350" y="389869"/>
                  </a:lnTo>
                </a:path>
                <a:path w="135889" h="819150">
                  <a:moveTo>
                    <a:pt x="50200" y="424586"/>
                  </a:moveTo>
                  <a:lnTo>
                    <a:pt x="48600" y="430453"/>
                  </a:lnTo>
                  <a:lnTo>
                    <a:pt x="44851" y="444886"/>
                  </a:lnTo>
                  <a:lnTo>
                    <a:pt x="40584" y="459836"/>
                  </a:lnTo>
                </a:path>
                <a:path w="135889" h="819150">
                  <a:moveTo>
                    <a:pt x="44851" y="444886"/>
                  </a:moveTo>
                  <a:lnTo>
                    <a:pt x="40584" y="459836"/>
                  </a:lnTo>
                </a:path>
                <a:path w="135889" h="819150">
                  <a:moveTo>
                    <a:pt x="32567" y="495086"/>
                  </a:moveTo>
                  <a:lnTo>
                    <a:pt x="29900" y="507903"/>
                  </a:lnTo>
                  <a:lnTo>
                    <a:pt x="26167" y="524987"/>
                  </a:lnTo>
                  <a:lnTo>
                    <a:pt x="25100" y="530870"/>
                  </a:lnTo>
                </a:path>
                <a:path w="135889" h="819150">
                  <a:moveTo>
                    <a:pt x="19217" y="566120"/>
                  </a:moveTo>
                  <a:lnTo>
                    <a:pt x="14950" y="594954"/>
                  </a:lnTo>
                  <a:lnTo>
                    <a:pt x="14417" y="601903"/>
                  </a:lnTo>
                </a:path>
                <a:path w="135889" h="819150">
                  <a:moveTo>
                    <a:pt x="10134" y="637687"/>
                  </a:moveTo>
                  <a:lnTo>
                    <a:pt x="9601" y="641421"/>
                  </a:lnTo>
                  <a:lnTo>
                    <a:pt x="8000" y="657438"/>
                  </a:lnTo>
                  <a:lnTo>
                    <a:pt x="6934" y="674004"/>
                  </a:lnTo>
                </a:path>
                <a:path w="135889" h="819150">
                  <a:moveTo>
                    <a:pt x="8000" y="657438"/>
                  </a:moveTo>
                  <a:lnTo>
                    <a:pt x="6934" y="674004"/>
                  </a:lnTo>
                </a:path>
                <a:path w="135889" h="819150">
                  <a:moveTo>
                    <a:pt x="4267" y="710321"/>
                  </a:moveTo>
                  <a:lnTo>
                    <a:pt x="3200" y="724738"/>
                  </a:lnTo>
                  <a:lnTo>
                    <a:pt x="2133" y="741822"/>
                  </a:lnTo>
                  <a:lnTo>
                    <a:pt x="2133" y="746638"/>
                  </a:lnTo>
                </a:path>
                <a:path w="135889" h="819150">
                  <a:moveTo>
                    <a:pt x="533" y="782421"/>
                  </a:moveTo>
                  <a:lnTo>
                    <a:pt x="0" y="794705"/>
                  </a:lnTo>
                  <a:lnTo>
                    <a:pt x="0" y="812322"/>
                  </a:lnTo>
                  <a:lnTo>
                    <a:pt x="0" y="818738"/>
                  </a:lnTo>
                </a:path>
              </a:pathLst>
            </a:custGeom>
            <a:ln w="1780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90652" y="5229173"/>
              <a:ext cx="2801402" cy="2452118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3542053" y="5397879"/>
            <a:ext cx="8699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u</a:t>
            </a:r>
            <a:endParaRPr sz="10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570681" y="5464638"/>
            <a:ext cx="8001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v</a:t>
            </a:r>
            <a:endParaRPr sz="105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498260" y="6251862"/>
            <a:ext cx="8001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endParaRPr sz="10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074526" y="5477990"/>
            <a:ext cx="8699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0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690313" y="6503947"/>
            <a:ext cx="8001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FFFF00"/>
                </a:solidFill>
                <a:latin typeface="Arial"/>
                <a:cs typeface="Arial"/>
              </a:rPr>
              <a:t>y</a:t>
            </a:r>
            <a:endParaRPr sz="105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235299" y="7504846"/>
            <a:ext cx="6092190" cy="14763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609600">
              <a:lnSpc>
                <a:spcPct val="100000"/>
              </a:lnSpc>
              <a:spcBef>
                <a:spcPts val="100"/>
              </a:spcBef>
            </a:pPr>
            <a:r>
              <a:rPr dirty="0" sz="1250" b="1" i="1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2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ctr" marR="32512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8.50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37">
                <a:latin typeface="Cambria"/>
                <a:cs typeface="Cambri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y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</a:pPr>
            <a:endParaRPr sz="14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250">
              <a:latin typeface="Garamond"/>
              <a:cs typeface="Garamond"/>
            </a:endParaRPr>
          </a:p>
          <a:p>
            <a:pPr marL="50800" marR="43180">
              <a:lnSpc>
                <a:spcPct val="100000"/>
              </a:lnSpc>
            </a:pP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1250" sz="1200" spc="112">
                <a:latin typeface="Cambria"/>
                <a:cs typeface="Cambria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y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light</a:t>
            </a:r>
            <a:r>
              <a:rPr dirty="0" sz="1200" spc="-5">
                <a:latin typeface="Times New Roman"/>
                <a:cs typeface="Times New Roman"/>
              </a:rPr>
              <a:t>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ro</a:t>
            </a:r>
            <a:r>
              <a:rPr dirty="0" sz="1200" spc="-5">
                <a:latin typeface="Times New Roman"/>
                <a:cs typeface="Times New Roman"/>
              </a:rPr>
              <a:t>ss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y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-155">
                <a:latin typeface="Lucida Sans Unicode"/>
                <a:cs typeface="Lucida Sans Unicode"/>
              </a:rPr>
              <a:t> </a:t>
            </a:r>
            <a:r>
              <a:rPr dirty="0" cap="small" baseline="31250" sz="1200" spc="112">
                <a:latin typeface="Cambria"/>
                <a:cs typeface="Cambria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ontr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di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</a:t>
            </a:r>
            <a:r>
              <a:rPr dirty="0" sz="1200" spc="-10">
                <a:latin typeface="Times New Roman"/>
                <a:cs typeface="Times New Roman"/>
              </a:rPr>
              <a:t>umptio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T</a:t>
            </a:r>
            <a:r>
              <a:rPr dirty="0" sz="1200" spc="50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MS</a:t>
            </a:r>
            <a:r>
              <a:rPr dirty="0" sz="1200" spc="-9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64933" y="6147168"/>
            <a:ext cx="3416300" cy="138430"/>
          </a:xfrm>
          <a:custGeom>
            <a:avLst/>
            <a:gdLst/>
            <a:ahLst/>
            <a:cxnLst/>
            <a:rect l="l" t="t" r="r" b="b"/>
            <a:pathLst>
              <a:path w="3416300" h="138429">
                <a:moveTo>
                  <a:pt x="3415969" y="0"/>
                </a:moveTo>
                <a:lnTo>
                  <a:pt x="0" y="0"/>
                </a:lnTo>
                <a:lnTo>
                  <a:pt x="0" y="138010"/>
                </a:lnTo>
                <a:lnTo>
                  <a:pt x="3415969" y="138010"/>
                </a:lnTo>
                <a:lnTo>
                  <a:pt x="3415969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914400" y="3614623"/>
            <a:ext cx="5619750" cy="138430"/>
          </a:xfrm>
          <a:custGeom>
            <a:avLst/>
            <a:gdLst/>
            <a:ahLst/>
            <a:cxnLst/>
            <a:rect l="l" t="t" r="r" b="b"/>
            <a:pathLst>
              <a:path w="5619750" h="138429">
                <a:moveTo>
                  <a:pt x="5619699" y="0"/>
                </a:moveTo>
                <a:lnTo>
                  <a:pt x="0" y="0"/>
                </a:lnTo>
                <a:lnTo>
                  <a:pt x="0" y="138023"/>
                </a:lnTo>
                <a:lnTo>
                  <a:pt x="5619699" y="138023"/>
                </a:lnTo>
                <a:lnTo>
                  <a:pt x="5619699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460982" y="967447"/>
            <a:ext cx="1617980" cy="163195"/>
          </a:xfrm>
          <a:custGeom>
            <a:avLst/>
            <a:gdLst/>
            <a:ahLst/>
            <a:cxnLst/>
            <a:rect l="l" t="t" r="r" b="b"/>
            <a:pathLst>
              <a:path w="1617980" h="163194">
                <a:moveTo>
                  <a:pt x="1617903" y="0"/>
                </a:moveTo>
                <a:lnTo>
                  <a:pt x="0" y="0"/>
                </a:lnTo>
                <a:lnTo>
                  <a:pt x="0" y="162712"/>
                </a:lnTo>
                <a:lnTo>
                  <a:pt x="1617903" y="162712"/>
                </a:lnTo>
                <a:lnTo>
                  <a:pt x="1617903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01699" y="520987"/>
            <a:ext cx="2357755" cy="6197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8.5.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SPANNING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8.5.3	</a:t>
            </a:r>
            <a:r>
              <a:rPr dirty="0" sz="1400" spc="5" b="1">
                <a:latin typeface="Times New Roman"/>
                <a:cs typeface="Times New Roman"/>
              </a:rPr>
              <a:t>Kruskal’s</a:t>
            </a:r>
            <a:r>
              <a:rPr dirty="0" sz="1400" spc="-30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14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1696" y="3555467"/>
            <a:ext cx="6375400" cy="11906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19685">
              <a:lnSpc>
                <a:spcPct val="100000"/>
              </a:lnSpc>
              <a:spcBef>
                <a:spcPts val="95"/>
              </a:spcBef>
            </a:pPr>
            <a:r>
              <a:rPr dirty="0" sz="1200" spc="-15">
                <a:latin typeface="Times New Roman"/>
                <a:cs typeface="Times New Roman"/>
              </a:rPr>
              <a:t>Kruskal’s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increasing 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(lightest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first).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next </a:t>
            </a:r>
            <a:r>
              <a:rPr dirty="0" sz="1200" spc="-5">
                <a:latin typeface="Times New Roman"/>
                <a:cs typeface="Times New Roman"/>
              </a:rPr>
              <a:t> edge does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among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current 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edges,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added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does,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skip it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next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order.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runs,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forest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trees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forest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eventually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until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single</a:t>
            </a:r>
            <a:r>
              <a:rPr dirty="0" sz="1200" spc="-5">
                <a:latin typeface="Times New Roman"/>
                <a:cs typeface="Times New Roman"/>
              </a:rPr>
              <a:t> 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containing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vertices.</a:t>
            </a:r>
            <a:endParaRPr sz="1200">
              <a:latin typeface="Times New Roman"/>
              <a:cs typeface="Times New Roman"/>
            </a:endParaRPr>
          </a:p>
          <a:p>
            <a:pPr marL="12700" marR="5080" indent="-635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tricky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detect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addition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create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Suppose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edge being considered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 spc="-5">
                <a:latin typeface="Times New Roman"/>
                <a:cs typeface="Times New Roman"/>
              </a:rPr>
              <a:t> a </a:t>
            </a:r>
            <a:r>
              <a:rPr dirty="0" sz="1200" spc="-10">
                <a:latin typeface="Times New Roman"/>
                <a:cs typeface="Times New Roman"/>
              </a:rPr>
              <a:t>fast</a:t>
            </a:r>
            <a:r>
              <a:rPr dirty="0" sz="1200" spc="-5">
                <a:latin typeface="Times New Roman"/>
                <a:cs typeface="Times New Roman"/>
              </a:rPr>
              <a:t> 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tells us whether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01720" y="4721670"/>
            <a:ext cx="17030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A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592108" y="4780826"/>
            <a:ext cx="4328160" cy="17716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Union-Find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structure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supports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14425" y="4957597"/>
            <a:ext cx="1678305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-10">
                <a:latin typeface="Times New Roman"/>
                <a:cs typeface="Times New Roman"/>
              </a:rPr>
              <a:t>foll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win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O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i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545941" y="4905121"/>
            <a:ext cx="2787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14425" y="5248084"/>
            <a:ext cx="3361054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 b="1">
                <a:latin typeface="Times New Roman"/>
                <a:cs typeface="Times New Roman"/>
              </a:rPr>
              <a:t>Create-set(u):</a:t>
            </a:r>
            <a:r>
              <a:rPr dirty="0" sz="1200" spc="29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Create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containing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single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14425" y="5558066"/>
            <a:ext cx="2498090" cy="13589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 b="1">
                <a:latin typeface="Times New Roman"/>
                <a:cs typeface="Times New Roman"/>
              </a:rPr>
              <a:t>Find-set(u):</a:t>
            </a:r>
            <a:r>
              <a:rPr dirty="0" sz="1200" spc="26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contains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14412" y="5868047"/>
            <a:ext cx="489204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 b="1">
                <a:latin typeface="Times New Roman"/>
                <a:cs typeface="Times New Roman"/>
              </a:rPr>
              <a:t>Union(u,v):</a:t>
            </a:r>
            <a:r>
              <a:rPr dirty="0" sz="1200" spc="30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containing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containing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common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914400" y="6927036"/>
            <a:ext cx="5486400" cy="2084070"/>
          </a:xfrm>
          <a:custGeom>
            <a:avLst/>
            <a:gdLst/>
            <a:ahLst/>
            <a:cxnLst/>
            <a:rect l="l" t="t" r="r" b="b"/>
            <a:pathLst>
              <a:path w="5486400" h="2084070">
                <a:moveTo>
                  <a:pt x="1008761" y="701040"/>
                </a:moveTo>
                <a:lnTo>
                  <a:pt x="963168" y="701040"/>
                </a:lnTo>
                <a:lnTo>
                  <a:pt x="963168" y="706170"/>
                </a:lnTo>
                <a:lnTo>
                  <a:pt x="1008761" y="706170"/>
                </a:lnTo>
                <a:lnTo>
                  <a:pt x="1008761" y="701040"/>
                </a:lnTo>
                <a:close/>
              </a:path>
              <a:path w="5486400" h="2084070">
                <a:moveTo>
                  <a:pt x="5486400" y="0"/>
                </a:moveTo>
                <a:lnTo>
                  <a:pt x="0" y="0"/>
                </a:lnTo>
                <a:lnTo>
                  <a:pt x="0" y="4419"/>
                </a:lnTo>
                <a:lnTo>
                  <a:pt x="0" y="5130"/>
                </a:lnTo>
                <a:lnTo>
                  <a:pt x="0" y="2083866"/>
                </a:lnTo>
                <a:lnTo>
                  <a:pt x="5130" y="2083866"/>
                </a:lnTo>
                <a:lnTo>
                  <a:pt x="513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901717" y="6088012"/>
            <a:ext cx="6426200" cy="2689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5">
                <a:latin typeface="Times New Roman"/>
                <a:cs typeface="Times New Roman"/>
              </a:rPr>
              <a:t>Kruskal’s </a:t>
            </a:r>
            <a:r>
              <a:rPr dirty="0" sz="1200" spc="-10">
                <a:latin typeface="Times New Roman"/>
                <a:cs typeface="Times New Roman"/>
              </a:rPr>
              <a:t>algorithm, the vertices will </a:t>
            </a:r>
            <a:r>
              <a:rPr dirty="0" sz="1200" spc="-5">
                <a:latin typeface="Times New Roman"/>
                <a:cs typeface="Times New Roman"/>
              </a:rPr>
              <a:t>be stored in sets. The </a:t>
            </a:r>
            <a:r>
              <a:rPr dirty="0" sz="1200" spc="-10">
                <a:latin typeface="Times New Roman"/>
                <a:cs typeface="Times New Roman"/>
              </a:rPr>
              <a:t>vertices </a:t>
            </a:r>
            <a:r>
              <a:rPr dirty="0" sz="1200" spc="-5">
                <a:latin typeface="Times New Roman"/>
                <a:cs typeface="Times New Roman"/>
              </a:rPr>
              <a:t>in each tree of </a:t>
            </a:r>
            <a:r>
              <a:rPr dirty="0" sz="1200" spc="90">
                <a:latin typeface="Lucida Sans Unicode"/>
                <a:cs typeface="Lucida Sans Unicode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be a set. 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 in </a:t>
            </a:r>
            <a:r>
              <a:rPr dirty="0" sz="1200" spc="90">
                <a:latin typeface="Lucida Sans Unicode"/>
                <a:cs typeface="Lucida Sans Unicode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can be stored as a </a:t>
            </a:r>
            <a:r>
              <a:rPr dirty="0" sz="1200" spc="-10">
                <a:latin typeface="Times New Roman"/>
                <a:cs typeface="Times New Roman"/>
              </a:rPr>
              <a:t>simple </a:t>
            </a:r>
            <a:r>
              <a:rPr dirty="0" sz="1200" spc="-5">
                <a:latin typeface="Times New Roman"/>
                <a:cs typeface="Times New Roman"/>
              </a:rPr>
              <a:t>list. Here is </a:t>
            </a:r>
            <a:r>
              <a:rPr dirty="0" sz="1200" spc="-10">
                <a:latin typeface="Times New Roman"/>
                <a:cs typeface="Times New Roman"/>
              </a:rPr>
              <a:t>the algorithm: </a:t>
            </a:r>
            <a:r>
              <a:rPr dirty="0" sz="1200" spc="-5">
                <a:latin typeface="Times New Roman"/>
                <a:cs typeface="Times New Roman"/>
              </a:rPr>
              <a:t>Figures </a:t>
            </a:r>
            <a:r>
              <a:rPr dirty="0" sz="1200" spc="-10">
                <a:latin typeface="Times New Roman"/>
                <a:cs typeface="Times New Roman"/>
              </a:rPr>
              <a:t>8.51 through </a:t>
            </a:r>
            <a:r>
              <a:rPr dirty="0" sz="1200" spc="-5" b="1">
                <a:latin typeface="Times New Roman"/>
                <a:cs typeface="Times New Roman"/>
              </a:rPr>
              <a:t>?? </a:t>
            </a:r>
            <a:r>
              <a:rPr dirty="0" sz="1200" spc="-10">
                <a:latin typeface="Times New Roman"/>
                <a:cs typeface="Times New Roman"/>
              </a:rPr>
              <a:t>demonstrate 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-5">
                <a:latin typeface="Times New Roman"/>
                <a:cs typeface="Times New Roman"/>
              </a:rPr>
              <a:t> applied to a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900">
              <a:latin typeface="Times New Roman"/>
              <a:cs typeface="Times New Roman"/>
            </a:endParaRPr>
          </a:p>
          <a:p>
            <a:pPr algn="just" marL="59055">
              <a:lnSpc>
                <a:spcPct val="100000"/>
              </a:lnSpc>
            </a:pPr>
            <a:r>
              <a:rPr dirty="0" sz="950" spc="55">
                <a:latin typeface="Times New Roman"/>
                <a:cs typeface="Times New Roman"/>
              </a:rPr>
              <a:t>K</a:t>
            </a:r>
            <a:r>
              <a:rPr dirty="0" sz="950" spc="20">
                <a:latin typeface="Times New Roman"/>
                <a:cs typeface="Times New Roman"/>
              </a:rPr>
              <a:t>R</a:t>
            </a:r>
            <a:r>
              <a:rPr dirty="0" sz="950" spc="55">
                <a:latin typeface="Times New Roman"/>
                <a:cs typeface="Times New Roman"/>
              </a:rPr>
              <a:t>USKA</a:t>
            </a:r>
            <a:r>
              <a:rPr dirty="0" sz="950" spc="25">
                <a:latin typeface="Times New Roman"/>
                <a:cs typeface="Times New Roman"/>
              </a:rPr>
              <a:t>L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2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93345">
              <a:lnSpc>
                <a:spcPct val="100000"/>
              </a:lnSpc>
              <a:spcBef>
                <a:spcPts val="5"/>
              </a:spcBef>
              <a:tabLst>
                <a:tab pos="321310" algn="l"/>
              </a:tabLst>
            </a:pPr>
            <a:r>
              <a:rPr dirty="0" sz="1200" spc="-5">
                <a:latin typeface="Times New Roman"/>
                <a:cs typeface="Times New Roman"/>
              </a:rPr>
              <a:t>1	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{}</a:t>
            </a:r>
            <a:endParaRPr sz="1200">
              <a:latin typeface="Lucida Sans Unicode"/>
              <a:cs typeface="Lucida Sans Unicode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321310" algn="l"/>
                <a:tab pos="32194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V</a:t>
            </a:r>
            <a:r>
              <a:rPr dirty="0" sz="1200" spc="9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create</a:t>
            </a:r>
            <a:r>
              <a:rPr dirty="0" sz="1200" spc="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set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</a:t>
            </a:r>
            <a:r>
              <a:rPr dirty="0" sz="1200" spc="2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34010" indent="-241300">
              <a:lnSpc>
                <a:spcPct val="100000"/>
              </a:lnSpc>
              <a:spcBef>
                <a:spcPts val="5"/>
              </a:spcBef>
              <a:buAutoNum type="arabicPlain" startAt="2"/>
              <a:tabLst>
                <a:tab pos="334010" algn="l"/>
                <a:tab pos="334645" algn="l"/>
              </a:tabLst>
            </a:pPr>
            <a:r>
              <a:rPr dirty="0" sz="1200" spc="-5">
                <a:latin typeface="Times New Roman"/>
                <a:cs typeface="Times New Roman"/>
              </a:rPr>
              <a:t>sort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increasing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weight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endParaRPr sz="1200">
              <a:latin typeface="Lucida Sans Unicode"/>
              <a:cs typeface="Lucida Sans Unicode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321310" algn="l"/>
                <a:tab pos="32194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ort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if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find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u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50">
                <a:latin typeface="Segoe UI Symbol"/>
                <a:cs typeface="Segoe UI Symbol"/>
              </a:rPr>
              <a:t>/</a:t>
            </a:r>
            <a:r>
              <a:rPr dirty="0" sz="1200" spc="50">
                <a:latin typeface="Garamond"/>
                <a:cs typeface="Garamond"/>
              </a:rPr>
              <a:t>=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find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v</a:t>
            </a:r>
            <a:r>
              <a:rPr dirty="0" sz="1200" spc="55">
                <a:latin typeface="Garamond"/>
                <a:cs typeface="Garamond"/>
              </a:rPr>
              <a:t>))</a:t>
            </a:r>
            <a:endParaRPr sz="1200">
              <a:latin typeface="Garamond"/>
              <a:cs typeface="Garamond"/>
            </a:endParaRPr>
          </a:p>
          <a:p>
            <a:pPr marL="650240" indent="-55753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650240" algn="l"/>
                <a:tab pos="650875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endParaRPr sz="1200">
              <a:latin typeface="Lucida Sans Unicode"/>
              <a:cs typeface="Lucida Sans Unicode"/>
            </a:endParaRPr>
          </a:p>
          <a:p>
            <a:pPr marL="974725" indent="-882015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974725" algn="l"/>
                <a:tab pos="97536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70">
                <a:latin typeface="Lucida Sans Unicode"/>
                <a:cs typeface="Lucida Sans Unicode"/>
              </a:rPr>
              <a:t>o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321310" algn="l"/>
                <a:tab pos="32194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return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914400" y="6931456"/>
            <a:ext cx="5487035" cy="2084070"/>
          </a:xfrm>
          <a:custGeom>
            <a:avLst/>
            <a:gdLst/>
            <a:ahLst/>
            <a:cxnLst/>
            <a:rect l="l" t="t" r="r" b="b"/>
            <a:pathLst>
              <a:path w="5487035" h="2084070">
                <a:moveTo>
                  <a:pt x="5486959" y="0"/>
                </a:moveTo>
                <a:lnTo>
                  <a:pt x="5481828" y="0"/>
                </a:lnTo>
                <a:lnTo>
                  <a:pt x="5481828" y="2078888"/>
                </a:lnTo>
                <a:lnTo>
                  <a:pt x="0" y="2078888"/>
                </a:lnTo>
                <a:lnTo>
                  <a:pt x="0" y="2084019"/>
                </a:lnTo>
                <a:lnTo>
                  <a:pt x="5486400" y="2084019"/>
                </a:lnTo>
                <a:lnTo>
                  <a:pt x="5486400" y="2079447"/>
                </a:lnTo>
                <a:lnTo>
                  <a:pt x="5486959" y="2079447"/>
                </a:lnTo>
                <a:lnTo>
                  <a:pt x="5486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14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72411" y="939236"/>
            <a:ext cx="4648200" cy="1875155"/>
            <a:chOff x="1772411" y="939236"/>
            <a:chExt cx="4648200" cy="1875155"/>
          </a:xfrm>
        </p:grpSpPr>
        <p:sp>
          <p:nvSpPr>
            <p:cNvPr id="5" name="object 5"/>
            <p:cNvSpPr/>
            <p:nvPr/>
          </p:nvSpPr>
          <p:spPr>
            <a:xfrm>
              <a:off x="1772411" y="939236"/>
              <a:ext cx="4648200" cy="1875155"/>
            </a:xfrm>
            <a:custGeom>
              <a:avLst/>
              <a:gdLst/>
              <a:ahLst/>
              <a:cxnLst/>
              <a:rect l="l" t="t" r="r" b="b"/>
              <a:pathLst>
                <a:path w="4648200" h="1875155">
                  <a:moveTo>
                    <a:pt x="4648001" y="0"/>
                  </a:moveTo>
                  <a:lnTo>
                    <a:pt x="0" y="0"/>
                  </a:lnTo>
                  <a:lnTo>
                    <a:pt x="0" y="1875083"/>
                  </a:lnTo>
                  <a:lnTo>
                    <a:pt x="4648001" y="1875083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130265" y="1775333"/>
              <a:ext cx="272415" cy="173355"/>
            </a:xfrm>
            <a:custGeom>
              <a:avLst/>
              <a:gdLst/>
              <a:ahLst/>
              <a:cxnLst/>
              <a:rect l="l" t="t" r="r" b="b"/>
              <a:pathLst>
                <a:path w="272414" h="173355">
                  <a:moveTo>
                    <a:pt x="0" y="0"/>
                  </a:moveTo>
                  <a:lnTo>
                    <a:pt x="49514" y="86486"/>
                  </a:lnTo>
                  <a:lnTo>
                    <a:pt x="0" y="172973"/>
                  </a:lnTo>
                  <a:lnTo>
                    <a:pt x="206639" y="107609"/>
                  </a:lnTo>
                  <a:lnTo>
                    <a:pt x="197403" y="160431"/>
                  </a:lnTo>
                  <a:lnTo>
                    <a:pt x="272003" y="86486"/>
                  </a:lnTo>
                  <a:lnTo>
                    <a:pt x="197403" y="12542"/>
                  </a:lnTo>
                  <a:lnTo>
                    <a:pt x="206639" y="646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130265" y="1775333"/>
              <a:ext cx="272415" cy="173355"/>
            </a:xfrm>
            <a:custGeom>
              <a:avLst/>
              <a:gdLst/>
              <a:ahLst/>
              <a:cxnLst/>
              <a:rect l="l" t="t" r="r" b="b"/>
              <a:pathLst>
                <a:path w="272414" h="173355">
                  <a:moveTo>
                    <a:pt x="272003" y="86486"/>
                  </a:moveTo>
                  <a:lnTo>
                    <a:pt x="197403" y="160431"/>
                  </a:lnTo>
                  <a:lnTo>
                    <a:pt x="206639" y="107609"/>
                  </a:lnTo>
                  <a:lnTo>
                    <a:pt x="0" y="172973"/>
                  </a:lnTo>
                  <a:lnTo>
                    <a:pt x="49514" y="86486"/>
                  </a:lnTo>
                  <a:lnTo>
                    <a:pt x="0" y="0"/>
                  </a:lnTo>
                  <a:lnTo>
                    <a:pt x="206639" y="64693"/>
                  </a:lnTo>
                  <a:lnTo>
                    <a:pt x="197403" y="12542"/>
                  </a:lnTo>
                  <a:lnTo>
                    <a:pt x="272003" y="86486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03904" y="988911"/>
              <a:ext cx="181782" cy="16989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10722" y="1392298"/>
              <a:ext cx="181782" cy="16989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98411" y="1392298"/>
              <a:ext cx="181782" cy="16989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10722" y="2183894"/>
              <a:ext cx="181782" cy="16989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98411" y="2183894"/>
              <a:ext cx="181782" cy="169895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001286" y="1476918"/>
              <a:ext cx="988060" cy="1108075"/>
            </a:xfrm>
            <a:custGeom>
              <a:avLst/>
              <a:gdLst/>
              <a:ahLst/>
              <a:cxnLst/>
              <a:rect l="l" t="t" r="r" b="b"/>
              <a:pathLst>
                <a:path w="988060" h="1108075">
                  <a:moveTo>
                    <a:pt x="88468" y="0"/>
                  </a:moveTo>
                  <a:lnTo>
                    <a:pt x="899876" y="0"/>
                  </a:lnTo>
                </a:path>
                <a:path w="988060" h="1108075">
                  <a:moveTo>
                    <a:pt x="987689" y="83179"/>
                  </a:moveTo>
                  <a:lnTo>
                    <a:pt x="987689" y="709071"/>
                  </a:lnTo>
                </a:path>
                <a:path w="988060" h="1108075">
                  <a:moveTo>
                    <a:pt x="508375" y="1107841"/>
                  </a:moveTo>
                  <a:lnTo>
                    <a:pt x="507050" y="479968"/>
                  </a:lnTo>
                </a:path>
                <a:path w="988060" h="1108075">
                  <a:moveTo>
                    <a:pt x="0" y="83179"/>
                  </a:moveTo>
                  <a:lnTo>
                    <a:pt x="0" y="709071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1978836" y="1396933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7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976196" y="2188532"/>
            <a:ext cx="61594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75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971141" y="2197116"/>
            <a:ext cx="40005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2061156" y="1530174"/>
            <a:ext cx="874394" cy="683260"/>
            <a:chOff x="2061156" y="1530174"/>
            <a:chExt cx="874394" cy="683260"/>
          </a:xfrm>
        </p:grpSpPr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17772" y="1789742"/>
              <a:ext cx="181782" cy="169240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064014" y="1533032"/>
              <a:ext cx="868680" cy="677545"/>
            </a:xfrm>
            <a:custGeom>
              <a:avLst/>
              <a:gdLst/>
              <a:ahLst/>
              <a:cxnLst/>
              <a:rect l="l" t="t" r="r" b="b"/>
              <a:pathLst>
                <a:path w="868680" h="677544">
                  <a:moveTo>
                    <a:pt x="0" y="2636"/>
                  </a:moveTo>
                  <a:lnTo>
                    <a:pt x="379613" y="289834"/>
                  </a:lnTo>
                </a:path>
                <a:path w="868680" h="677544">
                  <a:moveTo>
                    <a:pt x="515630" y="393496"/>
                  </a:moveTo>
                  <a:lnTo>
                    <a:pt x="868177" y="672754"/>
                  </a:lnTo>
                </a:path>
                <a:path w="868680" h="677544">
                  <a:moveTo>
                    <a:pt x="515630" y="286527"/>
                  </a:moveTo>
                  <a:lnTo>
                    <a:pt x="860252" y="0"/>
                  </a:lnTo>
                </a:path>
                <a:path w="868680" h="677544">
                  <a:moveTo>
                    <a:pt x="378302" y="388863"/>
                  </a:moveTo>
                  <a:lnTo>
                    <a:pt x="0" y="677387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2141257" y="2451299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197375" y="1901999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12</a:t>
            </a:r>
            <a:endParaRPr sz="75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720927" y="1927086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30</a:t>
            </a:r>
            <a:endParaRPr sz="7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368371" y="2207017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14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2044651" y="1123480"/>
            <a:ext cx="898525" cy="1628775"/>
            <a:chOff x="2044651" y="1123480"/>
            <a:chExt cx="898525" cy="1628775"/>
          </a:xfrm>
        </p:grpSpPr>
        <p:pic>
          <p:nvPicPr>
            <p:cNvPr id="25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19098" y="2582009"/>
              <a:ext cx="181782" cy="16989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047509" y="1126337"/>
              <a:ext cx="892810" cy="1504950"/>
            </a:xfrm>
            <a:custGeom>
              <a:avLst/>
              <a:gdLst/>
              <a:ahLst/>
              <a:cxnLst/>
              <a:rect l="l" t="t" r="r" b="b"/>
              <a:pathLst>
                <a:path w="892810" h="1504950">
                  <a:moveTo>
                    <a:pt x="9235" y="1206870"/>
                  </a:moveTo>
                  <a:lnTo>
                    <a:pt x="376321" y="1504629"/>
                  </a:lnTo>
                </a:path>
                <a:path w="892810" h="1504950">
                  <a:moveTo>
                    <a:pt x="548639" y="1498031"/>
                  </a:moveTo>
                  <a:lnTo>
                    <a:pt x="892606" y="1211503"/>
                  </a:lnTo>
                </a:path>
                <a:path w="892810" h="1504950">
                  <a:moveTo>
                    <a:pt x="516285" y="5288"/>
                  </a:moveTo>
                  <a:lnTo>
                    <a:pt x="886663" y="286542"/>
                  </a:lnTo>
                </a:path>
                <a:path w="892810" h="1504950">
                  <a:moveTo>
                    <a:pt x="378302" y="0"/>
                  </a:moveTo>
                  <a:lnTo>
                    <a:pt x="0" y="289178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/>
          <p:cNvSpPr txBox="1"/>
          <p:nvPr/>
        </p:nvSpPr>
        <p:spPr>
          <a:xfrm>
            <a:off x="1852078" y="1799662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18</a:t>
            </a:r>
            <a:endParaRPr sz="7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789585" y="2386595"/>
            <a:ext cx="67310" cy="2616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3517689" y="988911"/>
            <a:ext cx="1504950" cy="1598930"/>
            <a:chOff x="3517689" y="988911"/>
            <a:chExt cx="1504950" cy="1598930"/>
          </a:xfrm>
        </p:grpSpPr>
        <p:sp>
          <p:nvSpPr>
            <p:cNvPr id="30" name="object 30"/>
            <p:cNvSpPr/>
            <p:nvPr/>
          </p:nvSpPr>
          <p:spPr>
            <a:xfrm>
              <a:off x="4751755" y="1775333"/>
              <a:ext cx="271145" cy="173355"/>
            </a:xfrm>
            <a:custGeom>
              <a:avLst/>
              <a:gdLst/>
              <a:ahLst/>
              <a:cxnLst/>
              <a:rect l="l" t="t" r="r" b="b"/>
              <a:pathLst>
                <a:path w="271145" h="173355">
                  <a:moveTo>
                    <a:pt x="0" y="0"/>
                  </a:moveTo>
                  <a:lnTo>
                    <a:pt x="48844" y="86486"/>
                  </a:lnTo>
                  <a:lnTo>
                    <a:pt x="0" y="172973"/>
                  </a:lnTo>
                  <a:lnTo>
                    <a:pt x="205983" y="107609"/>
                  </a:lnTo>
                  <a:lnTo>
                    <a:pt x="196733" y="160431"/>
                  </a:lnTo>
                  <a:lnTo>
                    <a:pt x="270677" y="86486"/>
                  </a:lnTo>
                  <a:lnTo>
                    <a:pt x="196733" y="12542"/>
                  </a:lnTo>
                  <a:lnTo>
                    <a:pt x="205983" y="646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751755" y="1775333"/>
              <a:ext cx="271145" cy="173355"/>
            </a:xfrm>
            <a:custGeom>
              <a:avLst/>
              <a:gdLst/>
              <a:ahLst/>
              <a:cxnLst/>
              <a:rect l="l" t="t" r="r" b="b"/>
              <a:pathLst>
                <a:path w="271145" h="173355">
                  <a:moveTo>
                    <a:pt x="270677" y="86486"/>
                  </a:moveTo>
                  <a:lnTo>
                    <a:pt x="196733" y="160431"/>
                  </a:lnTo>
                  <a:lnTo>
                    <a:pt x="205983" y="107609"/>
                  </a:lnTo>
                  <a:lnTo>
                    <a:pt x="0" y="172973"/>
                  </a:lnTo>
                  <a:lnTo>
                    <a:pt x="48844" y="86486"/>
                  </a:lnTo>
                  <a:lnTo>
                    <a:pt x="0" y="0"/>
                  </a:lnTo>
                  <a:lnTo>
                    <a:pt x="205983" y="64693"/>
                  </a:lnTo>
                  <a:lnTo>
                    <a:pt x="196733" y="12542"/>
                  </a:lnTo>
                  <a:lnTo>
                    <a:pt x="270677" y="86486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010870" y="988911"/>
              <a:ext cx="182453" cy="169895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17689" y="1395590"/>
              <a:ext cx="182453" cy="169895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05378" y="1392298"/>
              <a:ext cx="181782" cy="169895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517689" y="2183894"/>
              <a:ext cx="182453" cy="169895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505378" y="2183894"/>
              <a:ext cx="181782" cy="169895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3608908" y="1476918"/>
              <a:ext cx="988060" cy="1108075"/>
            </a:xfrm>
            <a:custGeom>
              <a:avLst/>
              <a:gdLst/>
              <a:ahLst/>
              <a:cxnLst/>
              <a:rect l="l" t="t" r="r" b="b"/>
              <a:pathLst>
                <a:path w="988060" h="1108075">
                  <a:moveTo>
                    <a:pt x="88483" y="3962"/>
                  </a:moveTo>
                  <a:lnTo>
                    <a:pt x="899220" y="0"/>
                  </a:lnTo>
                </a:path>
                <a:path w="988060" h="1108075">
                  <a:moveTo>
                    <a:pt x="987689" y="83179"/>
                  </a:moveTo>
                  <a:lnTo>
                    <a:pt x="987689" y="709071"/>
                  </a:lnTo>
                </a:path>
                <a:path w="988060" h="1108075">
                  <a:moveTo>
                    <a:pt x="508375" y="1107841"/>
                  </a:moveTo>
                  <a:lnTo>
                    <a:pt x="507050" y="479968"/>
                  </a:lnTo>
                </a:path>
                <a:path w="988060" h="1108075">
                  <a:moveTo>
                    <a:pt x="0" y="86486"/>
                  </a:moveTo>
                  <a:lnTo>
                    <a:pt x="0" y="709071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/>
          <p:cNvSpPr txBox="1"/>
          <p:nvPr/>
        </p:nvSpPr>
        <p:spPr>
          <a:xfrm>
            <a:off x="3583165" y="2188532"/>
            <a:ext cx="61594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75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578770" y="2197116"/>
            <a:ext cx="40005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750">
              <a:latin typeface="Arial"/>
              <a:cs typeface="Arial"/>
            </a:endParaRPr>
          </a:p>
        </p:txBody>
      </p:sp>
      <p:pic>
        <p:nvPicPr>
          <p:cNvPr id="40" name="object 40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024739" y="1789742"/>
            <a:ext cx="182438" cy="169240"/>
          </a:xfrm>
          <a:prstGeom prst="rect">
            <a:avLst/>
          </a:prstGeom>
        </p:spPr>
      </p:pic>
      <p:sp>
        <p:nvSpPr>
          <p:cNvPr id="41" name="object 41"/>
          <p:cNvSpPr txBox="1"/>
          <p:nvPr/>
        </p:nvSpPr>
        <p:spPr>
          <a:xfrm>
            <a:off x="2477299" y="1786455"/>
            <a:ext cx="167513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  <a:tabLst>
                <a:tab pos="1607185" algn="l"/>
              </a:tabLst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3659093" y="1519164"/>
            <a:ext cx="883285" cy="694690"/>
            <a:chOff x="3659093" y="1519164"/>
            <a:chExt cx="883285" cy="694690"/>
          </a:xfrm>
        </p:grpSpPr>
        <p:sp>
          <p:nvSpPr>
            <p:cNvPr id="43" name="object 43"/>
            <p:cNvSpPr/>
            <p:nvPr/>
          </p:nvSpPr>
          <p:spPr>
            <a:xfrm>
              <a:off x="3659093" y="1519164"/>
              <a:ext cx="404495" cy="320675"/>
            </a:xfrm>
            <a:custGeom>
              <a:avLst/>
              <a:gdLst/>
              <a:ahLst/>
              <a:cxnLst/>
              <a:rect l="l" t="t" r="r" b="b"/>
              <a:pathLst>
                <a:path w="404495" h="320675">
                  <a:moveTo>
                    <a:pt x="25085" y="0"/>
                  </a:moveTo>
                  <a:lnTo>
                    <a:pt x="0" y="33009"/>
                  </a:lnTo>
                  <a:lnTo>
                    <a:pt x="378957" y="320207"/>
                  </a:lnTo>
                  <a:lnTo>
                    <a:pt x="404058" y="287197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671635" y="1533032"/>
              <a:ext cx="868044" cy="677545"/>
            </a:xfrm>
            <a:custGeom>
              <a:avLst/>
              <a:gdLst/>
              <a:ahLst/>
              <a:cxnLst/>
              <a:rect l="l" t="t" r="r" b="b"/>
              <a:pathLst>
                <a:path w="868045" h="677544">
                  <a:moveTo>
                    <a:pt x="515630" y="393496"/>
                  </a:moveTo>
                  <a:lnTo>
                    <a:pt x="867521" y="672754"/>
                  </a:lnTo>
                </a:path>
                <a:path w="868045" h="677544">
                  <a:moveTo>
                    <a:pt x="515630" y="286527"/>
                  </a:moveTo>
                  <a:lnTo>
                    <a:pt x="858941" y="0"/>
                  </a:lnTo>
                </a:path>
                <a:path w="868045" h="677544">
                  <a:moveTo>
                    <a:pt x="377647" y="388863"/>
                  </a:moveTo>
                  <a:lnTo>
                    <a:pt x="0" y="677387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/>
          <p:cNvSpPr txBox="1"/>
          <p:nvPr/>
        </p:nvSpPr>
        <p:spPr>
          <a:xfrm>
            <a:off x="3748225" y="2451299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804343" y="1901999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12</a:t>
            </a:r>
            <a:endParaRPr sz="75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328556" y="1927086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30</a:t>
            </a:r>
            <a:endParaRPr sz="75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982603" y="2207019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14</a:t>
            </a:r>
            <a:endParaRPr sz="750">
              <a:latin typeface="Arial"/>
              <a:cs typeface="Arial"/>
            </a:endParaRPr>
          </a:p>
        </p:txBody>
      </p:sp>
      <p:pic>
        <p:nvPicPr>
          <p:cNvPr id="49" name="object 4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026065" y="2582009"/>
            <a:ext cx="182438" cy="169895"/>
          </a:xfrm>
          <a:prstGeom prst="rect">
            <a:avLst/>
          </a:prstGeom>
        </p:spPr>
      </p:pic>
      <p:sp>
        <p:nvSpPr>
          <p:cNvPr id="50" name="object 50"/>
          <p:cNvSpPr txBox="1"/>
          <p:nvPr/>
        </p:nvSpPr>
        <p:spPr>
          <a:xfrm>
            <a:off x="2481261" y="2571454"/>
            <a:ext cx="167513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  <a:tabLst>
                <a:tab pos="1607185" algn="l"/>
              </a:tabLst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g</a:t>
            </a: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750">
              <a:latin typeface="Arial"/>
              <a:cs typeface="Arial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3655131" y="1126337"/>
            <a:ext cx="892175" cy="1504950"/>
          </a:xfrm>
          <a:custGeom>
            <a:avLst/>
            <a:gdLst/>
            <a:ahLst/>
            <a:cxnLst/>
            <a:rect l="l" t="t" r="r" b="b"/>
            <a:pathLst>
              <a:path w="892175" h="1504950">
                <a:moveTo>
                  <a:pt x="9235" y="1206870"/>
                </a:moveTo>
                <a:lnTo>
                  <a:pt x="375665" y="1504629"/>
                </a:lnTo>
              </a:path>
              <a:path w="892175" h="1504950">
                <a:moveTo>
                  <a:pt x="548639" y="1498031"/>
                </a:moveTo>
                <a:lnTo>
                  <a:pt x="891951" y="1211503"/>
                </a:lnTo>
              </a:path>
              <a:path w="892175" h="1504950">
                <a:moveTo>
                  <a:pt x="516285" y="5288"/>
                </a:moveTo>
                <a:lnTo>
                  <a:pt x="886007" y="286542"/>
                </a:lnTo>
              </a:path>
              <a:path w="892175" h="1504950">
                <a:moveTo>
                  <a:pt x="377647" y="0"/>
                </a:moveTo>
                <a:lnTo>
                  <a:pt x="0" y="289178"/>
                </a:lnTo>
              </a:path>
            </a:pathLst>
          </a:custGeom>
          <a:ln w="5501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 txBox="1"/>
          <p:nvPr/>
        </p:nvSpPr>
        <p:spPr>
          <a:xfrm>
            <a:off x="2996896" y="1806927"/>
            <a:ext cx="58420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  <a:tabLst>
                <a:tab pos="462280" algn="l"/>
              </a:tabLst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16</a:t>
            </a: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baseline="3703" sz="1125" spc="15" i="1">
                <a:solidFill>
                  <a:srgbClr val="FFFF00"/>
                </a:solidFill>
                <a:latin typeface="Arial"/>
                <a:cs typeface="Arial"/>
              </a:rPr>
              <a:t>18</a:t>
            </a:r>
            <a:endParaRPr baseline="3703" sz="1125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396554" y="2386595"/>
            <a:ext cx="67310" cy="2616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5111457" y="988911"/>
            <a:ext cx="1170305" cy="1598930"/>
            <a:chOff x="5111457" y="988911"/>
            <a:chExt cx="1170305" cy="1598930"/>
          </a:xfrm>
        </p:grpSpPr>
        <p:pic>
          <p:nvPicPr>
            <p:cNvPr id="55" name="object 5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604639" y="988911"/>
              <a:ext cx="182438" cy="169895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111457" y="1392298"/>
              <a:ext cx="181782" cy="169895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099146" y="1392298"/>
              <a:ext cx="182438" cy="169895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099146" y="2183894"/>
              <a:ext cx="182438" cy="169895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111457" y="2183894"/>
              <a:ext cx="181782" cy="169895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5202676" y="1476918"/>
              <a:ext cx="988060" cy="1108075"/>
            </a:xfrm>
            <a:custGeom>
              <a:avLst/>
              <a:gdLst/>
              <a:ahLst/>
              <a:cxnLst/>
              <a:rect l="l" t="t" r="r" b="b"/>
              <a:pathLst>
                <a:path w="988060" h="1108075">
                  <a:moveTo>
                    <a:pt x="87812" y="0"/>
                  </a:moveTo>
                  <a:lnTo>
                    <a:pt x="899220" y="0"/>
                  </a:lnTo>
                </a:path>
                <a:path w="988060" h="1108075">
                  <a:moveTo>
                    <a:pt x="987689" y="83179"/>
                  </a:moveTo>
                  <a:lnTo>
                    <a:pt x="987689" y="709071"/>
                  </a:lnTo>
                </a:path>
                <a:path w="988060" h="1108075">
                  <a:moveTo>
                    <a:pt x="508375" y="1107841"/>
                  </a:moveTo>
                  <a:lnTo>
                    <a:pt x="507050" y="479968"/>
                  </a:lnTo>
                </a:path>
                <a:path w="988060" h="1108075">
                  <a:moveTo>
                    <a:pt x="0" y="83179"/>
                  </a:moveTo>
                  <a:lnTo>
                    <a:pt x="0" y="709071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" name="object 61"/>
          <p:cNvSpPr txBox="1"/>
          <p:nvPr/>
        </p:nvSpPr>
        <p:spPr>
          <a:xfrm>
            <a:off x="5177585" y="2188532"/>
            <a:ext cx="61594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75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172530" y="2197116"/>
            <a:ext cx="40005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75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165268" y="1396933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750">
              <a:latin typeface="Arial"/>
              <a:cs typeface="Arial"/>
            </a:endParaRPr>
          </a:p>
        </p:txBody>
      </p:sp>
      <p:pic>
        <p:nvPicPr>
          <p:cNvPr id="64" name="object 64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5618507" y="1789742"/>
            <a:ext cx="181782" cy="169240"/>
          </a:xfrm>
          <a:prstGeom prst="rect">
            <a:avLst/>
          </a:prstGeom>
        </p:spPr>
      </p:pic>
      <p:sp>
        <p:nvSpPr>
          <p:cNvPr id="65" name="object 65"/>
          <p:cNvSpPr txBox="1"/>
          <p:nvPr/>
        </p:nvSpPr>
        <p:spPr>
          <a:xfrm>
            <a:off x="5678688" y="1786455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5252861" y="1517182"/>
            <a:ext cx="885825" cy="696595"/>
            <a:chOff x="5252861" y="1517182"/>
            <a:chExt cx="885825" cy="696595"/>
          </a:xfrm>
        </p:grpSpPr>
        <p:sp>
          <p:nvSpPr>
            <p:cNvPr id="67" name="object 67"/>
            <p:cNvSpPr/>
            <p:nvPr/>
          </p:nvSpPr>
          <p:spPr>
            <a:xfrm>
              <a:off x="5252861" y="1519164"/>
              <a:ext cx="404495" cy="320675"/>
            </a:xfrm>
            <a:custGeom>
              <a:avLst/>
              <a:gdLst/>
              <a:ahLst/>
              <a:cxnLst/>
              <a:rect l="l" t="t" r="r" b="b"/>
              <a:pathLst>
                <a:path w="404495" h="320675">
                  <a:moveTo>
                    <a:pt x="24414" y="0"/>
                  </a:moveTo>
                  <a:lnTo>
                    <a:pt x="0" y="33009"/>
                  </a:lnTo>
                  <a:lnTo>
                    <a:pt x="378957" y="320207"/>
                  </a:lnTo>
                  <a:lnTo>
                    <a:pt x="404042" y="287197"/>
                  </a:lnTo>
                  <a:lnTo>
                    <a:pt x="2441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5781034" y="1926529"/>
              <a:ext cx="352425" cy="279400"/>
            </a:xfrm>
            <a:custGeom>
              <a:avLst/>
              <a:gdLst/>
              <a:ahLst/>
              <a:cxnLst/>
              <a:rect l="l" t="t" r="r" b="b"/>
              <a:pathLst>
                <a:path w="352425" h="279400">
                  <a:moveTo>
                    <a:pt x="0" y="0"/>
                  </a:moveTo>
                  <a:lnTo>
                    <a:pt x="351891" y="279257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5767821" y="1517182"/>
              <a:ext cx="370840" cy="318770"/>
            </a:xfrm>
            <a:custGeom>
              <a:avLst/>
              <a:gdLst/>
              <a:ahLst/>
              <a:cxnLst/>
              <a:rect l="l" t="t" r="r" b="b"/>
              <a:pathLst>
                <a:path w="370839" h="318769">
                  <a:moveTo>
                    <a:pt x="343982" y="0"/>
                  </a:moveTo>
                  <a:lnTo>
                    <a:pt x="0" y="286542"/>
                  </a:lnTo>
                  <a:lnTo>
                    <a:pt x="25755" y="318226"/>
                  </a:lnTo>
                  <a:lnTo>
                    <a:pt x="370377" y="31699"/>
                  </a:lnTo>
                  <a:lnTo>
                    <a:pt x="34398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5265404" y="1921896"/>
              <a:ext cx="377825" cy="288925"/>
            </a:xfrm>
            <a:custGeom>
              <a:avLst/>
              <a:gdLst/>
              <a:ahLst/>
              <a:cxnLst/>
              <a:rect l="l" t="t" r="r" b="b"/>
              <a:pathLst>
                <a:path w="377825" h="288925">
                  <a:moveTo>
                    <a:pt x="377631" y="0"/>
                  </a:moveTo>
                  <a:lnTo>
                    <a:pt x="0" y="288523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" name="object 71"/>
          <p:cNvSpPr txBox="1"/>
          <p:nvPr/>
        </p:nvSpPr>
        <p:spPr>
          <a:xfrm>
            <a:off x="5341986" y="2451299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398764" y="1901999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12</a:t>
            </a:r>
            <a:endParaRPr sz="75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922317" y="1927086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30</a:t>
            </a:r>
            <a:endParaRPr sz="75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575043" y="2207019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14</a:t>
            </a:r>
            <a:endParaRPr sz="75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198287" y="1806928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16</a:t>
            </a:r>
            <a:endParaRPr sz="75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087659" y="941051"/>
            <a:ext cx="3969385" cy="744855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algn="ctr" marL="27305">
              <a:lnSpc>
                <a:spcPct val="100000"/>
              </a:lnSpc>
              <a:spcBef>
                <a:spcPts val="434"/>
              </a:spcBef>
              <a:tabLst>
                <a:tab pos="1635125" algn="l"/>
                <a:tab pos="3228340" algn="l"/>
              </a:tabLst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a	a	a</a:t>
            </a:r>
            <a:endParaRPr sz="750">
              <a:latin typeface="Arial"/>
              <a:cs typeface="Arial"/>
            </a:endParaRPr>
          </a:p>
          <a:p>
            <a:pPr algn="ctr" marR="5080">
              <a:lnSpc>
                <a:spcPct val="100000"/>
              </a:lnSpc>
              <a:spcBef>
                <a:spcPts val="345"/>
              </a:spcBef>
              <a:tabLst>
                <a:tab pos="573405" algn="l"/>
                <a:tab pos="1606550" algn="l"/>
                <a:tab pos="2181225" algn="l"/>
                <a:tab pos="3200400" algn="l"/>
                <a:tab pos="3774440" algn="l"/>
              </a:tabLst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8	</a:t>
            </a:r>
            <a:r>
              <a:rPr dirty="0" baseline="7407" sz="1125" spc="15" i="1">
                <a:solidFill>
                  <a:srgbClr val="FFFF00"/>
                </a:solidFill>
                <a:latin typeface="Arial"/>
                <a:cs typeface="Arial"/>
              </a:rPr>
              <a:t>5	</a:t>
            </a: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8	</a:t>
            </a:r>
            <a:r>
              <a:rPr dirty="0" baseline="7407" sz="1125" spc="15" i="1">
                <a:solidFill>
                  <a:srgbClr val="FFFF00"/>
                </a:solidFill>
                <a:latin typeface="Arial"/>
                <a:cs typeface="Arial"/>
              </a:rPr>
              <a:t>5	</a:t>
            </a: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8	</a:t>
            </a:r>
            <a:r>
              <a:rPr dirty="0" baseline="7407" sz="1125" spc="15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baseline="7407" sz="1125">
              <a:latin typeface="Arial"/>
              <a:cs typeface="Arial"/>
            </a:endParaRPr>
          </a:p>
          <a:p>
            <a:pPr algn="ctr" marL="58419">
              <a:lnSpc>
                <a:spcPts val="715"/>
              </a:lnSpc>
              <a:spcBef>
                <a:spcPts val="600"/>
              </a:spcBef>
              <a:tabLst>
                <a:tab pos="1665605" algn="l"/>
                <a:tab pos="3258820" algn="l"/>
              </a:tabLst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10	10	10</a:t>
            </a:r>
            <a:endParaRPr sz="750">
              <a:latin typeface="Arial"/>
              <a:cs typeface="Arial"/>
            </a:endParaRPr>
          </a:p>
          <a:p>
            <a:pPr algn="ctr" marL="54610">
              <a:lnSpc>
                <a:spcPts val="715"/>
              </a:lnSpc>
              <a:tabLst>
                <a:tab pos="676275" algn="l"/>
                <a:tab pos="1661160" algn="l"/>
                <a:tab pos="2270125" algn="l"/>
              </a:tabLst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e	b	e	b</a:t>
            </a:r>
            <a:endParaRPr sz="750">
              <a:latin typeface="Arial"/>
              <a:cs typeface="Arial"/>
            </a:endParaRPr>
          </a:p>
          <a:p>
            <a:pPr algn="ctr" marR="1536700">
              <a:lnSpc>
                <a:spcPct val="100000"/>
              </a:lnSpc>
              <a:spcBef>
                <a:spcPts val="250"/>
              </a:spcBef>
              <a:tabLst>
                <a:tab pos="377190" algn="l"/>
                <a:tab pos="1984375" algn="l"/>
              </a:tabLst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2	3	3</a:t>
            </a:r>
            <a:endParaRPr sz="750">
              <a:latin typeface="Arial"/>
              <a:cs typeface="Arial"/>
            </a:endParaRPr>
          </a:p>
        </p:txBody>
      </p:sp>
      <p:pic>
        <p:nvPicPr>
          <p:cNvPr id="77" name="object 77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5619818" y="2582009"/>
            <a:ext cx="181782" cy="169895"/>
          </a:xfrm>
          <a:prstGeom prst="rect">
            <a:avLst/>
          </a:prstGeom>
        </p:spPr>
      </p:pic>
      <p:sp>
        <p:nvSpPr>
          <p:cNvPr id="78" name="object 78"/>
          <p:cNvSpPr txBox="1"/>
          <p:nvPr/>
        </p:nvSpPr>
        <p:spPr>
          <a:xfrm>
            <a:off x="5682650" y="2571454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750">
              <a:latin typeface="Arial"/>
              <a:cs typeface="Arial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5248899" y="1126337"/>
            <a:ext cx="892175" cy="1504950"/>
          </a:xfrm>
          <a:custGeom>
            <a:avLst/>
            <a:gdLst/>
            <a:ahLst/>
            <a:cxnLst/>
            <a:rect l="l" t="t" r="r" b="b"/>
            <a:pathLst>
              <a:path w="892175" h="1504950">
                <a:moveTo>
                  <a:pt x="9235" y="1206870"/>
                </a:moveTo>
                <a:lnTo>
                  <a:pt x="375650" y="1504629"/>
                </a:lnTo>
              </a:path>
              <a:path w="892175" h="1504950">
                <a:moveTo>
                  <a:pt x="547969" y="1498031"/>
                </a:moveTo>
                <a:lnTo>
                  <a:pt x="891951" y="1211503"/>
                </a:lnTo>
              </a:path>
              <a:path w="892175" h="1504950">
                <a:moveTo>
                  <a:pt x="516285" y="5288"/>
                </a:moveTo>
                <a:lnTo>
                  <a:pt x="886007" y="286542"/>
                </a:lnTo>
              </a:path>
              <a:path w="892175" h="1504950">
                <a:moveTo>
                  <a:pt x="377631" y="0"/>
                </a:moveTo>
                <a:lnTo>
                  <a:pt x="0" y="289178"/>
                </a:lnTo>
              </a:path>
            </a:pathLst>
          </a:custGeom>
          <a:ln w="5501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 txBox="1"/>
          <p:nvPr/>
        </p:nvSpPr>
        <p:spPr>
          <a:xfrm>
            <a:off x="4603867" y="1806928"/>
            <a:ext cx="57023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  <a:tabLst>
                <a:tab pos="448309" algn="l"/>
              </a:tabLst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16</a:t>
            </a: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baseline="3703" sz="1125" spc="15" i="1">
                <a:solidFill>
                  <a:srgbClr val="FFFF00"/>
                </a:solidFill>
                <a:latin typeface="Arial"/>
                <a:cs typeface="Arial"/>
              </a:rPr>
              <a:t>18</a:t>
            </a:r>
            <a:endParaRPr baseline="3703" sz="1125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5990975" y="2386595"/>
            <a:ext cx="67310" cy="2616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400629" y="2889899"/>
            <a:ext cx="3428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8.51: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Kruskal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Garamond"/>
                <a:cs typeface="Garamond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b,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d</a:t>
            </a:r>
            <a:r>
              <a:rPr dirty="0" sz="1200" spc="3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d,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e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added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83" name="object 83"/>
          <p:cNvGrpSpPr/>
          <p:nvPr/>
        </p:nvGrpSpPr>
        <p:grpSpPr>
          <a:xfrm>
            <a:off x="1790700" y="3719728"/>
            <a:ext cx="4648200" cy="2178050"/>
            <a:chOff x="1790700" y="3719728"/>
            <a:chExt cx="4648200" cy="2178050"/>
          </a:xfrm>
        </p:grpSpPr>
        <p:sp>
          <p:nvSpPr>
            <p:cNvPr id="84" name="object 84"/>
            <p:cNvSpPr/>
            <p:nvPr/>
          </p:nvSpPr>
          <p:spPr>
            <a:xfrm>
              <a:off x="1790700" y="3719728"/>
              <a:ext cx="4648200" cy="2178050"/>
            </a:xfrm>
            <a:custGeom>
              <a:avLst/>
              <a:gdLst/>
              <a:ahLst/>
              <a:cxnLst/>
              <a:rect l="l" t="t" r="r" b="b"/>
              <a:pathLst>
                <a:path w="4648200" h="2178050">
                  <a:moveTo>
                    <a:pt x="4648001" y="0"/>
                  </a:moveTo>
                  <a:lnTo>
                    <a:pt x="0" y="0"/>
                  </a:lnTo>
                  <a:lnTo>
                    <a:pt x="0" y="2177643"/>
                  </a:lnTo>
                  <a:lnTo>
                    <a:pt x="4648001" y="2177643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3148568" y="4557059"/>
              <a:ext cx="272415" cy="173355"/>
            </a:xfrm>
            <a:custGeom>
              <a:avLst/>
              <a:gdLst/>
              <a:ahLst/>
              <a:cxnLst/>
              <a:rect l="l" t="t" r="r" b="b"/>
              <a:pathLst>
                <a:path w="272414" h="173354">
                  <a:moveTo>
                    <a:pt x="0" y="0"/>
                  </a:moveTo>
                  <a:lnTo>
                    <a:pt x="49514" y="85831"/>
                  </a:lnTo>
                  <a:lnTo>
                    <a:pt x="0" y="172973"/>
                  </a:lnTo>
                  <a:lnTo>
                    <a:pt x="206654" y="107609"/>
                  </a:lnTo>
                  <a:lnTo>
                    <a:pt x="197403" y="160431"/>
                  </a:lnTo>
                  <a:lnTo>
                    <a:pt x="272018" y="85831"/>
                  </a:lnTo>
                  <a:lnTo>
                    <a:pt x="197403" y="12542"/>
                  </a:lnTo>
                  <a:lnTo>
                    <a:pt x="206654" y="640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3148568" y="4557059"/>
              <a:ext cx="272415" cy="173355"/>
            </a:xfrm>
            <a:custGeom>
              <a:avLst/>
              <a:gdLst/>
              <a:ahLst/>
              <a:cxnLst/>
              <a:rect l="l" t="t" r="r" b="b"/>
              <a:pathLst>
                <a:path w="272414" h="173354">
                  <a:moveTo>
                    <a:pt x="272018" y="85831"/>
                  </a:moveTo>
                  <a:lnTo>
                    <a:pt x="197403" y="160431"/>
                  </a:lnTo>
                  <a:lnTo>
                    <a:pt x="206654" y="107609"/>
                  </a:lnTo>
                  <a:lnTo>
                    <a:pt x="0" y="172973"/>
                  </a:lnTo>
                  <a:lnTo>
                    <a:pt x="49514" y="85831"/>
                  </a:lnTo>
                  <a:lnTo>
                    <a:pt x="0" y="0"/>
                  </a:lnTo>
                  <a:lnTo>
                    <a:pt x="206654" y="64038"/>
                  </a:lnTo>
                  <a:lnTo>
                    <a:pt x="197403" y="12542"/>
                  </a:lnTo>
                  <a:lnTo>
                    <a:pt x="272018" y="85831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7" name="object 8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422222" y="3770637"/>
              <a:ext cx="182438" cy="169895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929696" y="4174025"/>
              <a:ext cx="181782" cy="169895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916730" y="4174025"/>
              <a:ext cx="182438" cy="169895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929696" y="4965621"/>
              <a:ext cx="181782" cy="169240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916730" y="4965621"/>
              <a:ext cx="182438" cy="169240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2020260" y="4258645"/>
              <a:ext cx="988060" cy="1107440"/>
            </a:xfrm>
            <a:custGeom>
              <a:avLst/>
              <a:gdLst/>
              <a:ahLst/>
              <a:cxnLst/>
              <a:rect l="l" t="t" r="r" b="b"/>
              <a:pathLst>
                <a:path w="988060" h="1107439">
                  <a:moveTo>
                    <a:pt x="88468" y="0"/>
                  </a:moveTo>
                  <a:lnTo>
                    <a:pt x="899220" y="0"/>
                  </a:lnTo>
                </a:path>
                <a:path w="988060" h="1107439">
                  <a:moveTo>
                    <a:pt x="987689" y="83179"/>
                  </a:moveTo>
                  <a:lnTo>
                    <a:pt x="987689" y="709071"/>
                  </a:lnTo>
                </a:path>
                <a:path w="988060" h="1107439">
                  <a:moveTo>
                    <a:pt x="508375" y="1107170"/>
                  </a:moveTo>
                  <a:lnTo>
                    <a:pt x="507050" y="479968"/>
                  </a:lnTo>
                </a:path>
                <a:path w="988060" h="1107439">
                  <a:moveTo>
                    <a:pt x="0" y="83179"/>
                  </a:moveTo>
                  <a:lnTo>
                    <a:pt x="0" y="709071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3" name="object 93"/>
          <p:cNvSpPr txBox="1"/>
          <p:nvPr/>
        </p:nvSpPr>
        <p:spPr>
          <a:xfrm>
            <a:off x="1997810" y="4178651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75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995170" y="4969590"/>
            <a:ext cx="61594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75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2990115" y="4978173"/>
            <a:ext cx="40005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750">
              <a:latin typeface="Arial"/>
              <a:cs typeface="Arial"/>
            </a:endParaRPr>
          </a:p>
        </p:txBody>
      </p:sp>
      <p:pic>
        <p:nvPicPr>
          <p:cNvPr id="96" name="object 96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2436091" y="4571469"/>
            <a:ext cx="182438" cy="169240"/>
          </a:xfrm>
          <a:prstGeom prst="rect">
            <a:avLst/>
          </a:prstGeom>
        </p:spPr>
      </p:pic>
      <p:sp>
        <p:nvSpPr>
          <p:cNvPr id="97" name="object 97"/>
          <p:cNvSpPr txBox="1"/>
          <p:nvPr/>
        </p:nvSpPr>
        <p:spPr>
          <a:xfrm>
            <a:off x="2496272" y="4568185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98" name="object 98"/>
          <p:cNvGrpSpPr/>
          <p:nvPr/>
        </p:nvGrpSpPr>
        <p:grpSpPr>
          <a:xfrm>
            <a:off x="2070445" y="4298909"/>
            <a:ext cx="885825" cy="696595"/>
            <a:chOff x="2070445" y="4298909"/>
            <a:chExt cx="885825" cy="696595"/>
          </a:xfrm>
        </p:grpSpPr>
        <p:sp>
          <p:nvSpPr>
            <p:cNvPr id="99" name="object 99"/>
            <p:cNvSpPr/>
            <p:nvPr/>
          </p:nvSpPr>
          <p:spPr>
            <a:xfrm>
              <a:off x="2070445" y="4300890"/>
              <a:ext cx="404495" cy="320040"/>
            </a:xfrm>
            <a:custGeom>
              <a:avLst/>
              <a:gdLst/>
              <a:ahLst/>
              <a:cxnLst/>
              <a:rect l="l" t="t" r="r" b="b"/>
              <a:pathLst>
                <a:path w="404494" h="320039">
                  <a:moveTo>
                    <a:pt x="25085" y="0"/>
                  </a:moveTo>
                  <a:lnTo>
                    <a:pt x="0" y="33009"/>
                  </a:lnTo>
                  <a:lnTo>
                    <a:pt x="378957" y="319552"/>
                  </a:lnTo>
                  <a:lnTo>
                    <a:pt x="404042" y="286542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598617" y="4708240"/>
              <a:ext cx="352425" cy="279400"/>
            </a:xfrm>
            <a:custGeom>
              <a:avLst/>
              <a:gdLst/>
              <a:ahLst/>
              <a:cxnLst/>
              <a:rect l="l" t="t" r="r" b="b"/>
              <a:pathLst>
                <a:path w="352425" h="279400">
                  <a:moveTo>
                    <a:pt x="0" y="0"/>
                  </a:moveTo>
                  <a:lnTo>
                    <a:pt x="351891" y="279272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585404" y="4298909"/>
              <a:ext cx="370840" cy="318135"/>
            </a:xfrm>
            <a:custGeom>
              <a:avLst/>
              <a:gdLst/>
              <a:ahLst/>
              <a:cxnLst/>
              <a:rect l="l" t="t" r="r" b="b"/>
              <a:pathLst>
                <a:path w="370839" h="318135">
                  <a:moveTo>
                    <a:pt x="343982" y="0"/>
                  </a:moveTo>
                  <a:lnTo>
                    <a:pt x="0" y="285871"/>
                  </a:lnTo>
                  <a:lnTo>
                    <a:pt x="26410" y="317571"/>
                  </a:lnTo>
                  <a:lnTo>
                    <a:pt x="370377" y="31699"/>
                  </a:lnTo>
                  <a:lnTo>
                    <a:pt x="34398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082987" y="4703623"/>
              <a:ext cx="377825" cy="288925"/>
            </a:xfrm>
            <a:custGeom>
              <a:avLst/>
              <a:gdLst/>
              <a:ahLst/>
              <a:cxnLst/>
              <a:rect l="l" t="t" r="r" b="b"/>
              <a:pathLst>
                <a:path w="377825" h="288925">
                  <a:moveTo>
                    <a:pt x="377631" y="0"/>
                  </a:moveTo>
                  <a:lnTo>
                    <a:pt x="0" y="288523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3" name="object 103"/>
          <p:cNvSpPr txBox="1"/>
          <p:nvPr/>
        </p:nvSpPr>
        <p:spPr>
          <a:xfrm>
            <a:off x="2216339" y="4683717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12</a:t>
            </a:r>
            <a:endParaRPr sz="750">
              <a:latin typeface="Arial"/>
              <a:cs typeface="Arial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2739891" y="4708146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30</a:t>
            </a:r>
            <a:endParaRPr sz="750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2389317" y="4988078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14</a:t>
            </a:r>
            <a:endParaRPr sz="750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3015862" y="4588646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16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107" name="object 107"/>
          <p:cNvGrpSpPr/>
          <p:nvPr/>
        </p:nvGrpSpPr>
        <p:grpSpPr>
          <a:xfrm>
            <a:off x="2062520" y="3770637"/>
            <a:ext cx="2978785" cy="1762760"/>
            <a:chOff x="2062520" y="3770637"/>
            <a:chExt cx="2978785" cy="1762760"/>
          </a:xfrm>
        </p:grpSpPr>
        <p:pic>
          <p:nvPicPr>
            <p:cNvPr id="108" name="object 108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437401" y="5363065"/>
              <a:ext cx="182453" cy="169895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2062520" y="5097774"/>
              <a:ext cx="393065" cy="330835"/>
            </a:xfrm>
            <a:custGeom>
              <a:avLst/>
              <a:gdLst/>
              <a:ahLst/>
              <a:cxnLst/>
              <a:rect l="l" t="t" r="r" b="b"/>
              <a:pathLst>
                <a:path w="393064" h="330835">
                  <a:moveTo>
                    <a:pt x="26410" y="0"/>
                  </a:moveTo>
                  <a:lnTo>
                    <a:pt x="0" y="33009"/>
                  </a:lnTo>
                  <a:lnTo>
                    <a:pt x="366415" y="330768"/>
                  </a:lnTo>
                  <a:lnTo>
                    <a:pt x="392826" y="297759"/>
                  </a:lnTo>
                  <a:lnTo>
                    <a:pt x="2641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2066483" y="3908064"/>
              <a:ext cx="892175" cy="1497965"/>
            </a:xfrm>
            <a:custGeom>
              <a:avLst/>
              <a:gdLst/>
              <a:ahLst/>
              <a:cxnLst/>
              <a:rect l="l" t="t" r="r" b="b"/>
              <a:pathLst>
                <a:path w="892175" h="1497964">
                  <a:moveTo>
                    <a:pt x="548639" y="1497375"/>
                  </a:moveTo>
                  <a:lnTo>
                    <a:pt x="891951" y="1210833"/>
                  </a:lnTo>
                </a:path>
                <a:path w="892175" h="1497964">
                  <a:moveTo>
                    <a:pt x="516285" y="5288"/>
                  </a:moveTo>
                  <a:lnTo>
                    <a:pt x="886007" y="286542"/>
                  </a:lnTo>
                </a:path>
                <a:path w="892175" h="1497964">
                  <a:moveTo>
                    <a:pt x="377631" y="0"/>
                  </a:moveTo>
                  <a:lnTo>
                    <a:pt x="0" y="289178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4769403" y="4557059"/>
              <a:ext cx="271780" cy="173355"/>
            </a:xfrm>
            <a:custGeom>
              <a:avLst/>
              <a:gdLst/>
              <a:ahLst/>
              <a:cxnLst/>
              <a:rect l="l" t="t" r="r" b="b"/>
              <a:pathLst>
                <a:path w="271779" h="173354">
                  <a:moveTo>
                    <a:pt x="0" y="0"/>
                  </a:moveTo>
                  <a:lnTo>
                    <a:pt x="49514" y="85831"/>
                  </a:lnTo>
                  <a:lnTo>
                    <a:pt x="0" y="172973"/>
                  </a:lnTo>
                  <a:lnTo>
                    <a:pt x="206654" y="107609"/>
                  </a:lnTo>
                  <a:lnTo>
                    <a:pt x="197403" y="160431"/>
                  </a:lnTo>
                  <a:lnTo>
                    <a:pt x="271348" y="85831"/>
                  </a:lnTo>
                  <a:lnTo>
                    <a:pt x="197403" y="12542"/>
                  </a:lnTo>
                  <a:lnTo>
                    <a:pt x="206654" y="640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4769403" y="4557059"/>
              <a:ext cx="271780" cy="173355"/>
            </a:xfrm>
            <a:custGeom>
              <a:avLst/>
              <a:gdLst/>
              <a:ahLst/>
              <a:cxnLst/>
              <a:rect l="l" t="t" r="r" b="b"/>
              <a:pathLst>
                <a:path w="271779" h="173354">
                  <a:moveTo>
                    <a:pt x="271348" y="85831"/>
                  </a:moveTo>
                  <a:lnTo>
                    <a:pt x="197403" y="160431"/>
                  </a:lnTo>
                  <a:lnTo>
                    <a:pt x="206654" y="107609"/>
                  </a:lnTo>
                  <a:lnTo>
                    <a:pt x="0" y="172973"/>
                  </a:lnTo>
                  <a:lnTo>
                    <a:pt x="49514" y="85831"/>
                  </a:lnTo>
                  <a:lnTo>
                    <a:pt x="0" y="0"/>
                  </a:lnTo>
                  <a:lnTo>
                    <a:pt x="206654" y="64038"/>
                  </a:lnTo>
                  <a:lnTo>
                    <a:pt x="197403" y="12542"/>
                  </a:lnTo>
                  <a:lnTo>
                    <a:pt x="271348" y="85831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3" name="object 113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029844" y="3770637"/>
              <a:ext cx="181782" cy="169895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536662" y="4177317"/>
              <a:ext cx="181782" cy="169240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523696" y="4174025"/>
              <a:ext cx="181782" cy="169895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536662" y="4965621"/>
              <a:ext cx="181782" cy="169240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523696" y="4965621"/>
              <a:ext cx="181782" cy="169240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3627226" y="4258645"/>
              <a:ext cx="988060" cy="1107440"/>
            </a:xfrm>
            <a:custGeom>
              <a:avLst/>
              <a:gdLst/>
              <a:ahLst/>
              <a:cxnLst/>
              <a:rect l="l" t="t" r="r" b="b"/>
              <a:pathLst>
                <a:path w="988060" h="1107439">
                  <a:moveTo>
                    <a:pt x="88468" y="3962"/>
                  </a:moveTo>
                  <a:lnTo>
                    <a:pt x="899220" y="0"/>
                  </a:lnTo>
                </a:path>
                <a:path w="988060" h="1107439">
                  <a:moveTo>
                    <a:pt x="987689" y="83179"/>
                  </a:moveTo>
                  <a:lnTo>
                    <a:pt x="987689" y="709071"/>
                  </a:lnTo>
                </a:path>
                <a:path w="988060" h="1107439">
                  <a:moveTo>
                    <a:pt x="508375" y="1107170"/>
                  </a:moveTo>
                  <a:lnTo>
                    <a:pt x="507050" y="479968"/>
                  </a:lnTo>
                </a:path>
                <a:path w="988060" h="1107439">
                  <a:moveTo>
                    <a:pt x="0" y="85816"/>
                  </a:moveTo>
                  <a:lnTo>
                    <a:pt x="0" y="709071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9" name="object 119"/>
          <p:cNvSpPr txBox="1"/>
          <p:nvPr/>
        </p:nvSpPr>
        <p:spPr>
          <a:xfrm>
            <a:off x="1871052" y="4581381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18</a:t>
            </a:r>
            <a:endParaRPr sz="750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3601478" y="4969590"/>
            <a:ext cx="61594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75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4597084" y="4978173"/>
            <a:ext cx="40005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750">
              <a:latin typeface="Arial"/>
              <a:cs typeface="Arial"/>
            </a:endParaRPr>
          </a:p>
        </p:txBody>
      </p:sp>
      <p:pic>
        <p:nvPicPr>
          <p:cNvPr id="122" name="object 122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4043057" y="4571469"/>
            <a:ext cx="182438" cy="169240"/>
          </a:xfrm>
          <a:prstGeom prst="rect">
            <a:avLst/>
          </a:prstGeom>
        </p:spPr>
      </p:pic>
      <p:sp>
        <p:nvSpPr>
          <p:cNvPr id="123" name="object 123"/>
          <p:cNvSpPr txBox="1"/>
          <p:nvPr/>
        </p:nvSpPr>
        <p:spPr>
          <a:xfrm>
            <a:off x="4103241" y="4568185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124" name="object 124"/>
          <p:cNvGrpSpPr/>
          <p:nvPr/>
        </p:nvGrpSpPr>
        <p:grpSpPr>
          <a:xfrm>
            <a:off x="3677411" y="4298909"/>
            <a:ext cx="885190" cy="696595"/>
            <a:chOff x="3677411" y="4298909"/>
            <a:chExt cx="885190" cy="696595"/>
          </a:xfrm>
        </p:grpSpPr>
        <p:sp>
          <p:nvSpPr>
            <p:cNvPr id="125" name="object 125"/>
            <p:cNvSpPr/>
            <p:nvPr/>
          </p:nvSpPr>
          <p:spPr>
            <a:xfrm>
              <a:off x="3677411" y="4300890"/>
              <a:ext cx="404495" cy="320040"/>
            </a:xfrm>
            <a:custGeom>
              <a:avLst/>
              <a:gdLst/>
              <a:ahLst/>
              <a:cxnLst/>
              <a:rect l="l" t="t" r="r" b="b"/>
              <a:pathLst>
                <a:path w="404495" h="320039">
                  <a:moveTo>
                    <a:pt x="25085" y="0"/>
                  </a:moveTo>
                  <a:lnTo>
                    <a:pt x="0" y="33009"/>
                  </a:lnTo>
                  <a:lnTo>
                    <a:pt x="378957" y="319552"/>
                  </a:lnTo>
                  <a:lnTo>
                    <a:pt x="404042" y="286542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4205584" y="4708240"/>
              <a:ext cx="352425" cy="279400"/>
            </a:xfrm>
            <a:custGeom>
              <a:avLst/>
              <a:gdLst/>
              <a:ahLst/>
              <a:cxnLst/>
              <a:rect l="l" t="t" r="r" b="b"/>
              <a:pathLst>
                <a:path w="352425" h="279400">
                  <a:moveTo>
                    <a:pt x="0" y="0"/>
                  </a:moveTo>
                  <a:lnTo>
                    <a:pt x="351891" y="279272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4192371" y="4298909"/>
              <a:ext cx="370205" cy="318135"/>
            </a:xfrm>
            <a:custGeom>
              <a:avLst/>
              <a:gdLst/>
              <a:ahLst/>
              <a:cxnLst/>
              <a:rect l="l" t="t" r="r" b="b"/>
              <a:pathLst>
                <a:path w="370204" h="318135">
                  <a:moveTo>
                    <a:pt x="343311" y="0"/>
                  </a:moveTo>
                  <a:lnTo>
                    <a:pt x="0" y="285871"/>
                  </a:lnTo>
                  <a:lnTo>
                    <a:pt x="26410" y="317571"/>
                  </a:lnTo>
                  <a:lnTo>
                    <a:pt x="369722" y="31699"/>
                  </a:lnTo>
                  <a:lnTo>
                    <a:pt x="343311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3689954" y="4703623"/>
              <a:ext cx="377825" cy="288925"/>
            </a:xfrm>
            <a:custGeom>
              <a:avLst/>
              <a:gdLst/>
              <a:ahLst/>
              <a:cxnLst/>
              <a:rect l="l" t="t" r="r" b="b"/>
              <a:pathLst>
                <a:path w="377825" h="288925">
                  <a:moveTo>
                    <a:pt x="377631" y="0"/>
                  </a:moveTo>
                  <a:lnTo>
                    <a:pt x="0" y="288523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9" name="object 129"/>
          <p:cNvSpPr txBox="1"/>
          <p:nvPr/>
        </p:nvSpPr>
        <p:spPr>
          <a:xfrm>
            <a:off x="3822647" y="4683717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12</a:t>
            </a:r>
            <a:endParaRPr sz="750">
              <a:latin typeface="Arial"/>
              <a:cs typeface="Arial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4346859" y="4708146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30</a:t>
            </a:r>
            <a:endParaRPr sz="75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3991002" y="4988078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14</a:t>
            </a:r>
            <a:endParaRPr sz="75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4622169" y="4588646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16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133" name="object 133"/>
          <p:cNvGrpSpPr/>
          <p:nvPr/>
        </p:nvGrpSpPr>
        <p:grpSpPr>
          <a:xfrm>
            <a:off x="3669487" y="3770637"/>
            <a:ext cx="2135505" cy="1762760"/>
            <a:chOff x="3669487" y="3770637"/>
            <a:chExt cx="2135505" cy="1762760"/>
          </a:xfrm>
        </p:grpSpPr>
        <p:pic>
          <p:nvPicPr>
            <p:cNvPr id="134" name="object 134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044383" y="5363065"/>
              <a:ext cx="182438" cy="169895"/>
            </a:xfrm>
            <a:prstGeom prst="rect">
              <a:avLst/>
            </a:prstGeom>
          </p:spPr>
        </p:pic>
        <p:sp>
          <p:nvSpPr>
            <p:cNvPr id="135" name="object 135"/>
            <p:cNvSpPr/>
            <p:nvPr/>
          </p:nvSpPr>
          <p:spPr>
            <a:xfrm>
              <a:off x="3669487" y="5097774"/>
              <a:ext cx="393065" cy="330835"/>
            </a:xfrm>
            <a:custGeom>
              <a:avLst/>
              <a:gdLst/>
              <a:ahLst/>
              <a:cxnLst/>
              <a:rect l="l" t="t" r="r" b="b"/>
              <a:pathLst>
                <a:path w="393064" h="330835">
                  <a:moveTo>
                    <a:pt x="26410" y="0"/>
                  </a:moveTo>
                  <a:lnTo>
                    <a:pt x="0" y="33009"/>
                  </a:lnTo>
                  <a:lnTo>
                    <a:pt x="367070" y="330768"/>
                  </a:lnTo>
                  <a:lnTo>
                    <a:pt x="392826" y="297759"/>
                  </a:lnTo>
                  <a:lnTo>
                    <a:pt x="2641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4222089" y="5118897"/>
              <a:ext cx="343535" cy="287020"/>
            </a:xfrm>
            <a:custGeom>
              <a:avLst/>
              <a:gdLst/>
              <a:ahLst/>
              <a:cxnLst/>
              <a:rect l="l" t="t" r="r" b="b"/>
              <a:pathLst>
                <a:path w="343535" h="287020">
                  <a:moveTo>
                    <a:pt x="0" y="286542"/>
                  </a:moveTo>
                  <a:lnTo>
                    <a:pt x="343311" y="0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4177192" y="3896847"/>
              <a:ext cx="394970" cy="314325"/>
            </a:xfrm>
            <a:custGeom>
              <a:avLst/>
              <a:gdLst/>
              <a:ahLst/>
              <a:cxnLst/>
              <a:rect l="l" t="t" r="r" b="b"/>
              <a:pathLst>
                <a:path w="394970" h="314325">
                  <a:moveTo>
                    <a:pt x="25085" y="0"/>
                  </a:moveTo>
                  <a:lnTo>
                    <a:pt x="0" y="33009"/>
                  </a:lnTo>
                  <a:lnTo>
                    <a:pt x="369722" y="314264"/>
                  </a:lnTo>
                  <a:lnTo>
                    <a:pt x="394807" y="281238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3673449" y="3908064"/>
              <a:ext cx="377825" cy="289560"/>
            </a:xfrm>
            <a:custGeom>
              <a:avLst/>
              <a:gdLst/>
              <a:ahLst/>
              <a:cxnLst/>
              <a:rect l="l" t="t" r="r" b="b"/>
              <a:pathLst>
                <a:path w="377825" h="289560">
                  <a:moveTo>
                    <a:pt x="377631" y="0"/>
                  </a:moveTo>
                  <a:lnTo>
                    <a:pt x="0" y="289178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9" name="object 139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5622957" y="3770637"/>
              <a:ext cx="181782" cy="169895"/>
            </a:xfrm>
            <a:prstGeom prst="rect">
              <a:avLst/>
            </a:prstGeom>
          </p:spPr>
        </p:pic>
      </p:grpSp>
      <p:sp>
        <p:nvSpPr>
          <p:cNvPr id="140" name="object 140"/>
          <p:cNvSpPr txBox="1"/>
          <p:nvPr/>
        </p:nvSpPr>
        <p:spPr>
          <a:xfrm>
            <a:off x="3478020" y="4581381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18</a:t>
            </a:r>
            <a:endParaRPr sz="75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5677202" y="3763374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142" name="object 142"/>
          <p:cNvGrpSpPr/>
          <p:nvPr/>
        </p:nvGrpSpPr>
        <p:grpSpPr>
          <a:xfrm>
            <a:off x="5129776" y="4174025"/>
            <a:ext cx="1169670" cy="1195070"/>
            <a:chOff x="5129776" y="4174025"/>
            <a:chExt cx="1169670" cy="1195070"/>
          </a:xfrm>
        </p:grpSpPr>
        <p:pic>
          <p:nvPicPr>
            <p:cNvPr id="143" name="object 143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5129776" y="4174025"/>
              <a:ext cx="181782" cy="169895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6117449" y="4174025"/>
              <a:ext cx="181782" cy="169895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5129776" y="4965621"/>
              <a:ext cx="181782" cy="169240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6117449" y="4965621"/>
              <a:ext cx="181782" cy="169240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5220324" y="4258645"/>
              <a:ext cx="988060" cy="1107440"/>
            </a:xfrm>
            <a:custGeom>
              <a:avLst/>
              <a:gdLst/>
              <a:ahLst/>
              <a:cxnLst/>
              <a:rect l="l" t="t" r="r" b="b"/>
              <a:pathLst>
                <a:path w="988060" h="1107439">
                  <a:moveTo>
                    <a:pt x="88483" y="0"/>
                  </a:moveTo>
                  <a:lnTo>
                    <a:pt x="899876" y="0"/>
                  </a:lnTo>
                </a:path>
                <a:path w="988060" h="1107439">
                  <a:moveTo>
                    <a:pt x="987689" y="83179"/>
                  </a:moveTo>
                  <a:lnTo>
                    <a:pt x="987689" y="709071"/>
                  </a:lnTo>
                </a:path>
                <a:path w="988060" h="1107439">
                  <a:moveTo>
                    <a:pt x="508375" y="1107170"/>
                  </a:moveTo>
                  <a:lnTo>
                    <a:pt x="507050" y="479968"/>
                  </a:lnTo>
                </a:path>
                <a:path w="988060" h="1107439">
                  <a:moveTo>
                    <a:pt x="0" y="83179"/>
                  </a:moveTo>
                  <a:lnTo>
                    <a:pt x="0" y="709071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8" name="object 148"/>
          <p:cNvSpPr txBox="1"/>
          <p:nvPr/>
        </p:nvSpPr>
        <p:spPr>
          <a:xfrm>
            <a:off x="5195899" y="4969590"/>
            <a:ext cx="61594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750">
              <a:latin typeface="Arial"/>
              <a:cs typeface="Arial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6190184" y="4978173"/>
            <a:ext cx="40005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750">
              <a:latin typeface="Arial"/>
              <a:cs typeface="Arial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6182921" y="4178651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750">
              <a:latin typeface="Arial"/>
              <a:cs typeface="Arial"/>
            </a:endParaRPr>
          </a:p>
        </p:txBody>
      </p:sp>
      <p:pic>
        <p:nvPicPr>
          <p:cNvPr id="151" name="object 151"/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5636810" y="4571469"/>
            <a:ext cx="181782" cy="169240"/>
          </a:xfrm>
          <a:prstGeom prst="rect">
            <a:avLst/>
          </a:prstGeom>
        </p:spPr>
      </p:pic>
      <p:sp>
        <p:nvSpPr>
          <p:cNvPr id="152" name="object 152"/>
          <p:cNvSpPr txBox="1"/>
          <p:nvPr/>
        </p:nvSpPr>
        <p:spPr>
          <a:xfrm>
            <a:off x="5696341" y="4568185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153" name="object 153"/>
          <p:cNvGrpSpPr/>
          <p:nvPr/>
        </p:nvGrpSpPr>
        <p:grpSpPr>
          <a:xfrm>
            <a:off x="5270510" y="4298909"/>
            <a:ext cx="885825" cy="696595"/>
            <a:chOff x="5270510" y="4298909"/>
            <a:chExt cx="885825" cy="696595"/>
          </a:xfrm>
        </p:grpSpPr>
        <p:sp>
          <p:nvSpPr>
            <p:cNvPr id="154" name="object 154"/>
            <p:cNvSpPr/>
            <p:nvPr/>
          </p:nvSpPr>
          <p:spPr>
            <a:xfrm>
              <a:off x="5270510" y="4300890"/>
              <a:ext cx="405130" cy="320040"/>
            </a:xfrm>
            <a:custGeom>
              <a:avLst/>
              <a:gdLst/>
              <a:ahLst/>
              <a:cxnLst/>
              <a:rect l="l" t="t" r="r" b="b"/>
              <a:pathLst>
                <a:path w="405129" h="320039">
                  <a:moveTo>
                    <a:pt x="25085" y="0"/>
                  </a:moveTo>
                  <a:lnTo>
                    <a:pt x="0" y="33009"/>
                  </a:lnTo>
                  <a:lnTo>
                    <a:pt x="379628" y="319552"/>
                  </a:lnTo>
                  <a:lnTo>
                    <a:pt x="404713" y="286542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5798682" y="4708240"/>
              <a:ext cx="352425" cy="279400"/>
            </a:xfrm>
            <a:custGeom>
              <a:avLst/>
              <a:gdLst/>
              <a:ahLst/>
              <a:cxnLst/>
              <a:rect l="l" t="t" r="r" b="b"/>
              <a:pathLst>
                <a:path w="352425" h="279400">
                  <a:moveTo>
                    <a:pt x="0" y="0"/>
                  </a:moveTo>
                  <a:lnTo>
                    <a:pt x="351891" y="279272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5785469" y="4298909"/>
              <a:ext cx="370840" cy="318135"/>
            </a:xfrm>
            <a:custGeom>
              <a:avLst/>
              <a:gdLst/>
              <a:ahLst/>
              <a:cxnLst/>
              <a:rect l="l" t="t" r="r" b="b"/>
              <a:pathLst>
                <a:path w="370839" h="318135">
                  <a:moveTo>
                    <a:pt x="344637" y="0"/>
                  </a:moveTo>
                  <a:lnTo>
                    <a:pt x="0" y="285871"/>
                  </a:lnTo>
                  <a:lnTo>
                    <a:pt x="26410" y="317571"/>
                  </a:lnTo>
                  <a:lnTo>
                    <a:pt x="370392" y="31699"/>
                  </a:lnTo>
                  <a:lnTo>
                    <a:pt x="344637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5283052" y="4703623"/>
              <a:ext cx="378460" cy="288925"/>
            </a:xfrm>
            <a:custGeom>
              <a:avLst/>
              <a:gdLst/>
              <a:ahLst/>
              <a:cxnLst/>
              <a:rect l="l" t="t" r="r" b="b"/>
              <a:pathLst>
                <a:path w="378460" h="288925">
                  <a:moveTo>
                    <a:pt x="378302" y="0"/>
                  </a:moveTo>
                  <a:lnTo>
                    <a:pt x="0" y="288523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8" name="object 158"/>
          <p:cNvSpPr txBox="1"/>
          <p:nvPr/>
        </p:nvSpPr>
        <p:spPr>
          <a:xfrm>
            <a:off x="5417068" y="4683717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12</a:t>
            </a:r>
            <a:endParaRPr sz="750">
              <a:latin typeface="Arial"/>
              <a:cs typeface="Arial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5665970" y="4111970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750">
              <a:latin typeface="Arial"/>
              <a:cs typeface="Arial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5939960" y="4708146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30</a:t>
            </a:r>
            <a:endParaRPr sz="750">
              <a:latin typeface="Arial"/>
              <a:cs typeface="Arial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5577501" y="4988078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14</a:t>
            </a:r>
            <a:endParaRPr sz="750">
              <a:latin typeface="Arial"/>
              <a:cs typeface="Arial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6215929" y="4588646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16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163" name="object 163"/>
          <p:cNvGrpSpPr/>
          <p:nvPr/>
        </p:nvGrpSpPr>
        <p:grpSpPr>
          <a:xfrm>
            <a:off x="5262585" y="3896847"/>
            <a:ext cx="902969" cy="1636395"/>
            <a:chOff x="5262585" y="3896847"/>
            <a:chExt cx="902969" cy="1636395"/>
          </a:xfrm>
        </p:grpSpPr>
        <p:pic>
          <p:nvPicPr>
            <p:cNvPr id="164" name="object 164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5638136" y="5363065"/>
              <a:ext cx="181782" cy="169895"/>
            </a:xfrm>
            <a:prstGeom prst="rect">
              <a:avLst/>
            </a:prstGeom>
          </p:spPr>
        </p:pic>
        <p:sp>
          <p:nvSpPr>
            <p:cNvPr id="165" name="object 165"/>
            <p:cNvSpPr/>
            <p:nvPr/>
          </p:nvSpPr>
          <p:spPr>
            <a:xfrm>
              <a:off x="5262585" y="5097774"/>
              <a:ext cx="393700" cy="330835"/>
            </a:xfrm>
            <a:custGeom>
              <a:avLst/>
              <a:gdLst/>
              <a:ahLst/>
              <a:cxnLst/>
              <a:rect l="l" t="t" r="r" b="b"/>
              <a:pathLst>
                <a:path w="393700" h="330835">
                  <a:moveTo>
                    <a:pt x="26410" y="0"/>
                  </a:moveTo>
                  <a:lnTo>
                    <a:pt x="0" y="33009"/>
                  </a:lnTo>
                  <a:lnTo>
                    <a:pt x="367085" y="330768"/>
                  </a:lnTo>
                  <a:lnTo>
                    <a:pt x="393496" y="297759"/>
                  </a:lnTo>
                  <a:lnTo>
                    <a:pt x="2641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5815187" y="5118897"/>
              <a:ext cx="343535" cy="287020"/>
            </a:xfrm>
            <a:custGeom>
              <a:avLst/>
              <a:gdLst/>
              <a:ahLst/>
              <a:cxnLst/>
              <a:rect l="l" t="t" r="r" b="b"/>
              <a:pathLst>
                <a:path w="343535" h="287020">
                  <a:moveTo>
                    <a:pt x="0" y="286542"/>
                  </a:moveTo>
                  <a:lnTo>
                    <a:pt x="343311" y="0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5770290" y="3896847"/>
              <a:ext cx="394970" cy="314325"/>
            </a:xfrm>
            <a:custGeom>
              <a:avLst/>
              <a:gdLst/>
              <a:ahLst/>
              <a:cxnLst/>
              <a:rect l="l" t="t" r="r" b="b"/>
              <a:pathLst>
                <a:path w="394970" h="314325">
                  <a:moveTo>
                    <a:pt x="25085" y="0"/>
                  </a:moveTo>
                  <a:lnTo>
                    <a:pt x="0" y="33009"/>
                  </a:lnTo>
                  <a:lnTo>
                    <a:pt x="370377" y="314264"/>
                  </a:lnTo>
                  <a:lnTo>
                    <a:pt x="394807" y="281238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8" name="object 168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282724" y="3899811"/>
              <a:ext cx="370378" cy="287198"/>
            </a:xfrm>
            <a:prstGeom prst="rect">
              <a:avLst/>
            </a:prstGeom>
          </p:spPr>
        </p:pic>
      </p:grpSp>
      <p:sp>
        <p:nvSpPr>
          <p:cNvPr id="169" name="object 169"/>
          <p:cNvSpPr txBox="1"/>
          <p:nvPr/>
        </p:nvSpPr>
        <p:spPr>
          <a:xfrm>
            <a:off x="5071120" y="4581381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18</a:t>
            </a:r>
            <a:endParaRPr sz="750">
              <a:latin typeface="Arial"/>
              <a:cs typeface="Arial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6012589" y="5227073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26</a:t>
            </a:r>
            <a:endParaRPr sz="750">
              <a:latin typeface="Arial"/>
              <a:cs typeface="Arial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2119333" y="3722769"/>
            <a:ext cx="3402965" cy="598805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357505">
              <a:lnSpc>
                <a:spcPct val="100000"/>
              </a:lnSpc>
              <a:spcBef>
                <a:spcPts val="434"/>
              </a:spcBef>
              <a:tabLst>
                <a:tab pos="1964689" algn="l"/>
              </a:tabLst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a	a</a:t>
            </a:r>
            <a:endParaRPr sz="7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345"/>
              </a:spcBef>
              <a:tabLst>
                <a:tab pos="624205" algn="l"/>
                <a:tab pos="1657350" algn="l"/>
                <a:tab pos="2877820" algn="l"/>
              </a:tabLst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8	</a:t>
            </a:r>
            <a:r>
              <a:rPr dirty="0" baseline="7407" sz="1125" spc="15" i="1">
                <a:solidFill>
                  <a:srgbClr val="FFFF00"/>
                </a:solidFill>
                <a:latin typeface="Arial"/>
                <a:cs typeface="Arial"/>
              </a:rPr>
              <a:t>5	</a:t>
            </a: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8	</a:t>
            </a:r>
            <a:r>
              <a:rPr dirty="0" u="sng" baseline="3703" sz="1125" spc="7" i="1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unsafe</a:t>
            </a:r>
            <a:r>
              <a:rPr dirty="0" baseline="3703" sz="1125" spc="7" i="1">
                <a:solidFill>
                  <a:srgbClr val="FFFF00"/>
                </a:solidFill>
                <a:latin typeface="Arial"/>
                <a:cs typeface="Arial"/>
              </a:rPr>
              <a:t>  </a:t>
            </a:r>
            <a:r>
              <a:rPr dirty="0" baseline="3703" sz="1125" spc="284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14814" sz="1125" spc="1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baseline="14814" sz="1125">
              <a:latin typeface="Arial"/>
              <a:cs typeface="Arial"/>
            </a:endParaRPr>
          </a:p>
          <a:p>
            <a:pPr marL="345440">
              <a:lnSpc>
                <a:spcPts val="715"/>
              </a:lnSpc>
              <a:spcBef>
                <a:spcPts val="600"/>
              </a:spcBef>
              <a:tabLst>
                <a:tab pos="1952625" algn="l"/>
              </a:tabLst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10	10</a:t>
            </a:r>
            <a:endParaRPr sz="750">
              <a:latin typeface="Arial"/>
              <a:cs typeface="Arial"/>
            </a:endParaRPr>
          </a:p>
          <a:p>
            <a:pPr marL="862965">
              <a:lnSpc>
                <a:spcPts val="715"/>
              </a:lnSpc>
              <a:tabLst>
                <a:tab pos="1485265" algn="l"/>
                <a:tab pos="2470150" algn="l"/>
                <a:tab pos="3079115" algn="l"/>
              </a:tabLst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e	b	e	b</a:t>
            </a:r>
            <a:endParaRPr sz="750">
              <a:latin typeface="Arial"/>
              <a:cs typeface="Arial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2145702" y="5218149"/>
            <a:ext cx="3622040" cy="63500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711200">
              <a:lnSpc>
                <a:spcPct val="100000"/>
              </a:lnSpc>
              <a:spcBef>
                <a:spcPts val="190"/>
              </a:spcBef>
              <a:tabLst>
                <a:tab pos="2304415" algn="l"/>
              </a:tabLst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26	26</a:t>
            </a:r>
            <a:endParaRPr sz="750">
              <a:latin typeface="Arial"/>
              <a:cs typeface="Arial"/>
            </a:endParaRPr>
          </a:p>
          <a:p>
            <a:pPr marL="354330">
              <a:lnSpc>
                <a:spcPct val="100000"/>
              </a:lnSpc>
              <a:spcBef>
                <a:spcPts val="90"/>
              </a:spcBef>
              <a:tabLst>
                <a:tab pos="1960880" algn="l"/>
                <a:tab pos="3554095" algn="l"/>
              </a:tabLst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g</a:t>
            </a: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g</a:t>
            </a: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Color</a:t>
            </a:r>
            <a:r>
              <a:rPr dirty="0" sz="1000" spc="-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indicates</a:t>
            </a:r>
            <a:r>
              <a:rPr dirty="0" sz="10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union</a:t>
            </a:r>
            <a:r>
              <a:rPr dirty="0" sz="1000" spc="-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000" spc="10">
                <a:solidFill>
                  <a:srgbClr val="FFFFFF"/>
                </a:solidFill>
                <a:latin typeface="Arial"/>
                <a:cs typeface="Arial"/>
              </a:rPr>
              <a:t>set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2410573" y="5972797"/>
            <a:ext cx="34086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8.52: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Kruskal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Garamond"/>
                <a:cs typeface="Garamond"/>
              </a:rPr>
              <a:t>(</a:t>
            </a:r>
            <a:r>
              <a:rPr dirty="0" sz="1200" spc="10">
                <a:latin typeface="Lucida Sans Unicode"/>
                <a:cs typeface="Lucida Sans Unicode"/>
              </a:rPr>
              <a:t>c,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sz="1200" spc="2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a,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e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added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74" name="object 174"/>
          <p:cNvGrpSpPr/>
          <p:nvPr/>
        </p:nvGrpSpPr>
        <p:grpSpPr>
          <a:xfrm>
            <a:off x="1790700" y="6802063"/>
            <a:ext cx="4648200" cy="1875155"/>
            <a:chOff x="1790700" y="6802063"/>
            <a:chExt cx="4648200" cy="1875155"/>
          </a:xfrm>
        </p:grpSpPr>
        <p:sp>
          <p:nvSpPr>
            <p:cNvPr id="175" name="object 175"/>
            <p:cNvSpPr/>
            <p:nvPr/>
          </p:nvSpPr>
          <p:spPr>
            <a:xfrm>
              <a:off x="1790700" y="6802063"/>
              <a:ext cx="4648200" cy="1875155"/>
            </a:xfrm>
            <a:custGeom>
              <a:avLst/>
              <a:gdLst/>
              <a:ahLst/>
              <a:cxnLst/>
              <a:rect l="l" t="t" r="r" b="b"/>
              <a:pathLst>
                <a:path w="4648200" h="1875154">
                  <a:moveTo>
                    <a:pt x="4648001" y="0"/>
                  </a:moveTo>
                  <a:lnTo>
                    <a:pt x="0" y="0"/>
                  </a:lnTo>
                  <a:lnTo>
                    <a:pt x="0" y="1875083"/>
                  </a:lnTo>
                  <a:lnTo>
                    <a:pt x="4648001" y="1875083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3163762" y="7657500"/>
              <a:ext cx="272415" cy="172720"/>
            </a:xfrm>
            <a:custGeom>
              <a:avLst/>
              <a:gdLst/>
              <a:ahLst/>
              <a:cxnLst/>
              <a:rect l="l" t="t" r="r" b="b"/>
              <a:pathLst>
                <a:path w="272414" h="172720">
                  <a:moveTo>
                    <a:pt x="0" y="0"/>
                  </a:moveTo>
                  <a:lnTo>
                    <a:pt x="49514" y="85816"/>
                  </a:lnTo>
                  <a:lnTo>
                    <a:pt x="0" y="172318"/>
                  </a:lnTo>
                  <a:lnTo>
                    <a:pt x="206639" y="107609"/>
                  </a:lnTo>
                  <a:lnTo>
                    <a:pt x="197403" y="160431"/>
                  </a:lnTo>
                  <a:lnTo>
                    <a:pt x="272003" y="85816"/>
                  </a:lnTo>
                  <a:lnTo>
                    <a:pt x="197403" y="11887"/>
                  </a:lnTo>
                  <a:lnTo>
                    <a:pt x="206639" y="646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3163762" y="7657500"/>
              <a:ext cx="272415" cy="172720"/>
            </a:xfrm>
            <a:custGeom>
              <a:avLst/>
              <a:gdLst/>
              <a:ahLst/>
              <a:cxnLst/>
              <a:rect l="l" t="t" r="r" b="b"/>
              <a:pathLst>
                <a:path w="272414" h="172720">
                  <a:moveTo>
                    <a:pt x="272003" y="85816"/>
                  </a:moveTo>
                  <a:lnTo>
                    <a:pt x="197403" y="160431"/>
                  </a:lnTo>
                  <a:lnTo>
                    <a:pt x="206639" y="107609"/>
                  </a:lnTo>
                  <a:lnTo>
                    <a:pt x="0" y="172318"/>
                  </a:lnTo>
                  <a:lnTo>
                    <a:pt x="49514" y="85816"/>
                  </a:lnTo>
                  <a:lnTo>
                    <a:pt x="0" y="0"/>
                  </a:lnTo>
                  <a:lnTo>
                    <a:pt x="206639" y="64693"/>
                  </a:lnTo>
                  <a:lnTo>
                    <a:pt x="197403" y="11887"/>
                  </a:lnTo>
                  <a:lnTo>
                    <a:pt x="272003" y="85816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8" name="object 178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2423548" y="6851921"/>
              <a:ext cx="181782" cy="169895"/>
            </a:xfrm>
            <a:prstGeom prst="rect">
              <a:avLst/>
            </a:prstGeom>
          </p:spPr>
        </p:pic>
      </p:grpSp>
      <p:sp>
        <p:nvSpPr>
          <p:cNvPr id="179" name="object 179"/>
          <p:cNvSpPr txBox="1"/>
          <p:nvPr/>
        </p:nvSpPr>
        <p:spPr>
          <a:xfrm>
            <a:off x="2477134" y="6844672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180" name="object 180"/>
          <p:cNvGrpSpPr/>
          <p:nvPr/>
        </p:nvGrpSpPr>
        <p:grpSpPr>
          <a:xfrm>
            <a:off x="1929589" y="7255202"/>
            <a:ext cx="1170305" cy="1195705"/>
            <a:chOff x="1929589" y="7255202"/>
            <a:chExt cx="1170305" cy="1195705"/>
          </a:xfrm>
        </p:grpSpPr>
        <p:sp>
          <p:nvSpPr>
            <p:cNvPr id="181" name="object 181"/>
            <p:cNvSpPr/>
            <p:nvPr/>
          </p:nvSpPr>
          <p:spPr>
            <a:xfrm>
              <a:off x="1932447" y="7258060"/>
              <a:ext cx="176530" cy="164465"/>
            </a:xfrm>
            <a:custGeom>
              <a:avLst/>
              <a:gdLst/>
              <a:ahLst/>
              <a:cxnLst/>
              <a:rect l="l" t="t" r="r" b="b"/>
              <a:pathLst>
                <a:path w="176530" h="164465">
                  <a:moveTo>
                    <a:pt x="95082" y="0"/>
                  </a:moveTo>
                  <a:lnTo>
                    <a:pt x="80558" y="0"/>
                  </a:lnTo>
                  <a:lnTo>
                    <a:pt x="66034" y="1981"/>
                  </a:lnTo>
                  <a:lnTo>
                    <a:pt x="28392" y="21137"/>
                  </a:lnTo>
                  <a:lnTo>
                    <a:pt x="5288" y="55458"/>
                  </a:lnTo>
                  <a:lnTo>
                    <a:pt x="0" y="81869"/>
                  </a:lnTo>
                  <a:lnTo>
                    <a:pt x="1325" y="95737"/>
                  </a:lnTo>
                  <a:lnTo>
                    <a:pt x="19156" y="132709"/>
                  </a:lnTo>
                  <a:lnTo>
                    <a:pt x="52166" y="157794"/>
                  </a:lnTo>
                  <a:lnTo>
                    <a:pt x="80558" y="164393"/>
                  </a:lnTo>
                  <a:lnTo>
                    <a:pt x="95082" y="164393"/>
                  </a:lnTo>
                  <a:lnTo>
                    <a:pt x="136672" y="151196"/>
                  </a:lnTo>
                  <a:lnTo>
                    <a:pt x="165719" y="121478"/>
                  </a:lnTo>
                  <a:lnTo>
                    <a:pt x="176281" y="81869"/>
                  </a:lnTo>
                  <a:lnTo>
                    <a:pt x="174970" y="68671"/>
                  </a:lnTo>
                  <a:lnTo>
                    <a:pt x="157794" y="31028"/>
                  </a:lnTo>
                  <a:lnTo>
                    <a:pt x="123459" y="6614"/>
                  </a:lnTo>
                  <a:lnTo>
                    <a:pt x="9508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1932447" y="7258060"/>
              <a:ext cx="176530" cy="164465"/>
            </a:xfrm>
            <a:custGeom>
              <a:avLst/>
              <a:gdLst/>
              <a:ahLst/>
              <a:cxnLst/>
              <a:rect l="l" t="t" r="r" b="b"/>
              <a:pathLst>
                <a:path w="176530" h="164465">
                  <a:moveTo>
                    <a:pt x="0" y="81869"/>
                  </a:moveTo>
                  <a:lnTo>
                    <a:pt x="10576" y="42915"/>
                  </a:lnTo>
                  <a:lnTo>
                    <a:pt x="39623" y="13213"/>
                  </a:lnTo>
                  <a:lnTo>
                    <a:pt x="80558" y="0"/>
                  </a:lnTo>
                  <a:lnTo>
                    <a:pt x="95082" y="0"/>
                  </a:lnTo>
                  <a:lnTo>
                    <a:pt x="136672" y="13213"/>
                  </a:lnTo>
                  <a:lnTo>
                    <a:pt x="165719" y="42915"/>
                  </a:lnTo>
                  <a:lnTo>
                    <a:pt x="176281" y="81869"/>
                  </a:lnTo>
                  <a:lnTo>
                    <a:pt x="174970" y="95737"/>
                  </a:lnTo>
                  <a:lnTo>
                    <a:pt x="157794" y="132709"/>
                  </a:lnTo>
                  <a:lnTo>
                    <a:pt x="123459" y="157794"/>
                  </a:lnTo>
                  <a:lnTo>
                    <a:pt x="95082" y="164393"/>
                  </a:lnTo>
                  <a:lnTo>
                    <a:pt x="80558" y="164393"/>
                  </a:lnTo>
                  <a:lnTo>
                    <a:pt x="39623" y="151196"/>
                  </a:lnTo>
                  <a:lnTo>
                    <a:pt x="10576" y="121478"/>
                  </a:lnTo>
                  <a:lnTo>
                    <a:pt x="0" y="81869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3" name="object 183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2918040" y="7255309"/>
              <a:ext cx="181782" cy="169895"/>
            </a:xfrm>
            <a:prstGeom prst="rect">
              <a:avLst/>
            </a:prstGeom>
          </p:spPr>
        </p:pic>
        <p:pic>
          <p:nvPicPr>
            <p:cNvPr id="184" name="object 184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929696" y="8046920"/>
              <a:ext cx="181782" cy="169895"/>
            </a:xfrm>
            <a:prstGeom prst="rect">
              <a:avLst/>
            </a:prstGeom>
          </p:spPr>
        </p:pic>
        <p:pic>
          <p:nvPicPr>
            <p:cNvPr id="185" name="object 185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2918040" y="8046920"/>
              <a:ext cx="181782" cy="169895"/>
            </a:xfrm>
            <a:prstGeom prst="rect">
              <a:avLst/>
            </a:prstGeom>
          </p:spPr>
        </p:pic>
        <p:sp>
          <p:nvSpPr>
            <p:cNvPr id="186" name="object 186"/>
            <p:cNvSpPr/>
            <p:nvPr/>
          </p:nvSpPr>
          <p:spPr>
            <a:xfrm>
              <a:off x="2108728" y="7339929"/>
              <a:ext cx="788035" cy="0"/>
            </a:xfrm>
            <a:custGeom>
              <a:avLst/>
              <a:gdLst/>
              <a:ahLst/>
              <a:cxnLst/>
              <a:rect l="l" t="t" r="r" b="b"/>
              <a:pathLst>
                <a:path w="788035" h="0">
                  <a:moveTo>
                    <a:pt x="0" y="0"/>
                  </a:moveTo>
                  <a:lnTo>
                    <a:pt x="34335" y="0"/>
                  </a:lnTo>
                </a:path>
                <a:path w="788035" h="0">
                  <a:moveTo>
                    <a:pt x="68671" y="0"/>
                  </a:moveTo>
                  <a:lnTo>
                    <a:pt x="102991" y="0"/>
                  </a:lnTo>
                </a:path>
                <a:path w="788035" h="0">
                  <a:moveTo>
                    <a:pt x="136672" y="0"/>
                  </a:moveTo>
                  <a:lnTo>
                    <a:pt x="170992" y="0"/>
                  </a:lnTo>
                </a:path>
                <a:path w="788035" h="0">
                  <a:moveTo>
                    <a:pt x="205328" y="0"/>
                  </a:moveTo>
                  <a:lnTo>
                    <a:pt x="239664" y="0"/>
                  </a:lnTo>
                </a:path>
                <a:path w="788035" h="0">
                  <a:moveTo>
                    <a:pt x="273999" y="0"/>
                  </a:moveTo>
                  <a:lnTo>
                    <a:pt x="308320" y="0"/>
                  </a:lnTo>
                </a:path>
                <a:path w="788035" h="0">
                  <a:moveTo>
                    <a:pt x="342656" y="0"/>
                  </a:moveTo>
                  <a:lnTo>
                    <a:pt x="376321" y="0"/>
                  </a:lnTo>
                </a:path>
                <a:path w="788035" h="0">
                  <a:moveTo>
                    <a:pt x="410657" y="0"/>
                  </a:moveTo>
                  <a:lnTo>
                    <a:pt x="444992" y="0"/>
                  </a:lnTo>
                </a:path>
                <a:path w="788035" h="0">
                  <a:moveTo>
                    <a:pt x="479313" y="0"/>
                  </a:moveTo>
                  <a:lnTo>
                    <a:pt x="513648" y="0"/>
                  </a:lnTo>
                </a:path>
                <a:path w="788035" h="0">
                  <a:moveTo>
                    <a:pt x="547984" y="0"/>
                  </a:moveTo>
                  <a:lnTo>
                    <a:pt x="582320" y="0"/>
                  </a:lnTo>
                </a:path>
                <a:path w="788035" h="0">
                  <a:moveTo>
                    <a:pt x="616640" y="0"/>
                  </a:moveTo>
                  <a:lnTo>
                    <a:pt x="650321" y="0"/>
                  </a:lnTo>
                </a:path>
                <a:path w="788035" h="0">
                  <a:moveTo>
                    <a:pt x="684641" y="0"/>
                  </a:moveTo>
                  <a:lnTo>
                    <a:pt x="718977" y="0"/>
                  </a:lnTo>
                </a:path>
                <a:path w="788035" h="0">
                  <a:moveTo>
                    <a:pt x="753313" y="0"/>
                  </a:moveTo>
                  <a:lnTo>
                    <a:pt x="787633" y="0"/>
                  </a:lnTo>
                </a:path>
              </a:pathLst>
            </a:custGeom>
            <a:ln w="1650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2020260" y="7423124"/>
              <a:ext cx="988694" cy="1024890"/>
            </a:xfrm>
            <a:custGeom>
              <a:avLst/>
              <a:gdLst/>
              <a:ahLst/>
              <a:cxnLst/>
              <a:rect l="l" t="t" r="r" b="b"/>
              <a:pathLst>
                <a:path w="988694" h="1024890">
                  <a:moveTo>
                    <a:pt x="988344" y="0"/>
                  </a:moveTo>
                  <a:lnTo>
                    <a:pt x="988344" y="625876"/>
                  </a:lnTo>
                </a:path>
                <a:path w="988694" h="1024890">
                  <a:moveTo>
                    <a:pt x="509031" y="1024646"/>
                  </a:moveTo>
                  <a:lnTo>
                    <a:pt x="507705" y="396788"/>
                  </a:lnTo>
                </a:path>
                <a:path w="988694" h="1024890">
                  <a:moveTo>
                    <a:pt x="0" y="0"/>
                  </a:moveTo>
                  <a:lnTo>
                    <a:pt x="0" y="625876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8" name="object 188"/>
          <p:cNvSpPr txBox="1"/>
          <p:nvPr/>
        </p:nvSpPr>
        <p:spPr>
          <a:xfrm>
            <a:off x="1997810" y="7259949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750">
              <a:latin typeface="Arial"/>
              <a:cs typeface="Arial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1995170" y="8051549"/>
            <a:ext cx="61594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750">
              <a:latin typeface="Arial"/>
              <a:cs typeface="Arial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2990776" y="8060132"/>
            <a:ext cx="40005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750">
              <a:latin typeface="Arial"/>
              <a:cs typeface="Arial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2984173" y="7259949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750">
              <a:latin typeface="Arial"/>
              <a:cs typeface="Arial"/>
            </a:endParaRPr>
          </a:p>
        </p:txBody>
      </p:sp>
      <p:pic>
        <p:nvPicPr>
          <p:cNvPr id="192" name="object 192"/>
          <p:cNvPicPr/>
          <p:nvPr/>
        </p:nvPicPr>
        <p:blipFill>
          <a:blip r:embed="rId49" cstate="print"/>
          <a:stretch>
            <a:fillRect/>
          </a:stretch>
        </p:blipFill>
        <p:spPr>
          <a:xfrm>
            <a:off x="2437401" y="7652768"/>
            <a:ext cx="181782" cy="169225"/>
          </a:xfrm>
          <a:prstGeom prst="rect">
            <a:avLst/>
          </a:prstGeom>
        </p:spPr>
      </p:pic>
      <p:sp>
        <p:nvSpPr>
          <p:cNvPr id="193" name="object 193"/>
          <p:cNvSpPr txBox="1"/>
          <p:nvPr/>
        </p:nvSpPr>
        <p:spPr>
          <a:xfrm>
            <a:off x="2496933" y="7649471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194" name="object 194"/>
          <p:cNvGrpSpPr/>
          <p:nvPr/>
        </p:nvGrpSpPr>
        <p:grpSpPr>
          <a:xfrm>
            <a:off x="2070445" y="7380209"/>
            <a:ext cx="887094" cy="696595"/>
            <a:chOff x="2070445" y="7380209"/>
            <a:chExt cx="887094" cy="696595"/>
          </a:xfrm>
        </p:grpSpPr>
        <p:sp>
          <p:nvSpPr>
            <p:cNvPr id="195" name="object 195"/>
            <p:cNvSpPr/>
            <p:nvPr/>
          </p:nvSpPr>
          <p:spPr>
            <a:xfrm>
              <a:off x="2070445" y="7382190"/>
              <a:ext cx="405130" cy="320675"/>
            </a:xfrm>
            <a:custGeom>
              <a:avLst/>
              <a:gdLst/>
              <a:ahLst/>
              <a:cxnLst/>
              <a:rect l="l" t="t" r="r" b="b"/>
              <a:pathLst>
                <a:path w="405130" h="320675">
                  <a:moveTo>
                    <a:pt x="25085" y="0"/>
                  </a:moveTo>
                  <a:lnTo>
                    <a:pt x="0" y="33009"/>
                  </a:lnTo>
                  <a:lnTo>
                    <a:pt x="380283" y="320207"/>
                  </a:lnTo>
                  <a:lnTo>
                    <a:pt x="404713" y="287197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2599273" y="7789540"/>
              <a:ext cx="353060" cy="279400"/>
            </a:xfrm>
            <a:custGeom>
              <a:avLst/>
              <a:gdLst/>
              <a:ahLst/>
              <a:cxnLst/>
              <a:rect l="l" t="t" r="r" b="b"/>
              <a:pathLst>
                <a:path w="353060" h="279400">
                  <a:moveTo>
                    <a:pt x="0" y="0"/>
                  </a:moveTo>
                  <a:lnTo>
                    <a:pt x="352546" y="279272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2586075" y="7380209"/>
              <a:ext cx="371475" cy="318770"/>
            </a:xfrm>
            <a:custGeom>
              <a:avLst/>
              <a:gdLst/>
              <a:ahLst/>
              <a:cxnLst/>
              <a:rect l="l" t="t" r="r" b="b"/>
              <a:pathLst>
                <a:path w="371475" h="318770">
                  <a:moveTo>
                    <a:pt x="344622" y="0"/>
                  </a:moveTo>
                  <a:lnTo>
                    <a:pt x="0" y="286527"/>
                  </a:lnTo>
                  <a:lnTo>
                    <a:pt x="26395" y="318226"/>
                  </a:lnTo>
                  <a:lnTo>
                    <a:pt x="371033" y="31683"/>
                  </a:lnTo>
                  <a:lnTo>
                    <a:pt x="34462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2082987" y="7784922"/>
              <a:ext cx="378460" cy="288925"/>
            </a:xfrm>
            <a:custGeom>
              <a:avLst/>
              <a:gdLst/>
              <a:ahLst/>
              <a:cxnLst/>
              <a:rect l="l" t="t" r="r" b="b"/>
              <a:pathLst>
                <a:path w="378460" h="288925">
                  <a:moveTo>
                    <a:pt x="378302" y="0"/>
                  </a:moveTo>
                  <a:lnTo>
                    <a:pt x="0" y="288508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9" name="object 199"/>
          <p:cNvSpPr txBox="1"/>
          <p:nvPr/>
        </p:nvSpPr>
        <p:spPr>
          <a:xfrm>
            <a:off x="2216339" y="7765015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12</a:t>
            </a:r>
            <a:endParaRPr sz="750">
              <a:latin typeface="Arial"/>
              <a:cs typeface="Arial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2740550" y="7790104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30</a:t>
            </a:r>
            <a:endParaRPr sz="750">
              <a:latin typeface="Arial"/>
              <a:cs typeface="Arial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2372811" y="8070036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14</a:t>
            </a:r>
            <a:endParaRPr sz="750">
              <a:latin typeface="Arial"/>
              <a:cs typeface="Arial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3016521" y="7669945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16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203" name="object 203"/>
          <p:cNvGrpSpPr/>
          <p:nvPr/>
        </p:nvGrpSpPr>
        <p:grpSpPr>
          <a:xfrm>
            <a:off x="2062520" y="6978132"/>
            <a:ext cx="2967990" cy="1637030"/>
            <a:chOff x="2062520" y="6978132"/>
            <a:chExt cx="2967990" cy="1637030"/>
          </a:xfrm>
        </p:grpSpPr>
        <p:pic>
          <p:nvPicPr>
            <p:cNvPr id="204" name="object 204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2438727" y="8445020"/>
              <a:ext cx="181782" cy="169895"/>
            </a:xfrm>
            <a:prstGeom prst="rect">
              <a:avLst/>
            </a:prstGeom>
          </p:spPr>
        </p:pic>
        <p:sp>
          <p:nvSpPr>
            <p:cNvPr id="205" name="object 205"/>
            <p:cNvSpPr/>
            <p:nvPr/>
          </p:nvSpPr>
          <p:spPr>
            <a:xfrm>
              <a:off x="2062520" y="8179729"/>
              <a:ext cx="394335" cy="330835"/>
            </a:xfrm>
            <a:custGeom>
              <a:avLst/>
              <a:gdLst/>
              <a:ahLst/>
              <a:cxnLst/>
              <a:rect l="l" t="t" r="r" b="b"/>
              <a:pathLst>
                <a:path w="394335" h="330834">
                  <a:moveTo>
                    <a:pt x="26410" y="0"/>
                  </a:moveTo>
                  <a:lnTo>
                    <a:pt x="0" y="33009"/>
                  </a:lnTo>
                  <a:lnTo>
                    <a:pt x="367741" y="330768"/>
                  </a:lnTo>
                  <a:lnTo>
                    <a:pt x="394152" y="297759"/>
                  </a:lnTo>
                  <a:lnTo>
                    <a:pt x="2641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2615778" y="8200852"/>
              <a:ext cx="344170" cy="287020"/>
            </a:xfrm>
            <a:custGeom>
              <a:avLst/>
              <a:gdLst/>
              <a:ahLst/>
              <a:cxnLst/>
              <a:rect l="l" t="t" r="r" b="b"/>
              <a:pathLst>
                <a:path w="344169" h="287020">
                  <a:moveTo>
                    <a:pt x="0" y="286542"/>
                  </a:moveTo>
                  <a:lnTo>
                    <a:pt x="343966" y="0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2570881" y="6978132"/>
              <a:ext cx="395605" cy="314325"/>
            </a:xfrm>
            <a:custGeom>
              <a:avLst/>
              <a:gdLst/>
              <a:ahLst/>
              <a:cxnLst/>
              <a:rect l="l" t="t" r="r" b="b"/>
              <a:pathLst>
                <a:path w="395605" h="314325">
                  <a:moveTo>
                    <a:pt x="25085" y="0"/>
                  </a:moveTo>
                  <a:lnTo>
                    <a:pt x="0" y="33009"/>
                  </a:lnTo>
                  <a:lnTo>
                    <a:pt x="370377" y="314264"/>
                  </a:lnTo>
                  <a:lnTo>
                    <a:pt x="395477" y="281254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8" name="object 208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2083315" y="6981111"/>
              <a:ext cx="370378" cy="286527"/>
            </a:xfrm>
            <a:prstGeom prst="rect">
              <a:avLst/>
            </a:prstGeom>
          </p:spPr>
        </p:pic>
        <p:sp>
          <p:nvSpPr>
            <p:cNvPr id="209" name="object 209"/>
            <p:cNvSpPr/>
            <p:nvPr/>
          </p:nvSpPr>
          <p:spPr>
            <a:xfrm>
              <a:off x="4758842" y="7657500"/>
              <a:ext cx="271780" cy="172720"/>
            </a:xfrm>
            <a:custGeom>
              <a:avLst/>
              <a:gdLst/>
              <a:ahLst/>
              <a:cxnLst/>
              <a:rect l="l" t="t" r="r" b="b"/>
              <a:pathLst>
                <a:path w="271779" h="172720">
                  <a:moveTo>
                    <a:pt x="0" y="0"/>
                  </a:moveTo>
                  <a:lnTo>
                    <a:pt x="48859" y="85816"/>
                  </a:lnTo>
                  <a:lnTo>
                    <a:pt x="0" y="172318"/>
                  </a:lnTo>
                  <a:lnTo>
                    <a:pt x="206639" y="107609"/>
                  </a:lnTo>
                  <a:lnTo>
                    <a:pt x="197403" y="160431"/>
                  </a:lnTo>
                  <a:lnTo>
                    <a:pt x="271348" y="85816"/>
                  </a:lnTo>
                  <a:lnTo>
                    <a:pt x="197403" y="11887"/>
                  </a:lnTo>
                  <a:lnTo>
                    <a:pt x="206639" y="646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0" name="object 210"/>
          <p:cNvSpPr txBox="1"/>
          <p:nvPr/>
        </p:nvSpPr>
        <p:spPr>
          <a:xfrm>
            <a:off x="1871052" y="7662679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18</a:t>
            </a:r>
            <a:endParaRPr sz="750">
              <a:latin typeface="Arial"/>
              <a:cs typeface="Arial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2406483" y="7179081"/>
            <a:ext cx="341630" cy="28829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59690">
              <a:lnSpc>
                <a:spcPct val="100000"/>
              </a:lnSpc>
              <a:spcBef>
                <a:spcPts val="229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u="sng" sz="750" spc="5" i="1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unsafe</a:t>
            </a:r>
            <a:r>
              <a:rPr dirty="0" u="sng" sz="750" spc="70" i="1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 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212" name="object 212"/>
          <p:cNvGrpSpPr/>
          <p:nvPr/>
        </p:nvGrpSpPr>
        <p:grpSpPr>
          <a:xfrm>
            <a:off x="4017972" y="6851922"/>
            <a:ext cx="1012825" cy="977900"/>
            <a:chOff x="4017972" y="6851922"/>
            <a:chExt cx="1012825" cy="977900"/>
          </a:xfrm>
        </p:grpSpPr>
        <p:sp>
          <p:nvSpPr>
            <p:cNvPr id="213" name="object 213"/>
            <p:cNvSpPr/>
            <p:nvPr/>
          </p:nvSpPr>
          <p:spPr>
            <a:xfrm>
              <a:off x="4758842" y="7657500"/>
              <a:ext cx="271780" cy="172720"/>
            </a:xfrm>
            <a:custGeom>
              <a:avLst/>
              <a:gdLst/>
              <a:ahLst/>
              <a:cxnLst/>
              <a:rect l="l" t="t" r="r" b="b"/>
              <a:pathLst>
                <a:path w="271779" h="172720">
                  <a:moveTo>
                    <a:pt x="271348" y="85816"/>
                  </a:moveTo>
                  <a:lnTo>
                    <a:pt x="197403" y="160431"/>
                  </a:lnTo>
                  <a:lnTo>
                    <a:pt x="206639" y="107609"/>
                  </a:lnTo>
                  <a:lnTo>
                    <a:pt x="0" y="172318"/>
                  </a:lnTo>
                  <a:lnTo>
                    <a:pt x="48859" y="85816"/>
                  </a:lnTo>
                  <a:lnTo>
                    <a:pt x="0" y="0"/>
                  </a:lnTo>
                  <a:lnTo>
                    <a:pt x="206639" y="64693"/>
                  </a:lnTo>
                  <a:lnTo>
                    <a:pt x="197403" y="11887"/>
                  </a:lnTo>
                  <a:lnTo>
                    <a:pt x="271348" y="85816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4" name="object 214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4017972" y="6851922"/>
              <a:ext cx="182438" cy="169895"/>
            </a:xfrm>
            <a:prstGeom prst="rect">
              <a:avLst/>
            </a:prstGeom>
          </p:spPr>
        </p:pic>
      </p:grpSp>
      <p:sp>
        <p:nvSpPr>
          <p:cNvPr id="215" name="object 215"/>
          <p:cNvSpPr txBox="1"/>
          <p:nvPr/>
        </p:nvSpPr>
        <p:spPr>
          <a:xfrm>
            <a:off x="4072215" y="6844672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216" name="object 216"/>
          <p:cNvGrpSpPr/>
          <p:nvPr/>
        </p:nvGrpSpPr>
        <p:grpSpPr>
          <a:xfrm>
            <a:off x="3524013" y="7255202"/>
            <a:ext cx="1170940" cy="1195705"/>
            <a:chOff x="3524013" y="7255202"/>
            <a:chExt cx="1170940" cy="1195705"/>
          </a:xfrm>
        </p:grpSpPr>
        <p:sp>
          <p:nvSpPr>
            <p:cNvPr id="217" name="object 217"/>
            <p:cNvSpPr/>
            <p:nvPr/>
          </p:nvSpPr>
          <p:spPr>
            <a:xfrm>
              <a:off x="3526871" y="7258060"/>
              <a:ext cx="177165" cy="164465"/>
            </a:xfrm>
            <a:custGeom>
              <a:avLst/>
              <a:gdLst/>
              <a:ahLst/>
              <a:cxnLst/>
              <a:rect l="l" t="t" r="r" b="b"/>
              <a:pathLst>
                <a:path w="177164" h="164465">
                  <a:moveTo>
                    <a:pt x="95737" y="0"/>
                  </a:moveTo>
                  <a:lnTo>
                    <a:pt x="81213" y="0"/>
                  </a:lnTo>
                  <a:lnTo>
                    <a:pt x="66690" y="1981"/>
                  </a:lnTo>
                  <a:lnTo>
                    <a:pt x="28392" y="21137"/>
                  </a:lnTo>
                  <a:lnTo>
                    <a:pt x="4632" y="55458"/>
                  </a:lnTo>
                  <a:lnTo>
                    <a:pt x="0" y="81869"/>
                  </a:lnTo>
                  <a:lnTo>
                    <a:pt x="1325" y="95737"/>
                  </a:lnTo>
                  <a:lnTo>
                    <a:pt x="18486" y="132709"/>
                  </a:lnTo>
                  <a:lnTo>
                    <a:pt x="52821" y="157794"/>
                  </a:lnTo>
                  <a:lnTo>
                    <a:pt x="81213" y="164393"/>
                  </a:lnTo>
                  <a:lnTo>
                    <a:pt x="95737" y="164393"/>
                  </a:lnTo>
                  <a:lnTo>
                    <a:pt x="136672" y="151196"/>
                  </a:lnTo>
                  <a:lnTo>
                    <a:pt x="166375" y="121478"/>
                  </a:lnTo>
                  <a:lnTo>
                    <a:pt x="176936" y="81869"/>
                  </a:lnTo>
                  <a:lnTo>
                    <a:pt x="175625" y="68671"/>
                  </a:lnTo>
                  <a:lnTo>
                    <a:pt x="158450" y="31028"/>
                  </a:lnTo>
                  <a:lnTo>
                    <a:pt x="124129" y="6614"/>
                  </a:lnTo>
                  <a:lnTo>
                    <a:pt x="95737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3526871" y="7258060"/>
              <a:ext cx="177165" cy="164465"/>
            </a:xfrm>
            <a:custGeom>
              <a:avLst/>
              <a:gdLst/>
              <a:ahLst/>
              <a:cxnLst/>
              <a:rect l="l" t="t" r="r" b="b"/>
              <a:pathLst>
                <a:path w="177164" h="164465">
                  <a:moveTo>
                    <a:pt x="0" y="81869"/>
                  </a:moveTo>
                  <a:lnTo>
                    <a:pt x="10561" y="42915"/>
                  </a:lnTo>
                  <a:lnTo>
                    <a:pt x="40279" y="13213"/>
                  </a:lnTo>
                  <a:lnTo>
                    <a:pt x="81213" y="0"/>
                  </a:lnTo>
                  <a:lnTo>
                    <a:pt x="95737" y="0"/>
                  </a:lnTo>
                  <a:lnTo>
                    <a:pt x="136672" y="13213"/>
                  </a:lnTo>
                  <a:lnTo>
                    <a:pt x="166375" y="42915"/>
                  </a:lnTo>
                  <a:lnTo>
                    <a:pt x="176936" y="81869"/>
                  </a:lnTo>
                  <a:lnTo>
                    <a:pt x="175625" y="95737"/>
                  </a:lnTo>
                  <a:lnTo>
                    <a:pt x="158450" y="132709"/>
                  </a:lnTo>
                  <a:lnTo>
                    <a:pt x="124129" y="157794"/>
                  </a:lnTo>
                  <a:lnTo>
                    <a:pt x="95737" y="164393"/>
                  </a:lnTo>
                  <a:lnTo>
                    <a:pt x="81213" y="164393"/>
                  </a:lnTo>
                  <a:lnTo>
                    <a:pt x="40279" y="151196"/>
                  </a:lnTo>
                  <a:lnTo>
                    <a:pt x="10561" y="121478"/>
                  </a:lnTo>
                  <a:lnTo>
                    <a:pt x="0" y="81869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9" name="object 219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4513135" y="7255309"/>
              <a:ext cx="181767" cy="169895"/>
            </a:xfrm>
            <a:prstGeom prst="rect">
              <a:avLst/>
            </a:prstGeom>
          </p:spPr>
        </p:pic>
        <p:pic>
          <p:nvPicPr>
            <p:cNvPr id="220" name="object 220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3524120" y="8046920"/>
              <a:ext cx="182438" cy="169895"/>
            </a:xfrm>
            <a:prstGeom prst="rect">
              <a:avLst/>
            </a:prstGeom>
          </p:spPr>
        </p:pic>
        <p:pic>
          <p:nvPicPr>
            <p:cNvPr id="221" name="object 221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4513135" y="8046920"/>
              <a:ext cx="181767" cy="169895"/>
            </a:xfrm>
            <a:prstGeom prst="rect">
              <a:avLst/>
            </a:prstGeom>
          </p:spPr>
        </p:pic>
        <p:sp>
          <p:nvSpPr>
            <p:cNvPr id="222" name="object 222"/>
            <p:cNvSpPr/>
            <p:nvPr/>
          </p:nvSpPr>
          <p:spPr>
            <a:xfrm>
              <a:off x="3703807" y="7339929"/>
              <a:ext cx="788035" cy="0"/>
            </a:xfrm>
            <a:custGeom>
              <a:avLst/>
              <a:gdLst/>
              <a:ahLst/>
              <a:cxnLst/>
              <a:rect l="l" t="t" r="r" b="b"/>
              <a:pathLst>
                <a:path w="788035" h="0">
                  <a:moveTo>
                    <a:pt x="0" y="0"/>
                  </a:moveTo>
                  <a:lnTo>
                    <a:pt x="34335" y="0"/>
                  </a:lnTo>
                </a:path>
                <a:path w="788035" h="0">
                  <a:moveTo>
                    <a:pt x="68016" y="0"/>
                  </a:moveTo>
                  <a:lnTo>
                    <a:pt x="102336" y="0"/>
                  </a:lnTo>
                </a:path>
                <a:path w="788035" h="0">
                  <a:moveTo>
                    <a:pt x="136672" y="0"/>
                  </a:moveTo>
                  <a:lnTo>
                    <a:pt x="171008" y="0"/>
                  </a:lnTo>
                </a:path>
                <a:path w="788035" h="0">
                  <a:moveTo>
                    <a:pt x="205328" y="0"/>
                  </a:moveTo>
                  <a:lnTo>
                    <a:pt x="239664" y="0"/>
                  </a:lnTo>
                </a:path>
                <a:path w="788035" h="0">
                  <a:moveTo>
                    <a:pt x="273999" y="0"/>
                  </a:moveTo>
                  <a:lnTo>
                    <a:pt x="307665" y="0"/>
                  </a:lnTo>
                </a:path>
                <a:path w="788035" h="0">
                  <a:moveTo>
                    <a:pt x="342000" y="0"/>
                  </a:moveTo>
                  <a:lnTo>
                    <a:pt x="376336" y="0"/>
                  </a:lnTo>
                </a:path>
                <a:path w="788035" h="0">
                  <a:moveTo>
                    <a:pt x="410657" y="0"/>
                  </a:moveTo>
                  <a:lnTo>
                    <a:pt x="444992" y="0"/>
                  </a:lnTo>
                </a:path>
                <a:path w="788035" h="0">
                  <a:moveTo>
                    <a:pt x="479328" y="0"/>
                  </a:moveTo>
                  <a:lnTo>
                    <a:pt x="513648" y="0"/>
                  </a:lnTo>
                </a:path>
                <a:path w="788035" h="0">
                  <a:moveTo>
                    <a:pt x="547984" y="0"/>
                  </a:moveTo>
                  <a:lnTo>
                    <a:pt x="581665" y="0"/>
                  </a:lnTo>
                </a:path>
                <a:path w="788035" h="0">
                  <a:moveTo>
                    <a:pt x="615985" y="0"/>
                  </a:moveTo>
                  <a:lnTo>
                    <a:pt x="650321" y="0"/>
                  </a:lnTo>
                </a:path>
                <a:path w="788035" h="0">
                  <a:moveTo>
                    <a:pt x="684656" y="0"/>
                  </a:moveTo>
                  <a:lnTo>
                    <a:pt x="718977" y="0"/>
                  </a:lnTo>
                </a:path>
                <a:path w="788035" h="0">
                  <a:moveTo>
                    <a:pt x="753313" y="0"/>
                  </a:moveTo>
                  <a:lnTo>
                    <a:pt x="787648" y="0"/>
                  </a:lnTo>
                </a:path>
              </a:pathLst>
            </a:custGeom>
            <a:ln w="1650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3615339" y="7423124"/>
              <a:ext cx="988694" cy="1024890"/>
            </a:xfrm>
            <a:custGeom>
              <a:avLst/>
              <a:gdLst/>
              <a:ahLst/>
              <a:cxnLst/>
              <a:rect l="l" t="t" r="r" b="b"/>
              <a:pathLst>
                <a:path w="988695" h="1024890">
                  <a:moveTo>
                    <a:pt x="988344" y="0"/>
                  </a:moveTo>
                  <a:lnTo>
                    <a:pt x="988344" y="625876"/>
                  </a:lnTo>
                </a:path>
                <a:path w="988695" h="1024890">
                  <a:moveTo>
                    <a:pt x="509031" y="1024646"/>
                  </a:moveTo>
                  <a:lnTo>
                    <a:pt x="507050" y="396788"/>
                  </a:lnTo>
                </a:path>
                <a:path w="988695" h="1024890">
                  <a:moveTo>
                    <a:pt x="0" y="0"/>
                  </a:moveTo>
                  <a:lnTo>
                    <a:pt x="0" y="625876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4" name="object 224"/>
          <p:cNvSpPr txBox="1"/>
          <p:nvPr/>
        </p:nvSpPr>
        <p:spPr>
          <a:xfrm>
            <a:off x="3592891" y="7259949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750">
              <a:latin typeface="Arial"/>
              <a:cs typeface="Arial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3590251" y="8051549"/>
            <a:ext cx="61594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750">
              <a:latin typeface="Arial"/>
              <a:cs typeface="Arial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4585856" y="8060132"/>
            <a:ext cx="40005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750">
              <a:latin typeface="Arial"/>
              <a:cs typeface="Arial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4578594" y="7259949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750">
              <a:latin typeface="Arial"/>
              <a:cs typeface="Arial"/>
            </a:endParaRPr>
          </a:p>
        </p:txBody>
      </p:sp>
      <p:pic>
        <p:nvPicPr>
          <p:cNvPr id="228" name="object 228"/>
          <p:cNvPicPr/>
          <p:nvPr/>
        </p:nvPicPr>
        <p:blipFill>
          <a:blip r:embed="rId56" cstate="print"/>
          <a:stretch>
            <a:fillRect/>
          </a:stretch>
        </p:blipFill>
        <p:spPr>
          <a:xfrm>
            <a:off x="4031170" y="7652768"/>
            <a:ext cx="182438" cy="169225"/>
          </a:xfrm>
          <a:prstGeom prst="rect">
            <a:avLst/>
          </a:prstGeom>
        </p:spPr>
      </p:pic>
      <p:sp>
        <p:nvSpPr>
          <p:cNvPr id="229" name="object 229"/>
          <p:cNvSpPr txBox="1"/>
          <p:nvPr/>
        </p:nvSpPr>
        <p:spPr>
          <a:xfrm>
            <a:off x="4092014" y="7649471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230" name="object 230"/>
          <p:cNvGrpSpPr/>
          <p:nvPr/>
        </p:nvGrpSpPr>
        <p:grpSpPr>
          <a:xfrm>
            <a:off x="3665524" y="7380209"/>
            <a:ext cx="886460" cy="696595"/>
            <a:chOff x="3665524" y="7380209"/>
            <a:chExt cx="886460" cy="696595"/>
          </a:xfrm>
        </p:grpSpPr>
        <p:sp>
          <p:nvSpPr>
            <p:cNvPr id="231" name="object 231"/>
            <p:cNvSpPr/>
            <p:nvPr/>
          </p:nvSpPr>
          <p:spPr>
            <a:xfrm>
              <a:off x="3665524" y="7382190"/>
              <a:ext cx="404495" cy="320675"/>
            </a:xfrm>
            <a:custGeom>
              <a:avLst/>
              <a:gdLst/>
              <a:ahLst/>
              <a:cxnLst/>
              <a:rect l="l" t="t" r="r" b="b"/>
              <a:pathLst>
                <a:path w="404495" h="320675">
                  <a:moveTo>
                    <a:pt x="25085" y="0"/>
                  </a:moveTo>
                  <a:lnTo>
                    <a:pt x="0" y="33009"/>
                  </a:lnTo>
                  <a:lnTo>
                    <a:pt x="378957" y="320207"/>
                  </a:lnTo>
                  <a:lnTo>
                    <a:pt x="404042" y="287197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4194352" y="7789540"/>
              <a:ext cx="352425" cy="279400"/>
            </a:xfrm>
            <a:custGeom>
              <a:avLst/>
              <a:gdLst/>
              <a:ahLst/>
              <a:cxnLst/>
              <a:rect l="l" t="t" r="r" b="b"/>
              <a:pathLst>
                <a:path w="352425" h="279400">
                  <a:moveTo>
                    <a:pt x="0" y="0"/>
                  </a:moveTo>
                  <a:lnTo>
                    <a:pt x="351891" y="279272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4181154" y="7380209"/>
              <a:ext cx="370840" cy="318770"/>
            </a:xfrm>
            <a:custGeom>
              <a:avLst/>
              <a:gdLst/>
              <a:ahLst/>
              <a:cxnLst/>
              <a:rect l="l" t="t" r="r" b="b"/>
              <a:pathLst>
                <a:path w="370839" h="318770">
                  <a:moveTo>
                    <a:pt x="343966" y="0"/>
                  </a:moveTo>
                  <a:lnTo>
                    <a:pt x="0" y="286527"/>
                  </a:lnTo>
                  <a:lnTo>
                    <a:pt x="26410" y="318226"/>
                  </a:lnTo>
                  <a:lnTo>
                    <a:pt x="370377" y="31683"/>
                  </a:lnTo>
                  <a:lnTo>
                    <a:pt x="343966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3678067" y="7784922"/>
              <a:ext cx="377825" cy="288925"/>
            </a:xfrm>
            <a:custGeom>
              <a:avLst/>
              <a:gdLst/>
              <a:ahLst/>
              <a:cxnLst/>
              <a:rect l="l" t="t" r="r" b="b"/>
              <a:pathLst>
                <a:path w="377825" h="288925">
                  <a:moveTo>
                    <a:pt x="377647" y="0"/>
                  </a:moveTo>
                  <a:lnTo>
                    <a:pt x="0" y="288508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5" name="object 235"/>
          <p:cNvSpPr txBox="1"/>
          <p:nvPr/>
        </p:nvSpPr>
        <p:spPr>
          <a:xfrm>
            <a:off x="3811433" y="7765015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12</a:t>
            </a:r>
            <a:endParaRPr sz="750">
              <a:latin typeface="Arial"/>
              <a:cs typeface="Arial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4335645" y="7790104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30</a:t>
            </a:r>
            <a:endParaRPr sz="750">
              <a:latin typeface="Arial"/>
              <a:cs typeface="Arial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3985730" y="8070036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14</a:t>
            </a:r>
            <a:endParaRPr sz="750">
              <a:latin typeface="Arial"/>
              <a:cs typeface="Arial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4611615" y="7669944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16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239" name="object 239"/>
          <p:cNvGrpSpPr/>
          <p:nvPr/>
        </p:nvGrpSpPr>
        <p:grpSpPr>
          <a:xfrm>
            <a:off x="3657600" y="6851922"/>
            <a:ext cx="2148840" cy="1763395"/>
            <a:chOff x="3657600" y="6851922"/>
            <a:chExt cx="2148840" cy="1763395"/>
          </a:xfrm>
        </p:grpSpPr>
        <p:pic>
          <p:nvPicPr>
            <p:cNvPr id="240" name="object 240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4033151" y="8445020"/>
              <a:ext cx="182438" cy="169895"/>
            </a:xfrm>
            <a:prstGeom prst="rect">
              <a:avLst/>
            </a:prstGeom>
          </p:spPr>
        </p:pic>
        <p:sp>
          <p:nvSpPr>
            <p:cNvPr id="241" name="object 241"/>
            <p:cNvSpPr/>
            <p:nvPr/>
          </p:nvSpPr>
          <p:spPr>
            <a:xfrm>
              <a:off x="3657600" y="8179729"/>
              <a:ext cx="393700" cy="330835"/>
            </a:xfrm>
            <a:custGeom>
              <a:avLst/>
              <a:gdLst/>
              <a:ahLst/>
              <a:cxnLst/>
              <a:rect l="l" t="t" r="r" b="b"/>
              <a:pathLst>
                <a:path w="393700" h="330834">
                  <a:moveTo>
                    <a:pt x="26410" y="0"/>
                  </a:moveTo>
                  <a:lnTo>
                    <a:pt x="0" y="33009"/>
                  </a:lnTo>
                  <a:lnTo>
                    <a:pt x="367085" y="330768"/>
                  </a:lnTo>
                  <a:lnTo>
                    <a:pt x="393481" y="297759"/>
                  </a:lnTo>
                  <a:lnTo>
                    <a:pt x="2641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4210202" y="8200852"/>
              <a:ext cx="344170" cy="287020"/>
            </a:xfrm>
            <a:custGeom>
              <a:avLst/>
              <a:gdLst/>
              <a:ahLst/>
              <a:cxnLst/>
              <a:rect l="l" t="t" r="r" b="b"/>
              <a:pathLst>
                <a:path w="344170" h="287020">
                  <a:moveTo>
                    <a:pt x="0" y="286542"/>
                  </a:moveTo>
                  <a:lnTo>
                    <a:pt x="343966" y="0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4165305" y="6978132"/>
              <a:ext cx="395605" cy="314325"/>
            </a:xfrm>
            <a:custGeom>
              <a:avLst/>
              <a:gdLst/>
              <a:ahLst/>
              <a:cxnLst/>
              <a:rect l="l" t="t" r="r" b="b"/>
              <a:pathLst>
                <a:path w="395604" h="314325">
                  <a:moveTo>
                    <a:pt x="25085" y="0"/>
                  </a:moveTo>
                  <a:lnTo>
                    <a:pt x="0" y="33009"/>
                  </a:lnTo>
                  <a:lnTo>
                    <a:pt x="370377" y="314264"/>
                  </a:lnTo>
                  <a:lnTo>
                    <a:pt x="395477" y="281254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4" name="object 244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3678394" y="6981111"/>
              <a:ext cx="369722" cy="286527"/>
            </a:xfrm>
            <a:prstGeom prst="rect">
              <a:avLst/>
            </a:prstGeom>
          </p:spPr>
        </p:pic>
        <p:pic>
          <p:nvPicPr>
            <p:cNvPr id="245" name="object 245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5622957" y="6851922"/>
              <a:ext cx="183093" cy="169895"/>
            </a:xfrm>
            <a:prstGeom prst="rect">
              <a:avLst/>
            </a:prstGeom>
          </p:spPr>
        </p:pic>
      </p:grpSp>
      <p:sp>
        <p:nvSpPr>
          <p:cNvPr id="246" name="object 246"/>
          <p:cNvSpPr txBox="1"/>
          <p:nvPr/>
        </p:nvSpPr>
        <p:spPr>
          <a:xfrm>
            <a:off x="3466133" y="7662679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18</a:t>
            </a:r>
            <a:endParaRPr sz="750">
              <a:latin typeface="Arial"/>
              <a:cs typeface="Arial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5677863" y="6844672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248" name="object 248"/>
          <p:cNvGrpSpPr/>
          <p:nvPr/>
        </p:nvGrpSpPr>
        <p:grpSpPr>
          <a:xfrm>
            <a:off x="5129669" y="7255202"/>
            <a:ext cx="1170940" cy="1195705"/>
            <a:chOff x="5129669" y="7255202"/>
            <a:chExt cx="1170940" cy="1195705"/>
          </a:xfrm>
        </p:grpSpPr>
        <p:sp>
          <p:nvSpPr>
            <p:cNvPr id="249" name="object 249"/>
            <p:cNvSpPr/>
            <p:nvPr/>
          </p:nvSpPr>
          <p:spPr>
            <a:xfrm>
              <a:off x="5132526" y="7258060"/>
              <a:ext cx="176530" cy="164465"/>
            </a:xfrm>
            <a:custGeom>
              <a:avLst/>
              <a:gdLst/>
              <a:ahLst/>
              <a:cxnLst/>
              <a:rect l="l" t="t" r="r" b="b"/>
              <a:pathLst>
                <a:path w="176529" h="164465">
                  <a:moveTo>
                    <a:pt x="95722" y="0"/>
                  </a:moveTo>
                  <a:lnTo>
                    <a:pt x="81198" y="0"/>
                  </a:lnTo>
                  <a:lnTo>
                    <a:pt x="66674" y="1981"/>
                  </a:lnTo>
                  <a:lnTo>
                    <a:pt x="28392" y="21137"/>
                  </a:lnTo>
                  <a:lnTo>
                    <a:pt x="4617" y="55458"/>
                  </a:lnTo>
                  <a:lnTo>
                    <a:pt x="0" y="81869"/>
                  </a:lnTo>
                  <a:lnTo>
                    <a:pt x="1310" y="95737"/>
                  </a:lnTo>
                  <a:lnTo>
                    <a:pt x="18486" y="132709"/>
                  </a:lnTo>
                  <a:lnTo>
                    <a:pt x="52806" y="157794"/>
                  </a:lnTo>
                  <a:lnTo>
                    <a:pt x="81198" y="164393"/>
                  </a:lnTo>
                  <a:lnTo>
                    <a:pt x="95722" y="164393"/>
                  </a:lnTo>
                  <a:lnTo>
                    <a:pt x="136657" y="151196"/>
                  </a:lnTo>
                  <a:lnTo>
                    <a:pt x="165704" y="121478"/>
                  </a:lnTo>
                  <a:lnTo>
                    <a:pt x="176281" y="81869"/>
                  </a:lnTo>
                  <a:lnTo>
                    <a:pt x="174955" y="68671"/>
                  </a:lnTo>
                  <a:lnTo>
                    <a:pt x="158450" y="31028"/>
                  </a:lnTo>
                  <a:lnTo>
                    <a:pt x="124114" y="6614"/>
                  </a:lnTo>
                  <a:lnTo>
                    <a:pt x="9572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5132526" y="7258060"/>
              <a:ext cx="176530" cy="164465"/>
            </a:xfrm>
            <a:custGeom>
              <a:avLst/>
              <a:gdLst/>
              <a:ahLst/>
              <a:cxnLst/>
              <a:rect l="l" t="t" r="r" b="b"/>
              <a:pathLst>
                <a:path w="176529" h="164465">
                  <a:moveTo>
                    <a:pt x="0" y="81869"/>
                  </a:moveTo>
                  <a:lnTo>
                    <a:pt x="10561" y="42915"/>
                  </a:lnTo>
                  <a:lnTo>
                    <a:pt x="40264" y="13213"/>
                  </a:lnTo>
                  <a:lnTo>
                    <a:pt x="81198" y="0"/>
                  </a:lnTo>
                  <a:lnTo>
                    <a:pt x="95722" y="0"/>
                  </a:lnTo>
                  <a:lnTo>
                    <a:pt x="136657" y="13213"/>
                  </a:lnTo>
                  <a:lnTo>
                    <a:pt x="165704" y="42915"/>
                  </a:lnTo>
                  <a:lnTo>
                    <a:pt x="176281" y="81869"/>
                  </a:lnTo>
                  <a:lnTo>
                    <a:pt x="174955" y="95737"/>
                  </a:lnTo>
                  <a:lnTo>
                    <a:pt x="158450" y="132709"/>
                  </a:lnTo>
                  <a:lnTo>
                    <a:pt x="124114" y="157794"/>
                  </a:lnTo>
                  <a:lnTo>
                    <a:pt x="95722" y="164393"/>
                  </a:lnTo>
                  <a:lnTo>
                    <a:pt x="81198" y="164393"/>
                  </a:lnTo>
                  <a:lnTo>
                    <a:pt x="40264" y="151196"/>
                  </a:lnTo>
                  <a:lnTo>
                    <a:pt x="10561" y="121478"/>
                  </a:lnTo>
                  <a:lnTo>
                    <a:pt x="0" y="81869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1" name="object 251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6118120" y="7255309"/>
              <a:ext cx="182438" cy="169895"/>
            </a:xfrm>
            <a:prstGeom prst="rect">
              <a:avLst/>
            </a:prstGeom>
          </p:spPr>
        </p:pic>
        <p:pic>
          <p:nvPicPr>
            <p:cNvPr id="252" name="object 252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5129776" y="8046920"/>
              <a:ext cx="181782" cy="169895"/>
            </a:xfrm>
            <a:prstGeom prst="rect">
              <a:avLst/>
            </a:prstGeom>
          </p:spPr>
        </p:pic>
        <p:pic>
          <p:nvPicPr>
            <p:cNvPr id="253" name="object 253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6118120" y="8046920"/>
              <a:ext cx="182438" cy="169895"/>
            </a:xfrm>
            <a:prstGeom prst="rect">
              <a:avLst/>
            </a:prstGeom>
          </p:spPr>
        </p:pic>
        <p:sp>
          <p:nvSpPr>
            <p:cNvPr id="254" name="object 254"/>
            <p:cNvSpPr/>
            <p:nvPr/>
          </p:nvSpPr>
          <p:spPr>
            <a:xfrm>
              <a:off x="5308808" y="7339929"/>
              <a:ext cx="788035" cy="0"/>
            </a:xfrm>
            <a:custGeom>
              <a:avLst/>
              <a:gdLst/>
              <a:ahLst/>
              <a:cxnLst/>
              <a:rect l="l" t="t" r="r" b="b"/>
              <a:pathLst>
                <a:path w="788035" h="0">
                  <a:moveTo>
                    <a:pt x="0" y="0"/>
                  </a:moveTo>
                  <a:lnTo>
                    <a:pt x="34320" y="0"/>
                  </a:lnTo>
                </a:path>
                <a:path w="788035" h="0">
                  <a:moveTo>
                    <a:pt x="68656" y="0"/>
                  </a:moveTo>
                  <a:lnTo>
                    <a:pt x="102991" y="0"/>
                  </a:lnTo>
                </a:path>
                <a:path w="788035" h="0">
                  <a:moveTo>
                    <a:pt x="137312" y="0"/>
                  </a:moveTo>
                  <a:lnTo>
                    <a:pt x="171648" y="0"/>
                  </a:lnTo>
                </a:path>
                <a:path w="788035" h="0">
                  <a:moveTo>
                    <a:pt x="205983" y="0"/>
                  </a:moveTo>
                  <a:lnTo>
                    <a:pt x="240304" y="0"/>
                  </a:lnTo>
                </a:path>
                <a:path w="788035" h="0">
                  <a:moveTo>
                    <a:pt x="273984" y="0"/>
                  </a:moveTo>
                  <a:lnTo>
                    <a:pt x="308320" y="0"/>
                  </a:lnTo>
                </a:path>
                <a:path w="788035" h="0">
                  <a:moveTo>
                    <a:pt x="342640" y="0"/>
                  </a:moveTo>
                  <a:lnTo>
                    <a:pt x="376976" y="0"/>
                  </a:lnTo>
                </a:path>
                <a:path w="788035" h="0">
                  <a:moveTo>
                    <a:pt x="411312" y="0"/>
                  </a:moveTo>
                  <a:lnTo>
                    <a:pt x="445632" y="0"/>
                  </a:lnTo>
                </a:path>
                <a:path w="788035" h="0">
                  <a:moveTo>
                    <a:pt x="479968" y="0"/>
                  </a:moveTo>
                  <a:lnTo>
                    <a:pt x="513633" y="0"/>
                  </a:lnTo>
                </a:path>
                <a:path w="788035" h="0">
                  <a:moveTo>
                    <a:pt x="547969" y="0"/>
                  </a:moveTo>
                  <a:lnTo>
                    <a:pt x="582305" y="0"/>
                  </a:lnTo>
                </a:path>
                <a:path w="788035" h="0">
                  <a:moveTo>
                    <a:pt x="616640" y="0"/>
                  </a:moveTo>
                  <a:lnTo>
                    <a:pt x="650961" y="0"/>
                  </a:lnTo>
                </a:path>
                <a:path w="788035" h="0">
                  <a:moveTo>
                    <a:pt x="685297" y="0"/>
                  </a:moveTo>
                  <a:lnTo>
                    <a:pt x="719632" y="0"/>
                  </a:lnTo>
                </a:path>
                <a:path w="788035" h="0">
                  <a:moveTo>
                    <a:pt x="753953" y="0"/>
                  </a:moveTo>
                  <a:lnTo>
                    <a:pt x="787633" y="0"/>
                  </a:lnTo>
                </a:path>
              </a:pathLst>
            </a:custGeom>
            <a:ln w="1650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5220995" y="7423124"/>
              <a:ext cx="988694" cy="1024890"/>
            </a:xfrm>
            <a:custGeom>
              <a:avLst/>
              <a:gdLst/>
              <a:ahLst/>
              <a:cxnLst/>
              <a:rect l="l" t="t" r="r" b="b"/>
              <a:pathLst>
                <a:path w="988695" h="1024890">
                  <a:moveTo>
                    <a:pt x="988344" y="0"/>
                  </a:moveTo>
                  <a:lnTo>
                    <a:pt x="988344" y="625876"/>
                  </a:lnTo>
                </a:path>
                <a:path w="988695" h="1024890">
                  <a:moveTo>
                    <a:pt x="508360" y="1024646"/>
                  </a:moveTo>
                  <a:lnTo>
                    <a:pt x="507050" y="396788"/>
                  </a:lnTo>
                </a:path>
                <a:path w="988695" h="1024890">
                  <a:moveTo>
                    <a:pt x="0" y="0"/>
                  </a:moveTo>
                  <a:lnTo>
                    <a:pt x="0" y="625876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6" name="object 256"/>
          <p:cNvSpPr txBox="1"/>
          <p:nvPr/>
        </p:nvSpPr>
        <p:spPr>
          <a:xfrm>
            <a:off x="5198539" y="7259949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750">
              <a:latin typeface="Arial"/>
              <a:cs typeface="Arial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5195238" y="8051549"/>
            <a:ext cx="61594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750">
              <a:latin typeface="Arial"/>
              <a:cs typeface="Arial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6191505" y="8060132"/>
            <a:ext cx="40005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750">
              <a:latin typeface="Arial"/>
              <a:cs typeface="Arial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6184242" y="7259949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750">
              <a:latin typeface="Arial"/>
              <a:cs typeface="Arial"/>
            </a:endParaRPr>
          </a:p>
        </p:txBody>
      </p:sp>
      <p:pic>
        <p:nvPicPr>
          <p:cNvPr id="260" name="object 260"/>
          <p:cNvPicPr/>
          <p:nvPr/>
        </p:nvPicPr>
        <p:blipFill>
          <a:blip r:embed="rId63" cstate="print"/>
          <a:stretch>
            <a:fillRect/>
          </a:stretch>
        </p:blipFill>
        <p:spPr>
          <a:xfrm>
            <a:off x="5636810" y="7652768"/>
            <a:ext cx="181782" cy="169225"/>
          </a:xfrm>
          <a:prstGeom prst="rect">
            <a:avLst/>
          </a:prstGeom>
        </p:spPr>
      </p:pic>
      <p:sp>
        <p:nvSpPr>
          <p:cNvPr id="261" name="object 261"/>
          <p:cNvSpPr txBox="1"/>
          <p:nvPr/>
        </p:nvSpPr>
        <p:spPr>
          <a:xfrm>
            <a:off x="5697662" y="7649471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262" name="object 262"/>
          <p:cNvGrpSpPr/>
          <p:nvPr/>
        </p:nvGrpSpPr>
        <p:grpSpPr>
          <a:xfrm>
            <a:off x="5263070" y="7380209"/>
            <a:ext cx="893444" cy="714375"/>
            <a:chOff x="5263070" y="7380209"/>
            <a:chExt cx="893444" cy="714375"/>
          </a:xfrm>
        </p:grpSpPr>
        <p:sp>
          <p:nvSpPr>
            <p:cNvPr id="263" name="object 263"/>
            <p:cNvSpPr/>
            <p:nvPr/>
          </p:nvSpPr>
          <p:spPr>
            <a:xfrm>
              <a:off x="5271165" y="7382190"/>
              <a:ext cx="404495" cy="320675"/>
            </a:xfrm>
            <a:custGeom>
              <a:avLst/>
              <a:gdLst/>
              <a:ahLst/>
              <a:cxnLst/>
              <a:rect l="l" t="t" r="r" b="b"/>
              <a:pathLst>
                <a:path w="404495" h="320675">
                  <a:moveTo>
                    <a:pt x="24429" y="0"/>
                  </a:moveTo>
                  <a:lnTo>
                    <a:pt x="0" y="33009"/>
                  </a:lnTo>
                  <a:lnTo>
                    <a:pt x="378973" y="320207"/>
                  </a:lnTo>
                  <a:lnTo>
                    <a:pt x="404058" y="287197"/>
                  </a:lnTo>
                  <a:lnTo>
                    <a:pt x="24429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5800008" y="7789540"/>
              <a:ext cx="352425" cy="279400"/>
            </a:xfrm>
            <a:custGeom>
              <a:avLst/>
              <a:gdLst/>
              <a:ahLst/>
              <a:cxnLst/>
              <a:rect l="l" t="t" r="r" b="b"/>
              <a:pathLst>
                <a:path w="352425" h="279400">
                  <a:moveTo>
                    <a:pt x="0" y="0"/>
                  </a:moveTo>
                  <a:lnTo>
                    <a:pt x="351891" y="279272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5786795" y="7380209"/>
              <a:ext cx="370205" cy="318770"/>
            </a:xfrm>
            <a:custGeom>
              <a:avLst/>
              <a:gdLst/>
              <a:ahLst/>
              <a:cxnLst/>
              <a:rect l="l" t="t" r="r" b="b"/>
              <a:pathLst>
                <a:path w="370204" h="318770">
                  <a:moveTo>
                    <a:pt x="343311" y="0"/>
                  </a:moveTo>
                  <a:lnTo>
                    <a:pt x="0" y="286527"/>
                  </a:lnTo>
                  <a:lnTo>
                    <a:pt x="25755" y="318226"/>
                  </a:lnTo>
                  <a:lnTo>
                    <a:pt x="369722" y="31683"/>
                  </a:lnTo>
                  <a:lnTo>
                    <a:pt x="343311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5283707" y="7784922"/>
              <a:ext cx="377825" cy="288925"/>
            </a:xfrm>
            <a:custGeom>
              <a:avLst/>
              <a:gdLst/>
              <a:ahLst/>
              <a:cxnLst/>
              <a:rect l="l" t="t" r="r" b="b"/>
              <a:pathLst>
                <a:path w="377825" h="288925">
                  <a:moveTo>
                    <a:pt x="377647" y="0"/>
                  </a:moveTo>
                  <a:lnTo>
                    <a:pt x="0" y="288508"/>
                  </a:lnTo>
                </a:path>
              </a:pathLst>
            </a:custGeom>
            <a:ln w="4126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7" name="object 267"/>
          <p:cNvSpPr txBox="1"/>
          <p:nvPr/>
        </p:nvSpPr>
        <p:spPr>
          <a:xfrm>
            <a:off x="5417068" y="7765015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12</a:t>
            </a:r>
            <a:endParaRPr sz="750">
              <a:latin typeface="Arial"/>
              <a:cs typeface="Arial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5941279" y="7790104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30</a:t>
            </a:r>
            <a:endParaRPr sz="750">
              <a:latin typeface="Arial"/>
              <a:cs typeface="Arial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5578160" y="8070036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14</a:t>
            </a:r>
            <a:endParaRPr sz="750">
              <a:latin typeface="Arial"/>
              <a:cs typeface="Arial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6217249" y="7669944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16</a:t>
            </a:r>
            <a:endParaRPr sz="750">
              <a:latin typeface="Arial"/>
              <a:cs typeface="Arial"/>
            </a:endParaRPr>
          </a:p>
        </p:txBody>
      </p:sp>
      <p:pic>
        <p:nvPicPr>
          <p:cNvPr id="271" name="object 271"/>
          <p:cNvPicPr/>
          <p:nvPr/>
        </p:nvPicPr>
        <p:blipFill>
          <a:blip r:embed="rId64" cstate="print"/>
          <a:stretch>
            <a:fillRect/>
          </a:stretch>
        </p:blipFill>
        <p:spPr>
          <a:xfrm>
            <a:off x="5638792" y="8445020"/>
            <a:ext cx="181127" cy="169895"/>
          </a:xfrm>
          <a:prstGeom prst="rect">
            <a:avLst/>
          </a:prstGeom>
        </p:spPr>
      </p:pic>
      <p:sp>
        <p:nvSpPr>
          <p:cNvPr id="272" name="object 272"/>
          <p:cNvSpPr txBox="1"/>
          <p:nvPr/>
        </p:nvSpPr>
        <p:spPr>
          <a:xfrm>
            <a:off x="2500895" y="8300780"/>
            <a:ext cx="3267075" cy="27686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306705">
              <a:lnSpc>
                <a:spcPct val="100000"/>
              </a:lnSpc>
              <a:spcBef>
                <a:spcPts val="180"/>
              </a:spcBef>
              <a:tabLst>
                <a:tab pos="1894205" algn="l"/>
              </a:tabLst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26	26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90"/>
              </a:spcBef>
              <a:tabLst>
                <a:tab pos="1594485" algn="l"/>
                <a:tab pos="3199765" algn="l"/>
              </a:tabLst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g</a:t>
            </a: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g</a:t>
            </a: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273" name="object 273"/>
          <p:cNvGrpSpPr/>
          <p:nvPr/>
        </p:nvGrpSpPr>
        <p:grpSpPr>
          <a:xfrm>
            <a:off x="5263240" y="6978132"/>
            <a:ext cx="903605" cy="1532890"/>
            <a:chOff x="5263240" y="6978132"/>
            <a:chExt cx="903605" cy="1532890"/>
          </a:xfrm>
        </p:grpSpPr>
        <p:sp>
          <p:nvSpPr>
            <p:cNvPr id="274" name="object 274"/>
            <p:cNvSpPr/>
            <p:nvPr/>
          </p:nvSpPr>
          <p:spPr>
            <a:xfrm>
              <a:off x="5263240" y="8179729"/>
              <a:ext cx="393700" cy="330835"/>
            </a:xfrm>
            <a:custGeom>
              <a:avLst/>
              <a:gdLst/>
              <a:ahLst/>
              <a:cxnLst/>
              <a:rect l="l" t="t" r="r" b="b"/>
              <a:pathLst>
                <a:path w="393700" h="330834">
                  <a:moveTo>
                    <a:pt x="26410" y="0"/>
                  </a:moveTo>
                  <a:lnTo>
                    <a:pt x="0" y="33009"/>
                  </a:lnTo>
                  <a:lnTo>
                    <a:pt x="367085" y="330768"/>
                  </a:lnTo>
                  <a:lnTo>
                    <a:pt x="393496" y="297759"/>
                  </a:lnTo>
                  <a:lnTo>
                    <a:pt x="2641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5815187" y="8200852"/>
              <a:ext cx="344805" cy="287020"/>
            </a:xfrm>
            <a:custGeom>
              <a:avLst/>
              <a:gdLst/>
              <a:ahLst/>
              <a:cxnLst/>
              <a:rect l="l" t="t" r="r" b="b"/>
              <a:pathLst>
                <a:path w="344804" h="287020">
                  <a:moveTo>
                    <a:pt x="0" y="286542"/>
                  </a:moveTo>
                  <a:lnTo>
                    <a:pt x="344637" y="0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5770946" y="6978132"/>
              <a:ext cx="395605" cy="314325"/>
            </a:xfrm>
            <a:custGeom>
              <a:avLst/>
              <a:gdLst/>
              <a:ahLst/>
              <a:cxnLst/>
              <a:rect l="l" t="t" r="r" b="b"/>
              <a:pathLst>
                <a:path w="395604" h="314325">
                  <a:moveTo>
                    <a:pt x="25100" y="0"/>
                  </a:moveTo>
                  <a:lnTo>
                    <a:pt x="0" y="33009"/>
                  </a:lnTo>
                  <a:lnTo>
                    <a:pt x="370392" y="314264"/>
                  </a:lnTo>
                  <a:lnTo>
                    <a:pt x="395477" y="281254"/>
                  </a:lnTo>
                  <a:lnTo>
                    <a:pt x="2510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7" name="object 277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5283380" y="6981111"/>
              <a:ext cx="369722" cy="287183"/>
            </a:xfrm>
            <a:prstGeom prst="rect">
              <a:avLst/>
            </a:prstGeom>
          </p:spPr>
        </p:pic>
      </p:grpSp>
      <p:sp>
        <p:nvSpPr>
          <p:cNvPr id="278" name="object 278"/>
          <p:cNvSpPr txBox="1"/>
          <p:nvPr/>
        </p:nvSpPr>
        <p:spPr>
          <a:xfrm>
            <a:off x="5071120" y="7662679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18</a:t>
            </a:r>
            <a:endParaRPr sz="750">
              <a:latin typeface="Arial"/>
              <a:cs typeface="Arial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6013249" y="8309031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26</a:t>
            </a:r>
            <a:endParaRPr sz="750">
              <a:latin typeface="Arial"/>
              <a:cs typeface="Arial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2718268" y="8742743"/>
            <a:ext cx="279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8.53: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Kruskal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unsafe edges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35775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8.5.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SPANNING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14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90700" y="939236"/>
            <a:ext cx="4648200" cy="1875155"/>
            <a:chOff x="1790700" y="939236"/>
            <a:chExt cx="4648200" cy="1875155"/>
          </a:xfrm>
        </p:grpSpPr>
        <p:sp>
          <p:nvSpPr>
            <p:cNvPr id="5" name="object 5"/>
            <p:cNvSpPr/>
            <p:nvPr/>
          </p:nvSpPr>
          <p:spPr>
            <a:xfrm>
              <a:off x="1790700" y="939236"/>
              <a:ext cx="4648200" cy="1875155"/>
            </a:xfrm>
            <a:custGeom>
              <a:avLst/>
              <a:gdLst/>
              <a:ahLst/>
              <a:cxnLst/>
              <a:rect l="l" t="t" r="r" b="b"/>
              <a:pathLst>
                <a:path w="4648200" h="1875155">
                  <a:moveTo>
                    <a:pt x="4648001" y="0"/>
                  </a:moveTo>
                  <a:lnTo>
                    <a:pt x="0" y="0"/>
                  </a:lnTo>
                  <a:lnTo>
                    <a:pt x="0" y="1875083"/>
                  </a:lnTo>
                  <a:lnTo>
                    <a:pt x="4648001" y="1875083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829479" y="1762790"/>
              <a:ext cx="273050" cy="172720"/>
            </a:xfrm>
            <a:custGeom>
              <a:avLst/>
              <a:gdLst/>
              <a:ahLst/>
              <a:cxnLst/>
              <a:rect l="l" t="t" r="r" b="b"/>
              <a:pathLst>
                <a:path w="273050" h="172719">
                  <a:moveTo>
                    <a:pt x="0" y="0"/>
                  </a:moveTo>
                  <a:lnTo>
                    <a:pt x="49514" y="86486"/>
                  </a:lnTo>
                  <a:lnTo>
                    <a:pt x="0" y="172318"/>
                  </a:lnTo>
                  <a:lnTo>
                    <a:pt x="207965" y="108280"/>
                  </a:lnTo>
                  <a:lnTo>
                    <a:pt x="198729" y="159776"/>
                  </a:lnTo>
                  <a:lnTo>
                    <a:pt x="272674" y="86486"/>
                  </a:lnTo>
                  <a:lnTo>
                    <a:pt x="198729" y="11887"/>
                  </a:lnTo>
                  <a:lnTo>
                    <a:pt x="207965" y="646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829479" y="1762790"/>
              <a:ext cx="273050" cy="172720"/>
            </a:xfrm>
            <a:custGeom>
              <a:avLst/>
              <a:gdLst/>
              <a:ahLst/>
              <a:cxnLst/>
              <a:rect l="l" t="t" r="r" b="b"/>
              <a:pathLst>
                <a:path w="273050" h="172719">
                  <a:moveTo>
                    <a:pt x="272674" y="86486"/>
                  </a:moveTo>
                  <a:lnTo>
                    <a:pt x="198729" y="159776"/>
                  </a:lnTo>
                  <a:lnTo>
                    <a:pt x="207965" y="108280"/>
                  </a:lnTo>
                  <a:lnTo>
                    <a:pt x="0" y="172318"/>
                  </a:lnTo>
                  <a:lnTo>
                    <a:pt x="49514" y="86486"/>
                  </a:lnTo>
                  <a:lnTo>
                    <a:pt x="0" y="0"/>
                  </a:lnTo>
                  <a:lnTo>
                    <a:pt x="207965" y="64693"/>
                  </a:lnTo>
                  <a:lnTo>
                    <a:pt x="198729" y="11887"/>
                  </a:lnTo>
                  <a:lnTo>
                    <a:pt x="272674" y="86486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52963" y="988911"/>
              <a:ext cx="183093" cy="169895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4107863" y="981656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3557694" y="1392191"/>
            <a:ext cx="1175385" cy="1201420"/>
            <a:chOff x="3557694" y="1392191"/>
            <a:chExt cx="1175385" cy="1201420"/>
          </a:xfrm>
        </p:grpSpPr>
        <p:sp>
          <p:nvSpPr>
            <p:cNvPr id="11" name="object 11"/>
            <p:cNvSpPr/>
            <p:nvPr/>
          </p:nvSpPr>
          <p:spPr>
            <a:xfrm>
              <a:off x="3560551" y="1395049"/>
              <a:ext cx="177800" cy="164465"/>
            </a:xfrm>
            <a:custGeom>
              <a:avLst/>
              <a:gdLst/>
              <a:ahLst/>
              <a:cxnLst/>
              <a:rect l="l" t="t" r="r" b="b"/>
              <a:pathLst>
                <a:path w="177800" h="164465">
                  <a:moveTo>
                    <a:pt x="95722" y="0"/>
                  </a:moveTo>
                  <a:lnTo>
                    <a:pt x="81198" y="0"/>
                  </a:lnTo>
                  <a:lnTo>
                    <a:pt x="66674" y="1981"/>
                  </a:lnTo>
                  <a:lnTo>
                    <a:pt x="28392" y="21122"/>
                  </a:lnTo>
                  <a:lnTo>
                    <a:pt x="4617" y="55458"/>
                  </a:lnTo>
                  <a:lnTo>
                    <a:pt x="0" y="81869"/>
                  </a:lnTo>
                  <a:lnTo>
                    <a:pt x="1310" y="95722"/>
                  </a:lnTo>
                  <a:lnTo>
                    <a:pt x="18486" y="132694"/>
                  </a:lnTo>
                  <a:lnTo>
                    <a:pt x="52806" y="157794"/>
                  </a:lnTo>
                  <a:lnTo>
                    <a:pt x="81198" y="164393"/>
                  </a:lnTo>
                  <a:lnTo>
                    <a:pt x="95722" y="164393"/>
                  </a:lnTo>
                  <a:lnTo>
                    <a:pt x="137327" y="151180"/>
                  </a:lnTo>
                  <a:lnTo>
                    <a:pt x="167030" y="121478"/>
                  </a:lnTo>
                  <a:lnTo>
                    <a:pt x="177591" y="81869"/>
                  </a:lnTo>
                  <a:lnTo>
                    <a:pt x="176281" y="68656"/>
                  </a:lnTo>
                  <a:lnTo>
                    <a:pt x="158450" y="31028"/>
                  </a:lnTo>
                  <a:lnTo>
                    <a:pt x="124114" y="6598"/>
                  </a:lnTo>
                  <a:lnTo>
                    <a:pt x="9572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560551" y="1395049"/>
              <a:ext cx="177800" cy="164465"/>
            </a:xfrm>
            <a:custGeom>
              <a:avLst/>
              <a:gdLst/>
              <a:ahLst/>
              <a:cxnLst/>
              <a:rect l="l" t="t" r="r" b="b"/>
              <a:pathLst>
                <a:path w="177800" h="164465">
                  <a:moveTo>
                    <a:pt x="0" y="81869"/>
                  </a:moveTo>
                  <a:lnTo>
                    <a:pt x="10561" y="42915"/>
                  </a:lnTo>
                  <a:lnTo>
                    <a:pt x="40264" y="13197"/>
                  </a:lnTo>
                  <a:lnTo>
                    <a:pt x="81198" y="0"/>
                  </a:lnTo>
                  <a:lnTo>
                    <a:pt x="95722" y="0"/>
                  </a:lnTo>
                  <a:lnTo>
                    <a:pt x="137327" y="13197"/>
                  </a:lnTo>
                  <a:lnTo>
                    <a:pt x="167030" y="42915"/>
                  </a:lnTo>
                  <a:lnTo>
                    <a:pt x="177591" y="81869"/>
                  </a:lnTo>
                  <a:lnTo>
                    <a:pt x="176281" y="95722"/>
                  </a:lnTo>
                  <a:lnTo>
                    <a:pt x="158450" y="132694"/>
                  </a:lnTo>
                  <a:lnTo>
                    <a:pt x="124114" y="157794"/>
                  </a:lnTo>
                  <a:lnTo>
                    <a:pt x="95722" y="164393"/>
                  </a:lnTo>
                  <a:lnTo>
                    <a:pt x="81198" y="164393"/>
                  </a:lnTo>
                  <a:lnTo>
                    <a:pt x="40264" y="151180"/>
                  </a:lnTo>
                  <a:lnTo>
                    <a:pt x="10561" y="121478"/>
                  </a:lnTo>
                  <a:lnTo>
                    <a:pt x="0" y="81869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49436" y="1392298"/>
              <a:ext cx="183108" cy="16989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57800" y="2183894"/>
              <a:ext cx="183093" cy="16989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49436" y="2183894"/>
              <a:ext cx="183108" cy="169895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3738143" y="1476918"/>
              <a:ext cx="787400" cy="0"/>
            </a:xfrm>
            <a:custGeom>
              <a:avLst/>
              <a:gdLst/>
              <a:ahLst/>
              <a:cxnLst/>
              <a:rect l="l" t="t" r="r" b="b"/>
              <a:pathLst>
                <a:path w="787400" h="0">
                  <a:moveTo>
                    <a:pt x="0" y="0"/>
                  </a:moveTo>
                  <a:lnTo>
                    <a:pt x="33680" y="0"/>
                  </a:lnTo>
                </a:path>
                <a:path w="787400" h="0">
                  <a:moveTo>
                    <a:pt x="68000" y="0"/>
                  </a:moveTo>
                  <a:lnTo>
                    <a:pt x="102336" y="0"/>
                  </a:lnTo>
                </a:path>
                <a:path w="787400" h="0">
                  <a:moveTo>
                    <a:pt x="136672" y="0"/>
                  </a:moveTo>
                  <a:lnTo>
                    <a:pt x="170992" y="0"/>
                  </a:lnTo>
                </a:path>
                <a:path w="787400" h="0">
                  <a:moveTo>
                    <a:pt x="205328" y="0"/>
                  </a:moveTo>
                  <a:lnTo>
                    <a:pt x="239664" y="0"/>
                  </a:lnTo>
                </a:path>
                <a:path w="787400" h="0">
                  <a:moveTo>
                    <a:pt x="273329" y="0"/>
                  </a:moveTo>
                  <a:lnTo>
                    <a:pt x="307665" y="0"/>
                  </a:lnTo>
                </a:path>
                <a:path w="787400" h="0">
                  <a:moveTo>
                    <a:pt x="342000" y="0"/>
                  </a:moveTo>
                  <a:lnTo>
                    <a:pt x="376321" y="0"/>
                  </a:lnTo>
                </a:path>
                <a:path w="787400" h="0">
                  <a:moveTo>
                    <a:pt x="410657" y="0"/>
                  </a:moveTo>
                  <a:lnTo>
                    <a:pt x="444992" y="0"/>
                  </a:lnTo>
                </a:path>
                <a:path w="787400" h="0">
                  <a:moveTo>
                    <a:pt x="479313" y="0"/>
                  </a:moveTo>
                  <a:lnTo>
                    <a:pt x="513648" y="0"/>
                  </a:lnTo>
                </a:path>
                <a:path w="787400" h="0">
                  <a:moveTo>
                    <a:pt x="547329" y="0"/>
                  </a:moveTo>
                  <a:lnTo>
                    <a:pt x="581649" y="0"/>
                  </a:lnTo>
                </a:path>
                <a:path w="787400" h="0">
                  <a:moveTo>
                    <a:pt x="615985" y="0"/>
                  </a:moveTo>
                  <a:lnTo>
                    <a:pt x="650321" y="0"/>
                  </a:lnTo>
                </a:path>
                <a:path w="787400" h="0">
                  <a:moveTo>
                    <a:pt x="684641" y="0"/>
                  </a:moveTo>
                  <a:lnTo>
                    <a:pt x="718977" y="0"/>
                  </a:lnTo>
                </a:path>
                <a:path w="787400" h="0">
                  <a:moveTo>
                    <a:pt x="753313" y="0"/>
                  </a:moveTo>
                  <a:lnTo>
                    <a:pt x="786978" y="0"/>
                  </a:lnTo>
                </a:path>
              </a:pathLst>
            </a:custGeom>
            <a:ln w="1650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619533" y="1560104"/>
              <a:ext cx="42545" cy="626110"/>
            </a:xfrm>
            <a:custGeom>
              <a:avLst/>
              <a:gdLst/>
              <a:ahLst/>
              <a:cxnLst/>
              <a:rect l="l" t="t" r="r" b="b"/>
              <a:pathLst>
                <a:path w="42545" h="626110">
                  <a:moveTo>
                    <a:pt x="42253" y="0"/>
                  </a:moveTo>
                  <a:lnTo>
                    <a:pt x="0" y="0"/>
                  </a:lnTo>
                  <a:lnTo>
                    <a:pt x="0" y="625885"/>
                  </a:lnTo>
                  <a:lnTo>
                    <a:pt x="42253" y="625885"/>
                  </a:lnTo>
                  <a:lnTo>
                    <a:pt x="4225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158050" y="2002439"/>
              <a:ext cx="2540" cy="582930"/>
            </a:xfrm>
            <a:custGeom>
              <a:avLst/>
              <a:gdLst/>
              <a:ahLst/>
              <a:cxnLst/>
              <a:rect l="l" t="t" r="r" b="b"/>
              <a:pathLst>
                <a:path w="2539" h="582930">
                  <a:moveTo>
                    <a:pt x="1965" y="582320"/>
                  </a:moveTo>
                  <a:lnTo>
                    <a:pt x="1965" y="547984"/>
                  </a:lnTo>
                </a:path>
                <a:path w="2539" h="582930">
                  <a:moveTo>
                    <a:pt x="1965" y="513648"/>
                  </a:moveTo>
                  <a:lnTo>
                    <a:pt x="1965" y="479328"/>
                  </a:lnTo>
                </a:path>
                <a:path w="2539" h="582930">
                  <a:moveTo>
                    <a:pt x="1310" y="444992"/>
                  </a:moveTo>
                  <a:lnTo>
                    <a:pt x="1310" y="410657"/>
                  </a:lnTo>
                </a:path>
                <a:path w="2539" h="582930">
                  <a:moveTo>
                    <a:pt x="1310" y="376991"/>
                  </a:moveTo>
                  <a:lnTo>
                    <a:pt x="1310" y="342656"/>
                  </a:lnTo>
                </a:path>
                <a:path w="2539" h="582930">
                  <a:moveTo>
                    <a:pt x="1310" y="308320"/>
                  </a:moveTo>
                  <a:lnTo>
                    <a:pt x="1310" y="273999"/>
                  </a:lnTo>
                </a:path>
                <a:path w="2539" h="582930">
                  <a:moveTo>
                    <a:pt x="655" y="239664"/>
                  </a:moveTo>
                  <a:lnTo>
                    <a:pt x="655" y="205328"/>
                  </a:lnTo>
                </a:path>
                <a:path w="2539" h="582930">
                  <a:moveTo>
                    <a:pt x="655" y="171008"/>
                  </a:moveTo>
                  <a:lnTo>
                    <a:pt x="655" y="136672"/>
                  </a:lnTo>
                </a:path>
                <a:path w="2539" h="582930">
                  <a:moveTo>
                    <a:pt x="655" y="103007"/>
                  </a:moveTo>
                  <a:lnTo>
                    <a:pt x="655" y="68671"/>
                  </a:lnTo>
                </a:path>
                <a:path w="2539" h="582930">
                  <a:moveTo>
                    <a:pt x="0" y="34335"/>
                  </a:moveTo>
                  <a:lnTo>
                    <a:pt x="0" y="0"/>
                  </a:lnTo>
                </a:path>
              </a:pathLst>
            </a:custGeom>
            <a:ln w="1650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158050" y="195688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30">
                  <a:moveTo>
                    <a:pt x="-8252" y="5615"/>
                  </a:moveTo>
                  <a:lnTo>
                    <a:pt x="8252" y="5615"/>
                  </a:lnTo>
                </a:path>
              </a:pathLst>
            </a:custGeom>
            <a:ln w="11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649019" y="1560098"/>
              <a:ext cx="0" cy="626110"/>
            </a:xfrm>
            <a:custGeom>
              <a:avLst/>
              <a:gdLst/>
              <a:ahLst/>
              <a:cxnLst/>
              <a:rect l="l" t="t" r="r" b="b"/>
              <a:pathLst>
                <a:path w="0" h="626110">
                  <a:moveTo>
                    <a:pt x="0" y="0"/>
                  </a:moveTo>
                  <a:lnTo>
                    <a:pt x="0" y="625891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3626572" y="1396933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75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616236" y="1396933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3691094" y="988911"/>
            <a:ext cx="2178685" cy="1763395"/>
            <a:chOff x="3691094" y="988911"/>
            <a:chExt cx="2178685" cy="1763395"/>
          </a:xfrm>
        </p:grpSpPr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66816" y="1789742"/>
              <a:ext cx="183108" cy="169240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3699189" y="1519164"/>
              <a:ext cx="406400" cy="320675"/>
            </a:xfrm>
            <a:custGeom>
              <a:avLst/>
              <a:gdLst/>
              <a:ahLst/>
              <a:cxnLst/>
              <a:rect l="l" t="t" r="r" b="b"/>
              <a:pathLst>
                <a:path w="406400" h="320675">
                  <a:moveTo>
                    <a:pt x="25085" y="0"/>
                  </a:moveTo>
                  <a:lnTo>
                    <a:pt x="0" y="33009"/>
                  </a:lnTo>
                  <a:lnTo>
                    <a:pt x="380954" y="320207"/>
                  </a:lnTo>
                  <a:lnTo>
                    <a:pt x="406039" y="287197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230014" y="1926529"/>
              <a:ext cx="354330" cy="279400"/>
            </a:xfrm>
            <a:custGeom>
              <a:avLst/>
              <a:gdLst/>
              <a:ahLst/>
              <a:cxnLst/>
              <a:rect l="l" t="t" r="r" b="b"/>
              <a:pathLst>
                <a:path w="354329" h="279400">
                  <a:moveTo>
                    <a:pt x="0" y="0"/>
                  </a:moveTo>
                  <a:lnTo>
                    <a:pt x="353872" y="279257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216801" y="1517182"/>
              <a:ext cx="372110" cy="318770"/>
            </a:xfrm>
            <a:custGeom>
              <a:avLst/>
              <a:gdLst/>
              <a:ahLst/>
              <a:cxnLst/>
              <a:rect l="l" t="t" r="r" b="b"/>
              <a:pathLst>
                <a:path w="372110" h="318769">
                  <a:moveTo>
                    <a:pt x="345292" y="0"/>
                  </a:moveTo>
                  <a:lnTo>
                    <a:pt x="0" y="286542"/>
                  </a:lnTo>
                  <a:lnTo>
                    <a:pt x="26410" y="318226"/>
                  </a:lnTo>
                  <a:lnTo>
                    <a:pt x="371703" y="31699"/>
                  </a:lnTo>
                  <a:lnTo>
                    <a:pt x="34529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711732" y="1921896"/>
              <a:ext cx="379730" cy="288925"/>
            </a:xfrm>
            <a:custGeom>
              <a:avLst/>
              <a:gdLst/>
              <a:ahLst/>
              <a:cxnLst/>
              <a:rect l="l" t="t" r="r" b="b"/>
              <a:pathLst>
                <a:path w="379729" h="288925">
                  <a:moveTo>
                    <a:pt x="379628" y="0"/>
                  </a:moveTo>
                  <a:lnTo>
                    <a:pt x="0" y="288523"/>
                  </a:lnTo>
                </a:path>
              </a:pathLst>
            </a:custGeom>
            <a:ln w="4126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068142" y="2582009"/>
              <a:ext cx="183108" cy="169895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3691265" y="2316703"/>
              <a:ext cx="394970" cy="330835"/>
            </a:xfrm>
            <a:custGeom>
              <a:avLst/>
              <a:gdLst/>
              <a:ahLst/>
              <a:cxnLst/>
              <a:rect l="l" t="t" r="r" b="b"/>
              <a:pathLst>
                <a:path w="394970" h="330835">
                  <a:moveTo>
                    <a:pt x="26410" y="0"/>
                  </a:moveTo>
                  <a:lnTo>
                    <a:pt x="0" y="33009"/>
                  </a:lnTo>
                  <a:lnTo>
                    <a:pt x="368411" y="330768"/>
                  </a:lnTo>
                  <a:lnTo>
                    <a:pt x="394807" y="297759"/>
                  </a:lnTo>
                  <a:lnTo>
                    <a:pt x="2641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246519" y="2337841"/>
              <a:ext cx="345440" cy="287020"/>
            </a:xfrm>
            <a:custGeom>
              <a:avLst/>
              <a:gdLst/>
              <a:ahLst/>
              <a:cxnLst/>
              <a:rect l="l" t="t" r="r" b="b"/>
              <a:pathLst>
                <a:path w="345439" h="287019">
                  <a:moveTo>
                    <a:pt x="0" y="286527"/>
                  </a:moveTo>
                  <a:lnTo>
                    <a:pt x="345292" y="0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201622" y="1115121"/>
              <a:ext cx="396240" cy="314325"/>
            </a:xfrm>
            <a:custGeom>
              <a:avLst/>
              <a:gdLst/>
              <a:ahLst/>
              <a:cxnLst/>
              <a:rect l="l" t="t" r="r" b="b"/>
              <a:pathLst>
                <a:path w="396239" h="314325">
                  <a:moveTo>
                    <a:pt x="25085" y="0"/>
                  </a:moveTo>
                  <a:lnTo>
                    <a:pt x="0" y="33009"/>
                  </a:lnTo>
                  <a:lnTo>
                    <a:pt x="371033" y="314264"/>
                  </a:lnTo>
                  <a:lnTo>
                    <a:pt x="396118" y="281238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713385" y="1118085"/>
              <a:ext cx="369722" cy="286527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686996" y="988911"/>
              <a:ext cx="182438" cy="169895"/>
            </a:xfrm>
            <a:prstGeom prst="rect">
              <a:avLst/>
            </a:prstGeom>
          </p:spPr>
        </p:pic>
      </p:grpSp>
      <p:sp>
        <p:nvSpPr>
          <p:cNvPr id="35" name="object 35"/>
          <p:cNvSpPr txBox="1"/>
          <p:nvPr/>
        </p:nvSpPr>
        <p:spPr>
          <a:xfrm>
            <a:off x="5741896" y="981656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5191726" y="1392191"/>
            <a:ext cx="1174750" cy="1201420"/>
            <a:chOff x="5191726" y="1392191"/>
            <a:chExt cx="1174750" cy="1201420"/>
          </a:xfrm>
        </p:grpSpPr>
        <p:sp>
          <p:nvSpPr>
            <p:cNvPr id="37" name="object 37"/>
            <p:cNvSpPr/>
            <p:nvPr/>
          </p:nvSpPr>
          <p:spPr>
            <a:xfrm>
              <a:off x="5194584" y="1395049"/>
              <a:ext cx="177165" cy="164465"/>
            </a:xfrm>
            <a:custGeom>
              <a:avLst/>
              <a:gdLst/>
              <a:ahLst/>
              <a:cxnLst/>
              <a:rect l="l" t="t" r="r" b="b"/>
              <a:pathLst>
                <a:path w="177164" h="164465">
                  <a:moveTo>
                    <a:pt x="95737" y="0"/>
                  </a:moveTo>
                  <a:lnTo>
                    <a:pt x="81198" y="0"/>
                  </a:lnTo>
                  <a:lnTo>
                    <a:pt x="66674" y="1981"/>
                  </a:lnTo>
                  <a:lnTo>
                    <a:pt x="28392" y="21122"/>
                  </a:lnTo>
                  <a:lnTo>
                    <a:pt x="4617" y="55458"/>
                  </a:lnTo>
                  <a:lnTo>
                    <a:pt x="0" y="81869"/>
                  </a:lnTo>
                  <a:lnTo>
                    <a:pt x="1325" y="95722"/>
                  </a:lnTo>
                  <a:lnTo>
                    <a:pt x="18486" y="132694"/>
                  </a:lnTo>
                  <a:lnTo>
                    <a:pt x="52821" y="157794"/>
                  </a:lnTo>
                  <a:lnTo>
                    <a:pt x="81198" y="164393"/>
                  </a:lnTo>
                  <a:lnTo>
                    <a:pt x="95737" y="164393"/>
                  </a:lnTo>
                  <a:lnTo>
                    <a:pt x="136657" y="151180"/>
                  </a:lnTo>
                  <a:lnTo>
                    <a:pt x="165719" y="121478"/>
                  </a:lnTo>
                  <a:lnTo>
                    <a:pt x="176936" y="81869"/>
                  </a:lnTo>
                  <a:lnTo>
                    <a:pt x="175610" y="68656"/>
                  </a:lnTo>
                  <a:lnTo>
                    <a:pt x="157794" y="31028"/>
                  </a:lnTo>
                  <a:lnTo>
                    <a:pt x="123459" y="6598"/>
                  </a:lnTo>
                  <a:lnTo>
                    <a:pt x="95737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194584" y="1395049"/>
              <a:ext cx="177165" cy="164465"/>
            </a:xfrm>
            <a:custGeom>
              <a:avLst/>
              <a:gdLst/>
              <a:ahLst/>
              <a:cxnLst/>
              <a:rect l="l" t="t" r="r" b="b"/>
              <a:pathLst>
                <a:path w="177164" h="164465">
                  <a:moveTo>
                    <a:pt x="0" y="81869"/>
                  </a:moveTo>
                  <a:lnTo>
                    <a:pt x="10561" y="42915"/>
                  </a:lnTo>
                  <a:lnTo>
                    <a:pt x="40279" y="13197"/>
                  </a:lnTo>
                  <a:lnTo>
                    <a:pt x="81198" y="0"/>
                  </a:lnTo>
                  <a:lnTo>
                    <a:pt x="95737" y="0"/>
                  </a:lnTo>
                  <a:lnTo>
                    <a:pt x="136657" y="13197"/>
                  </a:lnTo>
                  <a:lnTo>
                    <a:pt x="165719" y="42915"/>
                  </a:lnTo>
                  <a:lnTo>
                    <a:pt x="176936" y="81869"/>
                  </a:lnTo>
                  <a:lnTo>
                    <a:pt x="175610" y="95722"/>
                  </a:lnTo>
                  <a:lnTo>
                    <a:pt x="157794" y="132694"/>
                  </a:lnTo>
                  <a:lnTo>
                    <a:pt x="123459" y="157794"/>
                  </a:lnTo>
                  <a:lnTo>
                    <a:pt x="95737" y="164393"/>
                  </a:lnTo>
                  <a:lnTo>
                    <a:pt x="81198" y="164393"/>
                  </a:lnTo>
                  <a:lnTo>
                    <a:pt x="40279" y="151180"/>
                  </a:lnTo>
                  <a:lnTo>
                    <a:pt x="10561" y="121478"/>
                  </a:lnTo>
                  <a:lnTo>
                    <a:pt x="0" y="81869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183485" y="1392298"/>
              <a:ext cx="182438" cy="169895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191833" y="2183894"/>
              <a:ext cx="182438" cy="169895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83485" y="2183894"/>
              <a:ext cx="182438" cy="169895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5371520" y="1476918"/>
              <a:ext cx="788035" cy="0"/>
            </a:xfrm>
            <a:custGeom>
              <a:avLst/>
              <a:gdLst/>
              <a:ahLst/>
              <a:cxnLst/>
              <a:rect l="l" t="t" r="r" b="b"/>
              <a:pathLst>
                <a:path w="788035" h="0">
                  <a:moveTo>
                    <a:pt x="0" y="0"/>
                  </a:moveTo>
                  <a:lnTo>
                    <a:pt x="34335" y="0"/>
                  </a:lnTo>
                </a:path>
                <a:path w="788035" h="0">
                  <a:moveTo>
                    <a:pt x="68656" y="0"/>
                  </a:moveTo>
                  <a:lnTo>
                    <a:pt x="102991" y="0"/>
                  </a:lnTo>
                </a:path>
                <a:path w="788035" h="0">
                  <a:moveTo>
                    <a:pt x="137327" y="0"/>
                  </a:moveTo>
                  <a:lnTo>
                    <a:pt x="171663" y="0"/>
                  </a:lnTo>
                </a:path>
                <a:path w="788035" h="0">
                  <a:moveTo>
                    <a:pt x="205328" y="0"/>
                  </a:moveTo>
                  <a:lnTo>
                    <a:pt x="239664" y="0"/>
                  </a:lnTo>
                </a:path>
                <a:path w="788035" h="0">
                  <a:moveTo>
                    <a:pt x="273984" y="0"/>
                  </a:moveTo>
                  <a:lnTo>
                    <a:pt x="308320" y="0"/>
                  </a:lnTo>
                </a:path>
                <a:path w="788035" h="0">
                  <a:moveTo>
                    <a:pt x="342656" y="0"/>
                  </a:moveTo>
                  <a:lnTo>
                    <a:pt x="376991" y="0"/>
                  </a:lnTo>
                </a:path>
                <a:path w="788035" h="0">
                  <a:moveTo>
                    <a:pt x="411312" y="0"/>
                  </a:moveTo>
                  <a:lnTo>
                    <a:pt x="444992" y="0"/>
                  </a:lnTo>
                </a:path>
                <a:path w="788035" h="0">
                  <a:moveTo>
                    <a:pt x="479313" y="0"/>
                  </a:moveTo>
                  <a:lnTo>
                    <a:pt x="513648" y="0"/>
                  </a:lnTo>
                </a:path>
                <a:path w="788035" h="0">
                  <a:moveTo>
                    <a:pt x="547984" y="0"/>
                  </a:moveTo>
                  <a:lnTo>
                    <a:pt x="582305" y="0"/>
                  </a:lnTo>
                </a:path>
                <a:path w="788035" h="0">
                  <a:moveTo>
                    <a:pt x="616640" y="0"/>
                  </a:moveTo>
                  <a:lnTo>
                    <a:pt x="650976" y="0"/>
                  </a:lnTo>
                </a:path>
                <a:path w="788035" h="0">
                  <a:moveTo>
                    <a:pt x="685312" y="0"/>
                  </a:moveTo>
                  <a:lnTo>
                    <a:pt x="718977" y="0"/>
                  </a:lnTo>
                </a:path>
                <a:path w="788035" h="0">
                  <a:moveTo>
                    <a:pt x="753313" y="0"/>
                  </a:moveTo>
                  <a:lnTo>
                    <a:pt x="787633" y="0"/>
                  </a:lnTo>
                </a:path>
              </a:pathLst>
            </a:custGeom>
            <a:ln w="1650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6253566" y="1560104"/>
              <a:ext cx="42545" cy="626110"/>
            </a:xfrm>
            <a:custGeom>
              <a:avLst/>
              <a:gdLst/>
              <a:ahLst/>
              <a:cxnLst/>
              <a:rect l="l" t="t" r="r" b="b"/>
              <a:pathLst>
                <a:path w="42545" h="626110">
                  <a:moveTo>
                    <a:pt x="42253" y="0"/>
                  </a:moveTo>
                  <a:lnTo>
                    <a:pt x="0" y="0"/>
                  </a:lnTo>
                  <a:lnTo>
                    <a:pt x="0" y="625885"/>
                  </a:lnTo>
                  <a:lnTo>
                    <a:pt x="42253" y="625885"/>
                  </a:lnTo>
                  <a:lnTo>
                    <a:pt x="4225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792083" y="2002439"/>
              <a:ext cx="2540" cy="582930"/>
            </a:xfrm>
            <a:custGeom>
              <a:avLst/>
              <a:gdLst/>
              <a:ahLst/>
              <a:cxnLst/>
              <a:rect l="l" t="t" r="r" b="b"/>
              <a:pathLst>
                <a:path w="2539" h="582930">
                  <a:moveTo>
                    <a:pt x="1981" y="582320"/>
                  </a:moveTo>
                  <a:lnTo>
                    <a:pt x="1981" y="547984"/>
                  </a:lnTo>
                </a:path>
                <a:path w="2539" h="582930">
                  <a:moveTo>
                    <a:pt x="1981" y="513648"/>
                  </a:moveTo>
                  <a:lnTo>
                    <a:pt x="1981" y="479328"/>
                  </a:lnTo>
                </a:path>
                <a:path w="2539" h="582930">
                  <a:moveTo>
                    <a:pt x="1310" y="444992"/>
                  </a:moveTo>
                  <a:lnTo>
                    <a:pt x="1310" y="410657"/>
                  </a:lnTo>
                </a:path>
                <a:path w="2539" h="582930">
                  <a:moveTo>
                    <a:pt x="1310" y="376991"/>
                  </a:moveTo>
                  <a:lnTo>
                    <a:pt x="1310" y="342656"/>
                  </a:lnTo>
                </a:path>
                <a:path w="2539" h="582930">
                  <a:moveTo>
                    <a:pt x="1310" y="308320"/>
                  </a:moveTo>
                  <a:lnTo>
                    <a:pt x="1310" y="273999"/>
                  </a:lnTo>
                </a:path>
                <a:path w="2539" h="582930">
                  <a:moveTo>
                    <a:pt x="655" y="239664"/>
                  </a:moveTo>
                  <a:lnTo>
                    <a:pt x="655" y="205328"/>
                  </a:lnTo>
                </a:path>
                <a:path w="2539" h="582930">
                  <a:moveTo>
                    <a:pt x="655" y="171008"/>
                  </a:moveTo>
                  <a:lnTo>
                    <a:pt x="655" y="136672"/>
                  </a:lnTo>
                </a:path>
                <a:path w="2539" h="582930">
                  <a:moveTo>
                    <a:pt x="655" y="103007"/>
                  </a:moveTo>
                  <a:lnTo>
                    <a:pt x="655" y="68671"/>
                  </a:lnTo>
                </a:path>
                <a:path w="2539" h="582930">
                  <a:moveTo>
                    <a:pt x="0" y="34335"/>
                  </a:moveTo>
                  <a:lnTo>
                    <a:pt x="0" y="0"/>
                  </a:lnTo>
                </a:path>
              </a:pathLst>
            </a:custGeom>
            <a:ln w="1650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792083" y="195688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30">
                  <a:moveTo>
                    <a:pt x="-8252" y="5615"/>
                  </a:moveTo>
                  <a:lnTo>
                    <a:pt x="8252" y="5615"/>
                  </a:lnTo>
                </a:path>
              </a:pathLst>
            </a:custGeom>
            <a:ln w="11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283052" y="1560098"/>
              <a:ext cx="0" cy="581660"/>
            </a:xfrm>
            <a:custGeom>
              <a:avLst/>
              <a:gdLst/>
              <a:ahLst/>
              <a:cxnLst/>
              <a:rect l="l" t="t" r="r" b="b"/>
              <a:pathLst>
                <a:path w="0" h="581660">
                  <a:moveTo>
                    <a:pt x="0" y="0"/>
                  </a:moveTo>
                  <a:lnTo>
                    <a:pt x="0" y="34335"/>
                  </a:lnTo>
                </a:path>
                <a:path w="0" h="581660">
                  <a:moveTo>
                    <a:pt x="0" y="68000"/>
                  </a:moveTo>
                  <a:lnTo>
                    <a:pt x="0" y="102336"/>
                  </a:lnTo>
                </a:path>
                <a:path w="0" h="581660">
                  <a:moveTo>
                    <a:pt x="0" y="136672"/>
                  </a:moveTo>
                  <a:lnTo>
                    <a:pt x="0" y="170992"/>
                  </a:lnTo>
                </a:path>
                <a:path w="0" h="581660">
                  <a:moveTo>
                    <a:pt x="0" y="205328"/>
                  </a:moveTo>
                  <a:lnTo>
                    <a:pt x="0" y="239664"/>
                  </a:lnTo>
                </a:path>
                <a:path w="0" h="581660">
                  <a:moveTo>
                    <a:pt x="0" y="273999"/>
                  </a:moveTo>
                  <a:lnTo>
                    <a:pt x="0" y="308320"/>
                  </a:lnTo>
                </a:path>
                <a:path w="0" h="581660">
                  <a:moveTo>
                    <a:pt x="0" y="342000"/>
                  </a:moveTo>
                  <a:lnTo>
                    <a:pt x="0" y="376321"/>
                  </a:lnTo>
                </a:path>
                <a:path w="0" h="581660">
                  <a:moveTo>
                    <a:pt x="0" y="410657"/>
                  </a:moveTo>
                  <a:lnTo>
                    <a:pt x="0" y="444992"/>
                  </a:lnTo>
                </a:path>
                <a:path w="0" h="581660">
                  <a:moveTo>
                    <a:pt x="0" y="479313"/>
                  </a:moveTo>
                  <a:lnTo>
                    <a:pt x="0" y="513648"/>
                  </a:lnTo>
                </a:path>
                <a:path w="0" h="581660">
                  <a:moveTo>
                    <a:pt x="0" y="547984"/>
                  </a:moveTo>
                  <a:lnTo>
                    <a:pt x="0" y="581649"/>
                  </a:lnTo>
                </a:path>
              </a:pathLst>
            </a:custGeom>
            <a:ln w="1650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283052" y="2176084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60">
                  <a:moveTo>
                    <a:pt x="-8252" y="4952"/>
                  </a:moveTo>
                  <a:lnTo>
                    <a:pt x="8252" y="4952"/>
                  </a:lnTo>
                </a:path>
              </a:pathLst>
            </a:custGeom>
            <a:ln w="990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/>
          <p:cNvSpPr txBox="1"/>
          <p:nvPr/>
        </p:nvSpPr>
        <p:spPr>
          <a:xfrm>
            <a:off x="5260604" y="1396933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75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257531" y="2197116"/>
            <a:ext cx="40005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75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250268" y="1396933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2425529" y="988911"/>
            <a:ext cx="3806825" cy="1763395"/>
            <a:chOff x="2425529" y="988911"/>
            <a:chExt cx="3806825" cy="1763395"/>
          </a:xfrm>
        </p:grpSpPr>
        <p:sp>
          <p:nvSpPr>
            <p:cNvPr id="52" name="object 52"/>
            <p:cNvSpPr/>
            <p:nvPr/>
          </p:nvSpPr>
          <p:spPr>
            <a:xfrm>
              <a:off x="5703615" y="1792493"/>
              <a:ext cx="177165" cy="163830"/>
            </a:xfrm>
            <a:custGeom>
              <a:avLst/>
              <a:gdLst/>
              <a:ahLst/>
              <a:cxnLst/>
              <a:rect l="l" t="t" r="r" b="b"/>
              <a:pathLst>
                <a:path w="177164" h="163830">
                  <a:moveTo>
                    <a:pt x="95722" y="0"/>
                  </a:moveTo>
                  <a:lnTo>
                    <a:pt x="81198" y="0"/>
                  </a:lnTo>
                  <a:lnTo>
                    <a:pt x="66674" y="1981"/>
                  </a:lnTo>
                  <a:lnTo>
                    <a:pt x="28376" y="21793"/>
                  </a:lnTo>
                  <a:lnTo>
                    <a:pt x="4617" y="55458"/>
                  </a:lnTo>
                  <a:lnTo>
                    <a:pt x="0" y="82524"/>
                  </a:lnTo>
                  <a:lnTo>
                    <a:pt x="1310" y="95082"/>
                  </a:lnTo>
                  <a:lnTo>
                    <a:pt x="18486" y="132709"/>
                  </a:lnTo>
                  <a:lnTo>
                    <a:pt x="52806" y="157139"/>
                  </a:lnTo>
                  <a:lnTo>
                    <a:pt x="81198" y="163738"/>
                  </a:lnTo>
                  <a:lnTo>
                    <a:pt x="95722" y="163738"/>
                  </a:lnTo>
                  <a:lnTo>
                    <a:pt x="136657" y="150540"/>
                  </a:lnTo>
                  <a:lnTo>
                    <a:pt x="166375" y="120822"/>
                  </a:lnTo>
                  <a:lnTo>
                    <a:pt x="176936" y="82524"/>
                  </a:lnTo>
                  <a:lnTo>
                    <a:pt x="175610" y="68671"/>
                  </a:lnTo>
                  <a:lnTo>
                    <a:pt x="157779" y="31699"/>
                  </a:lnTo>
                  <a:lnTo>
                    <a:pt x="123459" y="6598"/>
                  </a:lnTo>
                  <a:lnTo>
                    <a:pt x="9572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703615" y="1792493"/>
              <a:ext cx="177165" cy="163830"/>
            </a:xfrm>
            <a:custGeom>
              <a:avLst/>
              <a:gdLst/>
              <a:ahLst/>
              <a:cxnLst/>
              <a:rect l="l" t="t" r="r" b="b"/>
              <a:pathLst>
                <a:path w="177164" h="163830">
                  <a:moveTo>
                    <a:pt x="0" y="82524"/>
                  </a:moveTo>
                  <a:lnTo>
                    <a:pt x="10561" y="42915"/>
                  </a:lnTo>
                  <a:lnTo>
                    <a:pt x="40264" y="13213"/>
                  </a:lnTo>
                  <a:lnTo>
                    <a:pt x="81198" y="0"/>
                  </a:lnTo>
                  <a:lnTo>
                    <a:pt x="95722" y="0"/>
                  </a:lnTo>
                  <a:lnTo>
                    <a:pt x="136657" y="13213"/>
                  </a:lnTo>
                  <a:lnTo>
                    <a:pt x="166375" y="42915"/>
                  </a:lnTo>
                  <a:lnTo>
                    <a:pt x="176936" y="82524"/>
                  </a:lnTo>
                  <a:lnTo>
                    <a:pt x="175610" y="95082"/>
                  </a:lnTo>
                  <a:lnTo>
                    <a:pt x="157779" y="132709"/>
                  </a:lnTo>
                  <a:lnTo>
                    <a:pt x="123459" y="157139"/>
                  </a:lnTo>
                  <a:lnTo>
                    <a:pt x="95722" y="163738"/>
                  </a:lnTo>
                  <a:lnTo>
                    <a:pt x="81198" y="163738"/>
                  </a:lnTo>
                  <a:lnTo>
                    <a:pt x="40264" y="150540"/>
                  </a:lnTo>
                  <a:lnTo>
                    <a:pt x="10561" y="120822"/>
                  </a:lnTo>
                  <a:lnTo>
                    <a:pt x="0" y="82524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332567" y="1519164"/>
              <a:ext cx="407034" cy="320675"/>
            </a:xfrm>
            <a:custGeom>
              <a:avLst/>
              <a:gdLst/>
              <a:ahLst/>
              <a:cxnLst/>
              <a:rect l="l" t="t" r="r" b="b"/>
              <a:pathLst>
                <a:path w="407035" h="320675">
                  <a:moveTo>
                    <a:pt x="25085" y="0"/>
                  </a:moveTo>
                  <a:lnTo>
                    <a:pt x="0" y="33009"/>
                  </a:lnTo>
                  <a:lnTo>
                    <a:pt x="381609" y="320207"/>
                  </a:lnTo>
                  <a:lnTo>
                    <a:pt x="406694" y="287197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863376" y="1926529"/>
              <a:ext cx="354330" cy="279400"/>
            </a:xfrm>
            <a:custGeom>
              <a:avLst/>
              <a:gdLst/>
              <a:ahLst/>
              <a:cxnLst/>
              <a:rect l="l" t="t" r="r" b="b"/>
              <a:pathLst>
                <a:path w="354329" h="279400">
                  <a:moveTo>
                    <a:pt x="0" y="0"/>
                  </a:moveTo>
                  <a:lnTo>
                    <a:pt x="353888" y="279257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850178" y="1517182"/>
              <a:ext cx="372745" cy="318770"/>
            </a:xfrm>
            <a:custGeom>
              <a:avLst/>
              <a:gdLst/>
              <a:ahLst/>
              <a:cxnLst/>
              <a:rect l="l" t="t" r="r" b="b"/>
              <a:pathLst>
                <a:path w="372745" h="318769">
                  <a:moveTo>
                    <a:pt x="345947" y="0"/>
                  </a:moveTo>
                  <a:lnTo>
                    <a:pt x="0" y="286542"/>
                  </a:lnTo>
                  <a:lnTo>
                    <a:pt x="26410" y="318226"/>
                  </a:lnTo>
                  <a:lnTo>
                    <a:pt x="372358" y="31699"/>
                  </a:lnTo>
                  <a:lnTo>
                    <a:pt x="345947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345109" y="1921896"/>
              <a:ext cx="380365" cy="288925"/>
            </a:xfrm>
            <a:custGeom>
              <a:avLst/>
              <a:gdLst/>
              <a:ahLst/>
              <a:cxnLst/>
              <a:rect l="l" t="t" r="r" b="b"/>
              <a:pathLst>
                <a:path w="380364" h="288925">
                  <a:moveTo>
                    <a:pt x="380283" y="0"/>
                  </a:moveTo>
                  <a:lnTo>
                    <a:pt x="0" y="288523"/>
                  </a:lnTo>
                </a:path>
              </a:pathLst>
            </a:custGeom>
            <a:ln w="4126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702175" y="2582009"/>
              <a:ext cx="182438" cy="169895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5324642" y="2316703"/>
              <a:ext cx="395605" cy="330835"/>
            </a:xfrm>
            <a:custGeom>
              <a:avLst/>
              <a:gdLst/>
              <a:ahLst/>
              <a:cxnLst/>
              <a:rect l="l" t="t" r="r" b="b"/>
              <a:pathLst>
                <a:path w="395604" h="330835">
                  <a:moveTo>
                    <a:pt x="26410" y="0"/>
                  </a:moveTo>
                  <a:lnTo>
                    <a:pt x="0" y="33009"/>
                  </a:lnTo>
                  <a:lnTo>
                    <a:pt x="369067" y="330768"/>
                  </a:lnTo>
                  <a:lnTo>
                    <a:pt x="395477" y="297759"/>
                  </a:lnTo>
                  <a:lnTo>
                    <a:pt x="2641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879881" y="2337841"/>
              <a:ext cx="345440" cy="287020"/>
            </a:xfrm>
            <a:custGeom>
              <a:avLst/>
              <a:gdLst/>
              <a:ahLst/>
              <a:cxnLst/>
              <a:rect l="l" t="t" r="r" b="b"/>
              <a:pathLst>
                <a:path w="345439" h="287019">
                  <a:moveTo>
                    <a:pt x="0" y="286527"/>
                  </a:moveTo>
                  <a:lnTo>
                    <a:pt x="345292" y="0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5834999" y="1115121"/>
              <a:ext cx="396875" cy="314325"/>
            </a:xfrm>
            <a:custGeom>
              <a:avLst/>
              <a:gdLst/>
              <a:ahLst/>
              <a:cxnLst/>
              <a:rect l="l" t="t" r="r" b="b"/>
              <a:pathLst>
                <a:path w="396875" h="314325">
                  <a:moveTo>
                    <a:pt x="25085" y="0"/>
                  </a:moveTo>
                  <a:lnTo>
                    <a:pt x="0" y="33009"/>
                  </a:lnTo>
                  <a:lnTo>
                    <a:pt x="371688" y="314264"/>
                  </a:lnTo>
                  <a:lnTo>
                    <a:pt x="396788" y="281238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346763" y="1118085"/>
              <a:ext cx="370378" cy="286527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3202045" y="1762790"/>
              <a:ext cx="273050" cy="172720"/>
            </a:xfrm>
            <a:custGeom>
              <a:avLst/>
              <a:gdLst/>
              <a:ahLst/>
              <a:cxnLst/>
              <a:rect l="l" t="t" r="r" b="b"/>
              <a:pathLst>
                <a:path w="273050" h="172719">
                  <a:moveTo>
                    <a:pt x="0" y="0"/>
                  </a:moveTo>
                  <a:lnTo>
                    <a:pt x="48859" y="86486"/>
                  </a:lnTo>
                  <a:lnTo>
                    <a:pt x="0" y="172318"/>
                  </a:lnTo>
                  <a:lnTo>
                    <a:pt x="207309" y="108280"/>
                  </a:lnTo>
                  <a:lnTo>
                    <a:pt x="198074" y="159776"/>
                  </a:lnTo>
                  <a:lnTo>
                    <a:pt x="272674" y="86486"/>
                  </a:lnTo>
                  <a:lnTo>
                    <a:pt x="198074" y="11887"/>
                  </a:lnTo>
                  <a:lnTo>
                    <a:pt x="207309" y="646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202045" y="1762790"/>
              <a:ext cx="273050" cy="172720"/>
            </a:xfrm>
            <a:custGeom>
              <a:avLst/>
              <a:gdLst/>
              <a:ahLst/>
              <a:cxnLst/>
              <a:rect l="l" t="t" r="r" b="b"/>
              <a:pathLst>
                <a:path w="273050" h="172719">
                  <a:moveTo>
                    <a:pt x="272674" y="86486"/>
                  </a:moveTo>
                  <a:lnTo>
                    <a:pt x="198074" y="159776"/>
                  </a:lnTo>
                  <a:lnTo>
                    <a:pt x="207309" y="108280"/>
                  </a:lnTo>
                  <a:lnTo>
                    <a:pt x="0" y="172318"/>
                  </a:lnTo>
                  <a:lnTo>
                    <a:pt x="48859" y="86486"/>
                  </a:lnTo>
                  <a:lnTo>
                    <a:pt x="0" y="0"/>
                  </a:lnTo>
                  <a:lnTo>
                    <a:pt x="207309" y="64693"/>
                  </a:lnTo>
                  <a:lnTo>
                    <a:pt x="198074" y="11887"/>
                  </a:lnTo>
                  <a:lnTo>
                    <a:pt x="272674" y="86486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5" name="object 6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425529" y="988911"/>
              <a:ext cx="182438" cy="169895"/>
            </a:xfrm>
            <a:prstGeom prst="rect">
              <a:avLst/>
            </a:prstGeom>
          </p:spPr>
        </p:pic>
      </p:grpSp>
      <p:sp>
        <p:nvSpPr>
          <p:cNvPr id="66" name="object 66"/>
          <p:cNvSpPr txBox="1"/>
          <p:nvPr/>
        </p:nvSpPr>
        <p:spPr>
          <a:xfrm>
            <a:off x="2479775" y="981656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1930260" y="1392191"/>
            <a:ext cx="1174750" cy="1201420"/>
            <a:chOff x="1930260" y="1392191"/>
            <a:chExt cx="1174750" cy="1201420"/>
          </a:xfrm>
        </p:grpSpPr>
        <p:sp>
          <p:nvSpPr>
            <p:cNvPr id="68" name="object 68"/>
            <p:cNvSpPr/>
            <p:nvPr/>
          </p:nvSpPr>
          <p:spPr>
            <a:xfrm>
              <a:off x="1933117" y="1395049"/>
              <a:ext cx="177165" cy="164465"/>
            </a:xfrm>
            <a:custGeom>
              <a:avLst/>
              <a:gdLst/>
              <a:ahLst/>
              <a:cxnLst/>
              <a:rect l="l" t="t" r="r" b="b"/>
              <a:pathLst>
                <a:path w="177164" h="164465">
                  <a:moveTo>
                    <a:pt x="95067" y="0"/>
                  </a:moveTo>
                  <a:lnTo>
                    <a:pt x="80543" y="0"/>
                  </a:lnTo>
                  <a:lnTo>
                    <a:pt x="66019" y="1981"/>
                  </a:lnTo>
                  <a:lnTo>
                    <a:pt x="27721" y="21122"/>
                  </a:lnTo>
                  <a:lnTo>
                    <a:pt x="4617" y="55458"/>
                  </a:lnTo>
                  <a:lnTo>
                    <a:pt x="0" y="81869"/>
                  </a:lnTo>
                  <a:lnTo>
                    <a:pt x="1310" y="95722"/>
                  </a:lnTo>
                  <a:lnTo>
                    <a:pt x="18486" y="132694"/>
                  </a:lnTo>
                  <a:lnTo>
                    <a:pt x="52151" y="157794"/>
                  </a:lnTo>
                  <a:lnTo>
                    <a:pt x="80543" y="164393"/>
                  </a:lnTo>
                  <a:lnTo>
                    <a:pt x="95067" y="164393"/>
                  </a:lnTo>
                  <a:lnTo>
                    <a:pt x="136657" y="151180"/>
                  </a:lnTo>
                  <a:lnTo>
                    <a:pt x="166375" y="121478"/>
                  </a:lnTo>
                  <a:lnTo>
                    <a:pt x="176936" y="81869"/>
                  </a:lnTo>
                  <a:lnTo>
                    <a:pt x="175610" y="68656"/>
                  </a:lnTo>
                  <a:lnTo>
                    <a:pt x="157794" y="31028"/>
                  </a:lnTo>
                  <a:lnTo>
                    <a:pt x="123459" y="6598"/>
                  </a:lnTo>
                  <a:lnTo>
                    <a:pt x="95067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1933117" y="1395049"/>
              <a:ext cx="177165" cy="164465"/>
            </a:xfrm>
            <a:custGeom>
              <a:avLst/>
              <a:gdLst/>
              <a:ahLst/>
              <a:cxnLst/>
              <a:rect l="l" t="t" r="r" b="b"/>
              <a:pathLst>
                <a:path w="177164" h="164465">
                  <a:moveTo>
                    <a:pt x="0" y="81869"/>
                  </a:moveTo>
                  <a:lnTo>
                    <a:pt x="10561" y="42915"/>
                  </a:lnTo>
                  <a:lnTo>
                    <a:pt x="39608" y="13197"/>
                  </a:lnTo>
                  <a:lnTo>
                    <a:pt x="80543" y="0"/>
                  </a:lnTo>
                  <a:lnTo>
                    <a:pt x="95067" y="0"/>
                  </a:lnTo>
                  <a:lnTo>
                    <a:pt x="136657" y="13197"/>
                  </a:lnTo>
                  <a:lnTo>
                    <a:pt x="166375" y="42915"/>
                  </a:lnTo>
                  <a:lnTo>
                    <a:pt x="176936" y="81869"/>
                  </a:lnTo>
                  <a:lnTo>
                    <a:pt x="175610" y="95722"/>
                  </a:lnTo>
                  <a:lnTo>
                    <a:pt x="157794" y="132694"/>
                  </a:lnTo>
                  <a:lnTo>
                    <a:pt x="123459" y="157794"/>
                  </a:lnTo>
                  <a:lnTo>
                    <a:pt x="95067" y="164393"/>
                  </a:lnTo>
                  <a:lnTo>
                    <a:pt x="80543" y="164393"/>
                  </a:lnTo>
                  <a:lnTo>
                    <a:pt x="39608" y="151180"/>
                  </a:lnTo>
                  <a:lnTo>
                    <a:pt x="10561" y="121478"/>
                  </a:lnTo>
                  <a:lnTo>
                    <a:pt x="0" y="81869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922003" y="1392298"/>
              <a:ext cx="182438" cy="169895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930366" y="2183894"/>
              <a:ext cx="182438" cy="169895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922003" y="2183894"/>
              <a:ext cx="182438" cy="169895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2110054" y="1476918"/>
              <a:ext cx="788035" cy="0"/>
            </a:xfrm>
            <a:custGeom>
              <a:avLst/>
              <a:gdLst/>
              <a:ahLst/>
              <a:cxnLst/>
              <a:rect l="l" t="t" r="r" b="b"/>
              <a:pathLst>
                <a:path w="788035" h="0">
                  <a:moveTo>
                    <a:pt x="0" y="0"/>
                  </a:moveTo>
                  <a:lnTo>
                    <a:pt x="34335" y="0"/>
                  </a:lnTo>
                </a:path>
                <a:path w="788035" h="0">
                  <a:moveTo>
                    <a:pt x="68656" y="0"/>
                  </a:moveTo>
                  <a:lnTo>
                    <a:pt x="102991" y="0"/>
                  </a:lnTo>
                </a:path>
                <a:path w="788035" h="0">
                  <a:moveTo>
                    <a:pt x="136657" y="0"/>
                  </a:moveTo>
                  <a:lnTo>
                    <a:pt x="170992" y="0"/>
                  </a:lnTo>
                </a:path>
                <a:path w="788035" h="0">
                  <a:moveTo>
                    <a:pt x="205328" y="0"/>
                  </a:moveTo>
                  <a:lnTo>
                    <a:pt x="239648" y="0"/>
                  </a:lnTo>
                </a:path>
                <a:path w="788035" h="0">
                  <a:moveTo>
                    <a:pt x="273984" y="0"/>
                  </a:moveTo>
                  <a:lnTo>
                    <a:pt x="308320" y="0"/>
                  </a:lnTo>
                </a:path>
                <a:path w="788035" h="0">
                  <a:moveTo>
                    <a:pt x="342656" y="0"/>
                  </a:moveTo>
                  <a:lnTo>
                    <a:pt x="376321" y="0"/>
                  </a:lnTo>
                </a:path>
                <a:path w="788035" h="0">
                  <a:moveTo>
                    <a:pt x="410657" y="0"/>
                  </a:moveTo>
                  <a:lnTo>
                    <a:pt x="444977" y="0"/>
                  </a:lnTo>
                </a:path>
                <a:path w="788035" h="0">
                  <a:moveTo>
                    <a:pt x="479313" y="0"/>
                  </a:moveTo>
                  <a:lnTo>
                    <a:pt x="513648" y="0"/>
                  </a:lnTo>
                </a:path>
                <a:path w="788035" h="0">
                  <a:moveTo>
                    <a:pt x="547984" y="0"/>
                  </a:moveTo>
                  <a:lnTo>
                    <a:pt x="582305" y="0"/>
                  </a:lnTo>
                </a:path>
                <a:path w="788035" h="0">
                  <a:moveTo>
                    <a:pt x="616640" y="0"/>
                  </a:moveTo>
                  <a:lnTo>
                    <a:pt x="650306" y="0"/>
                  </a:lnTo>
                </a:path>
                <a:path w="788035" h="0">
                  <a:moveTo>
                    <a:pt x="684641" y="0"/>
                  </a:moveTo>
                  <a:lnTo>
                    <a:pt x="718977" y="0"/>
                  </a:lnTo>
                </a:path>
                <a:path w="788035" h="0">
                  <a:moveTo>
                    <a:pt x="753297" y="0"/>
                  </a:moveTo>
                  <a:lnTo>
                    <a:pt x="787633" y="0"/>
                  </a:lnTo>
                </a:path>
              </a:pathLst>
            </a:custGeom>
            <a:ln w="1650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012566" y="1560098"/>
              <a:ext cx="0" cy="626110"/>
            </a:xfrm>
            <a:custGeom>
              <a:avLst/>
              <a:gdLst/>
              <a:ahLst/>
              <a:cxnLst/>
              <a:rect l="l" t="t" r="r" b="b"/>
              <a:pathLst>
                <a:path w="0" h="626110">
                  <a:moveTo>
                    <a:pt x="0" y="0"/>
                  </a:moveTo>
                  <a:lnTo>
                    <a:pt x="0" y="625891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529946" y="2002439"/>
              <a:ext cx="2540" cy="582930"/>
            </a:xfrm>
            <a:custGeom>
              <a:avLst/>
              <a:gdLst/>
              <a:ahLst/>
              <a:cxnLst/>
              <a:rect l="l" t="t" r="r" b="b"/>
              <a:pathLst>
                <a:path w="2539" h="582930">
                  <a:moveTo>
                    <a:pt x="1981" y="582320"/>
                  </a:moveTo>
                  <a:lnTo>
                    <a:pt x="1981" y="547984"/>
                  </a:lnTo>
                </a:path>
                <a:path w="2539" h="582930">
                  <a:moveTo>
                    <a:pt x="1981" y="513648"/>
                  </a:moveTo>
                  <a:lnTo>
                    <a:pt x="1981" y="479328"/>
                  </a:lnTo>
                </a:path>
                <a:path w="2539" h="582930">
                  <a:moveTo>
                    <a:pt x="1325" y="444992"/>
                  </a:moveTo>
                  <a:lnTo>
                    <a:pt x="1325" y="410657"/>
                  </a:lnTo>
                </a:path>
                <a:path w="2539" h="582930">
                  <a:moveTo>
                    <a:pt x="1325" y="376991"/>
                  </a:moveTo>
                  <a:lnTo>
                    <a:pt x="1325" y="342656"/>
                  </a:lnTo>
                </a:path>
                <a:path w="2539" h="582930">
                  <a:moveTo>
                    <a:pt x="1325" y="308320"/>
                  </a:moveTo>
                  <a:lnTo>
                    <a:pt x="1325" y="273999"/>
                  </a:lnTo>
                </a:path>
                <a:path w="2539" h="582930">
                  <a:moveTo>
                    <a:pt x="670" y="239664"/>
                  </a:moveTo>
                  <a:lnTo>
                    <a:pt x="670" y="205328"/>
                  </a:lnTo>
                </a:path>
                <a:path w="2539" h="582930">
                  <a:moveTo>
                    <a:pt x="670" y="171008"/>
                  </a:moveTo>
                  <a:lnTo>
                    <a:pt x="670" y="136672"/>
                  </a:lnTo>
                </a:path>
                <a:path w="2539" h="582930">
                  <a:moveTo>
                    <a:pt x="670" y="103007"/>
                  </a:moveTo>
                  <a:lnTo>
                    <a:pt x="670" y="68671"/>
                  </a:lnTo>
                </a:path>
                <a:path w="2539" h="582930">
                  <a:moveTo>
                    <a:pt x="0" y="34335"/>
                  </a:moveTo>
                  <a:lnTo>
                    <a:pt x="0" y="0"/>
                  </a:lnTo>
                </a:path>
              </a:pathLst>
            </a:custGeom>
            <a:ln w="1650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529946" y="195688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30">
                  <a:moveTo>
                    <a:pt x="-8252" y="5615"/>
                  </a:moveTo>
                  <a:lnTo>
                    <a:pt x="8252" y="5615"/>
                  </a:lnTo>
                </a:path>
              </a:pathLst>
            </a:custGeom>
            <a:ln w="11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020915" y="1560098"/>
              <a:ext cx="0" cy="626110"/>
            </a:xfrm>
            <a:custGeom>
              <a:avLst/>
              <a:gdLst/>
              <a:ahLst/>
              <a:cxnLst/>
              <a:rect l="l" t="t" r="r" b="b"/>
              <a:pathLst>
                <a:path w="0" h="626110">
                  <a:moveTo>
                    <a:pt x="0" y="0"/>
                  </a:moveTo>
                  <a:lnTo>
                    <a:pt x="0" y="625891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/>
          <p:cNvSpPr txBox="1"/>
          <p:nvPr/>
        </p:nvSpPr>
        <p:spPr>
          <a:xfrm>
            <a:off x="1998471" y="1396933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75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995830" y="2188532"/>
            <a:ext cx="61594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75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2988134" y="1396933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750">
              <a:latin typeface="Arial"/>
              <a:cs typeface="Arial"/>
            </a:endParaRPr>
          </a:p>
        </p:txBody>
      </p:sp>
      <p:pic>
        <p:nvPicPr>
          <p:cNvPr id="81" name="object 81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2439382" y="1789742"/>
            <a:ext cx="182453" cy="169240"/>
          </a:xfrm>
          <a:prstGeom prst="rect">
            <a:avLst/>
          </a:prstGeom>
        </p:spPr>
      </p:pic>
      <p:sp>
        <p:nvSpPr>
          <p:cNvPr id="82" name="object 82"/>
          <p:cNvSpPr txBox="1"/>
          <p:nvPr/>
        </p:nvSpPr>
        <p:spPr>
          <a:xfrm>
            <a:off x="2499574" y="1786455"/>
            <a:ext cx="6731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83" name="object 83"/>
          <p:cNvGrpSpPr/>
          <p:nvPr/>
        </p:nvGrpSpPr>
        <p:grpSpPr>
          <a:xfrm>
            <a:off x="2063005" y="1517182"/>
            <a:ext cx="898525" cy="714375"/>
            <a:chOff x="2063005" y="1517182"/>
            <a:chExt cx="898525" cy="714375"/>
          </a:xfrm>
        </p:grpSpPr>
        <p:sp>
          <p:nvSpPr>
            <p:cNvPr id="84" name="object 84"/>
            <p:cNvSpPr/>
            <p:nvPr/>
          </p:nvSpPr>
          <p:spPr>
            <a:xfrm>
              <a:off x="2071100" y="1519164"/>
              <a:ext cx="406400" cy="320675"/>
            </a:xfrm>
            <a:custGeom>
              <a:avLst/>
              <a:gdLst/>
              <a:ahLst/>
              <a:cxnLst/>
              <a:rect l="l" t="t" r="r" b="b"/>
              <a:pathLst>
                <a:path w="406400" h="320675">
                  <a:moveTo>
                    <a:pt x="25085" y="0"/>
                  </a:moveTo>
                  <a:lnTo>
                    <a:pt x="0" y="33009"/>
                  </a:lnTo>
                  <a:lnTo>
                    <a:pt x="381609" y="320207"/>
                  </a:lnTo>
                  <a:lnTo>
                    <a:pt x="406024" y="287197"/>
                  </a:lnTo>
                  <a:lnTo>
                    <a:pt x="2508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601909" y="1926529"/>
              <a:ext cx="354965" cy="279400"/>
            </a:xfrm>
            <a:custGeom>
              <a:avLst/>
              <a:gdLst/>
              <a:ahLst/>
              <a:cxnLst/>
              <a:rect l="l" t="t" r="r" b="b"/>
              <a:pathLst>
                <a:path w="354964" h="279400">
                  <a:moveTo>
                    <a:pt x="0" y="0"/>
                  </a:moveTo>
                  <a:lnTo>
                    <a:pt x="354543" y="279257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588711" y="1517182"/>
              <a:ext cx="372745" cy="318770"/>
            </a:xfrm>
            <a:custGeom>
              <a:avLst/>
              <a:gdLst/>
              <a:ahLst/>
              <a:cxnLst/>
              <a:rect l="l" t="t" r="r" b="b"/>
              <a:pathLst>
                <a:path w="372744" h="318769">
                  <a:moveTo>
                    <a:pt x="345947" y="0"/>
                  </a:moveTo>
                  <a:lnTo>
                    <a:pt x="0" y="286542"/>
                  </a:lnTo>
                  <a:lnTo>
                    <a:pt x="26410" y="318226"/>
                  </a:lnTo>
                  <a:lnTo>
                    <a:pt x="372358" y="31699"/>
                  </a:lnTo>
                  <a:lnTo>
                    <a:pt x="345947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2083643" y="1921896"/>
              <a:ext cx="380365" cy="288925"/>
            </a:xfrm>
            <a:custGeom>
              <a:avLst/>
              <a:gdLst/>
              <a:ahLst/>
              <a:cxnLst/>
              <a:rect l="l" t="t" r="r" b="b"/>
              <a:pathLst>
                <a:path w="380364" h="288925">
                  <a:moveTo>
                    <a:pt x="380283" y="0"/>
                  </a:moveTo>
                  <a:lnTo>
                    <a:pt x="0" y="288523"/>
                  </a:lnTo>
                </a:path>
              </a:pathLst>
            </a:custGeom>
            <a:ln w="4126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8" name="object 88"/>
          <p:cNvSpPr txBox="1"/>
          <p:nvPr/>
        </p:nvSpPr>
        <p:spPr>
          <a:xfrm>
            <a:off x="2349709" y="2207013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14</a:t>
            </a:r>
            <a:endParaRPr sz="750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2706419" y="1806923"/>
            <a:ext cx="3459479" cy="5334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14325">
              <a:lnSpc>
                <a:spcPct val="100000"/>
              </a:lnSpc>
              <a:spcBef>
                <a:spcPts val="114"/>
              </a:spcBef>
              <a:tabLst>
                <a:tab pos="792480" algn="l"/>
                <a:tab pos="1421130" algn="l"/>
                <a:tab pos="1942464" algn="l"/>
                <a:tab pos="2425700" algn="l"/>
                <a:tab pos="3054985" algn="l"/>
              </a:tabLst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16	</a:t>
            </a:r>
            <a:r>
              <a:rPr dirty="0" baseline="3703" sz="1125" spc="15" i="1">
                <a:solidFill>
                  <a:srgbClr val="FFFF00"/>
                </a:solidFill>
                <a:latin typeface="Arial"/>
                <a:cs typeface="Arial"/>
              </a:rPr>
              <a:t>18	</a:t>
            </a:r>
            <a:r>
              <a:rPr dirty="0" baseline="11111" sz="1125" spc="15">
                <a:solidFill>
                  <a:srgbClr val="FFFF00"/>
                </a:solidFill>
                <a:latin typeface="Arial"/>
                <a:cs typeface="Arial"/>
              </a:rPr>
              <a:t>d	</a:t>
            </a: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16	</a:t>
            </a:r>
            <a:r>
              <a:rPr dirty="0" baseline="3703" sz="1125" spc="15" i="1">
                <a:solidFill>
                  <a:srgbClr val="FFFF00"/>
                </a:solidFill>
                <a:latin typeface="Arial"/>
                <a:cs typeface="Arial"/>
              </a:rPr>
              <a:t>18	</a:t>
            </a:r>
            <a:r>
              <a:rPr dirty="0" baseline="11111" sz="1125" spc="1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baseline="11111" sz="1125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50"/>
              </a:spcBef>
              <a:tabLst>
                <a:tab pos="1664970" algn="l"/>
                <a:tab pos="3299460" algn="l"/>
              </a:tabLst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30	30	30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 marL="288925">
              <a:lnSpc>
                <a:spcPct val="100000"/>
              </a:lnSpc>
              <a:spcBef>
                <a:spcPts val="420"/>
              </a:spcBef>
              <a:tabLst>
                <a:tab pos="916940" algn="l"/>
                <a:tab pos="1916430" algn="l"/>
                <a:tab pos="2551430" algn="l"/>
              </a:tabLst>
            </a:pP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f	</a:t>
            </a:r>
            <a:r>
              <a:rPr dirty="0" baseline="3703" sz="1125" spc="7">
                <a:solidFill>
                  <a:srgbClr val="FFFF00"/>
                </a:solidFill>
                <a:latin typeface="Arial"/>
                <a:cs typeface="Arial"/>
              </a:rPr>
              <a:t>c	</a:t>
            </a:r>
            <a:r>
              <a:rPr dirty="0" sz="750" spc="5">
                <a:solidFill>
                  <a:srgbClr val="FFFF00"/>
                </a:solidFill>
                <a:latin typeface="Arial"/>
                <a:cs typeface="Arial"/>
              </a:rPr>
              <a:t>f	</a:t>
            </a:r>
            <a:r>
              <a:rPr dirty="0" baseline="3703" sz="1125" spc="7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baseline="3703" sz="1125">
              <a:latin typeface="Arial"/>
              <a:cs typeface="Arial"/>
            </a:endParaRPr>
          </a:p>
        </p:txBody>
      </p:sp>
      <p:grpSp>
        <p:nvGrpSpPr>
          <p:cNvPr id="90" name="object 90"/>
          <p:cNvGrpSpPr/>
          <p:nvPr/>
        </p:nvGrpSpPr>
        <p:grpSpPr>
          <a:xfrm>
            <a:off x="2063176" y="1115121"/>
            <a:ext cx="907415" cy="1637030"/>
            <a:chOff x="2063176" y="1115121"/>
            <a:chExt cx="907415" cy="1637030"/>
          </a:xfrm>
        </p:grpSpPr>
        <p:pic>
          <p:nvPicPr>
            <p:cNvPr id="91" name="object 9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440708" y="2582009"/>
              <a:ext cx="182438" cy="169895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2063176" y="2316703"/>
              <a:ext cx="395605" cy="330835"/>
            </a:xfrm>
            <a:custGeom>
              <a:avLst/>
              <a:gdLst/>
              <a:ahLst/>
              <a:cxnLst/>
              <a:rect l="l" t="t" r="r" b="b"/>
              <a:pathLst>
                <a:path w="395605" h="330835">
                  <a:moveTo>
                    <a:pt x="26410" y="0"/>
                  </a:moveTo>
                  <a:lnTo>
                    <a:pt x="0" y="33009"/>
                  </a:lnTo>
                  <a:lnTo>
                    <a:pt x="369067" y="330768"/>
                  </a:lnTo>
                  <a:lnTo>
                    <a:pt x="395462" y="297759"/>
                  </a:lnTo>
                  <a:lnTo>
                    <a:pt x="2641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2618414" y="2337841"/>
              <a:ext cx="346075" cy="287020"/>
            </a:xfrm>
            <a:custGeom>
              <a:avLst/>
              <a:gdLst/>
              <a:ahLst/>
              <a:cxnLst/>
              <a:rect l="l" t="t" r="r" b="b"/>
              <a:pathLst>
                <a:path w="346075" h="287019">
                  <a:moveTo>
                    <a:pt x="0" y="286527"/>
                  </a:moveTo>
                  <a:lnTo>
                    <a:pt x="345963" y="0"/>
                  </a:lnTo>
                </a:path>
              </a:pathLst>
            </a:custGeom>
            <a:ln w="550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573517" y="1115121"/>
              <a:ext cx="396875" cy="314325"/>
            </a:xfrm>
            <a:custGeom>
              <a:avLst/>
              <a:gdLst/>
              <a:ahLst/>
              <a:cxnLst/>
              <a:rect l="l" t="t" r="r" b="b"/>
              <a:pathLst>
                <a:path w="396875" h="314325">
                  <a:moveTo>
                    <a:pt x="25100" y="0"/>
                  </a:moveTo>
                  <a:lnTo>
                    <a:pt x="0" y="33009"/>
                  </a:lnTo>
                  <a:lnTo>
                    <a:pt x="371703" y="314264"/>
                  </a:lnTo>
                  <a:lnTo>
                    <a:pt x="396788" y="281238"/>
                  </a:lnTo>
                  <a:lnTo>
                    <a:pt x="2510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5" name="object 9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085296" y="1118085"/>
              <a:ext cx="370378" cy="286527"/>
            </a:xfrm>
            <a:prstGeom prst="rect">
              <a:avLst/>
            </a:prstGeom>
          </p:spPr>
        </p:pic>
      </p:grpSp>
      <p:sp>
        <p:nvSpPr>
          <p:cNvPr id="96" name="object 96"/>
          <p:cNvSpPr txBox="1"/>
          <p:nvPr/>
        </p:nvSpPr>
        <p:spPr>
          <a:xfrm>
            <a:off x="1871712" y="1799662"/>
            <a:ext cx="121920" cy="1428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18</a:t>
            </a:r>
            <a:endParaRPr sz="75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2503537" y="2437765"/>
            <a:ext cx="3688079" cy="27686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306070">
              <a:lnSpc>
                <a:spcPct val="100000"/>
              </a:lnSpc>
              <a:spcBef>
                <a:spcPts val="180"/>
              </a:spcBef>
              <a:tabLst>
                <a:tab pos="1959610" algn="l"/>
                <a:tab pos="3566160" algn="l"/>
              </a:tabLst>
            </a:pP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26</a:t>
            </a: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26</a:t>
            </a: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750" spc="10" i="1">
                <a:solidFill>
                  <a:srgbClr val="FFFF00"/>
                </a:solidFill>
                <a:latin typeface="Arial"/>
                <a:cs typeface="Arial"/>
              </a:rPr>
              <a:t>26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90"/>
              </a:spcBef>
              <a:tabLst>
                <a:tab pos="1627505" algn="l"/>
                <a:tab pos="3261995" algn="l"/>
              </a:tabLst>
            </a:pPr>
            <a:r>
              <a:rPr dirty="0" sz="750" spc="10">
                <a:solidFill>
                  <a:srgbClr val="FFFF00"/>
                </a:solidFill>
                <a:latin typeface="Arial"/>
                <a:cs typeface="Arial"/>
              </a:rPr>
              <a:t>g	g	g</a:t>
            </a:r>
            <a:endParaRPr sz="75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2723983" y="2889899"/>
            <a:ext cx="27819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8.54: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Kruskal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Garamond"/>
                <a:cs typeface="Garamond"/>
              </a:rPr>
              <a:t>(</a:t>
            </a:r>
            <a:r>
              <a:rPr dirty="0" sz="1200" spc="-5">
                <a:latin typeface="Lucida Sans Unicode"/>
                <a:cs typeface="Lucida Sans Unicode"/>
              </a:rPr>
              <a:t>e,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f</a:t>
            </a:r>
            <a:r>
              <a:rPr dirty="0" sz="1200" spc="5">
                <a:latin typeface="Garamond"/>
                <a:cs typeface="Garamond"/>
              </a:rPr>
              <a:t>)</a:t>
            </a:r>
            <a:r>
              <a:rPr dirty="0" sz="1200" spc="5">
                <a:latin typeface="Lucida Sans Unicode"/>
                <a:cs typeface="Lucida Sans Unicode"/>
              </a:rPr>
              <a:t>added</a:t>
            </a:r>
            <a:endParaRPr sz="1200">
              <a:latin typeface="Lucida Sans Unicode"/>
              <a:cs typeface="Lucida Sans Unicode"/>
            </a:endParaRPr>
          </a:p>
        </p:txBody>
      </p:sp>
      <p:grpSp>
        <p:nvGrpSpPr>
          <p:cNvPr id="99" name="object 99"/>
          <p:cNvGrpSpPr/>
          <p:nvPr/>
        </p:nvGrpSpPr>
        <p:grpSpPr>
          <a:xfrm>
            <a:off x="1790700" y="3470554"/>
            <a:ext cx="4648200" cy="1933575"/>
            <a:chOff x="1790700" y="3470554"/>
            <a:chExt cx="4648200" cy="1933575"/>
          </a:xfrm>
        </p:grpSpPr>
        <p:sp>
          <p:nvSpPr>
            <p:cNvPr id="100" name="object 100"/>
            <p:cNvSpPr/>
            <p:nvPr/>
          </p:nvSpPr>
          <p:spPr>
            <a:xfrm>
              <a:off x="1790700" y="3470554"/>
              <a:ext cx="4648200" cy="1933575"/>
            </a:xfrm>
            <a:custGeom>
              <a:avLst/>
              <a:gdLst/>
              <a:ahLst/>
              <a:cxnLst/>
              <a:rect l="l" t="t" r="r" b="b"/>
              <a:pathLst>
                <a:path w="4648200" h="1933575">
                  <a:moveTo>
                    <a:pt x="4648001" y="0"/>
                  </a:moveTo>
                  <a:lnTo>
                    <a:pt x="0" y="0"/>
                  </a:lnTo>
                  <a:lnTo>
                    <a:pt x="0" y="1933041"/>
                  </a:lnTo>
                  <a:lnTo>
                    <a:pt x="4648001" y="1933041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3176015" y="4352066"/>
              <a:ext cx="302260" cy="177800"/>
            </a:xfrm>
            <a:custGeom>
              <a:avLst/>
              <a:gdLst/>
              <a:ahLst/>
              <a:cxnLst/>
              <a:rect l="l" t="t" r="r" b="b"/>
              <a:pathLst>
                <a:path w="302260" h="177800">
                  <a:moveTo>
                    <a:pt x="0" y="0"/>
                  </a:moveTo>
                  <a:lnTo>
                    <a:pt x="50794" y="88727"/>
                  </a:lnTo>
                  <a:lnTo>
                    <a:pt x="0" y="177454"/>
                  </a:lnTo>
                  <a:lnTo>
                    <a:pt x="235717" y="111084"/>
                  </a:lnTo>
                  <a:lnTo>
                    <a:pt x="226222" y="165262"/>
                  </a:lnTo>
                  <a:lnTo>
                    <a:pt x="302087" y="88727"/>
                  </a:lnTo>
                  <a:lnTo>
                    <a:pt x="226222" y="12191"/>
                  </a:lnTo>
                  <a:lnTo>
                    <a:pt x="235717" y="663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3176015" y="4352066"/>
              <a:ext cx="302260" cy="177800"/>
            </a:xfrm>
            <a:custGeom>
              <a:avLst/>
              <a:gdLst/>
              <a:ahLst/>
              <a:cxnLst/>
              <a:rect l="l" t="t" r="r" b="b"/>
              <a:pathLst>
                <a:path w="302260" h="177800">
                  <a:moveTo>
                    <a:pt x="302087" y="88727"/>
                  </a:moveTo>
                  <a:lnTo>
                    <a:pt x="226222" y="165262"/>
                  </a:lnTo>
                  <a:lnTo>
                    <a:pt x="235717" y="111084"/>
                  </a:lnTo>
                  <a:lnTo>
                    <a:pt x="0" y="177454"/>
                  </a:lnTo>
                  <a:lnTo>
                    <a:pt x="50794" y="88727"/>
                  </a:lnTo>
                  <a:lnTo>
                    <a:pt x="0" y="0"/>
                  </a:lnTo>
                  <a:lnTo>
                    <a:pt x="235717" y="66370"/>
                  </a:lnTo>
                  <a:lnTo>
                    <a:pt x="226222" y="12191"/>
                  </a:lnTo>
                  <a:lnTo>
                    <a:pt x="302087" y="88727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3" name="object 10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402385" y="3524242"/>
              <a:ext cx="204785" cy="175661"/>
            </a:xfrm>
            <a:prstGeom prst="rect">
              <a:avLst/>
            </a:prstGeom>
          </p:spPr>
        </p:pic>
      </p:grpSp>
      <p:sp>
        <p:nvSpPr>
          <p:cNvPr id="104" name="object 104"/>
          <p:cNvSpPr txBox="1"/>
          <p:nvPr/>
        </p:nvSpPr>
        <p:spPr>
          <a:xfrm>
            <a:off x="2466847" y="3515731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05" name="object 105"/>
          <p:cNvGrpSpPr/>
          <p:nvPr/>
        </p:nvGrpSpPr>
        <p:grpSpPr>
          <a:xfrm>
            <a:off x="1843559" y="3938734"/>
            <a:ext cx="1323340" cy="1235075"/>
            <a:chOff x="1843559" y="3938734"/>
            <a:chExt cx="1323340" cy="1235075"/>
          </a:xfrm>
        </p:grpSpPr>
        <p:sp>
          <p:nvSpPr>
            <p:cNvPr id="106" name="object 106"/>
            <p:cNvSpPr/>
            <p:nvPr/>
          </p:nvSpPr>
          <p:spPr>
            <a:xfrm>
              <a:off x="1846417" y="3941592"/>
              <a:ext cx="200025" cy="170180"/>
            </a:xfrm>
            <a:custGeom>
              <a:avLst/>
              <a:gdLst/>
              <a:ahLst/>
              <a:cxnLst/>
              <a:rect l="l" t="t" r="r" b="b"/>
              <a:pathLst>
                <a:path w="200025" h="170179">
                  <a:moveTo>
                    <a:pt x="100233" y="0"/>
                  </a:moveTo>
                  <a:lnTo>
                    <a:pt x="54863" y="9494"/>
                  </a:lnTo>
                  <a:lnTo>
                    <a:pt x="18958" y="35219"/>
                  </a:lnTo>
                  <a:lnTo>
                    <a:pt x="1341" y="71795"/>
                  </a:lnTo>
                  <a:lnTo>
                    <a:pt x="0" y="84673"/>
                  </a:lnTo>
                  <a:lnTo>
                    <a:pt x="1341" y="98221"/>
                  </a:lnTo>
                  <a:lnTo>
                    <a:pt x="18958" y="134797"/>
                  </a:lnTo>
                  <a:lnTo>
                    <a:pt x="54863" y="160538"/>
                  </a:lnTo>
                  <a:lnTo>
                    <a:pt x="100233" y="170017"/>
                  </a:lnTo>
                  <a:lnTo>
                    <a:pt x="115823" y="168661"/>
                  </a:lnTo>
                  <a:lnTo>
                    <a:pt x="158495" y="153756"/>
                  </a:lnTo>
                  <a:lnTo>
                    <a:pt x="188975" y="123276"/>
                  </a:lnTo>
                  <a:lnTo>
                    <a:pt x="199811" y="84673"/>
                  </a:lnTo>
                  <a:lnTo>
                    <a:pt x="198455" y="71795"/>
                  </a:lnTo>
                  <a:lnTo>
                    <a:pt x="180837" y="35219"/>
                  </a:lnTo>
                  <a:lnTo>
                    <a:pt x="144947" y="9494"/>
                  </a:lnTo>
                  <a:lnTo>
                    <a:pt x="10023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1846417" y="3941592"/>
              <a:ext cx="200025" cy="170180"/>
            </a:xfrm>
            <a:custGeom>
              <a:avLst/>
              <a:gdLst/>
              <a:ahLst/>
              <a:cxnLst/>
              <a:rect l="l" t="t" r="r" b="b"/>
              <a:pathLst>
                <a:path w="200025" h="170179">
                  <a:moveTo>
                    <a:pt x="0" y="84673"/>
                  </a:moveTo>
                  <a:lnTo>
                    <a:pt x="10835" y="46070"/>
                  </a:lnTo>
                  <a:lnTo>
                    <a:pt x="41315" y="16261"/>
                  </a:lnTo>
                  <a:lnTo>
                    <a:pt x="84658" y="1356"/>
                  </a:lnTo>
                  <a:lnTo>
                    <a:pt x="100233" y="0"/>
                  </a:lnTo>
                  <a:lnTo>
                    <a:pt x="115823" y="1356"/>
                  </a:lnTo>
                  <a:lnTo>
                    <a:pt x="158495" y="16261"/>
                  </a:lnTo>
                  <a:lnTo>
                    <a:pt x="188975" y="46070"/>
                  </a:lnTo>
                  <a:lnTo>
                    <a:pt x="199811" y="84673"/>
                  </a:lnTo>
                  <a:lnTo>
                    <a:pt x="198455" y="98221"/>
                  </a:lnTo>
                  <a:lnTo>
                    <a:pt x="180837" y="134797"/>
                  </a:lnTo>
                  <a:lnTo>
                    <a:pt x="144947" y="160538"/>
                  </a:lnTo>
                  <a:lnTo>
                    <a:pt x="100233" y="170017"/>
                  </a:lnTo>
                  <a:lnTo>
                    <a:pt x="84658" y="168661"/>
                  </a:lnTo>
                  <a:lnTo>
                    <a:pt x="41315" y="153756"/>
                  </a:lnTo>
                  <a:lnTo>
                    <a:pt x="10835" y="123276"/>
                  </a:lnTo>
                  <a:lnTo>
                    <a:pt x="0" y="84673"/>
                  </a:lnTo>
                </a:path>
              </a:pathLst>
            </a:custGeom>
            <a:ln w="564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964012" y="3941592"/>
              <a:ext cx="200025" cy="170180"/>
            </a:xfrm>
            <a:custGeom>
              <a:avLst/>
              <a:gdLst/>
              <a:ahLst/>
              <a:cxnLst/>
              <a:rect l="l" t="t" r="r" b="b"/>
              <a:pathLst>
                <a:path w="200025" h="170179">
                  <a:moveTo>
                    <a:pt x="99562" y="0"/>
                  </a:moveTo>
                  <a:lnTo>
                    <a:pt x="54863" y="9494"/>
                  </a:lnTo>
                  <a:lnTo>
                    <a:pt x="18958" y="35219"/>
                  </a:lnTo>
                  <a:lnTo>
                    <a:pt x="1356" y="71795"/>
                  </a:lnTo>
                  <a:lnTo>
                    <a:pt x="0" y="84673"/>
                  </a:lnTo>
                  <a:lnTo>
                    <a:pt x="1356" y="98221"/>
                  </a:lnTo>
                  <a:lnTo>
                    <a:pt x="18958" y="134797"/>
                  </a:lnTo>
                  <a:lnTo>
                    <a:pt x="54863" y="160538"/>
                  </a:lnTo>
                  <a:lnTo>
                    <a:pt x="99562" y="170017"/>
                  </a:lnTo>
                  <a:lnTo>
                    <a:pt x="115138" y="168661"/>
                  </a:lnTo>
                  <a:lnTo>
                    <a:pt x="158495" y="153756"/>
                  </a:lnTo>
                  <a:lnTo>
                    <a:pt x="188975" y="123276"/>
                  </a:lnTo>
                  <a:lnTo>
                    <a:pt x="199811" y="84673"/>
                  </a:lnTo>
                  <a:lnTo>
                    <a:pt x="198455" y="71795"/>
                  </a:lnTo>
                  <a:lnTo>
                    <a:pt x="180853" y="35219"/>
                  </a:lnTo>
                  <a:lnTo>
                    <a:pt x="144947" y="9494"/>
                  </a:lnTo>
                  <a:lnTo>
                    <a:pt x="9956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964012" y="3941592"/>
              <a:ext cx="200025" cy="170180"/>
            </a:xfrm>
            <a:custGeom>
              <a:avLst/>
              <a:gdLst/>
              <a:ahLst/>
              <a:cxnLst/>
              <a:rect l="l" t="t" r="r" b="b"/>
              <a:pathLst>
                <a:path w="200025" h="170179">
                  <a:moveTo>
                    <a:pt x="0" y="84673"/>
                  </a:moveTo>
                  <a:lnTo>
                    <a:pt x="10835" y="46070"/>
                  </a:lnTo>
                  <a:lnTo>
                    <a:pt x="41315" y="16261"/>
                  </a:lnTo>
                  <a:lnTo>
                    <a:pt x="83987" y="1356"/>
                  </a:lnTo>
                  <a:lnTo>
                    <a:pt x="99562" y="0"/>
                  </a:lnTo>
                  <a:lnTo>
                    <a:pt x="115138" y="1356"/>
                  </a:lnTo>
                  <a:lnTo>
                    <a:pt x="158495" y="16261"/>
                  </a:lnTo>
                  <a:lnTo>
                    <a:pt x="188975" y="46070"/>
                  </a:lnTo>
                  <a:lnTo>
                    <a:pt x="199811" y="84673"/>
                  </a:lnTo>
                  <a:lnTo>
                    <a:pt x="198455" y="98221"/>
                  </a:lnTo>
                  <a:lnTo>
                    <a:pt x="180853" y="134797"/>
                  </a:lnTo>
                  <a:lnTo>
                    <a:pt x="144947" y="160538"/>
                  </a:lnTo>
                  <a:lnTo>
                    <a:pt x="99562" y="170017"/>
                  </a:lnTo>
                  <a:lnTo>
                    <a:pt x="83987" y="168661"/>
                  </a:lnTo>
                  <a:lnTo>
                    <a:pt x="41315" y="153756"/>
                  </a:lnTo>
                  <a:lnTo>
                    <a:pt x="10835" y="123276"/>
                  </a:lnTo>
                  <a:lnTo>
                    <a:pt x="0" y="84673"/>
                  </a:lnTo>
                </a:path>
              </a:pathLst>
            </a:custGeom>
            <a:ln w="564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0" name="object 11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843595" y="4752250"/>
              <a:ext cx="205456" cy="175661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961190" y="4752250"/>
              <a:ext cx="205456" cy="175661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2046229" y="4026265"/>
              <a:ext cx="880110" cy="0"/>
            </a:xfrm>
            <a:custGeom>
              <a:avLst/>
              <a:gdLst/>
              <a:ahLst/>
              <a:cxnLst/>
              <a:rect l="l" t="t" r="r" b="b"/>
              <a:pathLst>
                <a:path w="880110" h="0">
                  <a:moveTo>
                    <a:pt x="0" y="0"/>
                  </a:moveTo>
                  <a:lnTo>
                    <a:pt x="35219" y="0"/>
                  </a:lnTo>
                </a:path>
                <a:path w="880110" h="0">
                  <a:moveTo>
                    <a:pt x="70439" y="0"/>
                  </a:moveTo>
                  <a:lnTo>
                    <a:pt x="105658" y="0"/>
                  </a:lnTo>
                </a:path>
                <a:path w="880110" h="0">
                  <a:moveTo>
                    <a:pt x="140878" y="0"/>
                  </a:moveTo>
                  <a:lnTo>
                    <a:pt x="176098" y="0"/>
                  </a:lnTo>
                </a:path>
                <a:path w="880110" h="0">
                  <a:moveTo>
                    <a:pt x="211317" y="0"/>
                  </a:moveTo>
                  <a:lnTo>
                    <a:pt x="246537" y="0"/>
                  </a:lnTo>
                </a:path>
                <a:path w="880110" h="0">
                  <a:moveTo>
                    <a:pt x="281772" y="0"/>
                  </a:moveTo>
                  <a:lnTo>
                    <a:pt x="316991" y="0"/>
                  </a:lnTo>
                </a:path>
                <a:path w="880110" h="0">
                  <a:moveTo>
                    <a:pt x="352211" y="0"/>
                  </a:moveTo>
                  <a:lnTo>
                    <a:pt x="387431" y="0"/>
                  </a:lnTo>
                </a:path>
                <a:path w="880110" h="0">
                  <a:moveTo>
                    <a:pt x="422650" y="0"/>
                  </a:moveTo>
                  <a:lnTo>
                    <a:pt x="457870" y="0"/>
                  </a:lnTo>
                </a:path>
                <a:path w="880110" h="0">
                  <a:moveTo>
                    <a:pt x="493090" y="0"/>
                  </a:moveTo>
                  <a:lnTo>
                    <a:pt x="528309" y="0"/>
                  </a:lnTo>
                </a:path>
                <a:path w="880110" h="0">
                  <a:moveTo>
                    <a:pt x="562858" y="0"/>
                  </a:moveTo>
                  <a:lnTo>
                    <a:pt x="598078" y="0"/>
                  </a:lnTo>
                </a:path>
                <a:path w="880110" h="0">
                  <a:moveTo>
                    <a:pt x="633298" y="0"/>
                  </a:moveTo>
                  <a:lnTo>
                    <a:pt x="668517" y="0"/>
                  </a:lnTo>
                </a:path>
                <a:path w="880110" h="0">
                  <a:moveTo>
                    <a:pt x="703737" y="0"/>
                  </a:moveTo>
                  <a:lnTo>
                    <a:pt x="738972" y="0"/>
                  </a:lnTo>
                </a:path>
                <a:path w="880110" h="0">
                  <a:moveTo>
                    <a:pt x="774191" y="0"/>
                  </a:moveTo>
                  <a:lnTo>
                    <a:pt x="809411" y="0"/>
                  </a:lnTo>
                </a:path>
                <a:path w="880110" h="0">
                  <a:moveTo>
                    <a:pt x="844631" y="0"/>
                  </a:moveTo>
                  <a:lnTo>
                    <a:pt x="879850" y="0"/>
                  </a:lnTo>
                </a:path>
              </a:pathLst>
            </a:custGeom>
            <a:ln w="1693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2961299" y="4026265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 h="0">
                  <a:moveTo>
                    <a:pt x="1356" y="-8466"/>
                  </a:moveTo>
                  <a:lnTo>
                    <a:pt x="1356" y="8466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3055452" y="4111606"/>
              <a:ext cx="43815" cy="643890"/>
            </a:xfrm>
            <a:custGeom>
              <a:avLst/>
              <a:gdLst/>
              <a:ahLst/>
              <a:cxnLst/>
              <a:rect l="l" t="t" r="r" b="b"/>
              <a:pathLst>
                <a:path w="43814" h="643889">
                  <a:moveTo>
                    <a:pt x="43349" y="0"/>
                  </a:moveTo>
                  <a:lnTo>
                    <a:pt x="0" y="0"/>
                  </a:lnTo>
                  <a:lnTo>
                    <a:pt x="0" y="643466"/>
                  </a:lnTo>
                  <a:lnTo>
                    <a:pt x="43349" y="643466"/>
                  </a:lnTo>
                  <a:lnTo>
                    <a:pt x="43349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2521717" y="5059202"/>
              <a:ext cx="0" cy="106045"/>
            </a:xfrm>
            <a:custGeom>
              <a:avLst/>
              <a:gdLst/>
              <a:ahLst/>
              <a:cxnLst/>
              <a:rect l="l" t="t" r="r" b="b"/>
              <a:pathLst>
                <a:path w="0" h="106045">
                  <a:moveTo>
                    <a:pt x="0" y="105658"/>
                  </a:moveTo>
                  <a:lnTo>
                    <a:pt x="0" y="70439"/>
                  </a:lnTo>
                </a:path>
                <a:path w="0" h="106045">
                  <a:moveTo>
                    <a:pt x="0" y="35219"/>
                  </a:moveTo>
                  <a:lnTo>
                    <a:pt x="0" y="0"/>
                  </a:lnTo>
                </a:path>
              </a:pathLst>
            </a:custGeom>
            <a:ln w="1693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2521031" y="4988747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69" h="35560">
                  <a:moveTo>
                    <a:pt x="342" y="-8466"/>
                  </a:moveTo>
                  <a:lnTo>
                    <a:pt x="342" y="43701"/>
                  </a:lnTo>
                </a:path>
              </a:pathLst>
            </a:custGeom>
            <a:ln w="1761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2520360" y="4566096"/>
              <a:ext cx="1270" cy="387985"/>
            </a:xfrm>
            <a:custGeom>
              <a:avLst/>
              <a:gdLst/>
              <a:ahLst/>
              <a:cxnLst/>
              <a:rect l="l" t="t" r="r" b="b"/>
              <a:pathLst>
                <a:path w="1269" h="387985">
                  <a:moveTo>
                    <a:pt x="670" y="387431"/>
                  </a:moveTo>
                  <a:lnTo>
                    <a:pt x="670" y="352211"/>
                  </a:lnTo>
                </a:path>
                <a:path w="1269" h="387985">
                  <a:moveTo>
                    <a:pt x="670" y="316991"/>
                  </a:moveTo>
                  <a:lnTo>
                    <a:pt x="670" y="281772"/>
                  </a:lnTo>
                </a:path>
                <a:path w="1269" h="387985">
                  <a:moveTo>
                    <a:pt x="670" y="246552"/>
                  </a:moveTo>
                  <a:lnTo>
                    <a:pt x="670" y="211333"/>
                  </a:lnTo>
                </a:path>
                <a:path w="1269" h="387985">
                  <a:moveTo>
                    <a:pt x="670" y="176113"/>
                  </a:moveTo>
                  <a:lnTo>
                    <a:pt x="670" y="140893"/>
                  </a:lnTo>
                </a:path>
                <a:path w="1269" h="387985">
                  <a:moveTo>
                    <a:pt x="0" y="105658"/>
                  </a:moveTo>
                  <a:lnTo>
                    <a:pt x="0" y="70439"/>
                  </a:lnTo>
                </a:path>
                <a:path w="1269" h="387985">
                  <a:moveTo>
                    <a:pt x="0" y="35219"/>
                  </a:moveTo>
                  <a:lnTo>
                    <a:pt x="0" y="0"/>
                  </a:lnTo>
                </a:path>
              </a:pathLst>
            </a:custGeom>
            <a:ln w="1693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2520360" y="4519355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4">
                  <a:moveTo>
                    <a:pt x="-8466" y="5760"/>
                  </a:moveTo>
                  <a:lnTo>
                    <a:pt x="8466" y="5760"/>
                  </a:lnTo>
                </a:path>
              </a:pathLst>
            </a:custGeom>
            <a:ln w="115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1946650" y="4111609"/>
              <a:ext cx="0" cy="598170"/>
            </a:xfrm>
            <a:custGeom>
              <a:avLst/>
              <a:gdLst/>
              <a:ahLst/>
              <a:cxnLst/>
              <a:rect l="l" t="t" r="r" b="b"/>
              <a:pathLst>
                <a:path w="0" h="598170">
                  <a:moveTo>
                    <a:pt x="0" y="0"/>
                  </a:moveTo>
                  <a:lnTo>
                    <a:pt x="0" y="35219"/>
                  </a:lnTo>
                </a:path>
                <a:path w="0" h="598170">
                  <a:moveTo>
                    <a:pt x="0" y="70439"/>
                  </a:moveTo>
                  <a:lnTo>
                    <a:pt x="0" y="105658"/>
                  </a:lnTo>
                </a:path>
                <a:path w="0" h="598170">
                  <a:moveTo>
                    <a:pt x="0" y="140878"/>
                  </a:moveTo>
                  <a:lnTo>
                    <a:pt x="0" y="175427"/>
                  </a:lnTo>
                </a:path>
                <a:path w="0" h="598170">
                  <a:moveTo>
                    <a:pt x="0" y="210647"/>
                  </a:moveTo>
                  <a:lnTo>
                    <a:pt x="0" y="245866"/>
                  </a:lnTo>
                </a:path>
                <a:path w="0" h="598170">
                  <a:moveTo>
                    <a:pt x="0" y="281086"/>
                  </a:moveTo>
                  <a:lnTo>
                    <a:pt x="0" y="316306"/>
                  </a:lnTo>
                </a:path>
                <a:path w="0" h="598170">
                  <a:moveTo>
                    <a:pt x="0" y="351541"/>
                  </a:moveTo>
                  <a:lnTo>
                    <a:pt x="0" y="386760"/>
                  </a:lnTo>
                </a:path>
                <a:path w="0" h="598170">
                  <a:moveTo>
                    <a:pt x="0" y="421980"/>
                  </a:moveTo>
                  <a:lnTo>
                    <a:pt x="0" y="457199"/>
                  </a:lnTo>
                </a:path>
                <a:path w="0" h="598170">
                  <a:moveTo>
                    <a:pt x="0" y="492419"/>
                  </a:moveTo>
                  <a:lnTo>
                    <a:pt x="0" y="527639"/>
                  </a:lnTo>
                </a:path>
                <a:path w="0" h="598170">
                  <a:moveTo>
                    <a:pt x="0" y="562858"/>
                  </a:moveTo>
                  <a:lnTo>
                    <a:pt x="0" y="598078"/>
                  </a:lnTo>
                </a:path>
              </a:pathLst>
            </a:custGeom>
            <a:ln w="1693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1946650" y="474490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60">
                  <a:moveTo>
                    <a:pt x="-8466" y="5082"/>
                  </a:moveTo>
                  <a:lnTo>
                    <a:pt x="8466" y="5082"/>
                  </a:lnTo>
                </a:path>
              </a:pathLst>
            </a:custGeom>
            <a:ln w="1016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1" name="object 121"/>
          <p:cNvSpPr txBox="1"/>
          <p:nvPr/>
        </p:nvSpPr>
        <p:spPr>
          <a:xfrm>
            <a:off x="1924303" y="3942450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80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920239" y="4756605"/>
            <a:ext cx="635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800">
              <a:latin typeface="Arial"/>
              <a:cs typeface="Arial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3038516" y="3942451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24" name="object 124"/>
          <p:cNvGrpSpPr/>
          <p:nvPr/>
        </p:nvGrpSpPr>
        <p:grpSpPr>
          <a:xfrm>
            <a:off x="2417925" y="4346496"/>
            <a:ext cx="204470" cy="175895"/>
            <a:chOff x="2417925" y="4346496"/>
            <a:chExt cx="204470" cy="175895"/>
          </a:xfrm>
        </p:grpSpPr>
        <p:sp>
          <p:nvSpPr>
            <p:cNvPr id="125" name="object 125"/>
            <p:cNvSpPr/>
            <p:nvPr/>
          </p:nvSpPr>
          <p:spPr>
            <a:xfrm>
              <a:off x="2420782" y="4349353"/>
              <a:ext cx="198755" cy="170180"/>
            </a:xfrm>
            <a:custGeom>
              <a:avLst/>
              <a:gdLst/>
              <a:ahLst/>
              <a:cxnLst/>
              <a:rect l="l" t="t" r="r" b="b"/>
              <a:pathLst>
                <a:path w="198755" h="170179">
                  <a:moveTo>
                    <a:pt x="99578" y="0"/>
                  </a:moveTo>
                  <a:lnTo>
                    <a:pt x="54193" y="9479"/>
                  </a:lnTo>
                  <a:lnTo>
                    <a:pt x="18973" y="35219"/>
                  </a:lnTo>
                  <a:lnTo>
                    <a:pt x="685" y="71795"/>
                  </a:lnTo>
                  <a:lnTo>
                    <a:pt x="0" y="85343"/>
                  </a:lnTo>
                  <a:lnTo>
                    <a:pt x="685" y="98206"/>
                  </a:lnTo>
                  <a:lnTo>
                    <a:pt x="18973" y="134782"/>
                  </a:lnTo>
                  <a:lnTo>
                    <a:pt x="54193" y="160522"/>
                  </a:lnTo>
                  <a:lnTo>
                    <a:pt x="99578" y="170002"/>
                  </a:lnTo>
                  <a:lnTo>
                    <a:pt x="115153" y="168661"/>
                  </a:lnTo>
                  <a:lnTo>
                    <a:pt x="158495" y="153756"/>
                  </a:lnTo>
                  <a:lnTo>
                    <a:pt x="187634" y="123946"/>
                  </a:lnTo>
                  <a:lnTo>
                    <a:pt x="198470" y="85343"/>
                  </a:lnTo>
                  <a:lnTo>
                    <a:pt x="197784" y="71795"/>
                  </a:lnTo>
                  <a:lnTo>
                    <a:pt x="179496" y="35219"/>
                  </a:lnTo>
                  <a:lnTo>
                    <a:pt x="144962" y="9479"/>
                  </a:lnTo>
                  <a:lnTo>
                    <a:pt x="9957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2420782" y="4349353"/>
              <a:ext cx="198755" cy="170180"/>
            </a:xfrm>
            <a:custGeom>
              <a:avLst/>
              <a:gdLst/>
              <a:ahLst/>
              <a:cxnLst/>
              <a:rect l="l" t="t" r="r" b="b"/>
              <a:pathLst>
                <a:path w="198755" h="170179">
                  <a:moveTo>
                    <a:pt x="0" y="85343"/>
                  </a:moveTo>
                  <a:lnTo>
                    <a:pt x="10850" y="46741"/>
                  </a:lnTo>
                  <a:lnTo>
                    <a:pt x="40645" y="16261"/>
                  </a:lnTo>
                  <a:lnTo>
                    <a:pt x="84002" y="1356"/>
                  </a:lnTo>
                  <a:lnTo>
                    <a:pt x="99578" y="0"/>
                  </a:lnTo>
                  <a:lnTo>
                    <a:pt x="115153" y="1356"/>
                  </a:lnTo>
                  <a:lnTo>
                    <a:pt x="158495" y="16261"/>
                  </a:lnTo>
                  <a:lnTo>
                    <a:pt x="187634" y="46741"/>
                  </a:lnTo>
                  <a:lnTo>
                    <a:pt x="198470" y="85343"/>
                  </a:lnTo>
                  <a:lnTo>
                    <a:pt x="197784" y="98206"/>
                  </a:lnTo>
                  <a:lnTo>
                    <a:pt x="179496" y="134782"/>
                  </a:lnTo>
                  <a:lnTo>
                    <a:pt x="144962" y="160522"/>
                  </a:lnTo>
                  <a:lnTo>
                    <a:pt x="99578" y="170002"/>
                  </a:lnTo>
                  <a:lnTo>
                    <a:pt x="84002" y="168661"/>
                  </a:lnTo>
                  <a:lnTo>
                    <a:pt x="40645" y="153756"/>
                  </a:lnTo>
                  <a:lnTo>
                    <a:pt x="10850" y="123946"/>
                  </a:lnTo>
                  <a:lnTo>
                    <a:pt x="0" y="85343"/>
                  </a:lnTo>
                </a:path>
              </a:pathLst>
            </a:custGeom>
            <a:ln w="564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7" name="object 127"/>
          <p:cNvSpPr txBox="1"/>
          <p:nvPr/>
        </p:nvSpPr>
        <p:spPr>
          <a:xfrm>
            <a:off x="2488525" y="4343427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28" name="object 128"/>
          <p:cNvGrpSpPr/>
          <p:nvPr/>
        </p:nvGrpSpPr>
        <p:grpSpPr>
          <a:xfrm>
            <a:off x="1995832" y="4066911"/>
            <a:ext cx="1007110" cy="1271270"/>
            <a:chOff x="1995832" y="4066911"/>
            <a:chExt cx="1007110" cy="1271270"/>
          </a:xfrm>
        </p:grpSpPr>
        <p:sp>
          <p:nvSpPr>
            <p:cNvPr id="129" name="object 129"/>
            <p:cNvSpPr/>
            <p:nvPr/>
          </p:nvSpPr>
          <p:spPr>
            <a:xfrm>
              <a:off x="2004913" y="4068937"/>
              <a:ext cx="454025" cy="330200"/>
            </a:xfrm>
            <a:custGeom>
              <a:avLst/>
              <a:gdLst/>
              <a:ahLst/>
              <a:cxnLst/>
              <a:rect l="l" t="t" r="r" b="b"/>
              <a:pathLst>
                <a:path w="454025" h="330200">
                  <a:moveTo>
                    <a:pt x="24383" y="0"/>
                  </a:moveTo>
                  <a:lnTo>
                    <a:pt x="0" y="35219"/>
                  </a:lnTo>
                  <a:lnTo>
                    <a:pt x="429417" y="329854"/>
                  </a:lnTo>
                  <a:lnTo>
                    <a:pt x="453801" y="294634"/>
                  </a:lnTo>
                  <a:lnTo>
                    <a:pt x="2438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2600279" y="4488205"/>
              <a:ext cx="399415" cy="287655"/>
            </a:xfrm>
            <a:custGeom>
              <a:avLst/>
              <a:gdLst/>
              <a:ahLst/>
              <a:cxnLst/>
              <a:rect l="l" t="t" r="r" b="b"/>
              <a:pathLst>
                <a:path w="399414" h="287654">
                  <a:moveTo>
                    <a:pt x="0" y="0"/>
                  </a:moveTo>
                  <a:lnTo>
                    <a:pt x="398952" y="287182"/>
                  </a:lnTo>
                </a:path>
              </a:pathLst>
            </a:custGeom>
            <a:ln w="564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2588087" y="4066911"/>
              <a:ext cx="414655" cy="328295"/>
            </a:xfrm>
            <a:custGeom>
              <a:avLst/>
              <a:gdLst/>
              <a:ahLst/>
              <a:cxnLst/>
              <a:rect l="l" t="t" r="r" b="b"/>
              <a:pathLst>
                <a:path w="414655" h="328295">
                  <a:moveTo>
                    <a:pt x="388787" y="0"/>
                  </a:moveTo>
                  <a:lnTo>
                    <a:pt x="0" y="293949"/>
                  </a:lnTo>
                  <a:lnTo>
                    <a:pt x="25069" y="327827"/>
                  </a:lnTo>
                  <a:lnTo>
                    <a:pt x="414527" y="33863"/>
                  </a:lnTo>
                  <a:lnTo>
                    <a:pt x="388787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2017105" y="4483465"/>
              <a:ext cx="428625" cy="297180"/>
            </a:xfrm>
            <a:custGeom>
              <a:avLst/>
              <a:gdLst/>
              <a:ahLst/>
              <a:cxnLst/>
              <a:rect l="l" t="t" r="r" b="b"/>
              <a:pathLst>
                <a:path w="428625" h="297179">
                  <a:moveTo>
                    <a:pt x="428061" y="0"/>
                  </a:moveTo>
                  <a:lnTo>
                    <a:pt x="0" y="296677"/>
                  </a:lnTo>
                </a:path>
              </a:pathLst>
            </a:custGeom>
            <a:ln w="4233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3" name="object 13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419316" y="5162039"/>
              <a:ext cx="204785" cy="175661"/>
            </a:xfrm>
            <a:prstGeom prst="rect">
              <a:avLst/>
            </a:prstGeom>
          </p:spPr>
        </p:pic>
      </p:grpSp>
      <p:sp>
        <p:nvSpPr>
          <p:cNvPr id="134" name="object 134"/>
          <p:cNvSpPr txBox="1"/>
          <p:nvPr/>
        </p:nvSpPr>
        <p:spPr>
          <a:xfrm>
            <a:off x="2493262" y="5150804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35" name="object 135"/>
          <p:cNvGrpSpPr/>
          <p:nvPr/>
        </p:nvGrpSpPr>
        <p:grpSpPr>
          <a:xfrm>
            <a:off x="1990350" y="3653053"/>
            <a:ext cx="1023619" cy="1576705"/>
            <a:chOff x="1990350" y="3653053"/>
            <a:chExt cx="1023619" cy="1576705"/>
          </a:xfrm>
        </p:grpSpPr>
        <p:sp>
          <p:nvSpPr>
            <p:cNvPr id="136" name="object 136"/>
            <p:cNvSpPr/>
            <p:nvPr/>
          </p:nvSpPr>
          <p:spPr>
            <a:xfrm>
              <a:off x="1996104" y="4889184"/>
              <a:ext cx="441325" cy="340360"/>
            </a:xfrm>
            <a:custGeom>
              <a:avLst/>
              <a:gdLst/>
              <a:ahLst/>
              <a:cxnLst/>
              <a:rect l="l" t="t" r="r" b="b"/>
              <a:pathLst>
                <a:path w="441325" h="340360">
                  <a:moveTo>
                    <a:pt x="25740" y="0"/>
                  </a:moveTo>
                  <a:lnTo>
                    <a:pt x="0" y="33863"/>
                  </a:lnTo>
                  <a:lnTo>
                    <a:pt x="415198" y="340019"/>
                  </a:lnTo>
                  <a:lnTo>
                    <a:pt x="440938" y="306156"/>
                  </a:lnTo>
                  <a:lnTo>
                    <a:pt x="2574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7" name="object 137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610100" y="4923390"/>
              <a:ext cx="377953" cy="290582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2570485" y="3653053"/>
              <a:ext cx="443230" cy="325120"/>
            </a:xfrm>
            <a:custGeom>
              <a:avLst/>
              <a:gdLst/>
              <a:ahLst/>
              <a:cxnLst/>
              <a:rect l="l" t="t" r="r" b="b"/>
              <a:pathLst>
                <a:path w="443230" h="325120">
                  <a:moveTo>
                    <a:pt x="23698" y="0"/>
                  </a:moveTo>
                  <a:lnTo>
                    <a:pt x="0" y="35219"/>
                  </a:lnTo>
                  <a:lnTo>
                    <a:pt x="418581" y="325114"/>
                  </a:lnTo>
                  <a:lnTo>
                    <a:pt x="442965" y="289895"/>
                  </a:lnTo>
                  <a:lnTo>
                    <a:pt x="2369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9" name="object 139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990350" y="3657449"/>
              <a:ext cx="444994" cy="314296"/>
            </a:xfrm>
            <a:prstGeom prst="rect">
              <a:avLst/>
            </a:prstGeom>
          </p:spPr>
        </p:pic>
      </p:grpSp>
      <p:sp>
        <p:nvSpPr>
          <p:cNvPr id="140" name="object 140"/>
          <p:cNvSpPr txBox="1"/>
          <p:nvPr/>
        </p:nvSpPr>
        <p:spPr>
          <a:xfrm>
            <a:off x="2833965" y="5021442"/>
            <a:ext cx="1257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26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41" name="object 141"/>
          <p:cNvGrpSpPr/>
          <p:nvPr/>
        </p:nvGrpSpPr>
        <p:grpSpPr>
          <a:xfrm>
            <a:off x="4031373" y="3524242"/>
            <a:ext cx="1064895" cy="1005840"/>
            <a:chOff x="4031373" y="3524242"/>
            <a:chExt cx="1064895" cy="1005840"/>
          </a:xfrm>
        </p:grpSpPr>
        <p:sp>
          <p:nvSpPr>
            <p:cNvPr id="142" name="object 142"/>
            <p:cNvSpPr/>
            <p:nvPr/>
          </p:nvSpPr>
          <p:spPr>
            <a:xfrm>
              <a:off x="4794168" y="4352066"/>
              <a:ext cx="302260" cy="177800"/>
            </a:xfrm>
            <a:custGeom>
              <a:avLst/>
              <a:gdLst/>
              <a:ahLst/>
              <a:cxnLst/>
              <a:rect l="l" t="t" r="r" b="b"/>
              <a:pathLst>
                <a:path w="302260" h="177800">
                  <a:moveTo>
                    <a:pt x="0" y="0"/>
                  </a:moveTo>
                  <a:lnTo>
                    <a:pt x="50794" y="88727"/>
                  </a:lnTo>
                  <a:lnTo>
                    <a:pt x="0" y="177454"/>
                  </a:lnTo>
                  <a:lnTo>
                    <a:pt x="235701" y="111084"/>
                  </a:lnTo>
                  <a:lnTo>
                    <a:pt x="226222" y="165262"/>
                  </a:lnTo>
                  <a:lnTo>
                    <a:pt x="302087" y="88727"/>
                  </a:lnTo>
                  <a:lnTo>
                    <a:pt x="226222" y="12191"/>
                  </a:lnTo>
                  <a:lnTo>
                    <a:pt x="235701" y="663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4794168" y="4352066"/>
              <a:ext cx="302260" cy="177800"/>
            </a:xfrm>
            <a:custGeom>
              <a:avLst/>
              <a:gdLst/>
              <a:ahLst/>
              <a:cxnLst/>
              <a:rect l="l" t="t" r="r" b="b"/>
              <a:pathLst>
                <a:path w="302260" h="177800">
                  <a:moveTo>
                    <a:pt x="302087" y="88727"/>
                  </a:moveTo>
                  <a:lnTo>
                    <a:pt x="226222" y="165262"/>
                  </a:lnTo>
                  <a:lnTo>
                    <a:pt x="235701" y="111084"/>
                  </a:lnTo>
                  <a:lnTo>
                    <a:pt x="0" y="177454"/>
                  </a:lnTo>
                  <a:lnTo>
                    <a:pt x="50794" y="88727"/>
                  </a:lnTo>
                  <a:lnTo>
                    <a:pt x="0" y="0"/>
                  </a:lnTo>
                  <a:lnTo>
                    <a:pt x="235701" y="66370"/>
                  </a:lnTo>
                  <a:lnTo>
                    <a:pt x="226222" y="12191"/>
                  </a:lnTo>
                  <a:lnTo>
                    <a:pt x="302087" y="88727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4" name="object 14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031373" y="3524242"/>
              <a:ext cx="204785" cy="175661"/>
            </a:xfrm>
            <a:prstGeom prst="rect">
              <a:avLst/>
            </a:prstGeom>
          </p:spPr>
        </p:pic>
      </p:grpSp>
      <p:sp>
        <p:nvSpPr>
          <p:cNvPr id="145" name="object 145"/>
          <p:cNvSpPr txBox="1"/>
          <p:nvPr/>
        </p:nvSpPr>
        <p:spPr>
          <a:xfrm>
            <a:off x="4095837" y="3515731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46" name="object 146"/>
          <p:cNvGrpSpPr/>
          <p:nvPr/>
        </p:nvGrpSpPr>
        <p:grpSpPr>
          <a:xfrm>
            <a:off x="3472533" y="3938734"/>
            <a:ext cx="1323340" cy="1235075"/>
            <a:chOff x="3472533" y="3938734"/>
            <a:chExt cx="1323340" cy="1235075"/>
          </a:xfrm>
        </p:grpSpPr>
        <p:sp>
          <p:nvSpPr>
            <p:cNvPr id="147" name="object 147"/>
            <p:cNvSpPr/>
            <p:nvPr/>
          </p:nvSpPr>
          <p:spPr>
            <a:xfrm>
              <a:off x="3475390" y="3941592"/>
              <a:ext cx="200025" cy="170180"/>
            </a:xfrm>
            <a:custGeom>
              <a:avLst/>
              <a:gdLst/>
              <a:ahLst/>
              <a:cxnLst/>
              <a:rect l="l" t="t" r="r" b="b"/>
              <a:pathLst>
                <a:path w="200025" h="170179">
                  <a:moveTo>
                    <a:pt x="100248" y="0"/>
                  </a:moveTo>
                  <a:lnTo>
                    <a:pt x="54863" y="9494"/>
                  </a:lnTo>
                  <a:lnTo>
                    <a:pt x="18973" y="35219"/>
                  </a:lnTo>
                  <a:lnTo>
                    <a:pt x="1356" y="71795"/>
                  </a:lnTo>
                  <a:lnTo>
                    <a:pt x="0" y="84673"/>
                  </a:lnTo>
                  <a:lnTo>
                    <a:pt x="1356" y="98221"/>
                  </a:lnTo>
                  <a:lnTo>
                    <a:pt x="18973" y="134797"/>
                  </a:lnTo>
                  <a:lnTo>
                    <a:pt x="54863" y="160538"/>
                  </a:lnTo>
                  <a:lnTo>
                    <a:pt x="100248" y="170017"/>
                  </a:lnTo>
                  <a:lnTo>
                    <a:pt x="115823" y="168661"/>
                  </a:lnTo>
                  <a:lnTo>
                    <a:pt x="158495" y="153756"/>
                  </a:lnTo>
                  <a:lnTo>
                    <a:pt x="188975" y="123276"/>
                  </a:lnTo>
                  <a:lnTo>
                    <a:pt x="199826" y="84673"/>
                  </a:lnTo>
                  <a:lnTo>
                    <a:pt x="198470" y="71795"/>
                  </a:lnTo>
                  <a:lnTo>
                    <a:pt x="180853" y="35219"/>
                  </a:lnTo>
                  <a:lnTo>
                    <a:pt x="145633" y="9494"/>
                  </a:lnTo>
                  <a:lnTo>
                    <a:pt x="10024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3475390" y="3941592"/>
              <a:ext cx="200025" cy="170180"/>
            </a:xfrm>
            <a:custGeom>
              <a:avLst/>
              <a:gdLst/>
              <a:ahLst/>
              <a:cxnLst/>
              <a:rect l="l" t="t" r="r" b="b"/>
              <a:pathLst>
                <a:path w="200025" h="170179">
                  <a:moveTo>
                    <a:pt x="0" y="84673"/>
                  </a:moveTo>
                  <a:lnTo>
                    <a:pt x="10850" y="46070"/>
                  </a:lnTo>
                  <a:lnTo>
                    <a:pt x="41330" y="16261"/>
                  </a:lnTo>
                  <a:lnTo>
                    <a:pt x="84673" y="1356"/>
                  </a:lnTo>
                  <a:lnTo>
                    <a:pt x="100248" y="0"/>
                  </a:lnTo>
                  <a:lnTo>
                    <a:pt x="115823" y="1356"/>
                  </a:lnTo>
                  <a:lnTo>
                    <a:pt x="158495" y="16261"/>
                  </a:lnTo>
                  <a:lnTo>
                    <a:pt x="188975" y="46070"/>
                  </a:lnTo>
                  <a:lnTo>
                    <a:pt x="199826" y="84673"/>
                  </a:lnTo>
                  <a:lnTo>
                    <a:pt x="198470" y="98221"/>
                  </a:lnTo>
                  <a:lnTo>
                    <a:pt x="180853" y="134797"/>
                  </a:lnTo>
                  <a:lnTo>
                    <a:pt x="145633" y="160538"/>
                  </a:lnTo>
                  <a:lnTo>
                    <a:pt x="100248" y="170017"/>
                  </a:lnTo>
                  <a:lnTo>
                    <a:pt x="84673" y="168661"/>
                  </a:lnTo>
                  <a:lnTo>
                    <a:pt x="41330" y="153756"/>
                  </a:lnTo>
                  <a:lnTo>
                    <a:pt x="10850" y="123276"/>
                  </a:lnTo>
                  <a:lnTo>
                    <a:pt x="0" y="84673"/>
                  </a:lnTo>
                </a:path>
              </a:pathLst>
            </a:custGeom>
            <a:ln w="564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4593000" y="3941592"/>
              <a:ext cx="200025" cy="170180"/>
            </a:xfrm>
            <a:custGeom>
              <a:avLst/>
              <a:gdLst/>
              <a:ahLst/>
              <a:cxnLst/>
              <a:rect l="l" t="t" r="r" b="b"/>
              <a:pathLst>
                <a:path w="200025" h="170179">
                  <a:moveTo>
                    <a:pt x="100248" y="0"/>
                  </a:moveTo>
                  <a:lnTo>
                    <a:pt x="54863" y="9494"/>
                  </a:lnTo>
                  <a:lnTo>
                    <a:pt x="18958" y="35219"/>
                  </a:lnTo>
                  <a:lnTo>
                    <a:pt x="1356" y="71795"/>
                  </a:lnTo>
                  <a:lnTo>
                    <a:pt x="0" y="84673"/>
                  </a:lnTo>
                  <a:lnTo>
                    <a:pt x="1356" y="98221"/>
                  </a:lnTo>
                  <a:lnTo>
                    <a:pt x="18958" y="134797"/>
                  </a:lnTo>
                  <a:lnTo>
                    <a:pt x="54863" y="160538"/>
                  </a:lnTo>
                  <a:lnTo>
                    <a:pt x="100248" y="170017"/>
                  </a:lnTo>
                  <a:lnTo>
                    <a:pt x="115823" y="168661"/>
                  </a:lnTo>
                  <a:lnTo>
                    <a:pt x="158495" y="153756"/>
                  </a:lnTo>
                  <a:lnTo>
                    <a:pt x="188975" y="123276"/>
                  </a:lnTo>
                  <a:lnTo>
                    <a:pt x="199811" y="84673"/>
                  </a:lnTo>
                  <a:lnTo>
                    <a:pt x="198455" y="71795"/>
                  </a:lnTo>
                  <a:lnTo>
                    <a:pt x="180837" y="35219"/>
                  </a:lnTo>
                  <a:lnTo>
                    <a:pt x="145618" y="9494"/>
                  </a:lnTo>
                  <a:lnTo>
                    <a:pt x="10024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4593000" y="3941592"/>
              <a:ext cx="200025" cy="170180"/>
            </a:xfrm>
            <a:custGeom>
              <a:avLst/>
              <a:gdLst/>
              <a:ahLst/>
              <a:cxnLst/>
              <a:rect l="l" t="t" r="r" b="b"/>
              <a:pathLst>
                <a:path w="200025" h="170179">
                  <a:moveTo>
                    <a:pt x="0" y="84673"/>
                  </a:moveTo>
                  <a:lnTo>
                    <a:pt x="10835" y="46070"/>
                  </a:lnTo>
                  <a:lnTo>
                    <a:pt x="41315" y="16261"/>
                  </a:lnTo>
                  <a:lnTo>
                    <a:pt x="84658" y="1356"/>
                  </a:lnTo>
                  <a:lnTo>
                    <a:pt x="100248" y="0"/>
                  </a:lnTo>
                  <a:lnTo>
                    <a:pt x="115823" y="1356"/>
                  </a:lnTo>
                  <a:lnTo>
                    <a:pt x="158495" y="16261"/>
                  </a:lnTo>
                  <a:lnTo>
                    <a:pt x="188975" y="46070"/>
                  </a:lnTo>
                  <a:lnTo>
                    <a:pt x="199811" y="84673"/>
                  </a:lnTo>
                  <a:lnTo>
                    <a:pt x="198455" y="98221"/>
                  </a:lnTo>
                  <a:lnTo>
                    <a:pt x="180837" y="134797"/>
                  </a:lnTo>
                  <a:lnTo>
                    <a:pt x="145618" y="160538"/>
                  </a:lnTo>
                  <a:lnTo>
                    <a:pt x="100248" y="170017"/>
                  </a:lnTo>
                  <a:lnTo>
                    <a:pt x="84658" y="168661"/>
                  </a:lnTo>
                  <a:lnTo>
                    <a:pt x="41315" y="153756"/>
                  </a:lnTo>
                  <a:lnTo>
                    <a:pt x="10835" y="123276"/>
                  </a:lnTo>
                  <a:lnTo>
                    <a:pt x="0" y="84673"/>
                  </a:lnTo>
                </a:path>
              </a:pathLst>
            </a:custGeom>
            <a:ln w="564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1" name="object 15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472568" y="4752250"/>
              <a:ext cx="205471" cy="175661"/>
            </a:xfrm>
            <a:prstGeom prst="rect">
              <a:avLst/>
            </a:prstGeom>
          </p:spPr>
        </p:pic>
        <p:pic>
          <p:nvPicPr>
            <p:cNvPr id="152" name="object 15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590178" y="4752250"/>
              <a:ext cx="205456" cy="175661"/>
            </a:xfrm>
            <a:prstGeom prst="rect">
              <a:avLst/>
            </a:prstGeom>
          </p:spPr>
        </p:pic>
        <p:sp>
          <p:nvSpPr>
            <p:cNvPr id="153" name="object 153"/>
            <p:cNvSpPr/>
            <p:nvPr/>
          </p:nvSpPr>
          <p:spPr>
            <a:xfrm>
              <a:off x="3675217" y="4026265"/>
              <a:ext cx="880110" cy="0"/>
            </a:xfrm>
            <a:custGeom>
              <a:avLst/>
              <a:gdLst/>
              <a:ahLst/>
              <a:cxnLst/>
              <a:rect l="l" t="t" r="r" b="b"/>
              <a:pathLst>
                <a:path w="880110" h="0">
                  <a:moveTo>
                    <a:pt x="0" y="0"/>
                  </a:moveTo>
                  <a:lnTo>
                    <a:pt x="35219" y="0"/>
                  </a:lnTo>
                </a:path>
                <a:path w="880110" h="0">
                  <a:moveTo>
                    <a:pt x="70439" y="0"/>
                  </a:moveTo>
                  <a:lnTo>
                    <a:pt x="105658" y="0"/>
                  </a:lnTo>
                </a:path>
                <a:path w="880110" h="0">
                  <a:moveTo>
                    <a:pt x="140878" y="0"/>
                  </a:moveTo>
                  <a:lnTo>
                    <a:pt x="176098" y="0"/>
                  </a:lnTo>
                </a:path>
                <a:path w="880110" h="0">
                  <a:moveTo>
                    <a:pt x="211317" y="0"/>
                  </a:moveTo>
                  <a:lnTo>
                    <a:pt x="246537" y="0"/>
                  </a:lnTo>
                </a:path>
                <a:path w="880110" h="0">
                  <a:moveTo>
                    <a:pt x="281757" y="0"/>
                  </a:moveTo>
                  <a:lnTo>
                    <a:pt x="316991" y="0"/>
                  </a:lnTo>
                </a:path>
                <a:path w="880110" h="0">
                  <a:moveTo>
                    <a:pt x="352211" y="0"/>
                  </a:moveTo>
                  <a:lnTo>
                    <a:pt x="387431" y="0"/>
                  </a:lnTo>
                </a:path>
                <a:path w="880110" h="0">
                  <a:moveTo>
                    <a:pt x="422650" y="0"/>
                  </a:moveTo>
                  <a:lnTo>
                    <a:pt x="457199" y="0"/>
                  </a:lnTo>
                </a:path>
                <a:path w="880110" h="0">
                  <a:moveTo>
                    <a:pt x="492419" y="0"/>
                  </a:moveTo>
                  <a:lnTo>
                    <a:pt x="527639" y="0"/>
                  </a:lnTo>
                </a:path>
                <a:path w="880110" h="0">
                  <a:moveTo>
                    <a:pt x="562858" y="0"/>
                  </a:moveTo>
                  <a:lnTo>
                    <a:pt x="598078" y="0"/>
                  </a:lnTo>
                </a:path>
                <a:path w="880110" h="0">
                  <a:moveTo>
                    <a:pt x="633298" y="0"/>
                  </a:moveTo>
                  <a:lnTo>
                    <a:pt x="668517" y="0"/>
                  </a:lnTo>
                </a:path>
                <a:path w="880110" h="0">
                  <a:moveTo>
                    <a:pt x="703737" y="0"/>
                  </a:moveTo>
                  <a:lnTo>
                    <a:pt x="738957" y="0"/>
                  </a:lnTo>
                </a:path>
                <a:path w="880110" h="0">
                  <a:moveTo>
                    <a:pt x="774191" y="0"/>
                  </a:moveTo>
                  <a:lnTo>
                    <a:pt x="809411" y="0"/>
                  </a:lnTo>
                </a:path>
                <a:path w="880110" h="0">
                  <a:moveTo>
                    <a:pt x="844631" y="0"/>
                  </a:moveTo>
                  <a:lnTo>
                    <a:pt x="879850" y="0"/>
                  </a:lnTo>
                </a:path>
              </a:pathLst>
            </a:custGeom>
            <a:ln w="1693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4590287" y="4026265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 h="0">
                  <a:moveTo>
                    <a:pt x="1356" y="-8466"/>
                  </a:moveTo>
                  <a:lnTo>
                    <a:pt x="1356" y="8466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4671562" y="4111606"/>
              <a:ext cx="43815" cy="643890"/>
            </a:xfrm>
            <a:custGeom>
              <a:avLst/>
              <a:gdLst/>
              <a:ahLst/>
              <a:cxnLst/>
              <a:rect l="l" t="t" r="r" b="b"/>
              <a:pathLst>
                <a:path w="43814" h="643889">
                  <a:moveTo>
                    <a:pt x="43349" y="0"/>
                  </a:moveTo>
                  <a:lnTo>
                    <a:pt x="0" y="0"/>
                  </a:lnTo>
                  <a:lnTo>
                    <a:pt x="0" y="643466"/>
                  </a:lnTo>
                  <a:lnTo>
                    <a:pt x="43349" y="643466"/>
                  </a:lnTo>
                  <a:lnTo>
                    <a:pt x="43349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4150705" y="4566096"/>
              <a:ext cx="0" cy="598805"/>
            </a:xfrm>
            <a:custGeom>
              <a:avLst/>
              <a:gdLst/>
              <a:ahLst/>
              <a:cxnLst/>
              <a:rect l="l" t="t" r="r" b="b"/>
              <a:pathLst>
                <a:path w="0" h="598804">
                  <a:moveTo>
                    <a:pt x="0" y="598764"/>
                  </a:moveTo>
                  <a:lnTo>
                    <a:pt x="0" y="563544"/>
                  </a:lnTo>
                </a:path>
                <a:path w="0" h="598804">
                  <a:moveTo>
                    <a:pt x="0" y="528325"/>
                  </a:moveTo>
                  <a:lnTo>
                    <a:pt x="0" y="493105"/>
                  </a:lnTo>
                </a:path>
                <a:path w="0" h="598804">
                  <a:moveTo>
                    <a:pt x="0" y="457885"/>
                  </a:moveTo>
                  <a:lnTo>
                    <a:pt x="0" y="422650"/>
                  </a:lnTo>
                </a:path>
                <a:path w="0" h="598804">
                  <a:moveTo>
                    <a:pt x="0" y="387431"/>
                  </a:moveTo>
                  <a:lnTo>
                    <a:pt x="0" y="352211"/>
                  </a:lnTo>
                </a:path>
                <a:path w="0" h="598804">
                  <a:moveTo>
                    <a:pt x="0" y="316991"/>
                  </a:moveTo>
                  <a:lnTo>
                    <a:pt x="0" y="281772"/>
                  </a:lnTo>
                </a:path>
                <a:path w="0" h="598804">
                  <a:moveTo>
                    <a:pt x="0" y="246552"/>
                  </a:moveTo>
                  <a:lnTo>
                    <a:pt x="0" y="211333"/>
                  </a:lnTo>
                </a:path>
                <a:path w="0" h="598804">
                  <a:moveTo>
                    <a:pt x="0" y="176113"/>
                  </a:moveTo>
                  <a:lnTo>
                    <a:pt x="0" y="140893"/>
                  </a:lnTo>
                </a:path>
                <a:path w="0" h="598804">
                  <a:moveTo>
                    <a:pt x="0" y="105658"/>
                  </a:moveTo>
                  <a:lnTo>
                    <a:pt x="0" y="70439"/>
                  </a:lnTo>
                </a:path>
                <a:path w="0" h="598804">
                  <a:moveTo>
                    <a:pt x="0" y="35219"/>
                  </a:moveTo>
                  <a:lnTo>
                    <a:pt x="0" y="0"/>
                  </a:lnTo>
                </a:path>
              </a:pathLst>
            </a:custGeom>
            <a:ln w="1693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4150705" y="4519355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4">
                  <a:moveTo>
                    <a:pt x="-8466" y="5760"/>
                  </a:moveTo>
                  <a:lnTo>
                    <a:pt x="8466" y="5760"/>
                  </a:lnTo>
                </a:path>
              </a:pathLst>
            </a:custGeom>
            <a:ln w="115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3575639" y="4111609"/>
              <a:ext cx="0" cy="598170"/>
            </a:xfrm>
            <a:custGeom>
              <a:avLst/>
              <a:gdLst/>
              <a:ahLst/>
              <a:cxnLst/>
              <a:rect l="l" t="t" r="r" b="b"/>
              <a:pathLst>
                <a:path w="0" h="598170">
                  <a:moveTo>
                    <a:pt x="0" y="0"/>
                  </a:moveTo>
                  <a:lnTo>
                    <a:pt x="0" y="35219"/>
                  </a:lnTo>
                </a:path>
                <a:path w="0" h="598170">
                  <a:moveTo>
                    <a:pt x="0" y="70439"/>
                  </a:moveTo>
                  <a:lnTo>
                    <a:pt x="0" y="105658"/>
                  </a:lnTo>
                </a:path>
                <a:path w="0" h="598170">
                  <a:moveTo>
                    <a:pt x="0" y="140878"/>
                  </a:moveTo>
                  <a:lnTo>
                    <a:pt x="0" y="175427"/>
                  </a:lnTo>
                </a:path>
                <a:path w="0" h="598170">
                  <a:moveTo>
                    <a:pt x="0" y="210647"/>
                  </a:moveTo>
                  <a:lnTo>
                    <a:pt x="0" y="245866"/>
                  </a:lnTo>
                </a:path>
                <a:path w="0" h="598170">
                  <a:moveTo>
                    <a:pt x="0" y="281086"/>
                  </a:moveTo>
                  <a:lnTo>
                    <a:pt x="0" y="316306"/>
                  </a:lnTo>
                </a:path>
                <a:path w="0" h="598170">
                  <a:moveTo>
                    <a:pt x="0" y="351541"/>
                  </a:moveTo>
                  <a:lnTo>
                    <a:pt x="0" y="386760"/>
                  </a:lnTo>
                </a:path>
                <a:path w="0" h="598170">
                  <a:moveTo>
                    <a:pt x="0" y="421980"/>
                  </a:moveTo>
                  <a:lnTo>
                    <a:pt x="0" y="457199"/>
                  </a:lnTo>
                </a:path>
                <a:path w="0" h="598170">
                  <a:moveTo>
                    <a:pt x="0" y="492419"/>
                  </a:moveTo>
                  <a:lnTo>
                    <a:pt x="0" y="527639"/>
                  </a:lnTo>
                </a:path>
                <a:path w="0" h="598170">
                  <a:moveTo>
                    <a:pt x="0" y="562858"/>
                  </a:moveTo>
                  <a:lnTo>
                    <a:pt x="0" y="598078"/>
                  </a:lnTo>
                </a:path>
              </a:pathLst>
            </a:custGeom>
            <a:ln w="1693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3575639" y="474490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60">
                  <a:moveTo>
                    <a:pt x="-8466" y="5082"/>
                  </a:moveTo>
                  <a:lnTo>
                    <a:pt x="8466" y="5082"/>
                  </a:lnTo>
                </a:path>
              </a:pathLst>
            </a:custGeom>
            <a:ln w="1016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0" name="object 160"/>
          <p:cNvSpPr txBox="1"/>
          <p:nvPr/>
        </p:nvSpPr>
        <p:spPr>
          <a:xfrm>
            <a:off x="3553293" y="3942450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800">
              <a:latin typeface="Arial"/>
              <a:cs typeface="Arial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4674957" y="4765411"/>
            <a:ext cx="412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800">
              <a:latin typeface="Arial"/>
              <a:cs typeface="Arial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4667506" y="3942451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63" name="object 163"/>
          <p:cNvGrpSpPr/>
          <p:nvPr/>
        </p:nvGrpSpPr>
        <p:grpSpPr>
          <a:xfrm>
            <a:off x="4046913" y="4346496"/>
            <a:ext cx="205104" cy="175895"/>
            <a:chOff x="4046913" y="4346496"/>
            <a:chExt cx="205104" cy="175895"/>
          </a:xfrm>
        </p:grpSpPr>
        <p:sp>
          <p:nvSpPr>
            <p:cNvPr id="164" name="object 164"/>
            <p:cNvSpPr/>
            <p:nvPr/>
          </p:nvSpPr>
          <p:spPr>
            <a:xfrm>
              <a:off x="4049770" y="4349353"/>
              <a:ext cx="199390" cy="170180"/>
            </a:xfrm>
            <a:custGeom>
              <a:avLst/>
              <a:gdLst/>
              <a:ahLst/>
              <a:cxnLst/>
              <a:rect l="l" t="t" r="r" b="b"/>
              <a:pathLst>
                <a:path w="199389" h="170179">
                  <a:moveTo>
                    <a:pt x="98892" y="0"/>
                  </a:moveTo>
                  <a:lnTo>
                    <a:pt x="54193" y="9479"/>
                  </a:lnTo>
                  <a:lnTo>
                    <a:pt x="18973" y="35219"/>
                  </a:lnTo>
                  <a:lnTo>
                    <a:pt x="1356" y="71795"/>
                  </a:lnTo>
                  <a:lnTo>
                    <a:pt x="0" y="85343"/>
                  </a:lnTo>
                  <a:lnTo>
                    <a:pt x="1356" y="98206"/>
                  </a:lnTo>
                  <a:lnTo>
                    <a:pt x="18973" y="134782"/>
                  </a:lnTo>
                  <a:lnTo>
                    <a:pt x="54193" y="160522"/>
                  </a:lnTo>
                  <a:lnTo>
                    <a:pt x="98892" y="170002"/>
                  </a:lnTo>
                  <a:lnTo>
                    <a:pt x="114467" y="168661"/>
                  </a:lnTo>
                  <a:lnTo>
                    <a:pt x="157825" y="153756"/>
                  </a:lnTo>
                  <a:lnTo>
                    <a:pt x="187619" y="123946"/>
                  </a:lnTo>
                  <a:lnTo>
                    <a:pt x="199141" y="85343"/>
                  </a:lnTo>
                  <a:lnTo>
                    <a:pt x="197784" y="71795"/>
                  </a:lnTo>
                  <a:lnTo>
                    <a:pt x="179496" y="35219"/>
                  </a:lnTo>
                  <a:lnTo>
                    <a:pt x="144277" y="9479"/>
                  </a:lnTo>
                  <a:lnTo>
                    <a:pt x="9889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4049770" y="4349353"/>
              <a:ext cx="199390" cy="170180"/>
            </a:xfrm>
            <a:custGeom>
              <a:avLst/>
              <a:gdLst/>
              <a:ahLst/>
              <a:cxnLst/>
              <a:rect l="l" t="t" r="r" b="b"/>
              <a:pathLst>
                <a:path w="199389" h="170179">
                  <a:moveTo>
                    <a:pt x="0" y="85343"/>
                  </a:moveTo>
                  <a:lnTo>
                    <a:pt x="10835" y="46741"/>
                  </a:lnTo>
                  <a:lnTo>
                    <a:pt x="40645" y="16261"/>
                  </a:lnTo>
                  <a:lnTo>
                    <a:pt x="83317" y="1356"/>
                  </a:lnTo>
                  <a:lnTo>
                    <a:pt x="98892" y="0"/>
                  </a:lnTo>
                  <a:lnTo>
                    <a:pt x="114467" y="1356"/>
                  </a:lnTo>
                  <a:lnTo>
                    <a:pt x="157825" y="16261"/>
                  </a:lnTo>
                  <a:lnTo>
                    <a:pt x="187619" y="46741"/>
                  </a:lnTo>
                  <a:lnTo>
                    <a:pt x="199141" y="85343"/>
                  </a:lnTo>
                  <a:lnTo>
                    <a:pt x="197784" y="98206"/>
                  </a:lnTo>
                  <a:lnTo>
                    <a:pt x="179496" y="134782"/>
                  </a:lnTo>
                  <a:lnTo>
                    <a:pt x="144277" y="160522"/>
                  </a:lnTo>
                  <a:lnTo>
                    <a:pt x="98892" y="170002"/>
                  </a:lnTo>
                  <a:lnTo>
                    <a:pt x="83317" y="168661"/>
                  </a:lnTo>
                  <a:lnTo>
                    <a:pt x="40645" y="153756"/>
                  </a:lnTo>
                  <a:lnTo>
                    <a:pt x="10835" y="123946"/>
                  </a:lnTo>
                  <a:lnTo>
                    <a:pt x="0" y="85343"/>
                  </a:lnTo>
                </a:path>
              </a:pathLst>
            </a:custGeom>
            <a:ln w="564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6" name="object 166"/>
          <p:cNvSpPr txBox="1"/>
          <p:nvPr/>
        </p:nvSpPr>
        <p:spPr>
          <a:xfrm>
            <a:off x="4116830" y="4343427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67" name="object 167"/>
          <p:cNvGrpSpPr/>
          <p:nvPr/>
        </p:nvGrpSpPr>
        <p:grpSpPr>
          <a:xfrm>
            <a:off x="3624805" y="4066911"/>
            <a:ext cx="1007744" cy="734695"/>
            <a:chOff x="3624805" y="4066911"/>
            <a:chExt cx="1007744" cy="734695"/>
          </a:xfrm>
        </p:grpSpPr>
        <p:sp>
          <p:nvSpPr>
            <p:cNvPr id="168" name="object 168"/>
            <p:cNvSpPr/>
            <p:nvPr/>
          </p:nvSpPr>
          <p:spPr>
            <a:xfrm>
              <a:off x="3633886" y="4068937"/>
              <a:ext cx="454025" cy="330200"/>
            </a:xfrm>
            <a:custGeom>
              <a:avLst/>
              <a:gdLst/>
              <a:ahLst/>
              <a:cxnLst/>
              <a:rect l="l" t="t" r="r" b="b"/>
              <a:pathLst>
                <a:path w="454025" h="330200">
                  <a:moveTo>
                    <a:pt x="24383" y="0"/>
                  </a:moveTo>
                  <a:lnTo>
                    <a:pt x="0" y="35219"/>
                  </a:lnTo>
                  <a:lnTo>
                    <a:pt x="429432" y="329854"/>
                  </a:lnTo>
                  <a:lnTo>
                    <a:pt x="453816" y="294634"/>
                  </a:lnTo>
                  <a:lnTo>
                    <a:pt x="2438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9" name="object 16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221486" y="4479738"/>
              <a:ext cx="386747" cy="283800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4217075" y="4066911"/>
              <a:ext cx="415290" cy="328295"/>
            </a:xfrm>
            <a:custGeom>
              <a:avLst/>
              <a:gdLst/>
              <a:ahLst/>
              <a:cxnLst/>
              <a:rect l="l" t="t" r="r" b="b"/>
              <a:pathLst>
                <a:path w="415289" h="328295">
                  <a:moveTo>
                    <a:pt x="389473" y="0"/>
                  </a:moveTo>
                  <a:lnTo>
                    <a:pt x="0" y="293949"/>
                  </a:lnTo>
                  <a:lnTo>
                    <a:pt x="25740" y="327827"/>
                  </a:lnTo>
                  <a:lnTo>
                    <a:pt x="415213" y="33863"/>
                  </a:lnTo>
                  <a:lnTo>
                    <a:pt x="38947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3646078" y="4483465"/>
              <a:ext cx="428625" cy="297180"/>
            </a:xfrm>
            <a:custGeom>
              <a:avLst/>
              <a:gdLst/>
              <a:ahLst/>
              <a:cxnLst/>
              <a:rect l="l" t="t" r="r" b="b"/>
              <a:pathLst>
                <a:path w="428625" h="297179">
                  <a:moveTo>
                    <a:pt x="428076" y="0"/>
                  </a:moveTo>
                  <a:lnTo>
                    <a:pt x="0" y="296677"/>
                  </a:lnTo>
                </a:path>
              </a:pathLst>
            </a:custGeom>
            <a:ln w="4233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2" name="object 172"/>
          <p:cNvSpPr txBox="1"/>
          <p:nvPr/>
        </p:nvSpPr>
        <p:spPr>
          <a:xfrm>
            <a:off x="2766909" y="4487699"/>
            <a:ext cx="1755775" cy="4254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1629410" algn="l"/>
              </a:tabLst>
            </a:pP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30</a:t>
            </a: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800" spc="-5" i="1">
                <a:solidFill>
                  <a:srgbClr val="FFFF00"/>
                </a:solidFill>
                <a:latin typeface="Arial"/>
                <a:cs typeface="Arial"/>
              </a:rPr>
              <a:t>30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50">
              <a:latin typeface="Arial"/>
              <a:cs typeface="Arial"/>
            </a:endParaRPr>
          </a:p>
          <a:p>
            <a:pPr marL="278765">
              <a:lnSpc>
                <a:spcPct val="100000"/>
              </a:lnSpc>
              <a:spcBef>
                <a:spcPts val="5"/>
              </a:spcBef>
              <a:tabLst>
                <a:tab pos="781685" algn="l"/>
              </a:tabLst>
            </a:pPr>
            <a:r>
              <a:rPr dirty="0" sz="800">
                <a:solidFill>
                  <a:srgbClr val="FFFF00"/>
                </a:solidFill>
                <a:latin typeface="Arial"/>
                <a:cs typeface="Arial"/>
              </a:rPr>
              <a:t>f	</a:t>
            </a:r>
            <a:r>
              <a:rPr dirty="0" baseline="3472" sz="1200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baseline="3472" sz="1200">
              <a:latin typeface="Arial"/>
              <a:cs typeface="Arial"/>
            </a:endParaRPr>
          </a:p>
        </p:txBody>
      </p:sp>
      <p:pic>
        <p:nvPicPr>
          <p:cNvPr id="173" name="object 173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4048304" y="5162039"/>
            <a:ext cx="204785" cy="175661"/>
          </a:xfrm>
          <a:prstGeom prst="rect">
            <a:avLst/>
          </a:prstGeom>
        </p:spPr>
      </p:pic>
      <p:sp>
        <p:nvSpPr>
          <p:cNvPr id="174" name="object 174"/>
          <p:cNvSpPr txBox="1"/>
          <p:nvPr/>
        </p:nvSpPr>
        <p:spPr>
          <a:xfrm>
            <a:off x="4121567" y="5150804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75" name="object 175"/>
          <p:cNvGrpSpPr/>
          <p:nvPr/>
        </p:nvGrpSpPr>
        <p:grpSpPr>
          <a:xfrm>
            <a:off x="3619323" y="3524242"/>
            <a:ext cx="2199005" cy="1704975"/>
            <a:chOff x="3619323" y="3524242"/>
            <a:chExt cx="2199005" cy="1704975"/>
          </a:xfrm>
        </p:grpSpPr>
        <p:sp>
          <p:nvSpPr>
            <p:cNvPr id="176" name="object 176"/>
            <p:cNvSpPr/>
            <p:nvPr/>
          </p:nvSpPr>
          <p:spPr>
            <a:xfrm>
              <a:off x="3625092" y="4889185"/>
              <a:ext cx="441325" cy="340360"/>
            </a:xfrm>
            <a:custGeom>
              <a:avLst/>
              <a:gdLst/>
              <a:ahLst/>
              <a:cxnLst/>
              <a:rect l="l" t="t" r="r" b="b"/>
              <a:pathLst>
                <a:path w="441325" h="340360">
                  <a:moveTo>
                    <a:pt x="25740" y="0"/>
                  </a:moveTo>
                  <a:lnTo>
                    <a:pt x="0" y="33863"/>
                  </a:lnTo>
                  <a:lnTo>
                    <a:pt x="415198" y="340019"/>
                  </a:lnTo>
                  <a:lnTo>
                    <a:pt x="440938" y="306156"/>
                  </a:lnTo>
                  <a:lnTo>
                    <a:pt x="2574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7" name="object 177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239774" y="4923390"/>
              <a:ext cx="377938" cy="290582"/>
            </a:xfrm>
            <a:prstGeom prst="rect">
              <a:avLst/>
            </a:prstGeom>
          </p:spPr>
        </p:pic>
        <p:sp>
          <p:nvSpPr>
            <p:cNvPr id="178" name="object 178"/>
            <p:cNvSpPr/>
            <p:nvPr/>
          </p:nvSpPr>
          <p:spPr>
            <a:xfrm>
              <a:off x="4199473" y="3653053"/>
              <a:ext cx="443230" cy="325120"/>
            </a:xfrm>
            <a:custGeom>
              <a:avLst/>
              <a:gdLst/>
              <a:ahLst/>
              <a:cxnLst/>
              <a:rect l="l" t="t" r="r" b="b"/>
              <a:pathLst>
                <a:path w="443229" h="325120">
                  <a:moveTo>
                    <a:pt x="24383" y="0"/>
                  </a:moveTo>
                  <a:lnTo>
                    <a:pt x="0" y="35219"/>
                  </a:lnTo>
                  <a:lnTo>
                    <a:pt x="418581" y="325114"/>
                  </a:lnTo>
                  <a:lnTo>
                    <a:pt x="442965" y="289895"/>
                  </a:lnTo>
                  <a:lnTo>
                    <a:pt x="2438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9" name="object 179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3619323" y="3657449"/>
              <a:ext cx="445009" cy="314296"/>
            </a:xfrm>
            <a:prstGeom prst="rect">
              <a:avLst/>
            </a:prstGeom>
          </p:spPr>
        </p:pic>
        <p:pic>
          <p:nvPicPr>
            <p:cNvPr id="180" name="object 180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612264" y="3524242"/>
              <a:ext cx="205471" cy="175661"/>
            </a:xfrm>
            <a:prstGeom prst="rect">
              <a:avLst/>
            </a:prstGeom>
          </p:spPr>
        </p:pic>
      </p:grpSp>
      <p:sp>
        <p:nvSpPr>
          <p:cNvPr id="181" name="object 181"/>
          <p:cNvSpPr txBox="1"/>
          <p:nvPr/>
        </p:nvSpPr>
        <p:spPr>
          <a:xfrm>
            <a:off x="5676046" y="3515731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82" name="object 182"/>
          <p:cNvGrpSpPr/>
          <p:nvPr/>
        </p:nvGrpSpPr>
        <p:grpSpPr>
          <a:xfrm>
            <a:off x="5054109" y="3938734"/>
            <a:ext cx="1323340" cy="1235075"/>
            <a:chOff x="5054109" y="3938734"/>
            <a:chExt cx="1323340" cy="1235075"/>
          </a:xfrm>
        </p:grpSpPr>
        <p:sp>
          <p:nvSpPr>
            <p:cNvPr id="183" name="object 183"/>
            <p:cNvSpPr/>
            <p:nvPr/>
          </p:nvSpPr>
          <p:spPr>
            <a:xfrm>
              <a:off x="5056967" y="3941592"/>
              <a:ext cx="200025" cy="170180"/>
            </a:xfrm>
            <a:custGeom>
              <a:avLst/>
              <a:gdLst/>
              <a:ahLst/>
              <a:cxnLst/>
              <a:rect l="l" t="t" r="r" b="b"/>
              <a:pathLst>
                <a:path w="200025" h="170179">
                  <a:moveTo>
                    <a:pt x="99578" y="0"/>
                  </a:moveTo>
                  <a:lnTo>
                    <a:pt x="54193" y="9494"/>
                  </a:lnTo>
                  <a:lnTo>
                    <a:pt x="18973" y="35219"/>
                  </a:lnTo>
                  <a:lnTo>
                    <a:pt x="1356" y="71795"/>
                  </a:lnTo>
                  <a:lnTo>
                    <a:pt x="0" y="84673"/>
                  </a:lnTo>
                  <a:lnTo>
                    <a:pt x="1356" y="98221"/>
                  </a:lnTo>
                  <a:lnTo>
                    <a:pt x="18973" y="134797"/>
                  </a:lnTo>
                  <a:lnTo>
                    <a:pt x="54193" y="160538"/>
                  </a:lnTo>
                  <a:lnTo>
                    <a:pt x="99578" y="170017"/>
                  </a:lnTo>
                  <a:lnTo>
                    <a:pt x="115153" y="168661"/>
                  </a:lnTo>
                  <a:lnTo>
                    <a:pt x="158495" y="153756"/>
                  </a:lnTo>
                  <a:lnTo>
                    <a:pt x="188975" y="123276"/>
                  </a:lnTo>
                  <a:lnTo>
                    <a:pt x="199811" y="84673"/>
                  </a:lnTo>
                  <a:lnTo>
                    <a:pt x="198455" y="71795"/>
                  </a:lnTo>
                  <a:lnTo>
                    <a:pt x="180853" y="35219"/>
                  </a:lnTo>
                  <a:lnTo>
                    <a:pt x="144947" y="9494"/>
                  </a:lnTo>
                  <a:lnTo>
                    <a:pt x="9957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5056967" y="3941592"/>
              <a:ext cx="200025" cy="170180"/>
            </a:xfrm>
            <a:custGeom>
              <a:avLst/>
              <a:gdLst/>
              <a:ahLst/>
              <a:cxnLst/>
              <a:rect l="l" t="t" r="r" b="b"/>
              <a:pathLst>
                <a:path w="200025" h="170179">
                  <a:moveTo>
                    <a:pt x="0" y="84673"/>
                  </a:moveTo>
                  <a:lnTo>
                    <a:pt x="10835" y="46070"/>
                  </a:lnTo>
                  <a:lnTo>
                    <a:pt x="41315" y="16261"/>
                  </a:lnTo>
                  <a:lnTo>
                    <a:pt x="83987" y="1356"/>
                  </a:lnTo>
                  <a:lnTo>
                    <a:pt x="99578" y="0"/>
                  </a:lnTo>
                  <a:lnTo>
                    <a:pt x="115153" y="1356"/>
                  </a:lnTo>
                  <a:lnTo>
                    <a:pt x="158495" y="16261"/>
                  </a:lnTo>
                  <a:lnTo>
                    <a:pt x="188975" y="46070"/>
                  </a:lnTo>
                  <a:lnTo>
                    <a:pt x="199811" y="84673"/>
                  </a:lnTo>
                  <a:lnTo>
                    <a:pt x="198455" y="98221"/>
                  </a:lnTo>
                  <a:lnTo>
                    <a:pt x="180853" y="134797"/>
                  </a:lnTo>
                  <a:lnTo>
                    <a:pt x="144947" y="160538"/>
                  </a:lnTo>
                  <a:lnTo>
                    <a:pt x="99578" y="170017"/>
                  </a:lnTo>
                  <a:lnTo>
                    <a:pt x="83987" y="168661"/>
                  </a:lnTo>
                  <a:lnTo>
                    <a:pt x="41315" y="153756"/>
                  </a:lnTo>
                  <a:lnTo>
                    <a:pt x="10835" y="123276"/>
                  </a:lnTo>
                  <a:lnTo>
                    <a:pt x="0" y="84673"/>
                  </a:lnTo>
                </a:path>
              </a:pathLst>
            </a:custGeom>
            <a:ln w="564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6174577" y="3941592"/>
              <a:ext cx="200025" cy="170180"/>
            </a:xfrm>
            <a:custGeom>
              <a:avLst/>
              <a:gdLst/>
              <a:ahLst/>
              <a:cxnLst/>
              <a:rect l="l" t="t" r="r" b="b"/>
              <a:pathLst>
                <a:path w="200025" h="170179">
                  <a:moveTo>
                    <a:pt x="99562" y="0"/>
                  </a:moveTo>
                  <a:lnTo>
                    <a:pt x="54178" y="9494"/>
                  </a:lnTo>
                  <a:lnTo>
                    <a:pt x="18958" y="35219"/>
                  </a:lnTo>
                  <a:lnTo>
                    <a:pt x="1341" y="71795"/>
                  </a:lnTo>
                  <a:lnTo>
                    <a:pt x="0" y="84673"/>
                  </a:lnTo>
                  <a:lnTo>
                    <a:pt x="1341" y="98221"/>
                  </a:lnTo>
                  <a:lnTo>
                    <a:pt x="18958" y="134797"/>
                  </a:lnTo>
                  <a:lnTo>
                    <a:pt x="54178" y="160538"/>
                  </a:lnTo>
                  <a:lnTo>
                    <a:pt x="99562" y="170017"/>
                  </a:lnTo>
                  <a:lnTo>
                    <a:pt x="115138" y="168661"/>
                  </a:lnTo>
                  <a:lnTo>
                    <a:pt x="158495" y="153756"/>
                  </a:lnTo>
                  <a:lnTo>
                    <a:pt x="188290" y="123276"/>
                  </a:lnTo>
                  <a:lnTo>
                    <a:pt x="199811" y="84673"/>
                  </a:lnTo>
                  <a:lnTo>
                    <a:pt x="198455" y="71795"/>
                  </a:lnTo>
                  <a:lnTo>
                    <a:pt x="180167" y="35219"/>
                  </a:lnTo>
                  <a:lnTo>
                    <a:pt x="144947" y="9494"/>
                  </a:lnTo>
                  <a:lnTo>
                    <a:pt x="9956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6174577" y="3941592"/>
              <a:ext cx="200025" cy="170180"/>
            </a:xfrm>
            <a:custGeom>
              <a:avLst/>
              <a:gdLst/>
              <a:ahLst/>
              <a:cxnLst/>
              <a:rect l="l" t="t" r="r" b="b"/>
              <a:pathLst>
                <a:path w="200025" h="170179">
                  <a:moveTo>
                    <a:pt x="0" y="84673"/>
                  </a:moveTo>
                  <a:lnTo>
                    <a:pt x="10835" y="46070"/>
                  </a:lnTo>
                  <a:lnTo>
                    <a:pt x="41315" y="16261"/>
                  </a:lnTo>
                  <a:lnTo>
                    <a:pt x="83987" y="1356"/>
                  </a:lnTo>
                  <a:lnTo>
                    <a:pt x="99562" y="0"/>
                  </a:lnTo>
                  <a:lnTo>
                    <a:pt x="115138" y="1356"/>
                  </a:lnTo>
                  <a:lnTo>
                    <a:pt x="158495" y="16261"/>
                  </a:lnTo>
                  <a:lnTo>
                    <a:pt x="188290" y="46070"/>
                  </a:lnTo>
                  <a:lnTo>
                    <a:pt x="199811" y="84673"/>
                  </a:lnTo>
                  <a:lnTo>
                    <a:pt x="198455" y="98221"/>
                  </a:lnTo>
                  <a:lnTo>
                    <a:pt x="180167" y="134797"/>
                  </a:lnTo>
                  <a:lnTo>
                    <a:pt x="144947" y="160538"/>
                  </a:lnTo>
                  <a:lnTo>
                    <a:pt x="99562" y="170017"/>
                  </a:lnTo>
                  <a:lnTo>
                    <a:pt x="83987" y="168661"/>
                  </a:lnTo>
                  <a:lnTo>
                    <a:pt x="41315" y="153756"/>
                  </a:lnTo>
                  <a:lnTo>
                    <a:pt x="10835" y="123276"/>
                  </a:lnTo>
                  <a:lnTo>
                    <a:pt x="0" y="84673"/>
                  </a:lnTo>
                </a:path>
              </a:pathLst>
            </a:custGeom>
            <a:ln w="564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7" name="object 187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054145" y="4752250"/>
              <a:ext cx="205456" cy="175661"/>
            </a:xfrm>
            <a:prstGeom prst="rect">
              <a:avLst/>
            </a:prstGeom>
          </p:spPr>
        </p:pic>
        <p:pic>
          <p:nvPicPr>
            <p:cNvPr id="188" name="object 18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6171755" y="4752250"/>
              <a:ext cx="205456" cy="175661"/>
            </a:xfrm>
            <a:prstGeom prst="rect">
              <a:avLst/>
            </a:prstGeom>
          </p:spPr>
        </p:pic>
        <p:sp>
          <p:nvSpPr>
            <p:cNvPr id="189" name="object 189"/>
            <p:cNvSpPr/>
            <p:nvPr/>
          </p:nvSpPr>
          <p:spPr>
            <a:xfrm>
              <a:off x="5256778" y="4026265"/>
              <a:ext cx="880110" cy="0"/>
            </a:xfrm>
            <a:custGeom>
              <a:avLst/>
              <a:gdLst/>
              <a:ahLst/>
              <a:cxnLst/>
              <a:rect l="l" t="t" r="r" b="b"/>
              <a:pathLst>
                <a:path w="880110" h="0">
                  <a:moveTo>
                    <a:pt x="0" y="0"/>
                  </a:moveTo>
                  <a:lnTo>
                    <a:pt x="35219" y="0"/>
                  </a:lnTo>
                </a:path>
                <a:path w="880110" h="0">
                  <a:moveTo>
                    <a:pt x="70454" y="0"/>
                  </a:moveTo>
                  <a:lnTo>
                    <a:pt x="105674" y="0"/>
                  </a:lnTo>
                </a:path>
                <a:path w="880110" h="0">
                  <a:moveTo>
                    <a:pt x="140893" y="0"/>
                  </a:moveTo>
                  <a:lnTo>
                    <a:pt x="176113" y="0"/>
                  </a:lnTo>
                </a:path>
                <a:path w="880110" h="0">
                  <a:moveTo>
                    <a:pt x="211333" y="0"/>
                  </a:moveTo>
                  <a:lnTo>
                    <a:pt x="246552" y="0"/>
                  </a:lnTo>
                </a:path>
                <a:path w="880110" h="0">
                  <a:moveTo>
                    <a:pt x="281772" y="0"/>
                  </a:moveTo>
                  <a:lnTo>
                    <a:pt x="316991" y="0"/>
                  </a:lnTo>
                </a:path>
                <a:path w="880110" h="0">
                  <a:moveTo>
                    <a:pt x="352211" y="0"/>
                  </a:moveTo>
                  <a:lnTo>
                    <a:pt x="386760" y="0"/>
                  </a:lnTo>
                </a:path>
                <a:path w="880110" h="0">
                  <a:moveTo>
                    <a:pt x="421980" y="0"/>
                  </a:moveTo>
                  <a:lnTo>
                    <a:pt x="457199" y="0"/>
                  </a:lnTo>
                </a:path>
                <a:path w="880110" h="0">
                  <a:moveTo>
                    <a:pt x="492419" y="0"/>
                  </a:moveTo>
                  <a:lnTo>
                    <a:pt x="527654" y="0"/>
                  </a:lnTo>
                </a:path>
                <a:path w="880110" h="0">
                  <a:moveTo>
                    <a:pt x="562874" y="0"/>
                  </a:moveTo>
                  <a:lnTo>
                    <a:pt x="598093" y="0"/>
                  </a:lnTo>
                </a:path>
                <a:path w="880110" h="0">
                  <a:moveTo>
                    <a:pt x="633313" y="0"/>
                  </a:moveTo>
                  <a:lnTo>
                    <a:pt x="668533" y="0"/>
                  </a:lnTo>
                </a:path>
                <a:path w="880110" h="0">
                  <a:moveTo>
                    <a:pt x="703752" y="0"/>
                  </a:moveTo>
                  <a:lnTo>
                    <a:pt x="738972" y="0"/>
                  </a:lnTo>
                </a:path>
                <a:path w="880110" h="0">
                  <a:moveTo>
                    <a:pt x="774191" y="0"/>
                  </a:moveTo>
                  <a:lnTo>
                    <a:pt x="809411" y="0"/>
                  </a:lnTo>
                </a:path>
                <a:path w="880110" h="0">
                  <a:moveTo>
                    <a:pt x="844646" y="0"/>
                  </a:moveTo>
                  <a:lnTo>
                    <a:pt x="879866" y="0"/>
                  </a:lnTo>
                </a:path>
              </a:pathLst>
            </a:custGeom>
            <a:ln w="1693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6171864" y="4026265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 h="0">
                  <a:moveTo>
                    <a:pt x="1356" y="-8466"/>
                  </a:moveTo>
                  <a:lnTo>
                    <a:pt x="1356" y="8466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6252469" y="4111606"/>
              <a:ext cx="43815" cy="643890"/>
            </a:xfrm>
            <a:custGeom>
              <a:avLst/>
              <a:gdLst/>
              <a:ahLst/>
              <a:cxnLst/>
              <a:rect l="l" t="t" r="r" b="b"/>
              <a:pathLst>
                <a:path w="43814" h="643889">
                  <a:moveTo>
                    <a:pt x="43349" y="0"/>
                  </a:moveTo>
                  <a:lnTo>
                    <a:pt x="0" y="0"/>
                  </a:lnTo>
                  <a:lnTo>
                    <a:pt x="0" y="643466"/>
                  </a:lnTo>
                  <a:lnTo>
                    <a:pt x="43349" y="643466"/>
                  </a:lnTo>
                  <a:lnTo>
                    <a:pt x="43349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5731596" y="5059202"/>
              <a:ext cx="0" cy="106045"/>
            </a:xfrm>
            <a:custGeom>
              <a:avLst/>
              <a:gdLst/>
              <a:ahLst/>
              <a:cxnLst/>
              <a:rect l="l" t="t" r="r" b="b"/>
              <a:pathLst>
                <a:path w="0" h="106045">
                  <a:moveTo>
                    <a:pt x="0" y="105658"/>
                  </a:moveTo>
                  <a:lnTo>
                    <a:pt x="0" y="70439"/>
                  </a:lnTo>
                </a:path>
                <a:path w="0" h="106045">
                  <a:moveTo>
                    <a:pt x="0" y="35219"/>
                  </a:moveTo>
                  <a:lnTo>
                    <a:pt x="0" y="0"/>
                  </a:lnTo>
                </a:path>
              </a:pathLst>
            </a:custGeom>
            <a:ln w="1693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5730910" y="4988747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70" h="35560">
                  <a:moveTo>
                    <a:pt x="342" y="-8466"/>
                  </a:moveTo>
                  <a:lnTo>
                    <a:pt x="342" y="43701"/>
                  </a:lnTo>
                </a:path>
              </a:pathLst>
            </a:custGeom>
            <a:ln w="1761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5730239" y="4566096"/>
              <a:ext cx="1270" cy="387985"/>
            </a:xfrm>
            <a:custGeom>
              <a:avLst/>
              <a:gdLst/>
              <a:ahLst/>
              <a:cxnLst/>
              <a:rect l="l" t="t" r="r" b="b"/>
              <a:pathLst>
                <a:path w="1270" h="387985">
                  <a:moveTo>
                    <a:pt x="670" y="387431"/>
                  </a:moveTo>
                  <a:lnTo>
                    <a:pt x="670" y="352211"/>
                  </a:lnTo>
                </a:path>
                <a:path w="1270" h="387985">
                  <a:moveTo>
                    <a:pt x="670" y="316991"/>
                  </a:moveTo>
                  <a:lnTo>
                    <a:pt x="670" y="281772"/>
                  </a:lnTo>
                </a:path>
                <a:path w="1270" h="387985">
                  <a:moveTo>
                    <a:pt x="670" y="246552"/>
                  </a:moveTo>
                  <a:lnTo>
                    <a:pt x="670" y="211333"/>
                  </a:lnTo>
                </a:path>
                <a:path w="1270" h="387985">
                  <a:moveTo>
                    <a:pt x="670" y="176113"/>
                  </a:moveTo>
                  <a:lnTo>
                    <a:pt x="670" y="140893"/>
                  </a:lnTo>
                </a:path>
                <a:path w="1270" h="387985">
                  <a:moveTo>
                    <a:pt x="0" y="105658"/>
                  </a:moveTo>
                  <a:lnTo>
                    <a:pt x="0" y="70439"/>
                  </a:lnTo>
                </a:path>
                <a:path w="1270" h="387985">
                  <a:moveTo>
                    <a:pt x="0" y="35219"/>
                  </a:moveTo>
                  <a:lnTo>
                    <a:pt x="0" y="0"/>
                  </a:lnTo>
                </a:path>
              </a:pathLst>
            </a:custGeom>
            <a:ln w="1693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5730239" y="4519355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4">
                  <a:moveTo>
                    <a:pt x="-8466" y="5760"/>
                  </a:moveTo>
                  <a:lnTo>
                    <a:pt x="8466" y="5760"/>
                  </a:lnTo>
                </a:path>
              </a:pathLst>
            </a:custGeom>
            <a:ln w="115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5156545" y="4111609"/>
              <a:ext cx="0" cy="598170"/>
            </a:xfrm>
            <a:custGeom>
              <a:avLst/>
              <a:gdLst/>
              <a:ahLst/>
              <a:cxnLst/>
              <a:rect l="l" t="t" r="r" b="b"/>
              <a:pathLst>
                <a:path w="0" h="598170">
                  <a:moveTo>
                    <a:pt x="0" y="0"/>
                  </a:moveTo>
                  <a:lnTo>
                    <a:pt x="0" y="35219"/>
                  </a:lnTo>
                </a:path>
                <a:path w="0" h="598170">
                  <a:moveTo>
                    <a:pt x="0" y="70439"/>
                  </a:moveTo>
                  <a:lnTo>
                    <a:pt x="0" y="105658"/>
                  </a:lnTo>
                </a:path>
                <a:path w="0" h="598170">
                  <a:moveTo>
                    <a:pt x="0" y="140878"/>
                  </a:moveTo>
                  <a:lnTo>
                    <a:pt x="0" y="175427"/>
                  </a:lnTo>
                </a:path>
                <a:path w="0" h="598170">
                  <a:moveTo>
                    <a:pt x="0" y="210647"/>
                  </a:moveTo>
                  <a:lnTo>
                    <a:pt x="0" y="245866"/>
                  </a:lnTo>
                </a:path>
                <a:path w="0" h="598170">
                  <a:moveTo>
                    <a:pt x="0" y="281086"/>
                  </a:moveTo>
                  <a:lnTo>
                    <a:pt x="0" y="316306"/>
                  </a:lnTo>
                </a:path>
                <a:path w="0" h="598170">
                  <a:moveTo>
                    <a:pt x="0" y="351541"/>
                  </a:moveTo>
                  <a:lnTo>
                    <a:pt x="0" y="386760"/>
                  </a:lnTo>
                </a:path>
                <a:path w="0" h="598170">
                  <a:moveTo>
                    <a:pt x="0" y="421980"/>
                  </a:moveTo>
                  <a:lnTo>
                    <a:pt x="0" y="457199"/>
                  </a:lnTo>
                </a:path>
                <a:path w="0" h="598170">
                  <a:moveTo>
                    <a:pt x="0" y="492419"/>
                  </a:moveTo>
                  <a:lnTo>
                    <a:pt x="0" y="527639"/>
                  </a:lnTo>
                </a:path>
                <a:path w="0" h="598170">
                  <a:moveTo>
                    <a:pt x="0" y="562858"/>
                  </a:moveTo>
                  <a:lnTo>
                    <a:pt x="0" y="598078"/>
                  </a:lnTo>
                </a:path>
              </a:pathLst>
            </a:custGeom>
            <a:ln w="1693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5156545" y="474490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60">
                  <a:moveTo>
                    <a:pt x="-8466" y="5082"/>
                  </a:moveTo>
                  <a:lnTo>
                    <a:pt x="8466" y="5082"/>
                  </a:lnTo>
                </a:path>
              </a:pathLst>
            </a:custGeom>
            <a:ln w="1016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8" name="object 198"/>
          <p:cNvSpPr txBox="1"/>
          <p:nvPr/>
        </p:nvSpPr>
        <p:spPr>
          <a:xfrm>
            <a:off x="5134188" y="3942450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800">
              <a:latin typeface="Arial"/>
              <a:cs typeface="Arial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5130802" y="4756605"/>
            <a:ext cx="635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800">
              <a:latin typeface="Arial"/>
              <a:cs typeface="Arial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6255853" y="4765411"/>
            <a:ext cx="412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800">
              <a:latin typeface="Arial"/>
              <a:cs typeface="Arial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6249080" y="3942451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202" name="object 202"/>
          <p:cNvGrpSpPr/>
          <p:nvPr/>
        </p:nvGrpSpPr>
        <p:grpSpPr>
          <a:xfrm>
            <a:off x="5627819" y="4346496"/>
            <a:ext cx="205104" cy="175895"/>
            <a:chOff x="5627819" y="4346496"/>
            <a:chExt cx="205104" cy="175895"/>
          </a:xfrm>
        </p:grpSpPr>
        <p:sp>
          <p:nvSpPr>
            <p:cNvPr id="203" name="object 203"/>
            <p:cNvSpPr/>
            <p:nvPr/>
          </p:nvSpPr>
          <p:spPr>
            <a:xfrm>
              <a:off x="5630676" y="4349353"/>
              <a:ext cx="199390" cy="170180"/>
            </a:xfrm>
            <a:custGeom>
              <a:avLst/>
              <a:gdLst/>
              <a:ahLst/>
              <a:cxnLst/>
              <a:rect l="l" t="t" r="r" b="b"/>
              <a:pathLst>
                <a:path w="199389" h="170179">
                  <a:moveTo>
                    <a:pt x="99562" y="0"/>
                  </a:moveTo>
                  <a:lnTo>
                    <a:pt x="54178" y="9479"/>
                  </a:lnTo>
                  <a:lnTo>
                    <a:pt x="18287" y="35219"/>
                  </a:lnTo>
                  <a:lnTo>
                    <a:pt x="1356" y="71795"/>
                  </a:lnTo>
                  <a:lnTo>
                    <a:pt x="0" y="85343"/>
                  </a:lnTo>
                  <a:lnTo>
                    <a:pt x="1356" y="98206"/>
                  </a:lnTo>
                  <a:lnTo>
                    <a:pt x="18287" y="134782"/>
                  </a:lnTo>
                  <a:lnTo>
                    <a:pt x="54178" y="160522"/>
                  </a:lnTo>
                  <a:lnTo>
                    <a:pt x="99562" y="170002"/>
                  </a:lnTo>
                  <a:lnTo>
                    <a:pt x="115138" y="168661"/>
                  </a:lnTo>
                  <a:lnTo>
                    <a:pt x="157810" y="153756"/>
                  </a:lnTo>
                  <a:lnTo>
                    <a:pt x="188290" y="123946"/>
                  </a:lnTo>
                  <a:lnTo>
                    <a:pt x="199125" y="85343"/>
                  </a:lnTo>
                  <a:lnTo>
                    <a:pt x="197769" y="71795"/>
                  </a:lnTo>
                  <a:lnTo>
                    <a:pt x="180167" y="35219"/>
                  </a:lnTo>
                  <a:lnTo>
                    <a:pt x="144947" y="9479"/>
                  </a:lnTo>
                  <a:lnTo>
                    <a:pt x="9956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5630676" y="4349353"/>
              <a:ext cx="199390" cy="170180"/>
            </a:xfrm>
            <a:custGeom>
              <a:avLst/>
              <a:gdLst/>
              <a:ahLst/>
              <a:cxnLst/>
              <a:rect l="l" t="t" r="r" b="b"/>
              <a:pathLst>
                <a:path w="199389" h="170179">
                  <a:moveTo>
                    <a:pt x="0" y="85343"/>
                  </a:moveTo>
                  <a:lnTo>
                    <a:pt x="10149" y="46741"/>
                  </a:lnTo>
                  <a:lnTo>
                    <a:pt x="40629" y="16261"/>
                  </a:lnTo>
                  <a:lnTo>
                    <a:pt x="83987" y="1356"/>
                  </a:lnTo>
                  <a:lnTo>
                    <a:pt x="99562" y="0"/>
                  </a:lnTo>
                  <a:lnTo>
                    <a:pt x="115138" y="1356"/>
                  </a:lnTo>
                  <a:lnTo>
                    <a:pt x="157810" y="16261"/>
                  </a:lnTo>
                  <a:lnTo>
                    <a:pt x="188290" y="46741"/>
                  </a:lnTo>
                  <a:lnTo>
                    <a:pt x="199125" y="85343"/>
                  </a:lnTo>
                  <a:lnTo>
                    <a:pt x="197769" y="98206"/>
                  </a:lnTo>
                  <a:lnTo>
                    <a:pt x="180167" y="134782"/>
                  </a:lnTo>
                  <a:lnTo>
                    <a:pt x="144947" y="160522"/>
                  </a:lnTo>
                  <a:lnTo>
                    <a:pt x="99562" y="170002"/>
                  </a:lnTo>
                  <a:lnTo>
                    <a:pt x="83987" y="168661"/>
                  </a:lnTo>
                  <a:lnTo>
                    <a:pt x="40629" y="153756"/>
                  </a:lnTo>
                  <a:lnTo>
                    <a:pt x="10149" y="123946"/>
                  </a:lnTo>
                  <a:lnTo>
                    <a:pt x="0" y="85343"/>
                  </a:lnTo>
                </a:path>
              </a:pathLst>
            </a:custGeom>
            <a:ln w="564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5" name="object 205"/>
          <p:cNvSpPr txBox="1"/>
          <p:nvPr/>
        </p:nvSpPr>
        <p:spPr>
          <a:xfrm>
            <a:off x="5698398" y="4343427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206" name="object 206"/>
          <p:cNvGrpSpPr/>
          <p:nvPr/>
        </p:nvGrpSpPr>
        <p:grpSpPr>
          <a:xfrm>
            <a:off x="5206382" y="4066911"/>
            <a:ext cx="1012190" cy="1271270"/>
            <a:chOff x="5206382" y="4066911"/>
            <a:chExt cx="1012190" cy="1271270"/>
          </a:xfrm>
        </p:grpSpPr>
        <p:sp>
          <p:nvSpPr>
            <p:cNvPr id="207" name="object 207"/>
            <p:cNvSpPr/>
            <p:nvPr/>
          </p:nvSpPr>
          <p:spPr>
            <a:xfrm>
              <a:off x="5215463" y="4068937"/>
              <a:ext cx="453390" cy="330200"/>
            </a:xfrm>
            <a:custGeom>
              <a:avLst/>
              <a:gdLst/>
              <a:ahLst/>
              <a:cxnLst/>
              <a:rect l="l" t="t" r="r" b="b"/>
              <a:pathLst>
                <a:path w="453389" h="330200">
                  <a:moveTo>
                    <a:pt x="24383" y="0"/>
                  </a:moveTo>
                  <a:lnTo>
                    <a:pt x="0" y="35219"/>
                  </a:lnTo>
                  <a:lnTo>
                    <a:pt x="428762" y="329854"/>
                  </a:lnTo>
                  <a:lnTo>
                    <a:pt x="453146" y="294634"/>
                  </a:lnTo>
                  <a:lnTo>
                    <a:pt x="2438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8" name="object 208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5802377" y="4479738"/>
              <a:ext cx="415886" cy="304115"/>
            </a:xfrm>
            <a:prstGeom prst="rect">
              <a:avLst/>
            </a:prstGeom>
          </p:spPr>
        </p:pic>
        <p:sp>
          <p:nvSpPr>
            <p:cNvPr id="209" name="object 209"/>
            <p:cNvSpPr/>
            <p:nvPr/>
          </p:nvSpPr>
          <p:spPr>
            <a:xfrm>
              <a:off x="5797966" y="4066911"/>
              <a:ext cx="415290" cy="328295"/>
            </a:xfrm>
            <a:custGeom>
              <a:avLst/>
              <a:gdLst/>
              <a:ahLst/>
              <a:cxnLst/>
              <a:rect l="l" t="t" r="r" b="b"/>
              <a:pathLst>
                <a:path w="415289" h="328295">
                  <a:moveTo>
                    <a:pt x="389473" y="0"/>
                  </a:moveTo>
                  <a:lnTo>
                    <a:pt x="0" y="293949"/>
                  </a:lnTo>
                  <a:lnTo>
                    <a:pt x="25740" y="327827"/>
                  </a:lnTo>
                  <a:lnTo>
                    <a:pt x="415213" y="33863"/>
                  </a:lnTo>
                  <a:lnTo>
                    <a:pt x="38947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5227655" y="4483465"/>
              <a:ext cx="426720" cy="297180"/>
            </a:xfrm>
            <a:custGeom>
              <a:avLst/>
              <a:gdLst/>
              <a:ahLst/>
              <a:cxnLst/>
              <a:rect l="l" t="t" r="r" b="b"/>
              <a:pathLst>
                <a:path w="426720" h="297179">
                  <a:moveTo>
                    <a:pt x="426719" y="0"/>
                  </a:moveTo>
                  <a:lnTo>
                    <a:pt x="0" y="296677"/>
                  </a:lnTo>
                </a:path>
              </a:pathLst>
            </a:custGeom>
            <a:ln w="4233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1" name="object 211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5629881" y="5162039"/>
              <a:ext cx="204785" cy="175661"/>
            </a:xfrm>
            <a:prstGeom prst="rect">
              <a:avLst/>
            </a:prstGeom>
          </p:spPr>
        </p:pic>
      </p:grpSp>
      <p:sp>
        <p:nvSpPr>
          <p:cNvPr id="212" name="object 212"/>
          <p:cNvSpPr txBox="1"/>
          <p:nvPr/>
        </p:nvSpPr>
        <p:spPr>
          <a:xfrm>
            <a:off x="5702462" y="5150804"/>
            <a:ext cx="69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213" name="object 213"/>
          <p:cNvGrpSpPr/>
          <p:nvPr/>
        </p:nvGrpSpPr>
        <p:grpSpPr>
          <a:xfrm>
            <a:off x="5200229" y="3653053"/>
            <a:ext cx="1024255" cy="1576705"/>
            <a:chOff x="5200229" y="3653053"/>
            <a:chExt cx="1024255" cy="1576705"/>
          </a:xfrm>
        </p:grpSpPr>
        <p:sp>
          <p:nvSpPr>
            <p:cNvPr id="214" name="object 214"/>
            <p:cNvSpPr/>
            <p:nvPr/>
          </p:nvSpPr>
          <p:spPr>
            <a:xfrm>
              <a:off x="5206654" y="4889184"/>
              <a:ext cx="440690" cy="340360"/>
            </a:xfrm>
            <a:custGeom>
              <a:avLst/>
              <a:gdLst/>
              <a:ahLst/>
              <a:cxnLst/>
              <a:rect l="l" t="t" r="r" b="b"/>
              <a:pathLst>
                <a:path w="440689" h="340360">
                  <a:moveTo>
                    <a:pt x="25740" y="0"/>
                  </a:moveTo>
                  <a:lnTo>
                    <a:pt x="0" y="33863"/>
                  </a:lnTo>
                  <a:lnTo>
                    <a:pt x="415213" y="340019"/>
                  </a:lnTo>
                  <a:lnTo>
                    <a:pt x="440268" y="306156"/>
                  </a:lnTo>
                  <a:lnTo>
                    <a:pt x="2574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5" name="object 215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5820665" y="4923390"/>
              <a:ext cx="377953" cy="290582"/>
            </a:xfrm>
            <a:prstGeom prst="rect">
              <a:avLst/>
            </a:prstGeom>
          </p:spPr>
        </p:pic>
        <p:sp>
          <p:nvSpPr>
            <p:cNvPr id="216" name="object 216"/>
            <p:cNvSpPr/>
            <p:nvPr/>
          </p:nvSpPr>
          <p:spPr>
            <a:xfrm>
              <a:off x="5780364" y="3653053"/>
              <a:ext cx="443865" cy="325120"/>
            </a:xfrm>
            <a:custGeom>
              <a:avLst/>
              <a:gdLst/>
              <a:ahLst/>
              <a:cxnLst/>
              <a:rect l="l" t="t" r="r" b="b"/>
              <a:pathLst>
                <a:path w="443864" h="325120">
                  <a:moveTo>
                    <a:pt x="24383" y="0"/>
                  </a:moveTo>
                  <a:lnTo>
                    <a:pt x="0" y="35219"/>
                  </a:lnTo>
                  <a:lnTo>
                    <a:pt x="419267" y="325114"/>
                  </a:lnTo>
                  <a:lnTo>
                    <a:pt x="443651" y="289895"/>
                  </a:lnTo>
                  <a:lnTo>
                    <a:pt x="2438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7" name="object 217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5200229" y="3657449"/>
              <a:ext cx="445009" cy="314296"/>
            </a:xfrm>
            <a:prstGeom prst="rect">
              <a:avLst/>
            </a:prstGeom>
          </p:spPr>
        </p:pic>
      </p:grpSp>
      <p:sp>
        <p:nvSpPr>
          <p:cNvPr id="218" name="object 218"/>
          <p:cNvSpPr txBox="1"/>
          <p:nvPr/>
        </p:nvSpPr>
        <p:spPr>
          <a:xfrm>
            <a:off x="901699" y="5469535"/>
            <a:ext cx="6390005" cy="2184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3619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8.55: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Kruskal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unsafe 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final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MST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Analysis:</a:t>
            </a:r>
            <a:endParaRPr sz="1200">
              <a:latin typeface="Times New Roman"/>
              <a:cs typeface="Times New Roman"/>
            </a:endParaRPr>
          </a:p>
          <a:p>
            <a:pPr marL="12700" marR="5080" indent="-635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Since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graph is connected,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may assume that </a:t>
            </a:r>
            <a:r>
              <a:rPr dirty="0" sz="1200" spc="70">
                <a:latin typeface="Lucida Sans Unicode"/>
                <a:cs typeface="Lucida Sans Unicode"/>
              </a:rPr>
              <a:t>E </a:t>
            </a:r>
            <a:r>
              <a:rPr dirty="0" sz="1200" spc="105">
                <a:latin typeface="Segoe UI Symbol"/>
                <a:cs typeface="Segoe UI Symbol"/>
              </a:rPr>
              <a:t>≥ </a:t>
            </a:r>
            <a:r>
              <a:rPr dirty="0" sz="1200" spc="-15">
                <a:latin typeface="Lucida Sans Unicode"/>
                <a:cs typeface="Lucida Sans Unicode"/>
              </a:rPr>
              <a:t>V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. </a:t>
            </a:r>
            <a:r>
              <a:rPr dirty="0" sz="1200" spc="-10">
                <a:latin typeface="Times New Roman"/>
                <a:cs typeface="Times New Roman"/>
              </a:rPr>
              <a:t>Sorting </a:t>
            </a:r>
            <a:r>
              <a:rPr dirty="0" sz="1200" spc="-5">
                <a:latin typeface="Times New Roman"/>
                <a:cs typeface="Times New Roman"/>
              </a:rPr>
              <a:t>edges ( </a:t>
            </a:r>
            <a:r>
              <a:rPr dirty="0" sz="1200" spc="-10" i="1">
                <a:latin typeface="Times New Roman"/>
                <a:cs typeface="Times New Roman"/>
              </a:rPr>
              <a:t>line </a:t>
            </a:r>
            <a:r>
              <a:rPr dirty="0" sz="1200" spc="-5" i="1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takes </a:t>
            </a:r>
            <a:r>
              <a:rPr dirty="0" sz="1200" spc="50">
                <a:latin typeface="Lucida Sans Unicode"/>
                <a:cs typeface="Lucida Sans Unicode"/>
              </a:rPr>
              <a:t>Θ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E </a:t>
            </a:r>
            <a:r>
              <a:rPr dirty="0" sz="1200" spc="-10">
                <a:latin typeface="Times New Roman"/>
                <a:cs typeface="Times New Roman"/>
              </a:rPr>
              <a:t>log </a:t>
            </a:r>
            <a:r>
              <a:rPr dirty="0" sz="1200" spc="60">
                <a:latin typeface="Lucida Sans Unicode"/>
                <a:cs typeface="Lucida Sans Unicode"/>
              </a:rPr>
              <a:t>E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60">
                <a:latin typeface="Times New Roman"/>
                <a:cs typeface="Times New Roman"/>
              </a:rPr>
              <a:t>.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for loop </a:t>
            </a:r>
            <a:r>
              <a:rPr dirty="0" sz="1200" spc="-5">
                <a:latin typeface="Times New Roman"/>
                <a:cs typeface="Times New Roman"/>
              </a:rPr>
              <a:t>(</a:t>
            </a:r>
            <a:r>
              <a:rPr dirty="0" sz="1200" spc="-5" i="1">
                <a:latin typeface="Times New Roman"/>
                <a:cs typeface="Times New Roman"/>
              </a:rPr>
              <a:t>line 5</a:t>
            </a:r>
            <a:r>
              <a:rPr dirty="0" sz="1200" spc="-5">
                <a:latin typeface="Times New Roman"/>
                <a:cs typeface="Times New Roman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performs </a:t>
            </a:r>
            <a:r>
              <a:rPr dirty="0" sz="1200" spc="80">
                <a:latin typeface="Lucida Sans Unicode"/>
                <a:cs typeface="Lucida Sans Unicode"/>
              </a:rPr>
              <a:t>O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E</a:t>
            </a:r>
            <a:r>
              <a:rPr dirty="0" sz="1200" spc="80">
                <a:latin typeface="Garamond"/>
                <a:cs typeface="Garamond"/>
              </a:rPr>
              <a:t>) </a:t>
            </a:r>
            <a:r>
              <a:rPr dirty="0" sz="1200" spc="35">
                <a:latin typeface="Lucida Sans Unicode"/>
                <a:cs typeface="Lucida Sans Unicode"/>
              </a:rPr>
              <a:t>find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80">
                <a:latin typeface="Lucida Sans Unicode"/>
                <a:cs typeface="Lucida Sans Unicode"/>
              </a:rPr>
              <a:t>O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 spc="80">
                <a:latin typeface="Garamond"/>
                <a:cs typeface="Garamond"/>
              </a:rPr>
              <a:t>) </a:t>
            </a:r>
            <a:r>
              <a:rPr dirty="0" sz="1200" spc="25">
                <a:latin typeface="Lucida Sans Unicode"/>
                <a:cs typeface="Lucida Sans Unicode"/>
              </a:rPr>
              <a:t>union </a:t>
            </a:r>
            <a:r>
              <a:rPr dirty="0" sz="1200" spc="-5">
                <a:latin typeface="Times New Roman"/>
                <a:cs typeface="Times New Roman"/>
              </a:rPr>
              <a:t>operations. </a:t>
            </a:r>
            <a:r>
              <a:rPr dirty="0" sz="1200" spc="-25">
                <a:latin typeface="Times New Roman"/>
                <a:cs typeface="Times New Roman"/>
              </a:rPr>
              <a:t>Total </a:t>
            </a:r>
            <a:r>
              <a:rPr dirty="0" sz="1200" spc="-10">
                <a:latin typeface="Times New Roman"/>
                <a:cs typeface="Times New Roman"/>
              </a:rPr>
              <a:t>time for </a:t>
            </a:r>
            <a:r>
              <a:rPr dirty="0" sz="1200" spc="25">
                <a:latin typeface="Lucida Sans Unicode"/>
                <a:cs typeface="Lucida Sans Unicode"/>
              </a:rPr>
              <a:t>union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find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O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Eα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V</a:t>
            </a:r>
            <a:r>
              <a:rPr dirty="0" sz="1200" spc="65">
                <a:latin typeface="Garamond"/>
                <a:cs typeface="Garamond"/>
              </a:rPr>
              <a:t>)) </a:t>
            </a:r>
            <a:r>
              <a:rPr dirty="0" sz="1200" spc="-10">
                <a:latin typeface="Times New Roman"/>
                <a:cs typeface="Times New Roman"/>
              </a:rPr>
              <a:t>where </a:t>
            </a:r>
            <a:r>
              <a:rPr dirty="0" sz="1200" spc="55">
                <a:latin typeface="Lucida Sans Unicode"/>
                <a:cs typeface="Lucida Sans Unicode"/>
              </a:rPr>
              <a:t>α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V</a:t>
            </a:r>
            <a:r>
              <a:rPr dirty="0" sz="1200" spc="55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15">
                <a:latin typeface="Times New Roman"/>
                <a:cs typeface="Times New Roman"/>
              </a:rPr>
              <a:t>inverse </a:t>
            </a:r>
            <a:r>
              <a:rPr dirty="0" sz="1200" spc="-10">
                <a:latin typeface="Times New Roman"/>
                <a:cs typeface="Times New Roman"/>
              </a:rPr>
              <a:t>Ackerman function.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α</a:t>
            </a:r>
            <a:r>
              <a:rPr dirty="0" sz="1200" spc="55">
                <a:latin typeface="Garamond"/>
                <a:cs typeface="Garamond"/>
              </a:rPr>
              <a:t>(</a:t>
            </a:r>
            <a:r>
              <a:rPr dirty="0" sz="1200" spc="55">
                <a:latin typeface="Lucida Sans Unicode"/>
                <a:cs typeface="Lucida Sans Unicode"/>
              </a:rPr>
              <a:t>V</a:t>
            </a:r>
            <a:r>
              <a:rPr dirty="0" sz="1200" spc="55">
                <a:latin typeface="Garamond"/>
                <a:cs typeface="Garamond"/>
              </a:rPr>
              <a:t>) </a:t>
            </a:r>
            <a:r>
              <a:rPr dirty="0" sz="1200" spc="-55">
                <a:latin typeface="Lucida Sans Unicode"/>
                <a:cs typeface="Lucida Sans Unicode"/>
              </a:rPr>
              <a:t>&lt;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4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15">
                <a:latin typeface="Lucida Sans Unicode"/>
                <a:cs typeface="Lucida Sans Unicode"/>
              </a:rPr>
              <a:t>V </a:t>
            </a:r>
            <a:r>
              <a:rPr dirty="0" sz="1200" spc="-5">
                <a:latin typeface="Times New Roman"/>
                <a:cs typeface="Times New Roman"/>
              </a:rPr>
              <a:t>less </a:t>
            </a:r>
            <a:r>
              <a:rPr dirty="0" sz="1200" spc="-10">
                <a:latin typeface="Times New Roman"/>
                <a:cs typeface="Times New Roman"/>
              </a:rPr>
              <a:t>the number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atoms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entire </a:t>
            </a:r>
            <a:r>
              <a:rPr dirty="0" sz="1200" spc="-10">
                <a:latin typeface="Times New Roman"/>
                <a:cs typeface="Times New Roman"/>
              </a:rPr>
              <a:t>universe.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dominated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sorting.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Overall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Kruskal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1200" spc="-35">
                <a:latin typeface="Lucida Sans Unicode"/>
                <a:cs typeface="Lucida Sans Unicode"/>
              </a:rPr>
              <a:t>Θ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Θ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85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8.5.4	</a:t>
            </a:r>
            <a:r>
              <a:rPr dirty="0" sz="1400" spc="5" b="1">
                <a:latin typeface="Times New Roman"/>
                <a:cs typeface="Times New Roman"/>
              </a:rPr>
              <a:t>Prim’s</a:t>
            </a:r>
            <a:r>
              <a:rPr dirty="0" sz="1400" spc="-3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914412" y="7852067"/>
            <a:ext cx="308800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5">
                <a:latin typeface="Times New Roman"/>
                <a:cs typeface="Times New Roman"/>
              </a:rPr>
              <a:t>Kruskal’s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ordering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4107713" y="7852067"/>
            <a:ext cx="311658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nd inserting them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by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spanning</a:t>
            </a:r>
            <a:r>
              <a:rPr dirty="0" sz="1200" spc="-5">
                <a:latin typeface="Times New Roman"/>
                <a:cs typeface="Times New Roman"/>
              </a:rPr>
              <a:t> tree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4002341" y="7792910"/>
            <a:ext cx="32721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7465">
              <a:lnSpc>
                <a:spcPct val="100000"/>
              </a:lnSpc>
              <a:spcBef>
                <a:spcPts val="95"/>
              </a:spcBef>
              <a:tabLst>
                <a:tab pos="3220720" algn="l"/>
              </a:tabLst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914412" y="8035518"/>
            <a:ext cx="595185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taking</a:t>
            </a:r>
            <a:r>
              <a:rPr dirty="0" sz="1200" spc="-5">
                <a:latin typeface="Times New Roman"/>
                <a:cs typeface="Times New Roman"/>
              </a:rPr>
              <a:t> care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never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Intuitively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Kruskal’s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works</a:t>
            </a:r>
            <a:r>
              <a:rPr dirty="0" sz="1200" spc="-5">
                <a:latin typeface="Times New Roman"/>
                <a:cs typeface="Times New Roman"/>
              </a:rPr>
              <a:t>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merging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splicing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6852932" y="7976361"/>
            <a:ext cx="85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914412" y="8218970"/>
            <a:ext cx="298577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5">
                <a:latin typeface="Times New Roman"/>
                <a:cs typeface="Times New Roman"/>
              </a:rPr>
              <a:t>together,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until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3886475" y="8159812"/>
            <a:ext cx="635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914412" y="8467800"/>
            <a:ext cx="574802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contrast,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Prim’s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builds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leaves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current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6696326" y="8408644"/>
            <a:ext cx="523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901716" y="8592095"/>
            <a:ext cx="601408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root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r</a:t>
            </a:r>
            <a:r>
              <a:rPr dirty="0" sz="1200" spc="10">
                <a:latin typeface="Times New Roman"/>
                <a:cs typeface="Times New Roman"/>
              </a:rPr>
              <a:t>;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vertex.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subset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single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 (in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Kruskal’s,</a:t>
            </a:r>
            <a:r>
              <a:rPr dirty="0" sz="1200" spc="-5">
                <a:latin typeface="Times New Roman"/>
                <a:cs typeface="Times New Roman"/>
              </a:rPr>
              <a:t> it </a:t>
            </a:r>
            <a:r>
              <a:rPr dirty="0" sz="1200" spc="-10">
                <a:latin typeface="Times New Roman"/>
                <a:cs typeface="Times New Roman"/>
              </a:rPr>
              <a:t>formed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forest).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add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single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a leaf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15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552700" y="938474"/>
            <a:ext cx="3087370" cy="2590800"/>
            <a:chOff x="2552700" y="938474"/>
            <a:chExt cx="3087370" cy="2590800"/>
          </a:xfrm>
        </p:grpSpPr>
        <p:sp>
          <p:nvSpPr>
            <p:cNvPr id="5" name="object 5"/>
            <p:cNvSpPr/>
            <p:nvPr/>
          </p:nvSpPr>
          <p:spPr>
            <a:xfrm>
              <a:off x="2552700" y="938474"/>
              <a:ext cx="3087370" cy="2590800"/>
            </a:xfrm>
            <a:custGeom>
              <a:avLst/>
              <a:gdLst/>
              <a:ahLst/>
              <a:cxnLst/>
              <a:rect l="l" t="t" r="r" b="b"/>
              <a:pathLst>
                <a:path w="3087370" h="2590800">
                  <a:moveTo>
                    <a:pt x="3087349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087349" y="2590601"/>
                  </a:lnTo>
                  <a:lnTo>
                    <a:pt x="3087349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55490" y="1366658"/>
              <a:ext cx="221222" cy="220688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25863" y="2323166"/>
              <a:ext cx="220703" cy="22068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58476" y="1824254"/>
              <a:ext cx="221222" cy="220688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21564" y="992211"/>
              <a:ext cx="2043758" cy="2474684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21804" y="3113375"/>
              <a:ext cx="221206" cy="220688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337640" y="1391498"/>
              <a:ext cx="94615" cy="6985"/>
            </a:xfrm>
            <a:custGeom>
              <a:avLst/>
              <a:gdLst/>
              <a:ahLst/>
              <a:cxnLst/>
              <a:rect l="l" t="t" r="r" b="b"/>
              <a:pathLst>
                <a:path w="94614" h="6984">
                  <a:moveTo>
                    <a:pt x="0" y="0"/>
                  </a:moveTo>
                  <a:lnTo>
                    <a:pt x="40277" y="0"/>
                  </a:lnTo>
                </a:path>
                <a:path w="94614" h="6984">
                  <a:moveTo>
                    <a:pt x="54391" y="6797"/>
                  </a:moveTo>
                  <a:lnTo>
                    <a:pt x="94135" y="6797"/>
                  </a:lnTo>
                </a:path>
              </a:pathLst>
            </a:custGeom>
            <a:ln w="1621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452442" y="1403538"/>
              <a:ext cx="27305" cy="3175"/>
            </a:xfrm>
            <a:custGeom>
              <a:avLst/>
              <a:gdLst/>
              <a:ahLst/>
              <a:cxnLst/>
              <a:rect l="l" t="t" r="r" b="b"/>
              <a:pathLst>
                <a:path w="27304" h="3175">
                  <a:moveTo>
                    <a:pt x="-6537" y="1562"/>
                  </a:moveTo>
                  <a:lnTo>
                    <a:pt x="33725" y="1562"/>
                  </a:lnTo>
                </a:path>
              </a:pathLst>
            </a:custGeom>
            <a:ln w="1619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506818" y="1409801"/>
              <a:ext cx="27305" cy="3810"/>
            </a:xfrm>
            <a:custGeom>
              <a:avLst/>
              <a:gdLst/>
              <a:ahLst/>
              <a:cxnLst/>
              <a:rect l="l" t="t" r="r" b="b"/>
              <a:pathLst>
                <a:path w="27304" h="3809">
                  <a:moveTo>
                    <a:pt x="-6537" y="1836"/>
                  </a:moveTo>
                  <a:lnTo>
                    <a:pt x="33740" y="1836"/>
                  </a:lnTo>
                </a:path>
              </a:pathLst>
            </a:custGeom>
            <a:ln w="167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561209" y="1416598"/>
              <a:ext cx="27305" cy="3810"/>
            </a:xfrm>
            <a:custGeom>
              <a:avLst/>
              <a:gdLst/>
              <a:ahLst/>
              <a:cxnLst/>
              <a:rect l="l" t="t" r="r" b="b"/>
              <a:pathLst>
                <a:path w="27304" h="3809">
                  <a:moveTo>
                    <a:pt x="-6537" y="1836"/>
                  </a:moveTo>
                  <a:lnTo>
                    <a:pt x="33740" y="1836"/>
                  </a:lnTo>
                </a:path>
              </a:pathLst>
            </a:custGeom>
            <a:ln w="167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615601" y="1423411"/>
              <a:ext cx="26670" cy="3175"/>
            </a:xfrm>
            <a:custGeom>
              <a:avLst/>
              <a:gdLst/>
              <a:ahLst/>
              <a:cxnLst/>
              <a:rect l="l" t="t" r="r" b="b"/>
              <a:pathLst>
                <a:path w="26670" h="3175">
                  <a:moveTo>
                    <a:pt x="-6537" y="1562"/>
                  </a:moveTo>
                  <a:lnTo>
                    <a:pt x="33207" y="1562"/>
                  </a:lnTo>
                </a:path>
              </a:pathLst>
            </a:custGeom>
            <a:ln w="1619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669475" y="1430208"/>
              <a:ext cx="27305" cy="3175"/>
            </a:xfrm>
            <a:custGeom>
              <a:avLst/>
              <a:gdLst/>
              <a:ahLst/>
              <a:cxnLst/>
              <a:rect l="l" t="t" r="r" b="b"/>
              <a:pathLst>
                <a:path w="27304" h="3175">
                  <a:moveTo>
                    <a:pt x="-6537" y="1562"/>
                  </a:moveTo>
                  <a:lnTo>
                    <a:pt x="33725" y="1562"/>
                  </a:lnTo>
                </a:path>
              </a:pathLst>
            </a:custGeom>
            <a:ln w="1619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723851" y="1436471"/>
              <a:ext cx="27305" cy="3810"/>
            </a:xfrm>
            <a:custGeom>
              <a:avLst/>
              <a:gdLst/>
              <a:ahLst/>
              <a:cxnLst/>
              <a:rect l="l" t="t" r="r" b="b"/>
              <a:pathLst>
                <a:path w="27304" h="3809">
                  <a:moveTo>
                    <a:pt x="-6537" y="1836"/>
                  </a:moveTo>
                  <a:lnTo>
                    <a:pt x="33740" y="1836"/>
                  </a:lnTo>
                </a:path>
              </a:pathLst>
            </a:custGeom>
            <a:ln w="167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876831" y="2415215"/>
              <a:ext cx="94615" cy="7620"/>
            </a:xfrm>
            <a:custGeom>
              <a:avLst/>
              <a:gdLst/>
              <a:ahLst/>
              <a:cxnLst/>
              <a:rect l="l" t="t" r="r" b="b"/>
              <a:pathLst>
                <a:path w="94614" h="7619">
                  <a:moveTo>
                    <a:pt x="0" y="0"/>
                  </a:moveTo>
                  <a:lnTo>
                    <a:pt x="40262" y="0"/>
                  </a:lnTo>
                </a:path>
                <a:path w="94614" h="7619">
                  <a:moveTo>
                    <a:pt x="53858" y="7315"/>
                  </a:moveTo>
                  <a:lnTo>
                    <a:pt x="94120" y="7315"/>
                  </a:lnTo>
                </a:path>
              </a:pathLst>
            </a:custGeom>
            <a:ln w="167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991618" y="2428016"/>
              <a:ext cx="26670" cy="3175"/>
            </a:xfrm>
            <a:custGeom>
              <a:avLst/>
              <a:gdLst/>
              <a:ahLst/>
              <a:cxnLst/>
              <a:rect l="l" t="t" r="r" b="b"/>
              <a:pathLst>
                <a:path w="26670" h="3175">
                  <a:moveTo>
                    <a:pt x="-6537" y="1569"/>
                  </a:moveTo>
                  <a:lnTo>
                    <a:pt x="32688" y="1569"/>
                  </a:lnTo>
                </a:path>
              </a:pathLst>
            </a:custGeom>
            <a:ln w="1621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885974" y="3218225"/>
              <a:ext cx="27305" cy="3175"/>
            </a:xfrm>
            <a:custGeom>
              <a:avLst/>
              <a:gdLst/>
              <a:ahLst/>
              <a:cxnLst/>
              <a:rect l="l" t="t" r="r" b="b"/>
              <a:pathLst>
                <a:path w="27304" h="3175">
                  <a:moveTo>
                    <a:pt x="-6537" y="1569"/>
                  </a:moveTo>
                  <a:lnTo>
                    <a:pt x="33740" y="1569"/>
                  </a:lnTo>
                </a:path>
              </a:pathLst>
            </a:custGeom>
            <a:ln w="1621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4325872" y="1182694"/>
            <a:ext cx="254000" cy="8674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12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marL="124460">
              <a:lnSpc>
                <a:spcPct val="100000"/>
              </a:lnSpc>
              <a:spcBef>
                <a:spcPts val="550"/>
              </a:spcBef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432557" y="2190452"/>
            <a:ext cx="71120" cy="1511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100474" y="2430493"/>
            <a:ext cx="683260" cy="94170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3655">
              <a:lnSpc>
                <a:spcPct val="100000"/>
              </a:lnSpc>
              <a:spcBef>
                <a:spcPts val="120"/>
              </a:spcBef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11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0">
              <a:latin typeface="Arial"/>
              <a:cs typeface="Arial"/>
            </a:endParaRPr>
          </a:p>
          <a:p>
            <a:pPr marL="612140">
              <a:lnSpc>
                <a:spcPts val="844"/>
              </a:lnSpc>
            </a:pPr>
            <a:r>
              <a:rPr dirty="0" sz="800" spc="10" i="1">
                <a:solidFill>
                  <a:srgbClr val="FFFF00"/>
                </a:solidFill>
                <a:latin typeface="Arial"/>
                <a:cs typeface="Arial"/>
              </a:rPr>
              <a:t>u</a:t>
            </a:r>
            <a:endParaRPr sz="800">
              <a:latin typeface="Arial"/>
              <a:cs typeface="Arial"/>
            </a:endParaRPr>
          </a:p>
          <a:p>
            <a:pPr>
              <a:lnSpc>
                <a:spcPts val="844"/>
              </a:lnSpc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algn="r" marR="118110">
              <a:lnSpc>
                <a:spcPct val="100000"/>
              </a:lnSpc>
              <a:spcBef>
                <a:spcPts val="565"/>
              </a:spcBef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701532" y="2190450"/>
            <a:ext cx="47625" cy="1511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800" spc="5" i="1">
                <a:solidFill>
                  <a:srgbClr val="FFFF00"/>
                </a:solidFill>
                <a:latin typeface="Arial"/>
                <a:cs typeface="Arial"/>
              </a:rPr>
              <a:t>r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01699" y="3595129"/>
            <a:ext cx="6373495" cy="12566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5270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8.56: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Prim’s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cut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990"/>
              </a:spcBef>
            </a:pPr>
            <a:r>
              <a:rPr dirty="0" sz="1200" spc="-5">
                <a:latin typeface="Times New Roman"/>
                <a:cs typeface="Times New Roman"/>
              </a:rPr>
              <a:t>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currently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complement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V</a:t>
            </a:r>
            <a:r>
              <a:rPr dirty="0" sz="1200" spc="-5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S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ct val="100000"/>
              </a:lnSpc>
              <a:spcBef>
                <a:spcPts val="5"/>
              </a:spcBef>
            </a:pPr>
            <a:r>
              <a:rPr dirty="0" sz="1200" spc="-10">
                <a:latin typeface="Times New Roman"/>
                <a:cs typeface="Times New Roman"/>
              </a:rPr>
              <a:t>8.56.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 i="1">
                <a:latin typeface="Times New Roman"/>
                <a:cs typeface="Times New Roman"/>
              </a:rPr>
              <a:t>cut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graph. </a:t>
            </a:r>
            <a:r>
              <a:rPr dirty="0" sz="1200" spc="-5">
                <a:latin typeface="Times New Roman"/>
                <a:cs typeface="Times New Roman"/>
              </a:rPr>
              <a:t>Which edge </a:t>
            </a:r>
            <a:r>
              <a:rPr dirty="0" sz="1200" spc="-10">
                <a:latin typeface="Times New Roman"/>
                <a:cs typeface="Times New Roman"/>
              </a:rPr>
              <a:t>should </a:t>
            </a:r>
            <a:r>
              <a:rPr dirty="0" sz="1200" spc="-5">
                <a:latin typeface="Times New Roman"/>
                <a:cs typeface="Times New Roman"/>
              </a:rPr>
              <a:t>be added </a:t>
            </a:r>
            <a:r>
              <a:rPr dirty="0" sz="1200" spc="-10">
                <a:latin typeface="Times New Roman"/>
                <a:cs typeface="Times New Roman"/>
              </a:rPr>
              <a:t>next? </a:t>
            </a:r>
            <a:r>
              <a:rPr dirty="0" sz="1200" spc="-5">
                <a:latin typeface="Times New Roman"/>
                <a:cs typeface="Times New Roman"/>
              </a:rPr>
              <a:t>The greedy </a:t>
            </a:r>
            <a:r>
              <a:rPr dirty="0" sz="1200" spc="-10">
                <a:latin typeface="Times New Roman"/>
                <a:cs typeface="Times New Roman"/>
              </a:rPr>
              <a:t>strategy would </a:t>
            </a:r>
            <a:r>
              <a:rPr dirty="0" sz="1200" spc="-5">
                <a:latin typeface="Times New Roman"/>
                <a:cs typeface="Times New Roman"/>
              </a:rPr>
              <a:t>be to add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lightest edge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figure is edge to </a:t>
            </a:r>
            <a:r>
              <a:rPr dirty="0" sz="1200" spc="-15">
                <a:latin typeface="Times New Roman"/>
                <a:cs typeface="Times New Roman"/>
              </a:rPr>
              <a:t>’</a:t>
            </a:r>
            <a:r>
              <a:rPr dirty="0" sz="1200" spc="-15">
                <a:latin typeface="Lucida Sans Unicode"/>
                <a:cs typeface="Lucida Sans Unicode"/>
              </a:rPr>
              <a:t>u</a:t>
            </a:r>
            <a:r>
              <a:rPr dirty="0" sz="1200" spc="-15">
                <a:latin typeface="Times New Roman"/>
                <a:cs typeface="Times New Roman"/>
              </a:rPr>
              <a:t>’. </a:t>
            </a:r>
            <a:r>
              <a:rPr dirty="0" sz="1200" spc="-5">
                <a:latin typeface="Times New Roman"/>
                <a:cs typeface="Times New Roman"/>
              </a:rPr>
              <a:t>Once </a:t>
            </a:r>
            <a:r>
              <a:rPr dirty="0" sz="1200" spc="20">
                <a:latin typeface="Lucida Sans Unicode"/>
                <a:cs typeface="Lucida Sans Unicode"/>
              </a:rPr>
              <a:t>u </a:t>
            </a:r>
            <a:r>
              <a:rPr dirty="0" sz="1200" spc="-5">
                <a:latin typeface="Times New Roman"/>
                <a:cs typeface="Times New Roman"/>
              </a:rPr>
              <a:t>is added, </a:t>
            </a:r>
            <a:r>
              <a:rPr dirty="0" sz="1200" spc="-10">
                <a:latin typeface="Times New Roman"/>
                <a:cs typeface="Times New Roman"/>
              </a:rPr>
              <a:t>Some </a:t>
            </a:r>
            <a:r>
              <a:rPr dirty="0" sz="1200" spc="-5">
                <a:latin typeface="Times New Roman"/>
                <a:cs typeface="Times New Roman"/>
              </a:rPr>
              <a:t>edges that crossed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cut are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 </a:t>
            </a:r>
            <a:r>
              <a:rPr dirty="0" sz="1200" spc="-10">
                <a:latin typeface="Times New Roman"/>
                <a:cs typeface="Times New Roman"/>
              </a:rPr>
              <a:t>longer</a:t>
            </a:r>
            <a:r>
              <a:rPr dirty="0" sz="1200" spc="-5">
                <a:latin typeface="Times New Roman"/>
                <a:cs typeface="Times New Roman"/>
              </a:rPr>
              <a:t> crossing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others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crossing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cut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8.57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2651759" y="5070038"/>
            <a:ext cx="2887345" cy="2590800"/>
            <a:chOff x="2651759" y="5070038"/>
            <a:chExt cx="2887345" cy="2590800"/>
          </a:xfrm>
        </p:grpSpPr>
        <p:sp>
          <p:nvSpPr>
            <p:cNvPr id="27" name="object 27"/>
            <p:cNvSpPr/>
            <p:nvPr/>
          </p:nvSpPr>
          <p:spPr>
            <a:xfrm>
              <a:off x="2651759" y="5070038"/>
              <a:ext cx="2887345" cy="2590800"/>
            </a:xfrm>
            <a:custGeom>
              <a:avLst/>
              <a:gdLst/>
              <a:ahLst/>
              <a:cxnLst/>
              <a:rect l="l" t="t" r="r" b="b"/>
              <a:pathLst>
                <a:path w="2887345" h="2590800">
                  <a:moveTo>
                    <a:pt x="2886867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2886867" y="2590601"/>
                  </a:lnTo>
                  <a:lnTo>
                    <a:pt x="2886867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15058" y="5570962"/>
              <a:ext cx="206576" cy="20761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78298" y="5998216"/>
              <a:ext cx="207612" cy="207628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907167" y="5434991"/>
              <a:ext cx="2267573" cy="1977587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239950" y="5582193"/>
              <a:ext cx="27305" cy="3810"/>
            </a:xfrm>
            <a:custGeom>
              <a:avLst/>
              <a:gdLst/>
              <a:ahLst/>
              <a:cxnLst/>
              <a:rect l="l" t="t" r="r" b="b"/>
              <a:pathLst>
                <a:path w="27304" h="3810">
                  <a:moveTo>
                    <a:pt x="-6537" y="1836"/>
                  </a:moveTo>
                  <a:lnTo>
                    <a:pt x="33725" y="1836"/>
                  </a:lnTo>
                </a:path>
              </a:pathLst>
            </a:custGeom>
            <a:ln w="167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294327" y="5589005"/>
              <a:ext cx="27305" cy="3810"/>
            </a:xfrm>
            <a:custGeom>
              <a:avLst/>
              <a:gdLst/>
              <a:ahLst/>
              <a:cxnLst/>
              <a:rect l="l" t="t" r="r" b="b"/>
              <a:pathLst>
                <a:path w="27304" h="3810">
                  <a:moveTo>
                    <a:pt x="-6537" y="1828"/>
                  </a:moveTo>
                  <a:lnTo>
                    <a:pt x="33740" y="1828"/>
                  </a:lnTo>
                </a:path>
              </a:pathLst>
            </a:custGeom>
            <a:ln w="167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342181" y="5597372"/>
              <a:ext cx="312420" cy="33655"/>
            </a:xfrm>
            <a:custGeom>
              <a:avLst/>
              <a:gdLst/>
              <a:ahLst/>
              <a:cxnLst/>
              <a:rect l="l" t="t" r="r" b="b"/>
              <a:pathLst>
                <a:path w="312420" h="33654">
                  <a:moveTo>
                    <a:pt x="0" y="0"/>
                  </a:moveTo>
                  <a:lnTo>
                    <a:pt x="40277" y="0"/>
                  </a:lnTo>
                </a:path>
                <a:path w="312420" h="33654">
                  <a:moveTo>
                    <a:pt x="271942" y="33467"/>
                  </a:moveTo>
                  <a:lnTo>
                    <a:pt x="312220" y="33467"/>
                  </a:lnTo>
                </a:path>
              </a:pathLst>
            </a:custGeom>
            <a:ln w="1621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675052" y="5636067"/>
              <a:ext cx="27305" cy="3175"/>
            </a:xfrm>
            <a:custGeom>
              <a:avLst/>
              <a:gdLst/>
              <a:ahLst/>
              <a:cxnLst/>
              <a:rect l="l" t="t" r="r" b="b"/>
              <a:pathLst>
                <a:path w="27304" h="3175">
                  <a:moveTo>
                    <a:pt x="-6537" y="1569"/>
                  </a:moveTo>
                  <a:lnTo>
                    <a:pt x="33725" y="1569"/>
                  </a:lnTo>
                </a:path>
              </a:pathLst>
            </a:custGeom>
            <a:ln w="1621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854960" y="6552311"/>
              <a:ext cx="26670" cy="3810"/>
            </a:xfrm>
            <a:custGeom>
              <a:avLst/>
              <a:gdLst/>
              <a:ahLst/>
              <a:cxnLst/>
              <a:rect l="l" t="t" r="r" b="b"/>
              <a:pathLst>
                <a:path w="26670" h="3809">
                  <a:moveTo>
                    <a:pt x="-6537" y="1828"/>
                  </a:moveTo>
                  <a:lnTo>
                    <a:pt x="33207" y="1828"/>
                  </a:lnTo>
                </a:path>
              </a:pathLst>
            </a:custGeom>
            <a:ln w="167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/>
          <p:cNvSpPr txBox="1"/>
          <p:nvPr/>
        </p:nvSpPr>
        <p:spPr>
          <a:xfrm>
            <a:off x="4062650" y="5394305"/>
            <a:ext cx="375920" cy="88138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245745">
              <a:lnSpc>
                <a:spcPct val="100000"/>
              </a:lnSpc>
              <a:spcBef>
                <a:spcPts val="120"/>
              </a:spcBef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12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Arial"/>
              <a:cs typeface="Arial"/>
            </a:endParaRPr>
          </a:p>
          <a:p>
            <a:pPr marL="13970">
              <a:lnSpc>
                <a:spcPct val="100000"/>
              </a:lnSpc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104488" y="6454882"/>
            <a:ext cx="71120" cy="1511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8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873249" y="6724732"/>
            <a:ext cx="71120" cy="1511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567314" y="6977325"/>
            <a:ext cx="265430" cy="4730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20"/>
              </a:spcBef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55"/>
              </a:spcBef>
            </a:pPr>
            <a:r>
              <a:rPr dirty="0" sz="800" spc="10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310014" y="6793765"/>
            <a:ext cx="71120" cy="1511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800" spc="10" i="1">
                <a:solidFill>
                  <a:srgbClr val="FFFF00"/>
                </a:solidFill>
                <a:latin typeface="Arial"/>
                <a:cs typeface="Arial"/>
              </a:rPr>
              <a:t>u</a:t>
            </a:r>
            <a:endParaRPr sz="8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793927" y="6335645"/>
            <a:ext cx="47625" cy="1511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800" spc="5" i="1">
                <a:solidFill>
                  <a:srgbClr val="FFFF00"/>
                </a:solidFill>
                <a:latin typeface="Arial"/>
                <a:cs typeface="Arial"/>
              </a:rPr>
              <a:t>r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4457761" y="5123820"/>
            <a:ext cx="246379" cy="2458720"/>
            <a:chOff x="4457761" y="5123820"/>
            <a:chExt cx="246379" cy="2458720"/>
          </a:xfrm>
        </p:grpSpPr>
        <p:pic>
          <p:nvPicPr>
            <p:cNvPr id="43" name="object 4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57761" y="5123820"/>
              <a:ext cx="64844" cy="306459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4696495" y="743978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59">
                  <a:moveTo>
                    <a:pt x="-6537" y="4968"/>
                  </a:moveTo>
                  <a:lnTo>
                    <a:pt x="6537" y="4968"/>
                  </a:lnTo>
                </a:path>
              </a:pathLst>
            </a:custGeom>
            <a:ln w="993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696495" y="7449718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w="0" h="17779">
                  <a:moveTo>
                    <a:pt x="-6537" y="8625"/>
                  </a:moveTo>
                  <a:lnTo>
                    <a:pt x="6537" y="8625"/>
                  </a:lnTo>
                </a:path>
              </a:pathLst>
            </a:custGeom>
            <a:ln w="1725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696495" y="749417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6537" y="2872"/>
                  </a:moveTo>
                  <a:lnTo>
                    <a:pt x="6537" y="2872"/>
                  </a:lnTo>
                </a:path>
              </a:pathLst>
            </a:custGeom>
            <a:ln w="574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696495" y="7499918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w="0" h="21590">
                  <a:moveTo>
                    <a:pt x="-6537" y="10721"/>
                  </a:moveTo>
                  <a:lnTo>
                    <a:pt x="6537" y="10721"/>
                  </a:lnTo>
                </a:path>
              </a:pathLst>
            </a:custGeom>
            <a:ln w="2144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697013" y="75485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70">
                  <a:moveTo>
                    <a:pt x="-6537" y="525"/>
                  </a:moveTo>
                  <a:lnTo>
                    <a:pt x="6537" y="525"/>
                  </a:lnTo>
                </a:path>
              </a:pathLst>
            </a:custGeom>
            <a:ln w="130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697013" y="7549601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5" h="26670">
                  <a:moveTo>
                    <a:pt x="266" y="-6537"/>
                  </a:moveTo>
                  <a:lnTo>
                    <a:pt x="266" y="32688"/>
                  </a:lnTo>
                </a:path>
              </a:pathLst>
            </a:custGeom>
            <a:ln w="1360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" name="object 50"/>
          <p:cNvSpPr txBox="1"/>
          <p:nvPr/>
        </p:nvSpPr>
        <p:spPr>
          <a:xfrm>
            <a:off x="901697" y="7726844"/>
            <a:ext cx="6426200" cy="12566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8.57: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Prim’s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selected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990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update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determine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light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quickly.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make </a:t>
            </a:r>
            <a:r>
              <a:rPr dirty="0" sz="1200" spc="-5">
                <a:latin typeface="Times New Roman"/>
                <a:cs typeface="Times New Roman"/>
              </a:rPr>
              <a:t> use of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priority queue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question is what do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store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priority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queue?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seem logical that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 that cross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cut </a:t>
            </a:r>
            <a:r>
              <a:rPr dirty="0" sz="1200" spc="-10">
                <a:latin typeface="Times New Roman"/>
                <a:cs typeface="Times New Roman"/>
              </a:rPr>
              <a:t>should </a:t>
            </a:r>
            <a:r>
              <a:rPr dirty="0" sz="1200" spc="-5">
                <a:latin typeface="Times New Roman"/>
                <a:cs typeface="Times New Roman"/>
              </a:rPr>
              <a:t>be stored since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choose light edges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-5">
                <a:latin typeface="Times New Roman"/>
                <a:cs typeface="Times New Roman"/>
              </a:rPr>
              <a:t>these. </a:t>
            </a:r>
            <a:r>
              <a:rPr dirty="0" sz="1200" spc="-10">
                <a:latin typeface="Times New Roman"/>
                <a:cs typeface="Times New Roman"/>
              </a:rPr>
              <a:t>Although </a:t>
            </a:r>
            <a:r>
              <a:rPr dirty="0" sz="1200" spc="-5">
                <a:latin typeface="Times New Roman"/>
                <a:cs typeface="Times New Roman"/>
              </a:rPr>
              <a:t>possible, there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elegant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leads to a simpler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35775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8.5.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SPANNING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15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14400" y="2106624"/>
            <a:ext cx="5486400" cy="2634615"/>
          </a:xfrm>
          <a:custGeom>
            <a:avLst/>
            <a:gdLst/>
            <a:ahLst/>
            <a:cxnLst/>
            <a:rect l="l" t="t" r="r" b="b"/>
            <a:pathLst>
              <a:path w="5486400" h="2634615">
                <a:moveTo>
                  <a:pt x="5486400" y="0"/>
                </a:moveTo>
                <a:lnTo>
                  <a:pt x="0" y="0"/>
                </a:lnTo>
                <a:lnTo>
                  <a:pt x="0" y="4216"/>
                </a:lnTo>
                <a:lnTo>
                  <a:pt x="0" y="5130"/>
                </a:lnTo>
                <a:lnTo>
                  <a:pt x="0" y="2634030"/>
                </a:lnTo>
                <a:lnTo>
                  <a:pt x="5130" y="2634030"/>
                </a:lnTo>
                <a:lnTo>
                  <a:pt x="513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01699" y="926454"/>
            <a:ext cx="6398895" cy="15640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V</a:t>
            </a:r>
            <a:r>
              <a:rPr dirty="0" sz="1200" spc="-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S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current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spanning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tree),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associate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key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key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lightest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∞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pred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u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 also 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not.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assign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color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vertex.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color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black 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otherwise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750">
              <a:latin typeface="Times New Roman"/>
              <a:cs typeface="Times New Roman"/>
            </a:endParaRPr>
          </a:p>
          <a:p>
            <a:pPr marL="59055">
              <a:lnSpc>
                <a:spcPct val="100000"/>
              </a:lnSpc>
              <a:spcBef>
                <a:spcPts val="5"/>
              </a:spcBef>
            </a:pPr>
            <a:r>
              <a:rPr dirty="0" sz="1200" spc="50">
                <a:latin typeface="Times New Roman"/>
                <a:cs typeface="Times New Roman"/>
              </a:rPr>
              <a:t>P</a:t>
            </a:r>
            <a:r>
              <a:rPr dirty="0" sz="950" spc="55">
                <a:latin typeface="Times New Roman"/>
                <a:cs typeface="Times New Roman"/>
              </a:rPr>
              <a:t>RI</a:t>
            </a:r>
            <a:r>
              <a:rPr dirty="0" sz="950" spc="30">
                <a:latin typeface="Times New Roman"/>
                <a:cs typeface="Times New Roman"/>
              </a:rPr>
              <a:t>M</a:t>
            </a:r>
            <a:r>
              <a:rPr dirty="0" sz="1200" spc="110">
                <a:latin typeface="Garamond"/>
                <a:cs typeface="Garamond"/>
              </a:rPr>
              <a:t>((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r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69545">
              <a:lnSpc>
                <a:spcPct val="100000"/>
              </a:lnSpc>
              <a:tabLst>
                <a:tab pos="396875" algn="l"/>
              </a:tabLst>
            </a:pPr>
            <a:r>
              <a:rPr dirty="0" sz="1200" spc="-5">
                <a:latin typeface="Times New Roman"/>
                <a:cs typeface="Times New Roman"/>
              </a:rPr>
              <a:t>1	</a:t>
            </a: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V</a:t>
            </a:r>
            <a:r>
              <a:rPr dirty="0" sz="1200" spc="9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173224" y="2992068"/>
            <a:ext cx="1870075" cy="1105535"/>
          </a:xfrm>
          <a:custGeom>
            <a:avLst/>
            <a:gdLst/>
            <a:ahLst/>
            <a:cxnLst/>
            <a:rect l="l" t="t" r="r" b="b"/>
            <a:pathLst>
              <a:path w="1870075" h="1105535">
                <a:moveTo>
                  <a:pt x="45593" y="182880"/>
                </a:moveTo>
                <a:lnTo>
                  <a:pt x="0" y="182880"/>
                </a:lnTo>
                <a:lnTo>
                  <a:pt x="0" y="188010"/>
                </a:lnTo>
                <a:lnTo>
                  <a:pt x="45593" y="188010"/>
                </a:lnTo>
                <a:lnTo>
                  <a:pt x="45593" y="182880"/>
                </a:lnTo>
                <a:close/>
              </a:path>
              <a:path w="1870075" h="1105535">
                <a:moveTo>
                  <a:pt x="350393" y="367284"/>
                </a:moveTo>
                <a:lnTo>
                  <a:pt x="304800" y="367284"/>
                </a:lnTo>
                <a:lnTo>
                  <a:pt x="304800" y="372414"/>
                </a:lnTo>
                <a:lnTo>
                  <a:pt x="350393" y="372414"/>
                </a:lnTo>
                <a:lnTo>
                  <a:pt x="350393" y="367284"/>
                </a:lnTo>
                <a:close/>
              </a:path>
              <a:path w="1870075" h="1105535">
                <a:moveTo>
                  <a:pt x="783209" y="1100328"/>
                </a:moveTo>
                <a:lnTo>
                  <a:pt x="737616" y="1100328"/>
                </a:lnTo>
                <a:lnTo>
                  <a:pt x="737616" y="1105458"/>
                </a:lnTo>
                <a:lnTo>
                  <a:pt x="783209" y="1105458"/>
                </a:lnTo>
                <a:lnTo>
                  <a:pt x="783209" y="1100328"/>
                </a:lnTo>
                <a:close/>
              </a:path>
              <a:path w="1870075" h="1105535">
                <a:moveTo>
                  <a:pt x="1869821" y="0"/>
                </a:moveTo>
                <a:lnTo>
                  <a:pt x="1824228" y="0"/>
                </a:lnTo>
                <a:lnTo>
                  <a:pt x="1824228" y="5130"/>
                </a:lnTo>
                <a:lnTo>
                  <a:pt x="1869821" y="5130"/>
                </a:lnTo>
                <a:lnTo>
                  <a:pt x="18698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995321" y="2465732"/>
            <a:ext cx="4039235" cy="20427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3530" indent="-228600">
              <a:lnSpc>
                <a:spcPct val="100000"/>
              </a:lnSpc>
              <a:spcBef>
                <a:spcPts val="95"/>
              </a:spcBef>
              <a:buFont typeface="Times New Roman"/>
              <a:buAutoNum type="arabicPlain" startAt="2"/>
              <a:tabLst>
                <a:tab pos="303530" algn="l"/>
                <a:tab pos="304165" algn="l"/>
                <a:tab pos="1543050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∞</a:t>
            </a:r>
            <a:r>
              <a:rPr dirty="0" sz="1200" spc="-5">
                <a:latin typeface="Garamond"/>
                <a:cs typeface="Garamond"/>
              </a:rPr>
              <a:t>;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pq.in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-75">
                <a:latin typeface="Lucida Sans Unicode"/>
                <a:cs typeface="Lucida Sans Unicode"/>
              </a:rPr>
              <a:t>e</a:t>
            </a:r>
            <a:r>
              <a:rPr dirty="0" sz="1200" spc="75">
                <a:latin typeface="Lucida Sans Unicode"/>
                <a:cs typeface="Lucida Sans Unicode"/>
              </a:rPr>
              <a:t>y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39750" indent="-464820">
              <a:lnSpc>
                <a:spcPct val="100000"/>
              </a:lnSpc>
              <a:spcBef>
                <a:spcPts val="5"/>
              </a:spcBef>
              <a:buAutoNum type="arabicPlain" startAt="2"/>
              <a:tabLst>
                <a:tab pos="539750" algn="l"/>
                <a:tab pos="540385" algn="l"/>
              </a:tabLst>
            </a:pPr>
            <a:r>
              <a:rPr dirty="0" sz="1200" spc="-5">
                <a:latin typeface="Times New Roman"/>
                <a:cs typeface="Times New Roman"/>
              </a:rPr>
              <a:t>color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2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white</a:t>
            </a:r>
            <a:endParaRPr sz="1200">
              <a:latin typeface="Times New Roman"/>
              <a:cs typeface="Times New Roman"/>
            </a:endParaRPr>
          </a:p>
          <a:p>
            <a:pPr marL="341630" indent="-266700">
              <a:lnSpc>
                <a:spcPct val="100000"/>
              </a:lnSpc>
              <a:spcBef>
                <a:spcPts val="5"/>
              </a:spcBef>
              <a:buAutoNum type="arabicPlain" startAt="2"/>
              <a:tabLst>
                <a:tab pos="340995" algn="l"/>
                <a:tab pos="342265" algn="l"/>
                <a:tab pos="1236980" algn="l"/>
              </a:tabLst>
            </a:pP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r</a:t>
            </a:r>
            <a:r>
              <a:rPr dirty="0" sz="1200" spc="10">
                <a:latin typeface="Garamond"/>
                <a:cs typeface="Garamond"/>
              </a:rPr>
              <a:t>]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-90">
                <a:latin typeface="Lucida Sans Unicode"/>
                <a:cs typeface="Lucida Sans Unicode"/>
              </a:rPr>
              <a:t>0</a:t>
            </a:r>
            <a:r>
              <a:rPr dirty="0" sz="1200" spc="-90">
                <a:latin typeface="Garamond"/>
                <a:cs typeface="Garamond"/>
              </a:rPr>
              <a:t>;	</a:t>
            </a:r>
            <a:r>
              <a:rPr dirty="0" sz="1200" spc="-5">
                <a:latin typeface="Times New Roman"/>
                <a:cs typeface="Times New Roman"/>
              </a:rPr>
              <a:t>pred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Garamond"/>
                <a:cs typeface="Garamond"/>
              </a:rPr>
              <a:t>[</a:t>
            </a:r>
            <a:r>
              <a:rPr dirty="0" sz="1200" spc="10">
                <a:latin typeface="Lucida Sans Unicode"/>
                <a:cs typeface="Lucida Sans Unicode"/>
              </a:rPr>
              <a:t>r</a:t>
            </a:r>
            <a:r>
              <a:rPr dirty="0" sz="1200" spc="1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nil</a:t>
            </a:r>
            <a:r>
              <a:rPr dirty="0" sz="1200" spc="50">
                <a:latin typeface="Garamond"/>
                <a:cs typeface="Garamond"/>
              </a:rPr>
              <a:t>; </a:t>
            </a:r>
            <a:r>
              <a:rPr dirty="0" sz="1200" spc="17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pq.decrease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r,</a:t>
            </a:r>
            <a:r>
              <a:rPr dirty="0" sz="1200" spc="110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r</a:t>
            </a:r>
            <a:r>
              <a:rPr dirty="0" sz="1200" spc="25">
                <a:latin typeface="Garamond"/>
                <a:cs typeface="Garamond"/>
              </a:rPr>
              <a:t>]);</a:t>
            </a:r>
            <a:endParaRPr sz="1200">
              <a:latin typeface="Garamond"/>
              <a:cs typeface="Garamond"/>
            </a:endParaRPr>
          </a:p>
          <a:p>
            <a:pPr marL="3035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303530" algn="l"/>
                <a:tab pos="3041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pq.not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empty </a:t>
            </a:r>
            <a:r>
              <a:rPr dirty="0" sz="1200" spc="110">
                <a:latin typeface="Garamond"/>
                <a:cs typeface="Garamond"/>
              </a:rPr>
              <a:t>())</a:t>
            </a:r>
            <a:endParaRPr sz="1200">
              <a:latin typeface="Garamond"/>
              <a:cs typeface="Garamond"/>
            </a:endParaRPr>
          </a:p>
          <a:p>
            <a:pPr marL="303530" indent="-228600">
              <a:lnSpc>
                <a:spcPct val="100000"/>
              </a:lnSpc>
              <a:buFont typeface="Times New Roman"/>
              <a:buAutoNum type="arabicPlain" startAt="2"/>
              <a:tabLst>
                <a:tab pos="303530" algn="l"/>
                <a:tab pos="3041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24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pq.extract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()</a:t>
            </a:r>
            <a:endParaRPr sz="1200">
              <a:latin typeface="Garamond"/>
              <a:cs typeface="Garamond"/>
            </a:endParaRPr>
          </a:p>
          <a:p>
            <a:pPr marL="50165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501650" algn="l"/>
                <a:tab pos="502284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285">
                <a:latin typeface="Segoe UI Symbol"/>
                <a:cs typeface="Segoe UI Symbol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adj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Garamond"/>
                <a:cs typeface="Garamond"/>
              </a:rPr>
              <a:t>[</a:t>
            </a:r>
            <a:r>
              <a:rPr dirty="0" sz="1200" spc="35">
                <a:latin typeface="Lucida Sans Unicode"/>
                <a:cs typeface="Lucida Sans Unicode"/>
              </a:rPr>
              <a:t>u</a:t>
            </a:r>
            <a:r>
              <a:rPr dirty="0" sz="1200" spc="35">
                <a:latin typeface="Garamond"/>
                <a:cs typeface="Garamond"/>
              </a:rPr>
              <a:t>])</a:t>
            </a:r>
            <a:endParaRPr sz="1200">
              <a:latin typeface="Garamond"/>
              <a:cs typeface="Garamond"/>
            </a:endParaRPr>
          </a:p>
          <a:p>
            <a:pPr marL="75565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  <a:p>
            <a:pPr marL="75565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10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11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12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97328" y="3566554"/>
            <a:ext cx="3331845" cy="9417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olo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==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55">
                <a:latin typeface="Lucida Sans Unicode"/>
                <a:cs typeface="Lucida Sans Unicode"/>
              </a:rPr>
              <a:t>an</a:t>
            </a:r>
            <a:r>
              <a:rPr dirty="0" sz="1200" spc="-35">
                <a:latin typeface="Lucida Sans Unicode"/>
                <a:cs typeface="Lucida Sans Unicode"/>
              </a:rPr>
              <a:t>d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691515" marR="899794" indent="-363220">
              <a:lnSpc>
                <a:spcPct val="100000"/>
              </a:lnSpc>
              <a:spcBef>
                <a:spcPts val="5"/>
              </a:spcBef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00">
                <a:latin typeface="Garamond"/>
                <a:cs typeface="Garamond"/>
              </a:rPr>
              <a:t>)  </a:t>
            </a:r>
            <a:r>
              <a:rPr dirty="0" sz="1200" spc="-5">
                <a:latin typeface="Times New Roman"/>
                <a:cs typeface="Times New Roman"/>
              </a:rPr>
              <a:t>pq.decrease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 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v,</a:t>
            </a:r>
            <a:r>
              <a:rPr dirty="0" sz="1200" spc="100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 </a:t>
            </a:r>
            <a:r>
              <a:rPr dirty="0" sz="1200" spc="20">
                <a:latin typeface="Garamond"/>
                <a:cs typeface="Garamond"/>
              </a:rPr>
              <a:t>[</a:t>
            </a:r>
            <a:r>
              <a:rPr dirty="0" sz="1200" spc="20">
                <a:latin typeface="Lucida Sans Unicode"/>
                <a:cs typeface="Lucida Sans Unicode"/>
              </a:rPr>
              <a:t>v</a:t>
            </a:r>
            <a:r>
              <a:rPr dirty="0" sz="1200" spc="20">
                <a:latin typeface="Garamond"/>
                <a:cs typeface="Garamond"/>
              </a:rPr>
              <a:t>]) </a:t>
            </a:r>
            <a:r>
              <a:rPr dirty="0" sz="1200" spc="-28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Garamond"/>
                <a:cs typeface="Garamond"/>
              </a:rPr>
              <a:t>[</a:t>
            </a:r>
            <a:r>
              <a:rPr dirty="0" sz="1200" spc="-10">
                <a:latin typeface="Lucida Sans Unicode"/>
                <a:cs typeface="Lucida Sans Unicode"/>
              </a:rPr>
              <a:t>v</a:t>
            </a:r>
            <a:r>
              <a:rPr dirty="0" sz="1200" spc="-10">
                <a:latin typeface="Garamond"/>
                <a:cs typeface="Garamond"/>
              </a:rPr>
              <a:t>]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endParaRPr sz="1200">
              <a:latin typeface="Lucida Sans Unicode"/>
              <a:cs typeface="Lucida Sans Unicode"/>
            </a:endParaRPr>
          </a:p>
          <a:p>
            <a:pPr marL="37465">
              <a:lnSpc>
                <a:spcPct val="100000"/>
              </a:lnSpc>
              <a:spcBef>
                <a:spcPts val="10"/>
              </a:spcBef>
            </a:pPr>
            <a:r>
              <a:rPr dirty="0" sz="1200" spc="-5">
                <a:latin typeface="Times New Roman"/>
                <a:cs typeface="Times New Roman"/>
              </a:rPr>
              <a:t>color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black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914400" y="2110841"/>
            <a:ext cx="5487035" cy="2636520"/>
          </a:xfrm>
          <a:custGeom>
            <a:avLst/>
            <a:gdLst/>
            <a:ahLst/>
            <a:cxnLst/>
            <a:rect l="l" t="t" r="r" b="b"/>
            <a:pathLst>
              <a:path w="5487035" h="2636520">
                <a:moveTo>
                  <a:pt x="5486400" y="2630779"/>
                </a:moveTo>
                <a:lnTo>
                  <a:pt x="0" y="2630779"/>
                </a:lnTo>
                <a:lnTo>
                  <a:pt x="0" y="2635910"/>
                </a:lnTo>
                <a:lnTo>
                  <a:pt x="5486400" y="2635910"/>
                </a:lnTo>
                <a:lnTo>
                  <a:pt x="5486400" y="2630779"/>
                </a:lnTo>
                <a:close/>
              </a:path>
              <a:path w="5487035" h="2636520">
                <a:moveTo>
                  <a:pt x="5486959" y="0"/>
                </a:moveTo>
                <a:lnTo>
                  <a:pt x="5481828" y="0"/>
                </a:lnTo>
                <a:lnTo>
                  <a:pt x="5481828" y="2629814"/>
                </a:lnTo>
                <a:lnTo>
                  <a:pt x="5486959" y="2629814"/>
                </a:lnTo>
                <a:lnTo>
                  <a:pt x="5486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901699" y="4826711"/>
            <a:ext cx="6296660" cy="574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Figures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8.58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8.60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illustrate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applied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contents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priority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queue </a:t>
            </a:r>
            <a:r>
              <a:rPr dirty="0" sz="1200" spc="-5">
                <a:latin typeface="Times New Roman"/>
                <a:cs typeface="Times New Roman"/>
              </a:rPr>
              <a:t>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progresses.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arrows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indicate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predecessor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numeric </a:t>
            </a:r>
            <a:r>
              <a:rPr dirty="0" sz="1200" spc="-5">
                <a:latin typeface="Times New Roman"/>
                <a:cs typeface="Times New Roman"/>
              </a:rPr>
              <a:t> labels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each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is its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772411" y="6608897"/>
            <a:ext cx="4648200" cy="2068830"/>
            <a:chOff x="1772411" y="6608897"/>
            <a:chExt cx="4648200" cy="2068830"/>
          </a:xfrm>
        </p:grpSpPr>
        <p:sp>
          <p:nvSpPr>
            <p:cNvPr id="12" name="object 12"/>
            <p:cNvSpPr/>
            <p:nvPr/>
          </p:nvSpPr>
          <p:spPr>
            <a:xfrm>
              <a:off x="1772411" y="6608897"/>
              <a:ext cx="4648200" cy="2068830"/>
            </a:xfrm>
            <a:custGeom>
              <a:avLst/>
              <a:gdLst/>
              <a:ahLst/>
              <a:cxnLst/>
              <a:rect l="l" t="t" r="r" b="b"/>
              <a:pathLst>
                <a:path w="4648200" h="2068829">
                  <a:moveTo>
                    <a:pt x="4648001" y="0"/>
                  </a:moveTo>
                  <a:lnTo>
                    <a:pt x="0" y="0"/>
                  </a:lnTo>
                  <a:lnTo>
                    <a:pt x="0" y="2068250"/>
                  </a:lnTo>
                  <a:lnTo>
                    <a:pt x="4648001" y="2068250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959473" y="6971213"/>
              <a:ext cx="323850" cy="128905"/>
            </a:xfrm>
            <a:custGeom>
              <a:avLst/>
              <a:gdLst/>
              <a:ahLst/>
              <a:cxnLst/>
              <a:rect l="l" t="t" r="r" b="b"/>
              <a:pathLst>
                <a:path w="323850" h="128904">
                  <a:moveTo>
                    <a:pt x="207980" y="0"/>
                  </a:moveTo>
                  <a:lnTo>
                    <a:pt x="226634" y="49743"/>
                  </a:lnTo>
                  <a:lnTo>
                    <a:pt x="0" y="15880"/>
                  </a:lnTo>
                  <a:lnTo>
                    <a:pt x="26258" y="64251"/>
                  </a:lnTo>
                  <a:lnTo>
                    <a:pt x="0" y="111937"/>
                  </a:lnTo>
                  <a:lnTo>
                    <a:pt x="226634" y="78760"/>
                  </a:lnTo>
                  <a:lnTo>
                    <a:pt x="207980" y="128518"/>
                  </a:lnTo>
                  <a:lnTo>
                    <a:pt x="323377" y="64251"/>
                  </a:lnTo>
                  <a:lnTo>
                    <a:pt x="2079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959473" y="6971213"/>
              <a:ext cx="323850" cy="128905"/>
            </a:xfrm>
            <a:custGeom>
              <a:avLst/>
              <a:gdLst/>
              <a:ahLst/>
              <a:cxnLst/>
              <a:rect l="l" t="t" r="r" b="b"/>
              <a:pathLst>
                <a:path w="323850" h="128904">
                  <a:moveTo>
                    <a:pt x="323377" y="64251"/>
                  </a:moveTo>
                  <a:lnTo>
                    <a:pt x="207980" y="128518"/>
                  </a:lnTo>
                  <a:lnTo>
                    <a:pt x="226634" y="78760"/>
                  </a:lnTo>
                  <a:lnTo>
                    <a:pt x="0" y="111937"/>
                  </a:lnTo>
                  <a:lnTo>
                    <a:pt x="26258" y="64251"/>
                  </a:lnTo>
                  <a:lnTo>
                    <a:pt x="0" y="15880"/>
                  </a:lnTo>
                  <a:lnTo>
                    <a:pt x="226634" y="49743"/>
                  </a:lnTo>
                  <a:lnTo>
                    <a:pt x="207980" y="0"/>
                  </a:lnTo>
                  <a:lnTo>
                    <a:pt x="323377" y="64251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34012" y="7606903"/>
              <a:ext cx="223875" cy="24047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834012" y="7606903"/>
              <a:ext cx="224154" cy="240665"/>
            </a:xfrm>
            <a:custGeom>
              <a:avLst/>
              <a:gdLst/>
              <a:ahLst/>
              <a:cxnLst/>
              <a:rect l="l" t="t" r="r" b="b"/>
              <a:pathLst>
                <a:path w="224155" h="240665">
                  <a:moveTo>
                    <a:pt x="0" y="120243"/>
                  </a:moveTo>
                  <a:lnTo>
                    <a:pt x="11048" y="67726"/>
                  </a:lnTo>
                  <a:lnTo>
                    <a:pt x="42153" y="26258"/>
                  </a:lnTo>
                  <a:lnTo>
                    <a:pt x="87066" y="2773"/>
                  </a:lnTo>
                  <a:lnTo>
                    <a:pt x="103647" y="0"/>
                  </a:lnTo>
                  <a:lnTo>
                    <a:pt x="120228" y="0"/>
                  </a:lnTo>
                  <a:lnTo>
                    <a:pt x="167899" y="15895"/>
                  </a:lnTo>
                  <a:lnTo>
                    <a:pt x="204536" y="52517"/>
                  </a:lnTo>
                  <a:lnTo>
                    <a:pt x="222488" y="102275"/>
                  </a:lnTo>
                  <a:lnTo>
                    <a:pt x="223875" y="120243"/>
                  </a:lnTo>
                  <a:lnTo>
                    <a:pt x="222488" y="138196"/>
                  </a:lnTo>
                  <a:lnTo>
                    <a:pt x="204536" y="187954"/>
                  </a:lnTo>
                  <a:lnTo>
                    <a:pt x="167899" y="224576"/>
                  </a:lnTo>
                  <a:lnTo>
                    <a:pt x="120228" y="240471"/>
                  </a:lnTo>
                  <a:lnTo>
                    <a:pt x="103647" y="240471"/>
                  </a:lnTo>
                  <a:lnTo>
                    <a:pt x="55961" y="224576"/>
                  </a:lnTo>
                  <a:lnTo>
                    <a:pt x="20040" y="187954"/>
                  </a:lnTo>
                  <a:lnTo>
                    <a:pt x="1386" y="138196"/>
                  </a:lnTo>
                  <a:lnTo>
                    <a:pt x="0" y="120243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1972208" y="6908332"/>
              <a:ext cx="1958339" cy="1638935"/>
            </a:xfrm>
            <a:custGeom>
              <a:avLst/>
              <a:gdLst/>
              <a:ahLst/>
              <a:cxnLst/>
              <a:rect l="l" t="t" r="r" b="b"/>
              <a:pathLst>
                <a:path w="1958339" h="1638934">
                  <a:moveTo>
                    <a:pt x="1263807" y="120228"/>
                  </a:moveTo>
                  <a:lnTo>
                    <a:pt x="1274856" y="67711"/>
                  </a:lnTo>
                  <a:lnTo>
                    <a:pt x="1305961" y="26258"/>
                  </a:lnTo>
                  <a:lnTo>
                    <a:pt x="1350873" y="2758"/>
                  </a:lnTo>
                  <a:lnTo>
                    <a:pt x="1367454" y="0"/>
                  </a:lnTo>
                  <a:lnTo>
                    <a:pt x="1384035" y="0"/>
                  </a:lnTo>
                  <a:lnTo>
                    <a:pt x="1431706" y="15880"/>
                  </a:lnTo>
                  <a:lnTo>
                    <a:pt x="1467642" y="52517"/>
                  </a:lnTo>
                  <a:lnTo>
                    <a:pt x="1486296" y="102260"/>
                  </a:lnTo>
                  <a:lnTo>
                    <a:pt x="1487683" y="120228"/>
                  </a:lnTo>
                  <a:lnTo>
                    <a:pt x="1486296" y="138196"/>
                  </a:lnTo>
                  <a:lnTo>
                    <a:pt x="1467642" y="187939"/>
                  </a:lnTo>
                  <a:lnTo>
                    <a:pt x="1431706" y="224561"/>
                  </a:lnTo>
                  <a:lnTo>
                    <a:pt x="1384035" y="240456"/>
                  </a:lnTo>
                  <a:lnTo>
                    <a:pt x="1367454" y="240456"/>
                  </a:lnTo>
                  <a:lnTo>
                    <a:pt x="1319768" y="224561"/>
                  </a:lnTo>
                  <a:lnTo>
                    <a:pt x="1283147" y="187939"/>
                  </a:lnTo>
                  <a:lnTo>
                    <a:pt x="1265194" y="138196"/>
                  </a:lnTo>
                  <a:lnTo>
                    <a:pt x="1263807" y="120228"/>
                  </a:lnTo>
                </a:path>
                <a:path w="1958339" h="1638934">
                  <a:moveTo>
                    <a:pt x="330281" y="120228"/>
                  </a:moveTo>
                  <a:lnTo>
                    <a:pt x="341345" y="67711"/>
                  </a:lnTo>
                  <a:lnTo>
                    <a:pt x="372435" y="26258"/>
                  </a:lnTo>
                  <a:lnTo>
                    <a:pt x="417347" y="2758"/>
                  </a:lnTo>
                  <a:lnTo>
                    <a:pt x="433928" y="0"/>
                  </a:lnTo>
                  <a:lnTo>
                    <a:pt x="450524" y="0"/>
                  </a:lnTo>
                  <a:lnTo>
                    <a:pt x="498195" y="15880"/>
                  </a:lnTo>
                  <a:lnTo>
                    <a:pt x="534817" y="52517"/>
                  </a:lnTo>
                  <a:lnTo>
                    <a:pt x="552785" y="102260"/>
                  </a:lnTo>
                  <a:lnTo>
                    <a:pt x="554172" y="120228"/>
                  </a:lnTo>
                  <a:lnTo>
                    <a:pt x="552785" y="138196"/>
                  </a:lnTo>
                  <a:lnTo>
                    <a:pt x="534817" y="187939"/>
                  </a:lnTo>
                  <a:lnTo>
                    <a:pt x="498195" y="224561"/>
                  </a:lnTo>
                  <a:lnTo>
                    <a:pt x="450524" y="240456"/>
                  </a:lnTo>
                  <a:lnTo>
                    <a:pt x="433928" y="240456"/>
                  </a:lnTo>
                  <a:lnTo>
                    <a:pt x="386257" y="224561"/>
                  </a:lnTo>
                  <a:lnTo>
                    <a:pt x="349636" y="187939"/>
                  </a:lnTo>
                  <a:lnTo>
                    <a:pt x="331668" y="138196"/>
                  </a:lnTo>
                  <a:lnTo>
                    <a:pt x="330281" y="120228"/>
                  </a:lnTo>
                </a:path>
                <a:path w="1958339" h="1638934">
                  <a:moveTo>
                    <a:pt x="791870" y="818814"/>
                  </a:moveTo>
                  <a:lnTo>
                    <a:pt x="802919" y="766297"/>
                  </a:lnTo>
                  <a:lnTo>
                    <a:pt x="834008" y="724829"/>
                  </a:lnTo>
                  <a:lnTo>
                    <a:pt x="878921" y="701344"/>
                  </a:lnTo>
                  <a:lnTo>
                    <a:pt x="895517" y="698571"/>
                  </a:lnTo>
                  <a:lnTo>
                    <a:pt x="912098" y="698571"/>
                  </a:lnTo>
                  <a:lnTo>
                    <a:pt x="959769" y="714466"/>
                  </a:lnTo>
                  <a:lnTo>
                    <a:pt x="995705" y="751088"/>
                  </a:lnTo>
                  <a:lnTo>
                    <a:pt x="1014359" y="800846"/>
                  </a:lnTo>
                  <a:lnTo>
                    <a:pt x="1015745" y="818814"/>
                  </a:lnTo>
                  <a:lnTo>
                    <a:pt x="1014359" y="836767"/>
                  </a:lnTo>
                  <a:lnTo>
                    <a:pt x="995705" y="886526"/>
                  </a:lnTo>
                  <a:lnTo>
                    <a:pt x="959769" y="923147"/>
                  </a:lnTo>
                  <a:lnTo>
                    <a:pt x="912098" y="939043"/>
                  </a:lnTo>
                  <a:lnTo>
                    <a:pt x="895517" y="939043"/>
                  </a:lnTo>
                  <a:lnTo>
                    <a:pt x="847831" y="923147"/>
                  </a:lnTo>
                  <a:lnTo>
                    <a:pt x="811209" y="886526"/>
                  </a:lnTo>
                  <a:lnTo>
                    <a:pt x="793241" y="836767"/>
                  </a:lnTo>
                  <a:lnTo>
                    <a:pt x="791870" y="818814"/>
                  </a:lnTo>
                </a:path>
                <a:path w="1958339" h="1638934">
                  <a:moveTo>
                    <a:pt x="1734357" y="818814"/>
                  </a:moveTo>
                  <a:lnTo>
                    <a:pt x="1745421" y="766297"/>
                  </a:lnTo>
                  <a:lnTo>
                    <a:pt x="1776511" y="724829"/>
                  </a:lnTo>
                  <a:lnTo>
                    <a:pt x="1821423" y="701344"/>
                  </a:lnTo>
                  <a:lnTo>
                    <a:pt x="1838004" y="698571"/>
                  </a:lnTo>
                  <a:lnTo>
                    <a:pt x="1854601" y="698571"/>
                  </a:lnTo>
                  <a:lnTo>
                    <a:pt x="1902271" y="714466"/>
                  </a:lnTo>
                  <a:lnTo>
                    <a:pt x="1938893" y="751088"/>
                  </a:lnTo>
                  <a:lnTo>
                    <a:pt x="1956861" y="800846"/>
                  </a:lnTo>
                  <a:lnTo>
                    <a:pt x="1958248" y="818814"/>
                  </a:lnTo>
                  <a:lnTo>
                    <a:pt x="1956861" y="836767"/>
                  </a:lnTo>
                  <a:lnTo>
                    <a:pt x="1938893" y="886526"/>
                  </a:lnTo>
                  <a:lnTo>
                    <a:pt x="1902271" y="923147"/>
                  </a:lnTo>
                  <a:lnTo>
                    <a:pt x="1854601" y="939043"/>
                  </a:lnTo>
                  <a:lnTo>
                    <a:pt x="1838004" y="939043"/>
                  </a:lnTo>
                  <a:lnTo>
                    <a:pt x="1790334" y="923147"/>
                  </a:lnTo>
                  <a:lnTo>
                    <a:pt x="1753712" y="886526"/>
                  </a:lnTo>
                  <a:lnTo>
                    <a:pt x="1735744" y="836767"/>
                  </a:lnTo>
                  <a:lnTo>
                    <a:pt x="1734357" y="818814"/>
                  </a:lnTo>
                </a:path>
                <a:path w="1958339" h="1638934">
                  <a:moveTo>
                    <a:pt x="330281" y="1518086"/>
                  </a:moveTo>
                  <a:lnTo>
                    <a:pt x="341345" y="1466255"/>
                  </a:lnTo>
                  <a:lnTo>
                    <a:pt x="372435" y="1424117"/>
                  </a:lnTo>
                  <a:lnTo>
                    <a:pt x="417347" y="1400616"/>
                  </a:lnTo>
                  <a:lnTo>
                    <a:pt x="433928" y="1397858"/>
                  </a:lnTo>
                  <a:lnTo>
                    <a:pt x="450524" y="1397858"/>
                  </a:lnTo>
                  <a:lnTo>
                    <a:pt x="498195" y="1413738"/>
                  </a:lnTo>
                  <a:lnTo>
                    <a:pt x="534817" y="1450360"/>
                  </a:lnTo>
                  <a:lnTo>
                    <a:pt x="552785" y="1500118"/>
                  </a:lnTo>
                  <a:lnTo>
                    <a:pt x="554172" y="1518086"/>
                  </a:lnTo>
                  <a:lnTo>
                    <a:pt x="552785" y="1536054"/>
                  </a:lnTo>
                  <a:lnTo>
                    <a:pt x="534817" y="1586483"/>
                  </a:lnTo>
                  <a:lnTo>
                    <a:pt x="498195" y="1622419"/>
                  </a:lnTo>
                  <a:lnTo>
                    <a:pt x="450524" y="1638315"/>
                  </a:lnTo>
                  <a:lnTo>
                    <a:pt x="433928" y="1638315"/>
                  </a:lnTo>
                  <a:lnTo>
                    <a:pt x="386257" y="1622419"/>
                  </a:lnTo>
                  <a:lnTo>
                    <a:pt x="349636" y="1586483"/>
                  </a:lnTo>
                  <a:lnTo>
                    <a:pt x="331668" y="1536054"/>
                  </a:lnTo>
                  <a:lnTo>
                    <a:pt x="330281" y="1518086"/>
                  </a:lnTo>
                </a:path>
                <a:path w="1958339" h="1638934">
                  <a:moveTo>
                    <a:pt x="1263807" y="1518086"/>
                  </a:moveTo>
                  <a:lnTo>
                    <a:pt x="1274856" y="1466255"/>
                  </a:lnTo>
                  <a:lnTo>
                    <a:pt x="1305961" y="1424117"/>
                  </a:lnTo>
                  <a:lnTo>
                    <a:pt x="1350873" y="1400616"/>
                  </a:lnTo>
                  <a:lnTo>
                    <a:pt x="1367454" y="1397858"/>
                  </a:lnTo>
                  <a:lnTo>
                    <a:pt x="1384035" y="1397858"/>
                  </a:lnTo>
                  <a:lnTo>
                    <a:pt x="1431706" y="1413738"/>
                  </a:lnTo>
                  <a:lnTo>
                    <a:pt x="1467642" y="1450360"/>
                  </a:lnTo>
                  <a:lnTo>
                    <a:pt x="1486296" y="1500118"/>
                  </a:lnTo>
                  <a:lnTo>
                    <a:pt x="1487683" y="1518086"/>
                  </a:lnTo>
                  <a:lnTo>
                    <a:pt x="1486296" y="1536054"/>
                  </a:lnTo>
                  <a:lnTo>
                    <a:pt x="1467642" y="1586483"/>
                  </a:lnTo>
                  <a:lnTo>
                    <a:pt x="1431706" y="1622419"/>
                  </a:lnTo>
                  <a:lnTo>
                    <a:pt x="1384035" y="1638315"/>
                  </a:lnTo>
                  <a:lnTo>
                    <a:pt x="1367454" y="1638315"/>
                  </a:lnTo>
                  <a:lnTo>
                    <a:pt x="1319768" y="1622419"/>
                  </a:lnTo>
                  <a:lnTo>
                    <a:pt x="1283147" y="1586483"/>
                  </a:lnTo>
                  <a:lnTo>
                    <a:pt x="1265194" y="1536054"/>
                  </a:lnTo>
                  <a:lnTo>
                    <a:pt x="1263807" y="1518086"/>
                  </a:lnTo>
                </a:path>
                <a:path w="1958339" h="1638934">
                  <a:moveTo>
                    <a:pt x="0" y="656432"/>
                  </a:moveTo>
                  <a:lnTo>
                    <a:pt x="18653" y="626028"/>
                  </a:lnTo>
                </a:path>
                <a:path w="1958339" h="1638934">
                  <a:moveTo>
                    <a:pt x="37307" y="595624"/>
                  </a:moveTo>
                  <a:lnTo>
                    <a:pt x="55961" y="565221"/>
                  </a:lnTo>
                </a:path>
                <a:path w="1958339" h="1638934">
                  <a:moveTo>
                    <a:pt x="74630" y="534817"/>
                  </a:moveTo>
                  <a:lnTo>
                    <a:pt x="93284" y="504413"/>
                  </a:lnTo>
                </a:path>
                <a:path w="1958339" h="1638934">
                  <a:moveTo>
                    <a:pt x="111937" y="474695"/>
                  </a:moveTo>
                  <a:lnTo>
                    <a:pt x="131277" y="444291"/>
                  </a:lnTo>
                </a:path>
                <a:path w="1958339" h="1638934">
                  <a:moveTo>
                    <a:pt x="149946" y="413202"/>
                  </a:moveTo>
                  <a:lnTo>
                    <a:pt x="168600" y="382798"/>
                  </a:lnTo>
                </a:path>
                <a:path w="1958339" h="1638934">
                  <a:moveTo>
                    <a:pt x="187253" y="352394"/>
                  </a:moveTo>
                  <a:lnTo>
                    <a:pt x="205907" y="321990"/>
                  </a:lnTo>
                </a:path>
                <a:path w="1958339" h="1638934">
                  <a:moveTo>
                    <a:pt x="225262" y="291586"/>
                  </a:moveTo>
                  <a:lnTo>
                    <a:pt x="243916" y="260497"/>
                  </a:lnTo>
                </a:path>
                <a:path w="1958339" h="1638934">
                  <a:moveTo>
                    <a:pt x="262569" y="230093"/>
                  </a:moveTo>
                  <a:lnTo>
                    <a:pt x="281223" y="199689"/>
                  </a:lnTo>
                </a:path>
                <a:path w="1958339" h="1638934">
                  <a:moveTo>
                    <a:pt x="299877" y="169285"/>
                  </a:moveTo>
                  <a:lnTo>
                    <a:pt x="318546" y="138882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945949" y="7534361"/>
              <a:ext cx="62230" cy="73025"/>
            </a:xfrm>
            <a:custGeom>
              <a:avLst/>
              <a:gdLst/>
              <a:ahLst/>
              <a:cxnLst/>
              <a:rect l="l" t="t" r="r" b="b"/>
              <a:pathLst>
                <a:path w="62230" h="73025">
                  <a:moveTo>
                    <a:pt x="6903" y="0"/>
                  </a:moveTo>
                  <a:lnTo>
                    <a:pt x="0" y="72542"/>
                  </a:lnTo>
                  <a:lnTo>
                    <a:pt x="62194" y="33848"/>
                  </a:lnTo>
                  <a:lnTo>
                    <a:pt x="58049" y="33848"/>
                  </a:lnTo>
                  <a:lnTo>
                    <a:pt x="53888" y="33162"/>
                  </a:lnTo>
                  <a:lnTo>
                    <a:pt x="50444" y="31775"/>
                  </a:lnTo>
                  <a:lnTo>
                    <a:pt x="46299" y="31089"/>
                  </a:lnTo>
                  <a:lnTo>
                    <a:pt x="42839" y="29702"/>
                  </a:lnTo>
                  <a:lnTo>
                    <a:pt x="38694" y="28331"/>
                  </a:lnTo>
                  <a:lnTo>
                    <a:pt x="35234" y="26258"/>
                  </a:lnTo>
                  <a:lnTo>
                    <a:pt x="31790" y="24871"/>
                  </a:lnTo>
                  <a:lnTo>
                    <a:pt x="28331" y="22799"/>
                  </a:lnTo>
                  <a:lnTo>
                    <a:pt x="25572" y="20040"/>
                  </a:lnTo>
                  <a:lnTo>
                    <a:pt x="22113" y="17967"/>
                  </a:lnTo>
                  <a:lnTo>
                    <a:pt x="13822" y="9677"/>
                  </a:lnTo>
                  <a:lnTo>
                    <a:pt x="11048" y="6217"/>
                  </a:lnTo>
                  <a:lnTo>
                    <a:pt x="8976" y="3444"/>
                  </a:lnTo>
                  <a:lnTo>
                    <a:pt x="6903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1972208" y="7889529"/>
              <a:ext cx="318770" cy="518795"/>
            </a:xfrm>
            <a:custGeom>
              <a:avLst/>
              <a:gdLst/>
              <a:ahLst/>
              <a:cxnLst/>
              <a:rect l="l" t="t" r="r" b="b"/>
              <a:pathLst>
                <a:path w="318769" h="518795">
                  <a:moveTo>
                    <a:pt x="0" y="0"/>
                  </a:moveTo>
                  <a:lnTo>
                    <a:pt x="18653" y="30403"/>
                  </a:lnTo>
                </a:path>
                <a:path w="318769" h="518795">
                  <a:moveTo>
                    <a:pt x="37307" y="60792"/>
                  </a:moveTo>
                  <a:lnTo>
                    <a:pt x="55961" y="91196"/>
                  </a:lnTo>
                </a:path>
                <a:path w="318769" h="518795">
                  <a:moveTo>
                    <a:pt x="74630" y="121599"/>
                  </a:moveTo>
                  <a:lnTo>
                    <a:pt x="93284" y="152003"/>
                  </a:lnTo>
                </a:path>
                <a:path w="318769" h="518795">
                  <a:moveTo>
                    <a:pt x="111937" y="182407"/>
                  </a:moveTo>
                  <a:lnTo>
                    <a:pt x="131277" y="212811"/>
                  </a:lnTo>
                </a:path>
                <a:path w="318769" h="518795">
                  <a:moveTo>
                    <a:pt x="149946" y="243916"/>
                  </a:moveTo>
                  <a:lnTo>
                    <a:pt x="168600" y="274319"/>
                  </a:lnTo>
                </a:path>
                <a:path w="318769" h="518795">
                  <a:moveTo>
                    <a:pt x="187253" y="304723"/>
                  </a:moveTo>
                  <a:lnTo>
                    <a:pt x="205907" y="335112"/>
                  </a:lnTo>
                </a:path>
                <a:path w="318769" h="518795">
                  <a:moveTo>
                    <a:pt x="225262" y="365516"/>
                  </a:moveTo>
                  <a:lnTo>
                    <a:pt x="243916" y="396620"/>
                  </a:lnTo>
                </a:path>
                <a:path w="318769" h="518795">
                  <a:moveTo>
                    <a:pt x="262569" y="427024"/>
                  </a:moveTo>
                  <a:lnTo>
                    <a:pt x="281223" y="457428"/>
                  </a:lnTo>
                </a:path>
                <a:path w="318769" h="518795">
                  <a:moveTo>
                    <a:pt x="299877" y="487832"/>
                  </a:moveTo>
                  <a:lnTo>
                    <a:pt x="318546" y="518236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945949" y="7848061"/>
              <a:ext cx="62230" cy="72390"/>
            </a:xfrm>
            <a:custGeom>
              <a:avLst/>
              <a:gdLst/>
              <a:ahLst/>
              <a:cxnLst/>
              <a:rect l="l" t="t" r="r" b="b"/>
              <a:pathLst>
                <a:path w="62230" h="72390">
                  <a:moveTo>
                    <a:pt x="0" y="0"/>
                  </a:moveTo>
                  <a:lnTo>
                    <a:pt x="6903" y="71871"/>
                  </a:lnTo>
                  <a:lnTo>
                    <a:pt x="8976" y="69098"/>
                  </a:lnTo>
                  <a:lnTo>
                    <a:pt x="11048" y="65638"/>
                  </a:lnTo>
                  <a:lnTo>
                    <a:pt x="13822" y="62880"/>
                  </a:lnTo>
                  <a:lnTo>
                    <a:pt x="16581" y="59420"/>
                  </a:lnTo>
                  <a:lnTo>
                    <a:pt x="19339" y="56662"/>
                  </a:lnTo>
                  <a:lnTo>
                    <a:pt x="22113" y="54589"/>
                  </a:lnTo>
                  <a:lnTo>
                    <a:pt x="25572" y="51831"/>
                  </a:lnTo>
                  <a:lnTo>
                    <a:pt x="28331" y="49758"/>
                  </a:lnTo>
                  <a:lnTo>
                    <a:pt x="35234" y="45613"/>
                  </a:lnTo>
                  <a:lnTo>
                    <a:pt x="38694" y="44226"/>
                  </a:lnTo>
                  <a:lnTo>
                    <a:pt x="42839" y="42153"/>
                  </a:lnTo>
                  <a:lnTo>
                    <a:pt x="46299" y="41468"/>
                  </a:lnTo>
                  <a:lnTo>
                    <a:pt x="50444" y="40081"/>
                  </a:lnTo>
                  <a:lnTo>
                    <a:pt x="53888" y="39395"/>
                  </a:lnTo>
                  <a:lnTo>
                    <a:pt x="62194" y="380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414442" y="7028561"/>
              <a:ext cx="1404620" cy="1398270"/>
            </a:xfrm>
            <a:custGeom>
              <a:avLst/>
              <a:gdLst/>
              <a:ahLst/>
              <a:cxnLst/>
              <a:rect l="l" t="t" r="r" b="b"/>
              <a:pathLst>
                <a:path w="1404620" h="1398270">
                  <a:moveTo>
                    <a:pt x="111937" y="1397858"/>
                  </a:moveTo>
                  <a:lnTo>
                    <a:pt x="821573" y="1397858"/>
                  </a:lnTo>
                </a:path>
                <a:path w="1404620" h="1398270">
                  <a:moveTo>
                    <a:pt x="0" y="120914"/>
                  </a:moveTo>
                  <a:lnTo>
                    <a:pt x="0" y="1277630"/>
                  </a:lnTo>
                </a:path>
                <a:path w="1404620" h="1398270">
                  <a:moveTo>
                    <a:pt x="933510" y="120914"/>
                  </a:moveTo>
                  <a:lnTo>
                    <a:pt x="933510" y="1277630"/>
                  </a:lnTo>
                </a:path>
                <a:path w="1404620" h="1398270">
                  <a:moveTo>
                    <a:pt x="1045448" y="0"/>
                  </a:moveTo>
                  <a:lnTo>
                    <a:pt x="1404061" y="578342"/>
                  </a:lnTo>
                </a:path>
                <a:path w="1404620" h="1398270">
                  <a:moveTo>
                    <a:pt x="1045448" y="1397858"/>
                  </a:moveTo>
                  <a:lnTo>
                    <a:pt x="1404061" y="819500"/>
                  </a:lnTo>
                </a:path>
                <a:path w="1404620" h="1398270">
                  <a:moveTo>
                    <a:pt x="526526" y="601157"/>
                  </a:moveTo>
                  <a:lnTo>
                    <a:pt x="876162" y="93969"/>
                  </a:lnTo>
                </a:path>
                <a:path w="1404620" h="1398270">
                  <a:moveTo>
                    <a:pt x="538962" y="785637"/>
                  </a:moveTo>
                  <a:lnTo>
                    <a:pt x="861654" y="1314251"/>
                  </a:lnTo>
                </a:path>
                <a:path w="1404620" h="1398270">
                  <a:moveTo>
                    <a:pt x="68397" y="95356"/>
                  </a:moveTo>
                  <a:lnTo>
                    <a:pt x="399379" y="598383"/>
                  </a:lnTo>
                </a:path>
                <a:path w="1404620" h="1398270">
                  <a:moveTo>
                    <a:pt x="77388" y="1310792"/>
                  </a:moveTo>
                  <a:lnTo>
                    <a:pt x="385556" y="787709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1935589" y="7233518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0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921770" y="7965959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0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299046" y="7645344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05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682541" y="7233518"/>
            <a:ext cx="40068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  <a:tabLst>
                <a:tab pos="310515" algn="l"/>
              </a:tabLst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8</a:t>
            </a: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0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390108" y="7645344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701740" y="7233518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0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695671" y="7965959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171757" y="7965959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05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701739" y="7965959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847687" y="7625308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?</a:t>
            </a:r>
            <a:endParaRPr sz="105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378510" y="6587449"/>
            <a:ext cx="1042035" cy="537210"/>
          </a:xfrm>
          <a:prstGeom prst="rect">
            <a:avLst/>
          </a:prstGeom>
        </p:spPr>
        <p:txBody>
          <a:bodyPr wrap="square" lIns="0" tIns="57150" rIns="0" bIns="0" rtlCol="0" vert="horz">
            <a:spAutoFit/>
          </a:bodyPr>
          <a:lstStyle/>
          <a:p>
            <a:pPr algn="ctr" marL="86360">
              <a:lnSpc>
                <a:spcPct val="100000"/>
              </a:lnSpc>
              <a:spcBef>
                <a:spcPts val="450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PQ:</a:t>
            </a:r>
            <a:r>
              <a:rPr dirty="0" sz="1050" spc="-4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4,8,?,?,?,?</a:t>
            </a:r>
            <a:endParaRPr sz="1050">
              <a:latin typeface="Arial"/>
              <a:cs typeface="Arial"/>
            </a:endParaRPr>
          </a:p>
          <a:p>
            <a:pPr algn="ctr" marR="28575">
              <a:lnSpc>
                <a:spcPts val="1019"/>
              </a:lnSpc>
              <a:spcBef>
                <a:spcPts val="365"/>
              </a:spcBef>
              <a:tabLst>
                <a:tab pos="257175" algn="l"/>
                <a:tab pos="709295" algn="l"/>
              </a:tabLst>
            </a:pPr>
            <a:r>
              <a:rPr dirty="0" u="heavy" sz="1050" spc="10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050" spc="10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	</a:t>
            </a:r>
            <a:r>
              <a:rPr dirty="0" u="heavy" sz="1050" spc="20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10	</a:t>
            </a:r>
            <a:endParaRPr sz="1050">
              <a:latin typeface="Arial"/>
              <a:cs typeface="Arial"/>
            </a:endParaRPr>
          </a:p>
          <a:p>
            <a:pPr algn="ctr" marR="18415">
              <a:lnSpc>
                <a:spcPts val="1019"/>
              </a:lnSpc>
              <a:tabLst>
                <a:tab pos="937894" algn="l"/>
              </a:tabLst>
            </a:pP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?</a:t>
            </a:r>
            <a:endParaRPr sz="105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793642" y="7625305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?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4250028" y="6899695"/>
            <a:ext cx="2113915" cy="1656080"/>
            <a:chOff x="4250028" y="6899695"/>
            <a:chExt cx="2113915" cy="1656080"/>
          </a:xfrm>
        </p:grpSpPr>
        <p:pic>
          <p:nvPicPr>
            <p:cNvPr id="35" name="object 3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58665" y="7606903"/>
              <a:ext cx="223875" cy="240471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4258665" y="6908332"/>
              <a:ext cx="1625600" cy="939165"/>
            </a:xfrm>
            <a:custGeom>
              <a:avLst/>
              <a:gdLst/>
              <a:ahLst/>
              <a:cxnLst/>
              <a:rect l="l" t="t" r="r" b="b"/>
              <a:pathLst>
                <a:path w="1625600" h="939165">
                  <a:moveTo>
                    <a:pt x="0" y="818814"/>
                  </a:moveTo>
                  <a:lnTo>
                    <a:pt x="11064" y="766297"/>
                  </a:lnTo>
                  <a:lnTo>
                    <a:pt x="42153" y="724829"/>
                  </a:lnTo>
                  <a:lnTo>
                    <a:pt x="87066" y="701344"/>
                  </a:lnTo>
                  <a:lnTo>
                    <a:pt x="103647" y="698571"/>
                  </a:lnTo>
                  <a:lnTo>
                    <a:pt x="120228" y="698571"/>
                  </a:lnTo>
                  <a:lnTo>
                    <a:pt x="167914" y="714466"/>
                  </a:lnTo>
                  <a:lnTo>
                    <a:pt x="204536" y="751088"/>
                  </a:lnTo>
                  <a:lnTo>
                    <a:pt x="222503" y="800846"/>
                  </a:lnTo>
                  <a:lnTo>
                    <a:pt x="223875" y="818814"/>
                  </a:lnTo>
                  <a:lnTo>
                    <a:pt x="222503" y="836767"/>
                  </a:lnTo>
                  <a:lnTo>
                    <a:pt x="204536" y="886526"/>
                  </a:lnTo>
                  <a:lnTo>
                    <a:pt x="167914" y="923147"/>
                  </a:lnTo>
                  <a:lnTo>
                    <a:pt x="120228" y="939043"/>
                  </a:lnTo>
                  <a:lnTo>
                    <a:pt x="103647" y="939043"/>
                  </a:lnTo>
                  <a:lnTo>
                    <a:pt x="55976" y="923147"/>
                  </a:lnTo>
                  <a:lnTo>
                    <a:pt x="19354" y="886526"/>
                  </a:lnTo>
                  <a:lnTo>
                    <a:pt x="1386" y="836767"/>
                  </a:lnTo>
                  <a:lnTo>
                    <a:pt x="0" y="818814"/>
                  </a:lnTo>
                </a:path>
                <a:path w="1625600" h="939165">
                  <a:moveTo>
                    <a:pt x="1401317" y="120228"/>
                  </a:moveTo>
                  <a:lnTo>
                    <a:pt x="1412366" y="67711"/>
                  </a:lnTo>
                  <a:lnTo>
                    <a:pt x="1443456" y="26258"/>
                  </a:lnTo>
                  <a:lnTo>
                    <a:pt x="1488384" y="2758"/>
                  </a:lnTo>
                  <a:lnTo>
                    <a:pt x="1504965" y="0"/>
                  </a:lnTo>
                  <a:lnTo>
                    <a:pt x="1521546" y="0"/>
                  </a:lnTo>
                  <a:lnTo>
                    <a:pt x="1569217" y="15880"/>
                  </a:lnTo>
                  <a:lnTo>
                    <a:pt x="1605838" y="52517"/>
                  </a:lnTo>
                  <a:lnTo>
                    <a:pt x="1623806" y="102260"/>
                  </a:lnTo>
                  <a:lnTo>
                    <a:pt x="1625193" y="120228"/>
                  </a:lnTo>
                  <a:lnTo>
                    <a:pt x="1623806" y="138196"/>
                  </a:lnTo>
                  <a:lnTo>
                    <a:pt x="1605838" y="187939"/>
                  </a:lnTo>
                  <a:lnTo>
                    <a:pt x="1569217" y="224561"/>
                  </a:lnTo>
                  <a:lnTo>
                    <a:pt x="1521546" y="240456"/>
                  </a:lnTo>
                  <a:lnTo>
                    <a:pt x="1504965" y="240456"/>
                  </a:lnTo>
                  <a:lnTo>
                    <a:pt x="1457279" y="224561"/>
                  </a:lnTo>
                  <a:lnTo>
                    <a:pt x="1420657" y="187939"/>
                  </a:lnTo>
                  <a:lnTo>
                    <a:pt x="1402689" y="138196"/>
                  </a:lnTo>
                  <a:lnTo>
                    <a:pt x="1401317" y="120228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726457" y="6908332"/>
              <a:ext cx="223875" cy="240456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4726457" y="6908332"/>
              <a:ext cx="1628775" cy="1638935"/>
            </a:xfrm>
            <a:custGeom>
              <a:avLst/>
              <a:gdLst/>
              <a:ahLst/>
              <a:cxnLst/>
              <a:rect l="l" t="t" r="r" b="b"/>
              <a:pathLst>
                <a:path w="1628775" h="1638934">
                  <a:moveTo>
                    <a:pt x="0" y="120228"/>
                  </a:moveTo>
                  <a:lnTo>
                    <a:pt x="11064" y="67711"/>
                  </a:lnTo>
                  <a:lnTo>
                    <a:pt x="42153" y="26258"/>
                  </a:lnTo>
                  <a:lnTo>
                    <a:pt x="87066" y="2758"/>
                  </a:lnTo>
                  <a:lnTo>
                    <a:pt x="103647" y="0"/>
                  </a:lnTo>
                  <a:lnTo>
                    <a:pt x="120228" y="0"/>
                  </a:lnTo>
                  <a:lnTo>
                    <a:pt x="167914" y="15880"/>
                  </a:lnTo>
                  <a:lnTo>
                    <a:pt x="204536" y="52517"/>
                  </a:lnTo>
                  <a:lnTo>
                    <a:pt x="222503" y="102260"/>
                  </a:lnTo>
                  <a:lnTo>
                    <a:pt x="223875" y="120228"/>
                  </a:lnTo>
                  <a:lnTo>
                    <a:pt x="222503" y="138196"/>
                  </a:lnTo>
                  <a:lnTo>
                    <a:pt x="204536" y="187939"/>
                  </a:lnTo>
                  <a:lnTo>
                    <a:pt x="167914" y="224561"/>
                  </a:lnTo>
                  <a:lnTo>
                    <a:pt x="120228" y="240456"/>
                  </a:lnTo>
                  <a:lnTo>
                    <a:pt x="103647" y="240456"/>
                  </a:lnTo>
                  <a:lnTo>
                    <a:pt x="55976" y="224561"/>
                  </a:lnTo>
                  <a:lnTo>
                    <a:pt x="19354" y="187939"/>
                  </a:lnTo>
                  <a:lnTo>
                    <a:pt x="1386" y="138196"/>
                  </a:lnTo>
                  <a:lnTo>
                    <a:pt x="0" y="120228"/>
                  </a:lnTo>
                </a:path>
                <a:path w="1628775" h="1638934">
                  <a:moveTo>
                    <a:pt x="462274" y="818814"/>
                  </a:moveTo>
                  <a:lnTo>
                    <a:pt x="473323" y="766297"/>
                  </a:lnTo>
                  <a:lnTo>
                    <a:pt x="504428" y="724829"/>
                  </a:lnTo>
                  <a:lnTo>
                    <a:pt x="549341" y="701344"/>
                  </a:lnTo>
                  <a:lnTo>
                    <a:pt x="565922" y="698571"/>
                  </a:lnTo>
                  <a:lnTo>
                    <a:pt x="582503" y="698571"/>
                  </a:lnTo>
                  <a:lnTo>
                    <a:pt x="630173" y="714466"/>
                  </a:lnTo>
                  <a:lnTo>
                    <a:pt x="666795" y="751088"/>
                  </a:lnTo>
                  <a:lnTo>
                    <a:pt x="684763" y="800846"/>
                  </a:lnTo>
                  <a:lnTo>
                    <a:pt x="686150" y="818814"/>
                  </a:lnTo>
                  <a:lnTo>
                    <a:pt x="684763" y="836767"/>
                  </a:lnTo>
                  <a:lnTo>
                    <a:pt x="666795" y="886526"/>
                  </a:lnTo>
                  <a:lnTo>
                    <a:pt x="630173" y="923147"/>
                  </a:lnTo>
                  <a:lnTo>
                    <a:pt x="582503" y="939043"/>
                  </a:lnTo>
                  <a:lnTo>
                    <a:pt x="565922" y="939043"/>
                  </a:lnTo>
                  <a:lnTo>
                    <a:pt x="518236" y="923147"/>
                  </a:lnTo>
                  <a:lnTo>
                    <a:pt x="481614" y="886526"/>
                  </a:lnTo>
                  <a:lnTo>
                    <a:pt x="463646" y="836767"/>
                  </a:lnTo>
                  <a:lnTo>
                    <a:pt x="462274" y="818814"/>
                  </a:lnTo>
                </a:path>
                <a:path w="1628775" h="1638934">
                  <a:moveTo>
                    <a:pt x="1404777" y="818814"/>
                  </a:moveTo>
                  <a:lnTo>
                    <a:pt x="1415826" y="766297"/>
                  </a:lnTo>
                  <a:lnTo>
                    <a:pt x="1446916" y="724829"/>
                  </a:lnTo>
                  <a:lnTo>
                    <a:pt x="1491828" y="701344"/>
                  </a:lnTo>
                  <a:lnTo>
                    <a:pt x="1508424" y="698571"/>
                  </a:lnTo>
                  <a:lnTo>
                    <a:pt x="1525005" y="698571"/>
                  </a:lnTo>
                  <a:lnTo>
                    <a:pt x="1572676" y="714466"/>
                  </a:lnTo>
                  <a:lnTo>
                    <a:pt x="1608612" y="751088"/>
                  </a:lnTo>
                  <a:lnTo>
                    <a:pt x="1627266" y="800846"/>
                  </a:lnTo>
                  <a:lnTo>
                    <a:pt x="1628653" y="818814"/>
                  </a:lnTo>
                  <a:lnTo>
                    <a:pt x="1627266" y="836767"/>
                  </a:lnTo>
                  <a:lnTo>
                    <a:pt x="1608612" y="886526"/>
                  </a:lnTo>
                  <a:lnTo>
                    <a:pt x="1572676" y="923147"/>
                  </a:lnTo>
                  <a:lnTo>
                    <a:pt x="1525005" y="939043"/>
                  </a:lnTo>
                  <a:lnTo>
                    <a:pt x="1508424" y="939043"/>
                  </a:lnTo>
                  <a:lnTo>
                    <a:pt x="1460738" y="923147"/>
                  </a:lnTo>
                  <a:lnTo>
                    <a:pt x="1424117" y="886526"/>
                  </a:lnTo>
                  <a:lnTo>
                    <a:pt x="1406149" y="836767"/>
                  </a:lnTo>
                  <a:lnTo>
                    <a:pt x="1404777" y="818814"/>
                  </a:lnTo>
                </a:path>
                <a:path w="1628775" h="1638934">
                  <a:moveTo>
                    <a:pt x="0" y="1518086"/>
                  </a:moveTo>
                  <a:lnTo>
                    <a:pt x="11064" y="1466255"/>
                  </a:lnTo>
                  <a:lnTo>
                    <a:pt x="42153" y="1424117"/>
                  </a:lnTo>
                  <a:lnTo>
                    <a:pt x="87066" y="1400616"/>
                  </a:lnTo>
                  <a:lnTo>
                    <a:pt x="103647" y="1397858"/>
                  </a:lnTo>
                  <a:lnTo>
                    <a:pt x="120228" y="1397858"/>
                  </a:lnTo>
                  <a:lnTo>
                    <a:pt x="167914" y="1413738"/>
                  </a:lnTo>
                  <a:lnTo>
                    <a:pt x="204536" y="1450360"/>
                  </a:lnTo>
                  <a:lnTo>
                    <a:pt x="222503" y="1500118"/>
                  </a:lnTo>
                  <a:lnTo>
                    <a:pt x="223875" y="1518086"/>
                  </a:lnTo>
                  <a:lnTo>
                    <a:pt x="222503" y="1536054"/>
                  </a:lnTo>
                  <a:lnTo>
                    <a:pt x="204536" y="1586483"/>
                  </a:lnTo>
                  <a:lnTo>
                    <a:pt x="167914" y="1622419"/>
                  </a:lnTo>
                  <a:lnTo>
                    <a:pt x="120228" y="1638315"/>
                  </a:lnTo>
                  <a:lnTo>
                    <a:pt x="103647" y="1638315"/>
                  </a:lnTo>
                  <a:lnTo>
                    <a:pt x="55976" y="1622419"/>
                  </a:lnTo>
                  <a:lnTo>
                    <a:pt x="19354" y="1586483"/>
                  </a:lnTo>
                  <a:lnTo>
                    <a:pt x="1386" y="1536054"/>
                  </a:lnTo>
                  <a:lnTo>
                    <a:pt x="0" y="1518086"/>
                  </a:lnTo>
                </a:path>
                <a:path w="1628775" h="1638934">
                  <a:moveTo>
                    <a:pt x="933526" y="1518086"/>
                  </a:moveTo>
                  <a:lnTo>
                    <a:pt x="944575" y="1466255"/>
                  </a:lnTo>
                  <a:lnTo>
                    <a:pt x="975664" y="1424117"/>
                  </a:lnTo>
                  <a:lnTo>
                    <a:pt x="1020592" y="1400616"/>
                  </a:lnTo>
                  <a:lnTo>
                    <a:pt x="1037173" y="1397858"/>
                  </a:lnTo>
                  <a:lnTo>
                    <a:pt x="1053754" y="1397858"/>
                  </a:lnTo>
                  <a:lnTo>
                    <a:pt x="1101425" y="1413738"/>
                  </a:lnTo>
                  <a:lnTo>
                    <a:pt x="1138046" y="1450360"/>
                  </a:lnTo>
                  <a:lnTo>
                    <a:pt x="1156014" y="1500118"/>
                  </a:lnTo>
                  <a:lnTo>
                    <a:pt x="1157401" y="1518086"/>
                  </a:lnTo>
                  <a:lnTo>
                    <a:pt x="1156014" y="1536054"/>
                  </a:lnTo>
                  <a:lnTo>
                    <a:pt x="1138046" y="1586483"/>
                  </a:lnTo>
                  <a:lnTo>
                    <a:pt x="1101425" y="1622419"/>
                  </a:lnTo>
                  <a:lnTo>
                    <a:pt x="1053754" y="1638315"/>
                  </a:lnTo>
                  <a:lnTo>
                    <a:pt x="1037173" y="1638315"/>
                  </a:lnTo>
                  <a:lnTo>
                    <a:pt x="989487" y="1622419"/>
                  </a:lnTo>
                  <a:lnTo>
                    <a:pt x="952865" y="1586483"/>
                  </a:lnTo>
                  <a:lnTo>
                    <a:pt x="934897" y="1536054"/>
                  </a:lnTo>
                  <a:lnTo>
                    <a:pt x="933526" y="1518086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390643" y="7022342"/>
              <a:ext cx="346075" cy="542290"/>
            </a:xfrm>
            <a:custGeom>
              <a:avLst/>
              <a:gdLst/>
              <a:ahLst/>
              <a:cxnLst/>
              <a:rect l="l" t="t" r="r" b="b"/>
              <a:pathLst>
                <a:path w="346075" h="542290">
                  <a:moveTo>
                    <a:pt x="326151" y="0"/>
                  </a:moveTo>
                  <a:lnTo>
                    <a:pt x="0" y="529285"/>
                  </a:lnTo>
                  <a:lnTo>
                    <a:pt x="19354" y="541721"/>
                  </a:lnTo>
                  <a:lnTo>
                    <a:pt x="345490" y="12435"/>
                  </a:lnTo>
                  <a:lnTo>
                    <a:pt x="326151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70603" y="7521925"/>
              <a:ext cx="71871" cy="84978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4999405" y="7028560"/>
              <a:ext cx="661035" cy="0"/>
            </a:xfrm>
            <a:custGeom>
              <a:avLst/>
              <a:gdLst/>
              <a:ahLst/>
              <a:cxnLst/>
              <a:rect l="l" t="t" r="r" b="b"/>
              <a:pathLst>
                <a:path w="661035" h="0">
                  <a:moveTo>
                    <a:pt x="0" y="0"/>
                  </a:moveTo>
                  <a:lnTo>
                    <a:pt x="35920" y="0"/>
                  </a:lnTo>
                </a:path>
                <a:path w="661035" h="0">
                  <a:moveTo>
                    <a:pt x="71856" y="0"/>
                  </a:moveTo>
                  <a:lnTo>
                    <a:pt x="107792" y="0"/>
                  </a:lnTo>
                </a:path>
                <a:path w="661035" h="0">
                  <a:moveTo>
                    <a:pt x="143713" y="0"/>
                  </a:moveTo>
                  <a:lnTo>
                    <a:pt x="179649" y="0"/>
                  </a:lnTo>
                </a:path>
                <a:path w="661035" h="0">
                  <a:moveTo>
                    <a:pt x="215585" y="0"/>
                  </a:moveTo>
                  <a:lnTo>
                    <a:pt x="251505" y="0"/>
                  </a:lnTo>
                </a:path>
                <a:path w="661035" h="0">
                  <a:moveTo>
                    <a:pt x="287441" y="0"/>
                  </a:moveTo>
                  <a:lnTo>
                    <a:pt x="323377" y="0"/>
                  </a:lnTo>
                </a:path>
                <a:path w="661035" h="0">
                  <a:moveTo>
                    <a:pt x="359298" y="0"/>
                  </a:moveTo>
                  <a:lnTo>
                    <a:pt x="395234" y="0"/>
                  </a:lnTo>
                </a:path>
                <a:path w="661035" h="0">
                  <a:moveTo>
                    <a:pt x="431170" y="0"/>
                  </a:moveTo>
                  <a:lnTo>
                    <a:pt x="467090" y="0"/>
                  </a:lnTo>
                </a:path>
                <a:path w="661035" h="0">
                  <a:moveTo>
                    <a:pt x="503026" y="0"/>
                  </a:moveTo>
                  <a:lnTo>
                    <a:pt x="538962" y="0"/>
                  </a:lnTo>
                </a:path>
                <a:path w="661035" h="0">
                  <a:moveTo>
                    <a:pt x="574898" y="0"/>
                  </a:moveTo>
                  <a:lnTo>
                    <a:pt x="610819" y="0"/>
                  </a:lnTo>
                </a:path>
                <a:path w="661035" h="0">
                  <a:moveTo>
                    <a:pt x="646069" y="0"/>
                  </a:moveTo>
                  <a:lnTo>
                    <a:pt x="660577" y="0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950332" y="6996084"/>
              <a:ext cx="65405" cy="65405"/>
            </a:xfrm>
            <a:custGeom>
              <a:avLst/>
              <a:gdLst/>
              <a:ahLst/>
              <a:cxnLst/>
              <a:rect l="l" t="t" r="r" b="b"/>
              <a:pathLst>
                <a:path w="65404" h="65404">
                  <a:moveTo>
                    <a:pt x="64952" y="0"/>
                  </a:moveTo>
                  <a:lnTo>
                    <a:pt x="0" y="32476"/>
                  </a:lnTo>
                  <a:lnTo>
                    <a:pt x="64952" y="64952"/>
                  </a:lnTo>
                  <a:lnTo>
                    <a:pt x="62194" y="58033"/>
                  </a:lnTo>
                  <a:lnTo>
                    <a:pt x="60807" y="53888"/>
                  </a:lnTo>
                  <a:lnTo>
                    <a:pt x="59435" y="50444"/>
                  </a:lnTo>
                  <a:lnTo>
                    <a:pt x="58049" y="42153"/>
                  </a:lnTo>
                  <a:lnTo>
                    <a:pt x="57363" y="38694"/>
                  </a:lnTo>
                  <a:lnTo>
                    <a:pt x="57363" y="26258"/>
                  </a:lnTo>
                  <a:lnTo>
                    <a:pt x="58049" y="22799"/>
                  </a:lnTo>
                  <a:lnTo>
                    <a:pt x="59435" y="14508"/>
                  </a:lnTo>
                  <a:lnTo>
                    <a:pt x="62194" y="7604"/>
                  </a:lnTo>
                  <a:lnTo>
                    <a:pt x="63581" y="3459"/>
                  </a:lnTo>
                  <a:lnTo>
                    <a:pt x="64952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396175" y="7889529"/>
              <a:ext cx="318770" cy="518795"/>
            </a:xfrm>
            <a:custGeom>
              <a:avLst/>
              <a:gdLst/>
              <a:ahLst/>
              <a:cxnLst/>
              <a:rect l="l" t="t" r="r" b="b"/>
              <a:pathLst>
                <a:path w="318770" h="518795">
                  <a:moveTo>
                    <a:pt x="0" y="0"/>
                  </a:moveTo>
                  <a:lnTo>
                    <a:pt x="18653" y="30403"/>
                  </a:lnTo>
                </a:path>
                <a:path w="318770" h="518795">
                  <a:moveTo>
                    <a:pt x="37307" y="60792"/>
                  </a:moveTo>
                  <a:lnTo>
                    <a:pt x="55961" y="91196"/>
                  </a:lnTo>
                </a:path>
                <a:path w="318770" h="518795">
                  <a:moveTo>
                    <a:pt x="74615" y="121599"/>
                  </a:moveTo>
                  <a:lnTo>
                    <a:pt x="93284" y="152003"/>
                  </a:lnTo>
                </a:path>
                <a:path w="318770" h="518795">
                  <a:moveTo>
                    <a:pt x="111937" y="182407"/>
                  </a:moveTo>
                  <a:lnTo>
                    <a:pt x="131277" y="212811"/>
                  </a:lnTo>
                </a:path>
                <a:path w="318770" h="518795">
                  <a:moveTo>
                    <a:pt x="149946" y="243916"/>
                  </a:moveTo>
                  <a:lnTo>
                    <a:pt x="168600" y="274319"/>
                  </a:lnTo>
                </a:path>
                <a:path w="318770" h="518795">
                  <a:moveTo>
                    <a:pt x="187253" y="304723"/>
                  </a:moveTo>
                  <a:lnTo>
                    <a:pt x="205907" y="335112"/>
                  </a:lnTo>
                </a:path>
                <a:path w="318770" h="518795">
                  <a:moveTo>
                    <a:pt x="225262" y="365516"/>
                  </a:moveTo>
                  <a:lnTo>
                    <a:pt x="243916" y="396620"/>
                  </a:lnTo>
                </a:path>
                <a:path w="318770" h="518795">
                  <a:moveTo>
                    <a:pt x="262569" y="427024"/>
                  </a:moveTo>
                  <a:lnTo>
                    <a:pt x="281223" y="457428"/>
                  </a:lnTo>
                </a:path>
                <a:path w="318770" h="518795">
                  <a:moveTo>
                    <a:pt x="299877" y="487832"/>
                  </a:moveTo>
                  <a:lnTo>
                    <a:pt x="318546" y="518236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370603" y="7848061"/>
              <a:ext cx="61594" cy="72390"/>
            </a:xfrm>
            <a:custGeom>
              <a:avLst/>
              <a:gdLst/>
              <a:ahLst/>
              <a:cxnLst/>
              <a:rect l="l" t="t" r="r" b="b"/>
              <a:pathLst>
                <a:path w="61595" h="72390">
                  <a:moveTo>
                    <a:pt x="0" y="0"/>
                  </a:moveTo>
                  <a:lnTo>
                    <a:pt x="6217" y="71871"/>
                  </a:lnTo>
                  <a:lnTo>
                    <a:pt x="8290" y="69098"/>
                  </a:lnTo>
                  <a:lnTo>
                    <a:pt x="11064" y="65638"/>
                  </a:lnTo>
                  <a:lnTo>
                    <a:pt x="13136" y="62880"/>
                  </a:lnTo>
                  <a:lnTo>
                    <a:pt x="15895" y="59420"/>
                  </a:lnTo>
                  <a:lnTo>
                    <a:pt x="18653" y="56662"/>
                  </a:lnTo>
                  <a:lnTo>
                    <a:pt x="22113" y="54589"/>
                  </a:lnTo>
                  <a:lnTo>
                    <a:pt x="24871" y="51831"/>
                  </a:lnTo>
                  <a:lnTo>
                    <a:pt x="35250" y="45613"/>
                  </a:lnTo>
                  <a:lnTo>
                    <a:pt x="38694" y="44226"/>
                  </a:lnTo>
                  <a:lnTo>
                    <a:pt x="42153" y="42153"/>
                  </a:lnTo>
                  <a:lnTo>
                    <a:pt x="46299" y="41468"/>
                  </a:lnTo>
                  <a:lnTo>
                    <a:pt x="49758" y="40081"/>
                  </a:lnTo>
                  <a:lnTo>
                    <a:pt x="53903" y="39395"/>
                  </a:lnTo>
                  <a:lnTo>
                    <a:pt x="57348" y="38694"/>
                  </a:lnTo>
                  <a:lnTo>
                    <a:pt x="61493" y="380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838395" y="7028560"/>
              <a:ext cx="1405255" cy="1398270"/>
            </a:xfrm>
            <a:custGeom>
              <a:avLst/>
              <a:gdLst/>
              <a:ahLst/>
              <a:cxnLst/>
              <a:rect l="l" t="t" r="r" b="b"/>
              <a:pathLst>
                <a:path w="1405254" h="1398270">
                  <a:moveTo>
                    <a:pt x="111937" y="1397858"/>
                  </a:moveTo>
                  <a:lnTo>
                    <a:pt x="821588" y="1397858"/>
                  </a:lnTo>
                </a:path>
                <a:path w="1405254" h="1398270">
                  <a:moveTo>
                    <a:pt x="0" y="120914"/>
                  </a:moveTo>
                  <a:lnTo>
                    <a:pt x="0" y="1277630"/>
                  </a:lnTo>
                </a:path>
                <a:path w="1405254" h="1398270">
                  <a:moveTo>
                    <a:pt x="933526" y="120914"/>
                  </a:moveTo>
                  <a:lnTo>
                    <a:pt x="933526" y="1277630"/>
                  </a:lnTo>
                </a:path>
                <a:path w="1405254" h="1398270">
                  <a:moveTo>
                    <a:pt x="1045463" y="0"/>
                  </a:moveTo>
                  <a:lnTo>
                    <a:pt x="1404777" y="578342"/>
                  </a:lnTo>
                </a:path>
                <a:path w="1405254" h="1398270">
                  <a:moveTo>
                    <a:pt x="1045463" y="1397858"/>
                  </a:moveTo>
                  <a:lnTo>
                    <a:pt x="1404777" y="819500"/>
                  </a:lnTo>
                </a:path>
                <a:path w="1405254" h="1398270">
                  <a:moveTo>
                    <a:pt x="527913" y="601157"/>
                  </a:moveTo>
                  <a:lnTo>
                    <a:pt x="876178" y="93969"/>
                  </a:lnTo>
                </a:path>
                <a:path w="1405254" h="1398270">
                  <a:moveTo>
                    <a:pt x="539663" y="785637"/>
                  </a:moveTo>
                  <a:lnTo>
                    <a:pt x="862355" y="1314251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06807" y="7123917"/>
              <a:ext cx="332014" cy="499228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4915783" y="7816270"/>
              <a:ext cx="309245" cy="523240"/>
            </a:xfrm>
            <a:custGeom>
              <a:avLst/>
              <a:gdLst/>
              <a:ahLst/>
              <a:cxnLst/>
              <a:rect l="l" t="t" r="r" b="b"/>
              <a:pathLst>
                <a:path w="309245" h="523240">
                  <a:moveTo>
                    <a:pt x="0" y="523082"/>
                  </a:moveTo>
                  <a:lnTo>
                    <a:pt x="308869" y="0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/>
          <p:cNvSpPr txBox="1"/>
          <p:nvPr/>
        </p:nvSpPr>
        <p:spPr>
          <a:xfrm>
            <a:off x="4359543" y="7233518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05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346415" y="7965959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05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723691" y="7645344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05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107186" y="7233518"/>
            <a:ext cx="40068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  <a:tabLst>
                <a:tab pos="310515" algn="l"/>
              </a:tabLst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8</a:t>
            </a: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05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814751" y="7645344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125693" y="7233518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05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120314" y="7965959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597092" y="7965959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05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125692" y="7965959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266111" y="7625305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05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4902655" y="6587449"/>
            <a:ext cx="955040" cy="537210"/>
          </a:xfrm>
          <a:prstGeom prst="rect">
            <a:avLst/>
          </a:prstGeom>
        </p:spPr>
        <p:txBody>
          <a:bodyPr wrap="square" lIns="0" tIns="5715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50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PQ:</a:t>
            </a:r>
            <a:r>
              <a:rPr dirty="0" sz="1050" spc="-2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8,8,10,?,?</a:t>
            </a:r>
            <a:endParaRPr sz="1050">
              <a:latin typeface="Arial"/>
              <a:cs typeface="Arial"/>
            </a:endParaRPr>
          </a:p>
          <a:p>
            <a:pPr marL="306070">
              <a:lnSpc>
                <a:spcPts val="1019"/>
              </a:lnSpc>
              <a:spcBef>
                <a:spcPts val="36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1050">
              <a:latin typeface="Arial"/>
              <a:cs typeface="Arial"/>
            </a:endParaRPr>
          </a:p>
          <a:p>
            <a:pPr marL="788035">
              <a:lnSpc>
                <a:spcPts val="1019"/>
              </a:lnSpc>
            </a:pP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105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217593" y="7625302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?</a:t>
            </a:r>
            <a:endParaRPr sz="105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306903" y="8340471"/>
            <a:ext cx="3615690" cy="6102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 marR="40640">
              <a:lnSpc>
                <a:spcPts val="1010"/>
              </a:lnSpc>
              <a:spcBef>
                <a:spcPts val="135"/>
              </a:spcBef>
              <a:tabLst>
                <a:tab pos="941705" algn="l"/>
                <a:tab pos="2423795" algn="l"/>
                <a:tab pos="3365500" algn="l"/>
              </a:tabLst>
            </a:pPr>
            <a:r>
              <a:rPr dirty="0" baseline="5291" sz="1575" spc="30" i="1">
                <a:solidFill>
                  <a:srgbClr val="FFFF00"/>
                </a:solidFill>
                <a:latin typeface="Arial"/>
                <a:cs typeface="Arial"/>
              </a:rPr>
              <a:t>8	</a:t>
            </a: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?	</a:t>
            </a:r>
            <a:r>
              <a:rPr dirty="0" baseline="5291" sz="1575" spc="30" i="1">
                <a:solidFill>
                  <a:srgbClr val="FFFF00"/>
                </a:solidFill>
                <a:latin typeface="Arial"/>
                <a:cs typeface="Arial"/>
              </a:rPr>
              <a:t>8	</a:t>
            </a: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?</a:t>
            </a:r>
            <a:endParaRPr sz="1050">
              <a:latin typeface="Arial"/>
              <a:cs typeface="Arial"/>
            </a:endParaRPr>
          </a:p>
          <a:p>
            <a:pPr algn="ctr" marR="69850">
              <a:lnSpc>
                <a:spcPts val="1010"/>
              </a:lnSpc>
              <a:tabLst>
                <a:tab pos="2424430" algn="l"/>
              </a:tabLst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1	1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8.58: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Prim’s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selected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15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90700" y="938626"/>
            <a:ext cx="4648200" cy="2391410"/>
            <a:chOff x="1790700" y="938626"/>
            <a:chExt cx="4648200" cy="2391410"/>
          </a:xfrm>
        </p:grpSpPr>
        <p:sp>
          <p:nvSpPr>
            <p:cNvPr id="5" name="object 5"/>
            <p:cNvSpPr/>
            <p:nvPr/>
          </p:nvSpPr>
          <p:spPr>
            <a:xfrm>
              <a:off x="1790700" y="938626"/>
              <a:ext cx="4648200" cy="2391410"/>
            </a:xfrm>
            <a:custGeom>
              <a:avLst/>
              <a:gdLst/>
              <a:ahLst/>
              <a:cxnLst/>
              <a:rect l="l" t="t" r="r" b="b"/>
              <a:pathLst>
                <a:path w="4648200" h="2391410">
                  <a:moveTo>
                    <a:pt x="4648001" y="0"/>
                  </a:moveTo>
                  <a:lnTo>
                    <a:pt x="0" y="0"/>
                  </a:lnTo>
                  <a:lnTo>
                    <a:pt x="0" y="2390805"/>
                  </a:lnTo>
                  <a:lnTo>
                    <a:pt x="4648001" y="2390805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943898" y="1265174"/>
              <a:ext cx="319405" cy="128905"/>
            </a:xfrm>
            <a:custGeom>
              <a:avLst/>
              <a:gdLst/>
              <a:ahLst/>
              <a:cxnLst/>
              <a:rect l="l" t="t" r="r" b="b"/>
              <a:pathLst>
                <a:path w="319404" h="128905">
                  <a:moveTo>
                    <a:pt x="204520" y="0"/>
                  </a:moveTo>
                  <a:lnTo>
                    <a:pt x="222488" y="49758"/>
                  </a:lnTo>
                  <a:lnTo>
                    <a:pt x="0" y="16581"/>
                  </a:lnTo>
                  <a:lnTo>
                    <a:pt x="26258" y="64267"/>
                  </a:lnTo>
                  <a:lnTo>
                    <a:pt x="0" y="111937"/>
                  </a:lnTo>
                  <a:lnTo>
                    <a:pt x="222488" y="78775"/>
                  </a:lnTo>
                  <a:lnTo>
                    <a:pt x="204520" y="128518"/>
                  </a:lnTo>
                  <a:lnTo>
                    <a:pt x="319232" y="64267"/>
                  </a:lnTo>
                  <a:lnTo>
                    <a:pt x="2045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943898" y="1265174"/>
              <a:ext cx="319405" cy="128905"/>
            </a:xfrm>
            <a:custGeom>
              <a:avLst/>
              <a:gdLst/>
              <a:ahLst/>
              <a:cxnLst/>
              <a:rect l="l" t="t" r="r" b="b"/>
              <a:pathLst>
                <a:path w="319404" h="128905">
                  <a:moveTo>
                    <a:pt x="319232" y="64267"/>
                  </a:moveTo>
                  <a:lnTo>
                    <a:pt x="204520" y="128518"/>
                  </a:lnTo>
                  <a:lnTo>
                    <a:pt x="222488" y="78775"/>
                  </a:lnTo>
                  <a:lnTo>
                    <a:pt x="0" y="111937"/>
                  </a:lnTo>
                  <a:lnTo>
                    <a:pt x="26258" y="64267"/>
                  </a:lnTo>
                  <a:lnTo>
                    <a:pt x="0" y="16581"/>
                  </a:lnTo>
                  <a:lnTo>
                    <a:pt x="222488" y="49758"/>
                  </a:lnTo>
                  <a:lnTo>
                    <a:pt x="204520" y="0"/>
                  </a:lnTo>
                  <a:lnTo>
                    <a:pt x="319232" y="64267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852985" y="2092279"/>
              <a:ext cx="221615" cy="283845"/>
            </a:xfrm>
            <a:custGeom>
              <a:avLst/>
              <a:gdLst/>
              <a:ahLst/>
              <a:cxnLst/>
              <a:rect l="l" t="t" r="r" b="b"/>
              <a:pathLst>
                <a:path w="221614" h="283844">
                  <a:moveTo>
                    <a:pt x="118155" y="0"/>
                  </a:moveTo>
                  <a:lnTo>
                    <a:pt x="102961" y="0"/>
                  </a:lnTo>
                  <a:lnTo>
                    <a:pt x="88437" y="2773"/>
                  </a:lnTo>
                  <a:lnTo>
                    <a:pt x="46984" y="25572"/>
                  </a:lnTo>
                  <a:lnTo>
                    <a:pt x="16581" y="67726"/>
                  </a:lnTo>
                  <a:lnTo>
                    <a:pt x="1386" y="122300"/>
                  </a:lnTo>
                  <a:lnTo>
                    <a:pt x="0" y="141655"/>
                  </a:lnTo>
                  <a:lnTo>
                    <a:pt x="1386" y="160995"/>
                  </a:lnTo>
                  <a:lnTo>
                    <a:pt x="9677" y="198318"/>
                  </a:lnTo>
                  <a:lnTo>
                    <a:pt x="35234" y="245303"/>
                  </a:lnTo>
                  <a:lnTo>
                    <a:pt x="73929" y="275706"/>
                  </a:lnTo>
                  <a:lnTo>
                    <a:pt x="102961" y="283311"/>
                  </a:lnTo>
                  <a:lnTo>
                    <a:pt x="118155" y="283311"/>
                  </a:lnTo>
                  <a:lnTo>
                    <a:pt x="161681" y="268102"/>
                  </a:lnTo>
                  <a:lnTo>
                    <a:pt x="196230" y="231480"/>
                  </a:lnTo>
                  <a:lnTo>
                    <a:pt x="216971" y="180350"/>
                  </a:lnTo>
                  <a:lnTo>
                    <a:pt x="221117" y="141655"/>
                  </a:lnTo>
                  <a:lnTo>
                    <a:pt x="220416" y="122300"/>
                  </a:lnTo>
                  <a:lnTo>
                    <a:pt x="212125" y="84993"/>
                  </a:lnTo>
                  <a:lnTo>
                    <a:pt x="186568" y="38008"/>
                  </a:lnTo>
                  <a:lnTo>
                    <a:pt x="147873" y="8290"/>
                  </a:lnTo>
                  <a:lnTo>
                    <a:pt x="118155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852985" y="2092279"/>
              <a:ext cx="221615" cy="283845"/>
            </a:xfrm>
            <a:custGeom>
              <a:avLst/>
              <a:gdLst/>
              <a:ahLst/>
              <a:cxnLst/>
              <a:rect l="l" t="t" r="r" b="b"/>
              <a:pathLst>
                <a:path w="221614" h="283844">
                  <a:moveTo>
                    <a:pt x="0" y="141655"/>
                  </a:moveTo>
                  <a:lnTo>
                    <a:pt x="4145" y="103647"/>
                  </a:lnTo>
                  <a:lnTo>
                    <a:pt x="24871" y="52517"/>
                  </a:lnTo>
                  <a:lnTo>
                    <a:pt x="60106" y="15895"/>
                  </a:lnTo>
                  <a:lnTo>
                    <a:pt x="102961" y="0"/>
                  </a:lnTo>
                  <a:lnTo>
                    <a:pt x="118155" y="0"/>
                  </a:lnTo>
                  <a:lnTo>
                    <a:pt x="161681" y="15895"/>
                  </a:lnTo>
                  <a:lnTo>
                    <a:pt x="196230" y="52517"/>
                  </a:lnTo>
                  <a:lnTo>
                    <a:pt x="216971" y="103647"/>
                  </a:lnTo>
                  <a:lnTo>
                    <a:pt x="221117" y="141655"/>
                  </a:lnTo>
                  <a:lnTo>
                    <a:pt x="220416" y="160995"/>
                  </a:lnTo>
                  <a:lnTo>
                    <a:pt x="212125" y="198318"/>
                  </a:lnTo>
                  <a:lnTo>
                    <a:pt x="186568" y="245303"/>
                  </a:lnTo>
                  <a:lnTo>
                    <a:pt x="147873" y="275706"/>
                  </a:lnTo>
                  <a:lnTo>
                    <a:pt x="118155" y="283311"/>
                  </a:lnTo>
                  <a:lnTo>
                    <a:pt x="102961" y="283311"/>
                  </a:lnTo>
                  <a:lnTo>
                    <a:pt x="60106" y="268102"/>
                  </a:lnTo>
                  <a:lnTo>
                    <a:pt x="24871" y="231480"/>
                  </a:lnTo>
                  <a:lnTo>
                    <a:pt x="4145" y="180350"/>
                  </a:lnTo>
                  <a:lnTo>
                    <a:pt x="0" y="141655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237707" y="1270020"/>
              <a:ext cx="221615" cy="283845"/>
            </a:xfrm>
            <a:custGeom>
              <a:avLst/>
              <a:gdLst/>
              <a:ahLst/>
              <a:cxnLst/>
              <a:rect l="l" t="t" r="r" b="b"/>
              <a:pathLst>
                <a:path w="221614" h="283844">
                  <a:moveTo>
                    <a:pt x="0" y="141640"/>
                  </a:moveTo>
                  <a:lnTo>
                    <a:pt x="4145" y="102946"/>
                  </a:lnTo>
                  <a:lnTo>
                    <a:pt x="24886" y="51815"/>
                  </a:lnTo>
                  <a:lnTo>
                    <a:pt x="59435" y="15194"/>
                  </a:lnTo>
                  <a:lnTo>
                    <a:pt x="102961" y="0"/>
                  </a:lnTo>
                  <a:lnTo>
                    <a:pt x="118155" y="0"/>
                  </a:lnTo>
                  <a:lnTo>
                    <a:pt x="161696" y="15194"/>
                  </a:lnTo>
                  <a:lnTo>
                    <a:pt x="196245" y="51815"/>
                  </a:lnTo>
                  <a:lnTo>
                    <a:pt x="216971" y="102946"/>
                  </a:lnTo>
                  <a:lnTo>
                    <a:pt x="221117" y="141640"/>
                  </a:lnTo>
                  <a:lnTo>
                    <a:pt x="219730" y="160995"/>
                  </a:lnTo>
                  <a:lnTo>
                    <a:pt x="205221" y="214883"/>
                  </a:lnTo>
                  <a:lnTo>
                    <a:pt x="174132" y="257037"/>
                  </a:lnTo>
                  <a:lnTo>
                    <a:pt x="133365" y="280537"/>
                  </a:lnTo>
                  <a:lnTo>
                    <a:pt x="118155" y="283296"/>
                  </a:lnTo>
                  <a:lnTo>
                    <a:pt x="102961" y="283296"/>
                  </a:lnTo>
                  <a:lnTo>
                    <a:pt x="59435" y="267401"/>
                  </a:lnTo>
                  <a:lnTo>
                    <a:pt x="24886" y="230779"/>
                  </a:lnTo>
                  <a:lnTo>
                    <a:pt x="4145" y="179649"/>
                  </a:lnTo>
                  <a:lnTo>
                    <a:pt x="0" y="141640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315946" y="1270020"/>
              <a:ext cx="221615" cy="283845"/>
            </a:xfrm>
            <a:custGeom>
              <a:avLst/>
              <a:gdLst/>
              <a:ahLst/>
              <a:cxnLst/>
              <a:rect l="l" t="t" r="r" b="b"/>
              <a:pathLst>
                <a:path w="221614" h="283844">
                  <a:moveTo>
                    <a:pt x="118155" y="0"/>
                  </a:moveTo>
                  <a:lnTo>
                    <a:pt x="102946" y="0"/>
                  </a:lnTo>
                  <a:lnTo>
                    <a:pt x="87751" y="2072"/>
                  </a:lnTo>
                  <a:lnTo>
                    <a:pt x="46283" y="25557"/>
                  </a:lnTo>
                  <a:lnTo>
                    <a:pt x="15895" y="67711"/>
                  </a:lnTo>
                  <a:lnTo>
                    <a:pt x="685" y="122300"/>
                  </a:lnTo>
                  <a:lnTo>
                    <a:pt x="0" y="141640"/>
                  </a:lnTo>
                  <a:lnTo>
                    <a:pt x="685" y="160995"/>
                  </a:lnTo>
                  <a:lnTo>
                    <a:pt x="15895" y="214883"/>
                  </a:lnTo>
                  <a:lnTo>
                    <a:pt x="46283" y="257037"/>
                  </a:lnTo>
                  <a:lnTo>
                    <a:pt x="87751" y="280537"/>
                  </a:lnTo>
                  <a:lnTo>
                    <a:pt x="102946" y="283296"/>
                  </a:lnTo>
                  <a:lnTo>
                    <a:pt x="118155" y="283296"/>
                  </a:lnTo>
                  <a:lnTo>
                    <a:pt x="160995" y="267401"/>
                  </a:lnTo>
                  <a:lnTo>
                    <a:pt x="196230" y="230779"/>
                  </a:lnTo>
                  <a:lnTo>
                    <a:pt x="216956" y="179649"/>
                  </a:lnTo>
                  <a:lnTo>
                    <a:pt x="221117" y="141640"/>
                  </a:lnTo>
                  <a:lnTo>
                    <a:pt x="219730" y="122300"/>
                  </a:lnTo>
                  <a:lnTo>
                    <a:pt x="211439" y="84978"/>
                  </a:lnTo>
                  <a:lnTo>
                    <a:pt x="185867" y="37307"/>
                  </a:lnTo>
                  <a:lnTo>
                    <a:pt x="147172" y="7589"/>
                  </a:lnTo>
                  <a:lnTo>
                    <a:pt x="118155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315946" y="1270020"/>
              <a:ext cx="1608455" cy="1106170"/>
            </a:xfrm>
            <a:custGeom>
              <a:avLst/>
              <a:gdLst/>
              <a:ahLst/>
              <a:cxnLst/>
              <a:rect l="l" t="t" r="r" b="b"/>
              <a:pathLst>
                <a:path w="1608454" h="1106170">
                  <a:moveTo>
                    <a:pt x="0" y="141640"/>
                  </a:moveTo>
                  <a:lnTo>
                    <a:pt x="4145" y="102946"/>
                  </a:lnTo>
                  <a:lnTo>
                    <a:pt x="24871" y="51815"/>
                  </a:lnTo>
                  <a:lnTo>
                    <a:pt x="59420" y="15194"/>
                  </a:lnTo>
                  <a:lnTo>
                    <a:pt x="102946" y="0"/>
                  </a:lnTo>
                  <a:lnTo>
                    <a:pt x="118155" y="0"/>
                  </a:lnTo>
                  <a:lnTo>
                    <a:pt x="160995" y="15194"/>
                  </a:lnTo>
                  <a:lnTo>
                    <a:pt x="196230" y="51815"/>
                  </a:lnTo>
                  <a:lnTo>
                    <a:pt x="216956" y="102946"/>
                  </a:lnTo>
                  <a:lnTo>
                    <a:pt x="221117" y="141640"/>
                  </a:lnTo>
                  <a:lnTo>
                    <a:pt x="219730" y="160995"/>
                  </a:lnTo>
                  <a:lnTo>
                    <a:pt x="204520" y="214883"/>
                  </a:lnTo>
                  <a:lnTo>
                    <a:pt x="174116" y="257037"/>
                  </a:lnTo>
                  <a:lnTo>
                    <a:pt x="132664" y="280537"/>
                  </a:lnTo>
                  <a:lnTo>
                    <a:pt x="118155" y="283296"/>
                  </a:lnTo>
                  <a:lnTo>
                    <a:pt x="102946" y="283296"/>
                  </a:lnTo>
                  <a:lnTo>
                    <a:pt x="59420" y="267401"/>
                  </a:lnTo>
                  <a:lnTo>
                    <a:pt x="24871" y="230779"/>
                  </a:lnTo>
                  <a:lnTo>
                    <a:pt x="4145" y="179649"/>
                  </a:lnTo>
                  <a:lnTo>
                    <a:pt x="0" y="141640"/>
                  </a:lnTo>
                </a:path>
                <a:path w="1608454" h="1106170">
                  <a:moveTo>
                    <a:pt x="455355" y="963914"/>
                  </a:moveTo>
                  <a:lnTo>
                    <a:pt x="459501" y="925906"/>
                  </a:lnTo>
                  <a:lnTo>
                    <a:pt x="480227" y="874775"/>
                  </a:lnTo>
                  <a:lnTo>
                    <a:pt x="515462" y="838154"/>
                  </a:lnTo>
                  <a:lnTo>
                    <a:pt x="558302" y="822258"/>
                  </a:lnTo>
                  <a:lnTo>
                    <a:pt x="573511" y="822258"/>
                  </a:lnTo>
                  <a:lnTo>
                    <a:pt x="617037" y="838154"/>
                  </a:lnTo>
                  <a:lnTo>
                    <a:pt x="651586" y="874775"/>
                  </a:lnTo>
                  <a:lnTo>
                    <a:pt x="672327" y="925906"/>
                  </a:lnTo>
                  <a:lnTo>
                    <a:pt x="676473" y="963914"/>
                  </a:lnTo>
                  <a:lnTo>
                    <a:pt x="675772" y="983254"/>
                  </a:lnTo>
                  <a:lnTo>
                    <a:pt x="667481" y="1020577"/>
                  </a:lnTo>
                  <a:lnTo>
                    <a:pt x="641222" y="1067561"/>
                  </a:lnTo>
                  <a:lnTo>
                    <a:pt x="603229" y="1097965"/>
                  </a:lnTo>
                  <a:lnTo>
                    <a:pt x="573511" y="1105570"/>
                  </a:lnTo>
                  <a:lnTo>
                    <a:pt x="558302" y="1105570"/>
                  </a:lnTo>
                  <a:lnTo>
                    <a:pt x="515462" y="1090361"/>
                  </a:lnTo>
                  <a:lnTo>
                    <a:pt x="480227" y="1053739"/>
                  </a:lnTo>
                  <a:lnTo>
                    <a:pt x="459501" y="1002609"/>
                  </a:lnTo>
                  <a:lnTo>
                    <a:pt x="455355" y="963914"/>
                  </a:lnTo>
                </a:path>
                <a:path w="1608454" h="1106170">
                  <a:moveTo>
                    <a:pt x="1386794" y="963914"/>
                  </a:moveTo>
                  <a:lnTo>
                    <a:pt x="1390939" y="925906"/>
                  </a:lnTo>
                  <a:lnTo>
                    <a:pt x="1411665" y="874775"/>
                  </a:lnTo>
                  <a:lnTo>
                    <a:pt x="1446916" y="838154"/>
                  </a:lnTo>
                  <a:lnTo>
                    <a:pt x="1489755" y="822258"/>
                  </a:lnTo>
                  <a:lnTo>
                    <a:pt x="1504949" y="822258"/>
                  </a:lnTo>
                  <a:lnTo>
                    <a:pt x="1548490" y="838154"/>
                  </a:lnTo>
                  <a:lnTo>
                    <a:pt x="1583039" y="874775"/>
                  </a:lnTo>
                  <a:lnTo>
                    <a:pt x="1603766" y="925906"/>
                  </a:lnTo>
                  <a:lnTo>
                    <a:pt x="1607911" y="963914"/>
                  </a:lnTo>
                  <a:lnTo>
                    <a:pt x="1607225" y="983254"/>
                  </a:lnTo>
                  <a:lnTo>
                    <a:pt x="1598935" y="1020577"/>
                  </a:lnTo>
                  <a:lnTo>
                    <a:pt x="1572676" y="1067561"/>
                  </a:lnTo>
                  <a:lnTo>
                    <a:pt x="1534667" y="1097965"/>
                  </a:lnTo>
                  <a:lnTo>
                    <a:pt x="1504949" y="1105570"/>
                  </a:lnTo>
                  <a:lnTo>
                    <a:pt x="1489755" y="1105570"/>
                  </a:lnTo>
                  <a:lnTo>
                    <a:pt x="1446916" y="1090361"/>
                  </a:lnTo>
                  <a:lnTo>
                    <a:pt x="1411665" y="1053739"/>
                  </a:lnTo>
                  <a:lnTo>
                    <a:pt x="1390939" y="1002609"/>
                  </a:lnTo>
                  <a:lnTo>
                    <a:pt x="1386794" y="963914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315946" y="2915940"/>
              <a:ext cx="221615" cy="283845"/>
            </a:xfrm>
            <a:custGeom>
              <a:avLst/>
              <a:gdLst/>
              <a:ahLst/>
              <a:cxnLst/>
              <a:rect l="l" t="t" r="r" b="b"/>
              <a:pathLst>
                <a:path w="221614" h="283844">
                  <a:moveTo>
                    <a:pt x="118155" y="0"/>
                  </a:moveTo>
                  <a:lnTo>
                    <a:pt x="102946" y="0"/>
                  </a:lnTo>
                  <a:lnTo>
                    <a:pt x="87751" y="2758"/>
                  </a:lnTo>
                  <a:lnTo>
                    <a:pt x="46283" y="25557"/>
                  </a:lnTo>
                  <a:lnTo>
                    <a:pt x="15895" y="67711"/>
                  </a:lnTo>
                  <a:lnTo>
                    <a:pt x="685" y="122300"/>
                  </a:lnTo>
                  <a:lnTo>
                    <a:pt x="0" y="141640"/>
                  </a:lnTo>
                  <a:lnTo>
                    <a:pt x="685" y="160995"/>
                  </a:lnTo>
                  <a:lnTo>
                    <a:pt x="8976" y="198302"/>
                  </a:lnTo>
                  <a:lnTo>
                    <a:pt x="34549" y="245287"/>
                  </a:lnTo>
                  <a:lnTo>
                    <a:pt x="73243" y="275005"/>
                  </a:lnTo>
                  <a:lnTo>
                    <a:pt x="102946" y="283296"/>
                  </a:lnTo>
                  <a:lnTo>
                    <a:pt x="118155" y="283296"/>
                  </a:lnTo>
                  <a:lnTo>
                    <a:pt x="160995" y="267401"/>
                  </a:lnTo>
                  <a:lnTo>
                    <a:pt x="196230" y="230779"/>
                  </a:lnTo>
                  <a:lnTo>
                    <a:pt x="216956" y="179649"/>
                  </a:lnTo>
                  <a:lnTo>
                    <a:pt x="221117" y="141640"/>
                  </a:lnTo>
                  <a:lnTo>
                    <a:pt x="219730" y="122300"/>
                  </a:lnTo>
                  <a:lnTo>
                    <a:pt x="211439" y="84978"/>
                  </a:lnTo>
                  <a:lnTo>
                    <a:pt x="185867" y="37993"/>
                  </a:lnTo>
                  <a:lnTo>
                    <a:pt x="147172" y="7589"/>
                  </a:lnTo>
                  <a:lnTo>
                    <a:pt x="118155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315946" y="2915940"/>
              <a:ext cx="1143000" cy="283845"/>
            </a:xfrm>
            <a:custGeom>
              <a:avLst/>
              <a:gdLst/>
              <a:ahLst/>
              <a:cxnLst/>
              <a:rect l="l" t="t" r="r" b="b"/>
              <a:pathLst>
                <a:path w="1143000" h="283844">
                  <a:moveTo>
                    <a:pt x="0" y="141640"/>
                  </a:moveTo>
                  <a:lnTo>
                    <a:pt x="4145" y="102946"/>
                  </a:lnTo>
                  <a:lnTo>
                    <a:pt x="24871" y="51815"/>
                  </a:lnTo>
                  <a:lnTo>
                    <a:pt x="59420" y="15194"/>
                  </a:lnTo>
                  <a:lnTo>
                    <a:pt x="102946" y="0"/>
                  </a:lnTo>
                  <a:lnTo>
                    <a:pt x="118155" y="0"/>
                  </a:lnTo>
                  <a:lnTo>
                    <a:pt x="160995" y="15194"/>
                  </a:lnTo>
                  <a:lnTo>
                    <a:pt x="196230" y="51815"/>
                  </a:lnTo>
                  <a:lnTo>
                    <a:pt x="216956" y="102946"/>
                  </a:lnTo>
                  <a:lnTo>
                    <a:pt x="221117" y="141640"/>
                  </a:lnTo>
                  <a:lnTo>
                    <a:pt x="219730" y="160995"/>
                  </a:lnTo>
                  <a:lnTo>
                    <a:pt x="211439" y="198302"/>
                  </a:lnTo>
                  <a:lnTo>
                    <a:pt x="185867" y="245287"/>
                  </a:lnTo>
                  <a:lnTo>
                    <a:pt x="147172" y="275005"/>
                  </a:lnTo>
                  <a:lnTo>
                    <a:pt x="118155" y="283296"/>
                  </a:lnTo>
                  <a:lnTo>
                    <a:pt x="102946" y="283296"/>
                  </a:lnTo>
                  <a:lnTo>
                    <a:pt x="59420" y="267401"/>
                  </a:lnTo>
                  <a:lnTo>
                    <a:pt x="24871" y="230779"/>
                  </a:lnTo>
                  <a:lnTo>
                    <a:pt x="4145" y="179649"/>
                  </a:lnTo>
                  <a:lnTo>
                    <a:pt x="0" y="141640"/>
                  </a:lnTo>
                </a:path>
                <a:path w="1143000" h="283844">
                  <a:moveTo>
                    <a:pt x="921760" y="141640"/>
                  </a:moveTo>
                  <a:lnTo>
                    <a:pt x="925906" y="102946"/>
                  </a:lnTo>
                  <a:lnTo>
                    <a:pt x="946647" y="51815"/>
                  </a:lnTo>
                  <a:lnTo>
                    <a:pt x="981196" y="15194"/>
                  </a:lnTo>
                  <a:lnTo>
                    <a:pt x="1024722" y="0"/>
                  </a:lnTo>
                  <a:lnTo>
                    <a:pt x="1039916" y="0"/>
                  </a:lnTo>
                  <a:lnTo>
                    <a:pt x="1083457" y="15194"/>
                  </a:lnTo>
                  <a:lnTo>
                    <a:pt x="1118006" y="51815"/>
                  </a:lnTo>
                  <a:lnTo>
                    <a:pt x="1138732" y="102946"/>
                  </a:lnTo>
                  <a:lnTo>
                    <a:pt x="1142878" y="141640"/>
                  </a:lnTo>
                  <a:lnTo>
                    <a:pt x="1141491" y="160995"/>
                  </a:lnTo>
                  <a:lnTo>
                    <a:pt x="1126982" y="214883"/>
                  </a:lnTo>
                  <a:lnTo>
                    <a:pt x="1095893" y="257723"/>
                  </a:lnTo>
                  <a:lnTo>
                    <a:pt x="1055126" y="280537"/>
                  </a:lnTo>
                  <a:lnTo>
                    <a:pt x="1039916" y="283296"/>
                  </a:lnTo>
                  <a:lnTo>
                    <a:pt x="1024722" y="283296"/>
                  </a:lnTo>
                  <a:lnTo>
                    <a:pt x="981196" y="267401"/>
                  </a:lnTo>
                  <a:lnTo>
                    <a:pt x="946647" y="230779"/>
                  </a:lnTo>
                  <a:lnTo>
                    <a:pt x="925906" y="179649"/>
                  </a:lnTo>
                  <a:lnTo>
                    <a:pt x="921760" y="141640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980117" y="1406144"/>
              <a:ext cx="346710" cy="640715"/>
            </a:xfrm>
            <a:custGeom>
              <a:avLst/>
              <a:gdLst/>
              <a:ahLst/>
              <a:cxnLst/>
              <a:rect l="l" t="t" r="r" b="b"/>
              <a:pathLst>
                <a:path w="346710" h="640714">
                  <a:moveTo>
                    <a:pt x="325465" y="0"/>
                  </a:moveTo>
                  <a:lnTo>
                    <a:pt x="0" y="629472"/>
                  </a:lnTo>
                  <a:lnTo>
                    <a:pt x="20741" y="640537"/>
                  </a:lnTo>
                  <a:lnTo>
                    <a:pt x="346191" y="11048"/>
                  </a:lnTo>
                  <a:lnTo>
                    <a:pt x="325465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63536" y="2007286"/>
              <a:ext cx="69098" cy="8499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586121" y="1411661"/>
              <a:ext cx="610235" cy="0"/>
            </a:xfrm>
            <a:custGeom>
              <a:avLst/>
              <a:gdLst/>
              <a:ahLst/>
              <a:cxnLst/>
              <a:rect l="l" t="t" r="r" b="b"/>
              <a:pathLst>
                <a:path w="610235" h="0">
                  <a:moveTo>
                    <a:pt x="0" y="0"/>
                  </a:moveTo>
                  <a:lnTo>
                    <a:pt x="35234" y="0"/>
                  </a:lnTo>
                </a:path>
                <a:path w="610235" h="0">
                  <a:moveTo>
                    <a:pt x="71170" y="0"/>
                  </a:moveTo>
                  <a:lnTo>
                    <a:pt x="107091" y="0"/>
                  </a:lnTo>
                </a:path>
                <a:path w="610235" h="0">
                  <a:moveTo>
                    <a:pt x="143027" y="0"/>
                  </a:moveTo>
                  <a:lnTo>
                    <a:pt x="178963" y="0"/>
                  </a:lnTo>
                </a:path>
                <a:path w="610235" h="0">
                  <a:moveTo>
                    <a:pt x="214883" y="0"/>
                  </a:moveTo>
                  <a:lnTo>
                    <a:pt x="250819" y="0"/>
                  </a:lnTo>
                </a:path>
                <a:path w="610235" h="0">
                  <a:moveTo>
                    <a:pt x="286755" y="0"/>
                  </a:moveTo>
                  <a:lnTo>
                    <a:pt x="322676" y="0"/>
                  </a:lnTo>
                </a:path>
                <a:path w="610235" h="0">
                  <a:moveTo>
                    <a:pt x="358612" y="0"/>
                  </a:moveTo>
                  <a:lnTo>
                    <a:pt x="394548" y="0"/>
                  </a:lnTo>
                </a:path>
                <a:path w="610235" h="0">
                  <a:moveTo>
                    <a:pt x="430484" y="0"/>
                  </a:moveTo>
                  <a:lnTo>
                    <a:pt x="466404" y="0"/>
                  </a:lnTo>
                </a:path>
                <a:path w="610235" h="0">
                  <a:moveTo>
                    <a:pt x="502340" y="0"/>
                  </a:moveTo>
                  <a:lnTo>
                    <a:pt x="538276" y="0"/>
                  </a:lnTo>
                </a:path>
                <a:path w="610235" h="0">
                  <a:moveTo>
                    <a:pt x="574197" y="0"/>
                  </a:moveTo>
                  <a:lnTo>
                    <a:pt x="610133" y="0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232190" y="1411661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 h="0">
                  <a:moveTo>
                    <a:pt x="2758" y="-8637"/>
                  </a:moveTo>
                  <a:lnTo>
                    <a:pt x="2758" y="8637"/>
                  </a:lnTo>
                </a:path>
              </a:pathLst>
            </a:custGeom>
            <a:ln w="551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537063" y="1379184"/>
              <a:ext cx="64769" cy="65405"/>
            </a:xfrm>
            <a:custGeom>
              <a:avLst/>
              <a:gdLst/>
              <a:ahLst/>
              <a:cxnLst/>
              <a:rect l="l" t="t" r="r" b="b"/>
              <a:pathLst>
                <a:path w="64769" h="65405">
                  <a:moveTo>
                    <a:pt x="64251" y="0"/>
                  </a:moveTo>
                  <a:lnTo>
                    <a:pt x="0" y="32476"/>
                  </a:lnTo>
                  <a:lnTo>
                    <a:pt x="64251" y="64952"/>
                  </a:lnTo>
                  <a:lnTo>
                    <a:pt x="62179" y="60807"/>
                  </a:lnTo>
                  <a:lnTo>
                    <a:pt x="59420" y="53903"/>
                  </a:lnTo>
                  <a:lnTo>
                    <a:pt x="58719" y="49758"/>
                  </a:lnTo>
                  <a:lnTo>
                    <a:pt x="57348" y="46299"/>
                  </a:lnTo>
                  <a:lnTo>
                    <a:pt x="57348" y="42153"/>
                  </a:lnTo>
                  <a:lnTo>
                    <a:pt x="56647" y="38008"/>
                  </a:lnTo>
                  <a:lnTo>
                    <a:pt x="56647" y="26258"/>
                  </a:lnTo>
                  <a:lnTo>
                    <a:pt x="57348" y="22113"/>
                  </a:lnTo>
                  <a:lnTo>
                    <a:pt x="57348" y="18653"/>
                  </a:lnTo>
                  <a:lnTo>
                    <a:pt x="58719" y="14508"/>
                  </a:lnTo>
                  <a:lnTo>
                    <a:pt x="59420" y="11064"/>
                  </a:lnTo>
                  <a:lnTo>
                    <a:pt x="60792" y="6918"/>
                  </a:lnTo>
                  <a:lnTo>
                    <a:pt x="62179" y="3459"/>
                  </a:lnTo>
                  <a:lnTo>
                    <a:pt x="64251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980117" y="2421874"/>
              <a:ext cx="346710" cy="641350"/>
            </a:xfrm>
            <a:custGeom>
              <a:avLst/>
              <a:gdLst/>
              <a:ahLst/>
              <a:cxnLst/>
              <a:rect l="l" t="t" r="r" b="b"/>
              <a:pathLst>
                <a:path w="346710" h="641350">
                  <a:moveTo>
                    <a:pt x="20741" y="0"/>
                  </a:moveTo>
                  <a:lnTo>
                    <a:pt x="0" y="11064"/>
                  </a:lnTo>
                  <a:lnTo>
                    <a:pt x="325465" y="641238"/>
                  </a:lnTo>
                  <a:lnTo>
                    <a:pt x="346191" y="630189"/>
                  </a:lnTo>
                  <a:lnTo>
                    <a:pt x="20741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63536" y="2376276"/>
              <a:ext cx="69098" cy="84993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586121" y="3057581"/>
              <a:ext cx="610235" cy="0"/>
            </a:xfrm>
            <a:custGeom>
              <a:avLst/>
              <a:gdLst/>
              <a:ahLst/>
              <a:cxnLst/>
              <a:rect l="l" t="t" r="r" b="b"/>
              <a:pathLst>
                <a:path w="610235" h="0">
                  <a:moveTo>
                    <a:pt x="0" y="0"/>
                  </a:moveTo>
                  <a:lnTo>
                    <a:pt x="35234" y="0"/>
                  </a:lnTo>
                </a:path>
                <a:path w="610235" h="0">
                  <a:moveTo>
                    <a:pt x="71170" y="0"/>
                  </a:moveTo>
                  <a:lnTo>
                    <a:pt x="107091" y="0"/>
                  </a:lnTo>
                </a:path>
                <a:path w="610235" h="0">
                  <a:moveTo>
                    <a:pt x="143027" y="0"/>
                  </a:moveTo>
                  <a:lnTo>
                    <a:pt x="178963" y="0"/>
                  </a:lnTo>
                </a:path>
                <a:path w="610235" h="0">
                  <a:moveTo>
                    <a:pt x="214883" y="0"/>
                  </a:moveTo>
                  <a:lnTo>
                    <a:pt x="250819" y="0"/>
                  </a:lnTo>
                </a:path>
                <a:path w="610235" h="0">
                  <a:moveTo>
                    <a:pt x="286755" y="0"/>
                  </a:moveTo>
                  <a:lnTo>
                    <a:pt x="322676" y="0"/>
                  </a:lnTo>
                </a:path>
                <a:path w="610235" h="0">
                  <a:moveTo>
                    <a:pt x="358612" y="0"/>
                  </a:moveTo>
                  <a:lnTo>
                    <a:pt x="394548" y="0"/>
                  </a:lnTo>
                </a:path>
                <a:path w="610235" h="0">
                  <a:moveTo>
                    <a:pt x="430484" y="0"/>
                  </a:moveTo>
                  <a:lnTo>
                    <a:pt x="466404" y="0"/>
                  </a:lnTo>
                </a:path>
                <a:path w="610235" h="0">
                  <a:moveTo>
                    <a:pt x="502340" y="0"/>
                  </a:moveTo>
                  <a:lnTo>
                    <a:pt x="538276" y="0"/>
                  </a:lnTo>
                </a:path>
                <a:path w="610235" h="0">
                  <a:moveTo>
                    <a:pt x="574197" y="0"/>
                  </a:moveTo>
                  <a:lnTo>
                    <a:pt x="610133" y="0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232190" y="3057581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 h="0">
                  <a:moveTo>
                    <a:pt x="2758" y="-8637"/>
                  </a:moveTo>
                  <a:lnTo>
                    <a:pt x="2758" y="8637"/>
                  </a:lnTo>
                </a:path>
              </a:pathLst>
            </a:custGeom>
            <a:ln w="551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537063" y="3025104"/>
              <a:ext cx="64769" cy="65405"/>
            </a:xfrm>
            <a:custGeom>
              <a:avLst/>
              <a:gdLst/>
              <a:ahLst/>
              <a:cxnLst/>
              <a:rect l="l" t="t" r="r" b="b"/>
              <a:pathLst>
                <a:path w="64769" h="65405">
                  <a:moveTo>
                    <a:pt x="64251" y="0"/>
                  </a:moveTo>
                  <a:lnTo>
                    <a:pt x="0" y="32476"/>
                  </a:lnTo>
                  <a:lnTo>
                    <a:pt x="64251" y="64952"/>
                  </a:lnTo>
                  <a:lnTo>
                    <a:pt x="62179" y="61508"/>
                  </a:lnTo>
                  <a:lnTo>
                    <a:pt x="60792" y="57363"/>
                  </a:lnTo>
                  <a:lnTo>
                    <a:pt x="59420" y="53903"/>
                  </a:lnTo>
                  <a:lnTo>
                    <a:pt x="58719" y="49758"/>
                  </a:lnTo>
                  <a:lnTo>
                    <a:pt x="57348" y="46299"/>
                  </a:lnTo>
                  <a:lnTo>
                    <a:pt x="57348" y="42153"/>
                  </a:lnTo>
                  <a:lnTo>
                    <a:pt x="56647" y="38008"/>
                  </a:lnTo>
                  <a:lnTo>
                    <a:pt x="56647" y="26258"/>
                  </a:lnTo>
                  <a:lnTo>
                    <a:pt x="57348" y="22113"/>
                  </a:lnTo>
                  <a:lnTo>
                    <a:pt x="57348" y="18653"/>
                  </a:lnTo>
                  <a:lnTo>
                    <a:pt x="58719" y="14508"/>
                  </a:lnTo>
                  <a:lnTo>
                    <a:pt x="59420" y="11064"/>
                  </a:lnTo>
                  <a:lnTo>
                    <a:pt x="60792" y="6918"/>
                  </a:lnTo>
                  <a:lnTo>
                    <a:pt x="62179" y="3459"/>
                  </a:lnTo>
                  <a:lnTo>
                    <a:pt x="64251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426497" y="1411661"/>
              <a:ext cx="1386840" cy="1645920"/>
            </a:xfrm>
            <a:custGeom>
              <a:avLst/>
              <a:gdLst/>
              <a:ahLst/>
              <a:cxnLst/>
              <a:rect l="l" t="t" r="r" b="b"/>
              <a:pathLst>
                <a:path w="1386839" h="1645920">
                  <a:moveTo>
                    <a:pt x="0" y="141655"/>
                  </a:moveTo>
                  <a:lnTo>
                    <a:pt x="0" y="1503578"/>
                  </a:lnTo>
                </a:path>
                <a:path w="1386839" h="1645920">
                  <a:moveTo>
                    <a:pt x="921776" y="141655"/>
                  </a:moveTo>
                  <a:lnTo>
                    <a:pt x="921776" y="1503578"/>
                  </a:lnTo>
                </a:path>
                <a:path w="1386839" h="1645920">
                  <a:moveTo>
                    <a:pt x="1032327" y="0"/>
                  </a:moveTo>
                  <a:lnTo>
                    <a:pt x="1386809" y="680618"/>
                  </a:lnTo>
                </a:path>
                <a:path w="1386839" h="1645920">
                  <a:moveTo>
                    <a:pt x="1032327" y="1645919"/>
                  </a:moveTo>
                  <a:lnTo>
                    <a:pt x="1386809" y="964615"/>
                  </a:lnTo>
                </a:path>
                <a:path w="1386839" h="1645920">
                  <a:moveTo>
                    <a:pt x="520308" y="706876"/>
                  </a:moveTo>
                  <a:lnTo>
                    <a:pt x="865113" y="109865"/>
                  </a:lnTo>
                </a:path>
                <a:path w="1386839" h="1645920">
                  <a:moveTo>
                    <a:pt x="532058" y="924534"/>
                  </a:moveTo>
                  <a:lnTo>
                    <a:pt x="851291" y="1547119"/>
                  </a:lnTo>
                </a:path>
                <a:path w="1386839" h="1645920">
                  <a:moveTo>
                    <a:pt x="67711" y="111937"/>
                  </a:moveTo>
                  <a:lnTo>
                    <a:pt x="394548" y="704118"/>
                  </a:lnTo>
                </a:path>
                <a:path w="1386839" h="1645920">
                  <a:moveTo>
                    <a:pt x="98115" y="1498747"/>
                  </a:moveTo>
                  <a:lnTo>
                    <a:pt x="114010" y="1466270"/>
                  </a:lnTo>
                </a:path>
                <a:path w="1386839" h="1645920">
                  <a:moveTo>
                    <a:pt x="129905" y="1434480"/>
                  </a:moveTo>
                  <a:lnTo>
                    <a:pt x="145801" y="1402003"/>
                  </a:lnTo>
                </a:path>
                <a:path w="1386839" h="1645920">
                  <a:moveTo>
                    <a:pt x="161696" y="1370228"/>
                  </a:moveTo>
                  <a:lnTo>
                    <a:pt x="176890" y="1337751"/>
                  </a:lnTo>
                </a:path>
                <a:path w="1386839" h="1645920">
                  <a:moveTo>
                    <a:pt x="192785" y="1305961"/>
                  </a:moveTo>
                  <a:lnTo>
                    <a:pt x="208681" y="1273484"/>
                  </a:lnTo>
                </a:path>
                <a:path w="1386839" h="1645920">
                  <a:moveTo>
                    <a:pt x="224576" y="1241694"/>
                  </a:moveTo>
                  <a:lnTo>
                    <a:pt x="240456" y="1209217"/>
                  </a:lnTo>
                </a:path>
                <a:path w="1386839" h="1645920">
                  <a:moveTo>
                    <a:pt x="256352" y="1177442"/>
                  </a:moveTo>
                  <a:lnTo>
                    <a:pt x="272247" y="1144965"/>
                  </a:lnTo>
                </a:path>
                <a:path w="1386839" h="1645920">
                  <a:moveTo>
                    <a:pt x="288142" y="1113175"/>
                  </a:moveTo>
                  <a:lnTo>
                    <a:pt x="304037" y="1081384"/>
                  </a:lnTo>
                </a:path>
                <a:path w="1386839" h="1645920">
                  <a:moveTo>
                    <a:pt x="319933" y="1048908"/>
                  </a:moveTo>
                  <a:lnTo>
                    <a:pt x="335813" y="1017132"/>
                  </a:lnTo>
                </a:path>
                <a:path w="1386839" h="1645920">
                  <a:moveTo>
                    <a:pt x="351708" y="984656"/>
                  </a:moveTo>
                  <a:lnTo>
                    <a:pt x="367604" y="952865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502514" y="2882077"/>
              <a:ext cx="58419" cy="73025"/>
            </a:xfrm>
            <a:custGeom>
              <a:avLst/>
              <a:gdLst/>
              <a:ahLst/>
              <a:cxnLst/>
              <a:rect l="l" t="t" r="r" b="b"/>
              <a:pathLst>
                <a:path w="58419" h="73025">
                  <a:moveTo>
                    <a:pt x="0" y="0"/>
                  </a:moveTo>
                  <a:lnTo>
                    <a:pt x="0" y="72557"/>
                  </a:lnTo>
                  <a:lnTo>
                    <a:pt x="58033" y="29016"/>
                  </a:lnTo>
                  <a:lnTo>
                    <a:pt x="53888" y="29016"/>
                  </a:lnTo>
                  <a:lnTo>
                    <a:pt x="49743" y="28331"/>
                  </a:lnTo>
                  <a:lnTo>
                    <a:pt x="46283" y="27630"/>
                  </a:lnTo>
                  <a:lnTo>
                    <a:pt x="42138" y="26944"/>
                  </a:lnTo>
                  <a:lnTo>
                    <a:pt x="38694" y="26258"/>
                  </a:lnTo>
                  <a:lnTo>
                    <a:pt x="34549" y="24871"/>
                  </a:lnTo>
                  <a:lnTo>
                    <a:pt x="31089" y="23484"/>
                  </a:lnTo>
                  <a:lnTo>
                    <a:pt x="26944" y="22113"/>
                  </a:lnTo>
                  <a:lnTo>
                    <a:pt x="23484" y="20040"/>
                  </a:lnTo>
                  <a:lnTo>
                    <a:pt x="20025" y="18653"/>
                  </a:lnTo>
                  <a:lnTo>
                    <a:pt x="16581" y="15895"/>
                  </a:lnTo>
                  <a:lnTo>
                    <a:pt x="13807" y="13822"/>
                  </a:lnTo>
                  <a:lnTo>
                    <a:pt x="10363" y="11750"/>
                  </a:lnTo>
                  <a:lnTo>
                    <a:pt x="4831" y="6217"/>
                  </a:lnTo>
                  <a:lnTo>
                    <a:pt x="2072" y="27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/>
          <p:cNvSpPr txBox="1"/>
          <p:nvPr/>
        </p:nvSpPr>
        <p:spPr>
          <a:xfrm>
            <a:off x="1952483" y="1671901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0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939354" y="2534247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0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311793" y="2156971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05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389725" y="2156971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703580" y="2534247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174138" y="2534247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05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697211" y="2534247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847304" y="2133477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304735" y="2975099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05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788421" y="2133482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?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4294574" y="1261383"/>
            <a:ext cx="2088514" cy="1946910"/>
            <a:chOff x="4294574" y="1261383"/>
            <a:chExt cx="2088514" cy="1946910"/>
          </a:xfrm>
        </p:grpSpPr>
        <p:sp>
          <p:nvSpPr>
            <p:cNvPr id="38" name="object 38"/>
            <p:cNvSpPr/>
            <p:nvPr/>
          </p:nvSpPr>
          <p:spPr>
            <a:xfrm>
              <a:off x="4303211" y="2092279"/>
              <a:ext cx="221615" cy="283845"/>
            </a:xfrm>
            <a:custGeom>
              <a:avLst/>
              <a:gdLst/>
              <a:ahLst/>
              <a:cxnLst/>
              <a:rect l="l" t="t" r="r" b="b"/>
              <a:pathLst>
                <a:path w="221614" h="283844">
                  <a:moveTo>
                    <a:pt x="118155" y="0"/>
                  </a:moveTo>
                  <a:lnTo>
                    <a:pt x="102946" y="0"/>
                  </a:lnTo>
                  <a:lnTo>
                    <a:pt x="87751" y="2773"/>
                  </a:lnTo>
                  <a:lnTo>
                    <a:pt x="46283" y="25572"/>
                  </a:lnTo>
                  <a:lnTo>
                    <a:pt x="15880" y="67726"/>
                  </a:lnTo>
                  <a:lnTo>
                    <a:pt x="685" y="122300"/>
                  </a:lnTo>
                  <a:lnTo>
                    <a:pt x="0" y="141655"/>
                  </a:lnTo>
                  <a:lnTo>
                    <a:pt x="685" y="160995"/>
                  </a:lnTo>
                  <a:lnTo>
                    <a:pt x="8976" y="198318"/>
                  </a:lnTo>
                  <a:lnTo>
                    <a:pt x="35234" y="245303"/>
                  </a:lnTo>
                  <a:lnTo>
                    <a:pt x="73243" y="275706"/>
                  </a:lnTo>
                  <a:lnTo>
                    <a:pt x="102946" y="283311"/>
                  </a:lnTo>
                  <a:lnTo>
                    <a:pt x="118155" y="283311"/>
                  </a:lnTo>
                  <a:lnTo>
                    <a:pt x="160995" y="268102"/>
                  </a:lnTo>
                  <a:lnTo>
                    <a:pt x="196230" y="231480"/>
                  </a:lnTo>
                  <a:lnTo>
                    <a:pt x="216956" y="180350"/>
                  </a:lnTo>
                  <a:lnTo>
                    <a:pt x="221101" y="141655"/>
                  </a:lnTo>
                  <a:lnTo>
                    <a:pt x="219730" y="122300"/>
                  </a:lnTo>
                  <a:lnTo>
                    <a:pt x="211439" y="84993"/>
                  </a:lnTo>
                  <a:lnTo>
                    <a:pt x="185867" y="38008"/>
                  </a:lnTo>
                  <a:lnTo>
                    <a:pt x="147172" y="8290"/>
                  </a:lnTo>
                  <a:lnTo>
                    <a:pt x="118155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303211" y="1270020"/>
              <a:ext cx="1605280" cy="1106170"/>
            </a:xfrm>
            <a:custGeom>
              <a:avLst/>
              <a:gdLst/>
              <a:ahLst/>
              <a:cxnLst/>
              <a:rect l="l" t="t" r="r" b="b"/>
              <a:pathLst>
                <a:path w="1605279" h="1106170">
                  <a:moveTo>
                    <a:pt x="0" y="963914"/>
                  </a:moveTo>
                  <a:lnTo>
                    <a:pt x="4145" y="925906"/>
                  </a:lnTo>
                  <a:lnTo>
                    <a:pt x="24871" y="874775"/>
                  </a:lnTo>
                  <a:lnTo>
                    <a:pt x="59420" y="838154"/>
                  </a:lnTo>
                  <a:lnTo>
                    <a:pt x="102946" y="822258"/>
                  </a:lnTo>
                  <a:lnTo>
                    <a:pt x="118155" y="822258"/>
                  </a:lnTo>
                  <a:lnTo>
                    <a:pt x="160995" y="838154"/>
                  </a:lnTo>
                  <a:lnTo>
                    <a:pt x="196230" y="874775"/>
                  </a:lnTo>
                  <a:lnTo>
                    <a:pt x="216956" y="925906"/>
                  </a:lnTo>
                  <a:lnTo>
                    <a:pt x="221101" y="963914"/>
                  </a:lnTo>
                  <a:lnTo>
                    <a:pt x="219730" y="983254"/>
                  </a:lnTo>
                  <a:lnTo>
                    <a:pt x="211439" y="1020577"/>
                  </a:lnTo>
                  <a:lnTo>
                    <a:pt x="185867" y="1067561"/>
                  </a:lnTo>
                  <a:lnTo>
                    <a:pt x="147172" y="1097965"/>
                  </a:lnTo>
                  <a:lnTo>
                    <a:pt x="118155" y="1105570"/>
                  </a:lnTo>
                  <a:lnTo>
                    <a:pt x="102946" y="1105570"/>
                  </a:lnTo>
                  <a:lnTo>
                    <a:pt x="59420" y="1090361"/>
                  </a:lnTo>
                  <a:lnTo>
                    <a:pt x="24871" y="1053739"/>
                  </a:lnTo>
                  <a:lnTo>
                    <a:pt x="4145" y="1002609"/>
                  </a:lnTo>
                  <a:lnTo>
                    <a:pt x="0" y="963914"/>
                  </a:lnTo>
                </a:path>
                <a:path w="1605279" h="1106170">
                  <a:moveTo>
                    <a:pt x="1384035" y="141640"/>
                  </a:moveTo>
                  <a:lnTo>
                    <a:pt x="1388181" y="102946"/>
                  </a:lnTo>
                  <a:lnTo>
                    <a:pt x="1408907" y="51815"/>
                  </a:lnTo>
                  <a:lnTo>
                    <a:pt x="1444142" y="15194"/>
                  </a:lnTo>
                  <a:lnTo>
                    <a:pt x="1486982" y="0"/>
                  </a:lnTo>
                  <a:lnTo>
                    <a:pt x="1502191" y="0"/>
                  </a:lnTo>
                  <a:lnTo>
                    <a:pt x="1545716" y="15194"/>
                  </a:lnTo>
                  <a:lnTo>
                    <a:pt x="1580266" y="51815"/>
                  </a:lnTo>
                  <a:lnTo>
                    <a:pt x="1601007" y="102946"/>
                  </a:lnTo>
                  <a:lnTo>
                    <a:pt x="1605152" y="141640"/>
                  </a:lnTo>
                  <a:lnTo>
                    <a:pt x="1604451" y="160995"/>
                  </a:lnTo>
                  <a:lnTo>
                    <a:pt x="1589257" y="214883"/>
                  </a:lnTo>
                  <a:lnTo>
                    <a:pt x="1558853" y="257037"/>
                  </a:lnTo>
                  <a:lnTo>
                    <a:pt x="1517385" y="280537"/>
                  </a:lnTo>
                  <a:lnTo>
                    <a:pt x="1502191" y="283296"/>
                  </a:lnTo>
                  <a:lnTo>
                    <a:pt x="1486982" y="283296"/>
                  </a:lnTo>
                  <a:lnTo>
                    <a:pt x="1444142" y="267401"/>
                  </a:lnTo>
                  <a:lnTo>
                    <a:pt x="1408907" y="230779"/>
                  </a:lnTo>
                  <a:lnTo>
                    <a:pt x="1388181" y="179649"/>
                  </a:lnTo>
                  <a:lnTo>
                    <a:pt x="1384035" y="141640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765471" y="1270020"/>
              <a:ext cx="221615" cy="283845"/>
            </a:xfrm>
            <a:custGeom>
              <a:avLst/>
              <a:gdLst/>
              <a:ahLst/>
              <a:cxnLst/>
              <a:rect l="l" t="t" r="r" b="b"/>
              <a:pathLst>
                <a:path w="221614" h="283844">
                  <a:moveTo>
                    <a:pt x="118155" y="0"/>
                  </a:moveTo>
                  <a:lnTo>
                    <a:pt x="102961" y="0"/>
                  </a:lnTo>
                  <a:lnTo>
                    <a:pt x="87751" y="2072"/>
                  </a:lnTo>
                  <a:lnTo>
                    <a:pt x="46984" y="25557"/>
                  </a:lnTo>
                  <a:lnTo>
                    <a:pt x="15895" y="67711"/>
                  </a:lnTo>
                  <a:lnTo>
                    <a:pt x="1386" y="122300"/>
                  </a:lnTo>
                  <a:lnTo>
                    <a:pt x="0" y="141640"/>
                  </a:lnTo>
                  <a:lnTo>
                    <a:pt x="1386" y="160995"/>
                  </a:lnTo>
                  <a:lnTo>
                    <a:pt x="15895" y="214883"/>
                  </a:lnTo>
                  <a:lnTo>
                    <a:pt x="46984" y="257037"/>
                  </a:lnTo>
                  <a:lnTo>
                    <a:pt x="87751" y="280537"/>
                  </a:lnTo>
                  <a:lnTo>
                    <a:pt x="102961" y="283296"/>
                  </a:lnTo>
                  <a:lnTo>
                    <a:pt x="118155" y="283296"/>
                  </a:lnTo>
                  <a:lnTo>
                    <a:pt x="161696" y="267401"/>
                  </a:lnTo>
                  <a:lnTo>
                    <a:pt x="196245" y="230779"/>
                  </a:lnTo>
                  <a:lnTo>
                    <a:pt x="216971" y="179649"/>
                  </a:lnTo>
                  <a:lnTo>
                    <a:pt x="221117" y="141640"/>
                  </a:lnTo>
                  <a:lnTo>
                    <a:pt x="220431" y="122300"/>
                  </a:lnTo>
                  <a:lnTo>
                    <a:pt x="212140" y="84978"/>
                  </a:lnTo>
                  <a:lnTo>
                    <a:pt x="185882" y="37307"/>
                  </a:lnTo>
                  <a:lnTo>
                    <a:pt x="147873" y="7589"/>
                  </a:lnTo>
                  <a:lnTo>
                    <a:pt x="118155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765471" y="1270020"/>
              <a:ext cx="1609090" cy="1106170"/>
            </a:xfrm>
            <a:custGeom>
              <a:avLst/>
              <a:gdLst/>
              <a:ahLst/>
              <a:cxnLst/>
              <a:rect l="l" t="t" r="r" b="b"/>
              <a:pathLst>
                <a:path w="1609089" h="1106170">
                  <a:moveTo>
                    <a:pt x="0" y="141640"/>
                  </a:moveTo>
                  <a:lnTo>
                    <a:pt x="4145" y="102946"/>
                  </a:lnTo>
                  <a:lnTo>
                    <a:pt x="24871" y="51815"/>
                  </a:lnTo>
                  <a:lnTo>
                    <a:pt x="59420" y="15194"/>
                  </a:lnTo>
                  <a:lnTo>
                    <a:pt x="102961" y="0"/>
                  </a:lnTo>
                  <a:lnTo>
                    <a:pt x="118155" y="0"/>
                  </a:lnTo>
                  <a:lnTo>
                    <a:pt x="161696" y="15194"/>
                  </a:lnTo>
                  <a:lnTo>
                    <a:pt x="196245" y="51815"/>
                  </a:lnTo>
                  <a:lnTo>
                    <a:pt x="216971" y="102946"/>
                  </a:lnTo>
                  <a:lnTo>
                    <a:pt x="221117" y="141640"/>
                  </a:lnTo>
                  <a:lnTo>
                    <a:pt x="220431" y="160995"/>
                  </a:lnTo>
                  <a:lnTo>
                    <a:pt x="205221" y="214883"/>
                  </a:lnTo>
                  <a:lnTo>
                    <a:pt x="174132" y="257037"/>
                  </a:lnTo>
                  <a:lnTo>
                    <a:pt x="133365" y="280537"/>
                  </a:lnTo>
                  <a:lnTo>
                    <a:pt x="118155" y="283296"/>
                  </a:lnTo>
                  <a:lnTo>
                    <a:pt x="102961" y="283296"/>
                  </a:lnTo>
                  <a:lnTo>
                    <a:pt x="59420" y="267401"/>
                  </a:lnTo>
                  <a:lnTo>
                    <a:pt x="24871" y="230779"/>
                  </a:lnTo>
                  <a:lnTo>
                    <a:pt x="4145" y="179649"/>
                  </a:lnTo>
                  <a:lnTo>
                    <a:pt x="0" y="141640"/>
                  </a:lnTo>
                </a:path>
                <a:path w="1609089" h="1106170">
                  <a:moveTo>
                    <a:pt x="456742" y="963914"/>
                  </a:moveTo>
                  <a:lnTo>
                    <a:pt x="460888" y="925906"/>
                  </a:lnTo>
                  <a:lnTo>
                    <a:pt x="481614" y="874775"/>
                  </a:lnTo>
                  <a:lnTo>
                    <a:pt x="516163" y="838154"/>
                  </a:lnTo>
                  <a:lnTo>
                    <a:pt x="559704" y="822258"/>
                  </a:lnTo>
                  <a:lnTo>
                    <a:pt x="574898" y="822258"/>
                  </a:lnTo>
                  <a:lnTo>
                    <a:pt x="617738" y="838154"/>
                  </a:lnTo>
                  <a:lnTo>
                    <a:pt x="652988" y="874775"/>
                  </a:lnTo>
                  <a:lnTo>
                    <a:pt x="673714" y="925906"/>
                  </a:lnTo>
                  <a:lnTo>
                    <a:pt x="677859" y="963914"/>
                  </a:lnTo>
                  <a:lnTo>
                    <a:pt x="676473" y="983254"/>
                  </a:lnTo>
                  <a:lnTo>
                    <a:pt x="668182" y="1020577"/>
                  </a:lnTo>
                  <a:lnTo>
                    <a:pt x="642609" y="1067561"/>
                  </a:lnTo>
                  <a:lnTo>
                    <a:pt x="603915" y="1097965"/>
                  </a:lnTo>
                  <a:lnTo>
                    <a:pt x="574898" y="1105570"/>
                  </a:lnTo>
                  <a:lnTo>
                    <a:pt x="559704" y="1105570"/>
                  </a:lnTo>
                  <a:lnTo>
                    <a:pt x="516163" y="1090361"/>
                  </a:lnTo>
                  <a:lnTo>
                    <a:pt x="481614" y="1053739"/>
                  </a:lnTo>
                  <a:lnTo>
                    <a:pt x="460888" y="1002609"/>
                  </a:lnTo>
                  <a:lnTo>
                    <a:pt x="456742" y="963914"/>
                  </a:lnTo>
                </a:path>
                <a:path w="1609089" h="1106170">
                  <a:moveTo>
                    <a:pt x="1387495" y="963914"/>
                  </a:moveTo>
                  <a:lnTo>
                    <a:pt x="1391640" y="925906"/>
                  </a:lnTo>
                  <a:lnTo>
                    <a:pt x="1412366" y="874775"/>
                  </a:lnTo>
                  <a:lnTo>
                    <a:pt x="1446916" y="838154"/>
                  </a:lnTo>
                  <a:lnTo>
                    <a:pt x="1490456" y="822258"/>
                  </a:lnTo>
                  <a:lnTo>
                    <a:pt x="1505651" y="822258"/>
                  </a:lnTo>
                  <a:lnTo>
                    <a:pt x="1548490" y="838154"/>
                  </a:lnTo>
                  <a:lnTo>
                    <a:pt x="1583740" y="874775"/>
                  </a:lnTo>
                  <a:lnTo>
                    <a:pt x="1604467" y="925906"/>
                  </a:lnTo>
                  <a:lnTo>
                    <a:pt x="1608612" y="963914"/>
                  </a:lnTo>
                  <a:lnTo>
                    <a:pt x="1607225" y="983254"/>
                  </a:lnTo>
                  <a:lnTo>
                    <a:pt x="1598935" y="1020577"/>
                  </a:lnTo>
                  <a:lnTo>
                    <a:pt x="1573362" y="1067561"/>
                  </a:lnTo>
                  <a:lnTo>
                    <a:pt x="1534667" y="1097965"/>
                  </a:lnTo>
                  <a:lnTo>
                    <a:pt x="1505651" y="1105570"/>
                  </a:lnTo>
                  <a:lnTo>
                    <a:pt x="1490456" y="1105570"/>
                  </a:lnTo>
                  <a:lnTo>
                    <a:pt x="1446916" y="1090361"/>
                  </a:lnTo>
                  <a:lnTo>
                    <a:pt x="1412366" y="1053739"/>
                  </a:lnTo>
                  <a:lnTo>
                    <a:pt x="1391640" y="1002609"/>
                  </a:lnTo>
                  <a:lnTo>
                    <a:pt x="1387495" y="963914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765471" y="2915940"/>
              <a:ext cx="221615" cy="283845"/>
            </a:xfrm>
            <a:custGeom>
              <a:avLst/>
              <a:gdLst/>
              <a:ahLst/>
              <a:cxnLst/>
              <a:rect l="l" t="t" r="r" b="b"/>
              <a:pathLst>
                <a:path w="221614" h="283844">
                  <a:moveTo>
                    <a:pt x="118155" y="0"/>
                  </a:moveTo>
                  <a:lnTo>
                    <a:pt x="102961" y="0"/>
                  </a:lnTo>
                  <a:lnTo>
                    <a:pt x="87751" y="2758"/>
                  </a:lnTo>
                  <a:lnTo>
                    <a:pt x="46984" y="25557"/>
                  </a:lnTo>
                  <a:lnTo>
                    <a:pt x="15895" y="67711"/>
                  </a:lnTo>
                  <a:lnTo>
                    <a:pt x="1386" y="122300"/>
                  </a:lnTo>
                  <a:lnTo>
                    <a:pt x="0" y="141640"/>
                  </a:lnTo>
                  <a:lnTo>
                    <a:pt x="1386" y="160995"/>
                  </a:lnTo>
                  <a:lnTo>
                    <a:pt x="15895" y="214883"/>
                  </a:lnTo>
                  <a:lnTo>
                    <a:pt x="46984" y="257723"/>
                  </a:lnTo>
                  <a:lnTo>
                    <a:pt x="87751" y="280537"/>
                  </a:lnTo>
                  <a:lnTo>
                    <a:pt x="102961" y="283296"/>
                  </a:lnTo>
                  <a:lnTo>
                    <a:pt x="118155" y="283296"/>
                  </a:lnTo>
                  <a:lnTo>
                    <a:pt x="161696" y="267401"/>
                  </a:lnTo>
                  <a:lnTo>
                    <a:pt x="196245" y="230779"/>
                  </a:lnTo>
                  <a:lnTo>
                    <a:pt x="216971" y="179649"/>
                  </a:lnTo>
                  <a:lnTo>
                    <a:pt x="221117" y="141640"/>
                  </a:lnTo>
                  <a:lnTo>
                    <a:pt x="220431" y="122300"/>
                  </a:lnTo>
                  <a:lnTo>
                    <a:pt x="212140" y="84978"/>
                  </a:lnTo>
                  <a:lnTo>
                    <a:pt x="185882" y="37993"/>
                  </a:lnTo>
                  <a:lnTo>
                    <a:pt x="147873" y="7589"/>
                  </a:lnTo>
                  <a:lnTo>
                    <a:pt x="118155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765471" y="2915940"/>
              <a:ext cx="221615" cy="283845"/>
            </a:xfrm>
            <a:custGeom>
              <a:avLst/>
              <a:gdLst/>
              <a:ahLst/>
              <a:cxnLst/>
              <a:rect l="l" t="t" r="r" b="b"/>
              <a:pathLst>
                <a:path w="221614" h="283844">
                  <a:moveTo>
                    <a:pt x="0" y="141640"/>
                  </a:moveTo>
                  <a:lnTo>
                    <a:pt x="4145" y="102946"/>
                  </a:lnTo>
                  <a:lnTo>
                    <a:pt x="24871" y="51815"/>
                  </a:lnTo>
                  <a:lnTo>
                    <a:pt x="59420" y="15194"/>
                  </a:lnTo>
                  <a:lnTo>
                    <a:pt x="102961" y="0"/>
                  </a:lnTo>
                  <a:lnTo>
                    <a:pt x="118155" y="0"/>
                  </a:lnTo>
                  <a:lnTo>
                    <a:pt x="161696" y="15194"/>
                  </a:lnTo>
                  <a:lnTo>
                    <a:pt x="196245" y="51815"/>
                  </a:lnTo>
                  <a:lnTo>
                    <a:pt x="216971" y="102946"/>
                  </a:lnTo>
                  <a:lnTo>
                    <a:pt x="221117" y="141640"/>
                  </a:lnTo>
                  <a:lnTo>
                    <a:pt x="220431" y="160995"/>
                  </a:lnTo>
                  <a:lnTo>
                    <a:pt x="212140" y="198302"/>
                  </a:lnTo>
                  <a:lnTo>
                    <a:pt x="185882" y="245287"/>
                  </a:lnTo>
                  <a:lnTo>
                    <a:pt x="147873" y="275005"/>
                  </a:lnTo>
                  <a:lnTo>
                    <a:pt x="118155" y="283296"/>
                  </a:lnTo>
                  <a:lnTo>
                    <a:pt x="102961" y="283296"/>
                  </a:lnTo>
                  <a:lnTo>
                    <a:pt x="59420" y="267401"/>
                  </a:lnTo>
                  <a:lnTo>
                    <a:pt x="24871" y="230779"/>
                  </a:lnTo>
                  <a:lnTo>
                    <a:pt x="4145" y="179649"/>
                  </a:lnTo>
                  <a:lnTo>
                    <a:pt x="0" y="141640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687247" y="2915940"/>
              <a:ext cx="221615" cy="283845"/>
            </a:xfrm>
            <a:custGeom>
              <a:avLst/>
              <a:gdLst/>
              <a:ahLst/>
              <a:cxnLst/>
              <a:rect l="l" t="t" r="r" b="b"/>
              <a:pathLst>
                <a:path w="221614" h="283844">
                  <a:moveTo>
                    <a:pt x="118155" y="0"/>
                  </a:moveTo>
                  <a:lnTo>
                    <a:pt x="102946" y="0"/>
                  </a:lnTo>
                  <a:lnTo>
                    <a:pt x="88437" y="2758"/>
                  </a:lnTo>
                  <a:lnTo>
                    <a:pt x="46984" y="25557"/>
                  </a:lnTo>
                  <a:lnTo>
                    <a:pt x="16581" y="67711"/>
                  </a:lnTo>
                  <a:lnTo>
                    <a:pt x="1371" y="122300"/>
                  </a:lnTo>
                  <a:lnTo>
                    <a:pt x="0" y="141640"/>
                  </a:lnTo>
                  <a:lnTo>
                    <a:pt x="1371" y="160995"/>
                  </a:lnTo>
                  <a:lnTo>
                    <a:pt x="9677" y="198302"/>
                  </a:lnTo>
                  <a:lnTo>
                    <a:pt x="35234" y="245287"/>
                  </a:lnTo>
                  <a:lnTo>
                    <a:pt x="73929" y="275005"/>
                  </a:lnTo>
                  <a:lnTo>
                    <a:pt x="102946" y="283296"/>
                  </a:lnTo>
                  <a:lnTo>
                    <a:pt x="118155" y="283296"/>
                  </a:lnTo>
                  <a:lnTo>
                    <a:pt x="161681" y="267401"/>
                  </a:lnTo>
                  <a:lnTo>
                    <a:pt x="196230" y="230779"/>
                  </a:lnTo>
                  <a:lnTo>
                    <a:pt x="216971" y="179649"/>
                  </a:lnTo>
                  <a:lnTo>
                    <a:pt x="221117" y="141640"/>
                  </a:lnTo>
                  <a:lnTo>
                    <a:pt x="220416" y="122300"/>
                  </a:lnTo>
                  <a:lnTo>
                    <a:pt x="212125" y="84978"/>
                  </a:lnTo>
                  <a:lnTo>
                    <a:pt x="186568" y="37993"/>
                  </a:lnTo>
                  <a:lnTo>
                    <a:pt x="147873" y="7589"/>
                  </a:lnTo>
                  <a:lnTo>
                    <a:pt x="118155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687247" y="2915940"/>
              <a:ext cx="221615" cy="283845"/>
            </a:xfrm>
            <a:custGeom>
              <a:avLst/>
              <a:gdLst/>
              <a:ahLst/>
              <a:cxnLst/>
              <a:rect l="l" t="t" r="r" b="b"/>
              <a:pathLst>
                <a:path w="221614" h="283844">
                  <a:moveTo>
                    <a:pt x="0" y="141640"/>
                  </a:moveTo>
                  <a:lnTo>
                    <a:pt x="4145" y="102946"/>
                  </a:lnTo>
                  <a:lnTo>
                    <a:pt x="24871" y="51815"/>
                  </a:lnTo>
                  <a:lnTo>
                    <a:pt x="60106" y="15194"/>
                  </a:lnTo>
                  <a:lnTo>
                    <a:pt x="102946" y="0"/>
                  </a:lnTo>
                  <a:lnTo>
                    <a:pt x="118155" y="0"/>
                  </a:lnTo>
                  <a:lnTo>
                    <a:pt x="161681" y="15194"/>
                  </a:lnTo>
                  <a:lnTo>
                    <a:pt x="196230" y="51815"/>
                  </a:lnTo>
                  <a:lnTo>
                    <a:pt x="216971" y="102946"/>
                  </a:lnTo>
                  <a:lnTo>
                    <a:pt x="221117" y="141640"/>
                  </a:lnTo>
                  <a:lnTo>
                    <a:pt x="220416" y="160995"/>
                  </a:lnTo>
                  <a:lnTo>
                    <a:pt x="212125" y="198302"/>
                  </a:lnTo>
                  <a:lnTo>
                    <a:pt x="186568" y="245287"/>
                  </a:lnTo>
                  <a:lnTo>
                    <a:pt x="147873" y="275005"/>
                  </a:lnTo>
                  <a:lnTo>
                    <a:pt x="118155" y="283296"/>
                  </a:lnTo>
                  <a:lnTo>
                    <a:pt x="102946" y="283296"/>
                  </a:lnTo>
                  <a:lnTo>
                    <a:pt x="60106" y="267401"/>
                  </a:lnTo>
                  <a:lnTo>
                    <a:pt x="24871" y="230779"/>
                  </a:lnTo>
                  <a:lnTo>
                    <a:pt x="4145" y="179649"/>
                  </a:lnTo>
                  <a:lnTo>
                    <a:pt x="0" y="141640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429658" y="1406144"/>
              <a:ext cx="346710" cy="640715"/>
            </a:xfrm>
            <a:custGeom>
              <a:avLst/>
              <a:gdLst/>
              <a:ahLst/>
              <a:cxnLst/>
              <a:rect l="l" t="t" r="r" b="b"/>
              <a:pathLst>
                <a:path w="346710" h="640714">
                  <a:moveTo>
                    <a:pt x="325450" y="0"/>
                  </a:moveTo>
                  <a:lnTo>
                    <a:pt x="0" y="629472"/>
                  </a:lnTo>
                  <a:lnTo>
                    <a:pt x="20726" y="640537"/>
                  </a:lnTo>
                  <a:lnTo>
                    <a:pt x="346176" y="11048"/>
                  </a:lnTo>
                  <a:lnTo>
                    <a:pt x="32545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13762" y="2007286"/>
              <a:ext cx="68412" cy="84993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4986588" y="1411661"/>
              <a:ext cx="701040" cy="0"/>
            </a:xfrm>
            <a:custGeom>
              <a:avLst/>
              <a:gdLst/>
              <a:ahLst/>
              <a:cxnLst/>
              <a:rect l="l" t="t" r="r" b="b"/>
              <a:pathLst>
                <a:path w="701039" h="0">
                  <a:moveTo>
                    <a:pt x="0" y="0"/>
                  </a:moveTo>
                  <a:lnTo>
                    <a:pt x="700658" y="0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429658" y="2421874"/>
              <a:ext cx="346710" cy="641350"/>
            </a:xfrm>
            <a:custGeom>
              <a:avLst/>
              <a:gdLst/>
              <a:ahLst/>
              <a:cxnLst/>
              <a:rect l="l" t="t" r="r" b="b"/>
              <a:pathLst>
                <a:path w="346710" h="641350">
                  <a:moveTo>
                    <a:pt x="20726" y="0"/>
                  </a:moveTo>
                  <a:lnTo>
                    <a:pt x="0" y="11064"/>
                  </a:lnTo>
                  <a:lnTo>
                    <a:pt x="325450" y="641238"/>
                  </a:lnTo>
                  <a:lnTo>
                    <a:pt x="346176" y="630189"/>
                  </a:lnTo>
                  <a:lnTo>
                    <a:pt x="20726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13762" y="2376276"/>
              <a:ext cx="68412" cy="84993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5043936" y="3045837"/>
              <a:ext cx="643890" cy="23495"/>
            </a:xfrm>
            <a:custGeom>
              <a:avLst/>
              <a:gdLst/>
              <a:ahLst/>
              <a:cxnLst/>
              <a:rect l="l" t="t" r="r" b="b"/>
              <a:pathLst>
                <a:path w="643889" h="23494">
                  <a:moveTo>
                    <a:pt x="643304" y="0"/>
                  </a:moveTo>
                  <a:lnTo>
                    <a:pt x="0" y="0"/>
                  </a:lnTo>
                  <a:lnTo>
                    <a:pt x="0" y="23493"/>
                  </a:lnTo>
                  <a:lnTo>
                    <a:pt x="643304" y="23493"/>
                  </a:lnTo>
                  <a:lnTo>
                    <a:pt x="64330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" name="object 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86588" y="3019587"/>
              <a:ext cx="76001" cy="76001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4876037" y="1553316"/>
              <a:ext cx="922019" cy="1362075"/>
            </a:xfrm>
            <a:custGeom>
              <a:avLst/>
              <a:gdLst/>
              <a:ahLst/>
              <a:cxnLst/>
              <a:rect l="l" t="t" r="r" b="b"/>
              <a:pathLst>
                <a:path w="922020" h="1362075">
                  <a:moveTo>
                    <a:pt x="0" y="0"/>
                  </a:moveTo>
                  <a:lnTo>
                    <a:pt x="0" y="1361922"/>
                  </a:lnTo>
                </a:path>
                <a:path w="922020" h="1362075">
                  <a:moveTo>
                    <a:pt x="921760" y="0"/>
                  </a:moveTo>
                  <a:lnTo>
                    <a:pt x="921760" y="35935"/>
                  </a:lnTo>
                </a:path>
                <a:path w="922020" h="1362075">
                  <a:moveTo>
                    <a:pt x="921760" y="71856"/>
                  </a:moveTo>
                  <a:lnTo>
                    <a:pt x="921760" y="107792"/>
                  </a:lnTo>
                </a:path>
                <a:path w="922020" h="1362075">
                  <a:moveTo>
                    <a:pt x="921760" y="143728"/>
                  </a:moveTo>
                  <a:lnTo>
                    <a:pt x="921760" y="179649"/>
                  </a:lnTo>
                </a:path>
                <a:path w="922020" h="1362075">
                  <a:moveTo>
                    <a:pt x="921760" y="214899"/>
                  </a:moveTo>
                  <a:lnTo>
                    <a:pt x="921760" y="250819"/>
                  </a:lnTo>
                </a:path>
                <a:path w="922020" h="1362075">
                  <a:moveTo>
                    <a:pt x="921760" y="286755"/>
                  </a:moveTo>
                  <a:lnTo>
                    <a:pt x="921760" y="322691"/>
                  </a:lnTo>
                </a:path>
                <a:path w="922020" h="1362075">
                  <a:moveTo>
                    <a:pt x="921760" y="358612"/>
                  </a:moveTo>
                  <a:lnTo>
                    <a:pt x="921760" y="394548"/>
                  </a:lnTo>
                </a:path>
                <a:path w="922020" h="1362075">
                  <a:moveTo>
                    <a:pt x="921760" y="430484"/>
                  </a:moveTo>
                  <a:lnTo>
                    <a:pt x="921760" y="466404"/>
                  </a:lnTo>
                </a:path>
                <a:path w="922020" h="1362075">
                  <a:moveTo>
                    <a:pt x="921760" y="502340"/>
                  </a:moveTo>
                  <a:lnTo>
                    <a:pt x="921760" y="538276"/>
                  </a:lnTo>
                </a:path>
                <a:path w="922020" h="1362075">
                  <a:moveTo>
                    <a:pt x="921760" y="574212"/>
                  </a:moveTo>
                  <a:lnTo>
                    <a:pt x="921760" y="610133"/>
                  </a:lnTo>
                </a:path>
                <a:path w="922020" h="1362075">
                  <a:moveTo>
                    <a:pt x="921760" y="646069"/>
                  </a:moveTo>
                  <a:lnTo>
                    <a:pt x="921760" y="682005"/>
                  </a:lnTo>
                </a:path>
                <a:path w="922020" h="1362075">
                  <a:moveTo>
                    <a:pt x="921760" y="717925"/>
                  </a:moveTo>
                  <a:lnTo>
                    <a:pt x="921760" y="753861"/>
                  </a:lnTo>
                </a:path>
                <a:path w="922020" h="1362075">
                  <a:moveTo>
                    <a:pt x="921760" y="789797"/>
                  </a:moveTo>
                  <a:lnTo>
                    <a:pt x="921760" y="825718"/>
                  </a:lnTo>
                </a:path>
                <a:path w="922020" h="1362075">
                  <a:moveTo>
                    <a:pt x="921760" y="861654"/>
                  </a:moveTo>
                  <a:lnTo>
                    <a:pt x="921760" y="897590"/>
                  </a:lnTo>
                </a:path>
                <a:path w="922020" h="1362075">
                  <a:moveTo>
                    <a:pt x="921760" y="933510"/>
                  </a:moveTo>
                  <a:lnTo>
                    <a:pt x="921760" y="969446"/>
                  </a:lnTo>
                </a:path>
                <a:path w="922020" h="1362075">
                  <a:moveTo>
                    <a:pt x="921760" y="1005382"/>
                  </a:moveTo>
                  <a:lnTo>
                    <a:pt x="921760" y="1041303"/>
                  </a:lnTo>
                </a:path>
                <a:path w="922020" h="1362075">
                  <a:moveTo>
                    <a:pt x="921760" y="1077239"/>
                  </a:moveTo>
                  <a:lnTo>
                    <a:pt x="921760" y="1113175"/>
                  </a:lnTo>
                </a:path>
                <a:path w="922020" h="1362075">
                  <a:moveTo>
                    <a:pt x="921760" y="1149095"/>
                  </a:moveTo>
                  <a:lnTo>
                    <a:pt x="921760" y="1185031"/>
                  </a:lnTo>
                </a:path>
                <a:path w="922020" h="1362075">
                  <a:moveTo>
                    <a:pt x="921760" y="1220967"/>
                  </a:moveTo>
                  <a:lnTo>
                    <a:pt x="921760" y="1256903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797798" y="284614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19">
                  <a:moveTo>
                    <a:pt x="-8637" y="10020"/>
                  </a:moveTo>
                  <a:lnTo>
                    <a:pt x="8637" y="10020"/>
                  </a:lnTo>
                </a:path>
              </a:pathLst>
            </a:custGeom>
            <a:ln w="2004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765322" y="2850286"/>
              <a:ext cx="65405" cy="65405"/>
            </a:xfrm>
            <a:custGeom>
              <a:avLst/>
              <a:gdLst/>
              <a:ahLst/>
              <a:cxnLst/>
              <a:rect l="l" t="t" r="r" b="b"/>
              <a:pathLst>
                <a:path w="65404" h="65405">
                  <a:moveTo>
                    <a:pt x="64952" y="0"/>
                  </a:moveTo>
                  <a:lnTo>
                    <a:pt x="46299" y="6217"/>
                  </a:lnTo>
                  <a:lnTo>
                    <a:pt x="42839" y="6918"/>
                  </a:lnTo>
                  <a:lnTo>
                    <a:pt x="38694" y="7604"/>
                  </a:lnTo>
                  <a:lnTo>
                    <a:pt x="26944" y="7604"/>
                  </a:lnTo>
                  <a:lnTo>
                    <a:pt x="18653" y="6217"/>
                  </a:lnTo>
                  <a:lnTo>
                    <a:pt x="15209" y="5532"/>
                  </a:lnTo>
                  <a:lnTo>
                    <a:pt x="11064" y="4846"/>
                  </a:lnTo>
                  <a:lnTo>
                    <a:pt x="4145" y="2072"/>
                  </a:lnTo>
                  <a:lnTo>
                    <a:pt x="0" y="0"/>
                  </a:lnTo>
                  <a:lnTo>
                    <a:pt x="32476" y="64952"/>
                  </a:lnTo>
                  <a:lnTo>
                    <a:pt x="64952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908364" y="1411661"/>
              <a:ext cx="355600" cy="1602740"/>
            </a:xfrm>
            <a:custGeom>
              <a:avLst/>
              <a:gdLst/>
              <a:ahLst/>
              <a:cxnLst/>
              <a:rect l="l" t="t" r="r" b="b"/>
              <a:pathLst>
                <a:path w="355600" h="1602739">
                  <a:moveTo>
                    <a:pt x="0" y="0"/>
                  </a:moveTo>
                  <a:lnTo>
                    <a:pt x="355152" y="680618"/>
                  </a:lnTo>
                </a:path>
                <a:path w="355600" h="1602739">
                  <a:moveTo>
                    <a:pt x="22799" y="1602394"/>
                  </a:moveTo>
                  <a:lnTo>
                    <a:pt x="39380" y="1570603"/>
                  </a:lnTo>
                </a:path>
                <a:path w="355600" h="1602739">
                  <a:moveTo>
                    <a:pt x="55961" y="1538828"/>
                  </a:moveTo>
                  <a:lnTo>
                    <a:pt x="72542" y="1507037"/>
                  </a:lnTo>
                </a:path>
                <a:path w="355600" h="1602739">
                  <a:moveTo>
                    <a:pt x="89123" y="1475247"/>
                  </a:moveTo>
                  <a:lnTo>
                    <a:pt x="105719" y="1443471"/>
                  </a:lnTo>
                </a:path>
                <a:path w="355600" h="1602739">
                  <a:moveTo>
                    <a:pt x="122300" y="1411681"/>
                  </a:moveTo>
                  <a:lnTo>
                    <a:pt x="138882" y="1379890"/>
                  </a:lnTo>
                </a:path>
                <a:path w="355600" h="1602739">
                  <a:moveTo>
                    <a:pt x="155463" y="1348115"/>
                  </a:moveTo>
                  <a:lnTo>
                    <a:pt x="172044" y="1316324"/>
                  </a:lnTo>
                </a:path>
                <a:path w="355600" h="1602739">
                  <a:moveTo>
                    <a:pt x="188625" y="1284533"/>
                  </a:moveTo>
                  <a:lnTo>
                    <a:pt x="205221" y="1252758"/>
                  </a:lnTo>
                </a:path>
                <a:path w="355600" h="1602739">
                  <a:moveTo>
                    <a:pt x="221802" y="1220967"/>
                  </a:moveTo>
                  <a:lnTo>
                    <a:pt x="238384" y="1189177"/>
                  </a:lnTo>
                </a:path>
                <a:path w="355600" h="1602739">
                  <a:moveTo>
                    <a:pt x="254965" y="1157401"/>
                  </a:moveTo>
                  <a:lnTo>
                    <a:pt x="271546" y="1125611"/>
                  </a:lnTo>
                </a:path>
                <a:path w="355600" h="1602739">
                  <a:moveTo>
                    <a:pt x="288127" y="1093835"/>
                  </a:moveTo>
                  <a:lnTo>
                    <a:pt x="304723" y="1062045"/>
                  </a:lnTo>
                </a:path>
                <a:path w="355600" h="1602739">
                  <a:moveTo>
                    <a:pt x="321304" y="1030254"/>
                  </a:moveTo>
                  <a:lnTo>
                    <a:pt x="337886" y="998479"/>
                  </a:lnTo>
                </a:path>
                <a:path w="355600" h="1602739">
                  <a:moveTo>
                    <a:pt x="354467" y="966688"/>
                  </a:moveTo>
                  <a:lnTo>
                    <a:pt x="355152" y="964615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908364" y="2985038"/>
              <a:ext cx="59055" cy="73025"/>
            </a:xfrm>
            <a:custGeom>
              <a:avLst/>
              <a:gdLst/>
              <a:ahLst/>
              <a:cxnLst/>
              <a:rect l="l" t="t" r="r" b="b"/>
              <a:pathLst>
                <a:path w="59054" h="73025">
                  <a:moveTo>
                    <a:pt x="1371" y="0"/>
                  </a:moveTo>
                  <a:lnTo>
                    <a:pt x="0" y="72542"/>
                  </a:lnTo>
                  <a:lnTo>
                    <a:pt x="58734" y="29702"/>
                  </a:lnTo>
                  <a:lnTo>
                    <a:pt x="55275" y="29702"/>
                  </a:lnTo>
                  <a:lnTo>
                    <a:pt x="46984" y="28315"/>
                  </a:lnTo>
                  <a:lnTo>
                    <a:pt x="43525" y="27630"/>
                  </a:lnTo>
                  <a:lnTo>
                    <a:pt x="39380" y="26944"/>
                  </a:lnTo>
                  <a:lnTo>
                    <a:pt x="35920" y="25557"/>
                  </a:lnTo>
                  <a:lnTo>
                    <a:pt x="31775" y="24170"/>
                  </a:lnTo>
                  <a:lnTo>
                    <a:pt x="28331" y="22097"/>
                  </a:lnTo>
                  <a:lnTo>
                    <a:pt x="24871" y="20726"/>
                  </a:lnTo>
                  <a:lnTo>
                    <a:pt x="17952" y="16581"/>
                  </a:lnTo>
                  <a:lnTo>
                    <a:pt x="15194" y="13807"/>
                  </a:lnTo>
                  <a:lnTo>
                    <a:pt x="11734" y="11734"/>
                  </a:lnTo>
                  <a:lnTo>
                    <a:pt x="6217" y="6217"/>
                  </a:lnTo>
                  <a:lnTo>
                    <a:pt x="4145" y="2758"/>
                  </a:lnTo>
                  <a:lnTo>
                    <a:pt x="1371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943749" y="1521526"/>
              <a:ext cx="798195" cy="1437640"/>
            </a:xfrm>
            <a:custGeom>
              <a:avLst/>
              <a:gdLst/>
              <a:ahLst/>
              <a:cxnLst/>
              <a:rect l="l" t="t" r="r" b="b"/>
              <a:pathLst>
                <a:path w="798195" h="1437639">
                  <a:moveTo>
                    <a:pt x="453283" y="597011"/>
                  </a:moveTo>
                  <a:lnTo>
                    <a:pt x="798088" y="0"/>
                  </a:lnTo>
                </a:path>
                <a:path w="798195" h="1437639">
                  <a:moveTo>
                    <a:pt x="465719" y="814669"/>
                  </a:moveTo>
                  <a:lnTo>
                    <a:pt x="783564" y="1437253"/>
                  </a:lnTo>
                </a:path>
                <a:path w="798195" h="1437639">
                  <a:moveTo>
                    <a:pt x="0" y="2072"/>
                  </a:moveTo>
                  <a:lnTo>
                    <a:pt x="327522" y="594253"/>
                  </a:lnTo>
                </a:path>
                <a:path w="798195" h="1437639">
                  <a:moveTo>
                    <a:pt x="30403" y="1388882"/>
                  </a:moveTo>
                  <a:lnTo>
                    <a:pt x="46299" y="1356405"/>
                  </a:lnTo>
                </a:path>
                <a:path w="798195" h="1437639">
                  <a:moveTo>
                    <a:pt x="62194" y="1324615"/>
                  </a:moveTo>
                  <a:lnTo>
                    <a:pt x="78074" y="1292138"/>
                  </a:lnTo>
                </a:path>
                <a:path w="798195" h="1437639">
                  <a:moveTo>
                    <a:pt x="93969" y="1260363"/>
                  </a:moveTo>
                  <a:lnTo>
                    <a:pt x="109865" y="1227886"/>
                  </a:lnTo>
                </a:path>
                <a:path w="798195" h="1437639">
                  <a:moveTo>
                    <a:pt x="125760" y="1196096"/>
                  </a:moveTo>
                  <a:lnTo>
                    <a:pt x="141655" y="1163619"/>
                  </a:lnTo>
                </a:path>
                <a:path w="798195" h="1437639">
                  <a:moveTo>
                    <a:pt x="157535" y="1131829"/>
                  </a:moveTo>
                  <a:lnTo>
                    <a:pt x="173431" y="1099352"/>
                  </a:lnTo>
                </a:path>
                <a:path w="798195" h="1437639">
                  <a:moveTo>
                    <a:pt x="189326" y="1067577"/>
                  </a:moveTo>
                  <a:lnTo>
                    <a:pt x="205221" y="1035100"/>
                  </a:lnTo>
                </a:path>
                <a:path w="798195" h="1437639">
                  <a:moveTo>
                    <a:pt x="221117" y="1003310"/>
                  </a:moveTo>
                  <a:lnTo>
                    <a:pt x="237012" y="971519"/>
                  </a:lnTo>
                </a:path>
                <a:path w="798195" h="1437639">
                  <a:moveTo>
                    <a:pt x="252892" y="939043"/>
                  </a:moveTo>
                  <a:lnTo>
                    <a:pt x="268787" y="907267"/>
                  </a:lnTo>
                </a:path>
                <a:path w="798195" h="1437639">
                  <a:moveTo>
                    <a:pt x="284683" y="874791"/>
                  </a:moveTo>
                  <a:lnTo>
                    <a:pt x="300578" y="843000"/>
                  </a:lnTo>
                </a:path>
              </a:pathLst>
            </a:custGeom>
            <a:ln w="1727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952039" y="2882077"/>
              <a:ext cx="58419" cy="73025"/>
            </a:xfrm>
            <a:custGeom>
              <a:avLst/>
              <a:gdLst/>
              <a:ahLst/>
              <a:cxnLst/>
              <a:rect l="l" t="t" r="r" b="b"/>
              <a:pathLst>
                <a:path w="58420" h="73025">
                  <a:moveTo>
                    <a:pt x="0" y="0"/>
                  </a:moveTo>
                  <a:lnTo>
                    <a:pt x="0" y="72557"/>
                  </a:lnTo>
                  <a:lnTo>
                    <a:pt x="58049" y="29016"/>
                  </a:lnTo>
                  <a:lnTo>
                    <a:pt x="54589" y="29016"/>
                  </a:lnTo>
                  <a:lnTo>
                    <a:pt x="42153" y="26944"/>
                  </a:lnTo>
                  <a:lnTo>
                    <a:pt x="38694" y="26258"/>
                  </a:lnTo>
                  <a:lnTo>
                    <a:pt x="34549" y="24871"/>
                  </a:lnTo>
                  <a:lnTo>
                    <a:pt x="27645" y="22113"/>
                  </a:lnTo>
                  <a:lnTo>
                    <a:pt x="24185" y="20040"/>
                  </a:lnTo>
                  <a:lnTo>
                    <a:pt x="20726" y="18653"/>
                  </a:lnTo>
                  <a:lnTo>
                    <a:pt x="17266" y="15895"/>
                  </a:lnTo>
                  <a:lnTo>
                    <a:pt x="13822" y="13822"/>
                  </a:lnTo>
                  <a:lnTo>
                    <a:pt x="11048" y="11750"/>
                  </a:lnTo>
                  <a:lnTo>
                    <a:pt x="7604" y="8976"/>
                  </a:lnTo>
                  <a:lnTo>
                    <a:pt x="4831" y="6217"/>
                  </a:lnTo>
                  <a:lnTo>
                    <a:pt x="2758" y="27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0" name="object 60"/>
          <p:cNvSpPr txBox="1"/>
          <p:nvPr/>
        </p:nvSpPr>
        <p:spPr>
          <a:xfrm>
            <a:off x="4388886" y="2534247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05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762016" y="2156971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05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839256" y="2156971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146743" y="1671901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05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153802" y="2534247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624360" y="2534247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05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146742" y="2534247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2830721" y="3089106"/>
            <a:ext cx="25406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  <a:tabLst>
                <a:tab pos="2450465" algn="l"/>
              </a:tabLst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1</a:t>
            </a: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05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297527" y="2133477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2489376" y="882109"/>
            <a:ext cx="3361690" cy="981075"/>
          </a:xfrm>
          <a:prstGeom prst="rect">
            <a:avLst/>
          </a:prstGeom>
        </p:spPr>
        <p:txBody>
          <a:bodyPr wrap="square" lIns="0" tIns="93980" rIns="0" bIns="0" rtlCol="0" vert="horz">
            <a:spAutoFit/>
          </a:bodyPr>
          <a:lstStyle/>
          <a:p>
            <a:pPr algn="r" marR="319405">
              <a:lnSpc>
                <a:spcPct val="100000"/>
              </a:lnSpc>
              <a:spcBef>
                <a:spcPts val="740"/>
              </a:spcBef>
              <a:tabLst>
                <a:tab pos="2449830" algn="l"/>
              </a:tabLst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PQ:</a:t>
            </a: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 1,2,10,?	</a:t>
            </a: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PQ:</a:t>
            </a:r>
            <a:r>
              <a:rPr dirty="0" sz="1050" spc="-5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2,2,5</a:t>
            </a:r>
            <a:endParaRPr sz="1050">
              <a:latin typeface="Arial"/>
              <a:cs typeface="Arial"/>
            </a:endParaRPr>
          </a:p>
          <a:p>
            <a:pPr marL="300990">
              <a:lnSpc>
                <a:spcPts val="1090"/>
              </a:lnSpc>
              <a:spcBef>
                <a:spcPts val="650"/>
              </a:spcBef>
              <a:tabLst>
                <a:tab pos="2750820" algn="l"/>
              </a:tabLst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10	10</a:t>
            </a:r>
            <a:endParaRPr sz="1050">
              <a:latin typeface="Arial"/>
              <a:cs typeface="Arial"/>
            </a:endParaRPr>
          </a:p>
          <a:p>
            <a:pPr marL="777875">
              <a:lnSpc>
                <a:spcPts val="1090"/>
              </a:lnSpc>
              <a:tabLst>
                <a:tab pos="3271520" algn="l"/>
              </a:tabLst>
            </a:pP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10</a:t>
            </a: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00">
              <a:latin typeface="Arial"/>
              <a:cs typeface="Arial"/>
            </a:endParaRPr>
          </a:p>
          <a:p>
            <a:pPr algn="r" marR="317500">
              <a:lnSpc>
                <a:spcPct val="100000"/>
              </a:lnSpc>
              <a:tabLst>
                <a:tab pos="307340" algn="l"/>
                <a:tab pos="1006475" algn="l"/>
                <a:tab pos="1711325" algn="l"/>
                <a:tab pos="2449830" algn="l"/>
                <a:tab pos="2757170" algn="l"/>
              </a:tabLst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8	7	6	4	8	7</a:t>
            </a:r>
            <a:endParaRPr sz="105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231734" y="2133477"/>
            <a:ext cx="89535" cy="1917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20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062301" y="3395333"/>
            <a:ext cx="41052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8.59: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Prim’s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selected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72" name="object 72"/>
          <p:cNvGrpSpPr/>
          <p:nvPr/>
        </p:nvGrpSpPr>
        <p:grpSpPr>
          <a:xfrm>
            <a:off x="1772411" y="3920942"/>
            <a:ext cx="4648200" cy="2385060"/>
            <a:chOff x="1772411" y="3920942"/>
            <a:chExt cx="4648200" cy="2385060"/>
          </a:xfrm>
        </p:grpSpPr>
        <p:sp>
          <p:nvSpPr>
            <p:cNvPr id="73" name="object 73"/>
            <p:cNvSpPr/>
            <p:nvPr/>
          </p:nvSpPr>
          <p:spPr>
            <a:xfrm>
              <a:off x="1772411" y="3920942"/>
              <a:ext cx="4648200" cy="2385060"/>
            </a:xfrm>
            <a:custGeom>
              <a:avLst/>
              <a:gdLst/>
              <a:ahLst/>
              <a:cxnLst/>
              <a:rect l="l" t="t" r="r" b="b"/>
              <a:pathLst>
                <a:path w="4648200" h="2385060">
                  <a:moveTo>
                    <a:pt x="4648001" y="0"/>
                  </a:moveTo>
                  <a:lnTo>
                    <a:pt x="0" y="0"/>
                  </a:lnTo>
                  <a:lnTo>
                    <a:pt x="0" y="2384861"/>
                  </a:lnTo>
                  <a:lnTo>
                    <a:pt x="4648001" y="2384861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053321" y="4016771"/>
              <a:ext cx="319405" cy="128270"/>
            </a:xfrm>
            <a:custGeom>
              <a:avLst/>
              <a:gdLst/>
              <a:ahLst/>
              <a:cxnLst/>
              <a:rect l="l" t="t" r="r" b="b"/>
              <a:pathLst>
                <a:path w="319404" h="128270">
                  <a:moveTo>
                    <a:pt x="204703" y="0"/>
                  </a:moveTo>
                  <a:lnTo>
                    <a:pt x="222625" y="49621"/>
                  </a:lnTo>
                  <a:lnTo>
                    <a:pt x="0" y="16550"/>
                  </a:lnTo>
                  <a:lnTo>
                    <a:pt x="26197" y="64099"/>
                  </a:lnTo>
                  <a:lnTo>
                    <a:pt x="0" y="111663"/>
                  </a:lnTo>
                  <a:lnTo>
                    <a:pt x="222625" y="78577"/>
                  </a:lnTo>
                  <a:lnTo>
                    <a:pt x="204703" y="128198"/>
                  </a:lnTo>
                  <a:lnTo>
                    <a:pt x="319125" y="64099"/>
                  </a:lnTo>
                  <a:lnTo>
                    <a:pt x="2047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053321" y="4016771"/>
              <a:ext cx="319405" cy="128270"/>
            </a:xfrm>
            <a:custGeom>
              <a:avLst/>
              <a:gdLst/>
              <a:ahLst/>
              <a:cxnLst/>
              <a:rect l="l" t="t" r="r" b="b"/>
              <a:pathLst>
                <a:path w="319404" h="128270">
                  <a:moveTo>
                    <a:pt x="319125" y="64099"/>
                  </a:moveTo>
                  <a:lnTo>
                    <a:pt x="204703" y="128198"/>
                  </a:lnTo>
                  <a:lnTo>
                    <a:pt x="222625" y="78577"/>
                  </a:lnTo>
                  <a:lnTo>
                    <a:pt x="0" y="111663"/>
                  </a:lnTo>
                  <a:lnTo>
                    <a:pt x="26197" y="64099"/>
                  </a:lnTo>
                  <a:lnTo>
                    <a:pt x="0" y="16550"/>
                  </a:lnTo>
                  <a:lnTo>
                    <a:pt x="222625" y="49621"/>
                  </a:lnTo>
                  <a:lnTo>
                    <a:pt x="204703" y="0"/>
                  </a:lnTo>
                  <a:lnTo>
                    <a:pt x="319125" y="64099"/>
                  </a:lnTo>
                </a:path>
              </a:pathLst>
            </a:custGeom>
            <a:ln w="17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1833951" y="5072705"/>
              <a:ext cx="220979" cy="281940"/>
            </a:xfrm>
            <a:custGeom>
              <a:avLst/>
              <a:gdLst/>
              <a:ahLst/>
              <a:cxnLst/>
              <a:rect l="l" t="t" r="r" b="b"/>
              <a:pathLst>
                <a:path w="220980" h="281939">
                  <a:moveTo>
                    <a:pt x="117866" y="0"/>
                  </a:moveTo>
                  <a:lnTo>
                    <a:pt x="102702" y="0"/>
                  </a:lnTo>
                  <a:lnTo>
                    <a:pt x="87538" y="2758"/>
                  </a:lnTo>
                  <a:lnTo>
                    <a:pt x="46862" y="25496"/>
                  </a:lnTo>
                  <a:lnTo>
                    <a:pt x="15849" y="66857"/>
                  </a:lnTo>
                  <a:lnTo>
                    <a:pt x="685" y="121295"/>
                  </a:lnTo>
                  <a:lnTo>
                    <a:pt x="0" y="140604"/>
                  </a:lnTo>
                  <a:lnTo>
                    <a:pt x="685" y="159898"/>
                  </a:lnTo>
                  <a:lnTo>
                    <a:pt x="8961" y="197114"/>
                  </a:lnTo>
                  <a:lnTo>
                    <a:pt x="35143" y="243992"/>
                  </a:lnTo>
                  <a:lnTo>
                    <a:pt x="73060" y="274319"/>
                  </a:lnTo>
                  <a:lnTo>
                    <a:pt x="102702" y="281894"/>
                  </a:lnTo>
                  <a:lnTo>
                    <a:pt x="117866" y="281894"/>
                  </a:lnTo>
                  <a:lnTo>
                    <a:pt x="160599" y="266730"/>
                  </a:lnTo>
                  <a:lnTo>
                    <a:pt x="195742" y="230200"/>
                  </a:lnTo>
                  <a:lnTo>
                    <a:pt x="216423" y="179191"/>
                  </a:lnTo>
                  <a:lnTo>
                    <a:pt x="220553" y="140604"/>
                  </a:lnTo>
                  <a:lnTo>
                    <a:pt x="219181" y="121295"/>
                  </a:lnTo>
                  <a:lnTo>
                    <a:pt x="204703" y="66857"/>
                  </a:lnTo>
                  <a:lnTo>
                    <a:pt x="173690" y="25496"/>
                  </a:lnTo>
                  <a:lnTo>
                    <a:pt x="132328" y="2758"/>
                  </a:lnTo>
                  <a:lnTo>
                    <a:pt x="117866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1833951" y="5072705"/>
              <a:ext cx="220979" cy="281940"/>
            </a:xfrm>
            <a:custGeom>
              <a:avLst/>
              <a:gdLst/>
              <a:ahLst/>
              <a:cxnLst/>
              <a:rect l="l" t="t" r="r" b="b"/>
              <a:pathLst>
                <a:path w="220980" h="281939">
                  <a:moveTo>
                    <a:pt x="0" y="140604"/>
                  </a:moveTo>
                  <a:lnTo>
                    <a:pt x="4130" y="102687"/>
                  </a:lnTo>
                  <a:lnTo>
                    <a:pt x="24810" y="51694"/>
                  </a:lnTo>
                  <a:lnTo>
                    <a:pt x="59268" y="15849"/>
                  </a:lnTo>
                  <a:lnTo>
                    <a:pt x="102702" y="0"/>
                  </a:lnTo>
                  <a:lnTo>
                    <a:pt x="117866" y="0"/>
                  </a:lnTo>
                  <a:lnTo>
                    <a:pt x="160599" y="15849"/>
                  </a:lnTo>
                  <a:lnTo>
                    <a:pt x="195742" y="51694"/>
                  </a:lnTo>
                  <a:lnTo>
                    <a:pt x="216423" y="102687"/>
                  </a:lnTo>
                  <a:lnTo>
                    <a:pt x="220553" y="140604"/>
                  </a:lnTo>
                  <a:lnTo>
                    <a:pt x="219181" y="159898"/>
                  </a:lnTo>
                  <a:lnTo>
                    <a:pt x="204703" y="214350"/>
                  </a:lnTo>
                  <a:lnTo>
                    <a:pt x="173690" y="256397"/>
                  </a:lnTo>
                  <a:lnTo>
                    <a:pt x="132328" y="279135"/>
                  </a:lnTo>
                  <a:lnTo>
                    <a:pt x="117866" y="281894"/>
                  </a:lnTo>
                  <a:lnTo>
                    <a:pt x="102702" y="281894"/>
                  </a:lnTo>
                  <a:lnTo>
                    <a:pt x="59268" y="266730"/>
                  </a:lnTo>
                  <a:lnTo>
                    <a:pt x="24810" y="230200"/>
                  </a:lnTo>
                  <a:lnTo>
                    <a:pt x="4130" y="179191"/>
                  </a:lnTo>
                  <a:lnTo>
                    <a:pt x="0" y="140604"/>
                  </a:lnTo>
                </a:path>
              </a:pathLst>
            </a:custGeom>
            <a:ln w="17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215197" y="4251802"/>
              <a:ext cx="220979" cy="283210"/>
            </a:xfrm>
            <a:custGeom>
              <a:avLst/>
              <a:gdLst/>
              <a:ahLst/>
              <a:cxnLst/>
              <a:rect l="l" t="t" r="r" b="b"/>
              <a:pathLst>
                <a:path w="220979" h="283210">
                  <a:moveTo>
                    <a:pt x="0" y="141305"/>
                  </a:moveTo>
                  <a:lnTo>
                    <a:pt x="4130" y="102702"/>
                  </a:lnTo>
                  <a:lnTo>
                    <a:pt x="24810" y="51694"/>
                  </a:lnTo>
                  <a:lnTo>
                    <a:pt x="59268" y="15163"/>
                  </a:lnTo>
                  <a:lnTo>
                    <a:pt x="102702" y="0"/>
                  </a:lnTo>
                  <a:lnTo>
                    <a:pt x="117866" y="0"/>
                  </a:lnTo>
                  <a:lnTo>
                    <a:pt x="160599" y="15163"/>
                  </a:lnTo>
                  <a:lnTo>
                    <a:pt x="195742" y="51694"/>
                  </a:lnTo>
                  <a:lnTo>
                    <a:pt x="216423" y="102702"/>
                  </a:lnTo>
                  <a:lnTo>
                    <a:pt x="220553" y="141305"/>
                  </a:lnTo>
                  <a:lnTo>
                    <a:pt x="219181" y="160599"/>
                  </a:lnTo>
                  <a:lnTo>
                    <a:pt x="204017" y="214365"/>
                  </a:lnTo>
                  <a:lnTo>
                    <a:pt x="173690" y="256397"/>
                  </a:lnTo>
                  <a:lnTo>
                    <a:pt x="132328" y="279836"/>
                  </a:lnTo>
                  <a:lnTo>
                    <a:pt x="117866" y="282595"/>
                  </a:lnTo>
                  <a:lnTo>
                    <a:pt x="102702" y="282595"/>
                  </a:lnTo>
                  <a:lnTo>
                    <a:pt x="59268" y="266745"/>
                  </a:lnTo>
                  <a:lnTo>
                    <a:pt x="24810" y="230215"/>
                  </a:lnTo>
                  <a:lnTo>
                    <a:pt x="4130" y="179207"/>
                  </a:lnTo>
                  <a:lnTo>
                    <a:pt x="0" y="141305"/>
                  </a:lnTo>
                </a:path>
              </a:pathLst>
            </a:custGeom>
            <a:ln w="17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2295052" y="4251802"/>
              <a:ext cx="220979" cy="283210"/>
            </a:xfrm>
            <a:custGeom>
              <a:avLst/>
              <a:gdLst/>
              <a:ahLst/>
              <a:cxnLst/>
              <a:rect l="l" t="t" r="r" b="b"/>
              <a:pathLst>
                <a:path w="220980" h="283210">
                  <a:moveTo>
                    <a:pt x="117866" y="0"/>
                  </a:moveTo>
                  <a:lnTo>
                    <a:pt x="102702" y="0"/>
                  </a:lnTo>
                  <a:lnTo>
                    <a:pt x="88224" y="2072"/>
                  </a:lnTo>
                  <a:lnTo>
                    <a:pt x="46878" y="25511"/>
                  </a:lnTo>
                  <a:lnTo>
                    <a:pt x="15849" y="67543"/>
                  </a:lnTo>
                  <a:lnTo>
                    <a:pt x="1386" y="121996"/>
                  </a:lnTo>
                  <a:lnTo>
                    <a:pt x="0" y="141305"/>
                  </a:lnTo>
                  <a:lnTo>
                    <a:pt x="1386" y="160599"/>
                  </a:lnTo>
                  <a:lnTo>
                    <a:pt x="15849" y="214365"/>
                  </a:lnTo>
                  <a:lnTo>
                    <a:pt x="46878" y="256397"/>
                  </a:lnTo>
                  <a:lnTo>
                    <a:pt x="88224" y="279836"/>
                  </a:lnTo>
                  <a:lnTo>
                    <a:pt x="102702" y="282595"/>
                  </a:lnTo>
                  <a:lnTo>
                    <a:pt x="117866" y="282595"/>
                  </a:lnTo>
                  <a:lnTo>
                    <a:pt x="161284" y="266745"/>
                  </a:lnTo>
                  <a:lnTo>
                    <a:pt x="195742" y="230215"/>
                  </a:lnTo>
                  <a:lnTo>
                    <a:pt x="216423" y="179207"/>
                  </a:lnTo>
                  <a:lnTo>
                    <a:pt x="220568" y="141305"/>
                  </a:lnTo>
                  <a:lnTo>
                    <a:pt x="219867" y="121996"/>
                  </a:lnTo>
                  <a:lnTo>
                    <a:pt x="211607" y="84780"/>
                  </a:lnTo>
                  <a:lnTo>
                    <a:pt x="185409" y="37231"/>
                  </a:lnTo>
                  <a:lnTo>
                    <a:pt x="147507" y="7589"/>
                  </a:lnTo>
                  <a:lnTo>
                    <a:pt x="117866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295052" y="4251802"/>
              <a:ext cx="220979" cy="283210"/>
            </a:xfrm>
            <a:custGeom>
              <a:avLst/>
              <a:gdLst/>
              <a:ahLst/>
              <a:cxnLst/>
              <a:rect l="l" t="t" r="r" b="b"/>
              <a:pathLst>
                <a:path w="220980" h="283210">
                  <a:moveTo>
                    <a:pt x="0" y="141305"/>
                  </a:moveTo>
                  <a:lnTo>
                    <a:pt x="4145" y="102702"/>
                  </a:lnTo>
                  <a:lnTo>
                    <a:pt x="24810" y="51694"/>
                  </a:lnTo>
                  <a:lnTo>
                    <a:pt x="59969" y="15163"/>
                  </a:lnTo>
                  <a:lnTo>
                    <a:pt x="102702" y="0"/>
                  </a:lnTo>
                  <a:lnTo>
                    <a:pt x="117866" y="0"/>
                  </a:lnTo>
                  <a:lnTo>
                    <a:pt x="161284" y="15163"/>
                  </a:lnTo>
                  <a:lnTo>
                    <a:pt x="195742" y="51694"/>
                  </a:lnTo>
                  <a:lnTo>
                    <a:pt x="216423" y="102702"/>
                  </a:lnTo>
                  <a:lnTo>
                    <a:pt x="220568" y="141305"/>
                  </a:lnTo>
                  <a:lnTo>
                    <a:pt x="219867" y="160599"/>
                  </a:lnTo>
                  <a:lnTo>
                    <a:pt x="204703" y="214365"/>
                  </a:lnTo>
                  <a:lnTo>
                    <a:pt x="173690" y="256397"/>
                  </a:lnTo>
                  <a:lnTo>
                    <a:pt x="133029" y="279836"/>
                  </a:lnTo>
                  <a:lnTo>
                    <a:pt x="117866" y="282595"/>
                  </a:lnTo>
                  <a:lnTo>
                    <a:pt x="102702" y="282595"/>
                  </a:lnTo>
                  <a:lnTo>
                    <a:pt x="59969" y="266745"/>
                  </a:lnTo>
                  <a:lnTo>
                    <a:pt x="24810" y="230215"/>
                  </a:lnTo>
                  <a:lnTo>
                    <a:pt x="4145" y="179207"/>
                  </a:lnTo>
                  <a:lnTo>
                    <a:pt x="0" y="141305"/>
                  </a:lnTo>
                </a:path>
              </a:pathLst>
            </a:custGeom>
            <a:ln w="17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2750652" y="5072705"/>
              <a:ext cx="220345" cy="281940"/>
            </a:xfrm>
            <a:custGeom>
              <a:avLst/>
              <a:gdLst/>
              <a:ahLst/>
              <a:cxnLst/>
              <a:rect l="l" t="t" r="r" b="b"/>
              <a:pathLst>
                <a:path w="220344" h="281939">
                  <a:moveTo>
                    <a:pt x="117850" y="0"/>
                  </a:moveTo>
                  <a:lnTo>
                    <a:pt x="102687" y="0"/>
                  </a:lnTo>
                  <a:lnTo>
                    <a:pt x="87523" y="2758"/>
                  </a:lnTo>
                  <a:lnTo>
                    <a:pt x="46862" y="25496"/>
                  </a:lnTo>
                  <a:lnTo>
                    <a:pt x="15849" y="66857"/>
                  </a:lnTo>
                  <a:lnTo>
                    <a:pt x="685" y="121295"/>
                  </a:lnTo>
                  <a:lnTo>
                    <a:pt x="0" y="140604"/>
                  </a:lnTo>
                  <a:lnTo>
                    <a:pt x="685" y="159898"/>
                  </a:lnTo>
                  <a:lnTo>
                    <a:pt x="8961" y="197114"/>
                  </a:lnTo>
                  <a:lnTo>
                    <a:pt x="35143" y="243992"/>
                  </a:lnTo>
                  <a:lnTo>
                    <a:pt x="73060" y="274319"/>
                  </a:lnTo>
                  <a:lnTo>
                    <a:pt x="102687" y="281894"/>
                  </a:lnTo>
                  <a:lnTo>
                    <a:pt x="117850" y="281894"/>
                  </a:lnTo>
                  <a:lnTo>
                    <a:pt x="160583" y="266730"/>
                  </a:lnTo>
                  <a:lnTo>
                    <a:pt x="195742" y="230200"/>
                  </a:lnTo>
                  <a:lnTo>
                    <a:pt x="215722" y="179191"/>
                  </a:lnTo>
                  <a:lnTo>
                    <a:pt x="219867" y="140604"/>
                  </a:lnTo>
                  <a:lnTo>
                    <a:pt x="218480" y="121295"/>
                  </a:lnTo>
                  <a:lnTo>
                    <a:pt x="204017" y="66857"/>
                  </a:lnTo>
                  <a:lnTo>
                    <a:pt x="173690" y="25496"/>
                  </a:lnTo>
                  <a:lnTo>
                    <a:pt x="132328" y="2758"/>
                  </a:lnTo>
                  <a:lnTo>
                    <a:pt x="117850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2750652" y="5072705"/>
              <a:ext cx="1149350" cy="281940"/>
            </a:xfrm>
            <a:custGeom>
              <a:avLst/>
              <a:gdLst/>
              <a:ahLst/>
              <a:cxnLst/>
              <a:rect l="l" t="t" r="r" b="b"/>
              <a:pathLst>
                <a:path w="1149350" h="281939">
                  <a:moveTo>
                    <a:pt x="0" y="140604"/>
                  </a:moveTo>
                  <a:lnTo>
                    <a:pt x="4130" y="102687"/>
                  </a:lnTo>
                  <a:lnTo>
                    <a:pt x="24810" y="51694"/>
                  </a:lnTo>
                  <a:lnTo>
                    <a:pt x="59268" y="15849"/>
                  </a:lnTo>
                  <a:lnTo>
                    <a:pt x="102687" y="0"/>
                  </a:lnTo>
                  <a:lnTo>
                    <a:pt x="117850" y="0"/>
                  </a:lnTo>
                  <a:lnTo>
                    <a:pt x="160583" y="15849"/>
                  </a:lnTo>
                  <a:lnTo>
                    <a:pt x="195742" y="51694"/>
                  </a:lnTo>
                  <a:lnTo>
                    <a:pt x="215722" y="102687"/>
                  </a:lnTo>
                  <a:lnTo>
                    <a:pt x="219867" y="140604"/>
                  </a:lnTo>
                  <a:lnTo>
                    <a:pt x="218480" y="159898"/>
                  </a:lnTo>
                  <a:lnTo>
                    <a:pt x="204017" y="214350"/>
                  </a:lnTo>
                  <a:lnTo>
                    <a:pt x="173690" y="256397"/>
                  </a:lnTo>
                  <a:lnTo>
                    <a:pt x="132328" y="279135"/>
                  </a:lnTo>
                  <a:lnTo>
                    <a:pt x="117850" y="281894"/>
                  </a:lnTo>
                  <a:lnTo>
                    <a:pt x="102687" y="281894"/>
                  </a:lnTo>
                  <a:lnTo>
                    <a:pt x="59268" y="266730"/>
                  </a:lnTo>
                  <a:lnTo>
                    <a:pt x="24810" y="230200"/>
                  </a:lnTo>
                  <a:lnTo>
                    <a:pt x="4130" y="179191"/>
                  </a:lnTo>
                  <a:lnTo>
                    <a:pt x="0" y="140604"/>
                  </a:lnTo>
                </a:path>
                <a:path w="1149350" h="281939">
                  <a:moveTo>
                    <a:pt x="928405" y="140604"/>
                  </a:moveTo>
                  <a:lnTo>
                    <a:pt x="932550" y="102687"/>
                  </a:lnTo>
                  <a:lnTo>
                    <a:pt x="953216" y="51694"/>
                  </a:lnTo>
                  <a:lnTo>
                    <a:pt x="987689" y="15849"/>
                  </a:lnTo>
                  <a:lnTo>
                    <a:pt x="1031107" y="0"/>
                  </a:lnTo>
                  <a:lnTo>
                    <a:pt x="1046271" y="0"/>
                  </a:lnTo>
                  <a:lnTo>
                    <a:pt x="1089690" y="15849"/>
                  </a:lnTo>
                  <a:lnTo>
                    <a:pt x="1124148" y="51694"/>
                  </a:lnTo>
                  <a:lnTo>
                    <a:pt x="1144828" y="102687"/>
                  </a:lnTo>
                  <a:lnTo>
                    <a:pt x="1148974" y="140604"/>
                  </a:lnTo>
                  <a:lnTo>
                    <a:pt x="1147587" y="159898"/>
                  </a:lnTo>
                  <a:lnTo>
                    <a:pt x="1133109" y="214350"/>
                  </a:lnTo>
                  <a:lnTo>
                    <a:pt x="1102095" y="256397"/>
                  </a:lnTo>
                  <a:lnTo>
                    <a:pt x="1061435" y="279135"/>
                  </a:lnTo>
                  <a:lnTo>
                    <a:pt x="1046271" y="281894"/>
                  </a:lnTo>
                  <a:lnTo>
                    <a:pt x="1031107" y="281894"/>
                  </a:lnTo>
                  <a:lnTo>
                    <a:pt x="987689" y="266730"/>
                  </a:lnTo>
                  <a:lnTo>
                    <a:pt x="953216" y="230200"/>
                  </a:lnTo>
                  <a:lnTo>
                    <a:pt x="932550" y="179191"/>
                  </a:lnTo>
                  <a:lnTo>
                    <a:pt x="928405" y="140604"/>
                  </a:lnTo>
                </a:path>
              </a:pathLst>
            </a:custGeom>
            <a:ln w="17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295052" y="5893592"/>
              <a:ext cx="220979" cy="283210"/>
            </a:xfrm>
            <a:custGeom>
              <a:avLst/>
              <a:gdLst/>
              <a:ahLst/>
              <a:cxnLst/>
              <a:rect l="l" t="t" r="r" b="b"/>
              <a:pathLst>
                <a:path w="220980" h="283210">
                  <a:moveTo>
                    <a:pt x="117866" y="0"/>
                  </a:moveTo>
                  <a:lnTo>
                    <a:pt x="102702" y="0"/>
                  </a:lnTo>
                  <a:lnTo>
                    <a:pt x="88224" y="2758"/>
                  </a:lnTo>
                  <a:lnTo>
                    <a:pt x="46878" y="25496"/>
                  </a:lnTo>
                  <a:lnTo>
                    <a:pt x="15849" y="67543"/>
                  </a:lnTo>
                  <a:lnTo>
                    <a:pt x="1386" y="121996"/>
                  </a:lnTo>
                  <a:lnTo>
                    <a:pt x="0" y="141290"/>
                  </a:lnTo>
                  <a:lnTo>
                    <a:pt x="1386" y="160599"/>
                  </a:lnTo>
                  <a:lnTo>
                    <a:pt x="15849" y="214350"/>
                  </a:lnTo>
                  <a:lnTo>
                    <a:pt x="46878" y="257083"/>
                  </a:lnTo>
                  <a:lnTo>
                    <a:pt x="88224" y="279836"/>
                  </a:lnTo>
                  <a:lnTo>
                    <a:pt x="102702" y="282595"/>
                  </a:lnTo>
                  <a:lnTo>
                    <a:pt x="117866" y="282595"/>
                  </a:lnTo>
                  <a:lnTo>
                    <a:pt x="161284" y="266730"/>
                  </a:lnTo>
                  <a:lnTo>
                    <a:pt x="195742" y="230200"/>
                  </a:lnTo>
                  <a:lnTo>
                    <a:pt x="216423" y="179207"/>
                  </a:lnTo>
                  <a:lnTo>
                    <a:pt x="220568" y="141290"/>
                  </a:lnTo>
                  <a:lnTo>
                    <a:pt x="219867" y="121996"/>
                  </a:lnTo>
                  <a:lnTo>
                    <a:pt x="211607" y="84780"/>
                  </a:lnTo>
                  <a:lnTo>
                    <a:pt x="185409" y="37901"/>
                  </a:lnTo>
                  <a:lnTo>
                    <a:pt x="147507" y="7574"/>
                  </a:lnTo>
                  <a:lnTo>
                    <a:pt x="117866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295052" y="5893592"/>
              <a:ext cx="220979" cy="283210"/>
            </a:xfrm>
            <a:custGeom>
              <a:avLst/>
              <a:gdLst/>
              <a:ahLst/>
              <a:cxnLst/>
              <a:rect l="l" t="t" r="r" b="b"/>
              <a:pathLst>
                <a:path w="220980" h="283210">
                  <a:moveTo>
                    <a:pt x="0" y="141290"/>
                  </a:moveTo>
                  <a:lnTo>
                    <a:pt x="4145" y="102702"/>
                  </a:lnTo>
                  <a:lnTo>
                    <a:pt x="24810" y="51694"/>
                  </a:lnTo>
                  <a:lnTo>
                    <a:pt x="59969" y="15163"/>
                  </a:lnTo>
                  <a:lnTo>
                    <a:pt x="102702" y="0"/>
                  </a:lnTo>
                  <a:lnTo>
                    <a:pt x="117866" y="0"/>
                  </a:lnTo>
                  <a:lnTo>
                    <a:pt x="161284" y="15163"/>
                  </a:lnTo>
                  <a:lnTo>
                    <a:pt x="195742" y="51694"/>
                  </a:lnTo>
                  <a:lnTo>
                    <a:pt x="216423" y="102702"/>
                  </a:lnTo>
                  <a:lnTo>
                    <a:pt x="220568" y="141290"/>
                  </a:lnTo>
                  <a:lnTo>
                    <a:pt x="219867" y="160599"/>
                  </a:lnTo>
                  <a:lnTo>
                    <a:pt x="211607" y="197815"/>
                  </a:lnTo>
                  <a:lnTo>
                    <a:pt x="185409" y="244678"/>
                  </a:lnTo>
                  <a:lnTo>
                    <a:pt x="147507" y="274319"/>
                  </a:lnTo>
                  <a:lnTo>
                    <a:pt x="117866" y="282595"/>
                  </a:lnTo>
                  <a:lnTo>
                    <a:pt x="102702" y="282595"/>
                  </a:lnTo>
                  <a:lnTo>
                    <a:pt x="59969" y="266730"/>
                  </a:lnTo>
                  <a:lnTo>
                    <a:pt x="24810" y="230200"/>
                  </a:lnTo>
                  <a:lnTo>
                    <a:pt x="4145" y="179207"/>
                  </a:lnTo>
                  <a:lnTo>
                    <a:pt x="0" y="141290"/>
                  </a:lnTo>
                </a:path>
              </a:pathLst>
            </a:custGeom>
            <a:ln w="17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3215197" y="5893592"/>
              <a:ext cx="220979" cy="283210"/>
            </a:xfrm>
            <a:custGeom>
              <a:avLst/>
              <a:gdLst/>
              <a:ahLst/>
              <a:cxnLst/>
              <a:rect l="l" t="t" r="r" b="b"/>
              <a:pathLst>
                <a:path w="220979" h="283210">
                  <a:moveTo>
                    <a:pt x="117866" y="0"/>
                  </a:moveTo>
                  <a:lnTo>
                    <a:pt x="102702" y="0"/>
                  </a:lnTo>
                  <a:lnTo>
                    <a:pt x="87538" y="2758"/>
                  </a:lnTo>
                  <a:lnTo>
                    <a:pt x="46177" y="25496"/>
                  </a:lnTo>
                  <a:lnTo>
                    <a:pt x="15849" y="67543"/>
                  </a:lnTo>
                  <a:lnTo>
                    <a:pt x="685" y="121996"/>
                  </a:lnTo>
                  <a:lnTo>
                    <a:pt x="0" y="141290"/>
                  </a:lnTo>
                  <a:lnTo>
                    <a:pt x="685" y="160599"/>
                  </a:lnTo>
                  <a:lnTo>
                    <a:pt x="8961" y="197815"/>
                  </a:lnTo>
                  <a:lnTo>
                    <a:pt x="34457" y="244678"/>
                  </a:lnTo>
                  <a:lnTo>
                    <a:pt x="73060" y="274319"/>
                  </a:lnTo>
                  <a:lnTo>
                    <a:pt x="102702" y="282595"/>
                  </a:lnTo>
                  <a:lnTo>
                    <a:pt x="117866" y="282595"/>
                  </a:lnTo>
                  <a:lnTo>
                    <a:pt x="160599" y="266730"/>
                  </a:lnTo>
                  <a:lnTo>
                    <a:pt x="195742" y="230200"/>
                  </a:lnTo>
                  <a:lnTo>
                    <a:pt x="216423" y="179207"/>
                  </a:lnTo>
                  <a:lnTo>
                    <a:pt x="220553" y="141290"/>
                  </a:lnTo>
                  <a:lnTo>
                    <a:pt x="219181" y="121996"/>
                  </a:lnTo>
                  <a:lnTo>
                    <a:pt x="210906" y="84780"/>
                  </a:lnTo>
                  <a:lnTo>
                    <a:pt x="185409" y="37901"/>
                  </a:lnTo>
                  <a:lnTo>
                    <a:pt x="146806" y="7574"/>
                  </a:lnTo>
                  <a:lnTo>
                    <a:pt x="117866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3215197" y="5893592"/>
              <a:ext cx="220979" cy="283210"/>
            </a:xfrm>
            <a:custGeom>
              <a:avLst/>
              <a:gdLst/>
              <a:ahLst/>
              <a:cxnLst/>
              <a:rect l="l" t="t" r="r" b="b"/>
              <a:pathLst>
                <a:path w="220979" h="283210">
                  <a:moveTo>
                    <a:pt x="0" y="141290"/>
                  </a:moveTo>
                  <a:lnTo>
                    <a:pt x="4130" y="102702"/>
                  </a:lnTo>
                  <a:lnTo>
                    <a:pt x="24810" y="51694"/>
                  </a:lnTo>
                  <a:lnTo>
                    <a:pt x="59268" y="15163"/>
                  </a:lnTo>
                  <a:lnTo>
                    <a:pt x="102702" y="0"/>
                  </a:lnTo>
                  <a:lnTo>
                    <a:pt x="117866" y="0"/>
                  </a:lnTo>
                  <a:lnTo>
                    <a:pt x="160599" y="15163"/>
                  </a:lnTo>
                  <a:lnTo>
                    <a:pt x="195742" y="51694"/>
                  </a:lnTo>
                  <a:lnTo>
                    <a:pt x="216423" y="102702"/>
                  </a:lnTo>
                  <a:lnTo>
                    <a:pt x="220553" y="141290"/>
                  </a:lnTo>
                  <a:lnTo>
                    <a:pt x="219181" y="160599"/>
                  </a:lnTo>
                  <a:lnTo>
                    <a:pt x="210906" y="197815"/>
                  </a:lnTo>
                  <a:lnTo>
                    <a:pt x="185409" y="244678"/>
                  </a:lnTo>
                  <a:lnTo>
                    <a:pt x="146806" y="274319"/>
                  </a:lnTo>
                  <a:lnTo>
                    <a:pt x="117866" y="282595"/>
                  </a:lnTo>
                  <a:lnTo>
                    <a:pt x="102702" y="282595"/>
                  </a:lnTo>
                  <a:lnTo>
                    <a:pt x="59268" y="266730"/>
                  </a:lnTo>
                  <a:lnTo>
                    <a:pt x="24810" y="230200"/>
                  </a:lnTo>
                  <a:lnTo>
                    <a:pt x="4130" y="179207"/>
                  </a:lnTo>
                  <a:lnTo>
                    <a:pt x="0" y="141290"/>
                  </a:lnTo>
                </a:path>
              </a:pathLst>
            </a:custGeom>
            <a:ln w="17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1960077" y="4387591"/>
              <a:ext cx="345440" cy="640080"/>
            </a:xfrm>
            <a:custGeom>
              <a:avLst/>
              <a:gdLst/>
              <a:ahLst/>
              <a:cxnLst/>
              <a:rect l="l" t="t" r="r" b="b"/>
              <a:pathLst>
                <a:path w="345439" h="640079">
                  <a:moveTo>
                    <a:pt x="324642" y="0"/>
                  </a:moveTo>
                  <a:lnTo>
                    <a:pt x="0" y="628589"/>
                  </a:lnTo>
                  <a:lnTo>
                    <a:pt x="20680" y="639622"/>
                  </a:lnTo>
                  <a:lnTo>
                    <a:pt x="345323" y="11018"/>
                  </a:lnTo>
                  <a:lnTo>
                    <a:pt x="32464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44227" y="4987925"/>
              <a:ext cx="68229" cy="84780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2515621" y="4393108"/>
              <a:ext cx="699770" cy="0"/>
            </a:xfrm>
            <a:custGeom>
              <a:avLst/>
              <a:gdLst/>
              <a:ahLst/>
              <a:cxnLst/>
              <a:rect l="l" t="t" r="r" b="b"/>
              <a:pathLst>
                <a:path w="699769" h="0">
                  <a:moveTo>
                    <a:pt x="0" y="0"/>
                  </a:moveTo>
                  <a:lnTo>
                    <a:pt x="699576" y="0"/>
                  </a:lnTo>
                </a:path>
              </a:pathLst>
            </a:custGeom>
            <a:ln w="17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1960077" y="5400776"/>
              <a:ext cx="345440" cy="640080"/>
            </a:xfrm>
            <a:custGeom>
              <a:avLst/>
              <a:gdLst/>
              <a:ahLst/>
              <a:cxnLst/>
              <a:rect l="l" t="t" r="r" b="b"/>
              <a:pathLst>
                <a:path w="345439" h="640079">
                  <a:moveTo>
                    <a:pt x="20680" y="0"/>
                  </a:moveTo>
                  <a:lnTo>
                    <a:pt x="0" y="11033"/>
                  </a:lnTo>
                  <a:lnTo>
                    <a:pt x="324642" y="639622"/>
                  </a:lnTo>
                  <a:lnTo>
                    <a:pt x="345323" y="628589"/>
                  </a:lnTo>
                  <a:lnTo>
                    <a:pt x="2068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1" name="object 9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44227" y="5355285"/>
              <a:ext cx="68229" cy="84780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2572816" y="6023167"/>
              <a:ext cx="642620" cy="23495"/>
            </a:xfrm>
            <a:custGeom>
              <a:avLst/>
              <a:gdLst/>
              <a:ahLst/>
              <a:cxnLst/>
              <a:rect l="l" t="t" r="r" b="b"/>
              <a:pathLst>
                <a:path w="642619" h="23495">
                  <a:moveTo>
                    <a:pt x="642378" y="0"/>
                  </a:moveTo>
                  <a:lnTo>
                    <a:pt x="0" y="0"/>
                  </a:lnTo>
                  <a:lnTo>
                    <a:pt x="0" y="23434"/>
                  </a:lnTo>
                  <a:lnTo>
                    <a:pt x="642378" y="23434"/>
                  </a:lnTo>
                  <a:lnTo>
                    <a:pt x="64237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3" name="object 9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15621" y="5996980"/>
              <a:ext cx="75803" cy="75818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2405329" y="4534398"/>
              <a:ext cx="920750" cy="1358900"/>
            </a:xfrm>
            <a:custGeom>
              <a:avLst/>
              <a:gdLst/>
              <a:ahLst/>
              <a:cxnLst/>
              <a:rect l="l" t="t" r="r" b="b"/>
              <a:pathLst>
                <a:path w="920750" h="1358900">
                  <a:moveTo>
                    <a:pt x="0" y="0"/>
                  </a:moveTo>
                  <a:lnTo>
                    <a:pt x="0" y="1358508"/>
                  </a:lnTo>
                </a:path>
                <a:path w="920750" h="1358900">
                  <a:moveTo>
                    <a:pt x="920145" y="0"/>
                  </a:moveTo>
                  <a:lnTo>
                    <a:pt x="920145" y="35844"/>
                  </a:lnTo>
                </a:path>
                <a:path w="920750" h="1358900">
                  <a:moveTo>
                    <a:pt x="920145" y="71688"/>
                  </a:moveTo>
                  <a:lnTo>
                    <a:pt x="920145" y="107518"/>
                  </a:lnTo>
                </a:path>
                <a:path w="920750" h="1358900">
                  <a:moveTo>
                    <a:pt x="920145" y="143362"/>
                  </a:moveTo>
                  <a:lnTo>
                    <a:pt x="920145" y="179207"/>
                  </a:lnTo>
                </a:path>
                <a:path w="920750" h="1358900">
                  <a:moveTo>
                    <a:pt x="920145" y="215051"/>
                  </a:moveTo>
                  <a:lnTo>
                    <a:pt x="920145" y="250880"/>
                  </a:lnTo>
                </a:path>
                <a:path w="920750" h="1358900">
                  <a:moveTo>
                    <a:pt x="920145" y="286725"/>
                  </a:moveTo>
                  <a:lnTo>
                    <a:pt x="920145" y="322569"/>
                  </a:lnTo>
                </a:path>
                <a:path w="920750" h="1358900">
                  <a:moveTo>
                    <a:pt x="920145" y="358414"/>
                  </a:moveTo>
                  <a:lnTo>
                    <a:pt x="920145" y="394243"/>
                  </a:lnTo>
                </a:path>
                <a:path w="920750" h="1358900">
                  <a:moveTo>
                    <a:pt x="920145" y="430088"/>
                  </a:moveTo>
                  <a:lnTo>
                    <a:pt x="920145" y="465932"/>
                  </a:lnTo>
                </a:path>
                <a:path w="920750" h="1358900">
                  <a:moveTo>
                    <a:pt x="920145" y="501776"/>
                  </a:moveTo>
                  <a:lnTo>
                    <a:pt x="920145" y="537606"/>
                  </a:lnTo>
                </a:path>
                <a:path w="920750" h="1358900">
                  <a:moveTo>
                    <a:pt x="920145" y="572764"/>
                  </a:moveTo>
                  <a:lnTo>
                    <a:pt x="920145" y="608609"/>
                  </a:lnTo>
                </a:path>
                <a:path w="920750" h="1358900">
                  <a:moveTo>
                    <a:pt x="920145" y="644438"/>
                  </a:moveTo>
                  <a:lnTo>
                    <a:pt x="920145" y="680283"/>
                  </a:lnTo>
                </a:path>
                <a:path w="920750" h="1358900">
                  <a:moveTo>
                    <a:pt x="920145" y="716127"/>
                  </a:moveTo>
                  <a:lnTo>
                    <a:pt x="920145" y="751972"/>
                  </a:lnTo>
                </a:path>
                <a:path w="920750" h="1358900">
                  <a:moveTo>
                    <a:pt x="920145" y="787801"/>
                  </a:moveTo>
                  <a:lnTo>
                    <a:pt x="920145" y="823645"/>
                  </a:lnTo>
                </a:path>
                <a:path w="920750" h="1358900">
                  <a:moveTo>
                    <a:pt x="920145" y="859490"/>
                  </a:moveTo>
                  <a:lnTo>
                    <a:pt x="920145" y="895334"/>
                  </a:lnTo>
                </a:path>
                <a:path w="920750" h="1358900">
                  <a:moveTo>
                    <a:pt x="920145" y="931179"/>
                  </a:moveTo>
                  <a:lnTo>
                    <a:pt x="920145" y="967008"/>
                  </a:lnTo>
                </a:path>
                <a:path w="920750" h="1358900">
                  <a:moveTo>
                    <a:pt x="920145" y="1002852"/>
                  </a:moveTo>
                  <a:lnTo>
                    <a:pt x="920145" y="1038697"/>
                  </a:lnTo>
                </a:path>
                <a:path w="920750" h="1358900">
                  <a:moveTo>
                    <a:pt x="920145" y="1074541"/>
                  </a:moveTo>
                  <a:lnTo>
                    <a:pt x="920145" y="1110371"/>
                  </a:lnTo>
                </a:path>
                <a:path w="920750" h="1358900">
                  <a:moveTo>
                    <a:pt x="920145" y="1146215"/>
                  </a:moveTo>
                  <a:lnTo>
                    <a:pt x="920145" y="1182060"/>
                  </a:lnTo>
                </a:path>
                <a:path w="920750" h="1358900">
                  <a:moveTo>
                    <a:pt x="920145" y="1217904"/>
                  </a:moveTo>
                  <a:lnTo>
                    <a:pt x="920145" y="1253733"/>
                  </a:lnTo>
                </a:path>
              </a:pathLst>
            </a:custGeom>
            <a:ln w="17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3325474" y="5823976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20">
                  <a:moveTo>
                    <a:pt x="-8615" y="9997"/>
                  </a:moveTo>
                  <a:lnTo>
                    <a:pt x="8615" y="9997"/>
                  </a:lnTo>
                </a:path>
              </a:pathLst>
            </a:custGeom>
            <a:ln w="1999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3293089" y="5828106"/>
              <a:ext cx="65405" cy="65405"/>
            </a:xfrm>
            <a:custGeom>
              <a:avLst/>
              <a:gdLst/>
              <a:ahLst/>
              <a:cxnLst/>
              <a:rect l="l" t="t" r="r" b="b"/>
              <a:pathLst>
                <a:path w="65404" h="65404">
                  <a:moveTo>
                    <a:pt x="64785" y="0"/>
                  </a:moveTo>
                  <a:lnTo>
                    <a:pt x="60639" y="2072"/>
                  </a:lnTo>
                  <a:lnTo>
                    <a:pt x="53751" y="4831"/>
                  </a:lnTo>
                  <a:lnTo>
                    <a:pt x="49621" y="5516"/>
                  </a:lnTo>
                  <a:lnTo>
                    <a:pt x="46177" y="6202"/>
                  </a:lnTo>
                  <a:lnTo>
                    <a:pt x="37901" y="7589"/>
                  </a:lnTo>
                  <a:lnTo>
                    <a:pt x="26182" y="7589"/>
                  </a:lnTo>
                  <a:lnTo>
                    <a:pt x="22052" y="6903"/>
                  </a:lnTo>
                  <a:lnTo>
                    <a:pt x="18608" y="6202"/>
                  </a:lnTo>
                  <a:lnTo>
                    <a:pt x="14462" y="5516"/>
                  </a:lnTo>
                  <a:lnTo>
                    <a:pt x="11018" y="4831"/>
                  </a:lnTo>
                  <a:lnTo>
                    <a:pt x="6888" y="3459"/>
                  </a:lnTo>
                  <a:lnTo>
                    <a:pt x="3444" y="2072"/>
                  </a:lnTo>
                  <a:lnTo>
                    <a:pt x="0" y="0"/>
                  </a:lnTo>
                  <a:lnTo>
                    <a:pt x="32384" y="64800"/>
                  </a:lnTo>
                  <a:lnTo>
                    <a:pt x="6478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3435751" y="4393108"/>
              <a:ext cx="353695" cy="1598930"/>
            </a:xfrm>
            <a:custGeom>
              <a:avLst/>
              <a:gdLst/>
              <a:ahLst/>
              <a:cxnLst/>
              <a:rect l="l" t="t" r="r" b="b"/>
              <a:pathLst>
                <a:path w="353695" h="1598929">
                  <a:moveTo>
                    <a:pt x="0" y="0"/>
                  </a:moveTo>
                  <a:lnTo>
                    <a:pt x="353583" y="679597"/>
                  </a:lnTo>
                </a:path>
                <a:path w="353695" h="1598929">
                  <a:moveTo>
                    <a:pt x="22067" y="1598355"/>
                  </a:moveTo>
                  <a:lnTo>
                    <a:pt x="38602" y="1566656"/>
                  </a:lnTo>
                </a:path>
                <a:path w="353695" h="1598929">
                  <a:moveTo>
                    <a:pt x="55138" y="1534942"/>
                  </a:moveTo>
                  <a:lnTo>
                    <a:pt x="71688" y="1503243"/>
                  </a:lnTo>
                </a:path>
                <a:path w="353695" h="1598929">
                  <a:moveTo>
                    <a:pt x="88224" y="1471528"/>
                  </a:moveTo>
                  <a:lnTo>
                    <a:pt x="104774" y="1439829"/>
                  </a:lnTo>
                </a:path>
                <a:path w="353695" h="1598929">
                  <a:moveTo>
                    <a:pt x="121310" y="1408130"/>
                  </a:moveTo>
                  <a:lnTo>
                    <a:pt x="137861" y="1376415"/>
                  </a:lnTo>
                </a:path>
                <a:path w="353695" h="1598929">
                  <a:moveTo>
                    <a:pt x="154396" y="1344716"/>
                  </a:moveTo>
                  <a:lnTo>
                    <a:pt x="170931" y="1313002"/>
                  </a:lnTo>
                </a:path>
                <a:path w="353695" h="1598929">
                  <a:moveTo>
                    <a:pt x="187482" y="1281302"/>
                  </a:moveTo>
                  <a:lnTo>
                    <a:pt x="204017" y="1249603"/>
                  </a:lnTo>
                </a:path>
                <a:path w="353695" h="1598929">
                  <a:moveTo>
                    <a:pt x="220568" y="1217889"/>
                  </a:moveTo>
                  <a:lnTo>
                    <a:pt x="237103" y="1186190"/>
                  </a:lnTo>
                </a:path>
                <a:path w="353695" h="1598929">
                  <a:moveTo>
                    <a:pt x="253654" y="1154475"/>
                  </a:moveTo>
                  <a:lnTo>
                    <a:pt x="270189" y="1122776"/>
                  </a:lnTo>
                </a:path>
                <a:path w="353695" h="1598929">
                  <a:moveTo>
                    <a:pt x="286725" y="1091077"/>
                  </a:moveTo>
                  <a:lnTo>
                    <a:pt x="303275" y="1059362"/>
                  </a:lnTo>
                </a:path>
                <a:path w="353695" h="1598929">
                  <a:moveTo>
                    <a:pt x="319811" y="1027663"/>
                  </a:moveTo>
                  <a:lnTo>
                    <a:pt x="336362" y="995949"/>
                  </a:lnTo>
                </a:path>
                <a:path w="353695" h="1598929">
                  <a:moveTo>
                    <a:pt x="352897" y="964250"/>
                  </a:moveTo>
                  <a:lnTo>
                    <a:pt x="353583" y="962177"/>
                  </a:lnTo>
                </a:path>
              </a:pathLst>
            </a:custGeom>
            <a:ln w="17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3435751" y="5962523"/>
              <a:ext cx="59055" cy="72390"/>
            </a:xfrm>
            <a:custGeom>
              <a:avLst/>
              <a:gdLst/>
              <a:ahLst/>
              <a:cxnLst/>
              <a:rect l="l" t="t" r="r" b="b"/>
              <a:pathLst>
                <a:path w="59054" h="72389">
                  <a:moveTo>
                    <a:pt x="701" y="0"/>
                  </a:moveTo>
                  <a:lnTo>
                    <a:pt x="0" y="72359"/>
                  </a:lnTo>
                  <a:lnTo>
                    <a:pt x="58597" y="29626"/>
                  </a:lnTo>
                  <a:lnTo>
                    <a:pt x="54452" y="29626"/>
                  </a:lnTo>
                  <a:lnTo>
                    <a:pt x="50322" y="28940"/>
                  </a:lnTo>
                  <a:lnTo>
                    <a:pt x="46878" y="28254"/>
                  </a:lnTo>
                  <a:lnTo>
                    <a:pt x="38602" y="26868"/>
                  </a:lnTo>
                  <a:lnTo>
                    <a:pt x="31714" y="24109"/>
                  </a:lnTo>
                  <a:lnTo>
                    <a:pt x="27569" y="22052"/>
                  </a:lnTo>
                  <a:lnTo>
                    <a:pt x="24124" y="20665"/>
                  </a:lnTo>
                  <a:lnTo>
                    <a:pt x="20680" y="18608"/>
                  </a:lnTo>
                  <a:lnTo>
                    <a:pt x="17922" y="16535"/>
                  </a:lnTo>
                  <a:lnTo>
                    <a:pt x="14477" y="13776"/>
                  </a:lnTo>
                  <a:lnTo>
                    <a:pt x="11719" y="11704"/>
                  </a:lnTo>
                  <a:lnTo>
                    <a:pt x="6202" y="6202"/>
                  </a:lnTo>
                  <a:lnTo>
                    <a:pt x="3459" y="2743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472888" y="4502698"/>
              <a:ext cx="796290" cy="1433830"/>
            </a:xfrm>
            <a:custGeom>
              <a:avLst/>
              <a:gdLst/>
              <a:ahLst/>
              <a:cxnLst/>
              <a:rect l="l" t="t" r="r" b="b"/>
              <a:pathLst>
                <a:path w="796289" h="1433829">
                  <a:moveTo>
                    <a:pt x="452140" y="596188"/>
                  </a:moveTo>
                  <a:lnTo>
                    <a:pt x="796076" y="0"/>
                  </a:lnTo>
                </a:path>
                <a:path w="796289" h="1433829">
                  <a:moveTo>
                    <a:pt x="464545" y="812612"/>
                  </a:moveTo>
                  <a:lnTo>
                    <a:pt x="782284" y="1433626"/>
                  </a:lnTo>
                </a:path>
                <a:path w="796289" h="1433829">
                  <a:moveTo>
                    <a:pt x="0" y="2057"/>
                  </a:moveTo>
                  <a:lnTo>
                    <a:pt x="326699" y="593430"/>
                  </a:lnTo>
                </a:path>
              </a:pathLst>
            </a:custGeom>
            <a:ln w="17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496997" y="5311866"/>
              <a:ext cx="300355" cy="574675"/>
            </a:xfrm>
            <a:custGeom>
              <a:avLst/>
              <a:gdLst/>
              <a:ahLst/>
              <a:cxnLst/>
              <a:rect l="l" t="t" r="r" b="b"/>
              <a:pathLst>
                <a:path w="300355" h="574675">
                  <a:moveTo>
                    <a:pt x="279151" y="0"/>
                  </a:moveTo>
                  <a:lnTo>
                    <a:pt x="0" y="563117"/>
                  </a:lnTo>
                  <a:lnTo>
                    <a:pt x="20680" y="574136"/>
                  </a:lnTo>
                  <a:lnTo>
                    <a:pt x="299831" y="11033"/>
                  </a:lnTo>
                  <a:lnTo>
                    <a:pt x="279151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1" name="object 10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481148" y="5847415"/>
              <a:ext cx="68244" cy="84780"/>
            </a:xfrm>
            <a:prstGeom prst="rect">
              <a:avLst/>
            </a:prstGeom>
          </p:spPr>
        </p:pic>
      </p:grpSp>
      <p:sp>
        <p:nvSpPr>
          <p:cNvPr id="102" name="object 102"/>
          <p:cNvSpPr txBox="1"/>
          <p:nvPr/>
        </p:nvSpPr>
        <p:spPr>
          <a:xfrm>
            <a:off x="2468739" y="3864849"/>
            <a:ext cx="480695" cy="509270"/>
          </a:xfrm>
          <a:prstGeom prst="rect">
            <a:avLst/>
          </a:prstGeom>
        </p:spPr>
        <p:txBody>
          <a:bodyPr wrap="square" lIns="0" tIns="933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735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PQ:</a:t>
            </a:r>
            <a:r>
              <a:rPr dirty="0" sz="1050" spc="1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2,5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64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1932506" y="4653345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919410" y="5512835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2291602" y="5136508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2669309" y="4653346"/>
            <a:ext cx="39560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  <a:tabLst>
                <a:tab pos="305435" algn="l"/>
              </a:tabLst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8</a:t>
            </a: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3366826" y="5136508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3673541" y="4653346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2682405" y="5512836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3151783" y="5512836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3673543" y="5512836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3288252" y="4299770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3757629" y="5113080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14" name="object 114"/>
          <p:cNvGrpSpPr/>
          <p:nvPr/>
        </p:nvGrpSpPr>
        <p:grpSpPr>
          <a:xfrm>
            <a:off x="4282495" y="4243187"/>
            <a:ext cx="2083435" cy="1941830"/>
            <a:chOff x="4282495" y="4243187"/>
            <a:chExt cx="2083435" cy="1941830"/>
          </a:xfrm>
        </p:grpSpPr>
        <p:sp>
          <p:nvSpPr>
            <p:cNvPr id="115" name="object 115"/>
            <p:cNvSpPr/>
            <p:nvPr/>
          </p:nvSpPr>
          <p:spPr>
            <a:xfrm>
              <a:off x="5044455" y="4393107"/>
              <a:ext cx="608965" cy="0"/>
            </a:xfrm>
            <a:custGeom>
              <a:avLst/>
              <a:gdLst/>
              <a:ahLst/>
              <a:cxnLst/>
              <a:rect l="l" t="t" r="r" b="b"/>
              <a:pathLst>
                <a:path w="608964" h="0">
                  <a:moveTo>
                    <a:pt x="0" y="0"/>
                  </a:moveTo>
                  <a:lnTo>
                    <a:pt x="35844" y="0"/>
                  </a:lnTo>
                </a:path>
                <a:path w="608964" h="0">
                  <a:moveTo>
                    <a:pt x="71688" y="0"/>
                  </a:moveTo>
                  <a:lnTo>
                    <a:pt x="107518" y="0"/>
                  </a:lnTo>
                </a:path>
                <a:path w="608964" h="0">
                  <a:moveTo>
                    <a:pt x="143362" y="0"/>
                  </a:moveTo>
                  <a:lnTo>
                    <a:pt x="179207" y="0"/>
                  </a:lnTo>
                </a:path>
                <a:path w="608964" h="0">
                  <a:moveTo>
                    <a:pt x="214365" y="0"/>
                  </a:moveTo>
                  <a:lnTo>
                    <a:pt x="250195" y="0"/>
                  </a:lnTo>
                </a:path>
                <a:path w="608964" h="0">
                  <a:moveTo>
                    <a:pt x="286039" y="0"/>
                  </a:moveTo>
                  <a:lnTo>
                    <a:pt x="321884" y="0"/>
                  </a:lnTo>
                </a:path>
                <a:path w="608964" h="0">
                  <a:moveTo>
                    <a:pt x="357728" y="0"/>
                  </a:moveTo>
                  <a:lnTo>
                    <a:pt x="393557" y="0"/>
                  </a:lnTo>
                </a:path>
                <a:path w="608964" h="0">
                  <a:moveTo>
                    <a:pt x="429402" y="0"/>
                  </a:moveTo>
                  <a:lnTo>
                    <a:pt x="465246" y="0"/>
                  </a:lnTo>
                </a:path>
                <a:path w="608964" h="0">
                  <a:moveTo>
                    <a:pt x="501091" y="0"/>
                  </a:moveTo>
                  <a:lnTo>
                    <a:pt x="536920" y="0"/>
                  </a:lnTo>
                </a:path>
                <a:path w="608964" h="0">
                  <a:moveTo>
                    <a:pt x="572764" y="0"/>
                  </a:moveTo>
                  <a:lnTo>
                    <a:pt x="608609" y="0"/>
                  </a:lnTo>
                </a:path>
              </a:pathLst>
            </a:custGeom>
            <a:ln w="17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6" name="object 11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282495" y="4243187"/>
              <a:ext cx="2082906" cy="1941616"/>
            </a:xfrm>
            <a:prstGeom prst="rect">
              <a:avLst/>
            </a:prstGeom>
          </p:spPr>
        </p:pic>
      </p:grpSp>
      <p:sp>
        <p:nvSpPr>
          <p:cNvPr id="117" name="object 117"/>
          <p:cNvSpPr txBox="1"/>
          <p:nvPr/>
        </p:nvSpPr>
        <p:spPr>
          <a:xfrm>
            <a:off x="4925909" y="3864849"/>
            <a:ext cx="825500" cy="5092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00355" marR="5080" indent="-300990">
              <a:lnSpc>
                <a:spcPct val="151200"/>
              </a:lnSpc>
              <a:spcBef>
                <a:spcPts val="90"/>
              </a:spcBef>
            </a:pPr>
            <a:r>
              <a:rPr dirty="0" sz="1050" spc="20">
                <a:solidFill>
                  <a:srgbClr val="FFFF00"/>
                </a:solidFill>
                <a:latin typeface="Arial"/>
                <a:cs typeface="Arial"/>
              </a:rPr>
              <a:t>PQ:</a:t>
            </a:r>
            <a:r>
              <a:rPr dirty="0" sz="1050" spc="-5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&lt;empty&gt; </a:t>
            </a:r>
            <a:r>
              <a:rPr dirty="0" sz="1050" spc="-27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4390364" y="4653345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4377268" y="5512835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4748772" y="5136508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5127168" y="4653346"/>
            <a:ext cx="394970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  <a:tabLst>
                <a:tab pos="304800" algn="l"/>
              </a:tabLst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8</a:t>
            </a: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5823996" y="5136508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6130711" y="4653346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5140264" y="5512836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5608953" y="5512836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6130714" y="5512836"/>
            <a:ext cx="8953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27" name="object 127"/>
          <p:cNvGrpSpPr/>
          <p:nvPr/>
        </p:nvGrpSpPr>
        <p:grpSpPr>
          <a:xfrm>
            <a:off x="3669756" y="4008155"/>
            <a:ext cx="336550" cy="146050"/>
            <a:chOff x="3669756" y="4008155"/>
            <a:chExt cx="336550" cy="146050"/>
          </a:xfrm>
        </p:grpSpPr>
        <p:sp>
          <p:nvSpPr>
            <p:cNvPr id="128" name="object 128"/>
            <p:cNvSpPr/>
            <p:nvPr/>
          </p:nvSpPr>
          <p:spPr>
            <a:xfrm>
              <a:off x="3678372" y="4016771"/>
              <a:ext cx="319405" cy="128270"/>
            </a:xfrm>
            <a:custGeom>
              <a:avLst/>
              <a:gdLst/>
              <a:ahLst/>
              <a:cxnLst/>
              <a:rect l="l" t="t" r="r" b="b"/>
              <a:pathLst>
                <a:path w="319404" h="128270">
                  <a:moveTo>
                    <a:pt x="204703" y="0"/>
                  </a:moveTo>
                  <a:lnTo>
                    <a:pt x="222625" y="49621"/>
                  </a:lnTo>
                  <a:lnTo>
                    <a:pt x="0" y="16550"/>
                  </a:lnTo>
                  <a:lnTo>
                    <a:pt x="26197" y="64099"/>
                  </a:lnTo>
                  <a:lnTo>
                    <a:pt x="0" y="111663"/>
                  </a:lnTo>
                  <a:lnTo>
                    <a:pt x="222625" y="78577"/>
                  </a:lnTo>
                  <a:lnTo>
                    <a:pt x="204703" y="128198"/>
                  </a:lnTo>
                  <a:lnTo>
                    <a:pt x="319125" y="64099"/>
                  </a:lnTo>
                  <a:lnTo>
                    <a:pt x="2047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3678372" y="4016771"/>
              <a:ext cx="319405" cy="128270"/>
            </a:xfrm>
            <a:custGeom>
              <a:avLst/>
              <a:gdLst/>
              <a:ahLst/>
              <a:cxnLst/>
              <a:rect l="l" t="t" r="r" b="b"/>
              <a:pathLst>
                <a:path w="319404" h="128270">
                  <a:moveTo>
                    <a:pt x="319125" y="64099"/>
                  </a:moveTo>
                  <a:lnTo>
                    <a:pt x="204703" y="128198"/>
                  </a:lnTo>
                  <a:lnTo>
                    <a:pt x="222625" y="78577"/>
                  </a:lnTo>
                  <a:lnTo>
                    <a:pt x="0" y="111663"/>
                  </a:lnTo>
                  <a:lnTo>
                    <a:pt x="26197" y="64099"/>
                  </a:lnTo>
                  <a:lnTo>
                    <a:pt x="0" y="16550"/>
                  </a:lnTo>
                  <a:lnTo>
                    <a:pt x="222625" y="49621"/>
                  </a:lnTo>
                  <a:lnTo>
                    <a:pt x="204703" y="0"/>
                  </a:lnTo>
                  <a:lnTo>
                    <a:pt x="319125" y="64099"/>
                  </a:lnTo>
                </a:path>
              </a:pathLst>
            </a:custGeom>
            <a:ln w="172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0" name="object 130"/>
          <p:cNvSpPr txBox="1"/>
          <p:nvPr/>
        </p:nvSpPr>
        <p:spPr>
          <a:xfrm>
            <a:off x="901694" y="6066301"/>
            <a:ext cx="6426200" cy="21418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908175">
              <a:lnSpc>
                <a:spcPct val="100000"/>
              </a:lnSpc>
              <a:spcBef>
                <a:spcPts val="135"/>
              </a:spcBef>
              <a:tabLst>
                <a:tab pos="4364355" algn="l"/>
              </a:tabLst>
            </a:pPr>
            <a:r>
              <a:rPr dirty="0" sz="1050" spc="15">
                <a:solidFill>
                  <a:srgbClr val="FFFF00"/>
                </a:solidFill>
                <a:latin typeface="Arial"/>
                <a:cs typeface="Arial"/>
              </a:rPr>
              <a:t>1	1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Arial"/>
              <a:cs typeface="Arial"/>
            </a:endParaRPr>
          </a:p>
          <a:p>
            <a:pPr marL="183896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8.60: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Prim’s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MST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Analysis: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O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V</a:t>
            </a:r>
            <a:r>
              <a:rPr dirty="0" sz="1200" spc="9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extract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priority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queue.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incident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spend </a:t>
            </a:r>
            <a:r>
              <a:rPr dirty="0" sz="1200" spc="-10">
                <a:latin typeface="Times New Roman"/>
                <a:cs typeface="Times New Roman"/>
              </a:rPr>
              <a:t>potentially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20">
                <a:latin typeface="Lucida Sans Unicode"/>
                <a:cs typeface="Lucida Sans Unicode"/>
              </a:rPr>
              <a:t>O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Times New Roman"/>
                <a:cs typeface="Times New Roman"/>
              </a:rPr>
              <a:t>log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V</a:t>
            </a:r>
            <a:r>
              <a:rPr dirty="0" sz="1200" spc="9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decreasing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neighboring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vertex.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total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20">
                <a:latin typeface="Lucida Sans Unicode"/>
                <a:cs typeface="Lucida Sans Unicode"/>
              </a:rPr>
              <a:t>O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Times New Roman"/>
                <a:cs typeface="Times New Roman"/>
              </a:rPr>
              <a:t>log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35">
                <a:latin typeface="Times New Roman"/>
                <a:cs typeface="Times New Roman"/>
              </a:rPr>
              <a:t>deg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u</a:t>
            </a:r>
            <a:r>
              <a:rPr dirty="0" sz="1200" spc="35">
                <a:latin typeface="Garamond"/>
                <a:cs typeface="Garamond"/>
              </a:rPr>
              <a:t>)</a:t>
            </a:r>
            <a:r>
              <a:rPr dirty="0" sz="1200" spc="-10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V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6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other steps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update</a:t>
            </a:r>
            <a:r>
              <a:rPr dirty="0" sz="1200" spc="-5">
                <a:latin typeface="Times New Roman"/>
                <a:cs typeface="Times New Roman"/>
              </a:rPr>
              <a:t> are constant time.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25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-10">
                <a:latin typeface="Times New Roman"/>
                <a:cs typeface="Times New Roman"/>
              </a:rPr>
              <a:t> the overall running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algn="ctr" marR="1264920">
              <a:lnSpc>
                <a:spcPts val="1275"/>
              </a:lnSpc>
            </a:pPr>
            <a:r>
              <a:rPr dirty="0" sz="1200" spc="975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  <a:p>
            <a:pPr marL="1642745">
              <a:lnSpc>
                <a:spcPts val="1290"/>
              </a:lnSpc>
              <a:tabLst>
                <a:tab pos="2712085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2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 </a:t>
            </a:r>
            <a:r>
              <a:rPr dirty="0" sz="1200" spc="9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10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3354571" y="8229624"/>
            <a:ext cx="247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>
                <a:latin typeface="Verdana"/>
                <a:cs typeface="Verdana"/>
              </a:rPr>
              <a:t>u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80">
                <a:latin typeface="Verdana"/>
                <a:cs typeface="Verdana"/>
              </a:rPr>
              <a:t>V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3711186" y="8266340"/>
            <a:ext cx="245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975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3113166" y="8339476"/>
            <a:ext cx="2584450" cy="643890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55"/>
              </a:spcBef>
              <a:tabLst>
                <a:tab pos="855980" algn="l"/>
              </a:tabLst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00">
                <a:latin typeface="Garamond"/>
                <a:cs typeface="Garamond"/>
              </a:rPr>
              <a:t>  </a:t>
            </a:r>
            <a:r>
              <a:rPr dirty="0" sz="1200" spc="9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608965">
              <a:lnSpc>
                <a:spcPct val="100000"/>
              </a:lnSpc>
              <a:spcBef>
                <a:spcPts val="370"/>
              </a:spcBef>
            </a:pPr>
            <a:r>
              <a:rPr dirty="0" sz="800" spc="65">
                <a:latin typeface="Verdana"/>
                <a:cs typeface="Verdana"/>
              </a:rPr>
              <a:t>u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Verdana"/>
                <a:cs typeface="Verdana"/>
              </a:rPr>
              <a:t>V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00">
                <a:latin typeface="Garamond"/>
                <a:cs typeface="Garamond"/>
              </a:rPr>
              <a:t>  </a:t>
            </a:r>
            <a:r>
              <a:rPr dirty="0" sz="1200" spc="95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 spc="110">
                <a:latin typeface="Garamond"/>
                <a:cs typeface="Garamond"/>
              </a:rPr>
              <a:t>)(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2</a:t>
            </a:r>
            <a:r>
              <a:rPr dirty="0" sz="1200" spc="65">
                <a:latin typeface="Lucida Sans Unicode"/>
                <a:cs typeface="Lucida Sans Unicode"/>
              </a:rPr>
              <a:t>E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Θ</a:t>
            </a:r>
            <a:r>
              <a:rPr dirty="0" sz="1200" spc="110">
                <a:latin typeface="Garamond"/>
                <a:cs typeface="Garamond"/>
              </a:rPr>
              <a:t>((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10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06347" y="1704543"/>
            <a:ext cx="1352550" cy="151765"/>
          </a:xfrm>
          <a:custGeom>
            <a:avLst/>
            <a:gdLst/>
            <a:ahLst/>
            <a:cxnLst/>
            <a:rect l="l" t="t" r="r" b="b"/>
            <a:pathLst>
              <a:path w="1352550" h="151764">
                <a:moveTo>
                  <a:pt x="1352054" y="0"/>
                </a:moveTo>
                <a:lnTo>
                  <a:pt x="0" y="0"/>
                </a:lnTo>
                <a:lnTo>
                  <a:pt x="0" y="151307"/>
                </a:lnTo>
                <a:lnTo>
                  <a:pt x="1352054" y="151307"/>
                </a:lnTo>
                <a:lnTo>
                  <a:pt x="1352054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0987"/>
            <a:ext cx="158496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8.6.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SHORTEST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PATHS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15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63595" y="926454"/>
            <a:ext cx="6502400" cy="27857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36258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Since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connected,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2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asymptotically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greater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Θ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E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V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6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Kruskal’s </a:t>
            </a:r>
            <a:r>
              <a:rPr dirty="0" sz="1200" spc="-10">
                <a:latin typeface="Times New Roman"/>
                <a:cs typeface="Times New Roman"/>
              </a:rPr>
              <a:t> algorithm.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120"/>
              </a:spcBef>
              <a:tabLst>
                <a:tab pos="5422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8.6	Shortest</a:t>
            </a:r>
            <a:r>
              <a:rPr dirty="0" sz="1700" spc="-3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Paths</a:t>
            </a:r>
            <a:endParaRPr sz="1700">
              <a:latin typeface="Times New Roman"/>
              <a:cs typeface="Times New Roman"/>
            </a:endParaRPr>
          </a:p>
          <a:p>
            <a:pPr algn="just" marL="50800" marR="43180">
              <a:lnSpc>
                <a:spcPct val="100000"/>
              </a:lnSpc>
              <a:spcBef>
                <a:spcPts val="1660"/>
              </a:spcBef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motorist </a:t>
            </a:r>
            <a:r>
              <a:rPr dirty="0" sz="1200" spc="-5">
                <a:latin typeface="Times New Roman"/>
                <a:cs typeface="Times New Roman"/>
              </a:rPr>
              <a:t>wishes to find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possible </a:t>
            </a:r>
            <a:r>
              <a:rPr dirty="0" sz="1200" spc="-10">
                <a:latin typeface="Times New Roman"/>
                <a:cs typeface="Times New Roman"/>
              </a:rPr>
              <a:t>route </a:t>
            </a:r>
            <a:r>
              <a:rPr dirty="0" sz="1200" spc="-5">
                <a:latin typeface="Times New Roman"/>
                <a:cs typeface="Times New Roman"/>
              </a:rPr>
              <a:t>between </a:t>
            </a:r>
            <a:r>
              <a:rPr dirty="0" sz="1200" spc="-10">
                <a:latin typeface="Times New Roman"/>
                <a:cs typeface="Times New Roman"/>
              </a:rPr>
              <a:t>Peshawar </a:t>
            </a:r>
            <a:r>
              <a:rPr dirty="0" sz="1200" spc="-5">
                <a:latin typeface="Times New Roman"/>
                <a:cs typeface="Times New Roman"/>
              </a:rPr>
              <a:t>and Karachi.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5">
                <a:latin typeface="Times New Roman"/>
                <a:cs typeface="Times New Roman"/>
              </a:rPr>
              <a:t>a road map 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Pakistan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>
                <a:latin typeface="Times New Roman"/>
                <a:cs typeface="Times New Roman"/>
              </a:rPr>
              <a:t>which the </a:t>
            </a:r>
            <a:r>
              <a:rPr dirty="0" sz="1200" spc="-5">
                <a:latin typeface="Times New Roman"/>
                <a:cs typeface="Times New Roman"/>
              </a:rPr>
              <a:t>distance between each pair of adjacent cities is </a:t>
            </a:r>
            <a:r>
              <a:rPr dirty="0" sz="1200" spc="-10">
                <a:latin typeface="Times New Roman"/>
                <a:cs typeface="Times New Roman"/>
              </a:rPr>
              <a:t>marked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0">
                <a:latin typeface="Times New Roman"/>
                <a:cs typeface="Times New Roman"/>
              </a:rPr>
              <a:t>the motorist determine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</a:t>
            </a:r>
            <a:r>
              <a:rPr dirty="0" sz="1200" spc="-10">
                <a:latin typeface="Times New Roman"/>
                <a:cs typeface="Times New Roman"/>
              </a:rPr>
              <a:t>route?</a:t>
            </a:r>
            <a:endParaRPr sz="1200">
              <a:latin typeface="Times New Roman"/>
              <a:cs typeface="Times New Roman"/>
            </a:endParaRPr>
          </a:p>
          <a:p>
            <a:pPr algn="just" marL="5080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shortest-paths </a:t>
            </a:r>
            <a:r>
              <a:rPr dirty="0" sz="1200" spc="-15" i="1">
                <a:latin typeface="Times New Roman"/>
                <a:cs typeface="Times New Roman"/>
              </a:rPr>
              <a:t>problem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weighted,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directed graph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20">
                <a:latin typeface="Garamond"/>
                <a:cs typeface="Garamond"/>
              </a:rPr>
              <a:t>(</a:t>
            </a:r>
            <a:r>
              <a:rPr dirty="0" sz="1200" spc="-20">
                <a:latin typeface="Lucida Sans Unicode"/>
                <a:cs typeface="Lucida Sans Unicode"/>
              </a:rPr>
              <a:t>V,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E</a:t>
            </a:r>
            <a:r>
              <a:rPr dirty="0" sz="1200" spc="9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endParaRPr sz="1200">
              <a:latin typeface="Times New Roman"/>
              <a:cs typeface="Times New Roman"/>
            </a:endParaRPr>
          </a:p>
          <a:p>
            <a:pPr algn="just" marL="50800">
              <a:lnSpc>
                <a:spcPct val="100000"/>
              </a:lnSpc>
              <a:spcBef>
                <a:spcPts val="5"/>
              </a:spcBef>
            </a:pP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-44">
                <a:latin typeface="Verdana"/>
                <a:cs typeface="Verdana"/>
              </a:rPr>
              <a:t>0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112">
                <a:latin typeface="Verdana"/>
                <a:cs typeface="Verdana"/>
              </a:rPr>
              <a:t>k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titu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es:</a:t>
            </a:r>
            <a:endParaRPr sz="1200">
              <a:latin typeface="Times New Roman"/>
              <a:cs typeface="Times New Roman"/>
            </a:endParaRPr>
          </a:p>
          <a:p>
            <a:pPr marL="3051175">
              <a:lnSpc>
                <a:spcPct val="100000"/>
              </a:lnSpc>
              <a:spcBef>
                <a:spcPts val="545"/>
              </a:spcBef>
            </a:pPr>
            <a:r>
              <a:rPr dirty="0" baseline="-16203" sz="1800" spc="-44">
                <a:latin typeface="Lucida Sans Unicode"/>
                <a:cs typeface="Lucida Sans Unicode"/>
              </a:rPr>
              <a:t>X</a:t>
            </a:r>
            <a:r>
              <a:rPr dirty="0" sz="800" spc="-30">
                <a:latin typeface="Verdana"/>
                <a:cs typeface="Verdana"/>
              </a:rPr>
              <a:t>k</a:t>
            </a:r>
            <a:endParaRPr sz="800">
              <a:latin typeface="Verdana"/>
              <a:cs typeface="Verdana"/>
            </a:endParaRPr>
          </a:p>
          <a:p>
            <a:pPr algn="ctr">
              <a:lnSpc>
                <a:spcPct val="100000"/>
              </a:lnSpc>
              <a:spcBef>
                <a:spcPts val="55"/>
              </a:spcBef>
              <a:tabLst>
                <a:tab pos="774700" algn="l"/>
              </a:tabLst>
            </a:pP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127">
                <a:latin typeface="Verdana"/>
                <a:cs typeface="Verdana"/>
              </a:rPr>
              <a:t>i</a:t>
            </a:r>
            <a:r>
              <a:rPr dirty="0" baseline="-13888" sz="1200" spc="-52">
                <a:latin typeface="Verdana"/>
                <a:cs typeface="Verdana"/>
              </a:rPr>
              <a:t>−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074035">
              <a:lnSpc>
                <a:spcPct val="100000"/>
              </a:lnSpc>
              <a:spcBef>
                <a:spcPts val="370"/>
              </a:spcBef>
            </a:pPr>
            <a:r>
              <a:rPr dirty="0" sz="800" spc="15">
                <a:latin typeface="Verdana"/>
                <a:cs typeface="Verdana"/>
              </a:rPr>
              <a:t>i=1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01696" y="3767265"/>
            <a:ext cx="3069590" cy="381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400"/>
              </a:lnSpc>
              <a:spcBef>
                <a:spcPts val="95"/>
              </a:spcBef>
            </a:pP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efi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</a:t>
            </a:r>
            <a:r>
              <a:rPr dirty="0" sz="1200" spc="-10" i="1">
                <a:latin typeface="Times New Roman"/>
                <a:cs typeface="Times New Roman"/>
              </a:rPr>
              <a:t>ho</a:t>
            </a:r>
            <a:r>
              <a:rPr dirty="0" sz="1200" spc="-5" i="1">
                <a:latin typeface="Times New Roman"/>
                <a:cs typeface="Times New Roman"/>
              </a:rPr>
              <a:t>r</a:t>
            </a:r>
            <a:r>
              <a:rPr dirty="0" sz="1200" spc="-10" i="1">
                <a:latin typeface="Times New Roman"/>
                <a:cs typeface="Times New Roman"/>
              </a:rPr>
              <a:t>t</a:t>
            </a:r>
            <a:r>
              <a:rPr dirty="0" sz="1200" spc="-5" i="1">
                <a:latin typeface="Times New Roman"/>
                <a:cs typeface="Times New Roman"/>
              </a:rPr>
              <a:t>es</a:t>
            </a:r>
            <a:r>
              <a:rPr dirty="0" sz="1200" spc="-10" i="1">
                <a:latin typeface="Times New Roman"/>
                <a:cs typeface="Times New Roman"/>
              </a:rPr>
              <a:t>t-pat</a:t>
            </a:r>
            <a:r>
              <a:rPr dirty="0" sz="1200" spc="-5" i="1">
                <a:latin typeface="Times New Roman"/>
                <a:cs typeface="Times New Roman"/>
              </a:rPr>
              <a:t>h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we</a:t>
            </a:r>
            <a:r>
              <a:rPr dirty="0" sz="1200" spc="-10" i="1">
                <a:latin typeface="Times New Roman"/>
                <a:cs typeface="Times New Roman"/>
              </a:rPr>
              <a:t>igh</a:t>
            </a:r>
            <a:r>
              <a:rPr dirty="0" sz="1200" spc="-5" i="1">
                <a:latin typeface="Times New Roman"/>
                <a:cs typeface="Times New Roman"/>
              </a:rPr>
              <a:t>t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endParaRPr sz="1200">
              <a:latin typeface="Times New Roman"/>
              <a:cs typeface="Times New Roman"/>
            </a:endParaRPr>
          </a:p>
          <a:p>
            <a:pPr algn="ctr" marL="784225">
              <a:lnSpc>
                <a:spcPts val="1400"/>
              </a:lnSpc>
            </a:pPr>
            <a:r>
              <a:rPr dirty="0" sz="1200" spc="58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21046" y="4199776"/>
            <a:ext cx="6172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10">
                <a:latin typeface="Lucida Sans Unicode"/>
                <a:cs typeface="Lucida Sans Unicode"/>
              </a:rPr>
              <a:t>δ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72337" y="4053447"/>
            <a:ext cx="990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0">
                <a:latin typeface="Verdana"/>
                <a:cs typeface="Verdana"/>
              </a:rPr>
              <a:t>p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876797" y="4096335"/>
            <a:ext cx="29133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334135" algn="l"/>
              </a:tabLst>
            </a:pPr>
            <a:r>
              <a:rPr dirty="0" sz="1100" spc="20">
                <a:latin typeface="Times New Roman"/>
                <a:cs typeface="Times New Roman"/>
              </a:rPr>
              <a:t>min</a:t>
            </a:r>
            <a:r>
              <a:rPr dirty="0" sz="1200" spc="20">
                <a:latin typeface="Lucida Sans Unicode"/>
                <a:cs typeface="Lucida Sans Unicode"/>
              </a:rPr>
              <a:t>{w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p</a:t>
            </a:r>
            <a:r>
              <a:rPr dirty="0" sz="1200" spc="20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5">
                <a:latin typeface="Garamond"/>
                <a:cs typeface="Garamond"/>
              </a:rPr>
              <a:t>: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210">
                <a:latin typeface="Verdana"/>
                <a:cs typeface="Verdana"/>
              </a:rPr>
              <a:t>~</a:t>
            </a:r>
            <a:r>
              <a:rPr dirty="0" sz="1200" spc="-85">
                <a:latin typeface="Verdana"/>
                <a:cs typeface="Verdana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v}	</a:t>
            </a:r>
            <a:r>
              <a:rPr dirty="0" sz="1100" spc="-5">
                <a:latin typeface="Times New Roman"/>
                <a:cs typeface="Times New Roman"/>
              </a:rPr>
              <a:t>if</a:t>
            </a:r>
            <a:r>
              <a:rPr dirty="0" sz="1100" spc="-10">
                <a:latin typeface="Times New Roman"/>
                <a:cs typeface="Times New Roman"/>
              </a:rPr>
              <a:t> there</a:t>
            </a:r>
            <a:r>
              <a:rPr dirty="0" sz="1100" spc="-5">
                <a:latin typeface="Times New Roman"/>
                <a:cs typeface="Times New Roman"/>
              </a:rPr>
              <a:t> is</a:t>
            </a:r>
            <a:r>
              <a:rPr dirty="0" sz="1100" spc="-1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a</a:t>
            </a:r>
            <a:r>
              <a:rPr dirty="0" sz="1100" spc="-10">
                <a:latin typeface="Times New Roman"/>
                <a:cs typeface="Times New Roman"/>
              </a:rPr>
              <a:t> path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from </a:t>
            </a:r>
            <a:r>
              <a:rPr dirty="0" sz="1100" spc="15">
                <a:latin typeface="Lucida Sans Unicode"/>
                <a:cs typeface="Lucida Sans Unicode"/>
              </a:rPr>
              <a:t>u</a:t>
            </a:r>
            <a:r>
              <a:rPr dirty="0" sz="1100" spc="-85">
                <a:latin typeface="Lucida Sans Unicode"/>
                <a:cs typeface="Lucida Sans Unicode"/>
              </a:rPr>
              <a:t> </a:t>
            </a:r>
            <a:r>
              <a:rPr dirty="0" sz="1100" spc="-5">
                <a:latin typeface="Times New Roman"/>
                <a:cs typeface="Times New Roman"/>
              </a:rPr>
              <a:t>to </a:t>
            </a:r>
            <a:r>
              <a:rPr dirty="0" sz="1100" spc="-30">
                <a:latin typeface="Lucida Sans Unicode"/>
                <a:cs typeface="Lucida Sans Unicode"/>
              </a:rPr>
              <a:t>v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876794" y="4316476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∞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198330" y="4329761"/>
            <a:ext cx="564515" cy="1917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100" spc="-10">
                <a:latin typeface="Times New Roman"/>
                <a:cs typeface="Times New Roman"/>
              </a:rPr>
              <a:t>otherwise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01691" y="4692409"/>
            <a:ext cx="6417310" cy="22383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7747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Problems </a:t>
            </a:r>
            <a:r>
              <a:rPr dirty="0" sz="1200" spc="-5">
                <a:latin typeface="Times New Roman"/>
                <a:cs typeface="Times New Roman"/>
              </a:rPr>
              <a:t>such as shortest </a:t>
            </a:r>
            <a:r>
              <a:rPr dirty="0" sz="1200" spc="-10">
                <a:latin typeface="Times New Roman"/>
                <a:cs typeface="Times New Roman"/>
              </a:rPr>
              <a:t>route </a:t>
            </a:r>
            <a:r>
              <a:rPr dirty="0" sz="1200" spc="-5">
                <a:latin typeface="Times New Roman"/>
                <a:cs typeface="Times New Roman"/>
              </a:rPr>
              <a:t>between cities can be </a:t>
            </a:r>
            <a:r>
              <a:rPr dirty="0" sz="1200" spc="-10">
                <a:latin typeface="Times New Roman"/>
                <a:cs typeface="Times New Roman"/>
              </a:rPr>
              <a:t>solved efficiently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modelling the </a:t>
            </a:r>
            <a:r>
              <a:rPr dirty="0" sz="1200" spc="-5">
                <a:latin typeface="Times New Roman"/>
                <a:cs typeface="Times New Roman"/>
              </a:rPr>
              <a:t>road map as 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graph.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nodes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10">
                <a:latin typeface="Times New Roman"/>
                <a:cs typeface="Times New Roman"/>
              </a:rPr>
              <a:t>vertices </a:t>
            </a:r>
            <a:r>
              <a:rPr dirty="0" sz="1200" spc="-5">
                <a:latin typeface="Times New Roman"/>
                <a:cs typeface="Times New Roman"/>
              </a:rPr>
              <a:t>represent cities and edges represent roads. Edge </a:t>
            </a:r>
            <a:r>
              <a:rPr dirty="0" sz="1200" spc="-10">
                <a:latin typeface="Times New Roman"/>
                <a:cs typeface="Times New Roman"/>
              </a:rPr>
              <a:t>weights </a:t>
            </a:r>
            <a:r>
              <a:rPr dirty="0" sz="1200" spc="-5">
                <a:latin typeface="Times New Roman"/>
                <a:cs typeface="Times New Roman"/>
              </a:rPr>
              <a:t>can be interpreted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distances.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 metrics can also be used, e.g.,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 cost, penalties and loss.</a:t>
            </a:r>
            <a:endParaRPr sz="1200">
              <a:latin typeface="Times New Roman"/>
              <a:cs typeface="Times New Roman"/>
            </a:endParaRPr>
          </a:p>
          <a:p>
            <a:pPr algn="just"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Similar scenarios occur in </a:t>
            </a:r>
            <a:r>
              <a:rPr dirty="0" sz="1200" spc="-10">
                <a:latin typeface="Times New Roman"/>
                <a:cs typeface="Times New Roman"/>
              </a:rPr>
              <a:t>computer networks like the </a:t>
            </a:r>
            <a:r>
              <a:rPr dirty="0" sz="1200" spc="-5">
                <a:latin typeface="Times New Roman"/>
                <a:cs typeface="Times New Roman"/>
              </a:rPr>
              <a:t>Internet </a:t>
            </a:r>
            <a:r>
              <a:rPr dirty="0" sz="1200" spc="-10">
                <a:latin typeface="Times New Roman"/>
                <a:cs typeface="Times New Roman"/>
              </a:rPr>
              <a:t>where </a:t>
            </a:r>
            <a:r>
              <a:rPr dirty="0" sz="1200" spc="-5">
                <a:latin typeface="Times New Roman"/>
                <a:cs typeface="Times New Roman"/>
              </a:rPr>
              <a:t>data </a:t>
            </a:r>
            <a:r>
              <a:rPr dirty="0" sz="1200" spc="-10">
                <a:latin typeface="Times New Roman"/>
                <a:cs typeface="Times New Roman"/>
              </a:rPr>
              <a:t>packets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to be </a:t>
            </a:r>
            <a:r>
              <a:rPr dirty="0" sz="1200" spc="-10">
                <a:latin typeface="Times New Roman"/>
                <a:cs typeface="Times New Roman"/>
              </a:rPr>
              <a:t>routed.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5" i="1">
                <a:latin typeface="Times New Roman"/>
                <a:cs typeface="Times New Roman"/>
              </a:rPr>
              <a:t>routers</a:t>
            </a:r>
            <a:r>
              <a:rPr dirty="0" sz="1200" spc="-1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Edges are </a:t>
            </a:r>
            <a:r>
              <a:rPr dirty="0" sz="1200" spc="-10">
                <a:latin typeface="Times New Roman"/>
                <a:cs typeface="Times New Roman"/>
              </a:rPr>
              <a:t>communication links which </a:t>
            </a:r>
            <a:r>
              <a:rPr dirty="0" sz="1200" spc="-5">
                <a:latin typeface="Times New Roman"/>
                <a:cs typeface="Times New Roman"/>
              </a:rPr>
              <a:t>may be be </a:t>
            </a:r>
            <a:r>
              <a:rPr dirty="0" sz="1200" spc="-10">
                <a:latin typeface="Times New Roman"/>
                <a:cs typeface="Times New Roman"/>
              </a:rPr>
              <a:t>wire </a:t>
            </a:r>
            <a:r>
              <a:rPr dirty="0" sz="1200" spc="-5">
                <a:latin typeface="Times New Roman"/>
                <a:cs typeface="Times New Roman"/>
              </a:rPr>
              <a:t>or wireless. Edge </a:t>
            </a:r>
            <a:r>
              <a:rPr dirty="0" sz="1200" spc="-10">
                <a:latin typeface="Times New Roman"/>
                <a:cs typeface="Times New Roman"/>
              </a:rPr>
              <a:t>weights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distance, </a:t>
            </a:r>
            <a:r>
              <a:rPr dirty="0" sz="1200" spc="-10">
                <a:latin typeface="Times New Roman"/>
                <a:cs typeface="Times New Roman"/>
              </a:rPr>
              <a:t>link</a:t>
            </a:r>
            <a:r>
              <a:rPr dirty="0" sz="1200" spc="-5">
                <a:latin typeface="Times New Roman"/>
                <a:cs typeface="Times New Roman"/>
              </a:rPr>
              <a:t> speed, </a:t>
            </a:r>
            <a:r>
              <a:rPr dirty="0" sz="1200" spc="-10">
                <a:latin typeface="Times New Roman"/>
                <a:cs typeface="Times New Roman"/>
              </a:rPr>
              <a:t>link</a:t>
            </a:r>
            <a:r>
              <a:rPr dirty="0" sz="1200" spc="-5">
                <a:latin typeface="Times New Roman"/>
                <a:cs typeface="Times New Roman"/>
              </a:rPr>
              <a:t> capacity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link</a:t>
            </a:r>
            <a:r>
              <a:rPr dirty="0" sz="1200" spc="-5">
                <a:latin typeface="Times New Roman"/>
                <a:cs typeface="Times New Roman"/>
              </a:rPr>
              <a:t> delays, and </a:t>
            </a:r>
            <a:r>
              <a:rPr dirty="0" sz="1200" spc="-10">
                <a:latin typeface="Times New Roman"/>
                <a:cs typeface="Times New Roman"/>
              </a:rPr>
              <a:t>link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utilization.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The breadth-first-search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discussed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earlier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shortest-path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works</a:t>
            </a:r>
            <a:r>
              <a:rPr dirty="0" sz="1200" spc="-5">
                <a:latin typeface="Times New Roman"/>
                <a:cs typeface="Times New Roman"/>
              </a:rPr>
              <a:t> on</a:t>
            </a:r>
            <a:endParaRPr sz="1200">
              <a:latin typeface="Times New Roman"/>
              <a:cs typeface="Times New Roman"/>
            </a:endParaRPr>
          </a:p>
          <a:p>
            <a:pPr algn="just" marL="12700" marR="13970">
              <a:lnSpc>
                <a:spcPct val="100000"/>
              </a:lnSpc>
              <a:spcBef>
                <a:spcPts val="5"/>
              </a:spcBef>
            </a:pPr>
            <a:r>
              <a:rPr dirty="0" sz="1200" spc="-10">
                <a:latin typeface="Times New Roman"/>
                <a:cs typeface="Times New Roman"/>
              </a:rPr>
              <a:t>un-weighted </a:t>
            </a:r>
            <a:r>
              <a:rPr dirty="0" sz="1200" spc="-5">
                <a:latin typeface="Times New Roman"/>
                <a:cs typeface="Times New Roman"/>
              </a:rPr>
              <a:t>graphs. </a:t>
            </a:r>
            <a:r>
              <a:rPr dirty="0" sz="1200" spc="-10">
                <a:latin typeface="Times New Roman"/>
                <a:cs typeface="Times New Roman"/>
              </a:rPr>
              <a:t>An un-weighted </a:t>
            </a:r>
            <a:r>
              <a:rPr dirty="0" sz="1200" spc="-5">
                <a:latin typeface="Times New Roman"/>
                <a:cs typeface="Times New Roman"/>
              </a:rPr>
              <a:t>graph can be considered as a graph in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15">
                <a:latin typeface="Times New Roman"/>
                <a:cs typeface="Times New Roman"/>
              </a:rPr>
              <a:t>every </a:t>
            </a:r>
            <a:r>
              <a:rPr dirty="0" sz="1200" spc="-5">
                <a:latin typeface="Times New Roman"/>
                <a:cs typeface="Times New Roman"/>
              </a:rPr>
              <a:t>edge has </a:t>
            </a:r>
            <a:r>
              <a:rPr dirty="0" sz="1200" spc="-10">
                <a:latin typeface="Times New Roman"/>
                <a:cs typeface="Times New Roman"/>
              </a:rPr>
              <a:t>weight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 unit.</a:t>
            </a:r>
            <a:endParaRPr sz="1200">
              <a:latin typeface="Times New Roman"/>
              <a:cs typeface="Times New Roman"/>
            </a:endParaRPr>
          </a:p>
          <a:p>
            <a:pPr algn="just" marL="12700" marR="22987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There are a </a:t>
            </a:r>
            <a:r>
              <a:rPr dirty="0" sz="1200" spc="-15">
                <a:latin typeface="Times New Roman"/>
                <a:cs typeface="Times New Roman"/>
              </a:rPr>
              <a:t>few </a:t>
            </a:r>
            <a:r>
              <a:rPr dirty="0" sz="1200" spc="-10">
                <a:latin typeface="Times New Roman"/>
                <a:cs typeface="Times New Roman"/>
              </a:rPr>
              <a:t>variants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path </a:t>
            </a:r>
            <a:r>
              <a:rPr dirty="0" sz="1200" spc="-10">
                <a:latin typeface="Times New Roman"/>
                <a:cs typeface="Times New Roman"/>
              </a:rPr>
              <a:t>problem.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cover </a:t>
            </a:r>
            <a:r>
              <a:rPr dirty="0" sz="1200" spc="-5">
                <a:latin typeface="Times New Roman"/>
                <a:cs typeface="Times New Roman"/>
              </a:rPr>
              <a:t>their definitions and then discuss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some.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52334" y="7130795"/>
            <a:ext cx="2411095" cy="13906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5"/>
              </a:lnSpc>
            </a:pPr>
            <a:r>
              <a:rPr dirty="0" sz="1200" spc="-10" b="1">
                <a:latin typeface="Times New Roman"/>
                <a:cs typeface="Times New Roman"/>
              </a:rPr>
              <a:t>Single-source </a:t>
            </a:r>
            <a:r>
              <a:rPr dirty="0" sz="1200" spc="-5" b="1">
                <a:latin typeface="Times New Roman"/>
                <a:cs typeface="Times New Roman"/>
              </a:rPr>
              <a:t>shortest-path</a:t>
            </a:r>
            <a:r>
              <a:rPr dirty="0" sz="1200" spc="-10" b="1">
                <a:latin typeface="Times New Roman"/>
                <a:cs typeface="Times New Roman"/>
              </a:rPr>
              <a:t> problem: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412289" y="7072248"/>
            <a:ext cx="38919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Find shortest paths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-5">
                <a:latin typeface="Times New Roman"/>
                <a:cs typeface="Times New Roman"/>
              </a:rPr>
              <a:t> a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(single)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source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273393" y="7255814"/>
            <a:ext cx="2484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5">
                <a:latin typeface="Segoe UI Symbol"/>
                <a:cs typeface="Segoe UI Symbol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14387" y="7616152"/>
            <a:ext cx="276860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 b="1">
                <a:latin typeface="Times New Roman"/>
                <a:cs typeface="Times New Roman"/>
              </a:rPr>
              <a:t>Single-destination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shortest-paths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problem: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731525" y="7556995"/>
            <a:ext cx="3401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shortest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 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destination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t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73389" y="7740446"/>
            <a:ext cx="605472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 spc="-15">
                <a:latin typeface="Times New Roman"/>
                <a:cs typeface="Times New Roman"/>
              </a:rPr>
              <a:t>vertex 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can reduce </a:t>
            </a:r>
            <a:r>
              <a:rPr dirty="0" sz="1200" spc="-10">
                <a:latin typeface="Times New Roman"/>
                <a:cs typeface="Times New Roman"/>
              </a:rPr>
              <a:t>the this problem </a:t>
            </a:r>
            <a:r>
              <a:rPr dirty="0" sz="1200" spc="-5">
                <a:latin typeface="Times New Roman"/>
                <a:cs typeface="Times New Roman"/>
              </a:rPr>
              <a:t>to a single-source </a:t>
            </a:r>
            <a:r>
              <a:rPr dirty="0" sz="1200" spc="-10">
                <a:latin typeface="Times New Roman"/>
                <a:cs typeface="Times New Roman"/>
              </a:rPr>
              <a:t>problem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reversing the direction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edge 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14387" y="8284349"/>
            <a:ext cx="226250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 b="1">
                <a:latin typeface="Times New Roman"/>
                <a:cs typeface="Times New Roman"/>
              </a:rPr>
              <a:t>Single-pair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shortest-path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problem: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225403" y="8225192"/>
            <a:ext cx="39560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Find a shortest path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273386" y="8408644"/>
            <a:ext cx="5899785" cy="574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solve the </a:t>
            </a:r>
            <a:r>
              <a:rPr dirty="0" sz="1200" spc="-5">
                <a:latin typeface="Times New Roman"/>
                <a:cs typeface="Times New Roman"/>
              </a:rPr>
              <a:t>single-source </a:t>
            </a:r>
            <a:r>
              <a:rPr dirty="0" sz="1200" spc="-10">
                <a:latin typeface="Times New Roman"/>
                <a:cs typeface="Times New Roman"/>
              </a:rPr>
              <a:t>problem with </a:t>
            </a:r>
            <a:r>
              <a:rPr dirty="0" sz="1200" spc="-5">
                <a:latin typeface="Times New Roman"/>
                <a:cs typeface="Times New Roman"/>
              </a:rPr>
              <a:t>source </a:t>
            </a:r>
            <a:r>
              <a:rPr dirty="0" sz="1200" spc="-15">
                <a:latin typeface="Times New Roman"/>
                <a:cs typeface="Times New Roman"/>
              </a:rPr>
              <a:t>vertex 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we solve this problem </a:t>
            </a:r>
            <a:r>
              <a:rPr dirty="0" sz="1200" spc="-5">
                <a:latin typeface="Times New Roman"/>
                <a:cs typeface="Times New Roman"/>
              </a:rPr>
              <a:t>also. </a:t>
            </a:r>
            <a:r>
              <a:rPr dirty="0" sz="1200" spc="-10">
                <a:latin typeface="Times New Roman"/>
                <a:cs typeface="Times New Roman"/>
              </a:rPr>
              <a:t>No algorithms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 this problem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5">
                <a:latin typeface="Times New Roman"/>
                <a:cs typeface="Times New Roman"/>
              </a:rPr>
              <a:t>known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run asymptotically </a:t>
            </a:r>
            <a:r>
              <a:rPr dirty="0" sz="1200" spc="-5">
                <a:latin typeface="Times New Roman"/>
                <a:cs typeface="Times New Roman"/>
              </a:rPr>
              <a:t>faster than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best single-source </a:t>
            </a:r>
            <a:r>
              <a:rPr dirty="0" sz="1200" spc="-10">
                <a:latin typeface="Times New Roman"/>
                <a:cs typeface="Times New Roman"/>
              </a:rPr>
              <a:t>algorithms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worst</a:t>
            </a:r>
            <a:r>
              <a:rPr dirty="0" sz="1200" spc="-5">
                <a:latin typeface="Times New Roman"/>
                <a:cs typeface="Times New Roman"/>
              </a:rPr>
              <a:t> case.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51102" y="1861045"/>
            <a:ext cx="2037714" cy="163195"/>
          </a:xfrm>
          <a:custGeom>
            <a:avLst/>
            <a:gdLst/>
            <a:ahLst/>
            <a:cxnLst/>
            <a:rect l="l" t="t" r="r" b="b"/>
            <a:pathLst>
              <a:path w="2037714" h="163194">
                <a:moveTo>
                  <a:pt x="2037613" y="0"/>
                </a:moveTo>
                <a:lnTo>
                  <a:pt x="0" y="0"/>
                </a:lnTo>
                <a:lnTo>
                  <a:pt x="0" y="162712"/>
                </a:lnTo>
                <a:lnTo>
                  <a:pt x="2037613" y="162712"/>
                </a:lnTo>
                <a:lnTo>
                  <a:pt x="2037613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7" y="520987"/>
            <a:ext cx="6426835" cy="15132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885690" algn="l"/>
              </a:tabLst>
            </a:pPr>
            <a:r>
              <a:rPr dirty="0" sz="1200" spc="-10">
                <a:latin typeface="Times New Roman"/>
                <a:cs typeface="Times New Roman"/>
              </a:rPr>
              <a:t>154	</a:t>
            </a: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384175" marR="91440" indent="-37211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All-pairs </a:t>
            </a:r>
            <a:r>
              <a:rPr dirty="0" sz="1200" spc="-5" b="1">
                <a:latin typeface="Times New Roman"/>
                <a:cs typeface="Times New Roman"/>
              </a:rPr>
              <a:t>shortest-paths </a:t>
            </a:r>
            <a:r>
              <a:rPr dirty="0" sz="1200" spc="-10" b="1">
                <a:latin typeface="Times New Roman"/>
                <a:cs typeface="Times New Roman"/>
              </a:rPr>
              <a:t>problem: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 a shortest path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20">
                <a:latin typeface="Lucida Sans Unicode"/>
                <a:cs typeface="Lucida Sans Unicode"/>
              </a:rPr>
              <a:t>u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30">
                <a:latin typeface="Lucida Sans Unicode"/>
                <a:cs typeface="Lucida Sans Unicode"/>
              </a:rPr>
              <a:t>v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10" i="1">
                <a:latin typeface="Times New Roman"/>
                <a:cs typeface="Times New Roman"/>
              </a:rPr>
              <a:t>every pair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vertices </a:t>
            </a:r>
            <a:r>
              <a:rPr dirty="0" sz="1200" spc="20">
                <a:latin typeface="Lucida Sans Unicode"/>
                <a:cs typeface="Lucida Sans Unicode"/>
              </a:rPr>
              <a:t>u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Times New Roman"/>
                <a:cs typeface="Times New Roman"/>
              </a:rPr>
              <a:t>. 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Although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single-source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vertex, </a:t>
            </a:r>
            <a:r>
              <a:rPr dirty="0" sz="1200" spc="-5">
                <a:latin typeface="Times New Roman"/>
                <a:cs typeface="Times New Roman"/>
              </a:rPr>
              <a:t> 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usually be </a:t>
            </a:r>
            <a:r>
              <a:rPr dirty="0" sz="1200" spc="-10">
                <a:latin typeface="Times New Roman"/>
                <a:cs typeface="Times New Roman"/>
              </a:rPr>
              <a:t>solved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faster.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25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8.6.1	</a:t>
            </a:r>
            <a:r>
              <a:rPr dirty="0" sz="1400" spc="5" b="1">
                <a:latin typeface="Times New Roman"/>
                <a:cs typeface="Times New Roman"/>
              </a:rPr>
              <a:t>Dijkstra’s</a:t>
            </a:r>
            <a:r>
              <a:rPr dirty="0" sz="1400" spc="-6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4387" y="2232698"/>
            <a:ext cx="628840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5">
                <a:latin typeface="Times New Roman"/>
                <a:cs typeface="Times New Roman"/>
              </a:rPr>
              <a:t>Dijkstra’s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greedy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single-source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shortest-paths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4387" y="2409621"/>
            <a:ext cx="4255770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Dijkstra’s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157307" y="2357147"/>
            <a:ext cx="18973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2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4387" y="2593073"/>
            <a:ext cx="4144010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-10">
                <a:latin typeface="Times New Roman"/>
                <a:cs typeface="Times New Roman"/>
              </a:rPr>
              <a:t>weights</a:t>
            </a:r>
            <a:r>
              <a:rPr dirty="0" sz="1200" spc="-5">
                <a:latin typeface="Times New Roman"/>
                <a:cs typeface="Times New Roman"/>
              </a:rPr>
              <a:t>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non-negative,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i.e.,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w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u,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045635" y="2540598"/>
            <a:ext cx="635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12571" y="2848584"/>
            <a:ext cx="549275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 marL="1270">
              <a:lnSpc>
                <a:spcPts val="1070"/>
              </a:lnSpc>
            </a:pPr>
            <a:r>
              <a:rPr dirty="0" sz="1200" spc="-15">
                <a:latin typeface="Times New Roman"/>
                <a:cs typeface="Times New Roman"/>
              </a:rPr>
              <a:t>Negative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maybe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counter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intuition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occur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life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439339" y="2789429"/>
            <a:ext cx="8191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35">
                <a:latin typeface="Times New Roman"/>
                <a:cs typeface="Times New Roman"/>
              </a:rPr>
              <a:t>e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01690" y="2972881"/>
            <a:ext cx="641350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not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allow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negative</a:t>
            </a:r>
            <a:r>
              <a:rPr dirty="0" sz="1200" spc="-5" i="1">
                <a:latin typeface="Times New Roman"/>
                <a:cs typeface="Times New Roman"/>
              </a:rPr>
              <a:t> cycles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 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 path.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5">
                <a:latin typeface="Times New Roman"/>
                <a:cs typeface="Times New Roman"/>
              </a:rPr>
              <a:t>negative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 spc="-5">
                <a:latin typeface="Times New Roman"/>
                <a:cs typeface="Times New Roman"/>
              </a:rPr>
              <a:t> between,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say,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t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then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0">
                <a:latin typeface="Times New Roman"/>
                <a:cs typeface="Times New Roman"/>
              </a:rPr>
              <a:t>always</a:t>
            </a:r>
            <a:r>
              <a:rPr dirty="0" sz="1200" spc="-5">
                <a:latin typeface="Times New Roman"/>
                <a:cs typeface="Times New Roman"/>
              </a:rPr>
              <a:t> find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shorter 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going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around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cycle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 spc="-5">
                <a:latin typeface="Times New Roman"/>
                <a:cs typeface="Times New Roman"/>
              </a:rPr>
              <a:t> time.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790700" y="3552012"/>
            <a:ext cx="4648200" cy="2476500"/>
            <a:chOff x="1790700" y="3552012"/>
            <a:chExt cx="4648200" cy="2476500"/>
          </a:xfrm>
        </p:grpSpPr>
        <p:sp>
          <p:nvSpPr>
            <p:cNvPr id="13" name="object 13"/>
            <p:cNvSpPr/>
            <p:nvPr/>
          </p:nvSpPr>
          <p:spPr>
            <a:xfrm>
              <a:off x="1790700" y="3552012"/>
              <a:ext cx="4648200" cy="2476500"/>
            </a:xfrm>
            <a:custGeom>
              <a:avLst/>
              <a:gdLst/>
              <a:ahLst/>
              <a:cxnLst/>
              <a:rect l="l" t="t" r="r" b="b"/>
              <a:pathLst>
                <a:path w="4648200" h="2476500">
                  <a:moveTo>
                    <a:pt x="4648001" y="0"/>
                  </a:moveTo>
                  <a:lnTo>
                    <a:pt x="0" y="0"/>
                  </a:lnTo>
                  <a:lnTo>
                    <a:pt x="0" y="2476423"/>
                  </a:lnTo>
                  <a:lnTo>
                    <a:pt x="4648001" y="2476423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864903" y="4633488"/>
              <a:ext cx="373380" cy="363220"/>
            </a:xfrm>
            <a:custGeom>
              <a:avLst/>
              <a:gdLst/>
              <a:ahLst/>
              <a:cxnLst/>
              <a:rect l="l" t="t" r="r" b="b"/>
              <a:pathLst>
                <a:path w="373380" h="363220">
                  <a:moveTo>
                    <a:pt x="198577" y="0"/>
                  </a:moveTo>
                  <a:lnTo>
                    <a:pt x="175031" y="0"/>
                  </a:lnTo>
                  <a:lnTo>
                    <a:pt x="151485" y="2346"/>
                  </a:lnTo>
                  <a:lnTo>
                    <a:pt x="107533" y="16474"/>
                  </a:lnTo>
                  <a:lnTo>
                    <a:pt x="67497" y="40812"/>
                  </a:lnTo>
                  <a:lnTo>
                    <a:pt x="36103" y="74554"/>
                  </a:lnTo>
                  <a:lnTo>
                    <a:pt x="13350" y="113812"/>
                  </a:lnTo>
                  <a:lnTo>
                    <a:pt x="1569" y="157764"/>
                  </a:lnTo>
                  <a:lnTo>
                    <a:pt x="0" y="180517"/>
                  </a:lnTo>
                  <a:lnTo>
                    <a:pt x="1569" y="203286"/>
                  </a:lnTo>
                  <a:lnTo>
                    <a:pt x="13350" y="248015"/>
                  </a:lnTo>
                  <a:lnTo>
                    <a:pt x="36103" y="288051"/>
                  </a:lnTo>
                  <a:lnTo>
                    <a:pt x="67497" y="321015"/>
                  </a:lnTo>
                  <a:lnTo>
                    <a:pt x="107533" y="345353"/>
                  </a:lnTo>
                  <a:lnTo>
                    <a:pt x="151485" y="359481"/>
                  </a:lnTo>
                  <a:lnTo>
                    <a:pt x="175031" y="362620"/>
                  </a:lnTo>
                  <a:lnTo>
                    <a:pt x="198577" y="362620"/>
                  </a:lnTo>
                  <a:lnTo>
                    <a:pt x="244099" y="353979"/>
                  </a:lnTo>
                  <a:lnTo>
                    <a:pt x="286481" y="334365"/>
                  </a:lnTo>
                  <a:lnTo>
                    <a:pt x="322585" y="305318"/>
                  </a:lnTo>
                  <a:lnTo>
                    <a:pt x="350062" y="268437"/>
                  </a:lnTo>
                  <a:lnTo>
                    <a:pt x="367329" y="226039"/>
                  </a:lnTo>
                  <a:lnTo>
                    <a:pt x="372831" y="180517"/>
                  </a:lnTo>
                  <a:lnTo>
                    <a:pt x="372038" y="157764"/>
                  </a:lnTo>
                  <a:lnTo>
                    <a:pt x="360273" y="113812"/>
                  </a:lnTo>
                  <a:lnTo>
                    <a:pt x="337505" y="74554"/>
                  </a:lnTo>
                  <a:lnTo>
                    <a:pt x="305318" y="40812"/>
                  </a:lnTo>
                  <a:lnTo>
                    <a:pt x="266075" y="16474"/>
                  </a:lnTo>
                  <a:lnTo>
                    <a:pt x="221345" y="2346"/>
                  </a:lnTo>
                  <a:lnTo>
                    <a:pt x="198577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864903" y="4633488"/>
              <a:ext cx="373380" cy="363220"/>
            </a:xfrm>
            <a:custGeom>
              <a:avLst/>
              <a:gdLst/>
              <a:ahLst/>
              <a:cxnLst/>
              <a:rect l="l" t="t" r="r" b="b"/>
              <a:pathLst>
                <a:path w="373380" h="363220">
                  <a:moveTo>
                    <a:pt x="0" y="180517"/>
                  </a:moveTo>
                  <a:lnTo>
                    <a:pt x="6278" y="135788"/>
                  </a:lnTo>
                  <a:lnTo>
                    <a:pt x="23545" y="93405"/>
                  </a:lnTo>
                  <a:lnTo>
                    <a:pt x="51023" y="56509"/>
                  </a:lnTo>
                  <a:lnTo>
                    <a:pt x="87127" y="27462"/>
                  </a:lnTo>
                  <a:lnTo>
                    <a:pt x="128717" y="8625"/>
                  </a:lnTo>
                  <a:lnTo>
                    <a:pt x="175031" y="0"/>
                  </a:lnTo>
                  <a:lnTo>
                    <a:pt x="198577" y="0"/>
                  </a:lnTo>
                  <a:lnTo>
                    <a:pt x="244099" y="8625"/>
                  </a:lnTo>
                  <a:lnTo>
                    <a:pt x="286481" y="27462"/>
                  </a:lnTo>
                  <a:lnTo>
                    <a:pt x="322585" y="56509"/>
                  </a:lnTo>
                  <a:lnTo>
                    <a:pt x="350062" y="93405"/>
                  </a:lnTo>
                  <a:lnTo>
                    <a:pt x="367329" y="135788"/>
                  </a:lnTo>
                  <a:lnTo>
                    <a:pt x="372831" y="180517"/>
                  </a:lnTo>
                  <a:lnTo>
                    <a:pt x="372038" y="203286"/>
                  </a:lnTo>
                  <a:lnTo>
                    <a:pt x="360273" y="248015"/>
                  </a:lnTo>
                  <a:lnTo>
                    <a:pt x="337505" y="288051"/>
                  </a:lnTo>
                  <a:lnTo>
                    <a:pt x="305318" y="321015"/>
                  </a:lnTo>
                  <a:lnTo>
                    <a:pt x="266075" y="345353"/>
                  </a:lnTo>
                  <a:lnTo>
                    <a:pt x="221345" y="359481"/>
                  </a:lnTo>
                  <a:lnTo>
                    <a:pt x="198577" y="362620"/>
                  </a:lnTo>
                  <a:lnTo>
                    <a:pt x="175031" y="362620"/>
                  </a:lnTo>
                  <a:lnTo>
                    <a:pt x="128717" y="353979"/>
                  </a:lnTo>
                  <a:lnTo>
                    <a:pt x="87127" y="334365"/>
                  </a:lnTo>
                  <a:lnTo>
                    <a:pt x="51023" y="305318"/>
                  </a:lnTo>
                  <a:lnTo>
                    <a:pt x="23545" y="268437"/>
                  </a:lnTo>
                  <a:lnTo>
                    <a:pt x="6278" y="226039"/>
                  </a:lnTo>
                  <a:lnTo>
                    <a:pt x="0" y="180517"/>
                  </a:lnTo>
                </a:path>
              </a:pathLst>
            </a:custGeom>
            <a:ln w="196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3361688" y="5225943"/>
            <a:ext cx="121920" cy="260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55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200554" y="4558789"/>
            <a:ext cx="3309620" cy="260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  <a:tabLst>
                <a:tab pos="278765" algn="l"/>
                <a:tab pos="637540" algn="l"/>
                <a:tab pos="3161665" algn="l"/>
              </a:tabLst>
            </a:pPr>
            <a:r>
              <a:rPr dirty="0" u="heavy" sz="1550" spc="-5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550" spc="-5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	</a:t>
            </a:r>
            <a:r>
              <a:rPr dirty="0" u="heavy" sz="1550" spc="-5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5	</a:t>
            </a: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baseline="5376" sz="2325" spc="-7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baseline="5376" sz="2325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381314" y="3931661"/>
            <a:ext cx="1231900" cy="4375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44575">
              <a:lnSpc>
                <a:spcPts val="1625"/>
              </a:lnSpc>
              <a:spcBef>
                <a:spcPts val="95"/>
              </a:spcBef>
            </a:pP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-8</a:t>
            </a:r>
            <a:endParaRPr sz="1550">
              <a:latin typeface="Arial"/>
              <a:cs typeface="Arial"/>
            </a:endParaRPr>
          </a:p>
          <a:p>
            <a:pPr>
              <a:lnSpc>
                <a:spcPts val="1625"/>
              </a:lnSpc>
            </a:pP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55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549233" y="5177284"/>
            <a:ext cx="121920" cy="260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550">
              <a:latin typeface="Arial"/>
              <a:cs typeface="Arial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2828757" y="3612700"/>
            <a:ext cx="3480435" cy="2355215"/>
            <a:chOff x="2828757" y="3612700"/>
            <a:chExt cx="3480435" cy="2355215"/>
          </a:xfrm>
        </p:grpSpPr>
        <p:sp>
          <p:nvSpPr>
            <p:cNvPr id="21" name="object 21"/>
            <p:cNvSpPr/>
            <p:nvPr/>
          </p:nvSpPr>
          <p:spPr>
            <a:xfrm>
              <a:off x="5925936" y="4653102"/>
              <a:ext cx="373380" cy="363220"/>
            </a:xfrm>
            <a:custGeom>
              <a:avLst/>
              <a:gdLst/>
              <a:ahLst/>
              <a:cxnLst/>
              <a:rect l="l" t="t" r="r" b="b"/>
              <a:pathLst>
                <a:path w="373379" h="363220">
                  <a:moveTo>
                    <a:pt x="197799" y="0"/>
                  </a:moveTo>
                  <a:lnTo>
                    <a:pt x="174254" y="0"/>
                  </a:lnTo>
                  <a:lnTo>
                    <a:pt x="151485" y="2362"/>
                  </a:lnTo>
                  <a:lnTo>
                    <a:pt x="106740" y="16489"/>
                  </a:lnTo>
                  <a:lnTo>
                    <a:pt x="67497" y="40812"/>
                  </a:lnTo>
                  <a:lnTo>
                    <a:pt x="35326" y="74569"/>
                  </a:lnTo>
                  <a:lnTo>
                    <a:pt x="12557" y="113812"/>
                  </a:lnTo>
                  <a:lnTo>
                    <a:pt x="792" y="157764"/>
                  </a:lnTo>
                  <a:lnTo>
                    <a:pt x="0" y="180533"/>
                  </a:lnTo>
                  <a:lnTo>
                    <a:pt x="792" y="203286"/>
                  </a:lnTo>
                  <a:lnTo>
                    <a:pt x="12557" y="248030"/>
                  </a:lnTo>
                  <a:lnTo>
                    <a:pt x="35326" y="288066"/>
                  </a:lnTo>
                  <a:lnTo>
                    <a:pt x="67497" y="321030"/>
                  </a:lnTo>
                  <a:lnTo>
                    <a:pt x="106740" y="345353"/>
                  </a:lnTo>
                  <a:lnTo>
                    <a:pt x="151485" y="359481"/>
                  </a:lnTo>
                  <a:lnTo>
                    <a:pt x="174254" y="362620"/>
                  </a:lnTo>
                  <a:lnTo>
                    <a:pt x="197799" y="362620"/>
                  </a:lnTo>
                  <a:lnTo>
                    <a:pt x="244099" y="353994"/>
                  </a:lnTo>
                  <a:lnTo>
                    <a:pt x="285704" y="334365"/>
                  </a:lnTo>
                  <a:lnTo>
                    <a:pt x="321807" y="305333"/>
                  </a:lnTo>
                  <a:lnTo>
                    <a:pt x="349285" y="268437"/>
                  </a:lnTo>
                  <a:lnTo>
                    <a:pt x="366552" y="226054"/>
                  </a:lnTo>
                  <a:lnTo>
                    <a:pt x="372831" y="180533"/>
                  </a:lnTo>
                  <a:lnTo>
                    <a:pt x="371261" y="157764"/>
                  </a:lnTo>
                  <a:lnTo>
                    <a:pt x="359481" y="113812"/>
                  </a:lnTo>
                  <a:lnTo>
                    <a:pt x="336727" y="74569"/>
                  </a:lnTo>
                  <a:lnTo>
                    <a:pt x="305318" y="40812"/>
                  </a:lnTo>
                  <a:lnTo>
                    <a:pt x="265297" y="16489"/>
                  </a:lnTo>
                  <a:lnTo>
                    <a:pt x="221345" y="2362"/>
                  </a:lnTo>
                  <a:lnTo>
                    <a:pt x="197799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5925936" y="4653102"/>
              <a:ext cx="373380" cy="363220"/>
            </a:xfrm>
            <a:custGeom>
              <a:avLst/>
              <a:gdLst/>
              <a:ahLst/>
              <a:cxnLst/>
              <a:rect l="l" t="t" r="r" b="b"/>
              <a:pathLst>
                <a:path w="373379" h="363220">
                  <a:moveTo>
                    <a:pt x="0" y="180533"/>
                  </a:moveTo>
                  <a:lnTo>
                    <a:pt x="5501" y="135788"/>
                  </a:lnTo>
                  <a:lnTo>
                    <a:pt x="22768" y="92628"/>
                  </a:lnTo>
                  <a:lnTo>
                    <a:pt x="50231" y="56525"/>
                  </a:lnTo>
                  <a:lnTo>
                    <a:pt x="86334" y="27477"/>
                  </a:lnTo>
                  <a:lnTo>
                    <a:pt x="128732" y="8641"/>
                  </a:lnTo>
                  <a:lnTo>
                    <a:pt x="174254" y="0"/>
                  </a:lnTo>
                  <a:lnTo>
                    <a:pt x="197799" y="0"/>
                  </a:lnTo>
                  <a:lnTo>
                    <a:pt x="244099" y="8641"/>
                  </a:lnTo>
                  <a:lnTo>
                    <a:pt x="285704" y="27477"/>
                  </a:lnTo>
                  <a:lnTo>
                    <a:pt x="321807" y="56525"/>
                  </a:lnTo>
                  <a:lnTo>
                    <a:pt x="349285" y="92628"/>
                  </a:lnTo>
                  <a:lnTo>
                    <a:pt x="366552" y="135788"/>
                  </a:lnTo>
                  <a:lnTo>
                    <a:pt x="372831" y="180533"/>
                  </a:lnTo>
                  <a:lnTo>
                    <a:pt x="371261" y="203286"/>
                  </a:lnTo>
                  <a:lnTo>
                    <a:pt x="359481" y="248030"/>
                  </a:lnTo>
                  <a:lnTo>
                    <a:pt x="336727" y="288066"/>
                  </a:lnTo>
                  <a:lnTo>
                    <a:pt x="305318" y="321030"/>
                  </a:lnTo>
                  <a:lnTo>
                    <a:pt x="265297" y="345353"/>
                  </a:lnTo>
                  <a:lnTo>
                    <a:pt x="221345" y="359481"/>
                  </a:lnTo>
                  <a:lnTo>
                    <a:pt x="197799" y="362620"/>
                  </a:lnTo>
                  <a:lnTo>
                    <a:pt x="174254" y="362620"/>
                  </a:lnTo>
                  <a:lnTo>
                    <a:pt x="128732" y="353994"/>
                  </a:lnTo>
                  <a:lnTo>
                    <a:pt x="86334" y="334365"/>
                  </a:lnTo>
                  <a:lnTo>
                    <a:pt x="50231" y="305333"/>
                  </a:lnTo>
                  <a:lnTo>
                    <a:pt x="22768" y="268437"/>
                  </a:lnTo>
                  <a:lnTo>
                    <a:pt x="5501" y="226054"/>
                  </a:lnTo>
                  <a:lnTo>
                    <a:pt x="0" y="180533"/>
                  </a:lnTo>
                </a:path>
              </a:pathLst>
            </a:custGeom>
            <a:ln w="196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816934" y="5594187"/>
              <a:ext cx="373380" cy="363855"/>
            </a:xfrm>
            <a:custGeom>
              <a:avLst/>
              <a:gdLst/>
              <a:ahLst/>
              <a:cxnLst/>
              <a:rect l="l" t="t" r="r" b="b"/>
              <a:pathLst>
                <a:path w="373379" h="363854">
                  <a:moveTo>
                    <a:pt x="197784" y="0"/>
                  </a:moveTo>
                  <a:lnTo>
                    <a:pt x="175031" y="0"/>
                  </a:lnTo>
                  <a:lnTo>
                    <a:pt x="151485" y="2362"/>
                  </a:lnTo>
                  <a:lnTo>
                    <a:pt x="106740" y="16489"/>
                  </a:lnTo>
                  <a:lnTo>
                    <a:pt x="67497" y="41605"/>
                  </a:lnTo>
                  <a:lnTo>
                    <a:pt x="35311" y="74569"/>
                  </a:lnTo>
                  <a:lnTo>
                    <a:pt x="13334" y="114604"/>
                  </a:lnTo>
                  <a:lnTo>
                    <a:pt x="1569" y="158556"/>
                  </a:lnTo>
                  <a:lnTo>
                    <a:pt x="0" y="181310"/>
                  </a:lnTo>
                  <a:lnTo>
                    <a:pt x="1569" y="204078"/>
                  </a:lnTo>
                  <a:lnTo>
                    <a:pt x="13334" y="248823"/>
                  </a:lnTo>
                  <a:lnTo>
                    <a:pt x="35311" y="288843"/>
                  </a:lnTo>
                  <a:lnTo>
                    <a:pt x="67497" y="321807"/>
                  </a:lnTo>
                  <a:lnTo>
                    <a:pt x="106740" y="346146"/>
                  </a:lnTo>
                  <a:lnTo>
                    <a:pt x="151485" y="360273"/>
                  </a:lnTo>
                  <a:lnTo>
                    <a:pt x="175031" y="363413"/>
                  </a:lnTo>
                  <a:lnTo>
                    <a:pt x="197784" y="363413"/>
                  </a:lnTo>
                  <a:lnTo>
                    <a:pt x="244099" y="354771"/>
                  </a:lnTo>
                  <a:lnTo>
                    <a:pt x="286481" y="335158"/>
                  </a:lnTo>
                  <a:lnTo>
                    <a:pt x="322585" y="306110"/>
                  </a:lnTo>
                  <a:lnTo>
                    <a:pt x="350062" y="269229"/>
                  </a:lnTo>
                  <a:lnTo>
                    <a:pt x="367329" y="226847"/>
                  </a:lnTo>
                  <a:lnTo>
                    <a:pt x="372816" y="181310"/>
                  </a:lnTo>
                  <a:lnTo>
                    <a:pt x="371246" y="158556"/>
                  </a:lnTo>
                  <a:lnTo>
                    <a:pt x="359481" y="114604"/>
                  </a:lnTo>
                  <a:lnTo>
                    <a:pt x="337505" y="74569"/>
                  </a:lnTo>
                  <a:lnTo>
                    <a:pt x="305318" y="41605"/>
                  </a:lnTo>
                  <a:lnTo>
                    <a:pt x="266075" y="16489"/>
                  </a:lnTo>
                  <a:lnTo>
                    <a:pt x="221330" y="2362"/>
                  </a:lnTo>
                  <a:lnTo>
                    <a:pt x="19778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816934" y="5594187"/>
              <a:ext cx="373380" cy="363855"/>
            </a:xfrm>
            <a:custGeom>
              <a:avLst/>
              <a:gdLst/>
              <a:ahLst/>
              <a:cxnLst/>
              <a:rect l="l" t="t" r="r" b="b"/>
              <a:pathLst>
                <a:path w="373379" h="363854">
                  <a:moveTo>
                    <a:pt x="0" y="181310"/>
                  </a:moveTo>
                  <a:lnTo>
                    <a:pt x="5486" y="136580"/>
                  </a:lnTo>
                  <a:lnTo>
                    <a:pt x="22753" y="94198"/>
                  </a:lnTo>
                  <a:lnTo>
                    <a:pt x="50231" y="56525"/>
                  </a:lnTo>
                  <a:lnTo>
                    <a:pt x="86334" y="27477"/>
                  </a:lnTo>
                  <a:lnTo>
                    <a:pt x="128717" y="8641"/>
                  </a:lnTo>
                  <a:lnTo>
                    <a:pt x="175031" y="0"/>
                  </a:lnTo>
                  <a:lnTo>
                    <a:pt x="197784" y="0"/>
                  </a:lnTo>
                  <a:lnTo>
                    <a:pt x="244099" y="8641"/>
                  </a:lnTo>
                  <a:lnTo>
                    <a:pt x="286481" y="27477"/>
                  </a:lnTo>
                  <a:lnTo>
                    <a:pt x="322585" y="56525"/>
                  </a:lnTo>
                  <a:lnTo>
                    <a:pt x="350062" y="94198"/>
                  </a:lnTo>
                  <a:lnTo>
                    <a:pt x="367329" y="136580"/>
                  </a:lnTo>
                  <a:lnTo>
                    <a:pt x="372816" y="181310"/>
                  </a:lnTo>
                  <a:lnTo>
                    <a:pt x="371246" y="204078"/>
                  </a:lnTo>
                  <a:lnTo>
                    <a:pt x="359481" y="248823"/>
                  </a:lnTo>
                  <a:lnTo>
                    <a:pt x="337505" y="288843"/>
                  </a:lnTo>
                  <a:lnTo>
                    <a:pt x="305318" y="321807"/>
                  </a:lnTo>
                  <a:lnTo>
                    <a:pt x="266075" y="346146"/>
                  </a:lnTo>
                  <a:lnTo>
                    <a:pt x="221330" y="360273"/>
                  </a:lnTo>
                  <a:lnTo>
                    <a:pt x="197784" y="363413"/>
                  </a:lnTo>
                  <a:lnTo>
                    <a:pt x="175031" y="363413"/>
                  </a:lnTo>
                  <a:lnTo>
                    <a:pt x="128717" y="354771"/>
                  </a:lnTo>
                  <a:lnTo>
                    <a:pt x="86334" y="335158"/>
                  </a:lnTo>
                  <a:lnTo>
                    <a:pt x="50231" y="306110"/>
                  </a:lnTo>
                  <a:lnTo>
                    <a:pt x="22753" y="269229"/>
                  </a:lnTo>
                  <a:lnTo>
                    <a:pt x="5486" y="226847"/>
                  </a:lnTo>
                  <a:lnTo>
                    <a:pt x="0" y="181310"/>
                  </a:lnTo>
                </a:path>
              </a:pathLst>
            </a:custGeom>
            <a:ln w="196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699939" y="4653102"/>
              <a:ext cx="373380" cy="363220"/>
            </a:xfrm>
            <a:custGeom>
              <a:avLst/>
              <a:gdLst/>
              <a:ahLst/>
              <a:cxnLst/>
              <a:rect l="l" t="t" r="r" b="b"/>
              <a:pathLst>
                <a:path w="373379" h="363220">
                  <a:moveTo>
                    <a:pt x="197784" y="0"/>
                  </a:moveTo>
                  <a:lnTo>
                    <a:pt x="175031" y="0"/>
                  </a:lnTo>
                  <a:lnTo>
                    <a:pt x="151485" y="2362"/>
                  </a:lnTo>
                  <a:lnTo>
                    <a:pt x="106740" y="16489"/>
                  </a:lnTo>
                  <a:lnTo>
                    <a:pt x="67497" y="40812"/>
                  </a:lnTo>
                  <a:lnTo>
                    <a:pt x="35311" y="74569"/>
                  </a:lnTo>
                  <a:lnTo>
                    <a:pt x="13334" y="113812"/>
                  </a:lnTo>
                  <a:lnTo>
                    <a:pt x="1569" y="157764"/>
                  </a:lnTo>
                  <a:lnTo>
                    <a:pt x="0" y="180533"/>
                  </a:lnTo>
                  <a:lnTo>
                    <a:pt x="1569" y="203286"/>
                  </a:lnTo>
                  <a:lnTo>
                    <a:pt x="13334" y="248030"/>
                  </a:lnTo>
                  <a:lnTo>
                    <a:pt x="35311" y="288066"/>
                  </a:lnTo>
                  <a:lnTo>
                    <a:pt x="67497" y="321030"/>
                  </a:lnTo>
                  <a:lnTo>
                    <a:pt x="106740" y="345353"/>
                  </a:lnTo>
                  <a:lnTo>
                    <a:pt x="151485" y="359481"/>
                  </a:lnTo>
                  <a:lnTo>
                    <a:pt x="175031" y="362620"/>
                  </a:lnTo>
                  <a:lnTo>
                    <a:pt x="197784" y="362620"/>
                  </a:lnTo>
                  <a:lnTo>
                    <a:pt x="244099" y="353994"/>
                  </a:lnTo>
                  <a:lnTo>
                    <a:pt x="286481" y="334365"/>
                  </a:lnTo>
                  <a:lnTo>
                    <a:pt x="322585" y="305333"/>
                  </a:lnTo>
                  <a:lnTo>
                    <a:pt x="350062" y="268437"/>
                  </a:lnTo>
                  <a:lnTo>
                    <a:pt x="367329" y="226054"/>
                  </a:lnTo>
                  <a:lnTo>
                    <a:pt x="372816" y="180533"/>
                  </a:lnTo>
                  <a:lnTo>
                    <a:pt x="371246" y="157764"/>
                  </a:lnTo>
                  <a:lnTo>
                    <a:pt x="359481" y="113812"/>
                  </a:lnTo>
                  <a:lnTo>
                    <a:pt x="337505" y="74569"/>
                  </a:lnTo>
                  <a:lnTo>
                    <a:pt x="305318" y="40812"/>
                  </a:lnTo>
                  <a:lnTo>
                    <a:pt x="266075" y="16489"/>
                  </a:lnTo>
                  <a:lnTo>
                    <a:pt x="221330" y="2362"/>
                  </a:lnTo>
                  <a:lnTo>
                    <a:pt x="19778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699939" y="4653102"/>
              <a:ext cx="373380" cy="363220"/>
            </a:xfrm>
            <a:custGeom>
              <a:avLst/>
              <a:gdLst/>
              <a:ahLst/>
              <a:cxnLst/>
              <a:rect l="l" t="t" r="r" b="b"/>
              <a:pathLst>
                <a:path w="373379" h="363220">
                  <a:moveTo>
                    <a:pt x="0" y="180533"/>
                  </a:moveTo>
                  <a:lnTo>
                    <a:pt x="6278" y="135788"/>
                  </a:lnTo>
                  <a:lnTo>
                    <a:pt x="22753" y="92628"/>
                  </a:lnTo>
                  <a:lnTo>
                    <a:pt x="50231" y="56525"/>
                  </a:lnTo>
                  <a:lnTo>
                    <a:pt x="86334" y="27477"/>
                  </a:lnTo>
                  <a:lnTo>
                    <a:pt x="128717" y="8641"/>
                  </a:lnTo>
                  <a:lnTo>
                    <a:pt x="175031" y="0"/>
                  </a:lnTo>
                  <a:lnTo>
                    <a:pt x="197784" y="0"/>
                  </a:lnTo>
                  <a:lnTo>
                    <a:pt x="244099" y="8641"/>
                  </a:lnTo>
                  <a:lnTo>
                    <a:pt x="286481" y="27477"/>
                  </a:lnTo>
                  <a:lnTo>
                    <a:pt x="322585" y="56525"/>
                  </a:lnTo>
                  <a:lnTo>
                    <a:pt x="350062" y="92628"/>
                  </a:lnTo>
                  <a:lnTo>
                    <a:pt x="367329" y="135788"/>
                  </a:lnTo>
                  <a:lnTo>
                    <a:pt x="372816" y="180533"/>
                  </a:lnTo>
                  <a:lnTo>
                    <a:pt x="371246" y="203286"/>
                  </a:lnTo>
                  <a:lnTo>
                    <a:pt x="359481" y="248030"/>
                  </a:lnTo>
                  <a:lnTo>
                    <a:pt x="337505" y="288066"/>
                  </a:lnTo>
                  <a:lnTo>
                    <a:pt x="305318" y="321030"/>
                  </a:lnTo>
                  <a:lnTo>
                    <a:pt x="266075" y="345353"/>
                  </a:lnTo>
                  <a:lnTo>
                    <a:pt x="221330" y="359481"/>
                  </a:lnTo>
                  <a:lnTo>
                    <a:pt x="197784" y="362620"/>
                  </a:lnTo>
                  <a:lnTo>
                    <a:pt x="175031" y="362620"/>
                  </a:lnTo>
                  <a:lnTo>
                    <a:pt x="128717" y="353994"/>
                  </a:lnTo>
                  <a:lnTo>
                    <a:pt x="86334" y="334365"/>
                  </a:lnTo>
                  <a:lnTo>
                    <a:pt x="50231" y="305333"/>
                  </a:lnTo>
                  <a:lnTo>
                    <a:pt x="22753" y="268437"/>
                  </a:lnTo>
                  <a:lnTo>
                    <a:pt x="6278" y="226054"/>
                  </a:lnTo>
                  <a:lnTo>
                    <a:pt x="0" y="180533"/>
                  </a:lnTo>
                </a:path>
              </a:pathLst>
            </a:custGeom>
            <a:ln w="196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944139" y="4653102"/>
              <a:ext cx="372110" cy="363220"/>
            </a:xfrm>
            <a:custGeom>
              <a:avLst/>
              <a:gdLst/>
              <a:ahLst/>
              <a:cxnLst/>
              <a:rect l="l" t="t" r="r" b="b"/>
              <a:pathLst>
                <a:path w="372110" h="363220">
                  <a:moveTo>
                    <a:pt x="197784" y="0"/>
                  </a:moveTo>
                  <a:lnTo>
                    <a:pt x="174238" y="0"/>
                  </a:lnTo>
                  <a:lnTo>
                    <a:pt x="150693" y="2362"/>
                  </a:lnTo>
                  <a:lnTo>
                    <a:pt x="106740" y="16489"/>
                  </a:lnTo>
                  <a:lnTo>
                    <a:pt x="67497" y="40812"/>
                  </a:lnTo>
                  <a:lnTo>
                    <a:pt x="35311" y="74569"/>
                  </a:lnTo>
                  <a:lnTo>
                    <a:pt x="13334" y="113812"/>
                  </a:lnTo>
                  <a:lnTo>
                    <a:pt x="1569" y="157764"/>
                  </a:lnTo>
                  <a:lnTo>
                    <a:pt x="0" y="180533"/>
                  </a:lnTo>
                  <a:lnTo>
                    <a:pt x="1569" y="203286"/>
                  </a:lnTo>
                  <a:lnTo>
                    <a:pt x="13334" y="248030"/>
                  </a:lnTo>
                  <a:lnTo>
                    <a:pt x="35311" y="288066"/>
                  </a:lnTo>
                  <a:lnTo>
                    <a:pt x="67497" y="321030"/>
                  </a:lnTo>
                  <a:lnTo>
                    <a:pt x="106740" y="345353"/>
                  </a:lnTo>
                  <a:lnTo>
                    <a:pt x="150693" y="359481"/>
                  </a:lnTo>
                  <a:lnTo>
                    <a:pt x="174238" y="362620"/>
                  </a:lnTo>
                  <a:lnTo>
                    <a:pt x="197784" y="362620"/>
                  </a:lnTo>
                  <a:lnTo>
                    <a:pt x="243306" y="353994"/>
                  </a:lnTo>
                  <a:lnTo>
                    <a:pt x="285689" y="334365"/>
                  </a:lnTo>
                  <a:lnTo>
                    <a:pt x="321792" y="305333"/>
                  </a:lnTo>
                  <a:lnTo>
                    <a:pt x="349270" y="268437"/>
                  </a:lnTo>
                  <a:lnTo>
                    <a:pt x="366537" y="226054"/>
                  </a:lnTo>
                  <a:lnTo>
                    <a:pt x="372038" y="180533"/>
                  </a:lnTo>
                  <a:lnTo>
                    <a:pt x="371246" y="157764"/>
                  </a:lnTo>
                  <a:lnTo>
                    <a:pt x="359465" y="113812"/>
                  </a:lnTo>
                  <a:lnTo>
                    <a:pt x="336712" y="74569"/>
                  </a:lnTo>
                  <a:lnTo>
                    <a:pt x="304525" y="40812"/>
                  </a:lnTo>
                  <a:lnTo>
                    <a:pt x="265282" y="16489"/>
                  </a:lnTo>
                  <a:lnTo>
                    <a:pt x="220553" y="2362"/>
                  </a:lnTo>
                  <a:lnTo>
                    <a:pt x="19778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944139" y="4653102"/>
              <a:ext cx="372110" cy="363220"/>
            </a:xfrm>
            <a:custGeom>
              <a:avLst/>
              <a:gdLst/>
              <a:ahLst/>
              <a:cxnLst/>
              <a:rect l="l" t="t" r="r" b="b"/>
              <a:pathLst>
                <a:path w="372110" h="363220">
                  <a:moveTo>
                    <a:pt x="0" y="180533"/>
                  </a:moveTo>
                  <a:lnTo>
                    <a:pt x="6278" y="135788"/>
                  </a:lnTo>
                  <a:lnTo>
                    <a:pt x="23545" y="92628"/>
                  </a:lnTo>
                  <a:lnTo>
                    <a:pt x="50231" y="56525"/>
                  </a:lnTo>
                  <a:lnTo>
                    <a:pt x="86334" y="27477"/>
                  </a:lnTo>
                  <a:lnTo>
                    <a:pt x="128717" y="8641"/>
                  </a:lnTo>
                  <a:lnTo>
                    <a:pt x="174238" y="0"/>
                  </a:lnTo>
                  <a:lnTo>
                    <a:pt x="197784" y="0"/>
                  </a:lnTo>
                  <a:lnTo>
                    <a:pt x="243306" y="8641"/>
                  </a:lnTo>
                  <a:lnTo>
                    <a:pt x="285689" y="27477"/>
                  </a:lnTo>
                  <a:lnTo>
                    <a:pt x="321792" y="56525"/>
                  </a:lnTo>
                  <a:lnTo>
                    <a:pt x="349270" y="92628"/>
                  </a:lnTo>
                  <a:lnTo>
                    <a:pt x="366537" y="135788"/>
                  </a:lnTo>
                  <a:lnTo>
                    <a:pt x="372038" y="180533"/>
                  </a:lnTo>
                  <a:lnTo>
                    <a:pt x="371246" y="203286"/>
                  </a:lnTo>
                  <a:lnTo>
                    <a:pt x="359465" y="248030"/>
                  </a:lnTo>
                  <a:lnTo>
                    <a:pt x="336712" y="288066"/>
                  </a:lnTo>
                  <a:lnTo>
                    <a:pt x="304525" y="321030"/>
                  </a:lnTo>
                  <a:lnTo>
                    <a:pt x="265282" y="345353"/>
                  </a:lnTo>
                  <a:lnTo>
                    <a:pt x="220553" y="359481"/>
                  </a:lnTo>
                  <a:lnTo>
                    <a:pt x="197784" y="362620"/>
                  </a:lnTo>
                  <a:lnTo>
                    <a:pt x="174238" y="362620"/>
                  </a:lnTo>
                  <a:lnTo>
                    <a:pt x="128717" y="353994"/>
                  </a:lnTo>
                  <a:lnTo>
                    <a:pt x="86334" y="334365"/>
                  </a:lnTo>
                  <a:lnTo>
                    <a:pt x="50231" y="305333"/>
                  </a:lnTo>
                  <a:lnTo>
                    <a:pt x="23545" y="268437"/>
                  </a:lnTo>
                  <a:lnTo>
                    <a:pt x="6278" y="226054"/>
                  </a:lnTo>
                  <a:lnTo>
                    <a:pt x="0" y="180533"/>
                  </a:lnTo>
                </a:path>
              </a:pathLst>
            </a:custGeom>
            <a:ln w="196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816934" y="3622542"/>
              <a:ext cx="373380" cy="363855"/>
            </a:xfrm>
            <a:custGeom>
              <a:avLst/>
              <a:gdLst/>
              <a:ahLst/>
              <a:cxnLst/>
              <a:rect l="l" t="t" r="r" b="b"/>
              <a:pathLst>
                <a:path w="373379" h="363854">
                  <a:moveTo>
                    <a:pt x="197784" y="0"/>
                  </a:moveTo>
                  <a:lnTo>
                    <a:pt x="175031" y="0"/>
                  </a:lnTo>
                  <a:lnTo>
                    <a:pt x="151485" y="3139"/>
                  </a:lnTo>
                  <a:lnTo>
                    <a:pt x="106740" y="17266"/>
                  </a:lnTo>
                  <a:lnTo>
                    <a:pt x="67497" y="41605"/>
                  </a:lnTo>
                  <a:lnTo>
                    <a:pt x="35311" y="74569"/>
                  </a:lnTo>
                  <a:lnTo>
                    <a:pt x="13334" y="114589"/>
                  </a:lnTo>
                  <a:lnTo>
                    <a:pt x="1569" y="159334"/>
                  </a:lnTo>
                  <a:lnTo>
                    <a:pt x="0" y="182102"/>
                  </a:lnTo>
                  <a:lnTo>
                    <a:pt x="1569" y="204856"/>
                  </a:lnTo>
                  <a:lnTo>
                    <a:pt x="13334" y="248808"/>
                  </a:lnTo>
                  <a:lnTo>
                    <a:pt x="35311" y="288843"/>
                  </a:lnTo>
                  <a:lnTo>
                    <a:pt x="67497" y="321807"/>
                  </a:lnTo>
                  <a:lnTo>
                    <a:pt x="106740" y="346923"/>
                  </a:lnTo>
                  <a:lnTo>
                    <a:pt x="151485" y="361050"/>
                  </a:lnTo>
                  <a:lnTo>
                    <a:pt x="175031" y="363413"/>
                  </a:lnTo>
                  <a:lnTo>
                    <a:pt x="197784" y="363413"/>
                  </a:lnTo>
                  <a:lnTo>
                    <a:pt x="244099" y="354771"/>
                  </a:lnTo>
                  <a:lnTo>
                    <a:pt x="286481" y="335935"/>
                  </a:lnTo>
                  <a:lnTo>
                    <a:pt x="322585" y="306887"/>
                  </a:lnTo>
                  <a:lnTo>
                    <a:pt x="350062" y="269214"/>
                  </a:lnTo>
                  <a:lnTo>
                    <a:pt x="367329" y="226832"/>
                  </a:lnTo>
                  <a:lnTo>
                    <a:pt x="372816" y="182102"/>
                  </a:lnTo>
                  <a:lnTo>
                    <a:pt x="371246" y="159334"/>
                  </a:lnTo>
                  <a:lnTo>
                    <a:pt x="359481" y="114589"/>
                  </a:lnTo>
                  <a:lnTo>
                    <a:pt x="337505" y="74569"/>
                  </a:lnTo>
                  <a:lnTo>
                    <a:pt x="305318" y="41605"/>
                  </a:lnTo>
                  <a:lnTo>
                    <a:pt x="266075" y="17266"/>
                  </a:lnTo>
                  <a:lnTo>
                    <a:pt x="221330" y="3139"/>
                  </a:lnTo>
                  <a:lnTo>
                    <a:pt x="19778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816934" y="3622542"/>
              <a:ext cx="373380" cy="363855"/>
            </a:xfrm>
            <a:custGeom>
              <a:avLst/>
              <a:gdLst/>
              <a:ahLst/>
              <a:cxnLst/>
              <a:rect l="l" t="t" r="r" b="b"/>
              <a:pathLst>
                <a:path w="373379" h="363854">
                  <a:moveTo>
                    <a:pt x="0" y="182102"/>
                  </a:moveTo>
                  <a:lnTo>
                    <a:pt x="5486" y="136565"/>
                  </a:lnTo>
                  <a:lnTo>
                    <a:pt x="22753" y="94183"/>
                  </a:lnTo>
                  <a:lnTo>
                    <a:pt x="50231" y="57302"/>
                  </a:lnTo>
                  <a:lnTo>
                    <a:pt x="86334" y="28254"/>
                  </a:lnTo>
                  <a:lnTo>
                    <a:pt x="128717" y="8641"/>
                  </a:lnTo>
                  <a:lnTo>
                    <a:pt x="175031" y="0"/>
                  </a:lnTo>
                  <a:lnTo>
                    <a:pt x="197784" y="0"/>
                  </a:lnTo>
                  <a:lnTo>
                    <a:pt x="244099" y="8641"/>
                  </a:lnTo>
                  <a:lnTo>
                    <a:pt x="286481" y="28254"/>
                  </a:lnTo>
                  <a:lnTo>
                    <a:pt x="322585" y="57302"/>
                  </a:lnTo>
                  <a:lnTo>
                    <a:pt x="350062" y="94183"/>
                  </a:lnTo>
                  <a:lnTo>
                    <a:pt x="367329" y="136565"/>
                  </a:lnTo>
                  <a:lnTo>
                    <a:pt x="372816" y="182102"/>
                  </a:lnTo>
                  <a:lnTo>
                    <a:pt x="371246" y="204856"/>
                  </a:lnTo>
                  <a:lnTo>
                    <a:pt x="359481" y="248808"/>
                  </a:lnTo>
                  <a:lnTo>
                    <a:pt x="337505" y="288843"/>
                  </a:lnTo>
                  <a:lnTo>
                    <a:pt x="305318" y="321807"/>
                  </a:lnTo>
                  <a:lnTo>
                    <a:pt x="266075" y="346923"/>
                  </a:lnTo>
                  <a:lnTo>
                    <a:pt x="221330" y="361050"/>
                  </a:lnTo>
                  <a:lnTo>
                    <a:pt x="197784" y="363413"/>
                  </a:lnTo>
                  <a:lnTo>
                    <a:pt x="175031" y="363413"/>
                  </a:lnTo>
                  <a:lnTo>
                    <a:pt x="128717" y="354771"/>
                  </a:lnTo>
                  <a:lnTo>
                    <a:pt x="86334" y="335935"/>
                  </a:lnTo>
                  <a:lnTo>
                    <a:pt x="50231" y="306887"/>
                  </a:lnTo>
                  <a:lnTo>
                    <a:pt x="22753" y="269214"/>
                  </a:lnTo>
                  <a:lnTo>
                    <a:pt x="5486" y="226832"/>
                  </a:lnTo>
                  <a:lnTo>
                    <a:pt x="0" y="182102"/>
                  </a:lnTo>
                </a:path>
              </a:pathLst>
            </a:custGeom>
            <a:ln w="196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828757" y="4780264"/>
              <a:ext cx="111125" cy="74295"/>
            </a:xfrm>
            <a:custGeom>
              <a:avLst/>
              <a:gdLst/>
              <a:ahLst/>
              <a:cxnLst/>
              <a:rect l="l" t="t" r="r" b="b"/>
              <a:pathLst>
                <a:path w="111125" h="74295">
                  <a:moveTo>
                    <a:pt x="0" y="0"/>
                  </a:moveTo>
                  <a:lnTo>
                    <a:pt x="0" y="73776"/>
                  </a:lnTo>
                  <a:lnTo>
                    <a:pt x="110657" y="368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203935" y="3976522"/>
              <a:ext cx="575945" cy="694690"/>
            </a:xfrm>
            <a:custGeom>
              <a:avLst/>
              <a:gdLst/>
              <a:ahLst/>
              <a:cxnLst/>
              <a:rect l="l" t="t" r="r" b="b"/>
              <a:pathLst>
                <a:path w="575945" h="694689">
                  <a:moveTo>
                    <a:pt x="0" y="694639"/>
                  </a:moveTo>
                  <a:lnTo>
                    <a:pt x="575325" y="0"/>
                  </a:lnTo>
                </a:path>
              </a:pathLst>
            </a:custGeom>
            <a:ln w="196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744727" y="3898036"/>
              <a:ext cx="99060" cy="109220"/>
            </a:xfrm>
            <a:custGeom>
              <a:avLst/>
              <a:gdLst/>
              <a:ahLst/>
              <a:cxnLst/>
              <a:rect l="l" t="t" r="r" b="b"/>
              <a:pathLst>
                <a:path w="99060" h="109220">
                  <a:moveTo>
                    <a:pt x="98892" y="0"/>
                  </a:moveTo>
                  <a:lnTo>
                    <a:pt x="0" y="62011"/>
                  </a:lnTo>
                  <a:lnTo>
                    <a:pt x="57287" y="109103"/>
                  </a:lnTo>
                  <a:lnTo>
                    <a:pt x="98892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160718" y="3927861"/>
              <a:ext cx="560705" cy="673100"/>
            </a:xfrm>
            <a:custGeom>
              <a:avLst/>
              <a:gdLst/>
              <a:ahLst/>
              <a:cxnLst/>
              <a:rect l="l" t="t" r="r" b="b"/>
              <a:pathLst>
                <a:path w="560704" h="673100">
                  <a:moveTo>
                    <a:pt x="0" y="0"/>
                  </a:moveTo>
                  <a:lnTo>
                    <a:pt x="560405" y="672663"/>
                  </a:lnTo>
                </a:path>
              </a:pathLst>
            </a:custGeom>
            <a:ln w="196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686589" y="4569907"/>
              <a:ext cx="99060" cy="108585"/>
            </a:xfrm>
            <a:custGeom>
              <a:avLst/>
              <a:gdLst/>
              <a:ahLst/>
              <a:cxnLst/>
              <a:rect l="l" t="t" r="r" b="b"/>
              <a:pathLst>
                <a:path w="99060" h="108585">
                  <a:moveTo>
                    <a:pt x="56509" y="0"/>
                  </a:moveTo>
                  <a:lnTo>
                    <a:pt x="0" y="47091"/>
                  </a:lnTo>
                  <a:lnTo>
                    <a:pt x="98907" y="108310"/>
                  </a:lnTo>
                  <a:lnTo>
                    <a:pt x="5650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331083" y="5031419"/>
              <a:ext cx="564515" cy="610235"/>
            </a:xfrm>
            <a:custGeom>
              <a:avLst/>
              <a:gdLst/>
              <a:ahLst/>
              <a:cxnLst/>
              <a:rect l="l" t="t" r="r" b="b"/>
              <a:pathLst>
                <a:path w="564514" h="610235">
                  <a:moveTo>
                    <a:pt x="564337" y="609874"/>
                  </a:moveTo>
                  <a:lnTo>
                    <a:pt x="0" y="0"/>
                  </a:lnTo>
                </a:path>
              </a:pathLst>
            </a:custGeom>
            <a:ln w="196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262792" y="4956865"/>
              <a:ext cx="102235" cy="107314"/>
            </a:xfrm>
            <a:custGeom>
              <a:avLst/>
              <a:gdLst/>
              <a:ahLst/>
              <a:cxnLst/>
              <a:rect l="l" t="t" r="r" b="b"/>
              <a:pathLst>
                <a:path w="102235" h="107314">
                  <a:moveTo>
                    <a:pt x="0" y="0"/>
                  </a:moveTo>
                  <a:lnTo>
                    <a:pt x="47884" y="106740"/>
                  </a:lnTo>
                  <a:lnTo>
                    <a:pt x="102047" y="565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199168" y="4971770"/>
              <a:ext cx="557530" cy="616585"/>
            </a:xfrm>
            <a:custGeom>
              <a:avLst/>
              <a:gdLst/>
              <a:ahLst/>
              <a:cxnLst/>
              <a:rect l="l" t="t" r="r" b="b"/>
              <a:pathLst>
                <a:path w="557529" h="616585">
                  <a:moveTo>
                    <a:pt x="557281" y="0"/>
                  </a:moveTo>
                  <a:lnTo>
                    <a:pt x="0" y="616137"/>
                  </a:lnTo>
                </a:path>
              </a:pathLst>
            </a:custGeom>
            <a:ln w="196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130893" y="5556514"/>
              <a:ext cx="101600" cy="107314"/>
            </a:xfrm>
            <a:custGeom>
              <a:avLst/>
              <a:gdLst/>
              <a:ahLst/>
              <a:cxnLst/>
              <a:rect l="l" t="t" r="r" b="b"/>
              <a:pathLst>
                <a:path w="101600" h="107314">
                  <a:moveTo>
                    <a:pt x="47091" y="0"/>
                  </a:moveTo>
                  <a:lnTo>
                    <a:pt x="0" y="106756"/>
                  </a:lnTo>
                  <a:lnTo>
                    <a:pt x="101254" y="49453"/>
                  </a:lnTo>
                  <a:lnTo>
                    <a:pt x="47091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5079827" y="4810866"/>
              <a:ext cx="759460" cy="6350"/>
            </a:xfrm>
            <a:custGeom>
              <a:avLst/>
              <a:gdLst/>
              <a:ahLst/>
              <a:cxnLst/>
              <a:rect l="l" t="t" r="r" b="b"/>
              <a:pathLst>
                <a:path w="759460" h="6350">
                  <a:moveTo>
                    <a:pt x="0" y="6278"/>
                  </a:moveTo>
                  <a:lnTo>
                    <a:pt x="758982" y="0"/>
                  </a:lnTo>
                </a:path>
              </a:pathLst>
            </a:custGeom>
            <a:ln w="196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829391" y="4773985"/>
              <a:ext cx="111125" cy="74295"/>
            </a:xfrm>
            <a:custGeom>
              <a:avLst/>
              <a:gdLst/>
              <a:ahLst/>
              <a:cxnLst/>
              <a:rect l="l" t="t" r="r" b="b"/>
              <a:pathLst>
                <a:path w="111125" h="74295">
                  <a:moveTo>
                    <a:pt x="0" y="0"/>
                  </a:moveTo>
                  <a:lnTo>
                    <a:pt x="792" y="73776"/>
                  </a:lnTo>
                  <a:lnTo>
                    <a:pt x="110672" y="361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/>
          <p:cNvSpPr txBox="1"/>
          <p:nvPr/>
        </p:nvSpPr>
        <p:spPr>
          <a:xfrm>
            <a:off x="2039936" y="4343725"/>
            <a:ext cx="111125" cy="260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50" spc="-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55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6092340" y="4353928"/>
            <a:ext cx="67310" cy="260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50" spc="-5" i="1">
                <a:solidFill>
                  <a:srgbClr val="FFFF00"/>
                </a:solidFill>
                <a:latin typeface="Arial"/>
                <a:cs typeface="Arial"/>
              </a:rPr>
              <a:t>t</a:t>
            </a:r>
            <a:endParaRPr sz="1550">
              <a:latin typeface="Arial"/>
              <a:cs typeface="Arial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3467386" y="3924603"/>
            <a:ext cx="1226820" cy="1439545"/>
            <a:chOff x="3467386" y="3924603"/>
            <a:chExt cx="1226820" cy="1439545"/>
          </a:xfrm>
        </p:grpSpPr>
        <p:sp>
          <p:nvSpPr>
            <p:cNvPr id="45" name="object 45"/>
            <p:cNvSpPr/>
            <p:nvPr/>
          </p:nvSpPr>
          <p:spPr>
            <a:xfrm>
              <a:off x="4410318" y="3927873"/>
              <a:ext cx="280670" cy="250825"/>
            </a:xfrm>
            <a:custGeom>
              <a:avLst/>
              <a:gdLst/>
              <a:ahLst/>
              <a:cxnLst/>
              <a:rect l="l" t="t" r="r" b="b"/>
              <a:pathLst>
                <a:path w="280670" h="250825">
                  <a:moveTo>
                    <a:pt x="0" y="250381"/>
                  </a:moveTo>
                  <a:lnTo>
                    <a:pt x="280207" y="250381"/>
                  </a:lnTo>
                  <a:lnTo>
                    <a:pt x="280207" y="0"/>
                  </a:lnTo>
                  <a:lnTo>
                    <a:pt x="0" y="0"/>
                  </a:lnTo>
                  <a:lnTo>
                    <a:pt x="0" y="250381"/>
                  </a:lnTo>
                  <a:close/>
                </a:path>
              </a:pathLst>
            </a:custGeom>
            <a:ln w="6540">
              <a:solidFill>
                <a:srgbClr val="49F8F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473927" y="4251238"/>
              <a:ext cx="1021715" cy="1106170"/>
            </a:xfrm>
            <a:custGeom>
              <a:avLst/>
              <a:gdLst/>
              <a:ahLst/>
              <a:cxnLst/>
              <a:rect l="l" t="t" r="r" b="b"/>
              <a:pathLst>
                <a:path w="1021714" h="1106170">
                  <a:moveTo>
                    <a:pt x="156194" y="184449"/>
                  </a:moveTo>
                  <a:lnTo>
                    <a:pt x="167975" y="174254"/>
                  </a:lnTo>
                  <a:lnTo>
                    <a:pt x="177393" y="165613"/>
                  </a:lnTo>
                </a:path>
                <a:path w="1021714" h="1106170">
                  <a:moveTo>
                    <a:pt x="199369" y="147568"/>
                  </a:moveTo>
                  <a:lnTo>
                    <a:pt x="208787" y="140497"/>
                  </a:lnTo>
                  <a:lnTo>
                    <a:pt x="221345" y="130301"/>
                  </a:lnTo>
                </a:path>
                <a:path w="1021714" h="1106170">
                  <a:moveTo>
                    <a:pt x="244891" y="113812"/>
                  </a:moveTo>
                  <a:lnTo>
                    <a:pt x="259019" y="103616"/>
                  </a:lnTo>
                  <a:lnTo>
                    <a:pt x="268437" y="98115"/>
                  </a:lnTo>
                </a:path>
                <a:path w="1021714" h="1106170">
                  <a:moveTo>
                    <a:pt x="291983" y="83195"/>
                  </a:moveTo>
                  <a:lnTo>
                    <a:pt x="296692" y="80055"/>
                  </a:lnTo>
                  <a:lnTo>
                    <a:pt x="316321" y="68290"/>
                  </a:lnTo>
                </a:path>
                <a:path w="1021714" h="1106170">
                  <a:moveTo>
                    <a:pt x="296692" y="80055"/>
                  </a:moveTo>
                  <a:lnTo>
                    <a:pt x="316321" y="68290"/>
                  </a:lnTo>
                </a:path>
                <a:path w="1021714" h="1106170">
                  <a:moveTo>
                    <a:pt x="341436" y="54940"/>
                  </a:moveTo>
                  <a:lnTo>
                    <a:pt x="357134" y="47091"/>
                  </a:lnTo>
                  <a:lnTo>
                    <a:pt x="366552" y="42382"/>
                  </a:lnTo>
                </a:path>
                <a:path w="1021714" h="1106170">
                  <a:moveTo>
                    <a:pt x="392460" y="31394"/>
                  </a:moveTo>
                  <a:lnTo>
                    <a:pt x="398739" y="28254"/>
                  </a:lnTo>
                  <a:lnTo>
                    <a:pt x="418353" y="21198"/>
                  </a:lnTo>
                </a:path>
                <a:path w="1021714" h="1106170">
                  <a:moveTo>
                    <a:pt x="445038" y="12557"/>
                  </a:moveTo>
                  <a:lnTo>
                    <a:pt x="462305" y="7848"/>
                  </a:lnTo>
                  <a:lnTo>
                    <a:pt x="472516" y="6278"/>
                  </a:lnTo>
                </a:path>
                <a:path w="1021714" h="1106170">
                  <a:moveTo>
                    <a:pt x="499978" y="1569"/>
                  </a:moveTo>
                  <a:lnTo>
                    <a:pt x="503118" y="792"/>
                  </a:lnTo>
                  <a:lnTo>
                    <a:pt x="523524" y="0"/>
                  </a:lnTo>
                  <a:lnTo>
                    <a:pt x="528233" y="0"/>
                  </a:lnTo>
                </a:path>
                <a:path w="1021714" h="1106170">
                  <a:moveTo>
                    <a:pt x="556488" y="2362"/>
                  </a:moveTo>
                  <a:lnTo>
                    <a:pt x="558850" y="2362"/>
                  </a:lnTo>
                  <a:lnTo>
                    <a:pt x="575340" y="4709"/>
                  </a:lnTo>
                  <a:lnTo>
                    <a:pt x="583966" y="7848"/>
                  </a:lnTo>
                </a:path>
                <a:path w="1021714" h="1106170">
                  <a:moveTo>
                    <a:pt x="610651" y="17266"/>
                  </a:moveTo>
                  <a:lnTo>
                    <a:pt x="620069" y="21198"/>
                  </a:lnTo>
                  <a:lnTo>
                    <a:pt x="634989" y="28254"/>
                  </a:lnTo>
                  <a:lnTo>
                    <a:pt x="636559" y="29047"/>
                  </a:lnTo>
                </a:path>
                <a:path w="1021714" h="1106170">
                  <a:moveTo>
                    <a:pt x="660882" y="43952"/>
                  </a:moveTo>
                  <a:lnTo>
                    <a:pt x="663244" y="45521"/>
                  </a:lnTo>
                  <a:lnTo>
                    <a:pt x="676579" y="55732"/>
                  </a:lnTo>
                  <a:lnTo>
                    <a:pt x="683651" y="61219"/>
                  </a:lnTo>
                </a:path>
                <a:path w="1021714" h="1106170">
                  <a:moveTo>
                    <a:pt x="705627" y="79278"/>
                  </a:moveTo>
                  <a:lnTo>
                    <a:pt x="717392" y="89474"/>
                  </a:lnTo>
                  <a:lnTo>
                    <a:pt x="726033" y="98115"/>
                  </a:lnTo>
                </a:path>
                <a:path w="1021714" h="1106170">
                  <a:moveTo>
                    <a:pt x="745647" y="118521"/>
                  </a:moveTo>
                  <a:lnTo>
                    <a:pt x="755858" y="128732"/>
                  </a:lnTo>
                  <a:lnTo>
                    <a:pt x="765276" y="138150"/>
                  </a:lnTo>
                </a:path>
                <a:path w="1021714" h="1106170">
                  <a:moveTo>
                    <a:pt x="784113" y="159334"/>
                  </a:moveTo>
                  <a:lnTo>
                    <a:pt x="795101" y="170322"/>
                  </a:lnTo>
                  <a:lnTo>
                    <a:pt x="803742" y="179740"/>
                  </a:lnTo>
                </a:path>
                <a:path w="1021714" h="1106170">
                  <a:moveTo>
                    <a:pt x="821786" y="200939"/>
                  </a:moveTo>
                  <a:lnTo>
                    <a:pt x="840623" y="222122"/>
                  </a:lnTo>
                </a:path>
                <a:path w="1021714" h="1106170">
                  <a:moveTo>
                    <a:pt x="859459" y="242529"/>
                  </a:moveTo>
                  <a:lnTo>
                    <a:pt x="872017" y="255879"/>
                  </a:lnTo>
                  <a:lnTo>
                    <a:pt x="879088" y="262935"/>
                  </a:lnTo>
                </a:path>
                <a:path w="1021714" h="1106170">
                  <a:moveTo>
                    <a:pt x="897925" y="284134"/>
                  </a:moveTo>
                  <a:lnTo>
                    <a:pt x="908913" y="297484"/>
                  </a:lnTo>
                  <a:lnTo>
                    <a:pt x="915969" y="306110"/>
                  </a:lnTo>
                </a:path>
                <a:path w="1021714" h="1106170">
                  <a:moveTo>
                    <a:pt x="934821" y="327309"/>
                  </a:moveTo>
                  <a:lnTo>
                    <a:pt x="943447" y="339074"/>
                  </a:lnTo>
                  <a:lnTo>
                    <a:pt x="952088" y="350062"/>
                  </a:lnTo>
                </a:path>
                <a:path w="1021714" h="1106170">
                  <a:moveTo>
                    <a:pt x="967785" y="373608"/>
                  </a:moveTo>
                  <a:lnTo>
                    <a:pt x="974064" y="382249"/>
                  </a:lnTo>
                  <a:lnTo>
                    <a:pt x="982690" y="396377"/>
                  </a:lnTo>
                  <a:lnTo>
                    <a:pt x="983482" y="397154"/>
                  </a:lnTo>
                </a:path>
                <a:path w="1021714" h="1106170">
                  <a:moveTo>
                    <a:pt x="996040" y="422269"/>
                  </a:moveTo>
                  <a:lnTo>
                    <a:pt x="997610" y="425409"/>
                  </a:lnTo>
                  <a:lnTo>
                    <a:pt x="1003889" y="440329"/>
                  </a:lnTo>
                  <a:lnTo>
                    <a:pt x="1007028" y="448177"/>
                  </a:lnTo>
                </a:path>
                <a:path w="1021714" h="1106170">
                  <a:moveTo>
                    <a:pt x="1014877" y="474863"/>
                  </a:moveTo>
                  <a:lnTo>
                    <a:pt x="1020363" y="501548"/>
                  </a:lnTo>
                </a:path>
                <a:path w="1021714" h="1106170">
                  <a:moveTo>
                    <a:pt x="1021156" y="529803"/>
                  </a:moveTo>
                  <a:lnTo>
                    <a:pt x="1021156" y="535304"/>
                  </a:lnTo>
                  <a:lnTo>
                    <a:pt x="1020363" y="552571"/>
                  </a:lnTo>
                  <a:lnTo>
                    <a:pt x="1019586" y="558058"/>
                  </a:lnTo>
                </a:path>
                <a:path w="1021714" h="1106170">
                  <a:moveTo>
                    <a:pt x="1014877" y="586313"/>
                  </a:moveTo>
                  <a:lnTo>
                    <a:pt x="1014877" y="587882"/>
                  </a:lnTo>
                  <a:lnTo>
                    <a:pt x="1010945" y="605942"/>
                  </a:lnTo>
                  <a:lnTo>
                    <a:pt x="1008598" y="613790"/>
                  </a:lnTo>
                </a:path>
                <a:path w="1021714" h="1106170">
                  <a:moveTo>
                    <a:pt x="999957" y="640476"/>
                  </a:moveTo>
                  <a:lnTo>
                    <a:pt x="999957" y="641268"/>
                  </a:lnTo>
                  <a:lnTo>
                    <a:pt x="993678" y="659312"/>
                  </a:lnTo>
                  <a:lnTo>
                    <a:pt x="990539" y="667161"/>
                  </a:lnTo>
                </a:path>
                <a:path w="1021714" h="1106170">
                  <a:moveTo>
                    <a:pt x="979550" y="693069"/>
                  </a:moveTo>
                  <a:lnTo>
                    <a:pt x="977981" y="696208"/>
                  </a:lnTo>
                  <a:lnTo>
                    <a:pt x="969355" y="714253"/>
                  </a:lnTo>
                  <a:lnTo>
                    <a:pt x="966993" y="718184"/>
                  </a:lnTo>
                </a:path>
                <a:path w="1021714" h="1106170">
                  <a:moveTo>
                    <a:pt x="954435" y="743300"/>
                  </a:moveTo>
                  <a:lnTo>
                    <a:pt x="950518" y="750356"/>
                  </a:lnTo>
                  <a:lnTo>
                    <a:pt x="941100" y="768416"/>
                  </a:lnTo>
                </a:path>
                <a:path w="1021714" h="1106170">
                  <a:moveTo>
                    <a:pt x="926180" y="792739"/>
                  </a:moveTo>
                  <a:lnTo>
                    <a:pt x="918331" y="805296"/>
                  </a:lnTo>
                  <a:lnTo>
                    <a:pt x="911260" y="816284"/>
                  </a:lnTo>
                </a:path>
                <a:path w="1021714" h="1106170">
                  <a:moveTo>
                    <a:pt x="896355" y="839845"/>
                  </a:moveTo>
                  <a:lnTo>
                    <a:pt x="893993" y="843762"/>
                  </a:lnTo>
                  <a:lnTo>
                    <a:pt x="881435" y="864168"/>
                  </a:lnTo>
                </a:path>
                <a:path w="1021714" h="1106170">
                  <a:moveTo>
                    <a:pt x="893993" y="843762"/>
                  </a:moveTo>
                  <a:lnTo>
                    <a:pt x="881435" y="864168"/>
                  </a:lnTo>
                </a:path>
                <a:path w="1021714" h="1106170">
                  <a:moveTo>
                    <a:pt x="865738" y="887714"/>
                  </a:moveTo>
                  <a:lnTo>
                    <a:pt x="853973" y="903411"/>
                  </a:lnTo>
                  <a:lnTo>
                    <a:pt x="848471" y="910483"/>
                  </a:lnTo>
                </a:path>
                <a:path w="1021714" h="1106170">
                  <a:moveTo>
                    <a:pt x="831997" y="933236"/>
                  </a:moveTo>
                  <a:lnTo>
                    <a:pt x="825718" y="941085"/>
                  </a:lnTo>
                  <a:lnTo>
                    <a:pt x="813937" y="955212"/>
                  </a:lnTo>
                </a:path>
                <a:path w="1021714" h="1106170">
                  <a:moveTo>
                    <a:pt x="795893" y="977188"/>
                  </a:moveTo>
                  <a:lnTo>
                    <a:pt x="780973" y="992885"/>
                  </a:lnTo>
                  <a:lnTo>
                    <a:pt x="776264" y="997595"/>
                  </a:lnTo>
                </a:path>
                <a:path w="1021714" h="1106170">
                  <a:moveTo>
                    <a:pt x="756650" y="1018016"/>
                  </a:moveTo>
                  <a:lnTo>
                    <a:pt x="750356" y="1023503"/>
                  </a:lnTo>
                  <a:lnTo>
                    <a:pt x="735451" y="1036853"/>
                  </a:lnTo>
                </a:path>
                <a:path w="1021714" h="1106170">
                  <a:moveTo>
                    <a:pt x="712683" y="1054120"/>
                  </a:moveTo>
                  <a:lnTo>
                    <a:pt x="702487" y="1061968"/>
                  </a:lnTo>
                  <a:lnTo>
                    <a:pt x="689137" y="1069817"/>
                  </a:lnTo>
                </a:path>
                <a:path w="1021714" h="1106170">
                  <a:moveTo>
                    <a:pt x="664814" y="1083944"/>
                  </a:moveTo>
                  <a:lnTo>
                    <a:pt x="652256" y="1089431"/>
                  </a:lnTo>
                  <a:lnTo>
                    <a:pt x="638129" y="1094140"/>
                  </a:lnTo>
                </a:path>
                <a:path w="1021714" h="1106170">
                  <a:moveTo>
                    <a:pt x="611444" y="1101989"/>
                  </a:moveTo>
                  <a:lnTo>
                    <a:pt x="602025" y="1103558"/>
                  </a:lnTo>
                  <a:lnTo>
                    <a:pt x="590245" y="1105128"/>
                  </a:lnTo>
                  <a:lnTo>
                    <a:pt x="583189" y="1105921"/>
                  </a:lnTo>
                </a:path>
                <a:path w="1021714" h="1106170">
                  <a:moveTo>
                    <a:pt x="554918" y="1105921"/>
                  </a:moveTo>
                  <a:lnTo>
                    <a:pt x="545500" y="1105128"/>
                  </a:lnTo>
                  <a:lnTo>
                    <a:pt x="534512" y="1104351"/>
                  </a:lnTo>
                  <a:lnTo>
                    <a:pt x="526663" y="1103558"/>
                  </a:lnTo>
                </a:path>
                <a:path w="1021714" h="1106170">
                  <a:moveTo>
                    <a:pt x="499201" y="1097279"/>
                  </a:moveTo>
                  <a:lnTo>
                    <a:pt x="489783" y="1094933"/>
                  </a:lnTo>
                  <a:lnTo>
                    <a:pt x="478795" y="1091001"/>
                  </a:lnTo>
                  <a:lnTo>
                    <a:pt x="472516" y="1089431"/>
                  </a:lnTo>
                </a:path>
                <a:path w="1021714" h="1106170">
                  <a:moveTo>
                    <a:pt x="446608" y="1078443"/>
                  </a:moveTo>
                  <a:lnTo>
                    <a:pt x="421492" y="1065885"/>
                  </a:lnTo>
                </a:path>
                <a:path w="1021714" h="1106170">
                  <a:moveTo>
                    <a:pt x="397169" y="1051758"/>
                  </a:moveTo>
                  <a:lnTo>
                    <a:pt x="380679" y="1041562"/>
                  </a:lnTo>
                  <a:lnTo>
                    <a:pt x="373608" y="1036060"/>
                  </a:lnTo>
                </a:path>
                <a:path w="1021714" h="1106170">
                  <a:moveTo>
                    <a:pt x="350855" y="1018793"/>
                  </a:moveTo>
                  <a:lnTo>
                    <a:pt x="346146" y="1014877"/>
                  </a:lnTo>
                  <a:lnTo>
                    <a:pt x="328879" y="1000734"/>
                  </a:lnTo>
                </a:path>
                <a:path w="1021714" h="1106170">
                  <a:moveTo>
                    <a:pt x="346146" y="1014877"/>
                  </a:moveTo>
                  <a:lnTo>
                    <a:pt x="328879" y="1000734"/>
                  </a:lnTo>
                </a:path>
                <a:path w="1021714" h="1106170">
                  <a:moveTo>
                    <a:pt x="308472" y="981120"/>
                  </a:moveTo>
                  <a:lnTo>
                    <a:pt x="295915" y="969340"/>
                  </a:lnTo>
                  <a:lnTo>
                    <a:pt x="288066" y="961491"/>
                  </a:lnTo>
                </a:path>
                <a:path w="1021714" h="1106170">
                  <a:moveTo>
                    <a:pt x="268437" y="941085"/>
                  </a:moveTo>
                  <a:lnTo>
                    <a:pt x="263728" y="935598"/>
                  </a:lnTo>
                  <a:lnTo>
                    <a:pt x="249600" y="919901"/>
                  </a:lnTo>
                </a:path>
                <a:path w="1021714" h="1106170">
                  <a:moveTo>
                    <a:pt x="231556" y="898702"/>
                  </a:moveTo>
                  <a:lnTo>
                    <a:pt x="216636" y="880658"/>
                  </a:lnTo>
                  <a:lnTo>
                    <a:pt x="213497" y="876726"/>
                  </a:lnTo>
                </a:path>
                <a:path w="1021714" h="1106170">
                  <a:moveTo>
                    <a:pt x="196230" y="854750"/>
                  </a:moveTo>
                  <a:lnTo>
                    <a:pt x="178963" y="832774"/>
                  </a:lnTo>
                </a:path>
                <a:path w="1021714" h="1106170">
                  <a:moveTo>
                    <a:pt x="161696" y="810798"/>
                  </a:moveTo>
                  <a:lnTo>
                    <a:pt x="145206" y="788029"/>
                  </a:lnTo>
                </a:path>
                <a:path w="1021714" h="1106170">
                  <a:moveTo>
                    <a:pt x="128732" y="765276"/>
                  </a:moveTo>
                  <a:lnTo>
                    <a:pt x="124800" y="759774"/>
                  </a:lnTo>
                  <a:lnTo>
                    <a:pt x="112242" y="741730"/>
                  </a:lnTo>
                </a:path>
                <a:path w="1021714" h="1106170">
                  <a:moveTo>
                    <a:pt x="96545" y="718184"/>
                  </a:moveTo>
                  <a:lnTo>
                    <a:pt x="87127" y="702487"/>
                  </a:lnTo>
                  <a:lnTo>
                    <a:pt x="82417" y="693846"/>
                  </a:lnTo>
                </a:path>
                <a:path w="1021714" h="1106170">
                  <a:moveTo>
                    <a:pt x="67513" y="669523"/>
                  </a:moveTo>
                  <a:lnTo>
                    <a:pt x="54162" y="644408"/>
                  </a:lnTo>
                </a:path>
                <a:path w="1021714" h="1106170">
                  <a:moveTo>
                    <a:pt x="41605" y="619277"/>
                  </a:moveTo>
                  <a:lnTo>
                    <a:pt x="39258" y="614568"/>
                  </a:lnTo>
                  <a:lnTo>
                    <a:pt x="30617" y="593384"/>
                  </a:lnTo>
                </a:path>
                <a:path w="1021714" h="1106170">
                  <a:moveTo>
                    <a:pt x="20421" y="566699"/>
                  </a:moveTo>
                  <a:lnTo>
                    <a:pt x="16489" y="555711"/>
                  </a:lnTo>
                  <a:lnTo>
                    <a:pt x="12557" y="540014"/>
                  </a:lnTo>
                </a:path>
                <a:path w="1021714" h="1106170">
                  <a:moveTo>
                    <a:pt x="6278" y="512536"/>
                  </a:moveTo>
                  <a:lnTo>
                    <a:pt x="3139" y="496061"/>
                  </a:lnTo>
                  <a:lnTo>
                    <a:pt x="1569" y="484281"/>
                  </a:lnTo>
                </a:path>
                <a:path w="1021714" h="1106170">
                  <a:moveTo>
                    <a:pt x="0" y="456803"/>
                  </a:moveTo>
                  <a:lnTo>
                    <a:pt x="0" y="437189"/>
                  </a:lnTo>
                  <a:lnTo>
                    <a:pt x="792" y="428548"/>
                  </a:lnTo>
                </a:path>
                <a:path w="1021714" h="1106170">
                  <a:moveTo>
                    <a:pt x="3931" y="400293"/>
                  </a:moveTo>
                  <a:lnTo>
                    <a:pt x="8641" y="378317"/>
                  </a:lnTo>
                  <a:lnTo>
                    <a:pt x="10210" y="372831"/>
                  </a:lnTo>
                </a:path>
                <a:path w="1021714" h="1106170">
                  <a:moveTo>
                    <a:pt x="20421" y="346146"/>
                  </a:moveTo>
                  <a:lnTo>
                    <a:pt x="32186" y="320238"/>
                  </a:lnTo>
                </a:path>
                <a:path w="1021714" h="1106170">
                  <a:moveTo>
                    <a:pt x="47106" y="295915"/>
                  </a:moveTo>
                  <a:lnTo>
                    <a:pt x="49453" y="291983"/>
                  </a:lnTo>
                </a:path>
              </a:pathLst>
            </a:custGeom>
            <a:ln w="13081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495126" y="4479640"/>
              <a:ext cx="84455" cy="89535"/>
            </a:xfrm>
            <a:custGeom>
              <a:avLst/>
              <a:gdLst/>
              <a:ahLst/>
              <a:cxnLst/>
              <a:rect l="l" t="t" r="r" b="b"/>
              <a:pathLst>
                <a:path w="84454" h="89535">
                  <a:moveTo>
                    <a:pt x="83987" y="0"/>
                  </a:moveTo>
                  <a:lnTo>
                    <a:pt x="0" y="48676"/>
                  </a:lnTo>
                  <a:lnTo>
                    <a:pt x="46314" y="89489"/>
                  </a:lnTo>
                  <a:lnTo>
                    <a:pt x="83987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/>
          <p:cNvSpPr txBox="1"/>
          <p:nvPr/>
        </p:nvSpPr>
        <p:spPr>
          <a:xfrm>
            <a:off x="3034308" y="6094069"/>
            <a:ext cx="21609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8.61: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Negative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14400" y="6620446"/>
            <a:ext cx="635508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structure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Dijkstra’s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maintain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estimate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source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901696" y="6744894"/>
            <a:ext cx="631952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5">
                <a:latin typeface="Times New Roman"/>
                <a:cs typeface="Times New Roman"/>
              </a:rPr>
              <a:t>vertex </a:t>
            </a:r>
            <a:r>
              <a:rPr dirty="0" sz="1200" spc="-5">
                <a:latin typeface="Times New Roman"/>
                <a:cs typeface="Times New Roman"/>
              </a:rPr>
              <a:t>to each </a:t>
            </a:r>
            <a:r>
              <a:rPr dirty="0" sz="1200" spc="-15">
                <a:latin typeface="Times New Roman"/>
                <a:cs typeface="Times New Roman"/>
              </a:rPr>
              <a:t>vertex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 graph.</a:t>
            </a:r>
            <a:r>
              <a:rPr dirty="0" sz="1200" spc="-5">
                <a:latin typeface="Times New Roman"/>
                <a:cs typeface="Times New Roman"/>
              </a:rPr>
              <a:t> Call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estimate </a:t>
            </a:r>
            <a:r>
              <a:rPr dirty="0" sz="1200" spc="-15">
                <a:latin typeface="Lucida Sans Unicode"/>
                <a:cs typeface="Lucida Sans Unicode"/>
              </a:rPr>
              <a:t>d</a:t>
            </a:r>
            <a:r>
              <a:rPr dirty="0" sz="1200" spc="-15">
                <a:latin typeface="Garamond"/>
                <a:cs typeface="Garamond"/>
              </a:rPr>
              <a:t>[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5">
                <a:latin typeface="Garamond"/>
                <a:cs typeface="Garamond"/>
              </a:rPr>
              <a:t>]</a:t>
            </a:r>
            <a:r>
              <a:rPr dirty="0" sz="1200" spc="-15">
                <a:latin typeface="Times New Roman"/>
                <a:cs typeface="Times New Roman"/>
              </a:rPr>
              <a:t>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Intuitively,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Garamond"/>
                <a:cs typeface="Garamond"/>
              </a:rPr>
              <a:t>] </a:t>
            </a:r>
            <a:r>
              <a:rPr dirty="0" sz="1200" spc="-10">
                <a:latin typeface="Times New Roman"/>
                <a:cs typeface="Times New Roman"/>
              </a:rPr>
              <a:t>will the length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 </a:t>
            </a:r>
            <a:r>
              <a:rPr dirty="0" sz="1200" spc="-10" i="1">
                <a:latin typeface="Times New Roman"/>
                <a:cs typeface="Times New Roman"/>
              </a:rPr>
              <a:t>that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the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algorithm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knows of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always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greater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equal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01695" y="7111796"/>
            <a:ext cx="6067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shortest path distance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I.e.,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δ</a:t>
            </a:r>
            <a:r>
              <a:rPr dirty="0" sz="1200" spc="-10">
                <a:latin typeface="Garamond"/>
                <a:cs typeface="Garamond"/>
              </a:rPr>
              <a:t>(</a:t>
            </a:r>
            <a:r>
              <a:rPr dirty="0" sz="1200" spc="-10">
                <a:latin typeface="Lucida Sans Unicode"/>
                <a:cs typeface="Lucida Sans Unicode"/>
              </a:rPr>
              <a:t>u,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Initially,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paths, 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∞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01702" y="7228613"/>
            <a:ext cx="6407785" cy="1755139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1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25">
                <a:latin typeface="Times New Roman"/>
                <a:cs typeface="Times New Roman"/>
              </a:rPr>
              <a:t>ov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 spc="-5">
                <a:latin typeface="Times New Roman"/>
                <a:cs typeface="Times New Roman"/>
              </a:rPr>
              <a:t>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146685" indent="-635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attempts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update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 of </a:t>
            </a:r>
            <a:r>
              <a:rPr dirty="0" sz="1200" spc="-10">
                <a:latin typeface="Times New Roman"/>
                <a:cs typeface="Times New Roman"/>
              </a:rPr>
              <a:t>updating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estimates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relaxation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relaxation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works.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200" spc="-20">
                <a:latin typeface="Times New Roman"/>
                <a:cs typeface="Times New Roman"/>
              </a:rPr>
              <a:t>Intuitively,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reached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optimum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push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little </a:t>
            </a:r>
            <a:r>
              <a:rPr dirty="0" sz="1200" spc="-5">
                <a:latin typeface="Times New Roman"/>
                <a:cs typeface="Times New Roman"/>
              </a:rPr>
              <a:t> closer to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optimum.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particular,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discover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 from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shorter than </a:t>
            </a:r>
            <a:r>
              <a:rPr dirty="0" sz="1200" spc="-15">
                <a:latin typeface="Lucida Sans Unicode"/>
                <a:cs typeface="Lucida Sans Unicode"/>
              </a:rPr>
              <a:t>d</a:t>
            </a:r>
            <a:r>
              <a:rPr dirty="0" sz="1200" spc="-15">
                <a:latin typeface="Garamond"/>
                <a:cs typeface="Garamond"/>
              </a:rPr>
              <a:t>[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5">
                <a:latin typeface="Garamond"/>
                <a:cs typeface="Garamond"/>
              </a:rPr>
              <a:t>]</a:t>
            </a:r>
            <a:r>
              <a:rPr dirty="0" sz="1200" spc="-1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 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update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d</a:t>
            </a:r>
            <a:r>
              <a:rPr dirty="0" sz="1200" spc="-15">
                <a:latin typeface="Garamond"/>
                <a:cs typeface="Garamond"/>
              </a:rPr>
              <a:t>[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5">
                <a:latin typeface="Garamond"/>
                <a:cs typeface="Garamond"/>
              </a:rPr>
              <a:t>]</a:t>
            </a:r>
            <a:r>
              <a:rPr dirty="0" sz="1200" spc="-1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</a:t>
            </a:r>
            <a:r>
              <a:rPr dirty="0" sz="1200" spc="-10">
                <a:latin typeface="Times New Roman"/>
                <a:cs typeface="Times New Roman"/>
              </a:rPr>
              <a:t>notion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common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optimization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algorithms.</a:t>
            </a:r>
            <a:endParaRPr sz="1200">
              <a:latin typeface="Times New Roman"/>
              <a:cs typeface="Times New Roman"/>
            </a:endParaRPr>
          </a:p>
          <a:p>
            <a:pPr marL="12700" marR="19685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Consider an edge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5">
                <a:latin typeface="Times New Roman"/>
                <a:cs typeface="Times New Roman"/>
              </a:rPr>
              <a:t>vertex </a:t>
            </a:r>
            <a:r>
              <a:rPr dirty="0" sz="1200" spc="20">
                <a:latin typeface="Lucida Sans Unicode"/>
                <a:cs typeface="Lucida Sans Unicode"/>
              </a:rPr>
              <a:t>u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30">
                <a:latin typeface="Lucida Sans Unicode"/>
                <a:cs typeface="Lucida Sans Unicode"/>
              </a:rPr>
              <a:t>v </a:t>
            </a:r>
            <a:r>
              <a:rPr dirty="0" sz="1200" spc="-10">
                <a:latin typeface="Times New Roman"/>
                <a:cs typeface="Times New Roman"/>
              </a:rPr>
              <a:t>whose weight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30">
                <a:latin typeface="Lucida Sans Unicode"/>
                <a:cs typeface="Lucida Sans Unicode"/>
              </a:rPr>
              <a:t>w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u, 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Suppose that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already </a:t>
            </a:r>
            <a:r>
              <a:rPr dirty="0" sz="1200" spc="-10">
                <a:latin typeface="Times New Roman"/>
                <a:cs typeface="Times New Roman"/>
              </a:rPr>
              <a:t>computed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current estimates 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d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d</a:t>
            </a:r>
            <a:r>
              <a:rPr dirty="0" sz="1200" spc="-15">
                <a:latin typeface="Garamond"/>
                <a:cs typeface="Garamond"/>
              </a:rPr>
              <a:t>[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5">
                <a:latin typeface="Garamond"/>
                <a:cs typeface="Garamond"/>
              </a:rPr>
              <a:t>]</a:t>
            </a:r>
            <a:r>
              <a:rPr dirty="0" sz="1200" spc="-1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d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taking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6426200" cy="11639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185535" algn="l"/>
              </a:tabLst>
            </a:pPr>
            <a:r>
              <a:rPr dirty="0" sz="1200" spc="-10">
                <a:latin typeface="Times New Roman"/>
                <a:cs typeface="Times New Roman"/>
              </a:rPr>
              <a:t>8.6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HO</a:t>
            </a:r>
            <a:r>
              <a:rPr dirty="0" sz="1200" spc="-8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TEST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14">
                <a:latin typeface="Times New Roman"/>
                <a:cs typeface="Times New Roman"/>
              </a:rPr>
              <a:t>P</a:t>
            </a:r>
            <a:r>
              <a:rPr dirty="0" sz="1200" spc="-14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15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73025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Garamond"/>
                <a:cs typeface="Garamond"/>
              </a:rPr>
              <a:t>(</a:t>
            </a:r>
            <a:r>
              <a:rPr dirty="0" sz="1200" spc="25">
                <a:latin typeface="Lucida Sans Unicode"/>
                <a:cs typeface="Lucida Sans Unicode"/>
              </a:rPr>
              <a:t>u,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length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d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w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u,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 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better than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existing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length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 spc="-5">
                <a:latin typeface="Times New Roman"/>
                <a:cs typeface="Times New Roman"/>
              </a:rPr>
              <a:t> it.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relaxation process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illustrated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figure.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 spc="-5">
                <a:latin typeface="Times New Roman"/>
                <a:cs typeface="Times New Roman"/>
              </a:rPr>
              <a:t> also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remember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back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source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updating the</a:t>
            </a:r>
            <a:r>
              <a:rPr dirty="0" sz="1200" spc="-5">
                <a:latin typeface="Times New Roman"/>
                <a:cs typeface="Times New Roman"/>
              </a:rPr>
              <a:t> predecessor </a:t>
            </a:r>
            <a:r>
              <a:rPr dirty="0" sz="1200" spc="-15">
                <a:latin typeface="Times New Roman"/>
                <a:cs typeface="Times New Roman"/>
              </a:rPr>
              <a:t>pointer.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072895" y="2067758"/>
            <a:ext cx="2656205" cy="1722120"/>
            <a:chOff x="1072895" y="2067758"/>
            <a:chExt cx="2656205" cy="1722120"/>
          </a:xfrm>
        </p:grpSpPr>
        <p:sp>
          <p:nvSpPr>
            <p:cNvPr id="4" name="object 4"/>
            <p:cNvSpPr/>
            <p:nvPr/>
          </p:nvSpPr>
          <p:spPr>
            <a:xfrm>
              <a:off x="1072895" y="2067758"/>
              <a:ext cx="2656205" cy="1722120"/>
            </a:xfrm>
            <a:custGeom>
              <a:avLst/>
              <a:gdLst/>
              <a:ahLst/>
              <a:cxnLst/>
              <a:rect l="l" t="t" r="r" b="b"/>
              <a:pathLst>
                <a:path w="2656204" h="1722120">
                  <a:moveTo>
                    <a:pt x="2655981" y="0"/>
                  </a:moveTo>
                  <a:lnTo>
                    <a:pt x="0" y="0"/>
                  </a:lnTo>
                  <a:lnTo>
                    <a:pt x="0" y="1721921"/>
                  </a:lnTo>
                  <a:lnTo>
                    <a:pt x="2655981" y="1721921"/>
                  </a:lnTo>
                  <a:lnTo>
                    <a:pt x="265598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140268" y="2399700"/>
              <a:ext cx="1715770" cy="956944"/>
            </a:xfrm>
            <a:custGeom>
              <a:avLst/>
              <a:gdLst/>
              <a:ahLst/>
              <a:cxnLst/>
              <a:rect l="l" t="t" r="r" b="b"/>
              <a:pathLst>
                <a:path w="1715770" h="956945">
                  <a:moveTo>
                    <a:pt x="0" y="135361"/>
                  </a:moveTo>
                  <a:lnTo>
                    <a:pt x="7766" y="88757"/>
                  </a:lnTo>
                  <a:lnTo>
                    <a:pt x="31068" y="48813"/>
                  </a:lnTo>
                  <a:lnTo>
                    <a:pt x="67685" y="18851"/>
                  </a:lnTo>
                  <a:lnTo>
                    <a:pt x="112070" y="2209"/>
                  </a:lnTo>
                  <a:lnTo>
                    <a:pt x="135372" y="0"/>
                  </a:lnTo>
                  <a:lnTo>
                    <a:pt x="158674" y="2209"/>
                  </a:lnTo>
                  <a:lnTo>
                    <a:pt x="203057" y="18851"/>
                  </a:lnTo>
                  <a:lnTo>
                    <a:pt x="238565" y="48813"/>
                  </a:lnTo>
                  <a:lnTo>
                    <a:pt x="261867" y="88757"/>
                  </a:lnTo>
                  <a:lnTo>
                    <a:pt x="270744" y="135361"/>
                  </a:lnTo>
                  <a:lnTo>
                    <a:pt x="268525" y="158663"/>
                  </a:lnTo>
                  <a:lnTo>
                    <a:pt x="251880" y="203057"/>
                  </a:lnTo>
                  <a:lnTo>
                    <a:pt x="221921" y="238566"/>
                  </a:lnTo>
                  <a:lnTo>
                    <a:pt x="180865" y="262966"/>
                  </a:lnTo>
                  <a:lnTo>
                    <a:pt x="135372" y="270738"/>
                  </a:lnTo>
                  <a:lnTo>
                    <a:pt x="112070" y="268513"/>
                  </a:lnTo>
                  <a:lnTo>
                    <a:pt x="67685" y="252983"/>
                  </a:lnTo>
                  <a:lnTo>
                    <a:pt x="31068" y="221909"/>
                  </a:lnTo>
                  <a:lnTo>
                    <a:pt x="7766" y="181965"/>
                  </a:lnTo>
                  <a:lnTo>
                    <a:pt x="0" y="135361"/>
                  </a:lnTo>
                </a:path>
                <a:path w="1715770" h="956945">
                  <a:moveTo>
                    <a:pt x="623593" y="821100"/>
                  </a:moveTo>
                  <a:lnTo>
                    <a:pt x="631365" y="774496"/>
                  </a:lnTo>
                  <a:lnTo>
                    <a:pt x="654667" y="734552"/>
                  </a:lnTo>
                  <a:lnTo>
                    <a:pt x="691289" y="703493"/>
                  </a:lnTo>
                  <a:lnTo>
                    <a:pt x="734555" y="687948"/>
                  </a:lnTo>
                  <a:lnTo>
                    <a:pt x="757857" y="685739"/>
                  </a:lnTo>
                  <a:lnTo>
                    <a:pt x="782272" y="687948"/>
                  </a:lnTo>
                  <a:lnTo>
                    <a:pt x="825553" y="703493"/>
                  </a:lnTo>
                  <a:lnTo>
                    <a:pt x="862160" y="734552"/>
                  </a:lnTo>
                  <a:lnTo>
                    <a:pt x="885462" y="774496"/>
                  </a:lnTo>
                  <a:lnTo>
                    <a:pt x="893234" y="821100"/>
                  </a:lnTo>
                  <a:lnTo>
                    <a:pt x="892122" y="844402"/>
                  </a:lnTo>
                  <a:lnTo>
                    <a:pt x="875480" y="888796"/>
                  </a:lnTo>
                  <a:lnTo>
                    <a:pt x="845518" y="924305"/>
                  </a:lnTo>
                  <a:lnTo>
                    <a:pt x="804461" y="948705"/>
                  </a:lnTo>
                  <a:lnTo>
                    <a:pt x="757857" y="956477"/>
                  </a:lnTo>
                  <a:lnTo>
                    <a:pt x="734555" y="954252"/>
                  </a:lnTo>
                  <a:lnTo>
                    <a:pt x="691289" y="938723"/>
                  </a:lnTo>
                  <a:lnTo>
                    <a:pt x="654667" y="907648"/>
                  </a:lnTo>
                  <a:lnTo>
                    <a:pt x="631365" y="867704"/>
                  </a:lnTo>
                  <a:lnTo>
                    <a:pt x="623593" y="821100"/>
                  </a:lnTo>
                </a:path>
                <a:path w="1715770" h="956945">
                  <a:moveTo>
                    <a:pt x="1444709" y="821100"/>
                  </a:moveTo>
                  <a:lnTo>
                    <a:pt x="1453594" y="774496"/>
                  </a:lnTo>
                  <a:lnTo>
                    <a:pt x="1476896" y="734552"/>
                  </a:lnTo>
                  <a:lnTo>
                    <a:pt x="1512390" y="703493"/>
                  </a:lnTo>
                  <a:lnTo>
                    <a:pt x="1556784" y="687948"/>
                  </a:lnTo>
                  <a:lnTo>
                    <a:pt x="1580086" y="685739"/>
                  </a:lnTo>
                  <a:lnTo>
                    <a:pt x="1604500" y="687948"/>
                  </a:lnTo>
                  <a:lnTo>
                    <a:pt x="1647767" y="703493"/>
                  </a:lnTo>
                  <a:lnTo>
                    <a:pt x="1684388" y="734552"/>
                  </a:lnTo>
                  <a:lnTo>
                    <a:pt x="1707690" y="774496"/>
                  </a:lnTo>
                  <a:lnTo>
                    <a:pt x="1715447" y="821100"/>
                  </a:lnTo>
                  <a:lnTo>
                    <a:pt x="1713238" y="844402"/>
                  </a:lnTo>
                  <a:lnTo>
                    <a:pt x="1697708" y="888796"/>
                  </a:lnTo>
                  <a:lnTo>
                    <a:pt x="1667746" y="924305"/>
                  </a:lnTo>
                  <a:lnTo>
                    <a:pt x="1626690" y="948705"/>
                  </a:lnTo>
                  <a:lnTo>
                    <a:pt x="1580086" y="956477"/>
                  </a:lnTo>
                  <a:lnTo>
                    <a:pt x="1556784" y="954252"/>
                  </a:lnTo>
                  <a:lnTo>
                    <a:pt x="1512390" y="938723"/>
                  </a:lnTo>
                  <a:lnTo>
                    <a:pt x="1476896" y="907648"/>
                  </a:lnTo>
                  <a:lnTo>
                    <a:pt x="1453594" y="867704"/>
                  </a:lnTo>
                  <a:lnTo>
                    <a:pt x="1444709" y="821100"/>
                  </a:lnTo>
                </a:path>
                <a:path w="1715770" h="956945">
                  <a:moveTo>
                    <a:pt x="217483" y="243001"/>
                  </a:moveTo>
                  <a:lnTo>
                    <a:pt x="609176" y="690173"/>
                  </a:lnTo>
                </a:path>
              </a:pathLst>
            </a:custGeom>
            <a:ln w="1849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02841" y="3045495"/>
              <a:ext cx="88772" cy="93192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033503" y="3220801"/>
              <a:ext cx="486409" cy="0"/>
            </a:xfrm>
            <a:custGeom>
              <a:avLst/>
              <a:gdLst/>
              <a:ahLst/>
              <a:cxnLst/>
              <a:rect l="l" t="t" r="r" b="b"/>
              <a:pathLst>
                <a:path w="486410" h="0">
                  <a:moveTo>
                    <a:pt x="0" y="0"/>
                  </a:moveTo>
                  <a:lnTo>
                    <a:pt x="486003" y="0"/>
                  </a:lnTo>
                </a:path>
              </a:pathLst>
            </a:custGeom>
            <a:ln w="1849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98430" y="3177535"/>
              <a:ext cx="86547" cy="8654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11013" y="2535062"/>
              <a:ext cx="1598295" cy="0"/>
            </a:xfrm>
            <a:custGeom>
              <a:avLst/>
              <a:gdLst/>
              <a:ahLst/>
              <a:cxnLst/>
              <a:rect l="l" t="t" r="r" b="b"/>
              <a:pathLst>
                <a:path w="1598295" h="0">
                  <a:moveTo>
                    <a:pt x="0" y="0"/>
                  </a:moveTo>
                  <a:lnTo>
                    <a:pt x="1597834" y="0"/>
                  </a:lnTo>
                </a:path>
              </a:pathLst>
            </a:custGeom>
            <a:ln w="1849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87771" y="2491796"/>
              <a:ext cx="85435" cy="86547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073206" y="2399700"/>
              <a:ext cx="271145" cy="271145"/>
            </a:xfrm>
            <a:custGeom>
              <a:avLst/>
              <a:gdLst/>
              <a:ahLst/>
              <a:cxnLst/>
              <a:rect l="l" t="t" r="r" b="b"/>
              <a:pathLst>
                <a:path w="271145" h="271144">
                  <a:moveTo>
                    <a:pt x="0" y="135361"/>
                  </a:moveTo>
                  <a:lnTo>
                    <a:pt x="8884" y="88757"/>
                  </a:lnTo>
                  <a:lnTo>
                    <a:pt x="32186" y="48813"/>
                  </a:lnTo>
                  <a:lnTo>
                    <a:pt x="67680" y="18851"/>
                  </a:lnTo>
                  <a:lnTo>
                    <a:pt x="112074" y="2209"/>
                  </a:lnTo>
                  <a:lnTo>
                    <a:pt x="135376" y="0"/>
                  </a:lnTo>
                  <a:lnTo>
                    <a:pt x="158678" y="2209"/>
                  </a:lnTo>
                  <a:lnTo>
                    <a:pt x="203057" y="18851"/>
                  </a:lnTo>
                  <a:lnTo>
                    <a:pt x="239679" y="48813"/>
                  </a:lnTo>
                  <a:lnTo>
                    <a:pt x="262981" y="88757"/>
                  </a:lnTo>
                  <a:lnTo>
                    <a:pt x="270738" y="135361"/>
                  </a:lnTo>
                  <a:lnTo>
                    <a:pt x="268528" y="158663"/>
                  </a:lnTo>
                  <a:lnTo>
                    <a:pt x="252983" y="203057"/>
                  </a:lnTo>
                  <a:lnTo>
                    <a:pt x="221924" y="238566"/>
                  </a:lnTo>
                  <a:lnTo>
                    <a:pt x="181980" y="262966"/>
                  </a:lnTo>
                  <a:lnTo>
                    <a:pt x="135376" y="270738"/>
                  </a:lnTo>
                  <a:lnTo>
                    <a:pt x="112074" y="268513"/>
                  </a:lnTo>
                  <a:lnTo>
                    <a:pt x="67680" y="252983"/>
                  </a:lnTo>
                  <a:lnTo>
                    <a:pt x="32186" y="221909"/>
                  </a:lnTo>
                  <a:lnTo>
                    <a:pt x="8884" y="181965"/>
                  </a:lnTo>
                  <a:lnTo>
                    <a:pt x="0" y="135361"/>
                  </a:lnTo>
                </a:path>
              </a:pathLst>
            </a:custGeom>
            <a:ln w="1849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812450" y="2701513"/>
              <a:ext cx="284480" cy="419734"/>
            </a:xfrm>
            <a:custGeom>
              <a:avLst/>
              <a:gdLst/>
              <a:ahLst/>
              <a:cxnLst/>
              <a:rect l="l" t="t" r="r" b="b"/>
              <a:pathLst>
                <a:path w="284480" h="419735">
                  <a:moveTo>
                    <a:pt x="0" y="419435"/>
                  </a:moveTo>
                  <a:lnTo>
                    <a:pt x="284058" y="0"/>
                  </a:lnTo>
                </a:path>
              </a:pathLst>
            </a:custGeom>
            <a:ln w="1849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48792" y="2647137"/>
              <a:ext cx="84338" cy="95432"/>
            </a:xfrm>
            <a:prstGeom prst="rect">
              <a:avLst/>
            </a:prstGeom>
          </p:spPr>
        </p:pic>
      </p:grpSp>
      <p:sp>
        <p:nvSpPr>
          <p:cNvPr id="14" name="object 14"/>
          <p:cNvSpPr txBox="1"/>
          <p:nvPr/>
        </p:nvSpPr>
        <p:spPr>
          <a:xfrm>
            <a:off x="2252090" y="2979618"/>
            <a:ext cx="104139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300" spc="-5" i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3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806894" y="2676696"/>
            <a:ext cx="104139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300" spc="-5" i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3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00750" y="2676696"/>
            <a:ext cx="104139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300" spc="-5" i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3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171089" y="2261702"/>
            <a:ext cx="19558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300" spc="-5" i="1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13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06839" y="2409280"/>
            <a:ext cx="9525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300" spc="-5" i="1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3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657103" y="3092798"/>
            <a:ext cx="104139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300" spc="-5" i="1">
                <a:solidFill>
                  <a:srgbClr val="FFFFFF"/>
                </a:solidFill>
                <a:latin typeface="Arial"/>
                <a:cs typeface="Arial"/>
              </a:rPr>
              <a:t>u</a:t>
            </a:r>
            <a:endParaRPr sz="13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151988" y="2409280"/>
            <a:ext cx="9525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300" spc="-5" i="1">
                <a:solidFill>
                  <a:srgbClr val="FFFFFF"/>
                </a:solidFill>
                <a:latin typeface="Arial"/>
                <a:cs typeface="Arial"/>
              </a:rPr>
              <a:t>v</a:t>
            </a:r>
            <a:endParaRPr sz="13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869276" y="3092798"/>
            <a:ext cx="58419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300" spc="-5" i="1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3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386354" y="3508901"/>
            <a:ext cx="473709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300" spc="-5" i="1">
                <a:solidFill>
                  <a:srgbClr val="FFFFFF"/>
                </a:solidFill>
                <a:latin typeface="Arial"/>
                <a:cs typeface="Arial"/>
              </a:rPr>
              <a:t>d[u]=4</a:t>
            </a:r>
            <a:endParaRPr sz="13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970008" y="2095264"/>
            <a:ext cx="55626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300" spc="-5" i="1">
                <a:solidFill>
                  <a:srgbClr val="FFFFFF"/>
                </a:solidFill>
                <a:latin typeface="Arial"/>
                <a:cs typeface="Arial"/>
              </a:rPr>
              <a:t>d[v]=10</a:t>
            </a:r>
            <a:endParaRPr sz="13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486915" y="3854705"/>
            <a:ext cx="52451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52495" algn="l"/>
              </a:tabLst>
            </a:pP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8.62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40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igur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8.63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40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4343400" y="2067758"/>
            <a:ext cx="3213100" cy="1722120"/>
            <a:chOff x="4343400" y="2067758"/>
            <a:chExt cx="3213100" cy="1722120"/>
          </a:xfrm>
        </p:grpSpPr>
        <p:sp>
          <p:nvSpPr>
            <p:cNvPr id="26" name="object 26"/>
            <p:cNvSpPr/>
            <p:nvPr/>
          </p:nvSpPr>
          <p:spPr>
            <a:xfrm>
              <a:off x="4343400" y="2067758"/>
              <a:ext cx="3213100" cy="1722120"/>
            </a:xfrm>
            <a:custGeom>
              <a:avLst/>
              <a:gdLst/>
              <a:ahLst/>
              <a:cxnLst/>
              <a:rect l="l" t="t" r="r" b="b"/>
              <a:pathLst>
                <a:path w="3213100" h="1722120">
                  <a:moveTo>
                    <a:pt x="3212591" y="0"/>
                  </a:moveTo>
                  <a:lnTo>
                    <a:pt x="0" y="0"/>
                  </a:lnTo>
                  <a:lnTo>
                    <a:pt x="0" y="1721921"/>
                  </a:lnTo>
                  <a:lnTo>
                    <a:pt x="3212591" y="1721921"/>
                  </a:lnTo>
                  <a:lnTo>
                    <a:pt x="321259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412178" y="2360640"/>
              <a:ext cx="1766570" cy="984250"/>
            </a:xfrm>
            <a:custGeom>
              <a:avLst/>
              <a:gdLst/>
              <a:ahLst/>
              <a:cxnLst/>
              <a:rect l="l" t="t" r="r" b="b"/>
              <a:pathLst>
                <a:path w="1766570" h="984250">
                  <a:moveTo>
                    <a:pt x="0" y="139278"/>
                  </a:moveTo>
                  <a:lnTo>
                    <a:pt x="9128" y="92476"/>
                  </a:lnTo>
                  <a:lnTo>
                    <a:pt x="33101" y="50231"/>
                  </a:lnTo>
                  <a:lnTo>
                    <a:pt x="69631" y="19400"/>
                  </a:lnTo>
                  <a:lnTo>
                    <a:pt x="115305" y="2270"/>
                  </a:lnTo>
                  <a:lnTo>
                    <a:pt x="139278" y="0"/>
                  </a:lnTo>
                  <a:lnTo>
                    <a:pt x="163250" y="2270"/>
                  </a:lnTo>
                  <a:lnTo>
                    <a:pt x="208925" y="19400"/>
                  </a:lnTo>
                  <a:lnTo>
                    <a:pt x="246598" y="50231"/>
                  </a:lnTo>
                  <a:lnTo>
                    <a:pt x="270570" y="92476"/>
                  </a:lnTo>
                  <a:lnTo>
                    <a:pt x="278556" y="139278"/>
                  </a:lnTo>
                  <a:lnTo>
                    <a:pt x="276285" y="164393"/>
                  </a:lnTo>
                  <a:lnTo>
                    <a:pt x="260299" y="208925"/>
                  </a:lnTo>
                  <a:lnTo>
                    <a:pt x="229468" y="246598"/>
                  </a:lnTo>
                  <a:lnTo>
                    <a:pt x="187223" y="270570"/>
                  </a:lnTo>
                  <a:lnTo>
                    <a:pt x="139278" y="278556"/>
                  </a:lnTo>
                  <a:lnTo>
                    <a:pt x="115305" y="276285"/>
                  </a:lnTo>
                  <a:lnTo>
                    <a:pt x="69631" y="260299"/>
                  </a:lnTo>
                  <a:lnTo>
                    <a:pt x="33101" y="229468"/>
                  </a:lnTo>
                  <a:lnTo>
                    <a:pt x="9128" y="187223"/>
                  </a:lnTo>
                  <a:lnTo>
                    <a:pt x="0" y="139278"/>
                  </a:lnTo>
                </a:path>
                <a:path w="1766570" h="984250">
                  <a:moveTo>
                    <a:pt x="642762" y="844829"/>
                  </a:moveTo>
                  <a:lnTo>
                    <a:pt x="650747" y="798027"/>
                  </a:lnTo>
                  <a:lnTo>
                    <a:pt x="675863" y="755782"/>
                  </a:lnTo>
                  <a:lnTo>
                    <a:pt x="712409" y="724966"/>
                  </a:lnTo>
                  <a:lnTo>
                    <a:pt x="758068" y="707837"/>
                  </a:lnTo>
                  <a:lnTo>
                    <a:pt x="780897" y="705551"/>
                  </a:lnTo>
                  <a:lnTo>
                    <a:pt x="804870" y="707837"/>
                  </a:lnTo>
                  <a:lnTo>
                    <a:pt x="850544" y="724966"/>
                  </a:lnTo>
                  <a:lnTo>
                    <a:pt x="887074" y="755782"/>
                  </a:lnTo>
                  <a:lnTo>
                    <a:pt x="911047" y="798027"/>
                  </a:lnTo>
                  <a:lnTo>
                    <a:pt x="920191" y="844829"/>
                  </a:lnTo>
                  <a:lnTo>
                    <a:pt x="917905" y="868817"/>
                  </a:lnTo>
                  <a:lnTo>
                    <a:pt x="900775" y="914476"/>
                  </a:lnTo>
                  <a:lnTo>
                    <a:pt x="869960" y="952149"/>
                  </a:lnTo>
                  <a:lnTo>
                    <a:pt x="828857" y="976121"/>
                  </a:lnTo>
                  <a:lnTo>
                    <a:pt x="780897" y="984122"/>
                  </a:lnTo>
                  <a:lnTo>
                    <a:pt x="758068" y="981836"/>
                  </a:lnTo>
                  <a:lnTo>
                    <a:pt x="712409" y="965850"/>
                  </a:lnTo>
                  <a:lnTo>
                    <a:pt x="675863" y="935034"/>
                  </a:lnTo>
                  <a:lnTo>
                    <a:pt x="650747" y="892789"/>
                  </a:lnTo>
                  <a:lnTo>
                    <a:pt x="642762" y="844829"/>
                  </a:lnTo>
                </a:path>
                <a:path w="1766570" h="984250">
                  <a:moveTo>
                    <a:pt x="1487606" y="844829"/>
                  </a:moveTo>
                  <a:lnTo>
                    <a:pt x="1495592" y="798027"/>
                  </a:lnTo>
                  <a:lnTo>
                    <a:pt x="1519565" y="755782"/>
                  </a:lnTo>
                  <a:lnTo>
                    <a:pt x="1557238" y="724966"/>
                  </a:lnTo>
                  <a:lnTo>
                    <a:pt x="1602912" y="707837"/>
                  </a:lnTo>
                  <a:lnTo>
                    <a:pt x="1626885" y="705551"/>
                  </a:lnTo>
                  <a:lnTo>
                    <a:pt x="1650857" y="707837"/>
                  </a:lnTo>
                  <a:lnTo>
                    <a:pt x="1696532" y="724966"/>
                  </a:lnTo>
                  <a:lnTo>
                    <a:pt x="1733062" y="755782"/>
                  </a:lnTo>
                  <a:lnTo>
                    <a:pt x="1757034" y="798027"/>
                  </a:lnTo>
                  <a:lnTo>
                    <a:pt x="1766163" y="844829"/>
                  </a:lnTo>
                  <a:lnTo>
                    <a:pt x="1763892" y="868817"/>
                  </a:lnTo>
                  <a:lnTo>
                    <a:pt x="1746763" y="914476"/>
                  </a:lnTo>
                  <a:lnTo>
                    <a:pt x="1715932" y="952149"/>
                  </a:lnTo>
                  <a:lnTo>
                    <a:pt x="1673687" y="976121"/>
                  </a:lnTo>
                  <a:lnTo>
                    <a:pt x="1626885" y="984122"/>
                  </a:lnTo>
                  <a:lnTo>
                    <a:pt x="1602912" y="981836"/>
                  </a:lnTo>
                  <a:lnTo>
                    <a:pt x="1557238" y="965850"/>
                  </a:lnTo>
                  <a:lnTo>
                    <a:pt x="1519565" y="935034"/>
                  </a:lnTo>
                  <a:lnTo>
                    <a:pt x="1495592" y="892789"/>
                  </a:lnTo>
                  <a:lnTo>
                    <a:pt x="1487606" y="844829"/>
                  </a:lnTo>
                </a:path>
                <a:path w="1766570" h="984250">
                  <a:moveTo>
                    <a:pt x="223768" y="250027"/>
                  </a:moveTo>
                  <a:lnTo>
                    <a:pt x="626775" y="710123"/>
                  </a:lnTo>
                </a:path>
              </a:pathLst>
            </a:custGeom>
            <a:ln w="1902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91008" y="3025089"/>
              <a:ext cx="92476" cy="95905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5332369" y="3205469"/>
              <a:ext cx="500380" cy="0"/>
            </a:xfrm>
            <a:custGeom>
              <a:avLst/>
              <a:gdLst/>
              <a:ahLst/>
              <a:cxnLst/>
              <a:rect l="l" t="t" r="r" b="b"/>
              <a:pathLst>
                <a:path w="500379" h="0">
                  <a:moveTo>
                    <a:pt x="0" y="0"/>
                  </a:moveTo>
                  <a:lnTo>
                    <a:pt x="500054" y="0"/>
                  </a:lnTo>
                </a:path>
              </a:pathLst>
            </a:custGeom>
            <a:ln w="1902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10722" y="3160953"/>
              <a:ext cx="89062" cy="89047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690734" y="2499918"/>
              <a:ext cx="1644650" cy="0"/>
            </a:xfrm>
            <a:custGeom>
              <a:avLst/>
              <a:gdLst/>
              <a:ahLst/>
              <a:cxnLst/>
              <a:rect l="l" t="t" r="r" b="b"/>
              <a:pathLst>
                <a:path w="1644650" h="0">
                  <a:moveTo>
                    <a:pt x="0" y="0"/>
                  </a:moveTo>
                  <a:lnTo>
                    <a:pt x="1644030" y="0"/>
                  </a:lnTo>
                </a:path>
              </a:pathLst>
            </a:custGeom>
            <a:ln w="1902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314206" y="2455387"/>
              <a:ext cx="89047" cy="89062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6132682" y="2360640"/>
              <a:ext cx="548005" cy="743585"/>
            </a:xfrm>
            <a:custGeom>
              <a:avLst/>
              <a:gdLst/>
              <a:ahLst/>
              <a:cxnLst/>
              <a:rect l="l" t="t" r="r" b="b"/>
              <a:pathLst>
                <a:path w="548004" h="743585">
                  <a:moveTo>
                    <a:pt x="270570" y="139278"/>
                  </a:moveTo>
                  <a:lnTo>
                    <a:pt x="278571" y="92476"/>
                  </a:lnTo>
                  <a:lnTo>
                    <a:pt x="302544" y="50231"/>
                  </a:lnTo>
                  <a:lnTo>
                    <a:pt x="339074" y="19400"/>
                  </a:lnTo>
                  <a:lnTo>
                    <a:pt x="384749" y="2270"/>
                  </a:lnTo>
                  <a:lnTo>
                    <a:pt x="408721" y="0"/>
                  </a:lnTo>
                  <a:lnTo>
                    <a:pt x="433837" y="2270"/>
                  </a:lnTo>
                  <a:lnTo>
                    <a:pt x="478368" y="19400"/>
                  </a:lnTo>
                  <a:lnTo>
                    <a:pt x="516041" y="50231"/>
                  </a:lnTo>
                  <a:lnTo>
                    <a:pt x="540014" y="92476"/>
                  </a:lnTo>
                  <a:lnTo>
                    <a:pt x="547999" y="139278"/>
                  </a:lnTo>
                  <a:lnTo>
                    <a:pt x="545729" y="164393"/>
                  </a:lnTo>
                  <a:lnTo>
                    <a:pt x="529742" y="208925"/>
                  </a:lnTo>
                  <a:lnTo>
                    <a:pt x="498911" y="246598"/>
                  </a:lnTo>
                  <a:lnTo>
                    <a:pt x="456666" y="270570"/>
                  </a:lnTo>
                  <a:lnTo>
                    <a:pt x="408721" y="278556"/>
                  </a:lnTo>
                  <a:lnTo>
                    <a:pt x="384749" y="276285"/>
                  </a:lnTo>
                  <a:lnTo>
                    <a:pt x="339074" y="260299"/>
                  </a:lnTo>
                  <a:lnTo>
                    <a:pt x="302544" y="229468"/>
                  </a:lnTo>
                  <a:lnTo>
                    <a:pt x="278571" y="187223"/>
                  </a:lnTo>
                  <a:lnTo>
                    <a:pt x="270570" y="139278"/>
                  </a:lnTo>
                </a:path>
                <a:path w="548004" h="743585">
                  <a:moveTo>
                    <a:pt x="0" y="743224"/>
                  </a:moveTo>
                  <a:lnTo>
                    <a:pt x="293415" y="310530"/>
                  </a:lnTo>
                </a:path>
              </a:pathLst>
            </a:custGeom>
            <a:ln w="1902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376995" y="2615224"/>
              <a:ext cx="86776" cy="99334"/>
            </a:xfrm>
            <a:prstGeom prst="rect">
              <a:avLst/>
            </a:prstGeom>
          </p:spPr>
        </p:pic>
      </p:grpSp>
      <p:sp>
        <p:nvSpPr>
          <p:cNvPr id="35" name="object 35"/>
          <p:cNvSpPr txBox="1"/>
          <p:nvPr/>
        </p:nvSpPr>
        <p:spPr>
          <a:xfrm>
            <a:off x="5544576" y="2957691"/>
            <a:ext cx="1193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00" spc="15" i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3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115415" y="2647155"/>
            <a:ext cx="1193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00" spc="15" i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3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874411" y="2647155"/>
            <a:ext cx="1193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00" spc="15" i="1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3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460092" y="2219026"/>
            <a:ext cx="21336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00" spc="15" i="1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13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467973" y="2370869"/>
            <a:ext cx="109855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00" spc="10" i="1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3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61290" y="3074143"/>
            <a:ext cx="11938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00" spc="15" i="1">
                <a:solidFill>
                  <a:srgbClr val="FFFFFF"/>
                </a:solidFill>
                <a:latin typeface="Arial"/>
                <a:cs typeface="Arial"/>
              </a:rPr>
              <a:t>u</a:t>
            </a:r>
            <a:endParaRPr sz="13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471618" y="2370869"/>
            <a:ext cx="109855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00" spc="10" i="1">
                <a:solidFill>
                  <a:srgbClr val="FFFFFF"/>
                </a:solidFill>
                <a:latin typeface="Arial"/>
                <a:cs typeface="Arial"/>
              </a:rPr>
              <a:t>v</a:t>
            </a:r>
            <a:endParaRPr sz="13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150692" y="3074143"/>
            <a:ext cx="7239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00" spc="5" i="1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3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682714" y="3502273"/>
            <a:ext cx="499745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00" spc="10" i="1">
                <a:solidFill>
                  <a:srgbClr val="FFFFFF"/>
                </a:solidFill>
                <a:latin typeface="Arial"/>
                <a:cs typeface="Arial"/>
              </a:rPr>
              <a:t>d[u]=4</a:t>
            </a:r>
            <a:endParaRPr sz="13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784323" y="2091164"/>
            <a:ext cx="1428750" cy="228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00" spc="10" i="1">
                <a:solidFill>
                  <a:srgbClr val="FFFFFF"/>
                </a:solidFill>
                <a:latin typeface="Arial"/>
                <a:cs typeface="Arial"/>
              </a:rPr>
              <a:t>d[v]=d[u]+w(u,v)=6</a:t>
            </a:r>
            <a:endParaRPr sz="13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16971" y="4171156"/>
            <a:ext cx="5481955" cy="982980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1270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10"/>
              </a:spcBef>
            </a:pPr>
            <a:r>
              <a:rPr dirty="0" sz="950" spc="55">
                <a:latin typeface="Times New Roman"/>
                <a:cs typeface="Times New Roman"/>
              </a:rPr>
              <a:t>RELA</a:t>
            </a:r>
            <a:r>
              <a:rPr dirty="0" sz="950" spc="25">
                <a:latin typeface="Times New Roman"/>
                <a:cs typeface="Times New Roman"/>
              </a:rPr>
              <a:t>X</a:t>
            </a:r>
            <a:r>
              <a:rPr dirty="0" sz="1200" spc="110">
                <a:latin typeface="Garamond"/>
                <a:cs typeface="Garamond"/>
              </a:rPr>
              <a:t>((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78105">
              <a:lnSpc>
                <a:spcPct val="100000"/>
              </a:lnSpc>
              <a:spcBef>
                <a:spcPts val="5"/>
              </a:spcBef>
              <a:tabLst>
                <a:tab pos="306070" algn="l"/>
              </a:tabLst>
            </a:pPr>
            <a:r>
              <a:rPr dirty="0" sz="1200" spc="-5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	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36880" indent="-35941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436245" algn="l"/>
                <a:tab pos="437515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761365" indent="-683895">
              <a:lnSpc>
                <a:spcPct val="100000"/>
              </a:lnSpc>
              <a:buFont typeface="Times New Roman"/>
              <a:buAutoNum type="arabicPlain" startAt="2"/>
              <a:tabLst>
                <a:tab pos="761365" algn="l"/>
                <a:tab pos="762000" algn="l"/>
              </a:tabLst>
            </a:pPr>
            <a:r>
              <a:rPr dirty="0" sz="1200" spc="-25">
                <a:latin typeface="Lucida Sans Unicode"/>
                <a:cs typeface="Lucida Sans Unicode"/>
              </a:rPr>
              <a:t>pred</a:t>
            </a:r>
            <a:r>
              <a:rPr dirty="0" sz="1200" spc="-25">
                <a:latin typeface="Garamond"/>
                <a:cs typeface="Garamond"/>
              </a:rPr>
              <a:t>[</a:t>
            </a:r>
            <a:r>
              <a:rPr dirty="0" sz="1200" spc="-25">
                <a:latin typeface="Lucida Sans Unicode"/>
                <a:cs typeface="Lucida Sans Unicode"/>
              </a:rPr>
              <a:t>v</a:t>
            </a:r>
            <a:r>
              <a:rPr dirty="0" sz="1200" spc="-25">
                <a:latin typeface="Garamond"/>
                <a:cs typeface="Garamond"/>
              </a:rPr>
              <a:t>]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01698" y="5247335"/>
            <a:ext cx="6426200" cy="14395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32512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Observe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whenever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finite </a:t>
            </a:r>
            <a:r>
              <a:rPr dirty="0" sz="1200" spc="-10">
                <a:latin typeface="Times New Roman"/>
                <a:cs typeface="Times New Roman"/>
              </a:rPr>
              <a:t>value,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always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evidence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length.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Therefore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further</a:t>
            </a:r>
            <a:r>
              <a:rPr dirty="0" sz="1200" spc="-5">
                <a:latin typeface="Times New Roman"/>
                <a:cs typeface="Times New Roman"/>
              </a:rPr>
              <a:t> relaxations cannot change its </a:t>
            </a:r>
            <a:r>
              <a:rPr dirty="0" sz="1200" spc="-10">
                <a:latin typeface="Times New Roman"/>
                <a:cs typeface="Times New Roman"/>
              </a:rPr>
              <a:t>value.</a:t>
            </a:r>
            <a:endParaRPr sz="1200">
              <a:latin typeface="Times New Roman"/>
              <a:cs typeface="Times New Roman"/>
            </a:endParaRPr>
          </a:p>
          <a:p>
            <a:pPr marL="12700" marR="5080" indent="-635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perform</a:t>
            </a:r>
            <a:r>
              <a:rPr dirty="0" sz="1200" spc="50">
                <a:latin typeface="Times New Roman"/>
                <a:cs typeface="Times New Roman"/>
              </a:rPr>
              <a:t> R</a:t>
            </a:r>
            <a:r>
              <a:rPr dirty="0" sz="950" spc="50">
                <a:latin typeface="Times New Roman"/>
                <a:cs typeface="Times New Roman"/>
              </a:rPr>
              <a:t>ELAX</a:t>
            </a:r>
            <a:r>
              <a:rPr dirty="0" sz="1200" spc="50">
                <a:latin typeface="Times New Roman"/>
                <a:cs typeface="Times New Roman"/>
              </a:rPr>
              <a:t>(</a:t>
            </a:r>
            <a:r>
              <a:rPr dirty="0" sz="950" spc="50">
                <a:latin typeface="Times New Roman"/>
                <a:cs typeface="Times New Roman"/>
              </a:rPr>
              <a:t>U</a:t>
            </a:r>
            <a:r>
              <a:rPr dirty="0" sz="1200" spc="50">
                <a:latin typeface="Times New Roman"/>
                <a:cs typeface="Times New Roman"/>
              </a:rPr>
              <a:t>,</a:t>
            </a:r>
            <a:r>
              <a:rPr dirty="0" sz="950" spc="50">
                <a:latin typeface="Times New Roman"/>
                <a:cs typeface="Times New Roman"/>
              </a:rPr>
              <a:t>V</a:t>
            </a:r>
            <a:r>
              <a:rPr dirty="0" sz="1200" spc="50">
                <a:latin typeface="Times New Roman"/>
                <a:cs typeface="Times New Roman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repeatedly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over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Garamond"/>
                <a:cs typeface="Garamond"/>
              </a:rPr>
              <a:t>] 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 will eventually </a:t>
            </a:r>
            <a:r>
              <a:rPr dirty="0" sz="1200" spc="-20">
                <a:latin typeface="Times New Roman"/>
                <a:cs typeface="Times New Roman"/>
              </a:rPr>
              <a:t>converge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final </a:t>
            </a:r>
            <a:r>
              <a:rPr dirty="0" sz="1200" spc="-10">
                <a:latin typeface="Times New Roman"/>
                <a:cs typeface="Times New Roman"/>
              </a:rPr>
              <a:t>true </a:t>
            </a:r>
            <a:r>
              <a:rPr dirty="0" sz="1200" spc="-5">
                <a:latin typeface="Times New Roman"/>
                <a:cs typeface="Times New Roman"/>
              </a:rPr>
              <a:t>distance </a:t>
            </a:r>
            <a:r>
              <a:rPr dirty="0" sz="1200" spc="-25">
                <a:latin typeface="Times New Roman"/>
                <a:cs typeface="Times New Roman"/>
              </a:rPr>
              <a:t>value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-35">
                <a:latin typeface="Lucida Sans Unicode"/>
                <a:cs typeface="Lucida Sans Unicode"/>
              </a:rPr>
              <a:t>s</a:t>
            </a:r>
            <a:r>
              <a:rPr dirty="0" sz="1200" spc="-35">
                <a:latin typeface="Times New Roman"/>
                <a:cs typeface="Times New Roman"/>
              </a:rPr>
              <a:t>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cleverness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shortest path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perform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updates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judicious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manner,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convergence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200" spc="-15">
                <a:latin typeface="Times New Roman"/>
                <a:cs typeface="Times New Roman"/>
              </a:rPr>
              <a:t>Dijkstra’s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performing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repeated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relaxations.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operates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maintaining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⊆</a:t>
            </a:r>
            <a:r>
              <a:rPr dirty="0" sz="1200" spc="10">
                <a:latin typeface="Segoe UI Symbol"/>
                <a:cs typeface="Segoe UI Symbol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claim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know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Garamond"/>
                <a:cs typeface="Garamond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01718" y="6727635"/>
            <a:ext cx="62928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Initially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-280">
                <a:latin typeface="Segoe UI Symbol"/>
                <a:cs typeface="Segoe UI Symbol"/>
              </a:rPr>
              <a:t>∅</a:t>
            </a:r>
            <a:r>
              <a:rPr dirty="0" sz="1200" spc="-280">
                <a:latin typeface="Times New Roman"/>
                <a:cs typeface="Times New Roman"/>
              </a:rPr>
              <a:t>,</a:t>
            </a:r>
            <a:r>
              <a:rPr dirty="0" sz="1200" spc="-229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empty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d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others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∞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01723" y="6844565"/>
            <a:ext cx="6346190" cy="1139190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15875" indent="-635">
              <a:lnSpc>
                <a:spcPct val="100000"/>
              </a:lnSpc>
              <a:spcBef>
                <a:spcPts val="520"/>
              </a:spcBef>
            </a:pP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among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add </a:t>
            </a:r>
            <a:r>
              <a:rPr dirty="0" sz="1200" spc="-10">
                <a:latin typeface="Times New Roman"/>
                <a:cs typeface="Times New Roman"/>
              </a:rPr>
              <a:t>next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Times New Roman"/>
                <a:cs typeface="Times New Roman"/>
              </a:rPr>
              <a:t>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greediness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comes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each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V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S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distance estimate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d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greedy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d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i.e.,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unprocessed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closest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estimate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s</a:t>
            </a:r>
            <a:r>
              <a:rPr dirty="0" sz="1200" spc="-3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Later,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justify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choice.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order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perform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15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14400" y="1372056"/>
            <a:ext cx="5486400" cy="2453005"/>
          </a:xfrm>
          <a:custGeom>
            <a:avLst/>
            <a:gdLst/>
            <a:ahLst/>
            <a:cxnLst/>
            <a:rect l="l" t="t" r="r" b="b"/>
            <a:pathLst>
              <a:path w="5486400" h="2453004">
                <a:moveTo>
                  <a:pt x="5130" y="6324"/>
                </a:moveTo>
                <a:lnTo>
                  <a:pt x="0" y="6324"/>
                </a:lnTo>
                <a:lnTo>
                  <a:pt x="0" y="2452674"/>
                </a:lnTo>
                <a:lnTo>
                  <a:pt x="5130" y="2452674"/>
                </a:lnTo>
                <a:lnTo>
                  <a:pt x="5130" y="6324"/>
                </a:lnTo>
                <a:close/>
              </a:path>
              <a:path w="5486400" h="2453004">
                <a:moveTo>
                  <a:pt x="5486400" y="0"/>
                </a:moveTo>
                <a:lnTo>
                  <a:pt x="0" y="0"/>
                </a:lnTo>
                <a:lnTo>
                  <a:pt x="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01699" y="926454"/>
            <a:ext cx="4561840" cy="82994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selection </a:t>
            </a:r>
            <a:r>
              <a:rPr dirty="0" sz="1200" spc="-15">
                <a:latin typeface="Times New Roman"/>
                <a:cs typeface="Times New Roman"/>
              </a:rPr>
              <a:t>efficiently,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store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5" i="1">
                <a:latin typeface="Times New Roman"/>
                <a:cs typeface="Times New Roman"/>
              </a:rPr>
              <a:t>priority queue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750">
              <a:latin typeface="Times New Roman"/>
              <a:cs typeface="Times New Roman"/>
            </a:endParaRPr>
          </a:p>
          <a:p>
            <a:pPr marL="59055">
              <a:lnSpc>
                <a:spcPct val="100000"/>
              </a:lnSpc>
            </a:pPr>
            <a:r>
              <a:rPr dirty="0" sz="1200" spc="50">
                <a:latin typeface="Times New Roman"/>
                <a:cs typeface="Times New Roman"/>
              </a:rPr>
              <a:t>D</a:t>
            </a:r>
            <a:r>
              <a:rPr dirty="0" sz="950" spc="55">
                <a:latin typeface="Times New Roman"/>
                <a:cs typeface="Times New Roman"/>
              </a:rPr>
              <a:t>IJKSTR</a:t>
            </a:r>
            <a:r>
              <a:rPr dirty="0" sz="950" spc="25">
                <a:latin typeface="Times New Roman"/>
                <a:cs typeface="Times New Roman"/>
              </a:rPr>
              <a:t>A</a:t>
            </a:r>
            <a:r>
              <a:rPr dirty="0" sz="1200" spc="110">
                <a:latin typeface="Garamond"/>
                <a:cs typeface="Garamond"/>
              </a:rPr>
              <a:t>((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69545">
              <a:lnSpc>
                <a:spcPct val="100000"/>
              </a:lnSpc>
              <a:spcBef>
                <a:spcPts val="5"/>
              </a:spcBef>
              <a:tabLst>
                <a:tab pos="396875" algn="l"/>
              </a:tabLst>
            </a:pPr>
            <a:r>
              <a:rPr dirty="0" sz="1200" spc="-5">
                <a:latin typeface="Times New Roman"/>
                <a:cs typeface="Times New Roman"/>
              </a:rPr>
              <a:t>1	</a:t>
            </a: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V</a:t>
            </a:r>
            <a:r>
              <a:rPr dirty="0" sz="1200" spc="9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173224" y="2257500"/>
            <a:ext cx="1635125" cy="1107440"/>
          </a:xfrm>
          <a:custGeom>
            <a:avLst/>
            <a:gdLst/>
            <a:ahLst/>
            <a:cxnLst/>
            <a:rect l="l" t="t" r="r" b="b"/>
            <a:pathLst>
              <a:path w="1635125" h="1107439">
                <a:moveTo>
                  <a:pt x="45593" y="184404"/>
                </a:moveTo>
                <a:lnTo>
                  <a:pt x="0" y="184404"/>
                </a:lnTo>
                <a:lnTo>
                  <a:pt x="0" y="189534"/>
                </a:lnTo>
                <a:lnTo>
                  <a:pt x="45593" y="189534"/>
                </a:lnTo>
                <a:lnTo>
                  <a:pt x="45593" y="184404"/>
                </a:lnTo>
                <a:close/>
              </a:path>
              <a:path w="1635125" h="1107439">
                <a:moveTo>
                  <a:pt x="350393" y="367284"/>
                </a:moveTo>
                <a:lnTo>
                  <a:pt x="304800" y="367284"/>
                </a:lnTo>
                <a:lnTo>
                  <a:pt x="304800" y="372414"/>
                </a:lnTo>
                <a:lnTo>
                  <a:pt x="350393" y="372414"/>
                </a:lnTo>
                <a:lnTo>
                  <a:pt x="350393" y="367284"/>
                </a:lnTo>
                <a:close/>
              </a:path>
              <a:path w="1635125" h="1107439">
                <a:moveTo>
                  <a:pt x="783209" y="1101852"/>
                </a:moveTo>
                <a:lnTo>
                  <a:pt x="737616" y="1101852"/>
                </a:lnTo>
                <a:lnTo>
                  <a:pt x="737616" y="1106982"/>
                </a:lnTo>
                <a:lnTo>
                  <a:pt x="783209" y="1106982"/>
                </a:lnTo>
                <a:lnTo>
                  <a:pt x="783209" y="1101852"/>
                </a:lnTo>
                <a:close/>
              </a:path>
              <a:path w="1635125" h="1107439">
                <a:moveTo>
                  <a:pt x="1635125" y="0"/>
                </a:moveTo>
                <a:lnTo>
                  <a:pt x="1589532" y="0"/>
                </a:lnTo>
                <a:lnTo>
                  <a:pt x="1589532" y="5130"/>
                </a:lnTo>
                <a:lnTo>
                  <a:pt x="1635125" y="5130"/>
                </a:lnTo>
                <a:lnTo>
                  <a:pt x="16351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995313" y="1731926"/>
            <a:ext cx="3612515" cy="18592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3530" indent="-228600">
              <a:lnSpc>
                <a:spcPct val="100000"/>
              </a:lnSpc>
              <a:spcBef>
                <a:spcPts val="95"/>
              </a:spcBef>
              <a:buFont typeface="Times New Roman"/>
              <a:buAutoNum type="arabicPlain" startAt="2"/>
              <a:tabLst>
                <a:tab pos="303530" algn="l"/>
                <a:tab pos="3041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d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∞</a:t>
            </a:r>
            <a:endParaRPr sz="1200">
              <a:latin typeface="Lucida Sans Unicode"/>
              <a:cs typeface="Lucida Sans Unicode"/>
            </a:endParaRPr>
          </a:p>
          <a:p>
            <a:pPr marL="514350" indent="-439420">
              <a:lnSpc>
                <a:spcPct val="100000"/>
              </a:lnSpc>
              <a:spcBef>
                <a:spcPts val="5"/>
              </a:spcBef>
              <a:buAutoNum type="arabicPlain" startAt="2"/>
              <a:tabLst>
                <a:tab pos="514350" algn="l"/>
                <a:tab pos="514984" algn="l"/>
              </a:tabLst>
            </a:pPr>
            <a:r>
              <a:rPr dirty="0" sz="1200" spc="-10">
                <a:latin typeface="Times New Roman"/>
                <a:cs typeface="Times New Roman"/>
              </a:rPr>
              <a:t>pq.in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035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303530" algn="l"/>
                <a:tab pos="304165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70">
                <a:latin typeface="Lucida Sans Unicode"/>
                <a:cs typeface="Lucida Sans Unicode"/>
              </a:rPr>
              <a:t>0</a:t>
            </a:r>
            <a:r>
              <a:rPr dirty="0" sz="1200" spc="-5">
                <a:latin typeface="Garamond"/>
                <a:cs typeface="Garamond"/>
              </a:rPr>
              <a:t>;</a:t>
            </a:r>
            <a:r>
              <a:rPr dirty="0" sz="1200">
                <a:latin typeface="Garamond"/>
                <a:cs typeface="Garamond"/>
              </a:rPr>
              <a:t>  </a:t>
            </a:r>
            <a:r>
              <a:rPr dirty="0" sz="1200" spc="-7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85">
                <a:latin typeface="Lucida Sans Unicode"/>
                <a:cs typeface="Lucida Sans Unicode"/>
              </a:rPr>
              <a:t>l</a:t>
            </a:r>
            <a:r>
              <a:rPr dirty="0" sz="1200" spc="-5">
                <a:latin typeface="Garamond"/>
                <a:cs typeface="Garamond"/>
              </a:rPr>
              <a:t>;</a:t>
            </a:r>
            <a:r>
              <a:rPr dirty="0" sz="1200">
                <a:latin typeface="Garamond"/>
                <a:cs typeface="Garamond"/>
              </a:rPr>
              <a:t>  </a:t>
            </a:r>
            <a:r>
              <a:rPr dirty="0" sz="1200" spc="-7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pq.d</a:t>
            </a:r>
            <a:r>
              <a:rPr dirty="0" sz="1200" spc="-5">
                <a:latin typeface="Times New Roman"/>
                <a:cs typeface="Times New Roman"/>
              </a:rPr>
              <a:t>ec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ease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;</a:t>
            </a:r>
            <a:endParaRPr sz="1200">
              <a:latin typeface="Garamond"/>
              <a:cs typeface="Garamond"/>
            </a:endParaRPr>
          </a:p>
          <a:p>
            <a:pPr marL="3035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303530" algn="l"/>
                <a:tab pos="3041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while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pq.not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empty </a:t>
            </a:r>
            <a:r>
              <a:rPr dirty="0" sz="1200" spc="110">
                <a:latin typeface="Garamond"/>
                <a:cs typeface="Garamond"/>
              </a:rPr>
              <a:t>())</a:t>
            </a:r>
            <a:endParaRPr sz="1200">
              <a:latin typeface="Garamond"/>
              <a:cs typeface="Garamond"/>
            </a:endParaRPr>
          </a:p>
          <a:p>
            <a:pPr marL="303530" indent="-228600">
              <a:lnSpc>
                <a:spcPct val="100000"/>
              </a:lnSpc>
              <a:buFont typeface="Times New Roman"/>
              <a:buAutoNum type="arabicPlain" startAt="2"/>
              <a:tabLst>
                <a:tab pos="303530" algn="l"/>
                <a:tab pos="3041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24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pq.extract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()</a:t>
            </a:r>
            <a:endParaRPr sz="1200">
              <a:latin typeface="Garamond"/>
              <a:cs typeface="Garamond"/>
            </a:endParaRPr>
          </a:p>
          <a:p>
            <a:pPr marL="50165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2"/>
              <a:tabLst>
                <a:tab pos="501650" algn="l"/>
                <a:tab pos="502284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1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adj</a:t>
            </a:r>
            <a:r>
              <a:rPr dirty="0" sz="1200" spc="25">
                <a:latin typeface="Garamond"/>
                <a:cs typeface="Garamond"/>
              </a:rPr>
              <a:t>[</a:t>
            </a:r>
            <a:r>
              <a:rPr dirty="0" sz="1200" spc="25">
                <a:latin typeface="Lucida Sans Unicode"/>
                <a:cs typeface="Lucida Sans Unicode"/>
              </a:rPr>
              <a:t>u</a:t>
            </a:r>
            <a:r>
              <a:rPr dirty="0" sz="1200" spc="25">
                <a:latin typeface="Garamond"/>
                <a:cs typeface="Garamond"/>
              </a:rPr>
              <a:t>])</a:t>
            </a:r>
            <a:endParaRPr sz="1200">
              <a:latin typeface="Garamond"/>
              <a:cs typeface="Garamond"/>
            </a:endParaRPr>
          </a:p>
          <a:p>
            <a:pPr marL="75565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  <a:p>
            <a:pPr marL="75565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10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11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97328" y="2832635"/>
            <a:ext cx="2237105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691515" marR="5080" indent="-363220">
              <a:lnSpc>
                <a:spcPct val="100000"/>
              </a:lnSpc>
              <a:spcBef>
                <a:spcPts val="5"/>
              </a:spcBef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00">
                <a:latin typeface="Garamond"/>
                <a:cs typeface="Garamond"/>
              </a:rPr>
              <a:t>)  </a:t>
            </a:r>
            <a:r>
              <a:rPr dirty="0" sz="1200" spc="-10">
                <a:latin typeface="Times New Roman"/>
                <a:cs typeface="Times New Roman"/>
              </a:rPr>
              <a:t>pq.d</a:t>
            </a:r>
            <a:r>
              <a:rPr dirty="0" sz="1200" spc="-5">
                <a:latin typeface="Times New Roman"/>
                <a:cs typeface="Times New Roman"/>
              </a:rPr>
              <a:t>ec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ease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00">
                <a:latin typeface="Garamond"/>
                <a:cs typeface="Garamond"/>
              </a:rPr>
              <a:t>)  </a:t>
            </a:r>
            <a:r>
              <a:rPr dirty="0" sz="1200" spc="-5">
                <a:latin typeface="Times New Roman"/>
                <a:cs typeface="Times New Roman"/>
              </a:rPr>
              <a:t>pred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Garamond"/>
                <a:cs typeface="Garamond"/>
              </a:rPr>
              <a:t>[</a:t>
            </a:r>
            <a:r>
              <a:rPr dirty="0" sz="1200" spc="-10">
                <a:latin typeface="Lucida Sans Unicode"/>
                <a:cs typeface="Lucida Sans Unicode"/>
              </a:rPr>
              <a:t>v</a:t>
            </a:r>
            <a:r>
              <a:rPr dirty="0" sz="1200" spc="-10">
                <a:latin typeface="Garamond"/>
                <a:cs typeface="Garamond"/>
              </a:rPr>
              <a:t>]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25">
                <a:latin typeface="Garamond"/>
                <a:cs typeface="Garamond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914400" y="1378381"/>
            <a:ext cx="5487035" cy="2451100"/>
          </a:xfrm>
          <a:custGeom>
            <a:avLst/>
            <a:gdLst/>
            <a:ahLst/>
            <a:cxnLst/>
            <a:rect l="l" t="t" r="r" b="b"/>
            <a:pathLst>
              <a:path w="5487035" h="2451100">
                <a:moveTo>
                  <a:pt x="5486959" y="0"/>
                </a:moveTo>
                <a:lnTo>
                  <a:pt x="5481828" y="0"/>
                </a:lnTo>
                <a:lnTo>
                  <a:pt x="5481828" y="2445791"/>
                </a:lnTo>
                <a:lnTo>
                  <a:pt x="0" y="2445791"/>
                </a:lnTo>
                <a:lnTo>
                  <a:pt x="0" y="2450922"/>
                </a:lnTo>
                <a:lnTo>
                  <a:pt x="5486400" y="2450922"/>
                </a:lnTo>
                <a:lnTo>
                  <a:pt x="5486400" y="2446350"/>
                </a:lnTo>
                <a:lnTo>
                  <a:pt x="5486959" y="2446350"/>
                </a:lnTo>
                <a:lnTo>
                  <a:pt x="5486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901698" y="3909454"/>
            <a:ext cx="6266180" cy="82359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4064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Note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similarity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Prim’s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although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Therefore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same, i.e.,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Θ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E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V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6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Figures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8.64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??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demonstrate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applied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directed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negative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 </a:t>
            </a:r>
            <a:r>
              <a:rPr dirty="0" sz="1200" spc="-5">
                <a:latin typeface="Times New Roman"/>
                <a:cs typeface="Times New Roman"/>
              </a:rPr>
              <a:t> edges.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772411" y="6684792"/>
            <a:ext cx="4648200" cy="1992630"/>
            <a:chOff x="1772411" y="6684792"/>
            <a:chExt cx="4648200" cy="1992630"/>
          </a:xfrm>
        </p:grpSpPr>
        <p:sp>
          <p:nvSpPr>
            <p:cNvPr id="12" name="object 12"/>
            <p:cNvSpPr/>
            <p:nvPr/>
          </p:nvSpPr>
          <p:spPr>
            <a:xfrm>
              <a:off x="1772411" y="6684792"/>
              <a:ext cx="4648200" cy="1992630"/>
            </a:xfrm>
            <a:custGeom>
              <a:avLst/>
              <a:gdLst/>
              <a:ahLst/>
              <a:cxnLst/>
              <a:rect l="l" t="t" r="r" b="b"/>
              <a:pathLst>
                <a:path w="4648200" h="1992629">
                  <a:moveTo>
                    <a:pt x="4648001" y="0"/>
                  </a:moveTo>
                  <a:lnTo>
                    <a:pt x="0" y="0"/>
                  </a:lnTo>
                  <a:lnTo>
                    <a:pt x="0" y="1992355"/>
                  </a:lnTo>
                  <a:lnTo>
                    <a:pt x="4648001" y="1992355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934785" y="7738486"/>
              <a:ext cx="408940" cy="205104"/>
            </a:xfrm>
            <a:custGeom>
              <a:avLst/>
              <a:gdLst/>
              <a:ahLst/>
              <a:cxnLst/>
              <a:rect l="l" t="t" r="r" b="b"/>
              <a:pathLst>
                <a:path w="408939" h="205104">
                  <a:moveTo>
                    <a:pt x="306384" y="0"/>
                  </a:moveTo>
                  <a:lnTo>
                    <a:pt x="306384" y="67558"/>
                  </a:lnTo>
                  <a:lnTo>
                    <a:pt x="0" y="67558"/>
                  </a:lnTo>
                  <a:lnTo>
                    <a:pt x="0" y="137159"/>
                  </a:lnTo>
                  <a:lnTo>
                    <a:pt x="306384" y="137159"/>
                  </a:lnTo>
                  <a:lnTo>
                    <a:pt x="306384" y="204718"/>
                  </a:lnTo>
                  <a:lnTo>
                    <a:pt x="408752" y="102351"/>
                  </a:lnTo>
                  <a:lnTo>
                    <a:pt x="306384" y="0"/>
                  </a:lnTo>
                  <a:close/>
                </a:path>
              </a:pathLst>
            </a:custGeom>
            <a:solidFill>
              <a:srgbClr val="B8E7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934785" y="7738486"/>
              <a:ext cx="408940" cy="205104"/>
            </a:xfrm>
            <a:custGeom>
              <a:avLst/>
              <a:gdLst/>
              <a:ahLst/>
              <a:cxnLst/>
              <a:rect l="l" t="t" r="r" b="b"/>
              <a:pathLst>
                <a:path w="408939" h="205104">
                  <a:moveTo>
                    <a:pt x="408752" y="102351"/>
                  </a:moveTo>
                  <a:lnTo>
                    <a:pt x="306384" y="204718"/>
                  </a:lnTo>
                  <a:lnTo>
                    <a:pt x="306384" y="137159"/>
                  </a:lnTo>
                  <a:lnTo>
                    <a:pt x="0" y="137159"/>
                  </a:lnTo>
                  <a:lnTo>
                    <a:pt x="0" y="67558"/>
                  </a:lnTo>
                  <a:lnTo>
                    <a:pt x="306384" y="67558"/>
                  </a:lnTo>
                  <a:lnTo>
                    <a:pt x="306384" y="0"/>
                  </a:lnTo>
                  <a:lnTo>
                    <a:pt x="408752" y="102351"/>
                  </a:lnTo>
                </a:path>
              </a:pathLst>
            </a:custGeom>
            <a:ln w="568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50855" y="7151408"/>
              <a:ext cx="1651151" cy="138365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054122" y="7720388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865781" y="7534778"/>
            <a:ext cx="11493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6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217894" y="8083417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83533" y="8359781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424657" y="7557975"/>
            <a:ext cx="1249045" cy="408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5715">
              <a:lnSpc>
                <a:spcPts val="1505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600">
              <a:latin typeface="Arial"/>
              <a:cs typeface="Arial"/>
            </a:endParaRPr>
          </a:p>
          <a:p>
            <a:pPr algn="ctr" marR="5080">
              <a:lnSpc>
                <a:spcPts val="1505"/>
              </a:lnSpc>
              <a:tabLst>
                <a:tab pos="306070" algn="l"/>
                <a:tab pos="816610" algn="l"/>
                <a:tab pos="1122680" algn="l"/>
              </a:tabLst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3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4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21" name="object 2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06028" y="7151408"/>
            <a:ext cx="1651151" cy="1383658"/>
          </a:xfrm>
          <a:prstGeom prst="rect">
            <a:avLst/>
          </a:prstGeom>
        </p:spPr>
      </p:pic>
      <p:sp>
        <p:nvSpPr>
          <p:cNvPr id="22" name="object 22"/>
          <p:cNvSpPr txBox="1"/>
          <p:nvPr/>
        </p:nvSpPr>
        <p:spPr>
          <a:xfrm>
            <a:off x="4708612" y="7720388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030991" y="7534778"/>
            <a:ext cx="6038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488950" algn="l"/>
              </a:tabLst>
            </a:pPr>
            <a:r>
              <a:rPr dirty="0" baseline="1736" sz="2400" spc="-7">
                <a:solidFill>
                  <a:srgbClr val="FFFF00"/>
                </a:solidFill>
                <a:latin typeface="Arial"/>
                <a:cs typeface="Arial"/>
              </a:rPr>
              <a:t>0</a:t>
            </a:r>
            <a:r>
              <a:rPr dirty="0" baseline="1736" sz="2400" spc="-7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6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219941" y="7353944"/>
            <a:ext cx="2781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2654935" algn="l"/>
              </a:tabLst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7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6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872383" y="8087511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638022" y="7062565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638022" y="8359781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079146" y="7557975"/>
            <a:ext cx="1249045" cy="408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5080">
              <a:lnSpc>
                <a:spcPts val="1505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600">
              <a:latin typeface="Arial"/>
              <a:cs typeface="Arial"/>
            </a:endParaRPr>
          </a:p>
          <a:p>
            <a:pPr algn="ctr" marR="5080">
              <a:lnSpc>
                <a:spcPts val="1505"/>
              </a:lnSpc>
              <a:tabLst>
                <a:tab pos="306070" algn="l"/>
                <a:tab pos="816610" algn="l"/>
                <a:tab pos="1122680" algn="l"/>
              </a:tabLst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3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4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233363" y="7164916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6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229269" y="8236946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580240" y="6561334"/>
            <a:ext cx="713740" cy="770890"/>
          </a:xfrm>
          <a:prstGeom prst="rect">
            <a:avLst/>
          </a:prstGeom>
        </p:spPr>
        <p:txBody>
          <a:bodyPr wrap="square" lIns="0" tIns="140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1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select</a:t>
            </a:r>
            <a:r>
              <a:rPr dirty="0" sz="1600" spc="-5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  <a:p>
            <a:pPr marL="403225">
              <a:lnSpc>
                <a:spcPct val="100000"/>
              </a:lnSpc>
              <a:spcBef>
                <a:spcPts val="1015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823539" y="8742743"/>
            <a:ext cx="25825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8.64: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Dijkstra’s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58496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8.6.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SHORTEST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PATHS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15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90700" y="939312"/>
            <a:ext cx="4648200" cy="1992630"/>
            <a:chOff x="1790700" y="939312"/>
            <a:chExt cx="4648200" cy="1992630"/>
          </a:xfrm>
        </p:grpSpPr>
        <p:sp>
          <p:nvSpPr>
            <p:cNvPr id="5" name="object 5"/>
            <p:cNvSpPr/>
            <p:nvPr/>
          </p:nvSpPr>
          <p:spPr>
            <a:xfrm>
              <a:off x="1790700" y="939312"/>
              <a:ext cx="4648200" cy="1992630"/>
            </a:xfrm>
            <a:custGeom>
              <a:avLst/>
              <a:gdLst/>
              <a:ahLst/>
              <a:cxnLst/>
              <a:rect l="l" t="t" r="r" b="b"/>
              <a:pathLst>
                <a:path w="4648200" h="1992630">
                  <a:moveTo>
                    <a:pt x="4648001" y="0"/>
                  </a:moveTo>
                  <a:lnTo>
                    <a:pt x="0" y="0"/>
                  </a:lnTo>
                  <a:lnTo>
                    <a:pt x="0" y="1992355"/>
                  </a:lnTo>
                  <a:lnTo>
                    <a:pt x="4648001" y="1992355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5460461" y="2541387"/>
              <a:ext cx="523240" cy="205104"/>
            </a:xfrm>
            <a:custGeom>
              <a:avLst/>
              <a:gdLst/>
              <a:ahLst/>
              <a:cxnLst/>
              <a:rect l="l" t="t" r="r" b="b"/>
              <a:pathLst>
                <a:path w="523239" h="205105">
                  <a:moveTo>
                    <a:pt x="58689" y="0"/>
                  </a:moveTo>
                  <a:lnTo>
                    <a:pt x="0" y="102351"/>
                  </a:lnTo>
                  <a:lnTo>
                    <a:pt x="58689" y="204703"/>
                  </a:lnTo>
                  <a:lnTo>
                    <a:pt x="58689" y="137159"/>
                  </a:lnTo>
                  <a:lnTo>
                    <a:pt x="522716" y="137159"/>
                  </a:lnTo>
                  <a:lnTo>
                    <a:pt x="522716" y="67543"/>
                  </a:lnTo>
                  <a:lnTo>
                    <a:pt x="58689" y="67543"/>
                  </a:lnTo>
                  <a:lnTo>
                    <a:pt x="58689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460461" y="2541387"/>
              <a:ext cx="523240" cy="205104"/>
            </a:xfrm>
            <a:custGeom>
              <a:avLst/>
              <a:gdLst/>
              <a:ahLst/>
              <a:cxnLst/>
              <a:rect l="l" t="t" r="r" b="b"/>
              <a:pathLst>
                <a:path w="523239" h="205105">
                  <a:moveTo>
                    <a:pt x="0" y="102351"/>
                  </a:moveTo>
                  <a:lnTo>
                    <a:pt x="58689" y="204703"/>
                  </a:lnTo>
                  <a:lnTo>
                    <a:pt x="58689" y="137159"/>
                  </a:lnTo>
                  <a:lnTo>
                    <a:pt x="522716" y="137159"/>
                  </a:lnTo>
                  <a:lnTo>
                    <a:pt x="522716" y="67543"/>
                  </a:lnTo>
                  <a:lnTo>
                    <a:pt x="58689" y="67543"/>
                  </a:lnTo>
                  <a:lnTo>
                    <a:pt x="58689" y="0"/>
                  </a:lnTo>
                  <a:lnTo>
                    <a:pt x="0" y="102351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143164" y="1698630"/>
              <a:ext cx="204470" cy="798830"/>
            </a:xfrm>
            <a:custGeom>
              <a:avLst/>
              <a:gdLst/>
              <a:ahLst/>
              <a:cxnLst/>
              <a:rect l="l" t="t" r="r" b="b"/>
              <a:pathLst>
                <a:path w="204470" h="798830">
                  <a:moveTo>
                    <a:pt x="136474" y="0"/>
                  </a:moveTo>
                  <a:lnTo>
                    <a:pt x="67543" y="0"/>
                  </a:lnTo>
                  <a:lnTo>
                    <a:pt x="67543" y="739703"/>
                  </a:lnTo>
                  <a:lnTo>
                    <a:pt x="0" y="739703"/>
                  </a:lnTo>
                  <a:lnTo>
                    <a:pt x="102351" y="798393"/>
                  </a:lnTo>
                  <a:lnTo>
                    <a:pt x="204033" y="739703"/>
                  </a:lnTo>
                  <a:lnTo>
                    <a:pt x="136474" y="739703"/>
                  </a:lnTo>
                  <a:lnTo>
                    <a:pt x="136474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143164" y="1698630"/>
              <a:ext cx="204470" cy="798830"/>
            </a:xfrm>
            <a:custGeom>
              <a:avLst/>
              <a:gdLst/>
              <a:ahLst/>
              <a:cxnLst/>
              <a:rect l="l" t="t" r="r" b="b"/>
              <a:pathLst>
                <a:path w="204470" h="798830">
                  <a:moveTo>
                    <a:pt x="102351" y="798393"/>
                  </a:moveTo>
                  <a:lnTo>
                    <a:pt x="204033" y="739703"/>
                  </a:lnTo>
                  <a:lnTo>
                    <a:pt x="136474" y="739703"/>
                  </a:lnTo>
                  <a:lnTo>
                    <a:pt x="136474" y="0"/>
                  </a:lnTo>
                  <a:lnTo>
                    <a:pt x="67543" y="0"/>
                  </a:lnTo>
                  <a:lnTo>
                    <a:pt x="67543" y="739703"/>
                  </a:lnTo>
                  <a:lnTo>
                    <a:pt x="0" y="739703"/>
                  </a:lnTo>
                  <a:lnTo>
                    <a:pt x="102351" y="798393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953758" y="1992747"/>
              <a:ext cx="408940" cy="205104"/>
            </a:xfrm>
            <a:custGeom>
              <a:avLst/>
              <a:gdLst/>
              <a:ahLst/>
              <a:cxnLst/>
              <a:rect l="l" t="t" r="r" b="b"/>
              <a:pathLst>
                <a:path w="408939" h="205105">
                  <a:moveTo>
                    <a:pt x="306384" y="0"/>
                  </a:moveTo>
                  <a:lnTo>
                    <a:pt x="306384" y="67543"/>
                  </a:lnTo>
                  <a:lnTo>
                    <a:pt x="0" y="67543"/>
                  </a:lnTo>
                  <a:lnTo>
                    <a:pt x="0" y="137159"/>
                  </a:lnTo>
                  <a:lnTo>
                    <a:pt x="306384" y="137159"/>
                  </a:lnTo>
                  <a:lnTo>
                    <a:pt x="306384" y="204703"/>
                  </a:lnTo>
                  <a:lnTo>
                    <a:pt x="408752" y="102351"/>
                  </a:lnTo>
                  <a:lnTo>
                    <a:pt x="306384" y="0"/>
                  </a:lnTo>
                  <a:close/>
                </a:path>
              </a:pathLst>
            </a:custGeom>
            <a:solidFill>
              <a:srgbClr val="B8E7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953758" y="1992747"/>
              <a:ext cx="408940" cy="205104"/>
            </a:xfrm>
            <a:custGeom>
              <a:avLst/>
              <a:gdLst/>
              <a:ahLst/>
              <a:cxnLst/>
              <a:rect l="l" t="t" r="r" b="b"/>
              <a:pathLst>
                <a:path w="408939" h="205105">
                  <a:moveTo>
                    <a:pt x="408752" y="102351"/>
                  </a:moveTo>
                  <a:lnTo>
                    <a:pt x="306384" y="204703"/>
                  </a:lnTo>
                  <a:lnTo>
                    <a:pt x="306384" y="137159"/>
                  </a:lnTo>
                  <a:lnTo>
                    <a:pt x="0" y="137159"/>
                  </a:lnTo>
                  <a:lnTo>
                    <a:pt x="0" y="67543"/>
                  </a:lnTo>
                  <a:lnTo>
                    <a:pt x="306384" y="67543"/>
                  </a:lnTo>
                  <a:lnTo>
                    <a:pt x="306384" y="0"/>
                  </a:lnTo>
                  <a:lnTo>
                    <a:pt x="408752" y="102351"/>
                  </a:lnTo>
                </a:path>
              </a:pathLst>
            </a:custGeom>
            <a:ln w="568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4049964" y="1784257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69828" y="1405654"/>
            <a:ext cx="1651151" cy="1383658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2073096" y="1974644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884755" y="1789033"/>
            <a:ext cx="11493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6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238915" y="1608200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6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236867" y="2341768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002507" y="1316821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002507" y="2614036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443631" y="1812229"/>
            <a:ext cx="1249045" cy="408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5715">
              <a:lnSpc>
                <a:spcPts val="1505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600">
              <a:latin typeface="Arial"/>
              <a:cs typeface="Arial"/>
            </a:endParaRPr>
          </a:p>
          <a:p>
            <a:pPr algn="ctr" marR="5080">
              <a:lnSpc>
                <a:spcPts val="1505"/>
              </a:lnSpc>
              <a:tabLst>
                <a:tab pos="306070" algn="l"/>
                <a:tab pos="816610" algn="l"/>
                <a:tab pos="1122680" algn="l"/>
              </a:tabLst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3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4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597847" y="1419171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6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593753" y="2491203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4624974" y="1629029"/>
            <a:ext cx="1429385" cy="966469"/>
            <a:chOff x="4624974" y="1629029"/>
            <a:chExt cx="1429385" cy="966469"/>
          </a:xfrm>
        </p:grpSpPr>
        <p:sp>
          <p:nvSpPr>
            <p:cNvPr id="24" name="object 24"/>
            <p:cNvSpPr/>
            <p:nvPr/>
          </p:nvSpPr>
          <p:spPr>
            <a:xfrm>
              <a:off x="4817653" y="2202236"/>
              <a:ext cx="382905" cy="393065"/>
            </a:xfrm>
            <a:custGeom>
              <a:avLst/>
              <a:gdLst/>
              <a:ahLst/>
              <a:cxnLst/>
              <a:rect l="l" t="t" r="r" b="b"/>
              <a:pathLst>
                <a:path w="382904" h="393064">
                  <a:moveTo>
                    <a:pt x="148772" y="0"/>
                  </a:moveTo>
                  <a:lnTo>
                    <a:pt x="33436" y="27294"/>
                  </a:lnTo>
                  <a:lnTo>
                    <a:pt x="0" y="140573"/>
                  </a:lnTo>
                  <a:lnTo>
                    <a:pt x="49133" y="94167"/>
                  </a:lnTo>
                  <a:lnTo>
                    <a:pt x="332323" y="393054"/>
                  </a:lnTo>
                  <a:lnTo>
                    <a:pt x="382828" y="345277"/>
                  </a:lnTo>
                  <a:lnTo>
                    <a:pt x="99639" y="45719"/>
                  </a:lnTo>
                  <a:lnTo>
                    <a:pt x="148772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817653" y="2202236"/>
              <a:ext cx="382905" cy="393065"/>
            </a:xfrm>
            <a:custGeom>
              <a:avLst/>
              <a:gdLst/>
              <a:ahLst/>
              <a:cxnLst/>
              <a:rect l="l" t="t" r="r" b="b"/>
              <a:pathLst>
                <a:path w="382904" h="393064">
                  <a:moveTo>
                    <a:pt x="33436" y="27294"/>
                  </a:moveTo>
                  <a:lnTo>
                    <a:pt x="0" y="140573"/>
                  </a:lnTo>
                  <a:lnTo>
                    <a:pt x="49133" y="94167"/>
                  </a:lnTo>
                  <a:lnTo>
                    <a:pt x="332323" y="393054"/>
                  </a:lnTo>
                  <a:lnTo>
                    <a:pt x="382828" y="345277"/>
                  </a:lnTo>
                  <a:lnTo>
                    <a:pt x="99639" y="45719"/>
                  </a:lnTo>
                  <a:lnTo>
                    <a:pt x="148772" y="0"/>
                  </a:lnTo>
                  <a:lnTo>
                    <a:pt x="33436" y="27294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376534" y="1629029"/>
              <a:ext cx="678180" cy="937260"/>
            </a:xfrm>
            <a:custGeom>
              <a:avLst/>
              <a:gdLst/>
              <a:ahLst/>
              <a:cxnLst/>
              <a:rect l="l" t="t" r="r" b="b"/>
              <a:pathLst>
                <a:path w="678179" h="937260">
                  <a:moveTo>
                    <a:pt x="619612" y="0"/>
                  </a:moveTo>
                  <a:lnTo>
                    <a:pt x="56631" y="861852"/>
                  </a:lnTo>
                  <a:lnTo>
                    <a:pt x="0" y="825687"/>
                  </a:lnTo>
                  <a:lnTo>
                    <a:pt x="53233" y="930097"/>
                  </a:lnTo>
                  <a:lnTo>
                    <a:pt x="170596" y="936909"/>
                  </a:lnTo>
                  <a:lnTo>
                    <a:pt x="114635" y="900074"/>
                  </a:lnTo>
                  <a:lnTo>
                    <a:pt x="677616" y="37536"/>
                  </a:lnTo>
                  <a:lnTo>
                    <a:pt x="619612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376534" y="1629029"/>
              <a:ext cx="678180" cy="937260"/>
            </a:xfrm>
            <a:custGeom>
              <a:avLst/>
              <a:gdLst/>
              <a:ahLst/>
              <a:cxnLst/>
              <a:rect l="l" t="t" r="r" b="b"/>
              <a:pathLst>
                <a:path w="678179" h="937260">
                  <a:moveTo>
                    <a:pt x="53233" y="930097"/>
                  </a:moveTo>
                  <a:lnTo>
                    <a:pt x="170596" y="936909"/>
                  </a:lnTo>
                  <a:lnTo>
                    <a:pt x="114635" y="900074"/>
                  </a:lnTo>
                  <a:lnTo>
                    <a:pt x="677616" y="37536"/>
                  </a:lnTo>
                  <a:lnTo>
                    <a:pt x="619612" y="0"/>
                  </a:lnTo>
                  <a:lnTo>
                    <a:pt x="56631" y="861852"/>
                  </a:lnTo>
                  <a:lnTo>
                    <a:pt x="0" y="825687"/>
                  </a:lnTo>
                  <a:lnTo>
                    <a:pt x="53233" y="930097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630689" y="1966808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4" h="294005">
                  <a:moveTo>
                    <a:pt x="146029" y="0"/>
                  </a:moveTo>
                  <a:lnTo>
                    <a:pt x="90068" y="11597"/>
                  </a:lnTo>
                  <a:lnTo>
                    <a:pt x="42992" y="42992"/>
                  </a:lnTo>
                  <a:lnTo>
                    <a:pt x="19781" y="73700"/>
                  </a:lnTo>
                  <a:lnTo>
                    <a:pt x="4770" y="109179"/>
                  </a:lnTo>
                  <a:lnTo>
                    <a:pt x="0" y="147401"/>
                  </a:lnTo>
                  <a:lnTo>
                    <a:pt x="1356" y="166496"/>
                  </a:lnTo>
                  <a:lnTo>
                    <a:pt x="19781" y="221086"/>
                  </a:lnTo>
                  <a:lnTo>
                    <a:pt x="57317" y="263408"/>
                  </a:lnTo>
                  <a:lnTo>
                    <a:pt x="108493" y="288645"/>
                  </a:lnTo>
                  <a:lnTo>
                    <a:pt x="146029" y="293430"/>
                  </a:lnTo>
                  <a:lnTo>
                    <a:pt x="165811" y="292745"/>
                  </a:lnTo>
                  <a:lnTo>
                    <a:pt x="202661" y="282503"/>
                  </a:lnTo>
                  <a:lnTo>
                    <a:pt x="236098" y="263408"/>
                  </a:lnTo>
                  <a:lnTo>
                    <a:pt x="273634" y="221086"/>
                  </a:lnTo>
                  <a:lnTo>
                    <a:pt x="288645" y="185607"/>
                  </a:lnTo>
                  <a:lnTo>
                    <a:pt x="293415" y="147401"/>
                  </a:lnTo>
                  <a:lnTo>
                    <a:pt x="292059" y="128290"/>
                  </a:lnTo>
                  <a:lnTo>
                    <a:pt x="282503" y="90754"/>
                  </a:lnTo>
                  <a:lnTo>
                    <a:pt x="262722" y="57317"/>
                  </a:lnTo>
                  <a:lnTo>
                    <a:pt x="219730" y="19796"/>
                  </a:lnTo>
                  <a:lnTo>
                    <a:pt x="184236" y="4770"/>
                  </a:lnTo>
                  <a:lnTo>
                    <a:pt x="146029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630689" y="1966808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4" h="294005">
                  <a:moveTo>
                    <a:pt x="0" y="147401"/>
                  </a:moveTo>
                  <a:lnTo>
                    <a:pt x="4770" y="109179"/>
                  </a:lnTo>
                  <a:lnTo>
                    <a:pt x="19781" y="73700"/>
                  </a:lnTo>
                  <a:lnTo>
                    <a:pt x="42992" y="42992"/>
                  </a:lnTo>
                  <a:lnTo>
                    <a:pt x="90068" y="11597"/>
                  </a:lnTo>
                  <a:lnTo>
                    <a:pt x="126918" y="1371"/>
                  </a:lnTo>
                  <a:lnTo>
                    <a:pt x="146029" y="0"/>
                  </a:lnTo>
                  <a:lnTo>
                    <a:pt x="165811" y="1371"/>
                  </a:lnTo>
                  <a:lnTo>
                    <a:pt x="202661" y="11597"/>
                  </a:lnTo>
                  <a:lnTo>
                    <a:pt x="236098" y="30708"/>
                  </a:lnTo>
                  <a:lnTo>
                    <a:pt x="273634" y="73700"/>
                  </a:lnTo>
                  <a:lnTo>
                    <a:pt x="288645" y="109179"/>
                  </a:lnTo>
                  <a:lnTo>
                    <a:pt x="293415" y="147401"/>
                  </a:lnTo>
                  <a:lnTo>
                    <a:pt x="292059" y="166496"/>
                  </a:lnTo>
                  <a:lnTo>
                    <a:pt x="273634" y="221086"/>
                  </a:lnTo>
                  <a:lnTo>
                    <a:pt x="236098" y="263408"/>
                  </a:lnTo>
                  <a:lnTo>
                    <a:pt x="202661" y="282503"/>
                  </a:lnTo>
                  <a:lnTo>
                    <a:pt x="165811" y="292745"/>
                  </a:lnTo>
                  <a:lnTo>
                    <a:pt x="146029" y="293430"/>
                  </a:lnTo>
                  <a:lnTo>
                    <a:pt x="126918" y="292745"/>
                  </a:lnTo>
                  <a:lnTo>
                    <a:pt x="90068" y="282503"/>
                  </a:lnTo>
                  <a:lnTo>
                    <a:pt x="42992" y="250438"/>
                  </a:lnTo>
                  <a:lnTo>
                    <a:pt x="10911" y="203347"/>
                  </a:lnTo>
                  <a:lnTo>
                    <a:pt x="0" y="147401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/>
          <p:cNvSpPr txBox="1"/>
          <p:nvPr/>
        </p:nvSpPr>
        <p:spPr>
          <a:xfrm>
            <a:off x="4727585" y="1974644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4852115" y="1405654"/>
            <a:ext cx="1424305" cy="1383665"/>
            <a:chOff x="4852115" y="1405654"/>
            <a:chExt cx="1424305" cy="1383665"/>
          </a:xfrm>
        </p:grpSpPr>
        <p:sp>
          <p:nvSpPr>
            <p:cNvPr id="32" name="object 32"/>
            <p:cNvSpPr/>
            <p:nvPr/>
          </p:nvSpPr>
          <p:spPr>
            <a:xfrm>
              <a:off x="5154076" y="1411341"/>
              <a:ext cx="294005" cy="294640"/>
            </a:xfrm>
            <a:custGeom>
              <a:avLst/>
              <a:gdLst/>
              <a:ahLst/>
              <a:cxnLst/>
              <a:rect l="l" t="t" r="r" b="b"/>
              <a:pathLst>
                <a:path w="294004" h="294639">
                  <a:moveTo>
                    <a:pt x="0" y="147401"/>
                  </a:moveTo>
                  <a:lnTo>
                    <a:pt x="4770" y="109179"/>
                  </a:lnTo>
                  <a:lnTo>
                    <a:pt x="19110" y="73700"/>
                  </a:lnTo>
                  <a:lnTo>
                    <a:pt x="42992" y="43677"/>
                  </a:lnTo>
                  <a:lnTo>
                    <a:pt x="73014" y="19796"/>
                  </a:lnTo>
                  <a:lnTo>
                    <a:pt x="126918" y="1371"/>
                  </a:lnTo>
                  <a:lnTo>
                    <a:pt x="146029" y="0"/>
                  </a:lnTo>
                  <a:lnTo>
                    <a:pt x="165140" y="1371"/>
                  </a:lnTo>
                  <a:lnTo>
                    <a:pt x="202676" y="11597"/>
                  </a:lnTo>
                  <a:lnTo>
                    <a:pt x="250438" y="43677"/>
                  </a:lnTo>
                  <a:lnTo>
                    <a:pt x="281833" y="91439"/>
                  </a:lnTo>
                  <a:lnTo>
                    <a:pt x="292059" y="128290"/>
                  </a:lnTo>
                  <a:lnTo>
                    <a:pt x="293430" y="147401"/>
                  </a:lnTo>
                  <a:lnTo>
                    <a:pt x="292059" y="166512"/>
                  </a:lnTo>
                  <a:lnTo>
                    <a:pt x="281833" y="204033"/>
                  </a:lnTo>
                  <a:lnTo>
                    <a:pt x="250438" y="251810"/>
                  </a:lnTo>
                  <a:lnTo>
                    <a:pt x="202676" y="282519"/>
                  </a:lnTo>
                  <a:lnTo>
                    <a:pt x="165140" y="292745"/>
                  </a:lnTo>
                  <a:lnTo>
                    <a:pt x="146029" y="294116"/>
                  </a:lnTo>
                  <a:lnTo>
                    <a:pt x="126918" y="292745"/>
                  </a:lnTo>
                  <a:lnTo>
                    <a:pt x="73014" y="274319"/>
                  </a:lnTo>
                  <a:lnTo>
                    <a:pt x="30022" y="236799"/>
                  </a:lnTo>
                  <a:lnTo>
                    <a:pt x="4770" y="185607"/>
                  </a:lnTo>
                  <a:lnTo>
                    <a:pt x="0" y="147401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5160218" y="2490195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4" h="294005">
                  <a:moveTo>
                    <a:pt x="146715" y="0"/>
                  </a:moveTo>
                  <a:lnTo>
                    <a:pt x="108493" y="4785"/>
                  </a:lnTo>
                  <a:lnTo>
                    <a:pt x="57317" y="30022"/>
                  </a:lnTo>
                  <a:lnTo>
                    <a:pt x="30022" y="57317"/>
                  </a:lnTo>
                  <a:lnTo>
                    <a:pt x="10911" y="90769"/>
                  </a:lnTo>
                  <a:lnTo>
                    <a:pt x="0" y="147401"/>
                  </a:lnTo>
                  <a:lnTo>
                    <a:pt x="1371" y="166512"/>
                  </a:lnTo>
                  <a:lnTo>
                    <a:pt x="19781" y="220416"/>
                  </a:lnTo>
                  <a:lnTo>
                    <a:pt x="42992" y="251124"/>
                  </a:lnTo>
                  <a:lnTo>
                    <a:pt x="90068" y="282519"/>
                  </a:lnTo>
                  <a:lnTo>
                    <a:pt x="146715" y="293430"/>
                  </a:lnTo>
                  <a:lnTo>
                    <a:pt x="165826" y="292059"/>
                  </a:lnTo>
                  <a:lnTo>
                    <a:pt x="219730" y="273649"/>
                  </a:lnTo>
                  <a:lnTo>
                    <a:pt x="263408" y="236799"/>
                  </a:lnTo>
                  <a:lnTo>
                    <a:pt x="282503" y="203362"/>
                  </a:lnTo>
                  <a:lnTo>
                    <a:pt x="293430" y="147401"/>
                  </a:lnTo>
                  <a:lnTo>
                    <a:pt x="292059" y="127604"/>
                  </a:lnTo>
                  <a:lnTo>
                    <a:pt x="273634" y="73700"/>
                  </a:lnTo>
                  <a:lnTo>
                    <a:pt x="250438" y="42992"/>
                  </a:lnTo>
                  <a:lnTo>
                    <a:pt x="219730" y="19796"/>
                  </a:lnTo>
                  <a:lnTo>
                    <a:pt x="184251" y="4785"/>
                  </a:lnTo>
                  <a:lnTo>
                    <a:pt x="146715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5160218" y="1411341"/>
              <a:ext cx="1110615" cy="1372870"/>
            </a:xfrm>
            <a:custGeom>
              <a:avLst/>
              <a:gdLst/>
              <a:ahLst/>
              <a:cxnLst/>
              <a:rect l="l" t="t" r="r" b="b"/>
              <a:pathLst>
                <a:path w="1110614" h="1372870">
                  <a:moveTo>
                    <a:pt x="0" y="1226256"/>
                  </a:moveTo>
                  <a:lnTo>
                    <a:pt x="4770" y="1188034"/>
                  </a:lnTo>
                  <a:lnTo>
                    <a:pt x="19781" y="1152555"/>
                  </a:lnTo>
                  <a:lnTo>
                    <a:pt x="42992" y="1121846"/>
                  </a:lnTo>
                  <a:lnTo>
                    <a:pt x="73700" y="1098651"/>
                  </a:lnTo>
                  <a:lnTo>
                    <a:pt x="126918" y="1080226"/>
                  </a:lnTo>
                  <a:lnTo>
                    <a:pt x="146715" y="1078854"/>
                  </a:lnTo>
                  <a:lnTo>
                    <a:pt x="165826" y="1080226"/>
                  </a:lnTo>
                  <a:lnTo>
                    <a:pt x="219730" y="1098651"/>
                  </a:lnTo>
                  <a:lnTo>
                    <a:pt x="250438" y="1121846"/>
                  </a:lnTo>
                  <a:lnTo>
                    <a:pt x="273634" y="1152555"/>
                  </a:lnTo>
                  <a:lnTo>
                    <a:pt x="288645" y="1188034"/>
                  </a:lnTo>
                  <a:lnTo>
                    <a:pt x="293430" y="1226256"/>
                  </a:lnTo>
                  <a:lnTo>
                    <a:pt x="292059" y="1245367"/>
                  </a:lnTo>
                  <a:lnTo>
                    <a:pt x="273634" y="1299270"/>
                  </a:lnTo>
                  <a:lnTo>
                    <a:pt x="250438" y="1329979"/>
                  </a:lnTo>
                  <a:lnTo>
                    <a:pt x="202661" y="1361373"/>
                  </a:lnTo>
                  <a:lnTo>
                    <a:pt x="146715" y="1372285"/>
                  </a:lnTo>
                  <a:lnTo>
                    <a:pt x="126918" y="1370914"/>
                  </a:lnTo>
                  <a:lnTo>
                    <a:pt x="73700" y="1352504"/>
                  </a:lnTo>
                  <a:lnTo>
                    <a:pt x="30022" y="1315653"/>
                  </a:lnTo>
                  <a:lnTo>
                    <a:pt x="10911" y="1282217"/>
                  </a:lnTo>
                  <a:lnTo>
                    <a:pt x="0" y="1226256"/>
                  </a:lnTo>
                </a:path>
                <a:path w="1110614" h="1372870">
                  <a:moveTo>
                    <a:pt x="810676" y="147401"/>
                  </a:moveTo>
                  <a:lnTo>
                    <a:pt x="815446" y="109179"/>
                  </a:lnTo>
                  <a:lnTo>
                    <a:pt x="829787" y="73700"/>
                  </a:lnTo>
                  <a:lnTo>
                    <a:pt x="853668" y="43677"/>
                  </a:lnTo>
                  <a:lnTo>
                    <a:pt x="883691" y="19796"/>
                  </a:lnTo>
                  <a:lnTo>
                    <a:pt x="937595" y="1371"/>
                  </a:lnTo>
                  <a:lnTo>
                    <a:pt x="956706" y="0"/>
                  </a:lnTo>
                  <a:lnTo>
                    <a:pt x="975817" y="1371"/>
                  </a:lnTo>
                  <a:lnTo>
                    <a:pt x="1013353" y="11597"/>
                  </a:lnTo>
                  <a:lnTo>
                    <a:pt x="1046789" y="30708"/>
                  </a:lnTo>
                  <a:lnTo>
                    <a:pt x="1073398" y="58003"/>
                  </a:lnTo>
                  <a:lnTo>
                    <a:pt x="1092509" y="91439"/>
                  </a:lnTo>
                  <a:lnTo>
                    <a:pt x="1102735" y="128290"/>
                  </a:lnTo>
                  <a:lnTo>
                    <a:pt x="1104107" y="147401"/>
                  </a:lnTo>
                  <a:lnTo>
                    <a:pt x="1102735" y="166512"/>
                  </a:lnTo>
                  <a:lnTo>
                    <a:pt x="1092509" y="204033"/>
                  </a:lnTo>
                  <a:lnTo>
                    <a:pt x="1061115" y="251810"/>
                  </a:lnTo>
                  <a:lnTo>
                    <a:pt x="1013353" y="282519"/>
                  </a:lnTo>
                  <a:lnTo>
                    <a:pt x="975817" y="292745"/>
                  </a:lnTo>
                  <a:lnTo>
                    <a:pt x="956706" y="294116"/>
                  </a:lnTo>
                  <a:lnTo>
                    <a:pt x="937595" y="292745"/>
                  </a:lnTo>
                  <a:lnTo>
                    <a:pt x="883691" y="274319"/>
                  </a:lnTo>
                  <a:lnTo>
                    <a:pt x="840699" y="236799"/>
                  </a:lnTo>
                  <a:lnTo>
                    <a:pt x="815446" y="185607"/>
                  </a:lnTo>
                  <a:lnTo>
                    <a:pt x="810676" y="147401"/>
                  </a:lnTo>
                </a:path>
                <a:path w="1110614" h="1372870">
                  <a:moveTo>
                    <a:pt x="816818" y="1226256"/>
                  </a:moveTo>
                  <a:lnTo>
                    <a:pt x="821588" y="1188034"/>
                  </a:lnTo>
                  <a:lnTo>
                    <a:pt x="836615" y="1152555"/>
                  </a:lnTo>
                  <a:lnTo>
                    <a:pt x="859810" y="1121846"/>
                  </a:lnTo>
                  <a:lnTo>
                    <a:pt x="890518" y="1098651"/>
                  </a:lnTo>
                  <a:lnTo>
                    <a:pt x="943736" y="1080226"/>
                  </a:lnTo>
                  <a:lnTo>
                    <a:pt x="963533" y="1078854"/>
                  </a:lnTo>
                  <a:lnTo>
                    <a:pt x="982644" y="1080226"/>
                  </a:lnTo>
                  <a:lnTo>
                    <a:pt x="1036548" y="1098651"/>
                  </a:lnTo>
                  <a:lnTo>
                    <a:pt x="1067257" y="1121846"/>
                  </a:lnTo>
                  <a:lnTo>
                    <a:pt x="1090452" y="1152555"/>
                  </a:lnTo>
                  <a:lnTo>
                    <a:pt x="1105463" y="1188034"/>
                  </a:lnTo>
                  <a:lnTo>
                    <a:pt x="1110249" y="1226256"/>
                  </a:lnTo>
                  <a:lnTo>
                    <a:pt x="1108877" y="1245367"/>
                  </a:lnTo>
                  <a:lnTo>
                    <a:pt x="1090452" y="1299270"/>
                  </a:lnTo>
                  <a:lnTo>
                    <a:pt x="1067257" y="1329979"/>
                  </a:lnTo>
                  <a:lnTo>
                    <a:pt x="1019495" y="1361373"/>
                  </a:lnTo>
                  <a:lnTo>
                    <a:pt x="963533" y="1372285"/>
                  </a:lnTo>
                  <a:lnTo>
                    <a:pt x="943736" y="1370914"/>
                  </a:lnTo>
                  <a:lnTo>
                    <a:pt x="890518" y="1352504"/>
                  </a:lnTo>
                  <a:lnTo>
                    <a:pt x="847526" y="1315653"/>
                  </a:lnTo>
                  <a:lnTo>
                    <a:pt x="827730" y="1282217"/>
                  </a:lnTo>
                  <a:lnTo>
                    <a:pt x="816818" y="1226256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860645" y="1695216"/>
              <a:ext cx="300990" cy="297815"/>
            </a:xfrm>
            <a:custGeom>
              <a:avLst/>
              <a:gdLst/>
              <a:ahLst/>
              <a:cxnLst/>
              <a:rect l="l" t="t" r="r" b="b"/>
              <a:pathLst>
                <a:path w="300989" h="297814">
                  <a:moveTo>
                    <a:pt x="0" y="297530"/>
                  </a:moveTo>
                  <a:lnTo>
                    <a:pt x="300944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27467" y="1661779"/>
              <a:ext cx="68229" cy="67558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06749" y="1526662"/>
              <a:ext cx="64145" cy="64145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5453649" y="2643738"/>
              <a:ext cx="474980" cy="0"/>
            </a:xfrm>
            <a:custGeom>
              <a:avLst/>
              <a:gdLst/>
              <a:ahLst/>
              <a:cxnLst/>
              <a:rect l="l" t="t" r="r" b="b"/>
              <a:pathLst>
                <a:path w="474979" h="0">
                  <a:moveTo>
                    <a:pt x="0" y="0"/>
                  </a:moveTo>
                  <a:lnTo>
                    <a:pt x="474939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12891" y="2611658"/>
              <a:ext cx="64145" cy="64145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5371764" y="1684975"/>
              <a:ext cx="3175" cy="772795"/>
            </a:xfrm>
            <a:custGeom>
              <a:avLst/>
              <a:gdLst/>
              <a:ahLst/>
              <a:cxnLst/>
              <a:rect l="l" t="t" r="r" b="b"/>
              <a:pathLst>
                <a:path w="3175" h="772794">
                  <a:moveTo>
                    <a:pt x="2727" y="0"/>
                  </a:moveTo>
                  <a:lnTo>
                    <a:pt x="0" y="772469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339684" y="2441747"/>
              <a:ext cx="64769" cy="63500"/>
            </a:xfrm>
            <a:custGeom>
              <a:avLst/>
              <a:gdLst/>
              <a:ahLst/>
              <a:cxnLst/>
              <a:rect l="l" t="t" r="r" b="b"/>
              <a:pathLst>
                <a:path w="64770" h="63500">
                  <a:moveTo>
                    <a:pt x="64145" y="0"/>
                  </a:moveTo>
                  <a:lnTo>
                    <a:pt x="60731" y="2057"/>
                  </a:lnTo>
                  <a:lnTo>
                    <a:pt x="56647" y="3413"/>
                  </a:lnTo>
                  <a:lnTo>
                    <a:pt x="53233" y="4099"/>
                  </a:lnTo>
                  <a:lnTo>
                    <a:pt x="49133" y="5455"/>
                  </a:lnTo>
                  <a:lnTo>
                    <a:pt x="45719" y="6141"/>
                  </a:lnTo>
                  <a:lnTo>
                    <a:pt x="41620" y="6827"/>
                  </a:lnTo>
                  <a:lnTo>
                    <a:pt x="38221" y="7513"/>
                  </a:lnTo>
                  <a:lnTo>
                    <a:pt x="25938" y="7513"/>
                  </a:lnTo>
                  <a:lnTo>
                    <a:pt x="22524" y="6827"/>
                  </a:lnTo>
                  <a:lnTo>
                    <a:pt x="14325" y="5455"/>
                  </a:lnTo>
                  <a:lnTo>
                    <a:pt x="10927" y="4099"/>
                  </a:lnTo>
                  <a:lnTo>
                    <a:pt x="6827" y="2727"/>
                  </a:lnTo>
                  <a:lnTo>
                    <a:pt x="0" y="0"/>
                  </a:lnTo>
                  <a:lnTo>
                    <a:pt x="32080" y="63459"/>
                  </a:lnTo>
                  <a:lnTo>
                    <a:pt x="6414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6210406" y="1672021"/>
              <a:ext cx="1270" cy="799465"/>
            </a:xfrm>
            <a:custGeom>
              <a:avLst/>
              <a:gdLst/>
              <a:ahLst/>
              <a:cxnLst/>
              <a:rect l="l" t="t" r="r" b="b"/>
              <a:pathLst>
                <a:path w="1270" h="799464">
                  <a:moveTo>
                    <a:pt x="0" y="0"/>
                  </a:moveTo>
                  <a:lnTo>
                    <a:pt x="685" y="799078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6179027" y="2456073"/>
              <a:ext cx="64769" cy="63500"/>
            </a:xfrm>
            <a:custGeom>
              <a:avLst/>
              <a:gdLst/>
              <a:ahLst/>
              <a:cxnLst/>
              <a:rect l="l" t="t" r="r" b="b"/>
              <a:pathLst>
                <a:path w="64770" h="63500">
                  <a:moveTo>
                    <a:pt x="64145" y="0"/>
                  </a:moveTo>
                  <a:lnTo>
                    <a:pt x="57317" y="2743"/>
                  </a:lnTo>
                  <a:lnTo>
                    <a:pt x="53218" y="4099"/>
                  </a:lnTo>
                  <a:lnTo>
                    <a:pt x="49804" y="5471"/>
                  </a:lnTo>
                  <a:lnTo>
                    <a:pt x="45719" y="6141"/>
                  </a:lnTo>
                  <a:lnTo>
                    <a:pt x="42306" y="6827"/>
                  </a:lnTo>
                  <a:lnTo>
                    <a:pt x="38206" y="6827"/>
                  </a:lnTo>
                  <a:lnTo>
                    <a:pt x="34122" y="7513"/>
                  </a:lnTo>
                  <a:lnTo>
                    <a:pt x="30022" y="7513"/>
                  </a:lnTo>
                  <a:lnTo>
                    <a:pt x="26609" y="6827"/>
                  </a:lnTo>
                  <a:lnTo>
                    <a:pt x="22509" y="6827"/>
                  </a:lnTo>
                  <a:lnTo>
                    <a:pt x="18425" y="6141"/>
                  </a:lnTo>
                  <a:lnTo>
                    <a:pt x="15011" y="5471"/>
                  </a:lnTo>
                  <a:lnTo>
                    <a:pt x="10911" y="4099"/>
                  </a:lnTo>
                  <a:lnTo>
                    <a:pt x="4084" y="1371"/>
                  </a:lnTo>
                  <a:lnTo>
                    <a:pt x="0" y="0"/>
                  </a:lnTo>
                  <a:lnTo>
                    <a:pt x="32064" y="63474"/>
                  </a:lnTo>
                  <a:lnTo>
                    <a:pt x="6414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244830" y="1742978"/>
              <a:ext cx="2540" cy="760730"/>
            </a:xfrm>
            <a:custGeom>
              <a:avLst/>
              <a:gdLst/>
              <a:ahLst/>
              <a:cxnLst/>
              <a:rect l="l" t="t" r="r" b="b"/>
              <a:pathLst>
                <a:path w="2539" h="760730">
                  <a:moveTo>
                    <a:pt x="0" y="0"/>
                  </a:moveTo>
                  <a:lnTo>
                    <a:pt x="2057" y="760186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213451" y="1694530"/>
              <a:ext cx="63500" cy="64769"/>
            </a:xfrm>
            <a:custGeom>
              <a:avLst/>
              <a:gdLst/>
              <a:ahLst/>
              <a:cxnLst/>
              <a:rect l="l" t="t" r="r" b="b"/>
              <a:pathLst>
                <a:path w="63500" h="64769">
                  <a:moveTo>
                    <a:pt x="31379" y="0"/>
                  </a:moveTo>
                  <a:lnTo>
                    <a:pt x="0" y="64145"/>
                  </a:lnTo>
                  <a:lnTo>
                    <a:pt x="3398" y="62102"/>
                  </a:lnTo>
                  <a:lnTo>
                    <a:pt x="10226" y="59375"/>
                  </a:lnTo>
                  <a:lnTo>
                    <a:pt x="14325" y="58689"/>
                  </a:lnTo>
                  <a:lnTo>
                    <a:pt x="18409" y="57332"/>
                  </a:lnTo>
                  <a:lnTo>
                    <a:pt x="21823" y="56647"/>
                  </a:lnTo>
                  <a:lnTo>
                    <a:pt x="30022" y="56647"/>
                  </a:lnTo>
                  <a:lnTo>
                    <a:pt x="33436" y="55961"/>
                  </a:lnTo>
                  <a:lnTo>
                    <a:pt x="36835" y="56647"/>
                  </a:lnTo>
                  <a:lnTo>
                    <a:pt x="40934" y="56647"/>
                  </a:lnTo>
                  <a:lnTo>
                    <a:pt x="44348" y="57332"/>
                  </a:lnTo>
                  <a:lnTo>
                    <a:pt x="48447" y="58689"/>
                  </a:lnTo>
                  <a:lnTo>
                    <a:pt x="52532" y="59375"/>
                  </a:lnTo>
                  <a:lnTo>
                    <a:pt x="59359" y="62102"/>
                  </a:lnTo>
                  <a:lnTo>
                    <a:pt x="63459" y="63474"/>
                  </a:lnTo>
                  <a:lnTo>
                    <a:pt x="3137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6050051" y="1740250"/>
              <a:ext cx="5080" cy="770255"/>
            </a:xfrm>
            <a:custGeom>
              <a:avLst/>
              <a:gdLst/>
              <a:ahLst/>
              <a:cxnLst/>
              <a:rect l="l" t="t" r="r" b="b"/>
              <a:pathLst>
                <a:path w="5079" h="770255">
                  <a:moveTo>
                    <a:pt x="4770" y="0"/>
                  </a:moveTo>
                  <a:lnTo>
                    <a:pt x="0" y="769741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6022756" y="1691117"/>
              <a:ext cx="63500" cy="65405"/>
            </a:xfrm>
            <a:custGeom>
              <a:avLst/>
              <a:gdLst/>
              <a:ahLst/>
              <a:cxnLst/>
              <a:rect l="l" t="t" r="r" b="b"/>
              <a:pathLst>
                <a:path w="63500" h="65405">
                  <a:moveTo>
                    <a:pt x="32750" y="0"/>
                  </a:moveTo>
                  <a:lnTo>
                    <a:pt x="0" y="64145"/>
                  </a:lnTo>
                  <a:lnTo>
                    <a:pt x="3413" y="62788"/>
                  </a:lnTo>
                  <a:lnTo>
                    <a:pt x="7513" y="61417"/>
                  </a:lnTo>
                  <a:lnTo>
                    <a:pt x="10911" y="60060"/>
                  </a:lnTo>
                  <a:lnTo>
                    <a:pt x="15011" y="58689"/>
                  </a:lnTo>
                  <a:lnTo>
                    <a:pt x="18425" y="58003"/>
                  </a:lnTo>
                  <a:lnTo>
                    <a:pt x="22524" y="57332"/>
                  </a:lnTo>
                  <a:lnTo>
                    <a:pt x="26609" y="57332"/>
                  </a:lnTo>
                  <a:lnTo>
                    <a:pt x="30022" y="56647"/>
                  </a:lnTo>
                  <a:lnTo>
                    <a:pt x="34122" y="56647"/>
                  </a:lnTo>
                  <a:lnTo>
                    <a:pt x="38206" y="57332"/>
                  </a:lnTo>
                  <a:lnTo>
                    <a:pt x="42306" y="57332"/>
                  </a:lnTo>
                  <a:lnTo>
                    <a:pt x="45034" y="58003"/>
                  </a:lnTo>
                  <a:lnTo>
                    <a:pt x="49133" y="59375"/>
                  </a:lnTo>
                  <a:lnTo>
                    <a:pt x="52547" y="60060"/>
                  </a:lnTo>
                  <a:lnTo>
                    <a:pt x="56631" y="61417"/>
                  </a:lnTo>
                  <a:lnTo>
                    <a:pt x="60045" y="62788"/>
                  </a:lnTo>
                  <a:lnTo>
                    <a:pt x="63459" y="64830"/>
                  </a:lnTo>
                  <a:lnTo>
                    <a:pt x="327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430438" y="1704086"/>
              <a:ext cx="557530" cy="854075"/>
            </a:xfrm>
            <a:custGeom>
              <a:avLst/>
              <a:gdLst/>
              <a:ahLst/>
              <a:cxnLst/>
              <a:rect l="l" t="t" r="r" b="b"/>
              <a:pathLst>
                <a:path w="557529" h="854075">
                  <a:moveTo>
                    <a:pt x="557509" y="0"/>
                  </a:moveTo>
                  <a:lnTo>
                    <a:pt x="0" y="853668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953155" y="1663151"/>
              <a:ext cx="61594" cy="71120"/>
            </a:xfrm>
            <a:custGeom>
              <a:avLst/>
              <a:gdLst/>
              <a:ahLst/>
              <a:cxnLst/>
              <a:rect l="l" t="t" r="r" b="b"/>
              <a:pathLst>
                <a:path w="61595" h="71119">
                  <a:moveTo>
                    <a:pt x="61417" y="0"/>
                  </a:moveTo>
                  <a:lnTo>
                    <a:pt x="0" y="36164"/>
                  </a:lnTo>
                  <a:lnTo>
                    <a:pt x="3413" y="36850"/>
                  </a:lnTo>
                  <a:lnTo>
                    <a:pt x="7498" y="37520"/>
                  </a:lnTo>
                  <a:lnTo>
                    <a:pt x="10911" y="38206"/>
                  </a:lnTo>
                  <a:lnTo>
                    <a:pt x="15011" y="39578"/>
                  </a:lnTo>
                  <a:lnTo>
                    <a:pt x="18425" y="40934"/>
                  </a:lnTo>
                  <a:lnTo>
                    <a:pt x="21838" y="42992"/>
                  </a:lnTo>
                  <a:lnTo>
                    <a:pt x="25923" y="44348"/>
                  </a:lnTo>
                  <a:lnTo>
                    <a:pt x="29336" y="46390"/>
                  </a:lnTo>
                  <a:lnTo>
                    <a:pt x="32064" y="48447"/>
                  </a:lnTo>
                  <a:lnTo>
                    <a:pt x="35478" y="51175"/>
                  </a:lnTo>
                  <a:lnTo>
                    <a:pt x="38206" y="53218"/>
                  </a:lnTo>
                  <a:lnTo>
                    <a:pt x="41620" y="55946"/>
                  </a:lnTo>
                  <a:lnTo>
                    <a:pt x="44348" y="58673"/>
                  </a:lnTo>
                  <a:lnTo>
                    <a:pt x="46405" y="61401"/>
                  </a:lnTo>
                  <a:lnTo>
                    <a:pt x="49133" y="64815"/>
                  </a:lnTo>
                  <a:lnTo>
                    <a:pt x="51175" y="68229"/>
                  </a:lnTo>
                  <a:lnTo>
                    <a:pt x="53218" y="70957"/>
                  </a:lnTo>
                  <a:lnTo>
                    <a:pt x="6141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862017" y="2233615"/>
              <a:ext cx="282575" cy="298450"/>
            </a:xfrm>
            <a:custGeom>
              <a:avLst/>
              <a:gdLst/>
              <a:ahLst/>
              <a:cxnLst/>
              <a:rect l="l" t="t" r="r" b="b"/>
              <a:pathLst>
                <a:path w="282575" h="298450">
                  <a:moveTo>
                    <a:pt x="282503" y="298216"/>
                  </a:moveTo>
                  <a:lnTo>
                    <a:pt x="0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10398" y="2498394"/>
              <a:ext cx="67558" cy="68915"/>
            </a:xfrm>
            <a:prstGeom prst="rect">
              <a:avLst/>
            </a:prstGeom>
          </p:spPr>
        </p:pic>
      </p:grpSp>
      <p:sp>
        <p:nvSpPr>
          <p:cNvPr id="52" name="object 52"/>
          <p:cNvSpPr txBox="1"/>
          <p:nvPr/>
        </p:nvSpPr>
        <p:spPr>
          <a:xfrm>
            <a:off x="4539245" y="1789033"/>
            <a:ext cx="11493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6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894086" y="1608200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6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891356" y="2341768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656996" y="2614036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098120" y="1812229"/>
            <a:ext cx="1249045" cy="408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5080">
              <a:lnSpc>
                <a:spcPts val="1505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600">
              <a:latin typeface="Arial"/>
              <a:cs typeface="Arial"/>
            </a:endParaRPr>
          </a:p>
          <a:p>
            <a:pPr algn="ctr" marR="5080">
              <a:lnSpc>
                <a:spcPts val="1505"/>
              </a:lnSpc>
              <a:tabLst>
                <a:tab pos="306070" algn="l"/>
                <a:tab pos="816610" algn="l"/>
                <a:tab pos="1122680" algn="l"/>
              </a:tabLst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3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4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226939" y="1419175"/>
            <a:ext cx="1029969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  <a:tabLst>
                <a:tab pos="429895" algn="l"/>
                <a:tab pos="694690" algn="l"/>
              </a:tabLst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r>
              <a:rPr dirty="0" u="heavy" baseline="27777" sz="2400" spc="-7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	1	</a:t>
            </a:r>
            <a:r>
              <a:rPr dirty="0" baseline="1736" sz="2400" spc="-7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baseline="1736" sz="24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248245" y="2491207"/>
            <a:ext cx="9467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820419" algn="l"/>
              </a:tabLst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baseline="1736" sz="2400" spc="-7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baseline="1736" sz="24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253926" y="944228"/>
            <a:ext cx="7137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select</a:t>
            </a:r>
            <a:r>
              <a:rPr dirty="0" sz="1600" spc="-5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823539" y="2996998"/>
            <a:ext cx="25825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8.65: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Dijkstra’s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1790700" y="3812052"/>
            <a:ext cx="4648200" cy="1992630"/>
            <a:chOff x="1790700" y="3812052"/>
            <a:chExt cx="4648200" cy="1992630"/>
          </a:xfrm>
        </p:grpSpPr>
        <p:sp>
          <p:nvSpPr>
            <p:cNvPr id="62" name="object 62"/>
            <p:cNvSpPr/>
            <p:nvPr/>
          </p:nvSpPr>
          <p:spPr>
            <a:xfrm>
              <a:off x="1790700" y="3812052"/>
              <a:ext cx="4648200" cy="1992630"/>
            </a:xfrm>
            <a:custGeom>
              <a:avLst/>
              <a:gdLst/>
              <a:ahLst/>
              <a:cxnLst/>
              <a:rect l="l" t="t" r="r" b="b"/>
              <a:pathLst>
                <a:path w="4648200" h="1992629">
                  <a:moveTo>
                    <a:pt x="4648001" y="0"/>
                  </a:moveTo>
                  <a:lnTo>
                    <a:pt x="0" y="0"/>
                  </a:lnTo>
                  <a:lnTo>
                    <a:pt x="0" y="1992355"/>
                  </a:lnTo>
                  <a:lnTo>
                    <a:pt x="4648001" y="1992355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953758" y="4865563"/>
              <a:ext cx="408940" cy="205104"/>
            </a:xfrm>
            <a:custGeom>
              <a:avLst/>
              <a:gdLst/>
              <a:ahLst/>
              <a:cxnLst/>
              <a:rect l="l" t="t" r="r" b="b"/>
              <a:pathLst>
                <a:path w="408939" h="205104">
                  <a:moveTo>
                    <a:pt x="306384" y="0"/>
                  </a:moveTo>
                  <a:lnTo>
                    <a:pt x="306384" y="67543"/>
                  </a:lnTo>
                  <a:lnTo>
                    <a:pt x="0" y="67543"/>
                  </a:lnTo>
                  <a:lnTo>
                    <a:pt x="0" y="137159"/>
                  </a:lnTo>
                  <a:lnTo>
                    <a:pt x="306384" y="137159"/>
                  </a:lnTo>
                  <a:lnTo>
                    <a:pt x="306384" y="204703"/>
                  </a:lnTo>
                  <a:lnTo>
                    <a:pt x="408752" y="102351"/>
                  </a:lnTo>
                  <a:lnTo>
                    <a:pt x="306384" y="0"/>
                  </a:lnTo>
                  <a:close/>
                </a:path>
              </a:pathLst>
            </a:custGeom>
            <a:solidFill>
              <a:srgbClr val="B8E7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953758" y="4865563"/>
              <a:ext cx="408940" cy="205104"/>
            </a:xfrm>
            <a:custGeom>
              <a:avLst/>
              <a:gdLst/>
              <a:ahLst/>
              <a:cxnLst/>
              <a:rect l="l" t="t" r="r" b="b"/>
              <a:pathLst>
                <a:path w="408939" h="205104">
                  <a:moveTo>
                    <a:pt x="408752" y="102351"/>
                  </a:moveTo>
                  <a:lnTo>
                    <a:pt x="306384" y="204703"/>
                  </a:lnTo>
                  <a:lnTo>
                    <a:pt x="306384" y="137159"/>
                  </a:lnTo>
                  <a:lnTo>
                    <a:pt x="0" y="137159"/>
                  </a:lnTo>
                  <a:lnTo>
                    <a:pt x="0" y="67543"/>
                  </a:lnTo>
                  <a:lnTo>
                    <a:pt x="306384" y="67543"/>
                  </a:lnTo>
                  <a:lnTo>
                    <a:pt x="306384" y="0"/>
                  </a:lnTo>
                  <a:lnTo>
                    <a:pt x="408752" y="102351"/>
                  </a:lnTo>
                </a:path>
              </a:pathLst>
            </a:custGeom>
            <a:ln w="568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5" name="object 65"/>
          <p:cNvSpPr txBox="1"/>
          <p:nvPr/>
        </p:nvSpPr>
        <p:spPr>
          <a:xfrm>
            <a:off x="4049964" y="4657073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1969800" y="4501845"/>
            <a:ext cx="1429385" cy="1117600"/>
            <a:chOff x="1969800" y="4501845"/>
            <a:chExt cx="1429385" cy="1117600"/>
          </a:xfrm>
        </p:grpSpPr>
        <p:sp>
          <p:nvSpPr>
            <p:cNvPr id="67" name="object 67"/>
            <p:cNvSpPr/>
            <p:nvPr/>
          </p:nvSpPr>
          <p:spPr>
            <a:xfrm>
              <a:off x="2804617" y="5414203"/>
              <a:ext cx="524510" cy="205104"/>
            </a:xfrm>
            <a:custGeom>
              <a:avLst/>
              <a:gdLst/>
              <a:ahLst/>
              <a:cxnLst/>
              <a:rect l="l" t="t" r="r" b="b"/>
              <a:pathLst>
                <a:path w="524510" h="205104">
                  <a:moveTo>
                    <a:pt x="59359" y="0"/>
                  </a:moveTo>
                  <a:lnTo>
                    <a:pt x="0" y="102351"/>
                  </a:lnTo>
                  <a:lnTo>
                    <a:pt x="59359" y="204703"/>
                  </a:lnTo>
                  <a:lnTo>
                    <a:pt x="59359" y="137159"/>
                  </a:lnTo>
                  <a:lnTo>
                    <a:pt x="524073" y="137159"/>
                  </a:lnTo>
                  <a:lnTo>
                    <a:pt x="524073" y="67543"/>
                  </a:lnTo>
                  <a:lnTo>
                    <a:pt x="59359" y="67543"/>
                  </a:lnTo>
                  <a:lnTo>
                    <a:pt x="59359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804617" y="5414203"/>
              <a:ext cx="524510" cy="205104"/>
            </a:xfrm>
            <a:custGeom>
              <a:avLst/>
              <a:gdLst/>
              <a:ahLst/>
              <a:cxnLst/>
              <a:rect l="l" t="t" r="r" b="b"/>
              <a:pathLst>
                <a:path w="524510" h="205104">
                  <a:moveTo>
                    <a:pt x="0" y="102351"/>
                  </a:moveTo>
                  <a:lnTo>
                    <a:pt x="59359" y="204703"/>
                  </a:lnTo>
                  <a:lnTo>
                    <a:pt x="59359" y="137159"/>
                  </a:lnTo>
                  <a:lnTo>
                    <a:pt x="524073" y="137159"/>
                  </a:lnTo>
                  <a:lnTo>
                    <a:pt x="524073" y="67543"/>
                  </a:lnTo>
                  <a:lnTo>
                    <a:pt x="59359" y="67543"/>
                  </a:lnTo>
                  <a:lnTo>
                    <a:pt x="59359" y="0"/>
                  </a:lnTo>
                  <a:lnTo>
                    <a:pt x="0" y="102351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488661" y="4571446"/>
              <a:ext cx="204470" cy="798830"/>
            </a:xfrm>
            <a:custGeom>
              <a:avLst/>
              <a:gdLst/>
              <a:ahLst/>
              <a:cxnLst/>
              <a:rect l="l" t="t" r="r" b="b"/>
              <a:pathLst>
                <a:path w="204469" h="798829">
                  <a:moveTo>
                    <a:pt x="136489" y="0"/>
                  </a:moveTo>
                  <a:lnTo>
                    <a:pt x="66888" y="0"/>
                  </a:lnTo>
                  <a:lnTo>
                    <a:pt x="66888" y="739703"/>
                  </a:lnTo>
                  <a:lnTo>
                    <a:pt x="0" y="739703"/>
                  </a:lnTo>
                  <a:lnTo>
                    <a:pt x="101681" y="798393"/>
                  </a:lnTo>
                  <a:lnTo>
                    <a:pt x="204048" y="739703"/>
                  </a:lnTo>
                  <a:lnTo>
                    <a:pt x="136489" y="739703"/>
                  </a:lnTo>
                  <a:lnTo>
                    <a:pt x="136489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2488661" y="4571446"/>
              <a:ext cx="204470" cy="798830"/>
            </a:xfrm>
            <a:custGeom>
              <a:avLst/>
              <a:gdLst/>
              <a:ahLst/>
              <a:cxnLst/>
              <a:rect l="l" t="t" r="r" b="b"/>
              <a:pathLst>
                <a:path w="204469" h="798829">
                  <a:moveTo>
                    <a:pt x="101681" y="798393"/>
                  </a:moveTo>
                  <a:lnTo>
                    <a:pt x="204048" y="739703"/>
                  </a:lnTo>
                  <a:lnTo>
                    <a:pt x="136489" y="739703"/>
                  </a:lnTo>
                  <a:lnTo>
                    <a:pt x="136489" y="0"/>
                  </a:lnTo>
                  <a:lnTo>
                    <a:pt x="66888" y="0"/>
                  </a:lnTo>
                  <a:lnTo>
                    <a:pt x="66888" y="739703"/>
                  </a:lnTo>
                  <a:lnTo>
                    <a:pt x="0" y="739703"/>
                  </a:lnTo>
                  <a:lnTo>
                    <a:pt x="101681" y="798393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163165" y="5075052"/>
              <a:ext cx="382270" cy="393065"/>
            </a:xfrm>
            <a:custGeom>
              <a:avLst/>
              <a:gdLst/>
              <a:ahLst/>
              <a:cxnLst/>
              <a:rect l="l" t="t" r="r" b="b"/>
              <a:pathLst>
                <a:path w="382269" h="393064">
                  <a:moveTo>
                    <a:pt x="148087" y="0"/>
                  </a:moveTo>
                  <a:lnTo>
                    <a:pt x="33436" y="27294"/>
                  </a:lnTo>
                  <a:lnTo>
                    <a:pt x="0" y="140573"/>
                  </a:lnTo>
                  <a:lnTo>
                    <a:pt x="49133" y="94167"/>
                  </a:lnTo>
                  <a:lnTo>
                    <a:pt x="332323" y="393054"/>
                  </a:lnTo>
                  <a:lnTo>
                    <a:pt x="382142" y="345292"/>
                  </a:lnTo>
                  <a:lnTo>
                    <a:pt x="98953" y="45719"/>
                  </a:lnTo>
                  <a:lnTo>
                    <a:pt x="148087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163165" y="5075052"/>
              <a:ext cx="382270" cy="393065"/>
            </a:xfrm>
            <a:custGeom>
              <a:avLst/>
              <a:gdLst/>
              <a:ahLst/>
              <a:cxnLst/>
              <a:rect l="l" t="t" r="r" b="b"/>
              <a:pathLst>
                <a:path w="382269" h="393064">
                  <a:moveTo>
                    <a:pt x="33436" y="27294"/>
                  </a:moveTo>
                  <a:lnTo>
                    <a:pt x="0" y="140573"/>
                  </a:lnTo>
                  <a:lnTo>
                    <a:pt x="49133" y="94167"/>
                  </a:lnTo>
                  <a:lnTo>
                    <a:pt x="332323" y="393054"/>
                  </a:lnTo>
                  <a:lnTo>
                    <a:pt x="382142" y="345292"/>
                  </a:lnTo>
                  <a:lnTo>
                    <a:pt x="98953" y="45719"/>
                  </a:lnTo>
                  <a:lnTo>
                    <a:pt x="148087" y="0"/>
                  </a:lnTo>
                  <a:lnTo>
                    <a:pt x="33436" y="27294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722046" y="4501845"/>
              <a:ext cx="677545" cy="937260"/>
            </a:xfrm>
            <a:custGeom>
              <a:avLst/>
              <a:gdLst/>
              <a:ahLst/>
              <a:cxnLst/>
              <a:rect l="l" t="t" r="r" b="b"/>
              <a:pathLst>
                <a:path w="677545" h="937260">
                  <a:moveTo>
                    <a:pt x="618241" y="0"/>
                  </a:moveTo>
                  <a:lnTo>
                    <a:pt x="56631" y="861852"/>
                  </a:lnTo>
                  <a:lnTo>
                    <a:pt x="0" y="825687"/>
                  </a:lnTo>
                  <a:lnTo>
                    <a:pt x="53218" y="930097"/>
                  </a:lnTo>
                  <a:lnTo>
                    <a:pt x="170596" y="936909"/>
                  </a:lnTo>
                  <a:lnTo>
                    <a:pt x="113964" y="900074"/>
                  </a:lnTo>
                  <a:lnTo>
                    <a:pt x="676930" y="37536"/>
                  </a:lnTo>
                  <a:lnTo>
                    <a:pt x="618241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722046" y="4501845"/>
              <a:ext cx="677545" cy="937260"/>
            </a:xfrm>
            <a:custGeom>
              <a:avLst/>
              <a:gdLst/>
              <a:ahLst/>
              <a:cxnLst/>
              <a:rect l="l" t="t" r="r" b="b"/>
              <a:pathLst>
                <a:path w="677545" h="937260">
                  <a:moveTo>
                    <a:pt x="53218" y="930097"/>
                  </a:moveTo>
                  <a:lnTo>
                    <a:pt x="170596" y="936909"/>
                  </a:lnTo>
                  <a:lnTo>
                    <a:pt x="113964" y="900074"/>
                  </a:lnTo>
                  <a:lnTo>
                    <a:pt x="676930" y="37536"/>
                  </a:lnTo>
                  <a:lnTo>
                    <a:pt x="618241" y="0"/>
                  </a:lnTo>
                  <a:lnTo>
                    <a:pt x="56631" y="861852"/>
                  </a:lnTo>
                  <a:lnTo>
                    <a:pt x="0" y="825687"/>
                  </a:lnTo>
                  <a:lnTo>
                    <a:pt x="53218" y="930097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1975515" y="4839624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5" h="294004">
                  <a:moveTo>
                    <a:pt x="146715" y="0"/>
                  </a:moveTo>
                  <a:lnTo>
                    <a:pt x="108493" y="4770"/>
                  </a:lnTo>
                  <a:lnTo>
                    <a:pt x="73014" y="19796"/>
                  </a:lnTo>
                  <a:lnTo>
                    <a:pt x="30022" y="57317"/>
                  </a:lnTo>
                  <a:lnTo>
                    <a:pt x="10911" y="90754"/>
                  </a:lnTo>
                  <a:lnTo>
                    <a:pt x="685" y="128290"/>
                  </a:lnTo>
                  <a:lnTo>
                    <a:pt x="0" y="147401"/>
                  </a:lnTo>
                  <a:lnTo>
                    <a:pt x="685" y="166496"/>
                  </a:lnTo>
                  <a:lnTo>
                    <a:pt x="10911" y="203347"/>
                  </a:lnTo>
                  <a:lnTo>
                    <a:pt x="30022" y="236783"/>
                  </a:lnTo>
                  <a:lnTo>
                    <a:pt x="57317" y="263408"/>
                  </a:lnTo>
                  <a:lnTo>
                    <a:pt x="90754" y="282503"/>
                  </a:lnTo>
                  <a:lnTo>
                    <a:pt x="127604" y="292745"/>
                  </a:lnTo>
                  <a:lnTo>
                    <a:pt x="146715" y="293430"/>
                  </a:lnTo>
                  <a:lnTo>
                    <a:pt x="165811" y="292745"/>
                  </a:lnTo>
                  <a:lnTo>
                    <a:pt x="203347" y="282503"/>
                  </a:lnTo>
                  <a:lnTo>
                    <a:pt x="236783" y="263408"/>
                  </a:lnTo>
                  <a:lnTo>
                    <a:pt x="273634" y="221101"/>
                  </a:lnTo>
                  <a:lnTo>
                    <a:pt x="288645" y="185607"/>
                  </a:lnTo>
                  <a:lnTo>
                    <a:pt x="293430" y="147401"/>
                  </a:lnTo>
                  <a:lnTo>
                    <a:pt x="292059" y="128290"/>
                  </a:lnTo>
                  <a:lnTo>
                    <a:pt x="281818" y="90754"/>
                  </a:lnTo>
                  <a:lnTo>
                    <a:pt x="263392" y="57317"/>
                  </a:lnTo>
                  <a:lnTo>
                    <a:pt x="220416" y="19796"/>
                  </a:lnTo>
                  <a:lnTo>
                    <a:pt x="184922" y="4770"/>
                  </a:lnTo>
                  <a:lnTo>
                    <a:pt x="146715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1975515" y="4839624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5" h="294004">
                  <a:moveTo>
                    <a:pt x="0" y="147401"/>
                  </a:moveTo>
                  <a:lnTo>
                    <a:pt x="4770" y="109179"/>
                  </a:lnTo>
                  <a:lnTo>
                    <a:pt x="19781" y="73700"/>
                  </a:lnTo>
                  <a:lnTo>
                    <a:pt x="42992" y="42992"/>
                  </a:lnTo>
                  <a:lnTo>
                    <a:pt x="90754" y="11597"/>
                  </a:lnTo>
                  <a:lnTo>
                    <a:pt x="127604" y="1371"/>
                  </a:lnTo>
                  <a:lnTo>
                    <a:pt x="146715" y="0"/>
                  </a:lnTo>
                  <a:lnTo>
                    <a:pt x="165811" y="1371"/>
                  </a:lnTo>
                  <a:lnTo>
                    <a:pt x="203347" y="11597"/>
                  </a:lnTo>
                  <a:lnTo>
                    <a:pt x="236783" y="30708"/>
                  </a:lnTo>
                  <a:lnTo>
                    <a:pt x="273634" y="73700"/>
                  </a:lnTo>
                  <a:lnTo>
                    <a:pt x="288645" y="109179"/>
                  </a:lnTo>
                  <a:lnTo>
                    <a:pt x="293430" y="147401"/>
                  </a:lnTo>
                  <a:lnTo>
                    <a:pt x="292059" y="166496"/>
                  </a:lnTo>
                  <a:lnTo>
                    <a:pt x="281818" y="203347"/>
                  </a:lnTo>
                  <a:lnTo>
                    <a:pt x="263392" y="236783"/>
                  </a:lnTo>
                  <a:lnTo>
                    <a:pt x="220416" y="273634"/>
                  </a:lnTo>
                  <a:lnTo>
                    <a:pt x="184922" y="288645"/>
                  </a:lnTo>
                  <a:lnTo>
                    <a:pt x="146715" y="293430"/>
                  </a:lnTo>
                  <a:lnTo>
                    <a:pt x="127604" y="292745"/>
                  </a:lnTo>
                  <a:lnTo>
                    <a:pt x="90754" y="282503"/>
                  </a:lnTo>
                  <a:lnTo>
                    <a:pt x="57317" y="263408"/>
                  </a:lnTo>
                  <a:lnTo>
                    <a:pt x="30022" y="236783"/>
                  </a:lnTo>
                  <a:lnTo>
                    <a:pt x="10911" y="203347"/>
                  </a:lnTo>
                  <a:lnTo>
                    <a:pt x="685" y="166496"/>
                  </a:lnTo>
                  <a:lnTo>
                    <a:pt x="0" y="147401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7" name="object 77"/>
          <p:cNvSpPr txBox="1"/>
          <p:nvPr/>
        </p:nvSpPr>
        <p:spPr>
          <a:xfrm>
            <a:off x="2073096" y="4847458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78" name="object 78"/>
          <p:cNvGrpSpPr/>
          <p:nvPr/>
        </p:nvGrpSpPr>
        <p:grpSpPr>
          <a:xfrm>
            <a:off x="2197585" y="4278442"/>
            <a:ext cx="1423670" cy="1384300"/>
            <a:chOff x="2197585" y="4278442"/>
            <a:chExt cx="1423670" cy="1384300"/>
          </a:xfrm>
        </p:grpSpPr>
        <p:sp>
          <p:nvSpPr>
            <p:cNvPr id="79" name="object 79"/>
            <p:cNvSpPr/>
            <p:nvPr/>
          </p:nvSpPr>
          <p:spPr>
            <a:xfrm>
              <a:off x="2498902" y="4284157"/>
              <a:ext cx="294005" cy="294640"/>
            </a:xfrm>
            <a:custGeom>
              <a:avLst/>
              <a:gdLst/>
              <a:ahLst/>
              <a:cxnLst/>
              <a:rect l="l" t="t" r="r" b="b"/>
              <a:pathLst>
                <a:path w="294005" h="294639">
                  <a:moveTo>
                    <a:pt x="0" y="147401"/>
                  </a:moveTo>
                  <a:lnTo>
                    <a:pt x="5455" y="109179"/>
                  </a:lnTo>
                  <a:lnTo>
                    <a:pt x="30022" y="58003"/>
                  </a:lnTo>
                  <a:lnTo>
                    <a:pt x="57317" y="30708"/>
                  </a:lnTo>
                  <a:lnTo>
                    <a:pt x="90754" y="11597"/>
                  </a:lnTo>
                  <a:lnTo>
                    <a:pt x="127604" y="1371"/>
                  </a:lnTo>
                  <a:lnTo>
                    <a:pt x="146715" y="0"/>
                  </a:lnTo>
                  <a:lnTo>
                    <a:pt x="165826" y="1371"/>
                  </a:lnTo>
                  <a:lnTo>
                    <a:pt x="203347" y="11597"/>
                  </a:lnTo>
                  <a:lnTo>
                    <a:pt x="251124" y="43677"/>
                  </a:lnTo>
                  <a:lnTo>
                    <a:pt x="282503" y="91439"/>
                  </a:lnTo>
                  <a:lnTo>
                    <a:pt x="293430" y="147401"/>
                  </a:lnTo>
                  <a:lnTo>
                    <a:pt x="292059" y="166512"/>
                  </a:lnTo>
                  <a:lnTo>
                    <a:pt x="282503" y="204033"/>
                  </a:lnTo>
                  <a:lnTo>
                    <a:pt x="251124" y="251810"/>
                  </a:lnTo>
                  <a:lnTo>
                    <a:pt x="203347" y="282519"/>
                  </a:lnTo>
                  <a:lnTo>
                    <a:pt x="165826" y="292745"/>
                  </a:lnTo>
                  <a:lnTo>
                    <a:pt x="146715" y="294116"/>
                  </a:lnTo>
                  <a:lnTo>
                    <a:pt x="127604" y="292745"/>
                  </a:lnTo>
                  <a:lnTo>
                    <a:pt x="90754" y="282519"/>
                  </a:lnTo>
                  <a:lnTo>
                    <a:pt x="57317" y="263408"/>
                  </a:lnTo>
                  <a:lnTo>
                    <a:pt x="30022" y="236799"/>
                  </a:lnTo>
                  <a:lnTo>
                    <a:pt x="5455" y="185607"/>
                  </a:lnTo>
                  <a:lnTo>
                    <a:pt x="0" y="147401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505730" y="5363012"/>
              <a:ext cx="293370" cy="294005"/>
            </a:xfrm>
            <a:custGeom>
              <a:avLst/>
              <a:gdLst/>
              <a:ahLst/>
              <a:cxnLst/>
              <a:rect l="l" t="t" r="r" b="b"/>
              <a:pathLst>
                <a:path w="293369" h="294004">
                  <a:moveTo>
                    <a:pt x="146029" y="0"/>
                  </a:moveTo>
                  <a:lnTo>
                    <a:pt x="90068" y="10927"/>
                  </a:lnTo>
                  <a:lnTo>
                    <a:pt x="56631" y="30022"/>
                  </a:lnTo>
                  <a:lnTo>
                    <a:pt x="29336" y="57332"/>
                  </a:lnTo>
                  <a:lnTo>
                    <a:pt x="10241" y="90769"/>
                  </a:lnTo>
                  <a:lnTo>
                    <a:pt x="0" y="147401"/>
                  </a:lnTo>
                  <a:lnTo>
                    <a:pt x="1356" y="166512"/>
                  </a:lnTo>
                  <a:lnTo>
                    <a:pt x="19110" y="220416"/>
                  </a:lnTo>
                  <a:lnTo>
                    <a:pt x="42306" y="251124"/>
                  </a:lnTo>
                  <a:lnTo>
                    <a:pt x="90068" y="282519"/>
                  </a:lnTo>
                  <a:lnTo>
                    <a:pt x="146029" y="293430"/>
                  </a:lnTo>
                  <a:lnTo>
                    <a:pt x="165811" y="292074"/>
                  </a:lnTo>
                  <a:lnTo>
                    <a:pt x="219730" y="273649"/>
                  </a:lnTo>
                  <a:lnTo>
                    <a:pt x="262722" y="236799"/>
                  </a:lnTo>
                  <a:lnTo>
                    <a:pt x="281818" y="203362"/>
                  </a:lnTo>
                  <a:lnTo>
                    <a:pt x="292745" y="147401"/>
                  </a:lnTo>
                  <a:lnTo>
                    <a:pt x="291373" y="127604"/>
                  </a:lnTo>
                  <a:lnTo>
                    <a:pt x="273634" y="73700"/>
                  </a:lnTo>
                  <a:lnTo>
                    <a:pt x="250438" y="42992"/>
                  </a:lnTo>
                  <a:lnTo>
                    <a:pt x="219730" y="19796"/>
                  </a:lnTo>
                  <a:lnTo>
                    <a:pt x="184236" y="4785"/>
                  </a:lnTo>
                  <a:lnTo>
                    <a:pt x="146029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2505730" y="4284157"/>
              <a:ext cx="1109980" cy="1372870"/>
            </a:xfrm>
            <a:custGeom>
              <a:avLst/>
              <a:gdLst/>
              <a:ahLst/>
              <a:cxnLst/>
              <a:rect l="l" t="t" r="r" b="b"/>
              <a:pathLst>
                <a:path w="1109979" h="1372870">
                  <a:moveTo>
                    <a:pt x="0" y="1226256"/>
                  </a:moveTo>
                  <a:lnTo>
                    <a:pt x="4770" y="1188049"/>
                  </a:lnTo>
                  <a:lnTo>
                    <a:pt x="19110" y="1152555"/>
                  </a:lnTo>
                  <a:lnTo>
                    <a:pt x="42306" y="1121846"/>
                  </a:lnTo>
                  <a:lnTo>
                    <a:pt x="73014" y="1098651"/>
                  </a:lnTo>
                  <a:lnTo>
                    <a:pt x="108493" y="1083640"/>
                  </a:lnTo>
                  <a:lnTo>
                    <a:pt x="146029" y="1078854"/>
                  </a:lnTo>
                  <a:lnTo>
                    <a:pt x="165811" y="1080226"/>
                  </a:lnTo>
                  <a:lnTo>
                    <a:pt x="219730" y="1098651"/>
                  </a:lnTo>
                  <a:lnTo>
                    <a:pt x="250438" y="1121846"/>
                  </a:lnTo>
                  <a:lnTo>
                    <a:pt x="273634" y="1152555"/>
                  </a:lnTo>
                  <a:lnTo>
                    <a:pt x="287959" y="1188049"/>
                  </a:lnTo>
                  <a:lnTo>
                    <a:pt x="292745" y="1226256"/>
                  </a:lnTo>
                  <a:lnTo>
                    <a:pt x="291373" y="1245367"/>
                  </a:lnTo>
                  <a:lnTo>
                    <a:pt x="273634" y="1299270"/>
                  </a:lnTo>
                  <a:lnTo>
                    <a:pt x="250438" y="1329979"/>
                  </a:lnTo>
                  <a:lnTo>
                    <a:pt x="202661" y="1361373"/>
                  </a:lnTo>
                  <a:lnTo>
                    <a:pt x="146029" y="1372285"/>
                  </a:lnTo>
                  <a:lnTo>
                    <a:pt x="126918" y="1370929"/>
                  </a:lnTo>
                  <a:lnTo>
                    <a:pt x="73014" y="1352504"/>
                  </a:lnTo>
                  <a:lnTo>
                    <a:pt x="29336" y="1315653"/>
                  </a:lnTo>
                  <a:lnTo>
                    <a:pt x="10241" y="1282217"/>
                  </a:lnTo>
                  <a:lnTo>
                    <a:pt x="0" y="1226256"/>
                  </a:lnTo>
                </a:path>
                <a:path w="1109979" h="1372870">
                  <a:moveTo>
                    <a:pt x="809990" y="147401"/>
                  </a:moveTo>
                  <a:lnTo>
                    <a:pt x="815446" y="109179"/>
                  </a:lnTo>
                  <a:lnTo>
                    <a:pt x="840013" y="58003"/>
                  </a:lnTo>
                  <a:lnTo>
                    <a:pt x="867308" y="30708"/>
                  </a:lnTo>
                  <a:lnTo>
                    <a:pt x="900744" y="11597"/>
                  </a:lnTo>
                  <a:lnTo>
                    <a:pt x="937595" y="1371"/>
                  </a:lnTo>
                  <a:lnTo>
                    <a:pt x="956706" y="0"/>
                  </a:lnTo>
                  <a:lnTo>
                    <a:pt x="975817" y="1371"/>
                  </a:lnTo>
                  <a:lnTo>
                    <a:pt x="1013338" y="11597"/>
                  </a:lnTo>
                  <a:lnTo>
                    <a:pt x="1061115" y="43677"/>
                  </a:lnTo>
                  <a:lnTo>
                    <a:pt x="1092494" y="91439"/>
                  </a:lnTo>
                  <a:lnTo>
                    <a:pt x="1103421" y="147401"/>
                  </a:lnTo>
                  <a:lnTo>
                    <a:pt x="1102050" y="166512"/>
                  </a:lnTo>
                  <a:lnTo>
                    <a:pt x="1092494" y="204033"/>
                  </a:lnTo>
                  <a:lnTo>
                    <a:pt x="1061115" y="251810"/>
                  </a:lnTo>
                  <a:lnTo>
                    <a:pt x="1013338" y="282519"/>
                  </a:lnTo>
                  <a:lnTo>
                    <a:pt x="975817" y="292745"/>
                  </a:lnTo>
                  <a:lnTo>
                    <a:pt x="956706" y="294116"/>
                  </a:lnTo>
                  <a:lnTo>
                    <a:pt x="937595" y="292745"/>
                  </a:lnTo>
                  <a:lnTo>
                    <a:pt x="900744" y="282519"/>
                  </a:lnTo>
                  <a:lnTo>
                    <a:pt x="867308" y="263408"/>
                  </a:lnTo>
                  <a:lnTo>
                    <a:pt x="840013" y="236799"/>
                  </a:lnTo>
                  <a:lnTo>
                    <a:pt x="815446" y="185607"/>
                  </a:lnTo>
                  <a:lnTo>
                    <a:pt x="809990" y="147401"/>
                  </a:lnTo>
                </a:path>
                <a:path w="1109979" h="1372870">
                  <a:moveTo>
                    <a:pt x="816818" y="1226256"/>
                  </a:moveTo>
                  <a:lnTo>
                    <a:pt x="821588" y="1188049"/>
                  </a:lnTo>
                  <a:lnTo>
                    <a:pt x="835929" y="1152555"/>
                  </a:lnTo>
                  <a:lnTo>
                    <a:pt x="859124" y="1121846"/>
                  </a:lnTo>
                  <a:lnTo>
                    <a:pt x="889833" y="1098651"/>
                  </a:lnTo>
                  <a:lnTo>
                    <a:pt x="925311" y="1083640"/>
                  </a:lnTo>
                  <a:lnTo>
                    <a:pt x="962847" y="1078854"/>
                  </a:lnTo>
                  <a:lnTo>
                    <a:pt x="982629" y="1080226"/>
                  </a:lnTo>
                  <a:lnTo>
                    <a:pt x="1036548" y="1098651"/>
                  </a:lnTo>
                  <a:lnTo>
                    <a:pt x="1067257" y="1121846"/>
                  </a:lnTo>
                  <a:lnTo>
                    <a:pt x="1090452" y="1152555"/>
                  </a:lnTo>
                  <a:lnTo>
                    <a:pt x="1104778" y="1188049"/>
                  </a:lnTo>
                  <a:lnTo>
                    <a:pt x="1109563" y="1226256"/>
                  </a:lnTo>
                  <a:lnTo>
                    <a:pt x="1108191" y="1245367"/>
                  </a:lnTo>
                  <a:lnTo>
                    <a:pt x="1090452" y="1299270"/>
                  </a:lnTo>
                  <a:lnTo>
                    <a:pt x="1067257" y="1329979"/>
                  </a:lnTo>
                  <a:lnTo>
                    <a:pt x="1019479" y="1361373"/>
                  </a:lnTo>
                  <a:lnTo>
                    <a:pt x="962847" y="1372285"/>
                  </a:lnTo>
                  <a:lnTo>
                    <a:pt x="943736" y="1370929"/>
                  </a:lnTo>
                  <a:lnTo>
                    <a:pt x="889833" y="1352504"/>
                  </a:lnTo>
                  <a:lnTo>
                    <a:pt x="846155" y="1315653"/>
                  </a:lnTo>
                  <a:lnTo>
                    <a:pt x="827059" y="1282217"/>
                  </a:lnTo>
                  <a:lnTo>
                    <a:pt x="816818" y="1226256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2206157" y="4568032"/>
              <a:ext cx="300990" cy="297815"/>
            </a:xfrm>
            <a:custGeom>
              <a:avLst/>
              <a:gdLst/>
              <a:ahLst/>
              <a:cxnLst/>
              <a:rect l="l" t="t" r="r" b="b"/>
              <a:pathLst>
                <a:path w="300989" h="297814">
                  <a:moveTo>
                    <a:pt x="0" y="297530"/>
                  </a:moveTo>
                  <a:lnTo>
                    <a:pt x="300929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3" name="object 8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72979" y="4534596"/>
              <a:ext cx="67543" cy="67558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51575" y="4399478"/>
              <a:ext cx="64145" cy="64145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2798475" y="5516555"/>
              <a:ext cx="476250" cy="0"/>
            </a:xfrm>
            <a:custGeom>
              <a:avLst/>
              <a:gdLst/>
              <a:ahLst/>
              <a:cxnLst/>
              <a:rect l="l" t="t" r="r" b="b"/>
              <a:pathLst>
                <a:path w="476250" h="0">
                  <a:moveTo>
                    <a:pt x="0" y="0"/>
                  </a:moveTo>
                  <a:lnTo>
                    <a:pt x="475625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6" name="object 8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58403" y="5484474"/>
              <a:ext cx="64145" cy="64145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2717261" y="4557806"/>
              <a:ext cx="3175" cy="772795"/>
            </a:xfrm>
            <a:custGeom>
              <a:avLst/>
              <a:gdLst/>
              <a:ahLst/>
              <a:cxnLst/>
              <a:rect l="l" t="t" r="r" b="b"/>
              <a:pathLst>
                <a:path w="3175" h="772795">
                  <a:moveTo>
                    <a:pt x="2743" y="0"/>
                  </a:moveTo>
                  <a:lnTo>
                    <a:pt x="0" y="772454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2685196" y="5314564"/>
              <a:ext cx="64769" cy="63500"/>
            </a:xfrm>
            <a:custGeom>
              <a:avLst/>
              <a:gdLst/>
              <a:ahLst/>
              <a:cxnLst/>
              <a:rect l="l" t="t" r="r" b="b"/>
              <a:pathLst>
                <a:path w="64769" h="63500">
                  <a:moveTo>
                    <a:pt x="64145" y="0"/>
                  </a:moveTo>
                  <a:lnTo>
                    <a:pt x="60731" y="2057"/>
                  </a:lnTo>
                  <a:lnTo>
                    <a:pt x="56631" y="3413"/>
                  </a:lnTo>
                  <a:lnTo>
                    <a:pt x="53233" y="4099"/>
                  </a:lnTo>
                  <a:lnTo>
                    <a:pt x="49133" y="5455"/>
                  </a:lnTo>
                  <a:lnTo>
                    <a:pt x="45719" y="6141"/>
                  </a:lnTo>
                  <a:lnTo>
                    <a:pt x="37536" y="7513"/>
                  </a:lnTo>
                  <a:lnTo>
                    <a:pt x="25923" y="7513"/>
                  </a:lnTo>
                  <a:lnTo>
                    <a:pt x="21838" y="6827"/>
                  </a:lnTo>
                  <a:lnTo>
                    <a:pt x="18425" y="6141"/>
                  </a:lnTo>
                  <a:lnTo>
                    <a:pt x="14325" y="5455"/>
                  </a:lnTo>
                  <a:lnTo>
                    <a:pt x="10911" y="4099"/>
                  </a:lnTo>
                  <a:lnTo>
                    <a:pt x="6827" y="2727"/>
                  </a:lnTo>
                  <a:lnTo>
                    <a:pt x="0" y="0"/>
                  </a:lnTo>
                  <a:lnTo>
                    <a:pt x="31394" y="63459"/>
                  </a:lnTo>
                  <a:lnTo>
                    <a:pt x="6414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555918" y="4544837"/>
              <a:ext cx="1270" cy="799465"/>
            </a:xfrm>
            <a:custGeom>
              <a:avLst/>
              <a:gdLst/>
              <a:ahLst/>
              <a:cxnLst/>
              <a:rect l="l" t="t" r="r" b="b"/>
              <a:pathLst>
                <a:path w="1270" h="799464">
                  <a:moveTo>
                    <a:pt x="0" y="0"/>
                  </a:moveTo>
                  <a:lnTo>
                    <a:pt x="685" y="799078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3524539" y="5328905"/>
              <a:ext cx="64769" cy="63500"/>
            </a:xfrm>
            <a:custGeom>
              <a:avLst/>
              <a:gdLst/>
              <a:ahLst/>
              <a:cxnLst/>
              <a:rect l="l" t="t" r="r" b="b"/>
              <a:pathLst>
                <a:path w="64770" h="63500">
                  <a:moveTo>
                    <a:pt x="64145" y="0"/>
                  </a:moveTo>
                  <a:lnTo>
                    <a:pt x="57317" y="2727"/>
                  </a:lnTo>
                  <a:lnTo>
                    <a:pt x="53218" y="4084"/>
                  </a:lnTo>
                  <a:lnTo>
                    <a:pt x="49804" y="5455"/>
                  </a:lnTo>
                  <a:lnTo>
                    <a:pt x="45719" y="6141"/>
                  </a:lnTo>
                  <a:lnTo>
                    <a:pt x="42306" y="6812"/>
                  </a:lnTo>
                  <a:lnTo>
                    <a:pt x="38206" y="6812"/>
                  </a:lnTo>
                  <a:lnTo>
                    <a:pt x="34107" y="7498"/>
                  </a:lnTo>
                  <a:lnTo>
                    <a:pt x="30022" y="7498"/>
                  </a:lnTo>
                  <a:lnTo>
                    <a:pt x="26609" y="6812"/>
                  </a:lnTo>
                  <a:lnTo>
                    <a:pt x="22509" y="6812"/>
                  </a:lnTo>
                  <a:lnTo>
                    <a:pt x="18425" y="6141"/>
                  </a:lnTo>
                  <a:lnTo>
                    <a:pt x="15011" y="5455"/>
                  </a:lnTo>
                  <a:lnTo>
                    <a:pt x="10911" y="4084"/>
                  </a:lnTo>
                  <a:lnTo>
                    <a:pt x="7498" y="2727"/>
                  </a:lnTo>
                  <a:lnTo>
                    <a:pt x="3413" y="1356"/>
                  </a:lnTo>
                  <a:lnTo>
                    <a:pt x="0" y="0"/>
                  </a:lnTo>
                  <a:lnTo>
                    <a:pt x="32064" y="63459"/>
                  </a:lnTo>
                  <a:lnTo>
                    <a:pt x="6414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2589656" y="4615794"/>
              <a:ext cx="2540" cy="760730"/>
            </a:xfrm>
            <a:custGeom>
              <a:avLst/>
              <a:gdLst/>
              <a:ahLst/>
              <a:cxnLst/>
              <a:rect l="l" t="t" r="r" b="b"/>
              <a:pathLst>
                <a:path w="2539" h="760729">
                  <a:moveTo>
                    <a:pt x="0" y="0"/>
                  </a:moveTo>
                  <a:lnTo>
                    <a:pt x="2057" y="760186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2" name="object 9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57591" y="4567347"/>
              <a:ext cx="64145" cy="64145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3394877" y="4613067"/>
              <a:ext cx="5080" cy="770255"/>
            </a:xfrm>
            <a:custGeom>
              <a:avLst/>
              <a:gdLst/>
              <a:ahLst/>
              <a:cxnLst/>
              <a:rect l="l" t="t" r="r" b="b"/>
              <a:pathLst>
                <a:path w="5079" h="770254">
                  <a:moveTo>
                    <a:pt x="4785" y="0"/>
                  </a:moveTo>
                  <a:lnTo>
                    <a:pt x="0" y="769741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4" name="object 9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367582" y="4563933"/>
              <a:ext cx="64145" cy="64830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2775950" y="4576902"/>
              <a:ext cx="556895" cy="854075"/>
            </a:xfrm>
            <a:custGeom>
              <a:avLst/>
              <a:gdLst/>
              <a:ahLst/>
              <a:cxnLst/>
              <a:rect l="l" t="t" r="r" b="b"/>
              <a:pathLst>
                <a:path w="556895" h="854075">
                  <a:moveTo>
                    <a:pt x="556839" y="0"/>
                  </a:moveTo>
                  <a:lnTo>
                    <a:pt x="0" y="853668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3297981" y="4535967"/>
              <a:ext cx="61594" cy="71120"/>
            </a:xfrm>
            <a:custGeom>
              <a:avLst/>
              <a:gdLst/>
              <a:ahLst/>
              <a:cxnLst/>
              <a:rect l="l" t="t" r="r" b="b"/>
              <a:pathLst>
                <a:path w="61595" h="71120">
                  <a:moveTo>
                    <a:pt x="61417" y="0"/>
                  </a:moveTo>
                  <a:lnTo>
                    <a:pt x="0" y="36164"/>
                  </a:lnTo>
                  <a:lnTo>
                    <a:pt x="8183" y="37520"/>
                  </a:lnTo>
                  <a:lnTo>
                    <a:pt x="11597" y="38206"/>
                  </a:lnTo>
                  <a:lnTo>
                    <a:pt x="15697" y="39578"/>
                  </a:lnTo>
                  <a:lnTo>
                    <a:pt x="19110" y="40934"/>
                  </a:lnTo>
                  <a:lnTo>
                    <a:pt x="22524" y="42992"/>
                  </a:lnTo>
                  <a:lnTo>
                    <a:pt x="25923" y="44348"/>
                  </a:lnTo>
                  <a:lnTo>
                    <a:pt x="32750" y="48447"/>
                  </a:lnTo>
                  <a:lnTo>
                    <a:pt x="35478" y="51175"/>
                  </a:lnTo>
                  <a:lnTo>
                    <a:pt x="38206" y="53218"/>
                  </a:lnTo>
                  <a:lnTo>
                    <a:pt x="46405" y="61417"/>
                  </a:lnTo>
                  <a:lnTo>
                    <a:pt x="49133" y="64815"/>
                  </a:lnTo>
                  <a:lnTo>
                    <a:pt x="51175" y="68229"/>
                  </a:lnTo>
                  <a:lnTo>
                    <a:pt x="53218" y="70957"/>
                  </a:lnTo>
                  <a:lnTo>
                    <a:pt x="6141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207529" y="5106446"/>
              <a:ext cx="282575" cy="298450"/>
            </a:xfrm>
            <a:custGeom>
              <a:avLst/>
              <a:gdLst/>
              <a:ahLst/>
              <a:cxnLst/>
              <a:rect l="l" t="t" r="r" b="b"/>
              <a:pathLst>
                <a:path w="282575" h="298450">
                  <a:moveTo>
                    <a:pt x="282503" y="298201"/>
                  </a:moveTo>
                  <a:lnTo>
                    <a:pt x="0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8" name="object 9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55910" y="5371211"/>
              <a:ext cx="66873" cy="68915"/>
            </a:xfrm>
            <a:prstGeom prst="rect">
              <a:avLst/>
            </a:prstGeom>
          </p:spPr>
        </p:pic>
      </p:grpSp>
      <p:sp>
        <p:nvSpPr>
          <p:cNvPr id="99" name="object 99"/>
          <p:cNvSpPr txBox="1"/>
          <p:nvPr/>
        </p:nvSpPr>
        <p:spPr>
          <a:xfrm>
            <a:off x="1884755" y="4661848"/>
            <a:ext cx="11493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2236867" y="5214582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3002507" y="5486851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2443631" y="4685046"/>
            <a:ext cx="1249045" cy="408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5715">
              <a:lnSpc>
                <a:spcPts val="1505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600">
              <a:latin typeface="Arial"/>
              <a:cs typeface="Arial"/>
            </a:endParaRPr>
          </a:p>
          <a:p>
            <a:pPr algn="ctr" marR="5080">
              <a:lnSpc>
                <a:spcPts val="1505"/>
              </a:lnSpc>
              <a:tabLst>
                <a:tab pos="306070" algn="l"/>
                <a:tab pos="816610" algn="l"/>
                <a:tab pos="1122680" algn="l"/>
              </a:tabLst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3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4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2593756" y="5364022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04" name="object 104"/>
          <p:cNvGrpSpPr/>
          <p:nvPr/>
        </p:nvGrpSpPr>
        <p:grpSpPr>
          <a:xfrm>
            <a:off x="4624974" y="4329206"/>
            <a:ext cx="1358265" cy="1290320"/>
            <a:chOff x="4624974" y="4329206"/>
            <a:chExt cx="1358265" cy="1290320"/>
          </a:xfrm>
        </p:grpSpPr>
        <p:sp>
          <p:nvSpPr>
            <p:cNvPr id="105" name="object 105"/>
            <p:cNvSpPr/>
            <p:nvPr/>
          </p:nvSpPr>
          <p:spPr>
            <a:xfrm>
              <a:off x="5460461" y="5414203"/>
              <a:ext cx="523240" cy="205104"/>
            </a:xfrm>
            <a:custGeom>
              <a:avLst/>
              <a:gdLst/>
              <a:ahLst/>
              <a:cxnLst/>
              <a:rect l="l" t="t" r="r" b="b"/>
              <a:pathLst>
                <a:path w="523239" h="205104">
                  <a:moveTo>
                    <a:pt x="58689" y="0"/>
                  </a:moveTo>
                  <a:lnTo>
                    <a:pt x="0" y="102351"/>
                  </a:lnTo>
                  <a:lnTo>
                    <a:pt x="58689" y="204703"/>
                  </a:lnTo>
                  <a:lnTo>
                    <a:pt x="58689" y="137159"/>
                  </a:lnTo>
                  <a:lnTo>
                    <a:pt x="522716" y="137159"/>
                  </a:lnTo>
                  <a:lnTo>
                    <a:pt x="522716" y="67543"/>
                  </a:lnTo>
                  <a:lnTo>
                    <a:pt x="58689" y="67543"/>
                  </a:lnTo>
                  <a:lnTo>
                    <a:pt x="58689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5460461" y="5414203"/>
              <a:ext cx="523240" cy="205104"/>
            </a:xfrm>
            <a:custGeom>
              <a:avLst/>
              <a:gdLst/>
              <a:ahLst/>
              <a:cxnLst/>
              <a:rect l="l" t="t" r="r" b="b"/>
              <a:pathLst>
                <a:path w="523239" h="205104">
                  <a:moveTo>
                    <a:pt x="0" y="102351"/>
                  </a:moveTo>
                  <a:lnTo>
                    <a:pt x="58689" y="204703"/>
                  </a:lnTo>
                  <a:lnTo>
                    <a:pt x="58689" y="137159"/>
                  </a:lnTo>
                  <a:lnTo>
                    <a:pt x="522716" y="137159"/>
                  </a:lnTo>
                  <a:lnTo>
                    <a:pt x="522716" y="67543"/>
                  </a:lnTo>
                  <a:lnTo>
                    <a:pt x="58689" y="67543"/>
                  </a:lnTo>
                  <a:lnTo>
                    <a:pt x="58689" y="0"/>
                  </a:lnTo>
                  <a:lnTo>
                    <a:pt x="0" y="102351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5143164" y="4571446"/>
              <a:ext cx="204470" cy="798830"/>
            </a:xfrm>
            <a:custGeom>
              <a:avLst/>
              <a:gdLst/>
              <a:ahLst/>
              <a:cxnLst/>
              <a:rect l="l" t="t" r="r" b="b"/>
              <a:pathLst>
                <a:path w="204470" h="798829">
                  <a:moveTo>
                    <a:pt x="136474" y="0"/>
                  </a:moveTo>
                  <a:lnTo>
                    <a:pt x="67543" y="0"/>
                  </a:lnTo>
                  <a:lnTo>
                    <a:pt x="67543" y="739703"/>
                  </a:lnTo>
                  <a:lnTo>
                    <a:pt x="0" y="739703"/>
                  </a:lnTo>
                  <a:lnTo>
                    <a:pt x="102351" y="798393"/>
                  </a:lnTo>
                  <a:lnTo>
                    <a:pt x="204033" y="739703"/>
                  </a:lnTo>
                  <a:lnTo>
                    <a:pt x="136474" y="739703"/>
                  </a:lnTo>
                  <a:lnTo>
                    <a:pt x="136474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5143164" y="4571446"/>
              <a:ext cx="204470" cy="798830"/>
            </a:xfrm>
            <a:custGeom>
              <a:avLst/>
              <a:gdLst/>
              <a:ahLst/>
              <a:cxnLst/>
              <a:rect l="l" t="t" r="r" b="b"/>
              <a:pathLst>
                <a:path w="204470" h="798829">
                  <a:moveTo>
                    <a:pt x="102351" y="798393"/>
                  </a:moveTo>
                  <a:lnTo>
                    <a:pt x="204033" y="739703"/>
                  </a:lnTo>
                  <a:lnTo>
                    <a:pt x="136474" y="739703"/>
                  </a:lnTo>
                  <a:lnTo>
                    <a:pt x="136474" y="0"/>
                  </a:lnTo>
                  <a:lnTo>
                    <a:pt x="67543" y="0"/>
                  </a:lnTo>
                  <a:lnTo>
                    <a:pt x="67543" y="739703"/>
                  </a:lnTo>
                  <a:lnTo>
                    <a:pt x="0" y="739703"/>
                  </a:lnTo>
                  <a:lnTo>
                    <a:pt x="102351" y="798393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4817653" y="5075052"/>
              <a:ext cx="382905" cy="393065"/>
            </a:xfrm>
            <a:custGeom>
              <a:avLst/>
              <a:gdLst/>
              <a:ahLst/>
              <a:cxnLst/>
              <a:rect l="l" t="t" r="r" b="b"/>
              <a:pathLst>
                <a:path w="382904" h="393064">
                  <a:moveTo>
                    <a:pt x="148772" y="0"/>
                  </a:moveTo>
                  <a:lnTo>
                    <a:pt x="33436" y="27294"/>
                  </a:lnTo>
                  <a:lnTo>
                    <a:pt x="0" y="140573"/>
                  </a:lnTo>
                  <a:lnTo>
                    <a:pt x="49133" y="94167"/>
                  </a:lnTo>
                  <a:lnTo>
                    <a:pt x="332323" y="393054"/>
                  </a:lnTo>
                  <a:lnTo>
                    <a:pt x="382828" y="345292"/>
                  </a:lnTo>
                  <a:lnTo>
                    <a:pt x="99639" y="45719"/>
                  </a:lnTo>
                  <a:lnTo>
                    <a:pt x="148772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4817653" y="5075052"/>
              <a:ext cx="382905" cy="393065"/>
            </a:xfrm>
            <a:custGeom>
              <a:avLst/>
              <a:gdLst/>
              <a:ahLst/>
              <a:cxnLst/>
              <a:rect l="l" t="t" r="r" b="b"/>
              <a:pathLst>
                <a:path w="382904" h="393064">
                  <a:moveTo>
                    <a:pt x="33436" y="27294"/>
                  </a:moveTo>
                  <a:lnTo>
                    <a:pt x="0" y="140573"/>
                  </a:lnTo>
                  <a:lnTo>
                    <a:pt x="49133" y="94167"/>
                  </a:lnTo>
                  <a:lnTo>
                    <a:pt x="332323" y="393054"/>
                  </a:lnTo>
                  <a:lnTo>
                    <a:pt x="382828" y="345292"/>
                  </a:lnTo>
                  <a:lnTo>
                    <a:pt x="99639" y="45719"/>
                  </a:lnTo>
                  <a:lnTo>
                    <a:pt x="148772" y="0"/>
                  </a:lnTo>
                  <a:lnTo>
                    <a:pt x="33436" y="27294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5440680" y="4329206"/>
              <a:ext cx="523875" cy="205104"/>
            </a:xfrm>
            <a:custGeom>
              <a:avLst/>
              <a:gdLst/>
              <a:ahLst/>
              <a:cxnLst/>
              <a:rect l="l" t="t" r="r" b="b"/>
              <a:pathLst>
                <a:path w="523875" h="205104">
                  <a:moveTo>
                    <a:pt x="59359" y="0"/>
                  </a:moveTo>
                  <a:lnTo>
                    <a:pt x="0" y="102351"/>
                  </a:lnTo>
                  <a:lnTo>
                    <a:pt x="59359" y="204703"/>
                  </a:lnTo>
                  <a:lnTo>
                    <a:pt x="59359" y="137159"/>
                  </a:lnTo>
                  <a:lnTo>
                    <a:pt x="523387" y="137159"/>
                  </a:lnTo>
                  <a:lnTo>
                    <a:pt x="523387" y="67543"/>
                  </a:lnTo>
                  <a:lnTo>
                    <a:pt x="59359" y="67543"/>
                  </a:lnTo>
                  <a:lnTo>
                    <a:pt x="59359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5440680" y="4329206"/>
              <a:ext cx="523875" cy="205104"/>
            </a:xfrm>
            <a:custGeom>
              <a:avLst/>
              <a:gdLst/>
              <a:ahLst/>
              <a:cxnLst/>
              <a:rect l="l" t="t" r="r" b="b"/>
              <a:pathLst>
                <a:path w="523875" h="205104">
                  <a:moveTo>
                    <a:pt x="0" y="102351"/>
                  </a:moveTo>
                  <a:lnTo>
                    <a:pt x="59359" y="204703"/>
                  </a:lnTo>
                  <a:lnTo>
                    <a:pt x="59359" y="137159"/>
                  </a:lnTo>
                  <a:lnTo>
                    <a:pt x="523387" y="137159"/>
                  </a:lnTo>
                  <a:lnTo>
                    <a:pt x="523387" y="67543"/>
                  </a:lnTo>
                  <a:lnTo>
                    <a:pt x="59359" y="67543"/>
                  </a:lnTo>
                  <a:lnTo>
                    <a:pt x="59359" y="0"/>
                  </a:lnTo>
                  <a:lnTo>
                    <a:pt x="0" y="102351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4630689" y="4839624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4" h="294004">
                  <a:moveTo>
                    <a:pt x="146029" y="0"/>
                  </a:moveTo>
                  <a:lnTo>
                    <a:pt x="90068" y="11597"/>
                  </a:lnTo>
                  <a:lnTo>
                    <a:pt x="42992" y="42992"/>
                  </a:lnTo>
                  <a:lnTo>
                    <a:pt x="19781" y="73700"/>
                  </a:lnTo>
                  <a:lnTo>
                    <a:pt x="4770" y="109179"/>
                  </a:lnTo>
                  <a:lnTo>
                    <a:pt x="0" y="147401"/>
                  </a:lnTo>
                  <a:lnTo>
                    <a:pt x="1356" y="166496"/>
                  </a:lnTo>
                  <a:lnTo>
                    <a:pt x="19781" y="221101"/>
                  </a:lnTo>
                  <a:lnTo>
                    <a:pt x="57317" y="263408"/>
                  </a:lnTo>
                  <a:lnTo>
                    <a:pt x="108493" y="288645"/>
                  </a:lnTo>
                  <a:lnTo>
                    <a:pt x="146029" y="293430"/>
                  </a:lnTo>
                  <a:lnTo>
                    <a:pt x="165811" y="292745"/>
                  </a:lnTo>
                  <a:lnTo>
                    <a:pt x="202661" y="282503"/>
                  </a:lnTo>
                  <a:lnTo>
                    <a:pt x="236098" y="263408"/>
                  </a:lnTo>
                  <a:lnTo>
                    <a:pt x="273634" y="221101"/>
                  </a:lnTo>
                  <a:lnTo>
                    <a:pt x="288645" y="185607"/>
                  </a:lnTo>
                  <a:lnTo>
                    <a:pt x="293415" y="147401"/>
                  </a:lnTo>
                  <a:lnTo>
                    <a:pt x="292059" y="128290"/>
                  </a:lnTo>
                  <a:lnTo>
                    <a:pt x="282503" y="90754"/>
                  </a:lnTo>
                  <a:lnTo>
                    <a:pt x="262722" y="57317"/>
                  </a:lnTo>
                  <a:lnTo>
                    <a:pt x="219730" y="19796"/>
                  </a:lnTo>
                  <a:lnTo>
                    <a:pt x="184236" y="4770"/>
                  </a:lnTo>
                  <a:lnTo>
                    <a:pt x="146029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4630689" y="4839624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4" h="294004">
                  <a:moveTo>
                    <a:pt x="0" y="147401"/>
                  </a:moveTo>
                  <a:lnTo>
                    <a:pt x="4770" y="109179"/>
                  </a:lnTo>
                  <a:lnTo>
                    <a:pt x="19781" y="73700"/>
                  </a:lnTo>
                  <a:lnTo>
                    <a:pt x="42992" y="42992"/>
                  </a:lnTo>
                  <a:lnTo>
                    <a:pt x="90068" y="11597"/>
                  </a:lnTo>
                  <a:lnTo>
                    <a:pt x="126918" y="1371"/>
                  </a:lnTo>
                  <a:lnTo>
                    <a:pt x="146029" y="0"/>
                  </a:lnTo>
                  <a:lnTo>
                    <a:pt x="165811" y="1371"/>
                  </a:lnTo>
                  <a:lnTo>
                    <a:pt x="202661" y="11597"/>
                  </a:lnTo>
                  <a:lnTo>
                    <a:pt x="236098" y="30708"/>
                  </a:lnTo>
                  <a:lnTo>
                    <a:pt x="273634" y="73700"/>
                  </a:lnTo>
                  <a:lnTo>
                    <a:pt x="288645" y="109179"/>
                  </a:lnTo>
                  <a:lnTo>
                    <a:pt x="293415" y="147401"/>
                  </a:lnTo>
                  <a:lnTo>
                    <a:pt x="292059" y="166496"/>
                  </a:lnTo>
                  <a:lnTo>
                    <a:pt x="273634" y="221101"/>
                  </a:lnTo>
                  <a:lnTo>
                    <a:pt x="236098" y="263408"/>
                  </a:lnTo>
                  <a:lnTo>
                    <a:pt x="202661" y="282503"/>
                  </a:lnTo>
                  <a:lnTo>
                    <a:pt x="165811" y="292745"/>
                  </a:lnTo>
                  <a:lnTo>
                    <a:pt x="146029" y="293430"/>
                  </a:lnTo>
                  <a:lnTo>
                    <a:pt x="126918" y="292745"/>
                  </a:lnTo>
                  <a:lnTo>
                    <a:pt x="90068" y="282503"/>
                  </a:lnTo>
                  <a:lnTo>
                    <a:pt x="42992" y="250438"/>
                  </a:lnTo>
                  <a:lnTo>
                    <a:pt x="10911" y="203347"/>
                  </a:lnTo>
                  <a:lnTo>
                    <a:pt x="0" y="147401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5" name="object 115"/>
          <p:cNvSpPr txBox="1"/>
          <p:nvPr/>
        </p:nvSpPr>
        <p:spPr>
          <a:xfrm>
            <a:off x="4727585" y="4847458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16" name="object 116"/>
          <p:cNvGrpSpPr/>
          <p:nvPr/>
        </p:nvGrpSpPr>
        <p:grpSpPr>
          <a:xfrm>
            <a:off x="4852115" y="4278470"/>
            <a:ext cx="1424305" cy="1383665"/>
            <a:chOff x="4852115" y="4278470"/>
            <a:chExt cx="1424305" cy="1383665"/>
          </a:xfrm>
        </p:grpSpPr>
        <p:sp>
          <p:nvSpPr>
            <p:cNvPr id="117" name="object 117"/>
            <p:cNvSpPr/>
            <p:nvPr/>
          </p:nvSpPr>
          <p:spPr>
            <a:xfrm>
              <a:off x="5154076" y="4284157"/>
              <a:ext cx="294005" cy="294640"/>
            </a:xfrm>
            <a:custGeom>
              <a:avLst/>
              <a:gdLst/>
              <a:ahLst/>
              <a:cxnLst/>
              <a:rect l="l" t="t" r="r" b="b"/>
              <a:pathLst>
                <a:path w="294004" h="294639">
                  <a:moveTo>
                    <a:pt x="146029" y="0"/>
                  </a:moveTo>
                  <a:lnTo>
                    <a:pt x="107822" y="5455"/>
                  </a:lnTo>
                  <a:lnTo>
                    <a:pt x="57317" y="30708"/>
                  </a:lnTo>
                  <a:lnTo>
                    <a:pt x="30022" y="58003"/>
                  </a:lnTo>
                  <a:lnTo>
                    <a:pt x="10911" y="91439"/>
                  </a:lnTo>
                  <a:lnTo>
                    <a:pt x="685" y="128290"/>
                  </a:lnTo>
                  <a:lnTo>
                    <a:pt x="0" y="147401"/>
                  </a:lnTo>
                  <a:lnTo>
                    <a:pt x="685" y="166512"/>
                  </a:lnTo>
                  <a:lnTo>
                    <a:pt x="10911" y="204033"/>
                  </a:lnTo>
                  <a:lnTo>
                    <a:pt x="42992" y="251810"/>
                  </a:lnTo>
                  <a:lnTo>
                    <a:pt x="90754" y="282519"/>
                  </a:lnTo>
                  <a:lnTo>
                    <a:pt x="146029" y="294116"/>
                  </a:lnTo>
                  <a:lnTo>
                    <a:pt x="165140" y="292745"/>
                  </a:lnTo>
                  <a:lnTo>
                    <a:pt x="202676" y="282519"/>
                  </a:lnTo>
                  <a:lnTo>
                    <a:pt x="250438" y="251810"/>
                  </a:lnTo>
                  <a:lnTo>
                    <a:pt x="273634" y="221101"/>
                  </a:lnTo>
                  <a:lnTo>
                    <a:pt x="287975" y="185607"/>
                  </a:lnTo>
                  <a:lnTo>
                    <a:pt x="293430" y="147401"/>
                  </a:lnTo>
                  <a:lnTo>
                    <a:pt x="292059" y="128290"/>
                  </a:lnTo>
                  <a:lnTo>
                    <a:pt x="281833" y="91439"/>
                  </a:lnTo>
                  <a:lnTo>
                    <a:pt x="262722" y="58003"/>
                  </a:lnTo>
                  <a:lnTo>
                    <a:pt x="235427" y="30708"/>
                  </a:lnTo>
                  <a:lnTo>
                    <a:pt x="184251" y="5455"/>
                  </a:lnTo>
                  <a:lnTo>
                    <a:pt x="146029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5154076" y="4284157"/>
              <a:ext cx="294005" cy="294640"/>
            </a:xfrm>
            <a:custGeom>
              <a:avLst/>
              <a:gdLst/>
              <a:ahLst/>
              <a:cxnLst/>
              <a:rect l="l" t="t" r="r" b="b"/>
              <a:pathLst>
                <a:path w="294004" h="294639">
                  <a:moveTo>
                    <a:pt x="0" y="147401"/>
                  </a:moveTo>
                  <a:lnTo>
                    <a:pt x="4770" y="109179"/>
                  </a:lnTo>
                  <a:lnTo>
                    <a:pt x="19110" y="73700"/>
                  </a:lnTo>
                  <a:lnTo>
                    <a:pt x="42992" y="43677"/>
                  </a:lnTo>
                  <a:lnTo>
                    <a:pt x="73014" y="19796"/>
                  </a:lnTo>
                  <a:lnTo>
                    <a:pt x="126918" y="1371"/>
                  </a:lnTo>
                  <a:lnTo>
                    <a:pt x="146029" y="0"/>
                  </a:lnTo>
                  <a:lnTo>
                    <a:pt x="165140" y="1371"/>
                  </a:lnTo>
                  <a:lnTo>
                    <a:pt x="202676" y="11597"/>
                  </a:lnTo>
                  <a:lnTo>
                    <a:pt x="250438" y="43677"/>
                  </a:lnTo>
                  <a:lnTo>
                    <a:pt x="281833" y="91439"/>
                  </a:lnTo>
                  <a:lnTo>
                    <a:pt x="292059" y="128290"/>
                  </a:lnTo>
                  <a:lnTo>
                    <a:pt x="293430" y="147401"/>
                  </a:lnTo>
                  <a:lnTo>
                    <a:pt x="292059" y="166512"/>
                  </a:lnTo>
                  <a:lnTo>
                    <a:pt x="281833" y="204033"/>
                  </a:lnTo>
                  <a:lnTo>
                    <a:pt x="250438" y="251810"/>
                  </a:lnTo>
                  <a:lnTo>
                    <a:pt x="202676" y="282519"/>
                  </a:lnTo>
                  <a:lnTo>
                    <a:pt x="165140" y="292745"/>
                  </a:lnTo>
                  <a:lnTo>
                    <a:pt x="146029" y="294116"/>
                  </a:lnTo>
                  <a:lnTo>
                    <a:pt x="126918" y="292745"/>
                  </a:lnTo>
                  <a:lnTo>
                    <a:pt x="73014" y="274319"/>
                  </a:lnTo>
                  <a:lnTo>
                    <a:pt x="30022" y="236799"/>
                  </a:lnTo>
                  <a:lnTo>
                    <a:pt x="4770" y="185607"/>
                  </a:lnTo>
                  <a:lnTo>
                    <a:pt x="0" y="147401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5160218" y="5363011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4" h="294004">
                  <a:moveTo>
                    <a:pt x="146715" y="0"/>
                  </a:moveTo>
                  <a:lnTo>
                    <a:pt x="108493" y="4785"/>
                  </a:lnTo>
                  <a:lnTo>
                    <a:pt x="57317" y="30022"/>
                  </a:lnTo>
                  <a:lnTo>
                    <a:pt x="30022" y="57332"/>
                  </a:lnTo>
                  <a:lnTo>
                    <a:pt x="10911" y="90769"/>
                  </a:lnTo>
                  <a:lnTo>
                    <a:pt x="0" y="147401"/>
                  </a:lnTo>
                  <a:lnTo>
                    <a:pt x="1371" y="166512"/>
                  </a:lnTo>
                  <a:lnTo>
                    <a:pt x="19781" y="220416"/>
                  </a:lnTo>
                  <a:lnTo>
                    <a:pt x="42992" y="251124"/>
                  </a:lnTo>
                  <a:lnTo>
                    <a:pt x="90068" y="282519"/>
                  </a:lnTo>
                  <a:lnTo>
                    <a:pt x="146715" y="293430"/>
                  </a:lnTo>
                  <a:lnTo>
                    <a:pt x="165826" y="292074"/>
                  </a:lnTo>
                  <a:lnTo>
                    <a:pt x="219730" y="273649"/>
                  </a:lnTo>
                  <a:lnTo>
                    <a:pt x="263408" y="236799"/>
                  </a:lnTo>
                  <a:lnTo>
                    <a:pt x="282503" y="203362"/>
                  </a:lnTo>
                  <a:lnTo>
                    <a:pt x="293430" y="147401"/>
                  </a:lnTo>
                  <a:lnTo>
                    <a:pt x="292059" y="127604"/>
                  </a:lnTo>
                  <a:lnTo>
                    <a:pt x="273634" y="73700"/>
                  </a:lnTo>
                  <a:lnTo>
                    <a:pt x="250438" y="42992"/>
                  </a:lnTo>
                  <a:lnTo>
                    <a:pt x="219730" y="19796"/>
                  </a:lnTo>
                  <a:lnTo>
                    <a:pt x="184251" y="4785"/>
                  </a:lnTo>
                  <a:lnTo>
                    <a:pt x="146715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5160218" y="4284157"/>
              <a:ext cx="1110615" cy="1372870"/>
            </a:xfrm>
            <a:custGeom>
              <a:avLst/>
              <a:gdLst/>
              <a:ahLst/>
              <a:cxnLst/>
              <a:rect l="l" t="t" r="r" b="b"/>
              <a:pathLst>
                <a:path w="1110614" h="1372870">
                  <a:moveTo>
                    <a:pt x="0" y="1226256"/>
                  </a:moveTo>
                  <a:lnTo>
                    <a:pt x="4770" y="1188049"/>
                  </a:lnTo>
                  <a:lnTo>
                    <a:pt x="19781" y="1152555"/>
                  </a:lnTo>
                  <a:lnTo>
                    <a:pt x="42992" y="1121846"/>
                  </a:lnTo>
                  <a:lnTo>
                    <a:pt x="73700" y="1098651"/>
                  </a:lnTo>
                  <a:lnTo>
                    <a:pt x="126918" y="1080226"/>
                  </a:lnTo>
                  <a:lnTo>
                    <a:pt x="146715" y="1078854"/>
                  </a:lnTo>
                  <a:lnTo>
                    <a:pt x="165826" y="1080226"/>
                  </a:lnTo>
                  <a:lnTo>
                    <a:pt x="219730" y="1098651"/>
                  </a:lnTo>
                  <a:lnTo>
                    <a:pt x="250438" y="1121846"/>
                  </a:lnTo>
                  <a:lnTo>
                    <a:pt x="273634" y="1152555"/>
                  </a:lnTo>
                  <a:lnTo>
                    <a:pt x="288645" y="1188049"/>
                  </a:lnTo>
                  <a:lnTo>
                    <a:pt x="293430" y="1226256"/>
                  </a:lnTo>
                  <a:lnTo>
                    <a:pt x="292059" y="1245367"/>
                  </a:lnTo>
                  <a:lnTo>
                    <a:pt x="273634" y="1299270"/>
                  </a:lnTo>
                  <a:lnTo>
                    <a:pt x="250438" y="1329979"/>
                  </a:lnTo>
                  <a:lnTo>
                    <a:pt x="202661" y="1361373"/>
                  </a:lnTo>
                  <a:lnTo>
                    <a:pt x="146715" y="1372285"/>
                  </a:lnTo>
                  <a:lnTo>
                    <a:pt x="126918" y="1370929"/>
                  </a:lnTo>
                  <a:lnTo>
                    <a:pt x="73700" y="1352504"/>
                  </a:lnTo>
                  <a:lnTo>
                    <a:pt x="30022" y="1315653"/>
                  </a:lnTo>
                  <a:lnTo>
                    <a:pt x="10911" y="1282217"/>
                  </a:lnTo>
                  <a:lnTo>
                    <a:pt x="0" y="1226256"/>
                  </a:lnTo>
                </a:path>
                <a:path w="1110614" h="1372870">
                  <a:moveTo>
                    <a:pt x="810676" y="147401"/>
                  </a:moveTo>
                  <a:lnTo>
                    <a:pt x="815446" y="109179"/>
                  </a:lnTo>
                  <a:lnTo>
                    <a:pt x="829787" y="73700"/>
                  </a:lnTo>
                  <a:lnTo>
                    <a:pt x="853668" y="43677"/>
                  </a:lnTo>
                  <a:lnTo>
                    <a:pt x="883691" y="19796"/>
                  </a:lnTo>
                  <a:lnTo>
                    <a:pt x="937595" y="1371"/>
                  </a:lnTo>
                  <a:lnTo>
                    <a:pt x="956706" y="0"/>
                  </a:lnTo>
                  <a:lnTo>
                    <a:pt x="975817" y="1371"/>
                  </a:lnTo>
                  <a:lnTo>
                    <a:pt x="1013353" y="11597"/>
                  </a:lnTo>
                  <a:lnTo>
                    <a:pt x="1046789" y="30708"/>
                  </a:lnTo>
                  <a:lnTo>
                    <a:pt x="1073398" y="58003"/>
                  </a:lnTo>
                  <a:lnTo>
                    <a:pt x="1092509" y="91439"/>
                  </a:lnTo>
                  <a:lnTo>
                    <a:pt x="1102735" y="128290"/>
                  </a:lnTo>
                  <a:lnTo>
                    <a:pt x="1104107" y="147401"/>
                  </a:lnTo>
                  <a:lnTo>
                    <a:pt x="1102735" y="166512"/>
                  </a:lnTo>
                  <a:lnTo>
                    <a:pt x="1092509" y="204033"/>
                  </a:lnTo>
                  <a:lnTo>
                    <a:pt x="1061115" y="251810"/>
                  </a:lnTo>
                  <a:lnTo>
                    <a:pt x="1013353" y="282519"/>
                  </a:lnTo>
                  <a:lnTo>
                    <a:pt x="975817" y="292745"/>
                  </a:lnTo>
                  <a:lnTo>
                    <a:pt x="956706" y="294116"/>
                  </a:lnTo>
                  <a:lnTo>
                    <a:pt x="937595" y="292745"/>
                  </a:lnTo>
                  <a:lnTo>
                    <a:pt x="883691" y="274319"/>
                  </a:lnTo>
                  <a:lnTo>
                    <a:pt x="840699" y="236799"/>
                  </a:lnTo>
                  <a:lnTo>
                    <a:pt x="815446" y="185607"/>
                  </a:lnTo>
                  <a:lnTo>
                    <a:pt x="810676" y="147401"/>
                  </a:lnTo>
                </a:path>
                <a:path w="1110614" h="1372870">
                  <a:moveTo>
                    <a:pt x="816818" y="1226256"/>
                  </a:moveTo>
                  <a:lnTo>
                    <a:pt x="821588" y="1188049"/>
                  </a:lnTo>
                  <a:lnTo>
                    <a:pt x="836615" y="1152555"/>
                  </a:lnTo>
                  <a:lnTo>
                    <a:pt x="859810" y="1121846"/>
                  </a:lnTo>
                  <a:lnTo>
                    <a:pt x="890518" y="1098651"/>
                  </a:lnTo>
                  <a:lnTo>
                    <a:pt x="943736" y="1080226"/>
                  </a:lnTo>
                  <a:lnTo>
                    <a:pt x="963533" y="1078854"/>
                  </a:lnTo>
                  <a:lnTo>
                    <a:pt x="982644" y="1080226"/>
                  </a:lnTo>
                  <a:lnTo>
                    <a:pt x="1036548" y="1098651"/>
                  </a:lnTo>
                  <a:lnTo>
                    <a:pt x="1067257" y="1121846"/>
                  </a:lnTo>
                  <a:lnTo>
                    <a:pt x="1090452" y="1152555"/>
                  </a:lnTo>
                  <a:lnTo>
                    <a:pt x="1105463" y="1188049"/>
                  </a:lnTo>
                  <a:lnTo>
                    <a:pt x="1110249" y="1226256"/>
                  </a:lnTo>
                  <a:lnTo>
                    <a:pt x="1108877" y="1245367"/>
                  </a:lnTo>
                  <a:lnTo>
                    <a:pt x="1090452" y="1299270"/>
                  </a:lnTo>
                  <a:lnTo>
                    <a:pt x="1067257" y="1329979"/>
                  </a:lnTo>
                  <a:lnTo>
                    <a:pt x="1019495" y="1361373"/>
                  </a:lnTo>
                  <a:lnTo>
                    <a:pt x="963533" y="1372285"/>
                  </a:lnTo>
                  <a:lnTo>
                    <a:pt x="943736" y="1370929"/>
                  </a:lnTo>
                  <a:lnTo>
                    <a:pt x="890518" y="1352504"/>
                  </a:lnTo>
                  <a:lnTo>
                    <a:pt x="847526" y="1315653"/>
                  </a:lnTo>
                  <a:lnTo>
                    <a:pt x="827730" y="1282217"/>
                  </a:lnTo>
                  <a:lnTo>
                    <a:pt x="816818" y="1226256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4860645" y="4568032"/>
              <a:ext cx="300990" cy="297815"/>
            </a:xfrm>
            <a:custGeom>
              <a:avLst/>
              <a:gdLst/>
              <a:ahLst/>
              <a:cxnLst/>
              <a:rect l="l" t="t" r="r" b="b"/>
              <a:pathLst>
                <a:path w="300989" h="297814">
                  <a:moveTo>
                    <a:pt x="0" y="297530"/>
                  </a:moveTo>
                  <a:lnTo>
                    <a:pt x="300944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2" name="object 1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27467" y="4534596"/>
              <a:ext cx="68229" cy="67558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906749" y="4399478"/>
              <a:ext cx="64145" cy="64145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5453649" y="5516555"/>
              <a:ext cx="474980" cy="0"/>
            </a:xfrm>
            <a:custGeom>
              <a:avLst/>
              <a:gdLst/>
              <a:ahLst/>
              <a:cxnLst/>
              <a:rect l="l" t="t" r="r" b="b"/>
              <a:pathLst>
                <a:path w="474979" h="0">
                  <a:moveTo>
                    <a:pt x="0" y="0"/>
                  </a:moveTo>
                  <a:lnTo>
                    <a:pt x="474939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5" name="object 1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12891" y="5484474"/>
              <a:ext cx="64145" cy="64145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5371764" y="4557806"/>
              <a:ext cx="3175" cy="772795"/>
            </a:xfrm>
            <a:custGeom>
              <a:avLst/>
              <a:gdLst/>
              <a:ahLst/>
              <a:cxnLst/>
              <a:rect l="l" t="t" r="r" b="b"/>
              <a:pathLst>
                <a:path w="3175" h="772795">
                  <a:moveTo>
                    <a:pt x="2727" y="0"/>
                  </a:moveTo>
                  <a:lnTo>
                    <a:pt x="0" y="772454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5339684" y="5314564"/>
              <a:ext cx="64769" cy="63500"/>
            </a:xfrm>
            <a:custGeom>
              <a:avLst/>
              <a:gdLst/>
              <a:ahLst/>
              <a:cxnLst/>
              <a:rect l="l" t="t" r="r" b="b"/>
              <a:pathLst>
                <a:path w="64770" h="63500">
                  <a:moveTo>
                    <a:pt x="64145" y="0"/>
                  </a:moveTo>
                  <a:lnTo>
                    <a:pt x="60731" y="2057"/>
                  </a:lnTo>
                  <a:lnTo>
                    <a:pt x="56647" y="3413"/>
                  </a:lnTo>
                  <a:lnTo>
                    <a:pt x="53233" y="4099"/>
                  </a:lnTo>
                  <a:lnTo>
                    <a:pt x="49133" y="5455"/>
                  </a:lnTo>
                  <a:lnTo>
                    <a:pt x="45719" y="6141"/>
                  </a:lnTo>
                  <a:lnTo>
                    <a:pt x="41620" y="6827"/>
                  </a:lnTo>
                  <a:lnTo>
                    <a:pt x="38221" y="7513"/>
                  </a:lnTo>
                  <a:lnTo>
                    <a:pt x="25938" y="7513"/>
                  </a:lnTo>
                  <a:lnTo>
                    <a:pt x="22524" y="6827"/>
                  </a:lnTo>
                  <a:lnTo>
                    <a:pt x="14325" y="5455"/>
                  </a:lnTo>
                  <a:lnTo>
                    <a:pt x="10927" y="4099"/>
                  </a:lnTo>
                  <a:lnTo>
                    <a:pt x="6827" y="2727"/>
                  </a:lnTo>
                  <a:lnTo>
                    <a:pt x="0" y="0"/>
                  </a:lnTo>
                  <a:lnTo>
                    <a:pt x="32080" y="63459"/>
                  </a:lnTo>
                  <a:lnTo>
                    <a:pt x="6414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6210406" y="4544837"/>
              <a:ext cx="1270" cy="799465"/>
            </a:xfrm>
            <a:custGeom>
              <a:avLst/>
              <a:gdLst/>
              <a:ahLst/>
              <a:cxnLst/>
              <a:rect l="l" t="t" r="r" b="b"/>
              <a:pathLst>
                <a:path w="1270" h="799464">
                  <a:moveTo>
                    <a:pt x="0" y="0"/>
                  </a:moveTo>
                  <a:lnTo>
                    <a:pt x="685" y="799078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6179027" y="5328904"/>
              <a:ext cx="64769" cy="63500"/>
            </a:xfrm>
            <a:custGeom>
              <a:avLst/>
              <a:gdLst/>
              <a:ahLst/>
              <a:cxnLst/>
              <a:rect l="l" t="t" r="r" b="b"/>
              <a:pathLst>
                <a:path w="64770" h="63500">
                  <a:moveTo>
                    <a:pt x="64145" y="0"/>
                  </a:moveTo>
                  <a:lnTo>
                    <a:pt x="57317" y="2727"/>
                  </a:lnTo>
                  <a:lnTo>
                    <a:pt x="53218" y="4084"/>
                  </a:lnTo>
                  <a:lnTo>
                    <a:pt x="49804" y="5455"/>
                  </a:lnTo>
                  <a:lnTo>
                    <a:pt x="45719" y="6141"/>
                  </a:lnTo>
                  <a:lnTo>
                    <a:pt x="42306" y="6812"/>
                  </a:lnTo>
                  <a:lnTo>
                    <a:pt x="38206" y="6812"/>
                  </a:lnTo>
                  <a:lnTo>
                    <a:pt x="34122" y="7498"/>
                  </a:lnTo>
                  <a:lnTo>
                    <a:pt x="30022" y="7498"/>
                  </a:lnTo>
                  <a:lnTo>
                    <a:pt x="26609" y="6812"/>
                  </a:lnTo>
                  <a:lnTo>
                    <a:pt x="22509" y="6812"/>
                  </a:lnTo>
                  <a:lnTo>
                    <a:pt x="18425" y="6141"/>
                  </a:lnTo>
                  <a:lnTo>
                    <a:pt x="15011" y="5455"/>
                  </a:lnTo>
                  <a:lnTo>
                    <a:pt x="10911" y="4084"/>
                  </a:lnTo>
                  <a:lnTo>
                    <a:pt x="4084" y="1356"/>
                  </a:lnTo>
                  <a:lnTo>
                    <a:pt x="0" y="0"/>
                  </a:lnTo>
                  <a:lnTo>
                    <a:pt x="32064" y="63459"/>
                  </a:lnTo>
                  <a:lnTo>
                    <a:pt x="6414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5244830" y="4615794"/>
              <a:ext cx="2540" cy="760730"/>
            </a:xfrm>
            <a:custGeom>
              <a:avLst/>
              <a:gdLst/>
              <a:ahLst/>
              <a:cxnLst/>
              <a:rect l="l" t="t" r="r" b="b"/>
              <a:pathLst>
                <a:path w="2539" h="760729">
                  <a:moveTo>
                    <a:pt x="0" y="0"/>
                  </a:moveTo>
                  <a:lnTo>
                    <a:pt x="2057" y="760186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5213451" y="4567346"/>
              <a:ext cx="63500" cy="64769"/>
            </a:xfrm>
            <a:custGeom>
              <a:avLst/>
              <a:gdLst/>
              <a:ahLst/>
              <a:cxnLst/>
              <a:rect l="l" t="t" r="r" b="b"/>
              <a:pathLst>
                <a:path w="63500" h="64770">
                  <a:moveTo>
                    <a:pt x="31379" y="0"/>
                  </a:moveTo>
                  <a:lnTo>
                    <a:pt x="0" y="64145"/>
                  </a:lnTo>
                  <a:lnTo>
                    <a:pt x="3398" y="62102"/>
                  </a:lnTo>
                  <a:lnTo>
                    <a:pt x="10226" y="59375"/>
                  </a:lnTo>
                  <a:lnTo>
                    <a:pt x="14325" y="58689"/>
                  </a:lnTo>
                  <a:lnTo>
                    <a:pt x="18409" y="57332"/>
                  </a:lnTo>
                  <a:lnTo>
                    <a:pt x="21823" y="56647"/>
                  </a:lnTo>
                  <a:lnTo>
                    <a:pt x="30022" y="56647"/>
                  </a:lnTo>
                  <a:lnTo>
                    <a:pt x="33436" y="55961"/>
                  </a:lnTo>
                  <a:lnTo>
                    <a:pt x="36835" y="56647"/>
                  </a:lnTo>
                  <a:lnTo>
                    <a:pt x="40934" y="56647"/>
                  </a:lnTo>
                  <a:lnTo>
                    <a:pt x="44348" y="57332"/>
                  </a:lnTo>
                  <a:lnTo>
                    <a:pt x="48447" y="58689"/>
                  </a:lnTo>
                  <a:lnTo>
                    <a:pt x="52532" y="59375"/>
                  </a:lnTo>
                  <a:lnTo>
                    <a:pt x="59359" y="62102"/>
                  </a:lnTo>
                  <a:lnTo>
                    <a:pt x="63459" y="63474"/>
                  </a:lnTo>
                  <a:lnTo>
                    <a:pt x="3137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6050051" y="4613066"/>
              <a:ext cx="5080" cy="770255"/>
            </a:xfrm>
            <a:custGeom>
              <a:avLst/>
              <a:gdLst/>
              <a:ahLst/>
              <a:cxnLst/>
              <a:rect l="l" t="t" r="r" b="b"/>
              <a:pathLst>
                <a:path w="5079" h="770254">
                  <a:moveTo>
                    <a:pt x="4770" y="0"/>
                  </a:moveTo>
                  <a:lnTo>
                    <a:pt x="0" y="769741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6022756" y="4563933"/>
              <a:ext cx="63500" cy="65405"/>
            </a:xfrm>
            <a:custGeom>
              <a:avLst/>
              <a:gdLst/>
              <a:ahLst/>
              <a:cxnLst/>
              <a:rect l="l" t="t" r="r" b="b"/>
              <a:pathLst>
                <a:path w="63500" h="65404">
                  <a:moveTo>
                    <a:pt x="32750" y="0"/>
                  </a:moveTo>
                  <a:lnTo>
                    <a:pt x="0" y="64145"/>
                  </a:lnTo>
                  <a:lnTo>
                    <a:pt x="3413" y="62788"/>
                  </a:lnTo>
                  <a:lnTo>
                    <a:pt x="7513" y="61417"/>
                  </a:lnTo>
                  <a:lnTo>
                    <a:pt x="10911" y="60060"/>
                  </a:lnTo>
                  <a:lnTo>
                    <a:pt x="15011" y="58689"/>
                  </a:lnTo>
                  <a:lnTo>
                    <a:pt x="18425" y="58003"/>
                  </a:lnTo>
                  <a:lnTo>
                    <a:pt x="22524" y="57332"/>
                  </a:lnTo>
                  <a:lnTo>
                    <a:pt x="26609" y="57332"/>
                  </a:lnTo>
                  <a:lnTo>
                    <a:pt x="30022" y="56647"/>
                  </a:lnTo>
                  <a:lnTo>
                    <a:pt x="34122" y="56647"/>
                  </a:lnTo>
                  <a:lnTo>
                    <a:pt x="38206" y="57332"/>
                  </a:lnTo>
                  <a:lnTo>
                    <a:pt x="42306" y="57332"/>
                  </a:lnTo>
                  <a:lnTo>
                    <a:pt x="45034" y="58003"/>
                  </a:lnTo>
                  <a:lnTo>
                    <a:pt x="49133" y="59375"/>
                  </a:lnTo>
                  <a:lnTo>
                    <a:pt x="52547" y="60060"/>
                  </a:lnTo>
                  <a:lnTo>
                    <a:pt x="56631" y="61417"/>
                  </a:lnTo>
                  <a:lnTo>
                    <a:pt x="60045" y="62788"/>
                  </a:lnTo>
                  <a:lnTo>
                    <a:pt x="63459" y="64830"/>
                  </a:lnTo>
                  <a:lnTo>
                    <a:pt x="327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5430438" y="4576902"/>
              <a:ext cx="557530" cy="854075"/>
            </a:xfrm>
            <a:custGeom>
              <a:avLst/>
              <a:gdLst/>
              <a:ahLst/>
              <a:cxnLst/>
              <a:rect l="l" t="t" r="r" b="b"/>
              <a:pathLst>
                <a:path w="557529" h="854075">
                  <a:moveTo>
                    <a:pt x="557509" y="0"/>
                  </a:moveTo>
                  <a:lnTo>
                    <a:pt x="0" y="853668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5953155" y="4535967"/>
              <a:ext cx="61594" cy="71120"/>
            </a:xfrm>
            <a:custGeom>
              <a:avLst/>
              <a:gdLst/>
              <a:ahLst/>
              <a:cxnLst/>
              <a:rect l="l" t="t" r="r" b="b"/>
              <a:pathLst>
                <a:path w="61595" h="71120">
                  <a:moveTo>
                    <a:pt x="61417" y="0"/>
                  </a:moveTo>
                  <a:lnTo>
                    <a:pt x="0" y="36164"/>
                  </a:lnTo>
                  <a:lnTo>
                    <a:pt x="3413" y="36850"/>
                  </a:lnTo>
                  <a:lnTo>
                    <a:pt x="7498" y="37520"/>
                  </a:lnTo>
                  <a:lnTo>
                    <a:pt x="10911" y="38206"/>
                  </a:lnTo>
                  <a:lnTo>
                    <a:pt x="15011" y="39578"/>
                  </a:lnTo>
                  <a:lnTo>
                    <a:pt x="18425" y="40934"/>
                  </a:lnTo>
                  <a:lnTo>
                    <a:pt x="21838" y="42992"/>
                  </a:lnTo>
                  <a:lnTo>
                    <a:pt x="25923" y="44348"/>
                  </a:lnTo>
                  <a:lnTo>
                    <a:pt x="29336" y="46390"/>
                  </a:lnTo>
                  <a:lnTo>
                    <a:pt x="32064" y="48447"/>
                  </a:lnTo>
                  <a:lnTo>
                    <a:pt x="35478" y="51175"/>
                  </a:lnTo>
                  <a:lnTo>
                    <a:pt x="38206" y="53218"/>
                  </a:lnTo>
                  <a:lnTo>
                    <a:pt x="41620" y="55946"/>
                  </a:lnTo>
                  <a:lnTo>
                    <a:pt x="44348" y="58673"/>
                  </a:lnTo>
                  <a:lnTo>
                    <a:pt x="46405" y="61417"/>
                  </a:lnTo>
                  <a:lnTo>
                    <a:pt x="49133" y="64815"/>
                  </a:lnTo>
                  <a:lnTo>
                    <a:pt x="51175" y="68229"/>
                  </a:lnTo>
                  <a:lnTo>
                    <a:pt x="53218" y="70957"/>
                  </a:lnTo>
                  <a:lnTo>
                    <a:pt x="6141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4862017" y="5106446"/>
              <a:ext cx="282575" cy="298450"/>
            </a:xfrm>
            <a:custGeom>
              <a:avLst/>
              <a:gdLst/>
              <a:ahLst/>
              <a:cxnLst/>
              <a:rect l="l" t="t" r="r" b="b"/>
              <a:pathLst>
                <a:path w="282575" h="298450">
                  <a:moveTo>
                    <a:pt x="282503" y="298201"/>
                  </a:moveTo>
                  <a:lnTo>
                    <a:pt x="0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7" name="object 13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110398" y="5371211"/>
              <a:ext cx="67558" cy="68915"/>
            </a:xfrm>
            <a:prstGeom prst="rect">
              <a:avLst/>
            </a:prstGeom>
          </p:spPr>
        </p:pic>
      </p:grpSp>
      <p:sp>
        <p:nvSpPr>
          <p:cNvPr id="138" name="object 138"/>
          <p:cNvSpPr txBox="1"/>
          <p:nvPr/>
        </p:nvSpPr>
        <p:spPr>
          <a:xfrm>
            <a:off x="4539245" y="4661848"/>
            <a:ext cx="11493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600">
              <a:latin typeface="Arial"/>
              <a:cs typeface="Arial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4894086" y="4481015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4891356" y="5214582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5656996" y="5486851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5098120" y="4685046"/>
            <a:ext cx="1249045" cy="408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5080">
              <a:lnSpc>
                <a:spcPts val="1505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600">
              <a:latin typeface="Arial"/>
              <a:cs typeface="Arial"/>
            </a:endParaRPr>
          </a:p>
          <a:p>
            <a:pPr algn="ctr" marR="5080">
              <a:lnSpc>
                <a:spcPts val="1505"/>
              </a:lnSpc>
              <a:tabLst>
                <a:tab pos="306070" algn="l"/>
                <a:tab pos="816610" algn="l"/>
                <a:tab pos="1122680" algn="l"/>
              </a:tabLst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3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4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5226939" y="4189635"/>
            <a:ext cx="73342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  <a:tabLst>
                <a:tab pos="429895" algn="l"/>
                <a:tab pos="694690" algn="l"/>
              </a:tabLst>
            </a:pPr>
            <a:r>
              <a:rPr dirty="0" baseline="-27777" sz="2400" spc="-7">
                <a:solidFill>
                  <a:srgbClr val="FFFF00"/>
                </a:solidFill>
                <a:latin typeface="Arial"/>
                <a:cs typeface="Arial"/>
              </a:rPr>
              <a:t>5</a:t>
            </a:r>
            <a:r>
              <a:rPr dirty="0" u="heavy" sz="1600" spc="-5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	1	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6062333" y="4283120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3414669" y="5364022"/>
            <a:ext cx="278066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1833245" algn="l"/>
                <a:tab pos="2654300" algn="l"/>
              </a:tabLst>
            </a:pPr>
            <a:r>
              <a:rPr dirty="0" baseline="1736" sz="2400" spc="-7">
                <a:solidFill>
                  <a:srgbClr val="FFFF00"/>
                </a:solidFill>
                <a:latin typeface="Arial"/>
                <a:cs typeface="Arial"/>
              </a:rPr>
              <a:t>7</a:t>
            </a:r>
            <a:r>
              <a:rPr dirty="0" baseline="1736" sz="2400" spc="-7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baseline="1736" sz="2400" spc="-7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baseline="1736" sz="2400">
              <a:latin typeface="Arial"/>
              <a:cs typeface="Arial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2213515" y="3817044"/>
            <a:ext cx="1388745" cy="9334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8105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select</a:t>
            </a:r>
            <a:r>
              <a:rPr dirty="0" sz="1600" spc="-3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550">
              <a:latin typeface="Arial"/>
              <a:cs typeface="Arial"/>
            </a:endParaRPr>
          </a:p>
          <a:p>
            <a:pPr marL="384175">
              <a:lnSpc>
                <a:spcPts val="1705"/>
              </a:lnSpc>
              <a:tabLst>
                <a:tab pos="788670" algn="l"/>
                <a:tab pos="1053465" algn="l"/>
              </a:tabLst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r>
              <a:rPr dirty="0" u="heavy" baseline="27777" sz="2400" spc="-7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	1	</a:t>
            </a:r>
            <a:r>
              <a:rPr dirty="0" baseline="1736" sz="2400" spc="-7">
                <a:solidFill>
                  <a:srgbClr val="FFFF00"/>
                </a:solidFill>
                <a:latin typeface="Arial"/>
                <a:cs typeface="Arial"/>
              </a:rPr>
              <a:t>10</a:t>
            </a:r>
            <a:endParaRPr baseline="1736" sz="2400">
              <a:latin typeface="Arial"/>
              <a:cs typeface="Arial"/>
            </a:endParaRPr>
          </a:p>
          <a:p>
            <a:pPr marL="25400">
              <a:lnSpc>
                <a:spcPts val="1705"/>
              </a:lnSpc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2823539" y="5869813"/>
            <a:ext cx="25825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8.66: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Dijkstra’s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48" name="object 148"/>
          <p:cNvGrpSpPr/>
          <p:nvPr/>
        </p:nvGrpSpPr>
        <p:grpSpPr>
          <a:xfrm>
            <a:off x="1790700" y="6684792"/>
            <a:ext cx="4648200" cy="1992630"/>
            <a:chOff x="1790700" y="6684792"/>
            <a:chExt cx="4648200" cy="1992630"/>
          </a:xfrm>
        </p:grpSpPr>
        <p:sp>
          <p:nvSpPr>
            <p:cNvPr id="149" name="object 149"/>
            <p:cNvSpPr/>
            <p:nvPr/>
          </p:nvSpPr>
          <p:spPr>
            <a:xfrm>
              <a:off x="1790700" y="6684792"/>
              <a:ext cx="4648200" cy="1992630"/>
            </a:xfrm>
            <a:custGeom>
              <a:avLst/>
              <a:gdLst/>
              <a:ahLst/>
              <a:cxnLst/>
              <a:rect l="l" t="t" r="r" b="b"/>
              <a:pathLst>
                <a:path w="4648200" h="1992629">
                  <a:moveTo>
                    <a:pt x="4648001" y="0"/>
                  </a:moveTo>
                  <a:lnTo>
                    <a:pt x="0" y="0"/>
                  </a:lnTo>
                  <a:lnTo>
                    <a:pt x="0" y="1992355"/>
                  </a:lnTo>
                  <a:lnTo>
                    <a:pt x="4648001" y="1992355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3953758" y="7738486"/>
              <a:ext cx="408940" cy="205104"/>
            </a:xfrm>
            <a:custGeom>
              <a:avLst/>
              <a:gdLst/>
              <a:ahLst/>
              <a:cxnLst/>
              <a:rect l="l" t="t" r="r" b="b"/>
              <a:pathLst>
                <a:path w="408939" h="205104">
                  <a:moveTo>
                    <a:pt x="306384" y="0"/>
                  </a:moveTo>
                  <a:lnTo>
                    <a:pt x="306384" y="67558"/>
                  </a:lnTo>
                  <a:lnTo>
                    <a:pt x="0" y="67558"/>
                  </a:lnTo>
                  <a:lnTo>
                    <a:pt x="0" y="137159"/>
                  </a:lnTo>
                  <a:lnTo>
                    <a:pt x="306384" y="137159"/>
                  </a:lnTo>
                  <a:lnTo>
                    <a:pt x="306384" y="204718"/>
                  </a:lnTo>
                  <a:lnTo>
                    <a:pt x="408752" y="102351"/>
                  </a:lnTo>
                  <a:lnTo>
                    <a:pt x="306384" y="0"/>
                  </a:lnTo>
                  <a:close/>
                </a:path>
              </a:pathLst>
            </a:custGeom>
            <a:solidFill>
              <a:srgbClr val="B8E7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3953758" y="7738486"/>
              <a:ext cx="408940" cy="205104"/>
            </a:xfrm>
            <a:custGeom>
              <a:avLst/>
              <a:gdLst/>
              <a:ahLst/>
              <a:cxnLst/>
              <a:rect l="l" t="t" r="r" b="b"/>
              <a:pathLst>
                <a:path w="408939" h="205104">
                  <a:moveTo>
                    <a:pt x="408752" y="102351"/>
                  </a:moveTo>
                  <a:lnTo>
                    <a:pt x="306384" y="204718"/>
                  </a:lnTo>
                  <a:lnTo>
                    <a:pt x="306384" y="137159"/>
                  </a:lnTo>
                  <a:lnTo>
                    <a:pt x="0" y="137159"/>
                  </a:lnTo>
                  <a:lnTo>
                    <a:pt x="0" y="67558"/>
                  </a:lnTo>
                  <a:lnTo>
                    <a:pt x="306384" y="67558"/>
                  </a:lnTo>
                  <a:lnTo>
                    <a:pt x="306384" y="0"/>
                  </a:lnTo>
                  <a:lnTo>
                    <a:pt x="408752" y="102351"/>
                  </a:lnTo>
                </a:path>
              </a:pathLst>
            </a:custGeom>
            <a:ln w="568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2" name="object 152"/>
          <p:cNvSpPr txBox="1"/>
          <p:nvPr/>
        </p:nvSpPr>
        <p:spPr>
          <a:xfrm>
            <a:off x="4049964" y="7530002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53" name="object 153"/>
          <p:cNvGrpSpPr/>
          <p:nvPr/>
        </p:nvGrpSpPr>
        <p:grpSpPr>
          <a:xfrm>
            <a:off x="1969800" y="7202129"/>
            <a:ext cx="1358900" cy="1290320"/>
            <a:chOff x="1969800" y="7202129"/>
            <a:chExt cx="1358900" cy="1290320"/>
          </a:xfrm>
        </p:grpSpPr>
        <p:sp>
          <p:nvSpPr>
            <p:cNvPr id="154" name="object 154"/>
            <p:cNvSpPr/>
            <p:nvPr/>
          </p:nvSpPr>
          <p:spPr>
            <a:xfrm>
              <a:off x="2804617" y="8287125"/>
              <a:ext cx="524510" cy="205104"/>
            </a:xfrm>
            <a:custGeom>
              <a:avLst/>
              <a:gdLst/>
              <a:ahLst/>
              <a:cxnLst/>
              <a:rect l="l" t="t" r="r" b="b"/>
              <a:pathLst>
                <a:path w="524510" h="205104">
                  <a:moveTo>
                    <a:pt x="59359" y="0"/>
                  </a:moveTo>
                  <a:lnTo>
                    <a:pt x="0" y="102351"/>
                  </a:lnTo>
                  <a:lnTo>
                    <a:pt x="59359" y="204718"/>
                  </a:lnTo>
                  <a:lnTo>
                    <a:pt x="59359" y="137159"/>
                  </a:lnTo>
                  <a:lnTo>
                    <a:pt x="524073" y="137159"/>
                  </a:lnTo>
                  <a:lnTo>
                    <a:pt x="524073" y="67558"/>
                  </a:lnTo>
                  <a:lnTo>
                    <a:pt x="59359" y="67558"/>
                  </a:lnTo>
                  <a:lnTo>
                    <a:pt x="59359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2804617" y="8287125"/>
              <a:ext cx="524510" cy="205104"/>
            </a:xfrm>
            <a:custGeom>
              <a:avLst/>
              <a:gdLst/>
              <a:ahLst/>
              <a:cxnLst/>
              <a:rect l="l" t="t" r="r" b="b"/>
              <a:pathLst>
                <a:path w="524510" h="205104">
                  <a:moveTo>
                    <a:pt x="0" y="102351"/>
                  </a:moveTo>
                  <a:lnTo>
                    <a:pt x="59359" y="204718"/>
                  </a:lnTo>
                  <a:lnTo>
                    <a:pt x="59359" y="137159"/>
                  </a:lnTo>
                  <a:lnTo>
                    <a:pt x="524073" y="137159"/>
                  </a:lnTo>
                  <a:lnTo>
                    <a:pt x="524073" y="67558"/>
                  </a:lnTo>
                  <a:lnTo>
                    <a:pt x="59359" y="67558"/>
                  </a:lnTo>
                  <a:lnTo>
                    <a:pt x="59359" y="0"/>
                  </a:lnTo>
                  <a:lnTo>
                    <a:pt x="0" y="102351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2488661" y="7444369"/>
              <a:ext cx="204470" cy="798830"/>
            </a:xfrm>
            <a:custGeom>
              <a:avLst/>
              <a:gdLst/>
              <a:ahLst/>
              <a:cxnLst/>
              <a:rect l="l" t="t" r="r" b="b"/>
              <a:pathLst>
                <a:path w="204469" h="798829">
                  <a:moveTo>
                    <a:pt x="136489" y="0"/>
                  </a:moveTo>
                  <a:lnTo>
                    <a:pt x="66888" y="0"/>
                  </a:lnTo>
                  <a:lnTo>
                    <a:pt x="66888" y="739719"/>
                  </a:lnTo>
                  <a:lnTo>
                    <a:pt x="0" y="739719"/>
                  </a:lnTo>
                  <a:lnTo>
                    <a:pt x="101681" y="798408"/>
                  </a:lnTo>
                  <a:lnTo>
                    <a:pt x="204048" y="739719"/>
                  </a:lnTo>
                  <a:lnTo>
                    <a:pt x="136489" y="739719"/>
                  </a:lnTo>
                  <a:lnTo>
                    <a:pt x="136489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2488661" y="7444369"/>
              <a:ext cx="204470" cy="798830"/>
            </a:xfrm>
            <a:custGeom>
              <a:avLst/>
              <a:gdLst/>
              <a:ahLst/>
              <a:cxnLst/>
              <a:rect l="l" t="t" r="r" b="b"/>
              <a:pathLst>
                <a:path w="204469" h="798829">
                  <a:moveTo>
                    <a:pt x="101681" y="798408"/>
                  </a:moveTo>
                  <a:lnTo>
                    <a:pt x="204048" y="739719"/>
                  </a:lnTo>
                  <a:lnTo>
                    <a:pt x="136489" y="739719"/>
                  </a:lnTo>
                  <a:lnTo>
                    <a:pt x="136489" y="0"/>
                  </a:lnTo>
                  <a:lnTo>
                    <a:pt x="66888" y="0"/>
                  </a:lnTo>
                  <a:lnTo>
                    <a:pt x="66888" y="739719"/>
                  </a:lnTo>
                  <a:lnTo>
                    <a:pt x="0" y="739719"/>
                  </a:lnTo>
                  <a:lnTo>
                    <a:pt x="101681" y="798408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163165" y="7947974"/>
              <a:ext cx="382270" cy="393065"/>
            </a:xfrm>
            <a:custGeom>
              <a:avLst/>
              <a:gdLst/>
              <a:ahLst/>
              <a:cxnLst/>
              <a:rect l="l" t="t" r="r" b="b"/>
              <a:pathLst>
                <a:path w="382269" h="393065">
                  <a:moveTo>
                    <a:pt x="148087" y="0"/>
                  </a:moveTo>
                  <a:lnTo>
                    <a:pt x="33436" y="27294"/>
                  </a:lnTo>
                  <a:lnTo>
                    <a:pt x="0" y="140573"/>
                  </a:lnTo>
                  <a:lnTo>
                    <a:pt x="49133" y="94167"/>
                  </a:lnTo>
                  <a:lnTo>
                    <a:pt x="332323" y="393054"/>
                  </a:lnTo>
                  <a:lnTo>
                    <a:pt x="382142" y="345292"/>
                  </a:lnTo>
                  <a:lnTo>
                    <a:pt x="98953" y="45719"/>
                  </a:lnTo>
                  <a:lnTo>
                    <a:pt x="148087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2163165" y="7947974"/>
              <a:ext cx="382270" cy="393065"/>
            </a:xfrm>
            <a:custGeom>
              <a:avLst/>
              <a:gdLst/>
              <a:ahLst/>
              <a:cxnLst/>
              <a:rect l="l" t="t" r="r" b="b"/>
              <a:pathLst>
                <a:path w="382269" h="393065">
                  <a:moveTo>
                    <a:pt x="33436" y="27294"/>
                  </a:moveTo>
                  <a:lnTo>
                    <a:pt x="0" y="140573"/>
                  </a:lnTo>
                  <a:lnTo>
                    <a:pt x="49133" y="94167"/>
                  </a:lnTo>
                  <a:lnTo>
                    <a:pt x="332323" y="393054"/>
                  </a:lnTo>
                  <a:lnTo>
                    <a:pt x="382142" y="345292"/>
                  </a:lnTo>
                  <a:lnTo>
                    <a:pt x="98953" y="45719"/>
                  </a:lnTo>
                  <a:lnTo>
                    <a:pt x="148087" y="0"/>
                  </a:lnTo>
                  <a:lnTo>
                    <a:pt x="33436" y="27294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2786192" y="7202129"/>
              <a:ext cx="523875" cy="205104"/>
            </a:xfrm>
            <a:custGeom>
              <a:avLst/>
              <a:gdLst/>
              <a:ahLst/>
              <a:cxnLst/>
              <a:rect l="l" t="t" r="r" b="b"/>
              <a:pathLst>
                <a:path w="523875" h="205104">
                  <a:moveTo>
                    <a:pt x="58689" y="0"/>
                  </a:moveTo>
                  <a:lnTo>
                    <a:pt x="0" y="102351"/>
                  </a:lnTo>
                  <a:lnTo>
                    <a:pt x="58689" y="204718"/>
                  </a:lnTo>
                  <a:lnTo>
                    <a:pt x="58689" y="137159"/>
                  </a:lnTo>
                  <a:lnTo>
                    <a:pt x="523387" y="137159"/>
                  </a:lnTo>
                  <a:lnTo>
                    <a:pt x="523387" y="67558"/>
                  </a:lnTo>
                  <a:lnTo>
                    <a:pt x="58689" y="67558"/>
                  </a:lnTo>
                  <a:lnTo>
                    <a:pt x="58689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2786192" y="7202129"/>
              <a:ext cx="523875" cy="205104"/>
            </a:xfrm>
            <a:custGeom>
              <a:avLst/>
              <a:gdLst/>
              <a:ahLst/>
              <a:cxnLst/>
              <a:rect l="l" t="t" r="r" b="b"/>
              <a:pathLst>
                <a:path w="523875" h="205104">
                  <a:moveTo>
                    <a:pt x="0" y="102351"/>
                  </a:moveTo>
                  <a:lnTo>
                    <a:pt x="58689" y="204718"/>
                  </a:lnTo>
                  <a:lnTo>
                    <a:pt x="58689" y="137159"/>
                  </a:lnTo>
                  <a:lnTo>
                    <a:pt x="523387" y="137159"/>
                  </a:lnTo>
                  <a:lnTo>
                    <a:pt x="523387" y="67558"/>
                  </a:lnTo>
                  <a:lnTo>
                    <a:pt x="58689" y="67558"/>
                  </a:lnTo>
                  <a:lnTo>
                    <a:pt x="58689" y="0"/>
                  </a:lnTo>
                  <a:lnTo>
                    <a:pt x="0" y="102351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1975515" y="7712562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5" h="294004">
                  <a:moveTo>
                    <a:pt x="146715" y="0"/>
                  </a:moveTo>
                  <a:lnTo>
                    <a:pt x="108493" y="4770"/>
                  </a:lnTo>
                  <a:lnTo>
                    <a:pt x="73014" y="19781"/>
                  </a:lnTo>
                  <a:lnTo>
                    <a:pt x="30022" y="57317"/>
                  </a:lnTo>
                  <a:lnTo>
                    <a:pt x="10911" y="90754"/>
                  </a:lnTo>
                  <a:lnTo>
                    <a:pt x="685" y="128275"/>
                  </a:lnTo>
                  <a:lnTo>
                    <a:pt x="0" y="147386"/>
                  </a:lnTo>
                  <a:lnTo>
                    <a:pt x="685" y="166496"/>
                  </a:lnTo>
                  <a:lnTo>
                    <a:pt x="10911" y="203347"/>
                  </a:lnTo>
                  <a:lnTo>
                    <a:pt x="30022" y="236783"/>
                  </a:lnTo>
                  <a:lnTo>
                    <a:pt x="57317" y="263392"/>
                  </a:lnTo>
                  <a:lnTo>
                    <a:pt x="90754" y="282503"/>
                  </a:lnTo>
                  <a:lnTo>
                    <a:pt x="127604" y="292729"/>
                  </a:lnTo>
                  <a:lnTo>
                    <a:pt x="146715" y="293415"/>
                  </a:lnTo>
                  <a:lnTo>
                    <a:pt x="165811" y="292729"/>
                  </a:lnTo>
                  <a:lnTo>
                    <a:pt x="203347" y="282503"/>
                  </a:lnTo>
                  <a:lnTo>
                    <a:pt x="236783" y="263392"/>
                  </a:lnTo>
                  <a:lnTo>
                    <a:pt x="273634" y="221086"/>
                  </a:lnTo>
                  <a:lnTo>
                    <a:pt x="288645" y="185607"/>
                  </a:lnTo>
                  <a:lnTo>
                    <a:pt x="293430" y="147386"/>
                  </a:lnTo>
                  <a:lnTo>
                    <a:pt x="292059" y="128275"/>
                  </a:lnTo>
                  <a:lnTo>
                    <a:pt x="281818" y="90754"/>
                  </a:lnTo>
                  <a:lnTo>
                    <a:pt x="263392" y="57317"/>
                  </a:lnTo>
                  <a:lnTo>
                    <a:pt x="220416" y="19781"/>
                  </a:lnTo>
                  <a:lnTo>
                    <a:pt x="184922" y="4770"/>
                  </a:lnTo>
                  <a:lnTo>
                    <a:pt x="146715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1975515" y="7712562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5" h="294004">
                  <a:moveTo>
                    <a:pt x="0" y="147386"/>
                  </a:moveTo>
                  <a:lnTo>
                    <a:pt x="4770" y="109179"/>
                  </a:lnTo>
                  <a:lnTo>
                    <a:pt x="19781" y="73685"/>
                  </a:lnTo>
                  <a:lnTo>
                    <a:pt x="42992" y="42976"/>
                  </a:lnTo>
                  <a:lnTo>
                    <a:pt x="90754" y="11597"/>
                  </a:lnTo>
                  <a:lnTo>
                    <a:pt x="127604" y="1356"/>
                  </a:lnTo>
                  <a:lnTo>
                    <a:pt x="146715" y="0"/>
                  </a:lnTo>
                  <a:lnTo>
                    <a:pt x="165811" y="1356"/>
                  </a:lnTo>
                  <a:lnTo>
                    <a:pt x="203347" y="11597"/>
                  </a:lnTo>
                  <a:lnTo>
                    <a:pt x="236783" y="30693"/>
                  </a:lnTo>
                  <a:lnTo>
                    <a:pt x="273634" y="73685"/>
                  </a:lnTo>
                  <a:lnTo>
                    <a:pt x="288645" y="109179"/>
                  </a:lnTo>
                  <a:lnTo>
                    <a:pt x="293430" y="147386"/>
                  </a:lnTo>
                  <a:lnTo>
                    <a:pt x="292059" y="166496"/>
                  </a:lnTo>
                  <a:lnTo>
                    <a:pt x="281818" y="203347"/>
                  </a:lnTo>
                  <a:lnTo>
                    <a:pt x="263392" y="236783"/>
                  </a:lnTo>
                  <a:lnTo>
                    <a:pt x="220416" y="273634"/>
                  </a:lnTo>
                  <a:lnTo>
                    <a:pt x="184922" y="288645"/>
                  </a:lnTo>
                  <a:lnTo>
                    <a:pt x="146715" y="293415"/>
                  </a:lnTo>
                  <a:lnTo>
                    <a:pt x="127604" y="292729"/>
                  </a:lnTo>
                  <a:lnTo>
                    <a:pt x="90754" y="282503"/>
                  </a:lnTo>
                  <a:lnTo>
                    <a:pt x="57317" y="263392"/>
                  </a:lnTo>
                  <a:lnTo>
                    <a:pt x="30022" y="236783"/>
                  </a:lnTo>
                  <a:lnTo>
                    <a:pt x="10911" y="203347"/>
                  </a:lnTo>
                  <a:lnTo>
                    <a:pt x="685" y="166496"/>
                  </a:lnTo>
                  <a:lnTo>
                    <a:pt x="0" y="147386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4" name="object 164"/>
          <p:cNvSpPr txBox="1"/>
          <p:nvPr/>
        </p:nvSpPr>
        <p:spPr>
          <a:xfrm>
            <a:off x="2073096" y="7720388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65" name="object 165"/>
          <p:cNvGrpSpPr/>
          <p:nvPr/>
        </p:nvGrpSpPr>
        <p:grpSpPr>
          <a:xfrm>
            <a:off x="2197585" y="7151380"/>
            <a:ext cx="1423670" cy="1384300"/>
            <a:chOff x="2197585" y="7151380"/>
            <a:chExt cx="1423670" cy="1384300"/>
          </a:xfrm>
        </p:grpSpPr>
        <p:sp>
          <p:nvSpPr>
            <p:cNvPr id="166" name="object 166"/>
            <p:cNvSpPr/>
            <p:nvPr/>
          </p:nvSpPr>
          <p:spPr>
            <a:xfrm>
              <a:off x="2498902" y="7157095"/>
              <a:ext cx="294005" cy="294640"/>
            </a:xfrm>
            <a:custGeom>
              <a:avLst/>
              <a:gdLst/>
              <a:ahLst/>
              <a:cxnLst/>
              <a:rect l="l" t="t" r="r" b="b"/>
              <a:pathLst>
                <a:path w="294005" h="294640">
                  <a:moveTo>
                    <a:pt x="146715" y="0"/>
                  </a:moveTo>
                  <a:lnTo>
                    <a:pt x="108508" y="5455"/>
                  </a:lnTo>
                  <a:lnTo>
                    <a:pt x="73014" y="19781"/>
                  </a:lnTo>
                  <a:lnTo>
                    <a:pt x="42992" y="43662"/>
                  </a:lnTo>
                  <a:lnTo>
                    <a:pt x="19110" y="73700"/>
                  </a:lnTo>
                  <a:lnTo>
                    <a:pt x="1371" y="128290"/>
                  </a:lnTo>
                  <a:lnTo>
                    <a:pt x="0" y="147386"/>
                  </a:lnTo>
                  <a:lnTo>
                    <a:pt x="1371" y="166496"/>
                  </a:lnTo>
                  <a:lnTo>
                    <a:pt x="11597" y="204033"/>
                  </a:lnTo>
                  <a:lnTo>
                    <a:pt x="42992" y="251795"/>
                  </a:lnTo>
                  <a:lnTo>
                    <a:pt x="90754" y="282503"/>
                  </a:lnTo>
                  <a:lnTo>
                    <a:pt x="127604" y="292745"/>
                  </a:lnTo>
                  <a:lnTo>
                    <a:pt x="146715" y="294101"/>
                  </a:lnTo>
                  <a:lnTo>
                    <a:pt x="165826" y="292745"/>
                  </a:lnTo>
                  <a:lnTo>
                    <a:pt x="203347" y="282503"/>
                  </a:lnTo>
                  <a:lnTo>
                    <a:pt x="251124" y="251795"/>
                  </a:lnTo>
                  <a:lnTo>
                    <a:pt x="274319" y="221086"/>
                  </a:lnTo>
                  <a:lnTo>
                    <a:pt x="292059" y="166496"/>
                  </a:lnTo>
                  <a:lnTo>
                    <a:pt x="293430" y="147386"/>
                  </a:lnTo>
                  <a:lnTo>
                    <a:pt x="292059" y="128290"/>
                  </a:lnTo>
                  <a:lnTo>
                    <a:pt x="274319" y="73700"/>
                  </a:lnTo>
                  <a:lnTo>
                    <a:pt x="236113" y="30708"/>
                  </a:lnTo>
                  <a:lnTo>
                    <a:pt x="184922" y="5455"/>
                  </a:lnTo>
                  <a:lnTo>
                    <a:pt x="146715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2498902" y="7157095"/>
              <a:ext cx="294005" cy="294640"/>
            </a:xfrm>
            <a:custGeom>
              <a:avLst/>
              <a:gdLst/>
              <a:ahLst/>
              <a:cxnLst/>
              <a:rect l="l" t="t" r="r" b="b"/>
              <a:pathLst>
                <a:path w="294005" h="294640">
                  <a:moveTo>
                    <a:pt x="0" y="147386"/>
                  </a:moveTo>
                  <a:lnTo>
                    <a:pt x="5455" y="109179"/>
                  </a:lnTo>
                  <a:lnTo>
                    <a:pt x="30022" y="58003"/>
                  </a:lnTo>
                  <a:lnTo>
                    <a:pt x="57317" y="30708"/>
                  </a:lnTo>
                  <a:lnTo>
                    <a:pt x="90754" y="11597"/>
                  </a:lnTo>
                  <a:lnTo>
                    <a:pt x="127604" y="1356"/>
                  </a:lnTo>
                  <a:lnTo>
                    <a:pt x="146715" y="0"/>
                  </a:lnTo>
                  <a:lnTo>
                    <a:pt x="165826" y="1356"/>
                  </a:lnTo>
                  <a:lnTo>
                    <a:pt x="203347" y="11597"/>
                  </a:lnTo>
                  <a:lnTo>
                    <a:pt x="251124" y="43662"/>
                  </a:lnTo>
                  <a:lnTo>
                    <a:pt x="282503" y="91439"/>
                  </a:lnTo>
                  <a:lnTo>
                    <a:pt x="293430" y="147386"/>
                  </a:lnTo>
                  <a:lnTo>
                    <a:pt x="292059" y="166496"/>
                  </a:lnTo>
                  <a:lnTo>
                    <a:pt x="282503" y="204033"/>
                  </a:lnTo>
                  <a:lnTo>
                    <a:pt x="251124" y="251795"/>
                  </a:lnTo>
                  <a:lnTo>
                    <a:pt x="203347" y="282503"/>
                  </a:lnTo>
                  <a:lnTo>
                    <a:pt x="165826" y="292745"/>
                  </a:lnTo>
                  <a:lnTo>
                    <a:pt x="146715" y="294101"/>
                  </a:lnTo>
                  <a:lnTo>
                    <a:pt x="127604" y="292745"/>
                  </a:lnTo>
                  <a:lnTo>
                    <a:pt x="90754" y="282503"/>
                  </a:lnTo>
                  <a:lnTo>
                    <a:pt x="57317" y="263392"/>
                  </a:lnTo>
                  <a:lnTo>
                    <a:pt x="30022" y="236783"/>
                  </a:lnTo>
                  <a:lnTo>
                    <a:pt x="5455" y="185607"/>
                  </a:lnTo>
                  <a:lnTo>
                    <a:pt x="0" y="147386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2505730" y="8235950"/>
              <a:ext cx="293370" cy="294005"/>
            </a:xfrm>
            <a:custGeom>
              <a:avLst/>
              <a:gdLst/>
              <a:ahLst/>
              <a:cxnLst/>
              <a:rect l="l" t="t" r="r" b="b"/>
              <a:pathLst>
                <a:path w="293369" h="294004">
                  <a:moveTo>
                    <a:pt x="146029" y="0"/>
                  </a:moveTo>
                  <a:lnTo>
                    <a:pt x="90068" y="10911"/>
                  </a:lnTo>
                  <a:lnTo>
                    <a:pt x="56631" y="30022"/>
                  </a:lnTo>
                  <a:lnTo>
                    <a:pt x="29336" y="57317"/>
                  </a:lnTo>
                  <a:lnTo>
                    <a:pt x="10241" y="90754"/>
                  </a:lnTo>
                  <a:lnTo>
                    <a:pt x="0" y="147386"/>
                  </a:lnTo>
                  <a:lnTo>
                    <a:pt x="1356" y="166496"/>
                  </a:lnTo>
                  <a:lnTo>
                    <a:pt x="19110" y="220400"/>
                  </a:lnTo>
                  <a:lnTo>
                    <a:pt x="42306" y="251109"/>
                  </a:lnTo>
                  <a:lnTo>
                    <a:pt x="90068" y="282503"/>
                  </a:lnTo>
                  <a:lnTo>
                    <a:pt x="146029" y="293430"/>
                  </a:lnTo>
                  <a:lnTo>
                    <a:pt x="165811" y="292059"/>
                  </a:lnTo>
                  <a:lnTo>
                    <a:pt x="219730" y="273634"/>
                  </a:lnTo>
                  <a:lnTo>
                    <a:pt x="262722" y="236783"/>
                  </a:lnTo>
                  <a:lnTo>
                    <a:pt x="281818" y="203347"/>
                  </a:lnTo>
                  <a:lnTo>
                    <a:pt x="292745" y="147386"/>
                  </a:lnTo>
                  <a:lnTo>
                    <a:pt x="291373" y="127604"/>
                  </a:lnTo>
                  <a:lnTo>
                    <a:pt x="273634" y="73700"/>
                  </a:lnTo>
                  <a:lnTo>
                    <a:pt x="250438" y="42992"/>
                  </a:lnTo>
                  <a:lnTo>
                    <a:pt x="219730" y="19781"/>
                  </a:lnTo>
                  <a:lnTo>
                    <a:pt x="184236" y="4770"/>
                  </a:lnTo>
                  <a:lnTo>
                    <a:pt x="146029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2505730" y="8235950"/>
              <a:ext cx="293370" cy="294005"/>
            </a:xfrm>
            <a:custGeom>
              <a:avLst/>
              <a:gdLst/>
              <a:ahLst/>
              <a:cxnLst/>
              <a:rect l="l" t="t" r="r" b="b"/>
              <a:pathLst>
                <a:path w="293369" h="294004">
                  <a:moveTo>
                    <a:pt x="0" y="147386"/>
                  </a:moveTo>
                  <a:lnTo>
                    <a:pt x="4770" y="109179"/>
                  </a:lnTo>
                  <a:lnTo>
                    <a:pt x="19110" y="73700"/>
                  </a:lnTo>
                  <a:lnTo>
                    <a:pt x="42306" y="42992"/>
                  </a:lnTo>
                  <a:lnTo>
                    <a:pt x="73014" y="19781"/>
                  </a:lnTo>
                  <a:lnTo>
                    <a:pt x="108493" y="4770"/>
                  </a:lnTo>
                  <a:lnTo>
                    <a:pt x="146029" y="0"/>
                  </a:lnTo>
                  <a:lnTo>
                    <a:pt x="165811" y="1356"/>
                  </a:lnTo>
                  <a:lnTo>
                    <a:pt x="219730" y="19781"/>
                  </a:lnTo>
                  <a:lnTo>
                    <a:pt x="250438" y="42992"/>
                  </a:lnTo>
                  <a:lnTo>
                    <a:pt x="273634" y="73700"/>
                  </a:lnTo>
                  <a:lnTo>
                    <a:pt x="287959" y="109179"/>
                  </a:lnTo>
                  <a:lnTo>
                    <a:pt x="292745" y="147386"/>
                  </a:lnTo>
                  <a:lnTo>
                    <a:pt x="291373" y="166496"/>
                  </a:lnTo>
                  <a:lnTo>
                    <a:pt x="273634" y="220400"/>
                  </a:lnTo>
                  <a:lnTo>
                    <a:pt x="250438" y="251109"/>
                  </a:lnTo>
                  <a:lnTo>
                    <a:pt x="202661" y="282503"/>
                  </a:lnTo>
                  <a:lnTo>
                    <a:pt x="146029" y="293430"/>
                  </a:lnTo>
                  <a:lnTo>
                    <a:pt x="126918" y="292059"/>
                  </a:lnTo>
                  <a:lnTo>
                    <a:pt x="73014" y="273634"/>
                  </a:lnTo>
                  <a:lnTo>
                    <a:pt x="29336" y="236783"/>
                  </a:lnTo>
                  <a:lnTo>
                    <a:pt x="10241" y="203347"/>
                  </a:lnTo>
                  <a:lnTo>
                    <a:pt x="0" y="147386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3315720" y="7157095"/>
              <a:ext cx="299720" cy="1372870"/>
            </a:xfrm>
            <a:custGeom>
              <a:avLst/>
              <a:gdLst/>
              <a:ahLst/>
              <a:cxnLst/>
              <a:rect l="l" t="t" r="r" b="b"/>
              <a:pathLst>
                <a:path w="299720" h="1372870">
                  <a:moveTo>
                    <a:pt x="0" y="147386"/>
                  </a:moveTo>
                  <a:lnTo>
                    <a:pt x="5455" y="109179"/>
                  </a:lnTo>
                  <a:lnTo>
                    <a:pt x="30022" y="58003"/>
                  </a:lnTo>
                  <a:lnTo>
                    <a:pt x="57317" y="30708"/>
                  </a:lnTo>
                  <a:lnTo>
                    <a:pt x="90754" y="11597"/>
                  </a:lnTo>
                  <a:lnTo>
                    <a:pt x="127604" y="1356"/>
                  </a:lnTo>
                  <a:lnTo>
                    <a:pt x="146715" y="0"/>
                  </a:lnTo>
                  <a:lnTo>
                    <a:pt x="165826" y="1356"/>
                  </a:lnTo>
                  <a:lnTo>
                    <a:pt x="203347" y="11597"/>
                  </a:lnTo>
                  <a:lnTo>
                    <a:pt x="251124" y="43662"/>
                  </a:lnTo>
                  <a:lnTo>
                    <a:pt x="282503" y="91439"/>
                  </a:lnTo>
                  <a:lnTo>
                    <a:pt x="293430" y="147386"/>
                  </a:lnTo>
                  <a:lnTo>
                    <a:pt x="292059" y="166496"/>
                  </a:lnTo>
                  <a:lnTo>
                    <a:pt x="282503" y="204033"/>
                  </a:lnTo>
                  <a:lnTo>
                    <a:pt x="251124" y="251795"/>
                  </a:lnTo>
                  <a:lnTo>
                    <a:pt x="203347" y="282503"/>
                  </a:lnTo>
                  <a:lnTo>
                    <a:pt x="165826" y="292745"/>
                  </a:lnTo>
                  <a:lnTo>
                    <a:pt x="146715" y="294101"/>
                  </a:lnTo>
                  <a:lnTo>
                    <a:pt x="127604" y="292745"/>
                  </a:lnTo>
                  <a:lnTo>
                    <a:pt x="90754" y="282503"/>
                  </a:lnTo>
                  <a:lnTo>
                    <a:pt x="57317" y="263392"/>
                  </a:lnTo>
                  <a:lnTo>
                    <a:pt x="30022" y="236783"/>
                  </a:lnTo>
                  <a:lnTo>
                    <a:pt x="5455" y="185607"/>
                  </a:lnTo>
                  <a:lnTo>
                    <a:pt x="0" y="147386"/>
                  </a:lnTo>
                </a:path>
                <a:path w="299720" h="1372870">
                  <a:moveTo>
                    <a:pt x="6827" y="1226240"/>
                  </a:moveTo>
                  <a:lnTo>
                    <a:pt x="11597" y="1188034"/>
                  </a:lnTo>
                  <a:lnTo>
                    <a:pt x="25938" y="1152555"/>
                  </a:lnTo>
                  <a:lnTo>
                    <a:pt x="49133" y="1121846"/>
                  </a:lnTo>
                  <a:lnTo>
                    <a:pt x="79842" y="1098636"/>
                  </a:lnTo>
                  <a:lnTo>
                    <a:pt x="115321" y="1083624"/>
                  </a:lnTo>
                  <a:lnTo>
                    <a:pt x="152857" y="1078854"/>
                  </a:lnTo>
                  <a:lnTo>
                    <a:pt x="172638" y="1080211"/>
                  </a:lnTo>
                  <a:lnTo>
                    <a:pt x="226557" y="1098636"/>
                  </a:lnTo>
                  <a:lnTo>
                    <a:pt x="257266" y="1121846"/>
                  </a:lnTo>
                  <a:lnTo>
                    <a:pt x="280461" y="1152555"/>
                  </a:lnTo>
                  <a:lnTo>
                    <a:pt x="294787" y="1188034"/>
                  </a:lnTo>
                  <a:lnTo>
                    <a:pt x="299572" y="1226240"/>
                  </a:lnTo>
                  <a:lnTo>
                    <a:pt x="298201" y="1245351"/>
                  </a:lnTo>
                  <a:lnTo>
                    <a:pt x="280461" y="1299255"/>
                  </a:lnTo>
                  <a:lnTo>
                    <a:pt x="257266" y="1329964"/>
                  </a:lnTo>
                  <a:lnTo>
                    <a:pt x="209489" y="1361358"/>
                  </a:lnTo>
                  <a:lnTo>
                    <a:pt x="152857" y="1372285"/>
                  </a:lnTo>
                  <a:lnTo>
                    <a:pt x="133746" y="1370914"/>
                  </a:lnTo>
                  <a:lnTo>
                    <a:pt x="79842" y="1352489"/>
                  </a:lnTo>
                  <a:lnTo>
                    <a:pt x="36164" y="1315638"/>
                  </a:lnTo>
                  <a:lnTo>
                    <a:pt x="17068" y="1282202"/>
                  </a:lnTo>
                  <a:lnTo>
                    <a:pt x="6827" y="1226240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2206157" y="7440971"/>
              <a:ext cx="300990" cy="297815"/>
            </a:xfrm>
            <a:custGeom>
              <a:avLst/>
              <a:gdLst/>
              <a:ahLst/>
              <a:cxnLst/>
              <a:rect l="l" t="t" r="r" b="b"/>
              <a:pathLst>
                <a:path w="300989" h="297815">
                  <a:moveTo>
                    <a:pt x="0" y="297515"/>
                  </a:moveTo>
                  <a:lnTo>
                    <a:pt x="300929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2" name="object 17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472979" y="7407534"/>
              <a:ext cx="67543" cy="67543"/>
            </a:xfrm>
            <a:prstGeom prst="rect">
              <a:avLst/>
            </a:prstGeom>
          </p:spPr>
        </p:pic>
        <p:pic>
          <p:nvPicPr>
            <p:cNvPr id="173" name="object 17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51575" y="7272416"/>
              <a:ext cx="64145" cy="64145"/>
            </a:xfrm>
            <a:prstGeom prst="rect">
              <a:avLst/>
            </a:prstGeom>
          </p:spPr>
        </p:pic>
        <p:sp>
          <p:nvSpPr>
            <p:cNvPr id="174" name="object 174"/>
            <p:cNvSpPr/>
            <p:nvPr/>
          </p:nvSpPr>
          <p:spPr>
            <a:xfrm>
              <a:off x="2798475" y="8389478"/>
              <a:ext cx="476250" cy="0"/>
            </a:xfrm>
            <a:custGeom>
              <a:avLst/>
              <a:gdLst/>
              <a:ahLst/>
              <a:cxnLst/>
              <a:rect l="l" t="t" r="r" b="b"/>
              <a:pathLst>
                <a:path w="476250" h="0">
                  <a:moveTo>
                    <a:pt x="0" y="0"/>
                  </a:moveTo>
                  <a:lnTo>
                    <a:pt x="475625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5" name="object 17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258403" y="8357413"/>
              <a:ext cx="64145" cy="64145"/>
            </a:xfrm>
            <a:prstGeom prst="rect">
              <a:avLst/>
            </a:prstGeom>
          </p:spPr>
        </p:pic>
        <p:sp>
          <p:nvSpPr>
            <p:cNvPr id="176" name="object 176"/>
            <p:cNvSpPr/>
            <p:nvPr/>
          </p:nvSpPr>
          <p:spPr>
            <a:xfrm>
              <a:off x="2717261" y="7430729"/>
              <a:ext cx="3175" cy="772795"/>
            </a:xfrm>
            <a:custGeom>
              <a:avLst/>
              <a:gdLst/>
              <a:ahLst/>
              <a:cxnLst/>
              <a:rect l="l" t="t" r="r" b="b"/>
              <a:pathLst>
                <a:path w="3175" h="772795">
                  <a:moveTo>
                    <a:pt x="2743" y="0"/>
                  </a:moveTo>
                  <a:lnTo>
                    <a:pt x="0" y="772469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2685196" y="8187502"/>
              <a:ext cx="64769" cy="63500"/>
            </a:xfrm>
            <a:custGeom>
              <a:avLst/>
              <a:gdLst/>
              <a:ahLst/>
              <a:cxnLst/>
              <a:rect l="l" t="t" r="r" b="b"/>
              <a:pathLst>
                <a:path w="64769" h="63500">
                  <a:moveTo>
                    <a:pt x="64145" y="0"/>
                  </a:moveTo>
                  <a:lnTo>
                    <a:pt x="60731" y="2042"/>
                  </a:lnTo>
                  <a:lnTo>
                    <a:pt x="56631" y="3413"/>
                  </a:lnTo>
                  <a:lnTo>
                    <a:pt x="53233" y="4084"/>
                  </a:lnTo>
                  <a:lnTo>
                    <a:pt x="49133" y="5455"/>
                  </a:lnTo>
                  <a:lnTo>
                    <a:pt x="45719" y="6141"/>
                  </a:lnTo>
                  <a:lnTo>
                    <a:pt x="37536" y="7498"/>
                  </a:lnTo>
                  <a:lnTo>
                    <a:pt x="25923" y="7498"/>
                  </a:lnTo>
                  <a:lnTo>
                    <a:pt x="21838" y="6812"/>
                  </a:lnTo>
                  <a:lnTo>
                    <a:pt x="18425" y="6141"/>
                  </a:lnTo>
                  <a:lnTo>
                    <a:pt x="14325" y="5455"/>
                  </a:lnTo>
                  <a:lnTo>
                    <a:pt x="10911" y="4084"/>
                  </a:lnTo>
                  <a:lnTo>
                    <a:pt x="6827" y="2727"/>
                  </a:lnTo>
                  <a:lnTo>
                    <a:pt x="0" y="0"/>
                  </a:lnTo>
                  <a:lnTo>
                    <a:pt x="31394" y="63459"/>
                  </a:lnTo>
                  <a:lnTo>
                    <a:pt x="6414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3555918" y="7417760"/>
              <a:ext cx="1270" cy="799465"/>
            </a:xfrm>
            <a:custGeom>
              <a:avLst/>
              <a:gdLst/>
              <a:ahLst/>
              <a:cxnLst/>
              <a:rect l="l" t="t" r="r" b="b"/>
              <a:pathLst>
                <a:path w="1270" h="799465">
                  <a:moveTo>
                    <a:pt x="0" y="0"/>
                  </a:moveTo>
                  <a:lnTo>
                    <a:pt x="685" y="799078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3524539" y="8201827"/>
              <a:ext cx="64769" cy="63500"/>
            </a:xfrm>
            <a:custGeom>
              <a:avLst/>
              <a:gdLst/>
              <a:ahLst/>
              <a:cxnLst/>
              <a:rect l="l" t="t" r="r" b="b"/>
              <a:pathLst>
                <a:path w="64770" h="63500">
                  <a:moveTo>
                    <a:pt x="64145" y="0"/>
                  </a:moveTo>
                  <a:lnTo>
                    <a:pt x="57317" y="2727"/>
                  </a:lnTo>
                  <a:lnTo>
                    <a:pt x="53218" y="4099"/>
                  </a:lnTo>
                  <a:lnTo>
                    <a:pt x="49804" y="5455"/>
                  </a:lnTo>
                  <a:lnTo>
                    <a:pt x="45719" y="6141"/>
                  </a:lnTo>
                  <a:lnTo>
                    <a:pt x="42306" y="6827"/>
                  </a:lnTo>
                  <a:lnTo>
                    <a:pt x="38206" y="6827"/>
                  </a:lnTo>
                  <a:lnTo>
                    <a:pt x="34107" y="7513"/>
                  </a:lnTo>
                  <a:lnTo>
                    <a:pt x="30022" y="7513"/>
                  </a:lnTo>
                  <a:lnTo>
                    <a:pt x="26609" y="6827"/>
                  </a:lnTo>
                  <a:lnTo>
                    <a:pt x="22509" y="6827"/>
                  </a:lnTo>
                  <a:lnTo>
                    <a:pt x="18425" y="6141"/>
                  </a:lnTo>
                  <a:lnTo>
                    <a:pt x="15011" y="5455"/>
                  </a:lnTo>
                  <a:lnTo>
                    <a:pt x="10911" y="4099"/>
                  </a:lnTo>
                  <a:lnTo>
                    <a:pt x="7498" y="2727"/>
                  </a:lnTo>
                  <a:lnTo>
                    <a:pt x="3413" y="1371"/>
                  </a:lnTo>
                  <a:lnTo>
                    <a:pt x="0" y="0"/>
                  </a:lnTo>
                  <a:lnTo>
                    <a:pt x="32064" y="63459"/>
                  </a:lnTo>
                  <a:lnTo>
                    <a:pt x="6414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2589656" y="7488733"/>
              <a:ext cx="2540" cy="760730"/>
            </a:xfrm>
            <a:custGeom>
              <a:avLst/>
              <a:gdLst/>
              <a:ahLst/>
              <a:cxnLst/>
              <a:rect l="l" t="t" r="r" b="b"/>
              <a:pathLst>
                <a:path w="2539" h="760729">
                  <a:moveTo>
                    <a:pt x="0" y="0"/>
                  </a:moveTo>
                  <a:lnTo>
                    <a:pt x="2057" y="760186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1" name="object 18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557591" y="7440285"/>
              <a:ext cx="64145" cy="64145"/>
            </a:xfrm>
            <a:prstGeom prst="rect">
              <a:avLst/>
            </a:prstGeom>
          </p:spPr>
        </p:pic>
        <p:sp>
          <p:nvSpPr>
            <p:cNvPr id="182" name="object 182"/>
            <p:cNvSpPr/>
            <p:nvPr/>
          </p:nvSpPr>
          <p:spPr>
            <a:xfrm>
              <a:off x="3394877" y="7486005"/>
              <a:ext cx="5080" cy="770255"/>
            </a:xfrm>
            <a:custGeom>
              <a:avLst/>
              <a:gdLst/>
              <a:ahLst/>
              <a:cxnLst/>
              <a:rect l="l" t="t" r="r" b="b"/>
              <a:pathLst>
                <a:path w="5079" h="770254">
                  <a:moveTo>
                    <a:pt x="4785" y="0"/>
                  </a:moveTo>
                  <a:lnTo>
                    <a:pt x="0" y="769726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3" name="object 18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367582" y="7436871"/>
              <a:ext cx="64145" cy="64830"/>
            </a:xfrm>
            <a:prstGeom prst="rect">
              <a:avLst/>
            </a:prstGeom>
          </p:spPr>
        </p:pic>
        <p:sp>
          <p:nvSpPr>
            <p:cNvPr id="184" name="object 184"/>
            <p:cNvSpPr/>
            <p:nvPr/>
          </p:nvSpPr>
          <p:spPr>
            <a:xfrm>
              <a:off x="2775950" y="7449840"/>
              <a:ext cx="556895" cy="854075"/>
            </a:xfrm>
            <a:custGeom>
              <a:avLst/>
              <a:gdLst/>
              <a:ahLst/>
              <a:cxnLst/>
              <a:rect l="l" t="t" r="r" b="b"/>
              <a:pathLst>
                <a:path w="556895" h="854075">
                  <a:moveTo>
                    <a:pt x="556839" y="0"/>
                  </a:moveTo>
                  <a:lnTo>
                    <a:pt x="0" y="853668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3297981" y="7408890"/>
              <a:ext cx="61594" cy="71120"/>
            </a:xfrm>
            <a:custGeom>
              <a:avLst/>
              <a:gdLst/>
              <a:ahLst/>
              <a:cxnLst/>
              <a:rect l="l" t="t" r="r" b="b"/>
              <a:pathLst>
                <a:path w="61595" h="71120">
                  <a:moveTo>
                    <a:pt x="61417" y="0"/>
                  </a:moveTo>
                  <a:lnTo>
                    <a:pt x="0" y="36164"/>
                  </a:lnTo>
                  <a:lnTo>
                    <a:pt x="8183" y="37536"/>
                  </a:lnTo>
                  <a:lnTo>
                    <a:pt x="11597" y="38221"/>
                  </a:lnTo>
                  <a:lnTo>
                    <a:pt x="15697" y="39578"/>
                  </a:lnTo>
                  <a:lnTo>
                    <a:pt x="19110" y="40949"/>
                  </a:lnTo>
                  <a:lnTo>
                    <a:pt x="22524" y="42992"/>
                  </a:lnTo>
                  <a:lnTo>
                    <a:pt x="25923" y="44363"/>
                  </a:lnTo>
                  <a:lnTo>
                    <a:pt x="32750" y="48447"/>
                  </a:lnTo>
                  <a:lnTo>
                    <a:pt x="35478" y="51175"/>
                  </a:lnTo>
                  <a:lnTo>
                    <a:pt x="38206" y="53233"/>
                  </a:lnTo>
                  <a:lnTo>
                    <a:pt x="46405" y="61417"/>
                  </a:lnTo>
                  <a:lnTo>
                    <a:pt x="49133" y="64830"/>
                  </a:lnTo>
                  <a:lnTo>
                    <a:pt x="51175" y="68244"/>
                  </a:lnTo>
                  <a:lnTo>
                    <a:pt x="53218" y="70972"/>
                  </a:lnTo>
                  <a:lnTo>
                    <a:pt x="6141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2207529" y="7979369"/>
              <a:ext cx="282575" cy="298450"/>
            </a:xfrm>
            <a:custGeom>
              <a:avLst/>
              <a:gdLst/>
              <a:ahLst/>
              <a:cxnLst/>
              <a:rect l="l" t="t" r="r" b="b"/>
              <a:pathLst>
                <a:path w="282575" h="298450">
                  <a:moveTo>
                    <a:pt x="282503" y="298201"/>
                  </a:moveTo>
                  <a:lnTo>
                    <a:pt x="0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7" name="object 18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455910" y="8244134"/>
              <a:ext cx="66873" cy="68915"/>
            </a:xfrm>
            <a:prstGeom prst="rect">
              <a:avLst/>
            </a:prstGeom>
          </p:spPr>
        </p:pic>
      </p:grpSp>
      <p:sp>
        <p:nvSpPr>
          <p:cNvPr id="188" name="object 188"/>
          <p:cNvSpPr txBox="1"/>
          <p:nvPr/>
        </p:nvSpPr>
        <p:spPr>
          <a:xfrm>
            <a:off x="1884755" y="7534778"/>
            <a:ext cx="11493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600">
              <a:latin typeface="Arial"/>
              <a:cs typeface="Arial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2238915" y="7353944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600">
              <a:latin typeface="Arial"/>
              <a:cs typeface="Arial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2236867" y="8087511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3002507" y="8359781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2443631" y="7557975"/>
            <a:ext cx="1249045" cy="408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5715">
              <a:lnSpc>
                <a:spcPts val="1505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600">
              <a:latin typeface="Arial"/>
              <a:cs typeface="Arial"/>
            </a:endParaRPr>
          </a:p>
          <a:p>
            <a:pPr algn="ctr" marR="5080">
              <a:lnSpc>
                <a:spcPts val="1505"/>
              </a:lnSpc>
              <a:tabLst>
                <a:tab pos="306070" algn="l"/>
                <a:tab pos="816610" algn="l"/>
                <a:tab pos="1122680" algn="l"/>
              </a:tabLst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3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4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2572450" y="7062565"/>
            <a:ext cx="73342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  <a:tabLst>
                <a:tab pos="429895" algn="l"/>
                <a:tab pos="694690" algn="l"/>
              </a:tabLst>
            </a:pPr>
            <a:r>
              <a:rPr dirty="0" baseline="-27777" sz="2400" spc="-7">
                <a:solidFill>
                  <a:srgbClr val="FFFF00"/>
                </a:solidFill>
                <a:latin typeface="Arial"/>
                <a:cs typeface="Arial"/>
              </a:rPr>
              <a:t>5</a:t>
            </a:r>
            <a:r>
              <a:rPr dirty="0" u="heavy" sz="1600" spc="-5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	1	</a:t>
            </a:r>
            <a:endParaRPr sz="1600">
              <a:latin typeface="Arial"/>
              <a:cs typeface="Arial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2593756" y="8236951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3407162" y="7156050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96" name="object 196"/>
          <p:cNvGrpSpPr/>
          <p:nvPr/>
        </p:nvGrpSpPr>
        <p:grpSpPr>
          <a:xfrm>
            <a:off x="4624974" y="7202129"/>
            <a:ext cx="1358265" cy="1290320"/>
            <a:chOff x="4624974" y="7202129"/>
            <a:chExt cx="1358265" cy="1290320"/>
          </a:xfrm>
        </p:grpSpPr>
        <p:sp>
          <p:nvSpPr>
            <p:cNvPr id="197" name="object 197"/>
            <p:cNvSpPr/>
            <p:nvPr/>
          </p:nvSpPr>
          <p:spPr>
            <a:xfrm>
              <a:off x="5460461" y="8287125"/>
              <a:ext cx="523240" cy="205104"/>
            </a:xfrm>
            <a:custGeom>
              <a:avLst/>
              <a:gdLst/>
              <a:ahLst/>
              <a:cxnLst/>
              <a:rect l="l" t="t" r="r" b="b"/>
              <a:pathLst>
                <a:path w="523239" h="205104">
                  <a:moveTo>
                    <a:pt x="58689" y="0"/>
                  </a:moveTo>
                  <a:lnTo>
                    <a:pt x="0" y="102351"/>
                  </a:lnTo>
                  <a:lnTo>
                    <a:pt x="58689" y="204718"/>
                  </a:lnTo>
                  <a:lnTo>
                    <a:pt x="58689" y="137159"/>
                  </a:lnTo>
                  <a:lnTo>
                    <a:pt x="522716" y="137159"/>
                  </a:lnTo>
                  <a:lnTo>
                    <a:pt x="522716" y="67558"/>
                  </a:lnTo>
                  <a:lnTo>
                    <a:pt x="58689" y="67558"/>
                  </a:lnTo>
                  <a:lnTo>
                    <a:pt x="58689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5460461" y="8287125"/>
              <a:ext cx="523240" cy="205104"/>
            </a:xfrm>
            <a:custGeom>
              <a:avLst/>
              <a:gdLst/>
              <a:ahLst/>
              <a:cxnLst/>
              <a:rect l="l" t="t" r="r" b="b"/>
              <a:pathLst>
                <a:path w="523239" h="205104">
                  <a:moveTo>
                    <a:pt x="0" y="102351"/>
                  </a:moveTo>
                  <a:lnTo>
                    <a:pt x="58689" y="204718"/>
                  </a:lnTo>
                  <a:lnTo>
                    <a:pt x="58689" y="137159"/>
                  </a:lnTo>
                  <a:lnTo>
                    <a:pt x="522716" y="137159"/>
                  </a:lnTo>
                  <a:lnTo>
                    <a:pt x="522716" y="67558"/>
                  </a:lnTo>
                  <a:lnTo>
                    <a:pt x="58689" y="67558"/>
                  </a:lnTo>
                  <a:lnTo>
                    <a:pt x="58689" y="0"/>
                  </a:lnTo>
                  <a:lnTo>
                    <a:pt x="0" y="102351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5143164" y="7444369"/>
              <a:ext cx="204470" cy="798830"/>
            </a:xfrm>
            <a:custGeom>
              <a:avLst/>
              <a:gdLst/>
              <a:ahLst/>
              <a:cxnLst/>
              <a:rect l="l" t="t" r="r" b="b"/>
              <a:pathLst>
                <a:path w="204470" h="798829">
                  <a:moveTo>
                    <a:pt x="136474" y="0"/>
                  </a:moveTo>
                  <a:lnTo>
                    <a:pt x="67543" y="0"/>
                  </a:lnTo>
                  <a:lnTo>
                    <a:pt x="67543" y="739719"/>
                  </a:lnTo>
                  <a:lnTo>
                    <a:pt x="0" y="739719"/>
                  </a:lnTo>
                  <a:lnTo>
                    <a:pt x="102351" y="798408"/>
                  </a:lnTo>
                  <a:lnTo>
                    <a:pt x="204033" y="739719"/>
                  </a:lnTo>
                  <a:lnTo>
                    <a:pt x="136474" y="739719"/>
                  </a:lnTo>
                  <a:lnTo>
                    <a:pt x="136474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5143164" y="7444369"/>
              <a:ext cx="204470" cy="798830"/>
            </a:xfrm>
            <a:custGeom>
              <a:avLst/>
              <a:gdLst/>
              <a:ahLst/>
              <a:cxnLst/>
              <a:rect l="l" t="t" r="r" b="b"/>
              <a:pathLst>
                <a:path w="204470" h="798829">
                  <a:moveTo>
                    <a:pt x="102351" y="798408"/>
                  </a:moveTo>
                  <a:lnTo>
                    <a:pt x="204033" y="739719"/>
                  </a:lnTo>
                  <a:lnTo>
                    <a:pt x="136474" y="739719"/>
                  </a:lnTo>
                  <a:lnTo>
                    <a:pt x="136474" y="0"/>
                  </a:lnTo>
                  <a:lnTo>
                    <a:pt x="67543" y="0"/>
                  </a:lnTo>
                  <a:lnTo>
                    <a:pt x="67543" y="739719"/>
                  </a:lnTo>
                  <a:lnTo>
                    <a:pt x="0" y="739719"/>
                  </a:lnTo>
                  <a:lnTo>
                    <a:pt x="102351" y="798408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4817653" y="7947974"/>
              <a:ext cx="382905" cy="393065"/>
            </a:xfrm>
            <a:custGeom>
              <a:avLst/>
              <a:gdLst/>
              <a:ahLst/>
              <a:cxnLst/>
              <a:rect l="l" t="t" r="r" b="b"/>
              <a:pathLst>
                <a:path w="382904" h="393065">
                  <a:moveTo>
                    <a:pt x="148772" y="0"/>
                  </a:moveTo>
                  <a:lnTo>
                    <a:pt x="33436" y="27294"/>
                  </a:lnTo>
                  <a:lnTo>
                    <a:pt x="0" y="140573"/>
                  </a:lnTo>
                  <a:lnTo>
                    <a:pt x="49133" y="94167"/>
                  </a:lnTo>
                  <a:lnTo>
                    <a:pt x="332323" y="393054"/>
                  </a:lnTo>
                  <a:lnTo>
                    <a:pt x="382828" y="345292"/>
                  </a:lnTo>
                  <a:lnTo>
                    <a:pt x="99639" y="45719"/>
                  </a:lnTo>
                  <a:lnTo>
                    <a:pt x="148772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4817653" y="7947974"/>
              <a:ext cx="382905" cy="393065"/>
            </a:xfrm>
            <a:custGeom>
              <a:avLst/>
              <a:gdLst/>
              <a:ahLst/>
              <a:cxnLst/>
              <a:rect l="l" t="t" r="r" b="b"/>
              <a:pathLst>
                <a:path w="382904" h="393065">
                  <a:moveTo>
                    <a:pt x="33436" y="27294"/>
                  </a:moveTo>
                  <a:lnTo>
                    <a:pt x="0" y="140573"/>
                  </a:lnTo>
                  <a:lnTo>
                    <a:pt x="49133" y="94167"/>
                  </a:lnTo>
                  <a:lnTo>
                    <a:pt x="332323" y="393054"/>
                  </a:lnTo>
                  <a:lnTo>
                    <a:pt x="382828" y="345292"/>
                  </a:lnTo>
                  <a:lnTo>
                    <a:pt x="99639" y="45719"/>
                  </a:lnTo>
                  <a:lnTo>
                    <a:pt x="148772" y="0"/>
                  </a:lnTo>
                  <a:lnTo>
                    <a:pt x="33436" y="27294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5440680" y="7202129"/>
              <a:ext cx="523875" cy="205104"/>
            </a:xfrm>
            <a:custGeom>
              <a:avLst/>
              <a:gdLst/>
              <a:ahLst/>
              <a:cxnLst/>
              <a:rect l="l" t="t" r="r" b="b"/>
              <a:pathLst>
                <a:path w="523875" h="205104">
                  <a:moveTo>
                    <a:pt x="59359" y="0"/>
                  </a:moveTo>
                  <a:lnTo>
                    <a:pt x="0" y="102351"/>
                  </a:lnTo>
                  <a:lnTo>
                    <a:pt x="59359" y="204718"/>
                  </a:lnTo>
                  <a:lnTo>
                    <a:pt x="59359" y="137159"/>
                  </a:lnTo>
                  <a:lnTo>
                    <a:pt x="523387" y="137159"/>
                  </a:lnTo>
                  <a:lnTo>
                    <a:pt x="523387" y="67558"/>
                  </a:lnTo>
                  <a:lnTo>
                    <a:pt x="59359" y="67558"/>
                  </a:lnTo>
                  <a:lnTo>
                    <a:pt x="59359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5440680" y="7202129"/>
              <a:ext cx="523875" cy="205104"/>
            </a:xfrm>
            <a:custGeom>
              <a:avLst/>
              <a:gdLst/>
              <a:ahLst/>
              <a:cxnLst/>
              <a:rect l="l" t="t" r="r" b="b"/>
              <a:pathLst>
                <a:path w="523875" h="205104">
                  <a:moveTo>
                    <a:pt x="0" y="102351"/>
                  </a:moveTo>
                  <a:lnTo>
                    <a:pt x="59359" y="204718"/>
                  </a:lnTo>
                  <a:lnTo>
                    <a:pt x="59359" y="137159"/>
                  </a:lnTo>
                  <a:lnTo>
                    <a:pt x="523387" y="137159"/>
                  </a:lnTo>
                  <a:lnTo>
                    <a:pt x="523387" y="67558"/>
                  </a:lnTo>
                  <a:lnTo>
                    <a:pt x="59359" y="67558"/>
                  </a:lnTo>
                  <a:lnTo>
                    <a:pt x="59359" y="0"/>
                  </a:lnTo>
                  <a:lnTo>
                    <a:pt x="0" y="102351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4630689" y="7712562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4" h="294004">
                  <a:moveTo>
                    <a:pt x="146029" y="0"/>
                  </a:moveTo>
                  <a:lnTo>
                    <a:pt x="90068" y="11597"/>
                  </a:lnTo>
                  <a:lnTo>
                    <a:pt x="42992" y="42976"/>
                  </a:lnTo>
                  <a:lnTo>
                    <a:pt x="19781" y="73685"/>
                  </a:lnTo>
                  <a:lnTo>
                    <a:pt x="4770" y="109179"/>
                  </a:lnTo>
                  <a:lnTo>
                    <a:pt x="0" y="147386"/>
                  </a:lnTo>
                  <a:lnTo>
                    <a:pt x="1356" y="166496"/>
                  </a:lnTo>
                  <a:lnTo>
                    <a:pt x="19781" y="221086"/>
                  </a:lnTo>
                  <a:lnTo>
                    <a:pt x="57317" y="263392"/>
                  </a:lnTo>
                  <a:lnTo>
                    <a:pt x="108493" y="288645"/>
                  </a:lnTo>
                  <a:lnTo>
                    <a:pt x="146029" y="293415"/>
                  </a:lnTo>
                  <a:lnTo>
                    <a:pt x="165811" y="292729"/>
                  </a:lnTo>
                  <a:lnTo>
                    <a:pt x="202661" y="282503"/>
                  </a:lnTo>
                  <a:lnTo>
                    <a:pt x="236098" y="263392"/>
                  </a:lnTo>
                  <a:lnTo>
                    <a:pt x="273634" y="221086"/>
                  </a:lnTo>
                  <a:lnTo>
                    <a:pt x="288645" y="185607"/>
                  </a:lnTo>
                  <a:lnTo>
                    <a:pt x="293415" y="147386"/>
                  </a:lnTo>
                  <a:lnTo>
                    <a:pt x="292059" y="128275"/>
                  </a:lnTo>
                  <a:lnTo>
                    <a:pt x="282503" y="90754"/>
                  </a:lnTo>
                  <a:lnTo>
                    <a:pt x="262722" y="57317"/>
                  </a:lnTo>
                  <a:lnTo>
                    <a:pt x="219730" y="19781"/>
                  </a:lnTo>
                  <a:lnTo>
                    <a:pt x="184236" y="4770"/>
                  </a:lnTo>
                  <a:lnTo>
                    <a:pt x="146029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4630689" y="7712562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4" h="294004">
                  <a:moveTo>
                    <a:pt x="0" y="147386"/>
                  </a:moveTo>
                  <a:lnTo>
                    <a:pt x="4770" y="109179"/>
                  </a:lnTo>
                  <a:lnTo>
                    <a:pt x="19781" y="73685"/>
                  </a:lnTo>
                  <a:lnTo>
                    <a:pt x="42992" y="42976"/>
                  </a:lnTo>
                  <a:lnTo>
                    <a:pt x="90068" y="11597"/>
                  </a:lnTo>
                  <a:lnTo>
                    <a:pt x="126918" y="1356"/>
                  </a:lnTo>
                  <a:lnTo>
                    <a:pt x="146029" y="0"/>
                  </a:lnTo>
                  <a:lnTo>
                    <a:pt x="165811" y="1356"/>
                  </a:lnTo>
                  <a:lnTo>
                    <a:pt x="202661" y="11597"/>
                  </a:lnTo>
                  <a:lnTo>
                    <a:pt x="236098" y="30693"/>
                  </a:lnTo>
                  <a:lnTo>
                    <a:pt x="273634" y="73685"/>
                  </a:lnTo>
                  <a:lnTo>
                    <a:pt x="288645" y="109179"/>
                  </a:lnTo>
                  <a:lnTo>
                    <a:pt x="293415" y="147386"/>
                  </a:lnTo>
                  <a:lnTo>
                    <a:pt x="292059" y="166496"/>
                  </a:lnTo>
                  <a:lnTo>
                    <a:pt x="273634" y="221086"/>
                  </a:lnTo>
                  <a:lnTo>
                    <a:pt x="236098" y="263392"/>
                  </a:lnTo>
                  <a:lnTo>
                    <a:pt x="202661" y="282503"/>
                  </a:lnTo>
                  <a:lnTo>
                    <a:pt x="165811" y="292729"/>
                  </a:lnTo>
                  <a:lnTo>
                    <a:pt x="146029" y="293415"/>
                  </a:lnTo>
                  <a:lnTo>
                    <a:pt x="126918" y="292729"/>
                  </a:lnTo>
                  <a:lnTo>
                    <a:pt x="90068" y="282503"/>
                  </a:lnTo>
                  <a:lnTo>
                    <a:pt x="42992" y="250423"/>
                  </a:lnTo>
                  <a:lnTo>
                    <a:pt x="10911" y="203347"/>
                  </a:lnTo>
                  <a:lnTo>
                    <a:pt x="0" y="147386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7" name="object 207"/>
          <p:cNvSpPr txBox="1"/>
          <p:nvPr/>
        </p:nvSpPr>
        <p:spPr>
          <a:xfrm>
            <a:off x="4727585" y="7720388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208" name="object 208"/>
          <p:cNvGrpSpPr/>
          <p:nvPr/>
        </p:nvGrpSpPr>
        <p:grpSpPr>
          <a:xfrm>
            <a:off x="4852115" y="7151408"/>
            <a:ext cx="1424305" cy="1383665"/>
            <a:chOff x="4852115" y="7151408"/>
            <a:chExt cx="1424305" cy="1383665"/>
          </a:xfrm>
        </p:grpSpPr>
        <p:sp>
          <p:nvSpPr>
            <p:cNvPr id="209" name="object 209"/>
            <p:cNvSpPr/>
            <p:nvPr/>
          </p:nvSpPr>
          <p:spPr>
            <a:xfrm>
              <a:off x="5154076" y="7157095"/>
              <a:ext cx="294005" cy="294640"/>
            </a:xfrm>
            <a:custGeom>
              <a:avLst/>
              <a:gdLst/>
              <a:ahLst/>
              <a:cxnLst/>
              <a:rect l="l" t="t" r="r" b="b"/>
              <a:pathLst>
                <a:path w="294004" h="294640">
                  <a:moveTo>
                    <a:pt x="146029" y="0"/>
                  </a:moveTo>
                  <a:lnTo>
                    <a:pt x="107822" y="5455"/>
                  </a:lnTo>
                  <a:lnTo>
                    <a:pt x="57317" y="30708"/>
                  </a:lnTo>
                  <a:lnTo>
                    <a:pt x="30022" y="58003"/>
                  </a:lnTo>
                  <a:lnTo>
                    <a:pt x="10911" y="91439"/>
                  </a:lnTo>
                  <a:lnTo>
                    <a:pt x="685" y="128290"/>
                  </a:lnTo>
                  <a:lnTo>
                    <a:pt x="0" y="147386"/>
                  </a:lnTo>
                  <a:lnTo>
                    <a:pt x="685" y="166496"/>
                  </a:lnTo>
                  <a:lnTo>
                    <a:pt x="10911" y="204033"/>
                  </a:lnTo>
                  <a:lnTo>
                    <a:pt x="42992" y="251795"/>
                  </a:lnTo>
                  <a:lnTo>
                    <a:pt x="90754" y="282503"/>
                  </a:lnTo>
                  <a:lnTo>
                    <a:pt x="146029" y="294101"/>
                  </a:lnTo>
                  <a:lnTo>
                    <a:pt x="165140" y="292745"/>
                  </a:lnTo>
                  <a:lnTo>
                    <a:pt x="202676" y="282503"/>
                  </a:lnTo>
                  <a:lnTo>
                    <a:pt x="250438" y="251795"/>
                  </a:lnTo>
                  <a:lnTo>
                    <a:pt x="273634" y="221086"/>
                  </a:lnTo>
                  <a:lnTo>
                    <a:pt x="287975" y="185607"/>
                  </a:lnTo>
                  <a:lnTo>
                    <a:pt x="293430" y="147386"/>
                  </a:lnTo>
                  <a:lnTo>
                    <a:pt x="292059" y="128290"/>
                  </a:lnTo>
                  <a:lnTo>
                    <a:pt x="281833" y="91439"/>
                  </a:lnTo>
                  <a:lnTo>
                    <a:pt x="262722" y="58003"/>
                  </a:lnTo>
                  <a:lnTo>
                    <a:pt x="235427" y="30708"/>
                  </a:lnTo>
                  <a:lnTo>
                    <a:pt x="184251" y="5455"/>
                  </a:lnTo>
                  <a:lnTo>
                    <a:pt x="146029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5154076" y="7157095"/>
              <a:ext cx="294005" cy="294640"/>
            </a:xfrm>
            <a:custGeom>
              <a:avLst/>
              <a:gdLst/>
              <a:ahLst/>
              <a:cxnLst/>
              <a:rect l="l" t="t" r="r" b="b"/>
              <a:pathLst>
                <a:path w="294004" h="294640">
                  <a:moveTo>
                    <a:pt x="0" y="147386"/>
                  </a:moveTo>
                  <a:lnTo>
                    <a:pt x="4770" y="109179"/>
                  </a:lnTo>
                  <a:lnTo>
                    <a:pt x="19110" y="73700"/>
                  </a:lnTo>
                  <a:lnTo>
                    <a:pt x="42992" y="43662"/>
                  </a:lnTo>
                  <a:lnTo>
                    <a:pt x="73014" y="19781"/>
                  </a:lnTo>
                  <a:lnTo>
                    <a:pt x="126918" y="1356"/>
                  </a:lnTo>
                  <a:lnTo>
                    <a:pt x="146029" y="0"/>
                  </a:lnTo>
                  <a:lnTo>
                    <a:pt x="165140" y="1356"/>
                  </a:lnTo>
                  <a:lnTo>
                    <a:pt x="202676" y="11597"/>
                  </a:lnTo>
                  <a:lnTo>
                    <a:pt x="250438" y="43662"/>
                  </a:lnTo>
                  <a:lnTo>
                    <a:pt x="281833" y="91439"/>
                  </a:lnTo>
                  <a:lnTo>
                    <a:pt x="292059" y="128290"/>
                  </a:lnTo>
                  <a:lnTo>
                    <a:pt x="293430" y="147386"/>
                  </a:lnTo>
                  <a:lnTo>
                    <a:pt x="292059" y="166496"/>
                  </a:lnTo>
                  <a:lnTo>
                    <a:pt x="281833" y="204033"/>
                  </a:lnTo>
                  <a:lnTo>
                    <a:pt x="250438" y="251795"/>
                  </a:lnTo>
                  <a:lnTo>
                    <a:pt x="202676" y="282503"/>
                  </a:lnTo>
                  <a:lnTo>
                    <a:pt x="165140" y="292745"/>
                  </a:lnTo>
                  <a:lnTo>
                    <a:pt x="146029" y="294101"/>
                  </a:lnTo>
                  <a:lnTo>
                    <a:pt x="126918" y="292745"/>
                  </a:lnTo>
                  <a:lnTo>
                    <a:pt x="73014" y="274319"/>
                  </a:lnTo>
                  <a:lnTo>
                    <a:pt x="30022" y="236783"/>
                  </a:lnTo>
                  <a:lnTo>
                    <a:pt x="4770" y="185607"/>
                  </a:lnTo>
                  <a:lnTo>
                    <a:pt x="0" y="147386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5160218" y="8235949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4" h="294004">
                  <a:moveTo>
                    <a:pt x="146715" y="0"/>
                  </a:moveTo>
                  <a:lnTo>
                    <a:pt x="108493" y="4770"/>
                  </a:lnTo>
                  <a:lnTo>
                    <a:pt x="57317" y="30022"/>
                  </a:lnTo>
                  <a:lnTo>
                    <a:pt x="30022" y="57317"/>
                  </a:lnTo>
                  <a:lnTo>
                    <a:pt x="10911" y="90754"/>
                  </a:lnTo>
                  <a:lnTo>
                    <a:pt x="0" y="147386"/>
                  </a:lnTo>
                  <a:lnTo>
                    <a:pt x="1371" y="166496"/>
                  </a:lnTo>
                  <a:lnTo>
                    <a:pt x="19781" y="220400"/>
                  </a:lnTo>
                  <a:lnTo>
                    <a:pt x="42992" y="251109"/>
                  </a:lnTo>
                  <a:lnTo>
                    <a:pt x="90068" y="282503"/>
                  </a:lnTo>
                  <a:lnTo>
                    <a:pt x="146715" y="293430"/>
                  </a:lnTo>
                  <a:lnTo>
                    <a:pt x="165826" y="292059"/>
                  </a:lnTo>
                  <a:lnTo>
                    <a:pt x="219730" y="273634"/>
                  </a:lnTo>
                  <a:lnTo>
                    <a:pt x="263408" y="236783"/>
                  </a:lnTo>
                  <a:lnTo>
                    <a:pt x="282503" y="203347"/>
                  </a:lnTo>
                  <a:lnTo>
                    <a:pt x="293430" y="147386"/>
                  </a:lnTo>
                  <a:lnTo>
                    <a:pt x="292059" y="127604"/>
                  </a:lnTo>
                  <a:lnTo>
                    <a:pt x="273634" y="73700"/>
                  </a:lnTo>
                  <a:lnTo>
                    <a:pt x="250438" y="42992"/>
                  </a:lnTo>
                  <a:lnTo>
                    <a:pt x="219730" y="19781"/>
                  </a:lnTo>
                  <a:lnTo>
                    <a:pt x="184251" y="4770"/>
                  </a:lnTo>
                  <a:lnTo>
                    <a:pt x="146715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5160218" y="8235949"/>
              <a:ext cx="294005" cy="294005"/>
            </a:xfrm>
            <a:custGeom>
              <a:avLst/>
              <a:gdLst/>
              <a:ahLst/>
              <a:cxnLst/>
              <a:rect l="l" t="t" r="r" b="b"/>
              <a:pathLst>
                <a:path w="294004" h="294004">
                  <a:moveTo>
                    <a:pt x="0" y="147386"/>
                  </a:moveTo>
                  <a:lnTo>
                    <a:pt x="4770" y="109179"/>
                  </a:lnTo>
                  <a:lnTo>
                    <a:pt x="19781" y="73700"/>
                  </a:lnTo>
                  <a:lnTo>
                    <a:pt x="42992" y="42992"/>
                  </a:lnTo>
                  <a:lnTo>
                    <a:pt x="73700" y="19781"/>
                  </a:lnTo>
                  <a:lnTo>
                    <a:pt x="126918" y="1356"/>
                  </a:lnTo>
                  <a:lnTo>
                    <a:pt x="146715" y="0"/>
                  </a:lnTo>
                  <a:lnTo>
                    <a:pt x="165826" y="1356"/>
                  </a:lnTo>
                  <a:lnTo>
                    <a:pt x="219730" y="19781"/>
                  </a:lnTo>
                  <a:lnTo>
                    <a:pt x="250438" y="42992"/>
                  </a:lnTo>
                  <a:lnTo>
                    <a:pt x="273634" y="73700"/>
                  </a:lnTo>
                  <a:lnTo>
                    <a:pt x="288645" y="109179"/>
                  </a:lnTo>
                  <a:lnTo>
                    <a:pt x="293430" y="147386"/>
                  </a:lnTo>
                  <a:lnTo>
                    <a:pt x="292059" y="166496"/>
                  </a:lnTo>
                  <a:lnTo>
                    <a:pt x="273634" y="220400"/>
                  </a:lnTo>
                  <a:lnTo>
                    <a:pt x="250438" y="251109"/>
                  </a:lnTo>
                  <a:lnTo>
                    <a:pt x="202661" y="282503"/>
                  </a:lnTo>
                  <a:lnTo>
                    <a:pt x="146715" y="293430"/>
                  </a:lnTo>
                  <a:lnTo>
                    <a:pt x="126918" y="292059"/>
                  </a:lnTo>
                  <a:lnTo>
                    <a:pt x="73700" y="273634"/>
                  </a:lnTo>
                  <a:lnTo>
                    <a:pt x="30022" y="236783"/>
                  </a:lnTo>
                  <a:lnTo>
                    <a:pt x="10911" y="203347"/>
                  </a:lnTo>
                  <a:lnTo>
                    <a:pt x="0" y="147386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5970894" y="7157095"/>
              <a:ext cx="294005" cy="294640"/>
            </a:xfrm>
            <a:custGeom>
              <a:avLst/>
              <a:gdLst/>
              <a:ahLst/>
              <a:cxnLst/>
              <a:rect l="l" t="t" r="r" b="b"/>
              <a:pathLst>
                <a:path w="294004" h="294640">
                  <a:moveTo>
                    <a:pt x="146029" y="0"/>
                  </a:moveTo>
                  <a:lnTo>
                    <a:pt x="107822" y="5455"/>
                  </a:lnTo>
                  <a:lnTo>
                    <a:pt x="57317" y="30708"/>
                  </a:lnTo>
                  <a:lnTo>
                    <a:pt x="30022" y="58003"/>
                  </a:lnTo>
                  <a:lnTo>
                    <a:pt x="10911" y="91439"/>
                  </a:lnTo>
                  <a:lnTo>
                    <a:pt x="685" y="128290"/>
                  </a:lnTo>
                  <a:lnTo>
                    <a:pt x="0" y="147386"/>
                  </a:lnTo>
                  <a:lnTo>
                    <a:pt x="685" y="166496"/>
                  </a:lnTo>
                  <a:lnTo>
                    <a:pt x="10911" y="204033"/>
                  </a:lnTo>
                  <a:lnTo>
                    <a:pt x="42992" y="251795"/>
                  </a:lnTo>
                  <a:lnTo>
                    <a:pt x="90754" y="282503"/>
                  </a:lnTo>
                  <a:lnTo>
                    <a:pt x="146029" y="294101"/>
                  </a:lnTo>
                  <a:lnTo>
                    <a:pt x="165140" y="292745"/>
                  </a:lnTo>
                  <a:lnTo>
                    <a:pt x="202676" y="282503"/>
                  </a:lnTo>
                  <a:lnTo>
                    <a:pt x="236113" y="263392"/>
                  </a:lnTo>
                  <a:lnTo>
                    <a:pt x="273634" y="221086"/>
                  </a:lnTo>
                  <a:lnTo>
                    <a:pt x="288645" y="185607"/>
                  </a:lnTo>
                  <a:lnTo>
                    <a:pt x="293430" y="147386"/>
                  </a:lnTo>
                  <a:lnTo>
                    <a:pt x="292059" y="128290"/>
                  </a:lnTo>
                  <a:lnTo>
                    <a:pt x="281833" y="91439"/>
                  </a:lnTo>
                  <a:lnTo>
                    <a:pt x="262722" y="58003"/>
                  </a:lnTo>
                  <a:lnTo>
                    <a:pt x="236113" y="30708"/>
                  </a:lnTo>
                  <a:lnTo>
                    <a:pt x="202676" y="11597"/>
                  </a:lnTo>
                  <a:lnTo>
                    <a:pt x="165140" y="1356"/>
                  </a:lnTo>
                  <a:lnTo>
                    <a:pt x="146029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5970894" y="7157095"/>
              <a:ext cx="299720" cy="1372870"/>
            </a:xfrm>
            <a:custGeom>
              <a:avLst/>
              <a:gdLst/>
              <a:ahLst/>
              <a:cxnLst/>
              <a:rect l="l" t="t" r="r" b="b"/>
              <a:pathLst>
                <a:path w="299720" h="1372870">
                  <a:moveTo>
                    <a:pt x="0" y="147386"/>
                  </a:moveTo>
                  <a:lnTo>
                    <a:pt x="4770" y="109179"/>
                  </a:lnTo>
                  <a:lnTo>
                    <a:pt x="19110" y="73700"/>
                  </a:lnTo>
                  <a:lnTo>
                    <a:pt x="42992" y="43662"/>
                  </a:lnTo>
                  <a:lnTo>
                    <a:pt x="73014" y="19781"/>
                  </a:lnTo>
                  <a:lnTo>
                    <a:pt x="126918" y="1356"/>
                  </a:lnTo>
                  <a:lnTo>
                    <a:pt x="146029" y="0"/>
                  </a:lnTo>
                  <a:lnTo>
                    <a:pt x="165140" y="1356"/>
                  </a:lnTo>
                  <a:lnTo>
                    <a:pt x="202676" y="11597"/>
                  </a:lnTo>
                  <a:lnTo>
                    <a:pt x="236113" y="30708"/>
                  </a:lnTo>
                  <a:lnTo>
                    <a:pt x="262722" y="58003"/>
                  </a:lnTo>
                  <a:lnTo>
                    <a:pt x="281833" y="91439"/>
                  </a:lnTo>
                  <a:lnTo>
                    <a:pt x="292059" y="128290"/>
                  </a:lnTo>
                  <a:lnTo>
                    <a:pt x="293430" y="147386"/>
                  </a:lnTo>
                  <a:lnTo>
                    <a:pt x="292059" y="166496"/>
                  </a:lnTo>
                  <a:lnTo>
                    <a:pt x="281833" y="204033"/>
                  </a:lnTo>
                  <a:lnTo>
                    <a:pt x="250438" y="251795"/>
                  </a:lnTo>
                  <a:lnTo>
                    <a:pt x="202676" y="282503"/>
                  </a:lnTo>
                  <a:lnTo>
                    <a:pt x="165140" y="292745"/>
                  </a:lnTo>
                  <a:lnTo>
                    <a:pt x="146029" y="294101"/>
                  </a:lnTo>
                  <a:lnTo>
                    <a:pt x="126918" y="292745"/>
                  </a:lnTo>
                  <a:lnTo>
                    <a:pt x="73014" y="274319"/>
                  </a:lnTo>
                  <a:lnTo>
                    <a:pt x="30022" y="236783"/>
                  </a:lnTo>
                  <a:lnTo>
                    <a:pt x="4770" y="185607"/>
                  </a:lnTo>
                  <a:lnTo>
                    <a:pt x="0" y="147386"/>
                  </a:lnTo>
                </a:path>
                <a:path w="299720" h="1372870">
                  <a:moveTo>
                    <a:pt x="6141" y="1226240"/>
                  </a:moveTo>
                  <a:lnTo>
                    <a:pt x="10911" y="1188034"/>
                  </a:lnTo>
                  <a:lnTo>
                    <a:pt x="25938" y="1152555"/>
                  </a:lnTo>
                  <a:lnTo>
                    <a:pt x="49133" y="1121846"/>
                  </a:lnTo>
                  <a:lnTo>
                    <a:pt x="79842" y="1098636"/>
                  </a:lnTo>
                  <a:lnTo>
                    <a:pt x="133060" y="1080211"/>
                  </a:lnTo>
                  <a:lnTo>
                    <a:pt x="152857" y="1078854"/>
                  </a:lnTo>
                  <a:lnTo>
                    <a:pt x="171968" y="1080211"/>
                  </a:lnTo>
                  <a:lnTo>
                    <a:pt x="225872" y="1098636"/>
                  </a:lnTo>
                  <a:lnTo>
                    <a:pt x="256580" y="1121846"/>
                  </a:lnTo>
                  <a:lnTo>
                    <a:pt x="279775" y="1152555"/>
                  </a:lnTo>
                  <a:lnTo>
                    <a:pt x="294787" y="1188034"/>
                  </a:lnTo>
                  <a:lnTo>
                    <a:pt x="299572" y="1226240"/>
                  </a:lnTo>
                  <a:lnTo>
                    <a:pt x="298201" y="1245351"/>
                  </a:lnTo>
                  <a:lnTo>
                    <a:pt x="279775" y="1299255"/>
                  </a:lnTo>
                  <a:lnTo>
                    <a:pt x="256580" y="1329964"/>
                  </a:lnTo>
                  <a:lnTo>
                    <a:pt x="208818" y="1361358"/>
                  </a:lnTo>
                  <a:lnTo>
                    <a:pt x="152857" y="1372285"/>
                  </a:lnTo>
                  <a:lnTo>
                    <a:pt x="133060" y="1370914"/>
                  </a:lnTo>
                  <a:lnTo>
                    <a:pt x="79842" y="1352489"/>
                  </a:lnTo>
                  <a:lnTo>
                    <a:pt x="36850" y="1315638"/>
                  </a:lnTo>
                  <a:lnTo>
                    <a:pt x="17053" y="1282202"/>
                  </a:lnTo>
                  <a:lnTo>
                    <a:pt x="6141" y="1226240"/>
                  </a:lnTo>
                </a:path>
              </a:pathLst>
            </a:custGeom>
            <a:ln w="1137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4860645" y="7440970"/>
              <a:ext cx="300990" cy="297815"/>
            </a:xfrm>
            <a:custGeom>
              <a:avLst/>
              <a:gdLst/>
              <a:ahLst/>
              <a:cxnLst/>
              <a:rect l="l" t="t" r="r" b="b"/>
              <a:pathLst>
                <a:path w="300989" h="297815">
                  <a:moveTo>
                    <a:pt x="0" y="297515"/>
                  </a:moveTo>
                  <a:lnTo>
                    <a:pt x="300944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6" name="object 21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127467" y="7407533"/>
              <a:ext cx="68229" cy="67543"/>
            </a:xfrm>
            <a:prstGeom prst="rect">
              <a:avLst/>
            </a:prstGeom>
          </p:spPr>
        </p:pic>
        <p:pic>
          <p:nvPicPr>
            <p:cNvPr id="217" name="object 21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906749" y="7272416"/>
              <a:ext cx="64145" cy="64145"/>
            </a:xfrm>
            <a:prstGeom prst="rect">
              <a:avLst/>
            </a:prstGeom>
          </p:spPr>
        </p:pic>
        <p:sp>
          <p:nvSpPr>
            <p:cNvPr id="218" name="object 218"/>
            <p:cNvSpPr/>
            <p:nvPr/>
          </p:nvSpPr>
          <p:spPr>
            <a:xfrm>
              <a:off x="5453649" y="8389477"/>
              <a:ext cx="474980" cy="0"/>
            </a:xfrm>
            <a:custGeom>
              <a:avLst/>
              <a:gdLst/>
              <a:ahLst/>
              <a:cxnLst/>
              <a:rect l="l" t="t" r="r" b="b"/>
              <a:pathLst>
                <a:path w="474979" h="0">
                  <a:moveTo>
                    <a:pt x="0" y="0"/>
                  </a:moveTo>
                  <a:lnTo>
                    <a:pt x="474939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9" name="object 21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912891" y="8357412"/>
              <a:ext cx="64145" cy="64145"/>
            </a:xfrm>
            <a:prstGeom prst="rect">
              <a:avLst/>
            </a:prstGeom>
          </p:spPr>
        </p:pic>
        <p:sp>
          <p:nvSpPr>
            <p:cNvPr id="220" name="object 220"/>
            <p:cNvSpPr/>
            <p:nvPr/>
          </p:nvSpPr>
          <p:spPr>
            <a:xfrm>
              <a:off x="5371764" y="7430729"/>
              <a:ext cx="3175" cy="772795"/>
            </a:xfrm>
            <a:custGeom>
              <a:avLst/>
              <a:gdLst/>
              <a:ahLst/>
              <a:cxnLst/>
              <a:rect l="l" t="t" r="r" b="b"/>
              <a:pathLst>
                <a:path w="3175" h="772795">
                  <a:moveTo>
                    <a:pt x="2727" y="0"/>
                  </a:moveTo>
                  <a:lnTo>
                    <a:pt x="0" y="772469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5339684" y="8187501"/>
              <a:ext cx="64769" cy="63500"/>
            </a:xfrm>
            <a:custGeom>
              <a:avLst/>
              <a:gdLst/>
              <a:ahLst/>
              <a:cxnLst/>
              <a:rect l="l" t="t" r="r" b="b"/>
              <a:pathLst>
                <a:path w="64770" h="63500">
                  <a:moveTo>
                    <a:pt x="64145" y="0"/>
                  </a:moveTo>
                  <a:lnTo>
                    <a:pt x="60731" y="2042"/>
                  </a:lnTo>
                  <a:lnTo>
                    <a:pt x="56647" y="3413"/>
                  </a:lnTo>
                  <a:lnTo>
                    <a:pt x="53233" y="4084"/>
                  </a:lnTo>
                  <a:lnTo>
                    <a:pt x="49133" y="5455"/>
                  </a:lnTo>
                  <a:lnTo>
                    <a:pt x="45719" y="6141"/>
                  </a:lnTo>
                  <a:lnTo>
                    <a:pt x="41620" y="6812"/>
                  </a:lnTo>
                  <a:lnTo>
                    <a:pt x="38221" y="7498"/>
                  </a:lnTo>
                  <a:lnTo>
                    <a:pt x="25938" y="7498"/>
                  </a:lnTo>
                  <a:lnTo>
                    <a:pt x="22524" y="6812"/>
                  </a:lnTo>
                  <a:lnTo>
                    <a:pt x="14325" y="5455"/>
                  </a:lnTo>
                  <a:lnTo>
                    <a:pt x="10927" y="4084"/>
                  </a:lnTo>
                  <a:lnTo>
                    <a:pt x="6827" y="2727"/>
                  </a:lnTo>
                  <a:lnTo>
                    <a:pt x="0" y="0"/>
                  </a:lnTo>
                  <a:lnTo>
                    <a:pt x="32080" y="63459"/>
                  </a:lnTo>
                  <a:lnTo>
                    <a:pt x="6414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6210406" y="7417759"/>
              <a:ext cx="1270" cy="799465"/>
            </a:xfrm>
            <a:custGeom>
              <a:avLst/>
              <a:gdLst/>
              <a:ahLst/>
              <a:cxnLst/>
              <a:rect l="l" t="t" r="r" b="b"/>
              <a:pathLst>
                <a:path w="1270" h="799465">
                  <a:moveTo>
                    <a:pt x="0" y="0"/>
                  </a:moveTo>
                  <a:lnTo>
                    <a:pt x="685" y="799078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6179027" y="8201827"/>
              <a:ext cx="64769" cy="63500"/>
            </a:xfrm>
            <a:custGeom>
              <a:avLst/>
              <a:gdLst/>
              <a:ahLst/>
              <a:cxnLst/>
              <a:rect l="l" t="t" r="r" b="b"/>
              <a:pathLst>
                <a:path w="64770" h="63500">
                  <a:moveTo>
                    <a:pt x="64145" y="0"/>
                  </a:moveTo>
                  <a:lnTo>
                    <a:pt x="57317" y="2727"/>
                  </a:lnTo>
                  <a:lnTo>
                    <a:pt x="53218" y="4099"/>
                  </a:lnTo>
                  <a:lnTo>
                    <a:pt x="49804" y="5455"/>
                  </a:lnTo>
                  <a:lnTo>
                    <a:pt x="45719" y="6141"/>
                  </a:lnTo>
                  <a:lnTo>
                    <a:pt x="42306" y="6827"/>
                  </a:lnTo>
                  <a:lnTo>
                    <a:pt x="38206" y="6827"/>
                  </a:lnTo>
                  <a:lnTo>
                    <a:pt x="34122" y="7513"/>
                  </a:lnTo>
                  <a:lnTo>
                    <a:pt x="30022" y="7513"/>
                  </a:lnTo>
                  <a:lnTo>
                    <a:pt x="26609" y="6827"/>
                  </a:lnTo>
                  <a:lnTo>
                    <a:pt x="22509" y="6827"/>
                  </a:lnTo>
                  <a:lnTo>
                    <a:pt x="18425" y="6141"/>
                  </a:lnTo>
                  <a:lnTo>
                    <a:pt x="15011" y="5455"/>
                  </a:lnTo>
                  <a:lnTo>
                    <a:pt x="10911" y="4099"/>
                  </a:lnTo>
                  <a:lnTo>
                    <a:pt x="4084" y="1371"/>
                  </a:lnTo>
                  <a:lnTo>
                    <a:pt x="0" y="0"/>
                  </a:lnTo>
                  <a:lnTo>
                    <a:pt x="32064" y="63459"/>
                  </a:lnTo>
                  <a:lnTo>
                    <a:pt x="6414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5244830" y="7488732"/>
              <a:ext cx="2540" cy="760730"/>
            </a:xfrm>
            <a:custGeom>
              <a:avLst/>
              <a:gdLst/>
              <a:ahLst/>
              <a:cxnLst/>
              <a:rect l="l" t="t" r="r" b="b"/>
              <a:pathLst>
                <a:path w="2539" h="760729">
                  <a:moveTo>
                    <a:pt x="0" y="0"/>
                  </a:moveTo>
                  <a:lnTo>
                    <a:pt x="2057" y="760186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5213451" y="7440284"/>
              <a:ext cx="63500" cy="64769"/>
            </a:xfrm>
            <a:custGeom>
              <a:avLst/>
              <a:gdLst/>
              <a:ahLst/>
              <a:cxnLst/>
              <a:rect l="l" t="t" r="r" b="b"/>
              <a:pathLst>
                <a:path w="63500" h="64770">
                  <a:moveTo>
                    <a:pt x="31379" y="0"/>
                  </a:moveTo>
                  <a:lnTo>
                    <a:pt x="0" y="64145"/>
                  </a:lnTo>
                  <a:lnTo>
                    <a:pt x="3398" y="62087"/>
                  </a:lnTo>
                  <a:lnTo>
                    <a:pt x="10226" y="59359"/>
                  </a:lnTo>
                  <a:lnTo>
                    <a:pt x="14325" y="58689"/>
                  </a:lnTo>
                  <a:lnTo>
                    <a:pt x="18409" y="57317"/>
                  </a:lnTo>
                  <a:lnTo>
                    <a:pt x="21823" y="56631"/>
                  </a:lnTo>
                  <a:lnTo>
                    <a:pt x="30022" y="56631"/>
                  </a:lnTo>
                  <a:lnTo>
                    <a:pt x="33436" y="55946"/>
                  </a:lnTo>
                  <a:lnTo>
                    <a:pt x="36835" y="56631"/>
                  </a:lnTo>
                  <a:lnTo>
                    <a:pt x="40934" y="56631"/>
                  </a:lnTo>
                  <a:lnTo>
                    <a:pt x="44348" y="57317"/>
                  </a:lnTo>
                  <a:lnTo>
                    <a:pt x="48447" y="58689"/>
                  </a:lnTo>
                  <a:lnTo>
                    <a:pt x="52532" y="59359"/>
                  </a:lnTo>
                  <a:lnTo>
                    <a:pt x="59359" y="62087"/>
                  </a:lnTo>
                  <a:lnTo>
                    <a:pt x="63459" y="63459"/>
                  </a:lnTo>
                  <a:lnTo>
                    <a:pt x="3137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6050051" y="7486004"/>
              <a:ext cx="5080" cy="770255"/>
            </a:xfrm>
            <a:custGeom>
              <a:avLst/>
              <a:gdLst/>
              <a:ahLst/>
              <a:cxnLst/>
              <a:rect l="l" t="t" r="r" b="b"/>
              <a:pathLst>
                <a:path w="5079" h="770254">
                  <a:moveTo>
                    <a:pt x="4770" y="0"/>
                  </a:moveTo>
                  <a:lnTo>
                    <a:pt x="0" y="769726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6022756" y="7436870"/>
              <a:ext cx="63500" cy="65405"/>
            </a:xfrm>
            <a:custGeom>
              <a:avLst/>
              <a:gdLst/>
              <a:ahLst/>
              <a:cxnLst/>
              <a:rect l="l" t="t" r="r" b="b"/>
              <a:pathLst>
                <a:path w="63500" h="65404">
                  <a:moveTo>
                    <a:pt x="32750" y="0"/>
                  </a:moveTo>
                  <a:lnTo>
                    <a:pt x="0" y="64145"/>
                  </a:lnTo>
                  <a:lnTo>
                    <a:pt x="3413" y="62773"/>
                  </a:lnTo>
                  <a:lnTo>
                    <a:pt x="7513" y="61417"/>
                  </a:lnTo>
                  <a:lnTo>
                    <a:pt x="10911" y="60045"/>
                  </a:lnTo>
                  <a:lnTo>
                    <a:pt x="15011" y="58689"/>
                  </a:lnTo>
                  <a:lnTo>
                    <a:pt x="18425" y="58003"/>
                  </a:lnTo>
                  <a:lnTo>
                    <a:pt x="22524" y="57317"/>
                  </a:lnTo>
                  <a:lnTo>
                    <a:pt x="26609" y="57317"/>
                  </a:lnTo>
                  <a:lnTo>
                    <a:pt x="30022" y="56631"/>
                  </a:lnTo>
                  <a:lnTo>
                    <a:pt x="34122" y="56631"/>
                  </a:lnTo>
                  <a:lnTo>
                    <a:pt x="38206" y="57317"/>
                  </a:lnTo>
                  <a:lnTo>
                    <a:pt x="42306" y="57317"/>
                  </a:lnTo>
                  <a:lnTo>
                    <a:pt x="45034" y="58003"/>
                  </a:lnTo>
                  <a:lnTo>
                    <a:pt x="49133" y="59359"/>
                  </a:lnTo>
                  <a:lnTo>
                    <a:pt x="52547" y="60045"/>
                  </a:lnTo>
                  <a:lnTo>
                    <a:pt x="56631" y="61417"/>
                  </a:lnTo>
                  <a:lnTo>
                    <a:pt x="60045" y="62773"/>
                  </a:lnTo>
                  <a:lnTo>
                    <a:pt x="63459" y="64830"/>
                  </a:lnTo>
                  <a:lnTo>
                    <a:pt x="327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5430438" y="7449840"/>
              <a:ext cx="557530" cy="854075"/>
            </a:xfrm>
            <a:custGeom>
              <a:avLst/>
              <a:gdLst/>
              <a:ahLst/>
              <a:cxnLst/>
              <a:rect l="l" t="t" r="r" b="b"/>
              <a:pathLst>
                <a:path w="557529" h="854075">
                  <a:moveTo>
                    <a:pt x="557509" y="0"/>
                  </a:moveTo>
                  <a:lnTo>
                    <a:pt x="0" y="853668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5953155" y="7408890"/>
              <a:ext cx="61594" cy="71120"/>
            </a:xfrm>
            <a:custGeom>
              <a:avLst/>
              <a:gdLst/>
              <a:ahLst/>
              <a:cxnLst/>
              <a:rect l="l" t="t" r="r" b="b"/>
              <a:pathLst>
                <a:path w="61595" h="71120">
                  <a:moveTo>
                    <a:pt x="61417" y="0"/>
                  </a:moveTo>
                  <a:lnTo>
                    <a:pt x="0" y="36164"/>
                  </a:lnTo>
                  <a:lnTo>
                    <a:pt x="3413" y="36850"/>
                  </a:lnTo>
                  <a:lnTo>
                    <a:pt x="7498" y="37536"/>
                  </a:lnTo>
                  <a:lnTo>
                    <a:pt x="10911" y="38221"/>
                  </a:lnTo>
                  <a:lnTo>
                    <a:pt x="15011" y="39578"/>
                  </a:lnTo>
                  <a:lnTo>
                    <a:pt x="18425" y="40949"/>
                  </a:lnTo>
                  <a:lnTo>
                    <a:pt x="21838" y="42992"/>
                  </a:lnTo>
                  <a:lnTo>
                    <a:pt x="25923" y="44363"/>
                  </a:lnTo>
                  <a:lnTo>
                    <a:pt x="29336" y="46405"/>
                  </a:lnTo>
                  <a:lnTo>
                    <a:pt x="32064" y="48447"/>
                  </a:lnTo>
                  <a:lnTo>
                    <a:pt x="35478" y="51175"/>
                  </a:lnTo>
                  <a:lnTo>
                    <a:pt x="38206" y="53233"/>
                  </a:lnTo>
                  <a:lnTo>
                    <a:pt x="41620" y="55961"/>
                  </a:lnTo>
                  <a:lnTo>
                    <a:pt x="44348" y="58689"/>
                  </a:lnTo>
                  <a:lnTo>
                    <a:pt x="46405" y="61417"/>
                  </a:lnTo>
                  <a:lnTo>
                    <a:pt x="49133" y="64830"/>
                  </a:lnTo>
                  <a:lnTo>
                    <a:pt x="51175" y="68244"/>
                  </a:lnTo>
                  <a:lnTo>
                    <a:pt x="53218" y="70972"/>
                  </a:lnTo>
                  <a:lnTo>
                    <a:pt x="6141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4862017" y="7979369"/>
              <a:ext cx="282575" cy="298450"/>
            </a:xfrm>
            <a:custGeom>
              <a:avLst/>
              <a:gdLst/>
              <a:ahLst/>
              <a:cxnLst/>
              <a:rect l="l" t="t" r="r" b="b"/>
              <a:pathLst>
                <a:path w="282575" h="298450">
                  <a:moveTo>
                    <a:pt x="282503" y="298201"/>
                  </a:moveTo>
                  <a:lnTo>
                    <a:pt x="0" y="0"/>
                  </a:lnTo>
                </a:path>
              </a:pathLst>
            </a:custGeom>
            <a:ln w="1705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1" name="object 23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110398" y="8244133"/>
              <a:ext cx="67558" cy="68915"/>
            </a:xfrm>
            <a:prstGeom prst="rect">
              <a:avLst/>
            </a:prstGeom>
          </p:spPr>
        </p:pic>
      </p:grpSp>
      <p:sp>
        <p:nvSpPr>
          <p:cNvPr id="232" name="object 232"/>
          <p:cNvSpPr txBox="1"/>
          <p:nvPr/>
        </p:nvSpPr>
        <p:spPr>
          <a:xfrm>
            <a:off x="4539245" y="7534778"/>
            <a:ext cx="11493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600">
              <a:latin typeface="Arial"/>
              <a:cs typeface="Arial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4894086" y="7353944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600">
              <a:latin typeface="Arial"/>
              <a:cs typeface="Arial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4891356" y="8087511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5656996" y="8359781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5098120" y="7557975"/>
            <a:ext cx="1249045" cy="408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5080">
              <a:lnSpc>
                <a:spcPts val="1505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600">
              <a:latin typeface="Arial"/>
              <a:cs typeface="Arial"/>
            </a:endParaRPr>
          </a:p>
          <a:p>
            <a:pPr algn="ctr" marR="5080">
              <a:lnSpc>
                <a:spcPts val="1505"/>
              </a:lnSpc>
              <a:tabLst>
                <a:tab pos="306070" algn="l"/>
                <a:tab pos="816610" algn="l"/>
                <a:tab pos="1122680" algn="l"/>
              </a:tabLst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3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4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5226939" y="7062565"/>
            <a:ext cx="73342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  <a:tabLst>
                <a:tab pos="429895" algn="l"/>
                <a:tab pos="694690" algn="l"/>
              </a:tabLst>
            </a:pPr>
            <a:r>
              <a:rPr dirty="0" baseline="-27777" sz="2400" spc="-7">
                <a:solidFill>
                  <a:srgbClr val="FFFF00"/>
                </a:solidFill>
                <a:latin typeface="Arial"/>
                <a:cs typeface="Arial"/>
              </a:rPr>
              <a:t>5</a:t>
            </a:r>
            <a:r>
              <a:rPr dirty="0" u="heavy" sz="1600" spc="-5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	1	</a:t>
            </a:r>
            <a:endParaRPr sz="1600">
              <a:latin typeface="Arial"/>
              <a:cs typeface="Arial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6062333" y="7156050"/>
            <a:ext cx="12573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600">
              <a:latin typeface="Arial"/>
              <a:cs typeface="Arial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3414669" y="8236951"/>
            <a:ext cx="278066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1833245" algn="l"/>
                <a:tab pos="2654300" algn="l"/>
              </a:tabLst>
            </a:pPr>
            <a:r>
              <a:rPr dirty="0" baseline="1736" sz="2400" spc="-7">
                <a:solidFill>
                  <a:srgbClr val="FFFF00"/>
                </a:solidFill>
                <a:latin typeface="Arial"/>
                <a:cs typeface="Arial"/>
              </a:rPr>
              <a:t>7</a:t>
            </a:r>
            <a:r>
              <a:rPr dirty="0" baseline="1736" sz="2400" spc="-7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baseline="1736" sz="2400" spc="-7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baseline="1736" sz="2400">
              <a:latin typeface="Arial"/>
              <a:cs typeface="Arial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2292141" y="6689974"/>
            <a:ext cx="7137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select</a:t>
            </a:r>
            <a:r>
              <a:rPr dirty="0" sz="1600" spc="-5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600" spc="-5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600">
              <a:latin typeface="Arial"/>
              <a:cs typeface="Arial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2823539" y="8742743"/>
            <a:ext cx="25825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8.67: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Dijkstra’s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15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90700" y="938809"/>
            <a:ext cx="4648200" cy="3651250"/>
            <a:chOff x="1790700" y="938809"/>
            <a:chExt cx="4648200" cy="3651250"/>
          </a:xfrm>
        </p:grpSpPr>
        <p:sp>
          <p:nvSpPr>
            <p:cNvPr id="5" name="object 5"/>
            <p:cNvSpPr/>
            <p:nvPr/>
          </p:nvSpPr>
          <p:spPr>
            <a:xfrm>
              <a:off x="1790700" y="938809"/>
              <a:ext cx="4648200" cy="3651250"/>
            </a:xfrm>
            <a:custGeom>
              <a:avLst/>
              <a:gdLst/>
              <a:ahLst/>
              <a:cxnLst/>
              <a:rect l="l" t="t" r="r" b="b"/>
              <a:pathLst>
                <a:path w="4648200" h="3651250">
                  <a:moveTo>
                    <a:pt x="4648001" y="0"/>
                  </a:moveTo>
                  <a:lnTo>
                    <a:pt x="0" y="0"/>
                  </a:lnTo>
                  <a:lnTo>
                    <a:pt x="0" y="3650970"/>
                  </a:lnTo>
                  <a:lnTo>
                    <a:pt x="4648001" y="3650970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852985" y="2871805"/>
              <a:ext cx="762635" cy="382270"/>
            </a:xfrm>
            <a:custGeom>
              <a:avLst/>
              <a:gdLst/>
              <a:ahLst/>
              <a:cxnLst/>
              <a:rect l="l" t="t" r="r" b="b"/>
              <a:pathLst>
                <a:path w="762635" h="382270">
                  <a:moveTo>
                    <a:pt x="571545" y="0"/>
                  </a:moveTo>
                  <a:lnTo>
                    <a:pt x="571545" y="126019"/>
                  </a:lnTo>
                  <a:lnTo>
                    <a:pt x="0" y="126019"/>
                  </a:lnTo>
                  <a:lnTo>
                    <a:pt x="0" y="255864"/>
                  </a:lnTo>
                  <a:lnTo>
                    <a:pt x="571545" y="255864"/>
                  </a:lnTo>
                  <a:lnTo>
                    <a:pt x="571545" y="381883"/>
                  </a:lnTo>
                  <a:lnTo>
                    <a:pt x="762487" y="190941"/>
                  </a:lnTo>
                  <a:lnTo>
                    <a:pt x="571545" y="0"/>
                  </a:lnTo>
                  <a:close/>
                </a:path>
              </a:pathLst>
            </a:custGeom>
            <a:solidFill>
              <a:srgbClr val="B8E7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852985" y="2871805"/>
              <a:ext cx="762635" cy="382270"/>
            </a:xfrm>
            <a:custGeom>
              <a:avLst/>
              <a:gdLst/>
              <a:ahLst/>
              <a:cxnLst/>
              <a:rect l="l" t="t" r="r" b="b"/>
              <a:pathLst>
                <a:path w="762635" h="382270">
                  <a:moveTo>
                    <a:pt x="762487" y="190941"/>
                  </a:moveTo>
                  <a:lnTo>
                    <a:pt x="571545" y="381883"/>
                  </a:lnTo>
                  <a:lnTo>
                    <a:pt x="571545" y="255864"/>
                  </a:lnTo>
                  <a:lnTo>
                    <a:pt x="0" y="255864"/>
                  </a:lnTo>
                  <a:lnTo>
                    <a:pt x="0" y="126019"/>
                  </a:lnTo>
                  <a:lnTo>
                    <a:pt x="571545" y="126019"/>
                  </a:lnTo>
                  <a:lnTo>
                    <a:pt x="571545" y="0"/>
                  </a:lnTo>
                  <a:lnTo>
                    <a:pt x="762487" y="190941"/>
                  </a:lnTo>
                </a:path>
              </a:pathLst>
            </a:custGeom>
            <a:ln w="1060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2033739" y="2493879"/>
            <a:ext cx="224154" cy="480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2950">
              <a:latin typeface="Arial"/>
              <a:cs typeface="Aria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3103681" y="1871268"/>
            <a:ext cx="2536825" cy="2406015"/>
            <a:chOff x="3103681" y="1871268"/>
            <a:chExt cx="2536825" cy="2406015"/>
          </a:xfrm>
        </p:grpSpPr>
        <p:sp>
          <p:nvSpPr>
            <p:cNvPr id="10" name="object 10"/>
            <p:cNvSpPr/>
            <p:nvPr/>
          </p:nvSpPr>
          <p:spPr>
            <a:xfrm>
              <a:off x="4662373" y="3895262"/>
              <a:ext cx="977900" cy="382270"/>
            </a:xfrm>
            <a:custGeom>
              <a:avLst/>
              <a:gdLst/>
              <a:ahLst/>
              <a:cxnLst/>
              <a:rect l="l" t="t" r="r" b="b"/>
              <a:pathLst>
                <a:path w="977900" h="382270">
                  <a:moveTo>
                    <a:pt x="110749" y="0"/>
                  </a:moveTo>
                  <a:lnTo>
                    <a:pt x="0" y="190941"/>
                  </a:lnTo>
                  <a:lnTo>
                    <a:pt x="110749" y="381883"/>
                  </a:lnTo>
                  <a:lnTo>
                    <a:pt x="110749" y="255864"/>
                  </a:lnTo>
                  <a:lnTo>
                    <a:pt x="977630" y="255864"/>
                  </a:lnTo>
                  <a:lnTo>
                    <a:pt x="977630" y="126019"/>
                  </a:lnTo>
                  <a:lnTo>
                    <a:pt x="110749" y="126019"/>
                  </a:lnTo>
                  <a:lnTo>
                    <a:pt x="110749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662373" y="3895262"/>
              <a:ext cx="977900" cy="382270"/>
            </a:xfrm>
            <a:custGeom>
              <a:avLst/>
              <a:gdLst/>
              <a:ahLst/>
              <a:cxnLst/>
              <a:rect l="l" t="t" r="r" b="b"/>
              <a:pathLst>
                <a:path w="977900" h="382270">
                  <a:moveTo>
                    <a:pt x="0" y="190941"/>
                  </a:moveTo>
                  <a:lnTo>
                    <a:pt x="110749" y="381883"/>
                  </a:lnTo>
                  <a:lnTo>
                    <a:pt x="110749" y="255864"/>
                  </a:lnTo>
                  <a:lnTo>
                    <a:pt x="977630" y="255864"/>
                  </a:lnTo>
                  <a:lnTo>
                    <a:pt x="977630" y="126019"/>
                  </a:lnTo>
                  <a:lnTo>
                    <a:pt x="110749" y="126019"/>
                  </a:lnTo>
                  <a:lnTo>
                    <a:pt x="110749" y="0"/>
                  </a:lnTo>
                  <a:lnTo>
                    <a:pt x="0" y="190941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072996" y="2323165"/>
              <a:ext cx="381000" cy="1489710"/>
            </a:xfrm>
            <a:custGeom>
              <a:avLst/>
              <a:gdLst/>
              <a:ahLst/>
              <a:cxnLst/>
              <a:rect l="l" t="t" r="r" b="b"/>
              <a:pathLst>
                <a:path w="381000" h="1489710">
                  <a:moveTo>
                    <a:pt x="254599" y="0"/>
                  </a:moveTo>
                  <a:lnTo>
                    <a:pt x="124754" y="0"/>
                  </a:lnTo>
                  <a:lnTo>
                    <a:pt x="124754" y="1379875"/>
                  </a:lnTo>
                  <a:lnTo>
                    <a:pt x="0" y="1379875"/>
                  </a:lnTo>
                  <a:lnTo>
                    <a:pt x="189677" y="1489344"/>
                  </a:lnTo>
                  <a:lnTo>
                    <a:pt x="380618" y="1379875"/>
                  </a:lnTo>
                  <a:lnTo>
                    <a:pt x="254599" y="1379875"/>
                  </a:lnTo>
                  <a:lnTo>
                    <a:pt x="254599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072996" y="2323165"/>
              <a:ext cx="381000" cy="1489710"/>
            </a:xfrm>
            <a:custGeom>
              <a:avLst/>
              <a:gdLst/>
              <a:ahLst/>
              <a:cxnLst/>
              <a:rect l="l" t="t" r="r" b="b"/>
              <a:pathLst>
                <a:path w="381000" h="1489710">
                  <a:moveTo>
                    <a:pt x="189677" y="1489344"/>
                  </a:moveTo>
                  <a:lnTo>
                    <a:pt x="380618" y="1379875"/>
                  </a:lnTo>
                  <a:lnTo>
                    <a:pt x="254599" y="1379875"/>
                  </a:lnTo>
                  <a:lnTo>
                    <a:pt x="254599" y="0"/>
                  </a:lnTo>
                  <a:lnTo>
                    <a:pt x="124754" y="0"/>
                  </a:lnTo>
                  <a:lnTo>
                    <a:pt x="124754" y="1379875"/>
                  </a:lnTo>
                  <a:lnTo>
                    <a:pt x="0" y="1379875"/>
                  </a:lnTo>
                  <a:lnTo>
                    <a:pt x="189677" y="1489344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464539" y="3262604"/>
              <a:ext cx="714375" cy="733425"/>
            </a:xfrm>
            <a:custGeom>
              <a:avLst/>
              <a:gdLst/>
              <a:ahLst/>
              <a:cxnLst/>
              <a:rect l="l" t="t" r="r" b="b"/>
              <a:pathLst>
                <a:path w="714375" h="733425">
                  <a:moveTo>
                    <a:pt x="276224" y="0"/>
                  </a:moveTo>
                  <a:lnTo>
                    <a:pt x="63642" y="50916"/>
                  </a:lnTo>
                  <a:lnTo>
                    <a:pt x="0" y="262219"/>
                  </a:lnTo>
                  <a:lnTo>
                    <a:pt x="91653" y="175671"/>
                  </a:lnTo>
                  <a:lnTo>
                    <a:pt x="619917" y="733211"/>
                  </a:lnTo>
                  <a:lnTo>
                    <a:pt x="714115" y="644103"/>
                  </a:lnTo>
                  <a:lnTo>
                    <a:pt x="184571" y="85283"/>
                  </a:lnTo>
                  <a:lnTo>
                    <a:pt x="276224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464539" y="3262604"/>
              <a:ext cx="714375" cy="733425"/>
            </a:xfrm>
            <a:custGeom>
              <a:avLst/>
              <a:gdLst/>
              <a:ahLst/>
              <a:cxnLst/>
              <a:rect l="l" t="t" r="r" b="b"/>
              <a:pathLst>
                <a:path w="714375" h="733425">
                  <a:moveTo>
                    <a:pt x="63642" y="50916"/>
                  </a:moveTo>
                  <a:lnTo>
                    <a:pt x="0" y="262219"/>
                  </a:lnTo>
                  <a:lnTo>
                    <a:pt x="91653" y="175671"/>
                  </a:lnTo>
                  <a:lnTo>
                    <a:pt x="619917" y="733211"/>
                  </a:lnTo>
                  <a:lnTo>
                    <a:pt x="714115" y="644103"/>
                  </a:lnTo>
                  <a:lnTo>
                    <a:pt x="184571" y="85283"/>
                  </a:lnTo>
                  <a:lnTo>
                    <a:pt x="276224" y="0"/>
                  </a:lnTo>
                  <a:lnTo>
                    <a:pt x="63642" y="50916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628006" y="1871268"/>
              <a:ext cx="976630" cy="382270"/>
            </a:xfrm>
            <a:custGeom>
              <a:avLst/>
              <a:gdLst/>
              <a:ahLst/>
              <a:cxnLst/>
              <a:rect l="l" t="t" r="r" b="b"/>
              <a:pathLst>
                <a:path w="976629" h="382269">
                  <a:moveTo>
                    <a:pt x="109468" y="0"/>
                  </a:moveTo>
                  <a:lnTo>
                    <a:pt x="0" y="190941"/>
                  </a:lnTo>
                  <a:lnTo>
                    <a:pt x="109468" y="381883"/>
                  </a:lnTo>
                  <a:lnTo>
                    <a:pt x="109468" y="255864"/>
                  </a:lnTo>
                  <a:lnTo>
                    <a:pt x="976350" y="255864"/>
                  </a:lnTo>
                  <a:lnTo>
                    <a:pt x="976350" y="126019"/>
                  </a:lnTo>
                  <a:lnTo>
                    <a:pt x="109468" y="126019"/>
                  </a:lnTo>
                  <a:lnTo>
                    <a:pt x="109468" y="0"/>
                  </a:lnTo>
                  <a:close/>
                </a:path>
              </a:pathLst>
            </a:custGeom>
            <a:solidFill>
              <a:srgbClr val="A994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628006" y="1871268"/>
              <a:ext cx="976630" cy="382270"/>
            </a:xfrm>
            <a:custGeom>
              <a:avLst/>
              <a:gdLst/>
              <a:ahLst/>
              <a:cxnLst/>
              <a:rect l="l" t="t" r="r" b="b"/>
              <a:pathLst>
                <a:path w="976629" h="382269">
                  <a:moveTo>
                    <a:pt x="0" y="190941"/>
                  </a:moveTo>
                  <a:lnTo>
                    <a:pt x="109468" y="381883"/>
                  </a:lnTo>
                  <a:lnTo>
                    <a:pt x="109468" y="255864"/>
                  </a:lnTo>
                  <a:lnTo>
                    <a:pt x="976350" y="255864"/>
                  </a:lnTo>
                  <a:lnTo>
                    <a:pt x="976350" y="126019"/>
                  </a:lnTo>
                  <a:lnTo>
                    <a:pt x="109468" y="126019"/>
                  </a:lnTo>
                  <a:lnTo>
                    <a:pt x="109468" y="0"/>
                  </a:lnTo>
                  <a:lnTo>
                    <a:pt x="0" y="190941"/>
                  </a:lnTo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114476" y="2823433"/>
              <a:ext cx="548640" cy="547370"/>
            </a:xfrm>
            <a:custGeom>
              <a:avLst/>
              <a:gdLst/>
              <a:ahLst/>
              <a:cxnLst/>
              <a:rect l="l" t="t" r="r" b="b"/>
              <a:pathLst>
                <a:path w="548639" h="547370">
                  <a:moveTo>
                    <a:pt x="274960" y="0"/>
                  </a:moveTo>
                  <a:lnTo>
                    <a:pt x="203667" y="8915"/>
                  </a:lnTo>
                  <a:lnTo>
                    <a:pt x="137480" y="36926"/>
                  </a:lnTo>
                  <a:lnTo>
                    <a:pt x="81473" y="80192"/>
                  </a:lnTo>
                  <a:lnTo>
                    <a:pt x="36911" y="137480"/>
                  </a:lnTo>
                  <a:lnTo>
                    <a:pt x="10180" y="203682"/>
                  </a:lnTo>
                  <a:lnTo>
                    <a:pt x="0" y="274960"/>
                  </a:lnTo>
                  <a:lnTo>
                    <a:pt x="2545" y="310606"/>
                  </a:lnTo>
                  <a:lnTo>
                    <a:pt x="21640" y="379338"/>
                  </a:lnTo>
                  <a:lnTo>
                    <a:pt x="57287" y="441716"/>
                  </a:lnTo>
                  <a:lnTo>
                    <a:pt x="108203" y="491368"/>
                  </a:lnTo>
                  <a:lnTo>
                    <a:pt x="169301" y="526999"/>
                  </a:lnTo>
                  <a:lnTo>
                    <a:pt x="239313" y="546094"/>
                  </a:lnTo>
                  <a:lnTo>
                    <a:pt x="274960" y="547375"/>
                  </a:lnTo>
                  <a:lnTo>
                    <a:pt x="310591" y="546094"/>
                  </a:lnTo>
                  <a:lnTo>
                    <a:pt x="380603" y="526999"/>
                  </a:lnTo>
                  <a:lnTo>
                    <a:pt x="441716" y="491368"/>
                  </a:lnTo>
                  <a:lnTo>
                    <a:pt x="492632" y="441716"/>
                  </a:lnTo>
                  <a:lnTo>
                    <a:pt x="526999" y="379338"/>
                  </a:lnTo>
                  <a:lnTo>
                    <a:pt x="546094" y="310606"/>
                  </a:lnTo>
                  <a:lnTo>
                    <a:pt x="548639" y="274960"/>
                  </a:lnTo>
                  <a:lnTo>
                    <a:pt x="546094" y="239313"/>
                  </a:lnTo>
                  <a:lnTo>
                    <a:pt x="526999" y="169301"/>
                  </a:lnTo>
                  <a:lnTo>
                    <a:pt x="492632" y="106923"/>
                  </a:lnTo>
                  <a:lnTo>
                    <a:pt x="441716" y="57287"/>
                  </a:lnTo>
                  <a:lnTo>
                    <a:pt x="380603" y="21640"/>
                  </a:lnTo>
                  <a:lnTo>
                    <a:pt x="310591" y="2545"/>
                  </a:lnTo>
                  <a:lnTo>
                    <a:pt x="274960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114476" y="2823433"/>
              <a:ext cx="548640" cy="547370"/>
            </a:xfrm>
            <a:custGeom>
              <a:avLst/>
              <a:gdLst/>
              <a:ahLst/>
              <a:cxnLst/>
              <a:rect l="l" t="t" r="r" b="b"/>
              <a:pathLst>
                <a:path w="548639" h="547370">
                  <a:moveTo>
                    <a:pt x="0" y="274960"/>
                  </a:moveTo>
                  <a:lnTo>
                    <a:pt x="10180" y="203682"/>
                  </a:lnTo>
                  <a:lnTo>
                    <a:pt x="36911" y="137480"/>
                  </a:lnTo>
                  <a:lnTo>
                    <a:pt x="81473" y="80192"/>
                  </a:lnTo>
                  <a:lnTo>
                    <a:pt x="137480" y="36926"/>
                  </a:lnTo>
                  <a:lnTo>
                    <a:pt x="203667" y="8915"/>
                  </a:lnTo>
                  <a:lnTo>
                    <a:pt x="274960" y="0"/>
                  </a:lnTo>
                  <a:lnTo>
                    <a:pt x="310591" y="2545"/>
                  </a:lnTo>
                  <a:lnTo>
                    <a:pt x="380603" y="21640"/>
                  </a:lnTo>
                  <a:lnTo>
                    <a:pt x="441716" y="57287"/>
                  </a:lnTo>
                  <a:lnTo>
                    <a:pt x="492632" y="106923"/>
                  </a:lnTo>
                  <a:lnTo>
                    <a:pt x="526999" y="169301"/>
                  </a:lnTo>
                  <a:lnTo>
                    <a:pt x="546094" y="239313"/>
                  </a:lnTo>
                  <a:lnTo>
                    <a:pt x="548639" y="274960"/>
                  </a:lnTo>
                  <a:lnTo>
                    <a:pt x="546094" y="310606"/>
                  </a:lnTo>
                  <a:lnTo>
                    <a:pt x="526999" y="379338"/>
                  </a:lnTo>
                  <a:lnTo>
                    <a:pt x="492632" y="441716"/>
                  </a:lnTo>
                  <a:lnTo>
                    <a:pt x="441716" y="491368"/>
                  </a:lnTo>
                  <a:lnTo>
                    <a:pt x="380603" y="526999"/>
                  </a:lnTo>
                  <a:lnTo>
                    <a:pt x="310591" y="546094"/>
                  </a:lnTo>
                  <a:lnTo>
                    <a:pt x="274960" y="547375"/>
                  </a:lnTo>
                  <a:lnTo>
                    <a:pt x="239313" y="546094"/>
                  </a:lnTo>
                  <a:lnTo>
                    <a:pt x="169301" y="526999"/>
                  </a:lnTo>
                  <a:lnTo>
                    <a:pt x="108203" y="491368"/>
                  </a:lnTo>
                  <a:lnTo>
                    <a:pt x="57287" y="441716"/>
                  </a:lnTo>
                  <a:lnTo>
                    <a:pt x="21640" y="379338"/>
                  </a:lnTo>
                  <a:lnTo>
                    <a:pt x="2545" y="310606"/>
                  </a:lnTo>
                  <a:lnTo>
                    <a:pt x="0" y="274960"/>
                  </a:lnTo>
                </a:path>
              </a:pathLst>
            </a:custGeom>
            <a:ln w="212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3297782" y="2849034"/>
            <a:ext cx="224154" cy="480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2950">
              <a:latin typeface="Arial"/>
              <a:cs typeface="Arial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3530085" y="1776658"/>
            <a:ext cx="2655570" cy="2581275"/>
            <a:chOff x="3530085" y="1776658"/>
            <a:chExt cx="2655570" cy="2581275"/>
          </a:xfrm>
        </p:grpSpPr>
        <p:sp>
          <p:nvSpPr>
            <p:cNvPr id="22" name="object 22"/>
            <p:cNvSpPr/>
            <p:nvPr/>
          </p:nvSpPr>
          <p:spPr>
            <a:xfrm>
              <a:off x="4092092" y="1787266"/>
              <a:ext cx="547370" cy="548640"/>
            </a:xfrm>
            <a:custGeom>
              <a:avLst/>
              <a:gdLst/>
              <a:ahLst/>
              <a:cxnLst/>
              <a:rect l="l" t="t" r="r" b="b"/>
              <a:pathLst>
                <a:path w="547370" h="548639">
                  <a:moveTo>
                    <a:pt x="273695" y="0"/>
                  </a:moveTo>
                  <a:lnTo>
                    <a:pt x="202402" y="10180"/>
                  </a:lnTo>
                  <a:lnTo>
                    <a:pt x="136215" y="36911"/>
                  </a:lnTo>
                  <a:lnTo>
                    <a:pt x="78927" y="80192"/>
                  </a:lnTo>
                  <a:lnTo>
                    <a:pt x="35646" y="137464"/>
                  </a:lnTo>
                  <a:lnTo>
                    <a:pt x="10195" y="203667"/>
                  </a:lnTo>
                  <a:lnTo>
                    <a:pt x="0" y="274944"/>
                  </a:lnTo>
                  <a:lnTo>
                    <a:pt x="2545" y="310591"/>
                  </a:lnTo>
                  <a:lnTo>
                    <a:pt x="21640" y="380603"/>
                  </a:lnTo>
                  <a:lnTo>
                    <a:pt x="56022" y="441700"/>
                  </a:lnTo>
                  <a:lnTo>
                    <a:pt x="106939" y="491352"/>
                  </a:lnTo>
                  <a:lnTo>
                    <a:pt x="168036" y="526999"/>
                  </a:lnTo>
                  <a:lnTo>
                    <a:pt x="238048" y="546079"/>
                  </a:lnTo>
                  <a:lnTo>
                    <a:pt x="273695" y="548639"/>
                  </a:lnTo>
                  <a:lnTo>
                    <a:pt x="309326" y="546079"/>
                  </a:lnTo>
                  <a:lnTo>
                    <a:pt x="378073" y="526999"/>
                  </a:lnTo>
                  <a:lnTo>
                    <a:pt x="440451" y="491352"/>
                  </a:lnTo>
                  <a:lnTo>
                    <a:pt x="491368" y="441700"/>
                  </a:lnTo>
                  <a:lnTo>
                    <a:pt x="526999" y="380603"/>
                  </a:lnTo>
                  <a:lnTo>
                    <a:pt x="544829" y="310591"/>
                  </a:lnTo>
                  <a:lnTo>
                    <a:pt x="547375" y="274944"/>
                  </a:lnTo>
                  <a:lnTo>
                    <a:pt x="544829" y="239313"/>
                  </a:lnTo>
                  <a:lnTo>
                    <a:pt x="526999" y="169301"/>
                  </a:lnTo>
                  <a:lnTo>
                    <a:pt x="491368" y="108188"/>
                  </a:lnTo>
                  <a:lnTo>
                    <a:pt x="440451" y="57271"/>
                  </a:lnTo>
                  <a:lnTo>
                    <a:pt x="378073" y="21625"/>
                  </a:lnTo>
                  <a:lnTo>
                    <a:pt x="309326" y="2545"/>
                  </a:lnTo>
                  <a:lnTo>
                    <a:pt x="273695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4092092" y="1787266"/>
              <a:ext cx="547370" cy="548640"/>
            </a:xfrm>
            <a:custGeom>
              <a:avLst/>
              <a:gdLst/>
              <a:ahLst/>
              <a:cxnLst/>
              <a:rect l="l" t="t" r="r" b="b"/>
              <a:pathLst>
                <a:path w="547370" h="548639">
                  <a:moveTo>
                    <a:pt x="0" y="274944"/>
                  </a:moveTo>
                  <a:lnTo>
                    <a:pt x="10195" y="203667"/>
                  </a:lnTo>
                  <a:lnTo>
                    <a:pt x="35646" y="137464"/>
                  </a:lnTo>
                  <a:lnTo>
                    <a:pt x="78927" y="80192"/>
                  </a:lnTo>
                  <a:lnTo>
                    <a:pt x="136215" y="36911"/>
                  </a:lnTo>
                  <a:lnTo>
                    <a:pt x="202402" y="10180"/>
                  </a:lnTo>
                  <a:lnTo>
                    <a:pt x="273695" y="0"/>
                  </a:lnTo>
                  <a:lnTo>
                    <a:pt x="309326" y="2545"/>
                  </a:lnTo>
                  <a:lnTo>
                    <a:pt x="378073" y="21625"/>
                  </a:lnTo>
                  <a:lnTo>
                    <a:pt x="440451" y="57271"/>
                  </a:lnTo>
                  <a:lnTo>
                    <a:pt x="491368" y="108188"/>
                  </a:lnTo>
                  <a:lnTo>
                    <a:pt x="526999" y="169301"/>
                  </a:lnTo>
                  <a:lnTo>
                    <a:pt x="544829" y="239313"/>
                  </a:lnTo>
                  <a:lnTo>
                    <a:pt x="547375" y="274944"/>
                  </a:lnTo>
                  <a:lnTo>
                    <a:pt x="544829" y="310591"/>
                  </a:lnTo>
                  <a:lnTo>
                    <a:pt x="526999" y="380603"/>
                  </a:lnTo>
                  <a:lnTo>
                    <a:pt x="491368" y="441700"/>
                  </a:lnTo>
                  <a:lnTo>
                    <a:pt x="440451" y="491352"/>
                  </a:lnTo>
                  <a:lnTo>
                    <a:pt x="378073" y="526999"/>
                  </a:lnTo>
                  <a:lnTo>
                    <a:pt x="309326" y="546079"/>
                  </a:lnTo>
                  <a:lnTo>
                    <a:pt x="273695" y="548639"/>
                  </a:lnTo>
                  <a:lnTo>
                    <a:pt x="238048" y="546079"/>
                  </a:lnTo>
                  <a:lnTo>
                    <a:pt x="168036" y="526999"/>
                  </a:lnTo>
                  <a:lnTo>
                    <a:pt x="106939" y="491352"/>
                  </a:lnTo>
                  <a:lnTo>
                    <a:pt x="56022" y="441700"/>
                  </a:lnTo>
                  <a:lnTo>
                    <a:pt x="21640" y="380603"/>
                  </a:lnTo>
                  <a:lnTo>
                    <a:pt x="2545" y="310591"/>
                  </a:lnTo>
                  <a:lnTo>
                    <a:pt x="0" y="274944"/>
                  </a:lnTo>
                </a:path>
              </a:pathLst>
            </a:custGeom>
            <a:ln w="212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104833" y="3799784"/>
              <a:ext cx="546100" cy="547370"/>
            </a:xfrm>
            <a:custGeom>
              <a:avLst/>
              <a:gdLst/>
              <a:ahLst/>
              <a:cxnLst/>
              <a:rect l="l" t="t" r="r" b="b"/>
              <a:pathLst>
                <a:path w="546100" h="547370">
                  <a:moveTo>
                    <a:pt x="272399" y="0"/>
                  </a:moveTo>
                  <a:lnTo>
                    <a:pt x="201122" y="8915"/>
                  </a:lnTo>
                  <a:lnTo>
                    <a:pt x="134919" y="36911"/>
                  </a:lnTo>
                  <a:lnTo>
                    <a:pt x="78912" y="80192"/>
                  </a:lnTo>
                  <a:lnTo>
                    <a:pt x="35631" y="137480"/>
                  </a:lnTo>
                  <a:lnTo>
                    <a:pt x="8900" y="203667"/>
                  </a:lnTo>
                  <a:lnTo>
                    <a:pt x="0" y="274960"/>
                  </a:lnTo>
                  <a:lnTo>
                    <a:pt x="1264" y="310606"/>
                  </a:lnTo>
                  <a:lnTo>
                    <a:pt x="19095" y="379338"/>
                  </a:lnTo>
                  <a:lnTo>
                    <a:pt x="54726" y="441716"/>
                  </a:lnTo>
                  <a:lnTo>
                    <a:pt x="105643" y="492632"/>
                  </a:lnTo>
                  <a:lnTo>
                    <a:pt x="168020" y="526999"/>
                  </a:lnTo>
                  <a:lnTo>
                    <a:pt x="236768" y="546094"/>
                  </a:lnTo>
                  <a:lnTo>
                    <a:pt x="272399" y="547375"/>
                  </a:lnTo>
                  <a:lnTo>
                    <a:pt x="308046" y="546094"/>
                  </a:lnTo>
                  <a:lnTo>
                    <a:pt x="378058" y="526999"/>
                  </a:lnTo>
                  <a:lnTo>
                    <a:pt x="440435" y="492632"/>
                  </a:lnTo>
                  <a:lnTo>
                    <a:pt x="490072" y="441716"/>
                  </a:lnTo>
                  <a:lnTo>
                    <a:pt x="526999" y="379338"/>
                  </a:lnTo>
                  <a:lnTo>
                    <a:pt x="543549" y="310606"/>
                  </a:lnTo>
                  <a:lnTo>
                    <a:pt x="546094" y="274960"/>
                  </a:lnTo>
                  <a:lnTo>
                    <a:pt x="543549" y="239313"/>
                  </a:lnTo>
                  <a:lnTo>
                    <a:pt x="526999" y="169301"/>
                  </a:lnTo>
                  <a:lnTo>
                    <a:pt x="490072" y="106923"/>
                  </a:lnTo>
                  <a:lnTo>
                    <a:pt x="440435" y="57287"/>
                  </a:lnTo>
                  <a:lnTo>
                    <a:pt x="378058" y="20375"/>
                  </a:lnTo>
                  <a:lnTo>
                    <a:pt x="308046" y="2545"/>
                  </a:lnTo>
                  <a:lnTo>
                    <a:pt x="272399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104833" y="3799784"/>
              <a:ext cx="546100" cy="547370"/>
            </a:xfrm>
            <a:custGeom>
              <a:avLst/>
              <a:gdLst/>
              <a:ahLst/>
              <a:cxnLst/>
              <a:rect l="l" t="t" r="r" b="b"/>
              <a:pathLst>
                <a:path w="546100" h="547370">
                  <a:moveTo>
                    <a:pt x="0" y="274960"/>
                  </a:moveTo>
                  <a:lnTo>
                    <a:pt x="8900" y="203667"/>
                  </a:lnTo>
                  <a:lnTo>
                    <a:pt x="35631" y="137480"/>
                  </a:lnTo>
                  <a:lnTo>
                    <a:pt x="78912" y="80192"/>
                  </a:lnTo>
                  <a:lnTo>
                    <a:pt x="134919" y="36911"/>
                  </a:lnTo>
                  <a:lnTo>
                    <a:pt x="201122" y="8915"/>
                  </a:lnTo>
                  <a:lnTo>
                    <a:pt x="272399" y="0"/>
                  </a:lnTo>
                  <a:lnTo>
                    <a:pt x="308046" y="2545"/>
                  </a:lnTo>
                  <a:lnTo>
                    <a:pt x="378058" y="20375"/>
                  </a:lnTo>
                  <a:lnTo>
                    <a:pt x="440435" y="57287"/>
                  </a:lnTo>
                  <a:lnTo>
                    <a:pt x="490072" y="106923"/>
                  </a:lnTo>
                  <a:lnTo>
                    <a:pt x="526999" y="169301"/>
                  </a:lnTo>
                  <a:lnTo>
                    <a:pt x="543549" y="239313"/>
                  </a:lnTo>
                  <a:lnTo>
                    <a:pt x="546094" y="274960"/>
                  </a:lnTo>
                  <a:lnTo>
                    <a:pt x="543549" y="310606"/>
                  </a:lnTo>
                  <a:lnTo>
                    <a:pt x="526999" y="379338"/>
                  </a:lnTo>
                  <a:lnTo>
                    <a:pt x="490072" y="441716"/>
                  </a:lnTo>
                  <a:lnTo>
                    <a:pt x="440435" y="492632"/>
                  </a:lnTo>
                  <a:lnTo>
                    <a:pt x="378058" y="526999"/>
                  </a:lnTo>
                  <a:lnTo>
                    <a:pt x="308046" y="546094"/>
                  </a:lnTo>
                  <a:lnTo>
                    <a:pt x="272399" y="547375"/>
                  </a:lnTo>
                  <a:lnTo>
                    <a:pt x="236768" y="546094"/>
                  </a:lnTo>
                  <a:lnTo>
                    <a:pt x="168020" y="526999"/>
                  </a:lnTo>
                  <a:lnTo>
                    <a:pt x="105643" y="492632"/>
                  </a:lnTo>
                  <a:lnTo>
                    <a:pt x="54726" y="441716"/>
                  </a:lnTo>
                  <a:lnTo>
                    <a:pt x="19095" y="379338"/>
                  </a:lnTo>
                  <a:lnTo>
                    <a:pt x="1264" y="310606"/>
                  </a:lnTo>
                  <a:lnTo>
                    <a:pt x="0" y="274960"/>
                  </a:lnTo>
                </a:path>
              </a:pathLst>
            </a:custGeom>
            <a:ln w="212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615818" y="1787266"/>
              <a:ext cx="548640" cy="548640"/>
            </a:xfrm>
            <a:custGeom>
              <a:avLst/>
              <a:gdLst/>
              <a:ahLst/>
              <a:cxnLst/>
              <a:rect l="l" t="t" r="r" b="b"/>
              <a:pathLst>
                <a:path w="548639" h="548639">
                  <a:moveTo>
                    <a:pt x="273679" y="0"/>
                  </a:moveTo>
                  <a:lnTo>
                    <a:pt x="202402" y="10180"/>
                  </a:lnTo>
                  <a:lnTo>
                    <a:pt x="136199" y="36911"/>
                  </a:lnTo>
                  <a:lnTo>
                    <a:pt x="80192" y="80192"/>
                  </a:lnTo>
                  <a:lnTo>
                    <a:pt x="36911" y="137464"/>
                  </a:lnTo>
                  <a:lnTo>
                    <a:pt x="10180" y="203667"/>
                  </a:lnTo>
                  <a:lnTo>
                    <a:pt x="0" y="274944"/>
                  </a:lnTo>
                  <a:lnTo>
                    <a:pt x="2545" y="310591"/>
                  </a:lnTo>
                  <a:lnTo>
                    <a:pt x="21640" y="380603"/>
                  </a:lnTo>
                  <a:lnTo>
                    <a:pt x="56006" y="441700"/>
                  </a:lnTo>
                  <a:lnTo>
                    <a:pt x="106923" y="491352"/>
                  </a:lnTo>
                  <a:lnTo>
                    <a:pt x="169301" y="526999"/>
                  </a:lnTo>
                  <a:lnTo>
                    <a:pt x="238033" y="546079"/>
                  </a:lnTo>
                  <a:lnTo>
                    <a:pt x="273679" y="548639"/>
                  </a:lnTo>
                  <a:lnTo>
                    <a:pt x="309326" y="546079"/>
                  </a:lnTo>
                  <a:lnTo>
                    <a:pt x="379338" y="526999"/>
                  </a:lnTo>
                  <a:lnTo>
                    <a:pt x="440435" y="491352"/>
                  </a:lnTo>
                  <a:lnTo>
                    <a:pt x="491352" y="441700"/>
                  </a:lnTo>
                  <a:lnTo>
                    <a:pt x="526999" y="380603"/>
                  </a:lnTo>
                  <a:lnTo>
                    <a:pt x="546094" y="310591"/>
                  </a:lnTo>
                  <a:lnTo>
                    <a:pt x="548639" y="274944"/>
                  </a:lnTo>
                  <a:lnTo>
                    <a:pt x="546094" y="239313"/>
                  </a:lnTo>
                  <a:lnTo>
                    <a:pt x="526999" y="169301"/>
                  </a:lnTo>
                  <a:lnTo>
                    <a:pt x="491352" y="108188"/>
                  </a:lnTo>
                  <a:lnTo>
                    <a:pt x="440435" y="57271"/>
                  </a:lnTo>
                  <a:lnTo>
                    <a:pt x="379338" y="21625"/>
                  </a:lnTo>
                  <a:lnTo>
                    <a:pt x="309326" y="2545"/>
                  </a:lnTo>
                  <a:lnTo>
                    <a:pt x="273679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615818" y="1787266"/>
              <a:ext cx="548640" cy="548640"/>
            </a:xfrm>
            <a:custGeom>
              <a:avLst/>
              <a:gdLst/>
              <a:ahLst/>
              <a:cxnLst/>
              <a:rect l="l" t="t" r="r" b="b"/>
              <a:pathLst>
                <a:path w="548639" h="548639">
                  <a:moveTo>
                    <a:pt x="0" y="274944"/>
                  </a:moveTo>
                  <a:lnTo>
                    <a:pt x="10180" y="203667"/>
                  </a:lnTo>
                  <a:lnTo>
                    <a:pt x="36911" y="137464"/>
                  </a:lnTo>
                  <a:lnTo>
                    <a:pt x="80192" y="80192"/>
                  </a:lnTo>
                  <a:lnTo>
                    <a:pt x="136199" y="36911"/>
                  </a:lnTo>
                  <a:lnTo>
                    <a:pt x="202402" y="10180"/>
                  </a:lnTo>
                  <a:lnTo>
                    <a:pt x="273679" y="0"/>
                  </a:lnTo>
                  <a:lnTo>
                    <a:pt x="309326" y="2545"/>
                  </a:lnTo>
                  <a:lnTo>
                    <a:pt x="379338" y="21625"/>
                  </a:lnTo>
                  <a:lnTo>
                    <a:pt x="440435" y="57271"/>
                  </a:lnTo>
                  <a:lnTo>
                    <a:pt x="491352" y="108188"/>
                  </a:lnTo>
                  <a:lnTo>
                    <a:pt x="526999" y="169301"/>
                  </a:lnTo>
                  <a:lnTo>
                    <a:pt x="546094" y="239313"/>
                  </a:lnTo>
                  <a:lnTo>
                    <a:pt x="548639" y="274944"/>
                  </a:lnTo>
                  <a:lnTo>
                    <a:pt x="546094" y="310591"/>
                  </a:lnTo>
                  <a:lnTo>
                    <a:pt x="526999" y="380603"/>
                  </a:lnTo>
                  <a:lnTo>
                    <a:pt x="491352" y="441700"/>
                  </a:lnTo>
                  <a:lnTo>
                    <a:pt x="440435" y="491352"/>
                  </a:lnTo>
                  <a:lnTo>
                    <a:pt x="379338" y="526999"/>
                  </a:lnTo>
                  <a:lnTo>
                    <a:pt x="309326" y="546079"/>
                  </a:lnTo>
                  <a:lnTo>
                    <a:pt x="273679" y="548639"/>
                  </a:lnTo>
                  <a:lnTo>
                    <a:pt x="238033" y="546079"/>
                  </a:lnTo>
                  <a:lnTo>
                    <a:pt x="169301" y="526999"/>
                  </a:lnTo>
                  <a:lnTo>
                    <a:pt x="106923" y="491352"/>
                  </a:lnTo>
                  <a:lnTo>
                    <a:pt x="56006" y="441700"/>
                  </a:lnTo>
                  <a:lnTo>
                    <a:pt x="21640" y="380603"/>
                  </a:lnTo>
                  <a:lnTo>
                    <a:pt x="2545" y="310591"/>
                  </a:lnTo>
                  <a:lnTo>
                    <a:pt x="0" y="274944"/>
                  </a:lnTo>
                </a:path>
              </a:pathLst>
            </a:custGeom>
            <a:ln w="212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5628543" y="3799784"/>
              <a:ext cx="546100" cy="547370"/>
            </a:xfrm>
            <a:custGeom>
              <a:avLst/>
              <a:gdLst/>
              <a:ahLst/>
              <a:cxnLst/>
              <a:rect l="l" t="t" r="r" b="b"/>
              <a:pathLst>
                <a:path w="546100" h="547370">
                  <a:moveTo>
                    <a:pt x="273679" y="0"/>
                  </a:moveTo>
                  <a:lnTo>
                    <a:pt x="202402" y="8915"/>
                  </a:lnTo>
                  <a:lnTo>
                    <a:pt x="136199" y="36911"/>
                  </a:lnTo>
                  <a:lnTo>
                    <a:pt x="78927" y="80192"/>
                  </a:lnTo>
                  <a:lnTo>
                    <a:pt x="35646" y="137480"/>
                  </a:lnTo>
                  <a:lnTo>
                    <a:pt x="8915" y="203667"/>
                  </a:lnTo>
                  <a:lnTo>
                    <a:pt x="0" y="274960"/>
                  </a:lnTo>
                  <a:lnTo>
                    <a:pt x="2545" y="310606"/>
                  </a:lnTo>
                  <a:lnTo>
                    <a:pt x="20375" y="379338"/>
                  </a:lnTo>
                  <a:lnTo>
                    <a:pt x="54742" y="441716"/>
                  </a:lnTo>
                  <a:lnTo>
                    <a:pt x="105658" y="492632"/>
                  </a:lnTo>
                  <a:lnTo>
                    <a:pt x="168036" y="526999"/>
                  </a:lnTo>
                  <a:lnTo>
                    <a:pt x="236768" y="546094"/>
                  </a:lnTo>
                  <a:lnTo>
                    <a:pt x="273679" y="547375"/>
                  </a:lnTo>
                  <a:lnTo>
                    <a:pt x="309326" y="546094"/>
                  </a:lnTo>
                  <a:lnTo>
                    <a:pt x="378073" y="526999"/>
                  </a:lnTo>
                  <a:lnTo>
                    <a:pt x="440435" y="492632"/>
                  </a:lnTo>
                  <a:lnTo>
                    <a:pt x="491352" y="441716"/>
                  </a:lnTo>
                  <a:lnTo>
                    <a:pt x="526999" y="379338"/>
                  </a:lnTo>
                  <a:lnTo>
                    <a:pt x="543549" y="310606"/>
                  </a:lnTo>
                  <a:lnTo>
                    <a:pt x="546094" y="274960"/>
                  </a:lnTo>
                  <a:lnTo>
                    <a:pt x="543549" y="239313"/>
                  </a:lnTo>
                  <a:lnTo>
                    <a:pt x="526999" y="169301"/>
                  </a:lnTo>
                  <a:lnTo>
                    <a:pt x="491352" y="106923"/>
                  </a:lnTo>
                  <a:lnTo>
                    <a:pt x="440435" y="57287"/>
                  </a:lnTo>
                  <a:lnTo>
                    <a:pt x="378073" y="20375"/>
                  </a:lnTo>
                  <a:lnTo>
                    <a:pt x="309326" y="2545"/>
                  </a:lnTo>
                  <a:lnTo>
                    <a:pt x="273679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5628543" y="3799784"/>
              <a:ext cx="546100" cy="547370"/>
            </a:xfrm>
            <a:custGeom>
              <a:avLst/>
              <a:gdLst/>
              <a:ahLst/>
              <a:cxnLst/>
              <a:rect l="l" t="t" r="r" b="b"/>
              <a:pathLst>
                <a:path w="546100" h="547370">
                  <a:moveTo>
                    <a:pt x="0" y="274960"/>
                  </a:moveTo>
                  <a:lnTo>
                    <a:pt x="8915" y="203667"/>
                  </a:lnTo>
                  <a:lnTo>
                    <a:pt x="35646" y="137480"/>
                  </a:lnTo>
                  <a:lnTo>
                    <a:pt x="78927" y="80192"/>
                  </a:lnTo>
                  <a:lnTo>
                    <a:pt x="136199" y="36911"/>
                  </a:lnTo>
                  <a:lnTo>
                    <a:pt x="202402" y="8915"/>
                  </a:lnTo>
                  <a:lnTo>
                    <a:pt x="273679" y="0"/>
                  </a:lnTo>
                  <a:lnTo>
                    <a:pt x="309326" y="2545"/>
                  </a:lnTo>
                  <a:lnTo>
                    <a:pt x="378073" y="20375"/>
                  </a:lnTo>
                  <a:lnTo>
                    <a:pt x="440435" y="57287"/>
                  </a:lnTo>
                  <a:lnTo>
                    <a:pt x="491352" y="106923"/>
                  </a:lnTo>
                  <a:lnTo>
                    <a:pt x="526999" y="169301"/>
                  </a:lnTo>
                  <a:lnTo>
                    <a:pt x="543549" y="239313"/>
                  </a:lnTo>
                  <a:lnTo>
                    <a:pt x="546094" y="274960"/>
                  </a:lnTo>
                  <a:lnTo>
                    <a:pt x="543549" y="310606"/>
                  </a:lnTo>
                  <a:lnTo>
                    <a:pt x="526999" y="379338"/>
                  </a:lnTo>
                  <a:lnTo>
                    <a:pt x="491352" y="441716"/>
                  </a:lnTo>
                  <a:lnTo>
                    <a:pt x="440435" y="492632"/>
                  </a:lnTo>
                  <a:lnTo>
                    <a:pt x="378073" y="526999"/>
                  </a:lnTo>
                  <a:lnTo>
                    <a:pt x="309326" y="546094"/>
                  </a:lnTo>
                  <a:lnTo>
                    <a:pt x="273679" y="547375"/>
                  </a:lnTo>
                  <a:lnTo>
                    <a:pt x="236768" y="546094"/>
                  </a:lnTo>
                  <a:lnTo>
                    <a:pt x="168036" y="526999"/>
                  </a:lnTo>
                  <a:lnTo>
                    <a:pt x="105658" y="492632"/>
                  </a:lnTo>
                  <a:lnTo>
                    <a:pt x="54742" y="441716"/>
                  </a:lnTo>
                  <a:lnTo>
                    <a:pt x="20375" y="379338"/>
                  </a:lnTo>
                  <a:lnTo>
                    <a:pt x="2545" y="310606"/>
                  </a:lnTo>
                  <a:lnTo>
                    <a:pt x="0" y="274960"/>
                  </a:lnTo>
                </a:path>
              </a:pathLst>
            </a:custGeom>
            <a:ln w="2121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545997" y="2316810"/>
              <a:ext cx="560705" cy="554990"/>
            </a:xfrm>
            <a:custGeom>
              <a:avLst/>
              <a:gdLst/>
              <a:ahLst/>
              <a:cxnLst/>
              <a:rect l="l" t="t" r="r" b="b"/>
              <a:pathLst>
                <a:path w="560704" h="554989">
                  <a:moveTo>
                    <a:pt x="0" y="554995"/>
                  </a:moveTo>
                  <a:lnTo>
                    <a:pt x="560100" y="0"/>
                  </a:lnTo>
                </a:path>
              </a:pathLst>
            </a:custGeom>
            <a:ln w="3182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43720" y="2254433"/>
              <a:ext cx="126034" cy="12601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496153" y="2002393"/>
              <a:ext cx="119664" cy="11964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4650928" y="4086204"/>
              <a:ext cx="887730" cy="0"/>
            </a:xfrm>
            <a:custGeom>
              <a:avLst/>
              <a:gdLst/>
              <a:ahLst/>
              <a:cxnLst/>
              <a:rect l="l" t="t" r="r" b="b"/>
              <a:pathLst>
                <a:path w="887729" h="0">
                  <a:moveTo>
                    <a:pt x="0" y="0"/>
                  </a:moveTo>
                  <a:lnTo>
                    <a:pt x="887242" y="0"/>
                  </a:lnTo>
                </a:path>
              </a:pathLst>
            </a:custGeom>
            <a:ln w="3182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508894" y="4026372"/>
              <a:ext cx="119649" cy="119649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4499442" y="2297714"/>
              <a:ext cx="5715" cy="1441450"/>
            </a:xfrm>
            <a:custGeom>
              <a:avLst/>
              <a:gdLst/>
              <a:ahLst/>
              <a:cxnLst/>
              <a:rect l="l" t="t" r="r" b="b"/>
              <a:pathLst>
                <a:path w="5714" h="1441450">
                  <a:moveTo>
                    <a:pt x="5090" y="0"/>
                  </a:moveTo>
                  <a:lnTo>
                    <a:pt x="0" y="1440972"/>
                  </a:lnTo>
                </a:path>
              </a:pathLst>
            </a:custGeom>
            <a:ln w="3182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39610" y="3709410"/>
              <a:ext cx="119664" cy="118384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6063889" y="2273528"/>
              <a:ext cx="1905" cy="1492250"/>
            </a:xfrm>
            <a:custGeom>
              <a:avLst/>
              <a:gdLst/>
              <a:ahLst/>
              <a:cxnLst/>
              <a:rect l="l" t="t" r="r" b="b"/>
              <a:pathLst>
                <a:path w="1904" h="1492250">
                  <a:moveTo>
                    <a:pt x="0" y="0"/>
                  </a:moveTo>
                  <a:lnTo>
                    <a:pt x="1280" y="1491889"/>
                  </a:lnTo>
                </a:path>
              </a:pathLst>
            </a:custGeom>
            <a:ln w="3182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005337" y="3736142"/>
              <a:ext cx="119649" cy="118384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4261393" y="2405903"/>
              <a:ext cx="4445" cy="1418590"/>
            </a:xfrm>
            <a:custGeom>
              <a:avLst/>
              <a:gdLst/>
              <a:ahLst/>
              <a:cxnLst/>
              <a:rect l="l" t="t" r="r" b="b"/>
              <a:pathLst>
                <a:path w="4445" h="1418589">
                  <a:moveTo>
                    <a:pt x="0" y="0"/>
                  </a:moveTo>
                  <a:lnTo>
                    <a:pt x="3825" y="1418066"/>
                  </a:lnTo>
                </a:path>
              </a:pathLst>
            </a:custGeom>
            <a:ln w="3182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01576" y="2314265"/>
              <a:ext cx="119649" cy="120929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5763478" y="2400813"/>
              <a:ext cx="9525" cy="1436370"/>
            </a:xfrm>
            <a:custGeom>
              <a:avLst/>
              <a:gdLst/>
              <a:ahLst/>
              <a:cxnLst/>
              <a:rect l="l" t="t" r="r" b="b"/>
              <a:pathLst>
                <a:path w="9525" h="1436370">
                  <a:moveTo>
                    <a:pt x="8915" y="0"/>
                  </a:moveTo>
                  <a:lnTo>
                    <a:pt x="0" y="1435882"/>
                  </a:lnTo>
                </a:path>
              </a:pathLst>
            </a:custGeom>
            <a:ln w="3182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712561" y="2309159"/>
              <a:ext cx="119649" cy="120944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4608911" y="2333345"/>
              <a:ext cx="1040130" cy="1592580"/>
            </a:xfrm>
            <a:custGeom>
              <a:avLst/>
              <a:gdLst/>
              <a:ahLst/>
              <a:cxnLst/>
              <a:rect l="l" t="t" r="r" b="b"/>
              <a:pathLst>
                <a:path w="1040129" h="1592579">
                  <a:moveTo>
                    <a:pt x="1040008" y="0"/>
                  </a:moveTo>
                  <a:lnTo>
                    <a:pt x="0" y="1592458"/>
                  </a:lnTo>
                </a:path>
              </a:pathLst>
            </a:custGeom>
            <a:ln w="3182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582716" y="2256978"/>
              <a:ext cx="114574" cy="132389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3548557" y="3321156"/>
              <a:ext cx="527050" cy="556895"/>
            </a:xfrm>
            <a:custGeom>
              <a:avLst/>
              <a:gdLst/>
              <a:ahLst/>
              <a:cxnLst/>
              <a:rect l="l" t="t" r="r" b="b"/>
              <a:pathLst>
                <a:path w="527050" h="556895">
                  <a:moveTo>
                    <a:pt x="526999" y="556275"/>
                  </a:moveTo>
                  <a:lnTo>
                    <a:pt x="0" y="0"/>
                  </a:lnTo>
                </a:path>
              </a:pathLst>
            </a:custGeom>
            <a:ln w="3182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11899" y="3815070"/>
              <a:ext cx="124754" cy="128564"/>
            </a:xfrm>
            <a:prstGeom prst="rect">
              <a:avLst/>
            </a:prstGeom>
          </p:spPr>
        </p:pic>
      </p:grpSp>
      <p:sp>
        <p:nvSpPr>
          <p:cNvPr id="47" name="object 47"/>
          <p:cNvSpPr txBox="1"/>
          <p:nvPr/>
        </p:nvSpPr>
        <p:spPr>
          <a:xfrm>
            <a:off x="2946449" y="2502795"/>
            <a:ext cx="202565" cy="480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2950" spc="1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295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608380" y="2165463"/>
            <a:ext cx="224154" cy="480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295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602016" y="3533875"/>
            <a:ext cx="224154" cy="480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295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988991" y="2804476"/>
            <a:ext cx="795655" cy="480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  <a:tabLst>
                <a:tab pos="570865" algn="l"/>
              </a:tabLst>
            </a:pP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3</a:t>
            </a: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295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031533" y="4043050"/>
            <a:ext cx="224154" cy="480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295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036625" y="2546063"/>
            <a:ext cx="224154" cy="480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295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512708" y="2804472"/>
            <a:ext cx="795655" cy="480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  <a:tabLst>
                <a:tab pos="570865" algn="l"/>
              </a:tabLst>
            </a:pP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4</a:t>
            </a: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295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251277" y="1621910"/>
            <a:ext cx="1312545" cy="480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35"/>
              </a:spcBef>
              <a:tabLst>
                <a:tab pos="779780" algn="l"/>
                <a:tab pos="1273810" algn="l"/>
              </a:tabLst>
            </a:pPr>
            <a:r>
              <a:rPr dirty="0" baseline="-28248" sz="4425" spc="22">
                <a:solidFill>
                  <a:srgbClr val="FFFF00"/>
                </a:solidFill>
                <a:latin typeface="Arial"/>
                <a:cs typeface="Arial"/>
              </a:rPr>
              <a:t>5</a:t>
            </a:r>
            <a:r>
              <a:rPr dirty="0" u="heavy" sz="2950" spc="15">
                <a:solidFill>
                  <a:srgbClr val="FFFF00"/>
                </a:solidFill>
                <a:uFill>
                  <a:solidFill>
                    <a:srgbClr val="FFFF00"/>
                  </a:solidFill>
                </a:uFill>
                <a:latin typeface="Arial"/>
                <a:cs typeface="Arial"/>
              </a:rPr>
              <a:t>	1	</a:t>
            </a:r>
            <a:endParaRPr sz="295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269039" y="3812652"/>
            <a:ext cx="224154" cy="480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295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786396" y="1796299"/>
            <a:ext cx="224154" cy="480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295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800399" y="3805006"/>
            <a:ext cx="224154" cy="480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2950" spc="1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2950">
              <a:latin typeface="Arial"/>
              <a:cs typeface="Arial"/>
            </a:endParaRPr>
          </a:p>
        </p:txBody>
      </p:sp>
      <p:sp>
        <p:nvSpPr>
          <p:cNvPr id="58" name="object 58"/>
          <p:cNvSpPr txBox="1">
            <a:spLocks noGrp="1"/>
          </p:cNvSpPr>
          <p:nvPr>
            <p:ph type="title"/>
          </p:nvPr>
        </p:nvSpPr>
        <p:spPr>
          <a:xfrm>
            <a:off x="2110123" y="926870"/>
            <a:ext cx="1319530" cy="480695"/>
          </a:xfrm>
          <a:prstGeom prst="rect"/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2950" spc="15" i="0">
                <a:latin typeface="Arial"/>
                <a:cs typeface="Arial"/>
              </a:rPr>
              <a:t>select</a:t>
            </a:r>
            <a:r>
              <a:rPr dirty="0" sz="2950" spc="-75" i="0">
                <a:latin typeface="Arial"/>
                <a:cs typeface="Arial"/>
              </a:rPr>
              <a:t> </a:t>
            </a:r>
            <a:r>
              <a:rPr dirty="0" sz="2950" spc="15" i="0">
                <a:latin typeface="Arial"/>
                <a:cs typeface="Arial"/>
              </a:rPr>
              <a:t>7</a:t>
            </a:r>
            <a:endParaRPr sz="295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823539" y="4655604"/>
            <a:ext cx="25825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8.68: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Dijkstra’s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fig:dijlast</a:t>
            </a:r>
          </a:p>
          <a:p>
            <a:pPr>
              <a:lnSpc>
                <a:spcPct val="100000"/>
              </a:lnSpc>
            </a:pPr>
            <a:endParaRPr sz="1300"/>
          </a:p>
          <a:p>
            <a:pPr>
              <a:lnSpc>
                <a:spcPct val="100000"/>
              </a:lnSpc>
            </a:pPr>
            <a:endParaRPr sz="1300"/>
          </a:p>
          <a:p>
            <a:pPr marL="50800">
              <a:lnSpc>
                <a:spcPct val="100000"/>
              </a:lnSpc>
              <a:spcBef>
                <a:spcPts val="5"/>
              </a:spcBef>
              <a:tabLst>
                <a:tab pos="5969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8.6.2	Correctness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of</a:t>
            </a:r>
            <a:r>
              <a:rPr dirty="0" sz="1400" b="1">
                <a:latin typeface="Times New Roman"/>
                <a:cs typeface="Times New Roman"/>
              </a:rPr>
              <a:t> </a:t>
            </a:r>
            <a:r>
              <a:rPr dirty="0" sz="1400" spc="5" b="1">
                <a:latin typeface="Times New Roman"/>
                <a:cs typeface="Times New Roman"/>
              </a:rPr>
              <a:t>Dijkstra’s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400"/>
              </a:spcBef>
            </a:pPr>
            <a:r>
              <a:rPr dirty="0" spc="-55"/>
              <a:t>We</a:t>
            </a:r>
            <a:r>
              <a:rPr dirty="0"/>
              <a:t> </a:t>
            </a:r>
            <a:r>
              <a:rPr dirty="0" spc="-10"/>
              <a:t>will</a:t>
            </a:r>
            <a:r>
              <a:rPr dirty="0"/>
              <a:t> </a:t>
            </a:r>
            <a:r>
              <a:rPr dirty="0" spc="-15"/>
              <a:t>prove</a:t>
            </a:r>
            <a:r>
              <a:rPr dirty="0" spc="5"/>
              <a:t> </a:t>
            </a:r>
            <a:r>
              <a:rPr dirty="0" spc="-10"/>
              <a:t>the</a:t>
            </a:r>
            <a:r>
              <a:rPr dirty="0"/>
              <a:t> </a:t>
            </a:r>
            <a:r>
              <a:rPr dirty="0" spc="-5"/>
              <a:t>correctness</a:t>
            </a:r>
            <a:r>
              <a:rPr dirty="0"/>
              <a:t> </a:t>
            </a:r>
            <a:r>
              <a:rPr dirty="0" spc="-5"/>
              <a:t>of</a:t>
            </a:r>
            <a:r>
              <a:rPr dirty="0" spc="5"/>
              <a:t> </a:t>
            </a:r>
            <a:r>
              <a:rPr dirty="0" spc="-15"/>
              <a:t>Dijkstr’s</a:t>
            </a:r>
            <a:r>
              <a:rPr dirty="0"/>
              <a:t> </a:t>
            </a:r>
            <a:r>
              <a:rPr dirty="0" spc="-10"/>
              <a:t>algorithm</a:t>
            </a:r>
            <a:r>
              <a:rPr dirty="0" spc="5"/>
              <a:t> </a:t>
            </a:r>
            <a:r>
              <a:rPr dirty="0" spc="-5"/>
              <a:t>by</a:t>
            </a:r>
            <a:r>
              <a:rPr dirty="0" spc="5"/>
              <a:t> </a:t>
            </a:r>
            <a:r>
              <a:rPr dirty="0" spc="-10"/>
              <a:t>Induction.</a:t>
            </a:r>
            <a:r>
              <a:rPr dirty="0" spc="75"/>
              <a:t> </a:t>
            </a:r>
            <a:r>
              <a:rPr dirty="0" spc="-55"/>
              <a:t>We</a:t>
            </a:r>
            <a:r>
              <a:rPr dirty="0" spc="5"/>
              <a:t> </a:t>
            </a:r>
            <a:r>
              <a:rPr dirty="0" spc="-10"/>
              <a:t>will</a:t>
            </a:r>
            <a:r>
              <a:rPr dirty="0"/>
              <a:t> </a:t>
            </a:r>
            <a:r>
              <a:rPr dirty="0" spc="-5"/>
              <a:t>use</a:t>
            </a:r>
            <a:r>
              <a:rPr dirty="0"/>
              <a:t> </a:t>
            </a:r>
            <a:r>
              <a:rPr dirty="0" spc="-10"/>
              <a:t>the</a:t>
            </a:r>
            <a:r>
              <a:rPr dirty="0" spc="5"/>
              <a:t> </a:t>
            </a:r>
            <a:r>
              <a:rPr dirty="0" spc="-5"/>
              <a:t>definition</a:t>
            </a:r>
            <a:r>
              <a:rPr dirty="0"/>
              <a:t> </a:t>
            </a:r>
            <a:r>
              <a:rPr dirty="0" spc="-5"/>
              <a:t>that</a:t>
            </a:r>
            <a:r>
              <a:rPr dirty="0" spc="-60"/>
              <a:t> </a:t>
            </a:r>
            <a:r>
              <a:rPr dirty="0" spc="-30">
                <a:latin typeface="Lucida Sans Unicode"/>
                <a:cs typeface="Lucida Sans Unicode"/>
              </a:rPr>
              <a:t>δ</a:t>
            </a:r>
            <a:r>
              <a:rPr dirty="0" spc="-30">
                <a:latin typeface="Garamond"/>
                <a:cs typeface="Garamond"/>
              </a:rPr>
              <a:t>(</a:t>
            </a:r>
            <a:r>
              <a:rPr dirty="0" spc="-30">
                <a:latin typeface="Lucida Sans Unicode"/>
                <a:cs typeface="Lucida Sans Unicode"/>
              </a:rPr>
              <a:t>s,</a:t>
            </a:r>
            <a:r>
              <a:rPr dirty="0" spc="-180">
                <a:latin typeface="Lucida Sans Unicode"/>
                <a:cs typeface="Lucida Sans Unicode"/>
              </a:rPr>
              <a:t> </a:t>
            </a:r>
            <a:r>
              <a:rPr dirty="0" spc="40">
                <a:latin typeface="Lucida Sans Unicode"/>
                <a:cs typeface="Lucida Sans Unicode"/>
              </a:rPr>
              <a:t>v</a:t>
            </a:r>
            <a:r>
              <a:rPr dirty="0" spc="40">
                <a:latin typeface="Garamond"/>
                <a:cs typeface="Garamond"/>
              </a:rPr>
              <a:t>)</a:t>
            </a: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dirty="0" spc="-10"/>
              <a:t>d</a:t>
            </a:r>
            <a:r>
              <a:rPr dirty="0" spc="-5"/>
              <a:t>e</a:t>
            </a:r>
            <a:r>
              <a:rPr dirty="0" spc="-10"/>
              <a:t>not</a:t>
            </a:r>
            <a:r>
              <a:rPr dirty="0" spc="-5"/>
              <a:t>es</a:t>
            </a:r>
            <a:r>
              <a:rPr dirty="0" spc="-5"/>
              <a:t> </a:t>
            </a:r>
            <a:r>
              <a:rPr dirty="0" spc="-10"/>
              <a:t>th</a:t>
            </a:r>
            <a:r>
              <a:rPr dirty="0" spc="-5"/>
              <a:t>e</a:t>
            </a:r>
            <a:r>
              <a:rPr dirty="0" spc="-5"/>
              <a:t> </a:t>
            </a:r>
            <a:r>
              <a:rPr dirty="0" spc="-10"/>
              <a:t>minim</a:t>
            </a:r>
            <a:r>
              <a:rPr dirty="0" spc="-5"/>
              <a:t>al</a:t>
            </a:r>
            <a:r>
              <a:rPr dirty="0"/>
              <a:t> </a:t>
            </a:r>
            <a:r>
              <a:rPr dirty="0" spc="-10"/>
              <a:t>di</a:t>
            </a:r>
            <a:r>
              <a:rPr dirty="0" spc="-5"/>
              <a:t>s</a:t>
            </a:r>
            <a:r>
              <a:rPr dirty="0" spc="-10"/>
              <a:t>t</a:t>
            </a:r>
            <a:r>
              <a:rPr dirty="0" spc="-5"/>
              <a:t>a</a:t>
            </a:r>
            <a:r>
              <a:rPr dirty="0" spc="-10"/>
              <a:t>n</a:t>
            </a:r>
            <a:r>
              <a:rPr dirty="0" spc="-5"/>
              <a:t>ce</a:t>
            </a:r>
            <a:r>
              <a:rPr dirty="0" spc="-5"/>
              <a:t> </a:t>
            </a:r>
            <a:r>
              <a:rPr dirty="0" spc="-10"/>
              <a:t>fro</a:t>
            </a:r>
            <a:r>
              <a:rPr dirty="0" spc="-5"/>
              <a:t>m</a:t>
            </a:r>
            <a:r>
              <a:rPr dirty="0"/>
              <a:t> </a:t>
            </a:r>
            <a:r>
              <a:rPr dirty="0" spc="-70">
                <a:latin typeface="Lucida Sans Unicode"/>
                <a:cs typeface="Lucida Sans Unicode"/>
              </a:rPr>
              <a:t>s</a:t>
            </a:r>
            <a:r>
              <a:rPr dirty="0" spc="-85">
                <a:latin typeface="Lucida Sans Unicode"/>
                <a:cs typeface="Lucida Sans Unicode"/>
              </a:rPr>
              <a:t> </a:t>
            </a:r>
            <a:r>
              <a:rPr dirty="0" spc="-10"/>
              <a:t>t</a:t>
            </a:r>
            <a:r>
              <a:rPr dirty="0" spc="-5"/>
              <a:t>o</a:t>
            </a:r>
            <a:r>
              <a:rPr dirty="0" spc="-5"/>
              <a:t> </a:t>
            </a:r>
            <a:r>
              <a:rPr dirty="0" spc="-35">
                <a:latin typeface="Lucida Sans Unicode"/>
                <a:cs typeface="Lucida Sans Unicode"/>
              </a:rPr>
              <a:t>v</a:t>
            </a:r>
            <a:r>
              <a:rPr dirty="0" spc="-5"/>
              <a:t>.</a:t>
            </a:r>
          </a:p>
          <a:p>
            <a:pPr marL="50800">
              <a:lnSpc>
                <a:spcPct val="100000"/>
              </a:lnSpc>
              <a:spcBef>
                <a:spcPts val="520"/>
              </a:spcBef>
            </a:pPr>
            <a:r>
              <a:rPr dirty="0" spc="-15"/>
              <a:t>For</a:t>
            </a:r>
            <a:r>
              <a:rPr dirty="0" spc="-20"/>
              <a:t> </a:t>
            </a:r>
            <a:r>
              <a:rPr dirty="0" spc="-10"/>
              <a:t>the</a:t>
            </a:r>
            <a:r>
              <a:rPr dirty="0" spc="-15"/>
              <a:t> </a:t>
            </a:r>
            <a:r>
              <a:rPr dirty="0" spc="-5"/>
              <a:t>base</a:t>
            </a:r>
            <a:r>
              <a:rPr dirty="0" spc="-20"/>
              <a:t> </a:t>
            </a:r>
            <a:r>
              <a:rPr dirty="0" spc="-5"/>
              <a:t>case</a:t>
            </a: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650"/>
          </a:p>
          <a:p>
            <a:pPr marL="233679">
              <a:lnSpc>
                <a:spcPct val="100000"/>
              </a:lnSpc>
            </a:pPr>
            <a:r>
              <a:rPr dirty="0" spc="-5"/>
              <a:t>1.</a:t>
            </a:r>
            <a:r>
              <a:rPr dirty="0" spc="250"/>
              <a:t> </a:t>
            </a:r>
            <a:r>
              <a:rPr dirty="0" spc="15">
                <a:latin typeface="Lucida Sans Unicode"/>
                <a:cs typeface="Lucida Sans Unicode"/>
              </a:rPr>
              <a:t>S</a:t>
            </a:r>
            <a:r>
              <a:rPr dirty="0" spc="-65">
                <a:latin typeface="Lucida Sans Unicode"/>
                <a:cs typeface="Lucida Sans Unicode"/>
              </a:rPr>
              <a:t> </a:t>
            </a:r>
            <a:r>
              <a:rPr dirty="0" spc="100">
                <a:latin typeface="Garamond"/>
                <a:cs typeface="Garamond"/>
              </a:rPr>
              <a:t>=</a:t>
            </a:r>
            <a:r>
              <a:rPr dirty="0" spc="10">
                <a:latin typeface="Garamond"/>
                <a:cs typeface="Garamond"/>
              </a:rPr>
              <a:t> </a:t>
            </a:r>
            <a:r>
              <a:rPr dirty="0" spc="-30">
                <a:latin typeface="Lucida Sans Unicode"/>
                <a:cs typeface="Lucida Sans Unicode"/>
              </a:rPr>
              <a:t>{s}</a:t>
            </a:r>
          </a:p>
          <a:p>
            <a:pPr>
              <a:lnSpc>
                <a:spcPct val="100000"/>
              </a:lnSpc>
            </a:pPr>
            <a:endParaRPr sz="1000">
              <a:latin typeface="Lucida Sans Unicode"/>
              <a:cs typeface="Lucida Sans Unicode"/>
            </a:endParaRPr>
          </a:p>
          <a:p>
            <a:pPr marL="233679">
              <a:lnSpc>
                <a:spcPct val="100000"/>
              </a:lnSpc>
            </a:pPr>
            <a:r>
              <a:rPr dirty="0" spc="-10"/>
              <a:t>2</a:t>
            </a:r>
            <a:r>
              <a:rPr dirty="0" spc="-5"/>
              <a:t>.</a:t>
            </a:r>
            <a:r>
              <a:rPr dirty="0"/>
              <a:t> </a:t>
            </a:r>
            <a:r>
              <a:rPr dirty="0" spc="-15"/>
              <a:t> </a:t>
            </a:r>
            <a:r>
              <a:rPr dirty="0" spc="-40">
                <a:latin typeface="Lucida Sans Unicode"/>
                <a:cs typeface="Lucida Sans Unicode"/>
              </a:rPr>
              <a:t>d</a:t>
            </a:r>
            <a:r>
              <a:rPr dirty="0" spc="110">
                <a:latin typeface="Garamond"/>
                <a:cs typeface="Garamond"/>
              </a:rPr>
              <a:t>(</a:t>
            </a:r>
            <a:r>
              <a:rPr dirty="0" spc="-70">
                <a:latin typeface="Lucida Sans Unicode"/>
                <a:cs typeface="Lucida Sans Unicode"/>
              </a:rPr>
              <a:t>s</a:t>
            </a:r>
            <a:r>
              <a:rPr dirty="0" spc="114">
                <a:latin typeface="Garamond"/>
                <a:cs typeface="Garamond"/>
              </a:rPr>
              <a:t>)</a:t>
            </a:r>
            <a:r>
              <a:rPr dirty="0" spc="30">
                <a:latin typeface="Garamond"/>
                <a:cs typeface="Garamond"/>
              </a:rPr>
              <a:t> </a:t>
            </a:r>
            <a:r>
              <a:rPr dirty="0" spc="100">
                <a:latin typeface="Garamond"/>
                <a:cs typeface="Garamond"/>
              </a:rPr>
              <a:t>=</a:t>
            </a:r>
            <a:r>
              <a:rPr dirty="0" spc="30">
                <a:latin typeface="Garamond"/>
                <a:cs typeface="Garamond"/>
              </a:rPr>
              <a:t> </a:t>
            </a:r>
            <a:r>
              <a:rPr dirty="0" spc="-170">
                <a:latin typeface="Lucida Sans Unicode"/>
                <a:cs typeface="Lucida Sans Unicode"/>
              </a:rPr>
              <a:t>0</a:t>
            </a:r>
            <a:r>
              <a:rPr dirty="0" spc="-5"/>
              <a:t>,</a:t>
            </a:r>
            <a:r>
              <a:rPr dirty="0" spc="-5"/>
              <a:t> </a:t>
            </a:r>
            <a:r>
              <a:rPr dirty="0" spc="-10"/>
              <a:t>whi</a:t>
            </a:r>
            <a:r>
              <a:rPr dirty="0" spc="-5"/>
              <a:t>ch</a:t>
            </a:r>
            <a:r>
              <a:rPr dirty="0" spc="-5"/>
              <a:t> </a:t>
            </a:r>
            <a:r>
              <a:rPr dirty="0" spc="-10"/>
              <a:t>i</a:t>
            </a:r>
            <a:r>
              <a:rPr dirty="0" spc="-5"/>
              <a:t>s</a:t>
            </a:r>
            <a:r>
              <a:rPr dirty="0" spc="-5"/>
              <a:t> </a:t>
            </a:r>
            <a:r>
              <a:rPr dirty="0" spc="-110">
                <a:latin typeface="Lucida Sans Unicode"/>
                <a:cs typeface="Lucida Sans Unicode"/>
              </a:rPr>
              <a:t>δ</a:t>
            </a:r>
            <a:r>
              <a:rPr dirty="0" spc="110">
                <a:latin typeface="Garamond"/>
                <a:cs typeface="Garamond"/>
              </a:rPr>
              <a:t>(</a:t>
            </a:r>
            <a:r>
              <a:rPr dirty="0" spc="-70">
                <a:latin typeface="Lucida Sans Unicode"/>
                <a:cs typeface="Lucida Sans Unicode"/>
              </a:rPr>
              <a:t>s</a:t>
            </a:r>
            <a:r>
              <a:rPr dirty="0" spc="-50">
                <a:latin typeface="Lucida Sans Unicode"/>
                <a:cs typeface="Lucida Sans Unicode"/>
              </a:rPr>
              <a:t>,</a:t>
            </a:r>
            <a:r>
              <a:rPr dirty="0" spc="-185">
                <a:latin typeface="Lucida Sans Unicode"/>
                <a:cs typeface="Lucida Sans Unicode"/>
              </a:rPr>
              <a:t> </a:t>
            </a:r>
            <a:r>
              <a:rPr dirty="0" spc="-75">
                <a:latin typeface="Lucida Sans Unicode"/>
                <a:cs typeface="Lucida Sans Unicode"/>
              </a:rPr>
              <a:t>s</a:t>
            </a:r>
            <a:r>
              <a:rPr dirty="0" spc="114">
                <a:latin typeface="Garamond"/>
                <a:cs typeface="Garamond"/>
              </a:rPr>
              <a:t>)</a:t>
            </a: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700">
              <a:latin typeface="Garamond"/>
              <a:cs typeface="Garamond"/>
            </a:endParaRPr>
          </a:p>
          <a:p>
            <a:pPr marL="50800">
              <a:lnSpc>
                <a:spcPct val="100000"/>
              </a:lnSpc>
            </a:pPr>
            <a:r>
              <a:rPr dirty="0" spc="-10"/>
              <a:t>A</a:t>
            </a:r>
            <a:r>
              <a:rPr dirty="0" spc="-5"/>
              <a:t>ss</a:t>
            </a:r>
            <a:r>
              <a:rPr dirty="0" spc="-10"/>
              <a:t>um</a:t>
            </a:r>
            <a:r>
              <a:rPr dirty="0" spc="-5"/>
              <a:t>e</a:t>
            </a:r>
            <a:r>
              <a:rPr dirty="0" spc="-5"/>
              <a:t> </a:t>
            </a:r>
            <a:r>
              <a:rPr dirty="0" spc="-10"/>
              <a:t>th</a:t>
            </a:r>
            <a:r>
              <a:rPr dirty="0" spc="-5"/>
              <a:t>at</a:t>
            </a:r>
            <a:r>
              <a:rPr dirty="0" spc="-5"/>
              <a:t> </a:t>
            </a:r>
            <a:r>
              <a:rPr dirty="0" spc="-40">
                <a:latin typeface="Lucida Sans Unicode"/>
                <a:cs typeface="Lucida Sans Unicode"/>
              </a:rPr>
              <a:t>d</a:t>
            </a:r>
            <a:r>
              <a:rPr dirty="0" spc="110">
                <a:latin typeface="Garamond"/>
                <a:cs typeface="Garamond"/>
              </a:rPr>
              <a:t>(</a:t>
            </a:r>
            <a:r>
              <a:rPr dirty="0" spc="-35">
                <a:latin typeface="Lucida Sans Unicode"/>
                <a:cs typeface="Lucida Sans Unicode"/>
              </a:rPr>
              <a:t>v</a:t>
            </a:r>
            <a:r>
              <a:rPr dirty="0" spc="114">
                <a:latin typeface="Garamond"/>
                <a:cs typeface="Garamond"/>
              </a:rPr>
              <a:t>)</a:t>
            </a:r>
            <a:r>
              <a:rPr dirty="0" spc="30">
                <a:latin typeface="Garamond"/>
                <a:cs typeface="Garamond"/>
              </a:rPr>
              <a:t> </a:t>
            </a:r>
            <a:r>
              <a:rPr dirty="0" spc="100">
                <a:latin typeface="Garamond"/>
                <a:cs typeface="Garamond"/>
              </a:rPr>
              <a:t>=</a:t>
            </a:r>
            <a:r>
              <a:rPr dirty="0" spc="30">
                <a:latin typeface="Garamond"/>
                <a:cs typeface="Garamond"/>
              </a:rPr>
              <a:t> </a:t>
            </a:r>
            <a:r>
              <a:rPr dirty="0" spc="-110">
                <a:latin typeface="Lucida Sans Unicode"/>
                <a:cs typeface="Lucida Sans Unicode"/>
              </a:rPr>
              <a:t>δ</a:t>
            </a:r>
            <a:r>
              <a:rPr dirty="0" spc="110">
                <a:latin typeface="Garamond"/>
                <a:cs typeface="Garamond"/>
              </a:rPr>
              <a:t>(</a:t>
            </a:r>
            <a:r>
              <a:rPr dirty="0" spc="-70">
                <a:latin typeface="Lucida Sans Unicode"/>
                <a:cs typeface="Lucida Sans Unicode"/>
              </a:rPr>
              <a:t>s</a:t>
            </a:r>
            <a:r>
              <a:rPr dirty="0" spc="-50">
                <a:latin typeface="Lucida Sans Unicode"/>
                <a:cs typeface="Lucida Sans Unicode"/>
              </a:rPr>
              <a:t>,</a:t>
            </a:r>
            <a:r>
              <a:rPr dirty="0" spc="-185">
                <a:latin typeface="Lucida Sans Unicode"/>
                <a:cs typeface="Lucida Sans Unicode"/>
              </a:rPr>
              <a:t> </a:t>
            </a:r>
            <a:r>
              <a:rPr dirty="0" spc="-35">
                <a:latin typeface="Lucida Sans Unicode"/>
                <a:cs typeface="Lucida Sans Unicode"/>
              </a:rPr>
              <a:t>v</a:t>
            </a:r>
            <a:r>
              <a:rPr dirty="0" spc="114">
                <a:latin typeface="Garamond"/>
                <a:cs typeface="Garamond"/>
              </a:rPr>
              <a:t>)</a:t>
            </a:r>
            <a:r>
              <a:rPr dirty="0" spc="-5">
                <a:latin typeface="Garamond"/>
                <a:cs typeface="Garamond"/>
              </a:rPr>
              <a:t> </a:t>
            </a:r>
            <a:r>
              <a:rPr dirty="0" spc="-10"/>
              <a:t>fo</a:t>
            </a:r>
            <a:r>
              <a:rPr dirty="0" spc="-5"/>
              <a:t>r</a:t>
            </a:r>
            <a:r>
              <a:rPr dirty="0" spc="-5"/>
              <a:t> </a:t>
            </a:r>
            <a:r>
              <a:rPr dirty="0" spc="-35"/>
              <a:t>e</a:t>
            </a:r>
            <a:r>
              <a:rPr dirty="0" spc="-25"/>
              <a:t>v</a:t>
            </a:r>
            <a:r>
              <a:rPr dirty="0" spc="-5"/>
              <a:t>e</a:t>
            </a:r>
            <a:r>
              <a:rPr dirty="0" spc="-10"/>
              <a:t>r</a:t>
            </a:r>
            <a:r>
              <a:rPr dirty="0" spc="-5"/>
              <a:t>y</a:t>
            </a:r>
            <a:r>
              <a:rPr dirty="0" spc="-5"/>
              <a:t> </a:t>
            </a:r>
            <a:r>
              <a:rPr dirty="0" spc="-30">
                <a:latin typeface="Lucida Sans Unicode"/>
                <a:cs typeface="Lucida Sans Unicode"/>
              </a:rPr>
              <a:t>v</a:t>
            </a:r>
            <a:r>
              <a:rPr dirty="0" spc="-50">
                <a:latin typeface="Lucida Sans Unicode"/>
                <a:cs typeface="Lucida Sans Unicode"/>
              </a:rPr>
              <a:t> </a:t>
            </a:r>
            <a:r>
              <a:rPr dirty="0" spc="-65">
                <a:latin typeface="Segoe UI Symbol"/>
                <a:cs typeface="Segoe UI Symbol"/>
              </a:rPr>
              <a:t>∈</a:t>
            </a:r>
            <a:r>
              <a:rPr dirty="0">
                <a:latin typeface="Segoe UI Symbol"/>
                <a:cs typeface="Segoe UI Symbol"/>
              </a:rPr>
              <a:t> </a:t>
            </a:r>
            <a:r>
              <a:rPr dirty="0" spc="15">
                <a:latin typeface="Lucida Sans Unicode"/>
                <a:cs typeface="Lucida Sans Unicode"/>
              </a:rPr>
              <a:t>S</a:t>
            </a:r>
            <a:r>
              <a:rPr dirty="0" spc="-80">
                <a:latin typeface="Lucida Sans Unicode"/>
                <a:cs typeface="Lucida Sans Unicode"/>
              </a:rPr>
              <a:t> </a:t>
            </a:r>
            <a:r>
              <a:rPr dirty="0" spc="-5"/>
              <a:t>a</a:t>
            </a:r>
            <a:r>
              <a:rPr dirty="0" spc="-10"/>
              <a:t>n</a:t>
            </a:r>
            <a:r>
              <a:rPr dirty="0" spc="-5"/>
              <a:t>d</a:t>
            </a:r>
            <a:r>
              <a:rPr dirty="0" spc="-5"/>
              <a:t> </a:t>
            </a:r>
            <a:r>
              <a:rPr dirty="0" spc="-5"/>
              <a:t>a</a:t>
            </a:r>
            <a:r>
              <a:rPr dirty="0" spc="-10"/>
              <a:t>l</a:t>
            </a:r>
            <a:r>
              <a:rPr dirty="0" spc="-5"/>
              <a:t>l</a:t>
            </a:r>
            <a:r>
              <a:rPr dirty="0" spc="-5"/>
              <a:t> </a:t>
            </a:r>
            <a:r>
              <a:rPr dirty="0" spc="-10"/>
              <a:t>n</a:t>
            </a:r>
            <a:r>
              <a:rPr dirty="0" spc="-5"/>
              <a:t>e</a:t>
            </a:r>
            <a:r>
              <a:rPr dirty="0" spc="-10"/>
              <a:t>ighbor</a:t>
            </a:r>
            <a:r>
              <a:rPr dirty="0" spc="-5"/>
              <a:t>s</a:t>
            </a:r>
            <a:r>
              <a:rPr dirty="0" spc="-5"/>
              <a:t> </a:t>
            </a:r>
            <a:r>
              <a:rPr dirty="0" spc="-10"/>
              <a:t>o</a:t>
            </a:r>
            <a:r>
              <a:rPr dirty="0" spc="-5"/>
              <a:t>f</a:t>
            </a:r>
            <a:r>
              <a:rPr dirty="0"/>
              <a:t> </a:t>
            </a:r>
            <a:r>
              <a:rPr dirty="0" spc="-30">
                <a:latin typeface="Lucida Sans Unicode"/>
                <a:cs typeface="Lucida Sans Unicode"/>
              </a:rPr>
              <a:t>v</a:t>
            </a:r>
            <a:r>
              <a:rPr dirty="0" spc="-85">
                <a:latin typeface="Lucida Sans Unicode"/>
                <a:cs typeface="Lucida Sans Unicode"/>
              </a:rPr>
              <a:t> </a:t>
            </a:r>
            <a:r>
              <a:rPr dirty="0" spc="-10"/>
              <a:t>h</a:t>
            </a:r>
            <a:r>
              <a:rPr dirty="0" spc="-30"/>
              <a:t>a</a:t>
            </a:r>
            <a:r>
              <a:rPr dirty="0" spc="-25"/>
              <a:t>v</a:t>
            </a:r>
            <a:r>
              <a:rPr dirty="0" spc="-5"/>
              <a:t>e</a:t>
            </a:r>
            <a:r>
              <a:rPr dirty="0" spc="-5"/>
              <a:t> </a:t>
            </a:r>
            <a:r>
              <a:rPr dirty="0" spc="-10"/>
              <a:t>b</a:t>
            </a:r>
            <a:r>
              <a:rPr dirty="0" spc="-5"/>
              <a:t>een</a:t>
            </a:r>
            <a:r>
              <a:rPr dirty="0" spc="-5"/>
              <a:t> </a:t>
            </a:r>
            <a:r>
              <a:rPr dirty="0" spc="-10"/>
              <a:t>r</a:t>
            </a:r>
            <a:r>
              <a:rPr dirty="0" spc="-5"/>
              <a:t>e</a:t>
            </a:r>
            <a:r>
              <a:rPr dirty="0" spc="-10"/>
              <a:t>l</a:t>
            </a:r>
            <a:r>
              <a:rPr dirty="0" spc="-5"/>
              <a:t>a</a:t>
            </a:r>
            <a:r>
              <a:rPr dirty="0" spc="-25"/>
              <a:t>x</a:t>
            </a:r>
            <a:r>
              <a:rPr dirty="0" spc="-5"/>
              <a:t>e</a:t>
            </a:r>
            <a:r>
              <a:rPr dirty="0" spc="-10"/>
              <a:t>d</a:t>
            </a:r>
            <a:r>
              <a:rPr dirty="0" spc="-5"/>
              <a:t>.</a:t>
            </a:r>
            <a:r>
              <a:rPr dirty="0" spc="70"/>
              <a:t> </a:t>
            </a:r>
            <a:r>
              <a:rPr dirty="0" spc="-10"/>
              <a:t>I</a:t>
            </a:r>
            <a:r>
              <a:rPr dirty="0" spc="-5"/>
              <a:t>f</a:t>
            </a:r>
            <a:r>
              <a:rPr dirty="0"/>
              <a:t> </a:t>
            </a:r>
            <a:r>
              <a:rPr dirty="0" spc="-40">
                <a:latin typeface="Lucida Sans Unicode"/>
                <a:cs typeface="Lucida Sans Unicode"/>
              </a:rPr>
              <a:t>d</a:t>
            </a:r>
            <a:r>
              <a:rPr dirty="0" spc="110">
                <a:latin typeface="Garamond"/>
                <a:cs typeface="Garamond"/>
              </a:rPr>
              <a:t>(</a:t>
            </a:r>
            <a:r>
              <a:rPr dirty="0" spc="15">
                <a:latin typeface="Lucida Sans Unicode"/>
                <a:cs typeface="Lucida Sans Unicode"/>
              </a:rPr>
              <a:t>u</a:t>
            </a:r>
            <a:r>
              <a:rPr dirty="0" spc="114">
                <a:latin typeface="Garamond"/>
                <a:cs typeface="Garamond"/>
              </a:rPr>
              <a:t>)</a:t>
            </a:r>
            <a:r>
              <a:rPr dirty="0" spc="30">
                <a:latin typeface="Garamond"/>
                <a:cs typeface="Garamond"/>
              </a:rPr>
              <a:t> </a:t>
            </a:r>
            <a:r>
              <a:rPr dirty="0" spc="105">
                <a:latin typeface="Segoe UI Symbol"/>
                <a:cs typeface="Segoe UI Symbol"/>
              </a:rPr>
              <a:t>≤</a:t>
            </a:r>
            <a:r>
              <a:rPr dirty="0">
                <a:latin typeface="Segoe UI Symbol"/>
                <a:cs typeface="Segoe UI Symbol"/>
              </a:rPr>
              <a:t> </a:t>
            </a:r>
            <a:r>
              <a:rPr dirty="0" spc="-40">
                <a:latin typeface="Lucida Sans Unicode"/>
                <a:cs typeface="Lucida Sans Unicode"/>
              </a:rPr>
              <a:t>d</a:t>
            </a:r>
            <a:r>
              <a:rPr dirty="0" spc="110">
                <a:latin typeface="Garamond"/>
                <a:cs typeface="Garamond"/>
              </a:rPr>
              <a:t>(</a:t>
            </a:r>
            <a:r>
              <a:rPr dirty="0" spc="110">
                <a:latin typeface="Lucida Sans Unicode"/>
                <a:cs typeface="Lucida Sans Unicode"/>
              </a:rPr>
              <a:t>u</a:t>
            </a:r>
            <a:r>
              <a:rPr dirty="0" cap="small" baseline="31250" sz="1200" spc="120">
                <a:latin typeface="Cambria"/>
                <a:cs typeface="Cambria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876296" y="7976361"/>
            <a:ext cx="6436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e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Lucida Sans Unicode"/>
                <a:cs typeface="Lucida Sans Unicode"/>
              </a:rPr>
              <a:t>u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44">
                <a:latin typeface="Cambria"/>
                <a:cs typeface="Cambria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δ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ft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δ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901701" y="8093177"/>
            <a:ext cx="6275705" cy="890269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35">
                <a:latin typeface="Times New Roman"/>
                <a:cs typeface="Times New Roman"/>
              </a:rPr>
              <a:t>e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080" indent="-635">
              <a:lnSpc>
                <a:spcPct val="100000"/>
              </a:lnSpc>
              <a:spcBef>
                <a:spcPts val="520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proof</a:t>
            </a:r>
            <a:r>
              <a:rPr dirty="0" sz="1200" spc="-5">
                <a:latin typeface="Times New Roman"/>
                <a:cs typeface="Times New Roman"/>
              </a:rPr>
              <a:t> 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contradiction.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d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u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u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 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Times New Roman"/>
                <a:cs typeface="Times New Roman"/>
              </a:rPr>
              <a:t>, 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p</a:t>
            </a:r>
            <a:r>
              <a:rPr dirty="0" sz="1200" spc="-15">
                <a:latin typeface="Garamond"/>
                <a:cs typeface="Garamond"/>
              </a:rPr>
              <a:t>(</a:t>
            </a:r>
            <a:r>
              <a:rPr dirty="0" sz="1200" spc="-15">
                <a:latin typeface="Lucida Sans Unicode"/>
                <a:cs typeface="Lucida Sans Unicode"/>
              </a:rPr>
              <a:t>s, </a:t>
            </a:r>
            <a:r>
              <a:rPr dirty="0" sz="1200" spc="40">
                <a:latin typeface="Lucida Sans Unicode"/>
                <a:cs typeface="Lucida Sans Unicode"/>
              </a:rPr>
              <a:t>u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must pass </a:t>
            </a:r>
            <a:r>
              <a:rPr dirty="0" sz="1200" spc="-10">
                <a:latin typeface="Times New Roman"/>
                <a:cs typeface="Times New Roman"/>
              </a:rPr>
              <a:t>through one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10">
                <a:latin typeface="Times New Roman"/>
                <a:cs typeface="Times New Roman"/>
              </a:rPr>
              <a:t>more vertices exterior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5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Let </a:t>
            </a:r>
            <a:r>
              <a:rPr dirty="0" sz="1200" spc="-110">
                <a:latin typeface="Lucida Sans Unicode"/>
                <a:cs typeface="Lucida Sans Unicode"/>
              </a:rPr>
              <a:t>x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last </a:t>
            </a:r>
            <a:r>
              <a:rPr dirty="0" sz="1200" spc="-15">
                <a:latin typeface="Times New Roman"/>
                <a:cs typeface="Times New Roman"/>
              </a:rPr>
              <a:t>vertex </a:t>
            </a:r>
            <a:r>
              <a:rPr dirty="0" sz="1200" spc="-10">
                <a:latin typeface="Times New Roman"/>
                <a:cs typeface="Times New Roman"/>
              </a:rPr>
              <a:t>inside </a:t>
            </a:r>
            <a:r>
              <a:rPr dirty="0" sz="1200" spc="15">
                <a:latin typeface="Lucida Sans Unicode"/>
                <a:cs typeface="Lucida Sans Unicode"/>
              </a:rPr>
              <a:t>S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80">
                <a:latin typeface="Lucida Sans Unicode"/>
                <a:cs typeface="Lucida Sans Unicode"/>
              </a:rPr>
              <a:t>y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first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outside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p</a:t>
            </a:r>
            <a:r>
              <a:rPr dirty="0" sz="1200" spc="-15">
                <a:latin typeface="Garamond"/>
                <a:cs typeface="Garamond"/>
              </a:rPr>
              <a:t>(</a:t>
            </a:r>
            <a:r>
              <a:rPr dirty="0" sz="1200" spc="-15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u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p</a:t>
            </a:r>
            <a:r>
              <a:rPr dirty="0" sz="1200" spc="-15">
                <a:latin typeface="Garamond"/>
                <a:cs typeface="Garamond"/>
              </a:rPr>
              <a:t>(</a:t>
            </a:r>
            <a:r>
              <a:rPr dirty="0" sz="1200" spc="-15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x</a:t>
            </a:r>
            <a:r>
              <a:rPr dirty="0" sz="1200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45">
                <a:latin typeface="Segoe UI Symbol"/>
                <a:cs typeface="Segoe UI Symbol"/>
              </a:rPr>
              <a:t>∪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{</a:t>
            </a:r>
            <a:r>
              <a:rPr dirty="0" sz="1200" spc="-15">
                <a:latin typeface="Garamond"/>
                <a:cs typeface="Garamond"/>
              </a:rPr>
              <a:t>(</a:t>
            </a:r>
            <a:r>
              <a:rPr dirty="0" sz="1200" spc="-15">
                <a:latin typeface="Lucida Sans Unicode"/>
                <a:cs typeface="Lucida Sans Unicode"/>
              </a:rPr>
              <a:t>x,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y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60">
                <a:latin typeface="Lucida Sans Unicode"/>
                <a:cs typeface="Lucida Sans Unicode"/>
              </a:rPr>
              <a:t>}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Segoe UI Symbol"/>
                <a:cs typeface="Segoe UI Symbol"/>
              </a:rPr>
              <a:t>∪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p</a:t>
            </a:r>
            <a:r>
              <a:rPr dirty="0" sz="1200" spc="20">
                <a:latin typeface="Garamond"/>
                <a:cs typeface="Garamond"/>
              </a:rPr>
              <a:t>(</a:t>
            </a:r>
            <a:r>
              <a:rPr dirty="0" sz="1200" spc="20">
                <a:latin typeface="Lucida Sans Unicode"/>
                <a:cs typeface="Lucida Sans Unicode"/>
              </a:rPr>
              <a:t>y,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u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4425" y="8651099"/>
            <a:ext cx="6009005" cy="138430"/>
          </a:xfrm>
          <a:custGeom>
            <a:avLst/>
            <a:gdLst/>
            <a:ahLst/>
            <a:cxnLst/>
            <a:rect l="l" t="t" r="r" b="b"/>
            <a:pathLst>
              <a:path w="6009005" h="138429">
                <a:moveTo>
                  <a:pt x="6008776" y="0"/>
                </a:moveTo>
                <a:lnTo>
                  <a:pt x="5605437" y="0"/>
                </a:lnTo>
                <a:lnTo>
                  <a:pt x="5149215" y="0"/>
                </a:lnTo>
                <a:lnTo>
                  <a:pt x="0" y="0"/>
                </a:lnTo>
                <a:lnTo>
                  <a:pt x="0" y="138163"/>
                </a:lnTo>
                <a:lnTo>
                  <a:pt x="5149215" y="138163"/>
                </a:lnTo>
                <a:lnTo>
                  <a:pt x="5605437" y="138163"/>
                </a:lnTo>
                <a:lnTo>
                  <a:pt x="6008776" y="138163"/>
                </a:lnTo>
                <a:lnTo>
                  <a:pt x="6008776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461020" y="7502550"/>
            <a:ext cx="1944370" cy="163195"/>
          </a:xfrm>
          <a:custGeom>
            <a:avLst/>
            <a:gdLst/>
            <a:ahLst/>
            <a:cxnLst/>
            <a:rect l="l" t="t" r="r" b="b"/>
            <a:pathLst>
              <a:path w="1944370" h="163195">
                <a:moveTo>
                  <a:pt x="1943874" y="0"/>
                </a:moveTo>
                <a:lnTo>
                  <a:pt x="0" y="0"/>
                </a:lnTo>
                <a:lnTo>
                  <a:pt x="0" y="162712"/>
                </a:lnTo>
                <a:lnTo>
                  <a:pt x="1943874" y="162712"/>
                </a:lnTo>
                <a:lnTo>
                  <a:pt x="1943874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14425" y="8035366"/>
          <a:ext cx="6438900" cy="50545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30655"/>
                <a:gridCol w="222250"/>
                <a:gridCol w="2028825"/>
                <a:gridCol w="2322195"/>
                <a:gridCol w="278764"/>
                <a:gridCol w="156845"/>
              </a:tblGrid>
              <a:tr h="160883">
                <a:tc gridSpan="6">
                  <a:txBody>
                    <a:bodyPr/>
                    <a:lstStyle/>
                    <a:p>
                      <a:pPr>
                        <a:lnSpc>
                          <a:spcPts val="1070"/>
                        </a:lnSpc>
                      </a:pP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Dijkstra’s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single-source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shortest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path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algorithm</a:t>
                      </a:r>
                      <a:r>
                        <a:rPr dirty="0" sz="1200" spc="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works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if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all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edges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weights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are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non-negative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there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80111">
                <a:tc>
                  <a:txBody>
                    <a:bodyPr/>
                    <a:lstStyle/>
                    <a:p>
                      <a:pPr>
                        <a:lnSpc>
                          <a:spcPts val="125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no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negative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cost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cycles.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53975">
                      <a:solidFill>
                        <a:srgbClr val="FFFFFF"/>
                      </a:solidFill>
                      <a:prstDash val="solid"/>
                    </a:lnT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 marL="46355">
                        <a:lnSpc>
                          <a:spcPts val="125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53975">
                      <a:solidFill>
                        <a:srgbClr val="FFFFFF"/>
                      </a:solidFill>
                      <a:prstDash val="solid"/>
                    </a:lnT>
                    <a:lnB w="53975">
                      <a:solidFill>
                        <a:srgbClr val="FFFFFF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66675">
                        <a:lnSpc>
                          <a:spcPts val="125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llman-Ford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 i="1">
                          <a:latin typeface="Times New Roman"/>
                          <a:cs typeface="Times New Roman"/>
                        </a:rPr>
                        <a:t>allows</a:t>
                      </a:r>
                      <a:r>
                        <a:rPr dirty="0" sz="1200" spc="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negative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weights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edges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no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negative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cost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cycles.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84962">
                      <a:solidFill>
                        <a:srgbClr val="FFFFFF"/>
                      </a:solidFill>
                      <a:prstDash val="solid"/>
                    </a:lnR>
                    <a:lnT w="53975">
                      <a:solidFill>
                        <a:srgbClr val="FFFFFF"/>
                      </a:solidFill>
                      <a:prstDash val="solid"/>
                    </a:lnT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910">
                        <a:lnSpc>
                          <a:spcPts val="125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84962">
                      <a:solidFill>
                        <a:srgbClr val="FFFFFF"/>
                      </a:solidFill>
                      <a:prstDash val="solid"/>
                    </a:lnL>
                    <a:lnT w="53975">
                      <a:solidFill>
                        <a:srgbClr val="FFFFFF"/>
                      </a:solidFill>
                      <a:prstDash val="solid"/>
                    </a:lnT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13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53975">
                      <a:solidFill>
                        <a:srgbClr val="FFFFFF"/>
                      </a:solidFill>
                      <a:prstDash val="solid"/>
                    </a:lnT>
                    <a:lnB w="53975">
                      <a:solidFill>
                        <a:srgbClr val="FFFFFF"/>
                      </a:solidFill>
                      <a:prstDash val="solid"/>
                    </a:lnB>
                  </a:tcPr>
                </a:tc>
              </a:tr>
              <a:tr h="164071">
                <a:tc gridSpan="3">
                  <a:txBody>
                    <a:bodyPr/>
                    <a:lstStyle/>
                    <a:p>
                      <a:pPr>
                        <a:lnSpc>
                          <a:spcPts val="119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algorithm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slower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than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Dijkstra’s,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running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45">
                          <a:latin typeface="Lucida Sans Unicode"/>
                          <a:cs typeface="Lucida Sans Unicode"/>
                        </a:rPr>
                        <a:t>Θ</a:t>
                      </a:r>
                      <a:r>
                        <a:rPr dirty="0" sz="1200" spc="45">
                          <a:latin typeface="Garamond"/>
                          <a:cs typeface="Garamond"/>
                        </a:rPr>
                        <a:t>(</a:t>
                      </a:r>
                      <a:r>
                        <a:rPr dirty="0" sz="1200" spc="45">
                          <a:latin typeface="Lucida Sans Unicode"/>
                          <a:cs typeface="Lucida Sans Unicode"/>
                        </a:rPr>
                        <a:t>VE</a:t>
                      </a:r>
                      <a:r>
                        <a:rPr dirty="0" sz="1200" spc="45">
                          <a:latin typeface="Garamond"/>
                          <a:cs typeface="Garamond"/>
                        </a:rPr>
                        <a:t>)</a:t>
                      </a:r>
                      <a:r>
                        <a:rPr dirty="0" sz="1200" spc="5">
                          <a:latin typeface="Garamond"/>
                          <a:cs typeface="Garamond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time.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53975">
                      <a:solidFill>
                        <a:srgbClr val="FFFFFF"/>
                      </a:solidFill>
                      <a:prstDash val="solid"/>
                    </a:lnT>
                    <a:solidFill>
                      <a:srgbClr val="FFF13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53975">
                      <a:solidFill>
                        <a:srgbClr val="FFFFFF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901699" y="520987"/>
            <a:ext cx="158496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8.6.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SHORTEST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PATHS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15</a:t>
            </a:r>
            <a:r>
              <a:rPr dirty="0" sz="1200" spc="-5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790700" y="939083"/>
            <a:ext cx="4648200" cy="2893695"/>
            <a:chOff x="1790700" y="939083"/>
            <a:chExt cx="4648200" cy="2893695"/>
          </a:xfrm>
        </p:grpSpPr>
        <p:sp>
          <p:nvSpPr>
            <p:cNvPr id="8" name="object 8"/>
            <p:cNvSpPr/>
            <p:nvPr/>
          </p:nvSpPr>
          <p:spPr>
            <a:xfrm>
              <a:off x="1790700" y="939083"/>
              <a:ext cx="4648200" cy="2893695"/>
            </a:xfrm>
            <a:custGeom>
              <a:avLst/>
              <a:gdLst/>
              <a:ahLst/>
              <a:cxnLst/>
              <a:rect l="l" t="t" r="r" b="b"/>
              <a:pathLst>
                <a:path w="4648200" h="2893695">
                  <a:moveTo>
                    <a:pt x="4648001" y="0"/>
                  </a:moveTo>
                  <a:lnTo>
                    <a:pt x="0" y="0"/>
                  </a:lnTo>
                  <a:lnTo>
                    <a:pt x="0" y="2893268"/>
                  </a:lnTo>
                  <a:lnTo>
                    <a:pt x="4648001" y="2893268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04227" y="1382334"/>
              <a:ext cx="4199941" cy="2315119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843921" y="1392092"/>
              <a:ext cx="129539" cy="31750"/>
            </a:xfrm>
            <a:custGeom>
              <a:avLst/>
              <a:gdLst/>
              <a:ahLst/>
              <a:cxnLst/>
              <a:rect l="l" t="t" r="r" b="b"/>
              <a:pathLst>
                <a:path w="129539" h="31750">
                  <a:moveTo>
                    <a:pt x="129372" y="944"/>
                  </a:moveTo>
                  <a:lnTo>
                    <a:pt x="104820" y="0"/>
                  </a:lnTo>
                  <a:lnTo>
                    <a:pt x="83103" y="944"/>
                  </a:lnTo>
                  <a:lnTo>
                    <a:pt x="62331" y="4724"/>
                  </a:lnTo>
                  <a:lnTo>
                    <a:pt x="43449" y="9448"/>
                  </a:lnTo>
                  <a:lnTo>
                    <a:pt x="26441" y="16062"/>
                  </a:lnTo>
                  <a:lnTo>
                    <a:pt x="10393" y="24551"/>
                  </a:lnTo>
                  <a:lnTo>
                    <a:pt x="0" y="31165"/>
                  </a:lnTo>
                </a:path>
              </a:pathLst>
            </a:custGeom>
            <a:ln w="1573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23687" y="1478666"/>
              <a:ext cx="72385" cy="138496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99984" y="1677913"/>
              <a:ext cx="104496" cy="117709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03571" y="1824278"/>
              <a:ext cx="139441" cy="7144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05268" y="1912091"/>
              <a:ext cx="136606" cy="79014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065502" y="2029180"/>
              <a:ext cx="89393" cy="129062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028047" y="1356217"/>
              <a:ext cx="2061845" cy="2413635"/>
            </a:xfrm>
            <a:custGeom>
              <a:avLst/>
              <a:gdLst/>
              <a:ahLst/>
              <a:cxnLst/>
              <a:rect l="l" t="t" r="r" b="b"/>
              <a:pathLst>
                <a:path w="2061845" h="2413635">
                  <a:moveTo>
                    <a:pt x="19827" y="874425"/>
                  </a:moveTo>
                  <a:lnTo>
                    <a:pt x="16047" y="887638"/>
                  </a:lnTo>
                  <a:lnTo>
                    <a:pt x="12268" y="910300"/>
                  </a:lnTo>
                  <a:lnTo>
                    <a:pt x="8503" y="932962"/>
                  </a:lnTo>
                  <a:lnTo>
                    <a:pt x="5669" y="956569"/>
                  </a:lnTo>
                  <a:lnTo>
                    <a:pt x="2834" y="980175"/>
                  </a:lnTo>
                  <a:lnTo>
                    <a:pt x="944" y="1003797"/>
                  </a:lnTo>
                  <a:lnTo>
                    <a:pt x="944" y="1008506"/>
                  </a:lnTo>
                </a:path>
                <a:path w="2061845" h="2413635">
                  <a:moveTo>
                    <a:pt x="0" y="1093500"/>
                  </a:moveTo>
                  <a:lnTo>
                    <a:pt x="0" y="1103878"/>
                  </a:lnTo>
                  <a:lnTo>
                    <a:pt x="1889" y="1129375"/>
                  </a:lnTo>
                  <a:lnTo>
                    <a:pt x="3779" y="1154871"/>
                  </a:lnTo>
                  <a:lnTo>
                    <a:pt x="5669" y="1180368"/>
                  </a:lnTo>
                  <a:lnTo>
                    <a:pt x="8503" y="1205864"/>
                  </a:lnTo>
                  <a:lnTo>
                    <a:pt x="11338" y="1227597"/>
                  </a:lnTo>
                </a:path>
                <a:path w="2061845" h="2413635">
                  <a:moveTo>
                    <a:pt x="25496" y="1311630"/>
                  </a:moveTo>
                  <a:lnTo>
                    <a:pt x="30220" y="1334292"/>
                  </a:lnTo>
                  <a:lnTo>
                    <a:pt x="35890" y="1359788"/>
                  </a:lnTo>
                  <a:lnTo>
                    <a:pt x="41544" y="1384340"/>
                  </a:lnTo>
                  <a:lnTo>
                    <a:pt x="48158" y="1408892"/>
                  </a:lnTo>
                  <a:lnTo>
                    <a:pt x="54772" y="1434388"/>
                  </a:lnTo>
                  <a:lnTo>
                    <a:pt x="57607" y="1443837"/>
                  </a:lnTo>
                </a:path>
                <a:path w="2061845" h="2413635">
                  <a:moveTo>
                    <a:pt x="1054790" y="2337145"/>
                  </a:moveTo>
                  <a:lnTo>
                    <a:pt x="1086886" y="2345649"/>
                  </a:lnTo>
                  <a:lnTo>
                    <a:pt x="1186037" y="2368311"/>
                  </a:lnTo>
                  <a:lnTo>
                    <a:pt x="1186982" y="2368311"/>
                  </a:lnTo>
                </a:path>
                <a:path w="2061845" h="2413635">
                  <a:moveTo>
                    <a:pt x="1270086" y="2384358"/>
                  </a:moveTo>
                  <a:lnTo>
                    <a:pt x="1281424" y="2386248"/>
                  </a:lnTo>
                  <a:lnTo>
                    <a:pt x="1329583" y="2392862"/>
                  </a:lnTo>
                  <a:lnTo>
                    <a:pt x="1377741" y="2399476"/>
                  </a:lnTo>
                  <a:lnTo>
                    <a:pt x="1404183" y="2402296"/>
                  </a:lnTo>
                </a:path>
                <a:path w="2061845" h="2413635">
                  <a:moveTo>
                    <a:pt x="1489161" y="2409855"/>
                  </a:moveTo>
                  <a:lnTo>
                    <a:pt x="1523161" y="2411745"/>
                  </a:lnTo>
                  <a:lnTo>
                    <a:pt x="1571320" y="2413634"/>
                  </a:lnTo>
                  <a:lnTo>
                    <a:pt x="1619478" y="2413634"/>
                  </a:lnTo>
                  <a:lnTo>
                    <a:pt x="1625147" y="2413634"/>
                  </a:lnTo>
                </a:path>
                <a:path w="2061845" h="2413635">
                  <a:moveTo>
                    <a:pt x="1710126" y="2411745"/>
                  </a:moveTo>
                  <a:lnTo>
                    <a:pt x="1716740" y="2411745"/>
                  </a:lnTo>
                  <a:lnTo>
                    <a:pt x="1763953" y="2407965"/>
                  </a:lnTo>
                  <a:lnTo>
                    <a:pt x="1812112" y="2404186"/>
                  </a:lnTo>
                  <a:lnTo>
                    <a:pt x="1844222" y="2400406"/>
                  </a:lnTo>
                </a:path>
                <a:path w="2061845" h="2413635">
                  <a:moveTo>
                    <a:pt x="1928271" y="2387193"/>
                  </a:moveTo>
                  <a:lnTo>
                    <a:pt x="1955657" y="2382469"/>
                  </a:lnTo>
                  <a:lnTo>
                    <a:pt x="2001926" y="2373035"/>
                  </a:lnTo>
                  <a:lnTo>
                    <a:pt x="2049139" y="2361697"/>
                  </a:lnTo>
                  <a:lnTo>
                    <a:pt x="2061408" y="2357917"/>
                  </a:lnTo>
                </a:path>
                <a:path w="2061845" h="2413635">
                  <a:moveTo>
                    <a:pt x="1357914" y="28331"/>
                  </a:moveTo>
                  <a:lnTo>
                    <a:pt x="1307866" y="18882"/>
                  </a:lnTo>
                  <a:lnTo>
                    <a:pt x="1235141" y="7543"/>
                  </a:lnTo>
                  <a:lnTo>
                    <a:pt x="1223817" y="6598"/>
                  </a:lnTo>
                </a:path>
                <a:path w="2061845" h="2413635">
                  <a:moveTo>
                    <a:pt x="1138824" y="0"/>
                  </a:moveTo>
                  <a:lnTo>
                    <a:pt x="1119941" y="0"/>
                  </a:lnTo>
                  <a:lnTo>
                    <a:pt x="1101059" y="0"/>
                  </a:lnTo>
                  <a:lnTo>
                    <a:pt x="1083122" y="944"/>
                  </a:lnTo>
                  <a:lnTo>
                    <a:pt x="1065169" y="1889"/>
                  </a:lnTo>
                  <a:lnTo>
                    <a:pt x="1048176" y="3779"/>
                  </a:lnTo>
                  <a:lnTo>
                    <a:pt x="1032128" y="6598"/>
                  </a:lnTo>
                  <a:lnTo>
                    <a:pt x="1016066" y="10378"/>
                  </a:lnTo>
                  <a:lnTo>
                    <a:pt x="1004742" y="13213"/>
                  </a:lnTo>
                </a:path>
              </a:pathLst>
            </a:custGeom>
            <a:ln w="1573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2116809" y="1448414"/>
            <a:ext cx="595630" cy="9467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2950" spc="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2950">
              <a:latin typeface="Arial"/>
              <a:cs typeface="Arial"/>
            </a:endParaRPr>
          </a:p>
          <a:p>
            <a:pPr marL="394335">
              <a:lnSpc>
                <a:spcPct val="100000"/>
              </a:lnSpc>
              <a:spcBef>
                <a:spcPts val="165"/>
              </a:spcBef>
            </a:pPr>
            <a:r>
              <a:rPr dirty="0" sz="2950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29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173497" y="3141552"/>
            <a:ext cx="200660" cy="476884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295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endParaRPr sz="295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446418" y="2870538"/>
            <a:ext cx="200660" cy="476884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2950" i="1">
                <a:solidFill>
                  <a:srgbClr val="FFFF00"/>
                </a:solidFill>
                <a:latin typeface="Arial"/>
                <a:cs typeface="Arial"/>
              </a:rPr>
              <a:t>y</a:t>
            </a:r>
            <a:endParaRPr sz="295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155572" y="915831"/>
            <a:ext cx="221615" cy="476884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2950" i="1">
                <a:solidFill>
                  <a:srgbClr val="FFFF00"/>
                </a:solidFill>
                <a:latin typeface="Arial"/>
                <a:cs typeface="Arial"/>
              </a:rPr>
              <a:t>u</a:t>
            </a:r>
            <a:endParaRPr sz="29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638373" y="3897910"/>
            <a:ext cx="2952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8.69: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Correctness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Dijkstra’s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01699" y="4962386"/>
            <a:ext cx="6238240" cy="13741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6921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length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p</a:t>
            </a:r>
            <a:r>
              <a:rPr dirty="0" sz="1200" spc="-15">
                <a:latin typeface="Garamond"/>
                <a:cs typeface="Garamond"/>
              </a:rPr>
              <a:t>(</a:t>
            </a:r>
            <a:r>
              <a:rPr dirty="0" sz="1200" spc="-15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u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u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y</a:t>
            </a:r>
            <a:r>
              <a:rPr dirty="0" sz="1200" spc="95">
                <a:latin typeface="Garamond"/>
                <a:cs typeface="Garamond"/>
              </a:rPr>
              <a:t>)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δ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y,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u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relaxed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Times New Roman"/>
                <a:cs typeface="Times New Roman"/>
              </a:rPr>
              <a:t>, 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d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y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y</a:t>
            </a:r>
            <a:r>
              <a:rPr dirty="0" sz="1200" spc="95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convergence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property.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d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y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u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d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u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But, 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d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u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smallest </a:t>
            </a:r>
            <a:r>
              <a:rPr dirty="0" sz="1200" spc="-10">
                <a:latin typeface="Times New Roman"/>
                <a:cs typeface="Times New Roman"/>
              </a:rPr>
              <a:t>among vertices not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5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Times New Roman"/>
                <a:cs typeface="Times New Roman"/>
              </a:rPr>
              <a:t>, </a:t>
            </a:r>
            <a:r>
              <a:rPr dirty="0" sz="1200" spc="50">
                <a:latin typeface="Lucida Sans Unicode"/>
                <a:cs typeface="Lucida Sans Unicode"/>
              </a:rPr>
              <a:t>d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u</a:t>
            </a:r>
            <a:r>
              <a:rPr dirty="0" sz="1200" spc="50">
                <a:latin typeface="Garamond"/>
                <a:cs typeface="Garamond"/>
              </a:rPr>
              <a:t>) </a:t>
            </a:r>
            <a:r>
              <a:rPr dirty="0" sz="1200" spc="105">
                <a:latin typeface="Segoe UI Symbol"/>
                <a:cs typeface="Segoe UI Symbol"/>
              </a:rPr>
              <a:t>≤ </a:t>
            </a:r>
            <a:r>
              <a:rPr dirty="0" sz="1200" spc="65">
                <a:latin typeface="Lucida Sans Unicode"/>
                <a:cs typeface="Lucida Sans Unicode"/>
              </a:rPr>
              <a:t>d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y</a:t>
            </a:r>
            <a:r>
              <a:rPr dirty="0" sz="1200" spc="65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. The </a:t>
            </a:r>
            <a:r>
              <a:rPr dirty="0" sz="1200" spc="-10">
                <a:latin typeface="Times New Roman"/>
                <a:cs typeface="Times New Roman"/>
              </a:rPr>
              <a:t>only possibility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50">
                <a:latin typeface="Lucida Sans Unicode"/>
                <a:cs typeface="Lucida Sans Unicode"/>
              </a:rPr>
              <a:t>d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u</a:t>
            </a:r>
            <a:r>
              <a:rPr dirty="0" sz="1200" spc="50">
                <a:latin typeface="Garamond"/>
                <a:cs typeface="Garamond"/>
              </a:rPr>
              <a:t>)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50">
                <a:latin typeface="Lucida Sans Unicode"/>
                <a:cs typeface="Lucida Sans Unicode"/>
              </a:rPr>
              <a:t>d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y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requires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d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u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u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contradicting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assumption.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upper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bound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property,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d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u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≥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u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d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u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&gt;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u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false, </a:t>
            </a:r>
            <a:r>
              <a:rPr dirty="0" sz="1200" spc="50">
                <a:latin typeface="Lucida Sans Unicode"/>
                <a:cs typeface="Lucida Sans Unicode"/>
              </a:rPr>
              <a:t>d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u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u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prove.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follow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algorithm’s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procedure,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transferring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2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S</a:t>
            </a:r>
            <a:r>
              <a:rPr dirty="0" sz="1200" spc="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smallest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d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u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all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S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d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v</a:t>
            </a:r>
            <a:r>
              <a:rPr dirty="0" sz="1200" spc="35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01732" y="7431187"/>
            <a:ext cx="251587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58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8.6.3	Bellman-Ford</a:t>
            </a:r>
            <a:r>
              <a:rPr dirty="0" sz="1400" spc="-45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01732" y="8592095"/>
            <a:ext cx="620585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Like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Dijkstra’s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Bellman-Ford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performing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repeated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relaxations.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Bellman-Ford </a:t>
            </a:r>
            <a:r>
              <a:rPr dirty="0" sz="1200" spc="-5">
                <a:latin typeface="Times New Roman"/>
                <a:cs typeface="Times New Roman"/>
              </a:rPr>
              <a:t> applies relaxation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every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edge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repeats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algorithm;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16</a:t>
            </a:r>
            <a:r>
              <a:rPr dirty="0" sz="1200" spc="-5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14400" y="1372056"/>
            <a:ext cx="5486400" cy="1901189"/>
          </a:xfrm>
          <a:custGeom>
            <a:avLst/>
            <a:gdLst/>
            <a:ahLst/>
            <a:cxnLst/>
            <a:rect l="l" t="t" r="r" b="b"/>
            <a:pathLst>
              <a:path w="5486400" h="1901189">
                <a:moveTo>
                  <a:pt x="5486400" y="0"/>
                </a:moveTo>
                <a:lnTo>
                  <a:pt x="0" y="0"/>
                </a:lnTo>
                <a:lnTo>
                  <a:pt x="0" y="4978"/>
                </a:lnTo>
                <a:lnTo>
                  <a:pt x="0" y="5130"/>
                </a:lnTo>
                <a:lnTo>
                  <a:pt x="0" y="1900986"/>
                </a:lnTo>
                <a:lnTo>
                  <a:pt x="5130" y="1900986"/>
                </a:lnTo>
                <a:lnTo>
                  <a:pt x="5130" y="5130"/>
                </a:lnTo>
                <a:lnTo>
                  <a:pt x="5486400" y="5130"/>
                </a:lnTo>
                <a:lnTo>
                  <a:pt x="5486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901699" y="926454"/>
            <a:ext cx="1915160" cy="21139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illustrated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8.70.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750">
              <a:latin typeface="Times New Roman"/>
              <a:cs typeface="Times New Roman"/>
            </a:endParaRPr>
          </a:p>
          <a:p>
            <a:pPr marL="59055">
              <a:lnSpc>
                <a:spcPct val="100000"/>
              </a:lnSpc>
            </a:pPr>
            <a:r>
              <a:rPr dirty="0" sz="1200" spc="50">
                <a:latin typeface="Times New Roman"/>
                <a:cs typeface="Times New Roman"/>
              </a:rPr>
              <a:t>B</a:t>
            </a:r>
            <a:r>
              <a:rPr dirty="0" sz="950" spc="55">
                <a:latin typeface="Times New Roman"/>
                <a:cs typeface="Times New Roman"/>
              </a:rPr>
              <a:t>ELLMAN</a:t>
            </a:r>
            <a:r>
              <a:rPr dirty="0" sz="1200" spc="50">
                <a:latin typeface="Times New Roman"/>
                <a:cs typeface="Times New Roman"/>
              </a:rPr>
              <a:t>-F</a:t>
            </a:r>
            <a:r>
              <a:rPr dirty="0" sz="950" spc="55">
                <a:latin typeface="Times New Roman"/>
                <a:cs typeface="Times New Roman"/>
              </a:rPr>
              <a:t>OR</a:t>
            </a:r>
            <a:r>
              <a:rPr dirty="0" sz="950" spc="25">
                <a:latin typeface="Times New Roman"/>
                <a:cs typeface="Times New Roman"/>
              </a:rPr>
              <a:t>D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10">
                <a:latin typeface="Segoe UI Symbol"/>
                <a:cs typeface="Segoe UI Symbol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V</a:t>
            </a:r>
            <a:r>
              <a:rPr dirty="0" sz="1200" spc="9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d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∞</a:t>
            </a:r>
            <a:endParaRPr sz="1200">
              <a:latin typeface="Lucida Sans Unicode"/>
              <a:cs typeface="Lucida Sans Unicode"/>
            </a:endParaRPr>
          </a:p>
          <a:p>
            <a:pPr marL="51943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19430" algn="l"/>
                <a:tab pos="520065" algn="l"/>
              </a:tabLst>
            </a:pPr>
            <a:r>
              <a:rPr dirty="0" sz="1200" spc="-20">
                <a:latin typeface="Lucida Sans Unicode"/>
                <a:cs typeface="Lucida Sans Unicode"/>
              </a:rPr>
              <a:t>pred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u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nil</a:t>
            </a:r>
            <a:endParaRPr sz="1200">
              <a:latin typeface="Lucida Sans Unicode"/>
              <a:cs typeface="Lucida Sans Unicode"/>
            </a:endParaRPr>
          </a:p>
          <a:p>
            <a:pPr marL="93345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  <a:p>
            <a:pPr marL="93345">
              <a:lnSpc>
                <a:spcPct val="100000"/>
              </a:lnSpc>
              <a:tabLst>
                <a:tab pos="321310" algn="l"/>
              </a:tabLst>
            </a:pPr>
            <a:r>
              <a:rPr dirty="0" sz="1200" spc="-5">
                <a:latin typeface="Times New Roman"/>
                <a:cs typeface="Times New Roman"/>
              </a:rPr>
              <a:t>5	</a:t>
            </a:r>
            <a:r>
              <a:rPr dirty="0" sz="1200" spc="-25">
                <a:latin typeface="Lucida Sans Unicode"/>
                <a:cs typeface="Lucida Sans Unicode"/>
              </a:rPr>
              <a:t>d</a:t>
            </a:r>
            <a:r>
              <a:rPr dirty="0" sz="1200" spc="-25">
                <a:latin typeface="Garamond"/>
                <a:cs typeface="Garamond"/>
              </a:rPr>
              <a:t>[</a:t>
            </a:r>
            <a:r>
              <a:rPr dirty="0" sz="1200" spc="-25">
                <a:latin typeface="Lucida Sans Unicode"/>
                <a:cs typeface="Lucida Sans Unicode"/>
              </a:rPr>
              <a:t>s</a:t>
            </a:r>
            <a:r>
              <a:rPr dirty="0" sz="1200" spc="-25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90">
                <a:latin typeface="Lucida Sans Unicode"/>
                <a:cs typeface="Lucida Sans Unicode"/>
              </a:rPr>
              <a:t>0</a:t>
            </a:r>
            <a:r>
              <a:rPr dirty="0" sz="1200" spc="-90">
                <a:latin typeface="Garamond"/>
                <a:cs typeface="Garamond"/>
              </a:rPr>
              <a:t>;</a:t>
            </a:r>
            <a:endParaRPr sz="1200">
              <a:latin typeface="Garamond"/>
              <a:cs typeface="Garamond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6"/>
              <a:tabLst>
                <a:tab pos="321310" algn="l"/>
                <a:tab pos="32194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endParaRPr sz="1200">
              <a:latin typeface="Lucida Sans Unicode"/>
              <a:cs typeface="Lucida Sans Unicode"/>
            </a:endParaRPr>
          </a:p>
          <a:p>
            <a:pPr marL="32131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6"/>
              <a:tabLst>
                <a:tab pos="321310" algn="l"/>
                <a:tab pos="321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1943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 startAt="6"/>
              <a:tabLst>
                <a:tab pos="519430" algn="l"/>
                <a:tab pos="5200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950" spc="55">
                <a:latin typeface="Times New Roman"/>
                <a:cs typeface="Times New Roman"/>
              </a:rPr>
              <a:t>RELA</a:t>
            </a:r>
            <a:r>
              <a:rPr dirty="0" sz="950" spc="25">
                <a:latin typeface="Times New Roman"/>
                <a:cs typeface="Times New Roman"/>
              </a:rPr>
              <a:t>X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914400" y="1377035"/>
            <a:ext cx="5487035" cy="1902460"/>
          </a:xfrm>
          <a:custGeom>
            <a:avLst/>
            <a:gdLst/>
            <a:ahLst/>
            <a:cxnLst/>
            <a:rect l="l" t="t" r="r" b="b"/>
            <a:pathLst>
              <a:path w="5487035" h="1902460">
                <a:moveTo>
                  <a:pt x="5486400" y="1896973"/>
                </a:moveTo>
                <a:lnTo>
                  <a:pt x="0" y="1896973"/>
                </a:lnTo>
                <a:lnTo>
                  <a:pt x="0" y="1902104"/>
                </a:lnTo>
                <a:lnTo>
                  <a:pt x="5486400" y="1902104"/>
                </a:lnTo>
                <a:lnTo>
                  <a:pt x="5486400" y="1896973"/>
                </a:lnTo>
                <a:close/>
              </a:path>
              <a:path w="5487035" h="1902460">
                <a:moveTo>
                  <a:pt x="5486959" y="0"/>
                </a:moveTo>
                <a:lnTo>
                  <a:pt x="5481828" y="0"/>
                </a:lnTo>
                <a:lnTo>
                  <a:pt x="5481828" y="1896008"/>
                </a:lnTo>
                <a:lnTo>
                  <a:pt x="5486959" y="1896008"/>
                </a:lnTo>
                <a:lnTo>
                  <a:pt x="5486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" name="object 7"/>
          <p:cNvGrpSpPr/>
          <p:nvPr/>
        </p:nvGrpSpPr>
        <p:grpSpPr>
          <a:xfrm>
            <a:off x="1772411" y="3525768"/>
            <a:ext cx="4648200" cy="3487420"/>
            <a:chOff x="1772411" y="3525768"/>
            <a:chExt cx="4648200" cy="3487420"/>
          </a:xfrm>
        </p:grpSpPr>
        <p:sp>
          <p:nvSpPr>
            <p:cNvPr id="8" name="object 8"/>
            <p:cNvSpPr/>
            <p:nvPr/>
          </p:nvSpPr>
          <p:spPr>
            <a:xfrm>
              <a:off x="1772411" y="3525768"/>
              <a:ext cx="4648200" cy="3487420"/>
            </a:xfrm>
            <a:custGeom>
              <a:avLst/>
              <a:gdLst/>
              <a:ahLst/>
              <a:cxnLst/>
              <a:rect l="l" t="t" r="r" b="b"/>
              <a:pathLst>
                <a:path w="4648200" h="3487420">
                  <a:moveTo>
                    <a:pt x="4648001" y="0"/>
                  </a:moveTo>
                  <a:lnTo>
                    <a:pt x="0" y="0"/>
                  </a:lnTo>
                  <a:lnTo>
                    <a:pt x="0" y="3487171"/>
                  </a:lnTo>
                  <a:lnTo>
                    <a:pt x="4648001" y="3487171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42706" y="3582444"/>
              <a:ext cx="1807391" cy="3377477"/>
            </a:xfrm>
            <a:prstGeom prst="rect">
              <a:avLst/>
            </a:prstGeom>
          </p:spPr>
        </p:pic>
      </p:grpSp>
      <p:sp>
        <p:nvSpPr>
          <p:cNvPr id="10" name="object 10"/>
          <p:cNvSpPr txBox="1"/>
          <p:nvPr/>
        </p:nvSpPr>
        <p:spPr>
          <a:xfrm>
            <a:off x="4659805" y="4227828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402897" y="4206162"/>
            <a:ext cx="1282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847845" y="3813061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844750" y="4644919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379461" y="4177530"/>
            <a:ext cx="217804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-6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858456" y="4466940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233210" y="3597159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233210" y="4812833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2012083" y="3582225"/>
            <a:ext cx="1807845" cy="1569085"/>
            <a:chOff x="2012083" y="3582225"/>
            <a:chExt cx="1807845" cy="1569085"/>
          </a:xfrm>
        </p:grpSpPr>
        <p:sp>
          <p:nvSpPr>
            <p:cNvPr id="19" name="object 19"/>
            <p:cNvSpPr/>
            <p:nvPr/>
          </p:nvSpPr>
          <p:spPr>
            <a:xfrm>
              <a:off x="2776331" y="3899194"/>
              <a:ext cx="3175" cy="865505"/>
            </a:xfrm>
            <a:custGeom>
              <a:avLst/>
              <a:gdLst/>
              <a:ahLst/>
              <a:cxnLst/>
              <a:rect l="l" t="t" r="r" b="b"/>
              <a:pathLst>
                <a:path w="3175" h="865504">
                  <a:moveTo>
                    <a:pt x="0" y="0"/>
                  </a:moveTo>
                  <a:lnTo>
                    <a:pt x="3093" y="865144"/>
                  </a:lnTo>
                </a:path>
              </a:pathLst>
            </a:custGeom>
            <a:ln w="1934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42285" y="4746538"/>
              <a:ext cx="72740" cy="72740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018751" y="4218792"/>
              <a:ext cx="334010" cy="332740"/>
            </a:xfrm>
            <a:custGeom>
              <a:avLst/>
              <a:gdLst/>
              <a:ahLst/>
              <a:cxnLst/>
              <a:rect l="l" t="t" r="r" b="b"/>
              <a:pathLst>
                <a:path w="334010" h="332739">
                  <a:moveTo>
                    <a:pt x="167152" y="0"/>
                  </a:moveTo>
                  <a:lnTo>
                    <a:pt x="123824" y="5410"/>
                  </a:lnTo>
                  <a:lnTo>
                    <a:pt x="83576" y="22433"/>
                  </a:lnTo>
                  <a:lnTo>
                    <a:pt x="49529" y="48752"/>
                  </a:lnTo>
                  <a:lnTo>
                    <a:pt x="22448" y="82798"/>
                  </a:lnTo>
                  <a:lnTo>
                    <a:pt x="6202" y="123032"/>
                  </a:lnTo>
                  <a:lnTo>
                    <a:pt x="0" y="166375"/>
                  </a:lnTo>
                  <a:lnTo>
                    <a:pt x="1554" y="188031"/>
                  </a:lnTo>
                  <a:lnTo>
                    <a:pt x="13167" y="229819"/>
                  </a:lnTo>
                  <a:lnTo>
                    <a:pt x="34823" y="267736"/>
                  </a:lnTo>
                  <a:lnTo>
                    <a:pt x="65775" y="298688"/>
                  </a:lnTo>
                  <a:lnTo>
                    <a:pt x="103692" y="320360"/>
                  </a:lnTo>
                  <a:lnTo>
                    <a:pt x="145481" y="331195"/>
                  </a:lnTo>
                  <a:lnTo>
                    <a:pt x="167152" y="332734"/>
                  </a:lnTo>
                  <a:lnTo>
                    <a:pt x="188823" y="331195"/>
                  </a:lnTo>
                  <a:lnTo>
                    <a:pt x="230611" y="320360"/>
                  </a:lnTo>
                  <a:lnTo>
                    <a:pt x="267751" y="298688"/>
                  </a:lnTo>
                  <a:lnTo>
                    <a:pt x="298703" y="267736"/>
                  </a:lnTo>
                  <a:lnTo>
                    <a:pt x="320375" y="229819"/>
                  </a:lnTo>
                  <a:lnTo>
                    <a:pt x="331972" y="188031"/>
                  </a:lnTo>
                  <a:lnTo>
                    <a:pt x="333527" y="166375"/>
                  </a:lnTo>
                  <a:lnTo>
                    <a:pt x="331972" y="143926"/>
                  </a:lnTo>
                  <a:lnTo>
                    <a:pt x="320375" y="102138"/>
                  </a:lnTo>
                  <a:lnTo>
                    <a:pt x="298703" y="64221"/>
                  </a:lnTo>
                  <a:lnTo>
                    <a:pt x="267751" y="34046"/>
                  </a:lnTo>
                  <a:lnTo>
                    <a:pt x="230611" y="12374"/>
                  </a:lnTo>
                  <a:lnTo>
                    <a:pt x="188823" y="1539"/>
                  </a:lnTo>
                  <a:lnTo>
                    <a:pt x="167152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018751" y="4218792"/>
              <a:ext cx="334010" cy="332740"/>
            </a:xfrm>
            <a:custGeom>
              <a:avLst/>
              <a:gdLst/>
              <a:ahLst/>
              <a:cxnLst/>
              <a:rect l="l" t="t" r="r" b="b"/>
              <a:pathLst>
                <a:path w="334010" h="332739">
                  <a:moveTo>
                    <a:pt x="0" y="166375"/>
                  </a:moveTo>
                  <a:lnTo>
                    <a:pt x="6202" y="123032"/>
                  </a:lnTo>
                  <a:lnTo>
                    <a:pt x="22448" y="82798"/>
                  </a:lnTo>
                  <a:lnTo>
                    <a:pt x="49529" y="48752"/>
                  </a:lnTo>
                  <a:lnTo>
                    <a:pt x="83576" y="22433"/>
                  </a:lnTo>
                  <a:lnTo>
                    <a:pt x="123824" y="5410"/>
                  </a:lnTo>
                  <a:lnTo>
                    <a:pt x="167152" y="0"/>
                  </a:lnTo>
                  <a:lnTo>
                    <a:pt x="188823" y="1539"/>
                  </a:lnTo>
                  <a:lnTo>
                    <a:pt x="230611" y="12374"/>
                  </a:lnTo>
                  <a:lnTo>
                    <a:pt x="267751" y="34046"/>
                  </a:lnTo>
                  <a:lnTo>
                    <a:pt x="298703" y="64221"/>
                  </a:lnTo>
                  <a:lnTo>
                    <a:pt x="320375" y="102138"/>
                  </a:lnTo>
                  <a:lnTo>
                    <a:pt x="331972" y="143926"/>
                  </a:lnTo>
                  <a:lnTo>
                    <a:pt x="333527" y="166375"/>
                  </a:lnTo>
                  <a:lnTo>
                    <a:pt x="331972" y="188031"/>
                  </a:lnTo>
                  <a:lnTo>
                    <a:pt x="320375" y="229819"/>
                  </a:lnTo>
                  <a:lnTo>
                    <a:pt x="298703" y="267736"/>
                  </a:lnTo>
                  <a:lnTo>
                    <a:pt x="267751" y="298688"/>
                  </a:lnTo>
                  <a:lnTo>
                    <a:pt x="230611" y="320360"/>
                  </a:lnTo>
                  <a:lnTo>
                    <a:pt x="188823" y="331195"/>
                  </a:lnTo>
                  <a:lnTo>
                    <a:pt x="167152" y="332734"/>
                  </a:lnTo>
                  <a:lnTo>
                    <a:pt x="145481" y="331195"/>
                  </a:lnTo>
                  <a:lnTo>
                    <a:pt x="103692" y="320360"/>
                  </a:lnTo>
                  <a:lnTo>
                    <a:pt x="65775" y="298688"/>
                  </a:lnTo>
                  <a:lnTo>
                    <a:pt x="34823" y="267736"/>
                  </a:lnTo>
                  <a:lnTo>
                    <a:pt x="13167" y="229819"/>
                  </a:lnTo>
                  <a:lnTo>
                    <a:pt x="1554" y="188031"/>
                  </a:lnTo>
                  <a:lnTo>
                    <a:pt x="0" y="166375"/>
                  </a:lnTo>
                </a:path>
              </a:pathLst>
            </a:custGeom>
            <a:ln w="1289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612273" y="3588893"/>
              <a:ext cx="333375" cy="333375"/>
            </a:xfrm>
            <a:custGeom>
              <a:avLst/>
              <a:gdLst/>
              <a:ahLst/>
              <a:cxnLst/>
              <a:rect l="l" t="t" r="r" b="b"/>
              <a:pathLst>
                <a:path w="333375" h="333375">
                  <a:moveTo>
                    <a:pt x="167152" y="0"/>
                  </a:moveTo>
                  <a:lnTo>
                    <a:pt x="123824" y="6202"/>
                  </a:lnTo>
                  <a:lnTo>
                    <a:pt x="83576" y="22448"/>
                  </a:lnTo>
                  <a:lnTo>
                    <a:pt x="48752" y="48752"/>
                  </a:lnTo>
                  <a:lnTo>
                    <a:pt x="22448" y="83576"/>
                  </a:lnTo>
                  <a:lnTo>
                    <a:pt x="6202" y="123047"/>
                  </a:lnTo>
                  <a:lnTo>
                    <a:pt x="0" y="166375"/>
                  </a:lnTo>
                  <a:lnTo>
                    <a:pt x="1554" y="188046"/>
                  </a:lnTo>
                  <a:lnTo>
                    <a:pt x="13167" y="229834"/>
                  </a:lnTo>
                  <a:lnTo>
                    <a:pt x="34823" y="267751"/>
                  </a:lnTo>
                  <a:lnTo>
                    <a:pt x="65775" y="298703"/>
                  </a:lnTo>
                  <a:lnTo>
                    <a:pt x="102930" y="320360"/>
                  </a:lnTo>
                  <a:lnTo>
                    <a:pt x="145481" y="331972"/>
                  </a:lnTo>
                  <a:lnTo>
                    <a:pt x="167152" y="332750"/>
                  </a:lnTo>
                  <a:lnTo>
                    <a:pt x="188823" y="331972"/>
                  </a:lnTo>
                  <a:lnTo>
                    <a:pt x="229834" y="320360"/>
                  </a:lnTo>
                  <a:lnTo>
                    <a:pt x="267751" y="298703"/>
                  </a:lnTo>
                  <a:lnTo>
                    <a:pt x="298703" y="267751"/>
                  </a:lnTo>
                  <a:lnTo>
                    <a:pt x="320375" y="229834"/>
                  </a:lnTo>
                  <a:lnTo>
                    <a:pt x="331972" y="188046"/>
                  </a:lnTo>
                  <a:lnTo>
                    <a:pt x="332750" y="166375"/>
                  </a:lnTo>
                  <a:lnTo>
                    <a:pt x="331972" y="144703"/>
                  </a:lnTo>
                  <a:lnTo>
                    <a:pt x="320375" y="102930"/>
                  </a:lnTo>
                  <a:lnTo>
                    <a:pt x="298703" y="65775"/>
                  </a:lnTo>
                  <a:lnTo>
                    <a:pt x="267751" y="34823"/>
                  </a:lnTo>
                  <a:lnTo>
                    <a:pt x="229834" y="13167"/>
                  </a:lnTo>
                  <a:lnTo>
                    <a:pt x="188823" y="1554"/>
                  </a:lnTo>
                  <a:lnTo>
                    <a:pt x="167152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612273" y="3588893"/>
              <a:ext cx="333375" cy="333375"/>
            </a:xfrm>
            <a:custGeom>
              <a:avLst/>
              <a:gdLst/>
              <a:ahLst/>
              <a:cxnLst/>
              <a:rect l="l" t="t" r="r" b="b"/>
              <a:pathLst>
                <a:path w="333375" h="333375">
                  <a:moveTo>
                    <a:pt x="0" y="166375"/>
                  </a:moveTo>
                  <a:lnTo>
                    <a:pt x="6202" y="123047"/>
                  </a:lnTo>
                  <a:lnTo>
                    <a:pt x="22448" y="83576"/>
                  </a:lnTo>
                  <a:lnTo>
                    <a:pt x="48752" y="48752"/>
                  </a:lnTo>
                  <a:lnTo>
                    <a:pt x="83576" y="22448"/>
                  </a:lnTo>
                  <a:lnTo>
                    <a:pt x="123824" y="6202"/>
                  </a:lnTo>
                  <a:lnTo>
                    <a:pt x="167152" y="0"/>
                  </a:lnTo>
                  <a:lnTo>
                    <a:pt x="188823" y="1554"/>
                  </a:lnTo>
                  <a:lnTo>
                    <a:pt x="229834" y="13167"/>
                  </a:lnTo>
                  <a:lnTo>
                    <a:pt x="267751" y="34823"/>
                  </a:lnTo>
                  <a:lnTo>
                    <a:pt x="298703" y="65775"/>
                  </a:lnTo>
                  <a:lnTo>
                    <a:pt x="320375" y="102930"/>
                  </a:lnTo>
                  <a:lnTo>
                    <a:pt x="331972" y="144703"/>
                  </a:lnTo>
                  <a:lnTo>
                    <a:pt x="332750" y="166375"/>
                  </a:lnTo>
                  <a:lnTo>
                    <a:pt x="331972" y="188046"/>
                  </a:lnTo>
                  <a:lnTo>
                    <a:pt x="320375" y="229834"/>
                  </a:lnTo>
                  <a:lnTo>
                    <a:pt x="298703" y="267751"/>
                  </a:lnTo>
                  <a:lnTo>
                    <a:pt x="267751" y="298703"/>
                  </a:lnTo>
                  <a:lnTo>
                    <a:pt x="229834" y="320360"/>
                  </a:lnTo>
                  <a:lnTo>
                    <a:pt x="188823" y="331972"/>
                  </a:lnTo>
                  <a:lnTo>
                    <a:pt x="167152" y="332750"/>
                  </a:lnTo>
                  <a:lnTo>
                    <a:pt x="145481" y="331972"/>
                  </a:lnTo>
                  <a:lnTo>
                    <a:pt x="102930" y="320360"/>
                  </a:lnTo>
                  <a:lnTo>
                    <a:pt x="65775" y="298703"/>
                  </a:lnTo>
                  <a:lnTo>
                    <a:pt x="34823" y="267751"/>
                  </a:lnTo>
                  <a:lnTo>
                    <a:pt x="13167" y="229834"/>
                  </a:lnTo>
                  <a:lnTo>
                    <a:pt x="1554" y="188046"/>
                  </a:lnTo>
                  <a:lnTo>
                    <a:pt x="0" y="166375"/>
                  </a:lnTo>
                </a:path>
              </a:pathLst>
            </a:custGeom>
            <a:ln w="1289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620014" y="4812314"/>
              <a:ext cx="333375" cy="332105"/>
            </a:xfrm>
            <a:custGeom>
              <a:avLst/>
              <a:gdLst/>
              <a:ahLst/>
              <a:cxnLst/>
              <a:rect l="l" t="t" r="r" b="b"/>
              <a:pathLst>
                <a:path w="333375" h="332104">
                  <a:moveTo>
                    <a:pt x="166375" y="0"/>
                  </a:moveTo>
                  <a:lnTo>
                    <a:pt x="123047" y="5410"/>
                  </a:lnTo>
                  <a:lnTo>
                    <a:pt x="82798" y="22433"/>
                  </a:lnTo>
                  <a:lnTo>
                    <a:pt x="48752" y="47975"/>
                  </a:lnTo>
                  <a:lnTo>
                    <a:pt x="21671" y="82021"/>
                  </a:lnTo>
                  <a:lnTo>
                    <a:pt x="5425" y="122255"/>
                  </a:lnTo>
                  <a:lnTo>
                    <a:pt x="0" y="165597"/>
                  </a:lnTo>
                  <a:lnTo>
                    <a:pt x="777" y="187269"/>
                  </a:lnTo>
                  <a:lnTo>
                    <a:pt x="12390" y="229819"/>
                  </a:lnTo>
                  <a:lnTo>
                    <a:pt x="34046" y="267736"/>
                  </a:lnTo>
                  <a:lnTo>
                    <a:pt x="64998" y="297911"/>
                  </a:lnTo>
                  <a:lnTo>
                    <a:pt x="102915" y="319582"/>
                  </a:lnTo>
                  <a:lnTo>
                    <a:pt x="144703" y="330418"/>
                  </a:lnTo>
                  <a:lnTo>
                    <a:pt x="166375" y="331972"/>
                  </a:lnTo>
                  <a:lnTo>
                    <a:pt x="187269" y="330418"/>
                  </a:lnTo>
                  <a:lnTo>
                    <a:pt x="229834" y="319582"/>
                  </a:lnTo>
                  <a:lnTo>
                    <a:pt x="266974" y="297911"/>
                  </a:lnTo>
                  <a:lnTo>
                    <a:pt x="297926" y="267736"/>
                  </a:lnTo>
                  <a:lnTo>
                    <a:pt x="319598" y="229819"/>
                  </a:lnTo>
                  <a:lnTo>
                    <a:pt x="331195" y="187269"/>
                  </a:lnTo>
                  <a:lnTo>
                    <a:pt x="332750" y="165597"/>
                  </a:lnTo>
                  <a:lnTo>
                    <a:pt x="331195" y="143926"/>
                  </a:lnTo>
                  <a:lnTo>
                    <a:pt x="319598" y="102138"/>
                  </a:lnTo>
                  <a:lnTo>
                    <a:pt x="297926" y="64221"/>
                  </a:lnTo>
                  <a:lnTo>
                    <a:pt x="266974" y="33268"/>
                  </a:lnTo>
                  <a:lnTo>
                    <a:pt x="229834" y="12374"/>
                  </a:lnTo>
                  <a:lnTo>
                    <a:pt x="187269" y="777"/>
                  </a:lnTo>
                  <a:lnTo>
                    <a:pt x="166375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620014" y="4812314"/>
              <a:ext cx="333375" cy="332105"/>
            </a:xfrm>
            <a:custGeom>
              <a:avLst/>
              <a:gdLst/>
              <a:ahLst/>
              <a:cxnLst/>
              <a:rect l="l" t="t" r="r" b="b"/>
              <a:pathLst>
                <a:path w="333375" h="332104">
                  <a:moveTo>
                    <a:pt x="0" y="165597"/>
                  </a:moveTo>
                  <a:lnTo>
                    <a:pt x="5425" y="122255"/>
                  </a:lnTo>
                  <a:lnTo>
                    <a:pt x="21671" y="82021"/>
                  </a:lnTo>
                  <a:lnTo>
                    <a:pt x="48752" y="47975"/>
                  </a:lnTo>
                  <a:lnTo>
                    <a:pt x="82798" y="22433"/>
                  </a:lnTo>
                  <a:lnTo>
                    <a:pt x="123047" y="5410"/>
                  </a:lnTo>
                  <a:lnTo>
                    <a:pt x="166375" y="0"/>
                  </a:lnTo>
                  <a:lnTo>
                    <a:pt x="187269" y="777"/>
                  </a:lnTo>
                  <a:lnTo>
                    <a:pt x="229834" y="12374"/>
                  </a:lnTo>
                  <a:lnTo>
                    <a:pt x="266974" y="33268"/>
                  </a:lnTo>
                  <a:lnTo>
                    <a:pt x="297926" y="64221"/>
                  </a:lnTo>
                  <a:lnTo>
                    <a:pt x="319598" y="102138"/>
                  </a:lnTo>
                  <a:lnTo>
                    <a:pt x="331195" y="143926"/>
                  </a:lnTo>
                  <a:lnTo>
                    <a:pt x="332750" y="165597"/>
                  </a:lnTo>
                  <a:lnTo>
                    <a:pt x="331195" y="187269"/>
                  </a:lnTo>
                  <a:lnTo>
                    <a:pt x="319598" y="229819"/>
                  </a:lnTo>
                  <a:lnTo>
                    <a:pt x="297926" y="267736"/>
                  </a:lnTo>
                  <a:lnTo>
                    <a:pt x="266974" y="297911"/>
                  </a:lnTo>
                  <a:lnTo>
                    <a:pt x="229834" y="319582"/>
                  </a:lnTo>
                  <a:lnTo>
                    <a:pt x="187269" y="330418"/>
                  </a:lnTo>
                  <a:lnTo>
                    <a:pt x="166375" y="331972"/>
                  </a:lnTo>
                  <a:lnTo>
                    <a:pt x="144703" y="330418"/>
                  </a:lnTo>
                  <a:lnTo>
                    <a:pt x="102915" y="319582"/>
                  </a:lnTo>
                  <a:lnTo>
                    <a:pt x="64998" y="297911"/>
                  </a:lnTo>
                  <a:lnTo>
                    <a:pt x="34046" y="267736"/>
                  </a:lnTo>
                  <a:lnTo>
                    <a:pt x="12390" y="229819"/>
                  </a:lnTo>
                  <a:lnTo>
                    <a:pt x="777" y="187269"/>
                  </a:lnTo>
                  <a:lnTo>
                    <a:pt x="0" y="165597"/>
                  </a:lnTo>
                </a:path>
              </a:pathLst>
            </a:custGeom>
            <a:ln w="1289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480511" y="3987419"/>
              <a:ext cx="332740" cy="332105"/>
            </a:xfrm>
            <a:custGeom>
              <a:avLst/>
              <a:gdLst/>
              <a:ahLst/>
              <a:cxnLst/>
              <a:rect l="l" t="t" r="r" b="b"/>
              <a:pathLst>
                <a:path w="332739" h="332104">
                  <a:moveTo>
                    <a:pt x="167137" y="0"/>
                  </a:moveTo>
                  <a:lnTo>
                    <a:pt x="123809" y="5410"/>
                  </a:lnTo>
                  <a:lnTo>
                    <a:pt x="83576" y="21671"/>
                  </a:lnTo>
                  <a:lnTo>
                    <a:pt x="48752" y="47975"/>
                  </a:lnTo>
                  <a:lnTo>
                    <a:pt x="22433" y="82798"/>
                  </a:lnTo>
                  <a:lnTo>
                    <a:pt x="6187" y="123032"/>
                  </a:lnTo>
                  <a:lnTo>
                    <a:pt x="0" y="165597"/>
                  </a:lnTo>
                  <a:lnTo>
                    <a:pt x="1539" y="188031"/>
                  </a:lnTo>
                  <a:lnTo>
                    <a:pt x="13152" y="229819"/>
                  </a:lnTo>
                  <a:lnTo>
                    <a:pt x="34823" y="267736"/>
                  </a:lnTo>
                  <a:lnTo>
                    <a:pt x="65775" y="297926"/>
                  </a:lnTo>
                  <a:lnTo>
                    <a:pt x="102915" y="319582"/>
                  </a:lnTo>
                  <a:lnTo>
                    <a:pt x="145481" y="330418"/>
                  </a:lnTo>
                  <a:lnTo>
                    <a:pt x="167137" y="331972"/>
                  </a:lnTo>
                  <a:lnTo>
                    <a:pt x="188031" y="330418"/>
                  </a:lnTo>
                  <a:lnTo>
                    <a:pt x="229819" y="319582"/>
                  </a:lnTo>
                  <a:lnTo>
                    <a:pt x="267736" y="297926"/>
                  </a:lnTo>
                  <a:lnTo>
                    <a:pt x="298688" y="267736"/>
                  </a:lnTo>
                  <a:lnTo>
                    <a:pt x="320360" y="229819"/>
                  </a:lnTo>
                  <a:lnTo>
                    <a:pt x="331972" y="188031"/>
                  </a:lnTo>
                  <a:lnTo>
                    <a:pt x="332734" y="165597"/>
                  </a:lnTo>
                  <a:lnTo>
                    <a:pt x="331972" y="143926"/>
                  </a:lnTo>
                  <a:lnTo>
                    <a:pt x="320360" y="102138"/>
                  </a:lnTo>
                  <a:lnTo>
                    <a:pt x="298688" y="64221"/>
                  </a:lnTo>
                  <a:lnTo>
                    <a:pt x="267736" y="33268"/>
                  </a:lnTo>
                  <a:lnTo>
                    <a:pt x="229819" y="11597"/>
                  </a:lnTo>
                  <a:lnTo>
                    <a:pt x="188031" y="1539"/>
                  </a:lnTo>
                  <a:lnTo>
                    <a:pt x="167137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480511" y="3987419"/>
              <a:ext cx="332740" cy="332105"/>
            </a:xfrm>
            <a:custGeom>
              <a:avLst/>
              <a:gdLst/>
              <a:ahLst/>
              <a:cxnLst/>
              <a:rect l="l" t="t" r="r" b="b"/>
              <a:pathLst>
                <a:path w="332739" h="332104">
                  <a:moveTo>
                    <a:pt x="0" y="165597"/>
                  </a:moveTo>
                  <a:lnTo>
                    <a:pt x="6187" y="123032"/>
                  </a:lnTo>
                  <a:lnTo>
                    <a:pt x="22433" y="82798"/>
                  </a:lnTo>
                  <a:lnTo>
                    <a:pt x="48752" y="47975"/>
                  </a:lnTo>
                  <a:lnTo>
                    <a:pt x="83576" y="21671"/>
                  </a:lnTo>
                  <a:lnTo>
                    <a:pt x="123809" y="5410"/>
                  </a:lnTo>
                  <a:lnTo>
                    <a:pt x="167137" y="0"/>
                  </a:lnTo>
                  <a:lnTo>
                    <a:pt x="188031" y="1539"/>
                  </a:lnTo>
                  <a:lnTo>
                    <a:pt x="229819" y="11597"/>
                  </a:lnTo>
                  <a:lnTo>
                    <a:pt x="267736" y="33268"/>
                  </a:lnTo>
                  <a:lnTo>
                    <a:pt x="298688" y="64221"/>
                  </a:lnTo>
                  <a:lnTo>
                    <a:pt x="320360" y="102138"/>
                  </a:lnTo>
                  <a:lnTo>
                    <a:pt x="331972" y="143926"/>
                  </a:lnTo>
                  <a:lnTo>
                    <a:pt x="332734" y="165597"/>
                  </a:lnTo>
                  <a:lnTo>
                    <a:pt x="331972" y="188031"/>
                  </a:lnTo>
                  <a:lnTo>
                    <a:pt x="320360" y="229819"/>
                  </a:lnTo>
                  <a:lnTo>
                    <a:pt x="298688" y="267736"/>
                  </a:lnTo>
                  <a:lnTo>
                    <a:pt x="267736" y="297926"/>
                  </a:lnTo>
                  <a:lnTo>
                    <a:pt x="229819" y="319582"/>
                  </a:lnTo>
                  <a:lnTo>
                    <a:pt x="188031" y="330418"/>
                  </a:lnTo>
                  <a:lnTo>
                    <a:pt x="167137" y="331972"/>
                  </a:lnTo>
                  <a:lnTo>
                    <a:pt x="145481" y="330418"/>
                  </a:lnTo>
                  <a:lnTo>
                    <a:pt x="102915" y="319582"/>
                  </a:lnTo>
                  <a:lnTo>
                    <a:pt x="65775" y="297926"/>
                  </a:lnTo>
                  <a:lnTo>
                    <a:pt x="34823" y="267736"/>
                  </a:lnTo>
                  <a:lnTo>
                    <a:pt x="13152" y="229819"/>
                  </a:lnTo>
                  <a:lnTo>
                    <a:pt x="1539" y="188031"/>
                  </a:lnTo>
                  <a:lnTo>
                    <a:pt x="0" y="165597"/>
                  </a:lnTo>
                </a:path>
              </a:pathLst>
            </a:custGeom>
            <a:ln w="1289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280315" y="3910807"/>
              <a:ext cx="340995" cy="337820"/>
            </a:xfrm>
            <a:custGeom>
              <a:avLst/>
              <a:gdLst/>
              <a:ahLst/>
              <a:cxnLst/>
              <a:rect l="l" t="t" r="r" b="b"/>
              <a:pathLst>
                <a:path w="340994" h="337820">
                  <a:moveTo>
                    <a:pt x="0" y="337383"/>
                  </a:moveTo>
                  <a:lnTo>
                    <a:pt x="340476" y="0"/>
                  </a:lnTo>
                </a:path>
              </a:pathLst>
            </a:custGeom>
            <a:ln w="1934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82875" y="3872113"/>
              <a:ext cx="77388" cy="76611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2926445" y="4308556"/>
              <a:ext cx="560070" cy="579755"/>
            </a:xfrm>
            <a:custGeom>
              <a:avLst/>
              <a:gdLst/>
              <a:ahLst/>
              <a:cxnLst/>
              <a:rect l="l" t="t" r="r" b="b"/>
              <a:pathLst>
                <a:path w="560070" h="579754">
                  <a:moveTo>
                    <a:pt x="559475" y="0"/>
                  </a:moveTo>
                  <a:lnTo>
                    <a:pt x="0" y="579592"/>
                  </a:lnTo>
                </a:path>
              </a:pathLst>
            </a:custGeom>
            <a:ln w="1934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47226" y="4269861"/>
              <a:ext cx="76611" cy="76611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2281854" y="4520575"/>
              <a:ext cx="320675" cy="338455"/>
            </a:xfrm>
            <a:custGeom>
              <a:avLst/>
              <a:gdLst/>
              <a:ahLst/>
              <a:cxnLst/>
              <a:rect l="l" t="t" r="r" b="b"/>
              <a:pathLst>
                <a:path w="320675" h="338454">
                  <a:moveTo>
                    <a:pt x="320360" y="338160"/>
                  </a:moveTo>
                  <a:lnTo>
                    <a:pt x="0" y="0"/>
                  </a:lnTo>
                </a:path>
              </a:pathLst>
            </a:custGeom>
            <a:ln w="1934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63535" y="4821595"/>
              <a:ext cx="76596" cy="76611"/>
            </a:xfrm>
            <a:prstGeom prst="rect">
              <a:avLst/>
            </a:prstGeom>
          </p:spPr>
        </p:pic>
      </p:grpSp>
      <p:sp>
        <p:nvSpPr>
          <p:cNvPr id="35" name="object 35"/>
          <p:cNvSpPr txBox="1"/>
          <p:nvPr/>
        </p:nvSpPr>
        <p:spPr>
          <a:xfrm>
            <a:off x="1873274" y="4206162"/>
            <a:ext cx="1282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8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314354" y="4644919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328060" y="4466940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2012083" y="3698658"/>
            <a:ext cx="1756410" cy="2929255"/>
            <a:chOff x="2012083" y="3698658"/>
            <a:chExt cx="1756410" cy="2929255"/>
          </a:xfrm>
        </p:grpSpPr>
        <p:pic>
          <p:nvPicPr>
            <p:cNvPr id="39" name="object 3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15981" y="4104133"/>
              <a:ext cx="252513" cy="93118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53930" y="3698658"/>
              <a:ext cx="251751" cy="92341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657801" y="4924381"/>
              <a:ext cx="251751" cy="93118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2774015" y="5694466"/>
              <a:ext cx="0" cy="878840"/>
            </a:xfrm>
            <a:custGeom>
              <a:avLst/>
              <a:gdLst/>
              <a:ahLst/>
              <a:cxnLst/>
              <a:rect l="l" t="t" r="r" b="b"/>
              <a:pathLst>
                <a:path w="0" h="878840">
                  <a:moveTo>
                    <a:pt x="0" y="0"/>
                  </a:moveTo>
                  <a:lnTo>
                    <a:pt x="0" y="878296"/>
                  </a:lnTo>
                </a:path>
              </a:pathLst>
            </a:custGeom>
            <a:ln w="1934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7637" y="6554962"/>
              <a:ext cx="71963" cy="7274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2018751" y="6027216"/>
              <a:ext cx="334010" cy="332740"/>
            </a:xfrm>
            <a:custGeom>
              <a:avLst/>
              <a:gdLst/>
              <a:ahLst/>
              <a:cxnLst/>
              <a:rect l="l" t="t" r="r" b="b"/>
              <a:pathLst>
                <a:path w="334010" h="332739">
                  <a:moveTo>
                    <a:pt x="167152" y="0"/>
                  </a:moveTo>
                  <a:lnTo>
                    <a:pt x="123824" y="5410"/>
                  </a:lnTo>
                  <a:lnTo>
                    <a:pt x="83576" y="22433"/>
                  </a:lnTo>
                  <a:lnTo>
                    <a:pt x="49529" y="48752"/>
                  </a:lnTo>
                  <a:lnTo>
                    <a:pt x="22448" y="83560"/>
                  </a:lnTo>
                  <a:lnTo>
                    <a:pt x="6202" y="123809"/>
                  </a:lnTo>
                  <a:lnTo>
                    <a:pt x="0" y="166359"/>
                  </a:lnTo>
                  <a:lnTo>
                    <a:pt x="1554" y="188808"/>
                  </a:lnTo>
                  <a:lnTo>
                    <a:pt x="13167" y="230596"/>
                  </a:lnTo>
                  <a:lnTo>
                    <a:pt x="34823" y="267736"/>
                  </a:lnTo>
                  <a:lnTo>
                    <a:pt x="65775" y="297911"/>
                  </a:lnTo>
                  <a:lnTo>
                    <a:pt x="103692" y="320360"/>
                  </a:lnTo>
                  <a:lnTo>
                    <a:pt x="145481" y="331195"/>
                  </a:lnTo>
                  <a:lnTo>
                    <a:pt x="167152" y="332734"/>
                  </a:lnTo>
                  <a:lnTo>
                    <a:pt x="188823" y="331195"/>
                  </a:lnTo>
                  <a:lnTo>
                    <a:pt x="230611" y="320360"/>
                  </a:lnTo>
                  <a:lnTo>
                    <a:pt x="267751" y="297911"/>
                  </a:lnTo>
                  <a:lnTo>
                    <a:pt x="298703" y="267736"/>
                  </a:lnTo>
                  <a:lnTo>
                    <a:pt x="320375" y="230596"/>
                  </a:lnTo>
                  <a:lnTo>
                    <a:pt x="331972" y="188808"/>
                  </a:lnTo>
                  <a:lnTo>
                    <a:pt x="333527" y="166359"/>
                  </a:lnTo>
                  <a:lnTo>
                    <a:pt x="331972" y="144703"/>
                  </a:lnTo>
                  <a:lnTo>
                    <a:pt x="320375" y="102915"/>
                  </a:lnTo>
                  <a:lnTo>
                    <a:pt x="298703" y="64998"/>
                  </a:lnTo>
                  <a:lnTo>
                    <a:pt x="267751" y="34046"/>
                  </a:lnTo>
                  <a:lnTo>
                    <a:pt x="230611" y="12374"/>
                  </a:lnTo>
                  <a:lnTo>
                    <a:pt x="188823" y="1539"/>
                  </a:lnTo>
                  <a:lnTo>
                    <a:pt x="167152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018751" y="6027216"/>
              <a:ext cx="334010" cy="332740"/>
            </a:xfrm>
            <a:custGeom>
              <a:avLst/>
              <a:gdLst/>
              <a:ahLst/>
              <a:cxnLst/>
              <a:rect l="l" t="t" r="r" b="b"/>
              <a:pathLst>
                <a:path w="334010" h="332739">
                  <a:moveTo>
                    <a:pt x="0" y="166359"/>
                  </a:moveTo>
                  <a:lnTo>
                    <a:pt x="6202" y="123809"/>
                  </a:lnTo>
                  <a:lnTo>
                    <a:pt x="22448" y="83560"/>
                  </a:lnTo>
                  <a:lnTo>
                    <a:pt x="49529" y="48752"/>
                  </a:lnTo>
                  <a:lnTo>
                    <a:pt x="83576" y="22433"/>
                  </a:lnTo>
                  <a:lnTo>
                    <a:pt x="123824" y="5410"/>
                  </a:lnTo>
                  <a:lnTo>
                    <a:pt x="167152" y="0"/>
                  </a:lnTo>
                  <a:lnTo>
                    <a:pt x="188823" y="1539"/>
                  </a:lnTo>
                  <a:lnTo>
                    <a:pt x="230611" y="12374"/>
                  </a:lnTo>
                  <a:lnTo>
                    <a:pt x="267751" y="34046"/>
                  </a:lnTo>
                  <a:lnTo>
                    <a:pt x="298703" y="64998"/>
                  </a:lnTo>
                  <a:lnTo>
                    <a:pt x="320375" y="102915"/>
                  </a:lnTo>
                  <a:lnTo>
                    <a:pt x="331972" y="144703"/>
                  </a:lnTo>
                  <a:lnTo>
                    <a:pt x="333527" y="166359"/>
                  </a:lnTo>
                  <a:lnTo>
                    <a:pt x="331972" y="188808"/>
                  </a:lnTo>
                  <a:lnTo>
                    <a:pt x="320375" y="230596"/>
                  </a:lnTo>
                  <a:lnTo>
                    <a:pt x="298703" y="267736"/>
                  </a:lnTo>
                  <a:lnTo>
                    <a:pt x="267751" y="297911"/>
                  </a:lnTo>
                  <a:lnTo>
                    <a:pt x="230611" y="320360"/>
                  </a:lnTo>
                  <a:lnTo>
                    <a:pt x="188823" y="331195"/>
                  </a:lnTo>
                  <a:lnTo>
                    <a:pt x="167152" y="332734"/>
                  </a:lnTo>
                  <a:lnTo>
                    <a:pt x="145481" y="331195"/>
                  </a:lnTo>
                  <a:lnTo>
                    <a:pt x="103692" y="320360"/>
                  </a:lnTo>
                  <a:lnTo>
                    <a:pt x="65775" y="297911"/>
                  </a:lnTo>
                  <a:lnTo>
                    <a:pt x="34823" y="267736"/>
                  </a:lnTo>
                  <a:lnTo>
                    <a:pt x="13167" y="230596"/>
                  </a:lnTo>
                  <a:lnTo>
                    <a:pt x="1554" y="188808"/>
                  </a:lnTo>
                  <a:lnTo>
                    <a:pt x="0" y="166359"/>
                  </a:lnTo>
                </a:path>
              </a:pathLst>
            </a:custGeom>
            <a:ln w="1289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/>
          <p:cNvSpPr txBox="1"/>
          <p:nvPr/>
        </p:nvSpPr>
        <p:spPr>
          <a:xfrm>
            <a:off x="4659805" y="6036244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402897" y="6015353"/>
            <a:ext cx="1282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8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847845" y="5622251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8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844750" y="6454109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379461" y="5986721"/>
            <a:ext cx="217804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-6</a:t>
            </a:r>
            <a:endParaRPr sz="18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858456" y="6276131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233208" y="5406355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8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106079" y="5797908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8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2130182" y="6036244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55" name="object 55"/>
          <p:cNvGrpSpPr/>
          <p:nvPr/>
        </p:nvGrpSpPr>
        <p:grpSpPr>
          <a:xfrm>
            <a:off x="2270472" y="5391427"/>
            <a:ext cx="1550670" cy="1569085"/>
            <a:chOff x="2270472" y="5391427"/>
            <a:chExt cx="1550670" cy="1569085"/>
          </a:xfrm>
        </p:grpSpPr>
        <p:sp>
          <p:nvSpPr>
            <p:cNvPr id="56" name="object 56"/>
            <p:cNvSpPr/>
            <p:nvPr/>
          </p:nvSpPr>
          <p:spPr>
            <a:xfrm>
              <a:off x="2612273" y="5398094"/>
              <a:ext cx="333375" cy="332105"/>
            </a:xfrm>
            <a:custGeom>
              <a:avLst/>
              <a:gdLst/>
              <a:ahLst/>
              <a:cxnLst/>
              <a:rect l="l" t="t" r="r" b="b"/>
              <a:pathLst>
                <a:path w="333375" h="332104">
                  <a:moveTo>
                    <a:pt x="167152" y="0"/>
                  </a:moveTo>
                  <a:lnTo>
                    <a:pt x="123824" y="5410"/>
                  </a:lnTo>
                  <a:lnTo>
                    <a:pt x="83576" y="21671"/>
                  </a:lnTo>
                  <a:lnTo>
                    <a:pt x="48752" y="47975"/>
                  </a:lnTo>
                  <a:lnTo>
                    <a:pt x="22448" y="82798"/>
                  </a:lnTo>
                  <a:lnTo>
                    <a:pt x="6202" y="123032"/>
                  </a:lnTo>
                  <a:lnTo>
                    <a:pt x="0" y="166375"/>
                  </a:lnTo>
                  <a:lnTo>
                    <a:pt x="1554" y="188046"/>
                  </a:lnTo>
                  <a:lnTo>
                    <a:pt x="13167" y="229819"/>
                  </a:lnTo>
                  <a:lnTo>
                    <a:pt x="34823" y="267736"/>
                  </a:lnTo>
                  <a:lnTo>
                    <a:pt x="65775" y="298688"/>
                  </a:lnTo>
                  <a:lnTo>
                    <a:pt x="102930" y="319582"/>
                  </a:lnTo>
                  <a:lnTo>
                    <a:pt x="145481" y="331195"/>
                  </a:lnTo>
                  <a:lnTo>
                    <a:pt x="167152" y="331972"/>
                  </a:lnTo>
                  <a:lnTo>
                    <a:pt x="188823" y="331195"/>
                  </a:lnTo>
                  <a:lnTo>
                    <a:pt x="229834" y="319582"/>
                  </a:lnTo>
                  <a:lnTo>
                    <a:pt x="267751" y="298688"/>
                  </a:lnTo>
                  <a:lnTo>
                    <a:pt x="298703" y="267736"/>
                  </a:lnTo>
                  <a:lnTo>
                    <a:pt x="320375" y="229819"/>
                  </a:lnTo>
                  <a:lnTo>
                    <a:pt x="331972" y="188046"/>
                  </a:lnTo>
                  <a:lnTo>
                    <a:pt x="332750" y="166375"/>
                  </a:lnTo>
                  <a:lnTo>
                    <a:pt x="331972" y="144703"/>
                  </a:lnTo>
                  <a:lnTo>
                    <a:pt x="320375" y="102138"/>
                  </a:lnTo>
                  <a:lnTo>
                    <a:pt x="298703" y="64221"/>
                  </a:lnTo>
                  <a:lnTo>
                    <a:pt x="267751" y="34046"/>
                  </a:lnTo>
                  <a:lnTo>
                    <a:pt x="229834" y="12374"/>
                  </a:lnTo>
                  <a:lnTo>
                    <a:pt x="188823" y="1554"/>
                  </a:lnTo>
                  <a:lnTo>
                    <a:pt x="167152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612273" y="5398094"/>
              <a:ext cx="333375" cy="332105"/>
            </a:xfrm>
            <a:custGeom>
              <a:avLst/>
              <a:gdLst/>
              <a:ahLst/>
              <a:cxnLst/>
              <a:rect l="l" t="t" r="r" b="b"/>
              <a:pathLst>
                <a:path w="333375" h="332104">
                  <a:moveTo>
                    <a:pt x="0" y="166375"/>
                  </a:moveTo>
                  <a:lnTo>
                    <a:pt x="6202" y="123032"/>
                  </a:lnTo>
                  <a:lnTo>
                    <a:pt x="22448" y="82798"/>
                  </a:lnTo>
                  <a:lnTo>
                    <a:pt x="48752" y="47975"/>
                  </a:lnTo>
                  <a:lnTo>
                    <a:pt x="83576" y="21671"/>
                  </a:lnTo>
                  <a:lnTo>
                    <a:pt x="123824" y="5410"/>
                  </a:lnTo>
                  <a:lnTo>
                    <a:pt x="167152" y="0"/>
                  </a:lnTo>
                  <a:lnTo>
                    <a:pt x="188823" y="1554"/>
                  </a:lnTo>
                  <a:lnTo>
                    <a:pt x="229834" y="12374"/>
                  </a:lnTo>
                  <a:lnTo>
                    <a:pt x="267751" y="34046"/>
                  </a:lnTo>
                  <a:lnTo>
                    <a:pt x="298703" y="64221"/>
                  </a:lnTo>
                  <a:lnTo>
                    <a:pt x="320375" y="102138"/>
                  </a:lnTo>
                  <a:lnTo>
                    <a:pt x="331972" y="144703"/>
                  </a:lnTo>
                  <a:lnTo>
                    <a:pt x="332750" y="166375"/>
                  </a:lnTo>
                  <a:lnTo>
                    <a:pt x="331972" y="188046"/>
                  </a:lnTo>
                  <a:lnTo>
                    <a:pt x="320375" y="229819"/>
                  </a:lnTo>
                  <a:lnTo>
                    <a:pt x="298703" y="267736"/>
                  </a:lnTo>
                  <a:lnTo>
                    <a:pt x="267751" y="298688"/>
                  </a:lnTo>
                  <a:lnTo>
                    <a:pt x="229834" y="319582"/>
                  </a:lnTo>
                  <a:lnTo>
                    <a:pt x="188823" y="331195"/>
                  </a:lnTo>
                  <a:lnTo>
                    <a:pt x="167152" y="331972"/>
                  </a:lnTo>
                  <a:lnTo>
                    <a:pt x="145481" y="331195"/>
                  </a:lnTo>
                  <a:lnTo>
                    <a:pt x="102930" y="319582"/>
                  </a:lnTo>
                  <a:lnTo>
                    <a:pt x="65775" y="298688"/>
                  </a:lnTo>
                  <a:lnTo>
                    <a:pt x="34823" y="267736"/>
                  </a:lnTo>
                  <a:lnTo>
                    <a:pt x="13167" y="229819"/>
                  </a:lnTo>
                  <a:lnTo>
                    <a:pt x="1554" y="188046"/>
                  </a:lnTo>
                  <a:lnTo>
                    <a:pt x="0" y="166375"/>
                  </a:lnTo>
                </a:path>
              </a:pathLst>
            </a:custGeom>
            <a:ln w="1289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620014" y="6620738"/>
              <a:ext cx="333375" cy="332740"/>
            </a:xfrm>
            <a:custGeom>
              <a:avLst/>
              <a:gdLst/>
              <a:ahLst/>
              <a:cxnLst/>
              <a:rect l="l" t="t" r="r" b="b"/>
              <a:pathLst>
                <a:path w="333375" h="332740">
                  <a:moveTo>
                    <a:pt x="166375" y="0"/>
                  </a:moveTo>
                  <a:lnTo>
                    <a:pt x="123047" y="5410"/>
                  </a:lnTo>
                  <a:lnTo>
                    <a:pt x="82798" y="21656"/>
                  </a:lnTo>
                  <a:lnTo>
                    <a:pt x="48752" y="48752"/>
                  </a:lnTo>
                  <a:lnTo>
                    <a:pt x="21671" y="82798"/>
                  </a:lnTo>
                  <a:lnTo>
                    <a:pt x="5425" y="123032"/>
                  </a:lnTo>
                  <a:lnTo>
                    <a:pt x="0" y="166359"/>
                  </a:lnTo>
                  <a:lnTo>
                    <a:pt x="777" y="188031"/>
                  </a:lnTo>
                  <a:lnTo>
                    <a:pt x="12390" y="229819"/>
                  </a:lnTo>
                  <a:lnTo>
                    <a:pt x="34046" y="266959"/>
                  </a:lnTo>
                  <a:lnTo>
                    <a:pt x="64998" y="297911"/>
                  </a:lnTo>
                  <a:lnTo>
                    <a:pt x="102915" y="319582"/>
                  </a:lnTo>
                  <a:lnTo>
                    <a:pt x="144703" y="331195"/>
                  </a:lnTo>
                  <a:lnTo>
                    <a:pt x="166375" y="332734"/>
                  </a:lnTo>
                  <a:lnTo>
                    <a:pt x="187269" y="331195"/>
                  </a:lnTo>
                  <a:lnTo>
                    <a:pt x="229834" y="319582"/>
                  </a:lnTo>
                  <a:lnTo>
                    <a:pt x="266974" y="297911"/>
                  </a:lnTo>
                  <a:lnTo>
                    <a:pt x="297926" y="266959"/>
                  </a:lnTo>
                  <a:lnTo>
                    <a:pt x="319598" y="229819"/>
                  </a:lnTo>
                  <a:lnTo>
                    <a:pt x="331195" y="188031"/>
                  </a:lnTo>
                  <a:lnTo>
                    <a:pt x="332750" y="166359"/>
                  </a:lnTo>
                  <a:lnTo>
                    <a:pt x="331195" y="144703"/>
                  </a:lnTo>
                  <a:lnTo>
                    <a:pt x="319598" y="102915"/>
                  </a:lnTo>
                  <a:lnTo>
                    <a:pt x="297926" y="64998"/>
                  </a:lnTo>
                  <a:lnTo>
                    <a:pt x="266974" y="34046"/>
                  </a:lnTo>
                  <a:lnTo>
                    <a:pt x="229834" y="12374"/>
                  </a:lnTo>
                  <a:lnTo>
                    <a:pt x="187269" y="761"/>
                  </a:lnTo>
                  <a:lnTo>
                    <a:pt x="166375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620014" y="6620738"/>
              <a:ext cx="333375" cy="332740"/>
            </a:xfrm>
            <a:custGeom>
              <a:avLst/>
              <a:gdLst/>
              <a:ahLst/>
              <a:cxnLst/>
              <a:rect l="l" t="t" r="r" b="b"/>
              <a:pathLst>
                <a:path w="333375" h="332740">
                  <a:moveTo>
                    <a:pt x="0" y="166359"/>
                  </a:moveTo>
                  <a:lnTo>
                    <a:pt x="5425" y="123032"/>
                  </a:lnTo>
                  <a:lnTo>
                    <a:pt x="21671" y="82798"/>
                  </a:lnTo>
                  <a:lnTo>
                    <a:pt x="48752" y="48752"/>
                  </a:lnTo>
                  <a:lnTo>
                    <a:pt x="82798" y="21656"/>
                  </a:lnTo>
                  <a:lnTo>
                    <a:pt x="123047" y="5410"/>
                  </a:lnTo>
                  <a:lnTo>
                    <a:pt x="166375" y="0"/>
                  </a:lnTo>
                  <a:lnTo>
                    <a:pt x="187269" y="761"/>
                  </a:lnTo>
                  <a:lnTo>
                    <a:pt x="229834" y="12374"/>
                  </a:lnTo>
                  <a:lnTo>
                    <a:pt x="266974" y="34046"/>
                  </a:lnTo>
                  <a:lnTo>
                    <a:pt x="297926" y="64998"/>
                  </a:lnTo>
                  <a:lnTo>
                    <a:pt x="319598" y="102915"/>
                  </a:lnTo>
                  <a:lnTo>
                    <a:pt x="331195" y="144703"/>
                  </a:lnTo>
                  <a:lnTo>
                    <a:pt x="332750" y="166359"/>
                  </a:lnTo>
                  <a:lnTo>
                    <a:pt x="331195" y="188031"/>
                  </a:lnTo>
                  <a:lnTo>
                    <a:pt x="319598" y="229819"/>
                  </a:lnTo>
                  <a:lnTo>
                    <a:pt x="297926" y="266959"/>
                  </a:lnTo>
                  <a:lnTo>
                    <a:pt x="266974" y="297911"/>
                  </a:lnTo>
                  <a:lnTo>
                    <a:pt x="229834" y="319582"/>
                  </a:lnTo>
                  <a:lnTo>
                    <a:pt x="187269" y="331195"/>
                  </a:lnTo>
                  <a:lnTo>
                    <a:pt x="166375" y="332734"/>
                  </a:lnTo>
                  <a:lnTo>
                    <a:pt x="144703" y="331195"/>
                  </a:lnTo>
                  <a:lnTo>
                    <a:pt x="102915" y="319582"/>
                  </a:lnTo>
                  <a:lnTo>
                    <a:pt x="64998" y="297911"/>
                  </a:lnTo>
                  <a:lnTo>
                    <a:pt x="34046" y="266959"/>
                  </a:lnTo>
                  <a:lnTo>
                    <a:pt x="12390" y="229819"/>
                  </a:lnTo>
                  <a:lnTo>
                    <a:pt x="777" y="188031"/>
                  </a:lnTo>
                  <a:lnTo>
                    <a:pt x="0" y="166359"/>
                  </a:lnTo>
                </a:path>
              </a:pathLst>
            </a:custGeom>
            <a:ln w="1289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480511" y="5795843"/>
              <a:ext cx="334010" cy="332740"/>
            </a:xfrm>
            <a:custGeom>
              <a:avLst/>
              <a:gdLst/>
              <a:ahLst/>
              <a:cxnLst/>
              <a:rect l="l" t="t" r="r" b="b"/>
              <a:pathLst>
                <a:path w="334010" h="332739">
                  <a:moveTo>
                    <a:pt x="167137" y="0"/>
                  </a:moveTo>
                  <a:lnTo>
                    <a:pt x="123809" y="5410"/>
                  </a:lnTo>
                  <a:lnTo>
                    <a:pt x="83576" y="22433"/>
                  </a:lnTo>
                  <a:lnTo>
                    <a:pt x="48752" y="48752"/>
                  </a:lnTo>
                  <a:lnTo>
                    <a:pt x="22433" y="83576"/>
                  </a:lnTo>
                  <a:lnTo>
                    <a:pt x="6187" y="123809"/>
                  </a:lnTo>
                  <a:lnTo>
                    <a:pt x="0" y="166375"/>
                  </a:lnTo>
                  <a:lnTo>
                    <a:pt x="1539" y="188031"/>
                  </a:lnTo>
                  <a:lnTo>
                    <a:pt x="13152" y="229819"/>
                  </a:lnTo>
                  <a:lnTo>
                    <a:pt x="34823" y="267736"/>
                  </a:lnTo>
                  <a:lnTo>
                    <a:pt x="65775" y="297911"/>
                  </a:lnTo>
                  <a:lnTo>
                    <a:pt x="102915" y="320360"/>
                  </a:lnTo>
                  <a:lnTo>
                    <a:pt x="145481" y="331195"/>
                  </a:lnTo>
                  <a:lnTo>
                    <a:pt x="167137" y="332734"/>
                  </a:lnTo>
                  <a:lnTo>
                    <a:pt x="188031" y="331195"/>
                  </a:lnTo>
                  <a:lnTo>
                    <a:pt x="229819" y="320360"/>
                  </a:lnTo>
                  <a:lnTo>
                    <a:pt x="267736" y="297911"/>
                  </a:lnTo>
                  <a:lnTo>
                    <a:pt x="298688" y="267736"/>
                  </a:lnTo>
                  <a:lnTo>
                    <a:pt x="320360" y="229819"/>
                  </a:lnTo>
                  <a:lnTo>
                    <a:pt x="331972" y="188031"/>
                  </a:lnTo>
                  <a:lnTo>
                    <a:pt x="333512" y="166375"/>
                  </a:lnTo>
                  <a:lnTo>
                    <a:pt x="331972" y="144703"/>
                  </a:lnTo>
                  <a:lnTo>
                    <a:pt x="320360" y="102915"/>
                  </a:lnTo>
                  <a:lnTo>
                    <a:pt x="298688" y="64998"/>
                  </a:lnTo>
                  <a:lnTo>
                    <a:pt x="267736" y="34046"/>
                  </a:lnTo>
                  <a:lnTo>
                    <a:pt x="229819" y="12374"/>
                  </a:lnTo>
                  <a:lnTo>
                    <a:pt x="188031" y="1539"/>
                  </a:lnTo>
                  <a:lnTo>
                    <a:pt x="167137" y="0"/>
                  </a:lnTo>
                  <a:close/>
                </a:path>
              </a:pathLst>
            </a:custGeom>
            <a:solidFill>
              <a:srgbClr val="8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480511" y="5795843"/>
              <a:ext cx="334010" cy="332740"/>
            </a:xfrm>
            <a:custGeom>
              <a:avLst/>
              <a:gdLst/>
              <a:ahLst/>
              <a:cxnLst/>
              <a:rect l="l" t="t" r="r" b="b"/>
              <a:pathLst>
                <a:path w="334010" h="332739">
                  <a:moveTo>
                    <a:pt x="0" y="166375"/>
                  </a:moveTo>
                  <a:lnTo>
                    <a:pt x="6187" y="123809"/>
                  </a:lnTo>
                  <a:lnTo>
                    <a:pt x="22433" y="83576"/>
                  </a:lnTo>
                  <a:lnTo>
                    <a:pt x="48752" y="48752"/>
                  </a:lnTo>
                  <a:lnTo>
                    <a:pt x="83576" y="22433"/>
                  </a:lnTo>
                  <a:lnTo>
                    <a:pt x="123809" y="5410"/>
                  </a:lnTo>
                  <a:lnTo>
                    <a:pt x="167137" y="0"/>
                  </a:lnTo>
                  <a:lnTo>
                    <a:pt x="188031" y="1539"/>
                  </a:lnTo>
                  <a:lnTo>
                    <a:pt x="229819" y="12374"/>
                  </a:lnTo>
                  <a:lnTo>
                    <a:pt x="267736" y="34046"/>
                  </a:lnTo>
                  <a:lnTo>
                    <a:pt x="298688" y="64998"/>
                  </a:lnTo>
                  <a:lnTo>
                    <a:pt x="320360" y="102915"/>
                  </a:lnTo>
                  <a:lnTo>
                    <a:pt x="331972" y="144703"/>
                  </a:lnTo>
                  <a:lnTo>
                    <a:pt x="333512" y="166375"/>
                  </a:lnTo>
                  <a:lnTo>
                    <a:pt x="331972" y="188031"/>
                  </a:lnTo>
                  <a:lnTo>
                    <a:pt x="320360" y="229819"/>
                  </a:lnTo>
                  <a:lnTo>
                    <a:pt x="298688" y="267736"/>
                  </a:lnTo>
                  <a:lnTo>
                    <a:pt x="267736" y="297911"/>
                  </a:lnTo>
                  <a:lnTo>
                    <a:pt x="229819" y="320360"/>
                  </a:lnTo>
                  <a:lnTo>
                    <a:pt x="188031" y="331195"/>
                  </a:lnTo>
                  <a:lnTo>
                    <a:pt x="167137" y="332734"/>
                  </a:lnTo>
                  <a:lnTo>
                    <a:pt x="145481" y="331195"/>
                  </a:lnTo>
                  <a:lnTo>
                    <a:pt x="102915" y="320360"/>
                  </a:lnTo>
                  <a:lnTo>
                    <a:pt x="65775" y="297911"/>
                  </a:lnTo>
                  <a:lnTo>
                    <a:pt x="34823" y="267736"/>
                  </a:lnTo>
                  <a:lnTo>
                    <a:pt x="13152" y="229819"/>
                  </a:lnTo>
                  <a:lnTo>
                    <a:pt x="1539" y="188031"/>
                  </a:lnTo>
                  <a:lnTo>
                    <a:pt x="0" y="166375"/>
                  </a:lnTo>
                </a:path>
              </a:pathLst>
            </a:custGeom>
            <a:ln w="1289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280315" y="5719231"/>
              <a:ext cx="340995" cy="337820"/>
            </a:xfrm>
            <a:custGeom>
              <a:avLst/>
              <a:gdLst/>
              <a:ahLst/>
              <a:cxnLst/>
              <a:rect l="l" t="t" r="r" b="b"/>
              <a:pathLst>
                <a:path w="340994" h="337820">
                  <a:moveTo>
                    <a:pt x="0" y="337383"/>
                  </a:moveTo>
                  <a:lnTo>
                    <a:pt x="340476" y="0"/>
                  </a:lnTo>
                </a:path>
              </a:pathLst>
            </a:custGeom>
            <a:ln w="1934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3" name="object 6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582875" y="5681314"/>
              <a:ext cx="77388" cy="75834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2926445" y="6117742"/>
              <a:ext cx="560070" cy="579755"/>
            </a:xfrm>
            <a:custGeom>
              <a:avLst/>
              <a:gdLst/>
              <a:ahLst/>
              <a:cxnLst/>
              <a:rect l="l" t="t" r="r" b="b"/>
              <a:pathLst>
                <a:path w="560070" h="579754">
                  <a:moveTo>
                    <a:pt x="559475" y="0"/>
                  </a:moveTo>
                  <a:lnTo>
                    <a:pt x="0" y="579592"/>
                  </a:lnTo>
                </a:path>
              </a:pathLst>
            </a:custGeom>
            <a:ln w="1934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5" name="object 6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447226" y="6077509"/>
              <a:ext cx="76611" cy="78150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2281854" y="6328999"/>
              <a:ext cx="320675" cy="339090"/>
            </a:xfrm>
            <a:custGeom>
              <a:avLst/>
              <a:gdLst/>
              <a:ahLst/>
              <a:cxnLst/>
              <a:rect l="l" t="t" r="r" b="b"/>
              <a:pathLst>
                <a:path w="320675" h="339090">
                  <a:moveTo>
                    <a:pt x="320360" y="338937"/>
                  </a:moveTo>
                  <a:lnTo>
                    <a:pt x="0" y="0"/>
                  </a:lnTo>
                </a:path>
              </a:pathLst>
            </a:custGeom>
            <a:ln w="1934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7" name="object 6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563535" y="6630020"/>
              <a:ext cx="76596" cy="77388"/>
            </a:xfrm>
            <a:prstGeom prst="rect">
              <a:avLst/>
            </a:prstGeom>
          </p:spPr>
        </p:pic>
      </p:grpSp>
      <p:sp>
        <p:nvSpPr>
          <p:cNvPr id="68" name="object 68"/>
          <p:cNvSpPr txBox="1"/>
          <p:nvPr/>
        </p:nvSpPr>
        <p:spPr>
          <a:xfrm>
            <a:off x="1873274" y="6015353"/>
            <a:ext cx="1282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 i="1">
                <a:solidFill>
                  <a:srgbClr val="FFFF00"/>
                </a:solidFill>
                <a:latin typeface="Arial"/>
                <a:cs typeface="Arial"/>
              </a:rPr>
              <a:t>s</a:t>
            </a:r>
            <a:endParaRPr sz="180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2318222" y="5622251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80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314354" y="6454109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849064" y="5986721"/>
            <a:ext cx="217804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-6</a:t>
            </a:r>
            <a:endParaRPr sz="18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328060" y="6276131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702811" y="5406355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8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2712097" y="6621255"/>
            <a:ext cx="2671445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  <a:tabLst>
                <a:tab pos="2529840" algn="l"/>
              </a:tabLst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2</a:t>
            </a: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	</a:t>
            </a: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576456" y="5797908"/>
            <a:ext cx="14097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76" name="object 76"/>
          <p:cNvGrpSpPr/>
          <p:nvPr/>
        </p:nvGrpSpPr>
        <p:grpSpPr>
          <a:xfrm>
            <a:off x="3763470" y="4573715"/>
            <a:ext cx="483870" cy="2176780"/>
            <a:chOff x="3763470" y="4573715"/>
            <a:chExt cx="483870" cy="2176780"/>
          </a:xfrm>
        </p:grpSpPr>
        <p:sp>
          <p:nvSpPr>
            <p:cNvPr id="77" name="object 77"/>
            <p:cNvSpPr/>
            <p:nvPr/>
          </p:nvSpPr>
          <p:spPr>
            <a:xfrm>
              <a:off x="3769918" y="4580163"/>
              <a:ext cx="462915" cy="232410"/>
            </a:xfrm>
            <a:custGeom>
              <a:avLst/>
              <a:gdLst/>
              <a:ahLst/>
              <a:cxnLst/>
              <a:rect l="l" t="t" r="r" b="b"/>
              <a:pathLst>
                <a:path w="462914" h="232410">
                  <a:moveTo>
                    <a:pt x="347441" y="0"/>
                  </a:moveTo>
                  <a:lnTo>
                    <a:pt x="347441" y="76611"/>
                  </a:lnTo>
                  <a:lnTo>
                    <a:pt x="0" y="76611"/>
                  </a:lnTo>
                  <a:lnTo>
                    <a:pt x="0" y="155539"/>
                  </a:lnTo>
                  <a:lnTo>
                    <a:pt x="347441" y="155539"/>
                  </a:lnTo>
                  <a:lnTo>
                    <a:pt x="347441" y="232150"/>
                  </a:lnTo>
                  <a:lnTo>
                    <a:pt x="462747" y="116067"/>
                  </a:lnTo>
                  <a:lnTo>
                    <a:pt x="34744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769918" y="4580163"/>
              <a:ext cx="462915" cy="232410"/>
            </a:xfrm>
            <a:custGeom>
              <a:avLst/>
              <a:gdLst/>
              <a:ahLst/>
              <a:cxnLst/>
              <a:rect l="l" t="t" r="r" b="b"/>
              <a:pathLst>
                <a:path w="462914" h="232410">
                  <a:moveTo>
                    <a:pt x="462747" y="116067"/>
                  </a:moveTo>
                  <a:lnTo>
                    <a:pt x="347441" y="232150"/>
                  </a:lnTo>
                  <a:lnTo>
                    <a:pt x="347441" y="155539"/>
                  </a:lnTo>
                  <a:lnTo>
                    <a:pt x="0" y="155539"/>
                  </a:lnTo>
                  <a:lnTo>
                    <a:pt x="0" y="76611"/>
                  </a:lnTo>
                  <a:lnTo>
                    <a:pt x="347441" y="76611"/>
                  </a:lnTo>
                  <a:lnTo>
                    <a:pt x="347441" y="0"/>
                  </a:lnTo>
                  <a:lnTo>
                    <a:pt x="462747" y="116067"/>
                  </a:lnTo>
                </a:path>
              </a:pathLst>
            </a:custGeom>
            <a:ln w="1289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3777660" y="6512397"/>
              <a:ext cx="462915" cy="231775"/>
            </a:xfrm>
            <a:custGeom>
              <a:avLst/>
              <a:gdLst/>
              <a:ahLst/>
              <a:cxnLst/>
              <a:rect l="l" t="t" r="r" b="b"/>
              <a:pathLst>
                <a:path w="462914" h="231775">
                  <a:moveTo>
                    <a:pt x="116067" y="0"/>
                  </a:moveTo>
                  <a:lnTo>
                    <a:pt x="0" y="115305"/>
                  </a:lnTo>
                  <a:lnTo>
                    <a:pt x="116067" y="231373"/>
                  </a:lnTo>
                  <a:lnTo>
                    <a:pt x="116067" y="154762"/>
                  </a:lnTo>
                  <a:lnTo>
                    <a:pt x="462747" y="154762"/>
                  </a:lnTo>
                  <a:lnTo>
                    <a:pt x="462747" y="75834"/>
                  </a:lnTo>
                  <a:lnTo>
                    <a:pt x="116067" y="75834"/>
                  </a:lnTo>
                  <a:lnTo>
                    <a:pt x="11606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3777660" y="6512397"/>
              <a:ext cx="462915" cy="231775"/>
            </a:xfrm>
            <a:custGeom>
              <a:avLst/>
              <a:gdLst/>
              <a:ahLst/>
              <a:cxnLst/>
              <a:rect l="l" t="t" r="r" b="b"/>
              <a:pathLst>
                <a:path w="462914" h="231775">
                  <a:moveTo>
                    <a:pt x="0" y="115305"/>
                  </a:moveTo>
                  <a:lnTo>
                    <a:pt x="116067" y="231373"/>
                  </a:lnTo>
                  <a:lnTo>
                    <a:pt x="116067" y="154762"/>
                  </a:lnTo>
                  <a:lnTo>
                    <a:pt x="462747" y="154762"/>
                  </a:lnTo>
                  <a:lnTo>
                    <a:pt x="462747" y="75834"/>
                  </a:lnTo>
                  <a:lnTo>
                    <a:pt x="116067" y="75834"/>
                  </a:lnTo>
                  <a:lnTo>
                    <a:pt x="116067" y="0"/>
                  </a:lnTo>
                  <a:lnTo>
                    <a:pt x="0" y="115305"/>
                  </a:lnTo>
                </a:path>
              </a:pathLst>
            </a:custGeom>
            <a:ln w="1289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1" name="object 81"/>
          <p:cNvSpPr txBox="1"/>
          <p:nvPr/>
        </p:nvSpPr>
        <p:spPr>
          <a:xfrm>
            <a:off x="2821215" y="3906337"/>
            <a:ext cx="245745" cy="573405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85"/>
              </a:spcBef>
            </a:pPr>
            <a:r>
              <a:rPr dirty="0" u="sng" sz="1200" spc="10" i="1">
                <a:solidFill>
                  <a:srgbClr val="E84A00"/>
                </a:solidFill>
                <a:uFill>
                  <a:solidFill>
                    <a:srgbClr val="E84A00"/>
                  </a:solidFill>
                </a:uFill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marL="27305">
              <a:lnSpc>
                <a:spcPct val="100000"/>
              </a:lnSpc>
              <a:spcBef>
                <a:spcPts val="425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-6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3117581" y="4685093"/>
            <a:ext cx="990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u="sng" sz="1200" spc="10" i="1">
                <a:solidFill>
                  <a:srgbClr val="E84A00"/>
                </a:solidFill>
                <a:uFill>
                  <a:solidFill>
                    <a:srgbClr val="E84A00"/>
                  </a:solidFill>
                </a:uFill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2318222" y="3813061"/>
            <a:ext cx="226060" cy="44069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ts val="1985"/>
              </a:lnSpc>
              <a:spcBef>
                <a:spcPts val="114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800">
              <a:latin typeface="Arial"/>
              <a:cs typeface="Arial"/>
            </a:endParaRPr>
          </a:p>
          <a:p>
            <a:pPr marL="126364">
              <a:lnSpc>
                <a:spcPts val="1265"/>
              </a:lnSpc>
            </a:pPr>
            <a:r>
              <a:rPr dirty="0" u="sng" sz="1200" spc="10" i="1">
                <a:solidFill>
                  <a:srgbClr val="E84A00"/>
                </a:solidFill>
                <a:uFill>
                  <a:solidFill>
                    <a:srgbClr val="E84A00"/>
                  </a:solidFill>
                </a:uFill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2130182" y="4183554"/>
            <a:ext cx="161290" cy="561975"/>
          </a:xfrm>
          <a:prstGeom prst="rect">
            <a:avLst/>
          </a:prstGeom>
        </p:spPr>
        <p:txBody>
          <a:bodyPr wrap="square" lIns="0" tIns="58419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59"/>
              </a:spcBef>
            </a:pPr>
            <a:r>
              <a:rPr dirty="0" sz="1800" spc="5">
                <a:solidFill>
                  <a:srgbClr val="FFFF00"/>
                </a:solidFill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  <a:p>
            <a:pPr marL="61594">
              <a:lnSpc>
                <a:spcPct val="100000"/>
              </a:lnSpc>
              <a:spcBef>
                <a:spcPts val="259"/>
              </a:spcBef>
            </a:pPr>
            <a:r>
              <a:rPr dirty="0" u="sng" sz="1200" spc="10" i="1">
                <a:solidFill>
                  <a:srgbClr val="E84A00"/>
                </a:solidFill>
                <a:uFill>
                  <a:solidFill>
                    <a:srgbClr val="E84A00"/>
                  </a:solidFill>
                </a:uFill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825499" y="7078650"/>
            <a:ext cx="6540500" cy="1905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8.70: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Bellman-Ford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  <a:spcBef>
                <a:spcPts val="1165"/>
              </a:spcBef>
              <a:tabLst>
                <a:tab pos="6350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8.6.4	Correctness</a:t>
            </a:r>
            <a:r>
              <a:rPr dirty="0" sz="1400" spc="-10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of</a:t>
            </a:r>
            <a:r>
              <a:rPr dirty="0" sz="1400" spc="-5" b="1">
                <a:latin typeface="Times New Roman"/>
                <a:cs typeface="Times New Roman"/>
              </a:rPr>
              <a:t> </a:t>
            </a:r>
            <a:r>
              <a:rPr dirty="0" sz="1400" spc="10" b="1">
                <a:latin typeface="Times New Roman"/>
                <a:cs typeface="Times New Roman"/>
              </a:rPr>
              <a:t>Bellman-Ford</a:t>
            </a:r>
            <a:endParaRPr sz="1400">
              <a:latin typeface="Times New Roman"/>
              <a:cs typeface="Times New Roman"/>
            </a:endParaRPr>
          </a:p>
          <a:p>
            <a:pPr algn="just" marL="88900" marR="81280">
              <a:lnSpc>
                <a:spcPct val="100000"/>
              </a:lnSpc>
              <a:spcBef>
                <a:spcPts val="1290"/>
              </a:spcBef>
            </a:pPr>
            <a:r>
              <a:rPr dirty="0" sz="1200" spc="-10">
                <a:latin typeface="Times New Roman"/>
                <a:cs typeface="Times New Roman"/>
              </a:rPr>
              <a:t>Think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Bellman-Ford </a:t>
            </a:r>
            <a:r>
              <a:rPr dirty="0" sz="1200" spc="-5">
                <a:latin typeface="Times New Roman"/>
                <a:cs typeface="Times New Roman"/>
              </a:rPr>
              <a:t>as a sort of </a:t>
            </a:r>
            <a:r>
              <a:rPr dirty="0" sz="1200" spc="-10">
                <a:latin typeface="Times New Roman"/>
                <a:cs typeface="Times New Roman"/>
              </a:rPr>
              <a:t>bubble-sort </a:t>
            </a:r>
            <a:r>
              <a:rPr dirty="0" sz="1200" spc="-5">
                <a:latin typeface="Times New Roman"/>
                <a:cs typeface="Times New Roman"/>
              </a:rPr>
              <a:t>analog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shortest path. The shortest path </a:t>
            </a:r>
            <a:r>
              <a:rPr dirty="0" sz="1200" spc="-10">
                <a:latin typeface="Times New Roman"/>
                <a:cs typeface="Times New Roman"/>
              </a:rPr>
              <a:t>information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propagated </a:t>
            </a:r>
            <a:r>
              <a:rPr dirty="0" sz="1200" spc="-5">
                <a:latin typeface="Times New Roman"/>
                <a:cs typeface="Times New Roman"/>
              </a:rPr>
              <a:t>sequentially along each shortest path in </a:t>
            </a:r>
            <a:r>
              <a:rPr dirty="0" sz="1200" spc="-10">
                <a:latin typeface="Times New Roman"/>
                <a:cs typeface="Times New Roman"/>
              </a:rPr>
              <a:t>the graph. </a:t>
            </a: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 spc="-1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shortest path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-70">
                <a:latin typeface="Lucida Sans Unicode"/>
                <a:cs typeface="Lucida Sans Unicode"/>
              </a:rPr>
              <a:t>s </a:t>
            </a:r>
            <a:r>
              <a:rPr dirty="0" sz="1200" spc="-5">
                <a:latin typeface="Times New Roman"/>
                <a:cs typeface="Times New Roman"/>
              </a:rPr>
              <a:t>to some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Segoe UI Symbol"/>
                <a:cs typeface="Segoe UI Symbol"/>
              </a:rPr>
              <a:t>⟨</a:t>
            </a:r>
            <a:r>
              <a:rPr dirty="0" sz="1200" spc="-5">
                <a:latin typeface="Lucida Sans Unicode"/>
                <a:cs typeface="Lucida Sans Unicode"/>
              </a:rPr>
              <a:t>v</a:t>
            </a:r>
            <a:r>
              <a:rPr dirty="0" baseline="-13888" sz="1200" spc="-7">
                <a:latin typeface="Verdana"/>
                <a:cs typeface="Verdana"/>
              </a:rPr>
              <a:t>0</a:t>
            </a:r>
            <a:r>
              <a:rPr dirty="0" sz="1200" spc="-5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v</a:t>
            </a:r>
            <a:r>
              <a:rPr dirty="0" baseline="-13888" sz="1200" spc="-60">
                <a:latin typeface="Verdana"/>
                <a:cs typeface="Verdana"/>
              </a:rPr>
              <a:t>1</a:t>
            </a:r>
            <a:r>
              <a:rPr dirty="0" sz="1200" spc="-4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baseline="-13888" sz="1200" spc="60">
                <a:latin typeface="Verdana"/>
                <a:cs typeface="Verdana"/>
              </a:rPr>
              <a:t>k</a:t>
            </a:r>
            <a:r>
              <a:rPr dirty="0" sz="1200" spc="40">
                <a:latin typeface="Segoe UI Symbol"/>
                <a:cs typeface="Segoe UI Symbol"/>
              </a:rPr>
              <a:t>⟩</a:t>
            </a:r>
            <a:r>
              <a:rPr dirty="0" sz="1200" spc="-30">
                <a:latin typeface="Segoe UI Symbol"/>
                <a:cs typeface="Segoe UI Symbol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v</a:t>
            </a:r>
            <a:r>
              <a:rPr dirty="0" baseline="-13888" sz="1200" spc="-37">
                <a:latin typeface="Verdana"/>
                <a:cs typeface="Verdana"/>
              </a:rPr>
              <a:t>0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20">
                <a:latin typeface="Lucida Sans Unicode"/>
                <a:cs typeface="Lucida Sans Unicode"/>
              </a:rPr>
              <a:t>v</a:t>
            </a:r>
            <a:r>
              <a:rPr dirty="0" baseline="-13888" sz="1200" spc="30">
                <a:latin typeface="Verdana"/>
                <a:cs typeface="Verdana"/>
              </a:rPr>
              <a:t>k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just" marL="88900" marR="74930" indent="-635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Since a shortest path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15">
                <a:latin typeface="Times New Roman"/>
                <a:cs typeface="Times New Roman"/>
              </a:rPr>
              <a:t>never </a:t>
            </a:r>
            <a:r>
              <a:rPr dirty="0" sz="1200" spc="-5">
                <a:latin typeface="Times New Roman"/>
                <a:cs typeface="Times New Roman"/>
              </a:rPr>
              <a:t>visit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 spc="-15">
                <a:latin typeface="Times New Roman"/>
                <a:cs typeface="Times New Roman"/>
              </a:rPr>
              <a:t>vertex </a:t>
            </a:r>
            <a:r>
              <a:rPr dirty="0" sz="1200" spc="-5">
                <a:latin typeface="Times New Roman"/>
                <a:cs typeface="Times New Roman"/>
              </a:rPr>
              <a:t>twice,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15">
                <a:latin typeface="Times New Roman"/>
                <a:cs typeface="Times New Roman"/>
              </a:rPr>
              <a:t>know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40">
                <a:latin typeface="Lucida Sans Unicode"/>
                <a:cs typeface="Lucida Sans Unicode"/>
              </a:rPr>
              <a:t>k </a:t>
            </a:r>
            <a:r>
              <a:rPr dirty="0" sz="1200" spc="105">
                <a:latin typeface="Segoe UI Symbol"/>
                <a:cs typeface="Segoe UI Symbol"/>
              </a:rPr>
              <a:t>≤ </a:t>
            </a:r>
            <a:r>
              <a:rPr dirty="0" sz="1200" spc="-15">
                <a:latin typeface="Lucida Sans Unicode"/>
                <a:cs typeface="Lucida Sans Unicode"/>
              </a:rPr>
              <a:t>V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95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Hence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path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 of 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 path,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v</a:t>
            </a:r>
            <a:r>
              <a:rPr dirty="0" baseline="-13888" sz="1200" spc="75">
                <a:latin typeface="Verdana"/>
                <a:cs typeface="Verdana"/>
              </a:rPr>
              <a:t>i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true</a:t>
            </a:r>
            <a:r>
              <a:rPr dirty="0" sz="1200" spc="-5">
                <a:latin typeface="Times New Roman"/>
                <a:cs typeface="Times New Roman"/>
              </a:rPr>
              <a:t> 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 cost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60995" y="5297932"/>
            <a:ext cx="2068830" cy="163195"/>
          </a:xfrm>
          <a:custGeom>
            <a:avLst/>
            <a:gdLst/>
            <a:ahLst/>
            <a:cxnLst/>
            <a:rect l="l" t="t" r="r" b="b"/>
            <a:pathLst>
              <a:path w="2068829" h="163195">
                <a:moveTo>
                  <a:pt x="2068245" y="0"/>
                </a:moveTo>
                <a:lnTo>
                  <a:pt x="0" y="0"/>
                </a:lnTo>
                <a:lnTo>
                  <a:pt x="0" y="162712"/>
                </a:lnTo>
                <a:lnTo>
                  <a:pt x="2068245" y="162712"/>
                </a:lnTo>
                <a:lnTo>
                  <a:pt x="2068245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0987"/>
            <a:ext cx="158496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8.6.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SHORTEST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PATHS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16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74699" y="926454"/>
            <a:ext cx="6653530" cy="6737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9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v</a:t>
            </a:r>
            <a:r>
              <a:rPr dirty="0" baseline="-13888" sz="1200" spc="89">
                <a:latin typeface="Verdana"/>
                <a:cs typeface="Verdana"/>
              </a:rPr>
              <a:t>i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satisfies</a:t>
            </a:r>
            <a:r>
              <a:rPr dirty="0" sz="1200" spc="-10">
                <a:latin typeface="Times New Roman"/>
                <a:cs typeface="Times New Roman"/>
              </a:rPr>
              <a:t>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equation:</a:t>
            </a:r>
            <a:endParaRPr sz="1200">
              <a:latin typeface="Times New Roman"/>
              <a:cs typeface="Times New Roman"/>
            </a:endParaRPr>
          </a:p>
          <a:p>
            <a:pPr algn="ctr" marL="26670">
              <a:lnSpc>
                <a:spcPct val="100000"/>
              </a:lnSpc>
              <a:spcBef>
                <a:spcPts val="1200"/>
              </a:spcBef>
            </a:pPr>
            <a:r>
              <a:rPr dirty="0" sz="1200" spc="-110">
                <a:latin typeface="Lucida Sans Unicode"/>
                <a:cs typeface="Lucida Sans Unicode"/>
              </a:rPr>
              <a:t>δ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δ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127">
                <a:latin typeface="Verdana"/>
                <a:cs typeface="Verdana"/>
              </a:rPr>
              <a:t>i</a:t>
            </a:r>
            <a:r>
              <a:rPr dirty="0" baseline="-13888" sz="1200" spc="-52">
                <a:latin typeface="Verdana"/>
                <a:cs typeface="Verdana"/>
              </a:rPr>
              <a:t>−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127">
                <a:latin typeface="Verdana"/>
                <a:cs typeface="Verdana"/>
              </a:rPr>
              <a:t>i</a:t>
            </a:r>
            <a:r>
              <a:rPr dirty="0" baseline="-13888" sz="1200" spc="-52">
                <a:latin typeface="Verdana"/>
                <a:cs typeface="Verdana"/>
              </a:rPr>
              <a:t>−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600">
              <a:latin typeface="Garamond"/>
              <a:cs typeface="Garamond"/>
            </a:endParaRPr>
          </a:p>
          <a:p>
            <a:pPr marL="139065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Claim: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assert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i</a:t>
            </a:r>
            <a:r>
              <a:rPr dirty="0" baseline="31250" sz="1200" spc="30">
                <a:latin typeface="Times New Roman"/>
                <a:cs typeface="Times New Roman"/>
              </a:rPr>
              <a:t>th</a:t>
            </a:r>
            <a:r>
              <a:rPr dirty="0" baseline="3125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“</a:t>
            </a:r>
            <a:r>
              <a:rPr dirty="0" sz="1200" spc="10">
                <a:latin typeface="Lucida Sans Unicode"/>
                <a:cs typeface="Lucida Sans Unicode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-</a:t>
            </a:r>
            <a:r>
              <a:rPr dirty="0" sz="1200" spc="10">
                <a:latin typeface="Lucida Sans Unicode"/>
                <a:cs typeface="Lucida Sans Unicode"/>
              </a:rPr>
              <a:t>i</a:t>
            </a:r>
            <a:r>
              <a:rPr dirty="0" sz="1200" spc="10">
                <a:latin typeface="Times New Roman"/>
                <a:cs typeface="Times New Roman"/>
              </a:rPr>
              <a:t>”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d</a:t>
            </a:r>
            <a:r>
              <a:rPr dirty="0" sz="1200" spc="15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v</a:t>
            </a:r>
            <a:r>
              <a:rPr dirty="0" baseline="-13888" sz="1200" spc="22">
                <a:latin typeface="Verdana"/>
                <a:cs typeface="Verdana"/>
              </a:rPr>
              <a:t>i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v</a:t>
            </a:r>
            <a:r>
              <a:rPr dirty="0" baseline="-13888" sz="1200" spc="75">
                <a:latin typeface="Verdana"/>
                <a:cs typeface="Verdana"/>
              </a:rPr>
              <a:t>i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39700">
              <a:lnSpc>
                <a:spcPct val="100000"/>
              </a:lnSpc>
              <a:spcBef>
                <a:spcPts val="1000"/>
              </a:spcBef>
            </a:pPr>
            <a:r>
              <a:rPr dirty="0" sz="1200" spc="-10" b="1">
                <a:latin typeface="Times New Roman"/>
                <a:cs typeface="Times New Roman"/>
              </a:rPr>
              <a:t>Proof: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Observe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initialization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(pass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0),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sz="1200" spc="-20">
                <a:latin typeface="Garamond"/>
                <a:cs typeface="Garamond"/>
              </a:rPr>
              <a:t>[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baseline="-13888" sz="1200" spc="-30">
                <a:latin typeface="Verdana"/>
                <a:cs typeface="Verdana"/>
              </a:rPr>
              <a:t>1</a:t>
            </a:r>
            <a:r>
              <a:rPr dirty="0" sz="1200" spc="-20">
                <a:latin typeface="Garamond"/>
                <a:cs typeface="Garamond"/>
              </a:rPr>
              <a:t>]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d</a:t>
            </a:r>
            <a:r>
              <a:rPr dirty="0" sz="1200" spc="-25">
                <a:latin typeface="Garamond"/>
                <a:cs typeface="Garamond"/>
              </a:rPr>
              <a:t>[</a:t>
            </a:r>
            <a:r>
              <a:rPr dirty="0" sz="1200" spc="-25">
                <a:latin typeface="Lucida Sans Unicode"/>
                <a:cs typeface="Lucida Sans Unicode"/>
              </a:rPr>
              <a:t>s</a:t>
            </a:r>
            <a:r>
              <a:rPr dirty="0" sz="1200" spc="-25">
                <a:latin typeface="Garamond"/>
                <a:cs typeface="Garamond"/>
              </a:rPr>
              <a:t>]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0</a:t>
            </a:r>
            <a:r>
              <a:rPr dirty="0" sz="1200" spc="-8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511175">
              <a:lnSpc>
                <a:spcPct val="100000"/>
              </a:lnSpc>
              <a:spcBef>
                <a:spcPts val="505"/>
              </a:spcBef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prior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i</a:t>
            </a:r>
            <a:r>
              <a:rPr dirty="0" baseline="31250" sz="1200" spc="30">
                <a:latin typeface="Times New Roman"/>
                <a:cs typeface="Times New Roman"/>
              </a:rPr>
              <a:t>th</a:t>
            </a:r>
            <a:r>
              <a:rPr dirty="0" baseline="31250" sz="1200" spc="232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induction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hypothesis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tells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  <a:p>
            <a:pPr marL="511175" marR="119380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Lucida Sans Unicode"/>
                <a:cs typeface="Lucida Sans Unicode"/>
              </a:rPr>
              <a:t>d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v</a:t>
            </a:r>
            <a:r>
              <a:rPr dirty="0" baseline="-13888" sz="1200" spc="-7">
                <a:latin typeface="Verdana"/>
                <a:cs typeface="Verdana"/>
              </a:rPr>
              <a:t>i−1</a:t>
            </a:r>
            <a:r>
              <a:rPr dirty="0" sz="1200" spc="-5">
                <a:latin typeface="Garamond"/>
                <a:cs typeface="Garamond"/>
              </a:rPr>
              <a:t>]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 </a:t>
            </a:r>
            <a:r>
              <a:rPr dirty="0" sz="1200" spc="15">
                <a:latin typeface="Lucida Sans Unicode"/>
                <a:cs typeface="Lucida Sans Unicode"/>
              </a:rPr>
              <a:t>v</a:t>
            </a:r>
            <a:r>
              <a:rPr dirty="0" baseline="-13888" sz="1200" spc="22">
                <a:latin typeface="Verdana"/>
                <a:cs typeface="Verdana"/>
              </a:rPr>
              <a:t>i−1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After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20">
                <a:latin typeface="Lucida Sans Unicode"/>
                <a:cs typeface="Lucida Sans Unicode"/>
              </a:rPr>
              <a:t>i</a:t>
            </a:r>
            <a:r>
              <a:rPr dirty="0" baseline="31250" sz="1200" spc="30">
                <a:latin typeface="Times New Roman"/>
                <a:cs typeface="Times New Roman"/>
              </a:rPr>
              <a:t>th </a:t>
            </a:r>
            <a:r>
              <a:rPr dirty="0" sz="1200" spc="-5">
                <a:latin typeface="Times New Roman"/>
                <a:cs typeface="Times New Roman"/>
              </a:rPr>
              <a:t>pass,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10">
                <a:latin typeface="Times New Roman"/>
                <a:cs typeface="Times New Roman"/>
              </a:rPr>
              <a:t>done </a:t>
            </a:r>
            <a:r>
              <a:rPr dirty="0" sz="1200" spc="-5">
                <a:latin typeface="Times New Roman"/>
                <a:cs typeface="Times New Roman"/>
              </a:rPr>
              <a:t>relaxation on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edge 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v</a:t>
            </a:r>
            <a:r>
              <a:rPr dirty="0" baseline="-13888" sz="1200" spc="7">
                <a:latin typeface="Verdana"/>
                <a:cs typeface="Verdana"/>
              </a:rPr>
              <a:t>i−1</a:t>
            </a:r>
            <a:r>
              <a:rPr dirty="0" sz="1200" spc="5">
                <a:latin typeface="Lucida Sans Unicode"/>
                <a:cs typeface="Lucida Sans Unicode"/>
              </a:rPr>
              <a:t>, </a:t>
            </a:r>
            <a:r>
              <a:rPr dirty="0" sz="1200" spc="70">
                <a:latin typeface="Lucida Sans Unicode"/>
                <a:cs typeface="Lucida Sans Unicode"/>
              </a:rPr>
              <a:t>v</a:t>
            </a:r>
            <a:r>
              <a:rPr dirty="0" baseline="-13888" sz="1200" spc="104">
                <a:latin typeface="Verdana"/>
                <a:cs typeface="Verdana"/>
              </a:rPr>
              <a:t>i</a:t>
            </a:r>
            <a:r>
              <a:rPr dirty="0" sz="1200" spc="7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(since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relaxation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along all edges).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 after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i</a:t>
            </a:r>
            <a:r>
              <a:rPr dirty="0" baseline="31250" sz="1200" spc="30">
                <a:latin typeface="Times New Roman"/>
                <a:cs typeface="Times New Roman"/>
              </a:rPr>
              <a:t>th</a:t>
            </a:r>
            <a:r>
              <a:rPr dirty="0" baseline="31250" sz="1200" spc="217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pass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  <a:p>
            <a:pPr algn="ctr" marL="247015">
              <a:lnSpc>
                <a:spcPct val="100000"/>
              </a:lnSpc>
              <a:spcBef>
                <a:spcPts val="1205"/>
              </a:spcBef>
            </a:pP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≤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127">
                <a:latin typeface="Verdana"/>
                <a:cs typeface="Verdana"/>
              </a:rPr>
              <a:t>i</a:t>
            </a:r>
            <a:r>
              <a:rPr dirty="0" baseline="-13888" sz="1200" spc="-52">
                <a:latin typeface="Verdana"/>
                <a:cs typeface="Verdana"/>
              </a:rPr>
              <a:t>−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127">
                <a:latin typeface="Verdana"/>
                <a:cs typeface="Verdana"/>
              </a:rPr>
              <a:t>i</a:t>
            </a:r>
            <a:r>
              <a:rPr dirty="0" baseline="-13888" sz="1200" spc="-52">
                <a:latin typeface="Verdana"/>
                <a:cs typeface="Verdana"/>
              </a:rPr>
              <a:t>−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2890520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δ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127">
                <a:latin typeface="Verdana"/>
                <a:cs typeface="Verdana"/>
              </a:rPr>
              <a:t>i</a:t>
            </a:r>
            <a:r>
              <a:rPr dirty="0" baseline="-13888" sz="1200" spc="-52">
                <a:latin typeface="Verdana"/>
                <a:cs typeface="Verdana"/>
              </a:rPr>
              <a:t>−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127">
                <a:latin typeface="Verdana"/>
                <a:cs typeface="Verdana"/>
              </a:rPr>
              <a:t>i</a:t>
            </a:r>
            <a:r>
              <a:rPr dirty="0" baseline="-13888" sz="1200" spc="-52">
                <a:latin typeface="Verdana"/>
                <a:cs typeface="Verdana"/>
              </a:rPr>
              <a:t>−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2890520">
              <a:lnSpc>
                <a:spcPct val="100000"/>
              </a:lnSpc>
              <a:spcBef>
                <a:spcPts val="305"/>
              </a:spcBef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δ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70">
                <a:latin typeface="Lucida Sans Unicode"/>
                <a:cs typeface="Lucida Sans Unicode"/>
              </a:rPr>
              <a:t>s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Garamond"/>
              <a:cs typeface="Garamond"/>
            </a:endParaRPr>
          </a:p>
          <a:p>
            <a:pPr marL="511175">
              <a:lnSpc>
                <a:spcPct val="100000"/>
              </a:lnSpc>
              <a:spcBef>
                <a:spcPts val="5"/>
              </a:spcBef>
            </a:pPr>
            <a:r>
              <a:rPr dirty="0" sz="1200" spc="-5">
                <a:latin typeface="Times New Roman"/>
                <a:cs typeface="Times New Roman"/>
              </a:rPr>
              <a:t>Recall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Dijkstra’s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d</a:t>
            </a:r>
            <a:r>
              <a:rPr dirty="0" sz="1200" spc="15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v</a:t>
            </a:r>
            <a:r>
              <a:rPr dirty="0" baseline="-13888" sz="1200" spc="22">
                <a:latin typeface="Verdana"/>
                <a:cs typeface="Verdana"/>
              </a:rPr>
              <a:t>i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never</a:t>
            </a:r>
            <a:r>
              <a:rPr dirty="0" sz="1200" spc="-5">
                <a:latin typeface="Times New Roman"/>
                <a:cs typeface="Times New Roman"/>
              </a:rPr>
              <a:t> less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v</a:t>
            </a:r>
            <a:r>
              <a:rPr dirty="0" baseline="-13888" sz="1200" spc="75">
                <a:latin typeface="Verdana"/>
                <a:cs typeface="Verdana"/>
              </a:rPr>
              <a:t>i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d</a:t>
            </a:r>
            <a:r>
              <a:rPr dirty="0" sz="1200" spc="15">
                <a:latin typeface="Garamond"/>
                <a:cs typeface="Garamond"/>
              </a:rPr>
              <a:t>[</a:t>
            </a:r>
            <a:r>
              <a:rPr dirty="0" sz="1200" spc="15">
                <a:latin typeface="Lucida Sans Unicode"/>
                <a:cs typeface="Lucida Sans Unicode"/>
              </a:rPr>
              <a:t>v</a:t>
            </a:r>
            <a:r>
              <a:rPr dirty="0" baseline="-13888" sz="1200" spc="22">
                <a:latin typeface="Verdana"/>
                <a:cs typeface="Verdana"/>
              </a:rPr>
              <a:t>i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equal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  <a:p>
            <a:pPr marL="511175">
              <a:lnSpc>
                <a:spcPct val="100000"/>
              </a:lnSpc>
              <a:spcBef>
                <a:spcPts val="5"/>
              </a:spcBef>
            </a:pPr>
            <a:r>
              <a:rPr dirty="0" sz="1200" spc="-30">
                <a:latin typeface="Lucida Sans Unicode"/>
                <a:cs typeface="Lucida Sans Unicode"/>
              </a:rPr>
              <a:t>δ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s,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v</a:t>
            </a:r>
            <a:r>
              <a:rPr dirty="0" baseline="-13888" sz="1200" spc="75">
                <a:latin typeface="Verdana"/>
                <a:cs typeface="Verdana"/>
              </a:rPr>
              <a:t>i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completes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proof.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550">
              <a:latin typeface="Times New Roman"/>
              <a:cs typeface="Times New Roman"/>
            </a:endParaRPr>
          </a:p>
          <a:p>
            <a:pPr marL="139700" marR="15494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5">
                <a:latin typeface="Times New Roman"/>
                <a:cs typeface="Times New Roman"/>
              </a:rPr>
              <a:t>summary, </a:t>
            </a:r>
            <a:r>
              <a:rPr dirty="0" sz="1200" spc="-5">
                <a:latin typeface="Times New Roman"/>
                <a:cs typeface="Times New Roman"/>
              </a:rPr>
              <a:t>after </a:t>
            </a:r>
            <a:r>
              <a:rPr dirty="0" sz="1200" spc="80">
                <a:latin typeface="Lucida Sans Unicode"/>
                <a:cs typeface="Lucida Sans Unicode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passes </a:t>
            </a:r>
            <a:r>
              <a:rPr dirty="0" sz="1200" spc="-10">
                <a:latin typeface="Times New Roman"/>
                <a:cs typeface="Times New Roman"/>
              </a:rPr>
              <a:t>through the </a:t>
            </a:r>
            <a:r>
              <a:rPr dirty="0" sz="1200" spc="5">
                <a:latin typeface="Lucida Sans Unicode"/>
                <a:cs typeface="Lucida Sans Unicode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loop,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 spc="-10">
                <a:latin typeface="Times New Roman"/>
                <a:cs typeface="Times New Roman"/>
              </a:rPr>
              <a:t>vertices </a:t>
            </a:r>
            <a:r>
              <a:rPr dirty="0" sz="1200" spc="-5">
                <a:latin typeface="Times New Roman"/>
                <a:cs typeface="Times New Roman"/>
              </a:rPr>
              <a:t>that are </a:t>
            </a:r>
            <a:r>
              <a:rPr dirty="0" sz="1200" spc="80">
                <a:latin typeface="Lucida Sans Unicode"/>
                <a:cs typeface="Lucida Sans Unicode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edges </a:t>
            </a:r>
            <a:r>
              <a:rPr dirty="0" sz="1200" spc="-15">
                <a:latin typeface="Times New Roman"/>
                <a:cs typeface="Times New Roman"/>
              </a:rPr>
              <a:t>away </a:t>
            </a:r>
            <a:r>
              <a:rPr dirty="0" sz="1200" spc="-5">
                <a:latin typeface="Times New Roman"/>
                <a:cs typeface="Times New Roman"/>
              </a:rPr>
              <a:t>along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path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source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stored 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d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after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V</a:t>
            </a:r>
            <a:r>
              <a:rPr dirty="0" sz="1200" spc="-1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30">
                <a:latin typeface="Garamond"/>
                <a:cs typeface="Garamond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1</a:t>
            </a:r>
            <a:r>
              <a:rPr dirty="0" sz="1200" spc="-20">
                <a:latin typeface="Garamond"/>
                <a:cs typeface="Garamond"/>
              </a:rPr>
              <a:t>)</a:t>
            </a:r>
            <a:r>
              <a:rPr dirty="0" baseline="31250" sz="1200" spc="-30">
                <a:latin typeface="Times New Roman"/>
                <a:cs typeface="Times New Roman"/>
              </a:rPr>
              <a:t>st</a:t>
            </a:r>
            <a:r>
              <a:rPr dirty="0" baseline="31250" sz="1200" spc="217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iteration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loop,</a:t>
            </a:r>
            <a:r>
              <a:rPr dirty="0" sz="1200" spc="-5">
                <a:latin typeface="Times New Roman"/>
                <a:cs typeface="Times New Roman"/>
              </a:rPr>
              <a:t> all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correct distance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 spc="-5">
                <a:latin typeface="Times New Roman"/>
                <a:cs typeface="Times New Roman"/>
              </a:rPr>
              <a:t> stored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d</a:t>
            </a:r>
            <a:r>
              <a:rPr dirty="0" sz="1200" spc="-5">
                <a:latin typeface="Garamond"/>
                <a:cs typeface="Garamond"/>
              </a:rPr>
              <a:t>[</a:t>
            </a:r>
            <a:r>
              <a:rPr dirty="0" sz="1200" spc="-5">
                <a:latin typeface="Lucida Sans Unicode"/>
                <a:cs typeface="Lucida Sans Unicode"/>
              </a:rPr>
              <a:t>u</a:t>
            </a:r>
            <a:r>
              <a:rPr dirty="0" sz="1200" spc="-5">
                <a:latin typeface="Garamond"/>
                <a:cs typeface="Garamond"/>
              </a:rPr>
              <a:t>]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39700">
              <a:lnSpc>
                <a:spcPct val="100000"/>
              </a:lnSpc>
              <a:spcBef>
                <a:spcPts val="935"/>
              </a:spcBef>
              <a:tabLst>
                <a:tab pos="685800" algn="l"/>
              </a:tabLst>
            </a:pPr>
            <a:r>
              <a:rPr dirty="0" sz="1400" spc="10" b="1">
                <a:latin typeface="Times New Roman"/>
                <a:cs typeface="Times New Roman"/>
              </a:rPr>
              <a:t>8.6.5	</a:t>
            </a:r>
            <a:r>
              <a:rPr dirty="0" sz="1400" spc="5" b="1">
                <a:latin typeface="Times New Roman"/>
                <a:cs typeface="Times New Roman"/>
              </a:rPr>
              <a:t>Floyd-Warshall</a:t>
            </a:r>
            <a:r>
              <a:rPr dirty="0" sz="1400" spc="-20" b="1">
                <a:latin typeface="Times New Roman"/>
                <a:cs typeface="Times New Roman"/>
              </a:rPr>
              <a:t> </a:t>
            </a:r>
            <a:r>
              <a:rPr dirty="0" sz="1400" spc="15" b="1">
                <a:latin typeface="Times New Roman"/>
                <a:cs typeface="Times New Roman"/>
              </a:rPr>
              <a:t>Algorithm</a:t>
            </a:r>
            <a:endParaRPr sz="1400">
              <a:latin typeface="Times New Roman"/>
              <a:cs typeface="Times New Roman"/>
            </a:endParaRPr>
          </a:p>
          <a:p>
            <a:pPr marL="139700" marR="297815">
              <a:lnSpc>
                <a:spcPct val="100000"/>
              </a:lnSpc>
              <a:spcBef>
                <a:spcPts val="128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consider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generalization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 paths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 all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pairs of </a:t>
            </a:r>
            <a:r>
              <a:rPr dirty="0" sz="1200" spc="-10">
                <a:latin typeface="Times New Roman"/>
                <a:cs typeface="Times New Roman"/>
              </a:rPr>
              <a:t>vertices.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is called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all-pairs shortest paths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  <a:p>
            <a:pPr marL="139700" marR="240029" indent="-635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2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dir</a:t>
            </a:r>
            <a:r>
              <a:rPr dirty="0" sz="1200" spc="-5">
                <a:latin typeface="Times New Roman"/>
                <a:cs typeface="Times New Roman"/>
              </a:rPr>
              <a:t>ec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ight</a:t>
            </a:r>
            <a:r>
              <a:rPr dirty="0" sz="1200" spc="-5">
                <a:latin typeface="Times New Roman"/>
                <a:cs typeface="Times New Roman"/>
              </a:rPr>
              <a:t>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s  </a:t>
            </a:r>
            <a:r>
              <a:rPr dirty="0" sz="1200" spc="-10">
                <a:latin typeface="Times New Roman"/>
                <a:cs typeface="Times New Roman"/>
              </a:rPr>
              <a:t>weight. </a:t>
            </a:r>
            <a:r>
              <a:rPr dirty="0" sz="1200" spc="-10">
                <a:latin typeface="Lucida Sans Unicode"/>
                <a:cs typeface="Lucida Sans Unicode"/>
              </a:rPr>
              <a:t>δ</a:t>
            </a:r>
            <a:r>
              <a:rPr dirty="0" sz="1200" spc="-10">
                <a:latin typeface="Garamond"/>
                <a:cs typeface="Garamond"/>
              </a:rPr>
              <a:t>(</a:t>
            </a:r>
            <a:r>
              <a:rPr dirty="0" sz="1200" spc="-10">
                <a:latin typeface="Lucida Sans Unicode"/>
                <a:cs typeface="Lucida Sans Unicode"/>
              </a:rPr>
              <a:t>u,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distance of </a:t>
            </a:r>
            <a:r>
              <a:rPr dirty="0" sz="1200" spc="-10">
                <a:latin typeface="Times New Roman"/>
                <a:cs typeface="Times New Roman"/>
              </a:rPr>
              <a:t>the minimum </a:t>
            </a:r>
            <a:r>
              <a:rPr dirty="0" sz="1200" spc="-5">
                <a:latin typeface="Times New Roman"/>
                <a:cs typeface="Times New Roman"/>
              </a:rPr>
              <a:t>cost path between </a:t>
            </a:r>
            <a:r>
              <a:rPr dirty="0" sz="1200" spc="20">
                <a:latin typeface="Lucida Sans Unicode"/>
                <a:cs typeface="Lucida Sans Unicode"/>
              </a:rPr>
              <a:t>u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20">
                <a:latin typeface="Lucida Sans Unicode"/>
                <a:cs typeface="Lucida Sans Unicode"/>
              </a:rPr>
              <a:t>v</a:t>
            </a:r>
            <a:r>
              <a:rPr dirty="0" sz="1200" spc="-20">
                <a:latin typeface="Times New Roman"/>
                <a:cs typeface="Times New Roman"/>
              </a:rPr>
              <a:t>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allow </a:t>
            </a:r>
            <a:r>
              <a:rPr dirty="0" sz="1200" spc="45">
                <a:latin typeface="Lucida Sans Unicode"/>
                <a:cs typeface="Lucida Sans Unicode"/>
              </a:rPr>
              <a:t>G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negative</a:t>
            </a:r>
            <a:r>
              <a:rPr dirty="0" sz="1200" spc="-5">
                <a:latin typeface="Times New Roman"/>
                <a:cs typeface="Times New Roman"/>
              </a:rPr>
              <a:t> 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allow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negative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present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Θ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baseline="31250" sz="1200" spc="60">
                <a:latin typeface="Verdana"/>
                <a:cs typeface="Verdana"/>
              </a:rPr>
              <a:t>3</a:t>
            </a:r>
            <a:r>
              <a:rPr dirty="0" sz="1200" spc="40">
                <a:latin typeface="Garamond"/>
                <a:cs typeface="Garamond"/>
              </a:rPr>
              <a:t>) </a:t>
            </a:r>
            <a:r>
              <a:rPr dirty="0" sz="1200" spc="4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Floyd-Warshall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algorithm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 </a:t>
            </a:r>
            <a:r>
              <a:rPr dirty="0" sz="1200" spc="-10" i="1">
                <a:latin typeface="Times New Roman"/>
                <a:cs typeface="Times New Roman"/>
              </a:rPr>
              <a:t>dynamic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programming</a:t>
            </a:r>
            <a:r>
              <a:rPr dirty="0" sz="1200" spc="-1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39700" marR="131445">
              <a:lnSpc>
                <a:spcPct val="100000"/>
              </a:lnSpc>
              <a:spcBef>
                <a:spcPts val="535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adjacency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digraph.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based,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employ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common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notation,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i</a:t>
            </a:r>
            <a:r>
              <a:rPr dirty="0" sz="1200" spc="3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denote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rather 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u</a:t>
            </a:r>
            <a:r>
              <a:rPr dirty="0" sz="1200" spc="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20">
                <a:latin typeface="Lucida Sans Unicode"/>
                <a:cs typeface="Lucida Sans Unicode"/>
              </a:rPr>
              <a:t>w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3970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×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tri</a:t>
            </a:r>
            <a:r>
              <a:rPr dirty="0" sz="1200" spc="-5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ight</a:t>
            </a:r>
            <a:r>
              <a:rPr dirty="0" sz="1200" spc="-5">
                <a:latin typeface="Times New Roman"/>
                <a:cs typeface="Times New Roman"/>
              </a:rPr>
              <a:t>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67563" y="8021395"/>
            <a:ext cx="43878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w</a:t>
            </a:r>
            <a:r>
              <a:rPr dirty="0" baseline="-13888" sz="1200" spc="97">
                <a:latin typeface="Verdana"/>
                <a:cs typeface="Verdana"/>
              </a:rPr>
              <a:t>ij</a:t>
            </a:r>
            <a:r>
              <a:rPr dirty="0" baseline="-13888" sz="1200" spc="-15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72070" y="8120036"/>
            <a:ext cx="2114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850">
                <a:latin typeface="Lucida Sans Unicode"/>
                <a:cs typeface="Lucida Sans Unicode"/>
              </a:rPr>
              <a:t></a:t>
            </a:r>
            <a:r>
              <a:rPr dirty="0" baseline="-16203" sz="1800" spc="322">
                <a:latin typeface="Lucida Sans Unicode"/>
                <a:cs typeface="Lucida Sans Unicode"/>
              </a:rPr>
              <a:t></a:t>
            </a:r>
            <a:endParaRPr baseline="-16203" sz="18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432341" y="8247595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Lucida Sans Unicode"/>
                <a:cs typeface="Lucida Sans Unicode"/>
              </a:rPr>
              <a:t>∞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259370" y="7664551"/>
            <a:ext cx="2087880" cy="7912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280"/>
              </a:lnSpc>
              <a:spcBef>
                <a:spcPts val="95"/>
              </a:spcBef>
            </a:pPr>
            <a:r>
              <a:rPr dirty="0" sz="1200" spc="215">
                <a:latin typeface="Lucida Sans Unicode"/>
                <a:cs typeface="Lucida Sans Unicode"/>
              </a:rPr>
              <a:t></a:t>
            </a:r>
            <a:endParaRPr sz="1200">
              <a:latin typeface="Lucida Sans Unicode"/>
              <a:cs typeface="Lucida Sans Unicode"/>
            </a:endParaRPr>
          </a:p>
          <a:p>
            <a:pPr marL="50800">
              <a:lnSpc>
                <a:spcPts val="1280"/>
              </a:lnSpc>
              <a:tabLst>
                <a:tab pos="751205" algn="l"/>
              </a:tabLst>
            </a:pPr>
            <a:r>
              <a:rPr dirty="0" baseline="2314" sz="1800" spc="-405">
                <a:latin typeface="Lucida Sans Unicode"/>
                <a:cs typeface="Lucida Sans Unicode"/>
              </a:rPr>
              <a:t></a:t>
            </a:r>
            <a:r>
              <a:rPr dirty="0" baseline="-13888" sz="1800" spc="-405">
                <a:latin typeface="Lucida Sans Unicode"/>
                <a:cs typeface="Lucida Sans Unicode"/>
              </a:rPr>
              <a:t></a:t>
            </a:r>
            <a:r>
              <a:rPr dirty="0" sz="1200" spc="-270">
                <a:latin typeface="Lucida Sans Unicode"/>
                <a:cs typeface="Lucida Sans Unicode"/>
              </a:rPr>
              <a:t>0	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10">
                <a:latin typeface="Garamond"/>
                <a:cs typeface="Garamond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endParaRPr sz="1200">
              <a:latin typeface="Lucida Sans Unicode"/>
              <a:cs typeface="Lucida Sans Unicode"/>
            </a:endParaRPr>
          </a:p>
          <a:p>
            <a:pPr algn="r" marR="30480">
              <a:lnSpc>
                <a:spcPct val="100000"/>
              </a:lnSpc>
              <a:spcBef>
                <a:spcPts val="290"/>
              </a:spcBef>
              <a:tabLst>
                <a:tab pos="565150" algn="l"/>
              </a:tabLst>
            </a:pP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Segoe UI Symbol"/>
                <a:cs typeface="Segoe UI Symbol"/>
              </a:rPr>
              <a:t>/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endParaRPr sz="1200">
              <a:latin typeface="Lucida Sans Unicode"/>
              <a:cs typeface="Lucida Sans Unicode"/>
            </a:endParaRPr>
          </a:p>
          <a:p>
            <a:pPr algn="r" marR="30480">
              <a:lnSpc>
                <a:spcPct val="100000"/>
              </a:lnSpc>
              <a:spcBef>
                <a:spcPts val="295"/>
              </a:spcBef>
            </a:pP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Segoe UI Symbol"/>
                <a:cs typeface="Segoe UI Symbol"/>
              </a:rPr>
              <a:t>/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265">
                <a:latin typeface="Segoe UI Symbol"/>
                <a:cs typeface="Segoe UI Symbol"/>
              </a:rPr>
              <a:t>/∈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63637" y="8592095"/>
            <a:ext cx="624332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05">
                <a:latin typeface="Segoe UI Symbol"/>
                <a:cs typeface="Segoe UI Symbol"/>
              </a:rPr>
              <a:t>×</a:t>
            </a:r>
            <a:r>
              <a:rPr dirty="0" sz="1200" spc="-65">
                <a:latin typeface="Segoe UI Symbol"/>
                <a:cs typeface="Segoe UI Symbol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D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d</a:t>
            </a:r>
            <a:r>
              <a:rPr dirty="0" baseline="-13888" sz="1200" spc="37">
                <a:latin typeface="Verdana"/>
                <a:cs typeface="Verdana"/>
              </a:rPr>
              <a:t>ij</a:t>
            </a:r>
            <a:r>
              <a:rPr dirty="0" sz="1200" spc="2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d</a:t>
            </a:r>
            <a:r>
              <a:rPr dirty="0" baseline="-13888" sz="1200" spc="60">
                <a:latin typeface="Verdana"/>
                <a:cs typeface="Verdana"/>
              </a:rPr>
              <a:t>ij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δ</a:t>
            </a:r>
            <a:r>
              <a:rPr dirty="0" sz="1200" spc="5">
                <a:latin typeface="Garamond"/>
                <a:cs typeface="Garamond"/>
              </a:rPr>
              <a:t>(</a:t>
            </a:r>
            <a:r>
              <a:rPr dirty="0" sz="1200" spc="5">
                <a:latin typeface="Lucida Sans Unicode"/>
                <a:cs typeface="Lucida Sans Unicode"/>
              </a:rPr>
              <a:t>i,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j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cost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63599" y="520987"/>
            <a:ext cx="6490335" cy="9804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4923790" algn="l"/>
              </a:tabLst>
            </a:pPr>
            <a:r>
              <a:rPr dirty="0" sz="1200" spc="-10">
                <a:latin typeface="Times New Roman"/>
                <a:cs typeface="Times New Roman"/>
              </a:rPr>
              <a:t>162	</a:t>
            </a: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50800" marR="16002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dates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back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early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60’s.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genius 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clever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Lucida Sans Unicode"/>
                <a:cs typeface="Lucida Sans Unicode"/>
              </a:rPr>
              <a:t>p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-5">
                <a:latin typeface="Segoe UI Symbol"/>
                <a:cs typeface="Segoe UI Symbol"/>
              </a:rPr>
              <a:t>⟨</a:t>
            </a:r>
            <a:r>
              <a:rPr dirty="0" sz="1200" spc="-5">
                <a:latin typeface="Lucida Sans Unicode"/>
                <a:cs typeface="Lucida Sans Unicode"/>
              </a:rPr>
              <a:t>v</a:t>
            </a:r>
            <a:r>
              <a:rPr dirty="0" baseline="-13888" sz="1200" spc="-7">
                <a:latin typeface="Verdana"/>
                <a:cs typeface="Verdana"/>
              </a:rPr>
              <a:t>1</a:t>
            </a:r>
            <a:r>
              <a:rPr dirty="0" sz="1200" spc="-5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v</a:t>
            </a:r>
            <a:r>
              <a:rPr dirty="0" baseline="-13888" sz="1200" spc="-60">
                <a:latin typeface="Verdana"/>
                <a:cs typeface="Verdana"/>
              </a:rPr>
              <a:t>2</a:t>
            </a:r>
            <a:r>
              <a:rPr dirty="0" sz="1200" spc="-4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7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v</a:t>
            </a:r>
            <a:r>
              <a:rPr dirty="0" baseline="-13888" sz="1200" spc="52">
                <a:latin typeface="Verdana"/>
                <a:cs typeface="Verdana"/>
              </a:rPr>
              <a:t>l</a:t>
            </a:r>
            <a:r>
              <a:rPr dirty="0" sz="1200" spc="3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v</a:t>
            </a:r>
            <a:r>
              <a:rPr dirty="0" baseline="-13888" sz="1200" spc="-60">
                <a:latin typeface="Verdana"/>
                <a:cs typeface="Verdana"/>
              </a:rPr>
              <a:t>2</a:t>
            </a:r>
            <a:r>
              <a:rPr dirty="0" sz="1200" spc="-4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v</a:t>
            </a:r>
            <a:r>
              <a:rPr dirty="0" baseline="-13888" sz="1200" spc="-60">
                <a:latin typeface="Verdana"/>
                <a:cs typeface="Verdana"/>
              </a:rPr>
              <a:t>3</a:t>
            </a:r>
            <a:r>
              <a:rPr dirty="0" sz="1200" spc="-4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v</a:t>
            </a:r>
            <a:r>
              <a:rPr dirty="0" baseline="-13888" sz="1200">
                <a:latin typeface="Verdana"/>
                <a:cs typeface="Verdana"/>
              </a:rPr>
              <a:t>l−1</a:t>
            </a:r>
            <a:r>
              <a:rPr dirty="0" baseline="-13888" sz="1200" spc="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intermediate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vertices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14247" y="1563105"/>
            <a:ext cx="62668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 b="1">
                <a:latin typeface="Times New Roman"/>
                <a:cs typeface="Times New Roman"/>
              </a:rPr>
              <a:t>Formulation: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Define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baseline="41666" sz="1200" spc="-30">
                <a:latin typeface="Verdana"/>
                <a:cs typeface="Verdana"/>
              </a:rPr>
              <a:t>(k)</a:t>
            </a:r>
            <a:r>
              <a:rPr dirty="0" baseline="41666" sz="1200" spc="15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intermediate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700" y="1655891"/>
            <a:ext cx="6361430" cy="2984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96695">
              <a:lnSpc>
                <a:spcPts val="835"/>
              </a:lnSpc>
              <a:spcBef>
                <a:spcPts val="95"/>
              </a:spcBef>
            </a:pPr>
            <a:r>
              <a:rPr dirty="0" sz="800" spc="80">
                <a:latin typeface="Verdana"/>
                <a:cs typeface="Verdana"/>
              </a:rPr>
              <a:t>ij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ts val="1315"/>
              </a:lnSpc>
            </a:pPr>
            <a:r>
              <a:rPr dirty="0" sz="1200" spc="-5">
                <a:latin typeface="Times New Roman"/>
                <a:cs typeface="Times New Roman"/>
              </a:rPr>
              <a:t>path are chosen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{1,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k}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free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subset of 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and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685362" y="2043595"/>
            <a:ext cx="109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70">
                <a:latin typeface="Verdana"/>
                <a:cs typeface="Verdana"/>
              </a:rPr>
              <a:t>j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76309" y="1950810"/>
            <a:ext cx="6223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Times New Roman"/>
                <a:cs typeface="Times New Roman"/>
              </a:rPr>
              <a:t>order.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baseline="41666" sz="1200" spc="-30">
                <a:latin typeface="Verdana"/>
                <a:cs typeface="Verdana"/>
              </a:rPr>
              <a:t>(k)</a:t>
            </a:r>
            <a:r>
              <a:rPr dirty="0" baseline="41666" sz="1200" spc="15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already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previous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d</a:t>
            </a:r>
            <a:r>
              <a:rPr dirty="0" baseline="31250" sz="1200" spc="-44">
                <a:latin typeface="Verdana"/>
                <a:cs typeface="Verdana"/>
              </a:rPr>
              <a:t>(k−1)</a:t>
            </a:r>
            <a:r>
              <a:rPr dirty="0" sz="1200" spc="-30">
                <a:latin typeface="Times New Roman"/>
                <a:cs typeface="Times New Roman"/>
              </a:rPr>
              <a:t>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1713" y="2134261"/>
            <a:ext cx="2359025" cy="10464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750">
              <a:latin typeface="Times New Roman"/>
              <a:cs typeface="Times New Roman"/>
            </a:endParaRPr>
          </a:p>
          <a:p>
            <a:pPr marL="384175" indent="-189230">
              <a:lnSpc>
                <a:spcPct val="100000"/>
              </a:lnSpc>
              <a:buAutoNum type="arabicPeriod"/>
              <a:tabLst>
                <a:tab pos="384810" algn="l"/>
              </a:tabLst>
            </a:pPr>
            <a:r>
              <a:rPr dirty="0" sz="1200" spc="-10">
                <a:latin typeface="Times New Roman"/>
                <a:cs typeface="Times New Roman"/>
              </a:rPr>
              <a:t>Don</a:t>
            </a:r>
            <a:r>
              <a:rPr dirty="0" sz="1200" spc="-30">
                <a:latin typeface="Times New Roman"/>
                <a:cs typeface="Times New Roman"/>
              </a:rPr>
              <a:t>’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buFont typeface="Times New Roman"/>
              <a:buAutoNum type="arabicPeriod"/>
            </a:pPr>
            <a:endParaRPr sz="1450">
              <a:latin typeface="Times New Roman"/>
              <a:cs typeface="Times New Roman"/>
            </a:endParaRPr>
          </a:p>
          <a:p>
            <a:pPr marL="384175" indent="-189230">
              <a:lnSpc>
                <a:spcPct val="100000"/>
              </a:lnSpc>
              <a:buAutoNum type="arabicPeriod"/>
              <a:tabLst>
                <a:tab pos="384810" algn="l"/>
              </a:tabLst>
            </a:pPr>
            <a:r>
              <a:rPr dirty="0" sz="1200" spc="-10">
                <a:latin typeface="Times New Roman"/>
                <a:cs typeface="Times New Roman"/>
              </a:rPr>
              <a:t>Do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</a:t>
            </a:r>
            <a:r>
              <a:rPr dirty="0" sz="1200" spc="-10">
                <a:latin typeface="Times New Roman"/>
                <a:cs typeface="Times New Roman"/>
              </a:rPr>
              <a:t> through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397251" y="3622238"/>
            <a:ext cx="3435985" cy="2590800"/>
            <a:chOff x="2397251" y="3622238"/>
            <a:chExt cx="3435985" cy="2590800"/>
          </a:xfrm>
        </p:grpSpPr>
        <p:sp>
          <p:nvSpPr>
            <p:cNvPr id="9" name="object 9"/>
            <p:cNvSpPr/>
            <p:nvPr/>
          </p:nvSpPr>
          <p:spPr>
            <a:xfrm>
              <a:off x="2397251" y="3622238"/>
              <a:ext cx="3435985" cy="2590800"/>
            </a:xfrm>
            <a:custGeom>
              <a:avLst/>
              <a:gdLst/>
              <a:ahLst/>
              <a:cxnLst/>
              <a:rect l="l" t="t" r="r" b="b"/>
              <a:pathLst>
                <a:path w="3435985" h="2590800">
                  <a:moveTo>
                    <a:pt x="3435629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435629" y="2590601"/>
                  </a:lnTo>
                  <a:lnTo>
                    <a:pt x="3435629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50193" y="4107754"/>
              <a:ext cx="3315725" cy="1963706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2614014" y="4134374"/>
            <a:ext cx="67310" cy="3181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900">
                <a:solidFill>
                  <a:srgbClr val="FFFF00"/>
                </a:solidFill>
                <a:latin typeface="Arial"/>
                <a:cs typeface="Arial"/>
              </a:rPr>
              <a:t>i</a:t>
            </a:r>
            <a:endParaRPr sz="19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563664" y="4115578"/>
            <a:ext cx="67310" cy="3181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900">
                <a:solidFill>
                  <a:srgbClr val="FFFF00"/>
                </a:solidFill>
                <a:latin typeface="Arial"/>
                <a:cs typeface="Arial"/>
              </a:rPr>
              <a:t>j</a:t>
            </a:r>
            <a:endParaRPr sz="19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074414" y="5929353"/>
            <a:ext cx="130175" cy="2197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250" spc="5" i="1">
                <a:solidFill>
                  <a:srgbClr val="FFFF00"/>
                </a:solidFill>
                <a:latin typeface="Arial"/>
                <a:cs typeface="Arial"/>
              </a:rPr>
              <a:t>ik</a:t>
            </a:r>
            <a:endParaRPr sz="125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912451" y="5634961"/>
            <a:ext cx="546100" cy="3181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14"/>
              </a:spcBef>
            </a:pPr>
            <a:r>
              <a:rPr dirty="0" baseline="-30701" sz="2850" spc="37" i="1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sz="1250" spc="25" i="1">
                <a:solidFill>
                  <a:srgbClr val="FFFF00"/>
                </a:solidFill>
                <a:latin typeface="Arial"/>
                <a:cs typeface="Arial"/>
              </a:rPr>
              <a:t>(k-1)</a:t>
            </a:r>
            <a:endParaRPr sz="12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770666" y="3639640"/>
            <a:ext cx="580390" cy="51435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74625" marR="43180" indent="-137160">
              <a:lnSpc>
                <a:spcPct val="101899"/>
              </a:lnSpc>
              <a:spcBef>
                <a:spcPts val="75"/>
              </a:spcBef>
            </a:pPr>
            <a:r>
              <a:rPr dirty="0" baseline="-30701" sz="2850" spc="7" i="1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baseline="-30701" sz="2850" spc="-525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spc="5" i="1">
                <a:solidFill>
                  <a:srgbClr val="FFFF00"/>
                </a:solidFill>
                <a:latin typeface="Arial"/>
                <a:cs typeface="Arial"/>
              </a:rPr>
              <a:t>(k-1) </a:t>
            </a:r>
            <a:r>
              <a:rPr dirty="0" sz="1250" spc="5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spc="5" i="1">
                <a:solidFill>
                  <a:srgbClr val="FFFF00"/>
                </a:solidFill>
                <a:latin typeface="Arial"/>
                <a:cs typeface="Arial"/>
              </a:rPr>
              <a:t>ij</a:t>
            </a:r>
            <a:endParaRPr sz="125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328968" y="5944885"/>
            <a:ext cx="130175" cy="2197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1250" spc="5" i="1">
                <a:solidFill>
                  <a:srgbClr val="FFFF00"/>
                </a:solidFill>
                <a:latin typeface="Arial"/>
                <a:cs typeface="Arial"/>
              </a:rPr>
              <a:t>kj</a:t>
            </a:r>
            <a:endParaRPr sz="125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167005" y="5650493"/>
            <a:ext cx="546735" cy="3181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14"/>
              </a:spcBef>
            </a:pPr>
            <a:r>
              <a:rPr dirty="0" baseline="-30701" sz="2850" spc="37" i="1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sz="1250" spc="25" i="1">
                <a:solidFill>
                  <a:srgbClr val="FFFF00"/>
                </a:solidFill>
                <a:latin typeface="Arial"/>
                <a:cs typeface="Arial"/>
              </a:rPr>
              <a:t>(k-1)</a:t>
            </a:r>
            <a:endParaRPr sz="12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462027" y="4741897"/>
            <a:ext cx="1387475" cy="2711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600">
                <a:solidFill>
                  <a:srgbClr val="FFFF00"/>
                </a:solidFill>
                <a:latin typeface="Arial"/>
                <a:cs typeface="Arial"/>
              </a:rPr>
              <a:t>vertices</a:t>
            </a:r>
            <a:r>
              <a:rPr dirty="0" sz="1600" spc="-1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FFFF00"/>
                </a:solidFill>
                <a:latin typeface="Arial"/>
                <a:cs typeface="Arial"/>
              </a:rPr>
              <a:t>i</a:t>
            </a:r>
            <a:r>
              <a:rPr dirty="0" sz="1600" spc="-1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FFFF00"/>
                </a:solidFill>
                <a:latin typeface="Arial"/>
                <a:cs typeface="Arial"/>
              </a:rPr>
              <a:t>to</a:t>
            </a:r>
            <a:r>
              <a:rPr dirty="0" sz="1600" spc="-1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FFFF00"/>
                </a:solidFill>
                <a:latin typeface="Arial"/>
                <a:cs typeface="Arial"/>
              </a:rPr>
              <a:t>k-1</a:t>
            </a:r>
            <a:endParaRPr sz="16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993576" y="5696296"/>
            <a:ext cx="134620" cy="3181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1900" spc="5">
                <a:solidFill>
                  <a:srgbClr val="FFFF00"/>
                </a:solidFill>
                <a:latin typeface="Arial"/>
                <a:cs typeface="Arial"/>
              </a:rPr>
              <a:t>k</a:t>
            </a:r>
            <a:endParaRPr sz="19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01699" y="6278550"/>
            <a:ext cx="6265545" cy="9836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6065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8.71: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Two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cases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all-pairs shortest path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n</a:t>
            </a:r>
            <a:r>
              <a:rPr dirty="0" sz="1200" spc="-10" b="1">
                <a:latin typeface="Times New Roman"/>
                <a:cs typeface="Times New Roman"/>
              </a:rPr>
              <a:t>’</a:t>
            </a:r>
            <a:r>
              <a:rPr dirty="0" sz="1200" spc="-5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g</a:t>
            </a:r>
            <a:r>
              <a:rPr dirty="0" sz="1200" spc="-5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</a:t>
            </a:r>
            <a:r>
              <a:rPr dirty="0" sz="1200" spc="-30" b="1">
                <a:latin typeface="Times New Roman"/>
                <a:cs typeface="Times New Roman"/>
              </a:rPr>
              <a:t>r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u</a:t>
            </a:r>
            <a:r>
              <a:rPr dirty="0" sz="1200" spc="-10" b="1">
                <a:latin typeface="Times New Roman"/>
                <a:cs typeface="Times New Roman"/>
              </a:rPr>
              <a:t>g</a:t>
            </a:r>
            <a:r>
              <a:rPr dirty="0" sz="1200" spc="-5" b="1">
                <a:latin typeface="Times New Roman"/>
                <a:cs typeface="Times New Roman"/>
              </a:rPr>
              <a:t>h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a</a:t>
            </a:r>
            <a:r>
              <a:rPr dirty="0" sz="1200" spc="-5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al</a:t>
            </a:r>
            <a:r>
              <a:rPr dirty="0" sz="1200" spc="-5" b="1">
                <a:latin typeface="Times New Roman"/>
                <a:cs typeface="Times New Roman"/>
              </a:rPr>
              <a:t>l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intermediate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{1,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2,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7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1}</a:t>
            </a:r>
            <a:r>
              <a:rPr dirty="0" sz="1200" spc="-6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length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76306" y="7258558"/>
            <a:ext cx="13252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d</a:t>
            </a:r>
            <a:r>
              <a:rPr dirty="0" baseline="41666" sz="1200" spc="-44">
                <a:latin typeface="Verdana"/>
                <a:cs typeface="Verdana"/>
              </a:rPr>
              <a:t>(k−1)</a:t>
            </a:r>
            <a:endParaRPr baseline="41666" sz="1200">
              <a:latin typeface="Verdana"/>
              <a:cs typeface="Verdan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01706" y="7328290"/>
            <a:ext cx="6386830" cy="1186180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977265">
              <a:lnSpc>
                <a:spcPct val="100000"/>
              </a:lnSpc>
              <a:spcBef>
                <a:spcPts val="275"/>
              </a:spcBef>
            </a:pPr>
            <a:r>
              <a:rPr dirty="0" sz="800" spc="80">
                <a:latin typeface="Verdana"/>
                <a:cs typeface="Verdana"/>
              </a:rPr>
              <a:t>ij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1200" spc="-10" b="1">
                <a:latin typeface="Times New Roman"/>
                <a:cs typeface="Times New Roman"/>
              </a:rPr>
              <a:t>Do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go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through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endParaRPr sz="1200">
              <a:latin typeface="Lucida Sans Unicode"/>
              <a:cs typeface="Lucida Sans Unicode"/>
            </a:endParaRPr>
          </a:p>
          <a:p>
            <a:pPr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 spc="-10">
                <a:latin typeface="Times New Roman"/>
                <a:cs typeface="Times New Roman"/>
              </a:rPr>
              <a:t>observe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go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twice,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assume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 pass </a:t>
            </a:r>
            <a:r>
              <a:rPr dirty="0" sz="1200" spc="-10">
                <a:latin typeface="Times New Roman"/>
                <a:cs typeface="Times New Roman"/>
              </a:rPr>
              <a:t>through </a:t>
            </a:r>
            <a:r>
              <a:rPr dirty="0" sz="1200" spc="-40">
                <a:latin typeface="Lucida Sans Unicode"/>
                <a:cs typeface="Lucida Sans Unicode"/>
              </a:rPr>
              <a:t>k </a:t>
            </a:r>
            <a:r>
              <a:rPr dirty="0" sz="1200" spc="-10">
                <a:latin typeface="Times New Roman"/>
                <a:cs typeface="Times New Roman"/>
              </a:rPr>
              <a:t>exactly </a:t>
            </a:r>
            <a:r>
              <a:rPr dirty="0" sz="1200" spc="-5">
                <a:latin typeface="Times New Roman"/>
                <a:cs typeface="Times New Roman"/>
              </a:rPr>
              <a:t>once. That is,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go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80">
                <a:latin typeface="Lucida Sans Unicode"/>
                <a:cs typeface="Lucida Sans Unicode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40">
                <a:latin typeface="Lucida Sans Unicode"/>
                <a:cs typeface="Lucida Sans Unicode"/>
              </a:rPr>
              <a:t>k </a:t>
            </a:r>
            <a:r>
              <a:rPr dirty="0" sz="1200" spc="-5">
                <a:latin typeface="Times New Roman"/>
                <a:cs typeface="Times New Roman"/>
              </a:rPr>
              <a:t>and then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-40">
                <a:latin typeface="Lucida Sans Unicode"/>
                <a:cs typeface="Lucida Sans Unicode"/>
              </a:rPr>
              <a:t>k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In order </a:t>
            </a:r>
            <a:r>
              <a:rPr dirty="0" sz="1200" spc="-10">
                <a:latin typeface="Times New Roman"/>
                <a:cs typeface="Times New Roman"/>
              </a:rPr>
              <a:t>for the overall </a:t>
            </a:r>
            <a:r>
              <a:rPr dirty="0" sz="1200" spc="-5">
                <a:latin typeface="Times New Roman"/>
                <a:cs typeface="Times New Roman"/>
              </a:rPr>
              <a:t>path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be as short as possible, </a:t>
            </a:r>
            <a:r>
              <a:rPr dirty="0" sz="1200" spc="-10">
                <a:latin typeface="Times New Roman"/>
                <a:cs typeface="Times New Roman"/>
              </a:rPr>
              <a:t>we should take the </a:t>
            </a:r>
            <a:r>
              <a:rPr dirty="0" sz="1200" spc="-5">
                <a:latin typeface="Times New Roman"/>
                <a:cs typeface="Times New Roman"/>
              </a:rPr>
              <a:t>shortest path from </a:t>
            </a:r>
            <a:r>
              <a:rPr dirty="0" sz="1200" spc="80">
                <a:latin typeface="Lucida Sans Unicode"/>
                <a:cs typeface="Lucida Sans Unicode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40">
                <a:latin typeface="Lucida Sans Unicode"/>
                <a:cs typeface="Lucida Sans Unicode"/>
              </a:rPr>
              <a:t>k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path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-40">
                <a:latin typeface="Lucida Sans Unicode"/>
                <a:cs typeface="Lucida Sans Unicode"/>
              </a:rPr>
              <a:t>k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Times New Roman"/>
                <a:cs typeface="Times New Roman"/>
              </a:rPr>
              <a:t>. 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paths uses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intermediate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75">
                <a:latin typeface="Lucida Sans Unicode"/>
                <a:cs typeface="Lucida Sans Unicode"/>
              </a:rPr>
              <a:t>{1,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2,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7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200">
                <a:latin typeface="Garamond"/>
                <a:cs typeface="Garamond"/>
              </a:rPr>
              <a:t>−</a:t>
            </a:r>
            <a:r>
              <a:rPr dirty="0" sz="1200" spc="-125">
                <a:latin typeface="Garamond"/>
                <a:cs typeface="Garamond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1}</a:t>
            </a:r>
            <a:r>
              <a:rPr dirty="0" sz="1200" spc="-6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length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 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93402" y="8603728"/>
            <a:ext cx="687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8960" algn="l"/>
              </a:tabLst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75">
                <a:latin typeface="Verdana"/>
                <a:cs typeface="Verdana"/>
              </a:rPr>
              <a:t>k</a:t>
            </a:r>
            <a:r>
              <a:rPr dirty="0" sz="800">
                <a:latin typeface="Verdana"/>
                <a:cs typeface="Verdana"/>
              </a:rPr>
              <a:t>	</a:t>
            </a:r>
            <a:r>
              <a:rPr dirty="0" sz="800">
                <a:latin typeface="Verdana"/>
                <a:cs typeface="Verdana"/>
              </a:rPr>
              <a:t>k</a:t>
            </a:r>
            <a:r>
              <a:rPr dirty="0" sz="800" spc="70">
                <a:latin typeface="Verdana"/>
                <a:cs typeface="Verdana"/>
              </a:rPr>
              <a:t>j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76333" y="8433218"/>
            <a:ext cx="10458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-60">
                <a:latin typeface="Lucida Sans Unicode"/>
                <a:cs typeface="Lucida Sans Unicode"/>
              </a:rPr>
              <a:t>d</a:t>
            </a:r>
            <a:r>
              <a:rPr dirty="0" sz="800" spc="-50">
                <a:latin typeface="Verdana"/>
                <a:cs typeface="Verdana"/>
              </a:rPr>
              <a:t>(</a:t>
            </a:r>
            <a:r>
              <a:rPr dirty="0" sz="800">
                <a:latin typeface="Verdana"/>
                <a:cs typeface="Verdana"/>
              </a:rPr>
              <a:t>k</a:t>
            </a:r>
            <a:r>
              <a:rPr dirty="0" sz="800" spc="-35">
                <a:latin typeface="Verdana"/>
                <a:cs typeface="Verdana"/>
              </a:rPr>
              <a:t>−</a:t>
            </a:r>
            <a:r>
              <a:rPr dirty="0" sz="800" spc="-80">
                <a:latin typeface="Verdana"/>
                <a:cs typeface="Verdana"/>
              </a:rPr>
              <a:t>1</a:t>
            </a:r>
            <a:r>
              <a:rPr dirty="0" sz="800" spc="15">
                <a:latin typeface="Verdana"/>
                <a:cs typeface="Verdana"/>
              </a:rPr>
              <a:t>)</a:t>
            </a:r>
            <a:r>
              <a:rPr dirty="0" sz="800" spc="-30">
                <a:latin typeface="Verdana"/>
                <a:cs typeface="Verdana"/>
              </a:rPr>
              <a:t> </a:t>
            </a:r>
            <a:r>
              <a:rPr dirty="0" baseline="-27777" sz="1800" spc="150">
                <a:latin typeface="Garamond"/>
                <a:cs typeface="Garamond"/>
              </a:rPr>
              <a:t>+</a:t>
            </a:r>
            <a:r>
              <a:rPr dirty="0" baseline="-27777" sz="1800" spc="-52">
                <a:latin typeface="Garamond"/>
                <a:cs typeface="Garamond"/>
              </a:rPr>
              <a:t> </a:t>
            </a:r>
            <a:r>
              <a:rPr dirty="0" baseline="-27777" sz="1800" spc="-60">
                <a:latin typeface="Lucida Sans Unicode"/>
                <a:cs typeface="Lucida Sans Unicode"/>
              </a:rPr>
              <a:t>d</a:t>
            </a:r>
            <a:r>
              <a:rPr dirty="0" sz="800" spc="-50">
                <a:latin typeface="Verdana"/>
                <a:cs typeface="Verdana"/>
              </a:rPr>
              <a:t>(</a:t>
            </a:r>
            <a:r>
              <a:rPr dirty="0" sz="800">
                <a:latin typeface="Verdana"/>
                <a:cs typeface="Verdana"/>
              </a:rPr>
              <a:t>k</a:t>
            </a:r>
            <a:r>
              <a:rPr dirty="0" sz="800" spc="-35">
                <a:latin typeface="Verdana"/>
                <a:cs typeface="Verdana"/>
              </a:rPr>
              <a:t>−</a:t>
            </a:r>
            <a:r>
              <a:rPr dirty="0" sz="800" spc="-80">
                <a:latin typeface="Verdana"/>
                <a:cs typeface="Verdana"/>
              </a:rPr>
              <a:t>1</a:t>
            </a:r>
            <a:r>
              <a:rPr dirty="0" sz="800" spc="5">
                <a:latin typeface="Verdana"/>
                <a:cs typeface="Verdana"/>
              </a:rPr>
              <a:t>)</a:t>
            </a:r>
            <a:r>
              <a:rPr dirty="0" baseline="-27777" sz="1800" spc="-7">
                <a:latin typeface="Times New Roman"/>
                <a:cs typeface="Times New Roman"/>
              </a:rPr>
              <a:t>.</a:t>
            </a:r>
            <a:endParaRPr baseline="-27777" sz="18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494298" y="8865589"/>
            <a:ext cx="1739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80">
                <a:latin typeface="Verdana"/>
                <a:cs typeface="Verdana"/>
              </a:rPr>
              <a:t>3</a:t>
            </a:r>
            <a:r>
              <a:rPr dirty="0" sz="800" spc="-55">
                <a:latin typeface="Verdana"/>
                <a:cs typeface="Verdana"/>
              </a:rPr>
              <a:t>,</a:t>
            </a: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76333" y="8775547"/>
            <a:ext cx="58305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illustrate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process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d</a:t>
            </a:r>
            <a:r>
              <a:rPr dirty="0" baseline="31250" sz="1200" spc="22">
                <a:latin typeface="Verdana"/>
                <a:cs typeface="Verdana"/>
              </a:rPr>
              <a:t>k  </a:t>
            </a:r>
            <a:r>
              <a:rPr dirty="0" baseline="31250" sz="1200" spc="52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updated 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goes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0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58496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8.6.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SHORTEST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PATHS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16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050036" y="1267658"/>
            <a:ext cx="2702560" cy="2362200"/>
            <a:chOff x="1050036" y="1267658"/>
            <a:chExt cx="2702560" cy="2362200"/>
          </a:xfrm>
        </p:grpSpPr>
        <p:sp>
          <p:nvSpPr>
            <p:cNvPr id="5" name="object 5"/>
            <p:cNvSpPr/>
            <p:nvPr/>
          </p:nvSpPr>
          <p:spPr>
            <a:xfrm>
              <a:off x="1050036" y="1267658"/>
              <a:ext cx="2702560" cy="2362200"/>
            </a:xfrm>
            <a:custGeom>
              <a:avLst/>
              <a:gdLst/>
              <a:ahLst/>
              <a:cxnLst/>
              <a:rect l="l" t="t" r="r" b="b"/>
              <a:pathLst>
                <a:path w="2702560" h="2362200">
                  <a:moveTo>
                    <a:pt x="2702158" y="0"/>
                  </a:moveTo>
                  <a:lnTo>
                    <a:pt x="0" y="0"/>
                  </a:lnTo>
                  <a:lnTo>
                    <a:pt x="0" y="2362001"/>
                  </a:lnTo>
                  <a:lnTo>
                    <a:pt x="2702158" y="2362001"/>
                  </a:lnTo>
                  <a:lnTo>
                    <a:pt x="2702158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178756" y="3157646"/>
              <a:ext cx="331470" cy="317500"/>
            </a:xfrm>
            <a:custGeom>
              <a:avLst/>
              <a:gdLst/>
              <a:ahLst/>
              <a:cxnLst/>
              <a:rect l="l" t="t" r="r" b="b"/>
              <a:pathLst>
                <a:path w="331469" h="317500">
                  <a:moveTo>
                    <a:pt x="165872" y="0"/>
                  </a:moveTo>
                  <a:lnTo>
                    <a:pt x="125684" y="4465"/>
                  </a:lnTo>
                  <a:lnTo>
                    <a:pt x="88681" y="17861"/>
                  </a:lnTo>
                  <a:lnTo>
                    <a:pt x="55504" y="40187"/>
                  </a:lnTo>
                  <a:lnTo>
                    <a:pt x="29352" y="68900"/>
                  </a:lnTo>
                  <a:lnTo>
                    <a:pt x="4465" y="119938"/>
                  </a:lnTo>
                  <a:lnTo>
                    <a:pt x="0" y="158206"/>
                  </a:lnTo>
                  <a:lnTo>
                    <a:pt x="1280" y="177347"/>
                  </a:lnTo>
                  <a:lnTo>
                    <a:pt x="10850" y="214350"/>
                  </a:lnTo>
                  <a:lnTo>
                    <a:pt x="29352" y="248168"/>
                  </a:lnTo>
                  <a:lnTo>
                    <a:pt x="55504" y="276865"/>
                  </a:lnTo>
                  <a:lnTo>
                    <a:pt x="88681" y="299206"/>
                  </a:lnTo>
                  <a:lnTo>
                    <a:pt x="125684" y="312602"/>
                  </a:lnTo>
                  <a:lnTo>
                    <a:pt x="165872" y="317068"/>
                  </a:lnTo>
                  <a:lnTo>
                    <a:pt x="185013" y="315788"/>
                  </a:lnTo>
                  <a:lnTo>
                    <a:pt x="223921" y="306857"/>
                  </a:lnTo>
                  <a:lnTo>
                    <a:pt x="259019" y="288996"/>
                  </a:lnTo>
                  <a:lnTo>
                    <a:pt x="288996" y="263469"/>
                  </a:lnTo>
                  <a:lnTo>
                    <a:pt x="311962" y="232211"/>
                  </a:lnTo>
                  <a:lnTo>
                    <a:pt x="325998" y="196489"/>
                  </a:lnTo>
                  <a:lnTo>
                    <a:pt x="331104" y="158206"/>
                  </a:lnTo>
                  <a:lnTo>
                    <a:pt x="329824" y="139080"/>
                  </a:lnTo>
                  <a:lnTo>
                    <a:pt x="320253" y="102077"/>
                  </a:lnTo>
                  <a:lnTo>
                    <a:pt x="288996" y="53583"/>
                  </a:lnTo>
                  <a:lnTo>
                    <a:pt x="259019" y="28072"/>
                  </a:lnTo>
                  <a:lnTo>
                    <a:pt x="223921" y="10210"/>
                  </a:lnTo>
                  <a:lnTo>
                    <a:pt x="185013" y="1280"/>
                  </a:lnTo>
                  <a:lnTo>
                    <a:pt x="165872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178756" y="3157646"/>
              <a:ext cx="331470" cy="317500"/>
            </a:xfrm>
            <a:custGeom>
              <a:avLst/>
              <a:gdLst/>
              <a:ahLst/>
              <a:cxnLst/>
              <a:rect l="l" t="t" r="r" b="b"/>
              <a:pathLst>
                <a:path w="331469" h="317500">
                  <a:moveTo>
                    <a:pt x="0" y="158206"/>
                  </a:moveTo>
                  <a:lnTo>
                    <a:pt x="4465" y="119938"/>
                  </a:lnTo>
                  <a:lnTo>
                    <a:pt x="29352" y="68900"/>
                  </a:lnTo>
                  <a:lnTo>
                    <a:pt x="55504" y="40187"/>
                  </a:lnTo>
                  <a:lnTo>
                    <a:pt x="88681" y="17861"/>
                  </a:lnTo>
                  <a:lnTo>
                    <a:pt x="125684" y="4465"/>
                  </a:lnTo>
                  <a:lnTo>
                    <a:pt x="165872" y="0"/>
                  </a:lnTo>
                  <a:lnTo>
                    <a:pt x="185013" y="1280"/>
                  </a:lnTo>
                  <a:lnTo>
                    <a:pt x="223921" y="10210"/>
                  </a:lnTo>
                  <a:lnTo>
                    <a:pt x="259019" y="28072"/>
                  </a:lnTo>
                  <a:lnTo>
                    <a:pt x="288996" y="53583"/>
                  </a:lnTo>
                  <a:lnTo>
                    <a:pt x="311962" y="84841"/>
                  </a:lnTo>
                  <a:lnTo>
                    <a:pt x="329824" y="139080"/>
                  </a:lnTo>
                  <a:lnTo>
                    <a:pt x="331104" y="158206"/>
                  </a:lnTo>
                  <a:lnTo>
                    <a:pt x="329824" y="177347"/>
                  </a:lnTo>
                  <a:lnTo>
                    <a:pt x="320253" y="214350"/>
                  </a:lnTo>
                  <a:lnTo>
                    <a:pt x="301751" y="248168"/>
                  </a:lnTo>
                  <a:lnTo>
                    <a:pt x="274960" y="276865"/>
                  </a:lnTo>
                  <a:lnTo>
                    <a:pt x="241782" y="299206"/>
                  </a:lnTo>
                  <a:lnTo>
                    <a:pt x="204779" y="312602"/>
                  </a:lnTo>
                  <a:lnTo>
                    <a:pt x="165872" y="317068"/>
                  </a:lnTo>
                  <a:lnTo>
                    <a:pt x="145450" y="315788"/>
                  </a:lnTo>
                  <a:lnTo>
                    <a:pt x="106542" y="306857"/>
                  </a:lnTo>
                  <a:lnTo>
                    <a:pt x="71460" y="288996"/>
                  </a:lnTo>
                  <a:lnTo>
                    <a:pt x="41468" y="263469"/>
                  </a:lnTo>
                  <a:lnTo>
                    <a:pt x="18501" y="232211"/>
                  </a:lnTo>
                  <a:lnTo>
                    <a:pt x="4465" y="196489"/>
                  </a:lnTo>
                  <a:lnTo>
                    <a:pt x="0" y="158206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307933" y="2267066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70" h="316864">
                  <a:moveTo>
                    <a:pt x="165872" y="0"/>
                  </a:moveTo>
                  <a:lnTo>
                    <a:pt x="125684" y="4465"/>
                  </a:lnTo>
                  <a:lnTo>
                    <a:pt x="88681" y="17861"/>
                  </a:lnTo>
                  <a:lnTo>
                    <a:pt x="55504" y="40187"/>
                  </a:lnTo>
                  <a:lnTo>
                    <a:pt x="18501" y="84200"/>
                  </a:lnTo>
                  <a:lnTo>
                    <a:pt x="4465" y="119938"/>
                  </a:lnTo>
                  <a:lnTo>
                    <a:pt x="0" y="158206"/>
                  </a:lnTo>
                  <a:lnTo>
                    <a:pt x="1280" y="177347"/>
                  </a:lnTo>
                  <a:lnTo>
                    <a:pt x="10850" y="214350"/>
                  </a:lnTo>
                  <a:lnTo>
                    <a:pt x="29352" y="248168"/>
                  </a:lnTo>
                  <a:lnTo>
                    <a:pt x="55504" y="276865"/>
                  </a:lnTo>
                  <a:lnTo>
                    <a:pt x="88681" y="297926"/>
                  </a:lnTo>
                  <a:lnTo>
                    <a:pt x="125684" y="311962"/>
                  </a:lnTo>
                  <a:lnTo>
                    <a:pt x="165872" y="316428"/>
                  </a:lnTo>
                  <a:lnTo>
                    <a:pt x="185013" y="315147"/>
                  </a:lnTo>
                  <a:lnTo>
                    <a:pt x="223921" y="306217"/>
                  </a:lnTo>
                  <a:lnTo>
                    <a:pt x="259019" y="288996"/>
                  </a:lnTo>
                  <a:lnTo>
                    <a:pt x="288996" y="263469"/>
                  </a:lnTo>
                  <a:lnTo>
                    <a:pt x="311962" y="232211"/>
                  </a:lnTo>
                  <a:lnTo>
                    <a:pt x="325998" y="196489"/>
                  </a:lnTo>
                  <a:lnTo>
                    <a:pt x="331104" y="158206"/>
                  </a:lnTo>
                  <a:lnTo>
                    <a:pt x="329824" y="139064"/>
                  </a:lnTo>
                  <a:lnTo>
                    <a:pt x="320253" y="102077"/>
                  </a:lnTo>
                  <a:lnTo>
                    <a:pt x="301751" y="67619"/>
                  </a:lnTo>
                  <a:lnTo>
                    <a:pt x="274960" y="40187"/>
                  </a:lnTo>
                  <a:lnTo>
                    <a:pt x="241782" y="17861"/>
                  </a:lnTo>
                  <a:lnTo>
                    <a:pt x="204779" y="4465"/>
                  </a:lnTo>
                  <a:lnTo>
                    <a:pt x="165872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307933" y="2267066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70" h="316864">
                  <a:moveTo>
                    <a:pt x="0" y="158206"/>
                  </a:moveTo>
                  <a:lnTo>
                    <a:pt x="4465" y="119938"/>
                  </a:lnTo>
                  <a:lnTo>
                    <a:pt x="18501" y="84200"/>
                  </a:lnTo>
                  <a:lnTo>
                    <a:pt x="41468" y="53583"/>
                  </a:lnTo>
                  <a:lnTo>
                    <a:pt x="71460" y="28072"/>
                  </a:lnTo>
                  <a:lnTo>
                    <a:pt x="106542" y="10210"/>
                  </a:lnTo>
                  <a:lnTo>
                    <a:pt x="145450" y="1280"/>
                  </a:lnTo>
                  <a:lnTo>
                    <a:pt x="165872" y="0"/>
                  </a:lnTo>
                  <a:lnTo>
                    <a:pt x="185013" y="1280"/>
                  </a:lnTo>
                  <a:lnTo>
                    <a:pt x="223921" y="10210"/>
                  </a:lnTo>
                  <a:lnTo>
                    <a:pt x="259019" y="28072"/>
                  </a:lnTo>
                  <a:lnTo>
                    <a:pt x="288996" y="53583"/>
                  </a:lnTo>
                  <a:lnTo>
                    <a:pt x="311962" y="84200"/>
                  </a:lnTo>
                  <a:lnTo>
                    <a:pt x="325998" y="119938"/>
                  </a:lnTo>
                  <a:lnTo>
                    <a:pt x="331104" y="158206"/>
                  </a:lnTo>
                  <a:lnTo>
                    <a:pt x="329824" y="177347"/>
                  </a:lnTo>
                  <a:lnTo>
                    <a:pt x="320253" y="214350"/>
                  </a:lnTo>
                  <a:lnTo>
                    <a:pt x="301751" y="248168"/>
                  </a:lnTo>
                  <a:lnTo>
                    <a:pt x="274960" y="276865"/>
                  </a:lnTo>
                  <a:lnTo>
                    <a:pt x="241782" y="297926"/>
                  </a:lnTo>
                  <a:lnTo>
                    <a:pt x="204779" y="311962"/>
                  </a:lnTo>
                  <a:lnTo>
                    <a:pt x="165872" y="316428"/>
                  </a:lnTo>
                  <a:lnTo>
                    <a:pt x="145450" y="315147"/>
                  </a:lnTo>
                  <a:lnTo>
                    <a:pt x="106542" y="306217"/>
                  </a:lnTo>
                  <a:lnTo>
                    <a:pt x="71460" y="288996"/>
                  </a:lnTo>
                  <a:lnTo>
                    <a:pt x="41468" y="263469"/>
                  </a:lnTo>
                  <a:lnTo>
                    <a:pt x="18501" y="232211"/>
                  </a:lnTo>
                  <a:lnTo>
                    <a:pt x="4465" y="196489"/>
                  </a:lnTo>
                  <a:lnTo>
                    <a:pt x="0" y="158206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194712" y="1408384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69" h="316864">
                  <a:moveTo>
                    <a:pt x="165232" y="0"/>
                  </a:moveTo>
                  <a:lnTo>
                    <a:pt x="125669" y="4465"/>
                  </a:lnTo>
                  <a:lnTo>
                    <a:pt x="88666" y="17221"/>
                  </a:lnTo>
                  <a:lnTo>
                    <a:pt x="55504" y="39547"/>
                  </a:lnTo>
                  <a:lnTo>
                    <a:pt x="29336" y="67619"/>
                  </a:lnTo>
                  <a:lnTo>
                    <a:pt x="10835" y="102062"/>
                  </a:lnTo>
                  <a:lnTo>
                    <a:pt x="1264" y="139064"/>
                  </a:lnTo>
                  <a:lnTo>
                    <a:pt x="0" y="158206"/>
                  </a:lnTo>
                  <a:lnTo>
                    <a:pt x="1264" y="177347"/>
                  </a:lnTo>
                  <a:lnTo>
                    <a:pt x="10835" y="214350"/>
                  </a:lnTo>
                  <a:lnTo>
                    <a:pt x="41468" y="262829"/>
                  </a:lnTo>
                  <a:lnTo>
                    <a:pt x="71445" y="288356"/>
                  </a:lnTo>
                  <a:lnTo>
                    <a:pt x="106527" y="306217"/>
                  </a:lnTo>
                  <a:lnTo>
                    <a:pt x="145450" y="315147"/>
                  </a:lnTo>
                  <a:lnTo>
                    <a:pt x="165232" y="316412"/>
                  </a:lnTo>
                  <a:lnTo>
                    <a:pt x="184998" y="315147"/>
                  </a:lnTo>
                  <a:lnTo>
                    <a:pt x="223921" y="306217"/>
                  </a:lnTo>
                  <a:lnTo>
                    <a:pt x="259003" y="288356"/>
                  </a:lnTo>
                  <a:lnTo>
                    <a:pt x="288996" y="262829"/>
                  </a:lnTo>
                  <a:lnTo>
                    <a:pt x="311947" y="232211"/>
                  </a:lnTo>
                  <a:lnTo>
                    <a:pt x="325983" y="196489"/>
                  </a:lnTo>
                  <a:lnTo>
                    <a:pt x="331088" y="158206"/>
                  </a:lnTo>
                  <a:lnTo>
                    <a:pt x="329824" y="139064"/>
                  </a:lnTo>
                  <a:lnTo>
                    <a:pt x="320253" y="102062"/>
                  </a:lnTo>
                  <a:lnTo>
                    <a:pt x="301751" y="67619"/>
                  </a:lnTo>
                  <a:lnTo>
                    <a:pt x="274960" y="39547"/>
                  </a:lnTo>
                  <a:lnTo>
                    <a:pt x="241782" y="17221"/>
                  </a:lnTo>
                  <a:lnTo>
                    <a:pt x="204779" y="4465"/>
                  </a:lnTo>
                  <a:lnTo>
                    <a:pt x="165232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194712" y="1408384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69" h="316864">
                  <a:moveTo>
                    <a:pt x="0" y="158206"/>
                  </a:moveTo>
                  <a:lnTo>
                    <a:pt x="4465" y="119923"/>
                  </a:lnTo>
                  <a:lnTo>
                    <a:pt x="18501" y="84200"/>
                  </a:lnTo>
                  <a:lnTo>
                    <a:pt x="41468" y="52943"/>
                  </a:lnTo>
                  <a:lnTo>
                    <a:pt x="71445" y="27431"/>
                  </a:lnTo>
                  <a:lnTo>
                    <a:pt x="106527" y="10195"/>
                  </a:lnTo>
                  <a:lnTo>
                    <a:pt x="145450" y="1264"/>
                  </a:lnTo>
                  <a:lnTo>
                    <a:pt x="165232" y="0"/>
                  </a:lnTo>
                  <a:lnTo>
                    <a:pt x="184998" y="1264"/>
                  </a:lnTo>
                  <a:lnTo>
                    <a:pt x="223921" y="10195"/>
                  </a:lnTo>
                  <a:lnTo>
                    <a:pt x="259003" y="27431"/>
                  </a:lnTo>
                  <a:lnTo>
                    <a:pt x="288996" y="52943"/>
                  </a:lnTo>
                  <a:lnTo>
                    <a:pt x="311947" y="84200"/>
                  </a:lnTo>
                  <a:lnTo>
                    <a:pt x="325983" y="119923"/>
                  </a:lnTo>
                  <a:lnTo>
                    <a:pt x="331088" y="158206"/>
                  </a:lnTo>
                  <a:lnTo>
                    <a:pt x="329824" y="177347"/>
                  </a:lnTo>
                  <a:lnTo>
                    <a:pt x="320253" y="214350"/>
                  </a:lnTo>
                  <a:lnTo>
                    <a:pt x="288996" y="262829"/>
                  </a:lnTo>
                  <a:lnTo>
                    <a:pt x="259003" y="288356"/>
                  </a:lnTo>
                  <a:lnTo>
                    <a:pt x="223921" y="306217"/>
                  </a:lnTo>
                  <a:lnTo>
                    <a:pt x="184998" y="315147"/>
                  </a:lnTo>
                  <a:lnTo>
                    <a:pt x="165232" y="316412"/>
                  </a:lnTo>
                  <a:lnTo>
                    <a:pt x="145450" y="315147"/>
                  </a:lnTo>
                  <a:lnTo>
                    <a:pt x="106527" y="306217"/>
                  </a:lnTo>
                  <a:lnTo>
                    <a:pt x="71445" y="288356"/>
                  </a:lnTo>
                  <a:lnTo>
                    <a:pt x="41468" y="262829"/>
                  </a:lnTo>
                  <a:lnTo>
                    <a:pt x="18501" y="232211"/>
                  </a:lnTo>
                  <a:lnTo>
                    <a:pt x="4465" y="196489"/>
                  </a:lnTo>
                  <a:lnTo>
                    <a:pt x="0" y="158206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1156120" y="2276637"/>
              <a:ext cx="330835" cy="316865"/>
            </a:xfrm>
            <a:custGeom>
              <a:avLst/>
              <a:gdLst/>
              <a:ahLst/>
              <a:cxnLst/>
              <a:rect l="l" t="t" r="r" b="b"/>
              <a:pathLst>
                <a:path w="330834" h="316864">
                  <a:moveTo>
                    <a:pt x="165229" y="0"/>
                  </a:moveTo>
                  <a:lnTo>
                    <a:pt x="125676" y="5105"/>
                  </a:lnTo>
                  <a:lnTo>
                    <a:pt x="88036" y="18501"/>
                  </a:lnTo>
                  <a:lnTo>
                    <a:pt x="55501" y="40187"/>
                  </a:lnTo>
                  <a:lnTo>
                    <a:pt x="29346" y="68259"/>
                  </a:lnTo>
                  <a:lnTo>
                    <a:pt x="10844" y="102062"/>
                  </a:lnTo>
                  <a:lnTo>
                    <a:pt x="1275" y="139064"/>
                  </a:lnTo>
                  <a:lnTo>
                    <a:pt x="0" y="158206"/>
                  </a:lnTo>
                  <a:lnTo>
                    <a:pt x="1275" y="177347"/>
                  </a:lnTo>
                  <a:lnTo>
                    <a:pt x="10844" y="214990"/>
                  </a:lnTo>
                  <a:lnTo>
                    <a:pt x="29346" y="248792"/>
                  </a:lnTo>
                  <a:lnTo>
                    <a:pt x="55501" y="277505"/>
                  </a:lnTo>
                  <a:lnTo>
                    <a:pt x="88036" y="298551"/>
                  </a:lnTo>
                  <a:lnTo>
                    <a:pt x="125676" y="311962"/>
                  </a:lnTo>
                  <a:lnTo>
                    <a:pt x="165229" y="316428"/>
                  </a:lnTo>
                  <a:lnTo>
                    <a:pt x="185644" y="315788"/>
                  </a:lnTo>
                  <a:lnTo>
                    <a:pt x="223921" y="306217"/>
                  </a:lnTo>
                  <a:lnTo>
                    <a:pt x="259646" y="288356"/>
                  </a:lnTo>
                  <a:lnTo>
                    <a:pt x="288993" y="263469"/>
                  </a:lnTo>
                  <a:lnTo>
                    <a:pt x="311321" y="232211"/>
                  </a:lnTo>
                  <a:lnTo>
                    <a:pt x="325994" y="196489"/>
                  </a:lnTo>
                  <a:lnTo>
                    <a:pt x="330459" y="158206"/>
                  </a:lnTo>
                  <a:lnTo>
                    <a:pt x="329183" y="139064"/>
                  </a:lnTo>
                  <a:lnTo>
                    <a:pt x="319614" y="102062"/>
                  </a:lnTo>
                  <a:lnTo>
                    <a:pt x="301113" y="68259"/>
                  </a:lnTo>
                  <a:lnTo>
                    <a:pt x="274957" y="40187"/>
                  </a:lnTo>
                  <a:lnTo>
                    <a:pt x="242422" y="18501"/>
                  </a:lnTo>
                  <a:lnTo>
                    <a:pt x="204782" y="5105"/>
                  </a:lnTo>
                  <a:lnTo>
                    <a:pt x="165229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156120" y="2276637"/>
              <a:ext cx="330835" cy="316865"/>
            </a:xfrm>
            <a:custGeom>
              <a:avLst/>
              <a:gdLst/>
              <a:ahLst/>
              <a:cxnLst/>
              <a:rect l="l" t="t" r="r" b="b"/>
              <a:pathLst>
                <a:path w="330834" h="316864">
                  <a:moveTo>
                    <a:pt x="0" y="158206"/>
                  </a:moveTo>
                  <a:lnTo>
                    <a:pt x="10844" y="102062"/>
                  </a:lnTo>
                  <a:lnTo>
                    <a:pt x="29346" y="68259"/>
                  </a:lnTo>
                  <a:lnTo>
                    <a:pt x="55501" y="40187"/>
                  </a:lnTo>
                  <a:lnTo>
                    <a:pt x="88036" y="18501"/>
                  </a:lnTo>
                  <a:lnTo>
                    <a:pt x="125676" y="5105"/>
                  </a:lnTo>
                  <a:lnTo>
                    <a:pt x="165229" y="0"/>
                  </a:lnTo>
                  <a:lnTo>
                    <a:pt x="185644" y="1264"/>
                  </a:lnTo>
                  <a:lnTo>
                    <a:pt x="223921" y="10210"/>
                  </a:lnTo>
                  <a:lnTo>
                    <a:pt x="259646" y="28072"/>
                  </a:lnTo>
                  <a:lnTo>
                    <a:pt x="288993" y="53583"/>
                  </a:lnTo>
                  <a:lnTo>
                    <a:pt x="311321" y="84841"/>
                  </a:lnTo>
                  <a:lnTo>
                    <a:pt x="325994" y="120563"/>
                  </a:lnTo>
                  <a:lnTo>
                    <a:pt x="330459" y="158206"/>
                  </a:lnTo>
                  <a:lnTo>
                    <a:pt x="329183" y="177347"/>
                  </a:lnTo>
                  <a:lnTo>
                    <a:pt x="319614" y="214990"/>
                  </a:lnTo>
                  <a:lnTo>
                    <a:pt x="301113" y="248792"/>
                  </a:lnTo>
                  <a:lnTo>
                    <a:pt x="274957" y="277505"/>
                  </a:lnTo>
                  <a:lnTo>
                    <a:pt x="242422" y="298551"/>
                  </a:lnTo>
                  <a:lnTo>
                    <a:pt x="204782" y="311962"/>
                  </a:lnTo>
                  <a:lnTo>
                    <a:pt x="165229" y="316428"/>
                  </a:lnTo>
                  <a:lnTo>
                    <a:pt x="145453" y="315788"/>
                  </a:lnTo>
                  <a:lnTo>
                    <a:pt x="106538" y="306217"/>
                  </a:lnTo>
                  <a:lnTo>
                    <a:pt x="71449" y="288356"/>
                  </a:lnTo>
                  <a:lnTo>
                    <a:pt x="42105" y="263469"/>
                  </a:lnTo>
                  <a:lnTo>
                    <a:pt x="19138" y="232211"/>
                  </a:lnTo>
                  <a:lnTo>
                    <a:pt x="5103" y="196489"/>
                  </a:lnTo>
                  <a:lnTo>
                    <a:pt x="0" y="158206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1251174" y="2294612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500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13533" y="1637727"/>
            <a:ext cx="1948180" cy="1593850"/>
            <a:chOff x="1413533" y="1637727"/>
            <a:chExt cx="1948180" cy="1593850"/>
          </a:xfrm>
        </p:grpSpPr>
        <p:sp>
          <p:nvSpPr>
            <p:cNvPr id="16" name="object 16"/>
            <p:cNvSpPr/>
            <p:nvPr/>
          </p:nvSpPr>
          <p:spPr>
            <a:xfrm>
              <a:off x="2351638" y="1765640"/>
              <a:ext cx="3175" cy="1391285"/>
            </a:xfrm>
            <a:custGeom>
              <a:avLst/>
              <a:gdLst/>
              <a:ahLst/>
              <a:cxnLst/>
              <a:rect l="l" t="t" r="r" b="b"/>
              <a:pathLst>
                <a:path w="3175" h="1391285">
                  <a:moveTo>
                    <a:pt x="2560" y="0"/>
                  </a:moveTo>
                  <a:lnTo>
                    <a:pt x="0" y="1390726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324846" y="1682704"/>
              <a:ext cx="59690" cy="90170"/>
            </a:xfrm>
            <a:custGeom>
              <a:avLst/>
              <a:gdLst/>
              <a:ahLst/>
              <a:cxnLst/>
              <a:rect l="l" t="t" r="r" b="b"/>
              <a:pathLst>
                <a:path w="59689" h="90169">
                  <a:moveTo>
                    <a:pt x="29352" y="0"/>
                  </a:moveTo>
                  <a:lnTo>
                    <a:pt x="0" y="89946"/>
                  </a:lnTo>
                  <a:lnTo>
                    <a:pt x="59329" y="89946"/>
                  </a:lnTo>
                  <a:lnTo>
                    <a:pt x="29352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484028" y="1645701"/>
              <a:ext cx="732155" cy="611505"/>
            </a:xfrm>
            <a:custGeom>
              <a:avLst/>
              <a:gdLst/>
              <a:ahLst/>
              <a:cxnLst/>
              <a:rect l="l" t="t" r="r" b="b"/>
              <a:pathLst>
                <a:path w="732155" h="611505">
                  <a:moveTo>
                    <a:pt x="0" y="611154"/>
                  </a:moveTo>
                  <a:lnTo>
                    <a:pt x="731730" y="0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1421507" y="2228784"/>
              <a:ext cx="87630" cy="81280"/>
            </a:xfrm>
            <a:custGeom>
              <a:avLst/>
              <a:gdLst/>
              <a:ahLst/>
              <a:cxnLst/>
              <a:rect l="l" t="t" r="r" b="b"/>
              <a:pathLst>
                <a:path w="87630" h="81280">
                  <a:moveTo>
                    <a:pt x="49123" y="0"/>
                  </a:moveTo>
                  <a:lnTo>
                    <a:pt x="0" y="81015"/>
                  </a:lnTo>
                  <a:lnTo>
                    <a:pt x="87399" y="45933"/>
                  </a:lnTo>
                  <a:lnTo>
                    <a:pt x="49123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421507" y="2565633"/>
              <a:ext cx="734060" cy="612775"/>
            </a:xfrm>
            <a:custGeom>
              <a:avLst/>
              <a:gdLst/>
              <a:ahLst/>
              <a:cxnLst/>
              <a:rect l="l" t="t" r="r" b="b"/>
              <a:pathLst>
                <a:path w="734060" h="612775">
                  <a:moveTo>
                    <a:pt x="0" y="0"/>
                  </a:moveTo>
                  <a:lnTo>
                    <a:pt x="733641" y="612434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130277" y="3149996"/>
              <a:ext cx="88265" cy="81280"/>
            </a:xfrm>
            <a:custGeom>
              <a:avLst/>
              <a:gdLst/>
              <a:ahLst/>
              <a:cxnLst/>
              <a:rect l="l" t="t" r="r" b="b"/>
              <a:pathLst>
                <a:path w="88264" h="81280">
                  <a:moveTo>
                    <a:pt x="38267" y="0"/>
                  </a:moveTo>
                  <a:lnTo>
                    <a:pt x="0" y="46573"/>
                  </a:lnTo>
                  <a:lnTo>
                    <a:pt x="88041" y="81015"/>
                  </a:lnTo>
                  <a:lnTo>
                    <a:pt x="3826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495184" y="1652712"/>
              <a:ext cx="796925" cy="622300"/>
            </a:xfrm>
            <a:custGeom>
              <a:avLst/>
              <a:gdLst/>
              <a:ahLst/>
              <a:cxnLst/>
              <a:rect l="l" t="t" r="r" b="b"/>
              <a:pathLst>
                <a:path w="796925" h="622300">
                  <a:moveTo>
                    <a:pt x="0" y="0"/>
                  </a:moveTo>
                  <a:lnTo>
                    <a:pt x="796808" y="622005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267105" y="2246645"/>
              <a:ext cx="90170" cy="78740"/>
            </a:xfrm>
            <a:custGeom>
              <a:avLst/>
              <a:gdLst/>
              <a:ahLst/>
              <a:cxnLst/>
              <a:rect l="l" t="t" r="r" b="b"/>
              <a:pathLst>
                <a:path w="90170" h="78739">
                  <a:moveTo>
                    <a:pt x="37002" y="0"/>
                  </a:moveTo>
                  <a:lnTo>
                    <a:pt x="0" y="47213"/>
                  </a:lnTo>
                  <a:lnTo>
                    <a:pt x="89946" y="78470"/>
                  </a:lnTo>
                  <a:lnTo>
                    <a:pt x="37002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536652" y="2550957"/>
              <a:ext cx="816610" cy="627380"/>
            </a:xfrm>
            <a:custGeom>
              <a:avLst/>
              <a:gdLst/>
              <a:ahLst/>
              <a:cxnLst/>
              <a:rect l="l" t="t" r="r" b="b"/>
              <a:pathLst>
                <a:path w="816610" h="627380">
                  <a:moveTo>
                    <a:pt x="816574" y="0"/>
                  </a:moveTo>
                  <a:lnTo>
                    <a:pt x="0" y="627110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470937" y="3149356"/>
              <a:ext cx="90170" cy="79375"/>
            </a:xfrm>
            <a:custGeom>
              <a:avLst/>
              <a:gdLst/>
              <a:ahLst/>
              <a:cxnLst/>
              <a:rect l="l" t="t" r="r" b="b"/>
              <a:pathLst>
                <a:path w="90169" h="79375">
                  <a:moveTo>
                    <a:pt x="52958" y="0"/>
                  </a:moveTo>
                  <a:lnTo>
                    <a:pt x="0" y="79110"/>
                  </a:lnTo>
                  <a:lnTo>
                    <a:pt x="89961" y="47838"/>
                  </a:lnTo>
                  <a:lnTo>
                    <a:pt x="5295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1472545" y="2437404"/>
              <a:ext cx="1773555" cy="0"/>
            </a:xfrm>
            <a:custGeom>
              <a:avLst/>
              <a:gdLst/>
              <a:ahLst/>
              <a:cxnLst/>
              <a:rect l="l" t="t" r="r" b="b"/>
              <a:pathLst>
                <a:path w="1773555" h="0">
                  <a:moveTo>
                    <a:pt x="0" y="0"/>
                  </a:moveTo>
                  <a:lnTo>
                    <a:pt x="1773513" y="0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238393" y="2407412"/>
              <a:ext cx="89535" cy="60325"/>
            </a:xfrm>
            <a:custGeom>
              <a:avLst/>
              <a:gdLst/>
              <a:ahLst/>
              <a:cxnLst/>
              <a:rect l="l" t="t" r="r" b="b"/>
              <a:pathLst>
                <a:path w="89535" h="60325">
                  <a:moveTo>
                    <a:pt x="0" y="0"/>
                  </a:moveTo>
                  <a:lnTo>
                    <a:pt x="0" y="59969"/>
                  </a:lnTo>
                  <a:lnTo>
                    <a:pt x="89321" y="299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 txBox="1"/>
          <p:nvPr/>
        </p:nvSpPr>
        <p:spPr>
          <a:xfrm>
            <a:off x="2885616" y="2871954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5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297423" y="1432727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5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418307" y="2275463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5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281475" y="3174340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15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668402" y="1774673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5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973021" y="1790622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5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384190" y="1782329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5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965364" y="2195721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5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637148" y="2856003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5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518929" y="3838564"/>
            <a:ext cx="1739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80">
                <a:latin typeface="Verdana"/>
                <a:cs typeface="Verdana"/>
              </a:rPr>
              <a:t>3</a:t>
            </a:r>
            <a:r>
              <a:rPr dirty="0" sz="800" spc="-55">
                <a:latin typeface="Verdana"/>
                <a:cs typeface="Verdana"/>
              </a:rPr>
              <a:t>,</a:t>
            </a: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143532" y="3745777"/>
            <a:ext cx="25139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8.72: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0,</a:t>
            </a:r>
            <a:r>
              <a:rPr dirty="0" sz="1200" spc="150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baseline="41666" sz="1200" spc="-60">
                <a:latin typeface="Verdana"/>
                <a:cs typeface="Verdana"/>
              </a:rPr>
              <a:t>(0)</a:t>
            </a:r>
            <a:r>
              <a:rPr dirty="0" baseline="41666" sz="1200" spc="97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∞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(no</a:t>
            </a:r>
            <a:r>
              <a:rPr dirty="0" sz="1200" spc="-5">
                <a:latin typeface="Times New Roman"/>
                <a:cs typeface="Times New Roman"/>
              </a:rPr>
              <a:t> path)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4477511" y="1267658"/>
            <a:ext cx="2702560" cy="2362200"/>
            <a:chOff x="4477511" y="1267658"/>
            <a:chExt cx="2702560" cy="2362200"/>
          </a:xfrm>
        </p:grpSpPr>
        <p:sp>
          <p:nvSpPr>
            <p:cNvPr id="40" name="object 40"/>
            <p:cNvSpPr/>
            <p:nvPr/>
          </p:nvSpPr>
          <p:spPr>
            <a:xfrm>
              <a:off x="4477511" y="1267658"/>
              <a:ext cx="2702560" cy="2362200"/>
            </a:xfrm>
            <a:custGeom>
              <a:avLst/>
              <a:gdLst/>
              <a:ahLst/>
              <a:cxnLst/>
              <a:rect l="l" t="t" r="r" b="b"/>
              <a:pathLst>
                <a:path w="2702559" h="2362200">
                  <a:moveTo>
                    <a:pt x="2702158" y="0"/>
                  </a:moveTo>
                  <a:lnTo>
                    <a:pt x="0" y="0"/>
                  </a:lnTo>
                  <a:lnTo>
                    <a:pt x="0" y="2362001"/>
                  </a:lnTo>
                  <a:lnTo>
                    <a:pt x="2702158" y="2362001"/>
                  </a:lnTo>
                  <a:lnTo>
                    <a:pt x="2702158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607756" y="3157646"/>
              <a:ext cx="331470" cy="317500"/>
            </a:xfrm>
            <a:custGeom>
              <a:avLst/>
              <a:gdLst/>
              <a:ahLst/>
              <a:cxnLst/>
              <a:rect l="l" t="t" r="r" b="b"/>
              <a:pathLst>
                <a:path w="331470" h="317500">
                  <a:moveTo>
                    <a:pt x="165872" y="0"/>
                  </a:moveTo>
                  <a:lnTo>
                    <a:pt x="125684" y="4465"/>
                  </a:lnTo>
                  <a:lnTo>
                    <a:pt x="88681" y="17861"/>
                  </a:lnTo>
                  <a:lnTo>
                    <a:pt x="55504" y="40187"/>
                  </a:lnTo>
                  <a:lnTo>
                    <a:pt x="29352" y="68900"/>
                  </a:lnTo>
                  <a:lnTo>
                    <a:pt x="4465" y="119938"/>
                  </a:lnTo>
                  <a:lnTo>
                    <a:pt x="0" y="158206"/>
                  </a:lnTo>
                  <a:lnTo>
                    <a:pt x="1280" y="177347"/>
                  </a:lnTo>
                  <a:lnTo>
                    <a:pt x="10850" y="214350"/>
                  </a:lnTo>
                  <a:lnTo>
                    <a:pt x="29352" y="248168"/>
                  </a:lnTo>
                  <a:lnTo>
                    <a:pt x="55504" y="276865"/>
                  </a:lnTo>
                  <a:lnTo>
                    <a:pt x="88681" y="299206"/>
                  </a:lnTo>
                  <a:lnTo>
                    <a:pt x="125684" y="312602"/>
                  </a:lnTo>
                  <a:lnTo>
                    <a:pt x="165872" y="317068"/>
                  </a:lnTo>
                  <a:lnTo>
                    <a:pt x="185013" y="315788"/>
                  </a:lnTo>
                  <a:lnTo>
                    <a:pt x="223921" y="306857"/>
                  </a:lnTo>
                  <a:lnTo>
                    <a:pt x="259019" y="288996"/>
                  </a:lnTo>
                  <a:lnTo>
                    <a:pt x="288996" y="263469"/>
                  </a:lnTo>
                  <a:lnTo>
                    <a:pt x="311962" y="232211"/>
                  </a:lnTo>
                  <a:lnTo>
                    <a:pt x="325998" y="196489"/>
                  </a:lnTo>
                  <a:lnTo>
                    <a:pt x="331104" y="158206"/>
                  </a:lnTo>
                  <a:lnTo>
                    <a:pt x="329824" y="139080"/>
                  </a:lnTo>
                  <a:lnTo>
                    <a:pt x="320253" y="102077"/>
                  </a:lnTo>
                  <a:lnTo>
                    <a:pt x="288996" y="53583"/>
                  </a:lnTo>
                  <a:lnTo>
                    <a:pt x="259019" y="28072"/>
                  </a:lnTo>
                  <a:lnTo>
                    <a:pt x="223921" y="10210"/>
                  </a:lnTo>
                  <a:lnTo>
                    <a:pt x="185013" y="1280"/>
                  </a:lnTo>
                  <a:lnTo>
                    <a:pt x="165872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607756" y="3157646"/>
              <a:ext cx="331470" cy="317500"/>
            </a:xfrm>
            <a:custGeom>
              <a:avLst/>
              <a:gdLst/>
              <a:ahLst/>
              <a:cxnLst/>
              <a:rect l="l" t="t" r="r" b="b"/>
              <a:pathLst>
                <a:path w="331470" h="317500">
                  <a:moveTo>
                    <a:pt x="0" y="158206"/>
                  </a:moveTo>
                  <a:lnTo>
                    <a:pt x="4465" y="119938"/>
                  </a:lnTo>
                  <a:lnTo>
                    <a:pt x="29352" y="68900"/>
                  </a:lnTo>
                  <a:lnTo>
                    <a:pt x="55504" y="40187"/>
                  </a:lnTo>
                  <a:lnTo>
                    <a:pt x="88681" y="17861"/>
                  </a:lnTo>
                  <a:lnTo>
                    <a:pt x="125684" y="4465"/>
                  </a:lnTo>
                  <a:lnTo>
                    <a:pt x="165872" y="0"/>
                  </a:lnTo>
                  <a:lnTo>
                    <a:pt x="185013" y="1280"/>
                  </a:lnTo>
                  <a:lnTo>
                    <a:pt x="223921" y="10210"/>
                  </a:lnTo>
                  <a:lnTo>
                    <a:pt x="259019" y="28072"/>
                  </a:lnTo>
                  <a:lnTo>
                    <a:pt x="288996" y="53583"/>
                  </a:lnTo>
                  <a:lnTo>
                    <a:pt x="311962" y="84841"/>
                  </a:lnTo>
                  <a:lnTo>
                    <a:pt x="329824" y="139080"/>
                  </a:lnTo>
                  <a:lnTo>
                    <a:pt x="331104" y="158206"/>
                  </a:lnTo>
                  <a:lnTo>
                    <a:pt x="329824" y="177347"/>
                  </a:lnTo>
                  <a:lnTo>
                    <a:pt x="320253" y="214350"/>
                  </a:lnTo>
                  <a:lnTo>
                    <a:pt x="301751" y="248168"/>
                  </a:lnTo>
                  <a:lnTo>
                    <a:pt x="274960" y="276865"/>
                  </a:lnTo>
                  <a:lnTo>
                    <a:pt x="241782" y="299206"/>
                  </a:lnTo>
                  <a:lnTo>
                    <a:pt x="204779" y="312602"/>
                  </a:lnTo>
                  <a:lnTo>
                    <a:pt x="165872" y="317068"/>
                  </a:lnTo>
                  <a:lnTo>
                    <a:pt x="145450" y="315788"/>
                  </a:lnTo>
                  <a:lnTo>
                    <a:pt x="106542" y="306857"/>
                  </a:lnTo>
                  <a:lnTo>
                    <a:pt x="71460" y="288996"/>
                  </a:lnTo>
                  <a:lnTo>
                    <a:pt x="41468" y="263469"/>
                  </a:lnTo>
                  <a:lnTo>
                    <a:pt x="18501" y="232211"/>
                  </a:lnTo>
                  <a:lnTo>
                    <a:pt x="4465" y="196489"/>
                  </a:lnTo>
                  <a:lnTo>
                    <a:pt x="0" y="158206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6736933" y="2267066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70" h="316864">
                  <a:moveTo>
                    <a:pt x="165872" y="0"/>
                  </a:moveTo>
                  <a:lnTo>
                    <a:pt x="125684" y="4465"/>
                  </a:lnTo>
                  <a:lnTo>
                    <a:pt x="88681" y="17861"/>
                  </a:lnTo>
                  <a:lnTo>
                    <a:pt x="55504" y="40187"/>
                  </a:lnTo>
                  <a:lnTo>
                    <a:pt x="18501" y="84200"/>
                  </a:lnTo>
                  <a:lnTo>
                    <a:pt x="4465" y="119938"/>
                  </a:lnTo>
                  <a:lnTo>
                    <a:pt x="0" y="158206"/>
                  </a:lnTo>
                  <a:lnTo>
                    <a:pt x="1280" y="177347"/>
                  </a:lnTo>
                  <a:lnTo>
                    <a:pt x="10850" y="214350"/>
                  </a:lnTo>
                  <a:lnTo>
                    <a:pt x="29352" y="248168"/>
                  </a:lnTo>
                  <a:lnTo>
                    <a:pt x="55504" y="276865"/>
                  </a:lnTo>
                  <a:lnTo>
                    <a:pt x="88681" y="297926"/>
                  </a:lnTo>
                  <a:lnTo>
                    <a:pt x="125684" y="311962"/>
                  </a:lnTo>
                  <a:lnTo>
                    <a:pt x="165872" y="316428"/>
                  </a:lnTo>
                  <a:lnTo>
                    <a:pt x="185013" y="315147"/>
                  </a:lnTo>
                  <a:lnTo>
                    <a:pt x="223921" y="306217"/>
                  </a:lnTo>
                  <a:lnTo>
                    <a:pt x="259019" y="288996"/>
                  </a:lnTo>
                  <a:lnTo>
                    <a:pt x="288996" y="263469"/>
                  </a:lnTo>
                  <a:lnTo>
                    <a:pt x="311962" y="232211"/>
                  </a:lnTo>
                  <a:lnTo>
                    <a:pt x="325998" y="196489"/>
                  </a:lnTo>
                  <a:lnTo>
                    <a:pt x="331104" y="158206"/>
                  </a:lnTo>
                  <a:lnTo>
                    <a:pt x="329824" y="139064"/>
                  </a:lnTo>
                  <a:lnTo>
                    <a:pt x="320253" y="102077"/>
                  </a:lnTo>
                  <a:lnTo>
                    <a:pt x="301751" y="67619"/>
                  </a:lnTo>
                  <a:lnTo>
                    <a:pt x="274960" y="40187"/>
                  </a:lnTo>
                  <a:lnTo>
                    <a:pt x="241782" y="17861"/>
                  </a:lnTo>
                  <a:lnTo>
                    <a:pt x="204779" y="4465"/>
                  </a:lnTo>
                  <a:lnTo>
                    <a:pt x="165872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6736933" y="2267066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70" h="316864">
                  <a:moveTo>
                    <a:pt x="0" y="158206"/>
                  </a:moveTo>
                  <a:lnTo>
                    <a:pt x="4465" y="119938"/>
                  </a:lnTo>
                  <a:lnTo>
                    <a:pt x="18501" y="84200"/>
                  </a:lnTo>
                  <a:lnTo>
                    <a:pt x="41468" y="53583"/>
                  </a:lnTo>
                  <a:lnTo>
                    <a:pt x="71460" y="28072"/>
                  </a:lnTo>
                  <a:lnTo>
                    <a:pt x="106542" y="10210"/>
                  </a:lnTo>
                  <a:lnTo>
                    <a:pt x="145450" y="1280"/>
                  </a:lnTo>
                  <a:lnTo>
                    <a:pt x="165872" y="0"/>
                  </a:lnTo>
                  <a:lnTo>
                    <a:pt x="185013" y="1280"/>
                  </a:lnTo>
                  <a:lnTo>
                    <a:pt x="223921" y="10210"/>
                  </a:lnTo>
                  <a:lnTo>
                    <a:pt x="259019" y="28072"/>
                  </a:lnTo>
                  <a:lnTo>
                    <a:pt x="288996" y="53583"/>
                  </a:lnTo>
                  <a:lnTo>
                    <a:pt x="311962" y="84200"/>
                  </a:lnTo>
                  <a:lnTo>
                    <a:pt x="325998" y="119938"/>
                  </a:lnTo>
                  <a:lnTo>
                    <a:pt x="331104" y="158206"/>
                  </a:lnTo>
                  <a:lnTo>
                    <a:pt x="329824" y="177347"/>
                  </a:lnTo>
                  <a:lnTo>
                    <a:pt x="320253" y="214350"/>
                  </a:lnTo>
                  <a:lnTo>
                    <a:pt x="301751" y="248168"/>
                  </a:lnTo>
                  <a:lnTo>
                    <a:pt x="274960" y="276865"/>
                  </a:lnTo>
                  <a:lnTo>
                    <a:pt x="241782" y="297926"/>
                  </a:lnTo>
                  <a:lnTo>
                    <a:pt x="204779" y="311962"/>
                  </a:lnTo>
                  <a:lnTo>
                    <a:pt x="165872" y="316428"/>
                  </a:lnTo>
                  <a:lnTo>
                    <a:pt x="145450" y="315147"/>
                  </a:lnTo>
                  <a:lnTo>
                    <a:pt x="106542" y="306217"/>
                  </a:lnTo>
                  <a:lnTo>
                    <a:pt x="71460" y="288996"/>
                  </a:lnTo>
                  <a:lnTo>
                    <a:pt x="41468" y="263469"/>
                  </a:lnTo>
                  <a:lnTo>
                    <a:pt x="18501" y="232211"/>
                  </a:lnTo>
                  <a:lnTo>
                    <a:pt x="4465" y="196489"/>
                  </a:lnTo>
                  <a:lnTo>
                    <a:pt x="0" y="158206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623712" y="1408384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70" h="316864">
                  <a:moveTo>
                    <a:pt x="165232" y="0"/>
                  </a:moveTo>
                  <a:lnTo>
                    <a:pt x="125669" y="4465"/>
                  </a:lnTo>
                  <a:lnTo>
                    <a:pt x="88666" y="17221"/>
                  </a:lnTo>
                  <a:lnTo>
                    <a:pt x="55504" y="39547"/>
                  </a:lnTo>
                  <a:lnTo>
                    <a:pt x="29336" y="67619"/>
                  </a:lnTo>
                  <a:lnTo>
                    <a:pt x="10835" y="102062"/>
                  </a:lnTo>
                  <a:lnTo>
                    <a:pt x="1264" y="139064"/>
                  </a:lnTo>
                  <a:lnTo>
                    <a:pt x="0" y="158206"/>
                  </a:lnTo>
                  <a:lnTo>
                    <a:pt x="1264" y="177347"/>
                  </a:lnTo>
                  <a:lnTo>
                    <a:pt x="10835" y="214350"/>
                  </a:lnTo>
                  <a:lnTo>
                    <a:pt x="41468" y="262829"/>
                  </a:lnTo>
                  <a:lnTo>
                    <a:pt x="71445" y="288356"/>
                  </a:lnTo>
                  <a:lnTo>
                    <a:pt x="106527" y="306217"/>
                  </a:lnTo>
                  <a:lnTo>
                    <a:pt x="145450" y="315147"/>
                  </a:lnTo>
                  <a:lnTo>
                    <a:pt x="165232" y="316412"/>
                  </a:lnTo>
                  <a:lnTo>
                    <a:pt x="184998" y="315147"/>
                  </a:lnTo>
                  <a:lnTo>
                    <a:pt x="223921" y="306217"/>
                  </a:lnTo>
                  <a:lnTo>
                    <a:pt x="259003" y="288356"/>
                  </a:lnTo>
                  <a:lnTo>
                    <a:pt x="288996" y="262829"/>
                  </a:lnTo>
                  <a:lnTo>
                    <a:pt x="311947" y="232211"/>
                  </a:lnTo>
                  <a:lnTo>
                    <a:pt x="325983" y="196489"/>
                  </a:lnTo>
                  <a:lnTo>
                    <a:pt x="331088" y="158206"/>
                  </a:lnTo>
                  <a:lnTo>
                    <a:pt x="329824" y="139064"/>
                  </a:lnTo>
                  <a:lnTo>
                    <a:pt x="320253" y="102062"/>
                  </a:lnTo>
                  <a:lnTo>
                    <a:pt x="301751" y="67619"/>
                  </a:lnTo>
                  <a:lnTo>
                    <a:pt x="274960" y="39547"/>
                  </a:lnTo>
                  <a:lnTo>
                    <a:pt x="241782" y="17221"/>
                  </a:lnTo>
                  <a:lnTo>
                    <a:pt x="204779" y="4465"/>
                  </a:lnTo>
                  <a:lnTo>
                    <a:pt x="165232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623712" y="1408384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70" h="316864">
                  <a:moveTo>
                    <a:pt x="0" y="158206"/>
                  </a:moveTo>
                  <a:lnTo>
                    <a:pt x="4465" y="119923"/>
                  </a:lnTo>
                  <a:lnTo>
                    <a:pt x="18501" y="84200"/>
                  </a:lnTo>
                  <a:lnTo>
                    <a:pt x="41468" y="52943"/>
                  </a:lnTo>
                  <a:lnTo>
                    <a:pt x="71445" y="27431"/>
                  </a:lnTo>
                  <a:lnTo>
                    <a:pt x="106527" y="10195"/>
                  </a:lnTo>
                  <a:lnTo>
                    <a:pt x="145450" y="1264"/>
                  </a:lnTo>
                  <a:lnTo>
                    <a:pt x="165232" y="0"/>
                  </a:lnTo>
                  <a:lnTo>
                    <a:pt x="184998" y="1264"/>
                  </a:lnTo>
                  <a:lnTo>
                    <a:pt x="223921" y="10195"/>
                  </a:lnTo>
                  <a:lnTo>
                    <a:pt x="259003" y="27431"/>
                  </a:lnTo>
                  <a:lnTo>
                    <a:pt x="288996" y="52943"/>
                  </a:lnTo>
                  <a:lnTo>
                    <a:pt x="311947" y="84200"/>
                  </a:lnTo>
                  <a:lnTo>
                    <a:pt x="325983" y="119923"/>
                  </a:lnTo>
                  <a:lnTo>
                    <a:pt x="331088" y="158206"/>
                  </a:lnTo>
                  <a:lnTo>
                    <a:pt x="329824" y="177347"/>
                  </a:lnTo>
                  <a:lnTo>
                    <a:pt x="320253" y="214350"/>
                  </a:lnTo>
                  <a:lnTo>
                    <a:pt x="288996" y="262829"/>
                  </a:lnTo>
                  <a:lnTo>
                    <a:pt x="259003" y="288356"/>
                  </a:lnTo>
                  <a:lnTo>
                    <a:pt x="223921" y="306217"/>
                  </a:lnTo>
                  <a:lnTo>
                    <a:pt x="184998" y="315147"/>
                  </a:lnTo>
                  <a:lnTo>
                    <a:pt x="165232" y="316412"/>
                  </a:lnTo>
                  <a:lnTo>
                    <a:pt x="145450" y="315147"/>
                  </a:lnTo>
                  <a:lnTo>
                    <a:pt x="106527" y="306217"/>
                  </a:lnTo>
                  <a:lnTo>
                    <a:pt x="71445" y="288356"/>
                  </a:lnTo>
                  <a:lnTo>
                    <a:pt x="41468" y="262829"/>
                  </a:lnTo>
                  <a:lnTo>
                    <a:pt x="18501" y="232211"/>
                  </a:lnTo>
                  <a:lnTo>
                    <a:pt x="4465" y="196489"/>
                  </a:lnTo>
                  <a:lnTo>
                    <a:pt x="0" y="158206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585121" y="2276637"/>
              <a:ext cx="330835" cy="316865"/>
            </a:xfrm>
            <a:custGeom>
              <a:avLst/>
              <a:gdLst/>
              <a:ahLst/>
              <a:cxnLst/>
              <a:rect l="l" t="t" r="r" b="b"/>
              <a:pathLst>
                <a:path w="330835" h="316864">
                  <a:moveTo>
                    <a:pt x="165232" y="0"/>
                  </a:moveTo>
                  <a:lnTo>
                    <a:pt x="125669" y="5105"/>
                  </a:lnTo>
                  <a:lnTo>
                    <a:pt x="88041" y="18501"/>
                  </a:lnTo>
                  <a:lnTo>
                    <a:pt x="55504" y="40187"/>
                  </a:lnTo>
                  <a:lnTo>
                    <a:pt x="29336" y="68259"/>
                  </a:lnTo>
                  <a:lnTo>
                    <a:pt x="10850" y="102062"/>
                  </a:lnTo>
                  <a:lnTo>
                    <a:pt x="1280" y="139064"/>
                  </a:lnTo>
                  <a:lnTo>
                    <a:pt x="0" y="158206"/>
                  </a:lnTo>
                  <a:lnTo>
                    <a:pt x="1280" y="177347"/>
                  </a:lnTo>
                  <a:lnTo>
                    <a:pt x="10850" y="214990"/>
                  </a:lnTo>
                  <a:lnTo>
                    <a:pt x="29336" y="248792"/>
                  </a:lnTo>
                  <a:lnTo>
                    <a:pt x="55504" y="277505"/>
                  </a:lnTo>
                  <a:lnTo>
                    <a:pt x="88041" y="298551"/>
                  </a:lnTo>
                  <a:lnTo>
                    <a:pt x="125669" y="311962"/>
                  </a:lnTo>
                  <a:lnTo>
                    <a:pt x="165232" y="316428"/>
                  </a:lnTo>
                  <a:lnTo>
                    <a:pt x="185638" y="315788"/>
                  </a:lnTo>
                  <a:lnTo>
                    <a:pt x="223921" y="306217"/>
                  </a:lnTo>
                  <a:lnTo>
                    <a:pt x="259643" y="288356"/>
                  </a:lnTo>
                  <a:lnTo>
                    <a:pt x="288996" y="263469"/>
                  </a:lnTo>
                  <a:lnTo>
                    <a:pt x="311322" y="232211"/>
                  </a:lnTo>
                  <a:lnTo>
                    <a:pt x="325998" y="196489"/>
                  </a:lnTo>
                  <a:lnTo>
                    <a:pt x="330464" y="158206"/>
                  </a:lnTo>
                  <a:lnTo>
                    <a:pt x="329183" y="139064"/>
                  </a:lnTo>
                  <a:lnTo>
                    <a:pt x="319613" y="102062"/>
                  </a:lnTo>
                  <a:lnTo>
                    <a:pt x="301111" y="68259"/>
                  </a:lnTo>
                  <a:lnTo>
                    <a:pt x="274960" y="40187"/>
                  </a:lnTo>
                  <a:lnTo>
                    <a:pt x="242422" y="18501"/>
                  </a:lnTo>
                  <a:lnTo>
                    <a:pt x="204779" y="5105"/>
                  </a:lnTo>
                  <a:lnTo>
                    <a:pt x="165232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585121" y="2276637"/>
              <a:ext cx="330835" cy="316865"/>
            </a:xfrm>
            <a:custGeom>
              <a:avLst/>
              <a:gdLst/>
              <a:ahLst/>
              <a:cxnLst/>
              <a:rect l="l" t="t" r="r" b="b"/>
              <a:pathLst>
                <a:path w="330835" h="316864">
                  <a:moveTo>
                    <a:pt x="0" y="158206"/>
                  </a:moveTo>
                  <a:lnTo>
                    <a:pt x="10850" y="102062"/>
                  </a:lnTo>
                  <a:lnTo>
                    <a:pt x="29336" y="68259"/>
                  </a:lnTo>
                  <a:lnTo>
                    <a:pt x="55504" y="40187"/>
                  </a:lnTo>
                  <a:lnTo>
                    <a:pt x="88041" y="18501"/>
                  </a:lnTo>
                  <a:lnTo>
                    <a:pt x="125669" y="5105"/>
                  </a:lnTo>
                  <a:lnTo>
                    <a:pt x="165232" y="0"/>
                  </a:lnTo>
                  <a:lnTo>
                    <a:pt x="185638" y="1264"/>
                  </a:lnTo>
                  <a:lnTo>
                    <a:pt x="223921" y="10210"/>
                  </a:lnTo>
                  <a:lnTo>
                    <a:pt x="259643" y="28072"/>
                  </a:lnTo>
                  <a:lnTo>
                    <a:pt x="288996" y="53583"/>
                  </a:lnTo>
                  <a:lnTo>
                    <a:pt x="311322" y="84841"/>
                  </a:lnTo>
                  <a:lnTo>
                    <a:pt x="325998" y="120563"/>
                  </a:lnTo>
                  <a:lnTo>
                    <a:pt x="330464" y="158206"/>
                  </a:lnTo>
                  <a:lnTo>
                    <a:pt x="329183" y="177347"/>
                  </a:lnTo>
                  <a:lnTo>
                    <a:pt x="319613" y="214990"/>
                  </a:lnTo>
                  <a:lnTo>
                    <a:pt x="301111" y="248792"/>
                  </a:lnTo>
                  <a:lnTo>
                    <a:pt x="274960" y="277505"/>
                  </a:lnTo>
                  <a:lnTo>
                    <a:pt x="242422" y="298551"/>
                  </a:lnTo>
                  <a:lnTo>
                    <a:pt x="204779" y="311962"/>
                  </a:lnTo>
                  <a:lnTo>
                    <a:pt x="165232" y="316428"/>
                  </a:lnTo>
                  <a:lnTo>
                    <a:pt x="145450" y="315788"/>
                  </a:lnTo>
                  <a:lnTo>
                    <a:pt x="106542" y="306217"/>
                  </a:lnTo>
                  <a:lnTo>
                    <a:pt x="71445" y="288356"/>
                  </a:lnTo>
                  <a:lnTo>
                    <a:pt x="42108" y="263469"/>
                  </a:lnTo>
                  <a:lnTo>
                    <a:pt x="19141" y="232211"/>
                  </a:lnTo>
                  <a:lnTo>
                    <a:pt x="5105" y="196489"/>
                  </a:lnTo>
                  <a:lnTo>
                    <a:pt x="0" y="158206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9" name="object 49"/>
          <p:cNvSpPr txBox="1"/>
          <p:nvPr/>
        </p:nvSpPr>
        <p:spPr>
          <a:xfrm>
            <a:off x="4680176" y="2294612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500">
              <a:latin typeface="Arial"/>
              <a:cs typeface="Arial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4842536" y="1634769"/>
            <a:ext cx="1948180" cy="1596390"/>
            <a:chOff x="4842536" y="1634769"/>
            <a:chExt cx="1948180" cy="1596390"/>
          </a:xfrm>
        </p:grpSpPr>
        <p:sp>
          <p:nvSpPr>
            <p:cNvPr id="51" name="object 51"/>
            <p:cNvSpPr/>
            <p:nvPr/>
          </p:nvSpPr>
          <p:spPr>
            <a:xfrm>
              <a:off x="5780638" y="1822409"/>
              <a:ext cx="3175" cy="1334135"/>
            </a:xfrm>
            <a:custGeom>
              <a:avLst/>
              <a:gdLst/>
              <a:ahLst/>
              <a:cxnLst/>
              <a:rect l="l" t="t" r="r" b="b"/>
              <a:pathLst>
                <a:path w="3175" h="1334135">
                  <a:moveTo>
                    <a:pt x="2560" y="0"/>
                  </a:moveTo>
                  <a:lnTo>
                    <a:pt x="0" y="1333957"/>
                  </a:lnTo>
                </a:path>
              </a:pathLst>
            </a:custGeom>
            <a:ln w="35884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732800" y="1682704"/>
              <a:ext cx="100965" cy="153035"/>
            </a:xfrm>
            <a:custGeom>
              <a:avLst/>
              <a:gdLst/>
              <a:ahLst/>
              <a:cxnLst/>
              <a:rect l="l" t="t" r="r" b="b"/>
              <a:pathLst>
                <a:path w="100964" h="153035">
                  <a:moveTo>
                    <a:pt x="50398" y="0"/>
                  </a:moveTo>
                  <a:lnTo>
                    <a:pt x="0" y="151820"/>
                  </a:lnTo>
                  <a:lnTo>
                    <a:pt x="100797" y="152460"/>
                  </a:lnTo>
                  <a:lnTo>
                    <a:pt x="5039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913025" y="1645701"/>
              <a:ext cx="732155" cy="611505"/>
            </a:xfrm>
            <a:custGeom>
              <a:avLst/>
              <a:gdLst/>
              <a:ahLst/>
              <a:cxnLst/>
              <a:rect l="l" t="t" r="r" b="b"/>
              <a:pathLst>
                <a:path w="732154" h="611505">
                  <a:moveTo>
                    <a:pt x="0" y="611154"/>
                  </a:moveTo>
                  <a:lnTo>
                    <a:pt x="731733" y="0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850510" y="2228784"/>
              <a:ext cx="87630" cy="81280"/>
            </a:xfrm>
            <a:custGeom>
              <a:avLst/>
              <a:gdLst/>
              <a:ahLst/>
              <a:cxnLst/>
              <a:rect l="l" t="t" r="r" b="b"/>
              <a:pathLst>
                <a:path w="87629" h="81280">
                  <a:moveTo>
                    <a:pt x="49118" y="0"/>
                  </a:moveTo>
                  <a:lnTo>
                    <a:pt x="0" y="81015"/>
                  </a:lnTo>
                  <a:lnTo>
                    <a:pt x="87401" y="45933"/>
                  </a:lnTo>
                  <a:lnTo>
                    <a:pt x="4911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850510" y="2565633"/>
              <a:ext cx="734060" cy="612775"/>
            </a:xfrm>
            <a:custGeom>
              <a:avLst/>
              <a:gdLst/>
              <a:ahLst/>
              <a:cxnLst/>
              <a:rect l="l" t="t" r="r" b="b"/>
              <a:pathLst>
                <a:path w="734060" h="612775">
                  <a:moveTo>
                    <a:pt x="0" y="0"/>
                  </a:moveTo>
                  <a:lnTo>
                    <a:pt x="733638" y="612434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559277" y="3149996"/>
              <a:ext cx="88265" cy="81280"/>
            </a:xfrm>
            <a:custGeom>
              <a:avLst/>
              <a:gdLst/>
              <a:ahLst/>
              <a:cxnLst/>
              <a:rect l="l" t="t" r="r" b="b"/>
              <a:pathLst>
                <a:path w="88264" h="81280">
                  <a:moveTo>
                    <a:pt x="38267" y="0"/>
                  </a:moveTo>
                  <a:lnTo>
                    <a:pt x="0" y="46573"/>
                  </a:lnTo>
                  <a:lnTo>
                    <a:pt x="88041" y="81015"/>
                  </a:lnTo>
                  <a:lnTo>
                    <a:pt x="3826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924184" y="1652712"/>
              <a:ext cx="752475" cy="587375"/>
            </a:xfrm>
            <a:custGeom>
              <a:avLst/>
              <a:gdLst/>
              <a:ahLst/>
              <a:cxnLst/>
              <a:rect l="l" t="t" r="r" b="b"/>
              <a:pathLst>
                <a:path w="752475" h="587375">
                  <a:moveTo>
                    <a:pt x="0" y="0"/>
                  </a:moveTo>
                  <a:lnTo>
                    <a:pt x="752139" y="586922"/>
                  </a:lnTo>
                </a:path>
              </a:pathLst>
            </a:custGeom>
            <a:ln w="35884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6635495" y="2191781"/>
              <a:ext cx="151130" cy="133350"/>
            </a:xfrm>
            <a:custGeom>
              <a:avLst/>
              <a:gdLst/>
              <a:ahLst/>
              <a:cxnLst/>
              <a:rect l="l" t="t" r="r" b="b"/>
              <a:pathLst>
                <a:path w="151129" h="133350">
                  <a:moveTo>
                    <a:pt x="61889" y="0"/>
                  </a:moveTo>
                  <a:lnTo>
                    <a:pt x="0" y="80390"/>
                  </a:lnTo>
                  <a:lnTo>
                    <a:pt x="150555" y="133334"/>
                  </a:lnTo>
                  <a:lnTo>
                    <a:pt x="61889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965652" y="2550957"/>
              <a:ext cx="816610" cy="627380"/>
            </a:xfrm>
            <a:custGeom>
              <a:avLst/>
              <a:gdLst/>
              <a:ahLst/>
              <a:cxnLst/>
              <a:rect l="l" t="t" r="r" b="b"/>
              <a:pathLst>
                <a:path w="816609" h="627380">
                  <a:moveTo>
                    <a:pt x="816574" y="0"/>
                  </a:moveTo>
                  <a:lnTo>
                    <a:pt x="0" y="627110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899937" y="3149356"/>
              <a:ext cx="90170" cy="79375"/>
            </a:xfrm>
            <a:custGeom>
              <a:avLst/>
              <a:gdLst/>
              <a:ahLst/>
              <a:cxnLst/>
              <a:rect l="l" t="t" r="r" b="b"/>
              <a:pathLst>
                <a:path w="90170" h="79375">
                  <a:moveTo>
                    <a:pt x="52958" y="0"/>
                  </a:moveTo>
                  <a:lnTo>
                    <a:pt x="0" y="79110"/>
                  </a:lnTo>
                  <a:lnTo>
                    <a:pt x="89961" y="47838"/>
                  </a:lnTo>
                  <a:lnTo>
                    <a:pt x="5295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901549" y="2437404"/>
              <a:ext cx="1773555" cy="0"/>
            </a:xfrm>
            <a:custGeom>
              <a:avLst/>
              <a:gdLst/>
              <a:ahLst/>
              <a:cxnLst/>
              <a:rect l="l" t="t" r="r" b="b"/>
              <a:pathLst>
                <a:path w="1773554" h="0">
                  <a:moveTo>
                    <a:pt x="0" y="0"/>
                  </a:moveTo>
                  <a:lnTo>
                    <a:pt x="1773509" y="0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6667393" y="2407412"/>
              <a:ext cx="89535" cy="60325"/>
            </a:xfrm>
            <a:custGeom>
              <a:avLst/>
              <a:gdLst/>
              <a:ahLst/>
              <a:cxnLst/>
              <a:rect l="l" t="t" r="r" b="b"/>
              <a:pathLst>
                <a:path w="89534" h="60325">
                  <a:moveTo>
                    <a:pt x="0" y="0"/>
                  </a:moveTo>
                  <a:lnTo>
                    <a:pt x="0" y="59969"/>
                  </a:lnTo>
                  <a:lnTo>
                    <a:pt x="89321" y="299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/>
          <p:cNvSpPr txBox="1"/>
          <p:nvPr/>
        </p:nvSpPr>
        <p:spPr>
          <a:xfrm>
            <a:off x="6314615" y="2871954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5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726422" y="1432727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5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847306" y="2275463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5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710473" y="3174340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150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097400" y="1774673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5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402020" y="1790622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50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813188" y="1782329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50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394363" y="2195721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50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066147" y="2856003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5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792022" y="3838564"/>
            <a:ext cx="1739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80">
                <a:latin typeface="Verdana"/>
                <a:cs typeface="Verdana"/>
              </a:rPr>
              <a:t>3</a:t>
            </a:r>
            <a:r>
              <a:rPr dirty="0" sz="800" spc="-55">
                <a:latin typeface="Verdana"/>
                <a:cs typeface="Verdana"/>
              </a:rPr>
              <a:t>,</a:t>
            </a: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4416512" y="3745777"/>
            <a:ext cx="2825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8.73: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150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baseline="41666" sz="1200" spc="-60">
                <a:latin typeface="Verdana"/>
                <a:cs typeface="Verdana"/>
              </a:rPr>
              <a:t>(1)</a:t>
            </a:r>
            <a:r>
              <a:rPr dirty="0" baseline="41666" sz="1200" spc="10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12</a:t>
            </a:r>
            <a:r>
              <a:rPr dirty="0" sz="1200" spc="70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2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1050036" y="4207454"/>
            <a:ext cx="2702560" cy="2362200"/>
            <a:chOff x="1050036" y="4207454"/>
            <a:chExt cx="2702560" cy="2362200"/>
          </a:xfrm>
        </p:grpSpPr>
        <p:sp>
          <p:nvSpPr>
            <p:cNvPr id="75" name="object 75"/>
            <p:cNvSpPr/>
            <p:nvPr/>
          </p:nvSpPr>
          <p:spPr>
            <a:xfrm>
              <a:off x="1050036" y="4207454"/>
              <a:ext cx="2702560" cy="2362200"/>
            </a:xfrm>
            <a:custGeom>
              <a:avLst/>
              <a:gdLst/>
              <a:ahLst/>
              <a:cxnLst/>
              <a:rect l="l" t="t" r="r" b="b"/>
              <a:pathLst>
                <a:path w="2702560" h="2362200">
                  <a:moveTo>
                    <a:pt x="2702158" y="0"/>
                  </a:moveTo>
                  <a:lnTo>
                    <a:pt x="0" y="0"/>
                  </a:lnTo>
                  <a:lnTo>
                    <a:pt x="0" y="2362001"/>
                  </a:lnTo>
                  <a:lnTo>
                    <a:pt x="2702158" y="2362001"/>
                  </a:lnTo>
                  <a:lnTo>
                    <a:pt x="2702158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178756" y="6097107"/>
              <a:ext cx="331470" cy="317500"/>
            </a:xfrm>
            <a:custGeom>
              <a:avLst/>
              <a:gdLst/>
              <a:ahLst/>
              <a:cxnLst/>
              <a:rect l="l" t="t" r="r" b="b"/>
              <a:pathLst>
                <a:path w="331469" h="317500">
                  <a:moveTo>
                    <a:pt x="165872" y="0"/>
                  </a:moveTo>
                  <a:lnTo>
                    <a:pt x="125684" y="4465"/>
                  </a:lnTo>
                  <a:lnTo>
                    <a:pt x="88681" y="17861"/>
                  </a:lnTo>
                  <a:lnTo>
                    <a:pt x="55504" y="40187"/>
                  </a:lnTo>
                  <a:lnTo>
                    <a:pt x="29352" y="68884"/>
                  </a:lnTo>
                  <a:lnTo>
                    <a:pt x="4465" y="119923"/>
                  </a:lnTo>
                  <a:lnTo>
                    <a:pt x="0" y="158206"/>
                  </a:lnTo>
                  <a:lnTo>
                    <a:pt x="1280" y="177347"/>
                  </a:lnTo>
                  <a:lnTo>
                    <a:pt x="10850" y="214350"/>
                  </a:lnTo>
                  <a:lnTo>
                    <a:pt x="29352" y="248152"/>
                  </a:lnTo>
                  <a:lnTo>
                    <a:pt x="55504" y="276865"/>
                  </a:lnTo>
                  <a:lnTo>
                    <a:pt x="88681" y="299191"/>
                  </a:lnTo>
                  <a:lnTo>
                    <a:pt x="125684" y="312587"/>
                  </a:lnTo>
                  <a:lnTo>
                    <a:pt x="165872" y="317052"/>
                  </a:lnTo>
                  <a:lnTo>
                    <a:pt x="185013" y="315772"/>
                  </a:lnTo>
                  <a:lnTo>
                    <a:pt x="223921" y="306842"/>
                  </a:lnTo>
                  <a:lnTo>
                    <a:pt x="259019" y="288980"/>
                  </a:lnTo>
                  <a:lnTo>
                    <a:pt x="288996" y="263469"/>
                  </a:lnTo>
                  <a:lnTo>
                    <a:pt x="311962" y="232211"/>
                  </a:lnTo>
                  <a:lnTo>
                    <a:pt x="325998" y="196489"/>
                  </a:lnTo>
                  <a:lnTo>
                    <a:pt x="331104" y="158206"/>
                  </a:lnTo>
                  <a:lnTo>
                    <a:pt x="329824" y="139064"/>
                  </a:lnTo>
                  <a:lnTo>
                    <a:pt x="320253" y="102062"/>
                  </a:lnTo>
                  <a:lnTo>
                    <a:pt x="288996" y="53583"/>
                  </a:lnTo>
                  <a:lnTo>
                    <a:pt x="259019" y="28056"/>
                  </a:lnTo>
                  <a:lnTo>
                    <a:pt x="223921" y="10195"/>
                  </a:lnTo>
                  <a:lnTo>
                    <a:pt x="185013" y="1264"/>
                  </a:lnTo>
                  <a:lnTo>
                    <a:pt x="165872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178756" y="6097107"/>
              <a:ext cx="331470" cy="317500"/>
            </a:xfrm>
            <a:custGeom>
              <a:avLst/>
              <a:gdLst/>
              <a:ahLst/>
              <a:cxnLst/>
              <a:rect l="l" t="t" r="r" b="b"/>
              <a:pathLst>
                <a:path w="331469" h="317500">
                  <a:moveTo>
                    <a:pt x="0" y="158206"/>
                  </a:moveTo>
                  <a:lnTo>
                    <a:pt x="4465" y="119923"/>
                  </a:lnTo>
                  <a:lnTo>
                    <a:pt x="29352" y="68884"/>
                  </a:lnTo>
                  <a:lnTo>
                    <a:pt x="55504" y="40187"/>
                  </a:lnTo>
                  <a:lnTo>
                    <a:pt x="88681" y="17861"/>
                  </a:lnTo>
                  <a:lnTo>
                    <a:pt x="125684" y="4465"/>
                  </a:lnTo>
                  <a:lnTo>
                    <a:pt x="165872" y="0"/>
                  </a:lnTo>
                  <a:lnTo>
                    <a:pt x="185013" y="1264"/>
                  </a:lnTo>
                  <a:lnTo>
                    <a:pt x="223921" y="10195"/>
                  </a:lnTo>
                  <a:lnTo>
                    <a:pt x="259019" y="28056"/>
                  </a:lnTo>
                  <a:lnTo>
                    <a:pt x="288996" y="53583"/>
                  </a:lnTo>
                  <a:lnTo>
                    <a:pt x="311962" y="84841"/>
                  </a:lnTo>
                  <a:lnTo>
                    <a:pt x="329824" y="139064"/>
                  </a:lnTo>
                  <a:lnTo>
                    <a:pt x="331104" y="158206"/>
                  </a:lnTo>
                  <a:lnTo>
                    <a:pt x="329824" y="177347"/>
                  </a:lnTo>
                  <a:lnTo>
                    <a:pt x="320253" y="214350"/>
                  </a:lnTo>
                  <a:lnTo>
                    <a:pt x="301751" y="248152"/>
                  </a:lnTo>
                  <a:lnTo>
                    <a:pt x="274960" y="276865"/>
                  </a:lnTo>
                  <a:lnTo>
                    <a:pt x="241782" y="299191"/>
                  </a:lnTo>
                  <a:lnTo>
                    <a:pt x="204779" y="312587"/>
                  </a:lnTo>
                  <a:lnTo>
                    <a:pt x="165872" y="317052"/>
                  </a:lnTo>
                  <a:lnTo>
                    <a:pt x="145450" y="315772"/>
                  </a:lnTo>
                  <a:lnTo>
                    <a:pt x="106542" y="306842"/>
                  </a:lnTo>
                  <a:lnTo>
                    <a:pt x="71460" y="288980"/>
                  </a:lnTo>
                  <a:lnTo>
                    <a:pt x="41468" y="263469"/>
                  </a:lnTo>
                  <a:lnTo>
                    <a:pt x="18501" y="232211"/>
                  </a:lnTo>
                  <a:lnTo>
                    <a:pt x="4465" y="196489"/>
                  </a:lnTo>
                  <a:lnTo>
                    <a:pt x="0" y="158206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307933" y="5206512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70" h="316864">
                  <a:moveTo>
                    <a:pt x="165872" y="0"/>
                  </a:moveTo>
                  <a:lnTo>
                    <a:pt x="125684" y="4465"/>
                  </a:lnTo>
                  <a:lnTo>
                    <a:pt x="88681" y="17861"/>
                  </a:lnTo>
                  <a:lnTo>
                    <a:pt x="55504" y="40203"/>
                  </a:lnTo>
                  <a:lnTo>
                    <a:pt x="18501" y="84216"/>
                  </a:lnTo>
                  <a:lnTo>
                    <a:pt x="4465" y="119938"/>
                  </a:lnTo>
                  <a:lnTo>
                    <a:pt x="0" y="158221"/>
                  </a:lnTo>
                  <a:lnTo>
                    <a:pt x="1280" y="177363"/>
                  </a:lnTo>
                  <a:lnTo>
                    <a:pt x="10850" y="214350"/>
                  </a:lnTo>
                  <a:lnTo>
                    <a:pt x="29352" y="248168"/>
                  </a:lnTo>
                  <a:lnTo>
                    <a:pt x="55504" y="276880"/>
                  </a:lnTo>
                  <a:lnTo>
                    <a:pt x="88681" y="297926"/>
                  </a:lnTo>
                  <a:lnTo>
                    <a:pt x="125684" y="311962"/>
                  </a:lnTo>
                  <a:lnTo>
                    <a:pt x="165872" y="316428"/>
                  </a:lnTo>
                  <a:lnTo>
                    <a:pt x="185013" y="315147"/>
                  </a:lnTo>
                  <a:lnTo>
                    <a:pt x="223921" y="306217"/>
                  </a:lnTo>
                  <a:lnTo>
                    <a:pt x="259019" y="288996"/>
                  </a:lnTo>
                  <a:lnTo>
                    <a:pt x="288996" y="263484"/>
                  </a:lnTo>
                  <a:lnTo>
                    <a:pt x="311962" y="232227"/>
                  </a:lnTo>
                  <a:lnTo>
                    <a:pt x="325998" y="196489"/>
                  </a:lnTo>
                  <a:lnTo>
                    <a:pt x="331104" y="158221"/>
                  </a:lnTo>
                  <a:lnTo>
                    <a:pt x="329824" y="139080"/>
                  </a:lnTo>
                  <a:lnTo>
                    <a:pt x="320253" y="102077"/>
                  </a:lnTo>
                  <a:lnTo>
                    <a:pt x="301751" y="67635"/>
                  </a:lnTo>
                  <a:lnTo>
                    <a:pt x="274960" y="40203"/>
                  </a:lnTo>
                  <a:lnTo>
                    <a:pt x="241782" y="17861"/>
                  </a:lnTo>
                  <a:lnTo>
                    <a:pt x="204779" y="4465"/>
                  </a:lnTo>
                  <a:lnTo>
                    <a:pt x="165872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3307933" y="5206512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70" h="316864">
                  <a:moveTo>
                    <a:pt x="0" y="158221"/>
                  </a:moveTo>
                  <a:lnTo>
                    <a:pt x="4465" y="119938"/>
                  </a:lnTo>
                  <a:lnTo>
                    <a:pt x="18501" y="84216"/>
                  </a:lnTo>
                  <a:lnTo>
                    <a:pt x="41468" y="53599"/>
                  </a:lnTo>
                  <a:lnTo>
                    <a:pt x="71460" y="28072"/>
                  </a:lnTo>
                  <a:lnTo>
                    <a:pt x="106542" y="10210"/>
                  </a:lnTo>
                  <a:lnTo>
                    <a:pt x="145450" y="1280"/>
                  </a:lnTo>
                  <a:lnTo>
                    <a:pt x="165872" y="0"/>
                  </a:lnTo>
                  <a:lnTo>
                    <a:pt x="185013" y="1280"/>
                  </a:lnTo>
                  <a:lnTo>
                    <a:pt x="223921" y="10210"/>
                  </a:lnTo>
                  <a:lnTo>
                    <a:pt x="259019" y="28072"/>
                  </a:lnTo>
                  <a:lnTo>
                    <a:pt x="288996" y="53599"/>
                  </a:lnTo>
                  <a:lnTo>
                    <a:pt x="311962" y="84216"/>
                  </a:lnTo>
                  <a:lnTo>
                    <a:pt x="325998" y="119938"/>
                  </a:lnTo>
                  <a:lnTo>
                    <a:pt x="331104" y="158221"/>
                  </a:lnTo>
                  <a:lnTo>
                    <a:pt x="329824" y="177363"/>
                  </a:lnTo>
                  <a:lnTo>
                    <a:pt x="320253" y="214350"/>
                  </a:lnTo>
                  <a:lnTo>
                    <a:pt x="301751" y="248168"/>
                  </a:lnTo>
                  <a:lnTo>
                    <a:pt x="274960" y="276880"/>
                  </a:lnTo>
                  <a:lnTo>
                    <a:pt x="241782" y="297926"/>
                  </a:lnTo>
                  <a:lnTo>
                    <a:pt x="204779" y="311962"/>
                  </a:lnTo>
                  <a:lnTo>
                    <a:pt x="165872" y="316428"/>
                  </a:lnTo>
                  <a:lnTo>
                    <a:pt x="145450" y="315147"/>
                  </a:lnTo>
                  <a:lnTo>
                    <a:pt x="106542" y="306217"/>
                  </a:lnTo>
                  <a:lnTo>
                    <a:pt x="71460" y="288996"/>
                  </a:lnTo>
                  <a:lnTo>
                    <a:pt x="41468" y="263484"/>
                  </a:lnTo>
                  <a:lnTo>
                    <a:pt x="18501" y="232227"/>
                  </a:lnTo>
                  <a:lnTo>
                    <a:pt x="4465" y="196489"/>
                  </a:lnTo>
                  <a:lnTo>
                    <a:pt x="0" y="158221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194712" y="4347830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69" h="316864">
                  <a:moveTo>
                    <a:pt x="165232" y="0"/>
                  </a:moveTo>
                  <a:lnTo>
                    <a:pt x="125669" y="4465"/>
                  </a:lnTo>
                  <a:lnTo>
                    <a:pt x="88666" y="17221"/>
                  </a:lnTo>
                  <a:lnTo>
                    <a:pt x="55504" y="39563"/>
                  </a:lnTo>
                  <a:lnTo>
                    <a:pt x="29336" y="67619"/>
                  </a:lnTo>
                  <a:lnTo>
                    <a:pt x="10835" y="102077"/>
                  </a:lnTo>
                  <a:lnTo>
                    <a:pt x="1264" y="139080"/>
                  </a:lnTo>
                  <a:lnTo>
                    <a:pt x="0" y="158221"/>
                  </a:lnTo>
                  <a:lnTo>
                    <a:pt x="1264" y="177347"/>
                  </a:lnTo>
                  <a:lnTo>
                    <a:pt x="10835" y="214350"/>
                  </a:lnTo>
                  <a:lnTo>
                    <a:pt x="41468" y="262844"/>
                  </a:lnTo>
                  <a:lnTo>
                    <a:pt x="71445" y="288356"/>
                  </a:lnTo>
                  <a:lnTo>
                    <a:pt x="106527" y="306217"/>
                  </a:lnTo>
                  <a:lnTo>
                    <a:pt x="145450" y="315147"/>
                  </a:lnTo>
                  <a:lnTo>
                    <a:pt x="165232" y="316428"/>
                  </a:lnTo>
                  <a:lnTo>
                    <a:pt x="184998" y="315147"/>
                  </a:lnTo>
                  <a:lnTo>
                    <a:pt x="223921" y="306217"/>
                  </a:lnTo>
                  <a:lnTo>
                    <a:pt x="259003" y="288356"/>
                  </a:lnTo>
                  <a:lnTo>
                    <a:pt x="288996" y="262844"/>
                  </a:lnTo>
                  <a:lnTo>
                    <a:pt x="311947" y="232211"/>
                  </a:lnTo>
                  <a:lnTo>
                    <a:pt x="325983" y="196489"/>
                  </a:lnTo>
                  <a:lnTo>
                    <a:pt x="331088" y="158221"/>
                  </a:lnTo>
                  <a:lnTo>
                    <a:pt x="329824" y="139080"/>
                  </a:lnTo>
                  <a:lnTo>
                    <a:pt x="320253" y="102077"/>
                  </a:lnTo>
                  <a:lnTo>
                    <a:pt x="301751" y="67619"/>
                  </a:lnTo>
                  <a:lnTo>
                    <a:pt x="274960" y="39563"/>
                  </a:lnTo>
                  <a:lnTo>
                    <a:pt x="241782" y="17221"/>
                  </a:lnTo>
                  <a:lnTo>
                    <a:pt x="204779" y="4465"/>
                  </a:lnTo>
                  <a:lnTo>
                    <a:pt x="165232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2194712" y="4347830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69" h="316864">
                  <a:moveTo>
                    <a:pt x="0" y="158221"/>
                  </a:moveTo>
                  <a:lnTo>
                    <a:pt x="4465" y="119938"/>
                  </a:lnTo>
                  <a:lnTo>
                    <a:pt x="18501" y="84216"/>
                  </a:lnTo>
                  <a:lnTo>
                    <a:pt x="41468" y="52958"/>
                  </a:lnTo>
                  <a:lnTo>
                    <a:pt x="71445" y="27431"/>
                  </a:lnTo>
                  <a:lnTo>
                    <a:pt x="106527" y="10210"/>
                  </a:lnTo>
                  <a:lnTo>
                    <a:pt x="145450" y="1280"/>
                  </a:lnTo>
                  <a:lnTo>
                    <a:pt x="165232" y="0"/>
                  </a:lnTo>
                  <a:lnTo>
                    <a:pt x="184998" y="1280"/>
                  </a:lnTo>
                  <a:lnTo>
                    <a:pt x="223921" y="10210"/>
                  </a:lnTo>
                  <a:lnTo>
                    <a:pt x="259003" y="27431"/>
                  </a:lnTo>
                  <a:lnTo>
                    <a:pt x="288996" y="52958"/>
                  </a:lnTo>
                  <a:lnTo>
                    <a:pt x="311947" y="84216"/>
                  </a:lnTo>
                  <a:lnTo>
                    <a:pt x="325983" y="119938"/>
                  </a:lnTo>
                  <a:lnTo>
                    <a:pt x="331088" y="158221"/>
                  </a:lnTo>
                  <a:lnTo>
                    <a:pt x="329824" y="177347"/>
                  </a:lnTo>
                  <a:lnTo>
                    <a:pt x="320253" y="214350"/>
                  </a:lnTo>
                  <a:lnTo>
                    <a:pt x="288996" y="262844"/>
                  </a:lnTo>
                  <a:lnTo>
                    <a:pt x="259003" y="288356"/>
                  </a:lnTo>
                  <a:lnTo>
                    <a:pt x="223921" y="306217"/>
                  </a:lnTo>
                  <a:lnTo>
                    <a:pt x="184998" y="315147"/>
                  </a:lnTo>
                  <a:lnTo>
                    <a:pt x="165232" y="316428"/>
                  </a:lnTo>
                  <a:lnTo>
                    <a:pt x="145450" y="315147"/>
                  </a:lnTo>
                  <a:lnTo>
                    <a:pt x="106527" y="306217"/>
                  </a:lnTo>
                  <a:lnTo>
                    <a:pt x="71445" y="288356"/>
                  </a:lnTo>
                  <a:lnTo>
                    <a:pt x="41468" y="262844"/>
                  </a:lnTo>
                  <a:lnTo>
                    <a:pt x="18501" y="232211"/>
                  </a:lnTo>
                  <a:lnTo>
                    <a:pt x="4465" y="196489"/>
                  </a:lnTo>
                  <a:lnTo>
                    <a:pt x="0" y="158221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1156120" y="5216083"/>
              <a:ext cx="330835" cy="316865"/>
            </a:xfrm>
            <a:custGeom>
              <a:avLst/>
              <a:gdLst/>
              <a:ahLst/>
              <a:cxnLst/>
              <a:rect l="l" t="t" r="r" b="b"/>
              <a:pathLst>
                <a:path w="330834" h="316864">
                  <a:moveTo>
                    <a:pt x="165229" y="0"/>
                  </a:moveTo>
                  <a:lnTo>
                    <a:pt x="125676" y="5105"/>
                  </a:lnTo>
                  <a:lnTo>
                    <a:pt x="88036" y="18501"/>
                  </a:lnTo>
                  <a:lnTo>
                    <a:pt x="55501" y="40187"/>
                  </a:lnTo>
                  <a:lnTo>
                    <a:pt x="29346" y="68259"/>
                  </a:lnTo>
                  <a:lnTo>
                    <a:pt x="10844" y="102077"/>
                  </a:lnTo>
                  <a:lnTo>
                    <a:pt x="1275" y="139080"/>
                  </a:lnTo>
                  <a:lnTo>
                    <a:pt x="0" y="158221"/>
                  </a:lnTo>
                  <a:lnTo>
                    <a:pt x="1275" y="177347"/>
                  </a:lnTo>
                  <a:lnTo>
                    <a:pt x="10844" y="214990"/>
                  </a:lnTo>
                  <a:lnTo>
                    <a:pt x="29346" y="248808"/>
                  </a:lnTo>
                  <a:lnTo>
                    <a:pt x="55501" y="277520"/>
                  </a:lnTo>
                  <a:lnTo>
                    <a:pt x="88036" y="298566"/>
                  </a:lnTo>
                  <a:lnTo>
                    <a:pt x="125676" y="311962"/>
                  </a:lnTo>
                  <a:lnTo>
                    <a:pt x="165229" y="316428"/>
                  </a:lnTo>
                  <a:lnTo>
                    <a:pt x="185644" y="315788"/>
                  </a:lnTo>
                  <a:lnTo>
                    <a:pt x="223921" y="306217"/>
                  </a:lnTo>
                  <a:lnTo>
                    <a:pt x="259646" y="288356"/>
                  </a:lnTo>
                  <a:lnTo>
                    <a:pt x="288993" y="263484"/>
                  </a:lnTo>
                  <a:lnTo>
                    <a:pt x="311321" y="232211"/>
                  </a:lnTo>
                  <a:lnTo>
                    <a:pt x="325994" y="196489"/>
                  </a:lnTo>
                  <a:lnTo>
                    <a:pt x="330459" y="158221"/>
                  </a:lnTo>
                  <a:lnTo>
                    <a:pt x="329183" y="139080"/>
                  </a:lnTo>
                  <a:lnTo>
                    <a:pt x="319614" y="102077"/>
                  </a:lnTo>
                  <a:lnTo>
                    <a:pt x="301113" y="68259"/>
                  </a:lnTo>
                  <a:lnTo>
                    <a:pt x="274957" y="40187"/>
                  </a:lnTo>
                  <a:lnTo>
                    <a:pt x="242422" y="18501"/>
                  </a:lnTo>
                  <a:lnTo>
                    <a:pt x="204782" y="5105"/>
                  </a:lnTo>
                  <a:lnTo>
                    <a:pt x="165229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1156120" y="5216083"/>
              <a:ext cx="330835" cy="316865"/>
            </a:xfrm>
            <a:custGeom>
              <a:avLst/>
              <a:gdLst/>
              <a:ahLst/>
              <a:cxnLst/>
              <a:rect l="l" t="t" r="r" b="b"/>
              <a:pathLst>
                <a:path w="330834" h="316864">
                  <a:moveTo>
                    <a:pt x="0" y="158221"/>
                  </a:moveTo>
                  <a:lnTo>
                    <a:pt x="10844" y="102077"/>
                  </a:lnTo>
                  <a:lnTo>
                    <a:pt x="29346" y="68259"/>
                  </a:lnTo>
                  <a:lnTo>
                    <a:pt x="55501" y="40187"/>
                  </a:lnTo>
                  <a:lnTo>
                    <a:pt x="88036" y="18501"/>
                  </a:lnTo>
                  <a:lnTo>
                    <a:pt x="125676" y="5105"/>
                  </a:lnTo>
                  <a:lnTo>
                    <a:pt x="165229" y="0"/>
                  </a:lnTo>
                  <a:lnTo>
                    <a:pt x="185644" y="1280"/>
                  </a:lnTo>
                  <a:lnTo>
                    <a:pt x="223921" y="10210"/>
                  </a:lnTo>
                  <a:lnTo>
                    <a:pt x="259646" y="28072"/>
                  </a:lnTo>
                  <a:lnTo>
                    <a:pt x="288993" y="53599"/>
                  </a:lnTo>
                  <a:lnTo>
                    <a:pt x="311321" y="84856"/>
                  </a:lnTo>
                  <a:lnTo>
                    <a:pt x="325994" y="120578"/>
                  </a:lnTo>
                  <a:lnTo>
                    <a:pt x="330459" y="158221"/>
                  </a:lnTo>
                  <a:lnTo>
                    <a:pt x="329183" y="177347"/>
                  </a:lnTo>
                  <a:lnTo>
                    <a:pt x="319614" y="214990"/>
                  </a:lnTo>
                  <a:lnTo>
                    <a:pt x="301113" y="248808"/>
                  </a:lnTo>
                  <a:lnTo>
                    <a:pt x="274957" y="277520"/>
                  </a:lnTo>
                  <a:lnTo>
                    <a:pt x="242422" y="298566"/>
                  </a:lnTo>
                  <a:lnTo>
                    <a:pt x="204782" y="311962"/>
                  </a:lnTo>
                  <a:lnTo>
                    <a:pt x="165229" y="316428"/>
                  </a:lnTo>
                  <a:lnTo>
                    <a:pt x="145453" y="315788"/>
                  </a:lnTo>
                  <a:lnTo>
                    <a:pt x="106538" y="306217"/>
                  </a:lnTo>
                  <a:lnTo>
                    <a:pt x="71449" y="288356"/>
                  </a:lnTo>
                  <a:lnTo>
                    <a:pt x="42105" y="263484"/>
                  </a:lnTo>
                  <a:lnTo>
                    <a:pt x="19138" y="232211"/>
                  </a:lnTo>
                  <a:lnTo>
                    <a:pt x="5103" y="196489"/>
                  </a:lnTo>
                  <a:lnTo>
                    <a:pt x="0" y="158221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" name="object 84"/>
          <p:cNvSpPr txBox="1"/>
          <p:nvPr/>
        </p:nvSpPr>
        <p:spPr>
          <a:xfrm>
            <a:off x="1251174" y="5234064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500">
              <a:latin typeface="Arial"/>
              <a:cs typeface="Arial"/>
            </a:endParaRPr>
          </a:p>
        </p:txBody>
      </p:sp>
      <p:grpSp>
        <p:nvGrpSpPr>
          <p:cNvPr id="85" name="object 85"/>
          <p:cNvGrpSpPr/>
          <p:nvPr/>
        </p:nvGrpSpPr>
        <p:grpSpPr>
          <a:xfrm>
            <a:off x="1413533" y="4574230"/>
            <a:ext cx="1948180" cy="1596390"/>
            <a:chOff x="1413533" y="4574230"/>
            <a:chExt cx="1948180" cy="1596390"/>
          </a:xfrm>
        </p:grpSpPr>
        <p:sp>
          <p:nvSpPr>
            <p:cNvPr id="86" name="object 86"/>
            <p:cNvSpPr/>
            <p:nvPr/>
          </p:nvSpPr>
          <p:spPr>
            <a:xfrm>
              <a:off x="2351638" y="4761870"/>
              <a:ext cx="3175" cy="1334135"/>
            </a:xfrm>
            <a:custGeom>
              <a:avLst/>
              <a:gdLst/>
              <a:ahLst/>
              <a:cxnLst/>
              <a:rect l="l" t="t" r="r" b="b"/>
              <a:pathLst>
                <a:path w="3175" h="1334135">
                  <a:moveTo>
                    <a:pt x="2560" y="0"/>
                  </a:moveTo>
                  <a:lnTo>
                    <a:pt x="0" y="1333957"/>
                  </a:lnTo>
                </a:path>
              </a:pathLst>
            </a:custGeom>
            <a:ln w="35884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2303800" y="4622149"/>
              <a:ext cx="100965" cy="153035"/>
            </a:xfrm>
            <a:custGeom>
              <a:avLst/>
              <a:gdLst/>
              <a:ahLst/>
              <a:cxnLst/>
              <a:rect l="l" t="t" r="r" b="b"/>
              <a:pathLst>
                <a:path w="100964" h="153035">
                  <a:moveTo>
                    <a:pt x="50398" y="0"/>
                  </a:moveTo>
                  <a:lnTo>
                    <a:pt x="0" y="151836"/>
                  </a:lnTo>
                  <a:lnTo>
                    <a:pt x="100797" y="152476"/>
                  </a:lnTo>
                  <a:lnTo>
                    <a:pt x="5039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1484028" y="4585147"/>
              <a:ext cx="732155" cy="611505"/>
            </a:xfrm>
            <a:custGeom>
              <a:avLst/>
              <a:gdLst/>
              <a:ahLst/>
              <a:cxnLst/>
              <a:rect l="l" t="t" r="r" b="b"/>
              <a:pathLst>
                <a:path w="732155" h="611504">
                  <a:moveTo>
                    <a:pt x="0" y="611169"/>
                  </a:moveTo>
                  <a:lnTo>
                    <a:pt x="731730" y="0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1421507" y="5168244"/>
              <a:ext cx="87630" cy="81280"/>
            </a:xfrm>
            <a:custGeom>
              <a:avLst/>
              <a:gdLst/>
              <a:ahLst/>
              <a:cxnLst/>
              <a:rect l="l" t="t" r="r" b="b"/>
              <a:pathLst>
                <a:path w="87630" h="81279">
                  <a:moveTo>
                    <a:pt x="49123" y="0"/>
                  </a:moveTo>
                  <a:lnTo>
                    <a:pt x="0" y="81015"/>
                  </a:lnTo>
                  <a:lnTo>
                    <a:pt x="87399" y="45933"/>
                  </a:lnTo>
                  <a:lnTo>
                    <a:pt x="49123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1421507" y="5505079"/>
              <a:ext cx="734060" cy="612775"/>
            </a:xfrm>
            <a:custGeom>
              <a:avLst/>
              <a:gdLst/>
              <a:ahLst/>
              <a:cxnLst/>
              <a:rect l="l" t="t" r="r" b="b"/>
              <a:pathLst>
                <a:path w="734060" h="612775">
                  <a:moveTo>
                    <a:pt x="0" y="0"/>
                  </a:moveTo>
                  <a:lnTo>
                    <a:pt x="733641" y="612434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2130277" y="6089441"/>
              <a:ext cx="88265" cy="81280"/>
            </a:xfrm>
            <a:custGeom>
              <a:avLst/>
              <a:gdLst/>
              <a:ahLst/>
              <a:cxnLst/>
              <a:rect l="l" t="t" r="r" b="b"/>
              <a:pathLst>
                <a:path w="88264" h="81279">
                  <a:moveTo>
                    <a:pt x="38267" y="0"/>
                  </a:moveTo>
                  <a:lnTo>
                    <a:pt x="0" y="46573"/>
                  </a:lnTo>
                  <a:lnTo>
                    <a:pt x="88041" y="81015"/>
                  </a:lnTo>
                  <a:lnTo>
                    <a:pt x="3826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495184" y="4592172"/>
              <a:ext cx="752475" cy="587375"/>
            </a:xfrm>
            <a:custGeom>
              <a:avLst/>
              <a:gdLst/>
              <a:ahLst/>
              <a:cxnLst/>
              <a:rect l="l" t="t" r="r" b="b"/>
              <a:pathLst>
                <a:path w="752475" h="587375">
                  <a:moveTo>
                    <a:pt x="0" y="0"/>
                  </a:moveTo>
                  <a:lnTo>
                    <a:pt x="752139" y="586907"/>
                  </a:lnTo>
                </a:path>
              </a:pathLst>
            </a:custGeom>
            <a:ln w="35884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3206495" y="5131242"/>
              <a:ext cx="151130" cy="133350"/>
            </a:xfrm>
            <a:custGeom>
              <a:avLst/>
              <a:gdLst/>
              <a:ahLst/>
              <a:cxnLst/>
              <a:rect l="l" t="t" r="r" b="b"/>
              <a:pathLst>
                <a:path w="151129" h="133350">
                  <a:moveTo>
                    <a:pt x="61889" y="0"/>
                  </a:moveTo>
                  <a:lnTo>
                    <a:pt x="0" y="80375"/>
                  </a:lnTo>
                  <a:lnTo>
                    <a:pt x="150555" y="133334"/>
                  </a:lnTo>
                  <a:lnTo>
                    <a:pt x="61889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536652" y="5490403"/>
              <a:ext cx="816610" cy="627380"/>
            </a:xfrm>
            <a:custGeom>
              <a:avLst/>
              <a:gdLst/>
              <a:ahLst/>
              <a:cxnLst/>
              <a:rect l="l" t="t" r="r" b="b"/>
              <a:pathLst>
                <a:path w="816610" h="627379">
                  <a:moveTo>
                    <a:pt x="816574" y="0"/>
                  </a:moveTo>
                  <a:lnTo>
                    <a:pt x="0" y="627110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470937" y="6088801"/>
              <a:ext cx="90170" cy="79375"/>
            </a:xfrm>
            <a:custGeom>
              <a:avLst/>
              <a:gdLst/>
              <a:ahLst/>
              <a:cxnLst/>
              <a:rect l="l" t="t" r="r" b="b"/>
              <a:pathLst>
                <a:path w="90169" h="79375">
                  <a:moveTo>
                    <a:pt x="52958" y="0"/>
                  </a:moveTo>
                  <a:lnTo>
                    <a:pt x="0" y="79110"/>
                  </a:lnTo>
                  <a:lnTo>
                    <a:pt x="89961" y="47853"/>
                  </a:lnTo>
                  <a:lnTo>
                    <a:pt x="5295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1472545" y="5376850"/>
              <a:ext cx="1773555" cy="0"/>
            </a:xfrm>
            <a:custGeom>
              <a:avLst/>
              <a:gdLst/>
              <a:ahLst/>
              <a:cxnLst/>
              <a:rect l="l" t="t" r="r" b="b"/>
              <a:pathLst>
                <a:path w="1773555" h="0">
                  <a:moveTo>
                    <a:pt x="0" y="0"/>
                  </a:moveTo>
                  <a:lnTo>
                    <a:pt x="1773513" y="0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3238393" y="5346872"/>
              <a:ext cx="89535" cy="60325"/>
            </a:xfrm>
            <a:custGeom>
              <a:avLst/>
              <a:gdLst/>
              <a:ahLst/>
              <a:cxnLst/>
              <a:rect l="l" t="t" r="r" b="b"/>
              <a:pathLst>
                <a:path w="89535" h="60325">
                  <a:moveTo>
                    <a:pt x="0" y="0"/>
                  </a:moveTo>
                  <a:lnTo>
                    <a:pt x="0" y="59969"/>
                  </a:lnTo>
                  <a:lnTo>
                    <a:pt x="89321" y="299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8" name="object 98"/>
          <p:cNvSpPr txBox="1"/>
          <p:nvPr/>
        </p:nvSpPr>
        <p:spPr>
          <a:xfrm>
            <a:off x="2885616" y="5811406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5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2297423" y="4372179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5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3418307" y="5214915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500">
              <a:latin typeface="Arial"/>
              <a:cs typeface="Arial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2281475" y="6113791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1500">
              <a:latin typeface="Arial"/>
              <a:cs typeface="Arial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668402" y="4714125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500">
              <a:latin typeface="Arial"/>
              <a:cs typeface="Arial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2973021" y="4730074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500">
              <a:latin typeface="Arial"/>
              <a:cs typeface="Arial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2384190" y="4721780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500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2965364" y="5135174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500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1637148" y="5795456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500">
              <a:latin typeface="Arial"/>
              <a:cs typeface="Arial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2363023" y="6778015"/>
            <a:ext cx="1739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80">
                <a:latin typeface="Verdana"/>
                <a:cs typeface="Verdana"/>
              </a:rPr>
              <a:t>3</a:t>
            </a:r>
            <a:r>
              <a:rPr dirty="0" sz="800" spc="-55">
                <a:latin typeface="Verdana"/>
                <a:cs typeface="Verdana"/>
              </a:rPr>
              <a:t>,</a:t>
            </a: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987513" y="6685229"/>
            <a:ext cx="2825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8.74: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2,</a:t>
            </a:r>
            <a:r>
              <a:rPr dirty="0" sz="1200" spc="150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baseline="41666" sz="1200" spc="-60">
                <a:latin typeface="Verdana"/>
                <a:cs typeface="Verdana"/>
              </a:rPr>
              <a:t>(2)</a:t>
            </a:r>
            <a:r>
              <a:rPr dirty="0" baseline="41666" sz="1200" spc="10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12</a:t>
            </a:r>
            <a:r>
              <a:rPr dirty="0" sz="1200" spc="70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2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grpSp>
        <p:nvGrpSpPr>
          <p:cNvPr id="109" name="object 109"/>
          <p:cNvGrpSpPr/>
          <p:nvPr/>
        </p:nvGrpSpPr>
        <p:grpSpPr>
          <a:xfrm>
            <a:off x="4477511" y="4207454"/>
            <a:ext cx="2702560" cy="2362200"/>
            <a:chOff x="4477511" y="4207454"/>
            <a:chExt cx="2702560" cy="2362200"/>
          </a:xfrm>
        </p:grpSpPr>
        <p:sp>
          <p:nvSpPr>
            <p:cNvPr id="110" name="object 110"/>
            <p:cNvSpPr/>
            <p:nvPr/>
          </p:nvSpPr>
          <p:spPr>
            <a:xfrm>
              <a:off x="4477511" y="4207454"/>
              <a:ext cx="2702560" cy="2362200"/>
            </a:xfrm>
            <a:custGeom>
              <a:avLst/>
              <a:gdLst/>
              <a:ahLst/>
              <a:cxnLst/>
              <a:rect l="l" t="t" r="r" b="b"/>
              <a:pathLst>
                <a:path w="2702559" h="2362200">
                  <a:moveTo>
                    <a:pt x="2702158" y="0"/>
                  </a:moveTo>
                  <a:lnTo>
                    <a:pt x="0" y="0"/>
                  </a:lnTo>
                  <a:lnTo>
                    <a:pt x="0" y="2362001"/>
                  </a:lnTo>
                  <a:lnTo>
                    <a:pt x="2702158" y="2362001"/>
                  </a:lnTo>
                  <a:lnTo>
                    <a:pt x="2702158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5607756" y="6097107"/>
              <a:ext cx="331470" cy="317500"/>
            </a:xfrm>
            <a:custGeom>
              <a:avLst/>
              <a:gdLst/>
              <a:ahLst/>
              <a:cxnLst/>
              <a:rect l="l" t="t" r="r" b="b"/>
              <a:pathLst>
                <a:path w="331470" h="317500">
                  <a:moveTo>
                    <a:pt x="165872" y="0"/>
                  </a:moveTo>
                  <a:lnTo>
                    <a:pt x="125684" y="4465"/>
                  </a:lnTo>
                  <a:lnTo>
                    <a:pt x="88681" y="17861"/>
                  </a:lnTo>
                  <a:lnTo>
                    <a:pt x="55504" y="40187"/>
                  </a:lnTo>
                  <a:lnTo>
                    <a:pt x="29352" y="68884"/>
                  </a:lnTo>
                  <a:lnTo>
                    <a:pt x="4465" y="119923"/>
                  </a:lnTo>
                  <a:lnTo>
                    <a:pt x="0" y="158206"/>
                  </a:lnTo>
                  <a:lnTo>
                    <a:pt x="1280" y="177347"/>
                  </a:lnTo>
                  <a:lnTo>
                    <a:pt x="10850" y="214350"/>
                  </a:lnTo>
                  <a:lnTo>
                    <a:pt x="29352" y="248152"/>
                  </a:lnTo>
                  <a:lnTo>
                    <a:pt x="55504" y="276865"/>
                  </a:lnTo>
                  <a:lnTo>
                    <a:pt x="88681" y="299191"/>
                  </a:lnTo>
                  <a:lnTo>
                    <a:pt x="125684" y="312587"/>
                  </a:lnTo>
                  <a:lnTo>
                    <a:pt x="165872" y="317052"/>
                  </a:lnTo>
                  <a:lnTo>
                    <a:pt x="185013" y="315772"/>
                  </a:lnTo>
                  <a:lnTo>
                    <a:pt x="223921" y="306842"/>
                  </a:lnTo>
                  <a:lnTo>
                    <a:pt x="259019" y="288980"/>
                  </a:lnTo>
                  <a:lnTo>
                    <a:pt x="288996" y="263469"/>
                  </a:lnTo>
                  <a:lnTo>
                    <a:pt x="311962" y="232211"/>
                  </a:lnTo>
                  <a:lnTo>
                    <a:pt x="325998" y="196489"/>
                  </a:lnTo>
                  <a:lnTo>
                    <a:pt x="331104" y="158206"/>
                  </a:lnTo>
                  <a:lnTo>
                    <a:pt x="329824" y="139064"/>
                  </a:lnTo>
                  <a:lnTo>
                    <a:pt x="320253" y="102062"/>
                  </a:lnTo>
                  <a:lnTo>
                    <a:pt x="288996" y="53583"/>
                  </a:lnTo>
                  <a:lnTo>
                    <a:pt x="259019" y="28056"/>
                  </a:lnTo>
                  <a:lnTo>
                    <a:pt x="223921" y="10195"/>
                  </a:lnTo>
                  <a:lnTo>
                    <a:pt x="185013" y="1264"/>
                  </a:lnTo>
                  <a:lnTo>
                    <a:pt x="165872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5607756" y="6097107"/>
              <a:ext cx="331470" cy="317500"/>
            </a:xfrm>
            <a:custGeom>
              <a:avLst/>
              <a:gdLst/>
              <a:ahLst/>
              <a:cxnLst/>
              <a:rect l="l" t="t" r="r" b="b"/>
              <a:pathLst>
                <a:path w="331470" h="317500">
                  <a:moveTo>
                    <a:pt x="0" y="158206"/>
                  </a:moveTo>
                  <a:lnTo>
                    <a:pt x="4465" y="119923"/>
                  </a:lnTo>
                  <a:lnTo>
                    <a:pt x="29352" y="68884"/>
                  </a:lnTo>
                  <a:lnTo>
                    <a:pt x="55504" y="40187"/>
                  </a:lnTo>
                  <a:lnTo>
                    <a:pt x="88681" y="17861"/>
                  </a:lnTo>
                  <a:lnTo>
                    <a:pt x="125684" y="4465"/>
                  </a:lnTo>
                  <a:lnTo>
                    <a:pt x="165872" y="0"/>
                  </a:lnTo>
                  <a:lnTo>
                    <a:pt x="185013" y="1264"/>
                  </a:lnTo>
                  <a:lnTo>
                    <a:pt x="223921" y="10195"/>
                  </a:lnTo>
                  <a:lnTo>
                    <a:pt x="259019" y="28056"/>
                  </a:lnTo>
                  <a:lnTo>
                    <a:pt x="288996" y="53583"/>
                  </a:lnTo>
                  <a:lnTo>
                    <a:pt x="311962" y="84841"/>
                  </a:lnTo>
                  <a:lnTo>
                    <a:pt x="329824" y="139064"/>
                  </a:lnTo>
                  <a:lnTo>
                    <a:pt x="331104" y="158206"/>
                  </a:lnTo>
                  <a:lnTo>
                    <a:pt x="329824" y="177347"/>
                  </a:lnTo>
                  <a:lnTo>
                    <a:pt x="320253" y="214350"/>
                  </a:lnTo>
                  <a:lnTo>
                    <a:pt x="301751" y="248152"/>
                  </a:lnTo>
                  <a:lnTo>
                    <a:pt x="274960" y="276865"/>
                  </a:lnTo>
                  <a:lnTo>
                    <a:pt x="241782" y="299191"/>
                  </a:lnTo>
                  <a:lnTo>
                    <a:pt x="204779" y="312587"/>
                  </a:lnTo>
                  <a:lnTo>
                    <a:pt x="165872" y="317052"/>
                  </a:lnTo>
                  <a:lnTo>
                    <a:pt x="145450" y="315772"/>
                  </a:lnTo>
                  <a:lnTo>
                    <a:pt x="106542" y="306842"/>
                  </a:lnTo>
                  <a:lnTo>
                    <a:pt x="71460" y="288980"/>
                  </a:lnTo>
                  <a:lnTo>
                    <a:pt x="41468" y="263469"/>
                  </a:lnTo>
                  <a:lnTo>
                    <a:pt x="18501" y="232211"/>
                  </a:lnTo>
                  <a:lnTo>
                    <a:pt x="4465" y="196489"/>
                  </a:lnTo>
                  <a:lnTo>
                    <a:pt x="0" y="158206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6736933" y="5206512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70" h="316864">
                  <a:moveTo>
                    <a:pt x="165872" y="0"/>
                  </a:moveTo>
                  <a:lnTo>
                    <a:pt x="125684" y="4465"/>
                  </a:lnTo>
                  <a:lnTo>
                    <a:pt x="88681" y="17861"/>
                  </a:lnTo>
                  <a:lnTo>
                    <a:pt x="55504" y="40203"/>
                  </a:lnTo>
                  <a:lnTo>
                    <a:pt x="18501" y="84216"/>
                  </a:lnTo>
                  <a:lnTo>
                    <a:pt x="4465" y="119938"/>
                  </a:lnTo>
                  <a:lnTo>
                    <a:pt x="0" y="158221"/>
                  </a:lnTo>
                  <a:lnTo>
                    <a:pt x="1280" y="177363"/>
                  </a:lnTo>
                  <a:lnTo>
                    <a:pt x="10850" y="214350"/>
                  </a:lnTo>
                  <a:lnTo>
                    <a:pt x="29352" y="248168"/>
                  </a:lnTo>
                  <a:lnTo>
                    <a:pt x="55504" y="276880"/>
                  </a:lnTo>
                  <a:lnTo>
                    <a:pt x="88681" y="297926"/>
                  </a:lnTo>
                  <a:lnTo>
                    <a:pt x="125684" y="311962"/>
                  </a:lnTo>
                  <a:lnTo>
                    <a:pt x="165872" y="316428"/>
                  </a:lnTo>
                  <a:lnTo>
                    <a:pt x="185013" y="315147"/>
                  </a:lnTo>
                  <a:lnTo>
                    <a:pt x="223921" y="306217"/>
                  </a:lnTo>
                  <a:lnTo>
                    <a:pt x="259019" y="288996"/>
                  </a:lnTo>
                  <a:lnTo>
                    <a:pt x="288996" y="263484"/>
                  </a:lnTo>
                  <a:lnTo>
                    <a:pt x="311962" y="232227"/>
                  </a:lnTo>
                  <a:lnTo>
                    <a:pt x="325998" y="196489"/>
                  </a:lnTo>
                  <a:lnTo>
                    <a:pt x="331104" y="158221"/>
                  </a:lnTo>
                  <a:lnTo>
                    <a:pt x="329824" y="139080"/>
                  </a:lnTo>
                  <a:lnTo>
                    <a:pt x="320253" y="102077"/>
                  </a:lnTo>
                  <a:lnTo>
                    <a:pt x="301751" y="67635"/>
                  </a:lnTo>
                  <a:lnTo>
                    <a:pt x="274960" y="40203"/>
                  </a:lnTo>
                  <a:lnTo>
                    <a:pt x="241782" y="17861"/>
                  </a:lnTo>
                  <a:lnTo>
                    <a:pt x="204779" y="4465"/>
                  </a:lnTo>
                  <a:lnTo>
                    <a:pt x="165872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6736933" y="5206512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70" h="316864">
                  <a:moveTo>
                    <a:pt x="0" y="158221"/>
                  </a:moveTo>
                  <a:lnTo>
                    <a:pt x="4465" y="119938"/>
                  </a:lnTo>
                  <a:lnTo>
                    <a:pt x="18501" y="84216"/>
                  </a:lnTo>
                  <a:lnTo>
                    <a:pt x="41468" y="53599"/>
                  </a:lnTo>
                  <a:lnTo>
                    <a:pt x="71460" y="28072"/>
                  </a:lnTo>
                  <a:lnTo>
                    <a:pt x="106542" y="10210"/>
                  </a:lnTo>
                  <a:lnTo>
                    <a:pt x="145450" y="1280"/>
                  </a:lnTo>
                  <a:lnTo>
                    <a:pt x="165872" y="0"/>
                  </a:lnTo>
                  <a:lnTo>
                    <a:pt x="185013" y="1280"/>
                  </a:lnTo>
                  <a:lnTo>
                    <a:pt x="223921" y="10210"/>
                  </a:lnTo>
                  <a:lnTo>
                    <a:pt x="259019" y="28072"/>
                  </a:lnTo>
                  <a:lnTo>
                    <a:pt x="288996" y="53599"/>
                  </a:lnTo>
                  <a:lnTo>
                    <a:pt x="311962" y="84216"/>
                  </a:lnTo>
                  <a:lnTo>
                    <a:pt x="325998" y="119938"/>
                  </a:lnTo>
                  <a:lnTo>
                    <a:pt x="331104" y="158221"/>
                  </a:lnTo>
                  <a:lnTo>
                    <a:pt x="329824" y="177363"/>
                  </a:lnTo>
                  <a:lnTo>
                    <a:pt x="320253" y="214350"/>
                  </a:lnTo>
                  <a:lnTo>
                    <a:pt x="301751" y="248168"/>
                  </a:lnTo>
                  <a:lnTo>
                    <a:pt x="274960" y="276880"/>
                  </a:lnTo>
                  <a:lnTo>
                    <a:pt x="241782" y="297926"/>
                  </a:lnTo>
                  <a:lnTo>
                    <a:pt x="204779" y="311962"/>
                  </a:lnTo>
                  <a:lnTo>
                    <a:pt x="165872" y="316428"/>
                  </a:lnTo>
                  <a:lnTo>
                    <a:pt x="145450" y="315147"/>
                  </a:lnTo>
                  <a:lnTo>
                    <a:pt x="106542" y="306217"/>
                  </a:lnTo>
                  <a:lnTo>
                    <a:pt x="71460" y="288996"/>
                  </a:lnTo>
                  <a:lnTo>
                    <a:pt x="41468" y="263484"/>
                  </a:lnTo>
                  <a:lnTo>
                    <a:pt x="18501" y="232227"/>
                  </a:lnTo>
                  <a:lnTo>
                    <a:pt x="4465" y="196489"/>
                  </a:lnTo>
                  <a:lnTo>
                    <a:pt x="0" y="158221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5623712" y="4347830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70" h="316864">
                  <a:moveTo>
                    <a:pt x="165232" y="0"/>
                  </a:moveTo>
                  <a:lnTo>
                    <a:pt x="125669" y="4465"/>
                  </a:lnTo>
                  <a:lnTo>
                    <a:pt x="88666" y="17221"/>
                  </a:lnTo>
                  <a:lnTo>
                    <a:pt x="55504" y="39563"/>
                  </a:lnTo>
                  <a:lnTo>
                    <a:pt x="29336" y="67619"/>
                  </a:lnTo>
                  <a:lnTo>
                    <a:pt x="10835" y="102077"/>
                  </a:lnTo>
                  <a:lnTo>
                    <a:pt x="1264" y="139080"/>
                  </a:lnTo>
                  <a:lnTo>
                    <a:pt x="0" y="158221"/>
                  </a:lnTo>
                  <a:lnTo>
                    <a:pt x="1264" y="177347"/>
                  </a:lnTo>
                  <a:lnTo>
                    <a:pt x="10835" y="214350"/>
                  </a:lnTo>
                  <a:lnTo>
                    <a:pt x="41468" y="262844"/>
                  </a:lnTo>
                  <a:lnTo>
                    <a:pt x="71445" y="288356"/>
                  </a:lnTo>
                  <a:lnTo>
                    <a:pt x="106527" y="306217"/>
                  </a:lnTo>
                  <a:lnTo>
                    <a:pt x="145450" y="315147"/>
                  </a:lnTo>
                  <a:lnTo>
                    <a:pt x="165232" y="316428"/>
                  </a:lnTo>
                  <a:lnTo>
                    <a:pt x="184998" y="315147"/>
                  </a:lnTo>
                  <a:lnTo>
                    <a:pt x="223921" y="306217"/>
                  </a:lnTo>
                  <a:lnTo>
                    <a:pt x="259003" y="288356"/>
                  </a:lnTo>
                  <a:lnTo>
                    <a:pt x="288996" y="262844"/>
                  </a:lnTo>
                  <a:lnTo>
                    <a:pt x="311947" y="232211"/>
                  </a:lnTo>
                  <a:lnTo>
                    <a:pt x="325983" y="196489"/>
                  </a:lnTo>
                  <a:lnTo>
                    <a:pt x="331088" y="158221"/>
                  </a:lnTo>
                  <a:lnTo>
                    <a:pt x="329824" y="139080"/>
                  </a:lnTo>
                  <a:lnTo>
                    <a:pt x="320253" y="102077"/>
                  </a:lnTo>
                  <a:lnTo>
                    <a:pt x="301751" y="67619"/>
                  </a:lnTo>
                  <a:lnTo>
                    <a:pt x="274960" y="39563"/>
                  </a:lnTo>
                  <a:lnTo>
                    <a:pt x="241782" y="17221"/>
                  </a:lnTo>
                  <a:lnTo>
                    <a:pt x="204779" y="4465"/>
                  </a:lnTo>
                  <a:lnTo>
                    <a:pt x="165232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5623712" y="4347830"/>
              <a:ext cx="331470" cy="316865"/>
            </a:xfrm>
            <a:custGeom>
              <a:avLst/>
              <a:gdLst/>
              <a:ahLst/>
              <a:cxnLst/>
              <a:rect l="l" t="t" r="r" b="b"/>
              <a:pathLst>
                <a:path w="331470" h="316864">
                  <a:moveTo>
                    <a:pt x="0" y="158221"/>
                  </a:moveTo>
                  <a:lnTo>
                    <a:pt x="4465" y="119938"/>
                  </a:lnTo>
                  <a:lnTo>
                    <a:pt x="18501" y="84216"/>
                  </a:lnTo>
                  <a:lnTo>
                    <a:pt x="41468" y="52958"/>
                  </a:lnTo>
                  <a:lnTo>
                    <a:pt x="71445" y="27431"/>
                  </a:lnTo>
                  <a:lnTo>
                    <a:pt x="106527" y="10210"/>
                  </a:lnTo>
                  <a:lnTo>
                    <a:pt x="145450" y="1280"/>
                  </a:lnTo>
                  <a:lnTo>
                    <a:pt x="165232" y="0"/>
                  </a:lnTo>
                  <a:lnTo>
                    <a:pt x="184998" y="1280"/>
                  </a:lnTo>
                  <a:lnTo>
                    <a:pt x="223921" y="10210"/>
                  </a:lnTo>
                  <a:lnTo>
                    <a:pt x="259003" y="27431"/>
                  </a:lnTo>
                  <a:lnTo>
                    <a:pt x="288996" y="52958"/>
                  </a:lnTo>
                  <a:lnTo>
                    <a:pt x="311947" y="84216"/>
                  </a:lnTo>
                  <a:lnTo>
                    <a:pt x="325983" y="119938"/>
                  </a:lnTo>
                  <a:lnTo>
                    <a:pt x="331088" y="158221"/>
                  </a:lnTo>
                  <a:lnTo>
                    <a:pt x="329824" y="177347"/>
                  </a:lnTo>
                  <a:lnTo>
                    <a:pt x="320253" y="214350"/>
                  </a:lnTo>
                  <a:lnTo>
                    <a:pt x="288996" y="262844"/>
                  </a:lnTo>
                  <a:lnTo>
                    <a:pt x="259003" y="288356"/>
                  </a:lnTo>
                  <a:lnTo>
                    <a:pt x="223921" y="306217"/>
                  </a:lnTo>
                  <a:lnTo>
                    <a:pt x="184998" y="315147"/>
                  </a:lnTo>
                  <a:lnTo>
                    <a:pt x="165232" y="316428"/>
                  </a:lnTo>
                  <a:lnTo>
                    <a:pt x="145450" y="315147"/>
                  </a:lnTo>
                  <a:lnTo>
                    <a:pt x="106527" y="306217"/>
                  </a:lnTo>
                  <a:lnTo>
                    <a:pt x="71445" y="288356"/>
                  </a:lnTo>
                  <a:lnTo>
                    <a:pt x="41468" y="262844"/>
                  </a:lnTo>
                  <a:lnTo>
                    <a:pt x="18501" y="232211"/>
                  </a:lnTo>
                  <a:lnTo>
                    <a:pt x="4465" y="196489"/>
                  </a:lnTo>
                  <a:lnTo>
                    <a:pt x="0" y="158221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4585121" y="5216083"/>
              <a:ext cx="330835" cy="316865"/>
            </a:xfrm>
            <a:custGeom>
              <a:avLst/>
              <a:gdLst/>
              <a:ahLst/>
              <a:cxnLst/>
              <a:rect l="l" t="t" r="r" b="b"/>
              <a:pathLst>
                <a:path w="330835" h="316864">
                  <a:moveTo>
                    <a:pt x="165232" y="0"/>
                  </a:moveTo>
                  <a:lnTo>
                    <a:pt x="125669" y="5105"/>
                  </a:lnTo>
                  <a:lnTo>
                    <a:pt x="88041" y="18501"/>
                  </a:lnTo>
                  <a:lnTo>
                    <a:pt x="55504" y="40187"/>
                  </a:lnTo>
                  <a:lnTo>
                    <a:pt x="29336" y="68259"/>
                  </a:lnTo>
                  <a:lnTo>
                    <a:pt x="10850" y="102077"/>
                  </a:lnTo>
                  <a:lnTo>
                    <a:pt x="1280" y="139080"/>
                  </a:lnTo>
                  <a:lnTo>
                    <a:pt x="0" y="158221"/>
                  </a:lnTo>
                  <a:lnTo>
                    <a:pt x="1280" y="177347"/>
                  </a:lnTo>
                  <a:lnTo>
                    <a:pt x="10850" y="214990"/>
                  </a:lnTo>
                  <a:lnTo>
                    <a:pt x="29336" y="248808"/>
                  </a:lnTo>
                  <a:lnTo>
                    <a:pt x="55504" y="277520"/>
                  </a:lnTo>
                  <a:lnTo>
                    <a:pt x="88041" y="298566"/>
                  </a:lnTo>
                  <a:lnTo>
                    <a:pt x="125669" y="311962"/>
                  </a:lnTo>
                  <a:lnTo>
                    <a:pt x="165232" y="316428"/>
                  </a:lnTo>
                  <a:lnTo>
                    <a:pt x="185638" y="315788"/>
                  </a:lnTo>
                  <a:lnTo>
                    <a:pt x="223921" y="306217"/>
                  </a:lnTo>
                  <a:lnTo>
                    <a:pt x="259643" y="288356"/>
                  </a:lnTo>
                  <a:lnTo>
                    <a:pt x="288996" y="263484"/>
                  </a:lnTo>
                  <a:lnTo>
                    <a:pt x="311322" y="232211"/>
                  </a:lnTo>
                  <a:lnTo>
                    <a:pt x="325998" y="196489"/>
                  </a:lnTo>
                  <a:lnTo>
                    <a:pt x="330464" y="158221"/>
                  </a:lnTo>
                  <a:lnTo>
                    <a:pt x="329183" y="139080"/>
                  </a:lnTo>
                  <a:lnTo>
                    <a:pt x="319613" y="102077"/>
                  </a:lnTo>
                  <a:lnTo>
                    <a:pt x="301111" y="68259"/>
                  </a:lnTo>
                  <a:lnTo>
                    <a:pt x="274960" y="40187"/>
                  </a:lnTo>
                  <a:lnTo>
                    <a:pt x="242422" y="18501"/>
                  </a:lnTo>
                  <a:lnTo>
                    <a:pt x="204779" y="5105"/>
                  </a:lnTo>
                  <a:lnTo>
                    <a:pt x="165232" y="0"/>
                  </a:lnTo>
                  <a:close/>
                </a:path>
              </a:pathLst>
            </a:custGeom>
            <a:solidFill>
              <a:srgbClr val="0000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4585121" y="5216083"/>
              <a:ext cx="330835" cy="316865"/>
            </a:xfrm>
            <a:custGeom>
              <a:avLst/>
              <a:gdLst/>
              <a:ahLst/>
              <a:cxnLst/>
              <a:rect l="l" t="t" r="r" b="b"/>
              <a:pathLst>
                <a:path w="330835" h="316864">
                  <a:moveTo>
                    <a:pt x="0" y="158221"/>
                  </a:moveTo>
                  <a:lnTo>
                    <a:pt x="10850" y="102077"/>
                  </a:lnTo>
                  <a:lnTo>
                    <a:pt x="29336" y="68259"/>
                  </a:lnTo>
                  <a:lnTo>
                    <a:pt x="55504" y="40187"/>
                  </a:lnTo>
                  <a:lnTo>
                    <a:pt x="88041" y="18501"/>
                  </a:lnTo>
                  <a:lnTo>
                    <a:pt x="125669" y="5105"/>
                  </a:lnTo>
                  <a:lnTo>
                    <a:pt x="165232" y="0"/>
                  </a:lnTo>
                  <a:lnTo>
                    <a:pt x="185638" y="1280"/>
                  </a:lnTo>
                  <a:lnTo>
                    <a:pt x="223921" y="10210"/>
                  </a:lnTo>
                  <a:lnTo>
                    <a:pt x="259643" y="28072"/>
                  </a:lnTo>
                  <a:lnTo>
                    <a:pt x="288996" y="53599"/>
                  </a:lnTo>
                  <a:lnTo>
                    <a:pt x="311322" y="84856"/>
                  </a:lnTo>
                  <a:lnTo>
                    <a:pt x="325998" y="120578"/>
                  </a:lnTo>
                  <a:lnTo>
                    <a:pt x="330464" y="158221"/>
                  </a:lnTo>
                  <a:lnTo>
                    <a:pt x="329183" y="177347"/>
                  </a:lnTo>
                  <a:lnTo>
                    <a:pt x="319613" y="214990"/>
                  </a:lnTo>
                  <a:lnTo>
                    <a:pt x="301111" y="248808"/>
                  </a:lnTo>
                  <a:lnTo>
                    <a:pt x="274960" y="277520"/>
                  </a:lnTo>
                  <a:lnTo>
                    <a:pt x="242422" y="298566"/>
                  </a:lnTo>
                  <a:lnTo>
                    <a:pt x="204779" y="311962"/>
                  </a:lnTo>
                  <a:lnTo>
                    <a:pt x="165232" y="316428"/>
                  </a:lnTo>
                  <a:lnTo>
                    <a:pt x="145450" y="315788"/>
                  </a:lnTo>
                  <a:lnTo>
                    <a:pt x="106542" y="306217"/>
                  </a:lnTo>
                  <a:lnTo>
                    <a:pt x="71445" y="288356"/>
                  </a:lnTo>
                  <a:lnTo>
                    <a:pt x="42108" y="263484"/>
                  </a:lnTo>
                  <a:lnTo>
                    <a:pt x="19141" y="232211"/>
                  </a:lnTo>
                  <a:lnTo>
                    <a:pt x="5105" y="196489"/>
                  </a:lnTo>
                  <a:lnTo>
                    <a:pt x="0" y="158221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9" name="object 119"/>
          <p:cNvSpPr txBox="1"/>
          <p:nvPr/>
        </p:nvSpPr>
        <p:spPr>
          <a:xfrm>
            <a:off x="4680176" y="5234064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500">
              <a:latin typeface="Arial"/>
              <a:cs typeface="Arial"/>
            </a:endParaRPr>
          </a:p>
        </p:txBody>
      </p:sp>
      <p:grpSp>
        <p:nvGrpSpPr>
          <p:cNvPr id="120" name="object 120"/>
          <p:cNvGrpSpPr/>
          <p:nvPr/>
        </p:nvGrpSpPr>
        <p:grpSpPr>
          <a:xfrm>
            <a:off x="4842536" y="4574230"/>
            <a:ext cx="1948180" cy="1596390"/>
            <a:chOff x="4842536" y="4574230"/>
            <a:chExt cx="1948180" cy="1596390"/>
          </a:xfrm>
        </p:grpSpPr>
        <p:sp>
          <p:nvSpPr>
            <p:cNvPr id="121" name="object 121"/>
            <p:cNvSpPr/>
            <p:nvPr/>
          </p:nvSpPr>
          <p:spPr>
            <a:xfrm>
              <a:off x="5780638" y="4761870"/>
              <a:ext cx="3175" cy="1334135"/>
            </a:xfrm>
            <a:custGeom>
              <a:avLst/>
              <a:gdLst/>
              <a:ahLst/>
              <a:cxnLst/>
              <a:rect l="l" t="t" r="r" b="b"/>
              <a:pathLst>
                <a:path w="3175" h="1334135">
                  <a:moveTo>
                    <a:pt x="2560" y="0"/>
                  </a:moveTo>
                  <a:lnTo>
                    <a:pt x="0" y="1333957"/>
                  </a:lnTo>
                </a:path>
              </a:pathLst>
            </a:custGeom>
            <a:ln w="35884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5732800" y="4622149"/>
              <a:ext cx="100965" cy="153035"/>
            </a:xfrm>
            <a:custGeom>
              <a:avLst/>
              <a:gdLst/>
              <a:ahLst/>
              <a:cxnLst/>
              <a:rect l="l" t="t" r="r" b="b"/>
              <a:pathLst>
                <a:path w="100964" h="153035">
                  <a:moveTo>
                    <a:pt x="50398" y="0"/>
                  </a:moveTo>
                  <a:lnTo>
                    <a:pt x="0" y="151836"/>
                  </a:lnTo>
                  <a:lnTo>
                    <a:pt x="100797" y="152476"/>
                  </a:lnTo>
                  <a:lnTo>
                    <a:pt x="50398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4913025" y="4585147"/>
              <a:ext cx="732155" cy="611505"/>
            </a:xfrm>
            <a:custGeom>
              <a:avLst/>
              <a:gdLst/>
              <a:ahLst/>
              <a:cxnLst/>
              <a:rect l="l" t="t" r="r" b="b"/>
              <a:pathLst>
                <a:path w="732154" h="611504">
                  <a:moveTo>
                    <a:pt x="0" y="611169"/>
                  </a:moveTo>
                  <a:lnTo>
                    <a:pt x="731733" y="0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4850510" y="5168244"/>
              <a:ext cx="87630" cy="81280"/>
            </a:xfrm>
            <a:custGeom>
              <a:avLst/>
              <a:gdLst/>
              <a:ahLst/>
              <a:cxnLst/>
              <a:rect l="l" t="t" r="r" b="b"/>
              <a:pathLst>
                <a:path w="87629" h="81279">
                  <a:moveTo>
                    <a:pt x="49118" y="0"/>
                  </a:moveTo>
                  <a:lnTo>
                    <a:pt x="0" y="81015"/>
                  </a:lnTo>
                  <a:lnTo>
                    <a:pt x="87401" y="45933"/>
                  </a:lnTo>
                  <a:lnTo>
                    <a:pt x="4911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4850510" y="5505079"/>
              <a:ext cx="734060" cy="612775"/>
            </a:xfrm>
            <a:custGeom>
              <a:avLst/>
              <a:gdLst/>
              <a:ahLst/>
              <a:cxnLst/>
              <a:rect l="l" t="t" r="r" b="b"/>
              <a:pathLst>
                <a:path w="734060" h="612775">
                  <a:moveTo>
                    <a:pt x="0" y="0"/>
                  </a:moveTo>
                  <a:lnTo>
                    <a:pt x="733638" y="612434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5559277" y="6089441"/>
              <a:ext cx="88265" cy="81280"/>
            </a:xfrm>
            <a:custGeom>
              <a:avLst/>
              <a:gdLst/>
              <a:ahLst/>
              <a:cxnLst/>
              <a:rect l="l" t="t" r="r" b="b"/>
              <a:pathLst>
                <a:path w="88264" h="81279">
                  <a:moveTo>
                    <a:pt x="38267" y="0"/>
                  </a:moveTo>
                  <a:lnTo>
                    <a:pt x="0" y="46573"/>
                  </a:lnTo>
                  <a:lnTo>
                    <a:pt x="88041" y="81015"/>
                  </a:lnTo>
                  <a:lnTo>
                    <a:pt x="3826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5924184" y="4592172"/>
              <a:ext cx="752475" cy="587375"/>
            </a:xfrm>
            <a:custGeom>
              <a:avLst/>
              <a:gdLst/>
              <a:ahLst/>
              <a:cxnLst/>
              <a:rect l="l" t="t" r="r" b="b"/>
              <a:pathLst>
                <a:path w="752475" h="587375">
                  <a:moveTo>
                    <a:pt x="0" y="0"/>
                  </a:moveTo>
                  <a:lnTo>
                    <a:pt x="752139" y="586907"/>
                  </a:lnTo>
                </a:path>
              </a:pathLst>
            </a:custGeom>
            <a:ln w="35884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6635495" y="5131242"/>
              <a:ext cx="151130" cy="133350"/>
            </a:xfrm>
            <a:custGeom>
              <a:avLst/>
              <a:gdLst/>
              <a:ahLst/>
              <a:cxnLst/>
              <a:rect l="l" t="t" r="r" b="b"/>
              <a:pathLst>
                <a:path w="151129" h="133350">
                  <a:moveTo>
                    <a:pt x="61889" y="0"/>
                  </a:moveTo>
                  <a:lnTo>
                    <a:pt x="0" y="80375"/>
                  </a:lnTo>
                  <a:lnTo>
                    <a:pt x="150555" y="133334"/>
                  </a:lnTo>
                  <a:lnTo>
                    <a:pt x="61889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5965652" y="5490403"/>
              <a:ext cx="816610" cy="627380"/>
            </a:xfrm>
            <a:custGeom>
              <a:avLst/>
              <a:gdLst/>
              <a:ahLst/>
              <a:cxnLst/>
              <a:rect l="l" t="t" r="r" b="b"/>
              <a:pathLst>
                <a:path w="816609" h="627379">
                  <a:moveTo>
                    <a:pt x="816574" y="0"/>
                  </a:moveTo>
                  <a:lnTo>
                    <a:pt x="0" y="627110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5899937" y="6088801"/>
              <a:ext cx="90170" cy="79375"/>
            </a:xfrm>
            <a:custGeom>
              <a:avLst/>
              <a:gdLst/>
              <a:ahLst/>
              <a:cxnLst/>
              <a:rect l="l" t="t" r="r" b="b"/>
              <a:pathLst>
                <a:path w="90170" h="79375">
                  <a:moveTo>
                    <a:pt x="52958" y="0"/>
                  </a:moveTo>
                  <a:lnTo>
                    <a:pt x="0" y="79110"/>
                  </a:lnTo>
                  <a:lnTo>
                    <a:pt x="89961" y="47853"/>
                  </a:lnTo>
                  <a:lnTo>
                    <a:pt x="5295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4901549" y="5376850"/>
              <a:ext cx="1773555" cy="0"/>
            </a:xfrm>
            <a:custGeom>
              <a:avLst/>
              <a:gdLst/>
              <a:ahLst/>
              <a:cxnLst/>
              <a:rect l="l" t="t" r="r" b="b"/>
              <a:pathLst>
                <a:path w="1773554" h="0">
                  <a:moveTo>
                    <a:pt x="0" y="0"/>
                  </a:moveTo>
                  <a:lnTo>
                    <a:pt x="1773509" y="0"/>
                  </a:lnTo>
                </a:path>
              </a:pathLst>
            </a:custGeom>
            <a:ln w="159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6667393" y="5346872"/>
              <a:ext cx="89535" cy="60325"/>
            </a:xfrm>
            <a:custGeom>
              <a:avLst/>
              <a:gdLst/>
              <a:ahLst/>
              <a:cxnLst/>
              <a:rect l="l" t="t" r="r" b="b"/>
              <a:pathLst>
                <a:path w="89534" h="60325">
                  <a:moveTo>
                    <a:pt x="0" y="0"/>
                  </a:moveTo>
                  <a:lnTo>
                    <a:pt x="0" y="59969"/>
                  </a:lnTo>
                  <a:lnTo>
                    <a:pt x="89321" y="299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3" name="object 133"/>
          <p:cNvSpPr txBox="1"/>
          <p:nvPr/>
        </p:nvSpPr>
        <p:spPr>
          <a:xfrm>
            <a:off x="6314615" y="5811406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5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5726422" y="4372179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50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6847306" y="5214915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50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5710473" y="6113791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15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5097400" y="4714125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500">
              <a:latin typeface="Arial"/>
              <a:cs typeface="Arial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6402020" y="4730074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500">
              <a:latin typeface="Arial"/>
              <a:cs typeface="Arial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5813188" y="4721780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500">
              <a:latin typeface="Arial"/>
              <a:cs typeface="Arial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6394363" y="5135174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50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5066147" y="5795456"/>
            <a:ext cx="11874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500" spc="-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500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5792022" y="6778015"/>
            <a:ext cx="1739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80">
                <a:latin typeface="Verdana"/>
                <a:cs typeface="Verdana"/>
              </a:rPr>
              <a:t>3</a:t>
            </a:r>
            <a:r>
              <a:rPr dirty="0" sz="800" spc="-55">
                <a:latin typeface="Verdana"/>
                <a:cs typeface="Verdana"/>
              </a:rPr>
              <a:t>,</a:t>
            </a: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4416512" y="6685229"/>
            <a:ext cx="2825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8.75: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3,</a:t>
            </a:r>
            <a:r>
              <a:rPr dirty="0" sz="1200" spc="150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baseline="41666" sz="1200" spc="-60">
                <a:latin typeface="Verdana"/>
                <a:cs typeface="Verdana"/>
              </a:rPr>
              <a:t>(3)</a:t>
            </a:r>
            <a:r>
              <a:rPr dirty="0" baseline="41666" sz="1200" spc="10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12</a:t>
            </a:r>
            <a:r>
              <a:rPr dirty="0" sz="1200" spc="70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2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16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631947" y="938474"/>
            <a:ext cx="2964815" cy="2590800"/>
            <a:chOff x="2631947" y="938474"/>
            <a:chExt cx="2964815" cy="2590800"/>
          </a:xfrm>
        </p:grpSpPr>
        <p:sp>
          <p:nvSpPr>
            <p:cNvPr id="5" name="object 5"/>
            <p:cNvSpPr/>
            <p:nvPr/>
          </p:nvSpPr>
          <p:spPr>
            <a:xfrm>
              <a:off x="2631947" y="938474"/>
              <a:ext cx="2964815" cy="2590800"/>
            </a:xfrm>
            <a:custGeom>
              <a:avLst/>
              <a:gdLst/>
              <a:ahLst/>
              <a:cxnLst/>
              <a:rect l="l" t="t" r="r" b="b"/>
              <a:pathLst>
                <a:path w="2964815" h="2590800">
                  <a:moveTo>
                    <a:pt x="2964820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2964820" y="2590601"/>
                  </a:lnTo>
                  <a:lnTo>
                    <a:pt x="2964820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871081" y="3013842"/>
              <a:ext cx="364490" cy="349250"/>
            </a:xfrm>
            <a:custGeom>
              <a:avLst/>
              <a:gdLst/>
              <a:ahLst/>
              <a:cxnLst/>
              <a:rect l="l" t="t" r="r" b="b"/>
              <a:pathLst>
                <a:path w="364489" h="349250">
                  <a:moveTo>
                    <a:pt x="182453" y="0"/>
                  </a:moveTo>
                  <a:lnTo>
                    <a:pt x="138242" y="4922"/>
                  </a:lnTo>
                  <a:lnTo>
                    <a:pt x="97535" y="19659"/>
                  </a:lnTo>
                  <a:lnTo>
                    <a:pt x="61051" y="44211"/>
                  </a:lnTo>
                  <a:lnTo>
                    <a:pt x="32278" y="75788"/>
                  </a:lnTo>
                  <a:lnTo>
                    <a:pt x="11932" y="112288"/>
                  </a:lnTo>
                  <a:lnTo>
                    <a:pt x="1402" y="152979"/>
                  </a:lnTo>
                  <a:lnTo>
                    <a:pt x="0" y="174040"/>
                  </a:lnTo>
                  <a:lnTo>
                    <a:pt x="1402" y="195087"/>
                  </a:lnTo>
                  <a:lnTo>
                    <a:pt x="11932" y="235793"/>
                  </a:lnTo>
                  <a:lnTo>
                    <a:pt x="32278" y="272978"/>
                  </a:lnTo>
                  <a:lnTo>
                    <a:pt x="61051" y="304571"/>
                  </a:lnTo>
                  <a:lnTo>
                    <a:pt x="97535" y="329123"/>
                  </a:lnTo>
                  <a:lnTo>
                    <a:pt x="138242" y="343860"/>
                  </a:lnTo>
                  <a:lnTo>
                    <a:pt x="182453" y="348767"/>
                  </a:lnTo>
                  <a:lnTo>
                    <a:pt x="203499" y="347365"/>
                  </a:lnTo>
                  <a:lnTo>
                    <a:pt x="246308" y="337550"/>
                  </a:lnTo>
                  <a:lnTo>
                    <a:pt x="284911" y="317891"/>
                  </a:lnTo>
                  <a:lnTo>
                    <a:pt x="317891" y="289834"/>
                  </a:lnTo>
                  <a:lnTo>
                    <a:pt x="343159" y="255437"/>
                  </a:lnTo>
                  <a:lnTo>
                    <a:pt x="358597" y="216148"/>
                  </a:lnTo>
                  <a:lnTo>
                    <a:pt x="364205" y="174040"/>
                  </a:lnTo>
                  <a:lnTo>
                    <a:pt x="362803" y="152979"/>
                  </a:lnTo>
                  <a:lnTo>
                    <a:pt x="352272" y="112288"/>
                  </a:lnTo>
                  <a:lnTo>
                    <a:pt x="331927" y="75788"/>
                  </a:lnTo>
                  <a:lnTo>
                    <a:pt x="302453" y="44211"/>
                  </a:lnTo>
                  <a:lnTo>
                    <a:pt x="265968" y="19659"/>
                  </a:lnTo>
                  <a:lnTo>
                    <a:pt x="225262" y="4922"/>
                  </a:lnTo>
                  <a:lnTo>
                    <a:pt x="18245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871081" y="3013842"/>
              <a:ext cx="364490" cy="349250"/>
            </a:xfrm>
            <a:custGeom>
              <a:avLst/>
              <a:gdLst/>
              <a:ahLst/>
              <a:cxnLst/>
              <a:rect l="l" t="t" r="r" b="b"/>
              <a:pathLst>
                <a:path w="364489" h="349250">
                  <a:moveTo>
                    <a:pt x="0" y="174040"/>
                  </a:moveTo>
                  <a:lnTo>
                    <a:pt x="4907" y="131932"/>
                  </a:lnTo>
                  <a:lnTo>
                    <a:pt x="20345" y="93344"/>
                  </a:lnTo>
                  <a:lnTo>
                    <a:pt x="45613" y="58948"/>
                  </a:lnTo>
                  <a:lnTo>
                    <a:pt x="78592" y="30876"/>
                  </a:lnTo>
                  <a:lnTo>
                    <a:pt x="117195" y="11231"/>
                  </a:lnTo>
                  <a:lnTo>
                    <a:pt x="160004" y="1402"/>
                  </a:lnTo>
                  <a:lnTo>
                    <a:pt x="182453" y="0"/>
                  </a:lnTo>
                  <a:lnTo>
                    <a:pt x="203499" y="1402"/>
                  </a:lnTo>
                  <a:lnTo>
                    <a:pt x="246308" y="11231"/>
                  </a:lnTo>
                  <a:lnTo>
                    <a:pt x="284911" y="30876"/>
                  </a:lnTo>
                  <a:lnTo>
                    <a:pt x="317891" y="58948"/>
                  </a:lnTo>
                  <a:lnTo>
                    <a:pt x="343159" y="93344"/>
                  </a:lnTo>
                  <a:lnTo>
                    <a:pt x="358597" y="131932"/>
                  </a:lnTo>
                  <a:lnTo>
                    <a:pt x="364205" y="174040"/>
                  </a:lnTo>
                  <a:lnTo>
                    <a:pt x="362803" y="195087"/>
                  </a:lnTo>
                  <a:lnTo>
                    <a:pt x="352272" y="235793"/>
                  </a:lnTo>
                  <a:lnTo>
                    <a:pt x="331927" y="272978"/>
                  </a:lnTo>
                  <a:lnTo>
                    <a:pt x="302453" y="304571"/>
                  </a:lnTo>
                  <a:lnTo>
                    <a:pt x="265968" y="329123"/>
                  </a:lnTo>
                  <a:lnTo>
                    <a:pt x="225262" y="343860"/>
                  </a:lnTo>
                  <a:lnTo>
                    <a:pt x="182453" y="348767"/>
                  </a:lnTo>
                  <a:lnTo>
                    <a:pt x="160004" y="347365"/>
                  </a:lnTo>
                  <a:lnTo>
                    <a:pt x="117195" y="337550"/>
                  </a:lnTo>
                  <a:lnTo>
                    <a:pt x="78592" y="317891"/>
                  </a:lnTo>
                  <a:lnTo>
                    <a:pt x="45613" y="289834"/>
                  </a:lnTo>
                  <a:lnTo>
                    <a:pt x="20345" y="255437"/>
                  </a:lnTo>
                  <a:lnTo>
                    <a:pt x="4907" y="216148"/>
                  </a:lnTo>
                  <a:lnTo>
                    <a:pt x="0" y="174040"/>
                  </a:lnTo>
                </a:path>
              </a:pathLst>
            </a:custGeom>
            <a:ln w="1754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113172" y="2034199"/>
              <a:ext cx="364490" cy="348615"/>
            </a:xfrm>
            <a:custGeom>
              <a:avLst/>
              <a:gdLst/>
              <a:ahLst/>
              <a:cxnLst/>
              <a:rect l="l" t="t" r="r" b="b"/>
              <a:pathLst>
                <a:path w="364489" h="348614">
                  <a:moveTo>
                    <a:pt x="182453" y="0"/>
                  </a:moveTo>
                  <a:lnTo>
                    <a:pt x="138242" y="4922"/>
                  </a:lnTo>
                  <a:lnTo>
                    <a:pt x="97551" y="19659"/>
                  </a:lnTo>
                  <a:lnTo>
                    <a:pt x="61051" y="44211"/>
                  </a:lnTo>
                  <a:lnTo>
                    <a:pt x="32278" y="74386"/>
                  </a:lnTo>
                  <a:lnTo>
                    <a:pt x="11932" y="112288"/>
                  </a:lnTo>
                  <a:lnTo>
                    <a:pt x="1402" y="152994"/>
                  </a:lnTo>
                  <a:lnTo>
                    <a:pt x="0" y="174040"/>
                  </a:lnTo>
                  <a:lnTo>
                    <a:pt x="1402" y="195087"/>
                  </a:lnTo>
                  <a:lnTo>
                    <a:pt x="11932" y="235793"/>
                  </a:lnTo>
                  <a:lnTo>
                    <a:pt x="32278" y="272994"/>
                  </a:lnTo>
                  <a:lnTo>
                    <a:pt x="61051" y="304571"/>
                  </a:lnTo>
                  <a:lnTo>
                    <a:pt x="97551" y="327720"/>
                  </a:lnTo>
                  <a:lnTo>
                    <a:pt x="138242" y="343159"/>
                  </a:lnTo>
                  <a:lnTo>
                    <a:pt x="182453" y="348066"/>
                  </a:lnTo>
                  <a:lnTo>
                    <a:pt x="203514" y="346664"/>
                  </a:lnTo>
                  <a:lnTo>
                    <a:pt x="246324" y="336849"/>
                  </a:lnTo>
                  <a:lnTo>
                    <a:pt x="284911" y="317891"/>
                  </a:lnTo>
                  <a:lnTo>
                    <a:pt x="317891" y="289834"/>
                  </a:lnTo>
                  <a:lnTo>
                    <a:pt x="343159" y="255437"/>
                  </a:lnTo>
                  <a:lnTo>
                    <a:pt x="358597" y="216148"/>
                  </a:lnTo>
                  <a:lnTo>
                    <a:pt x="364205" y="174040"/>
                  </a:lnTo>
                  <a:lnTo>
                    <a:pt x="362803" y="152994"/>
                  </a:lnTo>
                  <a:lnTo>
                    <a:pt x="352287" y="112288"/>
                  </a:lnTo>
                  <a:lnTo>
                    <a:pt x="331927" y="74386"/>
                  </a:lnTo>
                  <a:lnTo>
                    <a:pt x="302453" y="44211"/>
                  </a:lnTo>
                  <a:lnTo>
                    <a:pt x="265968" y="19659"/>
                  </a:lnTo>
                  <a:lnTo>
                    <a:pt x="225262" y="4922"/>
                  </a:lnTo>
                  <a:lnTo>
                    <a:pt x="18245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113172" y="2034199"/>
              <a:ext cx="364490" cy="348615"/>
            </a:xfrm>
            <a:custGeom>
              <a:avLst/>
              <a:gdLst/>
              <a:ahLst/>
              <a:cxnLst/>
              <a:rect l="l" t="t" r="r" b="b"/>
              <a:pathLst>
                <a:path w="364489" h="348614">
                  <a:moveTo>
                    <a:pt x="0" y="174040"/>
                  </a:moveTo>
                  <a:lnTo>
                    <a:pt x="4922" y="131932"/>
                  </a:lnTo>
                  <a:lnTo>
                    <a:pt x="20360" y="92643"/>
                  </a:lnTo>
                  <a:lnTo>
                    <a:pt x="45613" y="58948"/>
                  </a:lnTo>
                  <a:lnTo>
                    <a:pt x="78607" y="30876"/>
                  </a:lnTo>
                  <a:lnTo>
                    <a:pt x="117195" y="11231"/>
                  </a:lnTo>
                  <a:lnTo>
                    <a:pt x="160004" y="1417"/>
                  </a:lnTo>
                  <a:lnTo>
                    <a:pt x="182453" y="0"/>
                  </a:lnTo>
                  <a:lnTo>
                    <a:pt x="203514" y="1417"/>
                  </a:lnTo>
                  <a:lnTo>
                    <a:pt x="246324" y="11231"/>
                  </a:lnTo>
                  <a:lnTo>
                    <a:pt x="284911" y="30876"/>
                  </a:lnTo>
                  <a:lnTo>
                    <a:pt x="317891" y="58948"/>
                  </a:lnTo>
                  <a:lnTo>
                    <a:pt x="343159" y="92643"/>
                  </a:lnTo>
                  <a:lnTo>
                    <a:pt x="358597" y="131932"/>
                  </a:lnTo>
                  <a:lnTo>
                    <a:pt x="364205" y="174040"/>
                  </a:lnTo>
                  <a:lnTo>
                    <a:pt x="362803" y="195087"/>
                  </a:lnTo>
                  <a:lnTo>
                    <a:pt x="352287" y="235793"/>
                  </a:lnTo>
                  <a:lnTo>
                    <a:pt x="331927" y="272994"/>
                  </a:lnTo>
                  <a:lnTo>
                    <a:pt x="302453" y="304571"/>
                  </a:lnTo>
                  <a:lnTo>
                    <a:pt x="265968" y="327720"/>
                  </a:lnTo>
                  <a:lnTo>
                    <a:pt x="225262" y="343159"/>
                  </a:lnTo>
                  <a:lnTo>
                    <a:pt x="182453" y="348066"/>
                  </a:lnTo>
                  <a:lnTo>
                    <a:pt x="160004" y="346664"/>
                  </a:lnTo>
                  <a:lnTo>
                    <a:pt x="117195" y="336849"/>
                  </a:lnTo>
                  <a:lnTo>
                    <a:pt x="78607" y="317891"/>
                  </a:lnTo>
                  <a:lnTo>
                    <a:pt x="45613" y="289834"/>
                  </a:lnTo>
                  <a:lnTo>
                    <a:pt x="20360" y="255437"/>
                  </a:lnTo>
                  <a:lnTo>
                    <a:pt x="4922" y="216148"/>
                  </a:lnTo>
                  <a:lnTo>
                    <a:pt x="0" y="174040"/>
                  </a:lnTo>
                </a:path>
              </a:pathLst>
            </a:custGeom>
            <a:ln w="1754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888623" y="1089655"/>
              <a:ext cx="364490" cy="348615"/>
            </a:xfrm>
            <a:custGeom>
              <a:avLst/>
              <a:gdLst/>
              <a:ahLst/>
              <a:cxnLst/>
              <a:rect l="l" t="t" r="r" b="b"/>
              <a:pathLst>
                <a:path w="364489" h="348615">
                  <a:moveTo>
                    <a:pt x="181752" y="0"/>
                  </a:moveTo>
                  <a:lnTo>
                    <a:pt x="138242" y="4907"/>
                  </a:lnTo>
                  <a:lnTo>
                    <a:pt x="97551" y="18943"/>
                  </a:lnTo>
                  <a:lnTo>
                    <a:pt x="61051" y="43510"/>
                  </a:lnTo>
                  <a:lnTo>
                    <a:pt x="32278" y="74386"/>
                  </a:lnTo>
                  <a:lnTo>
                    <a:pt x="11932" y="112273"/>
                  </a:lnTo>
                  <a:lnTo>
                    <a:pt x="1402" y="152979"/>
                  </a:lnTo>
                  <a:lnTo>
                    <a:pt x="0" y="174025"/>
                  </a:lnTo>
                  <a:lnTo>
                    <a:pt x="1402" y="195087"/>
                  </a:lnTo>
                  <a:lnTo>
                    <a:pt x="11932" y="235778"/>
                  </a:lnTo>
                  <a:lnTo>
                    <a:pt x="32278" y="272277"/>
                  </a:lnTo>
                  <a:lnTo>
                    <a:pt x="61051" y="303855"/>
                  </a:lnTo>
                  <a:lnTo>
                    <a:pt x="97551" y="327720"/>
                  </a:lnTo>
                  <a:lnTo>
                    <a:pt x="138242" y="343159"/>
                  </a:lnTo>
                  <a:lnTo>
                    <a:pt x="181752" y="348066"/>
                  </a:lnTo>
                  <a:lnTo>
                    <a:pt x="203514" y="346664"/>
                  </a:lnTo>
                  <a:lnTo>
                    <a:pt x="246324" y="336834"/>
                  </a:lnTo>
                  <a:lnTo>
                    <a:pt x="284911" y="317190"/>
                  </a:lnTo>
                  <a:lnTo>
                    <a:pt x="317891" y="289118"/>
                  </a:lnTo>
                  <a:lnTo>
                    <a:pt x="343159" y="255437"/>
                  </a:lnTo>
                  <a:lnTo>
                    <a:pt x="358597" y="216133"/>
                  </a:lnTo>
                  <a:lnTo>
                    <a:pt x="364205" y="174025"/>
                  </a:lnTo>
                  <a:lnTo>
                    <a:pt x="362803" y="152979"/>
                  </a:lnTo>
                  <a:lnTo>
                    <a:pt x="352287" y="112273"/>
                  </a:lnTo>
                  <a:lnTo>
                    <a:pt x="331927" y="74386"/>
                  </a:lnTo>
                  <a:lnTo>
                    <a:pt x="302453" y="43510"/>
                  </a:lnTo>
                  <a:lnTo>
                    <a:pt x="265968" y="18943"/>
                  </a:lnTo>
                  <a:lnTo>
                    <a:pt x="225262" y="4907"/>
                  </a:lnTo>
                  <a:lnTo>
                    <a:pt x="181752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888623" y="1089655"/>
              <a:ext cx="364490" cy="348615"/>
            </a:xfrm>
            <a:custGeom>
              <a:avLst/>
              <a:gdLst/>
              <a:ahLst/>
              <a:cxnLst/>
              <a:rect l="l" t="t" r="r" b="b"/>
              <a:pathLst>
                <a:path w="364489" h="348615">
                  <a:moveTo>
                    <a:pt x="0" y="174025"/>
                  </a:moveTo>
                  <a:lnTo>
                    <a:pt x="4922" y="131932"/>
                  </a:lnTo>
                  <a:lnTo>
                    <a:pt x="20360" y="92628"/>
                  </a:lnTo>
                  <a:lnTo>
                    <a:pt x="45613" y="58247"/>
                  </a:lnTo>
                  <a:lnTo>
                    <a:pt x="78592" y="30175"/>
                  </a:lnTo>
                  <a:lnTo>
                    <a:pt x="117195" y="11231"/>
                  </a:lnTo>
                  <a:lnTo>
                    <a:pt x="160004" y="1402"/>
                  </a:lnTo>
                  <a:lnTo>
                    <a:pt x="181752" y="0"/>
                  </a:lnTo>
                  <a:lnTo>
                    <a:pt x="203514" y="1402"/>
                  </a:lnTo>
                  <a:lnTo>
                    <a:pt x="246324" y="11231"/>
                  </a:lnTo>
                  <a:lnTo>
                    <a:pt x="284911" y="30175"/>
                  </a:lnTo>
                  <a:lnTo>
                    <a:pt x="317891" y="58247"/>
                  </a:lnTo>
                  <a:lnTo>
                    <a:pt x="343159" y="92628"/>
                  </a:lnTo>
                  <a:lnTo>
                    <a:pt x="358597" y="131932"/>
                  </a:lnTo>
                  <a:lnTo>
                    <a:pt x="364205" y="174025"/>
                  </a:lnTo>
                  <a:lnTo>
                    <a:pt x="362803" y="195087"/>
                  </a:lnTo>
                  <a:lnTo>
                    <a:pt x="352287" y="235778"/>
                  </a:lnTo>
                  <a:lnTo>
                    <a:pt x="331927" y="272277"/>
                  </a:lnTo>
                  <a:lnTo>
                    <a:pt x="302453" y="303855"/>
                  </a:lnTo>
                  <a:lnTo>
                    <a:pt x="265968" y="327720"/>
                  </a:lnTo>
                  <a:lnTo>
                    <a:pt x="225262" y="343159"/>
                  </a:lnTo>
                  <a:lnTo>
                    <a:pt x="181752" y="348066"/>
                  </a:lnTo>
                  <a:lnTo>
                    <a:pt x="160004" y="346664"/>
                  </a:lnTo>
                  <a:lnTo>
                    <a:pt x="117195" y="336834"/>
                  </a:lnTo>
                  <a:lnTo>
                    <a:pt x="78592" y="317190"/>
                  </a:lnTo>
                  <a:lnTo>
                    <a:pt x="45613" y="289118"/>
                  </a:lnTo>
                  <a:lnTo>
                    <a:pt x="20360" y="255437"/>
                  </a:lnTo>
                  <a:lnTo>
                    <a:pt x="4922" y="216133"/>
                  </a:lnTo>
                  <a:lnTo>
                    <a:pt x="0" y="174025"/>
                  </a:lnTo>
                </a:path>
              </a:pathLst>
            </a:custGeom>
            <a:ln w="1754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746171" y="2044730"/>
              <a:ext cx="363855" cy="348615"/>
            </a:xfrm>
            <a:custGeom>
              <a:avLst/>
              <a:gdLst/>
              <a:ahLst/>
              <a:cxnLst/>
              <a:rect l="l" t="t" r="r" b="b"/>
              <a:pathLst>
                <a:path w="363855" h="348614">
                  <a:moveTo>
                    <a:pt x="181767" y="0"/>
                  </a:moveTo>
                  <a:lnTo>
                    <a:pt x="138257" y="5608"/>
                  </a:lnTo>
                  <a:lnTo>
                    <a:pt x="96850" y="20345"/>
                  </a:lnTo>
                  <a:lnTo>
                    <a:pt x="61066" y="44211"/>
                  </a:lnTo>
                  <a:lnTo>
                    <a:pt x="32293" y="75087"/>
                  </a:lnTo>
                  <a:lnTo>
                    <a:pt x="11932" y="112288"/>
                  </a:lnTo>
                  <a:lnTo>
                    <a:pt x="1417" y="152979"/>
                  </a:lnTo>
                  <a:lnTo>
                    <a:pt x="0" y="174040"/>
                  </a:lnTo>
                  <a:lnTo>
                    <a:pt x="1417" y="195087"/>
                  </a:lnTo>
                  <a:lnTo>
                    <a:pt x="11932" y="236494"/>
                  </a:lnTo>
                  <a:lnTo>
                    <a:pt x="32293" y="273679"/>
                  </a:lnTo>
                  <a:lnTo>
                    <a:pt x="61066" y="305257"/>
                  </a:lnTo>
                  <a:lnTo>
                    <a:pt x="96850" y="328421"/>
                  </a:lnTo>
                  <a:lnTo>
                    <a:pt x="138257" y="343159"/>
                  </a:lnTo>
                  <a:lnTo>
                    <a:pt x="181767" y="348066"/>
                  </a:lnTo>
                  <a:lnTo>
                    <a:pt x="204215" y="347365"/>
                  </a:lnTo>
                  <a:lnTo>
                    <a:pt x="246324" y="336834"/>
                  </a:lnTo>
                  <a:lnTo>
                    <a:pt x="285612" y="317190"/>
                  </a:lnTo>
                  <a:lnTo>
                    <a:pt x="317906" y="289819"/>
                  </a:lnTo>
                  <a:lnTo>
                    <a:pt x="342458" y="255437"/>
                  </a:lnTo>
                  <a:lnTo>
                    <a:pt x="358597" y="216133"/>
                  </a:lnTo>
                  <a:lnTo>
                    <a:pt x="363519" y="174040"/>
                  </a:lnTo>
                  <a:lnTo>
                    <a:pt x="362102" y="152979"/>
                  </a:lnTo>
                  <a:lnTo>
                    <a:pt x="351586" y="112288"/>
                  </a:lnTo>
                  <a:lnTo>
                    <a:pt x="331226" y="75087"/>
                  </a:lnTo>
                  <a:lnTo>
                    <a:pt x="302468" y="44211"/>
                  </a:lnTo>
                  <a:lnTo>
                    <a:pt x="266669" y="20345"/>
                  </a:lnTo>
                  <a:lnTo>
                    <a:pt x="225262" y="5608"/>
                  </a:lnTo>
                  <a:lnTo>
                    <a:pt x="18176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746171" y="2044730"/>
              <a:ext cx="363855" cy="348615"/>
            </a:xfrm>
            <a:custGeom>
              <a:avLst/>
              <a:gdLst/>
              <a:ahLst/>
              <a:cxnLst/>
              <a:rect l="l" t="t" r="r" b="b"/>
              <a:pathLst>
                <a:path w="363855" h="348614">
                  <a:moveTo>
                    <a:pt x="0" y="174040"/>
                  </a:moveTo>
                  <a:lnTo>
                    <a:pt x="5623" y="132633"/>
                  </a:lnTo>
                  <a:lnTo>
                    <a:pt x="21061" y="93329"/>
                  </a:lnTo>
                  <a:lnTo>
                    <a:pt x="46329" y="58948"/>
                  </a:lnTo>
                  <a:lnTo>
                    <a:pt x="78607" y="30876"/>
                  </a:lnTo>
                  <a:lnTo>
                    <a:pt x="117195" y="11231"/>
                  </a:lnTo>
                  <a:lnTo>
                    <a:pt x="160004" y="1402"/>
                  </a:lnTo>
                  <a:lnTo>
                    <a:pt x="181767" y="0"/>
                  </a:lnTo>
                  <a:lnTo>
                    <a:pt x="204215" y="1402"/>
                  </a:lnTo>
                  <a:lnTo>
                    <a:pt x="246324" y="11231"/>
                  </a:lnTo>
                  <a:lnTo>
                    <a:pt x="285612" y="30876"/>
                  </a:lnTo>
                  <a:lnTo>
                    <a:pt x="317906" y="58948"/>
                  </a:lnTo>
                  <a:lnTo>
                    <a:pt x="342458" y="93329"/>
                  </a:lnTo>
                  <a:lnTo>
                    <a:pt x="358597" y="132633"/>
                  </a:lnTo>
                  <a:lnTo>
                    <a:pt x="363519" y="174040"/>
                  </a:lnTo>
                  <a:lnTo>
                    <a:pt x="362102" y="195087"/>
                  </a:lnTo>
                  <a:lnTo>
                    <a:pt x="351586" y="236494"/>
                  </a:lnTo>
                  <a:lnTo>
                    <a:pt x="331226" y="273679"/>
                  </a:lnTo>
                  <a:lnTo>
                    <a:pt x="302468" y="305257"/>
                  </a:lnTo>
                  <a:lnTo>
                    <a:pt x="266669" y="328421"/>
                  </a:lnTo>
                  <a:lnTo>
                    <a:pt x="225262" y="343159"/>
                  </a:lnTo>
                  <a:lnTo>
                    <a:pt x="181767" y="348066"/>
                  </a:lnTo>
                  <a:lnTo>
                    <a:pt x="160004" y="347365"/>
                  </a:lnTo>
                  <a:lnTo>
                    <a:pt x="117195" y="336834"/>
                  </a:lnTo>
                  <a:lnTo>
                    <a:pt x="78607" y="317190"/>
                  </a:lnTo>
                  <a:lnTo>
                    <a:pt x="46329" y="289819"/>
                  </a:lnTo>
                  <a:lnTo>
                    <a:pt x="21061" y="255437"/>
                  </a:lnTo>
                  <a:lnTo>
                    <a:pt x="5623" y="216133"/>
                  </a:lnTo>
                  <a:lnTo>
                    <a:pt x="0" y="174040"/>
                  </a:lnTo>
                </a:path>
              </a:pathLst>
            </a:custGeom>
            <a:ln w="1754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2850742" y="2065777"/>
            <a:ext cx="129539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650" spc="-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650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3029337" y="1330964"/>
            <a:ext cx="2142490" cy="1764030"/>
            <a:chOff x="3029337" y="1330964"/>
            <a:chExt cx="2142490" cy="1764030"/>
          </a:xfrm>
        </p:grpSpPr>
        <p:sp>
          <p:nvSpPr>
            <p:cNvPr id="16" name="object 16"/>
            <p:cNvSpPr/>
            <p:nvPr/>
          </p:nvSpPr>
          <p:spPr>
            <a:xfrm>
              <a:off x="4061261" y="1545087"/>
              <a:ext cx="3175" cy="1467485"/>
            </a:xfrm>
            <a:custGeom>
              <a:avLst/>
              <a:gdLst/>
              <a:ahLst/>
              <a:cxnLst/>
              <a:rect l="l" t="t" r="r" b="b"/>
              <a:pathLst>
                <a:path w="3175" h="1467485">
                  <a:moveTo>
                    <a:pt x="2804" y="0"/>
                  </a:moveTo>
                  <a:lnTo>
                    <a:pt x="0" y="1467352"/>
                  </a:lnTo>
                </a:path>
              </a:pathLst>
            </a:custGeom>
            <a:ln w="3947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008622" y="1391407"/>
              <a:ext cx="111125" cy="168275"/>
            </a:xfrm>
            <a:custGeom>
              <a:avLst/>
              <a:gdLst/>
              <a:ahLst/>
              <a:cxnLst/>
              <a:rect l="l" t="t" r="r" b="b"/>
              <a:pathLst>
                <a:path w="111125" h="168275">
                  <a:moveTo>
                    <a:pt x="55443" y="0"/>
                  </a:moveTo>
                  <a:lnTo>
                    <a:pt x="0" y="167015"/>
                  </a:lnTo>
                  <a:lnTo>
                    <a:pt x="110870" y="167716"/>
                  </a:lnTo>
                  <a:lnTo>
                    <a:pt x="5544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154603" y="1350701"/>
              <a:ext cx="757555" cy="632460"/>
            </a:xfrm>
            <a:custGeom>
              <a:avLst/>
              <a:gdLst/>
              <a:ahLst/>
              <a:cxnLst/>
              <a:rect l="l" t="t" r="r" b="b"/>
              <a:pathLst>
                <a:path w="757554" h="632460">
                  <a:moveTo>
                    <a:pt x="0" y="632277"/>
                  </a:moveTo>
                  <a:lnTo>
                    <a:pt x="757184" y="0"/>
                  </a:lnTo>
                </a:path>
              </a:pathLst>
            </a:custGeom>
            <a:ln w="3947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038109" y="1931055"/>
              <a:ext cx="163830" cy="150495"/>
            </a:xfrm>
            <a:custGeom>
              <a:avLst/>
              <a:gdLst/>
              <a:ahLst/>
              <a:cxnLst/>
              <a:rect l="l" t="t" r="r" b="b"/>
              <a:pathLst>
                <a:path w="163830" h="150494">
                  <a:moveTo>
                    <a:pt x="91927" y="0"/>
                  </a:moveTo>
                  <a:lnTo>
                    <a:pt x="0" y="150174"/>
                  </a:lnTo>
                  <a:lnTo>
                    <a:pt x="163509" y="85603"/>
                  </a:lnTo>
                  <a:lnTo>
                    <a:pt x="91927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038109" y="2362621"/>
              <a:ext cx="807085" cy="673735"/>
            </a:xfrm>
            <a:custGeom>
              <a:avLst/>
              <a:gdLst/>
              <a:ahLst/>
              <a:cxnLst/>
              <a:rect l="l" t="t" r="r" b="b"/>
              <a:pathLst>
                <a:path w="807085" h="673735">
                  <a:moveTo>
                    <a:pt x="0" y="0"/>
                  </a:moveTo>
                  <a:lnTo>
                    <a:pt x="807003" y="673684"/>
                  </a:lnTo>
                </a:path>
              </a:pathLst>
            </a:custGeom>
            <a:ln w="1754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817741" y="3005429"/>
              <a:ext cx="97155" cy="89535"/>
            </a:xfrm>
            <a:custGeom>
              <a:avLst/>
              <a:gdLst/>
              <a:ahLst/>
              <a:cxnLst/>
              <a:rect l="l" t="t" r="r" b="b"/>
              <a:pathLst>
                <a:path w="97154" h="89535">
                  <a:moveTo>
                    <a:pt x="42108" y="0"/>
                  </a:moveTo>
                  <a:lnTo>
                    <a:pt x="0" y="51221"/>
                  </a:lnTo>
                  <a:lnTo>
                    <a:pt x="96850" y="89123"/>
                  </a:lnTo>
                  <a:lnTo>
                    <a:pt x="4210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219148" y="1358427"/>
              <a:ext cx="876935" cy="684530"/>
            </a:xfrm>
            <a:custGeom>
              <a:avLst/>
              <a:gdLst/>
              <a:ahLst/>
              <a:cxnLst/>
              <a:rect l="l" t="t" r="r" b="b"/>
              <a:pathLst>
                <a:path w="876935" h="684530">
                  <a:moveTo>
                    <a:pt x="0" y="0"/>
                  </a:moveTo>
                  <a:lnTo>
                    <a:pt x="876482" y="684199"/>
                  </a:lnTo>
                </a:path>
              </a:pathLst>
            </a:custGeom>
            <a:ln w="1754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5068260" y="2011751"/>
              <a:ext cx="99060" cy="86360"/>
            </a:xfrm>
            <a:custGeom>
              <a:avLst/>
              <a:gdLst/>
              <a:ahLst/>
              <a:cxnLst/>
              <a:rect l="l" t="t" r="r" b="b"/>
              <a:pathLst>
                <a:path w="99060" h="86360">
                  <a:moveTo>
                    <a:pt x="40706" y="0"/>
                  </a:moveTo>
                  <a:lnTo>
                    <a:pt x="0" y="51922"/>
                  </a:lnTo>
                  <a:lnTo>
                    <a:pt x="98953" y="86319"/>
                  </a:lnTo>
                  <a:lnTo>
                    <a:pt x="4070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264761" y="2346482"/>
              <a:ext cx="898525" cy="690245"/>
            </a:xfrm>
            <a:custGeom>
              <a:avLst/>
              <a:gdLst/>
              <a:ahLst/>
              <a:cxnLst/>
              <a:rect l="l" t="t" r="r" b="b"/>
              <a:pathLst>
                <a:path w="898525" h="690244">
                  <a:moveTo>
                    <a:pt x="898245" y="0"/>
                  </a:moveTo>
                  <a:lnTo>
                    <a:pt x="0" y="689823"/>
                  </a:lnTo>
                </a:path>
              </a:pathLst>
            </a:custGeom>
            <a:ln w="1754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192478" y="3004728"/>
              <a:ext cx="99060" cy="87630"/>
            </a:xfrm>
            <a:custGeom>
              <a:avLst/>
              <a:gdLst/>
              <a:ahLst/>
              <a:cxnLst/>
              <a:rect l="l" t="t" r="r" b="b"/>
              <a:pathLst>
                <a:path w="99060" h="87630">
                  <a:moveTo>
                    <a:pt x="58247" y="0"/>
                  </a:moveTo>
                  <a:lnTo>
                    <a:pt x="0" y="87005"/>
                  </a:lnTo>
                  <a:lnTo>
                    <a:pt x="98953" y="52623"/>
                  </a:lnTo>
                  <a:lnTo>
                    <a:pt x="5824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094253" y="2221575"/>
              <a:ext cx="1888489" cy="0"/>
            </a:xfrm>
            <a:custGeom>
              <a:avLst/>
              <a:gdLst/>
              <a:ahLst/>
              <a:cxnLst/>
              <a:rect l="l" t="t" r="r" b="b"/>
              <a:pathLst>
                <a:path w="1888489" h="0">
                  <a:moveTo>
                    <a:pt x="0" y="0"/>
                  </a:moveTo>
                  <a:lnTo>
                    <a:pt x="1888403" y="0"/>
                  </a:lnTo>
                </a:path>
              </a:pathLst>
            </a:custGeom>
            <a:ln w="3947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968620" y="2166132"/>
              <a:ext cx="166370" cy="111760"/>
            </a:xfrm>
            <a:custGeom>
              <a:avLst/>
              <a:gdLst/>
              <a:ahLst/>
              <a:cxnLst/>
              <a:rect l="l" t="t" r="r" b="b"/>
              <a:pathLst>
                <a:path w="166370" h="111760">
                  <a:moveTo>
                    <a:pt x="0" y="0"/>
                  </a:moveTo>
                  <a:lnTo>
                    <a:pt x="0" y="111587"/>
                  </a:lnTo>
                  <a:lnTo>
                    <a:pt x="166314" y="554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 txBox="1"/>
          <p:nvPr/>
        </p:nvSpPr>
        <p:spPr>
          <a:xfrm>
            <a:off x="4648617" y="2700866"/>
            <a:ext cx="129539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650" spc="-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001604" y="1117723"/>
            <a:ext cx="129539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650" spc="-5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5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234577" y="2044732"/>
            <a:ext cx="129539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650" spc="-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984060" y="3033495"/>
            <a:ext cx="129539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650" spc="-5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165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309680" y="1493862"/>
            <a:ext cx="129539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650" spc="-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5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744754" y="1511406"/>
            <a:ext cx="129539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650" spc="-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6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097041" y="1502283"/>
            <a:ext cx="129539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650" spc="-5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65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736333" y="1957017"/>
            <a:ext cx="129539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650" spc="-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5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275288" y="2683327"/>
            <a:ext cx="129539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650" spc="-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5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959451" y="3738208"/>
            <a:ext cx="1739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80">
                <a:latin typeface="Verdana"/>
                <a:cs typeface="Verdana"/>
              </a:rPr>
              <a:t>3</a:t>
            </a:r>
            <a:r>
              <a:rPr dirty="0" sz="800" spc="-55">
                <a:latin typeface="Verdana"/>
                <a:cs typeface="Verdana"/>
              </a:rPr>
              <a:t>,</a:t>
            </a:r>
            <a:r>
              <a:rPr dirty="0" sz="800" spc="-10"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583940" y="3645422"/>
            <a:ext cx="3061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8.76: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4,</a:t>
            </a:r>
            <a:r>
              <a:rPr dirty="0" sz="1200" spc="15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baseline="41666" sz="1200" spc="-60">
                <a:latin typeface="Verdana"/>
                <a:cs typeface="Verdana"/>
              </a:rPr>
              <a:t>(4)</a:t>
            </a:r>
            <a:r>
              <a:rPr dirty="0" baseline="41666" sz="1200" spc="97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7</a:t>
            </a:r>
            <a:r>
              <a:rPr dirty="0" sz="1200" spc="7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4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2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076366" y="4517962"/>
            <a:ext cx="109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70">
                <a:latin typeface="Verdana"/>
                <a:cs typeface="Verdana"/>
              </a:rPr>
              <a:t>j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88995" y="4033015"/>
            <a:ext cx="3439795" cy="522605"/>
          </a:xfrm>
          <a:prstGeom prst="rect">
            <a:avLst/>
          </a:prstGeom>
        </p:spPr>
        <p:txBody>
          <a:bodyPr wrap="square" lIns="0" tIns="7810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615"/>
              </a:spcBef>
            </a:pP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suggests </a:t>
            </a:r>
            <a:r>
              <a:rPr dirty="0" sz="1200" spc="-10">
                <a:latin typeface="Times New Roman"/>
                <a:cs typeface="Times New Roman"/>
              </a:rPr>
              <a:t>the 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 spc="-5">
                <a:latin typeface="Times New Roman"/>
                <a:cs typeface="Times New Roman"/>
              </a:rPr>
              <a:t> (DP)</a:t>
            </a:r>
            <a:r>
              <a:rPr dirty="0" sz="1200" spc="-10">
                <a:latin typeface="Times New Roman"/>
                <a:cs typeface="Times New Roman"/>
              </a:rPr>
              <a:t> formulation:</a:t>
            </a:r>
            <a:endParaRPr sz="1200">
              <a:latin typeface="Times New Roman"/>
              <a:cs typeface="Times New Roman"/>
            </a:endParaRPr>
          </a:p>
          <a:p>
            <a:pPr marL="2108200">
              <a:lnSpc>
                <a:spcPct val="100000"/>
              </a:lnSpc>
              <a:spcBef>
                <a:spcPts val="515"/>
              </a:spcBef>
            </a:pPr>
            <a:r>
              <a:rPr dirty="0" baseline="-27777" sz="1800" spc="-60">
                <a:latin typeface="Lucida Sans Unicode"/>
                <a:cs typeface="Lucida Sans Unicode"/>
              </a:rPr>
              <a:t>d</a:t>
            </a:r>
            <a:r>
              <a:rPr dirty="0" sz="800" spc="-40">
                <a:latin typeface="Verdana"/>
                <a:cs typeface="Verdana"/>
              </a:rPr>
              <a:t>(0)</a:t>
            </a:r>
            <a:r>
              <a:rPr dirty="0" sz="800" spc="15">
                <a:latin typeface="Verdana"/>
                <a:cs typeface="Verdana"/>
              </a:rPr>
              <a:t> </a:t>
            </a:r>
            <a:r>
              <a:rPr dirty="0" baseline="-27777" sz="1800" spc="150">
                <a:latin typeface="Garamond"/>
                <a:cs typeface="Garamond"/>
              </a:rPr>
              <a:t>=</a:t>
            </a:r>
            <a:r>
              <a:rPr dirty="0" baseline="-27777" sz="1800" spc="7">
                <a:latin typeface="Garamond"/>
                <a:cs typeface="Garamond"/>
              </a:rPr>
              <a:t> </a:t>
            </a:r>
            <a:r>
              <a:rPr dirty="0" baseline="-27777" sz="1800" spc="67">
                <a:latin typeface="Lucida Sans Unicode"/>
                <a:cs typeface="Lucida Sans Unicode"/>
              </a:rPr>
              <a:t>w</a:t>
            </a:r>
            <a:endParaRPr baseline="-27777" sz="1800">
              <a:latin typeface="Lucida Sans Unicode"/>
              <a:cs typeface="Lucida Sans Unicode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541567" y="4498531"/>
            <a:ext cx="109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70">
                <a:latin typeface="Verdana"/>
                <a:cs typeface="Verdana"/>
              </a:rPr>
              <a:t>j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953240" y="4613314"/>
            <a:ext cx="3181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-30">
                <a:latin typeface="Lucida Sans Unicode"/>
                <a:cs typeface="Lucida Sans Unicode"/>
              </a:rPr>
              <a:t>d</a:t>
            </a:r>
            <a:r>
              <a:rPr dirty="0" sz="800" spc="-20">
                <a:latin typeface="Verdana"/>
                <a:cs typeface="Verdana"/>
              </a:rPr>
              <a:t>(k)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070309" y="4783710"/>
            <a:ext cx="109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70">
                <a:latin typeface="Verdana"/>
                <a:cs typeface="Verdana"/>
              </a:rPr>
              <a:t>j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712903" y="4567937"/>
            <a:ext cx="95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45">
                <a:latin typeface="Gulim"/>
                <a:cs typeface="Gulim"/>
              </a:rPr>
              <a:t> </a:t>
            </a:r>
            <a:endParaRPr sz="1200">
              <a:latin typeface="Gulim"/>
              <a:cs typeface="Gulim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223204" y="4690923"/>
            <a:ext cx="181863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946150" algn="l"/>
                <a:tab pos="1421765" algn="l"/>
              </a:tabLst>
            </a:pP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min</a:t>
            </a:r>
            <a:r>
              <a:rPr dirty="0" sz="1200" spc="17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d</a:t>
            </a:r>
            <a:r>
              <a:rPr dirty="0" baseline="-24305" sz="1200" spc="60">
                <a:latin typeface="Verdana"/>
                <a:cs typeface="Verdana"/>
              </a:rPr>
              <a:t>ij	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d</a:t>
            </a:r>
            <a:r>
              <a:rPr dirty="0" baseline="-24305" sz="1200" spc="60">
                <a:latin typeface="Verdana"/>
                <a:cs typeface="Verdana"/>
              </a:rPr>
              <a:t>ik	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75">
                <a:latin typeface="Garamond"/>
                <a:cs typeface="Garamond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d</a:t>
            </a:r>
            <a:r>
              <a:rPr dirty="0" baseline="-24305" sz="1200" spc="15">
                <a:latin typeface="Verdana"/>
                <a:cs typeface="Verdana"/>
              </a:rPr>
              <a:t>kj</a:t>
            </a:r>
            <a:endParaRPr baseline="-24305" sz="1200">
              <a:latin typeface="Verdana"/>
              <a:cs typeface="Verdan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848666" y="4613313"/>
            <a:ext cx="1428115" cy="207645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95"/>
              </a:spcBef>
              <a:tabLst>
                <a:tab pos="480059" algn="l"/>
                <a:tab pos="1036955" algn="l"/>
              </a:tabLst>
            </a:pPr>
            <a:r>
              <a:rPr dirty="0" sz="800" spc="-30">
                <a:latin typeface="Verdana"/>
                <a:cs typeface="Verdana"/>
              </a:rPr>
              <a:t>(k−1)	(k−1)	</a:t>
            </a:r>
            <a:r>
              <a:rPr dirty="0" sz="800" spc="-35">
                <a:latin typeface="Verdana"/>
                <a:cs typeface="Verdana"/>
              </a:rPr>
              <a:t>(k−1)</a:t>
            </a:r>
            <a:r>
              <a:rPr dirty="0" baseline="16203" sz="1800" spc="217">
                <a:latin typeface="Gulim"/>
                <a:cs typeface="Gulim"/>
              </a:rPr>
              <a:t> </a:t>
            </a:r>
            <a:endParaRPr baseline="16203" sz="1800">
              <a:latin typeface="Gulim"/>
              <a:cs typeface="Gulim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182541" y="5138268"/>
            <a:ext cx="109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70">
                <a:latin typeface="Verdana"/>
                <a:cs typeface="Verdana"/>
              </a:rPr>
              <a:t>j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76296" y="5045481"/>
            <a:ext cx="54648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answer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d</a:t>
            </a:r>
            <a:r>
              <a:rPr dirty="0" baseline="41666" sz="1200" spc="-7">
                <a:latin typeface="Verdana"/>
                <a:cs typeface="Verdana"/>
              </a:rPr>
              <a:t>(n)</a:t>
            </a:r>
            <a:r>
              <a:rPr dirty="0" baseline="41666" sz="1200" spc="15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allows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intermediate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vertices.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759116" y="5431333"/>
            <a:ext cx="109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Verdana"/>
                <a:cs typeface="Verdana"/>
              </a:rPr>
              <a:t>i</a:t>
            </a:r>
            <a:r>
              <a:rPr dirty="0" sz="800" spc="70">
                <a:latin typeface="Verdana"/>
                <a:cs typeface="Verdana"/>
              </a:rPr>
              <a:t>j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76296" y="5338547"/>
            <a:ext cx="64039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avoid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evaluation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generating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d</a:t>
            </a:r>
            <a:r>
              <a:rPr dirty="0" baseline="41666" sz="1200" spc="-30">
                <a:latin typeface="Verdana"/>
                <a:cs typeface="Verdana"/>
              </a:rPr>
              <a:t>(k)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01701" y="5521998"/>
            <a:ext cx="5549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includes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mid-vertex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stored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mid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i,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extracting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16971" y="5971000"/>
            <a:ext cx="5481955" cy="2085339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1270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10"/>
              </a:spcBef>
            </a:pPr>
            <a:r>
              <a:rPr dirty="0" sz="1200" spc="50">
                <a:latin typeface="Times New Roman"/>
                <a:cs typeface="Times New Roman"/>
              </a:rPr>
              <a:t>F</a:t>
            </a:r>
            <a:r>
              <a:rPr dirty="0" sz="950" spc="55">
                <a:latin typeface="Times New Roman"/>
                <a:cs typeface="Times New Roman"/>
              </a:rPr>
              <a:t>L</a:t>
            </a:r>
            <a:r>
              <a:rPr dirty="0" sz="950" spc="10">
                <a:latin typeface="Times New Roman"/>
                <a:cs typeface="Times New Roman"/>
              </a:rPr>
              <a:t>O</a:t>
            </a:r>
            <a:r>
              <a:rPr dirty="0" sz="950" spc="55">
                <a:latin typeface="Times New Roman"/>
                <a:cs typeface="Times New Roman"/>
              </a:rPr>
              <a:t>YD</a:t>
            </a:r>
            <a:r>
              <a:rPr dirty="0" sz="1200" spc="50">
                <a:latin typeface="Times New Roman"/>
                <a:cs typeface="Times New Roman"/>
              </a:rPr>
              <a:t>-</a:t>
            </a:r>
            <a:r>
              <a:rPr dirty="0" sz="1200" spc="-75">
                <a:latin typeface="Times New Roman"/>
                <a:cs typeface="Times New Roman"/>
              </a:rPr>
              <a:t>W</a:t>
            </a:r>
            <a:r>
              <a:rPr dirty="0" sz="950" spc="55">
                <a:latin typeface="Times New Roman"/>
                <a:cs typeface="Times New Roman"/>
              </a:rPr>
              <a:t>ARSHAL</a:t>
            </a:r>
            <a:r>
              <a:rPr dirty="0" sz="950" spc="25">
                <a:latin typeface="Times New Roman"/>
                <a:cs typeface="Times New Roman"/>
              </a:rPr>
              <a:t>L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..</a:t>
            </a:r>
            <a:r>
              <a:rPr dirty="0" sz="1200" spc="40">
                <a:latin typeface="Lucida Sans Unicode"/>
                <a:cs typeface="Lucida Sans Unicode"/>
              </a:rPr>
              <a:t>n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0419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04190" algn="l"/>
                <a:tab pos="50482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w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;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7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80">
                <a:latin typeface="Lucida Sans Unicode"/>
                <a:cs typeface="Lucida Sans Unicode"/>
              </a:rPr>
              <a:t>l</a:t>
            </a:r>
            <a:r>
              <a:rPr dirty="0" sz="1200" spc="85">
                <a:latin typeface="Lucida Sans Unicode"/>
                <a:cs typeface="Lucida Sans Unicode"/>
              </a:rPr>
              <a:t>l</a:t>
            </a:r>
            <a:endParaRPr sz="1200">
              <a:latin typeface="Lucida Sans Unicode"/>
              <a:cs typeface="Lucida Sans Unicode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504190" indent="-42672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504190" algn="l"/>
                <a:tab pos="50482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j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702310" indent="-62484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702310" algn="l"/>
                <a:tab pos="70294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&lt;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1031240" indent="-953769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1031240" algn="l"/>
                <a:tab pos="1031875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+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endParaRPr sz="1200">
              <a:latin typeface="Garamond"/>
              <a:cs typeface="Garamond"/>
            </a:endParaRPr>
          </a:p>
          <a:p>
            <a:pPr marL="1356360" indent="-127889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1356360" algn="l"/>
                <a:tab pos="1356995" algn="l"/>
              </a:tabLst>
            </a:pP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876299" y="8093177"/>
            <a:ext cx="6258560" cy="890269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20"/>
              </a:spcBef>
            </a:pPr>
            <a:r>
              <a:rPr dirty="0" sz="1200" spc="-15">
                <a:latin typeface="Times New Roman"/>
                <a:cs typeface="Times New Roman"/>
              </a:rPr>
              <a:t>Clearly,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Θ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n</a:t>
            </a:r>
            <a:r>
              <a:rPr dirty="0" baseline="31250" sz="1200" spc="44">
                <a:latin typeface="Verdana"/>
                <a:cs typeface="Verdana"/>
              </a:rPr>
              <a:t>3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Θ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n</a:t>
            </a:r>
            <a:r>
              <a:rPr dirty="0" baseline="31250" sz="1200" spc="44">
                <a:latin typeface="Verdana"/>
                <a:cs typeface="Verdana"/>
              </a:rPr>
              <a:t>2</a:t>
            </a:r>
            <a:r>
              <a:rPr dirty="0" sz="1200" spc="30">
                <a:latin typeface="Garamond"/>
                <a:cs typeface="Garamond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38100" marR="30480">
              <a:lnSpc>
                <a:spcPct val="100000"/>
              </a:lnSpc>
              <a:spcBef>
                <a:spcPts val="520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8.77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through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8.81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demonstrate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applied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graph contains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d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entries.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circle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around</a:t>
            </a:r>
            <a:r>
              <a:rPr dirty="0" sz="1200" spc="-5">
                <a:latin typeface="Times New Roman"/>
                <a:cs typeface="Times New Roman"/>
              </a:rPr>
              <a:t> an entry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d</a:t>
            </a:r>
            <a:r>
              <a:rPr dirty="0" baseline="-13888" sz="1200" spc="22">
                <a:latin typeface="Verdana"/>
                <a:cs typeface="Verdana"/>
              </a:rPr>
              <a:t>i,k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indicates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updated in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current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iteration.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58496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8.6.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SHORTEST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PATHS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16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824227" y="938474"/>
            <a:ext cx="4542155" cy="2590800"/>
            <a:chOff x="1824227" y="938474"/>
            <a:chExt cx="4542155" cy="2590800"/>
          </a:xfrm>
        </p:grpSpPr>
        <p:sp>
          <p:nvSpPr>
            <p:cNvPr id="5" name="object 5"/>
            <p:cNvSpPr/>
            <p:nvPr/>
          </p:nvSpPr>
          <p:spPr>
            <a:xfrm>
              <a:off x="1824227" y="938474"/>
              <a:ext cx="4542155" cy="2590800"/>
            </a:xfrm>
            <a:custGeom>
              <a:avLst/>
              <a:gdLst/>
              <a:ahLst/>
              <a:cxnLst/>
              <a:rect l="l" t="t" r="r" b="b"/>
              <a:pathLst>
                <a:path w="4542155" h="2590800">
                  <a:moveTo>
                    <a:pt x="4541824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4541824" y="2590601"/>
                  </a:lnTo>
                  <a:lnTo>
                    <a:pt x="4541824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790480" y="2904266"/>
              <a:ext cx="330835" cy="328295"/>
            </a:xfrm>
            <a:custGeom>
              <a:avLst/>
              <a:gdLst/>
              <a:ahLst/>
              <a:cxnLst/>
              <a:rect l="l" t="t" r="r" b="b"/>
              <a:pathLst>
                <a:path w="330835" h="328294">
                  <a:moveTo>
                    <a:pt x="176311" y="0"/>
                  </a:moveTo>
                  <a:lnTo>
                    <a:pt x="155402" y="0"/>
                  </a:lnTo>
                  <a:lnTo>
                    <a:pt x="134492" y="2087"/>
                  </a:lnTo>
                  <a:lnTo>
                    <a:pt x="95478" y="15331"/>
                  </a:lnTo>
                  <a:lnTo>
                    <a:pt x="59938" y="36926"/>
                  </a:lnTo>
                  <a:lnTo>
                    <a:pt x="32064" y="67589"/>
                  </a:lnTo>
                  <a:lnTo>
                    <a:pt x="11841" y="103830"/>
                  </a:lnTo>
                  <a:lnTo>
                    <a:pt x="1402" y="143560"/>
                  </a:lnTo>
                  <a:lnTo>
                    <a:pt x="0" y="164454"/>
                  </a:lnTo>
                  <a:lnTo>
                    <a:pt x="1402" y="184678"/>
                  </a:lnTo>
                  <a:lnTo>
                    <a:pt x="11841" y="224393"/>
                  </a:lnTo>
                  <a:lnTo>
                    <a:pt x="32064" y="260634"/>
                  </a:lnTo>
                  <a:lnTo>
                    <a:pt x="59938" y="290596"/>
                  </a:lnTo>
                  <a:lnTo>
                    <a:pt x="95478" y="312892"/>
                  </a:lnTo>
                  <a:lnTo>
                    <a:pt x="134492" y="325434"/>
                  </a:lnTo>
                  <a:lnTo>
                    <a:pt x="155402" y="328223"/>
                  </a:lnTo>
                  <a:lnTo>
                    <a:pt x="176311" y="328223"/>
                  </a:lnTo>
                  <a:lnTo>
                    <a:pt x="216042" y="320558"/>
                  </a:lnTo>
                  <a:lnTo>
                    <a:pt x="253669" y="303138"/>
                  </a:lnTo>
                  <a:lnTo>
                    <a:pt x="285719" y="276666"/>
                  </a:lnTo>
                  <a:lnTo>
                    <a:pt x="310118" y="243215"/>
                  </a:lnTo>
                  <a:lnTo>
                    <a:pt x="325450" y="205572"/>
                  </a:lnTo>
                  <a:lnTo>
                    <a:pt x="330326" y="164454"/>
                  </a:lnTo>
                  <a:lnTo>
                    <a:pt x="328924" y="143560"/>
                  </a:lnTo>
                  <a:lnTo>
                    <a:pt x="318485" y="103830"/>
                  </a:lnTo>
                  <a:lnTo>
                    <a:pt x="298963" y="67589"/>
                  </a:lnTo>
                  <a:lnTo>
                    <a:pt x="270388" y="36926"/>
                  </a:lnTo>
                  <a:lnTo>
                    <a:pt x="235549" y="15331"/>
                  </a:lnTo>
                  <a:lnTo>
                    <a:pt x="196519" y="2087"/>
                  </a:lnTo>
                  <a:lnTo>
                    <a:pt x="17631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790480" y="2904266"/>
              <a:ext cx="330835" cy="328295"/>
            </a:xfrm>
            <a:custGeom>
              <a:avLst/>
              <a:gdLst/>
              <a:ahLst/>
              <a:cxnLst/>
              <a:rect l="l" t="t" r="r" b="b"/>
              <a:pathLst>
                <a:path w="330835" h="328294">
                  <a:moveTo>
                    <a:pt x="0" y="164454"/>
                  </a:moveTo>
                  <a:lnTo>
                    <a:pt x="5577" y="123352"/>
                  </a:lnTo>
                  <a:lnTo>
                    <a:pt x="20909" y="85008"/>
                  </a:lnTo>
                  <a:lnTo>
                    <a:pt x="45293" y="51572"/>
                  </a:lnTo>
                  <a:lnTo>
                    <a:pt x="77358" y="25085"/>
                  </a:lnTo>
                  <a:lnTo>
                    <a:pt x="114284" y="7665"/>
                  </a:lnTo>
                  <a:lnTo>
                    <a:pt x="155402" y="0"/>
                  </a:lnTo>
                  <a:lnTo>
                    <a:pt x="176311" y="0"/>
                  </a:lnTo>
                  <a:lnTo>
                    <a:pt x="216042" y="7665"/>
                  </a:lnTo>
                  <a:lnTo>
                    <a:pt x="253669" y="25085"/>
                  </a:lnTo>
                  <a:lnTo>
                    <a:pt x="285719" y="51572"/>
                  </a:lnTo>
                  <a:lnTo>
                    <a:pt x="310118" y="85008"/>
                  </a:lnTo>
                  <a:lnTo>
                    <a:pt x="325450" y="123352"/>
                  </a:lnTo>
                  <a:lnTo>
                    <a:pt x="330326" y="164454"/>
                  </a:lnTo>
                  <a:lnTo>
                    <a:pt x="328924" y="184678"/>
                  </a:lnTo>
                  <a:lnTo>
                    <a:pt x="318485" y="224393"/>
                  </a:lnTo>
                  <a:lnTo>
                    <a:pt x="298963" y="260634"/>
                  </a:lnTo>
                  <a:lnTo>
                    <a:pt x="270388" y="290596"/>
                  </a:lnTo>
                  <a:lnTo>
                    <a:pt x="235549" y="312892"/>
                  </a:lnTo>
                  <a:lnTo>
                    <a:pt x="196519" y="325434"/>
                  </a:lnTo>
                  <a:lnTo>
                    <a:pt x="176311" y="328223"/>
                  </a:lnTo>
                  <a:lnTo>
                    <a:pt x="155402" y="328223"/>
                  </a:lnTo>
                  <a:lnTo>
                    <a:pt x="114284" y="320558"/>
                  </a:lnTo>
                  <a:lnTo>
                    <a:pt x="77358" y="303138"/>
                  </a:lnTo>
                  <a:lnTo>
                    <a:pt x="45293" y="276666"/>
                  </a:lnTo>
                  <a:lnTo>
                    <a:pt x="20909" y="243215"/>
                  </a:lnTo>
                  <a:lnTo>
                    <a:pt x="5577" y="205572"/>
                  </a:lnTo>
                  <a:lnTo>
                    <a:pt x="0" y="164454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917341" y="1979488"/>
              <a:ext cx="330835" cy="329565"/>
            </a:xfrm>
            <a:custGeom>
              <a:avLst/>
              <a:gdLst/>
              <a:ahLst/>
              <a:cxnLst/>
              <a:rect l="l" t="t" r="r" b="b"/>
              <a:pathLst>
                <a:path w="330835" h="329564">
                  <a:moveTo>
                    <a:pt x="174924" y="0"/>
                  </a:moveTo>
                  <a:lnTo>
                    <a:pt x="154716" y="0"/>
                  </a:lnTo>
                  <a:lnTo>
                    <a:pt x="133807" y="2788"/>
                  </a:lnTo>
                  <a:lnTo>
                    <a:pt x="94091" y="15331"/>
                  </a:lnTo>
                  <a:lnTo>
                    <a:pt x="59938" y="37642"/>
                  </a:lnTo>
                  <a:lnTo>
                    <a:pt x="31363" y="67604"/>
                  </a:lnTo>
                  <a:lnTo>
                    <a:pt x="11856" y="103845"/>
                  </a:lnTo>
                  <a:lnTo>
                    <a:pt x="1402" y="143560"/>
                  </a:lnTo>
                  <a:lnTo>
                    <a:pt x="0" y="163769"/>
                  </a:lnTo>
                  <a:lnTo>
                    <a:pt x="1402" y="184678"/>
                  </a:lnTo>
                  <a:lnTo>
                    <a:pt x="11856" y="224408"/>
                  </a:lnTo>
                  <a:lnTo>
                    <a:pt x="31363" y="260634"/>
                  </a:lnTo>
                  <a:lnTo>
                    <a:pt x="59938" y="291297"/>
                  </a:lnTo>
                  <a:lnTo>
                    <a:pt x="94091" y="312907"/>
                  </a:lnTo>
                  <a:lnTo>
                    <a:pt x="133807" y="326151"/>
                  </a:lnTo>
                  <a:lnTo>
                    <a:pt x="154716" y="328940"/>
                  </a:lnTo>
                  <a:lnTo>
                    <a:pt x="174924" y="328940"/>
                  </a:lnTo>
                  <a:lnTo>
                    <a:pt x="216042" y="320573"/>
                  </a:lnTo>
                  <a:lnTo>
                    <a:pt x="253669" y="303154"/>
                  </a:lnTo>
                  <a:lnTo>
                    <a:pt x="285033" y="276666"/>
                  </a:lnTo>
                  <a:lnTo>
                    <a:pt x="309417" y="243215"/>
                  </a:lnTo>
                  <a:lnTo>
                    <a:pt x="324749" y="204886"/>
                  </a:lnTo>
                  <a:lnTo>
                    <a:pt x="330326" y="163769"/>
                  </a:lnTo>
                  <a:lnTo>
                    <a:pt x="328940" y="143560"/>
                  </a:lnTo>
                  <a:lnTo>
                    <a:pt x="318485" y="103845"/>
                  </a:lnTo>
                  <a:lnTo>
                    <a:pt x="298277" y="67604"/>
                  </a:lnTo>
                  <a:lnTo>
                    <a:pt x="270403" y="37642"/>
                  </a:lnTo>
                  <a:lnTo>
                    <a:pt x="234863" y="15331"/>
                  </a:lnTo>
                  <a:lnTo>
                    <a:pt x="195833" y="2788"/>
                  </a:lnTo>
                  <a:lnTo>
                    <a:pt x="17492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917341" y="1979488"/>
              <a:ext cx="330835" cy="329565"/>
            </a:xfrm>
            <a:custGeom>
              <a:avLst/>
              <a:gdLst/>
              <a:ahLst/>
              <a:cxnLst/>
              <a:rect l="l" t="t" r="r" b="b"/>
              <a:pathLst>
                <a:path w="330835" h="329564">
                  <a:moveTo>
                    <a:pt x="0" y="163769"/>
                  </a:moveTo>
                  <a:lnTo>
                    <a:pt x="5577" y="123352"/>
                  </a:lnTo>
                  <a:lnTo>
                    <a:pt x="20223" y="85023"/>
                  </a:lnTo>
                  <a:lnTo>
                    <a:pt x="44607" y="51572"/>
                  </a:lnTo>
                  <a:lnTo>
                    <a:pt x="76657" y="25786"/>
                  </a:lnTo>
                  <a:lnTo>
                    <a:pt x="113598" y="7665"/>
                  </a:lnTo>
                  <a:lnTo>
                    <a:pt x="154716" y="0"/>
                  </a:lnTo>
                  <a:lnTo>
                    <a:pt x="174924" y="0"/>
                  </a:lnTo>
                  <a:lnTo>
                    <a:pt x="216042" y="7665"/>
                  </a:lnTo>
                  <a:lnTo>
                    <a:pt x="253669" y="25786"/>
                  </a:lnTo>
                  <a:lnTo>
                    <a:pt x="285033" y="51572"/>
                  </a:lnTo>
                  <a:lnTo>
                    <a:pt x="309417" y="85023"/>
                  </a:lnTo>
                  <a:lnTo>
                    <a:pt x="324749" y="123352"/>
                  </a:lnTo>
                  <a:lnTo>
                    <a:pt x="330326" y="163769"/>
                  </a:lnTo>
                  <a:lnTo>
                    <a:pt x="328940" y="184678"/>
                  </a:lnTo>
                  <a:lnTo>
                    <a:pt x="318485" y="224408"/>
                  </a:lnTo>
                  <a:lnTo>
                    <a:pt x="298277" y="260634"/>
                  </a:lnTo>
                  <a:lnTo>
                    <a:pt x="270403" y="291297"/>
                  </a:lnTo>
                  <a:lnTo>
                    <a:pt x="234863" y="312907"/>
                  </a:lnTo>
                  <a:lnTo>
                    <a:pt x="195833" y="326151"/>
                  </a:lnTo>
                  <a:lnTo>
                    <a:pt x="174924" y="328940"/>
                  </a:lnTo>
                  <a:lnTo>
                    <a:pt x="154716" y="328940"/>
                  </a:lnTo>
                  <a:lnTo>
                    <a:pt x="113598" y="320573"/>
                  </a:lnTo>
                  <a:lnTo>
                    <a:pt x="76657" y="303154"/>
                  </a:lnTo>
                  <a:lnTo>
                    <a:pt x="44607" y="276666"/>
                  </a:lnTo>
                  <a:lnTo>
                    <a:pt x="20223" y="243215"/>
                  </a:lnTo>
                  <a:lnTo>
                    <a:pt x="5577" y="204886"/>
                  </a:lnTo>
                  <a:lnTo>
                    <a:pt x="0" y="163769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806513" y="1088176"/>
              <a:ext cx="330835" cy="328295"/>
            </a:xfrm>
            <a:custGeom>
              <a:avLst/>
              <a:gdLst/>
              <a:ahLst/>
              <a:cxnLst/>
              <a:rect l="l" t="t" r="r" b="b"/>
              <a:pathLst>
                <a:path w="330835" h="328294">
                  <a:moveTo>
                    <a:pt x="175610" y="0"/>
                  </a:moveTo>
                  <a:lnTo>
                    <a:pt x="155402" y="0"/>
                  </a:lnTo>
                  <a:lnTo>
                    <a:pt x="134492" y="2788"/>
                  </a:lnTo>
                  <a:lnTo>
                    <a:pt x="94777" y="15331"/>
                  </a:lnTo>
                  <a:lnTo>
                    <a:pt x="59923" y="36926"/>
                  </a:lnTo>
                  <a:lnTo>
                    <a:pt x="31363" y="66903"/>
                  </a:lnTo>
                  <a:lnTo>
                    <a:pt x="11841" y="103144"/>
                  </a:lnTo>
                  <a:lnTo>
                    <a:pt x="1386" y="143560"/>
                  </a:lnTo>
                  <a:lnTo>
                    <a:pt x="0" y="164470"/>
                  </a:lnTo>
                  <a:lnTo>
                    <a:pt x="1386" y="184678"/>
                  </a:lnTo>
                  <a:lnTo>
                    <a:pt x="11841" y="225094"/>
                  </a:lnTo>
                  <a:lnTo>
                    <a:pt x="31363" y="261335"/>
                  </a:lnTo>
                  <a:lnTo>
                    <a:pt x="59923" y="290596"/>
                  </a:lnTo>
                  <a:lnTo>
                    <a:pt x="94777" y="312907"/>
                  </a:lnTo>
                  <a:lnTo>
                    <a:pt x="134492" y="325450"/>
                  </a:lnTo>
                  <a:lnTo>
                    <a:pt x="155402" y="328239"/>
                  </a:lnTo>
                  <a:lnTo>
                    <a:pt x="175610" y="328239"/>
                  </a:lnTo>
                  <a:lnTo>
                    <a:pt x="216026" y="320573"/>
                  </a:lnTo>
                  <a:lnTo>
                    <a:pt x="253669" y="302453"/>
                  </a:lnTo>
                  <a:lnTo>
                    <a:pt x="285719" y="276666"/>
                  </a:lnTo>
                  <a:lnTo>
                    <a:pt x="309417" y="243916"/>
                  </a:lnTo>
                  <a:lnTo>
                    <a:pt x="324749" y="204886"/>
                  </a:lnTo>
                  <a:lnTo>
                    <a:pt x="330326" y="164470"/>
                  </a:lnTo>
                  <a:lnTo>
                    <a:pt x="328924" y="143560"/>
                  </a:lnTo>
                  <a:lnTo>
                    <a:pt x="318470" y="103144"/>
                  </a:lnTo>
                  <a:lnTo>
                    <a:pt x="298963" y="66903"/>
                  </a:lnTo>
                  <a:lnTo>
                    <a:pt x="270388" y="36926"/>
                  </a:lnTo>
                  <a:lnTo>
                    <a:pt x="235549" y="15331"/>
                  </a:lnTo>
                  <a:lnTo>
                    <a:pt x="195818" y="2788"/>
                  </a:lnTo>
                  <a:lnTo>
                    <a:pt x="17561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806513" y="1088176"/>
              <a:ext cx="330835" cy="328295"/>
            </a:xfrm>
            <a:custGeom>
              <a:avLst/>
              <a:gdLst/>
              <a:ahLst/>
              <a:cxnLst/>
              <a:rect l="l" t="t" r="r" b="b"/>
              <a:pathLst>
                <a:path w="330835" h="328294">
                  <a:moveTo>
                    <a:pt x="0" y="164470"/>
                  </a:moveTo>
                  <a:lnTo>
                    <a:pt x="5577" y="123352"/>
                  </a:lnTo>
                  <a:lnTo>
                    <a:pt x="20909" y="85023"/>
                  </a:lnTo>
                  <a:lnTo>
                    <a:pt x="44592" y="51572"/>
                  </a:lnTo>
                  <a:lnTo>
                    <a:pt x="76657" y="25085"/>
                  </a:lnTo>
                  <a:lnTo>
                    <a:pt x="114284" y="7665"/>
                  </a:lnTo>
                  <a:lnTo>
                    <a:pt x="155402" y="0"/>
                  </a:lnTo>
                  <a:lnTo>
                    <a:pt x="175610" y="0"/>
                  </a:lnTo>
                  <a:lnTo>
                    <a:pt x="216026" y="7665"/>
                  </a:lnTo>
                  <a:lnTo>
                    <a:pt x="253669" y="25085"/>
                  </a:lnTo>
                  <a:lnTo>
                    <a:pt x="285719" y="51572"/>
                  </a:lnTo>
                  <a:lnTo>
                    <a:pt x="309417" y="85023"/>
                  </a:lnTo>
                  <a:lnTo>
                    <a:pt x="324749" y="123352"/>
                  </a:lnTo>
                  <a:lnTo>
                    <a:pt x="330326" y="164470"/>
                  </a:lnTo>
                  <a:lnTo>
                    <a:pt x="328924" y="184678"/>
                  </a:lnTo>
                  <a:lnTo>
                    <a:pt x="318470" y="225094"/>
                  </a:lnTo>
                  <a:lnTo>
                    <a:pt x="298963" y="261335"/>
                  </a:lnTo>
                  <a:lnTo>
                    <a:pt x="270388" y="290596"/>
                  </a:lnTo>
                  <a:lnTo>
                    <a:pt x="235549" y="312907"/>
                  </a:lnTo>
                  <a:lnTo>
                    <a:pt x="195818" y="325450"/>
                  </a:lnTo>
                  <a:lnTo>
                    <a:pt x="175610" y="328239"/>
                  </a:lnTo>
                  <a:lnTo>
                    <a:pt x="155402" y="328239"/>
                  </a:lnTo>
                  <a:lnTo>
                    <a:pt x="114284" y="320573"/>
                  </a:lnTo>
                  <a:lnTo>
                    <a:pt x="76657" y="302453"/>
                  </a:lnTo>
                  <a:lnTo>
                    <a:pt x="44592" y="276666"/>
                  </a:lnTo>
                  <a:lnTo>
                    <a:pt x="20909" y="243916"/>
                  </a:lnTo>
                  <a:lnTo>
                    <a:pt x="5577" y="204886"/>
                  </a:lnTo>
                  <a:lnTo>
                    <a:pt x="0" y="16447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770939" y="1989942"/>
              <a:ext cx="330200" cy="328295"/>
            </a:xfrm>
            <a:custGeom>
              <a:avLst/>
              <a:gdLst/>
              <a:ahLst/>
              <a:cxnLst/>
              <a:rect l="l" t="t" r="r" b="b"/>
              <a:pathLst>
                <a:path w="330200" h="328294">
                  <a:moveTo>
                    <a:pt x="175610" y="0"/>
                  </a:moveTo>
                  <a:lnTo>
                    <a:pt x="154701" y="0"/>
                  </a:lnTo>
                  <a:lnTo>
                    <a:pt x="134492" y="2087"/>
                  </a:lnTo>
                  <a:lnTo>
                    <a:pt x="94777" y="15331"/>
                  </a:lnTo>
                  <a:lnTo>
                    <a:pt x="59923" y="37642"/>
                  </a:lnTo>
                  <a:lnTo>
                    <a:pt x="31363" y="67604"/>
                  </a:lnTo>
                  <a:lnTo>
                    <a:pt x="11140" y="103845"/>
                  </a:lnTo>
                  <a:lnTo>
                    <a:pt x="1386" y="142859"/>
                  </a:lnTo>
                  <a:lnTo>
                    <a:pt x="0" y="163769"/>
                  </a:lnTo>
                  <a:lnTo>
                    <a:pt x="1386" y="184678"/>
                  </a:lnTo>
                  <a:lnTo>
                    <a:pt x="11140" y="224408"/>
                  </a:lnTo>
                  <a:lnTo>
                    <a:pt x="31363" y="260634"/>
                  </a:lnTo>
                  <a:lnTo>
                    <a:pt x="59923" y="290611"/>
                  </a:lnTo>
                  <a:lnTo>
                    <a:pt x="94777" y="312907"/>
                  </a:lnTo>
                  <a:lnTo>
                    <a:pt x="134492" y="325450"/>
                  </a:lnTo>
                  <a:lnTo>
                    <a:pt x="154701" y="328239"/>
                  </a:lnTo>
                  <a:lnTo>
                    <a:pt x="175610" y="328239"/>
                  </a:lnTo>
                  <a:lnTo>
                    <a:pt x="216026" y="320573"/>
                  </a:lnTo>
                  <a:lnTo>
                    <a:pt x="252968" y="303154"/>
                  </a:lnTo>
                  <a:lnTo>
                    <a:pt x="285018" y="276666"/>
                  </a:lnTo>
                  <a:lnTo>
                    <a:pt x="309417" y="243215"/>
                  </a:lnTo>
                  <a:lnTo>
                    <a:pt x="324749" y="204886"/>
                  </a:lnTo>
                  <a:lnTo>
                    <a:pt x="329625" y="163769"/>
                  </a:lnTo>
                  <a:lnTo>
                    <a:pt x="328223" y="142859"/>
                  </a:lnTo>
                  <a:lnTo>
                    <a:pt x="318470" y="103845"/>
                  </a:lnTo>
                  <a:lnTo>
                    <a:pt x="298262" y="67604"/>
                  </a:lnTo>
                  <a:lnTo>
                    <a:pt x="269687" y="37642"/>
                  </a:lnTo>
                  <a:lnTo>
                    <a:pt x="234848" y="15331"/>
                  </a:lnTo>
                  <a:lnTo>
                    <a:pt x="195818" y="2087"/>
                  </a:lnTo>
                  <a:lnTo>
                    <a:pt x="17561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770939" y="1989942"/>
              <a:ext cx="330200" cy="328295"/>
            </a:xfrm>
            <a:custGeom>
              <a:avLst/>
              <a:gdLst/>
              <a:ahLst/>
              <a:cxnLst/>
              <a:rect l="l" t="t" r="r" b="b"/>
              <a:pathLst>
                <a:path w="330200" h="328294">
                  <a:moveTo>
                    <a:pt x="0" y="163769"/>
                  </a:moveTo>
                  <a:lnTo>
                    <a:pt x="4876" y="122651"/>
                  </a:lnTo>
                  <a:lnTo>
                    <a:pt x="20208" y="85023"/>
                  </a:lnTo>
                  <a:lnTo>
                    <a:pt x="44592" y="51572"/>
                  </a:lnTo>
                  <a:lnTo>
                    <a:pt x="76657" y="25085"/>
                  </a:lnTo>
                  <a:lnTo>
                    <a:pt x="114284" y="7665"/>
                  </a:lnTo>
                  <a:lnTo>
                    <a:pt x="154701" y="0"/>
                  </a:lnTo>
                  <a:lnTo>
                    <a:pt x="175610" y="0"/>
                  </a:lnTo>
                  <a:lnTo>
                    <a:pt x="216026" y="7665"/>
                  </a:lnTo>
                  <a:lnTo>
                    <a:pt x="252968" y="25085"/>
                  </a:lnTo>
                  <a:lnTo>
                    <a:pt x="285018" y="51572"/>
                  </a:lnTo>
                  <a:lnTo>
                    <a:pt x="309417" y="85023"/>
                  </a:lnTo>
                  <a:lnTo>
                    <a:pt x="324749" y="122651"/>
                  </a:lnTo>
                  <a:lnTo>
                    <a:pt x="329625" y="163769"/>
                  </a:lnTo>
                  <a:lnTo>
                    <a:pt x="328223" y="184678"/>
                  </a:lnTo>
                  <a:lnTo>
                    <a:pt x="318470" y="224408"/>
                  </a:lnTo>
                  <a:lnTo>
                    <a:pt x="298262" y="260634"/>
                  </a:lnTo>
                  <a:lnTo>
                    <a:pt x="269687" y="290611"/>
                  </a:lnTo>
                  <a:lnTo>
                    <a:pt x="234848" y="312907"/>
                  </a:lnTo>
                  <a:lnTo>
                    <a:pt x="195818" y="325450"/>
                  </a:lnTo>
                  <a:lnTo>
                    <a:pt x="175610" y="328239"/>
                  </a:lnTo>
                  <a:lnTo>
                    <a:pt x="154701" y="328239"/>
                  </a:lnTo>
                  <a:lnTo>
                    <a:pt x="114284" y="320573"/>
                  </a:lnTo>
                  <a:lnTo>
                    <a:pt x="76657" y="303154"/>
                  </a:lnTo>
                  <a:lnTo>
                    <a:pt x="44592" y="276666"/>
                  </a:lnTo>
                  <a:lnTo>
                    <a:pt x="20208" y="243215"/>
                  </a:lnTo>
                  <a:lnTo>
                    <a:pt x="4876" y="204886"/>
                  </a:lnTo>
                  <a:lnTo>
                    <a:pt x="0" y="163769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3847438" y="2001008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4026353" y="1326155"/>
            <a:ext cx="1945005" cy="1653539"/>
            <a:chOff x="4026353" y="1326155"/>
            <a:chExt cx="1945005" cy="1653539"/>
          </a:xfrm>
        </p:grpSpPr>
        <p:sp>
          <p:nvSpPr>
            <p:cNvPr id="16" name="object 16"/>
            <p:cNvSpPr/>
            <p:nvPr/>
          </p:nvSpPr>
          <p:spPr>
            <a:xfrm>
              <a:off x="4972369" y="1496547"/>
              <a:ext cx="0" cy="1405890"/>
            </a:xfrm>
            <a:custGeom>
              <a:avLst/>
              <a:gdLst/>
              <a:ahLst/>
              <a:cxnLst/>
              <a:rect l="l" t="t" r="r" b="b"/>
              <a:pathLst>
                <a:path w="0" h="1405889">
                  <a:moveTo>
                    <a:pt x="0" y="0"/>
                  </a:moveTo>
                  <a:lnTo>
                    <a:pt x="0" y="140563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939619" y="1406647"/>
              <a:ext cx="65405" cy="98425"/>
            </a:xfrm>
            <a:custGeom>
              <a:avLst/>
              <a:gdLst/>
              <a:ahLst/>
              <a:cxnLst/>
              <a:rect l="l" t="t" r="r" b="b"/>
              <a:pathLst>
                <a:path w="65404" h="98425">
                  <a:moveTo>
                    <a:pt x="32750" y="0"/>
                  </a:moveTo>
                  <a:lnTo>
                    <a:pt x="0" y="98267"/>
                  </a:lnTo>
                  <a:lnTo>
                    <a:pt x="64800" y="98267"/>
                  </a:lnTo>
                  <a:lnTo>
                    <a:pt x="327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103354" y="1334866"/>
              <a:ext cx="725170" cy="629285"/>
            </a:xfrm>
            <a:custGeom>
              <a:avLst/>
              <a:gdLst/>
              <a:ahLst/>
              <a:cxnLst/>
              <a:rect l="l" t="t" r="r" b="b"/>
              <a:pathLst>
                <a:path w="725170" h="629285">
                  <a:moveTo>
                    <a:pt x="0" y="629290"/>
                  </a:moveTo>
                  <a:lnTo>
                    <a:pt x="724753" y="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035064" y="1934194"/>
              <a:ext cx="95885" cy="89535"/>
            </a:xfrm>
            <a:custGeom>
              <a:avLst/>
              <a:gdLst/>
              <a:ahLst/>
              <a:cxnLst/>
              <a:rect l="l" t="t" r="r" b="b"/>
              <a:pathLst>
                <a:path w="95885" h="89535">
                  <a:moveTo>
                    <a:pt x="52958" y="0"/>
                  </a:moveTo>
                  <a:lnTo>
                    <a:pt x="0" y="89199"/>
                  </a:lnTo>
                  <a:lnTo>
                    <a:pt x="95463" y="49484"/>
                  </a:lnTo>
                  <a:lnTo>
                    <a:pt x="5295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035064" y="2289606"/>
              <a:ext cx="727710" cy="631825"/>
            </a:xfrm>
            <a:custGeom>
              <a:avLst/>
              <a:gdLst/>
              <a:ahLst/>
              <a:cxnLst/>
              <a:rect l="l" t="t" r="r" b="b"/>
              <a:pathLst>
                <a:path w="727710" h="631825">
                  <a:moveTo>
                    <a:pt x="0" y="0"/>
                  </a:moveTo>
                  <a:lnTo>
                    <a:pt x="727542" y="631377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735433" y="2890322"/>
              <a:ext cx="95250" cy="89535"/>
            </a:xfrm>
            <a:custGeom>
              <a:avLst/>
              <a:gdLst/>
              <a:ahLst/>
              <a:cxnLst/>
              <a:rect l="l" t="t" r="r" b="b"/>
              <a:pathLst>
                <a:path w="95250" h="89535">
                  <a:moveTo>
                    <a:pt x="42504" y="0"/>
                  </a:moveTo>
                  <a:lnTo>
                    <a:pt x="0" y="49484"/>
                  </a:lnTo>
                  <a:lnTo>
                    <a:pt x="94777" y="89199"/>
                  </a:lnTo>
                  <a:lnTo>
                    <a:pt x="4250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5106177" y="1342532"/>
              <a:ext cx="790575" cy="640715"/>
            </a:xfrm>
            <a:custGeom>
              <a:avLst/>
              <a:gdLst/>
              <a:ahLst/>
              <a:cxnLst/>
              <a:rect l="l" t="t" r="r" b="b"/>
              <a:pathLst>
                <a:path w="790575" h="640714">
                  <a:moveTo>
                    <a:pt x="0" y="0"/>
                  </a:moveTo>
                  <a:lnTo>
                    <a:pt x="790270" y="640445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5869259" y="1952315"/>
              <a:ext cx="97155" cy="88265"/>
            </a:xfrm>
            <a:custGeom>
              <a:avLst/>
              <a:gdLst/>
              <a:ahLst/>
              <a:cxnLst/>
              <a:rect l="l" t="t" r="r" b="b"/>
              <a:pathLst>
                <a:path w="97154" h="88264">
                  <a:moveTo>
                    <a:pt x="41117" y="0"/>
                  </a:moveTo>
                  <a:lnTo>
                    <a:pt x="0" y="50871"/>
                  </a:lnTo>
                  <a:lnTo>
                    <a:pt x="96865" y="87812"/>
                  </a:lnTo>
                  <a:lnTo>
                    <a:pt x="4111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5152857" y="2273574"/>
              <a:ext cx="810260" cy="647065"/>
            </a:xfrm>
            <a:custGeom>
              <a:avLst/>
              <a:gdLst/>
              <a:ahLst/>
              <a:cxnLst/>
              <a:rect l="l" t="t" r="r" b="b"/>
              <a:pathLst>
                <a:path w="810260" h="647064">
                  <a:moveTo>
                    <a:pt x="809792" y="0"/>
                  </a:moveTo>
                  <a:lnTo>
                    <a:pt x="0" y="646709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5082478" y="2889621"/>
              <a:ext cx="97155" cy="87630"/>
            </a:xfrm>
            <a:custGeom>
              <a:avLst/>
              <a:gdLst/>
              <a:ahLst/>
              <a:cxnLst/>
              <a:rect l="l" t="t" r="r" b="b"/>
              <a:pathLst>
                <a:path w="97154" h="87630">
                  <a:moveTo>
                    <a:pt x="56448" y="0"/>
                  </a:moveTo>
                  <a:lnTo>
                    <a:pt x="0" y="87111"/>
                  </a:lnTo>
                  <a:lnTo>
                    <a:pt x="96865" y="51572"/>
                  </a:lnTo>
                  <a:lnTo>
                    <a:pt x="5644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086621" y="2156500"/>
              <a:ext cx="1760855" cy="0"/>
            </a:xfrm>
            <a:custGeom>
              <a:avLst/>
              <a:gdLst/>
              <a:ahLst/>
              <a:cxnLst/>
              <a:rect l="l" t="t" r="r" b="b"/>
              <a:pathLst>
                <a:path w="1760854" h="0">
                  <a:moveTo>
                    <a:pt x="0" y="0"/>
                  </a:moveTo>
                  <a:lnTo>
                    <a:pt x="1760341" y="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839297" y="2123750"/>
              <a:ext cx="98425" cy="66040"/>
            </a:xfrm>
            <a:custGeom>
              <a:avLst/>
              <a:gdLst/>
              <a:ahLst/>
              <a:cxnLst/>
              <a:rect l="l" t="t" r="r" b="b"/>
              <a:pathLst>
                <a:path w="98425" h="66039">
                  <a:moveTo>
                    <a:pt x="0" y="0"/>
                  </a:moveTo>
                  <a:lnTo>
                    <a:pt x="0" y="65501"/>
                  </a:lnTo>
                  <a:lnTo>
                    <a:pt x="98267" y="327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 txBox="1"/>
          <p:nvPr/>
        </p:nvSpPr>
        <p:spPr>
          <a:xfrm>
            <a:off x="5478155" y="2601018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890680" y="1106889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008485" y="1981482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874651" y="2913916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16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263482" y="1461608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564571" y="1477637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6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802873" y="1651859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368049" y="1899949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232820" y="2584293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600">
              <a:latin typeface="Arial"/>
              <a:cs typeface="Arial"/>
            </a:endParaRPr>
          </a:p>
        </p:txBody>
      </p:sp>
      <p:graphicFrame>
        <p:nvGraphicFramePr>
          <p:cNvPr id="37" name="object 37"/>
          <p:cNvGraphicFramePr>
            <a:graphicFrameLocks noGrp="1"/>
          </p:cNvGraphicFramePr>
          <p:nvPr/>
        </p:nvGraphicFramePr>
        <p:xfrm>
          <a:off x="1870527" y="1335567"/>
          <a:ext cx="1707514" cy="16681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9895"/>
                <a:gridCol w="421640"/>
                <a:gridCol w="417194"/>
                <a:gridCol w="438150"/>
              </a:tblGrid>
              <a:tr h="416737">
                <a:tc>
                  <a:txBody>
                    <a:bodyPr/>
                    <a:lstStyle/>
                    <a:p>
                      <a:pPr algn="ctr" marR="2476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3144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4167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3189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417438"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8445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8445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4167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3189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31445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pic>
        <p:nvPicPr>
          <p:cNvPr id="38" name="object 3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63696" y="1491441"/>
            <a:ext cx="277827" cy="102902"/>
          </a:xfrm>
          <a:prstGeom prst="rect">
            <a:avLst/>
          </a:prstGeom>
        </p:spPr>
      </p:pic>
      <p:pic>
        <p:nvPicPr>
          <p:cNvPr id="39" name="object 3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965075" y="1910968"/>
            <a:ext cx="277827" cy="102902"/>
          </a:xfrm>
          <a:prstGeom prst="rect">
            <a:avLst/>
          </a:prstGeom>
        </p:spPr>
      </p:pic>
      <p:pic>
        <p:nvPicPr>
          <p:cNvPr id="40" name="object 4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211798" y="1910968"/>
            <a:ext cx="277827" cy="102902"/>
          </a:xfrm>
          <a:prstGeom prst="rect">
            <a:avLst/>
          </a:prstGeom>
        </p:spPr>
      </p:pic>
      <p:pic>
        <p:nvPicPr>
          <p:cNvPr id="41" name="object 4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368569" y="2343037"/>
            <a:ext cx="277827" cy="102216"/>
          </a:xfrm>
          <a:prstGeom prst="rect">
            <a:avLst/>
          </a:prstGeom>
        </p:spPr>
      </p:pic>
      <p:pic>
        <p:nvPicPr>
          <p:cNvPr id="42" name="object 4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225042" y="2343037"/>
            <a:ext cx="277126" cy="102216"/>
          </a:xfrm>
          <a:prstGeom prst="rect">
            <a:avLst/>
          </a:prstGeom>
        </p:spPr>
      </p:pic>
      <p:pic>
        <p:nvPicPr>
          <p:cNvPr id="43" name="object 4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960883" y="2745144"/>
            <a:ext cx="277827" cy="102902"/>
          </a:xfrm>
          <a:prstGeom prst="rect">
            <a:avLst/>
          </a:prstGeom>
        </p:spPr>
      </p:pic>
      <p:sp>
        <p:nvSpPr>
          <p:cNvPr id="44" name="object 44"/>
          <p:cNvSpPr txBox="1"/>
          <p:nvPr/>
        </p:nvSpPr>
        <p:spPr>
          <a:xfrm>
            <a:off x="2541154" y="3021244"/>
            <a:ext cx="474345" cy="3587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19379" sz="3225" spc="60" i="1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sz="1450" spc="40" i="1">
                <a:solidFill>
                  <a:srgbClr val="FFFF00"/>
                </a:solidFill>
                <a:latin typeface="Arial"/>
                <a:cs typeface="Arial"/>
              </a:rPr>
              <a:t>(0)</a:t>
            </a:r>
            <a:endParaRPr sz="145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445891" y="3622790"/>
            <a:ext cx="7677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8.77: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247948" y="3657523"/>
            <a:ext cx="2202815" cy="16256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0"/>
              </a:lnSpc>
            </a:pPr>
            <a:r>
              <a:rPr dirty="0" sz="1200" spc="-15">
                <a:latin typeface="Times New Roman"/>
                <a:cs typeface="Times New Roman"/>
              </a:rPr>
              <a:t>Floyd-Warshall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459156" y="3622790"/>
            <a:ext cx="3505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Lucida Sans Unicode"/>
                <a:cs typeface="Lucida Sans Unicode"/>
              </a:rPr>
              <a:t>d</a:t>
            </a:r>
            <a:r>
              <a:rPr dirty="0" baseline="31250" sz="1200" spc="-37">
                <a:latin typeface="Verdana"/>
                <a:cs typeface="Verdana"/>
              </a:rPr>
              <a:t>(</a:t>
            </a:r>
            <a:r>
              <a:rPr dirty="0" sz="1200" spc="-25">
                <a:latin typeface="Lucida Sans Unicode"/>
                <a:cs typeface="Lucida Sans Unicode"/>
              </a:rPr>
              <a:t>0</a:t>
            </a:r>
            <a:r>
              <a:rPr dirty="0" sz="1200" spc="-2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1844039" y="6054542"/>
            <a:ext cx="4542155" cy="2590800"/>
            <a:chOff x="1844039" y="6054542"/>
            <a:chExt cx="4542155" cy="2590800"/>
          </a:xfrm>
        </p:grpSpPr>
        <p:sp>
          <p:nvSpPr>
            <p:cNvPr id="49" name="object 49"/>
            <p:cNvSpPr/>
            <p:nvPr/>
          </p:nvSpPr>
          <p:spPr>
            <a:xfrm>
              <a:off x="1844039" y="6054542"/>
              <a:ext cx="4542155" cy="2590800"/>
            </a:xfrm>
            <a:custGeom>
              <a:avLst/>
              <a:gdLst/>
              <a:ahLst/>
              <a:cxnLst/>
              <a:rect l="l" t="t" r="r" b="b"/>
              <a:pathLst>
                <a:path w="4542155" h="2590800">
                  <a:moveTo>
                    <a:pt x="4541824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4541824" y="2590601"/>
                  </a:lnTo>
                  <a:lnTo>
                    <a:pt x="4541824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809454" y="8019069"/>
              <a:ext cx="330835" cy="328295"/>
            </a:xfrm>
            <a:custGeom>
              <a:avLst/>
              <a:gdLst/>
              <a:ahLst/>
              <a:cxnLst/>
              <a:rect l="l" t="t" r="r" b="b"/>
              <a:pathLst>
                <a:path w="330835" h="328295">
                  <a:moveTo>
                    <a:pt x="176311" y="0"/>
                  </a:moveTo>
                  <a:lnTo>
                    <a:pt x="155402" y="0"/>
                  </a:lnTo>
                  <a:lnTo>
                    <a:pt x="134508" y="2087"/>
                  </a:lnTo>
                  <a:lnTo>
                    <a:pt x="95478" y="15331"/>
                  </a:lnTo>
                  <a:lnTo>
                    <a:pt x="59938" y="36941"/>
                  </a:lnTo>
                  <a:lnTo>
                    <a:pt x="32064" y="67604"/>
                  </a:lnTo>
                  <a:lnTo>
                    <a:pt x="11841" y="103845"/>
                  </a:lnTo>
                  <a:lnTo>
                    <a:pt x="1402" y="143560"/>
                  </a:lnTo>
                  <a:lnTo>
                    <a:pt x="0" y="164470"/>
                  </a:lnTo>
                  <a:lnTo>
                    <a:pt x="1402" y="184678"/>
                  </a:lnTo>
                  <a:lnTo>
                    <a:pt x="11841" y="224393"/>
                  </a:lnTo>
                  <a:lnTo>
                    <a:pt x="32064" y="260634"/>
                  </a:lnTo>
                  <a:lnTo>
                    <a:pt x="59938" y="290611"/>
                  </a:lnTo>
                  <a:lnTo>
                    <a:pt x="95478" y="312907"/>
                  </a:lnTo>
                  <a:lnTo>
                    <a:pt x="134508" y="325450"/>
                  </a:lnTo>
                  <a:lnTo>
                    <a:pt x="155402" y="328239"/>
                  </a:lnTo>
                  <a:lnTo>
                    <a:pt x="176311" y="328239"/>
                  </a:lnTo>
                  <a:lnTo>
                    <a:pt x="216042" y="320573"/>
                  </a:lnTo>
                  <a:lnTo>
                    <a:pt x="253669" y="303154"/>
                  </a:lnTo>
                  <a:lnTo>
                    <a:pt x="285719" y="276666"/>
                  </a:lnTo>
                  <a:lnTo>
                    <a:pt x="310118" y="243215"/>
                  </a:lnTo>
                  <a:lnTo>
                    <a:pt x="325450" y="205587"/>
                  </a:lnTo>
                  <a:lnTo>
                    <a:pt x="330326" y="164470"/>
                  </a:lnTo>
                  <a:lnTo>
                    <a:pt x="328940" y="143560"/>
                  </a:lnTo>
                  <a:lnTo>
                    <a:pt x="318485" y="103845"/>
                  </a:lnTo>
                  <a:lnTo>
                    <a:pt x="298963" y="67604"/>
                  </a:lnTo>
                  <a:lnTo>
                    <a:pt x="270388" y="36941"/>
                  </a:lnTo>
                  <a:lnTo>
                    <a:pt x="235549" y="15331"/>
                  </a:lnTo>
                  <a:lnTo>
                    <a:pt x="196519" y="2087"/>
                  </a:lnTo>
                  <a:lnTo>
                    <a:pt x="17631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809454" y="8019069"/>
              <a:ext cx="330835" cy="328295"/>
            </a:xfrm>
            <a:custGeom>
              <a:avLst/>
              <a:gdLst/>
              <a:ahLst/>
              <a:cxnLst/>
              <a:rect l="l" t="t" r="r" b="b"/>
              <a:pathLst>
                <a:path w="330835" h="328295">
                  <a:moveTo>
                    <a:pt x="0" y="164470"/>
                  </a:moveTo>
                  <a:lnTo>
                    <a:pt x="5577" y="123352"/>
                  </a:lnTo>
                  <a:lnTo>
                    <a:pt x="20909" y="85023"/>
                  </a:lnTo>
                  <a:lnTo>
                    <a:pt x="45293" y="51572"/>
                  </a:lnTo>
                  <a:lnTo>
                    <a:pt x="77358" y="25085"/>
                  </a:lnTo>
                  <a:lnTo>
                    <a:pt x="114284" y="7665"/>
                  </a:lnTo>
                  <a:lnTo>
                    <a:pt x="155402" y="0"/>
                  </a:lnTo>
                  <a:lnTo>
                    <a:pt x="176311" y="0"/>
                  </a:lnTo>
                  <a:lnTo>
                    <a:pt x="216042" y="7665"/>
                  </a:lnTo>
                  <a:lnTo>
                    <a:pt x="253669" y="25085"/>
                  </a:lnTo>
                  <a:lnTo>
                    <a:pt x="285719" y="51572"/>
                  </a:lnTo>
                  <a:lnTo>
                    <a:pt x="310118" y="85023"/>
                  </a:lnTo>
                  <a:lnTo>
                    <a:pt x="325450" y="123352"/>
                  </a:lnTo>
                  <a:lnTo>
                    <a:pt x="330326" y="164470"/>
                  </a:lnTo>
                  <a:lnTo>
                    <a:pt x="328940" y="184678"/>
                  </a:lnTo>
                  <a:lnTo>
                    <a:pt x="318485" y="224393"/>
                  </a:lnTo>
                  <a:lnTo>
                    <a:pt x="298963" y="260634"/>
                  </a:lnTo>
                  <a:lnTo>
                    <a:pt x="270388" y="290611"/>
                  </a:lnTo>
                  <a:lnTo>
                    <a:pt x="235549" y="312907"/>
                  </a:lnTo>
                  <a:lnTo>
                    <a:pt x="196519" y="325450"/>
                  </a:lnTo>
                  <a:lnTo>
                    <a:pt x="176311" y="328239"/>
                  </a:lnTo>
                  <a:lnTo>
                    <a:pt x="155402" y="328239"/>
                  </a:lnTo>
                  <a:lnTo>
                    <a:pt x="114284" y="320573"/>
                  </a:lnTo>
                  <a:lnTo>
                    <a:pt x="77358" y="303154"/>
                  </a:lnTo>
                  <a:lnTo>
                    <a:pt x="45293" y="276666"/>
                  </a:lnTo>
                  <a:lnTo>
                    <a:pt x="20909" y="243215"/>
                  </a:lnTo>
                  <a:lnTo>
                    <a:pt x="5577" y="205587"/>
                  </a:lnTo>
                  <a:lnTo>
                    <a:pt x="0" y="16447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936314" y="7094306"/>
              <a:ext cx="330835" cy="328930"/>
            </a:xfrm>
            <a:custGeom>
              <a:avLst/>
              <a:gdLst/>
              <a:ahLst/>
              <a:cxnLst/>
              <a:rect l="l" t="t" r="r" b="b"/>
              <a:pathLst>
                <a:path w="330835" h="328929">
                  <a:moveTo>
                    <a:pt x="174924" y="0"/>
                  </a:moveTo>
                  <a:lnTo>
                    <a:pt x="154716" y="0"/>
                  </a:lnTo>
                  <a:lnTo>
                    <a:pt x="133807" y="2788"/>
                  </a:lnTo>
                  <a:lnTo>
                    <a:pt x="94091" y="15331"/>
                  </a:lnTo>
                  <a:lnTo>
                    <a:pt x="59938" y="37627"/>
                  </a:lnTo>
                  <a:lnTo>
                    <a:pt x="31363" y="67589"/>
                  </a:lnTo>
                  <a:lnTo>
                    <a:pt x="11856" y="103830"/>
                  </a:lnTo>
                  <a:lnTo>
                    <a:pt x="1402" y="143560"/>
                  </a:lnTo>
                  <a:lnTo>
                    <a:pt x="0" y="163769"/>
                  </a:lnTo>
                  <a:lnTo>
                    <a:pt x="1402" y="184678"/>
                  </a:lnTo>
                  <a:lnTo>
                    <a:pt x="11856" y="224393"/>
                  </a:lnTo>
                  <a:lnTo>
                    <a:pt x="31363" y="260634"/>
                  </a:lnTo>
                  <a:lnTo>
                    <a:pt x="59938" y="291297"/>
                  </a:lnTo>
                  <a:lnTo>
                    <a:pt x="94091" y="312892"/>
                  </a:lnTo>
                  <a:lnTo>
                    <a:pt x="133807" y="326135"/>
                  </a:lnTo>
                  <a:lnTo>
                    <a:pt x="154716" y="328924"/>
                  </a:lnTo>
                  <a:lnTo>
                    <a:pt x="174924" y="328924"/>
                  </a:lnTo>
                  <a:lnTo>
                    <a:pt x="216042" y="320558"/>
                  </a:lnTo>
                  <a:lnTo>
                    <a:pt x="253669" y="303138"/>
                  </a:lnTo>
                  <a:lnTo>
                    <a:pt x="285033" y="276666"/>
                  </a:lnTo>
                  <a:lnTo>
                    <a:pt x="309417" y="243215"/>
                  </a:lnTo>
                  <a:lnTo>
                    <a:pt x="324749" y="204886"/>
                  </a:lnTo>
                  <a:lnTo>
                    <a:pt x="330326" y="163769"/>
                  </a:lnTo>
                  <a:lnTo>
                    <a:pt x="328940" y="143560"/>
                  </a:lnTo>
                  <a:lnTo>
                    <a:pt x="318485" y="103830"/>
                  </a:lnTo>
                  <a:lnTo>
                    <a:pt x="298277" y="67589"/>
                  </a:lnTo>
                  <a:lnTo>
                    <a:pt x="270403" y="37627"/>
                  </a:lnTo>
                  <a:lnTo>
                    <a:pt x="234863" y="15331"/>
                  </a:lnTo>
                  <a:lnTo>
                    <a:pt x="195833" y="2788"/>
                  </a:lnTo>
                  <a:lnTo>
                    <a:pt x="17492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936314" y="7094306"/>
              <a:ext cx="330835" cy="328930"/>
            </a:xfrm>
            <a:custGeom>
              <a:avLst/>
              <a:gdLst/>
              <a:ahLst/>
              <a:cxnLst/>
              <a:rect l="l" t="t" r="r" b="b"/>
              <a:pathLst>
                <a:path w="330835" h="328929">
                  <a:moveTo>
                    <a:pt x="0" y="163769"/>
                  </a:moveTo>
                  <a:lnTo>
                    <a:pt x="5577" y="123352"/>
                  </a:lnTo>
                  <a:lnTo>
                    <a:pt x="20223" y="85023"/>
                  </a:lnTo>
                  <a:lnTo>
                    <a:pt x="44607" y="51572"/>
                  </a:lnTo>
                  <a:lnTo>
                    <a:pt x="76657" y="25786"/>
                  </a:lnTo>
                  <a:lnTo>
                    <a:pt x="113598" y="7665"/>
                  </a:lnTo>
                  <a:lnTo>
                    <a:pt x="154716" y="0"/>
                  </a:lnTo>
                  <a:lnTo>
                    <a:pt x="174924" y="0"/>
                  </a:lnTo>
                  <a:lnTo>
                    <a:pt x="216042" y="7665"/>
                  </a:lnTo>
                  <a:lnTo>
                    <a:pt x="253669" y="25786"/>
                  </a:lnTo>
                  <a:lnTo>
                    <a:pt x="285033" y="51572"/>
                  </a:lnTo>
                  <a:lnTo>
                    <a:pt x="309417" y="85023"/>
                  </a:lnTo>
                  <a:lnTo>
                    <a:pt x="324749" y="123352"/>
                  </a:lnTo>
                  <a:lnTo>
                    <a:pt x="330326" y="163769"/>
                  </a:lnTo>
                  <a:lnTo>
                    <a:pt x="328940" y="184678"/>
                  </a:lnTo>
                  <a:lnTo>
                    <a:pt x="318485" y="224393"/>
                  </a:lnTo>
                  <a:lnTo>
                    <a:pt x="298277" y="260634"/>
                  </a:lnTo>
                  <a:lnTo>
                    <a:pt x="270403" y="291297"/>
                  </a:lnTo>
                  <a:lnTo>
                    <a:pt x="234863" y="312892"/>
                  </a:lnTo>
                  <a:lnTo>
                    <a:pt x="195833" y="326135"/>
                  </a:lnTo>
                  <a:lnTo>
                    <a:pt x="174924" y="328924"/>
                  </a:lnTo>
                  <a:lnTo>
                    <a:pt x="154716" y="328924"/>
                  </a:lnTo>
                  <a:lnTo>
                    <a:pt x="113598" y="320558"/>
                  </a:lnTo>
                  <a:lnTo>
                    <a:pt x="76657" y="303138"/>
                  </a:lnTo>
                  <a:lnTo>
                    <a:pt x="44607" y="276666"/>
                  </a:lnTo>
                  <a:lnTo>
                    <a:pt x="20223" y="243215"/>
                  </a:lnTo>
                  <a:lnTo>
                    <a:pt x="5577" y="204886"/>
                  </a:lnTo>
                  <a:lnTo>
                    <a:pt x="0" y="163769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825486" y="6202979"/>
              <a:ext cx="330835" cy="328295"/>
            </a:xfrm>
            <a:custGeom>
              <a:avLst/>
              <a:gdLst/>
              <a:ahLst/>
              <a:cxnLst/>
              <a:rect l="l" t="t" r="r" b="b"/>
              <a:pathLst>
                <a:path w="330835" h="328295">
                  <a:moveTo>
                    <a:pt x="175610" y="0"/>
                  </a:moveTo>
                  <a:lnTo>
                    <a:pt x="155402" y="0"/>
                  </a:lnTo>
                  <a:lnTo>
                    <a:pt x="134492" y="2788"/>
                  </a:lnTo>
                  <a:lnTo>
                    <a:pt x="94777" y="15331"/>
                  </a:lnTo>
                  <a:lnTo>
                    <a:pt x="59923" y="36941"/>
                  </a:lnTo>
                  <a:lnTo>
                    <a:pt x="31363" y="66903"/>
                  </a:lnTo>
                  <a:lnTo>
                    <a:pt x="11841" y="103144"/>
                  </a:lnTo>
                  <a:lnTo>
                    <a:pt x="1386" y="143560"/>
                  </a:lnTo>
                  <a:lnTo>
                    <a:pt x="0" y="164470"/>
                  </a:lnTo>
                  <a:lnTo>
                    <a:pt x="1386" y="184678"/>
                  </a:lnTo>
                  <a:lnTo>
                    <a:pt x="11841" y="225094"/>
                  </a:lnTo>
                  <a:lnTo>
                    <a:pt x="31363" y="261335"/>
                  </a:lnTo>
                  <a:lnTo>
                    <a:pt x="59923" y="290611"/>
                  </a:lnTo>
                  <a:lnTo>
                    <a:pt x="94777" y="312907"/>
                  </a:lnTo>
                  <a:lnTo>
                    <a:pt x="134492" y="325450"/>
                  </a:lnTo>
                  <a:lnTo>
                    <a:pt x="155402" y="328239"/>
                  </a:lnTo>
                  <a:lnTo>
                    <a:pt x="175610" y="328239"/>
                  </a:lnTo>
                  <a:lnTo>
                    <a:pt x="216026" y="320573"/>
                  </a:lnTo>
                  <a:lnTo>
                    <a:pt x="253669" y="302453"/>
                  </a:lnTo>
                  <a:lnTo>
                    <a:pt x="285719" y="276666"/>
                  </a:lnTo>
                  <a:lnTo>
                    <a:pt x="309417" y="243916"/>
                  </a:lnTo>
                  <a:lnTo>
                    <a:pt x="324749" y="204886"/>
                  </a:lnTo>
                  <a:lnTo>
                    <a:pt x="330326" y="164470"/>
                  </a:lnTo>
                  <a:lnTo>
                    <a:pt x="328924" y="143560"/>
                  </a:lnTo>
                  <a:lnTo>
                    <a:pt x="318470" y="103144"/>
                  </a:lnTo>
                  <a:lnTo>
                    <a:pt x="298963" y="66903"/>
                  </a:lnTo>
                  <a:lnTo>
                    <a:pt x="270388" y="36941"/>
                  </a:lnTo>
                  <a:lnTo>
                    <a:pt x="235549" y="15331"/>
                  </a:lnTo>
                  <a:lnTo>
                    <a:pt x="195818" y="2788"/>
                  </a:lnTo>
                  <a:lnTo>
                    <a:pt x="17561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825486" y="6202979"/>
              <a:ext cx="330835" cy="328295"/>
            </a:xfrm>
            <a:custGeom>
              <a:avLst/>
              <a:gdLst/>
              <a:ahLst/>
              <a:cxnLst/>
              <a:rect l="l" t="t" r="r" b="b"/>
              <a:pathLst>
                <a:path w="330835" h="328295">
                  <a:moveTo>
                    <a:pt x="0" y="164470"/>
                  </a:moveTo>
                  <a:lnTo>
                    <a:pt x="5577" y="123352"/>
                  </a:lnTo>
                  <a:lnTo>
                    <a:pt x="20909" y="85023"/>
                  </a:lnTo>
                  <a:lnTo>
                    <a:pt x="44592" y="51572"/>
                  </a:lnTo>
                  <a:lnTo>
                    <a:pt x="76657" y="25100"/>
                  </a:lnTo>
                  <a:lnTo>
                    <a:pt x="114284" y="7665"/>
                  </a:lnTo>
                  <a:lnTo>
                    <a:pt x="155402" y="0"/>
                  </a:lnTo>
                  <a:lnTo>
                    <a:pt x="175610" y="0"/>
                  </a:lnTo>
                  <a:lnTo>
                    <a:pt x="216026" y="7665"/>
                  </a:lnTo>
                  <a:lnTo>
                    <a:pt x="253669" y="25100"/>
                  </a:lnTo>
                  <a:lnTo>
                    <a:pt x="285719" y="51572"/>
                  </a:lnTo>
                  <a:lnTo>
                    <a:pt x="309417" y="85023"/>
                  </a:lnTo>
                  <a:lnTo>
                    <a:pt x="324749" y="123352"/>
                  </a:lnTo>
                  <a:lnTo>
                    <a:pt x="330326" y="164470"/>
                  </a:lnTo>
                  <a:lnTo>
                    <a:pt x="328924" y="184678"/>
                  </a:lnTo>
                  <a:lnTo>
                    <a:pt x="318470" y="225094"/>
                  </a:lnTo>
                  <a:lnTo>
                    <a:pt x="298963" y="261335"/>
                  </a:lnTo>
                  <a:lnTo>
                    <a:pt x="270388" y="290611"/>
                  </a:lnTo>
                  <a:lnTo>
                    <a:pt x="235549" y="312907"/>
                  </a:lnTo>
                  <a:lnTo>
                    <a:pt x="195818" y="325450"/>
                  </a:lnTo>
                  <a:lnTo>
                    <a:pt x="175610" y="328239"/>
                  </a:lnTo>
                  <a:lnTo>
                    <a:pt x="155402" y="328239"/>
                  </a:lnTo>
                  <a:lnTo>
                    <a:pt x="114284" y="320573"/>
                  </a:lnTo>
                  <a:lnTo>
                    <a:pt x="76657" y="302453"/>
                  </a:lnTo>
                  <a:lnTo>
                    <a:pt x="44592" y="276666"/>
                  </a:lnTo>
                  <a:lnTo>
                    <a:pt x="20909" y="243916"/>
                  </a:lnTo>
                  <a:lnTo>
                    <a:pt x="5577" y="204886"/>
                  </a:lnTo>
                  <a:lnTo>
                    <a:pt x="0" y="16447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789913" y="7104760"/>
              <a:ext cx="330200" cy="328295"/>
            </a:xfrm>
            <a:custGeom>
              <a:avLst/>
              <a:gdLst/>
              <a:ahLst/>
              <a:cxnLst/>
              <a:rect l="l" t="t" r="r" b="b"/>
              <a:pathLst>
                <a:path w="330200" h="328295">
                  <a:moveTo>
                    <a:pt x="175610" y="0"/>
                  </a:moveTo>
                  <a:lnTo>
                    <a:pt x="154701" y="0"/>
                  </a:lnTo>
                  <a:lnTo>
                    <a:pt x="134492" y="2087"/>
                  </a:lnTo>
                  <a:lnTo>
                    <a:pt x="94777" y="15331"/>
                  </a:lnTo>
                  <a:lnTo>
                    <a:pt x="59923" y="37627"/>
                  </a:lnTo>
                  <a:lnTo>
                    <a:pt x="31363" y="67589"/>
                  </a:lnTo>
                  <a:lnTo>
                    <a:pt x="11140" y="103830"/>
                  </a:lnTo>
                  <a:lnTo>
                    <a:pt x="1386" y="142859"/>
                  </a:lnTo>
                  <a:lnTo>
                    <a:pt x="0" y="163769"/>
                  </a:lnTo>
                  <a:lnTo>
                    <a:pt x="1386" y="184678"/>
                  </a:lnTo>
                  <a:lnTo>
                    <a:pt x="11140" y="224393"/>
                  </a:lnTo>
                  <a:lnTo>
                    <a:pt x="31363" y="260634"/>
                  </a:lnTo>
                  <a:lnTo>
                    <a:pt x="59923" y="290596"/>
                  </a:lnTo>
                  <a:lnTo>
                    <a:pt x="94777" y="312892"/>
                  </a:lnTo>
                  <a:lnTo>
                    <a:pt x="134492" y="325434"/>
                  </a:lnTo>
                  <a:lnTo>
                    <a:pt x="154701" y="328223"/>
                  </a:lnTo>
                  <a:lnTo>
                    <a:pt x="175610" y="328223"/>
                  </a:lnTo>
                  <a:lnTo>
                    <a:pt x="216026" y="320558"/>
                  </a:lnTo>
                  <a:lnTo>
                    <a:pt x="252968" y="303138"/>
                  </a:lnTo>
                  <a:lnTo>
                    <a:pt x="285018" y="276666"/>
                  </a:lnTo>
                  <a:lnTo>
                    <a:pt x="309417" y="243215"/>
                  </a:lnTo>
                  <a:lnTo>
                    <a:pt x="324749" y="204886"/>
                  </a:lnTo>
                  <a:lnTo>
                    <a:pt x="329625" y="163769"/>
                  </a:lnTo>
                  <a:lnTo>
                    <a:pt x="328223" y="142859"/>
                  </a:lnTo>
                  <a:lnTo>
                    <a:pt x="318470" y="103830"/>
                  </a:lnTo>
                  <a:lnTo>
                    <a:pt x="298262" y="67589"/>
                  </a:lnTo>
                  <a:lnTo>
                    <a:pt x="269687" y="37627"/>
                  </a:lnTo>
                  <a:lnTo>
                    <a:pt x="234848" y="15331"/>
                  </a:lnTo>
                  <a:lnTo>
                    <a:pt x="195818" y="2087"/>
                  </a:lnTo>
                  <a:lnTo>
                    <a:pt x="17561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3789913" y="7104760"/>
              <a:ext cx="330200" cy="328295"/>
            </a:xfrm>
            <a:custGeom>
              <a:avLst/>
              <a:gdLst/>
              <a:ahLst/>
              <a:cxnLst/>
              <a:rect l="l" t="t" r="r" b="b"/>
              <a:pathLst>
                <a:path w="330200" h="328295">
                  <a:moveTo>
                    <a:pt x="0" y="163769"/>
                  </a:moveTo>
                  <a:lnTo>
                    <a:pt x="4876" y="122651"/>
                  </a:lnTo>
                  <a:lnTo>
                    <a:pt x="20208" y="85008"/>
                  </a:lnTo>
                  <a:lnTo>
                    <a:pt x="44592" y="51572"/>
                  </a:lnTo>
                  <a:lnTo>
                    <a:pt x="76657" y="25085"/>
                  </a:lnTo>
                  <a:lnTo>
                    <a:pt x="114284" y="7665"/>
                  </a:lnTo>
                  <a:lnTo>
                    <a:pt x="154701" y="0"/>
                  </a:lnTo>
                  <a:lnTo>
                    <a:pt x="175610" y="0"/>
                  </a:lnTo>
                  <a:lnTo>
                    <a:pt x="216026" y="7665"/>
                  </a:lnTo>
                  <a:lnTo>
                    <a:pt x="252968" y="25085"/>
                  </a:lnTo>
                  <a:lnTo>
                    <a:pt x="285018" y="51572"/>
                  </a:lnTo>
                  <a:lnTo>
                    <a:pt x="309417" y="85008"/>
                  </a:lnTo>
                  <a:lnTo>
                    <a:pt x="324749" y="122651"/>
                  </a:lnTo>
                  <a:lnTo>
                    <a:pt x="329625" y="163769"/>
                  </a:lnTo>
                  <a:lnTo>
                    <a:pt x="328223" y="184678"/>
                  </a:lnTo>
                  <a:lnTo>
                    <a:pt x="318470" y="224393"/>
                  </a:lnTo>
                  <a:lnTo>
                    <a:pt x="298262" y="260634"/>
                  </a:lnTo>
                  <a:lnTo>
                    <a:pt x="269687" y="290596"/>
                  </a:lnTo>
                  <a:lnTo>
                    <a:pt x="234848" y="312892"/>
                  </a:lnTo>
                  <a:lnTo>
                    <a:pt x="195818" y="325434"/>
                  </a:lnTo>
                  <a:lnTo>
                    <a:pt x="175610" y="328223"/>
                  </a:lnTo>
                  <a:lnTo>
                    <a:pt x="154701" y="328223"/>
                  </a:lnTo>
                  <a:lnTo>
                    <a:pt x="114284" y="320558"/>
                  </a:lnTo>
                  <a:lnTo>
                    <a:pt x="76657" y="303138"/>
                  </a:lnTo>
                  <a:lnTo>
                    <a:pt x="44592" y="276666"/>
                  </a:lnTo>
                  <a:lnTo>
                    <a:pt x="20208" y="243215"/>
                  </a:lnTo>
                  <a:lnTo>
                    <a:pt x="4876" y="204886"/>
                  </a:lnTo>
                  <a:lnTo>
                    <a:pt x="0" y="163769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/>
          <p:cNvSpPr txBox="1"/>
          <p:nvPr/>
        </p:nvSpPr>
        <p:spPr>
          <a:xfrm>
            <a:off x="3866411" y="7115816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4045148" y="6440794"/>
            <a:ext cx="1945639" cy="1653539"/>
            <a:chOff x="4045148" y="6440794"/>
            <a:chExt cx="1945639" cy="1653539"/>
          </a:xfrm>
        </p:grpSpPr>
        <p:sp>
          <p:nvSpPr>
            <p:cNvPr id="60" name="object 60"/>
            <p:cNvSpPr/>
            <p:nvPr/>
          </p:nvSpPr>
          <p:spPr>
            <a:xfrm>
              <a:off x="4991343" y="6611365"/>
              <a:ext cx="0" cy="1405890"/>
            </a:xfrm>
            <a:custGeom>
              <a:avLst/>
              <a:gdLst/>
              <a:ahLst/>
              <a:cxnLst/>
              <a:rect l="l" t="t" r="r" b="b"/>
              <a:pathLst>
                <a:path w="0" h="1405890">
                  <a:moveTo>
                    <a:pt x="0" y="0"/>
                  </a:moveTo>
                  <a:lnTo>
                    <a:pt x="0" y="1405615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958592" y="6521465"/>
              <a:ext cx="65405" cy="98425"/>
            </a:xfrm>
            <a:custGeom>
              <a:avLst/>
              <a:gdLst/>
              <a:ahLst/>
              <a:cxnLst/>
              <a:rect l="l" t="t" r="r" b="b"/>
              <a:pathLst>
                <a:path w="65404" h="98425">
                  <a:moveTo>
                    <a:pt x="32750" y="0"/>
                  </a:moveTo>
                  <a:lnTo>
                    <a:pt x="0" y="98252"/>
                  </a:lnTo>
                  <a:lnTo>
                    <a:pt x="64800" y="98252"/>
                  </a:lnTo>
                  <a:lnTo>
                    <a:pt x="327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122328" y="6449684"/>
              <a:ext cx="725170" cy="629285"/>
            </a:xfrm>
            <a:custGeom>
              <a:avLst/>
              <a:gdLst/>
              <a:ahLst/>
              <a:cxnLst/>
              <a:rect l="l" t="t" r="r" b="b"/>
              <a:pathLst>
                <a:path w="725170" h="629284">
                  <a:moveTo>
                    <a:pt x="0" y="629290"/>
                  </a:moveTo>
                  <a:lnTo>
                    <a:pt x="724753" y="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054038" y="7049013"/>
              <a:ext cx="95885" cy="89535"/>
            </a:xfrm>
            <a:custGeom>
              <a:avLst/>
              <a:gdLst/>
              <a:ahLst/>
              <a:cxnLst/>
              <a:rect l="l" t="t" r="r" b="b"/>
              <a:pathLst>
                <a:path w="95885" h="89534">
                  <a:moveTo>
                    <a:pt x="52958" y="0"/>
                  </a:moveTo>
                  <a:lnTo>
                    <a:pt x="0" y="89199"/>
                  </a:lnTo>
                  <a:lnTo>
                    <a:pt x="95463" y="49469"/>
                  </a:lnTo>
                  <a:lnTo>
                    <a:pt x="5295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054038" y="7404425"/>
              <a:ext cx="727710" cy="631825"/>
            </a:xfrm>
            <a:custGeom>
              <a:avLst/>
              <a:gdLst/>
              <a:ahLst/>
              <a:cxnLst/>
              <a:rect l="l" t="t" r="r" b="b"/>
              <a:pathLst>
                <a:path w="727710" h="631825">
                  <a:moveTo>
                    <a:pt x="0" y="0"/>
                  </a:moveTo>
                  <a:lnTo>
                    <a:pt x="727542" y="631377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754407" y="8005140"/>
              <a:ext cx="95250" cy="89535"/>
            </a:xfrm>
            <a:custGeom>
              <a:avLst/>
              <a:gdLst/>
              <a:ahLst/>
              <a:cxnLst/>
              <a:rect l="l" t="t" r="r" b="b"/>
              <a:pathLst>
                <a:path w="95250" h="89534">
                  <a:moveTo>
                    <a:pt x="42504" y="0"/>
                  </a:moveTo>
                  <a:lnTo>
                    <a:pt x="0" y="49469"/>
                  </a:lnTo>
                  <a:lnTo>
                    <a:pt x="94777" y="89199"/>
                  </a:lnTo>
                  <a:lnTo>
                    <a:pt x="4250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5125150" y="6457350"/>
              <a:ext cx="790575" cy="640715"/>
            </a:xfrm>
            <a:custGeom>
              <a:avLst/>
              <a:gdLst/>
              <a:ahLst/>
              <a:cxnLst/>
              <a:rect l="l" t="t" r="r" b="b"/>
              <a:pathLst>
                <a:path w="790575" h="640715">
                  <a:moveTo>
                    <a:pt x="0" y="0"/>
                  </a:moveTo>
                  <a:lnTo>
                    <a:pt x="790270" y="64043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5888233" y="7067118"/>
              <a:ext cx="97155" cy="88265"/>
            </a:xfrm>
            <a:custGeom>
              <a:avLst/>
              <a:gdLst/>
              <a:ahLst/>
              <a:cxnLst/>
              <a:rect l="l" t="t" r="r" b="b"/>
              <a:pathLst>
                <a:path w="97154" h="88265">
                  <a:moveTo>
                    <a:pt x="41117" y="0"/>
                  </a:moveTo>
                  <a:lnTo>
                    <a:pt x="0" y="50886"/>
                  </a:lnTo>
                  <a:lnTo>
                    <a:pt x="96865" y="87812"/>
                  </a:lnTo>
                  <a:lnTo>
                    <a:pt x="4111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5171831" y="7388392"/>
              <a:ext cx="810260" cy="647065"/>
            </a:xfrm>
            <a:custGeom>
              <a:avLst/>
              <a:gdLst/>
              <a:ahLst/>
              <a:cxnLst/>
              <a:rect l="l" t="t" r="r" b="b"/>
              <a:pathLst>
                <a:path w="810260" h="647065">
                  <a:moveTo>
                    <a:pt x="809792" y="0"/>
                  </a:moveTo>
                  <a:lnTo>
                    <a:pt x="0" y="646709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5101452" y="8004439"/>
              <a:ext cx="97155" cy="87630"/>
            </a:xfrm>
            <a:custGeom>
              <a:avLst/>
              <a:gdLst/>
              <a:ahLst/>
              <a:cxnLst/>
              <a:rect l="l" t="t" r="r" b="b"/>
              <a:pathLst>
                <a:path w="97154" h="87629">
                  <a:moveTo>
                    <a:pt x="56448" y="0"/>
                  </a:moveTo>
                  <a:lnTo>
                    <a:pt x="0" y="87111"/>
                  </a:lnTo>
                  <a:lnTo>
                    <a:pt x="96865" y="51572"/>
                  </a:lnTo>
                  <a:lnTo>
                    <a:pt x="5644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105594" y="7271318"/>
              <a:ext cx="1760855" cy="0"/>
            </a:xfrm>
            <a:custGeom>
              <a:avLst/>
              <a:gdLst/>
              <a:ahLst/>
              <a:cxnLst/>
              <a:rect l="l" t="t" r="r" b="b"/>
              <a:pathLst>
                <a:path w="1760854" h="0">
                  <a:moveTo>
                    <a:pt x="0" y="0"/>
                  </a:moveTo>
                  <a:lnTo>
                    <a:pt x="1760341" y="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5858271" y="7238552"/>
              <a:ext cx="98425" cy="66040"/>
            </a:xfrm>
            <a:custGeom>
              <a:avLst/>
              <a:gdLst/>
              <a:ahLst/>
              <a:cxnLst/>
              <a:rect l="l" t="t" r="r" b="b"/>
              <a:pathLst>
                <a:path w="98425" h="66040">
                  <a:moveTo>
                    <a:pt x="0" y="0"/>
                  </a:moveTo>
                  <a:lnTo>
                    <a:pt x="0" y="65516"/>
                  </a:lnTo>
                  <a:lnTo>
                    <a:pt x="98267" y="327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" name="object 72"/>
          <p:cNvSpPr txBox="1"/>
          <p:nvPr/>
        </p:nvSpPr>
        <p:spPr>
          <a:xfrm>
            <a:off x="5497129" y="7715827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4909654" y="6221698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027459" y="7096291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4893625" y="8028726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160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282456" y="6576418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583545" y="6592447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60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4821847" y="6766668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387022" y="7014760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4251794" y="7699102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81" name="object 81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782670" y="6606244"/>
            <a:ext cx="277827" cy="102917"/>
          </a:xfrm>
          <a:prstGeom prst="rect">
            <a:avLst/>
          </a:prstGeom>
        </p:spPr>
      </p:pic>
      <p:pic>
        <p:nvPicPr>
          <p:cNvPr id="82" name="object 82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984048" y="7025771"/>
            <a:ext cx="277827" cy="102917"/>
          </a:xfrm>
          <a:prstGeom prst="rect">
            <a:avLst/>
          </a:prstGeom>
        </p:spPr>
      </p:pic>
      <p:pic>
        <p:nvPicPr>
          <p:cNvPr id="83" name="object 8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3230772" y="7025771"/>
            <a:ext cx="277827" cy="102917"/>
          </a:xfrm>
          <a:prstGeom prst="rect">
            <a:avLst/>
          </a:prstGeom>
        </p:spPr>
      </p:pic>
      <p:pic>
        <p:nvPicPr>
          <p:cNvPr id="84" name="object 84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979857" y="7859948"/>
            <a:ext cx="277827" cy="102902"/>
          </a:xfrm>
          <a:prstGeom prst="rect">
            <a:avLst/>
          </a:prstGeom>
        </p:spPr>
      </p:pic>
      <p:sp>
        <p:nvSpPr>
          <p:cNvPr id="85" name="object 85"/>
          <p:cNvSpPr txBox="1"/>
          <p:nvPr/>
        </p:nvSpPr>
        <p:spPr>
          <a:xfrm>
            <a:off x="2560128" y="8136052"/>
            <a:ext cx="474345" cy="3587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19379" sz="3225" spc="60" i="1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sz="1450" spc="40" i="1">
                <a:solidFill>
                  <a:srgbClr val="FFFF00"/>
                </a:solidFill>
                <a:latin typeface="Arial"/>
                <a:cs typeface="Arial"/>
              </a:rPr>
              <a:t>(1)</a:t>
            </a:r>
            <a:endParaRPr sz="1450">
              <a:latin typeface="Arial"/>
              <a:cs typeface="Arial"/>
            </a:endParaRPr>
          </a:p>
        </p:txBody>
      </p:sp>
      <p:graphicFrame>
        <p:nvGraphicFramePr>
          <p:cNvPr id="86" name="object 86"/>
          <p:cNvGraphicFramePr>
            <a:graphicFrameLocks noGrp="1"/>
          </p:cNvGraphicFramePr>
          <p:nvPr/>
        </p:nvGraphicFramePr>
        <p:xfrm>
          <a:off x="1889500" y="6450378"/>
          <a:ext cx="1707514" cy="16681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9895"/>
                <a:gridCol w="421640"/>
                <a:gridCol w="417194"/>
                <a:gridCol w="438150"/>
              </a:tblGrid>
              <a:tr h="416745"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016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marL="13144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</a:tr>
              <a:tr h="4167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0165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3189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417423"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8445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905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600" spc="15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8001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8445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8890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4167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8419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3189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31445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87" name="object 87"/>
          <p:cNvSpPr/>
          <p:nvPr/>
        </p:nvSpPr>
        <p:spPr>
          <a:xfrm>
            <a:off x="2354320" y="7301280"/>
            <a:ext cx="356870" cy="356235"/>
          </a:xfrm>
          <a:custGeom>
            <a:avLst/>
            <a:gdLst/>
            <a:ahLst/>
            <a:cxnLst/>
            <a:rect l="l" t="t" r="r" b="b"/>
            <a:pathLst>
              <a:path w="356869" h="356234">
                <a:moveTo>
                  <a:pt x="0" y="177698"/>
                </a:moveTo>
                <a:lnTo>
                  <a:pt x="5577" y="135895"/>
                </a:lnTo>
                <a:lnTo>
                  <a:pt x="20909" y="95478"/>
                </a:lnTo>
                <a:lnTo>
                  <a:pt x="45293" y="59923"/>
                </a:lnTo>
                <a:lnTo>
                  <a:pt x="77358" y="31363"/>
                </a:lnTo>
                <a:lnTo>
                  <a:pt x="115686" y="11155"/>
                </a:lnTo>
                <a:lnTo>
                  <a:pt x="156804" y="701"/>
                </a:lnTo>
                <a:lnTo>
                  <a:pt x="177713" y="0"/>
                </a:lnTo>
                <a:lnTo>
                  <a:pt x="199308" y="701"/>
                </a:lnTo>
                <a:lnTo>
                  <a:pt x="241127" y="11155"/>
                </a:lnTo>
                <a:lnTo>
                  <a:pt x="279455" y="31363"/>
                </a:lnTo>
                <a:lnTo>
                  <a:pt x="311505" y="59923"/>
                </a:lnTo>
                <a:lnTo>
                  <a:pt x="335904" y="95478"/>
                </a:lnTo>
                <a:lnTo>
                  <a:pt x="351236" y="135895"/>
                </a:lnTo>
                <a:lnTo>
                  <a:pt x="356814" y="177698"/>
                </a:lnTo>
                <a:lnTo>
                  <a:pt x="355412" y="199308"/>
                </a:lnTo>
                <a:lnTo>
                  <a:pt x="344957" y="241127"/>
                </a:lnTo>
                <a:lnTo>
                  <a:pt x="324749" y="278754"/>
                </a:lnTo>
                <a:lnTo>
                  <a:pt x="296174" y="311505"/>
                </a:lnTo>
                <a:lnTo>
                  <a:pt x="261335" y="335904"/>
                </a:lnTo>
                <a:lnTo>
                  <a:pt x="220919" y="351236"/>
                </a:lnTo>
                <a:lnTo>
                  <a:pt x="177713" y="356113"/>
                </a:lnTo>
                <a:lnTo>
                  <a:pt x="156804" y="354710"/>
                </a:lnTo>
                <a:lnTo>
                  <a:pt x="115686" y="344957"/>
                </a:lnTo>
                <a:lnTo>
                  <a:pt x="77358" y="324749"/>
                </a:lnTo>
                <a:lnTo>
                  <a:pt x="45293" y="296174"/>
                </a:lnTo>
                <a:lnTo>
                  <a:pt x="20909" y="260634"/>
                </a:lnTo>
                <a:lnTo>
                  <a:pt x="5577" y="220217"/>
                </a:lnTo>
                <a:lnTo>
                  <a:pt x="0" y="177698"/>
                </a:lnTo>
              </a:path>
            </a:pathLst>
          </a:custGeom>
          <a:ln w="11614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/>
          <p:cNvSpPr/>
          <p:nvPr/>
        </p:nvSpPr>
        <p:spPr>
          <a:xfrm>
            <a:off x="3171078" y="7301280"/>
            <a:ext cx="356235" cy="356235"/>
          </a:xfrm>
          <a:custGeom>
            <a:avLst/>
            <a:gdLst/>
            <a:ahLst/>
            <a:cxnLst/>
            <a:rect l="l" t="t" r="r" b="b"/>
            <a:pathLst>
              <a:path w="356235" h="356234">
                <a:moveTo>
                  <a:pt x="0" y="177698"/>
                </a:moveTo>
                <a:lnTo>
                  <a:pt x="5577" y="135895"/>
                </a:lnTo>
                <a:lnTo>
                  <a:pt x="20909" y="95478"/>
                </a:lnTo>
                <a:lnTo>
                  <a:pt x="45293" y="59923"/>
                </a:lnTo>
                <a:lnTo>
                  <a:pt x="77358" y="31363"/>
                </a:lnTo>
                <a:lnTo>
                  <a:pt x="114985" y="11155"/>
                </a:lnTo>
                <a:lnTo>
                  <a:pt x="156804" y="701"/>
                </a:lnTo>
                <a:lnTo>
                  <a:pt x="178399" y="0"/>
                </a:lnTo>
                <a:lnTo>
                  <a:pt x="199308" y="701"/>
                </a:lnTo>
                <a:lnTo>
                  <a:pt x="241127" y="11155"/>
                </a:lnTo>
                <a:lnTo>
                  <a:pt x="279455" y="31363"/>
                </a:lnTo>
                <a:lnTo>
                  <a:pt x="311505" y="59923"/>
                </a:lnTo>
                <a:lnTo>
                  <a:pt x="335889" y="95478"/>
                </a:lnTo>
                <a:lnTo>
                  <a:pt x="350535" y="135895"/>
                </a:lnTo>
                <a:lnTo>
                  <a:pt x="356113" y="177698"/>
                </a:lnTo>
                <a:lnTo>
                  <a:pt x="354710" y="199308"/>
                </a:lnTo>
                <a:lnTo>
                  <a:pt x="344256" y="241127"/>
                </a:lnTo>
                <a:lnTo>
                  <a:pt x="324749" y="278754"/>
                </a:lnTo>
                <a:lnTo>
                  <a:pt x="296875" y="311505"/>
                </a:lnTo>
                <a:lnTo>
                  <a:pt x="261335" y="335904"/>
                </a:lnTo>
                <a:lnTo>
                  <a:pt x="220903" y="351236"/>
                </a:lnTo>
                <a:lnTo>
                  <a:pt x="178399" y="356113"/>
                </a:lnTo>
                <a:lnTo>
                  <a:pt x="156804" y="354710"/>
                </a:lnTo>
                <a:lnTo>
                  <a:pt x="114985" y="344957"/>
                </a:lnTo>
                <a:lnTo>
                  <a:pt x="77358" y="324749"/>
                </a:lnTo>
                <a:lnTo>
                  <a:pt x="45293" y="296174"/>
                </a:lnTo>
                <a:lnTo>
                  <a:pt x="20909" y="260634"/>
                </a:lnTo>
                <a:lnTo>
                  <a:pt x="5577" y="220217"/>
                </a:lnTo>
                <a:lnTo>
                  <a:pt x="0" y="177698"/>
                </a:lnTo>
              </a:path>
            </a:pathLst>
          </a:custGeom>
          <a:ln w="11614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9" name="object 89"/>
          <p:cNvGrpSpPr/>
          <p:nvPr/>
        </p:nvGrpSpPr>
        <p:grpSpPr>
          <a:xfrm>
            <a:off x="5138556" y="7427422"/>
            <a:ext cx="985519" cy="758190"/>
            <a:chOff x="5138556" y="7427422"/>
            <a:chExt cx="985519" cy="758190"/>
          </a:xfrm>
        </p:grpSpPr>
        <p:sp>
          <p:nvSpPr>
            <p:cNvPr id="90" name="object 90"/>
            <p:cNvSpPr/>
            <p:nvPr/>
          </p:nvSpPr>
          <p:spPr>
            <a:xfrm>
              <a:off x="5300060" y="7516622"/>
              <a:ext cx="791845" cy="650240"/>
            </a:xfrm>
            <a:custGeom>
              <a:avLst/>
              <a:gdLst/>
              <a:ahLst/>
              <a:cxnLst/>
              <a:rect l="l" t="t" r="r" b="b"/>
              <a:pathLst>
                <a:path w="791845" h="650240">
                  <a:moveTo>
                    <a:pt x="791672" y="0"/>
                  </a:moveTo>
                  <a:lnTo>
                    <a:pt x="785393" y="35539"/>
                  </a:lnTo>
                </a:path>
                <a:path w="791845" h="650240">
                  <a:moveTo>
                    <a:pt x="776340" y="70378"/>
                  </a:moveTo>
                  <a:lnTo>
                    <a:pt x="774237" y="79446"/>
                  </a:lnTo>
                </a:path>
                <a:path w="791845" h="650240">
                  <a:moveTo>
                    <a:pt x="774237" y="79446"/>
                  </a:moveTo>
                  <a:lnTo>
                    <a:pt x="765886" y="105232"/>
                  </a:lnTo>
                </a:path>
                <a:path w="791845" h="650240">
                  <a:moveTo>
                    <a:pt x="752642" y="138668"/>
                  </a:moveTo>
                  <a:lnTo>
                    <a:pt x="745677" y="156789"/>
                  </a:lnTo>
                </a:path>
                <a:path w="791845" h="650240">
                  <a:moveTo>
                    <a:pt x="745677" y="156789"/>
                  </a:moveTo>
                  <a:lnTo>
                    <a:pt x="738698" y="172120"/>
                  </a:lnTo>
                </a:path>
                <a:path w="791845" h="650240">
                  <a:moveTo>
                    <a:pt x="722680" y="204185"/>
                  </a:moveTo>
                  <a:lnTo>
                    <a:pt x="707349" y="230657"/>
                  </a:lnTo>
                </a:path>
                <a:path w="791845" h="650240">
                  <a:moveTo>
                    <a:pt x="707349" y="230657"/>
                  </a:moveTo>
                  <a:lnTo>
                    <a:pt x="704560" y="234848"/>
                  </a:lnTo>
                </a:path>
                <a:path w="791845" h="650240">
                  <a:moveTo>
                    <a:pt x="685037" y="265511"/>
                  </a:moveTo>
                  <a:lnTo>
                    <a:pt x="684352" y="266898"/>
                  </a:lnTo>
                </a:path>
                <a:path w="791845" h="650240">
                  <a:moveTo>
                    <a:pt x="684352" y="266898"/>
                  </a:moveTo>
                  <a:lnTo>
                    <a:pt x="663442" y="294772"/>
                  </a:lnTo>
                </a:path>
                <a:path w="791845" h="650240">
                  <a:moveTo>
                    <a:pt x="641146" y="323347"/>
                  </a:moveTo>
                  <a:lnTo>
                    <a:pt x="630692" y="335889"/>
                  </a:lnTo>
                </a:path>
                <a:path w="791845" h="650240">
                  <a:moveTo>
                    <a:pt x="630692" y="335889"/>
                  </a:moveTo>
                  <a:lnTo>
                    <a:pt x="617448" y="350535"/>
                  </a:lnTo>
                </a:path>
                <a:path w="791845" h="650240">
                  <a:moveTo>
                    <a:pt x="592363" y="376321"/>
                  </a:moveTo>
                  <a:lnTo>
                    <a:pt x="568665" y="399318"/>
                  </a:lnTo>
                </a:path>
                <a:path w="791845" h="650240">
                  <a:moveTo>
                    <a:pt x="568665" y="399318"/>
                  </a:moveTo>
                  <a:lnTo>
                    <a:pt x="565876" y="401406"/>
                  </a:lnTo>
                </a:path>
                <a:path w="791845" h="650240">
                  <a:moveTo>
                    <a:pt x="538703" y="425089"/>
                  </a:moveTo>
                  <a:lnTo>
                    <a:pt x="533826" y="429280"/>
                  </a:lnTo>
                </a:path>
                <a:path w="791845" h="650240">
                  <a:moveTo>
                    <a:pt x="533826" y="429280"/>
                  </a:moveTo>
                  <a:lnTo>
                    <a:pt x="510128" y="447400"/>
                  </a:lnTo>
                </a:path>
                <a:path w="791845" h="650240">
                  <a:moveTo>
                    <a:pt x="481553" y="468995"/>
                  </a:moveTo>
                  <a:lnTo>
                    <a:pt x="459943" y="484327"/>
                  </a:lnTo>
                </a:path>
                <a:path w="791845" h="650240">
                  <a:moveTo>
                    <a:pt x="459943" y="484327"/>
                  </a:moveTo>
                  <a:lnTo>
                    <a:pt x="452277" y="489203"/>
                  </a:lnTo>
                </a:path>
                <a:path w="791845" h="650240">
                  <a:moveTo>
                    <a:pt x="421614" y="508025"/>
                  </a:moveTo>
                  <a:lnTo>
                    <a:pt x="419526" y="509412"/>
                  </a:lnTo>
                </a:path>
                <a:path w="791845" h="650240">
                  <a:moveTo>
                    <a:pt x="419526" y="509412"/>
                  </a:moveTo>
                  <a:lnTo>
                    <a:pt x="390265" y="525444"/>
                  </a:lnTo>
                </a:path>
                <a:path w="791845" h="650240">
                  <a:moveTo>
                    <a:pt x="358200" y="542178"/>
                  </a:moveTo>
                  <a:lnTo>
                    <a:pt x="334502" y="554019"/>
                  </a:lnTo>
                </a:path>
                <a:path w="791845" h="650240">
                  <a:moveTo>
                    <a:pt x="334502" y="554019"/>
                  </a:moveTo>
                  <a:lnTo>
                    <a:pt x="325450" y="558195"/>
                  </a:lnTo>
                </a:path>
                <a:path w="791845" h="650240">
                  <a:moveTo>
                    <a:pt x="291998" y="572841"/>
                  </a:moveTo>
                  <a:lnTo>
                    <a:pt x="289910" y="573526"/>
                  </a:lnTo>
                </a:path>
                <a:path w="791845" h="650240">
                  <a:moveTo>
                    <a:pt x="289910" y="573526"/>
                  </a:moveTo>
                  <a:lnTo>
                    <a:pt x="258546" y="586069"/>
                  </a:lnTo>
                </a:path>
                <a:path w="791845" h="650240">
                  <a:moveTo>
                    <a:pt x="224408" y="597926"/>
                  </a:moveTo>
                  <a:lnTo>
                    <a:pt x="197220" y="607679"/>
                  </a:lnTo>
                </a:path>
                <a:path w="791845" h="650240">
                  <a:moveTo>
                    <a:pt x="197220" y="607679"/>
                  </a:moveTo>
                  <a:lnTo>
                    <a:pt x="190957" y="609767"/>
                  </a:lnTo>
                </a:path>
                <a:path w="791845" h="650240">
                  <a:moveTo>
                    <a:pt x="156103" y="619521"/>
                  </a:moveTo>
                  <a:lnTo>
                    <a:pt x="149138" y="621624"/>
                  </a:lnTo>
                </a:path>
                <a:path w="791845" h="650240">
                  <a:moveTo>
                    <a:pt x="149138" y="621624"/>
                  </a:moveTo>
                  <a:lnTo>
                    <a:pt x="120563" y="627887"/>
                  </a:lnTo>
                </a:path>
                <a:path w="791845" h="650240">
                  <a:moveTo>
                    <a:pt x="85023" y="635553"/>
                  </a:moveTo>
                  <a:lnTo>
                    <a:pt x="50185" y="642518"/>
                  </a:lnTo>
                </a:path>
                <a:path w="791845" h="650240">
                  <a:moveTo>
                    <a:pt x="50185" y="642518"/>
                  </a:moveTo>
                  <a:lnTo>
                    <a:pt x="49484" y="642518"/>
                  </a:lnTo>
                </a:path>
                <a:path w="791845" h="650240">
                  <a:moveTo>
                    <a:pt x="13944" y="648096"/>
                  </a:moveTo>
                  <a:lnTo>
                    <a:pt x="0" y="650184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5277764" y="8166806"/>
              <a:ext cx="22860" cy="2540"/>
            </a:xfrm>
            <a:custGeom>
              <a:avLst/>
              <a:gdLst/>
              <a:ahLst/>
              <a:cxnLst/>
              <a:rect l="l" t="t" r="r" b="b"/>
              <a:pathLst>
                <a:path w="22860" h="2540">
                  <a:moveTo>
                    <a:pt x="-8711" y="1051"/>
                  </a:moveTo>
                  <a:lnTo>
                    <a:pt x="31007" y="1051"/>
                  </a:lnTo>
                </a:path>
              </a:pathLst>
            </a:custGeom>
            <a:ln w="1952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5205983" y="8173085"/>
              <a:ext cx="36830" cy="2540"/>
            </a:xfrm>
            <a:custGeom>
              <a:avLst/>
              <a:gdLst/>
              <a:ahLst/>
              <a:cxnLst/>
              <a:rect l="l" t="t" r="r" b="b"/>
              <a:pathLst>
                <a:path w="36829" h="2540">
                  <a:moveTo>
                    <a:pt x="-8711" y="1043"/>
                  </a:moveTo>
                  <a:lnTo>
                    <a:pt x="44951" y="1043"/>
                  </a:lnTo>
                </a:path>
              </a:pathLst>
            </a:custGeom>
            <a:ln w="1951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5147446" y="8176575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 h="0">
                  <a:moveTo>
                    <a:pt x="22296" y="0"/>
                  </a:moveTo>
                  <a:lnTo>
                    <a:pt x="0" y="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6058981" y="7427422"/>
              <a:ext cx="65405" cy="99695"/>
            </a:xfrm>
            <a:custGeom>
              <a:avLst/>
              <a:gdLst/>
              <a:ahLst/>
              <a:cxnLst/>
              <a:rect l="l" t="t" r="r" b="b"/>
              <a:pathLst>
                <a:path w="65404" h="99695">
                  <a:moveTo>
                    <a:pt x="39715" y="0"/>
                  </a:moveTo>
                  <a:lnTo>
                    <a:pt x="0" y="94777"/>
                  </a:lnTo>
                  <a:lnTo>
                    <a:pt x="64800" y="99654"/>
                  </a:lnTo>
                  <a:lnTo>
                    <a:pt x="39715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5" name="object 95"/>
          <p:cNvSpPr txBox="1"/>
          <p:nvPr/>
        </p:nvSpPr>
        <p:spPr>
          <a:xfrm>
            <a:off x="5742429" y="7957648"/>
            <a:ext cx="25654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12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96" name="object 96"/>
          <p:cNvGrpSpPr/>
          <p:nvPr/>
        </p:nvGrpSpPr>
        <p:grpSpPr>
          <a:xfrm>
            <a:off x="3929283" y="7433685"/>
            <a:ext cx="888365" cy="765175"/>
            <a:chOff x="3929283" y="7433685"/>
            <a:chExt cx="888365" cy="765175"/>
          </a:xfrm>
        </p:grpSpPr>
        <p:sp>
          <p:nvSpPr>
            <p:cNvPr id="97" name="object 97"/>
            <p:cNvSpPr/>
            <p:nvPr/>
          </p:nvSpPr>
          <p:spPr>
            <a:xfrm>
              <a:off x="4772527" y="8188416"/>
              <a:ext cx="36830" cy="1905"/>
            </a:xfrm>
            <a:custGeom>
              <a:avLst/>
              <a:gdLst/>
              <a:ahLst/>
              <a:cxnLst/>
              <a:rect l="l" t="t" r="r" b="b"/>
              <a:pathLst>
                <a:path w="36829" h="1904">
                  <a:moveTo>
                    <a:pt x="-8711" y="693"/>
                  </a:moveTo>
                  <a:lnTo>
                    <a:pt x="44936" y="693"/>
                  </a:lnTo>
                </a:path>
              </a:pathLst>
            </a:custGeom>
            <a:ln w="1880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4713975" y="8184926"/>
              <a:ext cx="23495" cy="1905"/>
            </a:xfrm>
            <a:custGeom>
              <a:avLst/>
              <a:gdLst/>
              <a:ahLst/>
              <a:cxnLst/>
              <a:rect l="l" t="t" r="r" b="b"/>
              <a:pathLst>
                <a:path w="23495" h="1904">
                  <a:moveTo>
                    <a:pt x="-8711" y="701"/>
                  </a:moveTo>
                  <a:lnTo>
                    <a:pt x="31708" y="701"/>
                  </a:lnTo>
                </a:path>
              </a:pathLst>
            </a:custGeom>
            <a:ln w="188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3990609" y="7647624"/>
              <a:ext cx="723900" cy="537845"/>
            </a:xfrm>
            <a:custGeom>
              <a:avLst/>
              <a:gdLst/>
              <a:ahLst/>
              <a:cxnLst/>
              <a:rect l="l" t="t" r="r" b="b"/>
              <a:pathLst>
                <a:path w="723900" h="537845">
                  <a:moveTo>
                    <a:pt x="723366" y="537301"/>
                  </a:moveTo>
                  <a:lnTo>
                    <a:pt x="710138" y="535914"/>
                  </a:lnTo>
                </a:path>
                <a:path w="723900" h="537845">
                  <a:moveTo>
                    <a:pt x="673897" y="531738"/>
                  </a:moveTo>
                  <a:lnTo>
                    <a:pt x="638357" y="524758"/>
                  </a:lnTo>
                </a:path>
                <a:path w="723900" h="537845">
                  <a:moveTo>
                    <a:pt x="602818" y="517794"/>
                  </a:moveTo>
                  <a:lnTo>
                    <a:pt x="582594" y="512917"/>
                  </a:lnTo>
                </a:path>
                <a:path w="723900" h="537845">
                  <a:moveTo>
                    <a:pt x="582594" y="512917"/>
                  </a:moveTo>
                  <a:lnTo>
                    <a:pt x="567964" y="508741"/>
                  </a:lnTo>
                </a:path>
                <a:path w="723900" h="537845">
                  <a:moveTo>
                    <a:pt x="533125" y="498287"/>
                  </a:moveTo>
                  <a:lnTo>
                    <a:pt x="499673" y="487131"/>
                  </a:lnTo>
                </a:path>
                <a:path w="723900" h="537845">
                  <a:moveTo>
                    <a:pt x="465521" y="473887"/>
                  </a:moveTo>
                  <a:lnTo>
                    <a:pt x="449503" y="467624"/>
                  </a:lnTo>
                </a:path>
                <a:path w="723900" h="537845">
                  <a:moveTo>
                    <a:pt x="449503" y="467624"/>
                  </a:moveTo>
                  <a:lnTo>
                    <a:pt x="432069" y="459958"/>
                  </a:lnTo>
                </a:path>
                <a:path w="723900" h="537845">
                  <a:moveTo>
                    <a:pt x="399318" y="443925"/>
                  </a:moveTo>
                  <a:lnTo>
                    <a:pt x="366567" y="427893"/>
                  </a:lnTo>
                </a:path>
                <a:path w="723900" h="537845">
                  <a:moveTo>
                    <a:pt x="335904" y="409072"/>
                  </a:moveTo>
                  <a:lnTo>
                    <a:pt x="326151" y="403509"/>
                  </a:lnTo>
                </a:path>
                <a:path w="723900" h="537845">
                  <a:moveTo>
                    <a:pt x="326151" y="403509"/>
                  </a:moveTo>
                  <a:lnTo>
                    <a:pt x="305241" y="389564"/>
                  </a:lnTo>
                </a:path>
                <a:path w="723900" h="537845">
                  <a:moveTo>
                    <a:pt x="275965" y="369356"/>
                  </a:moveTo>
                  <a:lnTo>
                    <a:pt x="251581" y="351236"/>
                  </a:lnTo>
                </a:path>
                <a:path w="723900" h="537845">
                  <a:moveTo>
                    <a:pt x="251581" y="351236"/>
                  </a:moveTo>
                  <a:lnTo>
                    <a:pt x="247406" y="347746"/>
                  </a:lnTo>
                </a:path>
                <a:path w="723900" h="537845">
                  <a:moveTo>
                    <a:pt x="219516" y="325450"/>
                  </a:moveTo>
                  <a:lnTo>
                    <a:pt x="216743" y="322661"/>
                  </a:lnTo>
                </a:path>
                <a:path w="723900" h="537845">
                  <a:moveTo>
                    <a:pt x="216743" y="322661"/>
                  </a:moveTo>
                  <a:lnTo>
                    <a:pt x="193045" y="300365"/>
                  </a:lnTo>
                </a:path>
                <a:path w="723900" h="537845">
                  <a:moveTo>
                    <a:pt x="167258" y="274579"/>
                  </a:moveTo>
                  <a:lnTo>
                    <a:pt x="153314" y="259948"/>
                  </a:lnTo>
                </a:path>
                <a:path w="723900" h="537845">
                  <a:moveTo>
                    <a:pt x="153314" y="259948"/>
                  </a:moveTo>
                  <a:lnTo>
                    <a:pt x="142859" y="248091"/>
                  </a:lnTo>
                </a:path>
                <a:path w="723900" h="537845">
                  <a:moveTo>
                    <a:pt x="119862" y="220217"/>
                  </a:moveTo>
                  <a:lnTo>
                    <a:pt x="97566" y="191658"/>
                  </a:lnTo>
                </a:path>
                <a:path w="723900" h="537845">
                  <a:moveTo>
                    <a:pt x="78059" y="161681"/>
                  </a:moveTo>
                  <a:lnTo>
                    <a:pt x="73182" y="154716"/>
                  </a:lnTo>
                </a:path>
                <a:path w="723900" h="537845">
                  <a:moveTo>
                    <a:pt x="73182" y="154716"/>
                  </a:moveTo>
                  <a:lnTo>
                    <a:pt x="59237" y="131018"/>
                  </a:lnTo>
                </a:path>
                <a:path w="723900" h="537845">
                  <a:moveTo>
                    <a:pt x="41818" y="98968"/>
                  </a:moveTo>
                  <a:lnTo>
                    <a:pt x="31363" y="79446"/>
                  </a:lnTo>
                </a:path>
                <a:path w="723900" h="537845">
                  <a:moveTo>
                    <a:pt x="31363" y="79446"/>
                  </a:moveTo>
                  <a:lnTo>
                    <a:pt x="25786" y="66903"/>
                  </a:lnTo>
                </a:path>
                <a:path w="723900" h="537845">
                  <a:moveTo>
                    <a:pt x="12542" y="33451"/>
                  </a:moveTo>
                  <a:lnTo>
                    <a:pt x="0" y="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3990609" y="76469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70">
                  <a:moveTo>
                    <a:pt x="-8711" y="342"/>
                  </a:moveTo>
                  <a:lnTo>
                    <a:pt x="8711" y="342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3961348" y="7522885"/>
              <a:ext cx="19050" cy="89535"/>
            </a:xfrm>
            <a:custGeom>
              <a:avLst/>
              <a:gdLst/>
              <a:ahLst/>
              <a:cxnLst/>
              <a:rect l="l" t="t" r="r" b="b"/>
              <a:pathLst>
                <a:path w="19050" h="89534">
                  <a:moveTo>
                    <a:pt x="18806" y="89199"/>
                  </a:moveTo>
                  <a:lnTo>
                    <a:pt x="16718" y="83637"/>
                  </a:lnTo>
                </a:path>
                <a:path w="19050" h="89534">
                  <a:moveTo>
                    <a:pt x="16718" y="83637"/>
                  </a:moveTo>
                  <a:lnTo>
                    <a:pt x="9753" y="54361"/>
                  </a:lnTo>
                </a:path>
                <a:path w="19050" h="89534">
                  <a:moveTo>
                    <a:pt x="2788" y="18821"/>
                  </a:moveTo>
                  <a:lnTo>
                    <a:pt x="0" y="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3929283" y="7433685"/>
              <a:ext cx="66040" cy="99695"/>
            </a:xfrm>
            <a:custGeom>
              <a:avLst/>
              <a:gdLst/>
              <a:ahLst/>
              <a:cxnLst/>
              <a:rect l="l" t="t" r="r" b="b"/>
              <a:pathLst>
                <a:path w="66039" h="99695">
                  <a:moveTo>
                    <a:pt x="26487" y="0"/>
                  </a:moveTo>
                  <a:lnTo>
                    <a:pt x="0" y="99654"/>
                  </a:lnTo>
                  <a:lnTo>
                    <a:pt x="65516" y="95478"/>
                  </a:lnTo>
                  <a:lnTo>
                    <a:pt x="2648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3" name="object 103"/>
          <p:cNvSpPr txBox="1"/>
          <p:nvPr/>
        </p:nvSpPr>
        <p:spPr>
          <a:xfrm>
            <a:off x="4029479" y="7970894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2420491" y="8737713"/>
            <a:ext cx="33889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8.78: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Floyd-Warshall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d</a:t>
            </a:r>
            <a:r>
              <a:rPr dirty="0" baseline="31250" sz="1200" spc="-37">
                <a:latin typeface="Verdana"/>
                <a:cs typeface="Verdana"/>
              </a:rPr>
              <a:t>(</a:t>
            </a:r>
            <a:r>
              <a:rPr dirty="0" sz="1200" spc="-25">
                <a:latin typeface="Lucida Sans Unicode"/>
                <a:cs typeface="Lucida Sans Unicode"/>
              </a:rPr>
              <a:t>1</a:t>
            </a:r>
            <a:r>
              <a:rPr dirty="0" sz="1200" spc="-2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16</a:t>
            </a:r>
            <a:r>
              <a:rPr dirty="0" sz="1200" spc="-5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834895" y="938474"/>
            <a:ext cx="4559300" cy="2590800"/>
            <a:chOff x="1834895" y="938474"/>
            <a:chExt cx="4559300" cy="2590800"/>
          </a:xfrm>
        </p:grpSpPr>
        <p:sp>
          <p:nvSpPr>
            <p:cNvPr id="5" name="object 5"/>
            <p:cNvSpPr/>
            <p:nvPr/>
          </p:nvSpPr>
          <p:spPr>
            <a:xfrm>
              <a:off x="1834895" y="938474"/>
              <a:ext cx="4559300" cy="2590800"/>
            </a:xfrm>
            <a:custGeom>
              <a:avLst/>
              <a:gdLst/>
              <a:ahLst/>
              <a:cxnLst/>
              <a:rect l="l" t="t" r="r" b="b"/>
              <a:pathLst>
                <a:path w="4559300" h="2590800">
                  <a:moveTo>
                    <a:pt x="4559304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4559304" y="2590601"/>
                  </a:lnTo>
                  <a:lnTo>
                    <a:pt x="4559304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800767" y="2904266"/>
              <a:ext cx="330835" cy="328295"/>
            </a:xfrm>
            <a:custGeom>
              <a:avLst/>
              <a:gdLst/>
              <a:ahLst/>
              <a:cxnLst/>
              <a:rect l="l" t="t" r="r" b="b"/>
              <a:pathLst>
                <a:path w="330835" h="328294">
                  <a:moveTo>
                    <a:pt x="175610" y="0"/>
                  </a:moveTo>
                  <a:lnTo>
                    <a:pt x="154716" y="0"/>
                  </a:lnTo>
                  <a:lnTo>
                    <a:pt x="134492" y="2087"/>
                  </a:lnTo>
                  <a:lnTo>
                    <a:pt x="94777" y="15331"/>
                  </a:lnTo>
                  <a:lnTo>
                    <a:pt x="59938" y="36926"/>
                  </a:lnTo>
                  <a:lnTo>
                    <a:pt x="31363" y="67589"/>
                  </a:lnTo>
                  <a:lnTo>
                    <a:pt x="11841" y="103830"/>
                  </a:lnTo>
                  <a:lnTo>
                    <a:pt x="1402" y="143560"/>
                  </a:lnTo>
                  <a:lnTo>
                    <a:pt x="0" y="164454"/>
                  </a:lnTo>
                  <a:lnTo>
                    <a:pt x="1402" y="184678"/>
                  </a:lnTo>
                  <a:lnTo>
                    <a:pt x="11841" y="224393"/>
                  </a:lnTo>
                  <a:lnTo>
                    <a:pt x="31363" y="260634"/>
                  </a:lnTo>
                  <a:lnTo>
                    <a:pt x="59938" y="290596"/>
                  </a:lnTo>
                  <a:lnTo>
                    <a:pt x="94777" y="312892"/>
                  </a:lnTo>
                  <a:lnTo>
                    <a:pt x="134492" y="325434"/>
                  </a:lnTo>
                  <a:lnTo>
                    <a:pt x="154716" y="328223"/>
                  </a:lnTo>
                  <a:lnTo>
                    <a:pt x="175610" y="328223"/>
                  </a:lnTo>
                  <a:lnTo>
                    <a:pt x="216042" y="320558"/>
                  </a:lnTo>
                  <a:lnTo>
                    <a:pt x="253669" y="303138"/>
                  </a:lnTo>
                  <a:lnTo>
                    <a:pt x="285033" y="276666"/>
                  </a:lnTo>
                  <a:lnTo>
                    <a:pt x="309417" y="243215"/>
                  </a:lnTo>
                  <a:lnTo>
                    <a:pt x="324749" y="205572"/>
                  </a:lnTo>
                  <a:lnTo>
                    <a:pt x="330326" y="164454"/>
                  </a:lnTo>
                  <a:lnTo>
                    <a:pt x="328924" y="143560"/>
                  </a:lnTo>
                  <a:lnTo>
                    <a:pt x="318485" y="103830"/>
                  </a:lnTo>
                  <a:lnTo>
                    <a:pt x="298262" y="67589"/>
                  </a:lnTo>
                  <a:lnTo>
                    <a:pt x="270388" y="36926"/>
                  </a:lnTo>
                  <a:lnTo>
                    <a:pt x="234848" y="15331"/>
                  </a:lnTo>
                  <a:lnTo>
                    <a:pt x="196519" y="2087"/>
                  </a:lnTo>
                  <a:lnTo>
                    <a:pt x="17561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800767" y="2904266"/>
              <a:ext cx="330835" cy="328295"/>
            </a:xfrm>
            <a:custGeom>
              <a:avLst/>
              <a:gdLst/>
              <a:ahLst/>
              <a:cxnLst/>
              <a:rect l="l" t="t" r="r" b="b"/>
              <a:pathLst>
                <a:path w="330835" h="328294">
                  <a:moveTo>
                    <a:pt x="0" y="164454"/>
                  </a:moveTo>
                  <a:lnTo>
                    <a:pt x="4876" y="123352"/>
                  </a:lnTo>
                  <a:lnTo>
                    <a:pt x="20208" y="85008"/>
                  </a:lnTo>
                  <a:lnTo>
                    <a:pt x="44607" y="51572"/>
                  </a:lnTo>
                  <a:lnTo>
                    <a:pt x="76657" y="25085"/>
                  </a:lnTo>
                  <a:lnTo>
                    <a:pt x="114284" y="7665"/>
                  </a:lnTo>
                  <a:lnTo>
                    <a:pt x="154716" y="0"/>
                  </a:lnTo>
                  <a:lnTo>
                    <a:pt x="175610" y="0"/>
                  </a:lnTo>
                  <a:lnTo>
                    <a:pt x="216042" y="7665"/>
                  </a:lnTo>
                  <a:lnTo>
                    <a:pt x="253669" y="25085"/>
                  </a:lnTo>
                  <a:lnTo>
                    <a:pt x="285033" y="51572"/>
                  </a:lnTo>
                  <a:lnTo>
                    <a:pt x="309417" y="85008"/>
                  </a:lnTo>
                  <a:lnTo>
                    <a:pt x="324749" y="123352"/>
                  </a:lnTo>
                  <a:lnTo>
                    <a:pt x="330326" y="164454"/>
                  </a:lnTo>
                  <a:lnTo>
                    <a:pt x="328924" y="184678"/>
                  </a:lnTo>
                  <a:lnTo>
                    <a:pt x="318485" y="224393"/>
                  </a:lnTo>
                  <a:lnTo>
                    <a:pt x="298262" y="260634"/>
                  </a:lnTo>
                  <a:lnTo>
                    <a:pt x="270388" y="290596"/>
                  </a:lnTo>
                  <a:lnTo>
                    <a:pt x="234848" y="312892"/>
                  </a:lnTo>
                  <a:lnTo>
                    <a:pt x="196519" y="325434"/>
                  </a:lnTo>
                  <a:lnTo>
                    <a:pt x="175610" y="328223"/>
                  </a:lnTo>
                  <a:lnTo>
                    <a:pt x="154716" y="328223"/>
                  </a:lnTo>
                  <a:lnTo>
                    <a:pt x="114284" y="320558"/>
                  </a:lnTo>
                  <a:lnTo>
                    <a:pt x="76657" y="303138"/>
                  </a:lnTo>
                  <a:lnTo>
                    <a:pt x="44607" y="276666"/>
                  </a:lnTo>
                  <a:lnTo>
                    <a:pt x="20208" y="243215"/>
                  </a:lnTo>
                  <a:lnTo>
                    <a:pt x="4876" y="205572"/>
                  </a:lnTo>
                  <a:lnTo>
                    <a:pt x="0" y="164454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927628" y="1979488"/>
              <a:ext cx="330835" cy="329565"/>
            </a:xfrm>
            <a:custGeom>
              <a:avLst/>
              <a:gdLst/>
              <a:ahLst/>
              <a:cxnLst/>
              <a:rect l="l" t="t" r="r" b="b"/>
              <a:pathLst>
                <a:path w="330835" h="329564">
                  <a:moveTo>
                    <a:pt x="174924" y="0"/>
                  </a:moveTo>
                  <a:lnTo>
                    <a:pt x="154015" y="0"/>
                  </a:lnTo>
                  <a:lnTo>
                    <a:pt x="133807" y="2788"/>
                  </a:lnTo>
                  <a:lnTo>
                    <a:pt x="94091" y="15331"/>
                  </a:lnTo>
                  <a:lnTo>
                    <a:pt x="59938" y="37642"/>
                  </a:lnTo>
                  <a:lnTo>
                    <a:pt x="31363" y="67604"/>
                  </a:lnTo>
                  <a:lnTo>
                    <a:pt x="11856" y="103845"/>
                  </a:lnTo>
                  <a:lnTo>
                    <a:pt x="1402" y="143560"/>
                  </a:lnTo>
                  <a:lnTo>
                    <a:pt x="0" y="163769"/>
                  </a:lnTo>
                  <a:lnTo>
                    <a:pt x="1402" y="184678"/>
                  </a:lnTo>
                  <a:lnTo>
                    <a:pt x="11856" y="224408"/>
                  </a:lnTo>
                  <a:lnTo>
                    <a:pt x="31363" y="260634"/>
                  </a:lnTo>
                  <a:lnTo>
                    <a:pt x="59938" y="291297"/>
                  </a:lnTo>
                  <a:lnTo>
                    <a:pt x="94091" y="312907"/>
                  </a:lnTo>
                  <a:lnTo>
                    <a:pt x="133807" y="326151"/>
                  </a:lnTo>
                  <a:lnTo>
                    <a:pt x="154015" y="328940"/>
                  </a:lnTo>
                  <a:lnTo>
                    <a:pt x="174924" y="328940"/>
                  </a:lnTo>
                  <a:lnTo>
                    <a:pt x="216042" y="320573"/>
                  </a:lnTo>
                  <a:lnTo>
                    <a:pt x="252968" y="303154"/>
                  </a:lnTo>
                  <a:lnTo>
                    <a:pt x="285033" y="276666"/>
                  </a:lnTo>
                  <a:lnTo>
                    <a:pt x="309417" y="243215"/>
                  </a:lnTo>
                  <a:lnTo>
                    <a:pt x="324749" y="204886"/>
                  </a:lnTo>
                  <a:lnTo>
                    <a:pt x="330326" y="163769"/>
                  </a:lnTo>
                  <a:lnTo>
                    <a:pt x="328940" y="143560"/>
                  </a:lnTo>
                  <a:lnTo>
                    <a:pt x="318485" y="103845"/>
                  </a:lnTo>
                  <a:lnTo>
                    <a:pt x="298277" y="67604"/>
                  </a:lnTo>
                  <a:lnTo>
                    <a:pt x="269702" y="37642"/>
                  </a:lnTo>
                  <a:lnTo>
                    <a:pt x="234863" y="15331"/>
                  </a:lnTo>
                  <a:lnTo>
                    <a:pt x="195833" y="2788"/>
                  </a:lnTo>
                  <a:lnTo>
                    <a:pt x="17492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927628" y="1979488"/>
              <a:ext cx="330835" cy="329565"/>
            </a:xfrm>
            <a:custGeom>
              <a:avLst/>
              <a:gdLst/>
              <a:ahLst/>
              <a:cxnLst/>
              <a:rect l="l" t="t" r="r" b="b"/>
              <a:pathLst>
                <a:path w="330835" h="329564">
                  <a:moveTo>
                    <a:pt x="0" y="163769"/>
                  </a:moveTo>
                  <a:lnTo>
                    <a:pt x="4892" y="123352"/>
                  </a:lnTo>
                  <a:lnTo>
                    <a:pt x="20223" y="85023"/>
                  </a:lnTo>
                  <a:lnTo>
                    <a:pt x="44607" y="51572"/>
                  </a:lnTo>
                  <a:lnTo>
                    <a:pt x="76657" y="25786"/>
                  </a:lnTo>
                  <a:lnTo>
                    <a:pt x="113598" y="7665"/>
                  </a:lnTo>
                  <a:lnTo>
                    <a:pt x="154015" y="0"/>
                  </a:lnTo>
                  <a:lnTo>
                    <a:pt x="174924" y="0"/>
                  </a:lnTo>
                  <a:lnTo>
                    <a:pt x="216042" y="7665"/>
                  </a:lnTo>
                  <a:lnTo>
                    <a:pt x="252968" y="25786"/>
                  </a:lnTo>
                  <a:lnTo>
                    <a:pt x="285033" y="51572"/>
                  </a:lnTo>
                  <a:lnTo>
                    <a:pt x="309417" y="85023"/>
                  </a:lnTo>
                  <a:lnTo>
                    <a:pt x="324749" y="123352"/>
                  </a:lnTo>
                  <a:lnTo>
                    <a:pt x="330326" y="163769"/>
                  </a:lnTo>
                  <a:lnTo>
                    <a:pt x="328940" y="184678"/>
                  </a:lnTo>
                  <a:lnTo>
                    <a:pt x="318485" y="224408"/>
                  </a:lnTo>
                  <a:lnTo>
                    <a:pt x="298277" y="260634"/>
                  </a:lnTo>
                  <a:lnTo>
                    <a:pt x="269702" y="291297"/>
                  </a:lnTo>
                  <a:lnTo>
                    <a:pt x="234863" y="312907"/>
                  </a:lnTo>
                  <a:lnTo>
                    <a:pt x="195833" y="326151"/>
                  </a:lnTo>
                  <a:lnTo>
                    <a:pt x="174924" y="328940"/>
                  </a:lnTo>
                  <a:lnTo>
                    <a:pt x="154015" y="328940"/>
                  </a:lnTo>
                  <a:lnTo>
                    <a:pt x="113598" y="320573"/>
                  </a:lnTo>
                  <a:lnTo>
                    <a:pt x="76657" y="303154"/>
                  </a:lnTo>
                  <a:lnTo>
                    <a:pt x="44607" y="276666"/>
                  </a:lnTo>
                  <a:lnTo>
                    <a:pt x="20223" y="243215"/>
                  </a:lnTo>
                  <a:lnTo>
                    <a:pt x="4892" y="204886"/>
                  </a:lnTo>
                  <a:lnTo>
                    <a:pt x="0" y="163769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816799" y="1088176"/>
              <a:ext cx="330835" cy="328295"/>
            </a:xfrm>
            <a:custGeom>
              <a:avLst/>
              <a:gdLst/>
              <a:ahLst/>
              <a:cxnLst/>
              <a:rect l="l" t="t" r="r" b="b"/>
              <a:pathLst>
                <a:path w="330835" h="328294">
                  <a:moveTo>
                    <a:pt x="175610" y="0"/>
                  </a:moveTo>
                  <a:lnTo>
                    <a:pt x="154701" y="0"/>
                  </a:lnTo>
                  <a:lnTo>
                    <a:pt x="134492" y="2788"/>
                  </a:lnTo>
                  <a:lnTo>
                    <a:pt x="94777" y="15331"/>
                  </a:lnTo>
                  <a:lnTo>
                    <a:pt x="59923" y="36926"/>
                  </a:lnTo>
                  <a:lnTo>
                    <a:pt x="31363" y="66903"/>
                  </a:lnTo>
                  <a:lnTo>
                    <a:pt x="11841" y="103144"/>
                  </a:lnTo>
                  <a:lnTo>
                    <a:pt x="1386" y="143560"/>
                  </a:lnTo>
                  <a:lnTo>
                    <a:pt x="0" y="163769"/>
                  </a:lnTo>
                  <a:lnTo>
                    <a:pt x="1386" y="184678"/>
                  </a:lnTo>
                  <a:lnTo>
                    <a:pt x="11841" y="225094"/>
                  </a:lnTo>
                  <a:lnTo>
                    <a:pt x="31363" y="261335"/>
                  </a:lnTo>
                  <a:lnTo>
                    <a:pt x="59923" y="290596"/>
                  </a:lnTo>
                  <a:lnTo>
                    <a:pt x="94777" y="312907"/>
                  </a:lnTo>
                  <a:lnTo>
                    <a:pt x="134492" y="325450"/>
                  </a:lnTo>
                  <a:lnTo>
                    <a:pt x="154701" y="328239"/>
                  </a:lnTo>
                  <a:lnTo>
                    <a:pt x="175610" y="328239"/>
                  </a:lnTo>
                  <a:lnTo>
                    <a:pt x="216026" y="320573"/>
                  </a:lnTo>
                  <a:lnTo>
                    <a:pt x="252968" y="302453"/>
                  </a:lnTo>
                  <a:lnTo>
                    <a:pt x="285018" y="275965"/>
                  </a:lnTo>
                  <a:lnTo>
                    <a:pt x="309417" y="243215"/>
                  </a:lnTo>
                  <a:lnTo>
                    <a:pt x="324749" y="204886"/>
                  </a:lnTo>
                  <a:lnTo>
                    <a:pt x="330326" y="163769"/>
                  </a:lnTo>
                  <a:lnTo>
                    <a:pt x="328924" y="143560"/>
                  </a:lnTo>
                  <a:lnTo>
                    <a:pt x="318470" y="103144"/>
                  </a:lnTo>
                  <a:lnTo>
                    <a:pt x="298262" y="66903"/>
                  </a:lnTo>
                  <a:lnTo>
                    <a:pt x="270388" y="36926"/>
                  </a:lnTo>
                  <a:lnTo>
                    <a:pt x="234848" y="15331"/>
                  </a:lnTo>
                  <a:lnTo>
                    <a:pt x="195818" y="2788"/>
                  </a:lnTo>
                  <a:lnTo>
                    <a:pt x="17561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816799" y="1088176"/>
              <a:ext cx="330835" cy="328295"/>
            </a:xfrm>
            <a:custGeom>
              <a:avLst/>
              <a:gdLst/>
              <a:ahLst/>
              <a:cxnLst/>
              <a:rect l="l" t="t" r="r" b="b"/>
              <a:pathLst>
                <a:path w="330835" h="328294">
                  <a:moveTo>
                    <a:pt x="0" y="163769"/>
                  </a:moveTo>
                  <a:lnTo>
                    <a:pt x="4876" y="123352"/>
                  </a:lnTo>
                  <a:lnTo>
                    <a:pt x="20208" y="84322"/>
                  </a:lnTo>
                  <a:lnTo>
                    <a:pt x="44592" y="50871"/>
                  </a:lnTo>
                  <a:lnTo>
                    <a:pt x="76657" y="25085"/>
                  </a:lnTo>
                  <a:lnTo>
                    <a:pt x="114284" y="7665"/>
                  </a:lnTo>
                  <a:lnTo>
                    <a:pt x="154701" y="0"/>
                  </a:lnTo>
                  <a:lnTo>
                    <a:pt x="175610" y="0"/>
                  </a:lnTo>
                  <a:lnTo>
                    <a:pt x="216026" y="7665"/>
                  </a:lnTo>
                  <a:lnTo>
                    <a:pt x="252968" y="25085"/>
                  </a:lnTo>
                  <a:lnTo>
                    <a:pt x="285018" y="50871"/>
                  </a:lnTo>
                  <a:lnTo>
                    <a:pt x="309417" y="84322"/>
                  </a:lnTo>
                  <a:lnTo>
                    <a:pt x="324749" y="123352"/>
                  </a:lnTo>
                  <a:lnTo>
                    <a:pt x="330326" y="163769"/>
                  </a:lnTo>
                  <a:lnTo>
                    <a:pt x="328924" y="184678"/>
                  </a:lnTo>
                  <a:lnTo>
                    <a:pt x="318470" y="225094"/>
                  </a:lnTo>
                  <a:lnTo>
                    <a:pt x="298262" y="261335"/>
                  </a:lnTo>
                  <a:lnTo>
                    <a:pt x="270388" y="290596"/>
                  </a:lnTo>
                  <a:lnTo>
                    <a:pt x="234848" y="312907"/>
                  </a:lnTo>
                  <a:lnTo>
                    <a:pt x="195818" y="325450"/>
                  </a:lnTo>
                  <a:lnTo>
                    <a:pt x="175610" y="328239"/>
                  </a:lnTo>
                  <a:lnTo>
                    <a:pt x="154701" y="328239"/>
                  </a:lnTo>
                  <a:lnTo>
                    <a:pt x="114284" y="320573"/>
                  </a:lnTo>
                  <a:lnTo>
                    <a:pt x="76657" y="302453"/>
                  </a:lnTo>
                  <a:lnTo>
                    <a:pt x="44592" y="275965"/>
                  </a:lnTo>
                  <a:lnTo>
                    <a:pt x="20208" y="243215"/>
                  </a:lnTo>
                  <a:lnTo>
                    <a:pt x="4876" y="204886"/>
                  </a:lnTo>
                  <a:lnTo>
                    <a:pt x="0" y="163769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780525" y="1989942"/>
              <a:ext cx="330835" cy="328295"/>
            </a:xfrm>
            <a:custGeom>
              <a:avLst/>
              <a:gdLst/>
              <a:ahLst/>
              <a:cxnLst/>
              <a:rect l="l" t="t" r="r" b="b"/>
              <a:pathLst>
                <a:path w="330835" h="328294">
                  <a:moveTo>
                    <a:pt x="176311" y="0"/>
                  </a:moveTo>
                  <a:lnTo>
                    <a:pt x="155402" y="0"/>
                  </a:lnTo>
                  <a:lnTo>
                    <a:pt x="134492" y="2087"/>
                  </a:lnTo>
                  <a:lnTo>
                    <a:pt x="95478" y="15331"/>
                  </a:lnTo>
                  <a:lnTo>
                    <a:pt x="59938" y="37642"/>
                  </a:lnTo>
                  <a:lnTo>
                    <a:pt x="32064" y="67604"/>
                  </a:lnTo>
                  <a:lnTo>
                    <a:pt x="11841" y="103845"/>
                  </a:lnTo>
                  <a:lnTo>
                    <a:pt x="1402" y="142859"/>
                  </a:lnTo>
                  <a:lnTo>
                    <a:pt x="0" y="163769"/>
                  </a:lnTo>
                  <a:lnTo>
                    <a:pt x="1402" y="184678"/>
                  </a:lnTo>
                  <a:lnTo>
                    <a:pt x="11841" y="224408"/>
                  </a:lnTo>
                  <a:lnTo>
                    <a:pt x="32064" y="260634"/>
                  </a:lnTo>
                  <a:lnTo>
                    <a:pt x="59938" y="290611"/>
                  </a:lnTo>
                  <a:lnTo>
                    <a:pt x="95478" y="312907"/>
                  </a:lnTo>
                  <a:lnTo>
                    <a:pt x="134492" y="325450"/>
                  </a:lnTo>
                  <a:lnTo>
                    <a:pt x="155402" y="328239"/>
                  </a:lnTo>
                  <a:lnTo>
                    <a:pt x="176311" y="328239"/>
                  </a:lnTo>
                  <a:lnTo>
                    <a:pt x="216728" y="320573"/>
                  </a:lnTo>
                  <a:lnTo>
                    <a:pt x="253669" y="303154"/>
                  </a:lnTo>
                  <a:lnTo>
                    <a:pt x="285719" y="276666"/>
                  </a:lnTo>
                  <a:lnTo>
                    <a:pt x="310118" y="243215"/>
                  </a:lnTo>
                  <a:lnTo>
                    <a:pt x="325450" y="204886"/>
                  </a:lnTo>
                  <a:lnTo>
                    <a:pt x="330326" y="163769"/>
                  </a:lnTo>
                  <a:lnTo>
                    <a:pt x="328924" y="142859"/>
                  </a:lnTo>
                  <a:lnTo>
                    <a:pt x="318485" y="103845"/>
                  </a:lnTo>
                  <a:lnTo>
                    <a:pt x="298963" y="67604"/>
                  </a:lnTo>
                  <a:lnTo>
                    <a:pt x="270388" y="37642"/>
                  </a:lnTo>
                  <a:lnTo>
                    <a:pt x="235549" y="15331"/>
                  </a:lnTo>
                  <a:lnTo>
                    <a:pt x="196519" y="2087"/>
                  </a:lnTo>
                  <a:lnTo>
                    <a:pt x="17631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780525" y="1989942"/>
              <a:ext cx="330835" cy="328295"/>
            </a:xfrm>
            <a:custGeom>
              <a:avLst/>
              <a:gdLst/>
              <a:ahLst/>
              <a:cxnLst/>
              <a:rect l="l" t="t" r="r" b="b"/>
              <a:pathLst>
                <a:path w="330835" h="328294">
                  <a:moveTo>
                    <a:pt x="0" y="163769"/>
                  </a:moveTo>
                  <a:lnTo>
                    <a:pt x="5577" y="122651"/>
                  </a:lnTo>
                  <a:lnTo>
                    <a:pt x="20909" y="85023"/>
                  </a:lnTo>
                  <a:lnTo>
                    <a:pt x="45293" y="51572"/>
                  </a:lnTo>
                  <a:lnTo>
                    <a:pt x="76657" y="25085"/>
                  </a:lnTo>
                  <a:lnTo>
                    <a:pt x="114284" y="7665"/>
                  </a:lnTo>
                  <a:lnTo>
                    <a:pt x="155402" y="0"/>
                  </a:lnTo>
                  <a:lnTo>
                    <a:pt x="176311" y="0"/>
                  </a:lnTo>
                  <a:lnTo>
                    <a:pt x="216728" y="7665"/>
                  </a:lnTo>
                  <a:lnTo>
                    <a:pt x="253669" y="25085"/>
                  </a:lnTo>
                  <a:lnTo>
                    <a:pt x="285719" y="51572"/>
                  </a:lnTo>
                  <a:lnTo>
                    <a:pt x="310118" y="85023"/>
                  </a:lnTo>
                  <a:lnTo>
                    <a:pt x="325450" y="122651"/>
                  </a:lnTo>
                  <a:lnTo>
                    <a:pt x="330326" y="163769"/>
                  </a:lnTo>
                  <a:lnTo>
                    <a:pt x="328924" y="184678"/>
                  </a:lnTo>
                  <a:lnTo>
                    <a:pt x="318485" y="224408"/>
                  </a:lnTo>
                  <a:lnTo>
                    <a:pt x="298963" y="260634"/>
                  </a:lnTo>
                  <a:lnTo>
                    <a:pt x="270388" y="290611"/>
                  </a:lnTo>
                  <a:lnTo>
                    <a:pt x="235549" y="312907"/>
                  </a:lnTo>
                  <a:lnTo>
                    <a:pt x="196519" y="325450"/>
                  </a:lnTo>
                  <a:lnTo>
                    <a:pt x="176311" y="328239"/>
                  </a:lnTo>
                  <a:lnTo>
                    <a:pt x="155402" y="328239"/>
                  </a:lnTo>
                  <a:lnTo>
                    <a:pt x="114284" y="320573"/>
                  </a:lnTo>
                  <a:lnTo>
                    <a:pt x="76657" y="303154"/>
                  </a:lnTo>
                  <a:lnTo>
                    <a:pt x="45293" y="276666"/>
                  </a:lnTo>
                  <a:lnTo>
                    <a:pt x="20909" y="243215"/>
                  </a:lnTo>
                  <a:lnTo>
                    <a:pt x="5577" y="204886"/>
                  </a:lnTo>
                  <a:lnTo>
                    <a:pt x="0" y="163769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3857724" y="2001008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4036461" y="1325976"/>
            <a:ext cx="1945639" cy="1653539"/>
            <a:chOff x="4036461" y="1325976"/>
            <a:chExt cx="1945639" cy="1653539"/>
          </a:xfrm>
        </p:grpSpPr>
        <p:sp>
          <p:nvSpPr>
            <p:cNvPr id="16" name="object 16"/>
            <p:cNvSpPr/>
            <p:nvPr/>
          </p:nvSpPr>
          <p:spPr>
            <a:xfrm>
              <a:off x="4982657" y="1496547"/>
              <a:ext cx="0" cy="1405890"/>
            </a:xfrm>
            <a:custGeom>
              <a:avLst/>
              <a:gdLst/>
              <a:ahLst/>
              <a:cxnLst/>
              <a:rect l="l" t="t" r="r" b="b"/>
              <a:pathLst>
                <a:path w="0" h="1405889">
                  <a:moveTo>
                    <a:pt x="0" y="0"/>
                  </a:moveTo>
                  <a:lnTo>
                    <a:pt x="0" y="140563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949906" y="1406647"/>
              <a:ext cx="65405" cy="98425"/>
            </a:xfrm>
            <a:custGeom>
              <a:avLst/>
              <a:gdLst/>
              <a:ahLst/>
              <a:cxnLst/>
              <a:rect l="l" t="t" r="r" b="b"/>
              <a:pathLst>
                <a:path w="65404" h="98425">
                  <a:moveTo>
                    <a:pt x="32750" y="0"/>
                  </a:moveTo>
                  <a:lnTo>
                    <a:pt x="0" y="98267"/>
                  </a:lnTo>
                  <a:lnTo>
                    <a:pt x="64800" y="98267"/>
                  </a:lnTo>
                  <a:lnTo>
                    <a:pt x="327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112940" y="1334866"/>
              <a:ext cx="725170" cy="629285"/>
            </a:xfrm>
            <a:custGeom>
              <a:avLst/>
              <a:gdLst/>
              <a:ahLst/>
              <a:cxnLst/>
              <a:rect l="l" t="t" r="r" b="b"/>
              <a:pathLst>
                <a:path w="725170" h="629285">
                  <a:moveTo>
                    <a:pt x="0" y="629290"/>
                  </a:moveTo>
                  <a:lnTo>
                    <a:pt x="724768" y="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045351" y="1934194"/>
              <a:ext cx="95885" cy="89535"/>
            </a:xfrm>
            <a:custGeom>
              <a:avLst/>
              <a:gdLst/>
              <a:ahLst/>
              <a:cxnLst/>
              <a:rect l="l" t="t" r="r" b="b"/>
              <a:pathLst>
                <a:path w="95885" h="89535">
                  <a:moveTo>
                    <a:pt x="52257" y="0"/>
                  </a:moveTo>
                  <a:lnTo>
                    <a:pt x="0" y="89199"/>
                  </a:lnTo>
                  <a:lnTo>
                    <a:pt x="95463" y="49484"/>
                  </a:lnTo>
                  <a:lnTo>
                    <a:pt x="5225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045351" y="2289606"/>
              <a:ext cx="727075" cy="631825"/>
            </a:xfrm>
            <a:custGeom>
              <a:avLst/>
              <a:gdLst/>
              <a:ahLst/>
              <a:cxnLst/>
              <a:rect l="l" t="t" r="r" b="b"/>
              <a:pathLst>
                <a:path w="727075" h="631825">
                  <a:moveTo>
                    <a:pt x="0" y="0"/>
                  </a:moveTo>
                  <a:lnTo>
                    <a:pt x="726841" y="631377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745720" y="2890322"/>
              <a:ext cx="95250" cy="89535"/>
            </a:xfrm>
            <a:custGeom>
              <a:avLst/>
              <a:gdLst/>
              <a:ahLst/>
              <a:cxnLst/>
              <a:rect l="l" t="t" r="r" b="b"/>
              <a:pathLst>
                <a:path w="95250" h="89535">
                  <a:moveTo>
                    <a:pt x="41803" y="0"/>
                  </a:moveTo>
                  <a:lnTo>
                    <a:pt x="0" y="49484"/>
                  </a:lnTo>
                  <a:lnTo>
                    <a:pt x="94777" y="89199"/>
                  </a:lnTo>
                  <a:lnTo>
                    <a:pt x="41803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5116464" y="1342532"/>
              <a:ext cx="790575" cy="640715"/>
            </a:xfrm>
            <a:custGeom>
              <a:avLst/>
              <a:gdLst/>
              <a:ahLst/>
              <a:cxnLst/>
              <a:rect l="l" t="t" r="r" b="b"/>
              <a:pathLst>
                <a:path w="790575" h="640714">
                  <a:moveTo>
                    <a:pt x="0" y="0"/>
                  </a:moveTo>
                  <a:lnTo>
                    <a:pt x="790270" y="640445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5879546" y="1952315"/>
              <a:ext cx="97155" cy="88265"/>
            </a:xfrm>
            <a:custGeom>
              <a:avLst/>
              <a:gdLst/>
              <a:ahLst/>
              <a:cxnLst/>
              <a:rect l="l" t="t" r="r" b="b"/>
              <a:pathLst>
                <a:path w="97154" h="88264">
                  <a:moveTo>
                    <a:pt x="41117" y="0"/>
                  </a:moveTo>
                  <a:lnTo>
                    <a:pt x="0" y="50871"/>
                  </a:lnTo>
                  <a:lnTo>
                    <a:pt x="96865" y="87812"/>
                  </a:lnTo>
                  <a:lnTo>
                    <a:pt x="4111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5163144" y="2273574"/>
              <a:ext cx="810260" cy="647700"/>
            </a:xfrm>
            <a:custGeom>
              <a:avLst/>
              <a:gdLst/>
              <a:ahLst/>
              <a:cxnLst/>
              <a:rect l="l" t="t" r="r" b="b"/>
              <a:pathLst>
                <a:path w="810260" h="647700">
                  <a:moveTo>
                    <a:pt x="809792" y="0"/>
                  </a:moveTo>
                  <a:lnTo>
                    <a:pt x="0" y="64741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5092766" y="2889621"/>
              <a:ext cx="97155" cy="87630"/>
            </a:xfrm>
            <a:custGeom>
              <a:avLst/>
              <a:gdLst/>
              <a:ahLst/>
              <a:cxnLst/>
              <a:rect l="l" t="t" r="r" b="b"/>
              <a:pathLst>
                <a:path w="97154" h="87630">
                  <a:moveTo>
                    <a:pt x="55747" y="0"/>
                  </a:moveTo>
                  <a:lnTo>
                    <a:pt x="0" y="87111"/>
                  </a:lnTo>
                  <a:lnTo>
                    <a:pt x="96865" y="51572"/>
                  </a:lnTo>
                  <a:lnTo>
                    <a:pt x="5574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096908" y="2156500"/>
              <a:ext cx="1760855" cy="0"/>
            </a:xfrm>
            <a:custGeom>
              <a:avLst/>
              <a:gdLst/>
              <a:ahLst/>
              <a:cxnLst/>
              <a:rect l="l" t="t" r="r" b="b"/>
              <a:pathLst>
                <a:path w="1760854" h="0">
                  <a:moveTo>
                    <a:pt x="0" y="0"/>
                  </a:moveTo>
                  <a:lnTo>
                    <a:pt x="1760341" y="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848883" y="2123750"/>
              <a:ext cx="98425" cy="66040"/>
            </a:xfrm>
            <a:custGeom>
              <a:avLst/>
              <a:gdLst/>
              <a:ahLst/>
              <a:cxnLst/>
              <a:rect l="l" t="t" r="r" b="b"/>
              <a:pathLst>
                <a:path w="98425" h="66039">
                  <a:moveTo>
                    <a:pt x="0" y="0"/>
                  </a:moveTo>
                  <a:lnTo>
                    <a:pt x="0" y="65501"/>
                  </a:lnTo>
                  <a:lnTo>
                    <a:pt x="98267" y="327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 txBox="1"/>
          <p:nvPr/>
        </p:nvSpPr>
        <p:spPr>
          <a:xfrm>
            <a:off x="4900963" y="1106889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018769" y="1981482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884934" y="2913916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16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118359" y="1598197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851514" y="1663007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6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822213" y="1552899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586697" y="1899948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496070" y="2751544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36" name="object 3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75362" y="1910968"/>
            <a:ext cx="277827" cy="102902"/>
          </a:xfrm>
          <a:prstGeom prst="rect">
            <a:avLst/>
          </a:prstGeom>
        </p:spPr>
      </p:pic>
      <p:pic>
        <p:nvPicPr>
          <p:cNvPr id="37" name="object 3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222085" y="1910968"/>
            <a:ext cx="277827" cy="102902"/>
          </a:xfrm>
          <a:prstGeom prst="rect">
            <a:avLst/>
          </a:prstGeom>
        </p:spPr>
      </p:pic>
      <p:pic>
        <p:nvPicPr>
          <p:cNvPr id="38" name="object 3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970485" y="2745144"/>
            <a:ext cx="277827" cy="102902"/>
          </a:xfrm>
          <a:prstGeom prst="rect">
            <a:avLst/>
          </a:prstGeom>
        </p:spPr>
      </p:pic>
      <p:sp>
        <p:nvSpPr>
          <p:cNvPr id="39" name="object 39"/>
          <p:cNvSpPr txBox="1"/>
          <p:nvPr/>
        </p:nvSpPr>
        <p:spPr>
          <a:xfrm>
            <a:off x="2550743" y="3021244"/>
            <a:ext cx="474345" cy="3587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19379" sz="3225" spc="60" i="1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sz="1450" spc="40" i="1">
                <a:solidFill>
                  <a:srgbClr val="FFFF00"/>
                </a:solidFill>
                <a:latin typeface="Arial"/>
                <a:cs typeface="Arial"/>
              </a:rPr>
              <a:t>(2)</a:t>
            </a:r>
            <a:endParaRPr sz="1450">
              <a:latin typeface="Arial"/>
              <a:cs typeface="Arial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2762371" y="2603901"/>
            <a:ext cx="356235" cy="355600"/>
          </a:xfrm>
          <a:custGeom>
            <a:avLst/>
            <a:gdLst/>
            <a:ahLst/>
            <a:cxnLst/>
            <a:rect l="l" t="t" r="r" b="b"/>
            <a:pathLst>
              <a:path w="356235" h="355600">
                <a:moveTo>
                  <a:pt x="0" y="177713"/>
                </a:moveTo>
                <a:lnTo>
                  <a:pt x="4876" y="135194"/>
                </a:lnTo>
                <a:lnTo>
                  <a:pt x="20208" y="94777"/>
                </a:lnTo>
                <a:lnTo>
                  <a:pt x="44607" y="59237"/>
                </a:lnTo>
                <a:lnTo>
                  <a:pt x="77358" y="30662"/>
                </a:lnTo>
                <a:lnTo>
                  <a:pt x="114985" y="10454"/>
                </a:lnTo>
                <a:lnTo>
                  <a:pt x="156804" y="1402"/>
                </a:lnTo>
                <a:lnTo>
                  <a:pt x="178399" y="0"/>
                </a:lnTo>
                <a:lnTo>
                  <a:pt x="200009" y="1402"/>
                </a:lnTo>
                <a:lnTo>
                  <a:pt x="241127" y="10454"/>
                </a:lnTo>
                <a:lnTo>
                  <a:pt x="279455" y="30662"/>
                </a:lnTo>
                <a:lnTo>
                  <a:pt x="311505" y="59237"/>
                </a:lnTo>
                <a:lnTo>
                  <a:pt x="335904" y="94777"/>
                </a:lnTo>
                <a:lnTo>
                  <a:pt x="351236" y="135194"/>
                </a:lnTo>
                <a:lnTo>
                  <a:pt x="356113" y="177713"/>
                </a:lnTo>
                <a:lnTo>
                  <a:pt x="355412" y="199308"/>
                </a:lnTo>
                <a:lnTo>
                  <a:pt x="344957" y="241127"/>
                </a:lnTo>
                <a:lnTo>
                  <a:pt x="324749" y="278754"/>
                </a:lnTo>
                <a:lnTo>
                  <a:pt x="296174" y="310819"/>
                </a:lnTo>
                <a:lnTo>
                  <a:pt x="260634" y="335203"/>
                </a:lnTo>
                <a:lnTo>
                  <a:pt x="220919" y="350535"/>
                </a:lnTo>
                <a:lnTo>
                  <a:pt x="178399" y="355412"/>
                </a:lnTo>
                <a:lnTo>
                  <a:pt x="156804" y="354025"/>
                </a:lnTo>
                <a:lnTo>
                  <a:pt x="114985" y="344271"/>
                </a:lnTo>
                <a:lnTo>
                  <a:pt x="77358" y="324048"/>
                </a:lnTo>
                <a:lnTo>
                  <a:pt x="44607" y="295488"/>
                </a:lnTo>
                <a:lnTo>
                  <a:pt x="20208" y="260634"/>
                </a:lnTo>
                <a:lnTo>
                  <a:pt x="4876" y="220217"/>
                </a:lnTo>
                <a:lnTo>
                  <a:pt x="0" y="177713"/>
                </a:lnTo>
              </a:path>
            </a:pathLst>
          </a:custGeom>
          <a:ln w="11614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2745653" y="1352301"/>
            <a:ext cx="355600" cy="356235"/>
          </a:xfrm>
          <a:custGeom>
            <a:avLst/>
            <a:gdLst/>
            <a:ahLst/>
            <a:cxnLst/>
            <a:rect l="l" t="t" r="r" b="b"/>
            <a:pathLst>
              <a:path w="355600" h="356235">
                <a:moveTo>
                  <a:pt x="0" y="178399"/>
                </a:moveTo>
                <a:lnTo>
                  <a:pt x="4876" y="135194"/>
                </a:lnTo>
                <a:lnTo>
                  <a:pt x="19507" y="95463"/>
                </a:lnTo>
                <a:lnTo>
                  <a:pt x="43906" y="59923"/>
                </a:lnTo>
                <a:lnTo>
                  <a:pt x="75956" y="31348"/>
                </a:lnTo>
                <a:lnTo>
                  <a:pt x="114284" y="11140"/>
                </a:lnTo>
                <a:lnTo>
                  <a:pt x="156103" y="1386"/>
                </a:lnTo>
                <a:lnTo>
                  <a:pt x="177698" y="0"/>
                </a:lnTo>
                <a:lnTo>
                  <a:pt x="199308" y="1386"/>
                </a:lnTo>
                <a:lnTo>
                  <a:pt x="241112" y="11140"/>
                </a:lnTo>
                <a:lnTo>
                  <a:pt x="278754" y="31348"/>
                </a:lnTo>
                <a:lnTo>
                  <a:pt x="310804" y="59923"/>
                </a:lnTo>
                <a:lnTo>
                  <a:pt x="335203" y="95463"/>
                </a:lnTo>
                <a:lnTo>
                  <a:pt x="350535" y="135194"/>
                </a:lnTo>
                <a:lnTo>
                  <a:pt x="355412" y="178399"/>
                </a:lnTo>
                <a:lnTo>
                  <a:pt x="354710" y="199994"/>
                </a:lnTo>
                <a:lnTo>
                  <a:pt x="344256" y="241813"/>
                </a:lnTo>
                <a:lnTo>
                  <a:pt x="324048" y="278754"/>
                </a:lnTo>
                <a:lnTo>
                  <a:pt x="295473" y="311505"/>
                </a:lnTo>
                <a:lnTo>
                  <a:pt x="259933" y="335889"/>
                </a:lnTo>
                <a:lnTo>
                  <a:pt x="220217" y="351221"/>
                </a:lnTo>
                <a:lnTo>
                  <a:pt x="177698" y="356097"/>
                </a:lnTo>
                <a:lnTo>
                  <a:pt x="156103" y="354710"/>
                </a:lnTo>
                <a:lnTo>
                  <a:pt x="114284" y="344256"/>
                </a:lnTo>
                <a:lnTo>
                  <a:pt x="75956" y="324749"/>
                </a:lnTo>
                <a:lnTo>
                  <a:pt x="43906" y="296174"/>
                </a:lnTo>
                <a:lnTo>
                  <a:pt x="19507" y="260634"/>
                </a:lnTo>
                <a:lnTo>
                  <a:pt x="4876" y="220903"/>
                </a:lnTo>
                <a:lnTo>
                  <a:pt x="0" y="178399"/>
                </a:lnTo>
              </a:path>
            </a:pathLst>
          </a:custGeom>
          <a:ln w="11614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2" name="object 42"/>
          <p:cNvGrpSpPr/>
          <p:nvPr/>
        </p:nvGrpSpPr>
        <p:grpSpPr>
          <a:xfrm>
            <a:off x="5129870" y="2312604"/>
            <a:ext cx="985519" cy="758190"/>
            <a:chOff x="5129870" y="2312604"/>
            <a:chExt cx="985519" cy="758190"/>
          </a:xfrm>
        </p:grpSpPr>
        <p:sp>
          <p:nvSpPr>
            <p:cNvPr id="43" name="object 43"/>
            <p:cNvSpPr/>
            <p:nvPr/>
          </p:nvSpPr>
          <p:spPr>
            <a:xfrm>
              <a:off x="5267690" y="2401803"/>
              <a:ext cx="815975" cy="653415"/>
            </a:xfrm>
            <a:custGeom>
              <a:avLst/>
              <a:gdLst/>
              <a:ahLst/>
              <a:cxnLst/>
              <a:rect l="l" t="t" r="r" b="b"/>
              <a:pathLst>
                <a:path w="815975" h="653414">
                  <a:moveTo>
                    <a:pt x="815355" y="0"/>
                  </a:moveTo>
                  <a:lnTo>
                    <a:pt x="808375" y="35539"/>
                  </a:lnTo>
                </a:path>
                <a:path w="815975" h="653414">
                  <a:moveTo>
                    <a:pt x="800023" y="71079"/>
                  </a:moveTo>
                  <a:lnTo>
                    <a:pt x="797920" y="79446"/>
                  </a:lnTo>
                  <a:lnTo>
                    <a:pt x="788868" y="105933"/>
                  </a:lnTo>
                </a:path>
                <a:path w="815975" h="653414">
                  <a:moveTo>
                    <a:pt x="776325" y="140070"/>
                  </a:moveTo>
                  <a:lnTo>
                    <a:pt x="769360" y="156804"/>
                  </a:lnTo>
                  <a:lnTo>
                    <a:pt x="761695" y="172836"/>
                  </a:lnTo>
                </a:path>
                <a:path w="815975" h="653414">
                  <a:moveTo>
                    <a:pt x="745662" y="204886"/>
                  </a:moveTo>
                  <a:lnTo>
                    <a:pt x="731032" y="230672"/>
                  </a:lnTo>
                  <a:lnTo>
                    <a:pt x="727542" y="235549"/>
                  </a:lnTo>
                </a:path>
                <a:path w="815975" h="653414">
                  <a:moveTo>
                    <a:pt x="708720" y="266212"/>
                  </a:moveTo>
                  <a:lnTo>
                    <a:pt x="708035" y="266913"/>
                  </a:lnTo>
                  <a:lnTo>
                    <a:pt x="687125" y="295488"/>
                  </a:lnTo>
                </a:path>
                <a:path w="815975" h="653414">
                  <a:moveTo>
                    <a:pt x="664128" y="323362"/>
                  </a:moveTo>
                  <a:lnTo>
                    <a:pt x="654375" y="335904"/>
                  </a:lnTo>
                  <a:lnTo>
                    <a:pt x="640430" y="351236"/>
                  </a:lnTo>
                </a:path>
                <a:path w="815975" h="653414">
                  <a:moveTo>
                    <a:pt x="615345" y="377022"/>
                  </a:moveTo>
                  <a:lnTo>
                    <a:pt x="591647" y="400019"/>
                  </a:lnTo>
                  <a:lnTo>
                    <a:pt x="588858" y="402107"/>
                  </a:lnTo>
                </a:path>
                <a:path w="815975" h="653414">
                  <a:moveTo>
                    <a:pt x="561685" y="425805"/>
                  </a:moveTo>
                  <a:lnTo>
                    <a:pt x="557494" y="429280"/>
                  </a:lnTo>
                  <a:lnTo>
                    <a:pt x="533110" y="448101"/>
                  </a:lnTo>
                </a:path>
                <a:path w="815975" h="653414">
                  <a:moveTo>
                    <a:pt x="503834" y="469010"/>
                  </a:moveTo>
                  <a:lnTo>
                    <a:pt x="482940" y="484342"/>
                  </a:lnTo>
                  <a:lnTo>
                    <a:pt x="474573" y="489219"/>
                  </a:lnTo>
                </a:path>
                <a:path w="815975" h="653414">
                  <a:moveTo>
                    <a:pt x="443910" y="508726"/>
                  </a:moveTo>
                  <a:lnTo>
                    <a:pt x="443209" y="509427"/>
                  </a:lnTo>
                  <a:lnTo>
                    <a:pt x="412546" y="526145"/>
                  </a:lnTo>
                </a:path>
                <a:path w="815975" h="653414">
                  <a:moveTo>
                    <a:pt x="380497" y="542879"/>
                  </a:moveTo>
                  <a:lnTo>
                    <a:pt x="358185" y="554034"/>
                  </a:lnTo>
                  <a:lnTo>
                    <a:pt x="347746" y="558911"/>
                  </a:lnTo>
                </a:path>
                <a:path w="815975" h="653414">
                  <a:moveTo>
                    <a:pt x="314294" y="572841"/>
                  </a:moveTo>
                  <a:lnTo>
                    <a:pt x="313593" y="573542"/>
                  </a:lnTo>
                  <a:lnTo>
                    <a:pt x="280842" y="586785"/>
                  </a:lnTo>
                </a:path>
                <a:path w="815975" h="653414">
                  <a:moveTo>
                    <a:pt x="246689" y="598627"/>
                  </a:moveTo>
                  <a:lnTo>
                    <a:pt x="220903" y="607694"/>
                  </a:lnTo>
                  <a:lnTo>
                    <a:pt x="213238" y="609782"/>
                  </a:lnTo>
                </a:path>
                <a:path w="815975" h="653414">
                  <a:moveTo>
                    <a:pt x="178399" y="620237"/>
                  </a:moveTo>
                  <a:lnTo>
                    <a:pt x="172821" y="621624"/>
                  </a:lnTo>
                  <a:lnTo>
                    <a:pt x="142859" y="628589"/>
                  </a:lnTo>
                </a:path>
                <a:path w="815975" h="653414">
                  <a:moveTo>
                    <a:pt x="107320" y="636254"/>
                  </a:moveTo>
                  <a:lnTo>
                    <a:pt x="73868" y="642533"/>
                  </a:lnTo>
                  <a:lnTo>
                    <a:pt x="71765" y="642533"/>
                  </a:lnTo>
                </a:path>
                <a:path w="815975" h="653414">
                  <a:moveTo>
                    <a:pt x="36225" y="648111"/>
                  </a:moveTo>
                  <a:lnTo>
                    <a:pt x="23682" y="650199"/>
                  </a:lnTo>
                  <a:lnTo>
                    <a:pt x="0" y="652988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195910" y="3058282"/>
              <a:ext cx="36830" cy="2540"/>
            </a:xfrm>
            <a:custGeom>
              <a:avLst/>
              <a:gdLst/>
              <a:ahLst/>
              <a:cxnLst/>
              <a:rect l="l" t="t" r="r" b="b"/>
              <a:pathLst>
                <a:path w="36829" h="2539">
                  <a:moveTo>
                    <a:pt x="-8711" y="1043"/>
                  </a:moveTo>
                  <a:lnTo>
                    <a:pt x="44936" y="1043"/>
                  </a:lnTo>
                </a:path>
              </a:pathLst>
            </a:custGeom>
            <a:ln w="1951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138760" y="3061756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 h="0">
                  <a:moveTo>
                    <a:pt x="20909" y="0"/>
                  </a:moveTo>
                  <a:lnTo>
                    <a:pt x="0" y="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6049594" y="2312604"/>
              <a:ext cx="66040" cy="99695"/>
            </a:xfrm>
            <a:custGeom>
              <a:avLst/>
              <a:gdLst/>
              <a:ahLst/>
              <a:cxnLst/>
              <a:rect l="l" t="t" r="r" b="b"/>
              <a:pathLst>
                <a:path w="66039" h="99694">
                  <a:moveTo>
                    <a:pt x="40416" y="0"/>
                  </a:moveTo>
                  <a:lnTo>
                    <a:pt x="0" y="94777"/>
                  </a:lnTo>
                  <a:lnTo>
                    <a:pt x="65501" y="99654"/>
                  </a:lnTo>
                  <a:lnTo>
                    <a:pt x="4041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/>
          <p:cNvSpPr txBox="1"/>
          <p:nvPr/>
        </p:nvSpPr>
        <p:spPr>
          <a:xfrm>
            <a:off x="5974166" y="2582210"/>
            <a:ext cx="25654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12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3920596" y="2318883"/>
            <a:ext cx="888365" cy="765810"/>
            <a:chOff x="3920596" y="2318883"/>
            <a:chExt cx="888365" cy="765810"/>
          </a:xfrm>
        </p:grpSpPr>
        <p:sp>
          <p:nvSpPr>
            <p:cNvPr id="49" name="object 49"/>
            <p:cNvSpPr/>
            <p:nvPr/>
          </p:nvSpPr>
          <p:spPr>
            <a:xfrm>
              <a:off x="4763140" y="3073613"/>
              <a:ext cx="36830" cy="1905"/>
            </a:xfrm>
            <a:custGeom>
              <a:avLst/>
              <a:gdLst/>
              <a:ahLst/>
              <a:cxnLst/>
              <a:rect l="l" t="t" r="r" b="b"/>
              <a:pathLst>
                <a:path w="36829" h="1905">
                  <a:moveTo>
                    <a:pt x="-8711" y="693"/>
                  </a:moveTo>
                  <a:lnTo>
                    <a:pt x="44951" y="693"/>
                  </a:lnTo>
                </a:path>
              </a:pathLst>
            </a:custGeom>
            <a:ln w="1880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952661" y="2408082"/>
              <a:ext cx="775335" cy="663575"/>
            </a:xfrm>
            <a:custGeom>
              <a:avLst/>
              <a:gdLst/>
              <a:ahLst/>
              <a:cxnLst/>
              <a:rect l="l" t="t" r="r" b="b"/>
              <a:pathLst>
                <a:path w="775335" h="663575">
                  <a:moveTo>
                    <a:pt x="774938" y="663427"/>
                  </a:moveTo>
                  <a:lnTo>
                    <a:pt x="752627" y="662040"/>
                  </a:lnTo>
                  <a:lnTo>
                    <a:pt x="738698" y="660638"/>
                  </a:lnTo>
                </a:path>
                <a:path w="775335" h="663575">
                  <a:moveTo>
                    <a:pt x="702457" y="655761"/>
                  </a:moveTo>
                  <a:lnTo>
                    <a:pt x="666917" y="649498"/>
                  </a:lnTo>
                </a:path>
                <a:path w="775335" h="663575">
                  <a:moveTo>
                    <a:pt x="631377" y="641832"/>
                  </a:moveTo>
                  <a:lnTo>
                    <a:pt x="611855" y="637641"/>
                  </a:lnTo>
                  <a:lnTo>
                    <a:pt x="596524" y="632764"/>
                  </a:lnTo>
                </a:path>
                <a:path w="775335" h="663575">
                  <a:moveTo>
                    <a:pt x="561685" y="623011"/>
                  </a:moveTo>
                  <a:lnTo>
                    <a:pt x="528233" y="611870"/>
                  </a:lnTo>
                </a:path>
                <a:path w="775335" h="663575">
                  <a:moveTo>
                    <a:pt x="494781" y="598627"/>
                  </a:moveTo>
                  <a:lnTo>
                    <a:pt x="478764" y="592348"/>
                  </a:lnTo>
                  <a:lnTo>
                    <a:pt x="461330" y="584682"/>
                  </a:lnTo>
                </a:path>
                <a:path w="775335" h="663575">
                  <a:moveTo>
                    <a:pt x="428579" y="568650"/>
                  </a:moveTo>
                  <a:lnTo>
                    <a:pt x="395828" y="552632"/>
                  </a:lnTo>
                </a:path>
                <a:path w="775335" h="663575">
                  <a:moveTo>
                    <a:pt x="365165" y="533811"/>
                  </a:moveTo>
                  <a:lnTo>
                    <a:pt x="355412" y="528233"/>
                  </a:lnTo>
                  <a:lnTo>
                    <a:pt x="334502" y="514304"/>
                  </a:lnTo>
                </a:path>
                <a:path w="775335" h="663575">
                  <a:moveTo>
                    <a:pt x="305226" y="494096"/>
                  </a:moveTo>
                  <a:lnTo>
                    <a:pt x="280842" y="475975"/>
                  </a:lnTo>
                  <a:lnTo>
                    <a:pt x="276666" y="472485"/>
                  </a:lnTo>
                </a:path>
                <a:path w="775335" h="663575">
                  <a:moveTo>
                    <a:pt x="248777" y="450189"/>
                  </a:moveTo>
                  <a:lnTo>
                    <a:pt x="246004" y="447400"/>
                  </a:lnTo>
                  <a:lnTo>
                    <a:pt x="222305" y="425104"/>
                  </a:lnTo>
                </a:path>
                <a:path w="775335" h="663575">
                  <a:moveTo>
                    <a:pt x="196519" y="399318"/>
                  </a:moveTo>
                  <a:lnTo>
                    <a:pt x="181889" y="384672"/>
                  </a:lnTo>
                  <a:lnTo>
                    <a:pt x="172120" y="372831"/>
                  </a:lnTo>
                </a:path>
                <a:path w="775335" h="663575">
                  <a:moveTo>
                    <a:pt x="148437" y="344957"/>
                  </a:moveTo>
                  <a:lnTo>
                    <a:pt x="126126" y="316382"/>
                  </a:lnTo>
                </a:path>
                <a:path w="775335" h="663575">
                  <a:moveTo>
                    <a:pt x="106619" y="286420"/>
                  </a:moveTo>
                  <a:lnTo>
                    <a:pt x="101742" y="279440"/>
                  </a:lnTo>
                  <a:lnTo>
                    <a:pt x="87797" y="255056"/>
                  </a:lnTo>
                </a:path>
                <a:path w="775335" h="663575">
                  <a:moveTo>
                    <a:pt x="70378" y="223006"/>
                  </a:moveTo>
                  <a:lnTo>
                    <a:pt x="59923" y="204185"/>
                  </a:lnTo>
                  <a:lnTo>
                    <a:pt x="54345" y="190941"/>
                  </a:lnTo>
                </a:path>
                <a:path w="775335" h="663575">
                  <a:moveTo>
                    <a:pt x="40416" y="157490"/>
                  </a:moveTo>
                  <a:lnTo>
                    <a:pt x="28574" y="124739"/>
                  </a:lnTo>
                  <a:lnTo>
                    <a:pt x="27873" y="123352"/>
                  </a:lnTo>
                </a:path>
                <a:path w="775335" h="663575">
                  <a:moveTo>
                    <a:pt x="18120" y="88498"/>
                  </a:moveTo>
                  <a:lnTo>
                    <a:pt x="16718" y="83621"/>
                  </a:lnTo>
                  <a:lnTo>
                    <a:pt x="9753" y="52958"/>
                  </a:lnTo>
                </a:path>
                <a:path w="775335" h="663575">
                  <a:moveTo>
                    <a:pt x="2788" y="17419"/>
                  </a:moveTo>
                  <a:lnTo>
                    <a:pt x="0" y="0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920596" y="2318883"/>
              <a:ext cx="66040" cy="99695"/>
            </a:xfrm>
            <a:custGeom>
              <a:avLst/>
              <a:gdLst/>
              <a:ahLst/>
              <a:cxnLst/>
              <a:rect l="l" t="t" r="r" b="b"/>
              <a:pathLst>
                <a:path w="66039" h="99694">
                  <a:moveTo>
                    <a:pt x="25786" y="0"/>
                  </a:moveTo>
                  <a:lnTo>
                    <a:pt x="0" y="99654"/>
                  </a:lnTo>
                  <a:lnTo>
                    <a:pt x="65516" y="95463"/>
                  </a:lnTo>
                  <a:lnTo>
                    <a:pt x="2578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2" name="object 52"/>
          <p:cNvSpPr txBox="1"/>
          <p:nvPr/>
        </p:nvSpPr>
        <p:spPr>
          <a:xfrm>
            <a:off x="3792218" y="2451882"/>
            <a:ext cx="14097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graphicFrame>
        <p:nvGraphicFramePr>
          <p:cNvPr id="53" name="object 53"/>
          <p:cNvGraphicFramePr>
            <a:graphicFrameLocks noGrp="1"/>
          </p:cNvGraphicFramePr>
          <p:nvPr/>
        </p:nvGraphicFramePr>
        <p:xfrm>
          <a:off x="1880052" y="1334104"/>
          <a:ext cx="1709420" cy="1670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33705"/>
                <a:gridCol w="415925"/>
                <a:gridCol w="419734"/>
                <a:gridCol w="438784"/>
              </a:tblGrid>
              <a:tr h="417438"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794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1435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794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7112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1445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794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4167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1435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</a:tr>
              <a:tr h="417438"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8445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6096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600" spc="15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8001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8445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3189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8890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4167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60960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1445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grpSp>
        <p:nvGrpSpPr>
          <p:cNvPr id="54" name="object 54"/>
          <p:cNvGrpSpPr/>
          <p:nvPr/>
        </p:nvGrpSpPr>
        <p:grpSpPr>
          <a:xfrm>
            <a:off x="5040492" y="1377727"/>
            <a:ext cx="249554" cy="1560195"/>
            <a:chOff x="5040492" y="1377727"/>
            <a:chExt cx="249554" cy="1560195"/>
          </a:xfrm>
        </p:grpSpPr>
        <p:sp>
          <p:nvSpPr>
            <p:cNvPr id="55" name="object 55"/>
            <p:cNvSpPr/>
            <p:nvPr/>
          </p:nvSpPr>
          <p:spPr>
            <a:xfrm>
              <a:off x="5080223" y="1386438"/>
              <a:ext cx="184150" cy="660400"/>
            </a:xfrm>
            <a:custGeom>
              <a:avLst/>
              <a:gdLst/>
              <a:ahLst/>
              <a:cxnLst/>
              <a:rect l="l" t="t" r="r" b="b"/>
              <a:pathLst>
                <a:path w="184150" h="660400">
                  <a:moveTo>
                    <a:pt x="0" y="0"/>
                  </a:moveTo>
                  <a:lnTo>
                    <a:pt x="13243" y="33451"/>
                  </a:lnTo>
                </a:path>
                <a:path w="184150" h="660400">
                  <a:moveTo>
                    <a:pt x="25786" y="67604"/>
                  </a:moveTo>
                  <a:lnTo>
                    <a:pt x="29260" y="75971"/>
                  </a:lnTo>
                  <a:lnTo>
                    <a:pt x="39029" y="101742"/>
                  </a:lnTo>
                </a:path>
                <a:path w="184150" h="660400">
                  <a:moveTo>
                    <a:pt x="50871" y="135895"/>
                  </a:moveTo>
                  <a:lnTo>
                    <a:pt x="59237" y="159593"/>
                  </a:lnTo>
                  <a:lnTo>
                    <a:pt x="62712" y="170047"/>
                  </a:lnTo>
                </a:path>
                <a:path w="184150" h="660400">
                  <a:moveTo>
                    <a:pt x="74569" y="204185"/>
                  </a:moveTo>
                  <a:lnTo>
                    <a:pt x="85709" y="237637"/>
                  </a:lnTo>
                </a:path>
                <a:path w="184150" h="660400">
                  <a:moveTo>
                    <a:pt x="96164" y="272491"/>
                  </a:moveTo>
                  <a:lnTo>
                    <a:pt x="103129" y="294787"/>
                  </a:lnTo>
                  <a:lnTo>
                    <a:pt x="106619" y="307329"/>
                  </a:lnTo>
                </a:path>
                <a:path w="184150" h="660400">
                  <a:moveTo>
                    <a:pt x="117073" y="342168"/>
                  </a:moveTo>
                  <a:lnTo>
                    <a:pt x="117073" y="342869"/>
                  </a:lnTo>
                  <a:lnTo>
                    <a:pt x="126126" y="377022"/>
                  </a:lnTo>
                </a:path>
                <a:path w="184150" h="660400">
                  <a:moveTo>
                    <a:pt x="135194" y="411860"/>
                  </a:moveTo>
                  <a:lnTo>
                    <a:pt x="142859" y="441137"/>
                  </a:lnTo>
                  <a:lnTo>
                    <a:pt x="144246" y="446714"/>
                  </a:lnTo>
                </a:path>
                <a:path w="184150" h="660400">
                  <a:moveTo>
                    <a:pt x="152613" y="481553"/>
                  </a:moveTo>
                  <a:lnTo>
                    <a:pt x="154701" y="491307"/>
                  </a:lnTo>
                  <a:lnTo>
                    <a:pt x="160279" y="517093"/>
                  </a:lnTo>
                </a:path>
                <a:path w="184150" h="660400">
                  <a:moveTo>
                    <a:pt x="167243" y="552632"/>
                  </a:moveTo>
                  <a:lnTo>
                    <a:pt x="174223" y="588172"/>
                  </a:lnTo>
                </a:path>
                <a:path w="184150" h="660400">
                  <a:moveTo>
                    <a:pt x="179801" y="623712"/>
                  </a:moveTo>
                  <a:lnTo>
                    <a:pt x="181889" y="644621"/>
                  </a:lnTo>
                  <a:lnTo>
                    <a:pt x="183977" y="659952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269077" y="2082632"/>
              <a:ext cx="4445" cy="35560"/>
            </a:xfrm>
            <a:custGeom>
              <a:avLst/>
              <a:gdLst/>
              <a:ahLst/>
              <a:cxnLst/>
              <a:rect l="l" t="t" r="r" b="b"/>
              <a:pathLst>
                <a:path w="4445" h="35560">
                  <a:moveTo>
                    <a:pt x="2087" y="-8711"/>
                  </a:moveTo>
                  <a:lnTo>
                    <a:pt x="2087" y="44250"/>
                  </a:lnTo>
                </a:path>
              </a:pathLst>
            </a:custGeom>
            <a:ln w="2159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276042" y="2154412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0" y="0"/>
                  </a:moveTo>
                  <a:lnTo>
                    <a:pt x="2788" y="30662"/>
                  </a:lnTo>
                  <a:lnTo>
                    <a:pt x="2788" y="36240"/>
                  </a:lnTo>
                </a:path>
                <a:path w="5079" h="109219">
                  <a:moveTo>
                    <a:pt x="4190" y="72481"/>
                  </a:moveTo>
                  <a:lnTo>
                    <a:pt x="4876" y="81533"/>
                  </a:lnTo>
                  <a:lnTo>
                    <a:pt x="4876" y="108706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278831" y="2299360"/>
              <a:ext cx="1905" cy="36830"/>
            </a:xfrm>
            <a:custGeom>
              <a:avLst/>
              <a:gdLst/>
              <a:ahLst/>
              <a:cxnLst/>
              <a:rect l="l" t="t" r="r" b="b"/>
              <a:pathLst>
                <a:path w="1904" h="36830">
                  <a:moveTo>
                    <a:pt x="701" y="-8711"/>
                  </a:moveTo>
                  <a:lnTo>
                    <a:pt x="701" y="44951"/>
                  </a:lnTo>
                </a:path>
              </a:pathLst>
            </a:custGeom>
            <a:ln w="188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272567" y="2371141"/>
              <a:ext cx="3810" cy="36830"/>
            </a:xfrm>
            <a:custGeom>
              <a:avLst/>
              <a:gdLst/>
              <a:ahLst/>
              <a:cxnLst/>
              <a:rect l="l" t="t" r="r" b="b"/>
              <a:pathLst>
                <a:path w="3810" h="36830">
                  <a:moveTo>
                    <a:pt x="1737" y="-8711"/>
                  </a:moveTo>
                  <a:lnTo>
                    <a:pt x="1737" y="44951"/>
                  </a:lnTo>
                </a:path>
              </a:pathLst>
            </a:custGeom>
            <a:ln w="2089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095554" y="2442921"/>
              <a:ext cx="171450" cy="423545"/>
            </a:xfrm>
            <a:custGeom>
              <a:avLst/>
              <a:gdLst/>
              <a:ahLst/>
              <a:cxnLst/>
              <a:rect l="l" t="t" r="r" b="b"/>
              <a:pathLst>
                <a:path w="171450" h="423544">
                  <a:moveTo>
                    <a:pt x="171434" y="0"/>
                  </a:moveTo>
                  <a:lnTo>
                    <a:pt x="168645" y="18821"/>
                  </a:lnTo>
                  <a:lnTo>
                    <a:pt x="165856" y="35539"/>
                  </a:lnTo>
                </a:path>
                <a:path w="171450" h="423544">
                  <a:moveTo>
                    <a:pt x="158191" y="71079"/>
                  </a:moveTo>
                  <a:lnTo>
                    <a:pt x="153314" y="93390"/>
                  </a:lnTo>
                  <a:lnTo>
                    <a:pt x="149824" y="106619"/>
                  </a:lnTo>
                </a:path>
                <a:path w="171450" h="423544">
                  <a:moveTo>
                    <a:pt x="139369" y="141472"/>
                  </a:moveTo>
                  <a:lnTo>
                    <a:pt x="139369" y="142173"/>
                  </a:lnTo>
                  <a:lnTo>
                    <a:pt x="131018" y="165856"/>
                  </a:lnTo>
                  <a:lnTo>
                    <a:pt x="127528" y="174924"/>
                  </a:lnTo>
                </a:path>
                <a:path w="171450" h="423544">
                  <a:moveTo>
                    <a:pt x="114985" y="209062"/>
                  </a:moveTo>
                  <a:lnTo>
                    <a:pt x="114284" y="211851"/>
                  </a:lnTo>
                  <a:lnTo>
                    <a:pt x="104531" y="234848"/>
                  </a:lnTo>
                  <a:lnTo>
                    <a:pt x="101041" y="242514"/>
                  </a:lnTo>
                </a:path>
                <a:path w="171450" h="423544">
                  <a:moveTo>
                    <a:pt x="85709" y="275280"/>
                  </a:moveTo>
                  <a:lnTo>
                    <a:pt x="84322" y="278754"/>
                  </a:lnTo>
                  <a:lnTo>
                    <a:pt x="73868" y="301050"/>
                  </a:lnTo>
                  <a:lnTo>
                    <a:pt x="70378" y="308030"/>
                  </a:lnTo>
                </a:path>
                <a:path w="171450" h="423544">
                  <a:moveTo>
                    <a:pt x="52958" y="339379"/>
                  </a:moveTo>
                  <a:lnTo>
                    <a:pt x="50871" y="342869"/>
                  </a:lnTo>
                  <a:lnTo>
                    <a:pt x="38328" y="363778"/>
                  </a:lnTo>
                  <a:lnTo>
                    <a:pt x="34137" y="370743"/>
                  </a:lnTo>
                </a:path>
                <a:path w="171450" h="423544">
                  <a:moveTo>
                    <a:pt x="14630" y="401406"/>
                  </a:moveTo>
                  <a:lnTo>
                    <a:pt x="13243" y="404195"/>
                  </a:lnTo>
                  <a:lnTo>
                    <a:pt x="0" y="423016"/>
                  </a:lnTo>
                </a:path>
              </a:pathLst>
            </a:custGeom>
            <a:ln w="17422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5040492" y="2840152"/>
              <a:ext cx="85725" cy="97790"/>
            </a:xfrm>
            <a:custGeom>
              <a:avLst/>
              <a:gdLst/>
              <a:ahLst/>
              <a:cxnLst/>
              <a:rect l="l" t="t" r="r" b="b"/>
              <a:pathLst>
                <a:path w="85725" h="97789">
                  <a:moveTo>
                    <a:pt x="33451" y="0"/>
                  </a:moveTo>
                  <a:lnTo>
                    <a:pt x="0" y="97566"/>
                  </a:lnTo>
                  <a:lnTo>
                    <a:pt x="85724" y="39029"/>
                  </a:lnTo>
                  <a:lnTo>
                    <a:pt x="33451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/>
          <p:cNvSpPr txBox="1"/>
          <p:nvPr/>
        </p:nvSpPr>
        <p:spPr>
          <a:xfrm>
            <a:off x="5284251" y="2308692"/>
            <a:ext cx="206375" cy="665480"/>
          </a:xfrm>
          <a:prstGeom prst="rect">
            <a:avLst/>
          </a:prstGeom>
        </p:spPr>
        <p:txBody>
          <a:bodyPr wrap="square" lIns="0" tIns="876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600">
              <a:latin typeface="Arial"/>
              <a:cs typeface="Arial"/>
            </a:endParaRPr>
          </a:p>
          <a:p>
            <a:pPr marL="78105">
              <a:lnSpc>
                <a:spcPct val="100000"/>
              </a:lnSpc>
              <a:spcBef>
                <a:spcPts val="600"/>
              </a:spcBef>
            </a:pPr>
            <a:r>
              <a:rPr dirty="0" sz="1600" spc="15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420491" y="3622790"/>
            <a:ext cx="33889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8.79: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Floyd-Warshall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d</a:t>
            </a:r>
            <a:r>
              <a:rPr dirty="0" baseline="31250" sz="1200" spc="-37">
                <a:latin typeface="Verdana"/>
                <a:cs typeface="Verdana"/>
              </a:rPr>
              <a:t>(</a:t>
            </a:r>
            <a:r>
              <a:rPr dirty="0" sz="1200" spc="-25">
                <a:latin typeface="Lucida Sans Unicode"/>
                <a:cs typeface="Lucida Sans Unicode"/>
              </a:rPr>
              <a:t>2</a:t>
            </a:r>
            <a:r>
              <a:rPr dirty="0" sz="1200" spc="-2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1895855" y="6054542"/>
            <a:ext cx="4438650" cy="2590800"/>
          </a:xfrm>
          <a:custGeom>
            <a:avLst/>
            <a:gdLst/>
            <a:ahLst/>
            <a:cxnLst/>
            <a:rect l="l" t="t" r="r" b="b"/>
            <a:pathLst>
              <a:path w="4438650" h="2590800">
                <a:moveTo>
                  <a:pt x="4438146" y="0"/>
                </a:moveTo>
                <a:lnTo>
                  <a:pt x="0" y="0"/>
                </a:lnTo>
                <a:lnTo>
                  <a:pt x="0" y="2590601"/>
                </a:lnTo>
                <a:lnTo>
                  <a:pt x="4438146" y="2590601"/>
                </a:lnTo>
                <a:lnTo>
                  <a:pt x="4438146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" name="object 65"/>
          <p:cNvSpPr txBox="1"/>
          <p:nvPr/>
        </p:nvSpPr>
        <p:spPr>
          <a:xfrm>
            <a:off x="2598346" y="8144353"/>
            <a:ext cx="467995" cy="3524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18087" sz="3225" spc="60" i="1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sz="1400" spc="40" i="1">
                <a:solidFill>
                  <a:srgbClr val="FFFF00"/>
                </a:solidFill>
                <a:latin typeface="Arial"/>
                <a:cs typeface="Arial"/>
              </a:rPr>
              <a:t>(2)</a:t>
            </a:r>
            <a:endParaRPr sz="1400">
              <a:latin typeface="Arial"/>
              <a:cs typeface="Arial"/>
            </a:endParaRPr>
          </a:p>
        </p:txBody>
      </p:sp>
      <p:graphicFrame>
        <p:nvGraphicFramePr>
          <p:cNvPr id="66" name="object 66"/>
          <p:cNvGraphicFramePr>
            <a:graphicFrameLocks noGrp="1"/>
          </p:cNvGraphicFramePr>
          <p:nvPr/>
        </p:nvGraphicFramePr>
        <p:xfrm>
          <a:off x="1941255" y="6488120"/>
          <a:ext cx="1675764" cy="1638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2275"/>
                <a:gridCol w="415290"/>
                <a:gridCol w="406400"/>
                <a:gridCol w="432434"/>
              </a:tblGrid>
              <a:tr h="409864"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286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016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286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604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286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  <a:tr h="409180"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540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01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540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540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540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</a:tcPr>
                </a:tc>
              </a:tr>
              <a:tr h="410548"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8001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969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8001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</a:tr>
              <a:tr h="409178"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969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</a:tr>
            </a:tbl>
          </a:graphicData>
        </a:graphic>
      </p:graphicFrame>
      <p:sp>
        <p:nvSpPr>
          <p:cNvPr id="67" name="object 67"/>
          <p:cNvSpPr/>
          <p:nvPr/>
        </p:nvSpPr>
        <p:spPr>
          <a:xfrm>
            <a:off x="1974098" y="7749870"/>
            <a:ext cx="349885" cy="350520"/>
          </a:xfrm>
          <a:custGeom>
            <a:avLst/>
            <a:gdLst/>
            <a:ahLst/>
            <a:cxnLst/>
            <a:rect l="l" t="t" r="r" b="b"/>
            <a:pathLst>
              <a:path w="349885" h="350520">
                <a:moveTo>
                  <a:pt x="0" y="175168"/>
                </a:moveTo>
                <a:lnTo>
                  <a:pt x="5471" y="133426"/>
                </a:lnTo>
                <a:lnTo>
                  <a:pt x="20528" y="93741"/>
                </a:lnTo>
                <a:lnTo>
                  <a:pt x="44470" y="58841"/>
                </a:lnTo>
                <a:lnTo>
                  <a:pt x="75956" y="30800"/>
                </a:lnTo>
                <a:lnTo>
                  <a:pt x="112897" y="11643"/>
                </a:lnTo>
                <a:lnTo>
                  <a:pt x="153954" y="1371"/>
                </a:lnTo>
                <a:lnTo>
                  <a:pt x="175168" y="0"/>
                </a:lnTo>
                <a:lnTo>
                  <a:pt x="195696" y="1371"/>
                </a:lnTo>
                <a:lnTo>
                  <a:pt x="236753" y="11643"/>
                </a:lnTo>
                <a:lnTo>
                  <a:pt x="274380" y="30800"/>
                </a:lnTo>
                <a:lnTo>
                  <a:pt x="305851" y="58841"/>
                </a:lnTo>
                <a:lnTo>
                  <a:pt x="330494" y="93741"/>
                </a:lnTo>
                <a:lnTo>
                  <a:pt x="344180" y="133426"/>
                </a:lnTo>
                <a:lnTo>
                  <a:pt x="349651" y="175168"/>
                </a:lnTo>
                <a:lnTo>
                  <a:pt x="348279" y="196382"/>
                </a:lnTo>
                <a:lnTo>
                  <a:pt x="338023" y="236753"/>
                </a:lnTo>
                <a:lnTo>
                  <a:pt x="319537" y="274380"/>
                </a:lnTo>
                <a:lnTo>
                  <a:pt x="291480" y="305866"/>
                </a:lnTo>
                <a:lnTo>
                  <a:pt x="256595" y="329808"/>
                </a:lnTo>
                <a:lnTo>
                  <a:pt x="216910" y="344865"/>
                </a:lnTo>
                <a:lnTo>
                  <a:pt x="175168" y="350337"/>
                </a:lnTo>
                <a:lnTo>
                  <a:pt x="153954" y="348965"/>
                </a:lnTo>
                <a:lnTo>
                  <a:pt x="112897" y="338708"/>
                </a:lnTo>
                <a:lnTo>
                  <a:pt x="75956" y="318866"/>
                </a:lnTo>
                <a:lnTo>
                  <a:pt x="44470" y="290809"/>
                </a:lnTo>
                <a:lnTo>
                  <a:pt x="20528" y="255910"/>
                </a:lnTo>
                <a:lnTo>
                  <a:pt x="5471" y="217596"/>
                </a:lnTo>
                <a:lnTo>
                  <a:pt x="0" y="175168"/>
                </a:lnTo>
              </a:path>
            </a:pathLst>
          </a:custGeom>
          <a:ln w="11404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/>
          <p:cNvSpPr/>
          <p:nvPr/>
        </p:nvSpPr>
        <p:spPr>
          <a:xfrm>
            <a:off x="3228319" y="6931512"/>
            <a:ext cx="349885" cy="349250"/>
          </a:xfrm>
          <a:custGeom>
            <a:avLst/>
            <a:gdLst/>
            <a:ahLst/>
            <a:cxnLst/>
            <a:rect l="l" t="t" r="r" b="b"/>
            <a:pathLst>
              <a:path w="349885" h="349250">
                <a:moveTo>
                  <a:pt x="0" y="174482"/>
                </a:moveTo>
                <a:lnTo>
                  <a:pt x="5471" y="132740"/>
                </a:lnTo>
                <a:lnTo>
                  <a:pt x="19842" y="93055"/>
                </a:lnTo>
                <a:lnTo>
                  <a:pt x="44470" y="58171"/>
                </a:lnTo>
                <a:lnTo>
                  <a:pt x="75956" y="30800"/>
                </a:lnTo>
                <a:lnTo>
                  <a:pt x="112212" y="10957"/>
                </a:lnTo>
                <a:lnTo>
                  <a:pt x="153268" y="1371"/>
                </a:lnTo>
                <a:lnTo>
                  <a:pt x="174482" y="0"/>
                </a:lnTo>
                <a:lnTo>
                  <a:pt x="195696" y="1371"/>
                </a:lnTo>
                <a:lnTo>
                  <a:pt x="236753" y="10957"/>
                </a:lnTo>
                <a:lnTo>
                  <a:pt x="274380" y="30800"/>
                </a:lnTo>
                <a:lnTo>
                  <a:pt x="305851" y="58171"/>
                </a:lnTo>
                <a:lnTo>
                  <a:pt x="329808" y="93055"/>
                </a:lnTo>
                <a:lnTo>
                  <a:pt x="344180" y="132740"/>
                </a:lnTo>
                <a:lnTo>
                  <a:pt x="349651" y="174482"/>
                </a:lnTo>
                <a:lnTo>
                  <a:pt x="348279" y="195696"/>
                </a:lnTo>
                <a:lnTo>
                  <a:pt x="338007" y="236753"/>
                </a:lnTo>
                <a:lnTo>
                  <a:pt x="318851" y="274380"/>
                </a:lnTo>
                <a:lnTo>
                  <a:pt x="290809" y="305180"/>
                </a:lnTo>
                <a:lnTo>
                  <a:pt x="255910" y="329123"/>
                </a:lnTo>
                <a:lnTo>
                  <a:pt x="216910" y="344180"/>
                </a:lnTo>
                <a:lnTo>
                  <a:pt x="174482" y="348965"/>
                </a:lnTo>
                <a:lnTo>
                  <a:pt x="153268" y="348279"/>
                </a:lnTo>
                <a:lnTo>
                  <a:pt x="112212" y="338023"/>
                </a:lnTo>
                <a:lnTo>
                  <a:pt x="75956" y="318180"/>
                </a:lnTo>
                <a:lnTo>
                  <a:pt x="44470" y="290809"/>
                </a:lnTo>
                <a:lnTo>
                  <a:pt x="19842" y="255910"/>
                </a:lnTo>
                <a:lnTo>
                  <a:pt x="5471" y="216225"/>
                </a:lnTo>
                <a:lnTo>
                  <a:pt x="0" y="174482"/>
                </a:lnTo>
              </a:path>
            </a:pathLst>
          </a:custGeom>
          <a:ln w="11404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1974098" y="6931512"/>
            <a:ext cx="349885" cy="349250"/>
          </a:xfrm>
          <a:custGeom>
            <a:avLst/>
            <a:gdLst/>
            <a:ahLst/>
            <a:cxnLst/>
            <a:rect l="l" t="t" r="r" b="b"/>
            <a:pathLst>
              <a:path w="349885" h="349250">
                <a:moveTo>
                  <a:pt x="0" y="174482"/>
                </a:moveTo>
                <a:lnTo>
                  <a:pt x="5471" y="132740"/>
                </a:lnTo>
                <a:lnTo>
                  <a:pt x="20528" y="93055"/>
                </a:lnTo>
                <a:lnTo>
                  <a:pt x="44470" y="58171"/>
                </a:lnTo>
                <a:lnTo>
                  <a:pt x="75956" y="30800"/>
                </a:lnTo>
                <a:lnTo>
                  <a:pt x="112897" y="10957"/>
                </a:lnTo>
                <a:lnTo>
                  <a:pt x="153954" y="1371"/>
                </a:lnTo>
                <a:lnTo>
                  <a:pt x="175168" y="0"/>
                </a:lnTo>
                <a:lnTo>
                  <a:pt x="195696" y="1371"/>
                </a:lnTo>
                <a:lnTo>
                  <a:pt x="236753" y="10957"/>
                </a:lnTo>
                <a:lnTo>
                  <a:pt x="274380" y="30800"/>
                </a:lnTo>
                <a:lnTo>
                  <a:pt x="305851" y="58171"/>
                </a:lnTo>
                <a:lnTo>
                  <a:pt x="330494" y="93055"/>
                </a:lnTo>
                <a:lnTo>
                  <a:pt x="344180" y="132740"/>
                </a:lnTo>
                <a:lnTo>
                  <a:pt x="349651" y="174482"/>
                </a:lnTo>
                <a:lnTo>
                  <a:pt x="348279" y="195696"/>
                </a:lnTo>
                <a:lnTo>
                  <a:pt x="338023" y="236753"/>
                </a:lnTo>
                <a:lnTo>
                  <a:pt x="319537" y="274380"/>
                </a:lnTo>
                <a:lnTo>
                  <a:pt x="291480" y="305180"/>
                </a:lnTo>
                <a:lnTo>
                  <a:pt x="256595" y="329123"/>
                </a:lnTo>
                <a:lnTo>
                  <a:pt x="216910" y="344180"/>
                </a:lnTo>
                <a:lnTo>
                  <a:pt x="175168" y="348965"/>
                </a:lnTo>
                <a:lnTo>
                  <a:pt x="153954" y="348279"/>
                </a:lnTo>
                <a:lnTo>
                  <a:pt x="112897" y="338023"/>
                </a:lnTo>
                <a:lnTo>
                  <a:pt x="75956" y="318180"/>
                </a:lnTo>
                <a:lnTo>
                  <a:pt x="44470" y="290809"/>
                </a:lnTo>
                <a:lnTo>
                  <a:pt x="20528" y="255910"/>
                </a:lnTo>
                <a:lnTo>
                  <a:pt x="5471" y="216225"/>
                </a:lnTo>
                <a:lnTo>
                  <a:pt x="0" y="174482"/>
                </a:lnTo>
              </a:path>
            </a:pathLst>
          </a:custGeom>
          <a:ln w="11404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0" name="object 70"/>
          <p:cNvGrpSpPr/>
          <p:nvPr/>
        </p:nvGrpSpPr>
        <p:grpSpPr>
          <a:xfrm>
            <a:off x="3780137" y="6240066"/>
            <a:ext cx="2448560" cy="2123440"/>
            <a:chOff x="3780137" y="6240066"/>
            <a:chExt cx="2448560" cy="2123440"/>
          </a:xfrm>
        </p:grpSpPr>
        <p:sp>
          <p:nvSpPr>
            <p:cNvPr id="71" name="object 71"/>
            <p:cNvSpPr/>
            <p:nvPr/>
          </p:nvSpPr>
          <p:spPr>
            <a:xfrm>
              <a:off x="4790450" y="8032465"/>
              <a:ext cx="323215" cy="322580"/>
            </a:xfrm>
            <a:custGeom>
              <a:avLst/>
              <a:gdLst/>
              <a:ahLst/>
              <a:cxnLst/>
              <a:rect l="l" t="t" r="r" b="b"/>
              <a:pathLst>
                <a:path w="323214" h="322579">
                  <a:moveTo>
                    <a:pt x="171739" y="0"/>
                  </a:moveTo>
                  <a:lnTo>
                    <a:pt x="151211" y="0"/>
                  </a:lnTo>
                  <a:lnTo>
                    <a:pt x="131368" y="2057"/>
                  </a:lnTo>
                  <a:lnTo>
                    <a:pt x="92369" y="15057"/>
                  </a:lnTo>
                  <a:lnTo>
                    <a:pt x="58155" y="36271"/>
                  </a:lnTo>
                  <a:lnTo>
                    <a:pt x="30784" y="66370"/>
                  </a:lnTo>
                  <a:lnTo>
                    <a:pt x="10942" y="101955"/>
                  </a:lnTo>
                  <a:lnTo>
                    <a:pt x="1371" y="140954"/>
                  </a:lnTo>
                  <a:lnTo>
                    <a:pt x="0" y="161483"/>
                  </a:lnTo>
                  <a:lnTo>
                    <a:pt x="1371" y="181325"/>
                  </a:lnTo>
                  <a:lnTo>
                    <a:pt x="10942" y="220324"/>
                  </a:lnTo>
                  <a:lnTo>
                    <a:pt x="30784" y="255910"/>
                  </a:lnTo>
                  <a:lnTo>
                    <a:pt x="58155" y="285338"/>
                  </a:lnTo>
                  <a:lnTo>
                    <a:pt x="92369" y="307223"/>
                  </a:lnTo>
                  <a:lnTo>
                    <a:pt x="131368" y="319537"/>
                  </a:lnTo>
                  <a:lnTo>
                    <a:pt x="151211" y="322280"/>
                  </a:lnTo>
                  <a:lnTo>
                    <a:pt x="171739" y="322280"/>
                  </a:lnTo>
                  <a:lnTo>
                    <a:pt x="211424" y="314751"/>
                  </a:lnTo>
                  <a:lnTo>
                    <a:pt x="248381" y="297652"/>
                  </a:lnTo>
                  <a:lnTo>
                    <a:pt x="279852" y="271652"/>
                  </a:lnTo>
                  <a:lnTo>
                    <a:pt x="303123" y="238795"/>
                  </a:lnTo>
                  <a:lnTo>
                    <a:pt x="318165" y="201167"/>
                  </a:lnTo>
                  <a:lnTo>
                    <a:pt x="322966" y="161483"/>
                  </a:lnTo>
                  <a:lnTo>
                    <a:pt x="322280" y="140954"/>
                  </a:lnTo>
                  <a:lnTo>
                    <a:pt x="312008" y="101955"/>
                  </a:lnTo>
                  <a:lnTo>
                    <a:pt x="292166" y="66370"/>
                  </a:lnTo>
                  <a:lnTo>
                    <a:pt x="264794" y="36271"/>
                  </a:lnTo>
                  <a:lnTo>
                    <a:pt x="230596" y="15057"/>
                  </a:lnTo>
                  <a:lnTo>
                    <a:pt x="192267" y="2057"/>
                  </a:lnTo>
                  <a:lnTo>
                    <a:pt x="171739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790450" y="8032465"/>
              <a:ext cx="323215" cy="322580"/>
            </a:xfrm>
            <a:custGeom>
              <a:avLst/>
              <a:gdLst/>
              <a:ahLst/>
              <a:cxnLst/>
              <a:rect l="l" t="t" r="r" b="b"/>
              <a:pathLst>
                <a:path w="323214" h="322579">
                  <a:moveTo>
                    <a:pt x="0" y="161483"/>
                  </a:moveTo>
                  <a:lnTo>
                    <a:pt x="4785" y="121112"/>
                  </a:lnTo>
                  <a:lnTo>
                    <a:pt x="19842" y="83484"/>
                  </a:lnTo>
                  <a:lnTo>
                    <a:pt x="43113" y="50642"/>
                  </a:lnTo>
                  <a:lnTo>
                    <a:pt x="74584" y="24627"/>
                  </a:lnTo>
                  <a:lnTo>
                    <a:pt x="111526" y="7528"/>
                  </a:lnTo>
                  <a:lnTo>
                    <a:pt x="151211" y="0"/>
                  </a:lnTo>
                  <a:lnTo>
                    <a:pt x="171739" y="0"/>
                  </a:lnTo>
                  <a:lnTo>
                    <a:pt x="211424" y="7528"/>
                  </a:lnTo>
                  <a:lnTo>
                    <a:pt x="248381" y="24627"/>
                  </a:lnTo>
                  <a:lnTo>
                    <a:pt x="279852" y="50642"/>
                  </a:lnTo>
                  <a:lnTo>
                    <a:pt x="303123" y="83484"/>
                  </a:lnTo>
                  <a:lnTo>
                    <a:pt x="318165" y="121112"/>
                  </a:lnTo>
                  <a:lnTo>
                    <a:pt x="322966" y="161483"/>
                  </a:lnTo>
                  <a:lnTo>
                    <a:pt x="322280" y="181325"/>
                  </a:lnTo>
                  <a:lnTo>
                    <a:pt x="312008" y="220324"/>
                  </a:lnTo>
                  <a:lnTo>
                    <a:pt x="292166" y="255910"/>
                  </a:lnTo>
                  <a:lnTo>
                    <a:pt x="264794" y="285338"/>
                  </a:lnTo>
                  <a:lnTo>
                    <a:pt x="230596" y="307223"/>
                  </a:lnTo>
                  <a:lnTo>
                    <a:pt x="192267" y="319537"/>
                  </a:lnTo>
                  <a:lnTo>
                    <a:pt x="171739" y="322280"/>
                  </a:lnTo>
                  <a:lnTo>
                    <a:pt x="151211" y="322280"/>
                  </a:lnTo>
                  <a:lnTo>
                    <a:pt x="111526" y="314751"/>
                  </a:lnTo>
                  <a:lnTo>
                    <a:pt x="74584" y="297652"/>
                  </a:lnTo>
                  <a:lnTo>
                    <a:pt x="43113" y="271652"/>
                  </a:lnTo>
                  <a:lnTo>
                    <a:pt x="19842" y="238795"/>
                  </a:lnTo>
                  <a:lnTo>
                    <a:pt x="4785" y="201167"/>
                  </a:lnTo>
                  <a:lnTo>
                    <a:pt x="0" y="161483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5896188" y="7124466"/>
              <a:ext cx="323850" cy="323215"/>
            </a:xfrm>
            <a:custGeom>
              <a:avLst/>
              <a:gdLst/>
              <a:ahLst/>
              <a:cxnLst/>
              <a:rect l="l" t="t" r="r" b="b"/>
              <a:pathLst>
                <a:path w="323850" h="323215">
                  <a:moveTo>
                    <a:pt x="172425" y="0"/>
                  </a:moveTo>
                  <a:lnTo>
                    <a:pt x="151897" y="0"/>
                  </a:lnTo>
                  <a:lnTo>
                    <a:pt x="131368" y="2743"/>
                  </a:lnTo>
                  <a:lnTo>
                    <a:pt x="93055" y="15057"/>
                  </a:lnTo>
                  <a:lnTo>
                    <a:pt x="58841" y="36956"/>
                  </a:lnTo>
                  <a:lnTo>
                    <a:pt x="30784" y="66385"/>
                  </a:lnTo>
                  <a:lnTo>
                    <a:pt x="10942" y="101269"/>
                  </a:lnTo>
                  <a:lnTo>
                    <a:pt x="685" y="140954"/>
                  </a:lnTo>
                  <a:lnTo>
                    <a:pt x="0" y="160812"/>
                  </a:lnTo>
                  <a:lnTo>
                    <a:pt x="685" y="181325"/>
                  </a:lnTo>
                  <a:lnTo>
                    <a:pt x="10942" y="220339"/>
                  </a:lnTo>
                  <a:lnTo>
                    <a:pt x="30784" y="255910"/>
                  </a:lnTo>
                  <a:lnTo>
                    <a:pt x="58841" y="286024"/>
                  </a:lnTo>
                  <a:lnTo>
                    <a:pt x="93055" y="307238"/>
                  </a:lnTo>
                  <a:lnTo>
                    <a:pt x="131368" y="320238"/>
                  </a:lnTo>
                  <a:lnTo>
                    <a:pt x="151897" y="322966"/>
                  </a:lnTo>
                  <a:lnTo>
                    <a:pt x="172425" y="322966"/>
                  </a:lnTo>
                  <a:lnTo>
                    <a:pt x="211439" y="314766"/>
                  </a:lnTo>
                  <a:lnTo>
                    <a:pt x="248381" y="297652"/>
                  </a:lnTo>
                  <a:lnTo>
                    <a:pt x="279852" y="271652"/>
                  </a:lnTo>
                  <a:lnTo>
                    <a:pt x="303809" y="238810"/>
                  </a:lnTo>
                  <a:lnTo>
                    <a:pt x="318851" y="201183"/>
                  </a:lnTo>
                  <a:lnTo>
                    <a:pt x="323651" y="160812"/>
                  </a:lnTo>
                  <a:lnTo>
                    <a:pt x="322280" y="140954"/>
                  </a:lnTo>
                  <a:lnTo>
                    <a:pt x="312694" y="101269"/>
                  </a:lnTo>
                  <a:lnTo>
                    <a:pt x="292851" y="66385"/>
                  </a:lnTo>
                  <a:lnTo>
                    <a:pt x="264810" y="36956"/>
                  </a:lnTo>
                  <a:lnTo>
                    <a:pt x="230596" y="15057"/>
                  </a:lnTo>
                  <a:lnTo>
                    <a:pt x="191582" y="2743"/>
                  </a:lnTo>
                  <a:lnTo>
                    <a:pt x="17242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5896188" y="7124466"/>
              <a:ext cx="323850" cy="323215"/>
            </a:xfrm>
            <a:custGeom>
              <a:avLst/>
              <a:gdLst/>
              <a:ahLst/>
              <a:cxnLst/>
              <a:rect l="l" t="t" r="r" b="b"/>
              <a:pathLst>
                <a:path w="323850" h="323215">
                  <a:moveTo>
                    <a:pt x="0" y="160812"/>
                  </a:moveTo>
                  <a:lnTo>
                    <a:pt x="4785" y="121112"/>
                  </a:lnTo>
                  <a:lnTo>
                    <a:pt x="19842" y="83484"/>
                  </a:lnTo>
                  <a:lnTo>
                    <a:pt x="43799" y="50642"/>
                  </a:lnTo>
                  <a:lnTo>
                    <a:pt x="75270" y="25328"/>
                  </a:lnTo>
                  <a:lnTo>
                    <a:pt x="112212" y="7528"/>
                  </a:lnTo>
                  <a:lnTo>
                    <a:pt x="151897" y="0"/>
                  </a:lnTo>
                  <a:lnTo>
                    <a:pt x="172425" y="0"/>
                  </a:lnTo>
                  <a:lnTo>
                    <a:pt x="211439" y="7528"/>
                  </a:lnTo>
                  <a:lnTo>
                    <a:pt x="248381" y="25328"/>
                  </a:lnTo>
                  <a:lnTo>
                    <a:pt x="279852" y="50642"/>
                  </a:lnTo>
                  <a:lnTo>
                    <a:pt x="303809" y="83484"/>
                  </a:lnTo>
                  <a:lnTo>
                    <a:pt x="318851" y="121112"/>
                  </a:lnTo>
                  <a:lnTo>
                    <a:pt x="323651" y="160812"/>
                  </a:lnTo>
                  <a:lnTo>
                    <a:pt x="322280" y="181325"/>
                  </a:lnTo>
                  <a:lnTo>
                    <a:pt x="312694" y="220339"/>
                  </a:lnTo>
                  <a:lnTo>
                    <a:pt x="292851" y="255910"/>
                  </a:lnTo>
                  <a:lnTo>
                    <a:pt x="264810" y="286024"/>
                  </a:lnTo>
                  <a:lnTo>
                    <a:pt x="230596" y="307238"/>
                  </a:lnTo>
                  <a:lnTo>
                    <a:pt x="191582" y="320238"/>
                  </a:lnTo>
                  <a:lnTo>
                    <a:pt x="172425" y="322966"/>
                  </a:lnTo>
                  <a:lnTo>
                    <a:pt x="151897" y="322966"/>
                  </a:lnTo>
                  <a:lnTo>
                    <a:pt x="112212" y="314766"/>
                  </a:lnTo>
                  <a:lnTo>
                    <a:pt x="75270" y="297652"/>
                  </a:lnTo>
                  <a:lnTo>
                    <a:pt x="43799" y="271652"/>
                  </a:lnTo>
                  <a:lnTo>
                    <a:pt x="19842" y="238810"/>
                  </a:lnTo>
                  <a:lnTo>
                    <a:pt x="4785" y="201183"/>
                  </a:lnTo>
                  <a:lnTo>
                    <a:pt x="0" y="160812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806192" y="6248638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5">
                  <a:moveTo>
                    <a:pt x="171739" y="0"/>
                  </a:moveTo>
                  <a:lnTo>
                    <a:pt x="151211" y="0"/>
                  </a:lnTo>
                  <a:lnTo>
                    <a:pt x="130682" y="2743"/>
                  </a:lnTo>
                  <a:lnTo>
                    <a:pt x="92369" y="15057"/>
                  </a:lnTo>
                  <a:lnTo>
                    <a:pt x="58155" y="36956"/>
                  </a:lnTo>
                  <a:lnTo>
                    <a:pt x="30098" y="66370"/>
                  </a:lnTo>
                  <a:lnTo>
                    <a:pt x="10942" y="101955"/>
                  </a:lnTo>
                  <a:lnTo>
                    <a:pt x="670" y="141640"/>
                  </a:lnTo>
                  <a:lnTo>
                    <a:pt x="0" y="161483"/>
                  </a:lnTo>
                  <a:lnTo>
                    <a:pt x="670" y="182011"/>
                  </a:lnTo>
                  <a:lnTo>
                    <a:pt x="10942" y="221696"/>
                  </a:lnTo>
                  <a:lnTo>
                    <a:pt x="30098" y="256595"/>
                  </a:lnTo>
                  <a:lnTo>
                    <a:pt x="58155" y="286009"/>
                  </a:lnTo>
                  <a:lnTo>
                    <a:pt x="92369" y="307908"/>
                  </a:lnTo>
                  <a:lnTo>
                    <a:pt x="130682" y="320222"/>
                  </a:lnTo>
                  <a:lnTo>
                    <a:pt x="151211" y="322966"/>
                  </a:lnTo>
                  <a:lnTo>
                    <a:pt x="171739" y="322966"/>
                  </a:lnTo>
                  <a:lnTo>
                    <a:pt x="211424" y="315437"/>
                  </a:lnTo>
                  <a:lnTo>
                    <a:pt x="248381" y="297652"/>
                  </a:lnTo>
                  <a:lnTo>
                    <a:pt x="279166" y="271652"/>
                  </a:lnTo>
                  <a:lnTo>
                    <a:pt x="303108" y="238795"/>
                  </a:lnTo>
                  <a:lnTo>
                    <a:pt x="318165" y="201853"/>
                  </a:lnTo>
                  <a:lnTo>
                    <a:pt x="322950" y="161483"/>
                  </a:lnTo>
                  <a:lnTo>
                    <a:pt x="321594" y="141640"/>
                  </a:lnTo>
                  <a:lnTo>
                    <a:pt x="312008" y="101955"/>
                  </a:lnTo>
                  <a:lnTo>
                    <a:pt x="292166" y="66370"/>
                  </a:lnTo>
                  <a:lnTo>
                    <a:pt x="264794" y="36956"/>
                  </a:lnTo>
                  <a:lnTo>
                    <a:pt x="230581" y="15057"/>
                  </a:lnTo>
                  <a:lnTo>
                    <a:pt x="191582" y="2743"/>
                  </a:lnTo>
                  <a:lnTo>
                    <a:pt x="171739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806192" y="6248638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5">
                  <a:moveTo>
                    <a:pt x="0" y="161483"/>
                  </a:moveTo>
                  <a:lnTo>
                    <a:pt x="4785" y="121798"/>
                  </a:lnTo>
                  <a:lnTo>
                    <a:pt x="19156" y="83484"/>
                  </a:lnTo>
                  <a:lnTo>
                    <a:pt x="43098" y="50642"/>
                  </a:lnTo>
                  <a:lnTo>
                    <a:pt x="74569" y="25313"/>
                  </a:lnTo>
                  <a:lnTo>
                    <a:pt x="111526" y="7528"/>
                  </a:lnTo>
                  <a:lnTo>
                    <a:pt x="151211" y="0"/>
                  </a:lnTo>
                  <a:lnTo>
                    <a:pt x="171739" y="0"/>
                  </a:lnTo>
                  <a:lnTo>
                    <a:pt x="211424" y="7528"/>
                  </a:lnTo>
                  <a:lnTo>
                    <a:pt x="248381" y="25313"/>
                  </a:lnTo>
                  <a:lnTo>
                    <a:pt x="279166" y="50642"/>
                  </a:lnTo>
                  <a:lnTo>
                    <a:pt x="303108" y="83484"/>
                  </a:lnTo>
                  <a:lnTo>
                    <a:pt x="318165" y="121798"/>
                  </a:lnTo>
                  <a:lnTo>
                    <a:pt x="322950" y="161483"/>
                  </a:lnTo>
                  <a:lnTo>
                    <a:pt x="321594" y="182011"/>
                  </a:lnTo>
                  <a:lnTo>
                    <a:pt x="312008" y="221696"/>
                  </a:lnTo>
                  <a:lnTo>
                    <a:pt x="292166" y="256595"/>
                  </a:lnTo>
                  <a:lnTo>
                    <a:pt x="264794" y="286009"/>
                  </a:lnTo>
                  <a:lnTo>
                    <a:pt x="230581" y="307908"/>
                  </a:lnTo>
                  <a:lnTo>
                    <a:pt x="191582" y="320222"/>
                  </a:lnTo>
                  <a:lnTo>
                    <a:pt x="171739" y="322966"/>
                  </a:lnTo>
                  <a:lnTo>
                    <a:pt x="151211" y="322966"/>
                  </a:lnTo>
                  <a:lnTo>
                    <a:pt x="111526" y="315437"/>
                  </a:lnTo>
                  <a:lnTo>
                    <a:pt x="74569" y="297652"/>
                  </a:lnTo>
                  <a:lnTo>
                    <a:pt x="43098" y="271652"/>
                  </a:lnTo>
                  <a:lnTo>
                    <a:pt x="19156" y="238795"/>
                  </a:lnTo>
                  <a:lnTo>
                    <a:pt x="4785" y="201853"/>
                  </a:lnTo>
                  <a:lnTo>
                    <a:pt x="0" y="161483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3788709" y="7134738"/>
              <a:ext cx="323850" cy="322580"/>
            </a:xfrm>
            <a:custGeom>
              <a:avLst/>
              <a:gdLst/>
              <a:ahLst/>
              <a:cxnLst/>
              <a:rect l="l" t="t" r="r" b="b"/>
              <a:pathLst>
                <a:path w="323850" h="322579">
                  <a:moveTo>
                    <a:pt x="171754" y="0"/>
                  </a:moveTo>
                  <a:lnTo>
                    <a:pt x="151226" y="0"/>
                  </a:lnTo>
                  <a:lnTo>
                    <a:pt x="131384" y="2057"/>
                  </a:lnTo>
                  <a:lnTo>
                    <a:pt x="92384" y="15057"/>
                  </a:lnTo>
                  <a:lnTo>
                    <a:pt x="58171" y="36941"/>
                  </a:lnTo>
                  <a:lnTo>
                    <a:pt x="30114" y="66370"/>
                  </a:lnTo>
                  <a:lnTo>
                    <a:pt x="11643" y="101269"/>
                  </a:lnTo>
                  <a:lnTo>
                    <a:pt x="1371" y="140268"/>
                  </a:lnTo>
                  <a:lnTo>
                    <a:pt x="0" y="160797"/>
                  </a:lnTo>
                  <a:lnTo>
                    <a:pt x="1371" y="181325"/>
                  </a:lnTo>
                  <a:lnTo>
                    <a:pt x="11643" y="220324"/>
                  </a:lnTo>
                  <a:lnTo>
                    <a:pt x="30114" y="255910"/>
                  </a:lnTo>
                  <a:lnTo>
                    <a:pt x="58171" y="285323"/>
                  </a:lnTo>
                  <a:lnTo>
                    <a:pt x="92384" y="307223"/>
                  </a:lnTo>
                  <a:lnTo>
                    <a:pt x="131384" y="319537"/>
                  </a:lnTo>
                  <a:lnTo>
                    <a:pt x="151226" y="322280"/>
                  </a:lnTo>
                  <a:lnTo>
                    <a:pt x="171754" y="322280"/>
                  </a:lnTo>
                  <a:lnTo>
                    <a:pt x="212125" y="314751"/>
                  </a:lnTo>
                  <a:lnTo>
                    <a:pt x="249067" y="297652"/>
                  </a:lnTo>
                  <a:lnTo>
                    <a:pt x="279867" y="271637"/>
                  </a:lnTo>
                  <a:lnTo>
                    <a:pt x="303123" y="238795"/>
                  </a:lnTo>
                  <a:lnTo>
                    <a:pt x="318180" y="201167"/>
                  </a:lnTo>
                  <a:lnTo>
                    <a:pt x="323651" y="160797"/>
                  </a:lnTo>
                  <a:lnTo>
                    <a:pt x="322280" y="140268"/>
                  </a:lnTo>
                  <a:lnTo>
                    <a:pt x="312023" y="101269"/>
                  </a:lnTo>
                  <a:lnTo>
                    <a:pt x="292181" y="66370"/>
                  </a:lnTo>
                  <a:lnTo>
                    <a:pt x="265496" y="36941"/>
                  </a:lnTo>
                  <a:lnTo>
                    <a:pt x="230596" y="15057"/>
                  </a:lnTo>
                  <a:lnTo>
                    <a:pt x="192283" y="2057"/>
                  </a:lnTo>
                  <a:lnTo>
                    <a:pt x="17175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788709" y="7134738"/>
              <a:ext cx="323850" cy="322580"/>
            </a:xfrm>
            <a:custGeom>
              <a:avLst/>
              <a:gdLst/>
              <a:ahLst/>
              <a:cxnLst/>
              <a:rect l="l" t="t" r="r" b="b"/>
              <a:pathLst>
                <a:path w="323850" h="322579">
                  <a:moveTo>
                    <a:pt x="0" y="160797"/>
                  </a:moveTo>
                  <a:lnTo>
                    <a:pt x="4800" y="120426"/>
                  </a:lnTo>
                  <a:lnTo>
                    <a:pt x="19842" y="83484"/>
                  </a:lnTo>
                  <a:lnTo>
                    <a:pt x="43113" y="50627"/>
                  </a:lnTo>
                  <a:lnTo>
                    <a:pt x="74584" y="24627"/>
                  </a:lnTo>
                  <a:lnTo>
                    <a:pt x="111541" y="7528"/>
                  </a:lnTo>
                  <a:lnTo>
                    <a:pt x="151226" y="0"/>
                  </a:lnTo>
                  <a:lnTo>
                    <a:pt x="171754" y="0"/>
                  </a:lnTo>
                  <a:lnTo>
                    <a:pt x="212125" y="7528"/>
                  </a:lnTo>
                  <a:lnTo>
                    <a:pt x="249067" y="24627"/>
                  </a:lnTo>
                  <a:lnTo>
                    <a:pt x="279867" y="50627"/>
                  </a:lnTo>
                  <a:lnTo>
                    <a:pt x="303123" y="83484"/>
                  </a:lnTo>
                  <a:lnTo>
                    <a:pt x="318180" y="120426"/>
                  </a:lnTo>
                  <a:lnTo>
                    <a:pt x="323651" y="160797"/>
                  </a:lnTo>
                  <a:lnTo>
                    <a:pt x="322280" y="181325"/>
                  </a:lnTo>
                  <a:lnTo>
                    <a:pt x="312023" y="220324"/>
                  </a:lnTo>
                  <a:lnTo>
                    <a:pt x="292181" y="255910"/>
                  </a:lnTo>
                  <a:lnTo>
                    <a:pt x="265496" y="285323"/>
                  </a:lnTo>
                  <a:lnTo>
                    <a:pt x="230596" y="307223"/>
                  </a:lnTo>
                  <a:lnTo>
                    <a:pt x="192283" y="319537"/>
                  </a:lnTo>
                  <a:lnTo>
                    <a:pt x="171754" y="322280"/>
                  </a:lnTo>
                  <a:lnTo>
                    <a:pt x="151226" y="322280"/>
                  </a:lnTo>
                  <a:lnTo>
                    <a:pt x="111541" y="314751"/>
                  </a:lnTo>
                  <a:lnTo>
                    <a:pt x="74584" y="297652"/>
                  </a:lnTo>
                  <a:lnTo>
                    <a:pt x="43113" y="271637"/>
                  </a:lnTo>
                  <a:lnTo>
                    <a:pt x="19842" y="238795"/>
                  </a:lnTo>
                  <a:lnTo>
                    <a:pt x="4800" y="201167"/>
                  </a:lnTo>
                  <a:lnTo>
                    <a:pt x="0" y="160797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" name="object 79"/>
          <p:cNvSpPr txBox="1"/>
          <p:nvPr/>
        </p:nvSpPr>
        <p:spPr>
          <a:xfrm>
            <a:off x="3863592" y="7145364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80" name="object 80"/>
          <p:cNvGrpSpPr/>
          <p:nvPr/>
        </p:nvGrpSpPr>
        <p:grpSpPr>
          <a:xfrm>
            <a:off x="4040161" y="6482290"/>
            <a:ext cx="1909445" cy="1624330"/>
            <a:chOff x="4040161" y="6482290"/>
            <a:chExt cx="1909445" cy="1624330"/>
          </a:xfrm>
        </p:grpSpPr>
        <p:sp>
          <p:nvSpPr>
            <p:cNvPr id="81" name="object 81"/>
            <p:cNvSpPr/>
            <p:nvPr/>
          </p:nvSpPr>
          <p:spPr>
            <a:xfrm>
              <a:off x="4968346" y="6650288"/>
              <a:ext cx="0" cy="1380490"/>
            </a:xfrm>
            <a:custGeom>
              <a:avLst/>
              <a:gdLst/>
              <a:ahLst/>
              <a:cxnLst/>
              <a:rect l="l" t="t" r="r" b="b"/>
              <a:pathLst>
                <a:path w="0" h="1380490">
                  <a:moveTo>
                    <a:pt x="0" y="0"/>
                  </a:moveTo>
                  <a:lnTo>
                    <a:pt x="0" y="1380119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4936190" y="6562018"/>
              <a:ext cx="64769" cy="96520"/>
            </a:xfrm>
            <a:custGeom>
              <a:avLst/>
              <a:gdLst/>
              <a:ahLst/>
              <a:cxnLst/>
              <a:rect l="l" t="t" r="r" b="b"/>
              <a:pathLst>
                <a:path w="64770" h="96520">
                  <a:moveTo>
                    <a:pt x="32156" y="0"/>
                  </a:moveTo>
                  <a:lnTo>
                    <a:pt x="0" y="96484"/>
                  </a:lnTo>
                  <a:lnTo>
                    <a:pt x="64328" y="96484"/>
                  </a:lnTo>
                  <a:lnTo>
                    <a:pt x="3215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4114418" y="6490863"/>
              <a:ext cx="711835" cy="619125"/>
            </a:xfrm>
            <a:custGeom>
              <a:avLst/>
              <a:gdLst/>
              <a:ahLst/>
              <a:cxnLst/>
              <a:rect l="l" t="t" r="r" b="b"/>
              <a:pathLst>
                <a:path w="711835" h="619125">
                  <a:moveTo>
                    <a:pt x="0" y="618561"/>
                  </a:moveTo>
                  <a:lnTo>
                    <a:pt x="711616" y="0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4048734" y="7079995"/>
              <a:ext cx="93345" cy="87630"/>
            </a:xfrm>
            <a:custGeom>
              <a:avLst/>
              <a:gdLst/>
              <a:ahLst/>
              <a:cxnLst/>
              <a:rect l="l" t="t" r="r" b="b"/>
              <a:pathLst>
                <a:path w="93345" h="87629">
                  <a:moveTo>
                    <a:pt x="50627" y="0"/>
                  </a:moveTo>
                  <a:lnTo>
                    <a:pt x="0" y="87584"/>
                  </a:lnTo>
                  <a:lnTo>
                    <a:pt x="93055" y="48585"/>
                  </a:lnTo>
                  <a:lnTo>
                    <a:pt x="5062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048734" y="7428961"/>
              <a:ext cx="713740" cy="620395"/>
            </a:xfrm>
            <a:custGeom>
              <a:avLst/>
              <a:gdLst/>
              <a:ahLst/>
              <a:cxnLst/>
              <a:rect l="l" t="t" r="r" b="b"/>
              <a:pathLst>
                <a:path w="713739" h="620395">
                  <a:moveTo>
                    <a:pt x="0" y="0"/>
                  </a:moveTo>
                  <a:lnTo>
                    <a:pt x="713658" y="619932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735022" y="8018779"/>
              <a:ext cx="93980" cy="87630"/>
            </a:xfrm>
            <a:custGeom>
              <a:avLst/>
              <a:gdLst/>
              <a:ahLst/>
              <a:cxnLst/>
              <a:rect l="l" t="t" r="r" b="b"/>
              <a:pathLst>
                <a:path w="93979" h="87629">
                  <a:moveTo>
                    <a:pt x="42428" y="0"/>
                  </a:moveTo>
                  <a:lnTo>
                    <a:pt x="0" y="48585"/>
                  </a:lnTo>
                  <a:lnTo>
                    <a:pt x="93741" y="87584"/>
                  </a:lnTo>
                  <a:lnTo>
                    <a:pt x="4242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5099044" y="6498391"/>
              <a:ext cx="775970" cy="629920"/>
            </a:xfrm>
            <a:custGeom>
              <a:avLst/>
              <a:gdLst/>
              <a:ahLst/>
              <a:cxnLst/>
              <a:rect l="l" t="t" r="r" b="b"/>
              <a:pathLst>
                <a:path w="775970" h="629920">
                  <a:moveTo>
                    <a:pt x="0" y="0"/>
                  </a:moveTo>
                  <a:lnTo>
                    <a:pt x="775929" y="629503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5848974" y="7097781"/>
              <a:ext cx="95250" cy="86360"/>
            </a:xfrm>
            <a:custGeom>
              <a:avLst/>
              <a:gdLst/>
              <a:ahLst/>
              <a:cxnLst/>
              <a:rect l="l" t="t" r="r" b="b"/>
              <a:pathLst>
                <a:path w="95250" h="86359">
                  <a:moveTo>
                    <a:pt x="40370" y="0"/>
                  </a:moveTo>
                  <a:lnTo>
                    <a:pt x="0" y="49956"/>
                  </a:lnTo>
                  <a:lnTo>
                    <a:pt x="95112" y="86227"/>
                  </a:lnTo>
                  <a:lnTo>
                    <a:pt x="4037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5144886" y="7413218"/>
              <a:ext cx="796290" cy="636270"/>
            </a:xfrm>
            <a:custGeom>
              <a:avLst/>
              <a:gdLst/>
              <a:ahLst/>
              <a:cxnLst/>
              <a:rect l="l" t="t" r="r" b="b"/>
              <a:pathLst>
                <a:path w="796289" h="636270">
                  <a:moveTo>
                    <a:pt x="795771" y="0"/>
                  </a:moveTo>
                  <a:lnTo>
                    <a:pt x="0" y="635675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5075773" y="8018094"/>
              <a:ext cx="95885" cy="85725"/>
            </a:xfrm>
            <a:custGeom>
              <a:avLst/>
              <a:gdLst/>
              <a:ahLst/>
              <a:cxnLst/>
              <a:rect l="l" t="t" r="r" b="b"/>
              <a:pathLst>
                <a:path w="95885" h="85725">
                  <a:moveTo>
                    <a:pt x="55427" y="0"/>
                  </a:moveTo>
                  <a:lnTo>
                    <a:pt x="0" y="85526"/>
                  </a:lnTo>
                  <a:lnTo>
                    <a:pt x="95798" y="50642"/>
                  </a:lnTo>
                  <a:lnTo>
                    <a:pt x="5542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4098675" y="7298278"/>
              <a:ext cx="1728470" cy="0"/>
            </a:xfrm>
            <a:custGeom>
              <a:avLst/>
              <a:gdLst/>
              <a:ahLst/>
              <a:cxnLst/>
              <a:rect l="l" t="t" r="r" b="b"/>
              <a:pathLst>
                <a:path w="1728470" h="0">
                  <a:moveTo>
                    <a:pt x="0" y="0"/>
                  </a:moveTo>
                  <a:lnTo>
                    <a:pt x="1728398" y="0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5819546" y="7266106"/>
              <a:ext cx="95885" cy="64769"/>
            </a:xfrm>
            <a:custGeom>
              <a:avLst/>
              <a:gdLst/>
              <a:ahLst/>
              <a:cxnLst/>
              <a:rect l="l" t="t" r="r" b="b"/>
              <a:pathLst>
                <a:path w="95885" h="64770">
                  <a:moveTo>
                    <a:pt x="0" y="0"/>
                  </a:moveTo>
                  <a:lnTo>
                    <a:pt x="0" y="64328"/>
                  </a:lnTo>
                  <a:lnTo>
                    <a:pt x="95798" y="32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3" name="object 93"/>
          <p:cNvSpPr txBox="1"/>
          <p:nvPr/>
        </p:nvSpPr>
        <p:spPr>
          <a:xfrm>
            <a:off x="5328562" y="7830973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4887909" y="6266791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5986122" y="7126203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4872172" y="8041722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16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4119503" y="6749866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5821214" y="6813501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8</a:t>
            </a:r>
            <a:endParaRPr sz="16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4809900" y="6705390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5561200" y="7046144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4490357" y="7882291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02" name="object 102"/>
          <p:cNvGrpSpPr/>
          <p:nvPr/>
        </p:nvGrpSpPr>
        <p:grpSpPr>
          <a:xfrm>
            <a:off x="5113058" y="7451547"/>
            <a:ext cx="967740" cy="744220"/>
            <a:chOff x="5113058" y="7451547"/>
            <a:chExt cx="967740" cy="744220"/>
          </a:xfrm>
        </p:grpSpPr>
        <p:sp>
          <p:nvSpPr>
            <p:cNvPr id="103" name="object 103"/>
            <p:cNvSpPr/>
            <p:nvPr/>
          </p:nvSpPr>
          <p:spPr>
            <a:xfrm>
              <a:off x="5248899" y="7539131"/>
              <a:ext cx="800735" cy="641350"/>
            </a:xfrm>
            <a:custGeom>
              <a:avLst/>
              <a:gdLst/>
              <a:ahLst/>
              <a:cxnLst/>
              <a:rect l="l" t="t" r="r" b="b"/>
              <a:pathLst>
                <a:path w="800735" h="641350">
                  <a:moveTo>
                    <a:pt x="800557" y="0"/>
                  </a:moveTo>
                  <a:lnTo>
                    <a:pt x="793714" y="34884"/>
                  </a:lnTo>
                </a:path>
                <a:path w="800735" h="641350">
                  <a:moveTo>
                    <a:pt x="784829" y="69098"/>
                  </a:moveTo>
                  <a:lnTo>
                    <a:pt x="782772" y="77998"/>
                  </a:lnTo>
                  <a:lnTo>
                    <a:pt x="774557" y="103311"/>
                  </a:lnTo>
                </a:path>
                <a:path w="800735" h="641350">
                  <a:moveTo>
                    <a:pt x="762243" y="136839"/>
                  </a:moveTo>
                  <a:lnTo>
                    <a:pt x="755401" y="153954"/>
                  </a:lnTo>
                  <a:lnTo>
                    <a:pt x="747872" y="169682"/>
                  </a:lnTo>
                </a:path>
                <a:path w="800735" h="641350">
                  <a:moveTo>
                    <a:pt x="731443" y="200482"/>
                  </a:moveTo>
                  <a:lnTo>
                    <a:pt x="717087" y="226481"/>
                  </a:lnTo>
                  <a:lnTo>
                    <a:pt x="713658" y="231266"/>
                  </a:lnTo>
                </a:path>
                <a:path w="800735" h="641350">
                  <a:moveTo>
                    <a:pt x="695187" y="261381"/>
                  </a:moveTo>
                  <a:lnTo>
                    <a:pt x="694502" y="262067"/>
                  </a:lnTo>
                  <a:lnTo>
                    <a:pt x="673973" y="290108"/>
                  </a:lnTo>
                </a:path>
                <a:path w="800735" h="641350">
                  <a:moveTo>
                    <a:pt x="651388" y="317479"/>
                  </a:moveTo>
                  <a:lnTo>
                    <a:pt x="641817" y="329793"/>
                  </a:lnTo>
                  <a:lnTo>
                    <a:pt x="628131" y="344850"/>
                  </a:lnTo>
                </a:path>
                <a:path w="800735" h="641350">
                  <a:moveTo>
                    <a:pt x="603503" y="370164"/>
                  </a:moveTo>
                  <a:lnTo>
                    <a:pt x="580232" y="392750"/>
                  </a:lnTo>
                  <a:lnTo>
                    <a:pt x="577489" y="394807"/>
                  </a:lnTo>
                </a:path>
                <a:path w="800735" h="641350">
                  <a:moveTo>
                    <a:pt x="551489" y="418063"/>
                  </a:moveTo>
                  <a:lnTo>
                    <a:pt x="547390" y="421492"/>
                  </a:lnTo>
                  <a:lnTo>
                    <a:pt x="523448" y="439963"/>
                  </a:lnTo>
                </a:path>
                <a:path w="800735" h="641350">
                  <a:moveTo>
                    <a:pt x="494705" y="460491"/>
                  </a:moveTo>
                  <a:lnTo>
                    <a:pt x="473491" y="475548"/>
                  </a:lnTo>
                  <a:lnTo>
                    <a:pt x="465277" y="480334"/>
                  </a:lnTo>
                </a:path>
                <a:path w="800735" h="641350">
                  <a:moveTo>
                    <a:pt x="435178" y="499490"/>
                  </a:moveTo>
                  <a:lnTo>
                    <a:pt x="434492" y="500176"/>
                  </a:lnTo>
                  <a:lnTo>
                    <a:pt x="404378" y="516605"/>
                  </a:lnTo>
                </a:path>
                <a:path w="800735" h="641350">
                  <a:moveTo>
                    <a:pt x="372907" y="533018"/>
                  </a:moveTo>
                  <a:lnTo>
                    <a:pt x="350321" y="543976"/>
                  </a:lnTo>
                  <a:lnTo>
                    <a:pt x="340751" y="548076"/>
                  </a:lnTo>
                </a:path>
                <a:path w="800735" h="641350">
                  <a:moveTo>
                    <a:pt x="308594" y="562447"/>
                  </a:moveTo>
                  <a:lnTo>
                    <a:pt x="307223" y="563133"/>
                  </a:lnTo>
                  <a:lnTo>
                    <a:pt x="275737" y="575447"/>
                  </a:lnTo>
                </a:path>
                <a:path w="800735" h="641350">
                  <a:moveTo>
                    <a:pt x="242209" y="587761"/>
                  </a:moveTo>
                  <a:lnTo>
                    <a:pt x="216209" y="596661"/>
                  </a:lnTo>
                  <a:lnTo>
                    <a:pt x="208681" y="598703"/>
                  </a:lnTo>
                </a:path>
                <a:path w="800735" h="641350">
                  <a:moveTo>
                    <a:pt x="174482" y="608975"/>
                  </a:moveTo>
                  <a:lnTo>
                    <a:pt x="168996" y="610346"/>
                  </a:lnTo>
                  <a:lnTo>
                    <a:pt x="139583" y="617189"/>
                  </a:lnTo>
                </a:path>
                <a:path w="800735" h="641350">
                  <a:moveTo>
                    <a:pt x="104683" y="624702"/>
                  </a:moveTo>
                  <a:lnTo>
                    <a:pt x="72527" y="630875"/>
                  </a:lnTo>
                  <a:lnTo>
                    <a:pt x="70469" y="630875"/>
                  </a:lnTo>
                </a:path>
                <a:path w="800735" h="641350">
                  <a:moveTo>
                    <a:pt x="35570" y="636346"/>
                  </a:moveTo>
                  <a:lnTo>
                    <a:pt x="22570" y="638388"/>
                  </a:lnTo>
                  <a:lnTo>
                    <a:pt x="0" y="641131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5177728" y="8183692"/>
              <a:ext cx="36195" cy="2540"/>
            </a:xfrm>
            <a:custGeom>
              <a:avLst/>
              <a:gdLst/>
              <a:ahLst/>
              <a:cxnLst/>
              <a:rect l="l" t="t" r="r" b="b"/>
              <a:pathLst>
                <a:path w="36195" h="2540">
                  <a:moveTo>
                    <a:pt x="-8553" y="1021"/>
                  </a:moveTo>
                  <a:lnTo>
                    <a:pt x="44138" y="1021"/>
                  </a:lnTo>
                </a:path>
              </a:pathLst>
            </a:custGeom>
            <a:ln w="191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5121630" y="8187106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 h="0">
                  <a:moveTo>
                    <a:pt x="20513" y="0"/>
                  </a:moveTo>
                  <a:lnTo>
                    <a:pt x="0" y="0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6016614" y="7451547"/>
              <a:ext cx="64135" cy="98425"/>
            </a:xfrm>
            <a:custGeom>
              <a:avLst/>
              <a:gdLst/>
              <a:ahLst/>
              <a:cxnLst/>
              <a:rect l="l" t="t" r="r" b="b"/>
              <a:pathLst>
                <a:path w="64135" h="98425">
                  <a:moveTo>
                    <a:pt x="39684" y="0"/>
                  </a:moveTo>
                  <a:lnTo>
                    <a:pt x="0" y="93055"/>
                  </a:lnTo>
                  <a:lnTo>
                    <a:pt x="63642" y="97840"/>
                  </a:lnTo>
                  <a:lnTo>
                    <a:pt x="396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7" name="object 107"/>
          <p:cNvSpPr txBox="1"/>
          <p:nvPr/>
        </p:nvSpPr>
        <p:spPr>
          <a:xfrm>
            <a:off x="5903326" y="7677697"/>
            <a:ext cx="25209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12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08" name="object 108"/>
          <p:cNvGrpSpPr/>
          <p:nvPr/>
        </p:nvGrpSpPr>
        <p:grpSpPr>
          <a:xfrm>
            <a:off x="3924879" y="7457704"/>
            <a:ext cx="873760" cy="752475"/>
            <a:chOff x="3924879" y="7457704"/>
            <a:chExt cx="873760" cy="752475"/>
          </a:xfrm>
        </p:grpSpPr>
        <p:sp>
          <p:nvSpPr>
            <p:cNvPr id="109" name="object 109"/>
            <p:cNvSpPr/>
            <p:nvPr/>
          </p:nvSpPr>
          <p:spPr>
            <a:xfrm>
              <a:off x="4753493" y="8198734"/>
              <a:ext cx="36195" cy="1905"/>
            </a:xfrm>
            <a:custGeom>
              <a:avLst/>
              <a:gdLst/>
              <a:ahLst/>
              <a:cxnLst/>
              <a:rect l="l" t="t" r="r" b="b"/>
              <a:pathLst>
                <a:path w="36195" h="1904">
                  <a:moveTo>
                    <a:pt x="-8553" y="685"/>
                  </a:moveTo>
                  <a:lnTo>
                    <a:pt x="44138" y="685"/>
                  </a:lnTo>
                </a:path>
              </a:pathLst>
            </a:custGeom>
            <a:ln w="1847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3957035" y="7545288"/>
              <a:ext cx="761365" cy="651510"/>
            </a:xfrm>
            <a:custGeom>
              <a:avLst/>
              <a:gdLst/>
              <a:ahLst/>
              <a:cxnLst/>
              <a:rect l="l" t="t" r="r" b="b"/>
              <a:pathLst>
                <a:path w="761364" h="651509">
                  <a:moveTo>
                    <a:pt x="760887" y="651403"/>
                  </a:moveTo>
                  <a:lnTo>
                    <a:pt x="738301" y="650031"/>
                  </a:lnTo>
                  <a:lnTo>
                    <a:pt x="725302" y="648660"/>
                  </a:lnTo>
                </a:path>
                <a:path w="761364" h="651509">
                  <a:moveTo>
                    <a:pt x="689716" y="644560"/>
                  </a:moveTo>
                  <a:lnTo>
                    <a:pt x="654832" y="637717"/>
                  </a:lnTo>
                </a:path>
                <a:path w="761364" h="651509">
                  <a:moveTo>
                    <a:pt x="619932" y="630189"/>
                  </a:moveTo>
                  <a:lnTo>
                    <a:pt x="601461" y="626074"/>
                  </a:lnTo>
                  <a:lnTo>
                    <a:pt x="586404" y="621974"/>
                  </a:lnTo>
                </a:path>
                <a:path w="761364" h="651509">
                  <a:moveTo>
                    <a:pt x="552190" y="611718"/>
                  </a:moveTo>
                  <a:lnTo>
                    <a:pt x="518662" y="600760"/>
                  </a:lnTo>
                </a:path>
                <a:path w="761364" h="651509">
                  <a:moveTo>
                    <a:pt x="485820" y="587761"/>
                  </a:moveTo>
                  <a:lnTo>
                    <a:pt x="470077" y="581604"/>
                  </a:lnTo>
                  <a:lnTo>
                    <a:pt x="452978" y="574075"/>
                  </a:lnTo>
                </a:path>
                <a:path w="761364" h="651509">
                  <a:moveTo>
                    <a:pt x="420806" y="559018"/>
                  </a:moveTo>
                  <a:lnTo>
                    <a:pt x="389336" y="542604"/>
                  </a:lnTo>
                </a:path>
                <a:path w="761364" h="651509">
                  <a:moveTo>
                    <a:pt x="359237" y="524804"/>
                  </a:moveTo>
                  <a:lnTo>
                    <a:pt x="348965" y="518647"/>
                  </a:lnTo>
                  <a:lnTo>
                    <a:pt x="329123" y="505647"/>
                  </a:lnTo>
                </a:path>
                <a:path w="761364" h="651509">
                  <a:moveTo>
                    <a:pt x="299709" y="485119"/>
                  </a:moveTo>
                  <a:lnTo>
                    <a:pt x="275752" y="467334"/>
                  </a:lnTo>
                  <a:lnTo>
                    <a:pt x="271652" y="463920"/>
                  </a:lnTo>
                </a:path>
                <a:path w="761364" h="651509">
                  <a:moveTo>
                    <a:pt x="244281" y="441335"/>
                  </a:moveTo>
                  <a:lnTo>
                    <a:pt x="241538" y="438591"/>
                  </a:lnTo>
                  <a:lnTo>
                    <a:pt x="218282" y="418063"/>
                  </a:lnTo>
                </a:path>
                <a:path w="761364" h="651509">
                  <a:moveTo>
                    <a:pt x="192953" y="392750"/>
                  </a:moveTo>
                  <a:lnTo>
                    <a:pt x="178597" y="377692"/>
                  </a:lnTo>
                  <a:lnTo>
                    <a:pt x="169011" y="366750"/>
                  </a:lnTo>
                </a:path>
                <a:path w="761364" h="651509">
                  <a:moveTo>
                    <a:pt x="146425" y="339379"/>
                  </a:moveTo>
                  <a:lnTo>
                    <a:pt x="124541" y="311322"/>
                  </a:lnTo>
                </a:path>
                <a:path w="761364" h="651509">
                  <a:moveTo>
                    <a:pt x="105384" y="281909"/>
                  </a:moveTo>
                  <a:lnTo>
                    <a:pt x="100583" y="274380"/>
                  </a:lnTo>
                  <a:lnTo>
                    <a:pt x="86898" y="251109"/>
                  </a:lnTo>
                </a:path>
                <a:path w="761364" h="651509">
                  <a:moveTo>
                    <a:pt x="69799" y="219638"/>
                  </a:moveTo>
                  <a:lnTo>
                    <a:pt x="59527" y="199796"/>
                  </a:lnTo>
                  <a:lnTo>
                    <a:pt x="54056" y="187482"/>
                  </a:lnTo>
                </a:path>
                <a:path w="761364" h="651509">
                  <a:moveTo>
                    <a:pt x="40370" y="155326"/>
                  </a:moveTo>
                  <a:lnTo>
                    <a:pt x="28056" y="122468"/>
                  </a:lnTo>
                  <a:lnTo>
                    <a:pt x="28056" y="121798"/>
                  </a:lnTo>
                </a:path>
                <a:path w="761364" h="651509">
                  <a:moveTo>
                    <a:pt x="17800" y="87584"/>
                  </a:moveTo>
                  <a:lnTo>
                    <a:pt x="15742" y="82097"/>
                  </a:lnTo>
                  <a:lnTo>
                    <a:pt x="9585" y="53370"/>
                  </a:lnTo>
                </a:path>
                <a:path w="761364" h="651509">
                  <a:moveTo>
                    <a:pt x="2743" y="18470"/>
                  </a:moveTo>
                  <a:lnTo>
                    <a:pt x="0" y="0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3924879" y="7457704"/>
              <a:ext cx="64769" cy="98425"/>
            </a:xfrm>
            <a:custGeom>
              <a:avLst/>
              <a:gdLst/>
              <a:ahLst/>
              <a:cxnLst/>
              <a:rect l="l" t="t" r="r" b="b"/>
              <a:pathLst>
                <a:path w="64770" h="98425">
                  <a:moveTo>
                    <a:pt x="25999" y="0"/>
                  </a:moveTo>
                  <a:lnTo>
                    <a:pt x="0" y="97840"/>
                  </a:lnTo>
                  <a:lnTo>
                    <a:pt x="64312" y="93741"/>
                  </a:lnTo>
                  <a:lnTo>
                    <a:pt x="2599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2" name="object 112"/>
          <p:cNvSpPr txBox="1"/>
          <p:nvPr/>
        </p:nvSpPr>
        <p:spPr>
          <a:xfrm>
            <a:off x="3799965" y="7588060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13" name="object 113"/>
          <p:cNvGrpSpPr/>
          <p:nvPr/>
        </p:nvGrpSpPr>
        <p:grpSpPr>
          <a:xfrm>
            <a:off x="5025831" y="6533604"/>
            <a:ext cx="245110" cy="1532255"/>
            <a:chOff x="5025831" y="6533604"/>
            <a:chExt cx="245110" cy="1532255"/>
          </a:xfrm>
        </p:grpSpPr>
        <p:sp>
          <p:nvSpPr>
            <p:cNvPr id="114" name="object 114"/>
            <p:cNvSpPr/>
            <p:nvPr/>
          </p:nvSpPr>
          <p:spPr>
            <a:xfrm>
              <a:off x="5064145" y="6542176"/>
              <a:ext cx="198120" cy="859790"/>
            </a:xfrm>
            <a:custGeom>
              <a:avLst/>
              <a:gdLst/>
              <a:ahLst/>
              <a:cxnLst/>
              <a:rect l="l" t="t" r="r" b="b"/>
              <a:pathLst>
                <a:path w="198120" h="859790">
                  <a:moveTo>
                    <a:pt x="0" y="0"/>
                  </a:moveTo>
                  <a:lnTo>
                    <a:pt x="12313" y="32842"/>
                  </a:lnTo>
                </a:path>
                <a:path w="198120" h="859790">
                  <a:moveTo>
                    <a:pt x="25313" y="65699"/>
                  </a:moveTo>
                  <a:lnTo>
                    <a:pt x="28742" y="74584"/>
                  </a:lnTo>
                  <a:lnTo>
                    <a:pt x="37642" y="99227"/>
                  </a:lnTo>
                </a:path>
                <a:path w="198120" h="859790">
                  <a:moveTo>
                    <a:pt x="49270" y="132755"/>
                  </a:moveTo>
                  <a:lnTo>
                    <a:pt x="58155" y="156697"/>
                  </a:lnTo>
                  <a:lnTo>
                    <a:pt x="61584" y="166283"/>
                  </a:lnTo>
                </a:path>
                <a:path w="198120" h="859790">
                  <a:moveTo>
                    <a:pt x="73212" y="199125"/>
                  </a:moveTo>
                  <a:lnTo>
                    <a:pt x="84170" y="232653"/>
                  </a:lnTo>
                </a:path>
                <a:path w="198120" h="859790">
                  <a:moveTo>
                    <a:pt x="94427" y="266867"/>
                  </a:moveTo>
                  <a:lnTo>
                    <a:pt x="101269" y="289438"/>
                  </a:lnTo>
                  <a:lnTo>
                    <a:pt x="104698" y="301066"/>
                  </a:lnTo>
                </a:path>
                <a:path w="198120" h="859790">
                  <a:moveTo>
                    <a:pt x="114269" y="335279"/>
                  </a:moveTo>
                  <a:lnTo>
                    <a:pt x="114955" y="336651"/>
                  </a:lnTo>
                  <a:lnTo>
                    <a:pt x="123855" y="369493"/>
                  </a:lnTo>
                </a:path>
                <a:path w="198120" h="859790">
                  <a:moveTo>
                    <a:pt x="132740" y="403707"/>
                  </a:moveTo>
                  <a:lnTo>
                    <a:pt x="140268" y="432450"/>
                  </a:lnTo>
                  <a:lnTo>
                    <a:pt x="141640" y="437235"/>
                  </a:lnTo>
                </a:path>
                <a:path w="198120" h="859790">
                  <a:moveTo>
                    <a:pt x="149169" y="472135"/>
                  </a:moveTo>
                  <a:lnTo>
                    <a:pt x="151226" y="482391"/>
                  </a:lnTo>
                  <a:lnTo>
                    <a:pt x="156697" y="507034"/>
                  </a:lnTo>
                </a:path>
                <a:path w="198120" h="859790">
                  <a:moveTo>
                    <a:pt x="163540" y="541934"/>
                  </a:moveTo>
                  <a:lnTo>
                    <a:pt x="170383" y="576818"/>
                  </a:lnTo>
                </a:path>
                <a:path w="198120" h="859790">
                  <a:moveTo>
                    <a:pt x="175854" y="611718"/>
                  </a:moveTo>
                  <a:lnTo>
                    <a:pt x="179268" y="632932"/>
                  </a:lnTo>
                  <a:lnTo>
                    <a:pt x="181325" y="646617"/>
                  </a:lnTo>
                </a:path>
                <a:path w="198120" h="859790">
                  <a:moveTo>
                    <a:pt x="186110" y="682203"/>
                  </a:moveTo>
                  <a:lnTo>
                    <a:pt x="186110" y="683559"/>
                  </a:lnTo>
                  <a:lnTo>
                    <a:pt x="189539" y="717087"/>
                  </a:lnTo>
                </a:path>
                <a:path w="198120" h="859790">
                  <a:moveTo>
                    <a:pt x="192953" y="752673"/>
                  </a:moveTo>
                  <a:lnTo>
                    <a:pt x="195011" y="784143"/>
                  </a:lnTo>
                  <a:lnTo>
                    <a:pt x="195011" y="788258"/>
                  </a:lnTo>
                </a:path>
                <a:path w="198120" h="859790">
                  <a:moveTo>
                    <a:pt x="196382" y="823828"/>
                  </a:moveTo>
                  <a:lnTo>
                    <a:pt x="197068" y="834100"/>
                  </a:lnTo>
                  <a:lnTo>
                    <a:pt x="197754" y="859414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5259842" y="7437176"/>
              <a:ext cx="1905" cy="36195"/>
            </a:xfrm>
            <a:custGeom>
              <a:avLst/>
              <a:gdLst/>
              <a:ahLst/>
              <a:cxnLst/>
              <a:rect l="l" t="t" r="r" b="b"/>
              <a:pathLst>
                <a:path w="1904" h="36195">
                  <a:moveTo>
                    <a:pt x="685" y="-8553"/>
                  </a:moveTo>
                  <a:lnTo>
                    <a:pt x="685" y="44138"/>
                  </a:lnTo>
                </a:path>
              </a:pathLst>
            </a:custGeom>
            <a:ln w="1847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5253685" y="7507646"/>
              <a:ext cx="3175" cy="36195"/>
            </a:xfrm>
            <a:custGeom>
              <a:avLst/>
              <a:gdLst/>
              <a:ahLst/>
              <a:cxnLst/>
              <a:rect l="l" t="t" r="r" b="b"/>
              <a:pathLst>
                <a:path w="3175" h="36195">
                  <a:moveTo>
                    <a:pt x="1363" y="-8553"/>
                  </a:moveTo>
                  <a:lnTo>
                    <a:pt x="1363" y="44138"/>
                  </a:lnTo>
                </a:path>
              </a:pathLst>
            </a:custGeom>
            <a:ln w="1983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078516" y="7578131"/>
              <a:ext cx="170815" cy="417195"/>
            </a:xfrm>
            <a:custGeom>
              <a:avLst/>
              <a:gdLst/>
              <a:ahLst/>
              <a:cxnLst/>
              <a:rect l="l" t="t" r="r" b="b"/>
              <a:pathLst>
                <a:path w="170814" h="417195">
                  <a:moveTo>
                    <a:pt x="170383" y="0"/>
                  </a:moveTo>
                  <a:lnTo>
                    <a:pt x="166954" y="19842"/>
                  </a:lnTo>
                  <a:lnTo>
                    <a:pt x="164210" y="34899"/>
                  </a:lnTo>
                </a:path>
                <a:path w="170814" h="417195">
                  <a:moveTo>
                    <a:pt x="156697" y="69783"/>
                  </a:moveTo>
                  <a:lnTo>
                    <a:pt x="150540" y="93055"/>
                  </a:lnTo>
                  <a:lnTo>
                    <a:pt x="147797" y="103997"/>
                  </a:lnTo>
                </a:path>
                <a:path w="170814" h="417195">
                  <a:moveTo>
                    <a:pt x="137525" y="138211"/>
                  </a:moveTo>
                  <a:lnTo>
                    <a:pt x="136855" y="140954"/>
                  </a:lnTo>
                  <a:lnTo>
                    <a:pt x="129326" y="163525"/>
                  </a:lnTo>
                  <a:lnTo>
                    <a:pt x="126583" y="171053"/>
                  </a:lnTo>
                </a:path>
                <a:path w="170814" h="417195">
                  <a:moveTo>
                    <a:pt x="114269" y="204581"/>
                  </a:moveTo>
                  <a:lnTo>
                    <a:pt x="112212" y="209382"/>
                  </a:lnTo>
                  <a:lnTo>
                    <a:pt x="103327" y="231952"/>
                  </a:lnTo>
                  <a:lnTo>
                    <a:pt x="100583" y="237423"/>
                  </a:lnTo>
                </a:path>
                <a:path w="170814" h="417195">
                  <a:moveTo>
                    <a:pt x="86212" y="269595"/>
                  </a:moveTo>
                  <a:lnTo>
                    <a:pt x="83484" y="275066"/>
                  </a:lnTo>
                  <a:lnTo>
                    <a:pt x="72527" y="296966"/>
                  </a:lnTo>
                  <a:lnTo>
                    <a:pt x="70469" y="301066"/>
                  </a:lnTo>
                </a:path>
                <a:path w="170814" h="417195">
                  <a:moveTo>
                    <a:pt x="53370" y="332536"/>
                  </a:moveTo>
                  <a:lnTo>
                    <a:pt x="49956" y="338693"/>
                  </a:lnTo>
                  <a:lnTo>
                    <a:pt x="38313" y="358536"/>
                  </a:lnTo>
                  <a:lnTo>
                    <a:pt x="35585" y="363336"/>
                  </a:lnTo>
                </a:path>
                <a:path w="170814" h="417195">
                  <a:moveTo>
                    <a:pt x="16428" y="393435"/>
                  </a:moveTo>
                  <a:lnTo>
                    <a:pt x="12999" y="398221"/>
                  </a:lnTo>
                  <a:lnTo>
                    <a:pt x="0" y="416707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5025831" y="7969509"/>
              <a:ext cx="83820" cy="95885"/>
            </a:xfrm>
            <a:custGeom>
              <a:avLst/>
              <a:gdLst/>
              <a:ahLst/>
              <a:cxnLst/>
              <a:rect l="l" t="t" r="r" b="b"/>
              <a:pathLst>
                <a:path w="83820" h="95884">
                  <a:moveTo>
                    <a:pt x="32842" y="0"/>
                  </a:moveTo>
                  <a:lnTo>
                    <a:pt x="0" y="95798"/>
                  </a:lnTo>
                  <a:lnTo>
                    <a:pt x="83469" y="38328"/>
                  </a:lnTo>
                  <a:lnTo>
                    <a:pt x="32842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9" name="object 119"/>
          <p:cNvSpPr txBox="1"/>
          <p:nvPr/>
        </p:nvSpPr>
        <p:spPr>
          <a:xfrm>
            <a:off x="5207455" y="7639381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9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20" name="object 120"/>
          <p:cNvGrpSpPr/>
          <p:nvPr/>
        </p:nvGrpSpPr>
        <p:grpSpPr>
          <a:xfrm>
            <a:off x="5133944" y="6373179"/>
            <a:ext cx="981075" cy="758825"/>
            <a:chOff x="5133944" y="6373179"/>
            <a:chExt cx="981075" cy="758825"/>
          </a:xfrm>
        </p:grpSpPr>
        <p:sp>
          <p:nvSpPr>
            <p:cNvPr id="121" name="object 121"/>
            <p:cNvSpPr/>
            <p:nvPr/>
          </p:nvSpPr>
          <p:spPr>
            <a:xfrm>
              <a:off x="5222885" y="6405336"/>
              <a:ext cx="36195" cy="3175"/>
            </a:xfrm>
            <a:custGeom>
              <a:avLst/>
              <a:gdLst/>
              <a:ahLst/>
              <a:cxnLst/>
              <a:rect l="l" t="t" r="r" b="b"/>
              <a:pathLst>
                <a:path w="36195" h="3175">
                  <a:moveTo>
                    <a:pt x="-8553" y="1363"/>
                  </a:moveTo>
                  <a:lnTo>
                    <a:pt x="44138" y="1363"/>
                  </a:lnTo>
                </a:path>
              </a:pathLst>
            </a:custGeom>
            <a:ln w="1983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5294055" y="6412179"/>
              <a:ext cx="812800" cy="711200"/>
            </a:xfrm>
            <a:custGeom>
              <a:avLst/>
              <a:gdLst/>
              <a:ahLst/>
              <a:cxnLst/>
              <a:rect l="l" t="t" r="r" b="b"/>
              <a:pathLst>
                <a:path w="812800" h="711200">
                  <a:moveTo>
                    <a:pt x="0" y="0"/>
                  </a:moveTo>
                  <a:lnTo>
                    <a:pt x="30098" y="4099"/>
                  </a:lnTo>
                  <a:lnTo>
                    <a:pt x="34899" y="4785"/>
                  </a:lnTo>
                </a:path>
                <a:path w="812800" h="711200">
                  <a:moveTo>
                    <a:pt x="69783" y="10942"/>
                  </a:moveTo>
                  <a:lnTo>
                    <a:pt x="80055" y="12999"/>
                  </a:lnTo>
                  <a:lnTo>
                    <a:pt x="104683" y="17785"/>
                  </a:lnTo>
                </a:path>
                <a:path w="812800" h="711200">
                  <a:moveTo>
                    <a:pt x="139583" y="25999"/>
                  </a:moveTo>
                  <a:lnTo>
                    <a:pt x="173796" y="34899"/>
                  </a:lnTo>
                </a:path>
                <a:path w="812800" h="711200">
                  <a:moveTo>
                    <a:pt x="208010" y="45156"/>
                  </a:moveTo>
                  <a:lnTo>
                    <a:pt x="226481" y="50627"/>
                  </a:lnTo>
                  <a:lnTo>
                    <a:pt x="241538" y="56098"/>
                  </a:lnTo>
                </a:path>
                <a:path w="812800" h="711200">
                  <a:moveTo>
                    <a:pt x="275066" y="67741"/>
                  </a:moveTo>
                  <a:lnTo>
                    <a:pt x="307223" y="81427"/>
                  </a:lnTo>
                </a:path>
                <a:path w="812800" h="711200">
                  <a:moveTo>
                    <a:pt x="340065" y="95112"/>
                  </a:moveTo>
                  <a:lnTo>
                    <a:pt x="361965" y="105369"/>
                  </a:lnTo>
                  <a:lnTo>
                    <a:pt x="372221" y="110840"/>
                  </a:lnTo>
                </a:path>
                <a:path w="812800" h="711200">
                  <a:moveTo>
                    <a:pt x="404393" y="126583"/>
                  </a:moveTo>
                  <a:lnTo>
                    <a:pt x="405063" y="127269"/>
                  </a:lnTo>
                  <a:lnTo>
                    <a:pt x="435178" y="144368"/>
                  </a:lnTo>
                </a:path>
                <a:path w="812800" h="711200">
                  <a:moveTo>
                    <a:pt x="465277" y="163525"/>
                  </a:moveTo>
                  <a:lnTo>
                    <a:pt x="485805" y="176524"/>
                  </a:lnTo>
                  <a:lnTo>
                    <a:pt x="494705" y="183367"/>
                  </a:lnTo>
                </a:path>
                <a:path w="812800" h="711200">
                  <a:moveTo>
                    <a:pt x="524134" y="203895"/>
                  </a:moveTo>
                  <a:lnTo>
                    <a:pt x="551505" y="225795"/>
                  </a:lnTo>
                </a:path>
                <a:path w="812800" h="711200">
                  <a:moveTo>
                    <a:pt x="578190" y="249067"/>
                  </a:moveTo>
                  <a:lnTo>
                    <a:pt x="591875" y="261381"/>
                  </a:lnTo>
                  <a:lnTo>
                    <a:pt x="604189" y="273695"/>
                  </a:lnTo>
                </a:path>
                <a:path w="812800" h="711200">
                  <a:moveTo>
                    <a:pt x="629503" y="299008"/>
                  </a:moveTo>
                  <a:lnTo>
                    <a:pt x="652759" y="323636"/>
                  </a:lnTo>
                  <a:lnTo>
                    <a:pt x="653445" y="324322"/>
                  </a:lnTo>
                </a:path>
                <a:path w="812800" h="711200">
                  <a:moveTo>
                    <a:pt x="676031" y="351693"/>
                  </a:moveTo>
                  <a:lnTo>
                    <a:pt x="680130" y="357164"/>
                  </a:lnTo>
                  <a:lnTo>
                    <a:pt x="696559" y="380436"/>
                  </a:lnTo>
                </a:path>
                <a:path w="812800" h="711200">
                  <a:moveTo>
                    <a:pt x="716401" y="409864"/>
                  </a:moveTo>
                  <a:lnTo>
                    <a:pt x="727344" y="426963"/>
                  </a:lnTo>
                  <a:lnTo>
                    <a:pt x="734872" y="440649"/>
                  </a:lnTo>
                </a:path>
                <a:path w="812800" h="711200">
                  <a:moveTo>
                    <a:pt x="751301" y="472119"/>
                  </a:moveTo>
                  <a:lnTo>
                    <a:pt x="764987" y="500862"/>
                  </a:lnTo>
                  <a:lnTo>
                    <a:pt x="766358" y="504291"/>
                  </a:lnTo>
                </a:path>
                <a:path w="812800" h="711200">
                  <a:moveTo>
                    <a:pt x="778672" y="537819"/>
                  </a:moveTo>
                  <a:lnTo>
                    <a:pt x="779358" y="538490"/>
                  </a:lnTo>
                  <a:lnTo>
                    <a:pt x="788929" y="570661"/>
                  </a:lnTo>
                </a:path>
                <a:path w="812800" h="711200">
                  <a:moveTo>
                    <a:pt x="798515" y="604875"/>
                  </a:moveTo>
                  <a:lnTo>
                    <a:pt x="800557" y="614446"/>
                  </a:lnTo>
                  <a:lnTo>
                    <a:pt x="805357" y="639759"/>
                  </a:lnTo>
                </a:path>
                <a:path w="812800" h="711200">
                  <a:moveTo>
                    <a:pt x="809457" y="675345"/>
                  </a:moveTo>
                  <a:lnTo>
                    <a:pt x="811514" y="692444"/>
                  </a:lnTo>
                  <a:lnTo>
                    <a:pt x="812200" y="710930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5133944" y="6373179"/>
              <a:ext cx="98425" cy="64769"/>
            </a:xfrm>
            <a:custGeom>
              <a:avLst/>
              <a:gdLst/>
              <a:ahLst/>
              <a:cxnLst/>
              <a:rect l="l" t="t" r="r" b="b"/>
              <a:pathLst>
                <a:path w="98425" h="64770">
                  <a:moveTo>
                    <a:pt x="97840" y="0"/>
                  </a:moveTo>
                  <a:lnTo>
                    <a:pt x="0" y="28727"/>
                  </a:lnTo>
                  <a:lnTo>
                    <a:pt x="95783" y="64312"/>
                  </a:lnTo>
                  <a:lnTo>
                    <a:pt x="9784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4" name="object 124"/>
          <p:cNvSpPr txBox="1"/>
          <p:nvPr/>
        </p:nvSpPr>
        <p:spPr>
          <a:xfrm>
            <a:off x="5462674" y="6218213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25" name="object 125"/>
          <p:cNvGrpSpPr/>
          <p:nvPr/>
        </p:nvGrpSpPr>
        <p:grpSpPr>
          <a:xfrm>
            <a:off x="3941353" y="6386865"/>
            <a:ext cx="867410" cy="767080"/>
            <a:chOff x="3941353" y="6386865"/>
            <a:chExt cx="867410" cy="767080"/>
          </a:xfrm>
        </p:grpSpPr>
        <p:sp>
          <p:nvSpPr>
            <p:cNvPr id="126" name="object 126"/>
            <p:cNvSpPr/>
            <p:nvPr/>
          </p:nvSpPr>
          <p:spPr>
            <a:xfrm>
              <a:off x="3950878" y="7108738"/>
              <a:ext cx="1905" cy="36195"/>
            </a:xfrm>
            <a:custGeom>
              <a:avLst/>
              <a:gdLst/>
              <a:ahLst/>
              <a:cxnLst/>
              <a:rect l="l" t="t" r="r" b="b"/>
              <a:pathLst>
                <a:path w="1904" h="36195">
                  <a:moveTo>
                    <a:pt x="685" y="-8553"/>
                  </a:moveTo>
                  <a:lnTo>
                    <a:pt x="685" y="44138"/>
                  </a:lnTo>
                </a:path>
              </a:pathLst>
            </a:custGeom>
            <a:ln w="1847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3954993" y="6425864"/>
              <a:ext cx="704215" cy="647700"/>
            </a:xfrm>
            <a:custGeom>
              <a:avLst/>
              <a:gdLst/>
              <a:ahLst/>
              <a:cxnLst/>
              <a:rect l="l" t="t" r="r" b="b"/>
              <a:pathLst>
                <a:path w="704214" h="647700">
                  <a:moveTo>
                    <a:pt x="0" y="647288"/>
                  </a:moveTo>
                  <a:lnTo>
                    <a:pt x="670" y="639074"/>
                  </a:lnTo>
                  <a:lnTo>
                    <a:pt x="5471" y="612388"/>
                  </a:lnTo>
                </a:path>
                <a:path w="704214" h="647700">
                  <a:moveTo>
                    <a:pt x="12313" y="577504"/>
                  </a:moveTo>
                  <a:lnTo>
                    <a:pt x="15727" y="560390"/>
                  </a:lnTo>
                  <a:lnTo>
                    <a:pt x="21198" y="543976"/>
                  </a:lnTo>
                </a:path>
                <a:path w="704214" h="647700">
                  <a:moveTo>
                    <a:pt x="32156" y="509762"/>
                  </a:moveTo>
                  <a:lnTo>
                    <a:pt x="41041" y="484433"/>
                  </a:lnTo>
                  <a:lnTo>
                    <a:pt x="44470" y="476234"/>
                  </a:lnTo>
                </a:path>
                <a:path w="704214" h="647700">
                  <a:moveTo>
                    <a:pt x="59527" y="444063"/>
                  </a:moveTo>
                  <a:lnTo>
                    <a:pt x="75255" y="411906"/>
                  </a:lnTo>
                </a:path>
                <a:path w="704214" h="647700">
                  <a:moveTo>
                    <a:pt x="93055" y="381121"/>
                  </a:moveTo>
                  <a:lnTo>
                    <a:pt x="96469" y="374964"/>
                  </a:lnTo>
                  <a:lnTo>
                    <a:pt x="112212" y="351693"/>
                  </a:lnTo>
                </a:path>
                <a:path w="704214" h="647700">
                  <a:moveTo>
                    <a:pt x="132740" y="322966"/>
                  </a:moveTo>
                  <a:lnTo>
                    <a:pt x="144368" y="307223"/>
                  </a:lnTo>
                  <a:lnTo>
                    <a:pt x="154625" y="295595"/>
                  </a:lnTo>
                </a:path>
                <a:path w="704214" h="647700">
                  <a:moveTo>
                    <a:pt x="177896" y="268909"/>
                  </a:moveTo>
                  <a:lnTo>
                    <a:pt x="201167" y="244952"/>
                  </a:lnTo>
                  <a:lnTo>
                    <a:pt x="202524" y="243580"/>
                  </a:lnTo>
                </a:path>
                <a:path w="704214" h="647700">
                  <a:moveTo>
                    <a:pt x="228523" y="219638"/>
                  </a:moveTo>
                  <a:lnTo>
                    <a:pt x="232638" y="215539"/>
                  </a:lnTo>
                  <a:lnTo>
                    <a:pt x="255209" y="196367"/>
                  </a:lnTo>
                </a:path>
                <a:path w="704214" h="647700">
                  <a:moveTo>
                    <a:pt x="283265" y="173796"/>
                  </a:moveTo>
                  <a:lnTo>
                    <a:pt x="300380" y="160797"/>
                  </a:lnTo>
                  <a:lnTo>
                    <a:pt x="312008" y="152582"/>
                  </a:lnTo>
                </a:path>
                <a:path w="704214" h="647700">
                  <a:moveTo>
                    <a:pt x="341436" y="132740"/>
                  </a:moveTo>
                  <a:lnTo>
                    <a:pt x="371535" y="114955"/>
                  </a:lnTo>
                </a:path>
                <a:path w="704214" h="647700">
                  <a:moveTo>
                    <a:pt x="402335" y="97840"/>
                  </a:moveTo>
                  <a:lnTo>
                    <a:pt x="413964" y="91683"/>
                  </a:lnTo>
                  <a:lnTo>
                    <a:pt x="433806" y="82097"/>
                  </a:lnTo>
                </a:path>
                <a:path w="704214" h="647700">
                  <a:moveTo>
                    <a:pt x="465962" y="67055"/>
                  </a:moveTo>
                  <a:lnTo>
                    <a:pt x="496747" y="54742"/>
                  </a:lnTo>
                  <a:lnTo>
                    <a:pt x="498805" y="54056"/>
                  </a:lnTo>
                </a:path>
                <a:path w="704214" h="647700">
                  <a:moveTo>
                    <a:pt x="532333" y="42412"/>
                  </a:moveTo>
                  <a:lnTo>
                    <a:pt x="539175" y="39684"/>
                  </a:lnTo>
                  <a:lnTo>
                    <a:pt x="565861" y="31470"/>
                  </a:lnTo>
                </a:path>
                <a:path w="704214" h="647700">
                  <a:moveTo>
                    <a:pt x="600074" y="21884"/>
                  </a:moveTo>
                  <a:lnTo>
                    <a:pt x="627446" y="15041"/>
                  </a:lnTo>
                  <a:lnTo>
                    <a:pt x="634288" y="13685"/>
                  </a:lnTo>
                </a:path>
                <a:path w="704214" h="647700">
                  <a:moveTo>
                    <a:pt x="669188" y="6156"/>
                  </a:moveTo>
                  <a:lnTo>
                    <a:pt x="672602" y="5471"/>
                  </a:lnTo>
                  <a:lnTo>
                    <a:pt x="704087" y="0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4694651" y="6419021"/>
              <a:ext cx="25400" cy="3175"/>
            </a:xfrm>
            <a:custGeom>
              <a:avLst/>
              <a:gdLst/>
              <a:ahLst/>
              <a:cxnLst/>
              <a:rect l="l" t="t" r="r" b="b"/>
              <a:pathLst>
                <a:path w="25400" h="3175">
                  <a:moveTo>
                    <a:pt x="-8553" y="1363"/>
                  </a:moveTo>
                  <a:lnTo>
                    <a:pt x="33866" y="1363"/>
                  </a:lnTo>
                </a:path>
              </a:pathLst>
            </a:custGeom>
            <a:ln w="1983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4710394" y="6386865"/>
              <a:ext cx="98425" cy="64769"/>
            </a:xfrm>
            <a:custGeom>
              <a:avLst/>
              <a:gdLst/>
              <a:ahLst/>
              <a:cxnLst/>
              <a:rect l="l" t="t" r="r" b="b"/>
              <a:pathLst>
                <a:path w="98425" h="64770">
                  <a:moveTo>
                    <a:pt x="0" y="0"/>
                  </a:moveTo>
                  <a:lnTo>
                    <a:pt x="2727" y="64312"/>
                  </a:lnTo>
                  <a:lnTo>
                    <a:pt x="97840" y="280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0" name="object 130"/>
          <p:cNvSpPr txBox="1"/>
          <p:nvPr/>
        </p:nvSpPr>
        <p:spPr>
          <a:xfrm>
            <a:off x="4310403" y="6218213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31" name="object 131"/>
          <p:cNvGrpSpPr/>
          <p:nvPr/>
        </p:nvGrpSpPr>
        <p:grpSpPr>
          <a:xfrm>
            <a:off x="4091147" y="7346509"/>
            <a:ext cx="1838960" cy="225425"/>
            <a:chOff x="4091147" y="7346509"/>
            <a:chExt cx="1838960" cy="225425"/>
          </a:xfrm>
        </p:grpSpPr>
        <p:sp>
          <p:nvSpPr>
            <p:cNvPr id="132" name="object 132"/>
            <p:cNvSpPr/>
            <p:nvPr/>
          </p:nvSpPr>
          <p:spPr>
            <a:xfrm>
              <a:off x="4174632" y="7409804"/>
              <a:ext cx="518159" cy="120650"/>
            </a:xfrm>
            <a:custGeom>
              <a:avLst/>
              <a:gdLst/>
              <a:ahLst/>
              <a:cxnLst/>
              <a:rect l="l" t="t" r="r" b="b"/>
              <a:pathLst>
                <a:path w="518160" h="120650">
                  <a:moveTo>
                    <a:pt x="0" y="0"/>
                  </a:moveTo>
                  <a:lnTo>
                    <a:pt x="10256" y="3413"/>
                  </a:lnTo>
                  <a:lnTo>
                    <a:pt x="20528" y="6842"/>
                  </a:lnTo>
                  <a:lnTo>
                    <a:pt x="30784" y="9585"/>
                  </a:lnTo>
                  <a:lnTo>
                    <a:pt x="34213" y="10942"/>
                  </a:lnTo>
                </a:path>
                <a:path w="518160" h="120650">
                  <a:moveTo>
                    <a:pt x="68427" y="21214"/>
                  </a:moveTo>
                  <a:lnTo>
                    <a:pt x="73212" y="22585"/>
                  </a:lnTo>
                  <a:lnTo>
                    <a:pt x="84155" y="25313"/>
                  </a:lnTo>
                  <a:lnTo>
                    <a:pt x="95112" y="28742"/>
                  </a:lnTo>
                  <a:lnTo>
                    <a:pt x="102626" y="30784"/>
                  </a:lnTo>
                </a:path>
                <a:path w="518160" h="120650">
                  <a:moveTo>
                    <a:pt x="136839" y="40370"/>
                  </a:moveTo>
                  <a:lnTo>
                    <a:pt x="139583" y="41056"/>
                  </a:lnTo>
                  <a:lnTo>
                    <a:pt x="150525" y="43784"/>
                  </a:lnTo>
                  <a:lnTo>
                    <a:pt x="161483" y="47213"/>
                  </a:lnTo>
                  <a:lnTo>
                    <a:pt x="170367" y="49270"/>
                  </a:lnTo>
                </a:path>
                <a:path w="518160" h="120650">
                  <a:moveTo>
                    <a:pt x="204581" y="58155"/>
                  </a:moveTo>
                  <a:lnTo>
                    <a:pt x="208010" y="58841"/>
                  </a:lnTo>
                  <a:lnTo>
                    <a:pt x="219638" y="61584"/>
                  </a:lnTo>
                  <a:lnTo>
                    <a:pt x="231266" y="64312"/>
                  </a:lnTo>
                  <a:lnTo>
                    <a:pt x="239481" y="66370"/>
                  </a:lnTo>
                </a:path>
                <a:path w="518160" h="120650">
                  <a:moveTo>
                    <a:pt x="274380" y="73212"/>
                  </a:moveTo>
                  <a:lnTo>
                    <a:pt x="309280" y="81427"/>
                  </a:lnTo>
                </a:path>
                <a:path w="518160" h="120650">
                  <a:moveTo>
                    <a:pt x="344164" y="88955"/>
                  </a:moveTo>
                  <a:lnTo>
                    <a:pt x="379064" y="95798"/>
                  </a:lnTo>
                </a:path>
                <a:path w="518160" h="120650">
                  <a:moveTo>
                    <a:pt x="413278" y="102641"/>
                  </a:moveTo>
                  <a:lnTo>
                    <a:pt x="448177" y="108798"/>
                  </a:lnTo>
                </a:path>
                <a:path w="518160" h="120650">
                  <a:moveTo>
                    <a:pt x="483077" y="114955"/>
                  </a:moveTo>
                  <a:lnTo>
                    <a:pt x="517977" y="120426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4727493" y="7535016"/>
              <a:ext cx="36195" cy="5080"/>
            </a:xfrm>
            <a:custGeom>
              <a:avLst/>
              <a:gdLst/>
              <a:ahLst/>
              <a:cxnLst/>
              <a:rect l="l" t="t" r="r" b="b"/>
              <a:pathLst>
                <a:path w="36195" h="5079">
                  <a:moveTo>
                    <a:pt x="-8553" y="2400"/>
                  </a:moveTo>
                  <a:lnTo>
                    <a:pt x="44138" y="2400"/>
                  </a:lnTo>
                </a:path>
              </a:pathLst>
            </a:custGeom>
            <a:ln w="219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4798664" y="7544602"/>
              <a:ext cx="319405" cy="19050"/>
            </a:xfrm>
            <a:custGeom>
              <a:avLst/>
              <a:gdLst/>
              <a:ahLst/>
              <a:cxnLst/>
              <a:rect l="l" t="t" r="r" b="b"/>
              <a:pathLst>
                <a:path w="319404" h="19050">
                  <a:moveTo>
                    <a:pt x="0" y="0"/>
                  </a:moveTo>
                  <a:lnTo>
                    <a:pt x="5471" y="685"/>
                  </a:lnTo>
                  <a:lnTo>
                    <a:pt x="34899" y="4099"/>
                  </a:lnTo>
                </a:path>
                <a:path w="319404" h="19050">
                  <a:moveTo>
                    <a:pt x="70469" y="7528"/>
                  </a:moveTo>
                  <a:lnTo>
                    <a:pt x="84155" y="8900"/>
                  </a:lnTo>
                  <a:lnTo>
                    <a:pt x="106055" y="10256"/>
                  </a:lnTo>
                </a:path>
                <a:path w="319404" h="19050">
                  <a:moveTo>
                    <a:pt x="141640" y="12999"/>
                  </a:moveTo>
                  <a:lnTo>
                    <a:pt x="163525" y="14371"/>
                  </a:lnTo>
                  <a:lnTo>
                    <a:pt x="177210" y="15057"/>
                  </a:lnTo>
                </a:path>
                <a:path w="319404" h="19050">
                  <a:moveTo>
                    <a:pt x="212796" y="16413"/>
                  </a:moveTo>
                  <a:lnTo>
                    <a:pt x="242895" y="17785"/>
                  </a:lnTo>
                  <a:lnTo>
                    <a:pt x="248381" y="17785"/>
                  </a:lnTo>
                </a:path>
                <a:path w="319404" h="19050">
                  <a:moveTo>
                    <a:pt x="283265" y="18470"/>
                  </a:moveTo>
                  <a:lnTo>
                    <a:pt x="318851" y="18470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5153101" y="7561016"/>
              <a:ext cx="36195" cy="1905"/>
            </a:xfrm>
            <a:custGeom>
              <a:avLst/>
              <a:gdLst/>
              <a:ahLst/>
              <a:cxnLst/>
              <a:rect l="l" t="t" r="r" b="b"/>
              <a:pathLst>
                <a:path w="36195" h="1904">
                  <a:moveTo>
                    <a:pt x="-8553" y="685"/>
                  </a:moveTo>
                  <a:lnTo>
                    <a:pt x="44138" y="685"/>
                  </a:lnTo>
                </a:path>
              </a:pathLst>
            </a:custGeom>
            <a:ln w="1847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5224256" y="7556916"/>
              <a:ext cx="36195" cy="3175"/>
            </a:xfrm>
            <a:custGeom>
              <a:avLst/>
              <a:gdLst/>
              <a:ahLst/>
              <a:cxnLst/>
              <a:rect l="l" t="t" r="r" b="b"/>
              <a:pathLst>
                <a:path w="36195" h="3175">
                  <a:moveTo>
                    <a:pt x="-8553" y="1371"/>
                  </a:moveTo>
                  <a:lnTo>
                    <a:pt x="44138" y="1371"/>
                  </a:lnTo>
                </a:path>
              </a:pathLst>
            </a:custGeom>
            <a:ln w="1984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5295427" y="7550759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-8553" y="1706"/>
                  </a:moveTo>
                  <a:lnTo>
                    <a:pt x="43437" y="1706"/>
                  </a:lnTo>
                </a:path>
              </a:pathLst>
            </a:custGeom>
            <a:ln w="2051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5365897" y="7541173"/>
              <a:ext cx="36195" cy="5080"/>
            </a:xfrm>
            <a:custGeom>
              <a:avLst/>
              <a:gdLst/>
              <a:ahLst/>
              <a:cxnLst/>
              <a:rect l="l" t="t" r="r" b="b"/>
              <a:pathLst>
                <a:path w="36195" h="5079">
                  <a:moveTo>
                    <a:pt x="-8553" y="2400"/>
                  </a:moveTo>
                  <a:lnTo>
                    <a:pt x="44138" y="2400"/>
                  </a:lnTo>
                </a:path>
              </a:pathLst>
            </a:custGeom>
            <a:ln w="219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5436382" y="7355062"/>
              <a:ext cx="485140" cy="180975"/>
            </a:xfrm>
            <a:custGeom>
              <a:avLst/>
              <a:gdLst/>
              <a:ahLst/>
              <a:cxnLst/>
              <a:rect l="l" t="t" r="r" b="b"/>
              <a:pathLst>
                <a:path w="485139" h="180975">
                  <a:moveTo>
                    <a:pt x="0" y="180639"/>
                  </a:moveTo>
                  <a:lnTo>
                    <a:pt x="34884" y="173796"/>
                  </a:lnTo>
                </a:path>
                <a:path w="485139" h="180975">
                  <a:moveTo>
                    <a:pt x="69783" y="166954"/>
                  </a:moveTo>
                  <a:lnTo>
                    <a:pt x="103997" y="158069"/>
                  </a:lnTo>
                </a:path>
                <a:path w="485139" h="180975">
                  <a:moveTo>
                    <a:pt x="138897" y="149854"/>
                  </a:moveTo>
                  <a:lnTo>
                    <a:pt x="141625" y="149169"/>
                  </a:lnTo>
                  <a:lnTo>
                    <a:pt x="172425" y="139583"/>
                  </a:lnTo>
                </a:path>
                <a:path w="485139" h="180975">
                  <a:moveTo>
                    <a:pt x="206639" y="129326"/>
                  </a:moveTo>
                  <a:lnTo>
                    <a:pt x="214167" y="127269"/>
                  </a:lnTo>
                  <a:lnTo>
                    <a:pt x="240167" y="118369"/>
                  </a:lnTo>
                </a:path>
                <a:path w="485139" h="180975">
                  <a:moveTo>
                    <a:pt x="273695" y="106055"/>
                  </a:moveTo>
                  <a:lnTo>
                    <a:pt x="284637" y="101955"/>
                  </a:lnTo>
                  <a:lnTo>
                    <a:pt x="306537" y="92369"/>
                  </a:lnTo>
                </a:path>
                <a:path w="485139" h="180975">
                  <a:moveTo>
                    <a:pt x="339379" y="78684"/>
                  </a:moveTo>
                  <a:lnTo>
                    <a:pt x="353750" y="72527"/>
                  </a:lnTo>
                  <a:lnTo>
                    <a:pt x="371535" y="63642"/>
                  </a:lnTo>
                </a:path>
                <a:path w="485139" h="180975">
                  <a:moveTo>
                    <a:pt x="402335" y="47213"/>
                  </a:moveTo>
                  <a:lnTo>
                    <a:pt x="420121" y="38313"/>
                  </a:lnTo>
                  <a:lnTo>
                    <a:pt x="433806" y="30114"/>
                  </a:lnTo>
                </a:path>
                <a:path w="485139" h="180975">
                  <a:moveTo>
                    <a:pt x="464591" y="12313"/>
                  </a:moveTo>
                  <a:lnTo>
                    <a:pt x="485119" y="0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4091147" y="7381062"/>
              <a:ext cx="102235" cy="61594"/>
            </a:xfrm>
            <a:custGeom>
              <a:avLst/>
              <a:gdLst/>
              <a:ahLst/>
              <a:cxnLst/>
              <a:rect l="l" t="t" r="r" b="b"/>
              <a:pathLst>
                <a:path w="102235" h="61595">
                  <a:moveTo>
                    <a:pt x="0" y="0"/>
                  </a:moveTo>
                  <a:lnTo>
                    <a:pt x="80741" y="61584"/>
                  </a:lnTo>
                  <a:lnTo>
                    <a:pt x="101955" y="1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1" name="object 141"/>
          <p:cNvSpPr txBox="1"/>
          <p:nvPr/>
        </p:nvSpPr>
        <p:spPr>
          <a:xfrm>
            <a:off x="4381574" y="7440956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2420491" y="8737713"/>
            <a:ext cx="33889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8.80: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Floyd-Warshall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d</a:t>
            </a:r>
            <a:r>
              <a:rPr dirty="0" baseline="31250" sz="1200" spc="-37">
                <a:latin typeface="Verdana"/>
                <a:cs typeface="Verdana"/>
              </a:rPr>
              <a:t>(</a:t>
            </a:r>
            <a:r>
              <a:rPr dirty="0" sz="1200" spc="-25">
                <a:latin typeface="Lucida Sans Unicode"/>
                <a:cs typeface="Lucida Sans Unicode"/>
              </a:rPr>
              <a:t>3</a:t>
            </a:r>
            <a:r>
              <a:rPr dirty="0" sz="1200" spc="-2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158496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8.6.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SHORTEST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PATHS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16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865375" y="938474"/>
            <a:ext cx="4461510" cy="2590800"/>
            <a:chOff x="1865375" y="938474"/>
            <a:chExt cx="4461510" cy="2590800"/>
          </a:xfrm>
        </p:grpSpPr>
        <p:sp>
          <p:nvSpPr>
            <p:cNvPr id="5" name="object 5"/>
            <p:cNvSpPr/>
            <p:nvPr/>
          </p:nvSpPr>
          <p:spPr>
            <a:xfrm>
              <a:off x="1865375" y="938474"/>
              <a:ext cx="4461510" cy="2590800"/>
            </a:xfrm>
            <a:custGeom>
              <a:avLst/>
              <a:gdLst/>
              <a:ahLst/>
              <a:cxnLst/>
              <a:rect l="l" t="t" r="r" b="b"/>
              <a:pathLst>
                <a:path w="4461510" h="2590800">
                  <a:moveTo>
                    <a:pt x="4460900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4460900" y="2590601"/>
                  </a:lnTo>
                  <a:lnTo>
                    <a:pt x="4460900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778517" y="2914233"/>
              <a:ext cx="323850" cy="323215"/>
            </a:xfrm>
            <a:custGeom>
              <a:avLst/>
              <a:gdLst/>
              <a:ahLst/>
              <a:cxnLst/>
              <a:rect l="l" t="t" r="r" b="b"/>
              <a:pathLst>
                <a:path w="323850" h="323214">
                  <a:moveTo>
                    <a:pt x="172425" y="0"/>
                  </a:moveTo>
                  <a:lnTo>
                    <a:pt x="151912" y="0"/>
                  </a:lnTo>
                  <a:lnTo>
                    <a:pt x="131384" y="2743"/>
                  </a:lnTo>
                  <a:lnTo>
                    <a:pt x="93055" y="15057"/>
                  </a:lnTo>
                  <a:lnTo>
                    <a:pt x="58155" y="36956"/>
                  </a:lnTo>
                  <a:lnTo>
                    <a:pt x="30800" y="67055"/>
                  </a:lnTo>
                  <a:lnTo>
                    <a:pt x="11628" y="102641"/>
                  </a:lnTo>
                  <a:lnTo>
                    <a:pt x="1371" y="141640"/>
                  </a:lnTo>
                  <a:lnTo>
                    <a:pt x="0" y="162168"/>
                  </a:lnTo>
                  <a:lnTo>
                    <a:pt x="1371" y="182011"/>
                  </a:lnTo>
                  <a:lnTo>
                    <a:pt x="11628" y="221010"/>
                  </a:lnTo>
                  <a:lnTo>
                    <a:pt x="30800" y="256595"/>
                  </a:lnTo>
                  <a:lnTo>
                    <a:pt x="58155" y="286009"/>
                  </a:lnTo>
                  <a:lnTo>
                    <a:pt x="93055" y="307908"/>
                  </a:lnTo>
                  <a:lnTo>
                    <a:pt x="131384" y="320222"/>
                  </a:lnTo>
                  <a:lnTo>
                    <a:pt x="151912" y="322966"/>
                  </a:lnTo>
                  <a:lnTo>
                    <a:pt x="172425" y="322966"/>
                  </a:lnTo>
                  <a:lnTo>
                    <a:pt x="212125" y="315437"/>
                  </a:lnTo>
                  <a:lnTo>
                    <a:pt x="249067" y="297652"/>
                  </a:lnTo>
                  <a:lnTo>
                    <a:pt x="279852" y="272338"/>
                  </a:lnTo>
                  <a:lnTo>
                    <a:pt x="303809" y="239481"/>
                  </a:lnTo>
                  <a:lnTo>
                    <a:pt x="318866" y="201167"/>
                  </a:lnTo>
                  <a:lnTo>
                    <a:pt x="323651" y="162168"/>
                  </a:lnTo>
                  <a:lnTo>
                    <a:pt x="322280" y="141640"/>
                  </a:lnTo>
                  <a:lnTo>
                    <a:pt x="312023" y="102641"/>
                  </a:lnTo>
                  <a:lnTo>
                    <a:pt x="292851" y="67055"/>
                  </a:lnTo>
                  <a:lnTo>
                    <a:pt x="265496" y="36956"/>
                  </a:lnTo>
                  <a:lnTo>
                    <a:pt x="231282" y="15057"/>
                  </a:lnTo>
                  <a:lnTo>
                    <a:pt x="192283" y="2743"/>
                  </a:lnTo>
                  <a:lnTo>
                    <a:pt x="17242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778517" y="2914233"/>
              <a:ext cx="323850" cy="323215"/>
            </a:xfrm>
            <a:custGeom>
              <a:avLst/>
              <a:gdLst/>
              <a:ahLst/>
              <a:cxnLst/>
              <a:rect l="l" t="t" r="r" b="b"/>
              <a:pathLst>
                <a:path w="323850" h="323214">
                  <a:moveTo>
                    <a:pt x="0" y="162168"/>
                  </a:moveTo>
                  <a:lnTo>
                    <a:pt x="5471" y="121798"/>
                  </a:lnTo>
                  <a:lnTo>
                    <a:pt x="19842" y="84170"/>
                  </a:lnTo>
                  <a:lnTo>
                    <a:pt x="43799" y="51313"/>
                  </a:lnTo>
                  <a:lnTo>
                    <a:pt x="75270" y="25313"/>
                  </a:lnTo>
                  <a:lnTo>
                    <a:pt x="111541" y="8214"/>
                  </a:lnTo>
                  <a:lnTo>
                    <a:pt x="151912" y="0"/>
                  </a:lnTo>
                  <a:lnTo>
                    <a:pt x="172425" y="0"/>
                  </a:lnTo>
                  <a:lnTo>
                    <a:pt x="212125" y="8214"/>
                  </a:lnTo>
                  <a:lnTo>
                    <a:pt x="249067" y="25313"/>
                  </a:lnTo>
                  <a:lnTo>
                    <a:pt x="279852" y="51313"/>
                  </a:lnTo>
                  <a:lnTo>
                    <a:pt x="303809" y="84170"/>
                  </a:lnTo>
                  <a:lnTo>
                    <a:pt x="318866" y="121798"/>
                  </a:lnTo>
                  <a:lnTo>
                    <a:pt x="323651" y="162168"/>
                  </a:lnTo>
                  <a:lnTo>
                    <a:pt x="322280" y="182011"/>
                  </a:lnTo>
                  <a:lnTo>
                    <a:pt x="312023" y="221010"/>
                  </a:lnTo>
                  <a:lnTo>
                    <a:pt x="292851" y="256595"/>
                  </a:lnTo>
                  <a:lnTo>
                    <a:pt x="265496" y="286009"/>
                  </a:lnTo>
                  <a:lnTo>
                    <a:pt x="231282" y="307908"/>
                  </a:lnTo>
                  <a:lnTo>
                    <a:pt x="192283" y="320222"/>
                  </a:lnTo>
                  <a:lnTo>
                    <a:pt x="172425" y="322966"/>
                  </a:lnTo>
                  <a:lnTo>
                    <a:pt x="151912" y="322966"/>
                  </a:lnTo>
                  <a:lnTo>
                    <a:pt x="111541" y="315437"/>
                  </a:lnTo>
                  <a:lnTo>
                    <a:pt x="75270" y="297652"/>
                  </a:lnTo>
                  <a:lnTo>
                    <a:pt x="43799" y="272338"/>
                  </a:lnTo>
                  <a:lnTo>
                    <a:pt x="19842" y="239481"/>
                  </a:lnTo>
                  <a:lnTo>
                    <a:pt x="5471" y="201167"/>
                  </a:lnTo>
                  <a:lnTo>
                    <a:pt x="0" y="162168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884255" y="2006920"/>
              <a:ext cx="324485" cy="322580"/>
            </a:xfrm>
            <a:custGeom>
              <a:avLst/>
              <a:gdLst/>
              <a:ahLst/>
              <a:cxnLst/>
              <a:rect l="l" t="t" r="r" b="b"/>
              <a:pathLst>
                <a:path w="324485" h="322580">
                  <a:moveTo>
                    <a:pt x="171754" y="0"/>
                  </a:moveTo>
                  <a:lnTo>
                    <a:pt x="152598" y="0"/>
                  </a:lnTo>
                  <a:lnTo>
                    <a:pt x="132069" y="2743"/>
                  </a:lnTo>
                  <a:lnTo>
                    <a:pt x="93055" y="15057"/>
                  </a:lnTo>
                  <a:lnTo>
                    <a:pt x="58841" y="36956"/>
                  </a:lnTo>
                  <a:lnTo>
                    <a:pt x="30800" y="66385"/>
                  </a:lnTo>
                  <a:lnTo>
                    <a:pt x="11643" y="101955"/>
                  </a:lnTo>
                  <a:lnTo>
                    <a:pt x="1371" y="140954"/>
                  </a:lnTo>
                  <a:lnTo>
                    <a:pt x="0" y="160797"/>
                  </a:lnTo>
                  <a:lnTo>
                    <a:pt x="1371" y="181325"/>
                  </a:lnTo>
                  <a:lnTo>
                    <a:pt x="11643" y="220339"/>
                  </a:lnTo>
                  <a:lnTo>
                    <a:pt x="30800" y="255910"/>
                  </a:lnTo>
                  <a:lnTo>
                    <a:pt x="58841" y="286024"/>
                  </a:lnTo>
                  <a:lnTo>
                    <a:pt x="93055" y="307238"/>
                  </a:lnTo>
                  <a:lnTo>
                    <a:pt x="132069" y="320238"/>
                  </a:lnTo>
                  <a:lnTo>
                    <a:pt x="152598" y="322280"/>
                  </a:lnTo>
                  <a:lnTo>
                    <a:pt x="171754" y="322280"/>
                  </a:lnTo>
                  <a:lnTo>
                    <a:pt x="212125" y="314766"/>
                  </a:lnTo>
                  <a:lnTo>
                    <a:pt x="249067" y="297652"/>
                  </a:lnTo>
                  <a:lnTo>
                    <a:pt x="279867" y="271652"/>
                  </a:lnTo>
                  <a:lnTo>
                    <a:pt x="303809" y="238810"/>
                  </a:lnTo>
                  <a:lnTo>
                    <a:pt x="318866" y="201167"/>
                  </a:lnTo>
                  <a:lnTo>
                    <a:pt x="324337" y="160797"/>
                  </a:lnTo>
                  <a:lnTo>
                    <a:pt x="322966" y="140954"/>
                  </a:lnTo>
                  <a:lnTo>
                    <a:pt x="312709" y="101955"/>
                  </a:lnTo>
                  <a:lnTo>
                    <a:pt x="292867" y="66385"/>
                  </a:lnTo>
                  <a:lnTo>
                    <a:pt x="265496" y="36956"/>
                  </a:lnTo>
                  <a:lnTo>
                    <a:pt x="230596" y="15057"/>
                  </a:lnTo>
                  <a:lnTo>
                    <a:pt x="192283" y="2743"/>
                  </a:lnTo>
                  <a:lnTo>
                    <a:pt x="17175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884255" y="2006920"/>
              <a:ext cx="324485" cy="322580"/>
            </a:xfrm>
            <a:custGeom>
              <a:avLst/>
              <a:gdLst/>
              <a:ahLst/>
              <a:cxnLst/>
              <a:rect l="l" t="t" r="r" b="b"/>
              <a:pathLst>
                <a:path w="324485" h="322580">
                  <a:moveTo>
                    <a:pt x="0" y="160797"/>
                  </a:moveTo>
                  <a:lnTo>
                    <a:pt x="5471" y="120426"/>
                  </a:lnTo>
                  <a:lnTo>
                    <a:pt x="19842" y="83484"/>
                  </a:lnTo>
                  <a:lnTo>
                    <a:pt x="43799" y="50642"/>
                  </a:lnTo>
                  <a:lnTo>
                    <a:pt x="75270" y="24643"/>
                  </a:lnTo>
                  <a:lnTo>
                    <a:pt x="112227" y="7528"/>
                  </a:lnTo>
                  <a:lnTo>
                    <a:pt x="152598" y="0"/>
                  </a:lnTo>
                  <a:lnTo>
                    <a:pt x="171754" y="0"/>
                  </a:lnTo>
                  <a:lnTo>
                    <a:pt x="212125" y="7528"/>
                  </a:lnTo>
                  <a:lnTo>
                    <a:pt x="249067" y="24643"/>
                  </a:lnTo>
                  <a:lnTo>
                    <a:pt x="279867" y="50642"/>
                  </a:lnTo>
                  <a:lnTo>
                    <a:pt x="303809" y="83484"/>
                  </a:lnTo>
                  <a:lnTo>
                    <a:pt x="318866" y="120426"/>
                  </a:lnTo>
                  <a:lnTo>
                    <a:pt x="324337" y="160797"/>
                  </a:lnTo>
                  <a:lnTo>
                    <a:pt x="322966" y="181325"/>
                  </a:lnTo>
                  <a:lnTo>
                    <a:pt x="312709" y="220339"/>
                  </a:lnTo>
                  <a:lnTo>
                    <a:pt x="292867" y="255910"/>
                  </a:lnTo>
                  <a:lnTo>
                    <a:pt x="265496" y="286024"/>
                  </a:lnTo>
                  <a:lnTo>
                    <a:pt x="230596" y="307238"/>
                  </a:lnTo>
                  <a:lnTo>
                    <a:pt x="192283" y="320238"/>
                  </a:lnTo>
                  <a:lnTo>
                    <a:pt x="171754" y="322280"/>
                  </a:lnTo>
                  <a:lnTo>
                    <a:pt x="152598" y="322280"/>
                  </a:lnTo>
                  <a:lnTo>
                    <a:pt x="112227" y="314766"/>
                  </a:lnTo>
                  <a:lnTo>
                    <a:pt x="75270" y="297652"/>
                  </a:lnTo>
                  <a:lnTo>
                    <a:pt x="43799" y="271652"/>
                  </a:lnTo>
                  <a:lnTo>
                    <a:pt x="19842" y="238810"/>
                  </a:lnTo>
                  <a:lnTo>
                    <a:pt x="5471" y="201167"/>
                  </a:lnTo>
                  <a:lnTo>
                    <a:pt x="0" y="160797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794259" y="1131092"/>
              <a:ext cx="323850" cy="323215"/>
            </a:xfrm>
            <a:custGeom>
              <a:avLst/>
              <a:gdLst/>
              <a:ahLst/>
              <a:cxnLst/>
              <a:rect l="l" t="t" r="r" b="b"/>
              <a:pathLst>
                <a:path w="323850" h="323215">
                  <a:moveTo>
                    <a:pt x="171739" y="0"/>
                  </a:moveTo>
                  <a:lnTo>
                    <a:pt x="151897" y="0"/>
                  </a:lnTo>
                  <a:lnTo>
                    <a:pt x="131368" y="2743"/>
                  </a:lnTo>
                  <a:lnTo>
                    <a:pt x="92369" y="15057"/>
                  </a:lnTo>
                  <a:lnTo>
                    <a:pt x="58155" y="36956"/>
                  </a:lnTo>
                  <a:lnTo>
                    <a:pt x="30098" y="66370"/>
                  </a:lnTo>
                  <a:lnTo>
                    <a:pt x="10942" y="101955"/>
                  </a:lnTo>
                  <a:lnTo>
                    <a:pt x="685" y="141640"/>
                  </a:lnTo>
                  <a:lnTo>
                    <a:pt x="0" y="161483"/>
                  </a:lnTo>
                  <a:lnTo>
                    <a:pt x="685" y="182011"/>
                  </a:lnTo>
                  <a:lnTo>
                    <a:pt x="10942" y="221696"/>
                  </a:lnTo>
                  <a:lnTo>
                    <a:pt x="30098" y="256595"/>
                  </a:lnTo>
                  <a:lnTo>
                    <a:pt x="58155" y="286009"/>
                  </a:lnTo>
                  <a:lnTo>
                    <a:pt x="92369" y="307908"/>
                  </a:lnTo>
                  <a:lnTo>
                    <a:pt x="131368" y="320222"/>
                  </a:lnTo>
                  <a:lnTo>
                    <a:pt x="151897" y="322966"/>
                  </a:lnTo>
                  <a:lnTo>
                    <a:pt x="171739" y="322966"/>
                  </a:lnTo>
                  <a:lnTo>
                    <a:pt x="212110" y="315437"/>
                  </a:lnTo>
                  <a:lnTo>
                    <a:pt x="249067" y="297652"/>
                  </a:lnTo>
                  <a:lnTo>
                    <a:pt x="279852" y="271652"/>
                  </a:lnTo>
                  <a:lnTo>
                    <a:pt x="303123" y="238795"/>
                  </a:lnTo>
                  <a:lnTo>
                    <a:pt x="318165" y="201853"/>
                  </a:lnTo>
                  <a:lnTo>
                    <a:pt x="323651" y="161483"/>
                  </a:lnTo>
                  <a:lnTo>
                    <a:pt x="322280" y="141640"/>
                  </a:lnTo>
                  <a:lnTo>
                    <a:pt x="312008" y="101955"/>
                  </a:lnTo>
                  <a:lnTo>
                    <a:pt x="292851" y="66370"/>
                  </a:lnTo>
                  <a:lnTo>
                    <a:pt x="264794" y="36956"/>
                  </a:lnTo>
                  <a:lnTo>
                    <a:pt x="231266" y="15057"/>
                  </a:lnTo>
                  <a:lnTo>
                    <a:pt x="192267" y="2743"/>
                  </a:lnTo>
                  <a:lnTo>
                    <a:pt x="171739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794259" y="1131092"/>
              <a:ext cx="323850" cy="323215"/>
            </a:xfrm>
            <a:custGeom>
              <a:avLst/>
              <a:gdLst/>
              <a:ahLst/>
              <a:cxnLst/>
              <a:rect l="l" t="t" r="r" b="b"/>
              <a:pathLst>
                <a:path w="323850" h="323215">
                  <a:moveTo>
                    <a:pt x="0" y="161483"/>
                  </a:moveTo>
                  <a:lnTo>
                    <a:pt x="4785" y="121798"/>
                  </a:lnTo>
                  <a:lnTo>
                    <a:pt x="19842" y="83484"/>
                  </a:lnTo>
                  <a:lnTo>
                    <a:pt x="43098" y="50642"/>
                  </a:lnTo>
                  <a:lnTo>
                    <a:pt x="74584" y="25313"/>
                  </a:lnTo>
                  <a:lnTo>
                    <a:pt x="111526" y="7528"/>
                  </a:lnTo>
                  <a:lnTo>
                    <a:pt x="151897" y="0"/>
                  </a:lnTo>
                  <a:lnTo>
                    <a:pt x="171739" y="0"/>
                  </a:lnTo>
                  <a:lnTo>
                    <a:pt x="212110" y="7528"/>
                  </a:lnTo>
                  <a:lnTo>
                    <a:pt x="249067" y="25313"/>
                  </a:lnTo>
                  <a:lnTo>
                    <a:pt x="279852" y="50642"/>
                  </a:lnTo>
                  <a:lnTo>
                    <a:pt x="303123" y="83484"/>
                  </a:lnTo>
                  <a:lnTo>
                    <a:pt x="318165" y="121798"/>
                  </a:lnTo>
                  <a:lnTo>
                    <a:pt x="323651" y="161483"/>
                  </a:lnTo>
                  <a:lnTo>
                    <a:pt x="322280" y="182011"/>
                  </a:lnTo>
                  <a:lnTo>
                    <a:pt x="312008" y="221696"/>
                  </a:lnTo>
                  <a:lnTo>
                    <a:pt x="292851" y="256595"/>
                  </a:lnTo>
                  <a:lnTo>
                    <a:pt x="264794" y="286009"/>
                  </a:lnTo>
                  <a:lnTo>
                    <a:pt x="231266" y="307908"/>
                  </a:lnTo>
                  <a:lnTo>
                    <a:pt x="192267" y="320222"/>
                  </a:lnTo>
                  <a:lnTo>
                    <a:pt x="171739" y="322966"/>
                  </a:lnTo>
                  <a:lnTo>
                    <a:pt x="151897" y="322966"/>
                  </a:lnTo>
                  <a:lnTo>
                    <a:pt x="111526" y="315437"/>
                  </a:lnTo>
                  <a:lnTo>
                    <a:pt x="74584" y="297652"/>
                  </a:lnTo>
                  <a:lnTo>
                    <a:pt x="43098" y="271652"/>
                  </a:lnTo>
                  <a:lnTo>
                    <a:pt x="19842" y="238795"/>
                  </a:lnTo>
                  <a:lnTo>
                    <a:pt x="4785" y="201853"/>
                  </a:lnTo>
                  <a:lnTo>
                    <a:pt x="0" y="161483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777462" y="2017191"/>
              <a:ext cx="323215" cy="322580"/>
            </a:xfrm>
            <a:custGeom>
              <a:avLst/>
              <a:gdLst/>
              <a:ahLst/>
              <a:cxnLst/>
              <a:rect l="l" t="t" r="r" b="b"/>
              <a:pathLst>
                <a:path w="323214" h="322580">
                  <a:moveTo>
                    <a:pt x="171754" y="0"/>
                  </a:moveTo>
                  <a:lnTo>
                    <a:pt x="151226" y="0"/>
                  </a:lnTo>
                  <a:lnTo>
                    <a:pt x="131384" y="2057"/>
                  </a:lnTo>
                  <a:lnTo>
                    <a:pt x="92384" y="15057"/>
                  </a:lnTo>
                  <a:lnTo>
                    <a:pt x="58171" y="36941"/>
                  </a:lnTo>
                  <a:lnTo>
                    <a:pt x="30114" y="66370"/>
                  </a:lnTo>
                  <a:lnTo>
                    <a:pt x="10957" y="101269"/>
                  </a:lnTo>
                  <a:lnTo>
                    <a:pt x="1371" y="140268"/>
                  </a:lnTo>
                  <a:lnTo>
                    <a:pt x="0" y="160797"/>
                  </a:lnTo>
                  <a:lnTo>
                    <a:pt x="1371" y="181325"/>
                  </a:lnTo>
                  <a:lnTo>
                    <a:pt x="10957" y="220324"/>
                  </a:lnTo>
                  <a:lnTo>
                    <a:pt x="30114" y="255910"/>
                  </a:lnTo>
                  <a:lnTo>
                    <a:pt x="58171" y="285323"/>
                  </a:lnTo>
                  <a:lnTo>
                    <a:pt x="92384" y="307223"/>
                  </a:lnTo>
                  <a:lnTo>
                    <a:pt x="131384" y="319537"/>
                  </a:lnTo>
                  <a:lnTo>
                    <a:pt x="151226" y="322280"/>
                  </a:lnTo>
                  <a:lnTo>
                    <a:pt x="171754" y="322280"/>
                  </a:lnTo>
                  <a:lnTo>
                    <a:pt x="211439" y="314751"/>
                  </a:lnTo>
                  <a:lnTo>
                    <a:pt x="248381" y="297652"/>
                  </a:lnTo>
                  <a:lnTo>
                    <a:pt x="279181" y="271637"/>
                  </a:lnTo>
                  <a:lnTo>
                    <a:pt x="303123" y="238795"/>
                  </a:lnTo>
                  <a:lnTo>
                    <a:pt x="318180" y="201167"/>
                  </a:lnTo>
                  <a:lnTo>
                    <a:pt x="322966" y="160797"/>
                  </a:lnTo>
                  <a:lnTo>
                    <a:pt x="321594" y="140268"/>
                  </a:lnTo>
                  <a:lnTo>
                    <a:pt x="312023" y="101269"/>
                  </a:lnTo>
                  <a:lnTo>
                    <a:pt x="292181" y="66370"/>
                  </a:lnTo>
                  <a:lnTo>
                    <a:pt x="264124" y="36941"/>
                  </a:lnTo>
                  <a:lnTo>
                    <a:pt x="230596" y="15057"/>
                  </a:lnTo>
                  <a:lnTo>
                    <a:pt x="191597" y="2057"/>
                  </a:lnTo>
                  <a:lnTo>
                    <a:pt x="17175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777462" y="2017191"/>
              <a:ext cx="323215" cy="322580"/>
            </a:xfrm>
            <a:custGeom>
              <a:avLst/>
              <a:gdLst/>
              <a:ahLst/>
              <a:cxnLst/>
              <a:rect l="l" t="t" r="r" b="b"/>
              <a:pathLst>
                <a:path w="323214" h="322580">
                  <a:moveTo>
                    <a:pt x="0" y="160797"/>
                  </a:moveTo>
                  <a:lnTo>
                    <a:pt x="4800" y="120426"/>
                  </a:lnTo>
                  <a:lnTo>
                    <a:pt x="19171" y="83469"/>
                  </a:lnTo>
                  <a:lnTo>
                    <a:pt x="43113" y="50627"/>
                  </a:lnTo>
                  <a:lnTo>
                    <a:pt x="74584" y="24627"/>
                  </a:lnTo>
                  <a:lnTo>
                    <a:pt x="111541" y="7528"/>
                  </a:lnTo>
                  <a:lnTo>
                    <a:pt x="151226" y="0"/>
                  </a:lnTo>
                  <a:lnTo>
                    <a:pt x="171754" y="0"/>
                  </a:lnTo>
                  <a:lnTo>
                    <a:pt x="211439" y="7528"/>
                  </a:lnTo>
                  <a:lnTo>
                    <a:pt x="248381" y="24627"/>
                  </a:lnTo>
                  <a:lnTo>
                    <a:pt x="279181" y="50627"/>
                  </a:lnTo>
                  <a:lnTo>
                    <a:pt x="303123" y="83469"/>
                  </a:lnTo>
                  <a:lnTo>
                    <a:pt x="318180" y="120426"/>
                  </a:lnTo>
                  <a:lnTo>
                    <a:pt x="322966" y="160797"/>
                  </a:lnTo>
                  <a:lnTo>
                    <a:pt x="321594" y="181325"/>
                  </a:lnTo>
                  <a:lnTo>
                    <a:pt x="312023" y="220324"/>
                  </a:lnTo>
                  <a:lnTo>
                    <a:pt x="292181" y="255910"/>
                  </a:lnTo>
                  <a:lnTo>
                    <a:pt x="264124" y="285323"/>
                  </a:lnTo>
                  <a:lnTo>
                    <a:pt x="230596" y="307223"/>
                  </a:lnTo>
                  <a:lnTo>
                    <a:pt x="191597" y="319537"/>
                  </a:lnTo>
                  <a:lnTo>
                    <a:pt x="171754" y="322280"/>
                  </a:lnTo>
                  <a:lnTo>
                    <a:pt x="151226" y="322280"/>
                  </a:lnTo>
                  <a:lnTo>
                    <a:pt x="111541" y="314751"/>
                  </a:lnTo>
                  <a:lnTo>
                    <a:pt x="74584" y="297652"/>
                  </a:lnTo>
                  <a:lnTo>
                    <a:pt x="43113" y="271637"/>
                  </a:lnTo>
                  <a:lnTo>
                    <a:pt x="19171" y="238795"/>
                  </a:lnTo>
                  <a:lnTo>
                    <a:pt x="4800" y="201167"/>
                  </a:lnTo>
                  <a:lnTo>
                    <a:pt x="0" y="160797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3851667" y="2027812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4028228" y="1364744"/>
            <a:ext cx="1909445" cy="1624330"/>
            <a:chOff x="4028228" y="1364744"/>
            <a:chExt cx="1909445" cy="1624330"/>
          </a:xfrm>
        </p:grpSpPr>
        <p:sp>
          <p:nvSpPr>
            <p:cNvPr id="16" name="object 16"/>
            <p:cNvSpPr/>
            <p:nvPr/>
          </p:nvSpPr>
          <p:spPr>
            <a:xfrm>
              <a:off x="4956428" y="1532742"/>
              <a:ext cx="0" cy="1380490"/>
            </a:xfrm>
            <a:custGeom>
              <a:avLst/>
              <a:gdLst/>
              <a:ahLst/>
              <a:cxnLst/>
              <a:rect l="l" t="t" r="r" b="b"/>
              <a:pathLst>
                <a:path w="0" h="1380489">
                  <a:moveTo>
                    <a:pt x="0" y="0"/>
                  </a:moveTo>
                  <a:lnTo>
                    <a:pt x="0" y="1380119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924257" y="1444472"/>
              <a:ext cx="64769" cy="96520"/>
            </a:xfrm>
            <a:custGeom>
              <a:avLst/>
              <a:gdLst/>
              <a:ahLst/>
              <a:cxnLst/>
              <a:rect l="l" t="t" r="r" b="b"/>
              <a:pathLst>
                <a:path w="64770" h="96519">
                  <a:moveTo>
                    <a:pt x="32171" y="0"/>
                  </a:moveTo>
                  <a:lnTo>
                    <a:pt x="0" y="96484"/>
                  </a:lnTo>
                  <a:lnTo>
                    <a:pt x="64328" y="96484"/>
                  </a:lnTo>
                  <a:lnTo>
                    <a:pt x="32171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103171" y="1373317"/>
              <a:ext cx="711835" cy="619125"/>
            </a:xfrm>
            <a:custGeom>
              <a:avLst/>
              <a:gdLst/>
              <a:ahLst/>
              <a:cxnLst/>
              <a:rect l="l" t="t" r="r" b="b"/>
              <a:pathLst>
                <a:path w="711835" h="619125">
                  <a:moveTo>
                    <a:pt x="0" y="618561"/>
                  </a:moveTo>
                  <a:lnTo>
                    <a:pt x="711616" y="0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036801" y="1962449"/>
              <a:ext cx="93345" cy="87630"/>
            </a:xfrm>
            <a:custGeom>
              <a:avLst/>
              <a:gdLst/>
              <a:ahLst/>
              <a:cxnLst/>
              <a:rect l="l" t="t" r="r" b="b"/>
              <a:pathLst>
                <a:path w="93345" h="87630">
                  <a:moveTo>
                    <a:pt x="51313" y="0"/>
                  </a:moveTo>
                  <a:lnTo>
                    <a:pt x="0" y="87584"/>
                  </a:lnTo>
                  <a:lnTo>
                    <a:pt x="93055" y="48585"/>
                  </a:lnTo>
                  <a:lnTo>
                    <a:pt x="51313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036801" y="2311415"/>
              <a:ext cx="714375" cy="619760"/>
            </a:xfrm>
            <a:custGeom>
              <a:avLst/>
              <a:gdLst/>
              <a:ahLst/>
              <a:cxnLst/>
              <a:rect l="l" t="t" r="r" b="b"/>
              <a:pathLst>
                <a:path w="714375" h="619760">
                  <a:moveTo>
                    <a:pt x="0" y="0"/>
                  </a:moveTo>
                  <a:lnTo>
                    <a:pt x="714344" y="619246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723774" y="2901233"/>
              <a:ext cx="93345" cy="87630"/>
            </a:xfrm>
            <a:custGeom>
              <a:avLst/>
              <a:gdLst/>
              <a:ahLst/>
              <a:cxnLst/>
              <a:rect l="l" t="t" r="r" b="b"/>
              <a:pathLst>
                <a:path w="93345" h="87630">
                  <a:moveTo>
                    <a:pt x="42428" y="0"/>
                  </a:moveTo>
                  <a:lnTo>
                    <a:pt x="0" y="48585"/>
                  </a:lnTo>
                  <a:lnTo>
                    <a:pt x="93055" y="87584"/>
                  </a:lnTo>
                  <a:lnTo>
                    <a:pt x="4242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5087797" y="1380845"/>
              <a:ext cx="775970" cy="629920"/>
            </a:xfrm>
            <a:custGeom>
              <a:avLst/>
              <a:gdLst/>
              <a:ahLst/>
              <a:cxnLst/>
              <a:rect l="l" t="t" r="r" b="b"/>
              <a:pathLst>
                <a:path w="775970" h="629919">
                  <a:moveTo>
                    <a:pt x="0" y="0"/>
                  </a:moveTo>
                  <a:lnTo>
                    <a:pt x="775929" y="629503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5837041" y="1980234"/>
              <a:ext cx="95250" cy="85725"/>
            </a:xfrm>
            <a:custGeom>
              <a:avLst/>
              <a:gdLst/>
              <a:ahLst/>
              <a:cxnLst/>
              <a:rect l="l" t="t" r="r" b="b"/>
              <a:pathLst>
                <a:path w="95250" h="85725">
                  <a:moveTo>
                    <a:pt x="40370" y="0"/>
                  </a:moveTo>
                  <a:lnTo>
                    <a:pt x="0" y="49956"/>
                  </a:lnTo>
                  <a:lnTo>
                    <a:pt x="95112" y="85542"/>
                  </a:lnTo>
                  <a:lnTo>
                    <a:pt x="4037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5133639" y="2295672"/>
              <a:ext cx="795655" cy="635000"/>
            </a:xfrm>
            <a:custGeom>
              <a:avLst/>
              <a:gdLst/>
              <a:ahLst/>
              <a:cxnLst/>
              <a:rect l="l" t="t" r="r" b="b"/>
              <a:pathLst>
                <a:path w="795654" h="635000">
                  <a:moveTo>
                    <a:pt x="795101" y="0"/>
                  </a:moveTo>
                  <a:lnTo>
                    <a:pt x="0" y="634989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5064541" y="2900548"/>
              <a:ext cx="95250" cy="85725"/>
            </a:xfrm>
            <a:custGeom>
              <a:avLst/>
              <a:gdLst/>
              <a:ahLst/>
              <a:cxnLst/>
              <a:rect l="l" t="t" r="r" b="b"/>
              <a:pathLst>
                <a:path w="95250" h="85725">
                  <a:moveTo>
                    <a:pt x="55412" y="0"/>
                  </a:moveTo>
                  <a:lnTo>
                    <a:pt x="0" y="85526"/>
                  </a:lnTo>
                  <a:lnTo>
                    <a:pt x="95097" y="50642"/>
                  </a:lnTo>
                  <a:lnTo>
                    <a:pt x="55412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086742" y="2180732"/>
              <a:ext cx="1728470" cy="0"/>
            </a:xfrm>
            <a:custGeom>
              <a:avLst/>
              <a:gdLst/>
              <a:ahLst/>
              <a:cxnLst/>
              <a:rect l="l" t="t" r="r" b="b"/>
              <a:pathLst>
                <a:path w="1728470" h="0">
                  <a:moveTo>
                    <a:pt x="0" y="0"/>
                  </a:moveTo>
                  <a:lnTo>
                    <a:pt x="1728414" y="0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807628" y="2148560"/>
              <a:ext cx="96520" cy="64769"/>
            </a:xfrm>
            <a:custGeom>
              <a:avLst/>
              <a:gdLst/>
              <a:ahLst/>
              <a:cxnLst/>
              <a:rect l="l" t="t" r="r" b="b"/>
              <a:pathLst>
                <a:path w="96520" h="64769">
                  <a:moveTo>
                    <a:pt x="0" y="0"/>
                  </a:moveTo>
                  <a:lnTo>
                    <a:pt x="0" y="64328"/>
                  </a:lnTo>
                  <a:lnTo>
                    <a:pt x="96469" y="32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 txBox="1"/>
          <p:nvPr/>
        </p:nvSpPr>
        <p:spPr>
          <a:xfrm>
            <a:off x="5316637" y="2713433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875982" y="1149251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974195" y="2008663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860245" y="2924181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16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107577" y="1632325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809287" y="1695960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16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798658" y="1587849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549275" y="1928603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479116" y="2764749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sz="16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568628" y="3029543"/>
            <a:ext cx="467995" cy="3524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18087" sz="3225" spc="60" i="1">
                <a:solidFill>
                  <a:srgbClr val="FFFF00"/>
                </a:solidFill>
                <a:latin typeface="Arial"/>
                <a:cs typeface="Arial"/>
              </a:rPr>
              <a:t>d</a:t>
            </a:r>
            <a:r>
              <a:rPr dirty="0" sz="1400" spc="40" i="1">
                <a:solidFill>
                  <a:srgbClr val="FFFF00"/>
                </a:solidFill>
                <a:latin typeface="Arial"/>
                <a:cs typeface="Arial"/>
              </a:rPr>
              <a:t>(4)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5100490" y="2334001"/>
            <a:ext cx="968375" cy="744855"/>
            <a:chOff x="5100490" y="2334001"/>
            <a:chExt cx="968375" cy="744855"/>
          </a:xfrm>
        </p:grpSpPr>
        <p:sp>
          <p:nvSpPr>
            <p:cNvPr id="39" name="object 39"/>
            <p:cNvSpPr/>
            <p:nvPr/>
          </p:nvSpPr>
          <p:spPr>
            <a:xfrm>
              <a:off x="5236966" y="2421585"/>
              <a:ext cx="800735" cy="641350"/>
            </a:xfrm>
            <a:custGeom>
              <a:avLst/>
              <a:gdLst/>
              <a:ahLst/>
              <a:cxnLst/>
              <a:rect l="l" t="t" r="r" b="b"/>
              <a:pathLst>
                <a:path w="800735" h="641350">
                  <a:moveTo>
                    <a:pt x="800557" y="0"/>
                  </a:moveTo>
                  <a:lnTo>
                    <a:pt x="794400" y="34884"/>
                  </a:lnTo>
                </a:path>
                <a:path w="800735" h="641350">
                  <a:moveTo>
                    <a:pt x="785515" y="69098"/>
                  </a:moveTo>
                  <a:lnTo>
                    <a:pt x="783457" y="77998"/>
                  </a:lnTo>
                  <a:lnTo>
                    <a:pt x="775243" y="103311"/>
                  </a:lnTo>
                </a:path>
                <a:path w="800735" h="641350">
                  <a:moveTo>
                    <a:pt x="762243" y="136154"/>
                  </a:moveTo>
                  <a:lnTo>
                    <a:pt x="755401" y="153954"/>
                  </a:lnTo>
                  <a:lnTo>
                    <a:pt x="748558" y="168996"/>
                  </a:lnTo>
                </a:path>
                <a:path w="800735" h="641350">
                  <a:moveTo>
                    <a:pt x="732144" y="199796"/>
                  </a:moveTo>
                  <a:lnTo>
                    <a:pt x="717087" y="226481"/>
                  </a:lnTo>
                  <a:lnTo>
                    <a:pt x="714344" y="230581"/>
                  </a:lnTo>
                </a:path>
                <a:path w="800735" h="641350">
                  <a:moveTo>
                    <a:pt x="695187" y="260695"/>
                  </a:moveTo>
                  <a:lnTo>
                    <a:pt x="694502" y="262067"/>
                  </a:lnTo>
                  <a:lnTo>
                    <a:pt x="673973" y="289422"/>
                  </a:lnTo>
                </a:path>
                <a:path w="800735" h="641350">
                  <a:moveTo>
                    <a:pt x="652089" y="317479"/>
                  </a:moveTo>
                  <a:lnTo>
                    <a:pt x="641817" y="329793"/>
                  </a:lnTo>
                  <a:lnTo>
                    <a:pt x="628817" y="344164"/>
                  </a:lnTo>
                </a:path>
                <a:path w="800735" h="641350">
                  <a:moveTo>
                    <a:pt x="604189" y="369493"/>
                  </a:moveTo>
                  <a:lnTo>
                    <a:pt x="580918" y="392064"/>
                  </a:lnTo>
                  <a:lnTo>
                    <a:pt x="578190" y="394121"/>
                  </a:lnTo>
                </a:path>
                <a:path w="800735" h="641350">
                  <a:moveTo>
                    <a:pt x="552175" y="417377"/>
                  </a:moveTo>
                  <a:lnTo>
                    <a:pt x="547390" y="421492"/>
                  </a:lnTo>
                  <a:lnTo>
                    <a:pt x="524134" y="439277"/>
                  </a:lnTo>
                </a:path>
                <a:path w="800735" h="641350">
                  <a:moveTo>
                    <a:pt x="495391" y="459806"/>
                  </a:moveTo>
                  <a:lnTo>
                    <a:pt x="474177" y="474863"/>
                  </a:lnTo>
                  <a:lnTo>
                    <a:pt x="465962" y="479648"/>
                  </a:lnTo>
                </a:path>
                <a:path w="800735" h="641350">
                  <a:moveTo>
                    <a:pt x="435863" y="498805"/>
                  </a:moveTo>
                  <a:lnTo>
                    <a:pt x="434492" y="499490"/>
                  </a:lnTo>
                  <a:lnTo>
                    <a:pt x="405063" y="516605"/>
                  </a:lnTo>
                </a:path>
                <a:path w="800735" h="641350">
                  <a:moveTo>
                    <a:pt x="373593" y="533018"/>
                  </a:moveTo>
                  <a:lnTo>
                    <a:pt x="351007" y="543961"/>
                  </a:lnTo>
                  <a:lnTo>
                    <a:pt x="341436" y="548076"/>
                  </a:lnTo>
                </a:path>
                <a:path w="800735" h="641350">
                  <a:moveTo>
                    <a:pt x="309280" y="562447"/>
                  </a:moveTo>
                  <a:lnTo>
                    <a:pt x="307908" y="563133"/>
                  </a:lnTo>
                  <a:lnTo>
                    <a:pt x="276438" y="575447"/>
                  </a:lnTo>
                </a:path>
                <a:path w="800735" h="641350">
                  <a:moveTo>
                    <a:pt x="242910" y="587761"/>
                  </a:moveTo>
                  <a:lnTo>
                    <a:pt x="216225" y="596661"/>
                  </a:lnTo>
                  <a:lnTo>
                    <a:pt x="208696" y="598703"/>
                  </a:lnTo>
                </a:path>
                <a:path w="800735" h="641350">
                  <a:moveTo>
                    <a:pt x="174482" y="608289"/>
                  </a:moveTo>
                  <a:lnTo>
                    <a:pt x="169011" y="609660"/>
                  </a:lnTo>
                  <a:lnTo>
                    <a:pt x="139583" y="616503"/>
                  </a:lnTo>
                </a:path>
                <a:path w="800735" h="641350">
                  <a:moveTo>
                    <a:pt x="104683" y="624702"/>
                  </a:moveTo>
                  <a:lnTo>
                    <a:pt x="71841" y="630875"/>
                  </a:lnTo>
                  <a:lnTo>
                    <a:pt x="69783" y="630875"/>
                  </a:lnTo>
                </a:path>
                <a:path w="800735" h="641350">
                  <a:moveTo>
                    <a:pt x="35570" y="636346"/>
                  </a:moveTo>
                  <a:lnTo>
                    <a:pt x="23256" y="638388"/>
                  </a:lnTo>
                  <a:lnTo>
                    <a:pt x="0" y="641131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5165796" y="3066130"/>
              <a:ext cx="36195" cy="2540"/>
            </a:xfrm>
            <a:custGeom>
              <a:avLst/>
              <a:gdLst/>
              <a:ahLst/>
              <a:cxnLst/>
              <a:rect l="l" t="t" r="r" b="b"/>
              <a:pathLst>
                <a:path w="36195" h="2539">
                  <a:moveTo>
                    <a:pt x="-8553" y="1028"/>
                  </a:moveTo>
                  <a:lnTo>
                    <a:pt x="44138" y="1028"/>
                  </a:lnTo>
                </a:path>
              </a:pathLst>
            </a:custGeom>
            <a:ln w="19163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109697" y="3068873"/>
              <a:ext cx="20955" cy="1270"/>
            </a:xfrm>
            <a:custGeom>
              <a:avLst/>
              <a:gdLst/>
              <a:ahLst/>
              <a:cxnLst/>
              <a:rect l="l" t="t" r="r" b="b"/>
              <a:pathLst>
                <a:path w="20954" h="1269">
                  <a:moveTo>
                    <a:pt x="-8553" y="342"/>
                  </a:moveTo>
                  <a:lnTo>
                    <a:pt x="29081" y="342"/>
                  </a:lnTo>
                </a:path>
              </a:pathLst>
            </a:custGeom>
            <a:ln w="177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6005367" y="2334001"/>
              <a:ext cx="63500" cy="98425"/>
            </a:xfrm>
            <a:custGeom>
              <a:avLst/>
              <a:gdLst/>
              <a:ahLst/>
              <a:cxnLst/>
              <a:rect l="l" t="t" r="r" b="b"/>
              <a:pathLst>
                <a:path w="63500" h="98425">
                  <a:moveTo>
                    <a:pt x="38999" y="0"/>
                  </a:moveTo>
                  <a:lnTo>
                    <a:pt x="0" y="93055"/>
                  </a:lnTo>
                  <a:lnTo>
                    <a:pt x="62956" y="97840"/>
                  </a:lnTo>
                  <a:lnTo>
                    <a:pt x="3899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" name="object 43"/>
          <p:cNvSpPr txBox="1"/>
          <p:nvPr/>
        </p:nvSpPr>
        <p:spPr>
          <a:xfrm>
            <a:off x="5957084" y="2560158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3913632" y="2340158"/>
            <a:ext cx="873760" cy="752475"/>
            <a:chOff x="3913632" y="2340158"/>
            <a:chExt cx="873760" cy="752475"/>
          </a:xfrm>
        </p:grpSpPr>
        <p:sp>
          <p:nvSpPr>
            <p:cNvPr id="45" name="object 45"/>
            <p:cNvSpPr/>
            <p:nvPr/>
          </p:nvSpPr>
          <p:spPr>
            <a:xfrm>
              <a:off x="4742261" y="3081187"/>
              <a:ext cx="36195" cy="1905"/>
            </a:xfrm>
            <a:custGeom>
              <a:avLst/>
              <a:gdLst/>
              <a:ahLst/>
              <a:cxnLst/>
              <a:rect l="l" t="t" r="r" b="b"/>
              <a:pathLst>
                <a:path w="36195" h="1905">
                  <a:moveTo>
                    <a:pt x="-8553" y="685"/>
                  </a:moveTo>
                  <a:lnTo>
                    <a:pt x="44123" y="685"/>
                  </a:lnTo>
                </a:path>
              </a:pathLst>
            </a:custGeom>
            <a:ln w="1847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945102" y="2427742"/>
              <a:ext cx="762000" cy="651510"/>
            </a:xfrm>
            <a:custGeom>
              <a:avLst/>
              <a:gdLst/>
              <a:ahLst/>
              <a:cxnLst/>
              <a:rect l="l" t="t" r="r" b="b"/>
              <a:pathLst>
                <a:path w="762000" h="651510">
                  <a:moveTo>
                    <a:pt x="761573" y="651403"/>
                  </a:moveTo>
                  <a:lnTo>
                    <a:pt x="738987" y="650031"/>
                  </a:lnTo>
                  <a:lnTo>
                    <a:pt x="725987" y="648660"/>
                  </a:lnTo>
                </a:path>
                <a:path w="762000" h="651510">
                  <a:moveTo>
                    <a:pt x="690417" y="644560"/>
                  </a:moveTo>
                  <a:lnTo>
                    <a:pt x="655518" y="637717"/>
                  </a:lnTo>
                </a:path>
                <a:path w="762000" h="651510">
                  <a:moveTo>
                    <a:pt x="620618" y="630875"/>
                  </a:moveTo>
                  <a:lnTo>
                    <a:pt x="600776" y="626074"/>
                  </a:lnTo>
                  <a:lnTo>
                    <a:pt x="587090" y="621974"/>
                  </a:lnTo>
                </a:path>
                <a:path w="762000" h="651510">
                  <a:moveTo>
                    <a:pt x="552876" y="611703"/>
                  </a:moveTo>
                  <a:lnTo>
                    <a:pt x="519348" y="600760"/>
                  </a:lnTo>
                </a:path>
                <a:path w="762000" h="651510">
                  <a:moveTo>
                    <a:pt x="485820" y="587761"/>
                  </a:moveTo>
                  <a:lnTo>
                    <a:pt x="470077" y="581604"/>
                  </a:lnTo>
                  <a:lnTo>
                    <a:pt x="452978" y="574075"/>
                  </a:lnTo>
                </a:path>
                <a:path w="762000" h="651510">
                  <a:moveTo>
                    <a:pt x="420822" y="558332"/>
                  </a:moveTo>
                  <a:lnTo>
                    <a:pt x="388650" y="542604"/>
                  </a:lnTo>
                </a:path>
                <a:path w="762000" h="651510">
                  <a:moveTo>
                    <a:pt x="358551" y="524134"/>
                  </a:moveTo>
                  <a:lnTo>
                    <a:pt x="348965" y="518647"/>
                  </a:lnTo>
                  <a:lnTo>
                    <a:pt x="329123" y="504962"/>
                  </a:lnTo>
                </a:path>
                <a:path w="762000" h="651510">
                  <a:moveTo>
                    <a:pt x="299709" y="485119"/>
                  </a:moveTo>
                  <a:lnTo>
                    <a:pt x="275752" y="467334"/>
                  </a:lnTo>
                  <a:lnTo>
                    <a:pt x="271652" y="463920"/>
                  </a:lnTo>
                </a:path>
                <a:path w="762000" h="651510">
                  <a:moveTo>
                    <a:pt x="244281" y="441335"/>
                  </a:moveTo>
                  <a:lnTo>
                    <a:pt x="241538" y="438591"/>
                  </a:lnTo>
                  <a:lnTo>
                    <a:pt x="218282" y="417377"/>
                  </a:lnTo>
                </a:path>
                <a:path w="762000" h="651510">
                  <a:moveTo>
                    <a:pt x="192968" y="392064"/>
                  </a:moveTo>
                  <a:lnTo>
                    <a:pt x="179283" y="377692"/>
                  </a:lnTo>
                  <a:lnTo>
                    <a:pt x="169011" y="366064"/>
                  </a:lnTo>
                </a:path>
                <a:path w="762000" h="651510">
                  <a:moveTo>
                    <a:pt x="146441" y="338693"/>
                  </a:moveTo>
                  <a:lnTo>
                    <a:pt x="124541" y="310636"/>
                  </a:lnTo>
                </a:path>
                <a:path w="762000" h="651510">
                  <a:moveTo>
                    <a:pt x="105384" y="281223"/>
                  </a:moveTo>
                  <a:lnTo>
                    <a:pt x="100583" y="274380"/>
                  </a:lnTo>
                  <a:lnTo>
                    <a:pt x="87584" y="251109"/>
                  </a:lnTo>
                </a:path>
                <a:path w="762000" h="651510">
                  <a:moveTo>
                    <a:pt x="70484" y="219638"/>
                  </a:moveTo>
                  <a:lnTo>
                    <a:pt x="60213" y="199796"/>
                  </a:lnTo>
                  <a:lnTo>
                    <a:pt x="54742" y="187482"/>
                  </a:lnTo>
                </a:path>
                <a:path w="762000" h="651510">
                  <a:moveTo>
                    <a:pt x="41056" y="155326"/>
                  </a:moveTo>
                  <a:lnTo>
                    <a:pt x="28742" y="121798"/>
                  </a:lnTo>
                </a:path>
                <a:path w="762000" h="651510">
                  <a:moveTo>
                    <a:pt x="18486" y="87584"/>
                  </a:moveTo>
                  <a:lnTo>
                    <a:pt x="16428" y="82097"/>
                  </a:lnTo>
                  <a:lnTo>
                    <a:pt x="9585" y="53370"/>
                  </a:lnTo>
                </a:path>
                <a:path w="762000" h="651510">
                  <a:moveTo>
                    <a:pt x="2743" y="18470"/>
                  </a:moveTo>
                  <a:lnTo>
                    <a:pt x="0" y="0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913632" y="2340158"/>
              <a:ext cx="64769" cy="98425"/>
            </a:xfrm>
            <a:custGeom>
              <a:avLst/>
              <a:gdLst/>
              <a:ahLst/>
              <a:cxnLst/>
              <a:rect l="l" t="t" r="r" b="b"/>
              <a:pathLst>
                <a:path w="64770" h="98425">
                  <a:moveTo>
                    <a:pt x="25999" y="0"/>
                  </a:moveTo>
                  <a:lnTo>
                    <a:pt x="0" y="97840"/>
                  </a:lnTo>
                  <a:lnTo>
                    <a:pt x="64328" y="93741"/>
                  </a:lnTo>
                  <a:lnTo>
                    <a:pt x="2599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/>
          <p:cNvSpPr txBox="1"/>
          <p:nvPr/>
        </p:nvSpPr>
        <p:spPr>
          <a:xfrm>
            <a:off x="3787354" y="2469835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5014584" y="1416057"/>
            <a:ext cx="244475" cy="1532255"/>
            <a:chOff x="5014584" y="1416057"/>
            <a:chExt cx="244475" cy="1532255"/>
          </a:xfrm>
        </p:grpSpPr>
        <p:sp>
          <p:nvSpPr>
            <p:cNvPr id="50" name="object 50"/>
            <p:cNvSpPr/>
            <p:nvPr/>
          </p:nvSpPr>
          <p:spPr>
            <a:xfrm>
              <a:off x="5052212" y="1424630"/>
              <a:ext cx="198120" cy="860425"/>
            </a:xfrm>
            <a:custGeom>
              <a:avLst/>
              <a:gdLst/>
              <a:ahLst/>
              <a:cxnLst/>
              <a:rect l="l" t="t" r="r" b="b"/>
              <a:pathLst>
                <a:path w="198120" h="860425">
                  <a:moveTo>
                    <a:pt x="0" y="0"/>
                  </a:moveTo>
                  <a:lnTo>
                    <a:pt x="12999" y="32842"/>
                  </a:lnTo>
                </a:path>
                <a:path w="198120" h="860425">
                  <a:moveTo>
                    <a:pt x="25328" y="66370"/>
                  </a:moveTo>
                  <a:lnTo>
                    <a:pt x="28742" y="74584"/>
                  </a:lnTo>
                  <a:lnTo>
                    <a:pt x="38328" y="99898"/>
                  </a:lnTo>
                </a:path>
                <a:path w="198120" h="860425">
                  <a:moveTo>
                    <a:pt x="50642" y="133426"/>
                  </a:moveTo>
                  <a:lnTo>
                    <a:pt x="58856" y="156697"/>
                  </a:lnTo>
                  <a:lnTo>
                    <a:pt x="62270" y="166954"/>
                  </a:lnTo>
                </a:path>
                <a:path w="198120" h="860425">
                  <a:moveTo>
                    <a:pt x="73212" y="199796"/>
                  </a:moveTo>
                  <a:lnTo>
                    <a:pt x="84170" y="233324"/>
                  </a:lnTo>
                </a:path>
                <a:path w="198120" h="860425">
                  <a:moveTo>
                    <a:pt x="95112" y="267538"/>
                  </a:moveTo>
                  <a:lnTo>
                    <a:pt x="101955" y="289438"/>
                  </a:lnTo>
                  <a:lnTo>
                    <a:pt x="105384" y="301751"/>
                  </a:lnTo>
                </a:path>
                <a:path w="198120" h="860425">
                  <a:moveTo>
                    <a:pt x="115641" y="335965"/>
                  </a:moveTo>
                  <a:lnTo>
                    <a:pt x="115641" y="336651"/>
                  </a:lnTo>
                  <a:lnTo>
                    <a:pt x="124541" y="370179"/>
                  </a:lnTo>
                </a:path>
                <a:path w="198120" h="860425">
                  <a:moveTo>
                    <a:pt x="132755" y="404393"/>
                  </a:moveTo>
                  <a:lnTo>
                    <a:pt x="140268" y="433136"/>
                  </a:lnTo>
                  <a:lnTo>
                    <a:pt x="141640" y="437921"/>
                  </a:lnTo>
                </a:path>
                <a:path w="198120" h="860425">
                  <a:moveTo>
                    <a:pt x="149854" y="472820"/>
                  </a:moveTo>
                  <a:lnTo>
                    <a:pt x="151912" y="482391"/>
                  </a:lnTo>
                  <a:lnTo>
                    <a:pt x="157383" y="507720"/>
                  </a:lnTo>
                </a:path>
                <a:path w="198120" h="860425">
                  <a:moveTo>
                    <a:pt x="164226" y="542604"/>
                  </a:moveTo>
                  <a:lnTo>
                    <a:pt x="171068" y="577504"/>
                  </a:lnTo>
                </a:path>
                <a:path w="198120" h="860425">
                  <a:moveTo>
                    <a:pt x="176540" y="612404"/>
                  </a:moveTo>
                  <a:lnTo>
                    <a:pt x="179969" y="632932"/>
                  </a:lnTo>
                  <a:lnTo>
                    <a:pt x="182011" y="647303"/>
                  </a:lnTo>
                </a:path>
                <a:path w="198120" h="860425">
                  <a:moveTo>
                    <a:pt x="186796" y="682873"/>
                  </a:moveTo>
                  <a:lnTo>
                    <a:pt x="186796" y="683559"/>
                  </a:lnTo>
                  <a:lnTo>
                    <a:pt x="190225" y="717773"/>
                  </a:lnTo>
                </a:path>
                <a:path w="198120" h="860425">
                  <a:moveTo>
                    <a:pt x="192968" y="753358"/>
                  </a:moveTo>
                  <a:lnTo>
                    <a:pt x="195696" y="784143"/>
                  </a:lnTo>
                  <a:lnTo>
                    <a:pt x="195696" y="788944"/>
                  </a:lnTo>
                </a:path>
                <a:path w="198120" h="860425">
                  <a:moveTo>
                    <a:pt x="197068" y="824514"/>
                  </a:moveTo>
                  <a:lnTo>
                    <a:pt x="197754" y="833414"/>
                  </a:lnTo>
                  <a:lnTo>
                    <a:pt x="197754" y="860099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248594" y="2320315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4">
                  <a:moveTo>
                    <a:pt x="342" y="-8553"/>
                  </a:moveTo>
                  <a:lnTo>
                    <a:pt x="342" y="44123"/>
                  </a:lnTo>
                </a:path>
              </a:pathLst>
            </a:custGeom>
            <a:ln w="177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241752" y="2390785"/>
              <a:ext cx="3810" cy="36195"/>
            </a:xfrm>
            <a:custGeom>
              <a:avLst/>
              <a:gdLst/>
              <a:ahLst/>
              <a:cxnLst/>
              <a:rect l="l" t="t" r="r" b="b"/>
              <a:pathLst>
                <a:path w="3810" h="36194">
                  <a:moveTo>
                    <a:pt x="1714" y="-8553"/>
                  </a:moveTo>
                  <a:lnTo>
                    <a:pt x="1714" y="44138"/>
                  </a:lnTo>
                </a:path>
              </a:pathLst>
            </a:custGeom>
            <a:ln w="2053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067269" y="2461270"/>
              <a:ext cx="170180" cy="416559"/>
            </a:xfrm>
            <a:custGeom>
              <a:avLst/>
              <a:gdLst/>
              <a:ahLst/>
              <a:cxnLst/>
              <a:rect l="l" t="t" r="r" b="b"/>
              <a:pathLst>
                <a:path w="170179" h="416560">
                  <a:moveTo>
                    <a:pt x="169697" y="0"/>
                  </a:moveTo>
                  <a:lnTo>
                    <a:pt x="166268" y="19156"/>
                  </a:lnTo>
                  <a:lnTo>
                    <a:pt x="163540" y="34884"/>
                  </a:lnTo>
                </a:path>
                <a:path w="170179" h="416560">
                  <a:moveTo>
                    <a:pt x="156697" y="69783"/>
                  </a:moveTo>
                  <a:lnTo>
                    <a:pt x="150540" y="92369"/>
                  </a:lnTo>
                  <a:lnTo>
                    <a:pt x="147111" y="103997"/>
                  </a:lnTo>
                </a:path>
                <a:path w="170179" h="416560">
                  <a:moveTo>
                    <a:pt x="137540" y="138211"/>
                  </a:moveTo>
                  <a:lnTo>
                    <a:pt x="136855" y="140268"/>
                  </a:lnTo>
                  <a:lnTo>
                    <a:pt x="129326" y="162839"/>
                  </a:lnTo>
                  <a:lnTo>
                    <a:pt x="126583" y="171053"/>
                  </a:lnTo>
                </a:path>
                <a:path w="170179" h="416560">
                  <a:moveTo>
                    <a:pt x="114269" y="204581"/>
                  </a:moveTo>
                  <a:lnTo>
                    <a:pt x="112212" y="208696"/>
                  </a:lnTo>
                  <a:lnTo>
                    <a:pt x="102641" y="230581"/>
                  </a:lnTo>
                  <a:lnTo>
                    <a:pt x="99898" y="237423"/>
                  </a:lnTo>
                </a:path>
                <a:path w="170179" h="416560">
                  <a:moveTo>
                    <a:pt x="84841" y="269580"/>
                  </a:moveTo>
                  <a:lnTo>
                    <a:pt x="82798" y="274380"/>
                  </a:lnTo>
                  <a:lnTo>
                    <a:pt x="72527" y="296280"/>
                  </a:lnTo>
                  <a:lnTo>
                    <a:pt x="69799" y="301751"/>
                  </a:lnTo>
                </a:path>
                <a:path w="170179" h="416560">
                  <a:moveTo>
                    <a:pt x="52684" y="332536"/>
                  </a:moveTo>
                  <a:lnTo>
                    <a:pt x="49956" y="337322"/>
                  </a:lnTo>
                  <a:lnTo>
                    <a:pt x="38313" y="357850"/>
                  </a:lnTo>
                  <a:lnTo>
                    <a:pt x="34899" y="363336"/>
                  </a:lnTo>
                </a:path>
                <a:path w="170179" h="416560">
                  <a:moveTo>
                    <a:pt x="15742" y="393435"/>
                  </a:moveTo>
                  <a:lnTo>
                    <a:pt x="12999" y="397535"/>
                  </a:lnTo>
                  <a:lnTo>
                    <a:pt x="0" y="416021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014584" y="2851963"/>
              <a:ext cx="83185" cy="95885"/>
            </a:xfrm>
            <a:custGeom>
              <a:avLst/>
              <a:gdLst/>
              <a:ahLst/>
              <a:cxnLst/>
              <a:rect l="l" t="t" r="r" b="b"/>
              <a:pathLst>
                <a:path w="83185" h="95885">
                  <a:moveTo>
                    <a:pt x="32156" y="0"/>
                  </a:moveTo>
                  <a:lnTo>
                    <a:pt x="0" y="95798"/>
                  </a:lnTo>
                  <a:lnTo>
                    <a:pt x="82798" y="38328"/>
                  </a:lnTo>
                  <a:lnTo>
                    <a:pt x="3215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/>
          <p:cNvSpPr txBox="1"/>
          <p:nvPr/>
        </p:nvSpPr>
        <p:spPr>
          <a:xfrm>
            <a:off x="5195529" y="2521156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graphicFrame>
        <p:nvGraphicFramePr>
          <p:cNvPr id="56" name="object 56"/>
          <p:cNvGraphicFramePr>
            <a:graphicFrameLocks noGrp="1"/>
          </p:cNvGraphicFramePr>
          <p:nvPr/>
        </p:nvGraphicFramePr>
        <p:xfrm>
          <a:off x="1910090" y="1372555"/>
          <a:ext cx="1682750" cy="16408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2275"/>
                <a:gridCol w="414019"/>
                <a:gridCol w="411480"/>
                <a:gridCol w="432435"/>
              </a:tblGrid>
              <a:tr h="409864"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286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286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333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604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286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</a:tr>
              <a:tr h="409864"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540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540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1333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540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540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</a:tr>
              <a:tr h="409864"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333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7E0000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</a:tr>
              <a:tr h="409178"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marL="11747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1333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600">
                          <a:solidFill>
                            <a:srgbClr val="FFFF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3175">
                      <a:solidFill>
                        <a:srgbClr val="FFFF00"/>
                      </a:solidFill>
                      <a:prstDash val="solid"/>
                    </a:lnL>
                    <a:lnR w="3175">
                      <a:solidFill>
                        <a:srgbClr val="FFFF00"/>
                      </a:solidFill>
                      <a:prstDash val="solid"/>
                    </a:lnR>
                    <a:lnT w="3175">
                      <a:solidFill>
                        <a:srgbClr val="FFFF00"/>
                      </a:solidFill>
                      <a:prstDash val="solid"/>
                    </a:lnT>
                    <a:lnB w="3175">
                      <a:solidFill>
                        <a:srgbClr val="FFFF00"/>
                      </a:solidFill>
                      <a:prstDash val="solid"/>
                    </a:lnB>
                    <a:solidFill>
                      <a:srgbClr val="9A9A9A"/>
                    </a:solidFill>
                  </a:tcPr>
                </a:tc>
              </a:tr>
            </a:tbl>
          </a:graphicData>
        </a:graphic>
      </p:graphicFrame>
      <p:sp>
        <p:nvSpPr>
          <p:cNvPr id="57" name="object 57"/>
          <p:cNvSpPr/>
          <p:nvPr/>
        </p:nvSpPr>
        <p:spPr>
          <a:xfrm>
            <a:off x="2339873" y="2233417"/>
            <a:ext cx="349885" cy="349885"/>
          </a:xfrm>
          <a:custGeom>
            <a:avLst/>
            <a:gdLst/>
            <a:ahLst/>
            <a:cxnLst/>
            <a:rect l="l" t="t" r="r" b="b"/>
            <a:pathLst>
              <a:path w="349885" h="349885">
                <a:moveTo>
                  <a:pt x="0" y="174482"/>
                </a:moveTo>
                <a:lnTo>
                  <a:pt x="4785" y="132740"/>
                </a:lnTo>
                <a:lnTo>
                  <a:pt x="19842" y="93741"/>
                </a:lnTo>
                <a:lnTo>
                  <a:pt x="43784" y="58841"/>
                </a:lnTo>
                <a:lnTo>
                  <a:pt x="75270" y="30784"/>
                </a:lnTo>
                <a:lnTo>
                  <a:pt x="112897" y="11628"/>
                </a:lnTo>
                <a:lnTo>
                  <a:pt x="153954" y="1356"/>
                </a:lnTo>
                <a:lnTo>
                  <a:pt x="175168" y="0"/>
                </a:lnTo>
                <a:lnTo>
                  <a:pt x="195696" y="1356"/>
                </a:lnTo>
                <a:lnTo>
                  <a:pt x="236753" y="11628"/>
                </a:lnTo>
                <a:lnTo>
                  <a:pt x="273695" y="30784"/>
                </a:lnTo>
                <a:lnTo>
                  <a:pt x="305851" y="58841"/>
                </a:lnTo>
                <a:lnTo>
                  <a:pt x="329808" y="93741"/>
                </a:lnTo>
                <a:lnTo>
                  <a:pt x="344850" y="132740"/>
                </a:lnTo>
                <a:lnTo>
                  <a:pt x="349651" y="174482"/>
                </a:lnTo>
                <a:lnTo>
                  <a:pt x="348279" y="195681"/>
                </a:lnTo>
                <a:lnTo>
                  <a:pt x="338007" y="236738"/>
                </a:lnTo>
                <a:lnTo>
                  <a:pt x="318851" y="274380"/>
                </a:lnTo>
                <a:lnTo>
                  <a:pt x="290794" y="305851"/>
                </a:lnTo>
                <a:lnTo>
                  <a:pt x="255910" y="329793"/>
                </a:lnTo>
                <a:lnTo>
                  <a:pt x="216225" y="344850"/>
                </a:lnTo>
                <a:lnTo>
                  <a:pt x="175168" y="349651"/>
                </a:lnTo>
                <a:lnTo>
                  <a:pt x="153954" y="348965"/>
                </a:lnTo>
                <a:lnTo>
                  <a:pt x="112897" y="338693"/>
                </a:lnTo>
                <a:lnTo>
                  <a:pt x="75270" y="318851"/>
                </a:lnTo>
                <a:lnTo>
                  <a:pt x="43784" y="290794"/>
                </a:lnTo>
                <a:lnTo>
                  <a:pt x="19842" y="255910"/>
                </a:lnTo>
                <a:lnTo>
                  <a:pt x="4785" y="216895"/>
                </a:lnTo>
                <a:lnTo>
                  <a:pt x="0" y="174482"/>
                </a:lnTo>
              </a:path>
            </a:pathLst>
          </a:custGeom>
          <a:ln w="11404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2352187" y="1388374"/>
            <a:ext cx="350520" cy="350520"/>
          </a:xfrm>
          <a:custGeom>
            <a:avLst/>
            <a:gdLst/>
            <a:ahLst/>
            <a:cxnLst/>
            <a:rect l="l" t="t" r="r" b="b"/>
            <a:pathLst>
              <a:path w="350519" h="350519">
                <a:moveTo>
                  <a:pt x="0" y="175839"/>
                </a:moveTo>
                <a:lnTo>
                  <a:pt x="5471" y="133426"/>
                </a:lnTo>
                <a:lnTo>
                  <a:pt x="20528" y="93741"/>
                </a:lnTo>
                <a:lnTo>
                  <a:pt x="44470" y="59527"/>
                </a:lnTo>
                <a:lnTo>
                  <a:pt x="75956" y="31470"/>
                </a:lnTo>
                <a:lnTo>
                  <a:pt x="113583" y="11628"/>
                </a:lnTo>
                <a:lnTo>
                  <a:pt x="154640" y="1356"/>
                </a:lnTo>
                <a:lnTo>
                  <a:pt x="175854" y="0"/>
                </a:lnTo>
                <a:lnTo>
                  <a:pt x="195696" y="1356"/>
                </a:lnTo>
                <a:lnTo>
                  <a:pt x="236753" y="11628"/>
                </a:lnTo>
                <a:lnTo>
                  <a:pt x="274380" y="31470"/>
                </a:lnTo>
                <a:lnTo>
                  <a:pt x="305851" y="59527"/>
                </a:lnTo>
                <a:lnTo>
                  <a:pt x="330494" y="93741"/>
                </a:lnTo>
                <a:lnTo>
                  <a:pt x="344865" y="133426"/>
                </a:lnTo>
                <a:lnTo>
                  <a:pt x="350337" y="175839"/>
                </a:lnTo>
                <a:lnTo>
                  <a:pt x="348965" y="196367"/>
                </a:lnTo>
                <a:lnTo>
                  <a:pt x="338708" y="236738"/>
                </a:lnTo>
                <a:lnTo>
                  <a:pt x="318851" y="274380"/>
                </a:lnTo>
                <a:lnTo>
                  <a:pt x="291495" y="305851"/>
                </a:lnTo>
                <a:lnTo>
                  <a:pt x="256595" y="329808"/>
                </a:lnTo>
                <a:lnTo>
                  <a:pt x="216910" y="344850"/>
                </a:lnTo>
                <a:lnTo>
                  <a:pt x="175854" y="350321"/>
                </a:lnTo>
                <a:lnTo>
                  <a:pt x="154640" y="348965"/>
                </a:lnTo>
                <a:lnTo>
                  <a:pt x="113583" y="338693"/>
                </a:lnTo>
                <a:lnTo>
                  <a:pt x="75956" y="318851"/>
                </a:lnTo>
                <a:lnTo>
                  <a:pt x="44470" y="291480"/>
                </a:lnTo>
                <a:lnTo>
                  <a:pt x="20528" y="256580"/>
                </a:lnTo>
                <a:lnTo>
                  <a:pt x="5471" y="217581"/>
                </a:lnTo>
                <a:lnTo>
                  <a:pt x="0" y="175839"/>
                </a:lnTo>
              </a:path>
            </a:pathLst>
          </a:custGeom>
          <a:ln w="11404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2755894" y="1388374"/>
            <a:ext cx="349885" cy="350520"/>
          </a:xfrm>
          <a:custGeom>
            <a:avLst/>
            <a:gdLst/>
            <a:ahLst/>
            <a:cxnLst/>
            <a:rect l="l" t="t" r="r" b="b"/>
            <a:pathLst>
              <a:path w="349885" h="350519">
                <a:moveTo>
                  <a:pt x="0" y="175839"/>
                </a:moveTo>
                <a:lnTo>
                  <a:pt x="4785" y="133426"/>
                </a:lnTo>
                <a:lnTo>
                  <a:pt x="19842" y="93741"/>
                </a:lnTo>
                <a:lnTo>
                  <a:pt x="43098" y="59527"/>
                </a:lnTo>
                <a:lnTo>
                  <a:pt x="75270" y="31470"/>
                </a:lnTo>
                <a:lnTo>
                  <a:pt x="112212" y="11628"/>
                </a:lnTo>
                <a:lnTo>
                  <a:pt x="153268" y="1356"/>
                </a:lnTo>
                <a:lnTo>
                  <a:pt x="174482" y="0"/>
                </a:lnTo>
                <a:lnTo>
                  <a:pt x="195696" y="1356"/>
                </a:lnTo>
                <a:lnTo>
                  <a:pt x="236753" y="11628"/>
                </a:lnTo>
                <a:lnTo>
                  <a:pt x="274380" y="31470"/>
                </a:lnTo>
                <a:lnTo>
                  <a:pt x="305165" y="59527"/>
                </a:lnTo>
                <a:lnTo>
                  <a:pt x="329123" y="93741"/>
                </a:lnTo>
                <a:lnTo>
                  <a:pt x="344164" y="133426"/>
                </a:lnTo>
                <a:lnTo>
                  <a:pt x="349651" y="175839"/>
                </a:lnTo>
                <a:lnTo>
                  <a:pt x="348279" y="196367"/>
                </a:lnTo>
                <a:lnTo>
                  <a:pt x="338007" y="236738"/>
                </a:lnTo>
                <a:lnTo>
                  <a:pt x="318165" y="274380"/>
                </a:lnTo>
                <a:lnTo>
                  <a:pt x="290123" y="305851"/>
                </a:lnTo>
                <a:lnTo>
                  <a:pt x="255910" y="329808"/>
                </a:lnTo>
                <a:lnTo>
                  <a:pt x="216895" y="344850"/>
                </a:lnTo>
                <a:lnTo>
                  <a:pt x="174482" y="350321"/>
                </a:lnTo>
                <a:lnTo>
                  <a:pt x="153268" y="348965"/>
                </a:lnTo>
                <a:lnTo>
                  <a:pt x="112212" y="338693"/>
                </a:lnTo>
                <a:lnTo>
                  <a:pt x="75270" y="318851"/>
                </a:lnTo>
                <a:lnTo>
                  <a:pt x="43098" y="291480"/>
                </a:lnTo>
                <a:lnTo>
                  <a:pt x="19842" y="256580"/>
                </a:lnTo>
                <a:lnTo>
                  <a:pt x="4785" y="217581"/>
                </a:lnTo>
                <a:lnTo>
                  <a:pt x="0" y="175839"/>
                </a:lnTo>
              </a:path>
            </a:pathLst>
          </a:custGeom>
          <a:ln w="11404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0" name="object 60"/>
          <p:cNvGrpSpPr/>
          <p:nvPr/>
        </p:nvGrpSpPr>
        <p:grpSpPr>
          <a:xfrm>
            <a:off x="5122697" y="1255618"/>
            <a:ext cx="980440" cy="756920"/>
            <a:chOff x="5122697" y="1255618"/>
            <a:chExt cx="980440" cy="756920"/>
          </a:xfrm>
        </p:grpSpPr>
        <p:sp>
          <p:nvSpPr>
            <p:cNvPr id="61" name="object 61"/>
            <p:cNvSpPr/>
            <p:nvPr/>
          </p:nvSpPr>
          <p:spPr>
            <a:xfrm>
              <a:off x="5210967" y="1287790"/>
              <a:ext cx="36195" cy="3175"/>
            </a:xfrm>
            <a:custGeom>
              <a:avLst/>
              <a:gdLst/>
              <a:ahLst/>
              <a:cxnLst/>
              <a:rect l="l" t="t" r="r" b="b"/>
              <a:pathLst>
                <a:path w="36195" h="3175">
                  <a:moveTo>
                    <a:pt x="-8553" y="1363"/>
                  </a:moveTo>
                  <a:lnTo>
                    <a:pt x="44123" y="1363"/>
                  </a:lnTo>
                </a:path>
              </a:pathLst>
            </a:custGeom>
            <a:ln w="1983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282123" y="1294633"/>
              <a:ext cx="812800" cy="709295"/>
            </a:xfrm>
            <a:custGeom>
              <a:avLst/>
              <a:gdLst/>
              <a:ahLst/>
              <a:cxnLst/>
              <a:rect l="l" t="t" r="r" b="b"/>
              <a:pathLst>
                <a:path w="812800" h="709294">
                  <a:moveTo>
                    <a:pt x="0" y="0"/>
                  </a:moveTo>
                  <a:lnTo>
                    <a:pt x="30114" y="4099"/>
                  </a:lnTo>
                  <a:lnTo>
                    <a:pt x="34899" y="4785"/>
                  </a:lnTo>
                </a:path>
                <a:path w="812800" h="709294">
                  <a:moveTo>
                    <a:pt x="69799" y="10942"/>
                  </a:moveTo>
                  <a:lnTo>
                    <a:pt x="80741" y="12999"/>
                  </a:lnTo>
                  <a:lnTo>
                    <a:pt x="104683" y="17785"/>
                  </a:lnTo>
                </a:path>
                <a:path w="812800" h="709294">
                  <a:moveTo>
                    <a:pt x="139583" y="25999"/>
                  </a:moveTo>
                  <a:lnTo>
                    <a:pt x="173796" y="34884"/>
                  </a:lnTo>
                </a:path>
                <a:path w="812800" h="709294">
                  <a:moveTo>
                    <a:pt x="208010" y="45156"/>
                  </a:moveTo>
                  <a:lnTo>
                    <a:pt x="226481" y="50627"/>
                  </a:lnTo>
                  <a:lnTo>
                    <a:pt x="241538" y="56098"/>
                  </a:lnTo>
                </a:path>
                <a:path w="812800" h="709294">
                  <a:moveTo>
                    <a:pt x="274380" y="67741"/>
                  </a:moveTo>
                  <a:lnTo>
                    <a:pt x="307223" y="81427"/>
                  </a:lnTo>
                </a:path>
                <a:path w="812800" h="709294">
                  <a:moveTo>
                    <a:pt x="340065" y="95097"/>
                  </a:moveTo>
                  <a:lnTo>
                    <a:pt x="362651" y="105369"/>
                  </a:lnTo>
                  <a:lnTo>
                    <a:pt x="372236" y="110154"/>
                  </a:lnTo>
                </a:path>
                <a:path w="812800" h="709294">
                  <a:moveTo>
                    <a:pt x="403707" y="126583"/>
                  </a:moveTo>
                  <a:lnTo>
                    <a:pt x="405079" y="127269"/>
                  </a:lnTo>
                  <a:lnTo>
                    <a:pt x="434492" y="144368"/>
                  </a:lnTo>
                </a:path>
                <a:path w="812800" h="709294">
                  <a:moveTo>
                    <a:pt x="464606" y="162839"/>
                  </a:moveTo>
                  <a:lnTo>
                    <a:pt x="485820" y="176524"/>
                  </a:lnTo>
                  <a:lnTo>
                    <a:pt x="494019" y="182681"/>
                  </a:lnTo>
                </a:path>
                <a:path w="812800" h="709294">
                  <a:moveTo>
                    <a:pt x="522762" y="203210"/>
                  </a:moveTo>
                  <a:lnTo>
                    <a:pt x="550819" y="225110"/>
                  </a:lnTo>
                </a:path>
                <a:path w="812800" h="709294">
                  <a:moveTo>
                    <a:pt x="577504" y="248381"/>
                  </a:moveTo>
                  <a:lnTo>
                    <a:pt x="592561" y="261381"/>
                  </a:lnTo>
                  <a:lnTo>
                    <a:pt x="603503" y="272323"/>
                  </a:lnTo>
                </a:path>
                <a:path w="812800" h="709294">
                  <a:moveTo>
                    <a:pt x="628817" y="297637"/>
                  </a:moveTo>
                  <a:lnTo>
                    <a:pt x="652774" y="322966"/>
                  </a:lnTo>
                </a:path>
                <a:path w="812800" h="709294">
                  <a:moveTo>
                    <a:pt x="675345" y="350321"/>
                  </a:moveTo>
                  <a:lnTo>
                    <a:pt x="680831" y="357164"/>
                  </a:lnTo>
                  <a:lnTo>
                    <a:pt x="696559" y="379064"/>
                  </a:lnTo>
                </a:path>
                <a:path w="812800" h="709294">
                  <a:moveTo>
                    <a:pt x="716401" y="408492"/>
                  </a:moveTo>
                  <a:lnTo>
                    <a:pt x="728030" y="426963"/>
                  </a:lnTo>
                  <a:lnTo>
                    <a:pt x="734872" y="439277"/>
                  </a:lnTo>
                </a:path>
                <a:path w="812800" h="709294">
                  <a:moveTo>
                    <a:pt x="751301" y="470748"/>
                  </a:moveTo>
                  <a:lnTo>
                    <a:pt x="764987" y="500862"/>
                  </a:lnTo>
                  <a:lnTo>
                    <a:pt x="765672" y="502919"/>
                  </a:lnTo>
                </a:path>
                <a:path w="812800" h="709294">
                  <a:moveTo>
                    <a:pt x="777986" y="535762"/>
                  </a:moveTo>
                  <a:lnTo>
                    <a:pt x="779358" y="538490"/>
                  </a:lnTo>
                  <a:lnTo>
                    <a:pt x="788929" y="568604"/>
                  </a:lnTo>
                </a:path>
                <a:path w="812800" h="709294">
                  <a:moveTo>
                    <a:pt x="797829" y="602818"/>
                  </a:moveTo>
                  <a:lnTo>
                    <a:pt x="800572" y="614446"/>
                  </a:lnTo>
                  <a:lnTo>
                    <a:pt x="804671" y="637717"/>
                  </a:lnTo>
                </a:path>
                <a:path w="812800" h="709294">
                  <a:moveTo>
                    <a:pt x="809457" y="673287"/>
                  </a:moveTo>
                  <a:lnTo>
                    <a:pt x="811514" y="692444"/>
                  </a:lnTo>
                  <a:lnTo>
                    <a:pt x="812200" y="708873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5122697" y="1255618"/>
              <a:ext cx="98425" cy="64769"/>
            </a:xfrm>
            <a:custGeom>
              <a:avLst/>
              <a:gdLst/>
              <a:ahLst/>
              <a:cxnLst/>
              <a:rect l="l" t="t" r="r" b="b"/>
              <a:pathLst>
                <a:path w="98425" h="64769">
                  <a:moveTo>
                    <a:pt x="97840" y="0"/>
                  </a:moveTo>
                  <a:lnTo>
                    <a:pt x="0" y="28742"/>
                  </a:lnTo>
                  <a:lnTo>
                    <a:pt x="95112" y="64328"/>
                  </a:lnTo>
                  <a:lnTo>
                    <a:pt x="9784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4" name="object 64"/>
          <p:cNvSpPr txBox="1"/>
          <p:nvPr/>
        </p:nvSpPr>
        <p:spPr>
          <a:xfrm>
            <a:off x="5451434" y="1100661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3930424" y="1269304"/>
            <a:ext cx="866140" cy="767080"/>
            <a:chOff x="3930424" y="1269304"/>
            <a:chExt cx="866140" cy="767080"/>
          </a:xfrm>
        </p:grpSpPr>
        <p:sp>
          <p:nvSpPr>
            <p:cNvPr id="66" name="object 66"/>
            <p:cNvSpPr/>
            <p:nvPr/>
          </p:nvSpPr>
          <p:spPr>
            <a:xfrm>
              <a:off x="3939631" y="1991192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4">
                  <a:moveTo>
                    <a:pt x="342" y="-8553"/>
                  </a:moveTo>
                  <a:lnTo>
                    <a:pt x="342" y="44123"/>
                  </a:lnTo>
                </a:path>
              </a:pathLst>
            </a:custGeom>
            <a:ln w="1779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943746" y="1308318"/>
              <a:ext cx="704215" cy="647700"/>
            </a:xfrm>
            <a:custGeom>
              <a:avLst/>
              <a:gdLst/>
              <a:ahLst/>
              <a:cxnLst/>
              <a:rect l="l" t="t" r="r" b="b"/>
              <a:pathLst>
                <a:path w="704214" h="647700">
                  <a:moveTo>
                    <a:pt x="0" y="647288"/>
                  </a:moveTo>
                  <a:lnTo>
                    <a:pt x="685" y="639074"/>
                  </a:lnTo>
                  <a:lnTo>
                    <a:pt x="4785" y="612388"/>
                  </a:lnTo>
                </a:path>
                <a:path w="704214" h="647700">
                  <a:moveTo>
                    <a:pt x="11628" y="577504"/>
                  </a:moveTo>
                  <a:lnTo>
                    <a:pt x="15727" y="560390"/>
                  </a:lnTo>
                  <a:lnTo>
                    <a:pt x="21214" y="543976"/>
                  </a:lnTo>
                </a:path>
                <a:path w="704214" h="647700">
                  <a:moveTo>
                    <a:pt x="32156" y="509762"/>
                  </a:moveTo>
                  <a:lnTo>
                    <a:pt x="41056" y="484433"/>
                  </a:lnTo>
                  <a:lnTo>
                    <a:pt x="44470" y="476234"/>
                  </a:lnTo>
                </a:path>
                <a:path w="704214" h="647700">
                  <a:moveTo>
                    <a:pt x="58841" y="443392"/>
                  </a:moveTo>
                  <a:lnTo>
                    <a:pt x="74584" y="411220"/>
                  </a:lnTo>
                </a:path>
                <a:path w="704214" h="647700">
                  <a:moveTo>
                    <a:pt x="93055" y="381121"/>
                  </a:moveTo>
                  <a:lnTo>
                    <a:pt x="96469" y="374964"/>
                  </a:lnTo>
                  <a:lnTo>
                    <a:pt x="111526" y="351693"/>
                  </a:lnTo>
                </a:path>
                <a:path w="704214" h="647700">
                  <a:moveTo>
                    <a:pt x="132740" y="322950"/>
                  </a:moveTo>
                  <a:lnTo>
                    <a:pt x="144368" y="307223"/>
                  </a:lnTo>
                  <a:lnTo>
                    <a:pt x="154640" y="295595"/>
                  </a:lnTo>
                </a:path>
                <a:path w="704214" h="647700">
                  <a:moveTo>
                    <a:pt x="177896" y="268909"/>
                  </a:moveTo>
                  <a:lnTo>
                    <a:pt x="200482" y="244952"/>
                  </a:lnTo>
                  <a:lnTo>
                    <a:pt x="202524" y="242895"/>
                  </a:lnTo>
                </a:path>
                <a:path w="704214" h="647700">
                  <a:moveTo>
                    <a:pt x="228539" y="218953"/>
                  </a:moveTo>
                  <a:lnTo>
                    <a:pt x="231952" y="215524"/>
                  </a:lnTo>
                  <a:lnTo>
                    <a:pt x="255224" y="195681"/>
                  </a:lnTo>
                </a:path>
                <a:path w="704214" h="647700">
                  <a:moveTo>
                    <a:pt x="283265" y="173796"/>
                  </a:moveTo>
                  <a:lnTo>
                    <a:pt x="300380" y="160797"/>
                  </a:lnTo>
                  <a:lnTo>
                    <a:pt x="312008" y="152582"/>
                  </a:lnTo>
                </a:path>
                <a:path w="704214" h="647700">
                  <a:moveTo>
                    <a:pt x="341436" y="132740"/>
                  </a:moveTo>
                  <a:lnTo>
                    <a:pt x="371535" y="114940"/>
                  </a:lnTo>
                </a:path>
                <a:path w="704214" h="647700">
                  <a:moveTo>
                    <a:pt x="402335" y="97840"/>
                  </a:moveTo>
                  <a:lnTo>
                    <a:pt x="413278" y="91683"/>
                  </a:lnTo>
                  <a:lnTo>
                    <a:pt x="433806" y="81412"/>
                  </a:lnTo>
                </a:path>
                <a:path w="704214" h="647700">
                  <a:moveTo>
                    <a:pt x="465962" y="67055"/>
                  </a:moveTo>
                  <a:lnTo>
                    <a:pt x="496077" y="54726"/>
                  </a:lnTo>
                  <a:lnTo>
                    <a:pt x="498805" y="53370"/>
                  </a:lnTo>
                </a:path>
                <a:path w="704214" h="647700">
                  <a:moveTo>
                    <a:pt x="532333" y="42412"/>
                  </a:moveTo>
                  <a:lnTo>
                    <a:pt x="539175" y="39684"/>
                  </a:lnTo>
                  <a:lnTo>
                    <a:pt x="565861" y="31470"/>
                  </a:lnTo>
                </a:path>
                <a:path w="704214" h="647700">
                  <a:moveTo>
                    <a:pt x="599389" y="21884"/>
                  </a:moveTo>
                  <a:lnTo>
                    <a:pt x="627446" y="15041"/>
                  </a:lnTo>
                  <a:lnTo>
                    <a:pt x="634288" y="13685"/>
                  </a:lnTo>
                </a:path>
                <a:path w="704214" h="647700">
                  <a:moveTo>
                    <a:pt x="669188" y="6156"/>
                  </a:moveTo>
                  <a:lnTo>
                    <a:pt x="672602" y="5471"/>
                  </a:lnTo>
                  <a:lnTo>
                    <a:pt x="704087" y="0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683404" y="1301475"/>
              <a:ext cx="25400" cy="3175"/>
            </a:xfrm>
            <a:custGeom>
              <a:avLst/>
              <a:gdLst/>
              <a:ahLst/>
              <a:cxnLst/>
              <a:rect l="l" t="t" r="r" b="b"/>
              <a:pathLst>
                <a:path w="25400" h="3175">
                  <a:moveTo>
                    <a:pt x="-8553" y="1363"/>
                  </a:moveTo>
                  <a:lnTo>
                    <a:pt x="33881" y="1363"/>
                  </a:lnTo>
                </a:path>
              </a:pathLst>
            </a:custGeom>
            <a:ln w="1983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699147" y="1269304"/>
              <a:ext cx="97790" cy="64769"/>
            </a:xfrm>
            <a:custGeom>
              <a:avLst/>
              <a:gdLst/>
              <a:ahLst/>
              <a:cxnLst/>
              <a:rect l="l" t="t" r="r" b="b"/>
              <a:pathLst>
                <a:path w="97789" h="64769">
                  <a:moveTo>
                    <a:pt x="0" y="0"/>
                  </a:moveTo>
                  <a:lnTo>
                    <a:pt x="2743" y="64328"/>
                  </a:lnTo>
                  <a:lnTo>
                    <a:pt x="97170" y="280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0" name="object 70"/>
          <p:cNvSpPr txBox="1"/>
          <p:nvPr/>
        </p:nvSpPr>
        <p:spPr>
          <a:xfrm>
            <a:off x="4299164" y="1100661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7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4079900" y="2228963"/>
            <a:ext cx="1838325" cy="225425"/>
            <a:chOff x="4079900" y="2228963"/>
            <a:chExt cx="1838325" cy="225425"/>
          </a:xfrm>
        </p:grpSpPr>
        <p:sp>
          <p:nvSpPr>
            <p:cNvPr id="72" name="object 72"/>
            <p:cNvSpPr/>
            <p:nvPr/>
          </p:nvSpPr>
          <p:spPr>
            <a:xfrm>
              <a:off x="4163384" y="2292258"/>
              <a:ext cx="518159" cy="120650"/>
            </a:xfrm>
            <a:custGeom>
              <a:avLst/>
              <a:gdLst/>
              <a:ahLst/>
              <a:cxnLst/>
              <a:rect l="l" t="t" r="r" b="b"/>
              <a:pathLst>
                <a:path w="518160" h="120650">
                  <a:moveTo>
                    <a:pt x="0" y="0"/>
                  </a:moveTo>
                  <a:lnTo>
                    <a:pt x="10256" y="3413"/>
                  </a:lnTo>
                  <a:lnTo>
                    <a:pt x="20528" y="6156"/>
                  </a:lnTo>
                  <a:lnTo>
                    <a:pt x="30784" y="9570"/>
                  </a:lnTo>
                  <a:lnTo>
                    <a:pt x="34213" y="10942"/>
                  </a:lnTo>
                </a:path>
                <a:path w="518160" h="120650">
                  <a:moveTo>
                    <a:pt x="68427" y="21214"/>
                  </a:moveTo>
                  <a:lnTo>
                    <a:pt x="73212" y="22585"/>
                  </a:lnTo>
                  <a:lnTo>
                    <a:pt x="84155" y="25313"/>
                  </a:lnTo>
                  <a:lnTo>
                    <a:pt x="95112" y="28742"/>
                  </a:lnTo>
                  <a:lnTo>
                    <a:pt x="102641" y="30784"/>
                  </a:lnTo>
                </a:path>
                <a:path w="518160" h="120650">
                  <a:moveTo>
                    <a:pt x="136169" y="40370"/>
                  </a:moveTo>
                  <a:lnTo>
                    <a:pt x="138897" y="41056"/>
                  </a:lnTo>
                  <a:lnTo>
                    <a:pt x="149854" y="43784"/>
                  </a:lnTo>
                  <a:lnTo>
                    <a:pt x="161483" y="47213"/>
                  </a:lnTo>
                  <a:lnTo>
                    <a:pt x="170367" y="49270"/>
                  </a:lnTo>
                </a:path>
                <a:path w="518160" h="120650">
                  <a:moveTo>
                    <a:pt x="204581" y="58155"/>
                  </a:moveTo>
                  <a:lnTo>
                    <a:pt x="208010" y="58841"/>
                  </a:lnTo>
                  <a:lnTo>
                    <a:pt x="219638" y="61584"/>
                  </a:lnTo>
                  <a:lnTo>
                    <a:pt x="231266" y="64312"/>
                  </a:lnTo>
                  <a:lnTo>
                    <a:pt x="239481" y="66370"/>
                  </a:lnTo>
                </a:path>
                <a:path w="518160" h="120650">
                  <a:moveTo>
                    <a:pt x="274380" y="73212"/>
                  </a:moveTo>
                  <a:lnTo>
                    <a:pt x="309280" y="81427"/>
                  </a:lnTo>
                </a:path>
                <a:path w="518160" h="120650">
                  <a:moveTo>
                    <a:pt x="344180" y="88955"/>
                  </a:moveTo>
                  <a:lnTo>
                    <a:pt x="379064" y="95798"/>
                  </a:lnTo>
                </a:path>
                <a:path w="518160" h="120650">
                  <a:moveTo>
                    <a:pt x="413278" y="102641"/>
                  </a:moveTo>
                  <a:lnTo>
                    <a:pt x="448177" y="108798"/>
                  </a:lnTo>
                </a:path>
                <a:path w="518160" h="120650">
                  <a:moveTo>
                    <a:pt x="483077" y="114955"/>
                  </a:moveTo>
                  <a:lnTo>
                    <a:pt x="517977" y="120426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716246" y="2417470"/>
              <a:ext cx="36195" cy="5080"/>
            </a:xfrm>
            <a:custGeom>
              <a:avLst/>
              <a:gdLst/>
              <a:ahLst/>
              <a:cxnLst/>
              <a:rect l="l" t="t" r="r" b="b"/>
              <a:pathLst>
                <a:path w="36195" h="5080">
                  <a:moveTo>
                    <a:pt x="-8553" y="2400"/>
                  </a:moveTo>
                  <a:lnTo>
                    <a:pt x="44138" y="2400"/>
                  </a:lnTo>
                </a:path>
              </a:pathLst>
            </a:custGeom>
            <a:ln w="219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787417" y="2427056"/>
              <a:ext cx="319405" cy="19050"/>
            </a:xfrm>
            <a:custGeom>
              <a:avLst/>
              <a:gdLst/>
              <a:ahLst/>
              <a:cxnLst/>
              <a:rect l="l" t="t" r="r" b="b"/>
              <a:pathLst>
                <a:path w="319404" h="19050">
                  <a:moveTo>
                    <a:pt x="0" y="0"/>
                  </a:moveTo>
                  <a:lnTo>
                    <a:pt x="5471" y="685"/>
                  </a:lnTo>
                  <a:lnTo>
                    <a:pt x="34899" y="4099"/>
                  </a:lnTo>
                </a:path>
                <a:path w="319404" h="19050">
                  <a:moveTo>
                    <a:pt x="70469" y="7528"/>
                  </a:moveTo>
                  <a:lnTo>
                    <a:pt x="84155" y="8884"/>
                  </a:lnTo>
                  <a:lnTo>
                    <a:pt x="106055" y="10256"/>
                  </a:lnTo>
                </a:path>
                <a:path w="319404" h="19050">
                  <a:moveTo>
                    <a:pt x="141640" y="12999"/>
                  </a:moveTo>
                  <a:lnTo>
                    <a:pt x="162854" y="14371"/>
                  </a:lnTo>
                  <a:lnTo>
                    <a:pt x="177210" y="15057"/>
                  </a:lnTo>
                </a:path>
                <a:path w="319404" h="19050">
                  <a:moveTo>
                    <a:pt x="212796" y="16413"/>
                  </a:moveTo>
                  <a:lnTo>
                    <a:pt x="242224" y="17785"/>
                  </a:lnTo>
                  <a:lnTo>
                    <a:pt x="248381" y="17785"/>
                  </a:lnTo>
                </a:path>
                <a:path w="319404" h="19050">
                  <a:moveTo>
                    <a:pt x="283281" y="18470"/>
                  </a:moveTo>
                  <a:lnTo>
                    <a:pt x="318851" y="18470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5141853" y="2443469"/>
              <a:ext cx="36195" cy="1905"/>
            </a:xfrm>
            <a:custGeom>
              <a:avLst/>
              <a:gdLst/>
              <a:ahLst/>
              <a:cxnLst/>
              <a:rect l="l" t="t" r="r" b="b"/>
              <a:pathLst>
                <a:path w="36195" h="1905">
                  <a:moveTo>
                    <a:pt x="-8553" y="685"/>
                  </a:moveTo>
                  <a:lnTo>
                    <a:pt x="44138" y="685"/>
                  </a:lnTo>
                </a:path>
              </a:pathLst>
            </a:custGeom>
            <a:ln w="1847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5213009" y="2439370"/>
              <a:ext cx="36195" cy="3175"/>
            </a:xfrm>
            <a:custGeom>
              <a:avLst/>
              <a:gdLst/>
              <a:ahLst/>
              <a:cxnLst/>
              <a:rect l="l" t="t" r="r" b="b"/>
              <a:pathLst>
                <a:path w="36195" h="3175">
                  <a:moveTo>
                    <a:pt x="-8553" y="1371"/>
                  </a:moveTo>
                  <a:lnTo>
                    <a:pt x="44138" y="1371"/>
                  </a:lnTo>
                </a:path>
              </a:pathLst>
            </a:custGeom>
            <a:ln w="1984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5284180" y="2433213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10">
                  <a:moveTo>
                    <a:pt x="-8553" y="1706"/>
                  </a:moveTo>
                  <a:lnTo>
                    <a:pt x="43452" y="1706"/>
                  </a:lnTo>
                </a:path>
              </a:pathLst>
            </a:custGeom>
            <a:ln w="2051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5354649" y="2423627"/>
              <a:ext cx="36195" cy="5080"/>
            </a:xfrm>
            <a:custGeom>
              <a:avLst/>
              <a:gdLst/>
              <a:ahLst/>
              <a:cxnLst/>
              <a:rect l="l" t="t" r="r" b="b"/>
              <a:pathLst>
                <a:path w="36195" h="5080">
                  <a:moveTo>
                    <a:pt x="-8553" y="2400"/>
                  </a:moveTo>
                  <a:lnTo>
                    <a:pt x="44138" y="2400"/>
                  </a:lnTo>
                </a:path>
              </a:pathLst>
            </a:custGeom>
            <a:ln w="219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5425134" y="2237516"/>
              <a:ext cx="484505" cy="180975"/>
            </a:xfrm>
            <a:custGeom>
              <a:avLst/>
              <a:gdLst/>
              <a:ahLst/>
              <a:cxnLst/>
              <a:rect l="l" t="t" r="r" b="b"/>
              <a:pathLst>
                <a:path w="484504" h="180975">
                  <a:moveTo>
                    <a:pt x="0" y="180639"/>
                  </a:moveTo>
                  <a:lnTo>
                    <a:pt x="34899" y="173796"/>
                  </a:lnTo>
                </a:path>
                <a:path w="484504" h="180975">
                  <a:moveTo>
                    <a:pt x="69783" y="166268"/>
                  </a:moveTo>
                  <a:lnTo>
                    <a:pt x="104683" y="158054"/>
                  </a:lnTo>
                </a:path>
                <a:path w="484504" h="180975">
                  <a:moveTo>
                    <a:pt x="138897" y="149854"/>
                  </a:moveTo>
                  <a:lnTo>
                    <a:pt x="140954" y="149169"/>
                  </a:lnTo>
                  <a:lnTo>
                    <a:pt x="173111" y="139583"/>
                  </a:lnTo>
                </a:path>
                <a:path w="484504" h="180975">
                  <a:moveTo>
                    <a:pt x="207324" y="129326"/>
                  </a:moveTo>
                  <a:lnTo>
                    <a:pt x="213481" y="127269"/>
                  </a:lnTo>
                  <a:lnTo>
                    <a:pt x="240852" y="117698"/>
                  </a:lnTo>
                </a:path>
                <a:path w="484504" h="180975">
                  <a:moveTo>
                    <a:pt x="274380" y="105369"/>
                  </a:moveTo>
                  <a:lnTo>
                    <a:pt x="284637" y="101955"/>
                  </a:lnTo>
                  <a:lnTo>
                    <a:pt x="307223" y="92369"/>
                  </a:lnTo>
                </a:path>
                <a:path w="484504" h="180975">
                  <a:moveTo>
                    <a:pt x="340065" y="78684"/>
                  </a:moveTo>
                  <a:lnTo>
                    <a:pt x="353750" y="72527"/>
                  </a:lnTo>
                  <a:lnTo>
                    <a:pt x="372221" y="62956"/>
                  </a:lnTo>
                </a:path>
                <a:path w="484504" h="180975">
                  <a:moveTo>
                    <a:pt x="403021" y="47213"/>
                  </a:moveTo>
                  <a:lnTo>
                    <a:pt x="420121" y="38313"/>
                  </a:lnTo>
                  <a:lnTo>
                    <a:pt x="433806" y="30114"/>
                  </a:lnTo>
                </a:path>
                <a:path w="484504" h="180975">
                  <a:moveTo>
                    <a:pt x="464591" y="11628"/>
                  </a:moveTo>
                  <a:lnTo>
                    <a:pt x="484433" y="0"/>
                  </a:lnTo>
                </a:path>
              </a:pathLst>
            </a:custGeom>
            <a:ln w="1710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079900" y="2263516"/>
              <a:ext cx="101600" cy="61594"/>
            </a:xfrm>
            <a:custGeom>
              <a:avLst/>
              <a:gdLst/>
              <a:ahLst/>
              <a:cxnLst/>
              <a:rect l="l" t="t" r="r" b="b"/>
              <a:pathLst>
                <a:path w="101600" h="61594">
                  <a:moveTo>
                    <a:pt x="0" y="0"/>
                  </a:moveTo>
                  <a:lnTo>
                    <a:pt x="80741" y="61584"/>
                  </a:lnTo>
                  <a:lnTo>
                    <a:pt x="101269" y="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1" name="object 81"/>
          <p:cNvSpPr txBox="1"/>
          <p:nvPr/>
        </p:nvSpPr>
        <p:spPr>
          <a:xfrm>
            <a:off x="4370322" y="2323405"/>
            <a:ext cx="13906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600" i="1">
                <a:solidFill>
                  <a:srgbClr val="FFFF00"/>
                </a:solidFill>
                <a:latin typeface="Arial"/>
                <a:cs typeface="Arial"/>
              </a:rPr>
              <a:t>6</a:t>
            </a:r>
            <a:endParaRPr sz="16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889001" y="3622790"/>
            <a:ext cx="6437630" cy="20866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397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8.81: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Floyd-Warshall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d</a:t>
            </a:r>
            <a:r>
              <a:rPr dirty="0" baseline="31250" sz="1200" spc="-37">
                <a:latin typeface="Verdana"/>
                <a:cs typeface="Verdana"/>
              </a:rPr>
              <a:t>(</a:t>
            </a:r>
            <a:r>
              <a:rPr dirty="0" sz="1200" spc="-25">
                <a:latin typeface="Lucida Sans Unicode"/>
                <a:cs typeface="Lucida Sans Unicode"/>
              </a:rPr>
              <a:t>4</a:t>
            </a:r>
            <a:r>
              <a:rPr dirty="0" sz="1200" spc="-25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</a:pPr>
            <a:endParaRPr sz="1300">
              <a:latin typeface="Garamond"/>
              <a:cs typeface="Garamond"/>
            </a:endParaRPr>
          </a:p>
          <a:p>
            <a:pPr marL="25400">
              <a:lnSpc>
                <a:spcPct val="100000"/>
              </a:lnSpc>
              <a:spcBef>
                <a:spcPts val="750"/>
              </a:spcBef>
            </a:pPr>
            <a:r>
              <a:rPr dirty="0" sz="1200" spc="-5" b="1">
                <a:latin typeface="Times New Roman"/>
                <a:cs typeface="Times New Roman"/>
              </a:rPr>
              <a:t>Extracting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Shortest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Path:</a:t>
            </a:r>
            <a:endParaRPr sz="1200">
              <a:latin typeface="Times New Roman"/>
              <a:cs typeface="Times New Roman"/>
            </a:endParaRPr>
          </a:p>
          <a:p>
            <a:pPr marL="25400" marR="1778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matrix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d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holds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distance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mid-vertex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pointers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mid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i,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extract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Whenever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discovered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 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path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80">
                <a:latin typeface="Lucida Sans Unicode"/>
                <a:cs typeface="Lucida Sans Unicode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30">
                <a:latin typeface="Lucida Sans Unicode"/>
                <a:cs typeface="Lucida Sans Unicode"/>
              </a:rPr>
              <a:t>j </a:t>
            </a:r>
            <a:r>
              <a:rPr dirty="0" sz="1200" spc="-5">
                <a:latin typeface="Times New Roman"/>
                <a:cs typeface="Times New Roman"/>
              </a:rPr>
              <a:t>passed </a:t>
            </a:r>
            <a:r>
              <a:rPr dirty="0" sz="1200" spc="-10">
                <a:latin typeface="Times New Roman"/>
                <a:cs typeface="Times New Roman"/>
              </a:rPr>
              <a:t>through </a:t>
            </a:r>
            <a:r>
              <a:rPr dirty="0" sz="1200" spc="-15">
                <a:latin typeface="Times New Roman"/>
                <a:cs typeface="Times New Roman"/>
              </a:rPr>
              <a:t>vertex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 spc="5">
                <a:latin typeface="Lucida Sans Unicode"/>
                <a:cs typeface="Lucida Sans Unicode"/>
              </a:rPr>
              <a:t>mid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i,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path </a:t>
            </a:r>
            <a:r>
              <a:rPr dirty="0" sz="1200" spc="-10">
                <a:latin typeface="Times New Roman"/>
                <a:cs typeface="Times New Roman"/>
              </a:rPr>
              <a:t>did not </a:t>
            </a:r>
            <a:r>
              <a:rPr dirty="0" sz="1200" spc="-5">
                <a:latin typeface="Times New Roman"/>
                <a:cs typeface="Times New Roman"/>
              </a:rPr>
              <a:t> pass</a:t>
            </a:r>
            <a:r>
              <a:rPr dirty="0" sz="1200" spc="-10">
                <a:latin typeface="Times New Roman"/>
                <a:cs typeface="Times New Roman"/>
              </a:rPr>
              <a:t> through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5">
                <a:latin typeface="Lucida Sans Unicode"/>
                <a:cs typeface="Lucida Sans Unicode"/>
              </a:rPr>
              <a:t>mid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i,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null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25400" marR="111760">
              <a:lnSpc>
                <a:spcPct val="100000"/>
              </a:lnSpc>
              <a:spcBef>
                <a:spcPts val="530"/>
              </a:spcBef>
            </a:pPr>
            <a:r>
              <a:rPr dirty="0" sz="1200" spc="-55">
                <a:latin typeface="Times New Roman"/>
                <a:cs typeface="Times New Roman"/>
              </a:rPr>
              <a:t>To </a:t>
            </a:r>
            <a:r>
              <a:rPr dirty="0" sz="1200" spc="-5">
                <a:latin typeface="Times New Roman"/>
                <a:cs typeface="Times New Roman"/>
              </a:rPr>
              <a:t>find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path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80">
                <a:latin typeface="Lucida Sans Unicode"/>
                <a:cs typeface="Lucida Sans Unicode"/>
              </a:rPr>
              <a:t>i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consult </a:t>
            </a:r>
            <a:r>
              <a:rPr dirty="0" sz="1200" spc="5">
                <a:latin typeface="Lucida Sans Unicode"/>
                <a:cs typeface="Lucida Sans Unicode"/>
              </a:rPr>
              <a:t>mid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i, 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5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If it is </a:t>
            </a:r>
            <a:r>
              <a:rPr dirty="0" sz="1200" spc="-10">
                <a:latin typeface="Times New Roman"/>
                <a:cs typeface="Times New Roman"/>
              </a:rPr>
              <a:t>null,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path is just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i,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j</a:t>
            </a:r>
            <a:r>
              <a:rPr dirty="0" sz="1200" spc="45">
                <a:latin typeface="Garamond"/>
                <a:cs typeface="Garamond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Otherwise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recursively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i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mid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i,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shortest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5">
                <a:latin typeface="Lucida Sans Unicode"/>
                <a:cs typeface="Lucida Sans Unicode"/>
              </a:rPr>
              <a:t>mid</a:t>
            </a:r>
            <a:r>
              <a:rPr dirty="0" sz="1200" spc="5">
                <a:latin typeface="Garamond"/>
                <a:cs typeface="Garamond"/>
              </a:rPr>
              <a:t>[</a:t>
            </a:r>
            <a:r>
              <a:rPr dirty="0" sz="1200" spc="5">
                <a:latin typeface="Lucida Sans Unicode"/>
                <a:cs typeface="Lucida Sans Unicode"/>
              </a:rPr>
              <a:t>i,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Garamond"/>
                <a:cs typeface="Garamond"/>
              </a:rPr>
              <a:t>]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15">
                <a:latin typeface="Lucida Sans Unicode"/>
                <a:cs typeface="Lucida Sans Unicode"/>
              </a:rPr>
              <a:t>j</a:t>
            </a:r>
            <a:r>
              <a:rPr dirty="0" sz="1200" spc="1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916971" y="5949664"/>
            <a:ext cx="5481955" cy="1167765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2540" rIns="0" bIns="0" rtlCol="0" vert="horz">
            <a:spAutoFit/>
          </a:bodyPr>
          <a:lstStyle/>
          <a:p>
            <a:pPr marL="43815">
              <a:lnSpc>
                <a:spcPct val="100000"/>
              </a:lnSpc>
              <a:spcBef>
                <a:spcPts val="20"/>
              </a:spcBef>
            </a:pPr>
            <a:r>
              <a:rPr dirty="0" sz="1200" spc="-45">
                <a:latin typeface="Times New Roman"/>
                <a:cs typeface="Times New Roman"/>
              </a:rPr>
              <a:t>P</a:t>
            </a:r>
            <a:r>
              <a:rPr dirty="0" sz="950" spc="-50">
                <a:latin typeface="Times New Roman"/>
                <a:cs typeface="Times New Roman"/>
              </a:rPr>
              <a:t>A</a:t>
            </a:r>
            <a:r>
              <a:rPr dirty="0" sz="950" spc="55">
                <a:latin typeface="Times New Roman"/>
                <a:cs typeface="Times New Roman"/>
              </a:rPr>
              <a:t>T</a:t>
            </a:r>
            <a:r>
              <a:rPr dirty="0" sz="950" spc="25">
                <a:latin typeface="Times New Roman"/>
                <a:cs typeface="Times New Roman"/>
              </a:rPr>
              <a:t>H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30607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306070" algn="l"/>
                <a:tab pos="306705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i</a:t>
            </a:r>
            <a:r>
              <a:rPr dirty="0" sz="1200" spc="-5" b="1">
                <a:latin typeface="Times New Roman"/>
                <a:cs typeface="Times New Roman"/>
              </a:rPr>
              <a:t>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00">
                <a:latin typeface="Garamond"/>
                <a:cs typeface="Garamond"/>
              </a:rPr>
              <a:t>==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80">
                <a:latin typeface="Lucida Sans Unicode"/>
                <a:cs typeface="Lucida Sans Unicode"/>
              </a:rPr>
              <a:t>l</a:t>
            </a:r>
            <a:r>
              <a:rPr dirty="0" sz="1200" spc="85">
                <a:latin typeface="Lucida Sans Unicode"/>
                <a:cs typeface="Lucida Sans Unicode"/>
              </a:rPr>
              <a:t>l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36880" indent="-35941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36245" algn="l"/>
                <a:tab pos="437515" algn="l"/>
              </a:tabLst>
            </a:pPr>
            <a:r>
              <a:rPr dirty="0" sz="1200" spc="-10" b="1">
                <a:latin typeface="Times New Roman"/>
                <a:cs typeface="Times New Roman"/>
              </a:rPr>
              <a:t>t</a:t>
            </a:r>
            <a:r>
              <a:rPr dirty="0" sz="1200" spc="-5" b="1">
                <a:latin typeface="Times New Roman"/>
                <a:cs typeface="Times New Roman"/>
              </a:rPr>
              <a:t>hen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Lucida Sans Unicode"/>
                <a:cs typeface="Lucida Sans Unicode"/>
              </a:rPr>
              <a:t>o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45">
                <a:latin typeface="Lucida Sans Unicode"/>
                <a:cs typeface="Lucida Sans Unicode"/>
              </a:rPr>
              <a:t>t</a:t>
            </a:r>
            <a:r>
              <a:rPr dirty="0" sz="1200" spc="-55">
                <a:latin typeface="Lucida Sans Unicode"/>
                <a:cs typeface="Lucida Sans Unicode"/>
              </a:rPr>
              <a:t>p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40">
                <a:latin typeface="Lucida Sans Unicode"/>
                <a:cs typeface="Lucida Sans Unicode"/>
              </a:rPr>
              <a:t>t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36880" indent="-35941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36245" algn="l"/>
                <a:tab pos="43751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e</a:t>
            </a:r>
            <a:r>
              <a:rPr dirty="0" sz="1200" spc="-10" b="1">
                <a:latin typeface="Times New Roman"/>
                <a:cs typeface="Times New Roman"/>
              </a:rPr>
              <a:t>l</a:t>
            </a:r>
            <a:r>
              <a:rPr dirty="0" sz="1200" spc="-5" b="1">
                <a:latin typeface="Times New Roman"/>
                <a:cs typeface="Times New Roman"/>
              </a:rPr>
              <a:t>se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125" b="1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P</a:t>
            </a:r>
            <a:r>
              <a:rPr dirty="0" sz="950" spc="-50">
                <a:latin typeface="Times New Roman"/>
                <a:cs typeface="Times New Roman"/>
              </a:rPr>
              <a:t>A</a:t>
            </a:r>
            <a:r>
              <a:rPr dirty="0" sz="950" spc="55">
                <a:latin typeface="Times New Roman"/>
                <a:cs typeface="Times New Roman"/>
              </a:rPr>
              <a:t>T</a:t>
            </a:r>
            <a:r>
              <a:rPr dirty="0" sz="950" spc="25">
                <a:latin typeface="Times New Roman"/>
                <a:cs typeface="Times New Roman"/>
              </a:rPr>
              <a:t>H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5">
                <a:latin typeface="Garamond"/>
                <a:cs typeface="Garamond"/>
              </a:rPr>
              <a:t>]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765175" indent="-687705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765175" algn="l"/>
                <a:tab pos="765810" algn="l"/>
              </a:tabLst>
            </a:pPr>
            <a:r>
              <a:rPr dirty="0" sz="1200" spc="-45">
                <a:latin typeface="Times New Roman"/>
                <a:cs typeface="Times New Roman"/>
              </a:rPr>
              <a:t>P</a:t>
            </a:r>
            <a:r>
              <a:rPr dirty="0" sz="950" spc="-50">
                <a:latin typeface="Times New Roman"/>
                <a:cs typeface="Times New Roman"/>
              </a:rPr>
              <a:t>A</a:t>
            </a:r>
            <a:r>
              <a:rPr dirty="0" sz="950" spc="55">
                <a:latin typeface="Times New Roman"/>
                <a:cs typeface="Times New Roman"/>
              </a:rPr>
              <a:t>T</a:t>
            </a:r>
            <a:r>
              <a:rPr dirty="0" sz="950" spc="25">
                <a:latin typeface="Times New Roman"/>
                <a:cs typeface="Times New Roman"/>
              </a:rPr>
              <a:t>H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30">
                <a:latin typeface="Lucida Sans Unicode"/>
                <a:cs typeface="Lucida Sans Unicode"/>
              </a:rPr>
              <a:t>m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40">
                <a:latin typeface="Lucida Sans Unicode"/>
                <a:cs typeface="Lucida Sans Unicode"/>
              </a:rPr>
              <a:t>d</a:t>
            </a:r>
            <a:r>
              <a:rPr dirty="0" sz="1200">
                <a:latin typeface="Garamond"/>
                <a:cs typeface="Garamond"/>
              </a:rPr>
              <a:t>[</a:t>
            </a:r>
            <a:r>
              <a:rPr dirty="0" sz="1200" spc="75">
                <a:latin typeface="Lucida Sans Unicode"/>
                <a:cs typeface="Lucida Sans Unicode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>
                <a:latin typeface="Garamond"/>
                <a:cs typeface="Garamond"/>
              </a:rPr>
              <a:t>]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16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74992" y="520987"/>
            <a:ext cx="1553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8.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1840994"/>
            <a:ext cx="2639695" cy="11017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2450" spc="10" b="1">
                <a:latin typeface="Times New Roman"/>
                <a:cs typeface="Times New Roman"/>
              </a:rPr>
              <a:t>Chapter</a:t>
            </a:r>
            <a:r>
              <a:rPr dirty="0" sz="2450" spc="-35" b="1">
                <a:latin typeface="Times New Roman"/>
                <a:cs typeface="Times New Roman"/>
              </a:rPr>
              <a:t> </a:t>
            </a:r>
            <a:r>
              <a:rPr dirty="0" sz="2450" spc="10" b="1">
                <a:latin typeface="Times New Roman"/>
                <a:cs typeface="Times New Roman"/>
              </a:rPr>
              <a:t>9</a:t>
            </a:r>
            <a:endParaRPr sz="2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2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2450" spc="10" b="1">
                <a:latin typeface="Times New Roman"/>
                <a:cs typeface="Times New Roman"/>
              </a:rPr>
              <a:t>Complexity</a:t>
            </a:r>
            <a:r>
              <a:rPr dirty="0" sz="2450" spc="-55" b="1">
                <a:latin typeface="Times New Roman"/>
                <a:cs typeface="Times New Roman"/>
              </a:rPr>
              <a:t> </a:t>
            </a:r>
            <a:r>
              <a:rPr dirty="0" sz="2450" spc="10" b="1">
                <a:latin typeface="Times New Roman"/>
                <a:cs typeface="Times New Roman"/>
              </a:rPr>
              <a:t>Theory</a:t>
            </a:r>
            <a:endParaRPr sz="245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4953000" y="5269484"/>
            <a:ext cx="73025" cy="5080"/>
          </a:xfrm>
          <a:custGeom>
            <a:avLst/>
            <a:gdLst/>
            <a:ahLst/>
            <a:cxnLst/>
            <a:rect l="l" t="t" r="r" b="b"/>
            <a:pathLst>
              <a:path w="73025" h="5079">
                <a:moveTo>
                  <a:pt x="72694" y="0"/>
                </a:moveTo>
                <a:lnTo>
                  <a:pt x="0" y="0"/>
                </a:lnTo>
                <a:lnTo>
                  <a:pt x="0" y="4571"/>
                </a:lnTo>
                <a:lnTo>
                  <a:pt x="72694" y="4571"/>
                </a:lnTo>
                <a:lnTo>
                  <a:pt x="726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850898" y="3456942"/>
            <a:ext cx="6527800" cy="59061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 marR="5334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building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“bag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tricks”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problems.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Hopefully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better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idea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 </a:t>
            </a:r>
            <a:r>
              <a:rPr dirty="0" sz="1200" spc="-10">
                <a:latin typeface="Times New Roman"/>
                <a:cs typeface="Times New Roman"/>
              </a:rPr>
              <a:t>solving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 </a:t>
            </a:r>
            <a:r>
              <a:rPr dirty="0" sz="1200" spc="-10">
                <a:latin typeface="Times New Roman"/>
                <a:cs typeface="Times New Roman"/>
              </a:rPr>
              <a:t>problems.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design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paradigm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 spc="-5">
                <a:latin typeface="Times New Roman"/>
                <a:cs typeface="Times New Roman"/>
              </a:rPr>
              <a:t>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divide-and-conquer,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greedy,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dynamic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programming.</a:t>
            </a:r>
            <a:endParaRPr sz="1200">
              <a:latin typeface="Times New Roman"/>
              <a:cs typeface="Times New Roman"/>
            </a:endParaRPr>
          </a:p>
          <a:p>
            <a:pPr algn="just" marL="63500" marR="42418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What sort of data structures </a:t>
            </a:r>
            <a:r>
              <a:rPr dirty="0" sz="1200" spc="-10">
                <a:latin typeface="Times New Roman"/>
                <a:cs typeface="Times New Roman"/>
              </a:rPr>
              <a:t>might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5">
                <a:latin typeface="Times New Roman"/>
                <a:cs typeface="Times New Roman"/>
              </a:rPr>
              <a:t>relevant: </a:t>
            </a:r>
            <a:r>
              <a:rPr dirty="0" sz="1200" spc="-5">
                <a:latin typeface="Times New Roman"/>
                <a:cs typeface="Times New Roman"/>
              </a:rPr>
              <a:t>trees, heaps, graphs. What is </a:t>
            </a:r>
            <a:r>
              <a:rPr dirty="0" sz="1200" spc="-10">
                <a:latin typeface="Times New Roman"/>
                <a:cs typeface="Times New Roman"/>
              </a:rPr>
              <a:t>the running time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algorithm. All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is fine if it helps </a:t>
            </a:r>
            <a:r>
              <a:rPr dirty="0" sz="1200" spc="-10">
                <a:latin typeface="Times New Roman"/>
                <a:cs typeface="Times New Roman"/>
              </a:rPr>
              <a:t>you discover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Times New Roman"/>
                <a:cs typeface="Times New Roman"/>
              </a:rPr>
              <a:t>acceptably efficient algorithm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solve your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  <a:p>
            <a:pPr algn="just" marL="63500" marR="100330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The question that often arises in practice is that </a:t>
            </a:r>
            <a:r>
              <a:rPr dirty="0" sz="1200" spc="-10">
                <a:latin typeface="Times New Roman"/>
                <a:cs typeface="Times New Roman"/>
              </a:rPr>
              <a:t>you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tried </a:t>
            </a:r>
            <a:r>
              <a:rPr dirty="0" sz="1200" spc="-15">
                <a:latin typeface="Times New Roman"/>
                <a:cs typeface="Times New Roman"/>
              </a:rPr>
              <a:t>every </a:t>
            </a:r>
            <a:r>
              <a:rPr dirty="0" sz="1200" spc="-5">
                <a:latin typeface="Times New Roman"/>
                <a:cs typeface="Times New Roman"/>
              </a:rPr>
              <a:t>trick in </a:t>
            </a:r>
            <a:r>
              <a:rPr dirty="0" sz="1200" spc="-10">
                <a:latin typeface="Times New Roman"/>
                <a:cs typeface="Times New Roman"/>
              </a:rPr>
              <a:t>the book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nothing </a:t>
            </a:r>
            <a:r>
              <a:rPr dirty="0" sz="1200" spc="-5">
                <a:latin typeface="Times New Roman"/>
                <a:cs typeface="Times New Roman"/>
              </a:rPr>
              <a:t>seems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work. Although your algorithm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0">
                <a:latin typeface="Times New Roman"/>
                <a:cs typeface="Times New Roman"/>
              </a:rPr>
              <a:t>solve </a:t>
            </a:r>
            <a:r>
              <a:rPr dirty="0" sz="1200" spc="-5">
                <a:latin typeface="Times New Roman"/>
                <a:cs typeface="Times New Roman"/>
              </a:rPr>
              <a:t>small </a:t>
            </a:r>
            <a:r>
              <a:rPr dirty="0" sz="1200" spc="-10">
                <a:latin typeface="Times New Roman"/>
                <a:cs typeface="Times New Roman"/>
              </a:rPr>
              <a:t>problems </a:t>
            </a:r>
            <a:r>
              <a:rPr dirty="0" sz="1200" spc="-5">
                <a:latin typeface="Times New Roman"/>
                <a:cs typeface="Times New Roman"/>
              </a:rPr>
              <a:t>reasonably </a:t>
            </a:r>
            <a:r>
              <a:rPr dirty="0" sz="1200" spc="-10">
                <a:latin typeface="Times New Roman"/>
                <a:cs typeface="Times New Roman"/>
              </a:rPr>
              <a:t>efficiently </a:t>
            </a:r>
            <a:r>
              <a:rPr dirty="0" sz="1200" spc="-5">
                <a:latin typeface="Times New Roman"/>
                <a:cs typeface="Times New Roman"/>
              </a:rPr>
              <a:t>(e.g., </a:t>
            </a:r>
            <a:r>
              <a:rPr dirty="0" sz="1200" spc="45">
                <a:latin typeface="Lucida Sans Unicode"/>
                <a:cs typeface="Lucida Sans Unicode"/>
              </a:rPr>
              <a:t>n </a:t>
            </a:r>
            <a:r>
              <a:rPr dirty="0" sz="1200" spc="105">
                <a:latin typeface="Segoe UI Symbol"/>
                <a:cs typeface="Segoe UI Symbol"/>
              </a:rPr>
              <a:t>≤ </a:t>
            </a:r>
            <a:r>
              <a:rPr dirty="0" sz="1200" spc="-85">
                <a:latin typeface="Lucida Sans Unicode"/>
                <a:cs typeface="Lucida Sans Unicode"/>
              </a:rPr>
              <a:t>20</a:t>
            </a:r>
            <a:r>
              <a:rPr dirty="0" sz="1200" spc="-85">
                <a:latin typeface="Times New Roman"/>
                <a:cs typeface="Times New Roman"/>
              </a:rPr>
              <a:t>), </a:t>
            </a:r>
            <a:r>
              <a:rPr dirty="0" sz="1200" spc="-10">
                <a:latin typeface="Times New Roman"/>
                <a:cs typeface="Times New Roman"/>
              </a:rPr>
              <a:t>for the </a:t>
            </a:r>
            <a:r>
              <a:rPr dirty="0" sz="1200" spc="-5">
                <a:latin typeface="Times New Roman"/>
                <a:cs typeface="Times New Roman"/>
              </a:rPr>
              <a:t> really </a:t>
            </a:r>
            <a:r>
              <a:rPr dirty="0" sz="1200" spc="-10">
                <a:latin typeface="Times New Roman"/>
                <a:cs typeface="Times New Roman"/>
              </a:rPr>
              <a:t>large problems you want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solve, your algorithm </a:t>
            </a:r>
            <a:r>
              <a:rPr dirty="0" sz="1200" spc="-15">
                <a:latin typeface="Times New Roman"/>
                <a:cs typeface="Times New Roman"/>
              </a:rPr>
              <a:t>never </a:t>
            </a:r>
            <a:r>
              <a:rPr dirty="0" sz="1200" spc="-5">
                <a:latin typeface="Times New Roman"/>
                <a:cs typeface="Times New Roman"/>
              </a:rPr>
              <a:t>terminates. When </a:t>
            </a:r>
            <a:r>
              <a:rPr dirty="0" sz="1200" spc="-1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analyze its </a:t>
            </a:r>
            <a:r>
              <a:rPr dirty="0" sz="1200" spc="-10">
                <a:latin typeface="Times New Roman"/>
                <a:cs typeface="Times New Roman"/>
              </a:rPr>
              <a:t>running </a:t>
            </a:r>
            <a:r>
              <a:rPr dirty="0" sz="1200" spc="-5">
                <a:latin typeface="Times New Roman"/>
                <a:cs typeface="Times New Roman"/>
              </a:rPr>
              <a:t> time,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realize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exponential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 perhaps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baseline="69444" sz="1200" spc="120">
                <a:latin typeface="Cambria"/>
                <a:cs typeface="Cambria"/>
              </a:rPr>
              <a:t>√</a:t>
            </a:r>
            <a:r>
              <a:rPr dirty="0" baseline="31250" sz="1200" spc="120">
                <a:latin typeface="Verdana"/>
                <a:cs typeface="Verdana"/>
              </a:rPr>
              <a:t>n</a:t>
            </a:r>
            <a:r>
              <a:rPr dirty="0" sz="1200" spc="8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2</a:t>
            </a:r>
            <a:r>
              <a:rPr dirty="0" baseline="31250" sz="1200" spc="-30">
                <a:latin typeface="Verdana"/>
                <a:cs typeface="Verdana"/>
              </a:rPr>
              <a:t>n</a:t>
            </a:r>
            <a:r>
              <a:rPr dirty="0" sz="1200" spc="-2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2</a:t>
            </a:r>
            <a:r>
              <a:rPr dirty="0" baseline="31250" sz="1200" spc="-75">
                <a:latin typeface="Verdana"/>
                <a:cs typeface="Verdana"/>
              </a:rPr>
              <a:t>2</a:t>
            </a:r>
            <a:r>
              <a:rPr dirty="0" baseline="64814" sz="900" spc="-75">
                <a:latin typeface="Verdana"/>
                <a:cs typeface="Verdana"/>
              </a:rPr>
              <a:t>n</a:t>
            </a:r>
            <a:r>
              <a:rPr dirty="0" baseline="64814" sz="900" spc="-12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,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n</a:t>
            </a:r>
            <a:r>
              <a:rPr dirty="0" sz="1200" spc="70">
                <a:latin typeface="Garamond"/>
                <a:cs typeface="Garamond"/>
              </a:rPr>
              <a:t>!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worse!.</a:t>
            </a:r>
            <a:endParaRPr sz="1200">
              <a:latin typeface="Times New Roman"/>
              <a:cs typeface="Times New Roman"/>
            </a:endParaRPr>
          </a:p>
          <a:p>
            <a:pPr marL="63500" marR="6223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60’s,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great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success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solutions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combinatorial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problems. </a:t>
            </a:r>
            <a:r>
              <a:rPr dirty="0" sz="1200" spc="-5">
                <a:latin typeface="Times New Roman"/>
                <a:cs typeface="Times New Roman"/>
              </a:rPr>
              <a:t> 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seemed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algorithmic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solutions.</a:t>
            </a:r>
            <a:endParaRPr sz="1200">
              <a:latin typeface="Times New Roman"/>
              <a:cs typeface="Times New Roman"/>
            </a:endParaRPr>
          </a:p>
          <a:p>
            <a:pPr marL="63500" marR="370205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People </a:t>
            </a:r>
            <a:r>
              <a:rPr dirty="0" sz="1200" spc="-10">
                <a:latin typeface="Times New Roman"/>
                <a:cs typeface="Times New Roman"/>
              </a:rPr>
              <a:t>began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wonder</a:t>
            </a:r>
            <a:r>
              <a:rPr dirty="0" sz="1200" spc="-5">
                <a:latin typeface="Times New Roman"/>
                <a:cs typeface="Times New Roman"/>
              </a:rPr>
              <a:t> whether 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 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unknown</a:t>
            </a:r>
            <a:r>
              <a:rPr dirty="0" sz="1200" spc="-5">
                <a:latin typeface="Times New Roman"/>
                <a:cs typeface="Times New Roman"/>
              </a:rPr>
              <a:t> paradigm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lead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a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</a:t>
            </a:r>
            <a:r>
              <a:rPr dirty="0" sz="1200" spc="-10">
                <a:latin typeface="Times New Roman"/>
                <a:cs typeface="Times New Roman"/>
              </a:rPr>
              <a:t>problems.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perhaps 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inherently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no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exist</a:t>
            </a:r>
            <a:r>
              <a:rPr dirty="0" sz="1200" spc="-5">
                <a:latin typeface="Times New Roman"/>
                <a:cs typeface="Times New Roman"/>
              </a:rPr>
              <a:t> that </a:t>
            </a:r>
            <a:r>
              <a:rPr dirty="0" sz="1200" spc="-10">
                <a:latin typeface="Times New Roman"/>
                <a:cs typeface="Times New Roman"/>
              </a:rPr>
              <a:t>run</a:t>
            </a:r>
            <a:r>
              <a:rPr dirty="0" sz="1200" spc="-5">
                <a:latin typeface="Times New Roman"/>
                <a:cs typeface="Times New Roman"/>
              </a:rPr>
              <a:t> under </a:t>
            </a:r>
            <a:r>
              <a:rPr dirty="0" sz="1200" spc="-10">
                <a:latin typeface="Times New Roman"/>
                <a:cs typeface="Times New Roman"/>
              </a:rPr>
              <a:t>exponential</a:t>
            </a:r>
            <a:r>
              <a:rPr dirty="0" sz="1200" spc="-5">
                <a:latin typeface="Times New Roman"/>
                <a:cs typeface="Times New Roman"/>
              </a:rPr>
              <a:t> time.</a:t>
            </a:r>
            <a:endParaRPr sz="1200">
              <a:latin typeface="Times New Roman"/>
              <a:cs typeface="Times New Roman"/>
            </a:endParaRPr>
          </a:p>
          <a:p>
            <a:pPr marL="63500" marR="7874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Near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end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1960’s,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remarkable </a:t>
            </a:r>
            <a:r>
              <a:rPr dirty="0" sz="1200" spc="-10">
                <a:latin typeface="Times New Roman"/>
                <a:cs typeface="Times New Roman"/>
              </a:rPr>
              <a:t>discovery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 spc="-5">
                <a:latin typeface="Times New Roman"/>
                <a:cs typeface="Times New Roman"/>
              </a:rPr>
              <a:t> made.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 spc="-5">
                <a:latin typeface="Times New Roman"/>
                <a:cs typeface="Times New Roman"/>
              </a:rPr>
              <a:t> of these hard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interrelated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sense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them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 </a:t>
            </a:r>
            <a:r>
              <a:rPr dirty="0" sz="1200" spc="-10">
                <a:latin typeface="Times New Roman"/>
                <a:cs typeface="Times New Roman"/>
              </a:rPr>
              <a:t>solve </a:t>
            </a:r>
            <a:r>
              <a:rPr dirty="0" sz="1200" spc="-5">
                <a:latin typeface="Times New Roman"/>
                <a:cs typeface="Times New Roman"/>
              </a:rPr>
              <a:t> all of them in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discovery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rise to the </a:t>
            </a:r>
            <a:r>
              <a:rPr dirty="0" sz="1200" spc="-10">
                <a:latin typeface="Times New Roman"/>
                <a:cs typeface="Times New Roman"/>
              </a:rPr>
              <a:t>notion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NP-completeness.</a:t>
            </a:r>
            <a:endParaRPr sz="1200">
              <a:latin typeface="Times New Roman"/>
              <a:cs typeface="Times New Roman"/>
            </a:endParaRPr>
          </a:p>
          <a:p>
            <a:pPr marL="63500" marR="271145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This area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radical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departure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been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emphasis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change.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goal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longer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can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presenting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Instead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trying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 spc="-5">
                <a:latin typeface="Times New Roman"/>
                <a:cs typeface="Times New Roman"/>
              </a:rPr>
              <a:t> that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cannot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solved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efficiently.</a:t>
            </a:r>
            <a:endParaRPr sz="1200">
              <a:latin typeface="Times New Roman"/>
              <a:cs typeface="Times New Roman"/>
            </a:endParaRPr>
          </a:p>
          <a:p>
            <a:pPr algn="just" marL="63500" marR="55880">
              <a:lnSpc>
                <a:spcPct val="100000"/>
              </a:lnSpc>
              <a:spcBef>
                <a:spcPts val="530"/>
              </a:spcBef>
            </a:pPr>
            <a:r>
              <a:rPr dirty="0" sz="1200" spc="-10">
                <a:latin typeface="Times New Roman"/>
                <a:cs typeface="Times New Roman"/>
              </a:rPr>
              <a:t>Up until </a:t>
            </a:r>
            <a:r>
              <a:rPr dirty="0" sz="1200" spc="-15">
                <a:latin typeface="Times New Roman"/>
                <a:cs typeface="Times New Roman"/>
              </a:rPr>
              <a:t>now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 spc="-10">
                <a:latin typeface="Times New Roman"/>
                <a:cs typeface="Times New Roman"/>
              </a:rPr>
              <a:t>algorithms we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seen had </a:t>
            </a:r>
            <a:r>
              <a:rPr dirty="0" sz="1200" spc="-10">
                <a:latin typeface="Times New Roman"/>
                <a:cs typeface="Times New Roman"/>
              </a:rPr>
              <a:t>the property </a:t>
            </a:r>
            <a:r>
              <a:rPr dirty="0" sz="1200" spc="-5">
                <a:latin typeface="Times New Roman"/>
                <a:cs typeface="Times New Roman"/>
              </a:rPr>
              <a:t>that their </a:t>
            </a:r>
            <a:r>
              <a:rPr dirty="0" sz="1200" spc="-10">
                <a:latin typeface="Times New Roman"/>
                <a:cs typeface="Times New Roman"/>
              </a:rPr>
              <a:t>worst-case running time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bounded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above </a:t>
            </a:r>
            <a:r>
              <a:rPr dirty="0" sz="1200" spc="-5">
                <a:latin typeface="Times New Roman"/>
                <a:cs typeface="Times New Roman"/>
              </a:rPr>
              <a:t>by some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polynomial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polynomial time algorithm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any algorithm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runs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70">
                <a:latin typeface="Lucida Sans Unicode"/>
                <a:cs typeface="Lucida Sans Unicode"/>
              </a:rPr>
              <a:t>O</a:t>
            </a:r>
            <a:r>
              <a:rPr dirty="0" sz="1200" spc="70">
                <a:latin typeface="Garamond"/>
                <a:cs typeface="Garamond"/>
              </a:rPr>
              <a:t>(</a:t>
            </a:r>
            <a:r>
              <a:rPr dirty="0" sz="1200" spc="70">
                <a:latin typeface="Lucida Sans Unicode"/>
                <a:cs typeface="Lucida Sans Unicode"/>
              </a:rPr>
              <a:t>n</a:t>
            </a:r>
            <a:r>
              <a:rPr dirty="0" baseline="31250" sz="1200" spc="104">
                <a:latin typeface="Verdana"/>
                <a:cs typeface="Verdana"/>
              </a:rPr>
              <a:t>k</a:t>
            </a:r>
            <a:r>
              <a:rPr dirty="0" sz="1200" spc="7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time.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solvable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it.</a:t>
            </a:r>
            <a:endParaRPr sz="1200">
              <a:latin typeface="Times New Roman"/>
              <a:cs typeface="Times New Roman"/>
            </a:endParaRPr>
          </a:p>
          <a:p>
            <a:pPr algn="just" marL="63500" marR="55880">
              <a:lnSpc>
                <a:spcPct val="100000"/>
              </a:lnSpc>
              <a:spcBef>
                <a:spcPts val="525"/>
              </a:spcBef>
            </a:pPr>
            <a:r>
              <a:rPr dirty="0" sz="1200" spc="-10">
                <a:latin typeface="Times New Roman"/>
                <a:cs typeface="Times New Roman"/>
              </a:rPr>
              <a:t>Some functions </a:t>
            </a:r>
            <a:r>
              <a:rPr dirty="0" sz="1200" spc="-5">
                <a:latin typeface="Times New Roman"/>
                <a:cs typeface="Times New Roman"/>
              </a:rPr>
              <a:t>that do </a:t>
            </a:r>
            <a:r>
              <a:rPr dirty="0" sz="1200" spc="-10">
                <a:latin typeface="Times New Roman"/>
                <a:cs typeface="Times New Roman"/>
              </a:rPr>
              <a:t>not look like polynomials </a:t>
            </a:r>
            <a:r>
              <a:rPr dirty="0" sz="1200" spc="-5">
                <a:latin typeface="Times New Roman"/>
                <a:cs typeface="Times New Roman"/>
              </a:rPr>
              <a:t>(such as </a:t>
            </a:r>
            <a:r>
              <a:rPr dirty="0" sz="1200" spc="60">
                <a:latin typeface="Lucida Sans Unicode"/>
                <a:cs typeface="Lucida Sans Unicode"/>
              </a:rPr>
              <a:t>O</a:t>
            </a:r>
            <a:r>
              <a:rPr dirty="0" sz="1200" spc="60">
                <a:latin typeface="Garamond"/>
                <a:cs typeface="Garamond"/>
              </a:rPr>
              <a:t>(</a:t>
            </a:r>
            <a:r>
              <a:rPr dirty="0" sz="1200" spc="60">
                <a:latin typeface="Lucida Sans Unicode"/>
                <a:cs typeface="Lucida Sans Unicode"/>
              </a:rPr>
              <a:t>n </a:t>
            </a:r>
            <a:r>
              <a:rPr dirty="0" sz="1200" spc="-10">
                <a:latin typeface="Times New Roman"/>
                <a:cs typeface="Times New Roman"/>
              </a:rPr>
              <a:t>log 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sz="1200" spc="8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bounded </a:t>
            </a:r>
            <a:r>
              <a:rPr dirty="0" sz="1200" spc="-15">
                <a:latin typeface="Times New Roman"/>
                <a:cs typeface="Times New Roman"/>
              </a:rPr>
              <a:t>above </a:t>
            </a:r>
            <a:r>
              <a:rPr dirty="0" sz="1200" spc="-5">
                <a:latin typeface="Times New Roman"/>
                <a:cs typeface="Times New Roman"/>
              </a:rPr>
              <a:t>by </a:t>
            </a:r>
            <a:r>
              <a:rPr dirty="0" sz="1200" spc="-10">
                <a:latin typeface="Times New Roman"/>
                <a:cs typeface="Times New Roman"/>
              </a:rPr>
              <a:t>polynomials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O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n</a:t>
            </a:r>
            <a:r>
              <a:rPr dirty="0" baseline="31250" sz="1200" spc="52">
                <a:latin typeface="Verdana"/>
                <a:cs typeface="Verdana"/>
              </a:rPr>
              <a:t>2</a:t>
            </a:r>
            <a:r>
              <a:rPr dirty="0" sz="1200" spc="35">
                <a:latin typeface="Garamond"/>
                <a:cs typeface="Garamond"/>
              </a:rPr>
              <a:t>)</a:t>
            </a:r>
            <a:r>
              <a:rPr dirty="0" sz="1200" spc="35">
                <a:latin typeface="Times New Roman"/>
                <a:cs typeface="Times New Roman"/>
              </a:rPr>
              <a:t>).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169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4400" y="5334952"/>
            <a:ext cx="2308225" cy="195580"/>
          </a:xfrm>
          <a:custGeom>
            <a:avLst/>
            <a:gdLst/>
            <a:ahLst/>
            <a:cxnLst/>
            <a:rect l="l" t="t" r="r" b="b"/>
            <a:pathLst>
              <a:path w="2308225" h="195579">
                <a:moveTo>
                  <a:pt x="2307615" y="0"/>
                </a:moveTo>
                <a:lnTo>
                  <a:pt x="0" y="0"/>
                </a:lnTo>
                <a:lnTo>
                  <a:pt x="0" y="195237"/>
                </a:lnTo>
                <a:lnTo>
                  <a:pt x="2307615" y="195237"/>
                </a:lnTo>
                <a:lnTo>
                  <a:pt x="2307615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914400" y="2620670"/>
            <a:ext cx="5039995" cy="137795"/>
          </a:xfrm>
          <a:custGeom>
            <a:avLst/>
            <a:gdLst/>
            <a:ahLst/>
            <a:cxnLst/>
            <a:rect l="l" t="t" r="r" b="b"/>
            <a:pathLst>
              <a:path w="5039995" h="137794">
                <a:moveTo>
                  <a:pt x="5039499" y="0"/>
                </a:moveTo>
                <a:lnTo>
                  <a:pt x="0" y="0"/>
                </a:lnTo>
                <a:lnTo>
                  <a:pt x="0" y="137718"/>
                </a:lnTo>
                <a:lnTo>
                  <a:pt x="5039499" y="137718"/>
                </a:lnTo>
                <a:lnTo>
                  <a:pt x="5039499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825499" y="520987"/>
            <a:ext cx="6566534" cy="26155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110"/>
              </a:spcBef>
              <a:tabLst>
                <a:tab pos="3938904" algn="l"/>
              </a:tabLst>
            </a:pPr>
            <a:r>
              <a:rPr dirty="0" sz="1200" spc="-10">
                <a:latin typeface="Times New Roman"/>
                <a:cs typeface="Times New Roman"/>
              </a:rPr>
              <a:t>170	</a:t>
            </a: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9.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COMPLEXITY</a:t>
            </a:r>
            <a:r>
              <a:rPr dirty="0" sz="1200" spc="-20">
                <a:latin typeface="Times New Roman"/>
                <a:cs typeface="Times New Roman"/>
              </a:rPr>
              <a:t> THEORY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takes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size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n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integer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O</a:t>
            </a:r>
            <a:r>
              <a:rPr dirty="0" sz="1200" spc="70">
                <a:latin typeface="Garamond"/>
                <a:cs typeface="Garamond"/>
              </a:rPr>
              <a:t>(</a:t>
            </a:r>
            <a:r>
              <a:rPr dirty="0" sz="1200" spc="70">
                <a:latin typeface="Lucida Sans Unicode"/>
                <a:cs typeface="Lucida Sans Unicode"/>
              </a:rPr>
              <a:t>n</a:t>
            </a:r>
            <a:r>
              <a:rPr dirty="0" baseline="31250" sz="1200" spc="104">
                <a:latin typeface="Verdana"/>
                <a:cs typeface="Verdana"/>
              </a:rPr>
              <a:t>k</a:t>
            </a:r>
            <a:r>
              <a:rPr dirty="0" sz="1200" spc="7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marL="88900" marR="18542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polynomial time algorithm?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No, </a:t>
            </a:r>
            <a:r>
              <a:rPr dirty="0" sz="1200" spc="-5">
                <a:latin typeface="Times New Roman"/>
                <a:cs typeface="Times New Roman"/>
              </a:rPr>
              <a:t>because </a:t>
            </a:r>
            <a:r>
              <a:rPr dirty="0" sz="1200" spc="-40">
                <a:latin typeface="Lucida Sans Unicode"/>
                <a:cs typeface="Lucida Sans Unicode"/>
              </a:rPr>
              <a:t>k </a:t>
            </a:r>
            <a:r>
              <a:rPr dirty="0" sz="1200" spc="-5">
                <a:latin typeface="Times New Roman"/>
                <a:cs typeface="Times New Roman"/>
              </a:rPr>
              <a:t>is an </a:t>
            </a:r>
            <a:r>
              <a:rPr dirty="0" sz="1200" spc="-10">
                <a:latin typeface="Times New Roman"/>
                <a:cs typeface="Times New Roman"/>
              </a:rPr>
              <a:t>input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the problem </a:t>
            </a:r>
            <a:r>
              <a:rPr dirty="0" sz="1200" spc="-5">
                <a:latin typeface="Times New Roman"/>
                <a:cs typeface="Times New Roman"/>
              </a:rPr>
              <a:t>so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user is </a:t>
            </a:r>
            <a:r>
              <a:rPr dirty="0" sz="1200" spc="-10">
                <a:latin typeface="Times New Roman"/>
                <a:cs typeface="Times New Roman"/>
              </a:rPr>
              <a:t>allowed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choose </a:t>
            </a:r>
            <a:r>
              <a:rPr dirty="0" sz="1200" spc="-40">
                <a:latin typeface="Lucida Sans Unicode"/>
                <a:cs typeface="Lucida Sans Unicode"/>
              </a:rPr>
              <a:t>k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implying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 running time would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65">
                <a:latin typeface="Lucida Sans Unicode"/>
                <a:cs typeface="Lucida Sans Unicode"/>
              </a:rPr>
              <a:t>O</a:t>
            </a:r>
            <a:r>
              <a:rPr dirty="0" sz="1200" spc="65">
                <a:latin typeface="Garamond"/>
                <a:cs typeface="Garamond"/>
              </a:rPr>
              <a:t>(</a:t>
            </a:r>
            <a:r>
              <a:rPr dirty="0" sz="1200" spc="65">
                <a:latin typeface="Lucida Sans Unicode"/>
                <a:cs typeface="Lucida Sans Unicode"/>
              </a:rPr>
              <a:t>n</a:t>
            </a:r>
            <a:r>
              <a:rPr dirty="0" baseline="31250" sz="1200" spc="97">
                <a:latin typeface="Verdana"/>
                <a:cs typeface="Verdana"/>
              </a:rPr>
              <a:t>n</a:t>
            </a:r>
            <a:r>
              <a:rPr dirty="0" sz="1200" spc="65">
                <a:latin typeface="Garamond"/>
                <a:cs typeface="Garamond"/>
              </a:rPr>
              <a:t>)</a:t>
            </a:r>
            <a:r>
              <a:rPr dirty="0" sz="1200" spc="65">
                <a:latin typeface="Times New Roman"/>
                <a:cs typeface="Times New Roman"/>
              </a:rPr>
              <a:t>. </a:t>
            </a:r>
            <a:r>
              <a:rPr dirty="0" sz="1200" spc="80">
                <a:latin typeface="Lucida Sans Unicode"/>
                <a:cs typeface="Lucida Sans Unicode"/>
              </a:rPr>
              <a:t>O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n</a:t>
            </a:r>
            <a:r>
              <a:rPr dirty="0" baseline="31250" sz="1200" spc="120">
                <a:latin typeface="Verdana"/>
                <a:cs typeface="Verdana"/>
              </a:rPr>
              <a:t>n</a:t>
            </a:r>
            <a:r>
              <a:rPr dirty="0" sz="1200" spc="8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is surely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polynomial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aspect is 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exponent</a:t>
            </a:r>
            <a:r>
              <a:rPr dirty="0" sz="1200" spc="-5">
                <a:latin typeface="Times New Roman"/>
                <a:cs typeface="Times New Roman"/>
              </a:rPr>
              <a:t> must be a constant independent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50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  <a:spcBef>
                <a:spcPts val="5"/>
              </a:spcBef>
              <a:tabLst>
                <a:tab pos="5803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9.1	Decision</a:t>
            </a:r>
            <a:r>
              <a:rPr dirty="0" sz="1700" spc="-20" b="1">
                <a:latin typeface="Times New Roman"/>
                <a:cs typeface="Times New Roman"/>
              </a:rPr>
              <a:t> </a:t>
            </a:r>
            <a:r>
              <a:rPr dirty="0" sz="1700" b="1">
                <a:latin typeface="Times New Roman"/>
                <a:cs typeface="Times New Roman"/>
              </a:rPr>
              <a:t>Problems</a:t>
            </a:r>
            <a:endParaRPr sz="1700">
              <a:latin typeface="Times New Roman"/>
              <a:cs typeface="Times New Roman"/>
            </a:endParaRPr>
          </a:p>
          <a:p>
            <a:pPr algn="just" marL="88900" marR="222885">
              <a:lnSpc>
                <a:spcPct val="100000"/>
              </a:lnSpc>
              <a:spcBef>
                <a:spcPts val="1695"/>
              </a:spcBef>
            </a:pPr>
            <a:r>
              <a:rPr dirty="0" sz="1200" spc="-5">
                <a:latin typeface="Times New Roman"/>
                <a:cs typeface="Times New Roman"/>
              </a:rPr>
              <a:t>Most of </a:t>
            </a:r>
            <a:r>
              <a:rPr dirty="0" sz="1200" spc="-10">
                <a:latin typeface="Times New Roman"/>
                <a:cs typeface="Times New Roman"/>
              </a:rPr>
              <a:t>the problems we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discussed </a:t>
            </a:r>
            <a:r>
              <a:rPr dirty="0" sz="1200" spc="-20">
                <a:latin typeface="Times New Roman"/>
                <a:cs typeface="Times New Roman"/>
              </a:rPr>
              <a:t>involve </a:t>
            </a:r>
            <a:r>
              <a:rPr dirty="0" sz="1200" spc="-10">
                <a:latin typeface="Times New Roman"/>
                <a:cs typeface="Times New Roman"/>
              </a:rPr>
              <a:t>optimization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one form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5">
                <a:latin typeface="Times New Roman"/>
                <a:cs typeface="Times New Roman"/>
              </a:rPr>
              <a:t>another. </a:t>
            </a:r>
            <a:r>
              <a:rPr dirty="0" sz="1200" spc="-5">
                <a:latin typeface="Times New Roman"/>
                <a:cs typeface="Times New Roman"/>
              </a:rPr>
              <a:t>Find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shortest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path, find </a:t>
            </a:r>
            <a:r>
              <a:rPr dirty="0" sz="1200" spc="-10">
                <a:latin typeface="Times New Roman"/>
                <a:cs typeface="Times New Roman"/>
              </a:rPr>
              <a:t>the minimum </a:t>
            </a:r>
            <a:r>
              <a:rPr dirty="0" sz="1200" spc="-5">
                <a:latin typeface="Times New Roman"/>
                <a:cs typeface="Times New Roman"/>
              </a:rPr>
              <a:t>cost </a:t>
            </a:r>
            <a:r>
              <a:rPr dirty="0" sz="1200" spc="-10">
                <a:latin typeface="Times New Roman"/>
                <a:cs typeface="Times New Roman"/>
              </a:rPr>
              <a:t>spanning </a:t>
            </a:r>
            <a:r>
              <a:rPr dirty="0" sz="1200" spc="-5">
                <a:latin typeface="Times New Roman"/>
                <a:cs typeface="Times New Roman"/>
              </a:rPr>
              <a:t>tree, </a:t>
            </a:r>
            <a:r>
              <a:rPr dirty="0" sz="1200" spc="-10">
                <a:latin typeface="Times New Roman"/>
                <a:cs typeface="Times New Roman"/>
              </a:rPr>
              <a:t>maximize the </a:t>
            </a:r>
            <a:r>
              <a:rPr dirty="0" sz="1200" spc="-15">
                <a:latin typeface="Times New Roman"/>
                <a:cs typeface="Times New Roman"/>
              </a:rPr>
              <a:t>knapsack </a:t>
            </a:r>
            <a:r>
              <a:rPr dirty="0" sz="1200" spc="-10">
                <a:latin typeface="Times New Roman"/>
                <a:cs typeface="Times New Roman"/>
              </a:rPr>
              <a:t>value.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5">
                <a:latin typeface="Times New Roman"/>
                <a:cs typeface="Times New Roman"/>
              </a:rPr>
              <a:t>rather technical reasons,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NP-complete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discuss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phrased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decision </a:t>
            </a:r>
            <a:r>
              <a:rPr dirty="0" sz="1200" spc="-15" i="1">
                <a:latin typeface="Times New Roman"/>
                <a:cs typeface="Times New Roman"/>
              </a:rPr>
              <a:t>problems</a:t>
            </a:r>
            <a:r>
              <a:rPr dirty="0" sz="1200" spc="-1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4400" y="3236404"/>
            <a:ext cx="470789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 a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decision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5" i="1">
                <a:latin typeface="Times New Roman"/>
                <a:cs typeface="Times New Roman"/>
              </a:rPr>
              <a:t>problem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 spc="-10">
                <a:latin typeface="Times New Roman"/>
                <a:cs typeface="Times New Roman"/>
              </a:rPr>
              <a:t>output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 spc="-5">
                <a:latin typeface="Times New Roman"/>
                <a:cs typeface="Times New Roman"/>
              </a:rPr>
              <a:t> “yes”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“no”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647127" y="3177249"/>
            <a:ext cx="16116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(or you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 spc="-10">
                <a:latin typeface="Times New Roman"/>
                <a:cs typeface="Times New Roman"/>
              </a:rPr>
              <a:t> this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1699" y="3360700"/>
            <a:ext cx="6372225" cy="27603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true/false,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0/1,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accept/reject.)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phrase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optimization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decision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 example, the </a:t>
            </a:r>
            <a:r>
              <a:rPr dirty="0" sz="1200" spc="-5">
                <a:latin typeface="Times New Roman"/>
                <a:cs typeface="Times New Roman"/>
              </a:rPr>
              <a:t>MST decision </a:t>
            </a:r>
            <a:r>
              <a:rPr dirty="0" sz="1200" spc="-10">
                <a:latin typeface="Times New Roman"/>
                <a:cs typeface="Times New Roman"/>
              </a:rPr>
              <a:t>problem would </a:t>
            </a:r>
            <a:r>
              <a:rPr dirty="0" sz="1200" spc="-5">
                <a:latin typeface="Times New Roman"/>
                <a:cs typeface="Times New Roman"/>
              </a:rPr>
              <a:t>be: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weighted </a:t>
            </a:r>
            <a:r>
              <a:rPr dirty="0" sz="1200" spc="-5">
                <a:latin typeface="Times New Roman"/>
                <a:cs typeface="Times New Roman"/>
              </a:rPr>
              <a:t>graph </a:t>
            </a:r>
            <a:r>
              <a:rPr dirty="0" sz="1200" spc="45">
                <a:latin typeface="Lucida Sans Unicode"/>
                <a:cs typeface="Lucida Sans Unicode"/>
              </a:rPr>
              <a:t>G </a:t>
            </a:r>
            <a:r>
              <a:rPr dirty="0" sz="1200" spc="-5">
                <a:latin typeface="Times New Roman"/>
                <a:cs typeface="Times New Roman"/>
              </a:rPr>
              <a:t>and an </a:t>
            </a:r>
            <a:r>
              <a:rPr dirty="0" sz="1200" spc="-10">
                <a:latin typeface="Times New Roman"/>
                <a:cs typeface="Times New Roman"/>
              </a:rPr>
              <a:t>integer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does </a:t>
            </a:r>
            <a:r>
              <a:rPr dirty="0" sz="1200" spc="45">
                <a:latin typeface="Lucida Sans Unicode"/>
                <a:cs typeface="Lucida Sans Unicode"/>
              </a:rPr>
              <a:t>G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spanning</a:t>
            </a:r>
            <a:r>
              <a:rPr dirty="0" sz="1200" spc="-5">
                <a:latin typeface="Times New Roman"/>
                <a:cs typeface="Times New Roman"/>
              </a:rPr>
              <a:t> tree </a:t>
            </a:r>
            <a:r>
              <a:rPr dirty="0" sz="1200" spc="-10">
                <a:latin typeface="Times New Roman"/>
                <a:cs typeface="Times New Roman"/>
              </a:rPr>
              <a:t>whose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 spc="-5">
                <a:latin typeface="Times New Roman"/>
                <a:cs typeface="Times New Roman"/>
              </a:rPr>
              <a:t> is at 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?</a:t>
            </a:r>
            <a:endParaRPr sz="1200">
              <a:latin typeface="Times New Roman"/>
              <a:cs typeface="Times New Roman"/>
            </a:endParaRPr>
          </a:p>
          <a:p>
            <a:pPr marL="12700" marR="9525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interesting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minimum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spanning</a:t>
            </a:r>
            <a:r>
              <a:rPr dirty="0" sz="1200" spc="-5">
                <a:latin typeface="Times New Roman"/>
                <a:cs typeface="Times New Roman"/>
              </a:rPr>
              <a:t> tree,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spanning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achieves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weight.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However, </a:t>
            </a:r>
            <a:r>
              <a:rPr dirty="0" sz="1200" spc="-10">
                <a:latin typeface="Times New Roman"/>
                <a:cs typeface="Times New Roman"/>
              </a:rPr>
              <a:t>our job will </a:t>
            </a:r>
            <a:r>
              <a:rPr dirty="0" sz="1200" spc="-5">
                <a:latin typeface="Times New Roman"/>
                <a:cs typeface="Times New Roman"/>
              </a:rPr>
              <a:t>be to </a:t>
            </a:r>
            <a:r>
              <a:rPr dirty="0" sz="1200" spc="-15">
                <a:latin typeface="Times New Roman"/>
                <a:cs typeface="Times New Roman"/>
              </a:rPr>
              <a:t>show </a:t>
            </a:r>
            <a:r>
              <a:rPr dirty="0" sz="1200" spc="-5">
                <a:latin typeface="Times New Roman"/>
                <a:cs typeface="Times New Roman"/>
              </a:rPr>
              <a:t>that certain </a:t>
            </a:r>
            <a:r>
              <a:rPr dirty="0" sz="1200" spc="-10">
                <a:latin typeface="Times New Roman"/>
                <a:cs typeface="Times New Roman"/>
              </a:rPr>
              <a:t>problems </a:t>
            </a:r>
            <a:r>
              <a:rPr dirty="0" sz="1200" spc="-5">
                <a:latin typeface="Times New Roman"/>
                <a:cs typeface="Times New Roman"/>
              </a:rPr>
              <a:t>cannot be </a:t>
            </a:r>
            <a:r>
              <a:rPr dirty="0" sz="1200" spc="-10">
                <a:latin typeface="Times New Roman"/>
                <a:cs typeface="Times New Roman"/>
              </a:rPr>
              <a:t>solved </a:t>
            </a:r>
            <a:r>
              <a:rPr dirty="0" sz="1200" spc="-15">
                <a:latin typeface="Times New Roman"/>
                <a:cs typeface="Times New Roman"/>
              </a:rPr>
              <a:t>efficiently.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15">
                <a:latin typeface="Times New Roman"/>
                <a:cs typeface="Times New Roman"/>
              </a:rPr>
              <a:t>show 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decision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e¡ciently,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optimization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 </a:t>
            </a:r>
            <a:r>
              <a:rPr dirty="0" sz="1200" spc="-5">
                <a:latin typeface="Times New Roman"/>
                <a:cs typeface="Times New Roman"/>
              </a:rPr>
              <a:t> certainly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cannot be </a:t>
            </a:r>
            <a:r>
              <a:rPr dirty="0" sz="1200" spc="-10">
                <a:latin typeface="Times New Roman"/>
                <a:cs typeface="Times New Roman"/>
              </a:rPr>
              <a:t>solved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either.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9.2	Complexity</a:t>
            </a:r>
            <a:r>
              <a:rPr dirty="0" sz="1700" spc="-2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Classes</a:t>
            </a:r>
            <a:endParaRPr sz="1700">
              <a:latin typeface="Times New Roman"/>
              <a:cs typeface="Times New Roman"/>
            </a:endParaRPr>
          </a:p>
          <a:p>
            <a:pPr marL="12700" marR="116205">
              <a:lnSpc>
                <a:spcPct val="100000"/>
              </a:lnSpc>
              <a:spcBef>
                <a:spcPts val="1695"/>
              </a:spcBef>
            </a:pPr>
            <a:r>
              <a:rPr dirty="0" sz="1200" spc="-5">
                <a:latin typeface="Times New Roman"/>
                <a:cs typeface="Times New Roman"/>
              </a:rPr>
              <a:t>Before </a:t>
            </a:r>
            <a:r>
              <a:rPr dirty="0" sz="1200" spc="-15">
                <a:latin typeface="Times New Roman"/>
                <a:cs typeface="Times New Roman"/>
              </a:rPr>
              <a:t>giving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technical definitions,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</a:t>
            </a:r>
            <a:r>
              <a:rPr dirty="0" sz="1200" spc="-5">
                <a:latin typeface="Times New Roman"/>
                <a:cs typeface="Times New Roman"/>
              </a:rPr>
              <a:t> 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intuitive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level.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14400" y="6366509"/>
            <a:ext cx="54038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 b="1">
                <a:latin typeface="Times New Roman"/>
                <a:cs typeface="Times New Roman"/>
              </a:rPr>
              <a:t>Cla</a:t>
            </a:r>
            <a:r>
              <a:rPr dirty="0" sz="1200" spc="-5" b="1">
                <a:latin typeface="Times New Roman"/>
                <a:cs typeface="Times New Roman"/>
              </a:rPr>
              <a:t>ss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03144" y="6307353"/>
            <a:ext cx="52812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This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 decision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solved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273401" y="6490804"/>
            <a:ext cx="45339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generally refer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“easy”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“efficiently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solvable”.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14400" y="6883489"/>
            <a:ext cx="64960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 b="1">
                <a:latin typeface="Times New Roman"/>
                <a:cs typeface="Times New Roman"/>
              </a:rPr>
              <a:t>Cla</a:t>
            </a:r>
            <a:r>
              <a:rPr dirty="0" sz="1200" spc="-5" b="1">
                <a:latin typeface="Times New Roman"/>
                <a:cs typeface="Times New Roman"/>
              </a:rPr>
              <a:t>ss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N</a:t>
            </a:r>
            <a:r>
              <a:rPr dirty="0" sz="1200" spc="-5" b="1">
                <a:latin typeface="Times New Roman"/>
                <a:cs typeface="Times New Roman"/>
              </a:rPr>
              <a:t>P: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12757" y="6824332"/>
            <a:ext cx="54787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This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 decision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verified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class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273400" y="7007783"/>
            <a:ext cx="603504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contains P as a subset.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 contains a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-5">
                <a:latin typeface="Times New Roman"/>
                <a:cs typeface="Times New Roman"/>
              </a:rPr>
              <a:t> that are </a:t>
            </a:r>
            <a:r>
              <a:rPr dirty="0" sz="1200" spc="-10">
                <a:latin typeface="Times New Roman"/>
                <a:cs typeface="Times New Roman"/>
              </a:rPr>
              <a:t>believed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very</a:t>
            </a:r>
            <a:r>
              <a:rPr dirty="0" sz="1200" spc="-5">
                <a:latin typeface="Times New Roman"/>
                <a:cs typeface="Times New Roman"/>
              </a:rPr>
              <a:t> “ hard” to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14400" y="7583919"/>
            <a:ext cx="64960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 b="1">
                <a:latin typeface="Times New Roman"/>
                <a:cs typeface="Times New Roman"/>
              </a:rPr>
              <a:t>Cla</a:t>
            </a:r>
            <a:r>
              <a:rPr dirty="0" sz="1200" spc="-5" b="1">
                <a:latin typeface="Times New Roman"/>
                <a:cs typeface="Times New Roman"/>
              </a:rPr>
              <a:t>ss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N</a:t>
            </a:r>
            <a:r>
              <a:rPr dirty="0" sz="1200" spc="-5" b="1">
                <a:latin typeface="Times New Roman"/>
                <a:cs typeface="Times New Roman"/>
              </a:rPr>
              <a:t>P: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12755" y="7524762"/>
            <a:ext cx="47478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term “NP”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mean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“not </a:t>
            </a:r>
            <a:r>
              <a:rPr dirty="0" sz="1200" spc="-10">
                <a:latin typeface="Times New Roman"/>
                <a:cs typeface="Times New Roman"/>
              </a:rPr>
              <a:t>polynomial”.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Originally,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term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meant “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273399" y="7708213"/>
            <a:ext cx="550481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non-deterministic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polynomial”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intuitive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explain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concept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perspective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verification.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14400" y="8284349"/>
            <a:ext cx="101282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 b="1">
                <a:latin typeface="Times New Roman"/>
                <a:cs typeface="Times New Roman"/>
              </a:rPr>
              <a:t>Cla</a:t>
            </a:r>
            <a:r>
              <a:rPr dirty="0" sz="1200" spc="-5" b="1">
                <a:latin typeface="Times New Roman"/>
                <a:cs typeface="Times New Roman"/>
              </a:rPr>
              <a:t>ss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N</a:t>
            </a:r>
            <a:r>
              <a:rPr dirty="0" sz="1200" spc="-5" b="1">
                <a:latin typeface="Times New Roman"/>
                <a:cs typeface="Times New Roman"/>
              </a:rPr>
              <a:t>P</a:t>
            </a:r>
            <a:r>
              <a:rPr dirty="0" sz="1200" spc="-10" b="1">
                <a:latin typeface="Times New Roman"/>
                <a:cs typeface="Times New Roman"/>
              </a:rPr>
              <a:t>-</a:t>
            </a:r>
            <a:r>
              <a:rPr dirty="0" sz="1200" spc="-5" b="1">
                <a:latin typeface="Times New Roman"/>
                <a:cs typeface="Times New Roman"/>
              </a:rPr>
              <a:t>h</a:t>
            </a:r>
            <a:r>
              <a:rPr dirty="0" sz="1200" spc="-10" b="1">
                <a:latin typeface="Times New Roman"/>
                <a:cs typeface="Times New Roman"/>
              </a:rPr>
              <a:t>a</a:t>
            </a:r>
            <a:r>
              <a:rPr dirty="0" sz="1200" spc="-5" b="1">
                <a:latin typeface="Times New Roman"/>
                <a:cs typeface="Times New Roman"/>
              </a:rPr>
              <a:t>rd: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988248" y="8284349"/>
            <a:ext cx="5125085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spite of its name, to say that a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-5">
                <a:latin typeface="Times New Roman"/>
                <a:cs typeface="Times New Roman"/>
              </a:rPr>
              <a:t> is NP-hard does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mean that it is hard to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86103" y="8467800"/>
            <a:ext cx="5826760" cy="13843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10">
                <a:latin typeface="Times New Roman"/>
                <a:cs typeface="Times New Roman"/>
              </a:rPr>
              <a:t>solve.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Rather,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099761" y="8408644"/>
            <a:ext cx="2089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273398" y="8592095"/>
            <a:ext cx="595439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 i="1">
                <a:latin typeface="Times New Roman"/>
                <a:cs typeface="Times New Roman"/>
              </a:rPr>
              <a:t>all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Note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NP-hard,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class </a:t>
            </a:r>
            <a:r>
              <a:rPr dirty="0" sz="1200" spc="-50">
                <a:latin typeface="Times New Roman"/>
                <a:cs typeface="Times New Roman"/>
              </a:rPr>
              <a:t>NP.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282003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9.3.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POLYNOMIAL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 </a:t>
            </a:r>
            <a:r>
              <a:rPr dirty="0" sz="1200" spc="-20">
                <a:latin typeface="Times New Roman"/>
                <a:cs typeface="Times New Roman"/>
              </a:rPr>
              <a:t>VERIFICATION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17</a:t>
            </a:r>
            <a:r>
              <a:rPr dirty="0" sz="1200" spc="-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4400" y="985608"/>
            <a:ext cx="1466215" cy="13779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70"/>
              </a:lnSpc>
            </a:pPr>
            <a:r>
              <a:rPr dirty="0" sz="1200" spc="-5" b="1">
                <a:latin typeface="Times New Roman"/>
                <a:cs typeface="Times New Roman"/>
              </a:rPr>
              <a:t>Class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NP-complete:</a:t>
            </a:r>
            <a:r>
              <a:rPr dirty="0" sz="1200" spc="229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92766" y="926454"/>
            <a:ext cx="38296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NP-complete</a:t>
            </a:r>
            <a:r>
              <a:rPr dirty="0" sz="1200" spc="-5">
                <a:latin typeface="Times New Roman"/>
                <a:cs typeface="Times New Roman"/>
              </a:rPr>
              <a:t> 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(1)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NP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(2)</a:t>
            </a:r>
            <a:r>
              <a:rPr dirty="0" sz="1200" spc="-5">
                <a:latin typeface="Times New Roman"/>
                <a:cs typeface="Times New Roman"/>
              </a:rPr>
              <a:t>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NP-hard.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01699" y="1769302"/>
            <a:ext cx="6426200" cy="1125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9.1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illustrates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70">
                <a:latin typeface="Times New Roman"/>
                <a:cs typeface="Times New Roman"/>
              </a:rPr>
              <a:t>P,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NP,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NP-hard,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NP-complete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(NPC)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might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look.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might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whether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complexity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distinct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whether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 are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solvable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Isomorphism,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asks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whether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identical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up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renaming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their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vertices.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NP,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70">
                <a:latin typeface="Times New Roman"/>
                <a:cs typeface="Times New Roman"/>
              </a:rPr>
              <a:t>P.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other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QBF,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stands</a:t>
            </a:r>
            <a:r>
              <a:rPr dirty="0" sz="1200" spc="-10">
                <a:latin typeface="Times New Roman"/>
                <a:cs typeface="Times New Roman"/>
              </a:rPr>
              <a:t> for</a:t>
            </a:r>
            <a:r>
              <a:rPr dirty="0" sz="1200" spc="-5">
                <a:latin typeface="Times New Roman"/>
                <a:cs typeface="Times New Roman"/>
              </a:rPr>
              <a:t> Quantified Boolean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Formulas.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this problem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a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boolean </a:t>
            </a:r>
            <a:r>
              <a:rPr dirty="0" sz="1200" spc="-10">
                <a:latin typeface="Times New Roman"/>
                <a:cs typeface="Times New Roman"/>
              </a:rPr>
              <a:t>formula</a:t>
            </a:r>
            <a:r>
              <a:rPr dirty="0" sz="1200" spc="-5">
                <a:latin typeface="Times New Roman"/>
                <a:cs typeface="Times New Roman"/>
              </a:rPr>
              <a:t> and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 spc="-5">
                <a:latin typeface="Times New Roman"/>
                <a:cs typeface="Times New Roman"/>
              </a:rPr>
              <a:t> to </a:t>
            </a: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 spc="-5">
                <a:latin typeface="Times New Roman"/>
                <a:cs typeface="Times New Roman"/>
              </a:rPr>
              <a:t> whether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true or false.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536191" y="3541466"/>
            <a:ext cx="5120640" cy="2590800"/>
            <a:chOff x="1536191" y="3541466"/>
            <a:chExt cx="5120640" cy="2590800"/>
          </a:xfrm>
        </p:grpSpPr>
        <p:sp>
          <p:nvSpPr>
            <p:cNvPr id="8" name="object 8"/>
            <p:cNvSpPr/>
            <p:nvPr/>
          </p:nvSpPr>
          <p:spPr>
            <a:xfrm>
              <a:off x="1536191" y="3541466"/>
              <a:ext cx="5120640" cy="2590800"/>
            </a:xfrm>
            <a:custGeom>
              <a:avLst/>
              <a:gdLst/>
              <a:ahLst/>
              <a:cxnLst/>
              <a:rect l="l" t="t" r="r" b="b"/>
              <a:pathLst>
                <a:path w="5120640" h="2590800">
                  <a:moveTo>
                    <a:pt x="5120182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5120182" y="2590601"/>
                  </a:lnTo>
                  <a:lnTo>
                    <a:pt x="5120182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03607" y="3676461"/>
              <a:ext cx="2404400" cy="2386356"/>
            </a:xfrm>
            <a:prstGeom prst="rect">
              <a:avLst/>
            </a:prstGeom>
          </p:spPr>
        </p:pic>
      </p:grpSp>
      <p:sp>
        <p:nvSpPr>
          <p:cNvPr id="10" name="object 10"/>
          <p:cNvSpPr txBox="1"/>
          <p:nvPr/>
        </p:nvSpPr>
        <p:spPr>
          <a:xfrm>
            <a:off x="2500578" y="4809802"/>
            <a:ext cx="391160" cy="2406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400" spc="5" b="1">
                <a:solidFill>
                  <a:srgbClr val="FFFF00"/>
                </a:solidFill>
                <a:latin typeface="Arial"/>
                <a:cs typeface="Arial"/>
              </a:rPr>
              <a:t>NPC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732001" y="5784184"/>
            <a:ext cx="132715" cy="2406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400" spc="5" b="1">
                <a:solidFill>
                  <a:srgbClr val="FFFF00"/>
                </a:solidFill>
                <a:latin typeface="Arial"/>
                <a:cs typeface="Arial"/>
              </a:rPr>
              <a:t>P</a:t>
            </a:r>
            <a:endParaRPr sz="1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655661" y="5229369"/>
            <a:ext cx="261620" cy="2406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400" spc="5" b="1">
                <a:solidFill>
                  <a:srgbClr val="FFFF00"/>
                </a:solidFill>
                <a:latin typeface="Arial"/>
                <a:cs typeface="Arial"/>
              </a:rPr>
              <a:t>NP</a:t>
            </a:r>
            <a:endParaRPr sz="1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380357" y="4173237"/>
            <a:ext cx="709295" cy="2406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1400" spc="5" b="1">
                <a:solidFill>
                  <a:srgbClr val="FFFF00"/>
                </a:solidFill>
                <a:latin typeface="Arial"/>
                <a:cs typeface="Arial"/>
              </a:rPr>
              <a:t>NP-hard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236553" y="3551650"/>
            <a:ext cx="1424305" cy="6261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R="137795">
              <a:lnSpc>
                <a:spcPct val="102899"/>
              </a:lnSpc>
              <a:spcBef>
                <a:spcPts val="90"/>
              </a:spcBef>
            </a:pP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Quantified</a:t>
            </a:r>
            <a:r>
              <a:rPr dirty="0" sz="1150" spc="-7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Boolean </a:t>
            </a:r>
            <a:r>
              <a:rPr dirty="0" sz="1150" spc="-30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Formulas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9"/>
              </a:spcBef>
            </a:pPr>
            <a:r>
              <a:rPr dirty="0" sz="1150" spc="20">
                <a:solidFill>
                  <a:srgbClr val="FFFF00"/>
                </a:solidFill>
                <a:latin typeface="Arial"/>
                <a:cs typeface="Arial"/>
              </a:rPr>
              <a:t>No</a:t>
            </a:r>
            <a:r>
              <a:rPr dirty="0" sz="1150" spc="-3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Hamiltonian</a:t>
            </a:r>
            <a:r>
              <a:rPr dirty="0" sz="1150" spc="-3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cycle</a:t>
            </a:r>
            <a:endParaRPr sz="11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236553" y="4480949"/>
            <a:ext cx="1190625" cy="614680"/>
          </a:xfrm>
          <a:prstGeom prst="rect">
            <a:avLst/>
          </a:prstGeom>
        </p:spPr>
        <p:txBody>
          <a:bodyPr wrap="square" lIns="0" tIns="3810" rIns="0" bIns="0" rtlCol="0" vert="horz">
            <a:spAutoFit/>
          </a:bodyPr>
          <a:lstStyle/>
          <a:p>
            <a:pPr marR="5080">
              <a:lnSpc>
                <a:spcPct val="107400"/>
              </a:lnSpc>
              <a:spcBef>
                <a:spcPts val="30"/>
              </a:spcBef>
            </a:pP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0/1 knapsack </a:t>
            </a:r>
            <a:r>
              <a:rPr dirty="0" sz="1150" spc="2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Hamiltonian</a:t>
            </a:r>
            <a:r>
              <a:rPr dirty="0" sz="1150" spc="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cycle</a:t>
            </a:r>
            <a:endParaRPr sz="11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r>
              <a:rPr dirty="0" sz="1150" spc="10">
                <a:solidFill>
                  <a:srgbClr val="FFFF00"/>
                </a:solidFill>
                <a:latin typeface="Arial"/>
                <a:cs typeface="Arial"/>
              </a:rPr>
              <a:t>Satisfiability</a:t>
            </a:r>
            <a:endParaRPr sz="115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236553" y="5313472"/>
            <a:ext cx="133223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Graph</a:t>
            </a:r>
            <a:r>
              <a:rPr dirty="0" sz="1150" spc="-4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Isomorphism</a:t>
            </a:r>
            <a:endParaRPr sz="115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236553" y="5718012"/>
            <a:ext cx="1282700" cy="3708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ts val="1340"/>
              </a:lnSpc>
              <a:spcBef>
                <a:spcPts val="130"/>
              </a:spcBef>
            </a:pPr>
            <a:r>
              <a:rPr dirty="0" sz="1150" spc="20">
                <a:solidFill>
                  <a:srgbClr val="FFFF00"/>
                </a:solidFill>
                <a:latin typeface="Arial"/>
                <a:cs typeface="Arial"/>
              </a:rPr>
              <a:t>MST</a:t>
            </a:r>
            <a:endParaRPr sz="1150">
              <a:latin typeface="Arial"/>
              <a:cs typeface="Arial"/>
            </a:endParaRPr>
          </a:p>
          <a:p>
            <a:pPr>
              <a:lnSpc>
                <a:spcPts val="1340"/>
              </a:lnSpc>
            </a:pPr>
            <a:r>
              <a:rPr dirty="0" sz="1150" spc="15">
                <a:solidFill>
                  <a:srgbClr val="FFFF00"/>
                </a:solidFill>
                <a:latin typeface="Arial"/>
                <a:cs typeface="Arial"/>
              </a:rPr>
              <a:t>Strong</a:t>
            </a:r>
            <a:r>
              <a:rPr dirty="0" sz="1150" spc="-2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150" spc="10">
                <a:solidFill>
                  <a:srgbClr val="FFFF00"/>
                </a:solidFill>
                <a:latin typeface="Arial"/>
                <a:cs typeface="Arial"/>
              </a:rPr>
              <a:t>connectivity</a:t>
            </a:r>
            <a:endParaRPr sz="11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141292" y="6197282"/>
            <a:ext cx="19469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9.1: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Complexity</a:t>
            </a:r>
            <a:r>
              <a:rPr dirty="0" sz="1200" spc="-5">
                <a:latin typeface="Times New Roman"/>
                <a:cs typeface="Times New Roman"/>
              </a:rPr>
              <a:t> Classes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01698" y="7377374"/>
            <a:ext cx="6308725" cy="16059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9.3	</a:t>
            </a:r>
            <a:r>
              <a:rPr dirty="0" sz="1700" b="1">
                <a:latin typeface="Times New Roman"/>
                <a:cs typeface="Times New Roman"/>
              </a:rPr>
              <a:t>Polynomial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b="1">
                <a:latin typeface="Times New Roman"/>
                <a:cs typeface="Times New Roman"/>
              </a:rPr>
              <a:t>Time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spc="-10" b="1">
                <a:latin typeface="Times New Roman"/>
                <a:cs typeface="Times New Roman"/>
              </a:rPr>
              <a:t>Verification</a:t>
            </a:r>
            <a:endParaRPr sz="1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23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Before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talking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NP-complete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verification </a:t>
            </a:r>
            <a:r>
              <a:rPr dirty="0" sz="1200" spc="-15" i="1">
                <a:latin typeface="Times New Roman"/>
                <a:cs typeface="Times New Roman"/>
              </a:rPr>
              <a:t>algorithm</a:t>
            </a:r>
            <a:r>
              <a:rPr dirty="0" sz="1200" spc="-15">
                <a:latin typeface="Times New Roman"/>
                <a:cs typeface="Times New Roman"/>
              </a:rPr>
              <a:t>.</a:t>
            </a:r>
            <a:r>
              <a:rPr dirty="0" sz="1200" spc="-10">
                <a:latin typeface="Times New Roman"/>
                <a:cs typeface="Times New Roman"/>
              </a:rPr>
              <a:t> Many problems </a:t>
            </a:r>
            <a:r>
              <a:rPr dirty="0" sz="1200" spc="-5">
                <a:latin typeface="Times New Roman"/>
                <a:cs typeface="Times New Roman"/>
              </a:rPr>
              <a:t>are hard to </a:t>
            </a:r>
            <a:r>
              <a:rPr dirty="0" sz="1200" spc="-10">
                <a:latin typeface="Times New Roman"/>
                <a:cs typeface="Times New Roman"/>
              </a:rPr>
              <a:t>solve </a:t>
            </a:r>
            <a:r>
              <a:rPr dirty="0" sz="1200" spc="-15">
                <a:latin typeface="Times New Roman"/>
                <a:cs typeface="Times New Roman"/>
              </a:rPr>
              <a:t>but </a:t>
            </a:r>
            <a:r>
              <a:rPr dirty="0" sz="1200" spc="-10">
                <a:latin typeface="Times New Roman"/>
                <a:cs typeface="Times New Roman"/>
              </a:rPr>
              <a:t>they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10">
                <a:latin typeface="Times New Roman"/>
                <a:cs typeface="Times New Roman"/>
              </a:rPr>
              <a:t>the property </a:t>
            </a:r>
            <a:r>
              <a:rPr dirty="0" sz="1200" spc="-5">
                <a:latin typeface="Times New Roman"/>
                <a:cs typeface="Times New Roman"/>
              </a:rPr>
              <a:t>that it easy to </a:t>
            </a:r>
            <a:r>
              <a:rPr dirty="0" sz="1200" spc="-10">
                <a:latin typeface="Times New Roman"/>
                <a:cs typeface="Times New Roman"/>
              </a:rPr>
              <a:t>verify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is </a:t>
            </a:r>
            <a:r>
              <a:rPr dirty="0" sz="1200" spc="-10">
                <a:latin typeface="Times New Roman"/>
                <a:cs typeface="Times New Roman"/>
              </a:rPr>
              <a:t>provided.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Hamiltonian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  <a:p>
            <a:pPr marL="12700" marR="233045">
              <a:lnSpc>
                <a:spcPct val="100000"/>
              </a:lnSpc>
              <a:spcBef>
                <a:spcPts val="530"/>
              </a:spcBef>
            </a:pP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5">
                <a:latin typeface="Times New Roman"/>
                <a:cs typeface="Times New Roman"/>
              </a:rPr>
              <a:t>an undirected graph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sz="1200" spc="20">
                <a:latin typeface="Times New Roman"/>
                <a:cs typeface="Times New Roman"/>
              </a:rPr>
              <a:t>, </a:t>
            </a:r>
            <a:r>
              <a:rPr dirty="0" sz="1200" spc="-5">
                <a:latin typeface="Times New Roman"/>
                <a:cs typeface="Times New Roman"/>
              </a:rPr>
              <a:t>does </a:t>
            </a:r>
            <a:r>
              <a:rPr dirty="0" sz="1200" spc="45">
                <a:latin typeface="Lucida Sans Unicode"/>
                <a:cs typeface="Lucida Sans Unicode"/>
              </a:rPr>
              <a:t>G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cycle </a:t>
            </a:r>
            <a:r>
              <a:rPr dirty="0" sz="1200" spc="-5">
                <a:latin typeface="Times New Roman"/>
                <a:cs typeface="Times New Roman"/>
              </a:rPr>
              <a:t>that visits </a:t>
            </a:r>
            <a:r>
              <a:rPr dirty="0" sz="1200" spc="-15">
                <a:latin typeface="Times New Roman"/>
                <a:cs typeface="Times New Roman"/>
              </a:rPr>
              <a:t>every vertex </a:t>
            </a:r>
            <a:r>
              <a:rPr dirty="0" sz="1200" spc="-10">
                <a:latin typeface="Times New Roman"/>
                <a:cs typeface="Times New Roman"/>
              </a:rPr>
              <a:t>exactly </a:t>
            </a:r>
            <a:r>
              <a:rPr dirty="0" sz="1200" spc="-5">
                <a:latin typeface="Times New Roman"/>
                <a:cs typeface="Times New Roman"/>
              </a:rPr>
              <a:t>once? There is </a:t>
            </a:r>
            <a:r>
              <a:rPr dirty="0" sz="1200">
                <a:latin typeface="Times New Roman"/>
                <a:cs typeface="Times New Roman"/>
              </a:rPr>
              <a:t>no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06347" y="8202612"/>
            <a:ext cx="1263650" cy="151130"/>
          </a:xfrm>
          <a:custGeom>
            <a:avLst/>
            <a:gdLst/>
            <a:ahLst/>
            <a:cxnLst/>
            <a:rect l="l" t="t" r="r" b="b"/>
            <a:pathLst>
              <a:path w="1263650" h="151129">
                <a:moveTo>
                  <a:pt x="1263218" y="0"/>
                </a:moveTo>
                <a:lnTo>
                  <a:pt x="0" y="0"/>
                </a:lnTo>
                <a:lnTo>
                  <a:pt x="0" y="151079"/>
                </a:lnTo>
                <a:lnTo>
                  <a:pt x="1263218" y="151079"/>
                </a:lnTo>
                <a:lnTo>
                  <a:pt x="1263218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17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751779" y="520987"/>
            <a:ext cx="257683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9.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COMPLEXITY</a:t>
            </a:r>
            <a:r>
              <a:rPr dirty="0" sz="1200" spc="-20">
                <a:latin typeface="Times New Roman"/>
                <a:cs typeface="Times New Roman"/>
              </a:rPr>
              <a:t> THEORY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1839467" y="938474"/>
            <a:ext cx="4550410" cy="2590800"/>
            <a:chOff x="1839467" y="938474"/>
            <a:chExt cx="4550410" cy="2590800"/>
          </a:xfrm>
        </p:grpSpPr>
        <p:sp>
          <p:nvSpPr>
            <p:cNvPr id="6" name="object 6"/>
            <p:cNvSpPr/>
            <p:nvPr/>
          </p:nvSpPr>
          <p:spPr>
            <a:xfrm>
              <a:off x="1839467" y="938474"/>
              <a:ext cx="4550410" cy="2590800"/>
            </a:xfrm>
            <a:custGeom>
              <a:avLst/>
              <a:gdLst/>
              <a:ahLst/>
              <a:cxnLst/>
              <a:rect l="l" t="t" r="r" b="b"/>
              <a:pathLst>
                <a:path w="4550410" h="2590800">
                  <a:moveTo>
                    <a:pt x="4550389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4550389" y="2590601"/>
                  </a:lnTo>
                  <a:lnTo>
                    <a:pt x="4550389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341068" y="1238109"/>
              <a:ext cx="107314" cy="393065"/>
            </a:xfrm>
            <a:custGeom>
              <a:avLst/>
              <a:gdLst/>
              <a:ahLst/>
              <a:cxnLst/>
              <a:rect l="l" t="t" r="r" b="b"/>
              <a:pathLst>
                <a:path w="107314" h="393064">
                  <a:moveTo>
                    <a:pt x="107134" y="0"/>
                  </a:moveTo>
                  <a:lnTo>
                    <a:pt x="0" y="0"/>
                  </a:lnTo>
                  <a:lnTo>
                    <a:pt x="0" y="393038"/>
                  </a:lnTo>
                  <a:lnTo>
                    <a:pt x="107134" y="393038"/>
                  </a:lnTo>
                  <a:lnTo>
                    <a:pt x="107134" y="0"/>
                  </a:lnTo>
                  <a:close/>
                </a:path>
              </a:pathLst>
            </a:custGeom>
            <a:solidFill>
              <a:srgbClr val="FD9A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341068" y="1238109"/>
              <a:ext cx="107314" cy="393065"/>
            </a:xfrm>
            <a:custGeom>
              <a:avLst/>
              <a:gdLst/>
              <a:ahLst/>
              <a:cxnLst/>
              <a:rect l="l" t="t" r="r" b="b"/>
              <a:pathLst>
                <a:path w="107314" h="393064">
                  <a:moveTo>
                    <a:pt x="0" y="393038"/>
                  </a:moveTo>
                  <a:lnTo>
                    <a:pt x="107134" y="393038"/>
                  </a:lnTo>
                  <a:lnTo>
                    <a:pt x="107134" y="0"/>
                  </a:lnTo>
                  <a:lnTo>
                    <a:pt x="0" y="0"/>
                  </a:lnTo>
                  <a:lnTo>
                    <a:pt x="0" y="393038"/>
                  </a:lnTo>
                  <a:close/>
                </a:path>
              </a:pathLst>
            </a:custGeom>
            <a:ln w="3175">
              <a:solidFill>
                <a:srgbClr val="FD9A1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341068" y="1862528"/>
              <a:ext cx="107314" cy="393700"/>
            </a:xfrm>
            <a:custGeom>
              <a:avLst/>
              <a:gdLst/>
              <a:ahLst/>
              <a:cxnLst/>
              <a:rect l="l" t="t" r="r" b="b"/>
              <a:pathLst>
                <a:path w="107314" h="393700">
                  <a:moveTo>
                    <a:pt x="107134" y="0"/>
                  </a:moveTo>
                  <a:lnTo>
                    <a:pt x="0" y="0"/>
                  </a:lnTo>
                  <a:lnTo>
                    <a:pt x="0" y="393672"/>
                  </a:lnTo>
                  <a:lnTo>
                    <a:pt x="107134" y="393672"/>
                  </a:lnTo>
                  <a:lnTo>
                    <a:pt x="107134" y="0"/>
                  </a:lnTo>
                  <a:close/>
                </a:path>
              </a:pathLst>
            </a:custGeom>
            <a:solidFill>
              <a:srgbClr val="FD9A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341068" y="1862528"/>
              <a:ext cx="107314" cy="393700"/>
            </a:xfrm>
            <a:custGeom>
              <a:avLst/>
              <a:gdLst/>
              <a:ahLst/>
              <a:cxnLst/>
              <a:rect l="l" t="t" r="r" b="b"/>
              <a:pathLst>
                <a:path w="107314" h="393700">
                  <a:moveTo>
                    <a:pt x="0" y="393672"/>
                  </a:moveTo>
                  <a:lnTo>
                    <a:pt x="107134" y="393672"/>
                  </a:lnTo>
                  <a:lnTo>
                    <a:pt x="107134" y="0"/>
                  </a:lnTo>
                  <a:lnTo>
                    <a:pt x="0" y="0"/>
                  </a:lnTo>
                  <a:lnTo>
                    <a:pt x="0" y="393672"/>
                  </a:lnTo>
                  <a:close/>
                </a:path>
              </a:pathLst>
            </a:custGeom>
            <a:ln w="3175">
              <a:solidFill>
                <a:srgbClr val="FD9A1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934422" y="1230504"/>
              <a:ext cx="106045" cy="393065"/>
            </a:xfrm>
            <a:custGeom>
              <a:avLst/>
              <a:gdLst/>
              <a:ahLst/>
              <a:cxnLst/>
              <a:rect l="l" t="t" r="r" b="b"/>
              <a:pathLst>
                <a:path w="106045" h="393065">
                  <a:moveTo>
                    <a:pt x="105866" y="0"/>
                  </a:moveTo>
                  <a:lnTo>
                    <a:pt x="0" y="0"/>
                  </a:lnTo>
                  <a:lnTo>
                    <a:pt x="0" y="393038"/>
                  </a:lnTo>
                  <a:lnTo>
                    <a:pt x="105866" y="393038"/>
                  </a:lnTo>
                  <a:lnTo>
                    <a:pt x="105866" y="0"/>
                  </a:lnTo>
                  <a:close/>
                </a:path>
              </a:pathLst>
            </a:custGeom>
            <a:solidFill>
              <a:srgbClr val="FD9A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934422" y="1230504"/>
              <a:ext cx="106045" cy="393065"/>
            </a:xfrm>
            <a:custGeom>
              <a:avLst/>
              <a:gdLst/>
              <a:ahLst/>
              <a:cxnLst/>
              <a:rect l="l" t="t" r="r" b="b"/>
              <a:pathLst>
                <a:path w="106045" h="393065">
                  <a:moveTo>
                    <a:pt x="0" y="393038"/>
                  </a:moveTo>
                  <a:lnTo>
                    <a:pt x="105866" y="393038"/>
                  </a:lnTo>
                  <a:lnTo>
                    <a:pt x="105866" y="0"/>
                  </a:lnTo>
                  <a:lnTo>
                    <a:pt x="0" y="0"/>
                  </a:lnTo>
                  <a:lnTo>
                    <a:pt x="0" y="393038"/>
                  </a:lnTo>
                  <a:close/>
                </a:path>
              </a:pathLst>
            </a:custGeom>
            <a:ln w="3175">
              <a:solidFill>
                <a:srgbClr val="FD9A1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550606" y="1230504"/>
              <a:ext cx="106680" cy="393065"/>
            </a:xfrm>
            <a:custGeom>
              <a:avLst/>
              <a:gdLst/>
              <a:ahLst/>
              <a:cxnLst/>
              <a:rect l="l" t="t" r="r" b="b"/>
              <a:pathLst>
                <a:path w="106679" h="393065">
                  <a:moveTo>
                    <a:pt x="106500" y="0"/>
                  </a:moveTo>
                  <a:lnTo>
                    <a:pt x="0" y="0"/>
                  </a:lnTo>
                  <a:lnTo>
                    <a:pt x="0" y="393038"/>
                  </a:lnTo>
                  <a:lnTo>
                    <a:pt x="106500" y="393038"/>
                  </a:lnTo>
                  <a:lnTo>
                    <a:pt x="106500" y="0"/>
                  </a:lnTo>
                  <a:close/>
                </a:path>
              </a:pathLst>
            </a:custGeom>
            <a:solidFill>
              <a:srgbClr val="FD9A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5550606" y="1230504"/>
              <a:ext cx="106680" cy="393065"/>
            </a:xfrm>
            <a:custGeom>
              <a:avLst/>
              <a:gdLst/>
              <a:ahLst/>
              <a:cxnLst/>
              <a:rect l="l" t="t" r="r" b="b"/>
              <a:pathLst>
                <a:path w="106679" h="393065">
                  <a:moveTo>
                    <a:pt x="0" y="393038"/>
                  </a:moveTo>
                  <a:lnTo>
                    <a:pt x="106500" y="393038"/>
                  </a:lnTo>
                  <a:lnTo>
                    <a:pt x="106500" y="0"/>
                  </a:lnTo>
                  <a:lnTo>
                    <a:pt x="0" y="0"/>
                  </a:lnTo>
                  <a:lnTo>
                    <a:pt x="0" y="393038"/>
                  </a:lnTo>
                  <a:close/>
                </a:path>
              </a:pathLst>
            </a:custGeom>
            <a:ln w="3175">
              <a:solidFill>
                <a:srgbClr val="FD9A1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6151580" y="1246354"/>
              <a:ext cx="106680" cy="393065"/>
            </a:xfrm>
            <a:custGeom>
              <a:avLst/>
              <a:gdLst/>
              <a:ahLst/>
              <a:cxnLst/>
              <a:rect l="l" t="t" r="r" b="b"/>
              <a:pathLst>
                <a:path w="106679" h="393064">
                  <a:moveTo>
                    <a:pt x="106501" y="0"/>
                  </a:moveTo>
                  <a:lnTo>
                    <a:pt x="0" y="0"/>
                  </a:lnTo>
                  <a:lnTo>
                    <a:pt x="0" y="393038"/>
                  </a:lnTo>
                  <a:lnTo>
                    <a:pt x="106501" y="393038"/>
                  </a:lnTo>
                  <a:lnTo>
                    <a:pt x="106501" y="0"/>
                  </a:lnTo>
                  <a:close/>
                </a:path>
              </a:pathLst>
            </a:custGeom>
            <a:solidFill>
              <a:srgbClr val="FD9A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6151580" y="1246354"/>
              <a:ext cx="106680" cy="393065"/>
            </a:xfrm>
            <a:custGeom>
              <a:avLst/>
              <a:gdLst/>
              <a:ahLst/>
              <a:cxnLst/>
              <a:rect l="l" t="t" r="r" b="b"/>
              <a:pathLst>
                <a:path w="106679" h="393064">
                  <a:moveTo>
                    <a:pt x="0" y="393038"/>
                  </a:moveTo>
                  <a:lnTo>
                    <a:pt x="106501" y="393038"/>
                  </a:lnTo>
                  <a:lnTo>
                    <a:pt x="106501" y="0"/>
                  </a:lnTo>
                  <a:lnTo>
                    <a:pt x="0" y="0"/>
                  </a:lnTo>
                  <a:lnTo>
                    <a:pt x="0" y="393038"/>
                  </a:lnTo>
                  <a:close/>
                </a:path>
              </a:pathLst>
            </a:custGeom>
            <a:ln w="3175">
              <a:solidFill>
                <a:srgbClr val="FD9A1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6151580" y="1854917"/>
              <a:ext cx="106680" cy="393065"/>
            </a:xfrm>
            <a:custGeom>
              <a:avLst/>
              <a:gdLst/>
              <a:ahLst/>
              <a:cxnLst/>
              <a:rect l="l" t="t" r="r" b="b"/>
              <a:pathLst>
                <a:path w="106679" h="393064">
                  <a:moveTo>
                    <a:pt x="106501" y="0"/>
                  </a:moveTo>
                  <a:lnTo>
                    <a:pt x="0" y="0"/>
                  </a:lnTo>
                  <a:lnTo>
                    <a:pt x="0" y="393038"/>
                  </a:lnTo>
                  <a:lnTo>
                    <a:pt x="106501" y="393038"/>
                  </a:lnTo>
                  <a:lnTo>
                    <a:pt x="106501" y="0"/>
                  </a:lnTo>
                  <a:close/>
                </a:path>
              </a:pathLst>
            </a:custGeom>
            <a:solidFill>
              <a:srgbClr val="FD9A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6151580" y="1854917"/>
              <a:ext cx="106680" cy="393065"/>
            </a:xfrm>
            <a:custGeom>
              <a:avLst/>
              <a:gdLst/>
              <a:ahLst/>
              <a:cxnLst/>
              <a:rect l="l" t="t" r="r" b="b"/>
              <a:pathLst>
                <a:path w="106679" h="393064">
                  <a:moveTo>
                    <a:pt x="0" y="393038"/>
                  </a:moveTo>
                  <a:lnTo>
                    <a:pt x="106501" y="393038"/>
                  </a:lnTo>
                  <a:lnTo>
                    <a:pt x="106501" y="0"/>
                  </a:lnTo>
                  <a:lnTo>
                    <a:pt x="0" y="0"/>
                  </a:lnTo>
                  <a:lnTo>
                    <a:pt x="0" y="393038"/>
                  </a:lnTo>
                  <a:close/>
                </a:path>
              </a:pathLst>
            </a:custGeom>
            <a:ln w="3175">
              <a:solidFill>
                <a:srgbClr val="FD9A1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5534756" y="2486951"/>
              <a:ext cx="106680" cy="393065"/>
            </a:xfrm>
            <a:custGeom>
              <a:avLst/>
              <a:gdLst/>
              <a:ahLst/>
              <a:cxnLst/>
              <a:rect l="l" t="t" r="r" b="b"/>
              <a:pathLst>
                <a:path w="106679" h="393064">
                  <a:moveTo>
                    <a:pt x="106500" y="0"/>
                  </a:moveTo>
                  <a:lnTo>
                    <a:pt x="0" y="0"/>
                  </a:lnTo>
                  <a:lnTo>
                    <a:pt x="0" y="393038"/>
                  </a:lnTo>
                  <a:lnTo>
                    <a:pt x="106500" y="393038"/>
                  </a:lnTo>
                  <a:lnTo>
                    <a:pt x="106500" y="0"/>
                  </a:lnTo>
                  <a:close/>
                </a:path>
              </a:pathLst>
            </a:custGeom>
            <a:solidFill>
              <a:srgbClr val="FD9A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534756" y="2486951"/>
              <a:ext cx="106680" cy="393065"/>
            </a:xfrm>
            <a:custGeom>
              <a:avLst/>
              <a:gdLst/>
              <a:ahLst/>
              <a:cxnLst/>
              <a:rect l="l" t="t" r="r" b="b"/>
              <a:pathLst>
                <a:path w="106679" h="393064">
                  <a:moveTo>
                    <a:pt x="0" y="393038"/>
                  </a:moveTo>
                  <a:lnTo>
                    <a:pt x="106500" y="393038"/>
                  </a:lnTo>
                  <a:lnTo>
                    <a:pt x="106500" y="0"/>
                  </a:lnTo>
                  <a:lnTo>
                    <a:pt x="0" y="0"/>
                  </a:lnTo>
                  <a:lnTo>
                    <a:pt x="0" y="393038"/>
                  </a:lnTo>
                  <a:close/>
                </a:path>
              </a:pathLst>
            </a:custGeom>
            <a:ln w="3175">
              <a:solidFill>
                <a:srgbClr val="FD9A1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942042" y="2486951"/>
              <a:ext cx="106680" cy="393065"/>
            </a:xfrm>
            <a:custGeom>
              <a:avLst/>
              <a:gdLst/>
              <a:ahLst/>
              <a:cxnLst/>
              <a:rect l="l" t="t" r="r" b="b"/>
              <a:pathLst>
                <a:path w="106679" h="393064">
                  <a:moveTo>
                    <a:pt x="106500" y="0"/>
                  </a:moveTo>
                  <a:lnTo>
                    <a:pt x="0" y="0"/>
                  </a:lnTo>
                  <a:lnTo>
                    <a:pt x="0" y="393038"/>
                  </a:lnTo>
                  <a:lnTo>
                    <a:pt x="106500" y="393038"/>
                  </a:lnTo>
                  <a:lnTo>
                    <a:pt x="106500" y="0"/>
                  </a:lnTo>
                  <a:close/>
                </a:path>
              </a:pathLst>
            </a:custGeom>
            <a:solidFill>
              <a:srgbClr val="FD9A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942042" y="2486951"/>
              <a:ext cx="106680" cy="393065"/>
            </a:xfrm>
            <a:custGeom>
              <a:avLst/>
              <a:gdLst/>
              <a:ahLst/>
              <a:cxnLst/>
              <a:rect l="l" t="t" r="r" b="b"/>
              <a:pathLst>
                <a:path w="106679" h="393064">
                  <a:moveTo>
                    <a:pt x="0" y="393038"/>
                  </a:moveTo>
                  <a:lnTo>
                    <a:pt x="106500" y="393038"/>
                  </a:lnTo>
                  <a:lnTo>
                    <a:pt x="106500" y="0"/>
                  </a:lnTo>
                  <a:lnTo>
                    <a:pt x="0" y="0"/>
                  </a:lnTo>
                  <a:lnTo>
                    <a:pt x="0" y="393038"/>
                  </a:lnTo>
                  <a:close/>
                </a:path>
              </a:pathLst>
            </a:custGeom>
            <a:ln w="3175">
              <a:solidFill>
                <a:srgbClr val="FD9A1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5115732" y="1698977"/>
              <a:ext cx="377190" cy="106680"/>
            </a:xfrm>
            <a:custGeom>
              <a:avLst/>
              <a:gdLst/>
              <a:ahLst/>
              <a:cxnLst/>
              <a:rect l="l" t="t" r="r" b="b"/>
              <a:pathLst>
                <a:path w="377189" h="106680">
                  <a:moveTo>
                    <a:pt x="377189" y="0"/>
                  </a:moveTo>
                  <a:lnTo>
                    <a:pt x="0" y="0"/>
                  </a:lnTo>
                  <a:lnTo>
                    <a:pt x="0" y="106500"/>
                  </a:lnTo>
                  <a:lnTo>
                    <a:pt x="377189" y="106500"/>
                  </a:lnTo>
                  <a:lnTo>
                    <a:pt x="377189" y="0"/>
                  </a:lnTo>
                  <a:close/>
                </a:path>
              </a:pathLst>
            </a:custGeom>
            <a:solidFill>
              <a:srgbClr val="FD9A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5115732" y="1698977"/>
              <a:ext cx="377190" cy="106680"/>
            </a:xfrm>
            <a:custGeom>
              <a:avLst/>
              <a:gdLst/>
              <a:ahLst/>
              <a:cxnLst/>
              <a:rect l="l" t="t" r="r" b="b"/>
              <a:pathLst>
                <a:path w="377189" h="106680">
                  <a:moveTo>
                    <a:pt x="0" y="106500"/>
                  </a:moveTo>
                  <a:lnTo>
                    <a:pt x="377189" y="106500"/>
                  </a:lnTo>
                  <a:lnTo>
                    <a:pt x="377189" y="0"/>
                  </a:lnTo>
                  <a:lnTo>
                    <a:pt x="0" y="0"/>
                  </a:lnTo>
                  <a:lnTo>
                    <a:pt x="0" y="106500"/>
                  </a:lnTo>
                  <a:close/>
                </a:path>
              </a:pathLst>
            </a:custGeom>
            <a:ln w="3175">
              <a:solidFill>
                <a:srgbClr val="FD9A1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491304" y="2311350"/>
              <a:ext cx="377190" cy="106680"/>
            </a:xfrm>
            <a:custGeom>
              <a:avLst/>
              <a:gdLst/>
              <a:ahLst/>
              <a:cxnLst/>
              <a:rect l="l" t="t" r="r" b="b"/>
              <a:pathLst>
                <a:path w="377189" h="106680">
                  <a:moveTo>
                    <a:pt x="377189" y="0"/>
                  </a:moveTo>
                  <a:lnTo>
                    <a:pt x="0" y="0"/>
                  </a:lnTo>
                  <a:lnTo>
                    <a:pt x="0" y="106500"/>
                  </a:lnTo>
                  <a:lnTo>
                    <a:pt x="377189" y="106500"/>
                  </a:lnTo>
                  <a:lnTo>
                    <a:pt x="377189" y="0"/>
                  </a:lnTo>
                  <a:close/>
                </a:path>
              </a:pathLst>
            </a:custGeom>
            <a:solidFill>
              <a:srgbClr val="FD9A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491304" y="2311350"/>
              <a:ext cx="377190" cy="106680"/>
            </a:xfrm>
            <a:custGeom>
              <a:avLst/>
              <a:gdLst/>
              <a:ahLst/>
              <a:cxnLst/>
              <a:rect l="l" t="t" r="r" b="b"/>
              <a:pathLst>
                <a:path w="377189" h="106680">
                  <a:moveTo>
                    <a:pt x="0" y="106500"/>
                  </a:moveTo>
                  <a:lnTo>
                    <a:pt x="377189" y="106500"/>
                  </a:lnTo>
                  <a:lnTo>
                    <a:pt x="377189" y="0"/>
                  </a:lnTo>
                  <a:lnTo>
                    <a:pt x="0" y="0"/>
                  </a:lnTo>
                  <a:lnTo>
                    <a:pt x="0" y="106500"/>
                  </a:lnTo>
                  <a:close/>
                </a:path>
              </a:pathLst>
            </a:custGeom>
            <a:ln w="3175">
              <a:solidFill>
                <a:srgbClr val="FD9A1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693252" y="2311350"/>
              <a:ext cx="376555" cy="106680"/>
            </a:xfrm>
            <a:custGeom>
              <a:avLst/>
              <a:gdLst/>
              <a:ahLst/>
              <a:cxnLst/>
              <a:rect l="l" t="t" r="r" b="b"/>
              <a:pathLst>
                <a:path w="376554" h="106680">
                  <a:moveTo>
                    <a:pt x="376556" y="0"/>
                  </a:moveTo>
                  <a:lnTo>
                    <a:pt x="0" y="0"/>
                  </a:lnTo>
                  <a:lnTo>
                    <a:pt x="0" y="106500"/>
                  </a:lnTo>
                  <a:lnTo>
                    <a:pt x="376556" y="106500"/>
                  </a:lnTo>
                  <a:lnTo>
                    <a:pt x="376556" y="0"/>
                  </a:lnTo>
                  <a:close/>
                </a:path>
              </a:pathLst>
            </a:custGeom>
            <a:solidFill>
              <a:srgbClr val="FD9A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5693252" y="2311350"/>
              <a:ext cx="376555" cy="106680"/>
            </a:xfrm>
            <a:custGeom>
              <a:avLst/>
              <a:gdLst/>
              <a:ahLst/>
              <a:cxnLst/>
              <a:rect l="l" t="t" r="r" b="b"/>
              <a:pathLst>
                <a:path w="376554" h="106680">
                  <a:moveTo>
                    <a:pt x="0" y="106500"/>
                  </a:moveTo>
                  <a:lnTo>
                    <a:pt x="376556" y="106500"/>
                  </a:lnTo>
                  <a:lnTo>
                    <a:pt x="376556" y="0"/>
                  </a:lnTo>
                  <a:lnTo>
                    <a:pt x="0" y="0"/>
                  </a:lnTo>
                  <a:lnTo>
                    <a:pt x="0" y="106500"/>
                  </a:lnTo>
                  <a:close/>
                </a:path>
              </a:pathLst>
            </a:custGeom>
            <a:ln w="3175">
              <a:solidFill>
                <a:srgbClr val="FD9A1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5092278" y="2939580"/>
              <a:ext cx="377190" cy="107314"/>
            </a:xfrm>
            <a:custGeom>
              <a:avLst/>
              <a:gdLst/>
              <a:ahLst/>
              <a:cxnLst/>
              <a:rect l="l" t="t" r="r" b="b"/>
              <a:pathLst>
                <a:path w="377189" h="107314">
                  <a:moveTo>
                    <a:pt x="377189" y="0"/>
                  </a:moveTo>
                  <a:lnTo>
                    <a:pt x="0" y="0"/>
                  </a:lnTo>
                  <a:lnTo>
                    <a:pt x="0" y="107134"/>
                  </a:lnTo>
                  <a:lnTo>
                    <a:pt x="377189" y="107134"/>
                  </a:lnTo>
                  <a:lnTo>
                    <a:pt x="377189" y="0"/>
                  </a:lnTo>
                  <a:close/>
                </a:path>
              </a:pathLst>
            </a:custGeom>
            <a:solidFill>
              <a:srgbClr val="FD9A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5092278" y="2939580"/>
              <a:ext cx="377190" cy="107314"/>
            </a:xfrm>
            <a:custGeom>
              <a:avLst/>
              <a:gdLst/>
              <a:ahLst/>
              <a:cxnLst/>
              <a:rect l="l" t="t" r="r" b="b"/>
              <a:pathLst>
                <a:path w="377189" h="107314">
                  <a:moveTo>
                    <a:pt x="0" y="107134"/>
                  </a:moveTo>
                  <a:lnTo>
                    <a:pt x="377189" y="107134"/>
                  </a:lnTo>
                  <a:lnTo>
                    <a:pt x="377189" y="0"/>
                  </a:lnTo>
                  <a:lnTo>
                    <a:pt x="0" y="0"/>
                  </a:lnTo>
                  <a:lnTo>
                    <a:pt x="0" y="107134"/>
                  </a:lnTo>
                  <a:close/>
                </a:path>
              </a:pathLst>
            </a:custGeom>
            <a:ln w="317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507153" y="1071378"/>
              <a:ext cx="377190" cy="106680"/>
            </a:xfrm>
            <a:custGeom>
              <a:avLst/>
              <a:gdLst/>
              <a:ahLst/>
              <a:cxnLst/>
              <a:rect l="l" t="t" r="r" b="b"/>
              <a:pathLst>
                <a:path w="377189" h="106680">
                  <a:moveTo>
                    <a:pt x="377189" y="0"/>
                  </a:moveTo>
                  <a:lnTo>
                    <a:pt x="0" y="0"/>
                  </a:lnTo>
                  <a:lnTo>
                    <a:pt x="0" y="106501"/>
                  </a:lnTo>
                  <a:lnTo>
                    <a:pt x="377189" y="106501"/>
                  </a:lnTo>
                  <a:lnTo>
                    <a:pt x="377189" y="0"/>
                  </a:lnTo>
                  <a:close/>
                </a:path>
              </a:pathLst>
            </a:custGeom>
            <a:solidFill>
              <a:srgbClr val="FD9A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507153" y="1071378"/>
              <a:ext cx="377190" cy="106680"/>
            </a:xfrm>
            <a:custGeom>
              <a:avLst/>
              <a:gdLst/>
              <a:ahLst/>
              <a:cxnLst/>
              <a:rect l="l" t="t" r="r" b="b"/>
              <a:pathLst>
                <a:path w="377189" h="106680">
                  <a:moveTo>
                    <a:pt x="0" y="106501"/>
                  </a:moveTo>
                  <a:lnTo>
                    <a:pt x="377189" y="106501"/>
                  </a:lnTo>
                  <a:lnTo>
                    <a:pt x="377189" y="0"/>
                  </a:lnTo>
                  <a:lnTo>
                    <a:pt x="0" y="0"/>
                  </a:lnTo>
                  <a:lnTo>
                    <a:pt x="0" y="106501"/>
                  </a:lnTo>
                  <a:close/>
                </a:path>
              </a:pathLst>
            </a:custGeom>
            <a:ln w="3175">
              <a:solidFill>
                <a:srgbClr val="FD9A1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5724936" y="1071378"/>
              <a:ext cx="376555" cy="106680"/>
            </a:xfrm>
            <a:custGeom>
              <a:avLst/>
              <a:gdLst/>
              <a:ahLst/>
              <a:cxnLst/>
              <a:rect l="l" t="t" r="r" b="b"/>
              <a:pathLst>
                <a:path w="376554" h="106680">
                  <a:moveTo>
                    <a:pt x="376556" y="0"/>
                  </a:moveTo>
                  <a:lnTo>
                    <a:pt x="0" y="0"/>
                  </a:lnTo>
                  <a:lnTo>
                    <a:pt x="0" y="106501"/>
                  </a:lnTo>
                  <a:lnTo>
                    <a:pt x="376556" y="106501"/>
                  </a:lnTo>
                  <a:lnTo>
                    <a:pt x="376556" y="0"/>
                  </a:lnTo>
                  <a:close/>
                </a:path>
              </a:pathLst>
            </a:custGeom>
            <a:solidFill>
              <a:srgbClr val="FD9A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5724936" y="1071378"/>
              <a:ext cx="376555" cy="106680"/>
            </a:xfrm>
            <a:custGeom>
              <a:avLst/>
              <a:gdLst/>
              <a:ahLst/>
              <a:cxnLst/>
              <a:rect l="l" t="t" r="r" b="b"/>
              <a:pathLst>
                <a:path w="376554" h="106680">
                  <a:moveTo>
                    <a:pt x="0" y="106501"/>
                  </a:moveTo>
                  <a:lnTo>
                    <a:pt x="376556" y="106501"/>
                  </a:lnTo>
                  <a:lnTo>
                    <a:pt x="376556" y="0"/>
                  </a:lnTo>
                  <a:lnTo>
                    <a:pt x="0" y="0"/>
                  </a:lnTo>
                  <a:lnTo>
                    <a:pt x="0" y="106501"/>
                  </a:lnTo>
                  <a:close/>
                </a:path>
              </a:pathLst>
            </a:custGeom>
            <a:ln w="3175">
              <a:solidFill>
                <a:srgbClr val="FD9A1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91863" y="1013379"/>
              <a:ext cx="2033654" cy="2080563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71359" y="2865725"/>
              <a:ext cx="242787" cy="243427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72318" y="2865725"/>
              <a:ext cx="242802" cy="243427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5107487" y="2984596"/>
              <a:ext cx="377190" cy="0"/>
            </a:xfrm>
            <a:custGeom>
              <a:avLst/>
              <a:gdLst/>
              <a:ahLst/>
              <a:cxnLst/>
              <a:rect l="l" t="t" r="r" b="b"/>
              <a:pathLst>
                <a:path w="377189" h="0">
                  <a:moveTo>
                    <a:pt x="0" y="0"/>
                  </a:moveTo>
                  <a:lnTo>
                    <a:pt x="377189" y="0"/>
                  </a:lnTo>
                </a:path>
              </a:pathLst>
            </a:custGeom>
            <a:ln w="158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70385" y="2246371"/>
              <a:ext cx="242802" cy="242162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073292" y="2246371"/>
              <a:ext cx="242162" cy="242162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871359" y="2246371"/>
              <a:ext cx="242787" cy="24216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472318" y="2246371"/>
              <a:ext cx="242802" cy="242162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4393051" y="1859991"/>
              <a:ext cx="1697989" cy="1012825"/>
            </a:xfrm>
            <a:custGeom>
              <a:avLst/>
              <a:gdLst/>
              <a:ahLst/>
              <a:cxnLst/>
              <a:rect l="l" t="t" r="r" b="b"/>
              <a:pathLst>
                <a:path w="1697989" h="1012825">
                  <a:moveTo>
                    <a:pt x="108402" y="504611"/>
                  </a:moveTo>
                  <a:lnTo>
                    <a:pt x="484952" y="504611"/>
                  </a:lnTo>
                </a:path>
                <a:path w="1697989" h="1012825">
                  <a:moveTo>
                    <a:pt x="714435" y="504611"/>
                  </a:moveTo>
                  <a:lnTo>
                    <a:pt x="1091625" y="504611"/>
                  </a:lnTo>
                </a:path>
                <a:path w="1697989" h="1012825">
                  <a:moveTo>
                    <a:pt x="1321109" y="504611"/>
                  </a:moveTo>
                  <a:lnTo>
                    <a:pt x="1697675" y="504611"/>
                  </a:lnTo>
                </a:path>
                <a:path w="1697989" h="1012825">
                  <a:moveTo>
                    <a:pt x="591464" y="619353"/>
                  </a:moveTo>
                  <a:lnTo>
                    <a:pt x="591464" y="1012393"/>
                  </a:lnTo>
                </a:path>
                <a:path w="1697989" h="1012825">
                  <a:moveTo>
                    <a:pt x="1197498" y="619353"/>
                  </a:moveTo>
                  <a:lnTo>
                    <a:pt x="1197498" y="1012393"/>
                  </a:lnTo>
                </a:path>
                <a:path w="1697989" h="1012825">
                  <a:moveTo>
                    <a:pt x="0" y="0"/>
                  </a:moveTo>
                  <a:lnTo>
                    <a:pt x="0" y="400019"/>
                  </a:lnTo>
                </a:path>
              </a:pathLst>
            </a:custGeom>
            <a:ln w="158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272915" y="1625128"/>
              <a:ext cx="243442" cy="24216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075822" y="1625128"/>
              <a:ext cx="242162" cy="24216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874529" y="1625128"/>
              <a:ext cx="242162" cy="24216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475488" y="1625128"/>
              <a:ext cx="242162" cy="242162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4400031" y="1247617"/>
              <a:ext cx="1800860" cy="1004569"/>
            </a:xfrm>
            <a:custGeom>
              <a:avLst/>
              <a:gdLst/>
              <a:ahLst/>
              <a:cxnLst/>
              <a:rect l="l" t="t" r="r" b="b"/>
              <a:pathLst>
                <a:path w="1800860" h="1004569">
                  <a:moveTo>
                    <a:pt x="103952" y="496366"/>
                  </a:moveTo>
                  <a:lnTo>
                    <a:pt x="480517" y="496366"/>
                  </a:lnTo>
                </a:path>
                <a:path w="1800860" h="1004569">
                  <a:moveTo>
                    <a:pt x="710001" y="496366"/>
                  </a:moveTo>
                  <a:lnTo>
                    <a:pt x="1087191" y="496366"/>
                  </a:lnTo>
                </a:path>
                <a:path w="1800860" h="1004569">
                  <a:moveTo>
                    <a:pt x="1316675" y="496366"/>
                  </a:moveTo>
                  <a:lnTo>
                    <a:pt x="1693224" y="496366"/>
                  </a:lnTo>
                </a:path>
                <a:path w="1800860" h="1004569">
                  <a:moveTo>
                    <a:pt x="587654" y="611108"/>
                  </a:moveTo>
                  <a:lnTo>
                    <a:pt x="587654" y="1004148"/>
                  </a:lnTo>
                </a:path>
                <a:path w="1800860" h="1004569">
                  <a:moveTo>
                    <a:pt x="1193688" y="611108"/>
                  </a:moveTo>
                  <a:lnTo>
                    <a:pt x="1193688" y="1004148"/>
                  </a:lnTo>
                </a:path>
                <a:path w="1800860" h="1004569">
                  <a:moveTo>
                    <a:pt x="1800362" y="611108"/>
                  </a:moveTo>
                  <a:lnTo>
                    <a:pt x="1800362" y="1004148"/>
                  </a:lnTo>
                </a:path>
                <a:path w="1800860" h="1004569">
                  <a:moveTo>
                    <a:pt x="0" y="0"/>
                  </a:moveTo>
                  <a:lnTo>
                    <a:pt x="0" y="393039"/>
                  </a:lnTo>
                </a:path>
              </a:pathLst>
            </a:custGeom>
            <a:ln w="158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79895" y="1006399"/>
              <a:ext cx="242802" cy="242162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082802" y="1006399"/>
              <a:ext cx="242162" cy="24216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880869" y="1006399"/>
              <a:ext cx="242787" cy="242162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482468" y="1006399"/>
              <a:ext cx="242162" cy="242162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4510963" y="1124630"/>
              <a:ext cx="1696085" cy="508000"/>
            </a:xfrm>
            <a:custGeom>
              <a:avLst/>
              <a:gdLst/>
              <a:ahLst/>
              <a:cxnLst/>
              <a:rect l="l" t="t" r="r" b="b"/>
              <a:pathLst>
                <a:path w="1696085" h="508000">
                  <a:moveTo>
                    <a:pt x="0" y="0"/>
                  </a:moveTo>
                  <a:lnTo>
                    <a:pt x="376549" y="0"/>
                  </a:lnTo>
                </a:path>
                <a:path w="1696085" h="508000">
                  <a:moveTo>
                    <a:pt x="606033" y="0"/>
                  </a:moveTo>
                  <a:lnTo>
                    <a:pt x="983223" y="0"/>
                  </a:lnTo>
                </a:path>
                <a:path w="1696085" h="508000">
                  <a:moveTo>
                    <a:pt x="1212707" y="0"/>
                  </a:moveTo>
                  <a:lnTo>
                    <a:pt x="1589272" y="0"/>
                  </a:lnTo>
                </a:path>
                <a:path w="1696085" h="508000">
                  <a:moveTo>
                    <a:pt x="483062" y="114741"/>
                  </a:moveTo>
                  <a:lnTo>
                    <a:pt x="483062" y="507781"/>
                  </a:lnTo>
                </a:path>
                <a:path w="1696085" h="508000">
                  <a:moveTo>
                    <a:pt x="1089096" y="114741"/>
                  </a:moveTo>
                  <a:lnTo>
                    <a:pt x="1089096" y="507781"/>
                  </a:lnTo>
                </a:path>
                <a:path w="1696085" h="508000">
                  <a:moveTo>
                    <a:pt x="1695770" y="114741"/>
                  </a:moveTo>
                  <a:lnTo>
                    <a:pt x="1695770" y="507781"/>
                  </a:lnTo>
                </a:path>
              </a:pathLst>
            </a:custGeom>
            <a:ln w="15848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/>
          <p:cNvSpPr txBox="1"/>
          <p:nvPr/>
        </p:nvSpPr>
        <p:spPr>
          <a:xfrm>
            <a:off x="1839467" y="938474"/>
            <a:ext cx="4550410" cy="2590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 marL="287655">
              <a:lnSpc>
                <a:spcPct val="100000"/>
              </a:lnSpc>
              <a:spcBef>
                <a:spcPts val="940"/>
              </a:spcBef>
              <a:tabLst>
                <a:tab pos="2858770" algn="l"/>
              </a:tabLst>
            </a:pPr>
            <a:r>
              <a:rPr dirty="0" sz="1450" spc="15">
                <a:solidFill>
                  <a:srgbClr val="FFFF00"/>
                </a:solidFill>
                <a:latin typeface="Arial"/>
                <a:cs typeface="Arial"/>
              </a:rPr>
              <a:t>Non-Hamiltonian	Hamiltonian</a:t>
            </a:r>
            <a:endParaRPr sz="145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863599" y="3595129"/>
            <a:ext cx="6358255" cy="8445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4414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 9.2: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Hamiltonian</a:t>
            </a:r>
            <a:r>
              <a:rPr dirty="0" sz="1200" spc="-5">
                <a:latin typeface="Times New Roman"/>
                <a:cs typeface="Times New Roman"/>
              </a:rPr>
              <a:t> Cycle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50">
              <a:latin typeface="Times New Roman"/>
              <a:cs typeface="Times New Roman"/>
            </a:endParaRPr>
          </a:p>
          <a:p>
            <a:pPr marL="50800" marR="17780">
              <a:lnSpc>
                <a:spcPct val="100000"/>
              </a:lnSpc>
            </a:pPr>
            <a:r>
              <a:rPr dirty="0" sz="1200" spc="-20">
                <a:latin typeface="Times New Roman"/>
                <a:cs typeface="Times New Roman"/>
              </a:rPr>
              <a:t>However, </a:t>
            </a:r>
            <a:r>
              <a:rPr dirty="0" sz="1200" spc="-5">
                <a:latin typeface="Times New Roman"/>
                <a:cs typeface="Times New Roman"/>
              </a:rPr>
              <a:t>suppose that a graph </a:t>
            </a:r>
            <a:r>
              <a:rPr dirty="0" sz="1200" spc="-10">
                <a:latin typeface="Times New Roman"/>
                <a:cs typeface="Times New Roman"/>
              </a:rPr>
              <a:t>did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Hamiltonian cycle.</a:t>
            </a:r>
            <a:r>
              <a:rPr dirty="0" sz="1200" spc="-5">
                <a:latin typeface="Times New Roman"/>
                <a:cs typeface="Times New Roman"/>
              </a:rPr>
              <a:t> It </a:t>
            </a:r>
            <a:r>
              <a:rPr dirty="0" sz="1200" spc="-10">
                <a:latin typeface="Times New Roman"/>
                <a:cs typeface="Times New Roman"/>
              </a:rPr>
              <a:t>would </a:t>
            </a:r>
            <a:r>
              <a:rPr dirty="0" sz="1200" spc="-5">
                <a:latin typeface="Times New Roman"/>
                <a:cs typeface="Times New Roman"/>
              </a:rPr>
              <a:t>be easy </a:t>
            </a:r>
            <a:r>
              <a:rPr dirty="0" sz="1200" spc="-10">
                <a:latin typeface="Times New Roman"/>
                <a:cs typeface="Times New Roman"/>
              </a:rPr>
              <a:t>for someone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5">
                <a:latin typeface="Times New Roman"/>
                <a:cs typeface="Times New Roman"/>
              </a:rPr>
              <a:t>convince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this.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“the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Segoe UI Symbol"/>
                <a:cs typeface="Segoe UI Symbol"/>
              </a:rPr>
              <a:t>⟨</a:t>
            </a:r>
            <a:r>
              <a:rPr dirty="0" sz="1200" spc="-5">
                <a:latin typeface="Lucida Sans Unicode"/>
                <a:cs typeface="Lucida Sans Unicode"/>
              </a:rPr>
              <a:t>v</a:t>
            </a:r>
            <a:r>
              <a:rPr dirty="0" baseline="-13888" sz="1200" spc="-7">
                <a:latin typeface="Verdana"/>
                <a:cs typeface="Verdana"/>
              </a:rPr>
              <a:t>3</a:t>
            </a:r>
            <a:r>
              <a:rPr dirty="0" sz="1200" spc="-5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v</a:t>
            </a:r>
            <a:r>
              <a:rPr dirty="0" baseline="-13888" sz="1200" spc="-60">
                <a:latin typeface="Verdana"/>
                <a:cs typeface="Verdana"/>
              </a:rPr>
              <a:t>7</a:t>
            </a:r>
            <a:r>
              <a:rPr dirty="0" sz="1200" spc="-40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v</a:t>
            </a:r>
            <a:r>
              <a:rPr dirty="0" baseline="-13888" sz="1200" spc="-60">
                <a:latin typeface="Verdana"/>
                <a:cs typeface="Verdana"/>
              </a:rPr>
              <a:t>1</a:t>
            </a:r>
            <a:r>
              <a:rPr dirty="0" sz="1200" spc="-4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-52">
                <a:latin typeface="Verdana"/>
                <a:cs typeface="Verdana"/>
              </a:rPr>
              <a:t>1</a:t>
            </a:r>
            <a:r>
              <a:rPr dirty="0" sz="1200" spc="-35">
                <a:latin typeface="Lucida Sans Unicode"/>
                <a:cs typeface="Lucida Sans Unicode"/>
              </a:rPr>
              <a:t>3</a:t>
            </a:r>
            <a:r>
              <a:rPr dirty="0" sz="1200" spc="-35">
                <a:latin typeface="Segoe UI Symbol"/>
                <a:cs typeface="Segoe UI Symbol"/>
              </a:rPr>
              <a:t>⟩</a:t>
            </a:r>
            <a:r>
              <a:rPr dirty="0" sz="1200" spc="-30">
                <a:latin typeface="Segoe UI Symbol"/>
                <a:cs typeface="Segoe UI Symbol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 inspect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901701" y="4415232"/>
            <a:ext cx="6434455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check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indeed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legal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visits all</a:t>
            </a:r>
            <a:r>
              <a:rPr dirty="0" sz="1200">
                <a:latin typeface="Times New Roman"/>
                <a:cs typeface="Times New Roman"/>
              </a:rPr>
              <a:t>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exactly</a:t>
            </a:r>
            <a:r>
              <a:rPr dirty="0" sz="1200" spc="-5">
                <a:latin typeface="Times New Roman"/>
                <a:cs typeface="Times New Roman"/>
              </a:rPr>
              <a:t> once.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even</a:t>
            </a:r>
            <a:r>
              <a:rPr dirty="0" sz="1200" spc="-10">
                <a:latin typeface="Times New Roman"/>
                <a:cs typeface="Times New Roman"/>
              </a:rPr>
              <a:t> though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 </a:t>
            </a:r>
            <a:r>
              <a:rPr dirty="0" sz="1200" spc="-10">
                <a:latin typeface="Times New Roman"/>
                <a:cs typeface="Times New Roman"/>
              </a:rPr>
              <a:t>efficient way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solve </a:t>
            </a:r>
            <a:r>
              <a:rPr dirty="0" sz="1200" spc="-10">
                <a:latin typeface="Times New Roman"/>
                <a:cs typeface="Times New Roman"/>
              </a:rPr>
              <a:t>the Hamiltonian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 problem,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very efficient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901699" y="4715500"/>
            <a:ext cx="6280785" cy="70675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verify </a:t>
            </a:r>
            <a:r>
              <a:rPr dirty="0" sz="1200" spc="-5">
                <a:latin typeface="Times New Roman"/>
                <a:cs typeface="Times New Roman"/>
              </a:rPr>
              <a:t>that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indeed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Hamiltonian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The piece of </a:t>
            </a:r>
            <a:r>
              <a:rPr dirty="0" sz="1200" spc="-10">
                <a:latin typeface="Times New Roman"/>
                <a:cs typeface="Times New Roman"/>
              </a:rPr>
              <a:t>information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allows verification </a:t>
            </a:r>
            <a:r>
              <a:rPr dirty="0" sz="1200" spc="-5">
                <a:latin typeface="Times New Roman"/>
                <a:cs typeface="Times New Roman"/>
              </a:rPr>
              <a:t>is called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certificate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Note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 spc="-10">
                <a:latin typeface="Times New Roman"/>
                <a:cs typeface="Times New Roman"/>
              </a:rPr>
              <a:t>problems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property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easy to </a:t>
            </a:r>
            <a:r>
              <a:rPr dirty="0" sz="1200" spc="-20">
                <a:latin typeface="Times New Roman"/>
                <a:cs typeface="Times New Roman"/>
              </a:rPr>
              <a:t>verify.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 spc="-5">
                <a:latin typeface="Times New Roman"/>
                <a:cs typeface="Times New Roman"/>
              </a:rPr>
              <a:t> consider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1286255" y="5923204"/>
            <a:ext cx="227965" cy="6350"/>
          </a:xfrm>
          <a:custGeom>
            <a:avLst/>
            <a:gdLst/>
            <a:ahLst/>
            <a:cxnLst/>
            <a:rect l="l" t="t" r="r" b="b"/>
            <a:pathLst>
              <a:path w="227965" h="6350">
                <a:moveTo>
                  <a:pt x="227456" y="0"/>
                </a:moveTo>
                <a:lnTo>
                  <a:pt x="0" y="0"/>
                </a:lnTo>
                <a:lnTo>
                  <a:pt x="0" y="6171"/>
                </a:lnTo>
                <a:lnTo>
                  <a:pt x="227456" y="6171"/>
                </a:lnTo>
                <a:lnTo>
                  <a:pt x="2274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 txBox="1"/>
          <p:nvPr/>
        </p:nvSpPr>
        <p:spPr>
          <a:xfrm>
            <a:off x="901696" y="5581320"/>
            <a:ext cx="6406515" cy="340232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4175" indent="-189230">
              <a:lnSpc>
                <a:spcPct val="100000"/>
              </a:lnSpc>
              <a:spcBef>
                <a:spcPts val="95"/>
              </a:spcBef>
              <a:buFont typeface="Times New Roman"/>
              <a:buAutoNum type="arabicPeriod"/>
              <a:tabLst>
                <a:tab pos="384810" algn="l"/>
              </a:tabLst>
            </a:pPr>
            <a:r>
              <a:rPr dirty="0" sz="1200" spc="55">
                <a:latin typeface="Lucida Sans Unicode"/>
                <a:cs typeface="Lucida Sans Unicode"/>
              </a:rPr>
              <a:t>UHC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{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G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15">
                <a:latin typeface="Lucida Sans Unicode"/>
                <a:cs typeface="Lucida Sans Unicode"/>
              </a:rPr>
              <a:t>|G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a </a:t>
            </a:r>
            <a:r>
              <a:rPr dirty="0" sz="1200" spc="-10">
                <a:latin typeface="Times New Roman"/>
                <a:cs typeface="Times New Roman"/>
              </a:rPr>
              <a:t>unique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Hamiltonian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 spc="-10">
                <a:latin typeface="Lucida Sans Unicode"/>
                <a:cs typeface="Lucida Sans Unicode"/>
              </a:rPr>
              <a:t>}</a:t>
            </a:r>
            <a:endParaRPr sz="1200">
              <a:latin typeface="Lucida Sans Unicode"/>
              <a:cs typeface="Lucida Sans Unicode"/>
            </a:endParaRPr>
          </a:p>
          <a:p>
            <a:pPr marL="384175" indent="-189230">
              <a:lnSpc>
                <a:spcPct val="100000"/>
              </a:lnSpc>
              <a:spcBef>
                <a:spcPts val="975"/>
              </a:spcBef>
              <a:buFont typeface="Times New Roman"/>
              <a:buAutoNum type="arabicPeriod"/>
              <a:tabLst>
                <a:tab pos="384810" algn="l"/>
              </a:tabLst>
            </a:pPr>
            <a:r>
              <a:rPr dirty="0" sz="1200" spc="35">
                <a:latin typeface="Lucida Sans Unicode"/>
                <a:cs typeface="Lucida Sans Unicode"/>
              </a:rPr>
              <a:t>HC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{</a:t>
            </a:r>
            <a:r>
              <a:rPr dirty="0" sz="1200" spc="15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G</a:t>
            </a:r>
            <a:r>
              <a:rPr dirty="0" sz="1200" spc="15">
                <a:latin typeface="Garamond"/>
                <a:cs typeface="Garamond"/>
              </a:rPr>
              <a:t>)</a:t>
            </a:r>
            <a:r>
              <a:rPr dirty="0" sz="1200" spc="15">
                <a:latin typeface="Lucida Sans Unicode"/>
                <a:cs typeface="Lucida Sans Unicode"/>
              </a:rPr>
              <a:t>|G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no</a:t>
            </a:r>
            <a:r>
              <a:rPr dirty="0" sz="1200" spc="-10">
                <a:latin typeface="Times New Roman"/>
                <a:cs typeface="Times New Roman"/>
              </a:rPr>
              <a:t> Hamiltonian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 spc="-10">
                <a:latin typeface="Lucida Sans Unicode"/>
                <a:cs typeface="Lucida Sans Unicode"/>
              </a:rPr>
              <a:t>}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698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Suppose that a graph </a:t>
            </a:r>
            <a:r>
              <a:rPr dirty="0" sz="1200" spc="45">
                <a:latin typeface="Lucida Sans Unicode"/>
                <a:cs typeface="Lucida Sans Unicode"/>
              </a:rPr>
              <a:t>G </a:t>
            </a:r>
            <a:r>
              <a:rPr dirty="0" sz="1200" spc="-5">
                <a:latin typeface="Times New Roman"/>
                <a:cs typeface="Times New Roman"/>
              </a:rPr>
              <a:t>is in </a:t>
            </a:r>
            <a:r>
              <a:rPr dirty="0" sz="1200" spc="40">
                <a:latin typeface="Lucida Sans Unicode"/>
                <a:cs typeface="Lucida Sans Unicode"/>
              </a:rPr>
              <a:t>UHC</a:t>
            </a:r>
            <a:r>
              <a:rPr dirty="0" sz="1200" spc="4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What </a:t>
            </a:r>
            <a:r>
              <a:rPr dirty="0" sz="1200" spc="-10">
                <a:latin typeface="Times New Roman"/>
                <a:cs typeface="Times New Roman"/>
              </a:rPr>
              <a:t>information would someone </a:t>
            </a:r>
            <a:r>
              <a:rPr dirty="0" sz="1200" spc="-20">
                <a:latin typeface="Times New Roman"/>
                <a:cs typeface="Times New Roman"/>
              </a:rPr>
              <a:t>give </a:t>
            </a:r>
            <a:r>
              <a:rPr dirty="0" sz="1200" spc="-5">
                <a:latin typeface="Times New Roman"/>
                <a:cs typeface="Times New Roman"/>
              </a:rPr>
              <a:t>us that </a:t>
            </a:r>
            <a:r>
              <a:rPr dirty="0" sz="1200" spc="-10">
                <a:latin typeface="Times New Roman"/>
                <a:cs typeface="Times New Roman"/>
              </a:rPr>
              <a:t>would allow </a:t>
            </a:r>
            <a:r>
              <a:rPr dirty="0" sz="1200" spc="-5">
                <a:latin typeface="Times New Roman"/>
                <a:cs typeface="Times New Roman"/>
              </a:rPr>
              <a:t>us to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verify</a:t>
            </a:r>
            <a:r>
              <a:rPr dirty="0" sz="1200" spc="-5">
                <a:latin typeface="Times New Roman"/>
                <a:cs typeface="Times New Roman"/>
              </a:rPr>
              <a:t> this?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give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unique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Hamiltonian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verify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Hamiltonian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certificate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give</a:t>
            </a:r>
            <a:r>
              <a:rPr dirty="0" sz="1200" spc="-5">
                <a:latin typeface="Times New Roman"/>
                <a:cs typeface="Times New Roman"/>
              </a:rPr>
              <a:t> 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convince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only 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one?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35"/>
              </a:spcBef>
            </a:pP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give</a:t>
            </a:r>
            <a:r>
              <a:rPr dirty="0" sz="1200" spc="-5">
                <a:latin typeface="Times New Roman"/>
                <a:cs typeface="Times New Roman"/>
              </a:rPr>
              <a:t> another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not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Hamiltonian.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does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mean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another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somewhere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Hamiltonian.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cycle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length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n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 </a:t>
            </a:r>
            <a:r>
              <a:rPr dirty="0" sz="1200" spc="-5">
                <a:latin typeface="Times New Roman"/>
                <a:cs typeface="Times New Roman"/>
              </a:rPr>
              <a:t>at all since there are </a:t>
            </a:r>
            <a:r>
              <a:rPr dirty="0" sz="1200" spc="70">
                <a:latin typeface="Lucida Sans Unicode"/>
                <a:cs typeface="Lucida Sans Unicode"/>
              </a:rPr>
              <a:t>n</a:t>
            </a:r>
            <a:r>
              <a:rPr dirty="0" sz="1200" spc="70">
                <a:latin typeface="Garamond"/>
                <a:cs typeface="Garamond"/>
              </a:rPr>
              <a:t>! </a:t>
            </a:r>
            <a:r>
              <a:rPr dirty="0" sz="1200" spc="-5">
                <a:latin typeface="Times New Roman"/>
                <a:cs typeface="Times New Roman"/>
              </a:rPr>
              <a:t>possible </a:t>
            </a:r>
            <a:r>
              <a:rPr dirty="0" sz="1200" spc="-10">
                <a:latin typeface="Times New Roman"/>
                <a:cs typeface="Times New Roman"/>
              </a:rPr>
              <a:t>cycles </a:t>
            </a:r>
            <a:r>
              <a:rPr dirty="0" sz="1200" spc="-5">
                <a:latin typeface="Times New Roman"/>
                <a:cs typeface="Times New Roman"/>
              </a:rPr>
              <a:t>in general. Thus it is hard to </a:t>
            </a:r>
            <a:r>
              <a:rPr dirty="0" sz="1200" spc="-10">
                <a:latin typeface="Times New Roman"/>
                <a:cs typeface="Times New Roman"/>
              </a:rPr>
              <a:t>imagine </a:t>
            </a:r>
            <a:r>
              <a:rPr dirty="0" sz="1200" spc="-5">
                <a:latin typeface="Times New Roman"/>
                <a:cs typeface="Times New Roman"/>
              </a:rPr>
              <a:t>that someone could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give</a:t>
            </a:r>
            <a:r>
              <a:rPr dirty="0" sz="1200" spc="-5">
                <a:latin typeface="Times New Roman"/>
                <a:cs typeface="Times New Roman"/>
              </a:rPr>
              <a:t> us some </a:t>
            </a:r>
            <a:r>
              <a:rPr dirty="0" sz="1200" spc="-10">
                <a:latin typeface="Times New Roman"/>
                <a:cs typeface="Times New Roman"/>
              </a:rPr>
              <a:t>information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allow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 to </a:t>
            </a:r>
            <a:r>
              <a:rPr dirty="0" sz="1200" spc="-10">
                <a:latin typeface="Times New Roman"/>
                <a:cs typeface="Times New Roman"/>
              </a:rPr>
              <a:t>efficiently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verify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UHC</a:t>
            </a:r>
            <a:r>
              <a:rPr dirty="0" sz="1200" spc="4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55"/>
              </a:spcBef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9.4	</a:t>
            </a:r>
            <a:r>
              <a:rPr dirty="0" sz="1700" spc="10" b="1">
                <a:latin typeface="Times New Roman"/>
                <a:cs typeface="Times New Roman"/>
              </a:rPr>
              <a:t>The</a:t>
            </a:r>
            <a:r>
              <a:rPr dirty="0" sz="1700" spc="-2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Class</a:t>
            </a:r>
            <a:r>
              <a:rPr dirty="0" sz="1700" spc="-20" b="1">
                <a:latin typeface="Times New Roman"/>
                <a:cs typeface="Times New Roman"/>
              </a:rPr>
              <a:t> </a:t>
            </a:r>
            <a:r>
              <a:rPr dirty="0" sz="1700" spc="10" b="1">
                <a:latin typeface="Times New Roman"/>
                <a:cs typeface="Times New Roman"/>
              </a:rPr>
              <a:t>NP</a:t>
            </a:r>
            <a:endParaRPr sz="1700">
              <a:latin typeface="Times New Roman"/>
              <a:cs typeface="Times New Roman"/>
            </a:endParaRPr>
          </a:p>
          <a:p>
            <a:pPr marL="12700" marR="71120">
              <a:lnSpc>
                <a:spcPct val="100000"/>
              </a:lnSpc>
              <a:spcBef>
                <a:spcPts val="1660"/>
              </a:spcBef>
            </a:pPr>
            <a:r>
              <a:rPr dirty="0" sz="1200" spc="-5">
                <a:latin typeface="Times New Roman"/>
                <a:cs typeface="Times New Roman"/>
              </a:rPr>
              <a:t>The class </a:t>
            </a:r>
            <a:r>
              <a:rPr dirty="0" sz="1200" spc="-10">
                <a:latin typeface="Times New Roman"/>
                <a:cs typeface="Times New Roman"/>
              </a:rPr>
              <a:t>NP </a:t>
            </a:r>
            <a:r>
              <a:rPr dirty="0" sz="1200" spc="-5">
                <a:latin typeface="Times New Roman"/>
                <a:cs typeface="Times New Roman"/>
              </a:rPr>
              <a:t>is a set of all </a:t>
            </a:r>
            <a:r>
              <a:rPr dirty="0" sz="1200" spc="-10">
                <a:latin typeface="Times New Roman"/>
                <a:cs typeface="Times New Roman"/>
              </a:rPr>
              <a:t>problems </a:t>
            </a:r>
            <a:r>
              <a:rPr dirty="0" sz="1200" spc="-5">
                <a:latin typeface="Times New Roman"/>
                <a:cs typeface="Times New Roman"/>
              </a:rPr>
              <a:t>that can be </a:t>
            </a:r>
            <a:r>
              <a:rPr dirty="0" sz="1200" spc="-10">
                <a:latin typeface="Times New Roman"/>
                <a:cs typeface="Times New Roman"/>
              </a:rPr>
              <a:t>verified </a:t>
            </a:r>
            <a:r>
              <a:rPr dirty="0" sz="1200" spc="-5">
                <a:latin typeface="Times New Roman"/>
                <a:cs typeface="Times New Roman"/>
              </a:rPr>
              <a:t>by a </a:t>
            </a:r>
            <a:r>
              <a:rPr dirty="0" sz="1200" spc="-15">
                <a:latin typeface="Times New Roman"/>
                <a:cs typeface="Times New Roman"/>
              </a:rPr>
              <a:t>polynomial </a:t>
            </a:r>
            <a:r>
              <a:rPr dirty="0" sz="1200" spc="-10">
                <a:latin typeface="Times New Roman"/>
                <a:cs typeface="Times New Roman"/>
              </a:rPr>
              <a:t>time algorithm.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Why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“NP”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“VP”?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original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stood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non-deterministic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polynomial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06347" y="3542842"/>
            <a:ext cx="1045210" cy="151130"/>
          </a:xfrm>
          <a:custGeom>
            <a:avLst/>
            <a:gdLst/>
            <a:ahLst/>
            <a:cxnLst/>
            <a:rect l="l" t="t" r="r" b="b"/>
            <a:pathLst>
              <a:path w="1045210" h="151129">
                <a:moveTo>
                  <a:pt x="1044714" y="0"/>
                </a:moveTo>
                <a:lnTo>
                  <a:pt x="0" y="0"/>
                </a:lnTo>
                <a:lnTo>
                  <a:pt x="0" y="151079"/>
                </a:lnTo>
                <a:lnTo>
                  <a:pt x="1044714" y="151079"/>
                </a:lnTo>
                <a:lnTo>
                  <a:pt x="1044714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0987"/>
            <a:ext cx="6426200" cy="23952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185535" algn="l"/>
              </a:tabLst>
            </a:pPr>
            <a:r>
              <a:rPr dirty="0" sz="1200" spc="-10">
                <a:latin typeface="Times New Roman"/>
                <a:cs typeface="Times New Roman"/>
              </a:rPr>
              <a:t>9.5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</a:t>
            </a:r>
            <a:r>
              <a:rPr dirty="0" sz="1200" spc="-10">
                <a:latin typeface="Times New Roman"/>
                <a:cs typeface="Times New Roman"/>
              </a:rPr>
              <a:t>DU</a:t>
            </a:r>
            <a:r>
              <a:rPr dirty="0" sz="1200" spc="-5">
                <a:latin typeface="Times New Roman"/>
                <a:cs typeface="Times New Roman"/>
              </a:rPr>
              <a:t>CT</a:t>
            </a:r>
            <a:r>
              <a:rPr dirty="0" sz="1200" spc="-10">
                <a:latin typeface="Times New Roman"/>
                <a:cs typeface="Times New Roman"/>
              </a:rPr>
              <a:t>ION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17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9906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referred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non-deterministic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computer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make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guesses.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computer </a:t>
            </a:r>
            <a:r>
              <a:rPr dirty="0" sz="1200" spc="-5">
                <a:latin typeface="Times New Roman"/>
                <a:cs typeface="Times New Roman"/>
              </a:rPr>
              <a:t> could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non-deterministically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guess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certificate.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verify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avoided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introducing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non-determinism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here;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covered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courses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automata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complexity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theory.</a:t>
            </a:r>
            <a:endParaRPr sz="1200">
              <a:latin typeface="Times New Roman"/>
              <a:cs typeface="Times New Roman"/>
            </a:endParaRPr>
          </a:p>
          <a:p>
            <a:pPr marL="12700" marR="215265" indent="-635">
              <a:lnSpc>
                <a:spcPct val="100000"/>
              </a:lnSpc>
              <a:spcBef>
                <a:spcPts val="535"/>
              </a:spcBef>
            </a:pPr>
            <a:r>
              <a:rPr dirty="0" sz="1200" spc="-10">
                <a:latin typeface="Times New Roman"/>
                <a:cs typeface="Times New Roman"/>
              </a:rPr>
              <a:t>Observe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⊆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NP</a:t>
            </a:r>
            <a:r>
              <a:rPr dirty="0" sz="1200" spc="5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other </a:t>
            </a:r>
            <a:r>
              <a:rPr dirty="0" sz="1200" spc="-10">
                <a:latin typeface="Times New Roman"/>
                <a:cs typeface="Times New Roman"/>
              </a:rPr>
              <a:t>words,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certainly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verify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formally,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certificate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problem;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can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 spc="-5">
                <a:latin typeface="Times New Roman"/>
                <a:cs typeface="Times New Roman"/>
              </a:rPr>
              <a:t> it in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anyway.</a:t>
            </a:r>
            <a:endParaRPr sz="1200">
              <a:latin typeface="Times New Roman"/>
              <a:cs typeface="Times New Roman"/>
            </a:endParaRPr>
          </a:p>
          <a:p>
            <a:pPr marL="12700" marR="53975">
              <a:lnSpc>
                <a:spcPct val="100000"/>
              </a:lnSpc>
              <a:spcBef>
                <a:spcPts val="530"/>
              </a:spcBef>
            </a:pPr>
            <a:r>
              <a:rPr dirty="0" sz="1200" spc="-20">
                <a:latin typeface="Times New Roman"/>
                <a:cs typeface="Times New Roman"/>
              </a:rPr>
              <a:t>However,</a:t>
            </a:r>
            <a:r>
              <a:rPr dirty="0" sz="1200" spc="-5">
                <a:latin typeface="Times New Roman"/>
                <a:cs typeface="Times New Roman"/>
              </a:rPr>
              <a:t> it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known</a:t>
            </a:r>
            <a:r>
              <a:rPr dirty="0" sz="1200" spc="-5">
                <a:latin typeface="Times New Roman"/>
                <a:cs typeface="Times New Roman"/>
              </a:rPr>
              <a:t> whether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-2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NP</a:t>
            </a:r>
            <a:r>
              <a:rPr dirty="0" sz="1200" spc="50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seems unreasonable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think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 spc="-5">
                <a:latin typeface="Times New Roman"/>
                <a:cs typeface="Times New Roman"/>
              </a:rPr>
              <a:t>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Being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able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verify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correct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-5">
                <a:latin typeface="Times New Roman"/>
                <a:cs typeface="Times New Roman"/>
              </a:rPr>
              <a:t> does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help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finding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actual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belief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-20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Segoe UI Symbol"/>
                <a:cs typeface="Segoe UI Symbol"/>
              </a:rPr>
              <a:t>/</a:t>
            </a:r>
            <a:r>
              <a:rPr dirty="0" sz="1200" spc="5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NP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no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has a </a:t>
            </a:r>
            <a:r>
              <a:rPr dirty="0" sz="1200" spc="-10">
                <a:latin typeface="Times New Roman"/>
                <a:cs typeface="Times New Roman"/>
              </a:rPr>
              <a:t>proof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this.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6" y="3459743"/>
            <a:ext cx="6426200" cy="552386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041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9.5	Reductions</a:t>
            </a:r>
            <a:endParaRPr sz="1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750">
              <a:latin typeface="Times New Roman"/>
              <a:cs typeface="Times New Roman"/>
            </a:endParaRPr>
          </a:p>
          <a:p>
            <a:pPr marL="12700" marR="3365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NP-complete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(NPC)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decision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NP)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efficiently.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were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even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single</a:t>
            </a:r>
            <a:endParaRPr sz="1200">
              <a:latin typeface="Times New Roman"/>
              <a:cs typeface="Times New Roman"/>
            </a:endParaRPr>
          </a:p>
          <a:p>
            <a:pPr marL="12700" marR="78105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Times New Roman"/>
                <a:cs typeface="Times New Roman"/>
              </a:rPr>
              <a:t>NP-complete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NPC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concept of </a:t>
            </a:r>
            <a:r>
              <a:rPr dirty="0" sz="1200" spc="-10" i="1">
                <a:latin typeface="Times New Roman"/>
                <a:cs typeface="Times New Roman"/>
              </a:rPr>
              <a:t>reductions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121920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 spc="-10">
                <a:latin typeface="Times New Roman"/>
                <a:cs typeface="Times New Roman"/>
              </a:rPr>
              <a:t>the question:</a:t>
            </a:r>
            <a:r>
              <a:rPr dirty="0" sz="1200" spc="-5">
                <a:latin typeface="Times New Roman"/>
                <a:cs typeface="Times New Roman"/>
              </a:rPr>
              <a:t> Suppose there are </a:t>
            </a:r>
            <a:r>
              <a:rPr dirty="0" sz="1200" spc="-10">
                <a:latin typeface="Times New Roman"/>
                <a:cs typeface="Times New Roman"/>
              </a:rPr>
              <a:t>two problems, </a:t>
            </a:r>
            <a:r>
              <a:rPr dirty="0" sz="1200" spc="90">
                <a:latin typeface="Lucida Sans Unicode"/>
                <a:cs typeface="Lucida Sans Unicode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45">
                <a:latin typeface="Lucida Sans Unicode"/>
                <a:cs typeface="Lucida Sans Unicode"/>
              </a:rPr>
              <a:t>B</a:t>
            </a:r>
            <a:r>
              <a:rPr dirty="0" sz="1200" spc="45">
                <a:latin typeface="Times New Roman"/>
                <a:cs typeface="Times New Roman"/>
              </a:rPr>
              <a:t>. </a:t>
            </a:r>
            <a:r>
              <a:rPr dirty="0" sz="1200" spc="-50">
                <a:latin typeface="Times New Roman"/>
                <a:cs typeface="Times New Roman"/>
              </a:rPr>
              <a:t>You </a:t>
            </a:r>
            <a:r>
              <a:rPr dirty="0" sz="1200" spc="-15">
                <a:latin typeface="Times New Roman"/>
                <a:cs typeface="Times New Roman"/>
              </a:rPr>
              <a:t>know </a:t>
            </a:r>
            <a:r>
              <a:rPr dirty="0" sz="1200" spc="-10">
                <a:latin typeface="Times New Roman"/>
                <a:cs typeface="Times New Roman"/>
              </a:rPr>
              <a:t>(or you strongly </a:t>
            </a:r>
            <a:r>
              <a:rPr dirty="0" sz="1200" spc="-15">
                <a:latin typeface="Times New Roman"/>
                <a:cs typeface="Times New Roman"/>
              </a:rPr>
              <a:t>believe 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least) that it is </a:t>
            </a:r>
            <a:r>
              <a:rPr dirty="0" sz="1200" spc="-10">
                <a:latin typeface="Times New Roman"/>
                <a:cs typeface="Times New Roman"/>
              </a:rPr>
              <a:t>impossible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solve problem </a:t>
            </a:r>
            <a:r>
              <a:rPr dirty="0" sz="1200" spc="90">
                <a:latin typeface="Lucida Sans Unicode"/>
                <a:cs typeface="Lucida Sans Unicode"/>
              </a:rPr>
              <a:t>A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polynomial </a:t>
            </a:r>
            <a:r>
              <a:rPr dirty="0" sz="1200" spc="-5">
                <a:latin typeface="Times New Roman"/>
                <a:cs typeface="Times New Roman"/>
              </a:rPr>
              <a:t>time. </a:t>
            </a:r>
            <a:r>
              <a:rPr dirty="0" sz="1200" spc="-50">
                <a:latin typeface="Times New Roman"/>
                <a:cs typeface="Times New Roman"/>
              </a:rPr>
              <a:t>You </a:t>
            </a:r>
            <a:r>
              <a:rPr dirty="0" sz="1200" spc="-10">
                <a:latin typeface="Times New Roman"/>
                <a:cs typeface="Times New Roman"/>
              </a:rPr>
              <a:t>want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5">
                <a:latin typeface="Times New Roman"/>
                <a:cs typeface="Times New Roman"/>
              </a:rPr>
              <a:t>prove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90">
                <a:latin typeface="Lucida Sans Unicode"/>
                <a:cs typeface="Lucida Sans Unicode"/>
              </a:rPr>
              <a:t>B </a:t>
            </a:r>
            <a:r>
              <a:rPr dirty="0" sz="1200" spc="-5">
                <a:latin typeface="Times New Roman"/>
                <a:cs typeface="Times New Roman"/>
              </a:rPr>
              <a:t>cannot be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solved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 spc="-10">
                <a:latin typeface="Times New Roman"/>
                <a:cs typeface="Times New Roman"/>
              </a:rPr>
              <a:t> polynomial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 spc="-5">
                <a:latin typeface="Times New Roman"/>
                <a:cs typeface="Times New Roman"/>
              </a:rPr>
              <a:t> to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9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A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265">
                <a:latin typeface="Segoe UI Symbol"/>
                <a:cs typeface="Segoe UI Symbol"/>
              </a:rPr>
              <a:t>/∈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P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265">
                <a:latin typeface="Segoe UI Symbol"/>
                <a:cs typeface="Segoe UI Symbol"/>
              </a:rPr>
              <a:t>/∈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P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2400">
              <a:latin typeface="Garamond"/>
              <a:cs typeface="Garamond"/>
            </a:endParaRPr>
          </a:p>
          <a:p>
            <a:pPr marL="12700" marR="621030">
              <a:lnSpc>
                <a:spcPct val="100000"/>
              </a:lnSpc>
            </a:pPr>
            <a:r>
              <a:rPr dirty="0" sz="1200" spc="-15">
                <a:latin typeface="Times New Roman"/>
                <a:cs typeface="Times New Roman"/>
              </a:rPr>
              <a:t>How </a:t>
            </a:r>
            <a:r>
              <a:rPr dirty="0" sz="1200" spc="-10">
                <a:latin typeface="Times New Roman"/>
                <a:cs typeface="Times New Roman"/>
              </a:rPr>
              <a:t>would you </a:t>
            </a:r>
            <a:r>
              <a:rPr dirty="0" sz="1200" spc="-5">
                <a:latin typeface="Times New Roman"/>
                <a:cs typeface="Times New Roman"/>
              </a:rPr>
              <a:t>do this? Consider an </a:t>
            </a:r>
            <a:r>
              <a:rPr dirty="0" sz="1200" spc="-10">
                <a:latin typeface="Times New Roman"/>
                <a:cs typeface="Times New Roman"/>
              </a:rPr>
              <a:t>example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illustrate reduction:</a:t>
            </a:r>
            <a:r>
              <a:rPr dirty="0" sz="1200" spc="-5">
                <a:latin typeface="Times New Roman"/>
                <a:cs typeface="Times New Roman"/>
              </a:rPr>
              <a:t> The </a:t>
            </a:r>
            <a:r>
              <a:rPr dirty="0" sz="1200" spc="-10">
                <a:latin typeface="Times New Roman"/>
                <a:cs typeface="Times New Roman"/>
              </a:rPr>
              <a:t>following problem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well-known </a:t>
            </a:r>
            <a:r>
              <a:rPr dirty="0" sz="1200" spc="-5">
                <a:latin typeface="Times New Roman"/>
                <a:cs typeface="Times New Roman"/>
              </a:rPr>
              <a:t>to be NPC: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Times New Roman"/>
              <a:cs typeface="Times New Roman"/>
            </a:endParaRPr>
          </a:p>
          <a:p>
            <a:pPr marL="384175" marR="5080" indent="-37211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3-color: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labelled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colors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 adjacent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 label </a:t>
            </a:r>
            <a:r>
              <a:rPr dirty="0" sz="1200" spc="-10">
                <a:latin typeface="Times New Roman"/>
                <a:cs typeface="Times New Roman"/>
              </a:rPr>
              <a:t>(color).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75565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Coloring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various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constraint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objects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assigned to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 set of </a:t>
            </a:r>
            <a:r>
              <a:rPr dirty="0" sz="1200" spc="-10">
                <a:latin typeface="Times New Roman"/>
                <a:cs typeface="Times New Roman"/>
              </a:rPr>
              <a:t>partitions.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term </a:t>
            </a:r>
            <a:r>
              <a:rPr dirty="0" sz="1200" spc="-10">
                <a:latin typeface="Times New Roman"/>
                <a:cs typeface="Times New Roman"/>
              </a:rPr>
              <a:t>“coloring” </a:t>
            </a:r>
            <a:r>
              <a:rPr dirty="0" sz="1200" spc="-5">
                <a:latin typeface="Times New Roman"/>
                <a:cs typeface="Times New Roman"/>
              </a:rPr>
              <a:t>comes </a:t>
            </a:r>
            <a:r>
              <a:rPr dirty="0" sz="1200" spc="-10">
                <a:latin typeface="Times New Roman"/>
                <a:cs typeface="Times New Roman"/>
              </a:rPr>
              <a:t>from the original </a:t>
            </a:r>
            <a:r>
              <a:rPr dirty="0" sz="1200" spc="-5">
                <a:latin typeface="Times New Roman"/>
                <a:cs typeface="Times New Roman"/>
              </a:rPr>
              <a:t>application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drawing.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Two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countries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share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common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border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should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colored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different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colors.</a:t>
            </a:r>
            <a:endParaRPr sz="1200">
              <a:latin typeface="Times New Roman"/>
              <a:cs typeface="Times New Roman"/>
            </a:endParaRPr>
          </a:p>
          <a:p>
            <a:pPr marL="12700" marR="138430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It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planar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colored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(maps)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four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colors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exists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determining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whether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colors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9.3,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left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colored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colors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while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graph on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</a:t>
            </a:r>
            <a:r>
              <a:rPr dirty="0" sz="1200" spc="-5">
                <a:latin typeface="Times New Roman"/>
                <a:cs typeface="Times New Roman"/>
              </a:rPr>
              <a:t> cannot be colored.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24013" y="7542428"/>
            <a:ext cx="6055995" cy="137795"/>
          </a:xfrm>
          <a:custGeom>
            <a:avLst/>
            <a:gdLst/>
            <a:ahLst/>
            <a:cxnLst/>
            <a:rect l="l" t="t" r="r" b="b"/>
            <a:pathLst>
              <a:path w="6055995" h="137795">
                <a:moveTo>
                  <a:pt x="6055448" y="0"/>
                </a:moveTo>
                <a:lnTo>
                  <a:pt x="0" y="0"/>
                </a:lnTo>
                <a:lnTo>
                  <a:pt x="0" y="137718"/>
                </a:lnTo>
                <a:lnTo>
                  <a:pt x="6055448" y="137718"/>
                </a:lnTo>
                <a:lnTo>
                  <a:pt x="6055448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17</a:t>
            </a:r>
            <a:r>
              <a:rPr dirty="0" sz="1200" spc="-5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751779" y="520987"/>
            <a:ext cx="257683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9.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COMPLEXITY</a:t>
            </a:r>
            <a:r>
              <a:rPr dirty="0" sz="1200" spc="-20">
                <a:latin typeface="Times New Roman"/>
                <a:cs typeface="Times New Roman"/>
              </a:rPr>
              <a:t> THEORY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1772411" y="939419"/>
            <a:ext cx="4648200" cy="2719705"/>
            <a:chOff x="1772411" y="939419"/>
            <a:chExt cx="4648200" cy="2719705"/>
          </a:xfrm>
        </p:grpSpPr>
        <p:sp>
          <p:nvSpPr>
            <p:cNvPr id="6" name="object 6"/>
            <p:cNvSpPr/>
            <p:nvPr/>
          </p:nvSpPr>
          <p:spPr>
            <a:xfrm>
              <a:off x="1772411" y="939419"/>
              <a:ext cx="4648200" cy="2719705"/>
            </a:xfrm>
            <a:custGeom>
              <a:avLst/>
              <a:gdLst/>
              <a:ahLst/>
              <a:cxnLst/>
              <a:rect l="l" t="t" r="r" b="b"/>
              <a:pathLst>
                <a:path w="4648200" h="2719704">
                  <a:moveTo>
                    <a:pt x="4648001" y="0"/>
                  </a:moveTo>
                  <a:lnTo>
                    <a:pt x="0" y="0"/>
                  </a:lnTo>
                  <a:lnTo>
                    <a:pt x="0" y="2719196"/>
                  </a:lnTo>
                  <a:lnTo>
                    <a:pt x="4648001" y="2719196"/>
                  </a:lnTo>
                  <a:lnTo>
                    <a:pt x="464800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72144" y="1009997"/>
              <a:ext cx="2149719" cy="218202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930216" y="1759437"/>
              <a:ext cx="1079500" cy="1209040"/>
            </a:xfrm>
            <a:custGeom>
              <a:avLst/>
              <a:gdLst/>
              <a:ahLst/>
              <a:cxnLst/>
              <a:rect l="l" t="t" r="r" b="b"/>
              <a:pathLst>
                <a:path w="1079500" h="1209039">
                  <a:moveTo>
                    <a:pt x="0" y="1023426"/>
                  </a:moveTo>
                  <a:lnTo>
                    <a:pt x="474786" y="1208714"/>
                  </a:lnTo>
                </a:path>
                <a:path w="1079500" h="1209039">
                  <a:moveTo>
                    <a:pt x="1079479" y="0"/>
                  </a:moveTo>
                  <a:lnTo>
                    <a:pt x="0" y="875705"/>
                  </a:lnTo>
                </a:path>
              </a:pathLst>
            </a:custGeom>
            <a:ln w="1648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15290" y="2455450"/>
              <a:ext cx="251897" cy="251897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11585" y="1912754"/>
              <a:ext cx="252553" cy="25255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90161" y="2858365"/>
              <a:ext cx="252568" cy="252553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566879" y="1512808"/>
              <a:ext cx="1574800" cy="1418590"/>
            </a:xfrm>
            <a:custGeom>
              <a:avLst/>
              <a:gdLst/>
              <a:ahLst/>
              <a:cxnLst/>
              <a:rect l="l" t="t" r="r" b="b"/>
              <a:pathLst>
                <a:path w="1574800" h="1418589">
                  <a:moveTo>
                    <a:pt x="0" y="641619"/>
                  </a:moveTo>
                  <a:lnTo>
                    <a:pt x="197159" y="1085408"/>
                  </a:lnTo>
                </a:path>
                <a:path w="1574800" h="1418589">
                  <a:moveTo>
                    <a:pt x="73853" y="579638"/>
                  </a:moveTo>
                  <a:lnTo>
                    <a:pt x="887577" y="1357091"/>
                  </a:lnTo>
                </a:path>
                <a:path w="1574800" h="1418589">
                  <a:moveTo>
                    <a:pt x="1492270" y="1134861"/>
                  </a:moveTo>
                  <a:lnTo>
                    <a:pt x="1072880" y="1418417"/>
                  </a:lnTo>
                </a:path>
                <a:path w="1574800" h="1418589">
                  <a:moveTo>
                    <a:pt x="1566778" y="283555"/>
                  </a:moveTo>
                  <a:lnTo>
                    <a:pt x="1574703" y="940993"/>
                  </a:lnTo>
                </a:path>
                <a:path w="1574800" h="1418589">
                  <a:moveTo>
                    <a:pt x="315864" y="0"/>
                  </a:moveTo>
                  <a:lnTo>
                    <a:pt x="265084" y="1085408"/>
                  </a:lnTo>
                </a:path>
              </a:pathLst>
            </a:custGeom>
            <a:ln w="1648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07653" y="2587337"/>
              <a:ext cx="252568" cy="25189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990891" y="1559293"/>
              <a:ext cx="251913" cy="251913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62395" y="1273116"/>
              <a:ext cx="252553" cy="252553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381596" y="1131338"/>
              <a:ext cx="253208" cy="25255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4560935" y="1278052"/>
              <a:ext cx="1504950" cy="1209040"/>
            </a:xfrm>
            <a:custGeom>
              <a:avLst/>
              <a:gdLst/>
              <a:ahLst/>
              <a:cxnLst/>
              <a:rect l="l" t="t" r="r" b="b"/>
              <a:pathLst>
                <a:path w="1504950" h="1209039">
                  <a:moveTo>
                    <a:pt x="429280" y="135849"/>
                  </a:moveTo>
                  <a:lnTo>
                    <a:pt x="1424360" y="382463"/>
                  </a:lnTo>
                </a:path>
                <a:path w="1504950" h="1209039">
                  <a:moveTo>
                    <a:pt x="425333" y="61996"/>
                  </a:moveTo>
                  <a:lnTo>
                    <a:pt x="832195" y="0"/>
                  </a:lnTo>
                </a:path>
                <a:path w="1504950" h="1209039">
                  <a:moveTo>
                    <a:pt x="1061008" y="43525"/>
                  </a:moveTo>
                  <a:lnTo>
                    <a:pt x="1473814" y="308609"/>
                  </a:lnTo>
                </a:path>
                <a:path w="1504950" h="1209039">
                  <a:moveTo>
                    <a:pt x="252557" y="234756"/>
                  </a:moveTo>
                  <a:lnTo>
                    <a:pt x="0" y="635020"/>
                  </a:lnTo>
                </a:path>
                <a:path w="1504950" h="1209039">
                  <a:moveTo>
                    <a:pt x="961445" y="98252"/>
                  </a:moveTo>
                  <a:lnTo>
                    <a:pt x="1504812" y="1208730"/>
                  </a:lnTo>
                </a:path>
              </a:pathLst>
            </a:custGeom>
            <a:ln w="1648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/>
          <p:nvPr/>
        </p:nvSpPr>
        <p:spPr>
          <a:xfrm>
            <a:off x="1772411" y="939419"/>
            <a:ext cx="4648200" cy="27197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550">
              <a:latin typeface="Times New Roman"/>
              <a:cs typeface="Times New Roman"/>
            </a:endParaRPr>
          </a:p>
          <a:p>
            <a:pPr marL="387350">
              <a:lnSpc>
                <a:spcPct val="100000"/>
              </a:lnSpc>
              <a:tabLst>
                <a:tab pos="2910840" algn="l"/>
              </a:tabLst>
            </a:pP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3-Colorable	Not</a:t>
            </a:r>
            <a:r>
              <a:rPr dirty="0" sz="1550" spc="-3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550" spc="-5">
                <a:solidFill>
                  <a:srgbClr val="FFFF00"/>
                </a:solidFill>
                <a:latin typeface="Arial"/>
                <a:cs typeface="Arial"/>
              </a:rPr>
              <a:t>3-colorable</a:t>
            </a:r>
            <a:endParaRPr sz="155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01699" y="3723832"/>
            <a:ext cx="6142990" cy="147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28321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9.3: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Examples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3-colorable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non-3-colorable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Example1:</a:t>
            </a:r>
            <a:r>
              <a:rPr dirty="0" sz="1200" spc="5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Fish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tank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problem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Consider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coloring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approach.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tropical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fish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hobbyist </a:t>
            </a:r>
            <a:r>
              <a:rPr dirty="0" sz="1200" spc="-5">
                <a:latin typeface="Times New Roman"/>
                <a:cs typeface="Times New Roman"/>
              </a:rPr>
              <a:t>has six </a:t>
            </a:r>
            <a:r>
              <a:rPr dirty="0" sz="1200" spc="-10">
                <a:latin typeface="Times New Roman"/>
                <a:cs typeface="Times New Roman"/>
              </a:rPr>
              <a:t>different </a:t>
            </a:r>
            <a:r>
              <a:rPr dirty="0" sz="1200" spc="-5">
                <a:latin typeface="Times New Roman"/>
                <a:cs typeface="Times New Roman"/>
              </a:rPr>
              <a:t>types of fish designated by A, B, C, D, E, and </a:t>
            </a:r>
            <a:r>
              <a:rPr dirty="0" sz="1200" spc="-50">
                <a:latin typeface="Times New Roman"/>
                <a:cs typeface="Times New Roman"/>
              </a:rPr>
              <a:t>F, </a:t>
            </a:r>
            <a:r>
              <a:rPr dirty="0" sz="1200" spc="-15">
                <a:latin typeface="Times New Roman"/>
                <a:cs typeface="Times New Roman"/>
              </a:rPr>
              <a:t>respectively.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Because 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predator-prey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relationships,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water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conditions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size, 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fish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kept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tank.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table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 spc="-5">
                <a:latin typeface="Times New Roman"/>
                <a:cs typeface="Times New Roman"/>
              </a:rPr>
              <a:t> fish cannot be </a:t>
            </a:r>
            <a:r>
              <a:rPr dirty="0" sz="1200" spc="-10">
                <a:latin typeface="Times New Roman"/>
                <a:cs typeface="Times New Roman"/>
              </a:rPr>
              <a:t>together: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3346703" y="5393880"/>
          <a:ext cx="1539875" cy="13252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0850"/>
                <a:gridCol w="1080135"/>
              </a:tblGrid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Type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Cannot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with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B,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B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,C,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A,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B,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D,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C,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451"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B,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C,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975"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5"/>
                        </a:lnSpc>
                      </a:pPr>
                      <a:r>
                        <a:rPr dirty="0" sz="1200" spc="-5">
                          <a:latin typeface="Times New Roman"/>
                          <a:cs typeface="Times New Roman"/>
                        </a:rPr>
                        <a:t>D,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1" name="object 21"/>
          <p:cNvSpPr txBox="1"/>
          <p:nvPr/>
        </p:nvSpPr>
        <p:spPr>
          <a:xfrm>
            <a:off x="901699" y="6867423"/>
            <a:ext cx="6397625" cy="13741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2476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These constraints can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displayed as a 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an edge between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exists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 </a:t>
            </a:r>
            <a:r>
              <a:rPr dirty="0" sz="1200" spc="-5">
                <a:latin typeface="Times New Roman"/>
                <a:cs typeface="Times New Roman"/>
              </a:rPr>
              <a:t> species cannot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together.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9.4.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C;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 between A and B and between 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C.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30"/>
              </a:spcBef>
            </a:pP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these constraints,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What 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smallest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tanks needed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keep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fish?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answer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coloring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adjacent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color. 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particular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3-colorable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therefore,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 fish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tanks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enough.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depicted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9.5. </a:t>
            </a:r>
            <a:r>
              <a:rPr dirty="0" sz="1200" spc="-5">
                <a:latin typeface="Times New Roman"/>
                <a:cs typeface="Times New Roman"/>
              </a:rPr>
              <a:t>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 fish tanks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hold</a:t>
            </a:r>
            <a:r>
              <a:rPr dirty="0" sz="1200" spc="-5">
                <a:latin typeface="Times New Roman"/>
                <a:cs typeface="Times New Roman"/>
              </a:rPr>
              <a:t> fish as </a:t>
            </a:r>
            <a:r>
              <a:rPr dirty="0" sz="1200" spc="-10">
                <a:latin typeface="Times New Roman"/>
                <a:cs typeface="Times New Roman"/>
              </a:rPr>
              <a:t>follows: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3264408" y="8451025"/>
          <a:ext cx="1704339" cy="5645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65150"/>
                <a:gridCol w="565150"/>
                <a:gridCol w="565150"/>
              </a:tblGrid>
              <a:tr h="2788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dirty="0" sz="1200" spc="-3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Tank</a:t>
                      </a:r>
                      <a:r>
                        <a:rPr dirty="0" sz="1200" spc="-45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19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dirty="0" sz="1200" spc="-30">
                          <a:solidFill>
                            <a:srgbClr val="00FF00"/>
                          </a:solidFill>
                          <a:latin typeface="Times New Roman"/>
                          <a:cs typeface="Times New Roman"/>
                        </a:rPr>
                        <a:t>Tank</a:t>
                      </a:r>
                      <a:r>
                        <a:rPr dirty="0" sz="1200" spc="-45">
                          <a:solidFill>
                            <a:srgbClr val="00FF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solidFill>
                            <a:srgbClr val="00FF0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19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dirty="0" sz="1200" spc="-3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Tank</a:t>
                      </a:r>
                      <a:r>
                        <a:rPr dirty="0" sz="1200" spc="-45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19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804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200" spc="-5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A,</a:t>
                      </a:r>
                      <a:r>
                        <a:rPr dirty="0" sz="1200" spc="-5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200" spc="-95">
                          <a:solidFill>
                            <a:srgbClr val="00FF00"/>
                          </a:solidFill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200">
                          <a:solidFill>
                            <a:srgbClr val="00FF00"/>
                          </a:solidFill>
                          <a:latin typeface="Times New Roman"/>
                          <a:cs typeface="Times New Roman"/>
                        </a:rPr>
                        <a:t>,</a:t>
                      </a:r>
                      <a:r>
                        <a:rPr dirty="0" sz="1200" spc="-5">
                          <a:solidFill>
                            <a:srgbClr val="00FF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00FF00"/>
                          </a:solidFill>
                          <a:latin typeface="Times New Roman"/>
                          <a:cs typeface="Times New Roman"/>
                        </a:rPr>
                        <a:t>C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200" spc="-5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B,</a:t>
                      </a:r>
                      <a:r>
                        <a:rPr dirty="0" sz="1200" spc="-45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4412" y="5061254"/>
            <a:ext cx="1096645" cy="139065"/>
          </a:xfrm>
          <a:custGeom>
            <a:avLst/>
            <a:gdLst/>
            <a:ahLst/>
            <a:cxnLst/>
            <a:rect l="l" t="t" r="r" b="b"/>
            <a:pathLst>
              <a:path w="1096645" h="139064">
                <a:moveTo>
                  <a:pt x="1096035" y="0"/>
                </a:moveTo>
                <a:lnTo>
                  <a:pt x="0" y="0"/>
                </a:lnTo>
                <a:lnTo>
                  <a:pt x="0" y="138772"/>
                </a:lnTo>
                <a:lnTo>
                  <a:pt x="1096035" y="138772"/>
                </a:lnTo>
                <a:lnTo>
                  <a:pt x="1096035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0987"/>
            <a:ext cx="129984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9.5.</a:t>
            </a:r>
            <a:r>
              <a:rPr dirty="0" sz="1200" spc="3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REDUCTIONS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17</a:t>
            </a:r>
            <a:r>
              <a:rPr dirty="0" sz="1200" spc="-5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1193291" y="1267658"/>
            <a:ext cx="2376170" cy="2362200"/>
            <a:chOff x="1193291" y="1267658"/>
            <a:chExt cx="2376170" cy="2362200"/>
          </a:xfrm>
        </p:grpSpPr>
        <p:sp>
          <p:nvSpPr>
            <p:cNvPr id="6" name="object 6"/>
            <p:cNvSpPr/>
            <p:nvPr/>
          </p:nvSpPr>
          <p:spPr>
            <a:xfrm>
              <a:off x="1193291" y="1267658"/>
              <a:ext cx="2376170" cy="2362200"/>
            </a:xfrm>
            <a:custGeom>
              <a:avLst/>
              <a:gdLst/>
              <a:ahLst/>
              <a:cxnLst/>
              <a:rect l="l" t="t" r="r" b="b"/>
              <a:pathLst>
                <a:path w="2376170" h="2362200">
                  <a:moveTo>
                    <a:pt x="2376175" y="0"/>
                  </a:moveTo>
                  <a:lnTo>
                    <a:pt x="0" y="0"/>
                  </a:lnTo>
                  <a:lnTo>
                    <a:pt x="0" y="2362001"/>
                  </a:lnTo>
                  <a:lnTo>
                    <a:pt x="2376175" y="2362001"/>
                  </a:lnTo>
                  <a:lnTo>
                    <a:pt x="2376175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660291" y="2105431"/>
              <a:ext cx="1399540" cy="1113790"/>
            </a:xfrm>
            <a:custGeom>
              <a:avLst/>
              <a:gdLst/>
              <a:ahLst/>
              <a:cxnLst/>
              <a:rect l="l" t="t" r="r" b="b"/>
              <a:pathLst>
                <a:path w="1399539" h="1113789">
                  <a:moveTo>
                    <a:pt x="0" y="503864"/>
                  </a:moveTo>
                  <a:lnTo>
                    <a:pt x="789523" y="1113723"/>
                  </a:lnTo>
                </a:path>
                <a:path w="1399539" h="1113789">
                  <a:moveTo>
                    <a:pt x="1399367" y="0"/>
                  </a:moveTo>
                  <a:lnTo>
                    <a:pt x="932352" y="1054775"/>
                  </a:lnTo>
                </a:path>
              </a:pathLst>
            </a:custGeom>
            <a:ln w="1416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54832" y="2412915"/>
              <a:ext cx="241454" cy="241443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32167" y="2757507"/>
              <a:ext cx="242022" cy="241458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28556" y="3146889"/>
              <a:ext cx="242007" cy="241443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1607012" y="1893458"/>
              <a:ext cx="1546225" cy="1315085"/>
            </a:xfrm>
            <a:custGeom>
              <a:avLst/>
              <a:gdLst/>
              <a:ahLst/>
              <a:cxnLst/>
              <a:rect l="l" t="t" r="r" b="b"/>
              <a:pathLst>
                <a:path w="1546225" h="1315085">
                  <a:moveTo>
                    <a:pt x="233507" y="37414"/>
                  </a:moveTo>
                  <a:lnTo>
                    <a:pt x="0" y="530504"/>
                  </a:lnTo>
                </a:path>
                <a:path w="1546225" h="1315085">
                  <a:moveTo>
                    <a:pt x="360471" y="0"/>
                  </a:moveTo>
                  <a:lnTo>
                    <a:pt x="1454353" y="945382"/>
                  </a:lnTo>
                </a:path>
                <a:path w="1546225" h="1315085">
                  <a:moveTo>
                    <a:pt x="1466819" y="1048542"/>
                  </a:moveTo>
                  <a:lnTo>
                    <a:pt x="1028136" y="1314922"/>
                  </a:lnTo>
                </a:path>
                <a:path w="1546225" h="1315085">
                  <a:moveTo>
                    <a:pt x="1538234" y="226146"/>
                  </a:moveTo>
                  <a:lnTo>
                    <a:pt x="1546174" y="861501"/>
                  </a:lnTo>
                </a:path>
              </a:pathLst>
            </a:custGeom>
            <a:ln w="1416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58057" y="1706145"/>
              <a:ext cx="242007" cy="241443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20616" y="1478871"/>
              <a:ext cx="242022" cy="241443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08362" y="1892042"/>
              <a:ext cx="242022" cy="24144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555793" y="1628206"/>
              <a:ext cx="523875" cy="1159510"/>
            </a:xfrm>
            <a:custGeom>
              <a:avLst/>
              <a:gdLst/>
              <a:ahLst/>
              <a:cxnLst/>
              <a:rect l="l" t="t" r="r" b="b"/>
              <a:pathLst>
                <a:path w="523875" h="1159510">
                  <a:moveTo>
                    <a:pt x="85023" y="0"/>
                  </a:moveTo>
                  <a:lnTo>
                    <a:pt x="494233" y="289057"/>
                  </a:lnTo>
                </a:path>
                <a:path w="523875" h="1159510">
                  <a:moveTo>
                    <a:pt x="0" y="86715"/>
                  </a:moveTo>
                  <a:lnTo>
                    <a:pt x="523707" y="1159062"/>
                  </a:lnTo>
                </a:path>
              </a:pathLst>
            </a:custGeom>
            <a:ln w="1416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1193291" y="1267658"/>
            <a:ext cx="2376170" cy="236220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ctr" marL="340995">
              <a:lnSpc>
                <a:spcPct val="100000"/>
              </a:lnSpc>
              <a:spcBef>
                <a:spcPts val="229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Arial"/>
              <a:cs typeface="Arial"/>
            </a:endParaRPr>
          </a:p>
          <a:p>
            <a:pPr marL="437515">
              <a:lnSpc>
                <a:spcPts val="1445"/>
              </a:lnSpc>
              <a:spcBef>
                <a:spcPts val="5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300">
              <a:latin typeface="Arial"/>
              <a:cs typeface="Arial"/>
            </a:endParaRPr>
          </a:p>
          <a:p>
            <a:pPr marL="2078989">
              <a:lnSpc>
                <a:spcPts val="1445"/>
              </a:lnSpc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Arial"/>
              <a:cs typeface="Arial"/>
            </a:endParaRPr>
          </a:p>
          <a:p>
            <a:pPr marL="158750">
              <a:lnSpc>
                <a:spcPct val="100000"/>
              </a:lnSpc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Arial"/>
              <a:cs typeface="Arial"/>
            </a:endParaRPr>
          </a:p>
          <a:p>
            <a:pPr marL="2099310">
              <a:lnSpc>
                <a:spcPct val="100000"/>
              </a:lnSpc>
            </a:pPr>
            <a:r>
              <a:rPr dirty="0" sz="1300" spc="20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00">
              <a:latin typeface="Arial"/>
              <a:cs typeface="Arial"/>
            </a:endParaRPr>
          </a:p>
          <a:p>
            <a:pPr algn="ctr" marL="349250">
              <a:lnSpc>
                <a:spcPct val="100000"/>
              </a:lnSpc>
            </a:pPr>
            <a:r>
              <a:rPr dirty="0" sz="1300" spc="2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3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38210" y="3695599"/>
            <a:ext cx="6527800" cy="2239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5565" marR="43180">
              <a:lnSpc>
                <a:spcPct val="100000"/>
              </a:lnSpc>
              <a:spcBef>
                <a:spcPts val="95"/>
              </a:spcBef>
              <a:tabLst>
                <a:tab pos="3504565" algn="l"/>
              </a:tabLst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9.4:</a:t>
            </a:r>
            <a:r>
              <a:rPr dirty="0" sz="1200" spc="509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representing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constraints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be-	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9.5: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Fish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tank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colored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colors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tween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fish species</a:t>
            </a:r>
            <a:endParaRPr sz="1200">
              <a:latin typeface="Times New Roman"/>
              <a:cs typeface="Times New Roman"/>
            </a:endParaRPr>
          </a:p>
          <a:p>
            <a:pPr marL="75565" marR="93345">
              <a:lnSpc>
                <a:spcPct val="100000"/>
              </a:lnSpc>
              <a:spcBef>
                <a:spcPts val="265"/>
              </a:spcBef>
            </a:pP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3-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olo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(3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ol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</a:t>
            </a:r>
            <a:r>
              <a:rPr dirty="0" sz="1200" spc="-5">
                <a:latin typeface="Times New Roman"/>
                <a:cs typeface="Times New Roman"/>
              </a:rPr>
              <a:t>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pl</a:t>
            </a:r>
            <a:r>
              <a:rPr dirty="0" sz="1200" spc="-5">
                <a:latin typeface="Times New Roman"/>
                <a:cs typeface="Times New Roman"/>
              </a:rPr>
              <a:t>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rol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trongl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ol</a:t>
            </a:r>
            <a:r>
              <a:rPr dirty="0" sz="1200" spc="-3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bl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 </a:t>
            </a:r>
            <a:r>
              <a:rPr dirty="0" sz="1200" spc="-10">
                <a:latin typeface="Times New Roman"/>
                <a:cs typeface="Times New Roman"/>
              </a:rPr>
              <a:t>polynomi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</a:t>
            </a:r>
            <a:r>
              <a:rPr dirty="0" sz="1200" spc="-5">
                <a:latin typeface="Times New Roman"/>
                <a:cs typeface="Times New Roman"/>
              </a:rPr>
              <a:t>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</a:t>
            </a:r>
            <a:r>
              <a:rPr dirty="0" sz="1200" spc="-5">
                <a:latin typeface="Times New Roman"/>
                <a:cs typeface="Times New Roman"/>
              </a:rPr>
              <a:t>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id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</a:t>
            </a:r>
            <a:r>
              <a:rPr dirty="0" sz="1200" spc="-35">
                <a:latin typeface="Times New Roman"/>
                <a:cs typeface="Times New Roman"/>
              </a:rPr>
              <a:t>o</a:t>
            </a:r>
            <a:r>
              <a:rPr dirty="0" sz="1200" spc="-10">
                <a:latin typeface="Times New Roman"/>
                <a:cs typeface="Times New Roman"/>
              </a:rPr>
              <a:t>win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2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ub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rti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44">
                <a:latin typeface="Cambria"/>
                <a:cs typeface="Cambria"/>
              </a:rPr>
              <a:t> </a:t>
            </a:r>
            <a:r>
              <a:rPr dirty="0" sz="1200" spc="70">
                <a:latin typeface="Segoe UI Symbol"/>
                <a:cs typeface="Segoe UI Symbol"/>
              </a:rPr>
              <a:t>⊆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c</a:t>
            </a:r>
            <a:r>
              <a:rPr dirty="0" sz="1200" spc="-10" i="1">
                <a:latin typeface="Times New Roman"/>
                <a:cs typeface="Times New Roman"/>
              </a:rPr>
              <a:t>liqu</a:t>
            </a:r>
            <a:r>
              <a:rPr dirty="0" sz="1200" spc="-5" i="1">
                <a:latin typeface="Times New Roman"/>
                <a:cs typeface="Times New Roman"/>
              </a:rPr>
              <a:t>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e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rti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120">
                <a:latin typeface="Cambria"/>
                <a:cs typeface="Cambria"/>
              </a:rPr>
              <a:t>j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10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ubgr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indu</a:t>
            </a:r>
            <a:r>
              <a:rPr dirty="0" sz="1200" spc="-5">
                <a:latin typeface="Times New Roman"/>
                <a:cs typeface="Times New Roman"/>
              </a:rPr>
              <a:t>ced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ompl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ph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447675" marR="102870" indent="-372110">
              <a:lnSpc>
                <a:spcPct val="100000"/>
              </a:lnSpc>
              <a:spcBef>
                <a:spcPts val="1375"/>
              </a:spcBef>
              <a:tabLst>
                <a:tab pos="839469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Clique </a:t>
            </a:r>
            <a:r>
              <a:rPr dirty="0" sz="1200" spc="-120" b="1">
                <a:latin typeface="Times New Roman"/>
                <a:cs typeface="Times New Roman"/>
              </a:rPr>
              <a:t>Co</a:t>
            </a:r>
            <a:r>
              <a:rPr dirty="0" baseline="-25462" sz="1800" spc="-179">
                <a:latin typeface="Gulim"/>
                <a:cs typeface="Gulim"/>
              </a:rPr>
              <a:t>S</a:t>
            </a:r>
            <a:r>
              <a:rPr dirty="0" sz="1200" spc="-120" b="1">
                <a:latin typeface="Times New Roman"/>
                <a:cs typeface="Times New Roman"/>
              </a:rPr>
              <a:t>ver:</a:t>
            </a:r>
            <a:r>
              <a:rPr dirty="0" sz="1200" spc="-65" b="1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integer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subsets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-52">
                <a:latin typeface="Verdana"/>
                <a:cs typeface="Verdana"/>
              </a:rPr>
              <a:t>1</a:t>
            </a:r>
            <a:r>
              <a:rPr dirty="0" sz="1200" spc="-35">
                <a:latin typeface="Lucida Sans Unicode"/>
                <a:cs typeface="Lucida Sans Unicode"/>
              </a:rPr>
              <a:t>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V</a:t>
            </a:r>
            <a:r>
              <a:rPr dirty="0" baseline="-13888" sz="1200" spc="-52">
                <a:latin typeface="Verdana"/>
                <a:cs typeface="Verdana"/>
              </a:rPr>
              <a:t>2</a:t>
            </a:r>
            <a:r>
              <a:rPr dirty="0" sz="1200" spc="-35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.</a:t>
            </a:r>
            <a:r>
              <a:rPr dirty="0" sz="1200" spc="-17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V</a:t>
            </a:r>
            <a:r>
              <a:rPr dirty="0" baseline="-13888" sz="1200" spc="15">
                <a:latin typeface="Verdana"/>
                <a:cs typeface="Verdana"/>
              </a:rPr>
              <a:t>k</a:t>
            </a:r>
            <a:r>
              <a:rPr dirty="0" sz="1200" spc="1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	</a:t>
            </a:r>
            <a:r>
              <a:rPr dirty="0" baseline="-24305" sz="1200" spc="225">
                <a:latin typeface="Verdana"/>
                <a:cs typeface="Verdana"/>
              </a:rPr>
              <a:t>i</a:t>
            </a:r>
            <a:r>
              <a:rPr dirty="0" baseline="-24305" sz="1200" spc="-157">
                <a:latin typeface="Verdana"/>
                <a:cs typeface="Verdana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V</a:t>
            </a:r>
            <a:r>
              <a:rPr dirty="0" baseline="-13888" sz="1200" spc="97">
                <a:latin typeface="Verdana"/>
                <a:cs typeface="Verdana"/>
              </a:rPr>
              <a:t>i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V</a:t>
            </a:r>
            <a:r>
              <a:rPr dirty="0" sz="1200" spc="4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and that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V</a:t>
            </a:r>
            <a:r>
              <a:rPr dirty="0" baseline="-13888" sz="1200" spc="97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clique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76200" marR="198120">
              <a:lnSpc>
                <a:spcPct val="100000"/>
              </a:lnSpc>
              <a:spcBef>
                <a:spcPts val="138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figure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has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clique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cover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size</a:t>
            </a:r>
            <a:r>
              <a:rPr dirty="0" sz="1200" spc="-5">
                <a:latin typeface="Times New Roman"/>
                <a:cs typeface="Times New Roman"/>
              </a:rPr>
              <a:t> 3.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 </a:t>
            </a:r>
            <a:r>
              <a:rPr dirty="0" sz="1200" spc="-10">
                <a:latin typeface="Times New Roman"/>
                <a:cs typeface="Times New Roman"/>
              </a:rPr>
              <a:t>subgraphs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are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4622291" y="1267658"/>
            <a:ext cx="2376170" cy="2362200"/>
            <a:chOff x="4622291" y="1267658"/>
            <a:chExt cx="2376170" cy="2362200"/>
          </a:xfrm>
        </p:grpSpPr>
        <p:sp>
          <p:nvSpPr>
            <p:cNvPr id="19" name="object 19"/>
            <p:cNvSpPr/>
            <p:nvPr/>
          </p:nvSpPr>
          <p:spPr>
            <a:xfrm>
              <a:off x="4622291" y="1267658"/>
              <a:ext cx="2376170" cy="2362200"/>
            </a:xfrm>
            <a:custGeom>
              <a:avLst/>
              <a:gdLst/>
              <a:ahLst/>
              <a:cxnLst/>
              <a:rect l="l" t="t" r="r" b="b"/>
              <a:pathLst>
                <a:path w="2376170" h="2362200">
                  <a:moveTo>
                    <a:pt x="2376175" y="0"/>
                  </a:moveTo>
                  <a:lnTo>
                    <a:pt x="0" y="0"/>
                  </a:lnTo>
                  <a:lnTo>
                    <a:pt x="0" y="2362001"/>
                  </a:lnTo>
                  <a:lnTo>
                    <a:pt x="2376175" y="2362001"/>
                  </a:lnTo>
                  <a:lnTo>
                    <a:pt x="2376175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089291" y="2105431"/>
              <a:ext cx="1399540" cy="1113790"/>
            </a:xfrm>
            <a:custGeom>
              <a:avLst/>
              <a:gdLst/>
              <a:ahLst/>
              <a:cxnLst/>
              <a:rect l="l" t="t" r="r" b="b"/>
              <a:pathLst>
                <a:path w="1399539" h="1113789">
                  <a:moveTo>
                    <a:pt x="0" y="503864"/>
                  </a:moveTo>
                  <a:lnTo>
                    <a:pt x="789523" y="1113723"/>
                  </a:lnTo>
                </a:path>
                <a:path w="1399539" h="1113789">
                  <a:moveTo>
                    <a:pt x="1399367" y="0"/>
                  </a:moveTo>
                  <a:lnTo>
                    <a:pt x="932352" y="1054775"/>
                  </a:lnTo>
                </a:path>
              </a:pathLst>
            </a:custGeom>
            <a:ln w="1416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883827" y="2412915"/>
              <a:ext cx="241458" cy="241443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461167" y="2757507"/>
              <a:ext cx="242022" cy="241458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857556" y="3146889"/>
              <a:ext cx="242007" cy="241443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5036012" y="1893458"/>
              <a:ext cx="1546225" cy="1315085"/>
            </a:xfrm>
            <a:custGeom>
              <a:avLst/>
              <a:gdLst/>
              <a:ahLst/>
              <a:cxnLst/>
              <a:rect l="l" t="t" r="r" b="b"/>
              <a:pathLst>
                <a:path w="1546225" h="1315085">
                  <a:moveTo>
                    <a:pt x="233507" y="37414"/>
                  </a:moveTo>
                  <a:lnTo>
                    <a:pt x="0" y="530504"/>
                  </a:lnTo>
                </a:path>
                <a:path w="1546225" h="1315085">
                  <a:moveTo>
                    <a:pt x="360471" y="0"/>
                  </a:moveTo>
                  <a:lnTo>
                    <a:pt x="1454353" y="945382"/>
                  </a:lnTo>
                </a:path>
                <a:path w="1546225" h="1315085">
                  <a:moveTo>
                    <a:pt x="1466819" y="1048542"/>
                  </a:moveTo>
                  <a:lnTo>
                    <a:pt x="1028136" y="1314922"/>
                  </a:lnTo>
                </a:path>
                <a:path w="1546225" h="1315085">
                  <a:moveTo>
                    <a:pt x="1538234" y="226146"/>
                  </a:moveTo>
                  <a:lnTo>
                    <a:pt x="1546174" y="861501"/>
                  </a:lnTo>
                </a:path>
              </a:pathLst>
            </a:custGeom>
            <a:ln w="1416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187057" y="1706145"/>
              <a:ext cx="242007" cy="241443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437362" y="1892042"/>
              <a:ext cx="242022" cy="241443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49616" y="1478871"/>
              <a:ext cx="242022" cy="241443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5984793" y="1628206"/>
              <a:ext cx="523875" cy="1159510"/>
            </a:xfrm>
            <a:custGeom>
              <a:avLst/>
              <a:gdLst/>
              <a:ahLst/>
              <a:cxnLst/>
              <a:rect l="l" t="t" r="r" b="b"/>
              <a:pathLst>
                <a:path w="523875" h="1159510">
                  <a:moveTo>
                    <a:pt x="85023" y="0"/>
                  </a:moveTo>
                  <a:lnTo>
                    <a:pt x="494233" y="289057"/>
                  </a:lnTo>
                </a:path>
                <a:path w="523875" h="1159510">
                  <a:moveTo>
                    <a:pt x="0" y="86715"/>
                  </a:moveTo>
                  <a:lnTo>
                    <a:pt x="523707" y="1159062"/>
                  </a:lnTo>
                </a:path>
              </a:pathLst>
            </a:custGeom>
            <a:ln w="1416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 txBox="1"/>
          <p:nvPr/>
        </p:nvSpPr>
        <p:spPr>
          <a:xfrm>
            <a:off x="4622291" y="1267658"/>
            <a:ext cx="2376170" cy="236220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ctr" marL="340995">
              <a:lnSpc>
                <a:spcPct val="100000"/>
              </a:lnSpc>
              <a:spcBef>
                <a:spcPts val="229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A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Arial"/>
              <a:cs typeface="Arial"/>
            </a:endParaRPr>
          </a:p>
          <a:p>
            <a:pPr marL="437515">
              <a:lnSpc>
                <a:spcPts val="1445"/>
              </a:lnSpc>
              <a:spcBef>
                <a:spcPts val="5"/>
              </a:spcBef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E</a:t>
            </a:r>
            <a:endParaRPr sz="1300">
              <a:latin typeface="Arial"/>
              <a:cs typeface="Arial"/>
            </a:endParaRPr>
          </a:p>
          <a:p>
            <a:pPr marL="2078989">
              <a:lnSpc>
                <a:spcPts val="1445"/>
              </a:lnSpc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B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Arial"/>
              <a:cs typeface="Arial"/>
            </a:endParaRPr>
          </a:p>
          <a:p>
            <a:pPr marL="158750">
              <a:lnSpc>
                <a:spcPct val="100000"/>
              </a:lnSpc>
            </a:pPr>
            <a:r>
              <a:rPr dirty="0" sz="1300" spc="15">
                <a:solidFill>
                  <a:srgbClr val="FFFF00"/>
                </a:solidFill>
                <a:latin typeface="Arial"/>
                <a:cs typeface="Arial"/>
              </a:rPr>
              <a:t>F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Arial"/>
              <a:cs typeface="Arial"/>
            </a:endParaRPr>
          </a:p>
          <a:p>
            <a:pPr marL="2099310">
              <a:lnSpc>
                <a:spcPct val="100000"/>
              </a:lnSpc>
            </a:pPr>
            <a:r>
              <a:rPr dirty="0" sz="1300" spc="20">
                <a:solidFill>
                  <a:srgbClr val="FFFF00"/>
                </a:solidFill>
                <a:latin typeface="Arial"/>
                <a:cs typeface="Arial"/>
              </a:rPr>
              <a:t>C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00">
              <a:latin typeface="Arial"/>
              <a:cs typeface="Arial"/>
            </a:endParaRPr>
          </a:p>
          <a:p>
            <a:pPr algn="ctr" marL="349250">
              <a:lnSpc>
                <a:spcPct val="100000"/>
              </a:lnSpc>
            </a:pPr>
            <a:r>
              <a:rPr dirty="0" sz="1300" spc="20">
                <a:solidFill>
                  <a:srgbClr val="FFFF00"/>
                </a:solidFill>
                <a:latin typeface="Arial"/>
                <a:cs typeface="Arial"/>
              </a:rPr>
              <a:t>D</a:t>
            </a:r>
            <a:endParaRPr sz="1300">
              <a:latin typeface="Arial"/>
              <a:cs typeface="Arial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2845307" y="6086546"/>
            <a:ext cx="2540635" cy="2590800"/>
          </a:xfrm>
          <a:custGeom>
            <a:avLst/>
            <a:gdLst/>
            <a:ahLst/>
            <a:cxnLst/>
            <a:rect l="l" t="t" r="r" b="b"/>
            <a:pathLst>
              <a:path w="2540635" h="2590800">
                <a:moveTo>
                  <a:pt x="2540203" y="0"/>
                </a:moveTo>
                <a:lnTo>
                  <a:pt x="0" y="0"/>
                </a:lnTo>
                <a:lnTo>
                  <a:pt x="0" y="2590601"/>
                </a:lnTo>
                <a:lnTo>
                  <a:pt x="2540203" y="2590601"/>
                </a:lnTo>
                <a:lnTo>
                  <a:pt x="2540203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2845307" y="6086546"/>
            <a:ext cx="2540635" cy="2590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700">
              <a:latin typeface="Times New Roman"/>
              <a:cs typeface="Times New Roman"/>
            </a:endParaRPr>
          </a:p>
          <a:p>
            <a:pPr marL="525780">
              <a:lnSpc>
                <a:spcPct val="100000"/>
              </a:lnSpc>
              <a:spcBef>
                <a:spcPts val="5"/>
              </a:spcBef>
            </a:pPr>
            <a:r>
              <a:rPr dirty="0" sz="1250" spc="15">
                <a:solidFill>
                  <a:srgbClr val="FFFF00"/>
                </a:solidFill>
                <a:latin typeface="Arial"/>
                <a:cs typeface="Arial"/>
              </a:rPr>
              <a:t>Clique</a:t>
            </a:r>
            <a:r>
              <a:rPr dirty="0" sz="1250" spc="-1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spc="15">
                <a:solidFill>
                  <a:srgbClr val="FFFF00"/>
                </a:solidFill>
                <a:latin typeface="Arial"/>
                <a:cs typeface="Arial"/>
              </a:rPr>
              <a:t>cover</a:t>
            </a:r>
            <a:r>
              <a:rPr dirty="0" sz="1250" spc="-10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250" spc="15">
                <a:solidFill>
                  <a:srgbClr val="FFFF00"/>
                </a:solidFill>
                <a:latin typeface="Arial"/>
                <a:cs typeface="Arial"/>
              </a:rPr>
              <a:t>(size=3)</a:t>
            </a:r>
            <a:endParaRPr sz="1250">
              <a:latin typeface="Arial"/>
              <a:cs typeface="Arial"/>
            </a:endParaRPr>
          </a:p>
        </p:txBody>
      </p:sp>
      <p:pic>
        <p:nvPicPr>
          <p:cNvPr id="32" name="object 32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2894990" y="6139352"/>
            <a:ext cx="2432121" cy="2270272"/>
          </a:xfrm>
          <a:prstGeom prst="rect">
            <a:avLst/>
          </a:prstGeom>
        </p:spPr>
      </p:pic>
      <p:sp>
        <p:nvSpPr>
          <p:cNvPr id="33" name="object 33"/>
          <p:cNvSpPr txBox="1"/>
          <p:nvPr/>
        </p:nvSpPr>
        <p:spPr>
          <a:xfrm>
            <a:off x="2735756" y="8742743"/>
            <a:ext cx="2758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9.6: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clique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cover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7" y="520987"/>
            <a:ext cx="6426835" cy="26593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862704" algn="l"/>
              </a:tabLst>
            </a:pPr>
            <a:r>
              <a:rPr dirty="0" sz="1200" spc="-10">
                <a:latin typeface="Times New Roman"/>
                <a:cs typeface="Times New Roman"/>
              </a:rPr>
              <a:t>176	</a:t>
            </a: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9.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COMPLEXITY</a:t>
            </a:r>
            <a:r>
              <a:rPr dirty="0" sz="1200" spc="-20">
                <a:latin typeface="Times New Roman"/>
                <a:cs typeface="Times New Roman"/>
              </a:rPr>
              <a:t> THEORY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clique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cover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applications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clustering.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 </a:t>
            </a:r>
            <a:r>
              <a:rPr dirty="0" sz="1200" spc="-5">
                <a:latin typeface="Times New Roman"/>
                <a:cs typeface="Times New Roman"/>
              </a:rPr>
              <a:t> 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similar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enough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clustered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group.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 </a:t>
            </a:r>
            <a:r>
              <a:rPr dirty="0" sz="1200" spc="-5">
                <a:latin typeface="Times New Roman"/>
                <a:cs typeface="Times New Roman"/>
              </a:rPr>
              <a:t>whether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cluster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groups.</a:t>
            </a:r>
            <a:endParaRPr sz="1200">
              <a:latin typeface="Times New Roman"/>
              <a:cs typeface="Times New Roman"/>
            </a:endParaRPr>
          </a:p>
          <a:p>
            <a:pPr algn="just" marL="12700" marR="182245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Suppose that </a:t>
            </a:r>
            <a:r>
              <a:rPr dirty="0" sz="1200" spc="-10">
                <a:latin typeface="Times New Roman"/>
                <a:cs typeface="Times New Roman"/>
              </a:rPr>
              <a:t>you want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solve the CCov problem. </a:t>
            </a:r>
            <a:r>
              <a:rPr dirty="0" sz="1200" spc="-5">
                <a:latin typeface="Times New Roman"/>
                <a:cs typeface="Times New Roman"/>
              </a:rPr>
              <a:t>But after a </a:t>
            </a:r>
            <a:r>
              <a:rPr dirty="0" sz="1200" spc="-10">
                <a:latin typeface="Times New Roman"/>
                <a:cs typeface="Times New Roman"/>
              </a:rPr>
              <a:t>while </a:t>
            </a:r>
            <a:r>
              <a:rPr dirty="0" sz="1200" spc="-5">
                <a:latin typeface="Times New Roman"/>
                <a:cs typeface="Times New Roman"/>
              </a:rPr>
              <a:t>of fruitless </a:t>
            </a:r>
            <a:r>
              <a:rPr dirty="0" sz="1200" spc="-10">
                <a:latin typeface="Times New Roman"/>
                <a:cs typeface="Times New Roman"/>
              </a:rPr>
              <a:t>effort, you </a:t>
            </a:r>
            <a:r>
              <a:rPr dirty="0" sz="1200" spc="-5">
                <a:latin typeface="Times New Roman"/>
                <a:cs typeface="Times New Roman"/>
              </a:rPr>
              <a:t>still cannot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find a </a:t>
            </a:r>
            <a:r>
              <a:rPr dirty="0" sz="1200" spc="-10">
                <a:latin typeface="Times New Roman"/>
                <a:cs typeface="Times New Roman"/>
              </a:rPr>
              <a:t>polynomial time algorithm for the CCov problem. </a:t>
            </a:r>
            <a:r>
              <a:rPr dirty="0" sz="1200" spc="-15">
                <a:latin typeface="Times New Roman"/>
                <a:cs typeface="Times New Roman"/>
              </a:rPr>
              <a:t>How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 spc="-30">
                <a:latin typeface="Times New Roman"/>
                <a:cs typeface="Times New Roman"/>
              </a:rPr>
              <a:t>you </a:t>
            </a:r>
            <a:r>
              <a:rPr dirty="0" sz="1200" spc="-15">
                <a:latin typeface="Times New Roman"/>
                <a:cs typeface="Times New Roman"/>
              </a:rPr>
              <a:t>prove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CCov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likely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a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solution?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530"/>
              </a:spcBef>
            </a:pPr>
            <a:r>
              <a:rPr dirty="0" sz="1200" spc="-5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3Col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NP-complete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hence,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experts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believe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3Col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265">
                <a:latin typeface="Segoe UI Symbol"/>
                <a:cs typeface="Segoe UI Symbol"/>
              </a:rPr>
              <a:t>/∈</a:t>
            </a:r>
            <a:r>
              <a:rPr dirty="0" sz="1200" spc="-245">
                <a:latin typeface="Segoe UI Symbol"/>
                <a:cs typeface="Segoe UI Symbol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P</a:t>
            </a:r>
            <a:r>
              <a:rPr dirty="0" sz="1200" spc="2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feel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connection between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CCov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-5">
                <a:latin typeface="Times New Roman"/>
                <a:cs typeface="Times New Roman"/>
              </a:rPr>
              <a:t> and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3Col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want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7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0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265">
                <a:latin typeface="Segoe UI Symbol"/>
                <a:cs typeface="Segoe UI Symbol"/>
              </a:rPr>
              <a:t>/∈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P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5">
                <a:latin typeface="Times New Roman"/>
                <a:cs typeface="Times New Roman"/>
              </a:rPr>
              <a:t>CC</a:t>
            </a:r>
            <a:r>
              <a:rPr dirty="0" sz="1200" spc="-2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v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265">
                <a:latin typeface="Segoe UI Symbol"/>
                <a:cs typeface="Segoe UI Symbol"/>
              </a:rPr>
              <a:t>/∈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P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480303" y="4687240"/>
            <a:ext cx="116839" cy="6350"/>
          </a:xfrm>
          <a:custGeom>
            <a:avLst/>
            <a:gdLst/>
            <a:ahLst/>
            <a:cxnLst/>
            <a:rect l="l" t="t" r="r" b="b"/>
            <a:pathLst>
              <a:path w="116839" h="6350">
                <a:moveTo>
                  <a:pt x="116242" y="0"/>
                </a:moveTo>
                <a:lnTo>
                  <a:pt x="0" y="0"/>
                </a:lnTo>
                <a:lnTo>
                  <a:pt x="0" y="6171"/>
                </a:lnTo>
                <a:lnTo>
                  <a:pt x="116242" y="6171"/>
                </a:lnTo>
                <a:lnTo>
                  <a:pt x="116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6245351" y="4687240"/>
            <a:ext cx="116839" cy="6350"/>
          </a:xfrm>
          <a:custGeom>
            <a:avLst/>
            <a:gdLst/>
            <a:ahLst/>
            <a:cxnLst/>
            <a:rect l="l" t="t" r="r" b="b"/>
            <a:pathLst>
              <a:path w="116839" h="6350">
                <a:moveTo>
                  <a:pt x="116242" y="0"/>
                </a:moveTo>
                <a:lnTo>
                  <a:pt x="0" y="0"/>
                </a:lnTo>
                <a:lnTo>
                  <a:pt x="0" y="6171"/>
                </a:lnTo>
                <a:lnTo>
                  <a:pt x="116242" y="6171"/>
                </a:lnTo>
                <a:lnTo>
                  <a:pt x="116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2958083" y="4870120"/>
            <a:ext cx="116839" cy="6350"/>
          </a:xfrm>
          <a:custGeom>
            <a:avLst/>
            <a:gdLst/>
            <a:ahLst/>
            <a:cxnLst/>
            <a:rect l="l" t="t" r="r" b="b"/>
            <a:pathLst>
              <a:path w="116839" h="6350">
                <a:moveTo>
                  <a:pt x="116242" y="0"/>
                </a:moveTo>
                <a:lnTo>
                  <a:pt x="0" y="0"/>
                </a:lnTo>
                <a:lnTo>
                  <a:pt x="0" y="6171"/>
                </a:lnTo>
                <a:lnTo>
                  <a:pt x="116242" y="6171"/>
                </a:lnTo>
                <a:lnTo>
                  <a:pt x="116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5483351" y="5120056"/>
            <a:ext cx="116839" cy="6350"/>
          </a:xfrm>
          <a:custGeom>
            <a:avLst/>
            <a:gdLst/>
            <a:ahLst/>
            <a:cxnLst/>
            <a:rect l="l" t="t" r="r" b="b"/>
            <a:pathLst>
              <a:path w="116839" h="6350">
                <a:moveTo>
                  <a:pt x="116242" y="0"/>
                </a:moveTo>
                <a:lnTo>
                  <a:pt x="0" y="0"/>
                </a:lnTo>
                <a:lnTo>
                  <a:pt x="0" y="6171"/>
                </a:lnTo>
                <a:lnTo>
                  <a:pt x="116242" y="6171"/>
                </a:lnTo>
                <a:lnTo>
                  <a:pt x="116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901696" y="3669423"/>
            <a:ext cx="6392545" cy="18065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Both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involve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partitioning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groups.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clique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cover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 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group,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adjacent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other.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3-coloring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 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color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group,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adjacent.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sense,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almost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same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adjacency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requirements</a:t>
            </a:r>
            <a:r>
              <a:rPr dirty="0" sz="1200" spc="-5">
                <a:latin typeface="Times New Roman"/>
                <a:cs typeface="Times New Roman"/>
              </a:rPr>
              <a:t> are </a:t>
            </a:r>
            <a:r>
              <a:rPr dirty="0" sz="1200" spc="-10">
                <a:latin typeface="Times New Roman"/>
                <a:cs typeface="Times New Roman"/>
              </a:rPr>
              <a:t>exactly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reversed.</a:t>
            </a:r>
            <a:endParaRPr sz="1200">
              <a:latin typeface="Times New Roman"/>
              <a:cs typeface="Times New Roman"/>
            </a:endParaRPr>
          </a:p>
          <a:p>
            <a:pPr algn="just" marL="12700" marR="153035">
              <a:lnSpc>
                <a:spcPct val="100000"/>
              </a:lnSpc>
              <a:spcBef>
                <a:spcPts val="535"/>
              </a:spcBef>
            </a:pP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claim that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can reduce </a:t>
            </a:r>
            <a:r>
              <a:rPr dirty="0" sz="1200" spc="-10">
                <a:latin typeface="Times New Roman"/>
                <a:cs typeface="Times New Roman"/>
              </a:rPr>
              <a:t>the 3-coloring problem into the </a:t>
            </a:r>
            <a:r>
              <a:rPr dirty="0" sz="1200" spc="-5">
                <a:latin typeface="Times New Roman"/>
                <a:cs typeface="Times New Roman"/>
              </a:rPr>
              <a:t>clique </a:t>
            </a:r>
            <a:r>
              <a:rPr dirty="0" sz="1200" spc="-10">
                <a:latin typeface="Times New Roman"/>
                <a:cs typeface="Times New Roman"/>
              </a:rPr>
              <a:t>cover problem </a:t>
            </a:r>
            <a:r>
              <a:rPr dirty="0" sz="1200" spc="-5">
                <a:latin typeface="Times New Roman"/>
                <a:cs typeface="Times New Roman"/>
              </a:rPr>
              <a:t>as </a:t>
            </a:r>
            <a:r>
              <a:rPr dirty="0" sz="1200" spc="-10">
                <a:latin typeface="Times New Roman"/>
                <a:cs typeface="Times New Roman"/>
              </a:rPr>
              <a:t>follows: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 </a:t>
            </a:r>
            <a:r>
              <a:rPr dirty="0" sz="1200" spc="45">
                <a:latin typeface="Lucida Sans Unicode"/>
                <a:cs typeface="Lucida Sans Unicode"/>
              </a:rPr>
              <a:t>G </a:t>
            </a:r>
            <a:r>
              <a:rPr dirty="0" sz="1200" spc="-10">
                <a:latin typeface="Times New Roman"/>
                <a:cs typeface="Times New Roman"/>
              </a:rPr>
              <a:t>for which we want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determine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 spc="-15">
                <a:latin typeface="Times New Roman"/>
                <a:cs typeface="Times New Roman"/>
              </a:rPr>
              <a:t>3-colorability, </a:t>
            </a:r>
            <a:r>
              <a:rPr dirty="0" sz="1200" spc="-10">
                <a:latin typeface="Times New Roman"/>
                <a:cs typeface="Times New Roman"/>
              </a:rPr>
              <a:t>output </a:t>
            </a:r>
            <a:r>
              <a:rPr dirty="0" sz="1200" spc="-5">
                <a:latin typeface="Times New Roman"/>
                <a:cs typeface="Times New Roman"/>
              </a:rPr>
              <a:t>the pair 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G, 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-30">
                <a:latin typeface="Garamond"/>
                <a:cs typeface="Garamond"/>
              </a:rPr>
              <a:t>) </a:t>
            </a:r>
            <a:r>
              <a:rPr dirty="0" sz="1200" spc="-10">
                <a:latin typeface="Times New Roman"/>
                <a:cs typeface="Times New Roman"/>
              </a:rPr>
              <a:t>where </a:t>
            </a:r>
            <a:r>
              <a:rPr dirty="0" sz="1200" spc="45">
                <a:latin typeface="Lucida Sans Unicode"/>
                <a:cs typeface="Lucida Sans Unicode"/>
              </a:rPr>
              <a:t>G </a:t>
            </a:r>
            <a:r>
              <a:rPr dirty="0" sz="1200" spc="-5">
                <a:latin typeface="Times New Roman"/>
                <a:cs typeface="Times New Roman"/>
              </a:rPr>
              <a:t>denotes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complement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G</a:t>
            </a:r>
            <a:r>
              <a:rPr dirty="0" sz="1200" spc="2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Feed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pair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G,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routine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clique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cover.</a:t>
            </a:r>
            <a:endParaRPr sz="1200">
              <a:latin typeface="Times New Roman"/>
              <a:cs typeface="Times New Roman"/>
            </a:endParaRPr>
          </a:p>
          <a:p>
            <a:pPr algn="just" marL="12700" marR="417830">
              <a:lnSpc>
                <a:spcPct val="100000"/>
              </a:lnSpc>
              <a:spcBef>
                <a:spcPts val="525"/>
              </a:spcBef>
            </a:pP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example, the </a:t>
            </a:r>
            <a:r>
              <a:rPr dirty="0" sz="1200" spc="-5">
                <a:latin typeface="Times New Roman"/>
                <a:cs typeface="Times New Roman"/>
              </a:rPr>
              <a:t>graph </a:t>
            </a:r>
            <a:r>
              <a:rPr dirty="0" sz="1200" spc="45">
                <a:latin typeface="Lucida Sans Unicode"/>
                <a:cs typeface="Lucida Sans Unicode"/>
              </a:rPr>
              <a:t>G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Figure 9.7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3-colorable </a:t>
            </a:r>
            <a:r>
              <a:rPr dirty="0" sz="1200" spc="-5">
                <a:latin typeface="Times New Roman"/>
                <a:cs typeface="Times New Roman"/>
              </a:rPr>
              <a:t>and its </a:t>
            </a:r>
            <a:r>
              <a:rPr dirty="0" sz="1200" spc="-10">
                <a:latin typeface="Times New Roman"/>
                <a:cs typeface="Times New Roman"/>
              </a:rPr>
              <a:t>complement 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G, 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-3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coverable </a:t>
            </a:r>
            <a:r>
              <a:rPr dirty="0" sz="1200" spc="-5">
                <a:latin typeface="Times New Roman"/>
                <a:cs typeface="Times New Roman"/>
              </a:rPr>
              <a:t>by 3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cliques.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9.8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3-colorable;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also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coverable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cliques.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2228088" y="6049970"/>
            <a:ext cx="3734435" cy="2590800"/>
          </a:xfrm>
          <a:custGeom>
            <a:avLst/>
            <a:gdLst/>
            <a:ahLst/>
            <a:cxnLst/>
            <a:rect l="l" t="t" r="r" b="b"/>
            <a:pathLst>
              <a:path w="3734435" h="2590800">
                <a:moveTo>
                  <a:pt x="3734287" y="0"/>
                </a:moveTo>
                <a:lnTo>
                  <a:pt x="0" y="0"/>
                </a:lnTo>
                <a:lnTo>
                  <a:pt x="0" y="2590601"/>
                </a:lnTo>
                <a:lnTo>
                  <a:pt x="3734287" y="2590601"/>
                </a:lnTo>
                <a:lnTo>
                  <a:pt x="3734287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2550273" y="8251593"/>
            <a:ext cx="835025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solidFill>
                  <a:srgbClr val="FFFF00"/>
                </a:solidFill>
                <a:latin typeface="Arial"/>
                <a:cs typeface="Arial"/>
              </a:rPr>
              <a:t>3-Colorable</a:t>
            </a:r>
            <a:endParaRPr sz="1250">
              <a:latin typeface="Arial"/>
              <a:cs typeface="Arial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2317149" y="6372295"/>
            <a:ext cx="3585845" cy="1767205"/>
            <a:chOff x="2317149" y="6372295"/>
            <a:chExt cx="3585845" cy="1767205"/>
          </a:xfrm>
        </p:grpSpPr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17149" y="6372295"/>
              <a:ext cx="1740546" cy="1766713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61844" y="6372295"/>
              <a:ext cx="1741080" cy="1766713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4413121" y="8189109"/>
            <a:ext cx="1083310" cy="408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28930" marR="5080" indent="-329565"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solidFill>
                  <a:srgbClr val="FFFFFF"/>
                </a:solidFill>
                <a:latin typeface="Arial"/>
                <a:cs typeface="Arial"/>
              </a:rPr>
              <a:t>Coverable</a:t>
            </a:r>
            <a:r>
              <a:rPr dirty="0" sz="1250" spc="-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250">
                <a:solidFill>
                  <a:srgbClr val="FFFFFF"/>
                </a:solidFill>
                <a:latin typeface="Arial"/>
                <a:cs typeface="Arial"/>
              </a:rPr>
              <a:t>by</a:t>
            </a:r>
            <a:r>
              <a:rPr dirty="0" sz="125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250">
                <a:solidFill>
                  <a:srgbClr val="FFFFFF"/>
                </a:solidFill>
                <a:latin typeface="Arial"/>
                <a:cs typeface="Arial"/>
              </a:rPr>
              <a:t>3 </a:t>
            </a:r>
            <a:r>
              <a:rPr dirty="0" sz="1250" spc="-33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250">
                <a:solidFill>
                  <a:srgbClr val="FFFFFF"/>
                </a:solidFill>
                <a:latin typeface="Arial"/>
                <a:cs typeface="Arial"/>
              </a:rPr>
              <a:t>cliques</a:t>
            </a:r>
            <a:endParaRPr sz="125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77945" y="6111022"/>
            <a:ext cx="136525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250" i="1">
                <a:solidFill>
                  <a:srgbClr val="FFFF00"/>
                </a:solidFill>
                <a:latin typeface="Arial"/>
                <a:cs typeface="Arial"/>
              </a:rPr>
              <a:t>G</a:t>
            </a:r>
            <a:endParaRPr sz="12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049746" y="6097674"/>
            <a:ext cx="136525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250" i="1">
                <a:solidFill>
                  <a:srgbClr val="FFFFFF"/>
                </a:solidFill>
                <a:latin typeface="Arial"/>
                <a:cs typeface="Arial"/>
              </a:rPr>
              <a:t>G</a:t>
            </a:r>
            <a:endParaRPr sz="125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5073776" y="6115134"/>
            <a:ext cx="104775" cy="13970"/>
          </a:xfrm>
          <a:custGeom>
            <a:avLst/>
            <a:gdLst/>
            <a:ahLst/>
            <a:cxnLst/>
            <a:rect l="l" t="t" r="r" b="b"/>
            <a:pathLst>
              <a:path w="104775" h="13970">
                <a:moveTo>
                  <a:pt x="104678" y="0"/>
                </a:moveTo>
                <a:lnTo>
                  <a:pt x="0" y="0"/>
                </a:lnTo>
                <a:lnTo>
                  <a:pt x="0" y="13886"/>
                </a:lnTo>
                <a:lnTo>
                  <a:pt x="104678" y="13886"/>
                </a:lnTo>
                <a:lnTo>
                  <a:pt x="10467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5410200" y="8773083"/>
            <a:ext cx="116839" cy="6350"/>
          </a:xfrm>
          <a:custGeom>
            <a:avLst/>
            <a:gdLst/>
            <a:ahLst/>
            <a:cxnLst/>
            <a:rect l="l" t="t" r="r" b="b"/>
            <a:pathLst>
              <a:path w="116839" h="6350">
                <a:moveTo>
                  <a:pt x="116242" y="0"/>
                </a:moveTo>
                <a:lnTo>
                  <a:pt x="0" y="0"/>
                </a:lnTo>
                <a:lnTo>
                  <a:pt x="0" y="6171"/>
                </a:lnTo>
                <a:lnTo>
                  <a:pt x="116242" y="6171"/>
                </a:lnTo>
                <a:lnTo>
                  <a:pt x="116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2450921" y="8737713"/>
            <a:ext cx="32899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9.7: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3-colorable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clique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coverable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G,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-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06347" y="7291527"/>
            <a:ext cx="1651635" cy="194945"/>
          </a:xfrm>
          <a:custGeom>
            <a:avLst/>
            <a:gdLst/>
            <a:ahLst/>
            <a:cxnLst/>
            <a:rect l="l" t="t" r="r" b="b"/>
            <a:pathLst>
              <a:path w="1651635" h="194945">
                <a:moveTo>
                  <a:pt x="1651520" y="0"/>
                </a:moveTo>
                <a:lnTo>
                  <a:pt x="0" y="0"/>
                </a:lnTo>
                <a:lnTo>
                  <a:pt x="0" y="194589"/>
                </a:lnTo>
                <a:lnTo>
                  <a:pt x="1651520" y="194589"/>
                </a:lnTo>
                <a:lnTo>
                  <a:pt x="1651520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901699" y="520987"/>
            <a:ext cx="265112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9.6.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POLYNOMIAL</a:t>
            </a:r>
            <a:r>
              <a:rPr dirty="0" sz="1200" spc="-5">
                <a:latin typeface="Times New Roman"/>
                <a:cs typeface="Times New Roman"/>
              </a:rPr>
              <a:t> TIME</a:t>
            </a:r>
            <a:r>
              <a:rPr dirty="0" sz="1200" spc="-10">
                <a:latin typeface="Times New Roman"/>
                <a:cs typeface="Times New Roman"/>
              </a:rPr>
              <a:t> REDUCTION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17</a:t>
            </a:r>
            <a:r>
              <a:rPr dirty="0" sz="1200" spc="-5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2084832" y="938474"/>
            <a:ext cx="4023360" cy="2590800"/>
          </a:xfrm>
          <a:custGeom>
            <a:avLst/>
            <a:gdLst/>
            <a:ahLst/>
            <a:cxnLst/>
            <a:rect l="l" t="t" r="r" b="b"/>
            <a:pathLst>
              <a:path w="4023360" h="2590800">
                <a:moveTo>
                  <a:pt x="4023359" y="0"/>
                </a:moveTo>
                <a:lnTo>
                  <a:pt x="0" y="0"/>
                </a:lnTo>
                <a:lnTo>
                  <a:pt x="0" y="2590601"/>
                </a:lnTo>
                <a:lnTo>
                  <a:pt x="4023359" y="2590601"/>
                </a:lnTo>
                <a:lnTo>
                  <a:pt x="4023359" y="0"/>
                </a:lnTo>
                <a:close/>
              </a:path>
            </a:pathLst>
          </a:custGeom>
          <a:solidFill>
            <a:srgbClr val="7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2521926" y="3253496"/>
            <a:ext cx="1178560" cy="231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350">
                <a:solidFill>
                  <a:srgbClr val="FFFF00"/>
                </a:solidFill>
                <a:latin typeface="Arial"/>
                <a:cs typeface="Arial"/>
              </a:rPr>
              <a:t>Not</a:t>
            </a:r>
            <a:r>
              <a:rPr dirty="0" sz="1350" spc="-65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00"/>
                </a:solidFill>
                <a:latin typeface="Arial"/>
                <a:cs typeface="Arial"/>
              </a:rPr>
              <a:t>3-colorable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2135074" y="1272440"/>
            <a:ext cx="3909695" cy="1944370"/>
            <a:chOff x="2135074" y="1272440"/>
            <a:chExt cx="3909695" cy="1944370"/>
          </a:xfrm>
        </p:grpSpPr>
        <p:sp>
          <p:nvSpPr>
            <p:cNvPr id="8" name="object 8"/>
            <p:cNvSpPr/>
            <p:nvPr/>
          </p:nvSpPr>
          <p:spPr>
            <a:xfrm>
              <a:off x="4710927" y="1500632"/>
              <a:ext cx="1090295" cy="1334770"/>
            </a:xfrm>
            <a:custGeom>
              <a:avLst/>
              <a:gdLst/>
              <a:ahLst/>
              <a:cxnLst/>
              <a:rect l="l" t="t" r="r" b="b"/>
              <a:pathLst>
                <a:path w="1090295" h="1334770">
                  <a:moveTo>
                    <a:pt x="42702" y="1334521"/>
                  </a:moveTo>
                  <a:lnTo>
                    <a:pt x="1089888" y="1224320"/>
                  </a:lnTo>
                </a:path>
                <a:path w="1090295" h="1334770">
                  <a:moveTo>
                    <a:pt x="544662" y="0"/>
                  </a:moveTo>
                  <a:lnTo>
                    <a:pt x="0" y="1246250"/>
                  </a:lnTo>
                </a:path>
              </a:pathLst>
            </a:custGeom>
            <a:ln w="14424">
              <a:solidFill>
                <a:srgbClr val="E6E6E6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21369" y="2040383"/>
              <a:ext cx="246361" cy="24578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98222" y="2574073"/>
              <a:ext cx="246361" cy="245797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183745" y="2970450"/>
              <a:ext cx="246361" cy="245782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437446" y="1511604"/>
              <a:ext cx="1428115" cy="1516380"/>
            </a:xfrm>
            <a:custGeom>
              <a:avLst/>
              <a:gdLst/>
              <a:ahLst/>
              <a:cxnLst/>
              <a:rect l="l" t="t" r="r" b="b"/>
              <a:pathLst>
                <a:path w="1428114" h="1516380">
                  <a:moveTo>
                    <a:pt x="0" y="733318"/>
                  </a:moveTo>
                  <a:lnTo>
                    <a:pt x="1363370" y="1154490"/>
                  </a:lnTo>
                </a:path>
                <a:path w="1428114" h="1516380">
                  <a:moveTo>
                    <a:pt x="19613" y="625419"/>
                  </a:moveTo>
                  <a:lnTo>
                    <a:pt x="1336243" y="328863"/>
                  </a:lnTo>
                </a:path>
                <a:path w="1428114" h="1516380">
                  <a:moveTo>
                    <a:pt x="1427987" y="409635"/>
                  </a:moveTo>
                  <a:lnTo>
                    <a:pt x="954877" y="1516258"/>
                  </a:lnTo>
                </a:path>
                <a:path w="1428114" h="1516380">
                  <a:moveTo>
                    <a:pt x="861410" y="0"/>
                  </a:moveTo>
                  <a:lnTo>
                    <a:pt x="877564" y="1467215"/>
                  </a:lnTo>
                </a:path>
              </a:pathLst>
            </a:custGeom>
            <a:ln w="14424">
              <a:solidFill>
                <a:srgbClr val="E6E6E6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12164" y="2703323"/>
              <a:ext cx="246361" cy="24578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773990" y="1693048"/>
              <a:ext cx="245782" cy="245797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565824" y="1411489"/>
              <a:ext cx="246361" cy="245797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175667" y="1272440"/>
              <a:ext cx="246361" cy="245797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4408596" y="1452169"/>
              <a:ext cx="1414145" cy="1537970"/>
            </a:xfrm>
            <a:custGeom>
              <a:avLst/>
              <a:gdLst/>
              <a:ahLst/>
              <a:cxnLst/>
              <a:rect l="l" t="t" r="r" b="b"/>
              <a:pathLst>
                <a:path w="1414145" h="1537970">
                  <a:moveTo>
                    <a:pt x="334639" y="188671"/>
                  </a:moveTo>
                  <a:lnTo>
                    <a:pt x="830823" y="1537609"/>
                  </a:lnTo>
                </a:path>
                <a:path w="1414145" h="1537970">
                  <a:moveTo>
                    <a:pt x="388299" y="129235"/>
                  </a:moveTo>
                  <a:lnTo>
                    <a:pt x="1413570" y="1181618"/>
                  </a:lnTo>
                </a:path>
                <a:path w="1414145" h="1537970">
                  <a:moveTo>
                    <a:pt x="788136" y="0"/>
                  </a:moveTo>
                  <a:lnTo>
                    <a:pt x="0" y="609279"/>
                  </a:lnTo>
                </a:path>
              </a:pathLst>
            </a:custGeom>
            <a:ln w="14424">
              <a:solidFill>
                <a:srgbClr val="E6E6E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644825" y="1888353"/>
              <a:ext cx="1061085" cy="1188720"/>
            </a:xfrm>
            <a:custGeom>
              <a:avLst/>
              <a:gdLst/>
              <a:ahLst/>
              <a:cxnLst/>
              <a:rect l="l" t="t" r="r" b="b"/>
              <a:pathLst>
                <a:path w="1061085" h="1188720">
                  <a:moveTo>
                    <a:pt x="0" y="1006800"/>
                  </a:moveTo>
                  <a:lnTo>
                    <a:pt x="466755" y="1188552"/>
                  </a:lnTo>
                </a:path>
                <a:path w="1061085" h="1188720">
                  <a:moveTo>
                    <a:pt x="1060460" y="0"/>
                  </a:moveTo>
                  <a:lnTo>
                    <a:pt x="0" y="861410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135074" y="2040383"/>
              <a:ext cx="246361" cy="24578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11911" y="2574073"/>
              <a:ext cx="246361" cy="245797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97450" y="2970450"/>
              <a:ext cx="246361" cy="245782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286533" y="1646037"/>
              <a:ext cx="1548130" cy="1395095"/>
            </a:xfrm>
            <a:custGeom>
              <a:avLst/>
              <a:gdLst/>
              <a:ahLst/>
              <a:cxnLst/>
              <a:rect l="l" t="t" r="r" b="b"/>
              <a:pathLst>
                <a:path w="1548129" h="1395095">
                  <a:moveTo>
                    <a:pt x="0" y="630615"/>
                  </a:moveTo>
                  <a:lnTo>
                    <a:pt x="193852" y="1066799"/>
                  </a:lnTo>
                </a:path>
                <a:path w="1548129" h="1395095">
                  <a:moveTo>
                    <a:pt x="72694" y="570036"/>
                  </a:moveTo>
                  <a:lnTo>
                    <a:pt x="872947" y="1333941"/>
                  </a:lnTo>
                </a:path>
                <a:path w="1548129" h="1395095">
                  <a:moveTo>
                    <a:pt x="1467794" y="1115842"/>
                  </a:moveTo>
                  <a:lnTo>
                    <a:pt x="1055263" y="1394520"/>
                  </a:lnTo>
                </a:path>
                <a:path w="1548129" h="1395095">
                  <a:moveTo>
                    <a:pt x="1540489" y="279242"/>
                  </a:moveTo>
                  <a:lnTo>
                    <a:pt x="1547987" y="925448"/>
                  </a:lnTo>
                </a:path>
                <a:path w="1548129" h="1395095">
                  <a:moveTo>
                    <a:pt x="311551" y="0"/>
                  </a:moveTo>
                  <a:lnTo>
                    <a:pt x="260786" y="1066799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26448" y="2703323"/>
              <a:ext cx="246361" cy="24578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87680" y="1693048"/>
              <a:ext cx="245797" cy="245797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479529" y="1411489"/>
              <a:ext cx="246361" cy="245797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089373" y="1272440"/>
              <a:ext cx="246361" cy="245797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2280178" y="1415821"/>
              <a:ext cx="1480185" cy="1188720"/>
            </a:xfrm>
            <a:custGeom>
              <a:avLst/>
              <a:gdLst/>
              <a:ahLst/>
              <a:cxnLst/>
              <a:rect l="l" t="t" r="r" b="b"/>
              <a:pathLst>
                <a:path w="1480185" h="1188720">
                  <a:moveTo>
                    <a:pt x="422346" y="133273"/>
                  </a:moveTo>
                  <a:lnTo>
                    <a:pt x="1400876" y="375605"/>
                  </a:lnTo>
                </a:path>
                <a:path w="1480185" h="1188720">
                  <a:moveTo>
                    <a:pt x="418307" y="60578"/>
                  </a:moveTo>
                  <a:lnTo>
                    <a:pt x="819287" y="0"/>
                  </a:lnTo>
                </a:path>
                <a:path w="1480185" h="1188720">
                  <a:moveTo>
                    <a:pt x="1043726" y="42123"/>
                  </a:moveTo>
                  <a:lnTo>
                    <a:pt x="1449918" y="302910"/>
                  </a:lnTo>
                </a:path>
                <a:path w="1480185" h="1188720">
                  <a:moveTo>
                    <a:pt x="248671" y="230215"/>
                  </a:moveTo>
                  <a:lnTo>
                    <a:pt x="0" y="624276"/>
                  </a:lnTo>
                </a:path>
                <a:path w="1480185" h="1188720">
                  <a:moveTo>
                    <a:pt x="946221" y="96926"/>
                  </a:moveTo>
                  <a:lnTo>
                    <a:pt x="1479910" y="1188552"/>
                  </a:lnTo>
                </a:path>
              </a:pathLst>
            </a:custGeom>
            <a:ln w="14424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 txBox="1"/>
          <p:nvPr/>
        </p:nvSpPr>
        <p:spPr>
          <a:xfrm>
            <a:off x="4632462" y="3239069"/>
            <a:ext cx="1073150" cy="231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Not</a:t>
            </a:r>
            <a:r>
              <a:rPr dirty="0" sz="1350" spc="-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350">
                <a:solidFill>
                  <a:srgbClr val="FFFFFF"/>
                </a:solidFill>
                <a:latin typeface="Arial"/>
                <a:cs typeface="Arial"/>
              </a:rPr>
              <a:t>coverable</a:t>
            </a:r>
            <a:endParaRPr sz="13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966185" y="1004492"/>
            <a:ext cx="137160" cy="231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350" i="1">
                <a:solidFill>
                  <a:srgbClr val="FFFF00"/>
                </a:solidFill>
                <a:latin typeface="Arial"/>
                <a:cs typeface="Arial"/>
              </a:rPr>
              <a:t>H</a:t>
            </a:r>
            <a:endParaRPr sz="135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095758" y="990065"/>
            <a:ext cx="137160" cy="231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350" i="1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350">
              <a:latin typeface="Arial"/>
              <a:cs typeface="Arial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5119420" y="1007902"/>
            <a:ext cx="113664" cy="15240"/>
          </a:xfrm>
          <a:custGeom>
            <a:avLst/>
            <a:gdLst/>
            <a:ahLst/>
            <a:cxnLst/>
            <a:rect l="l" t="t" r="r" b="b"/>
            <a:pathLst>
              <a:path w="113664" h="15240">
                <a:moveTo>
                  <a:pt x="113084" y="0"/>
                </a:moveTo>
                <a:lnTo>
                  <a:pt x="0" y="0"/>
                </a:lnTo>
                <a:lnTo>
                  <a:pt x="0" y="15001"/>
                </a:lnTo>
                <a:lnTo>
                  <a:pt x="113084" y="15001"/>
                </a:lnTo>
                <a:lnTo>
                  <a:pt x="11308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4395215" y="3661588"/>
            <a:ext cx="116839" cy="6350"/>
          </a:xfrm>
          <a:custGeom>
            <a:avLst/>
            <a:gdLst/>
            <a:ahLst/>
            <a:cxnLst/>
            <a:rect l="l" t="t" r="r" b="b"/>
            <a:pathLst>
              <a:path w="116839" h="6350">
                <a:moveTo>
                  <a:pt x="116242" y="0"/>
                </a:moveTo>
                <a:lnTo>
                  <a:pt x="0" y="0"/>
                </a:lnTo>
                <a:lnTo>
                  <a:pt x="0" y="6171"/>
                </a:lnTo>
                <a:lnTo>
                  <a:pt x="116242" y="6171"/>
                </a:lnTo>
                <a:lnTo>
                  <a:pt x="116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 txBox="1"/>
          <p:nvPr/>
        </p:nvSpPr>
        <p:spPr>
          <a:xfrm>
            <a:off x="850899" y="3627020"/>
            <a:ext cx="6136640" cy="12312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5984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9.8: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3-colorable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G,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3</a:t>
            </a:r>
            <a:r>
              <a:rPr dirty="0" sz="1200" spc="-30">
                <a:latin typeface="Garamond"/>
                <a:cs typeface="Garamond"/>
              </a:rPr>
              <a:t>)</a:t>
            </a:r>
            <a:r>
              <a:rPr dirty="0" sz="1200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clique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coverable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tabLst>
                <a:tab pos="5549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9.6	</a:t>
            </a:r>
            <a:r>
              <a:rPr dirty="0" sz="1700" b="1">
                <a:latin typeface="Times New Roman"/>
                <a:cs typeface="Times New Roman"/>
              </a:rPr>
              <a:t>Polynomial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b="1">
                <a:latin typeface="Times New Roman"/>
                <a:cs typeface="Times New Roman"/>
              </a:rPr>
              <a:t>Time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Reduction</a:t>
            </a:r>
            <a:endParaRPr sz="17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660"/>
              </a:spcBef>
            </a:pPr>
            <a:r>
              <a:rPr dirty="0" sz="1200" spc="-5">
                <a:latin typeface="Times New Roman"/>
                <a:cs typeface="Times New Roman"/>
              </a:rPr>
              <a:t>Definition: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decision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L</a:t>
            </a:r>
            <a:r>
              <a:rPr dirty="0" baseline="-13888" sz="1200" spc="7">
                <a:latin typeface="Verdana"/>
                <a:cs typeface="Verdana"/>
              </a:rPr>
              <a:t>1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polynomial-time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reducible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decision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L</a:t>
            </a:r>
            <a:r>
              <a:rPr dirty="0" baseline="-13888" sz="1200" spc="7">
                <a:latin typeface="Verdana"/>
                <a:cs typeface="Verdana"/>
              </a:rPr>
              <a:t>2</a:t>
            </a:r>
            <a:endParaRPr baseline="-13888" sz="1200">
              <a:latin typeface="Verdana"/>
              <a:cs typeface="Verdan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76303" y="4834027"/>
            <a:ext cx="62312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(written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L</a:t>
            </a:r>
            <a:r>
              <a:rPr dirty="0" baseline="-13888" sz="1200" spc="7">
                <a:latin typeface="Verdana"/>
                <a:cs typeface="Verdana"/>
              </a:rPr>
              <a:t>1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90">
                <a:latin typeface="Segoe UI Symbol"/>
                <a:cs typeface="Segoe UI Symbol"/>
              </a:rPr>
              <a:t>≤</a:t>
            </a:r>
            <a:r>
              <a:rPr dirty="0" baseline="-13888" sz="1200" spc="135">
                <a:latin typeface="Verdana"/>
                <a:cs typeface="Verdana"/>
              </a:rPr>
              <a:t>p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L</a:t>
            </a:r>
            <a:r>
              <a:rPr dirty="0" baseline="-13888" sz="1200" spc="-7">
                <a:latin typeface="Verdana"/>
                <a:cs typeface="Verdana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f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x</a:t>
            </a:r>
            <a:r>
              <a:rPr dirty="0" sz="1200" spc="-5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L</a:t>
            </a:r>
            <a:r>
              <a:rPr dirty="0" baseline="-13888" sz="1200" spc="7">
                <a:latin typeface="Verdana"/>
                <a:cs typeface="Verdana"/>
              </a:rPr>
              <a:t>1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76306" y="4950843"/>
            <a:ext cx="2512060" cy="523240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20"/>
              </a:spcBef>
            </a:pP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f</a:t>
            </a:r>
            <a:r>
              <a:rPr dirty="0" sz="1200" spc="40">
                <a:latin typeface="Garamond"/>
                <a:cs typeface="Garamond"/>
              </a:rPr>
              <a:t>(</a:t>
            </a:r>
            <a:r>
              <a:rPr dirty="0" sz="1200" spc="40">
                <a:latin typeface="Lucida Sans Unicode"/>
                <a:cs typeface="Lucida Sans Unicode"/>
              </a:rPr>
              <a:t>x</a:t>
            </a:r>
            <a:r>
              <a:rPr dirty="0" sz="1200" spc="40">
                <a:latin typeface="Garamond"/>
                <a:cs typeface="Garamond"/>
              </a:rPr>
              <a:t>)</a:t>
            </a:r>
            <a:r>
              <a:rPr dirty="0" sz="1200" spc="20">
                <a:latin typeface="Garamond"/>
                <a:cs typeface="Garamond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5">
                <a:latin typeface="Segoe UI Symbol"/>
                <a:cs typeface="Segoe UI Symbol"/>
              </a:rPr>
              <a:t> </a:t>
            </a:r>
            <a:r>
              <a:rPr dirty="0" sz="1200" spc="-5">
                <a:latin typeface="Lucida Sans Unicode"/>
                <a:cs typeface="Lucida Sans Unicode"/>
              </a:rPr>
              <a:t>L</a:t>
            </a:r>
            <a:r>
              <a:rPr dirty="0" baseline="-13888" sz="1200" spc="-7">
                <a:latin typeface="Verdana"/>
                <a:cs typeface="Verdana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previous example 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showed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2820923" y="5930824"/>
            <a:ext cx="116839" cy="6350"/>
          </a:xfrm>
          <a:custGeom>
            <a:avLst/>
            <a:gdLst/>
            <a:ahLst/>
            <a:cxnLst/>
            <a:rect l="l" t="t" r="r" b="b"/>
            <a:pathLst>
              <a:path w="116839" h="6350">
                <a:moveTo>
                  <a:pt x="116242" y="0"/>
                </a:moveTo>
                <a:lnTo>
                  <a:pt x="0" y="0"/>
                </a:lnTo>
                <a:lnTo>
                  <a:pt x="0" y="6171"/>
                </a:lnTo>
                <a:lnTo>
                  <a:pt x="116242" y="6171"/>
                </a:lnTo>
                <a:lnTo>
                  <a:pt x="116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 txBox="1"/>
          <p:nvPr/>
        </p:nvSpPr>
        <p:spPr>
          <a:xfrm>
            <a:off x="838204" y="5581206"/>
            <a:ext cx="6525259" cy="33794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81495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3Col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Segoe UI Symbol"/>
                <a:cs typeface="Segoe UI Symbol"/>
              </a:rPr>
              <a:t>≤</a:t>
            </a:r>
            <a:r>
              <a:rPr dirty="0" baseline="-13888" sz="1200" spc="142">
                <a:latin typeface="Verdana"/>
                <a:cs typeface="Verdana"/>
              </a:rPr>
              <a:t>P</a:t>
            </a:r>
            <a:r>
              <a:rPr dirty="0" baseline="-13888" sz="1200" spc="30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CCov</a:t>
            </a:r>
            <a:endParaRPr sz="1200">
              <a:latin typeface="Times New Roman"/>
              <a:cs typeface="Times New Roman"/>
            </a:endParaRPr>
          </a:p>
          <a:p>
            <a:pPr marL="76200" marR="123825">
              <a:lnSpc>
                <a:spcPct val="100000"/>
              </a:lnSpc>
              <a:spcBef>
                <a:spcPts val="1040"/>
              </a:spcBef>
            </a:pP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particular, we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80">
                <a:latin typeface="Lucida Sans Unicode"/>
                <a:cs typeface="Lucida Sans Unicode"/>
              </a:rPr>
              <a:t>f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G</a:t>
            </a:r>
            <a:r>
              <a:rPr dirty="0" sz="1200" spc="80">
                <a:latin typeface="Garamond"/>
                <a:cs typeface="Garamond"/>
              </a:rPr>
              <a:t>)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G, </a:t>
            </a:r>
            <a:r>
              <a:rPr dirty="0" sz="1200" spc="-20">
                <a:latin typeface="Lucida Sans Unicode"/>
                <a:cs typeface="Lucida Sans Unicode"/>
              </a:rPr>
              <a:t>3</a:t>
            </a:r>
            <a:r>
              <a:rPr dirty="0" sz="1200" spc="-20">
                <a:latin typeface="Garamond"/>
                <a:cs typeface="Garamond"/>
              </a:rPr>
              <a:t>)</a:t>
            </a:r>
            <a:r>
              <a:rPr dirty="0" sz="1200" spc="-20">
                <a:latin typeface="Times New Roman"/>
                <a:cs typeface="Times New Roman"/>
              </a:rPr>
              <a:t>. </a:t>
            </a:r>
            <a:r>
              <a:rPr dirty="0" sz="1200" spc="-5">
                <a:latin typeface="Times New Roman"/>
                <a:cs typeface="Times New Roman"/>
              </a:rPr>
              <a:t>It is easy to </a:t>
            </a:r>
            <a:r>
              <a:rPr dirty="0" sz="1200" spc="-10">
                <a:latin typeface="Times New Roman"/>
                <a:cs typeface="Times New Roman"/>
              </a:rPr>
              <a:t>complement </a:t>
            </a:r>
            <a:r>
              <a:rPr dirty="0" sz="1200" spc="-5">
                <a:latin typeface="Times New Roman"/>
                <a:cs typeface="Times New Roman"/>
              </a:rPr>
              <a:t>a graph in </a:t>
            </a:r>
            <a:r>
              <a:rPr dirty="0" sz="1200" spc="50">
                <a:latin typeface="Lucida Sans Unicode"/>
                <a:cs typeface="Lucida Sans Unicode"/>
              </a:rPr>
              <a:t>O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n</a:t>
            </a:r>
            <a:r>
              <a:rPr dirty="0" baseline="31250" sz="1200" spc="75">
                <a:latin typeface="Verdana"/>
                <a:cs typeface="Verdana"/>
              </a:rPr>
              <a:t>2</a:t>
            </a:r>
            <a:r>
              <a:rPr dirty="0" sz="1200" spc="5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(i.e., </a:t>
            </a:r>
            <a:r>
              <a:rPr dirty="0" sz="1200" spc="-10">
                <a:latin typeface="Times New Roman"/>
                <a:cs typeface="Times New Roman"/>
              </a:rPr>
              <a:t>polynomial time).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 spc="-5">
                <a:latin typeface="Times New Roman"/>
                <a:cs typeface="Times New Roman"/>
              </a:rPr>
              <a:t> flip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0’s</a:t>
            </a:r>
            <a:r>
              <a:rPr dirty="0" sz="1200" spc="-5">
                <a:latin typeface="Times New Roman"/>
                <a:cs typeface="Times New Roman"/>
              </a:rPr>
              <a:t> and </a:t>
            </a:r>
            <a:r>
              <a:rPr dirty="0" sz="1200" spc="-30">
                <a:latin typeface="Times New Roman"/>
                <a:cs typeface="Times New Roman"/>
              </a:rPr>
              <a:t>1’s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adjacency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matrix.</a:t>
            </a:r>
            <a:endParaRPr sz="1200">
              <a:latin typeface="Times New Roman"/>
              <a:cs typeface="Times New Roman"/>
            </a:endParaRPr>
          </a:p>
          <a:p>
            <a:pPr marL="76200" marR="6858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 in NP-completeness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that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strong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evidence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L</a:t>
            </a:r>
            <a:r>
              <a:rPr dirty="0" baseline="-13888" sz="1200" spc="7">
                <a:latin typeface="Verdana"/>
                <a:cs typeface="Verdana"/>
              </a:rPr>
              <a:t>1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solvable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Hence,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reduction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effectively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equivalent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“since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L</a:t>
            </a:r>
            <a:r>
              <a:rPr dirty="0" baseline="-13888" sz="1200" spc="7">
                <a:latin typeface="Verdana"/>
                <a:cs typeface="Verdana"/>
              </a:rPr>
              <a:t>1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solvable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 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5">
                <a:latin typeface="Lucida Sans Unicode"/>
                <a:cs typeface="Lucida Sans Unicode"/>
              </a:rPr>
              <a:t>L</a:t>
            </a:r>
            <a:r>
              <a:rPr dirty="0" baseline="-13888" sz="1200" spc="7">
                <a:latin typeface="Verdana"/>
                <a:cs typeface="Verdana"/>
              </a:rPr>
              <a:t>2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also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be </a:t>
            </a:r>
            <a:r>
              <a:rPr dirty="0" sz="1200" spc="-10">
                <a:latin typeface="Times New Roman"/>
                <a:cs typeface="Times New Roman"/>
              </a:rPr>
              <a:t>solvable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 marL="75565">
              <a:lnSpc>
                <a:spcPct val="100000"/>
              </a:lnSpc>
              <a:spcBef>
                <a:spcPts val="1025"/>
              </a:spcBef>
              <a:tabLst>
                <a:tab pos="5676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9.7	NP-Completeness</a:t>
            </a:r>
            <a:endParaRPr sz="1700">
              <a:latin typeface="Times New Roman"/>
              <a:cs typeface="Times New Roman"/>
            </a:endParaRPr>
          </a:p>
          <a:p>
            <a:pPr marL="75565" marR="66675">
              <a:lnSpc>
                <a:spcPct val="100000"/>
              </a:lnSpc>
              <a:spcBef>
                <a:spcPts val="1660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NP-complete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complexity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solvable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 then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they</a:t>
            </a:r>
            <a:r>
              <a:rPr dirty="0" sz="1200" spc="-5">
                <a:latin typeface="Times New Roman"/>
                <a:cs typeface="Times New Roman"/>
              </a:rPr>
              <a:t> all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Conversely,</a:t>
            </a:r>
            <a:r>
              <a:rPr dirty="0" sz="1200" spc="-5">
                <a:latin typeface="Times New Roman"/>
                <a:cs typeface="Times New Roman"/>
              </a:rPr>
              <a:t> 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solvable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-5">
                <a:latin typeface="Times New Roman"/>
                <a:cs typeface="Times New Roman"/>
              </a:rPr>
              <a:t> time, then </a:t>
            </a:r>
            <a:r>
              <a:rPr dirty="0" sz="1200" spc="-10">
                <a:latin typeface="Times New Roman"/>
                <a:cs typeface="Times New Roman"/>
              </a:rPr>
              <a:t>none</a:t>
            </a:r>
            <a:r>
              <a:rPr dirty="0" sz="1200" spc="-5">
                <a:latin typeface="Times New Roman"/>
                <a:cs typeface="Times New Roman"/>
              </a:rPr>
              <a:t> are.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400">
              <a:latin typeface="Times New Roman"/>
              <a:cs typeface="Times New Roman"/>
            </a:endParaRPr>
          </a:p>
          <a:p>
            <a:pPr marL="113664">
              <a:lnSpc>
                <a:spcPct val="100000"/>
              </a:lnSpc>
              <a:spcBef>
                <a:spcPts val="5"/>
              </a:spcBef>
            </a:pPr>
            <a:r>
              <a:rPr dirty="0" sz="1200" spc="-5" b="1">
                <a:latin typeface="Times New Roman"/>
                <a:cs typeface="Times New Roman"/>
              </a:rPr>
              <a:t>Definition:</a:t>
            </a:r>
            <a:r>
              <a:rPr dirty="0" sz="1200" spc="2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decision</a:t>
            </a:r>
            <a:r>
              <a:rPr dirty="0" sz="1200" spc="-10">
                <a:latin typeface="Times New Roman"/>
                <a:cs typeface="Times New Roman"/>
              </a:rPr>
              <a:t> 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NP-Hard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endParaRPr sz="1200">
              <a:latin typeface="Times New Roman"/>
              <a:cs typeface="Times New Roman"/>
            </a:endParaRPr>
          </a:p>
          <a:p>
            <a:pPr marL="2707005">
              <a:lnSpc>
                <a:spcPct val="100000"/>
              </a:lnSpc>
              <a:spcBef>
                <a:spcPts val="1035"/>
              </a:spcBef>
            </a:pPr>
            <a:r>
              <a:rPr dirty="0" sz="1200" spc="114">
                <a:latin typeface="Lucida Sans Unicode"/>
                <a:cs typeface="Lucida Sans Unicode"/>
              </a:rPr>
              <a:t>L</a:t>
            </a:r>
            <a:r>
              <a:rPr dirty="0" cap="small" baseline="34722" sz="1200" spc="44">
                <a:latin typeface="Cambria"/>
                <a:cs typeface="Cambria"/>
              </a:rPr>
              <a:t>j</a:t>
            </a:r>
            <a:r>
              <a:rPr dirty="0" baseline="34722" sz="1200">
                <a:latin typeface="Cambria"/>
                <a:cs typeface="Cambria"/>
              </a:rPr>
              <a:t> </a:t>
            </a:r>
            <a:r>
              <a:rPr dirty="0" baseline="34722" sz="1200" spc="37">
                <a:latin typeface="Cambria"/>
                <a:cs typeface="Cambria"/>
              </a:rPr>
              <a:t> </a:t>
            </a:r>
            <a:r>
              <a:rPr dirty="0" sz="1200" spc="100">
                <a:latin typeface="Segoe UI Symbol"/>
                <a:cs typeface="Segoe UI Symbol"/>
              </a:rPr>
              <a:t>≤</a:t>
            </a:r>
            <a:r>
              <a:rPr dirty="0" baseline="-13888" sz="1200" spc="127">
                <a:latin typeface="Verdana"/>
                <a:cs typeface="Verdana"/>
              </a:rPr>
              <a:t>P</a:t>
            </a:r>
            <a:r>
              <a:rPr dirty="0" baseline="-13888" sz="1200" spc="75">
                <a:latin typeface="Verdana"/>
                <a:cs typeface="Verdana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4">
                <a:latin typeface="Lucida Sans Unicode"/>
                <a:cs typeface="Lucida Sans Unicode"/>
              </a:rPr>
              <a:t>L</a:t>
            </a:r>
            <a:r>
              <a:rPr dirty="0" cap="small" baseline="34722" sz="1200" spc="44">
                <a:latin typeface="Cambria"/>
                <a:cs typeface="Cambria"/>
              </a:rPr>
              <a:t>j</a:t>
            </a:r>
            <a:r>
              <a:rPr dirty="0" baseline="34722" sz="1200">
                <a:latin typeface="Cambria"/>
                <a:cs typeface="Cambria"/>
              </a:rPr>
              <a:t> </a:t>
            </a:r>
            <a:r>
              <a:rPr dirty="0" baseline="34722" sz="1200" spc="37">
                <a:latin typeface="Cambria"/>
                <a:cs typeface="Cambria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-30">
                <a:latin typeface="Segoe UI Symbol"/>
                <a:cs typeface="Segoe UI Symbol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14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97851" y="6905320"/>
            <a:ext cx="1160145" cy="138430"/>
          </a:xfrm>
          <a:custGeom>
            <a:avLst/>
            <a:gdLst/>
            <a:ahLst/>
            <a:cxnLst/>
            <a:rect l="l" t="t" r="r" b="b"/>
            <a:pathLst>
              <a:path w="1160145" h="138429">
                <a:moveTo>
                  <a:pt x="1159535" y="0"/>
                </a:moveTo>
                <a:lnTo>
                  <a:pt x="0" y="0"/>
                </a:lnTo>
                <a:lnTo>
                  <a:pt x="0" y="138010"/>
                </a:lnTo>
                <a:lnTo>
                  <a:pt x="1159535" y="138010"/>
                </a:lnTo>
                <a:lnTo>
                  <a:pt x="1159535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914400" y="3482606"/>
            <a:ext cx="1837689" cy="137795"/>
          </a:xfrm>
          <a:custGeom>
            <a:avLst/>
            <a:gdLst/>
            <a:ahLst/>
            <a:cxnLst/>
            <a:rect l="l" t="t" r="r" b="b"/>
            <a:pathLst>
              <a:path w="1837689" h="137795">
                <a:moveTo>
                  <a:pt x="1837512" y="0"/>
                </a:moveTo>
                <a:lnTo>
                  <a:pt x="0" y="0"/>
                </a:lnTo>
                <a:lnTo>
                  <a:pt x="0" y="137718"/>
                </a:lnTo>
                <a:lnTo>
                  <a:pt x="1837512" y="137718"/>
                </a:lnTo>
                <a:lnTo>
                  <a:pt x="1837512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286103" y="3166681"/>
            <a:ext cx="1473835" cy="138430"/>
          </a:xfrm>
          <a:custGeom>
            <a:avLst/>
            <a:gdLst/>
            <a:ahLst/>
            <a:cxnLst/>
            <a:rect l="l" t="t" r="r" b="b"/>
            <a:pathLst>
              <a:path w="1473835" h="138429">
                <a:moveTo>
                  <a:pt x="1473695" y="0"/>
                </a:moveTo>
                <a:lnTo>
                  <a:pt x="0" y="0"/>
                </a:lnTo>
                <a:lnTo>
                  <a:pt x="0" y="138023"/>
                </a:lnTo>
                <a:lnTo>
                  <a:pt x="1473695" y="138023"/>
                </a:lnTo>
                <a:lnTo>
                  <a:pt x="1473695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914400" y="2667304"/>
            <a:ext cx="1883410" cy="138430"/>
          </a:xfrm>
          <a:custGeom>
            <a:avLst/>
            <a:gdLst/>
            <a:ahLst/>
            <a:cxnLst/>
            <a:rect l="l" t="t" r="r" b="b"/>
            <a:pathLst>
              <a:path w="1883410" h="138430">
                <a:moveTo>
                  <a:pt x="1883333" y="0"/>
                </a:moveTo>
                <a:lnTo>
                  <a:pt x="0" y="0"/>
                </a:lnTo>
                <a:lnTo>
                  <a:pt x="0" y="138023"/>
                </a:lnTo>
                <a:lnTo>
                  <a:pt x="1883333" y="138023"/>
                </a:lnTo>
                <a:lnTo>
                  <a:pt x="1883333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914400" y="2351265"/>
            <a:ext cx="1883410" cy="138430"/>
          </a:xfrm>
          <a:custGeom>
            <a:avLst/>
            <a:gdLst/>
            <a:ahLst/>
            <a:cxnLst/>
            <a:rect l="l" t="t" r="r" b="b"/>
            <a:pathLst>
              <a:path w="1883410" h="138430">
                <a:moveTo>
                  <a:pt x="1883295" y="0"/>
                </a:moveTo>
                <a:lnTo>
                  <a:pt x="0" y="0"/>
                </a:lnTo>
                <a:lnTo>
                  <a:pt x="0" y="138023"/>
                </a:lnTo>
                <a:lnTo>
                  <a:pt x="1883295" y="138023"/>
                </a:lnTo>
                <a:lnTo>
                  <a:pt x="1883295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17</a:t>
            </a:r>
            <a:r>
              <a:rPr dirty="0" sz="1200" spc="-5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751779" y="520987"/>
            <a:ext cx="257683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9.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COMPLEXITY</a:t>
            </a:r>
            <a:r>
              <a:rPr dirty="0" sz="1200" spc="-20">
                <a:latin typeface="Times New Roman"/>
                <a:cs typeface="Times New Roman"/>
              </a:rPr>
              <a:t> THEORY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38204" y="926454"/>
            <a:ext cx="4698365" cy="18897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5565">
              <a:lnSpc>
                <a:spcPct val="100000"/>
              </a:lnSpc>
              <a:spcBef>
                <a:spcPts val="95"/>
              </a:spcBef>
            </a:pPr>
            <a:r>
              <a:rPr dirty="0" sz="1200" spc="-5" b="1">
                <a:latin typeface="Times New Roman"/>
                <a:cs typeface="Times New Roman"/>
              </a:rPr>
              <a:t>Definition:</a:t>
            </a:r>
            <a:r>
              <a:rPr dirty="0" sz="1200" spc="204" b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NP-complete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endParaRPr sz="1200">
              <a:latin typeface="Times New Roman"/>
              <a:cs typeface="Times New Roman"/>
            </a:endParaRPr>
          </a:p>
          <a:p>
            <a:pPr marL="774700" indent="-188595">
              <a:lnSpc>
                <a:spcPct val="100000"/>
              </a:lnSpc>
              <a:spcBef>
                <a:spcPts val="1045"/>
              </a:spcBef>
              <a:buFont typeface="Times New Roman"/>
              <a:buAutoNum type="arabicPeriod"/>
              <a:tabLst>
                <a:tab pos="775335" algn="l"/>
              </a:tabLst>
            </a:pP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  <a:p>
            <a:pPr marL="774700" indent="-188595">
              <a:lnSpc>
                <a:spcPct val="100000"/>
              </a:lnSpc>
              <a:spcBef>
                <a:spcPts val="525"/>
              </a:spcBef>
              <a:buFont typeface="Times New Roman"/>
              <a:buAutoNum type="arabicPeriod"/>
              <a:tabLst>
                <a:tab pos="775335" algn="l"/>
              </a:tabLst>
            </a:pPr>
            <a:r>
              <a:rPr dirty="0" sz="1200" spc="70">
                <a:latin typeface="Lucida Sans Unicode"/>
                <a:cs typeface="Lucida Sans Unicode"/>
              </a:rPr>
              <a:t>L</a:t>
            </a:r>
            <a:r>
              <a:rPr dirty="0" cap="small" baseline="31250" sz="1200" spc="104">
                <a:latin typeface="Cambria"/>
                <a:cs typeface="Cambria"/>
              </a:rPr>
              <a:t>j</a:t>
            </a:r>
            <a:r>
              <a:rPr dirty="0" baseline="31250" sz="1200" spc="307">
                <a:latin typeface="Cambria"/>
                <a:cs typeface="Cambria"/>
              </a:rPr>
              <a:t> </a:t>
            </a:r>
            <a:r>
              <a:rPr dirty="0" sz="1200" spc="95">
                <a:latin typeface="Segoe UI Symbol"/>
                <a:cs typeface="Segoe UI Symbol"/>
              </a:rPr>
              <a:t>≤</a:t>
            </a:r>
            <a:r>
              <a:rPr dirty="0" baseline="-13888" sz="1200" spc="142">
                <a:latin typeface="Verdana"/>
                <a:cs typeface="Verdana"/>
              </a:rPr>
              <a:t>P</a:t>
            </a:r>
            <a:r>
              <a:rPr dirty="0" baseline="-13888" sz="1200" spc="82">
                <a:latin typeface="Verdana"/>
                <a:cs typeface="Verdana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known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NP-complete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L</a:t>
            </a:r>
            <a:r>
              <a:rPr dirty="0" cap="small" baseline="31250" sz="1200" spc="89">
                <a:latin typeface="Cambria"/>
                <a:cs typeface="Cambria"/>
              </a:rPr>
              <a:t>j</a:t>
            </a:r>
            <a:r>
              <a:rPr dirty="0" sz="1200" spc="6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1870"/>
              </a:spcBef>
            </a:pP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formal</a:t>
            </a:r>
            <a:r>
              <a:rPr dirty="0" sz="1200" spc="-5">
                <a:latin typeface="Times New Roman"/>
                <a:cs typeface="Times New Roman"/>
              </a:rPr>
              <a:t> definition,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complexity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classes are: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5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P:</a:t>
            </a:r>
            <a:r>
              <a:rPr dirty="0" sz="1200" spc="28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decision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solvable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marL="75565">
              <a:lnSpc>
                <a:spcPct val="100000"/>
              </a:lnSpc>
              <a:spcBef>
                <a:spcPts val="1050"/>
              </a:spcBef>
            </a:pPr>
            <a:r>
              <a:rPr dirty="0" sz="1200" spc="-5" b="1">
                <a:latin typeface="Times New Roman"/>
                <a:cs typeface="Times New Roman"/>
              </a:rPr>
              <a:t>NP:</a:t>
            </a:r>
            <a:r>
              <a:rPr dirty="0" sz="1200" spc="28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decision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verified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14400" y="2976930"/>
            <a:ext cx="1847214" cy="144780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20"/>
              </a:lnSpc>
            </a:pPr>
            <a:r>
              <a:rPr dirty="0" sz="1200" spc="-10" b="1">
                <a:latin typeface="Times New Roman"/>
                <a:cs typeface="Times New Roman"/>
              </a:rPr>
              <a:t>N</a:t>
            </a:r>
            <a:r>
              <a:rPr dirty="0" sz="1200" spc="-5" b="1">
                <a:latin typeface="Times New Roman"/>
                <a:cs typeface="Times New Roman"/>
              </a:rPr>
              <a:t>P</a:t>
            </a:r>
            <a:r>
              <a:rPr dirty="0" sz="1200" spc="-10" b="1">
                <a:latin typeface="Times New Roman"/>
                <a:cs typeface="Times New Roman"/>
              </a:rPr>
              <a:t>-Ha</a:t>
            </a:r>
            <a:r>
              <a:rPr dirty="0" sz="1200" spc="-5" b="1">
                <a:latin typeface="Times New Roman"/>
                <a:cs typeface="Times New Roman"/>
              </a:rPr>
              <a:t>rd: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P</a:t>
            </a:r>
            <a:r>
              <a:rPr dirty="0" sz="1200" spc="-10">
                <a:latin typeface="Times New Roman"/>
                <a:cs typeface="Times New Roman"/>
              </a:rPr>
              <a:t>-h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760193" y="2924075"/>
            <a:ext cx="4380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4">
                <a:latin typeface="Lucida Sans Unicode"/>
                <a:cs typeface="Lucida Sans Unicode"/>
              </a:rPr>
              <a:t>L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37">
                <a:latin typeface="Cambria"/>
                <a:cs typeface="Cambria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P,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14">
                <a:latin typeface="Lucida Sans Unicode"/>
                <a:cs typeface="Lucida Sans Unicode"/>
              </a:rPr>
              <a:t>L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37">
                <a:latin typeface="Cambria"/>
                <a:cs typeface="Cambria"/>
              </a:rPr>
              <a:t> </a:t>
            </a:r>
            <a:r>
              <a:rPr dirty="0" sz="1200" spc="100">
                <a:latin typeface="Segoe UI Symbol"/>
                <a:cs typeface="Segoe UI Symbol"/>
              </a:rPr>
              <a:t>≤</a:t>
            </a:r>
            <a:r>
              <a:rPr dirty="0" baseline="-13888" sz="1200" spc="127">
                <a:latin typeface="Verdana"/>
                <a:cs typeface="Verdana"/>
              </a:rPr>
              <a:t>P</a:t>
            </a:r>
            <a:r>
              <a:rPr dirty="0" baseline="-13888" sz="1200" spc="75">
                <a:latin typeface="Verdana"/>
                <a:cs typeface="Verdana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oul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ol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</a:t>
            </a:r>
            <a:r>
              <a:rPr dirty="0" sz="1200" spc="-5">
                <a:latin typeface="Times New Roman"/>
                <a:cs typeface="Times New Roman"/>
              </a:rPr>
              <a:t>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2177795" y="6916852"/>
            <a:ext cx="80010" cy="6350"/>
          </a:xfrm>
          <a:custGeom>
            <a:avLst/>
            <a:gdLst/>
            <a:ahLst/>
            <a:cxnLst/>
            <a:rect l="l" t="t" r="r" b="b"/>
            <a:pathLst>
              <a:path w="80010" h="6350">
                <a:moveTo>
                  <a:pt x="79895" y="0"/>
                </a:moveTo>
                <a:lnTo>
                  <a:pt x="0" y="0"/>
                </a:lnTo>
                <a:lnTo>
                  <a:pt x="0" y="6171"/>
                </a:lnTo>
                <a:lnTo>
                  <a:pt x="79895" y="6171"/>
                </a:lnTo>
                <a:lnTo>
                  <a:pt x="798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838199" y="3107526"/>
            <a:ext cx="6467475" cy="3946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47675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could </a:t>
            </a:r>
            <a:r>
              <a:rPr dirty="0" sz="1200" spc="-10">
                <a:latin typeface="Times New Roman"/>
                <a:cs typeface="Times New Roman"/>
              </a:rPr>
              <a:t>solve</a:t>
            </a:r>
            <a:r>
              <a:rPr dirty="0" sz="1200" spc="-5">
                <a:latin typeface="Times New Roman"/>
                <a:cs typeface="Times New Roman"/>
              </a:rPr>
              <a:t> all </a:t>
            </a:r>
            <a:r>
              <a:rPr dirty="0" sz="1200" spc="-10">
                <a:latin typeface="Times New Roman"/>
                <a:cs typeface="Times New Roman"/>
              </a:rPr>
              <a:t>NP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 algn="just" marL="76200">
              <a:lnSpc>
                <a:spcPct val="100000"/>
              </a:lnSpc>
              <a:spcBef>
                <a:spcPts val="1045"/>
              </a:spcBef>
            </a:pPr>
            <a:r>
              <a:rPr dirty="0" sz="1200" spc="-10" b="1">
                <a:latin typeface="Times New Roman"/>
                <a:cs typeface="Times New Roman"/>
              </a:rPr>
              <a:t>NP-Complete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NP-complete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endParaRPr sz="1200">
              <a:latin typeface="Times New Roman"/>
              <a:cs typeface="Times New Roman"/>
            </a:endParaRPr>
          </a:p>
          <a:p>
            <a:pPr marL="774700" indent="-188595">
              <a:lnSpc>
                <a:spcPct val="100000"/>
              </a:lnSpc>
              <a:spcBef>
                <a:spcPts val="1050"/>
              </a:spcBef>
              <a:buFont typeface="Times New Roman"/>
              <a:buAutoNum type="arabicPeriod"/>
              <a:tabLst>
                <a:tab pos="775335" algn="l"/>
              </a:tabLst>
            </a:pP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  <a:p>
            <a:pPr marL="774700" indent="-188595">
              <a:lnSpc>
                <a:spcPct val="100000"/>
              </a:lnSpc>
              <a:spcBef>
                <a:spcPts val="520"/>
              </a:spcBef>
              <a:buFont typeface="Times New Roman"/>
              <a:buAutoNum type="arabicPeriod"/>
              <a:tabLst>
                <a:tab pos="775335" algn="l"/>
              </a:tabLst>
            </a:pPr>
            <a:r>
              <a:rPr dirty="0" sz="1200" spc="25">
                <a:latin typeface="Lucida Sans Unicode"/>
                <a:cs typeface="Lucida Sans Unicode"/>
              </a:rPr>
              <a:t>L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P</a:t>
            </a:r>
            <a:r>
              <a:rPr dirty="0" sz="1200" spc="-10">
                <a:latin typeface="Times New Roman"/>
                <a:cs typeface="Times New Roman"/>
              </a:rPr>
              <a:t>-h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rd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50">
              <a:latin typeface="Times New Roman"/>
              <a:cs typeface="Times New Roman"/>
            </a:endParaRPr>
          </a:p>
          <a:p>
            <a:pPr algn="just" marL="76200" marR="5588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importance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NP-complete problems should </a:t>
            </a:r>
            <a:r>
              <a:rPr dirty="0" sz="1200" spc="-15">
                <a:latin typeface="Times New Roman"/>
                <a:cs typeface="Times New Roman"/>
              </a:rPr>
              <a:t>now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5">
                <a:latin typeface="Times New Roman"/>
                <a:cs typeface="Times New Roman"/>
              </a:rPr>
              <a:t>clear.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10">
                <a:latin typeface="Times New Roman"/>
                <a:cs typeface="Times New Roman"/>
              </a:rPr>
              <a:t>any NP-complete problem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solvable 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 spc="-10">
                <a:latin typeface="Times New Roman"/>
                <a:cs typeface="Times New Roman"/>
              </a:rPr>
              <a:t>polynomial </a:t>
            </a:r>
            <a:r>
              <a:rPr dirty="0" sz="1200" spc="-5">
                <a:latin typeface="Times New Roman"/>
                <a:cs typeface="Times New Roman"/>
              </a:rPr>
              <a:t>time, then </a:t>
            </a:r>
            <a:r>
              <a:rPr dirty="0" sz="1200" spc="-15">
                <a:latin typeface="Times New Roman"/>
                <a:cs typeface="Times New Roman"/>
              </a:rPr>
              <a:t>every </a:t>
            </a:r>
            <a:r>
              <a:rPr dirty="0" sz="1200" spc="-10">
                <a:latin typeface="Times New Roman"/>
                <a:cs typeface="Times New Roman"/>
              </a:rPr>
              <a:t>NP-complete problem </a:t>
            </a:r>
            <a:r>
              <a:rPr dirty="0" sz="1200" spc="-5">
                <a:latin typeface="Times New Roman"/>
                <a:cs typeface="Times New Roman"/>
              </a:rPr>
              <a:t>is also </a:t>
            </a:r>
            <a:r>
              <a:rPr dirty="0" sz="1200" spc="-10">
                <a:latin typeface="Times New Roman"/>
                <a:cs typeface="Times New Roman"/>
              </a:rPr>
              <a:t>solvable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polynomial </a:t>
            </a:r>
            <a:r>
              <a:rPr dirty="0" sz="1200" spc="-5">
                <a:latin typeface="Times New Roman"/>
                <a:cs typeface="Times New Roman"/>
              </a:rPr>
              <a:t>time. </a:t>
            </a:r>
            <a:r>
              <a:rPr dirty="0" sz="1200" spc="-20">
                <a:latin typeface="Times New Roman"/>
                <a:cs typeface="Times New Roman"/>
              </a:rPr>
              <a:t>Conversely, </a:t>
            </a: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prove</a:t>
            </a:r>
            <a:r>
              <a:rPr dirty="0" sz="1200" spc="-5">
                <a:latin typeface="Times New Roman"/>
                <a:cs typeface="Times New Roman"/>
              </a:rPr>
              <a:t>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NP-complete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</a:t>
            </a:r>
            <a:r>
              <a:rPr dirty="0" sz="1200" spc="-10">
                <a:latin typeface="Times New Roman"/>
                <a:cs typeface="Times New Roman"/>
              </a:rPr>
              <a:t>solved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every</a:t>
            </a:r>
            <a:endParaRPr sz="1200">
              <a:latin typeface="Times New Roman"/>
              <a:cs typeface="Times New Roman"/>
            </a:endParaRPr>
          </a:p>
          <a:p>
            <a:pPr algn="just" marL="76200">
              <a:lnSpc>
                <a:spcPct val="100000"/>
              </a:lnSpc>
              <a:spcBef>
                <a:spcPts val="15"/>
              </a:spcBef>
            </a:pPr>
            <a:r>
              <a:rPr dirty="0" sz="1200" spc="-10">
                <a:latin typeface="Times New Roman"/>
                <a:cs typeface="Times New Roman"/>
              </a:rPr>
              <a:t>NP-complete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solvable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tabLst>
                <a:tab pos="5676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9.8	Boolean</a:t>
            </a:r>
            <a:r>
              <a:rPr dirty="0" sz="1700" spc="10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Satisfiability </a:t>
            </a:r>
            <a:r>
              <a:rPr dirty="0" sz="1700" b="1">
                <a:latin typeface="Times New Roman"/>
                <a:cs typeface="Times New Roman"/>
              </a:rPr>
              <a:t>Problem:</a:t>
            </a:r>
            <a:r>
              <a:rPr dirty="0" sz="1700" spc="114" b="1">
                <a:latin typeface="Times New Roman"/>
                <a:cs typeface="Times New Roman"/>
              </a:rPr>
              <a:t> </a:t>
            </a:r>
            <a:r>
              <a:rPr dirty="0" sz="1700" spc="-5" b="1">
                <a:latin typeface="Times New Roman"/>
                <a:cs typeface="Times New Roman"/>
              </a:rPr>
              <a:t>Cook’s</a:t>
            </a:r>
            <a:r>
              <a:rPr dirty="0" sz="1700" spc="10" b="1">
                <a:latin typeface="Times New Roman"/>
                <a:cs typeface="Times New Roman"/>
              </a:rPr>
              <a:t> </a:t>
            </a:r>
            <a:r>
              <a:rPr dirty="0" sz="1700" b="1">
                <a:latin typeface="Times New Roman"/>
                <a:cs typeface="Times New Roman"/>
              </a:rPr>
              <a:t>Theorem</a:t>
            </a:r>
            <a:endParaRPr sz="1700">
              <a:latin typeface="Times New Roman"/>
              <a:cs typeface="Times New Roman"/>
            </a:endParaRPr>
          </a:p>
          <a:p>
            <a:pPr marL="76200" marR="187960">
              <a:lnSpc>
                <a:spcPct val="100000"/>
              </a:lnSpc>
              <a:spcBef>
                <a:spcPts val="1664"/>
              </a:spcBef>
            </a:pP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need to </a:t>
            </a:r>
            <a:r>
              <a:rPr dirty="0" sz="1200" spc="-15">
                <a:latin typeface="Times New Roman"/>
                <a:cs typeface="Times New Roman"/>
              </a:rPr>
              <a:t>have </a:t>
            </a:r>
            <a:r>
              <a:rPr dirty="0" sz="1200" spc="-5">
                <a:latin typeface="Times New Roman"/>
                <a:cs typeface="Times New Roman"/>
              </a:rPr>
              <a:t>at least </a:t>
            </a:r>
            <a:r>
              <a:rPr dirty="0" sz="1200" spc="-10">
                <a:latin typeface="Times New Roman"/>
                <a:cs typeface="Times New Roman"/>
              </a:rPr>
              <a:t>one NP-complete problem </a:t>
            </a:r>
            <a:r>
              <a:rPr dirty="0" sz="1200" spc="-5">
                <a:latin typeface="Times New Roman"/>
                <a:cs typeface="Times New Roman"/>
              </a:rPr>
              <a:t>to start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ball </a:t>
            </a:r>
            <a:r>
              <a:rPr dirty="0" sz="1200" spc="-10">
                <a:latin typeface="Times New Roman"/>
                <a:cs typeface="Times New Roman"/>
              </a:rPr>
              <a:t>rolling.</a:t>
            </a:r>
            <a:r>
              <a:rPr dirty="0" sz="1200" spc="-5">
                <a:latin typeface="Times New Roman"/>
                <a:cs typeface="Times New Roman"/>
              </a:rPr>
              <a:t> Stephen Cook </a:t>
            </a:r>
            <a:r>
              <a:rPr dirty="0" sz="1200" spc="-10">
                <a:latin typeface="Times New Roman"/>
                <a:cs typeface="Times New Roman"/>
              </a:rPr>
              <a:t>showed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 a </a:t>
            </a:r>
            <a:r>
              <a:rPr dirty="0" sz="1200" spc="-10">
                <a:latin typeface="Times New Roman"/>
                <a:cs typeface="Times New Roman"/>
              </a:rPr>
              <a:t>problem existed.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 </a:t>
            </a:r>
            <a:r>
              <a:rPr dirty="0" sz="1200" spc="-15">
                <a:latin typeface="Times New Roman"/>
                <a:cs typeface="Times New Roman"/>
              </a:rPr>
              <a:t>proved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boolean satisfiability </a:t>
            </a:r>
            <a:r>
              <a:rPr dirty="0" sz="1200" spc="-15" i="1">
                <a:latin typeface="Times New Roman"/>
                <a:cs typeface="Times New Roman"/>
              </a:rPr>
              <a:t>problem </a:t>
            </a:r>
            <a:r>
              <a:rPr dirty="0" sz="1200" spc="-5">
                <a:latin typeface="Times New Roman"/>
                <a:cs typeface="Times New Roman"/>
              </a:rPr>
              <a:t>is NP-complete. A boolean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logical </a:t>
            </a:r>
            <a:r>
              <a:rPr dirty="0" sz="1200" spc="-10">
                <a:latin typeface="Times New Roman"/>
                <a:cs typeface="Times New Roman"/>
              </a:rPr>
              <a:t>formulation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variables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Lucida Sans Unicode"/>
                <a:cs typeface="Lucida Sans Unicode"/>
              </a:rPr>
              <a:t>x</a:t>
            </a:r>
            <a:r>
              <a:rPr dirty="0" baseline="-13888" sz="1200" spc="15">
                <a:latin typeface="Verdana"/>
                <a:cs typeface="Verdana"/>
              </a:rPr>
              <a:t>i</a:t>
            </a:r>
            <a:r>
              <a:rPr dirty="0" sz="1200" spc="10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variables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appear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logical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expression </a:t>
            </a:r>
            <a:r>
              <a:rPr dirty="0" sz="1200" spc="-5">
                <a:latin typeface="Times New Roman"/>
                <a:cs typeface="Times New Roman"/>
              </a:rPr>
              <a:t>using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logical </a:t>
            </a:r>
            <a:r>
              <a:rPr dirty="0" sz="1200" spc="-10">
                <a:latin typeface="Times New Roman"/>
                <a:cs typeface="Times New Roman"/>
              </a:rPr>
              <a:t>operations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50">
              <a:latin typeface="Times New Roman"/>
              <a:cs typeface="Times New Roman"/>
            </a:endParaRPr>
          </a:p>
          <a:p>
            <a:pPr marL="259079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1.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negation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x</a:t>
            </a:r>
            <a:r>
              <a:rPr dirty="0" sz="1200" spc="-55">
                <a:latin typeface="Times New Roman"/>
                <a:cs typeface="Times New Roman"/>
              </a:rPr>
              <a:t>: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97851" y="7214679"/>
            <a:ext cx="1409065" cy="14160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10"/>
              </a:lnSpc>
            </a:pPr>
            <a:r>
              <a:rPr dirty="0" sz="1200" spc="-1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bool</a:t>
            </a:r>
            <a:r>
              <a:rPr dirty="0" sz="1200" spc="-5">
                <a:latin typeface="Times New Roman"/>
                <a:cs typeface="Times New Roman"/>
              </a:rPr>
              <a:t>ean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97851" y="7530604"/>
            <a:ext cx="1501775" cy="141605"/>
          </a:xfrm>
          <a:prstGeom prst="rect">
            <a:avLst/>
          </a:prstGeom>
          <a:solidFill>
            <a:srgbClr val="FFED00">
              <a:alpha val="75000"/>
            </a:srgbClr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10"/>
              </a:lnSpc>
            </a:pPr>
            <a:r>
              <a:rPr dirty="0" sz="1200" spc="-10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bool</a:t>
            </a:r>
            <a:r>
              <a:rPr dirty="0" sz="1200" spc="-5">
                <a:latin typeface="Times New Roman"/>
                <a:cs typeface="Times New Roman"/>
              </a:rPr>
              <a:t>ean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nd</a:t>
            </a:r>
            <a:r>
              <a:rPr dirty="0" sz="1200" spc="-5">
                <a:latin typeface="Times New Roman"/>
                <a:cs typeface="Times New Roman"/>
              </a:rPr>
              <a:t>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y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01694" y="7858290"/>
            <a:ext cx="6434455" cy="1125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NP,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efficient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verification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procedure.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Thus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virtually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stated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“does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exists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X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P</a:t>
            </a:r>
            <a:r>
              <a:rPr dirty="0" sz="1200" spc="50">
                <a:latin typeface="Garamond"/>
                <a:cs typeface="Garamond"/>
              </a:rPr>
              <a:t>(</a:t>
            </a:r>
            <a:r>
              <a:rPr dirty="0" sz="1200" spc="50">
                <a:latin typeface="Lucida Sans Unicode"/>
                <a:cs typeface="Lucida Sans Unicode"/>
              </a:rPr>
              <a:t>X</a:t>
            </a:r>
            <a:r>
              <a:rPr dirty="0" sz="1200" spc="50">
                <a:latin typeface="Garamond"/>
                <a:cs typeface="Garamond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”,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X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structure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(e.g.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set, a path, a </a:t>
            </a:r>
            <a:r>
              <a:rPr dirty="0" sz="1200" spc="-10">
                <a:latin typeface="Times New Roman"/>
                <a:cs typeface="Times New Roman"/>
              </a:rPr>
              <a:t>partition, </a:t>
            </a:r>
            <a:r>
              <a:rPr dirty="0" sz="1200" spc="-5">
                <a:latin typeface="Times New Roman"/>
                <a:cs typeface="Times New Roman"/>
              </a:rPr>
              <a:t>an assignment, etc.)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80">
                <a:latin typeface="Lucida Sans Unicode"/>
                <a:cs typeface="Lucida Sans Unicode"/>
              </a:rPr>
              <a:t>P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X</a:t>
            </a:r>
            <a:r>
              <a:rPr dirty="0" sz="1200" spc="8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is some </a:t>
            </a:r>
            <a:r>
              <a:rPr dirty="0" sz="1200" spc="-10">
                <a:latin typeface="Times New Roman"/>
                <a:cs typeface="Times New Roman"/>
              </a:rPr>
              <a:t>property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45">
                <a:latin typeface="Lucida Sans Unicode"/>
                <a:cs typeface="Lucida Sans Unicode"/>
              </a:rPr>
              <a:t>X </a:t>
            </a:r>
            <a:r>
              <a:rPr dirty="0" sz="1200" spc="-5">
                <a:latin typeface="Times New Roman"/>
                <a:cs typeface="Times New Roman"/>
              </a:rPr>
              <a:t>must satisfy (e.g.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objects must fill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knapsack, or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path must visit </a:t>
            </a:r>
            <a:r>
              <a:rPr dirty="0" sz="1200" spc="-15">
                <a:latin typeface="Times New Roman"/>
                <a:cs typeface="Times New Roman"/>
              </a:rPr>
              <a:t>every </a:t>
            </a:r>
            <a:r>
              <a:rPr dirty="0" sz="1200" spc="-10">
                <a:latin typeface="Times New Roman"/>
                <a:cs typeface="Times New Roman"/>
              </a:rPr>
              <a:t>vertex,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1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may use at most </a:t>
            </a:r>
            <a:r>
              <a:rPr dirty="0" sz="1200" spc="-40">
                <a:latin typeface="Lucida Sans Unicode"/>
                <a:cs typeface="Lucida Sans Unicode"/>
              </a:rPr>
              <a:t>k </a:t>
            </a:r>
            <a:r>
              <a:rPr dirty="0" sz="1200" spc="-10">
                <a:latin typeface="Times New Roman"/>
                <a:cs typeface="Times New Roman"/>
              </a:rPr>
              <a:t>colors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adjacent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same </a:t>
            </a:r>
            <a:r>
              <a:rPr dirty="0" sz="1200" spc="-10">
                <a:latin typeface="Times New Roman"/>
                <a:cs typeface="Times New Roman"/>
              </a:rPr>
              <a:t>color).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NP,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certificate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 of </a:t>
            </a:r>
            <a:r>
              <a:rPr dirty="0" sz="1200" spc="-15">
                <a:latin typeface="Times New Roman"/>
                <a:cs typeface="Times New Roman"/>
              </a:rPr>
              <a:t>giving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sz="1200" spc="2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verification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involves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testing that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P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X</a:t>
            </a:r>
            <a:r>
              <a:rPr dirty="0" sz="1200" spc="80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holds.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830296" y="5664999"/>
            <a:ext cx="2571750" cy="140335"/>
            <a:chOff x="2830296" y="5664999"/>
            <a:chExt cx="2571750" cy="140335"/>
          </a:xfrm>
        </p:grpSpPr>
        <p:sp>
          <p:nvSpPr>
            <p:cNvPr id="3" name="object 3"/>
            <p:cNvSpPr/>
            <p:nvPr/>
          </p:nvSpPr>
          <p:spPr>
            <a:xfrm>
              <a:off x="2830296" y="5664999"/>
              <a:ext cx="2571750" cy="140335"/>
            </a:xfrm>
            <a:custGeom>
              <a:avLst/>
              <a:gdLst/>
              <a:ahLst/>
              <a:cxnLst/>
              <a:rect l="l" t="t" r="r" b="b"/>
              <a:pathLst>
                <a:path w="2571750" h="140335">
                  <a:moveTo>
                    <a:pt x="2571445" y="0"/>
                  </a:moveTo>
                  <a:lnTo>
                    <a:pt x="0" y="0"/>
                  </a:lnTo>
                  <a:lnTo>
                    <a:pt x="0" y="140296"/>
                  </a:lnTo>
                  <a:lnTo>
                    <a:pt x="2571445" y="140296"/>
                  </a:lnTo>
                  <a:lnTo>
                    <a:pt x="2571445" y="0"/>
                  </a:lnTo>
                  <a:close/>
                </a:path>
              </a:pathLst>
            </a:custGeom>
            <a:solidFill>
              <a:srgbClr val="FFED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4488180" y="5682424"/>
              <a:ext cx="910590" cy="6350"/>
            </a:xfrm>
            <a:custGeom>
              <a:avLst/>
              <a:gdLst/>
              <a:ahLst/>
              <a:cxnLst/>
              <a:rect l="l" t="t" r="r" b="b"/>
              <a:pathLst>
                <a:path w="910589" h="6350">
                  <a:moveTo>
                    <a:pt x="140919" y="0"/>
                  </a:moveTo>
                  <a:lnTo>
                    <a:pt x="0" y="0"/>
                  </a:lnTo>
                  <a:lnTo>
                    <a:pt x="0" y="6159"/>
                  </a:lnTo>
                  <a:lnTo>
                    <a:pt x="140919" y="6159"/>
                  </a:lnTo>
                  <a:lnTo>
                    <a:pt x="140919" y="0"/>
                  </a:lnTo>
                  <a:close/>
                </a:path>
                <a:path w="910589" h="6350">
                  <a:moveTo>
                    <a:pt x="526491" y="0"/>
                  </a:moveTo>
                  <a:lnTo>
                    <a:pt x="385572" y="0"/>
                  </a:lnTo>
                  <a:lnTo>
                    <a:pt x="385572" y="6159"/>
                  </a:lnTo>
                  <a:lnTo>
                    <a:pt x="526491" y="6159"/>
                  </a:lnTo>
                  <a:lnTo>
                    <a:pt x="526491" y="0"/>
                  </a:lnTo>
                  <a:close/>
                </a:path>
                <a:path w="910589" h="6350">
                  <a:moveTo>
                    <a:pt x="910539" y="0"/>
                  </a:moveTo>
                  <a:lnTo>
                    <a:pt x="769620" y="0"/>
                  </a:lnTo>
                  <a:lnTo>
                    <a:pt x="769620" y="6159"/>
                  </a:lnTo>
                  <a:lnTo>
                    <a:pt x="910539" y="6159"/>
                  </a:lnTo>
                  <a:lnTo>
                    <a:pt x="9105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/>
          <p:nvPr/>
        </p:nvSpPr>
        <p:spPr>
          <a:xfrm>
            <a:off x="6830567" y="3215056"/>
            <a:ext cx="80010" cy="6350"/>
          </a:xfrm>
          <a:custGeom>
            <a:avLst/>
            <a:gdLst/>
            <a:ahLst/>
            <a:cxnLst/>
            <a:rect l="l" t="t" r="r" b="b"/>
            <a:pathLst>
              <a:path w="80009" h="6350">
                <a:moveTo>
                  <a:pt x="79895" y="0"/>
                </a:moveTo>
                <a:lnTo>
                  <a:pt x="0" y="0"/>
                </a:lnTo>
                <a:lnTo>
                  <a:pt x="0" y="6171"/>
                </a:lnTo>
                <a:lnTo>
                  <a:pt x="79895" y="6171"/>
                </a:lnTo>
                <a:lnTo>
                  <a:pt x="798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3762755" y="4132504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4325111" y="4132504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4651247" y="4132504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5036820" y="4132504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2282951" y="4732960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69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3881627" y="4732960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4207764" y="4732960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5480303" y="4732960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5806439" y="4732960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825493" y="520987"/>
            <a:ext cx="6553200" cy="529971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110"/>
              </a:spcBef>
              <a:tabLst>
                <a:tab pos="6261735" algn="l"/>
              </a:tabLst>
            </a:pPr>
            <a:r>
              <a:rPr dirty="0" sz="1200" spc="-10">
                <a:latin typeface="Times New Roman"/>
                <a:cs typeface="Times New Roman"/>
              </a:rPr>
              <a:t>9.8.</a:t>
            </a:r>
            <a:r>
              <a:rPr dirty="0" sz="1200" spc="3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BOOLEAN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SATISFIABILITY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COOK’S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THEOREM	</a:t>
            </a:r>
            <a:r>
              <a:rPr dirty="0" sz="1200" spc="-10">
                <a:latin typeface="Times New Roman"/>
                <a:cs typeface="Times New Roman"/>
              </a:rPr>
              <a:t>179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88900" marR="57150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In general, </a:t>
            </a:r>
            <a:r>
              <a:rPr dirty="0" sz="1200" spc="-1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 spc="45">
                <a:latin typeface="Lucida Sans Unicode"/>
                <a:cs typeface="Lucida Sans Unicode"/>
              </a:rPr>
              <a:t>X </a:t>
            </a:r>
            <a:r>
              <a:rPr dirty="0" sz="1200" spc="-5">
                <a:latin typeface="Times New Roman"/>
                <a:cs typeface="Times New Roman"/>
              </a:rPr>
              <a:t>can be described by </a:t>
            </a:r>
            <a:r>
              <a:rPr dirty="0" sz="1200" spc="-10">
                <a:latin typeface="Times New Roman"/>
                <a:cs typeface="Times New Roman"/>
              </a:rPr>
              <a:t>choosing </a:t>
            </a:r>
            <a:r>
              <a:rPr dirty="0" sz="1200" spc="-5">
                <a:latin typeface="Times New Roman"/>
                <a:cs typeface="Times New Roman"/>
              </a:rPr>
              <a:t>a set of objects,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turn </a:t>
            </a:r>
            <a:r>
              <a:rPr dirty="0" sz="1200" spc="-5">
                <a:latin typeface="Times New Roman"/>
                <a:cs typeface="Times New Roman"/>
              </a:rPr>
              <a:t>can be described as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choosing the values </a:t>
            </a:r>
            <a:r>
              <a:rPr dirty="0" sz="1200" spc="-5">
                <a:latin typeface="Times New Roman"/>
                <a:cs typeface="Times New Roman"/>
              </a:rPr>
              <a:t>of some boolean </a:t>
            </a:r>
            <a:r>
              <a:rPr dirty="0" sz="1200" spc="-10">
                <a:latin typeface="Times New Roman"/>
                <a:cs typeface="Times New Roman"/>
              </a:rPr>
              <a:t>variables.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Similarly, </a:t>
            </a: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property </a:t>
            </a:r>
            <a:r>
              <a:rPr dirty="0" sz="1200" spc="80">
                <a:latin typeface="Lucida Sans Unicode"/>
                <a:cs typeface="Lucida Sans Unicode"/>
              </a:rPr>
              <a:t>P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X</a:t>
            </a:r>
            <a:r>
              <a:rPr dirty="0" sz="1200" spc="8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you </a:t>
            </a:r>
            <a:r>
              <a:rPr dirty="0" sz="1200" spc="-5">
                <a:latin typeface="Times New Roman"/>
                <a:cs typeface="Times New Roman"/>
              </a:rPr>
              <a:t>need to </a:t>
            </a:r>
            <a:r>
              <a:rPr dirty="0" sz="1200" spc="-15">
                <a:latin typeface="Times New Roman"/>
                <a:cs typeface="Times New Roman"/>
              </a:rPr>
              <a:t>satisfy, </a:t>
            </a:r>
            <a:r>
              <a:rPr dirty="0" sz="1200" spc="-5">
                <a:latin typeface="Times New Roman"/>
                <a:cs typeface="Times New Roman"/>
              </a:rPr>
              <a:t>can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 described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boolean </a:t>
            </a:r>
            <a:r>
              <a:rPr dirty="0" sz="1200" spc="-10">
                <a:latin typeface="Times New Roman"/>
                <a:cs typeface="Times New Roman"/>
              </a:rPr>
              <a:t>formula.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Stephen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Cook </a:t>
            </a:r>
            <a:r>
              <a:rPr dirty="0" sz="1200" spc="-10">
                <a:latin typeface="Times New Roman"/>
                <a:cs typeface="Times New Roman"/>
              </a:rPr>
              <a:t>was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looking</a:t>
            </a:r>
            <a:r>
              <a:rPr dirty="0" sz="1200" spc="-5">
                <a:latin typeface="Times New Roman"/>
                <a:cs typeface="Times New Roman"/>
              </a:rPr>
              <a:t> 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most general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possible </a:t>
            </a:r>
            <a:r>
              <a:rPr dirty="0" sz="1200" spc="-10">
                <a:latin typeface="Times New Roman"/>
                <a:cs typeface="Times New Roman"/>
              </a:rPr>
              <a:t>property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could, </a:t>
            </a:r>
            <a:r>
              <a:rPr dirty="0" sz="1200" spc="-5">
                <a:latin typeface="Times New Roman"/>
                <a:cs typeface="Times New Roman"/>
              </a:rPr>
              <a:t>since </a:t>
            </a:r>
            <a:r>
              <a:rPr dirty="0" sz="1200" spc="-10">
                <a:latin typeface="Times New Roman"/>
                <a:cs typeface="Times New Roman"/>
              </a:rPr>
              <a:t>this should </a:t>
            </a:r>
            <a:r>
              <a:rPr dirty="0" sz="1200" spc="-5">
                <a:latin typeface="Times New Roman"/>
                <a:cs typeface="Times New Roman"/>
              </a:rPr>
              <a:t>represent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hardest </a:t>
            </a:r>
            <a:r>
              <a:rPr dirty="0" sz="1200" spc="-10">
                <a:latin typeface="Times New Roman"/>
                <a:cs typeface="Times New Roman"/>
              </a:rPr>
              <a:t>problem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NP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solve.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 </a:t>
            </a:r>
            <a:r>
              <a:rPr dirty="0" sz="1200" spc="-5">
                <a:latin typeface="Times New Roman"/>
                <a:cs typeface="Times New Roman"/>
              </a:rPr>
              <a:t>reasoned that </a:t>
            </a:r>
            <a:r>
              <a:rPr dirty="0" sz="1200" spc="-10">
                <a:latin typeface="Times New Roman"/>
                <a:cs typeface="Times New Roman"/>
              </a:rPr>
              <a:t>computers (which </a:t>
            </a:r>
            <a:r>
              <a:rPr dirty="0" sz="1200" spc="-5">
                <a:latin typeface="Times New Roman"/>
                <a:cs typeface="Times New Roman"/>
              </a:rPr>
              <a:t> represent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most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 </a:t>
            </a:r>
            <a:r>
              <a:rPr dirty="0" sz="1200" spc="-10">
                <a:latin typeface="Times New Roman"/>
                <a:cs typeface="Times New Roman"/>
              </a:rPr>
              <a:t>type</a:t>
            </a:r>
            <a:r>
              <a:rPr dirty="0" sz="1200" spc="-5">
                <a:latin typeface="Times New Roman"/>
                <a:cs typeface="Times New Roman"/>
              </a:rPr>
              <a:t>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computational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devices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known)</a:t>
            </a:r>
            <a:r>
              <a:rPr dirty="0" sz="1200" spc="-5">
                <a:latin typeface="Times New Roman"/>
                <a:cs typeface="Times New Roman"/>
              </a:rPr>
              <a:t> could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described entirely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terms 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boolean circuits, and hence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 terms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boolean </a:t>
            </a:r>
            <a:r>
              <a:rPr dirty="0" sz="1200" spc="-10">
                <a:latin typeface="Times New Roman"/>
                <a:cs typeface="Times New Roman"/>
              </a:rPr>
              <a:t>formulas.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-5">
                <a:latin typeface="Times New Roman"/>
                <a:cs typeface="Times New Roman"/>
              </a:rPr>
              <a:t> were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hard to </a:t>
            </a:r>
            <a:r>
              <a:rPr dirty="0" sz="1200" spc="-10">
                <a:latin typeface="Times New Roman"/>
                <a:cs typeface="Times New Roman"/>
              </a:rPr>
              <a:t>solve,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</a:t>
            </a:r>
            <a:r>
              <a:rPr dirty="0" sz="1200" spc="-10">
                <a:latin typeface="Times New Roman"/>
                <a:cs typeface="Times New Roman"/>
              </a:rPr>
              <a:t>would</a:t>
            </a:r>
            <a:r>
              <a:rPr dirty="0" sz="1200" spc="-5">
                <a:latin typeface="Times New Roman"/>
                <a:cs typeface="Times New Roman"/>
              </a:rPr>
              <a:t> be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10">
                <a:latin typeface="Times New Roman"/>
                <a:cs typeface="Times New Roman"/>
              </a:rPr>
              <a:t>which </a:t>
            </a:r>
            <a:r>
              <a:rPr dirty="0" sz="1200" spc="45">
                <a:latin typeface="Lucida Sans Unicode"/>
                <a:cs typeface="Lucida Sans Unicode"/>
              </a:rPr>
              <a:t>X </a:t>
            </a:r>
            <a:r>
              <a:rPr dirty="0" sz="1200" spc="-5">
                <a:latin typeface="Times New Roman"/>
                <a:cs typeface="Times New Roman"/>
              </a:rPr>
              <a:t>is an assignment of boolean </a:t>
            </a:r>
            <a:r>
              <a:rPr dirty="0" sz="1200" spc="-10">
                <a:latin typeface="Times New Roman"/>
                <a:cs typeface="Times New Roman"/>
              </a:rPr>
              <a:t>values (true/false, 0/1)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80">
                <a:latin typeface="Lucida Sans Unicode"/>
                <a:cs typeface="Lucida Sans Unicode"/>
              </a:rPr>
              <a:t>P</a:t>
            </a:r>
            <a:r>
              <a:rPr dirty="0" sz="1200" spc="80">
                <a:latin typeface="Garamond"/>
                <a:cs typeface="Garamond"/>
              </a:rPr>
              <a:t>(</a:t>
            </a:r>
            <a:r>
              <a:rPr dirty="0" sz="1200" spc="80">
                <a:latin typeface="Lucida Sans Unicode"/>
                <a:cs typeface="Lucida Sans Unicode"/>
              </a:rPr>
              <a:t>X</a:t>
            </a:r>
            <a:r>
              <a:rPr dirty="0" sz="1200" spc="80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could be </a:t>
            </a:r>
            <a:r>
              <a:rPr dirty="0" sz="1200" spc="-1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boolean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suggests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called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boolean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satisfiability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problem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00">
              <a:latin typeface="Times New Roman"/>
              <a:cs typeface="Times New Roman"/>
            </a:endParaRPr>
          </a:p>
          <a:p>
            <a:pPr marL="460375" marR="133350" indent="-372110">
              <a:lnSpc>
                <a:spcPct val="100000"/>
              </a:lnSpc>
            </a:pPr>
            <a:r>
              <a:rPr dirty="0" sz="1200" spc="-55" b="1">
                <a:latin typeface="Times New Roman"/>
                <a:cs typeface="Times New Roman"/>
              </a:rPr>
              <a:t>SAT:</a:t>
            </a:r>
            <a:r>
              <a:rPr dirty="0" sz="1200" spc="55" b="1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boolean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assign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truth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(0/1,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true/false)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variables </a:t>
            </a:r>
            <a:r>
              <a:rPr dirty="0" sz="1200" spc="-5">
                <a:latin typeface="Times New Roman"/>
                <a:cs typeface="Times New Roman"/>
              </a:rPr>
              <a:t> 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formula,</a:t>
            </a:r>
            <a:r>
              <a:rPr dirty="0" sz="1200" spc="-5">
                <a:latin typeface="Times New Roman"/>
                <a:cs typeface="Times New Roman"/>
              </a:rPr>
              <a:t> so 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evaluates</a:t>
            </a:r>
            <a:r>
              <a:rPr dirty="0" sz="1200" spc="-5">
                <a:latin typeface="Times New Roman"/>
                <a:cs typeface="Times New Roman"/>
              </a:rPr>
              <a:t> to true?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00">
              <a:latin typeface="Times New Roman"/>
              <a:cs typeface="Times New Roman"/>
            </a:endParaRPr>
          </a:p>
          <a:p>
            <a:pPr marL="88900" marR="17589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A boolean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logical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variables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baseline="-13888" sz="1200" spc="30">
                <a:latin typeface="Verdana"/>
                <a:cs typeface="Verdana"/>
              </a:rPr>
              <a:t>i</a:t>
            </a:r>
            <a:r>
              <a:rPr dirty="0" baseline="-13888" sz="1200" spc="7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logical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operations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 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meaning the </a:t>
            </a:r>
            <a:r>
              <a:rPr dirty="0" sz="1200" spc="-15" i="1">
                <a:latin typeface="Times New Roman"/>
                <a:cs typeface="Times New Roman"/>
              </a:rPr>
              <a:t>negation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55">
                <a:latin typeface="Lucida Sans Unicode"/>
                <a:cs typeface="Lucida Sans Unicode"/>
              </a:rPr>
              <a:t>x</a:t>
            </a:r>
            <a:r>
              <a:rPr dirty="0" sz="1200" spc="-55">
                <a:latin typeface="Times New Roman"/>
                <a:cs typeface="Times New Roman"/>
              </a:rPr>
              <a:t>, </a:t>
            </a:r>
            <a:r>
              <a:rPr dirty="0" sz="1200" spc="-10" i="1">
                <a:latin typeface="Times New Roman"/>
                <a:cs typeface="Times New Roman"/>
              </a:rPr>
              <a:t>boolean-or </a:t>
            </a:r>
            <a:r>
              <a:rPr dirty="0" sz="1200">
                <a:latin typeface="Garamond"/>
                <a:cs typeface="Garamond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x </a:t>
            </a:r>
            <a:r>
              <a:rPr dirty="0" sz="1200" spc="-30">
                <a:latin typeface="Lucida Sans Unicode"/>
                <a:cs typeface="Lucida Sans Unicode"/>
              </a:rPr>
              <a:t>∨ </a:t>
            </a:r>
            <a:r>
              <a:rPr dirty="0" sz="1200" spc="95">
                <a:latin typeface="Lucida Sans Unicode"/>
                <a:cs typeface="Lucida Sans Unicode"/>
              </a:rPr>
              <a:t>y</a:t>
            </a:r>
            <a:r>
              <a:rPr dirty="0" sz="1200" spc="95">
                <a:latin typeface="Garamond"/>
                <a:cs typeface="Garamond"/>
              </a:rPr>
              <a:t>)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 i="1">
                <a:latin typeface="Times New Roman"/>
                <a:cs typeface="Times New Roman"/>
              </a:rPr>
              <a:t>boolean-and </a:t>
            </a:r>
            <a:r>
              <a:rPr dirty="0" sz="1200">
                <a:latin typeface="Garamond"/>
                <a:cs typeface="Garamond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x </a:t>
            </a:r>
            <a:r>
              <a:rPr dirty="0" sz="1200" spc="-30">
                <a:latin typeface="Lucida Sans Unicode"/>
                <a:cs typeface="Lucida Sans Unicode"/>
              </a:rPr>
              <a:t>∧ </a:t>
            </a:r>
            <a:r>
              <a:rPr dirty="0" sz="1200" spc="60">
                <a:latin typeface="Lucida Sans Unicode"/>
                <a:cs typeface="Lucida Sans Unicode"/>
              </a:rPr>
              <a:t>y</a:t>
            </a:r>
            <a:r>
              <a:rPr dirty="0" sz="1200" spc="60">
                <a:latin typeface="Garamond"/>
                <a:cs typeface="Garamond"/>
              </a:rPr>
              <a:t>)</a:t>
            </a:r>
            <a:r>
              <a:rPr dirty="0" sz="1200" spc="60">
                <a:latin typeface="Times New Roman"/>
                <a:cs typeface="Times New Roman"/>
              </a:rPr>
              <a:t>.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5">
                <a:latin typeface="Times New Roman"/>
                <a:cs typeface="Times New Roman"/>
              </a:rPr>
              <a:t>a boolean </a:t>
            </a:r>
            <a:r>
              <a:rPr dirty="0" sz="1200" spc="-10">
                <a:latin typeface="Times New Roman"/>
                <a:cs typeface="Times New Roman"/>
              </a:rPr>
              <a:t>formula, we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say 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satisfiable if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way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assign </a:t>
            </a:r>
            <a:r>
              <a:rPr dirty="0" sz="1200" spc="-10">
                <a:latin typeface="Times New Roman"/>
                <a:cs typeface="Times New Roman"/>
              </a:rPr>
              <a:t>truth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values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(0 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1)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variables</a:t>
            </a:r>
            <a:r>
              <a:rPr dirty="0" sz="1200" spc="-5">
                <a:latin typeface="Times New Roman"/>
                <a:cs typeface="Times New Roman"/>
              </a:rPr>
              <a:t> such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final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result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(As</a:t>
            </a:r>
            <a:r>
              <a:rPr dirty="0" sz="1200" spc="-5">
                <a:latin typeface="Times New Roman"/>
                <a:cs typeface="Times New Roman"/>
              </a:rPr>
              <a:t> opposed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matter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you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assign </a:t>
            </a:r>
            <a:r>
              <a:rPr dirty="0" sz="1200" spc="-10">
                <a:latin typeface="Times New Roman"/>
                <a:cs typeface="Times New Roman"/>
              </a:rPr>
              <a:t>truth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result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always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0.)</a:t>
            </a:r>
            <a:endParaRPr sz="1200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  <a:spcBef>
                <a:spcPts val="20"/>
              </a:spcBef>
            </a:pP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  <a:p>
            <a:pPr algn="ctr" marL="25400">
              <a:lnSpc>
                <a:spcPct val="100000"/>
              </a:lnSpc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44">
                <a:latin typeface="Verdana"/>
                <a:cs typeface="Verdana"/>
              </a:rPr>
              <a:t>3</a:t>
            </a:r>
            <a:r>
              <a:rPr dirty="0" sz="1200" spc="110">
                <a:latin typeface="Garamond"/>
                <a:cs typeface="Garamond"/>
              </a:rPr>
              <a:t>)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10">
                <a:latin typeface="Garamond"/>
                <a:cs typeface="Garamond"/>
              </a:rPr>
              <a:t>((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44">
                <a:latin typeface="Verdana"/>
                <a:cs typeface="Verdana"/>
              </a:rPr>
              <a:t>3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88900">
              <a:lnSpc>
                <a:spcPct val="100000"/>
              </a:lnSpc>
              <a:spcBef>
                <a:spcPts val="655"/>
              </a:spcBef>
            </a:pPr>
            <a:r>
              <a:rPr dirty="0" sz="1200" spc="-5">
                <a:latin typeface="Times New Roman"/>
                <a:cs typeface="Times New Roman"/>
              </a:rPr>
              <a:t>is satisfiable, by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assignment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x</a:t>
            </a:r>
            <a:r>
              <a:rPr dirty="0" baseline="-13888" sz="1200" spc="-89">
                <a:latin typeface="Verdana"/>
                <a:cs typeface="Verdana"/>
              </a:rPr>
              <a:t>1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1</a:t>
            </a:r>
            <a:r>
              <a:rPr dirty="0" sz="1200" spc="-8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x</a:t>
            </a:r>
            <a:r>
              <a:rPr dirty="0" baseline="-13888" sz="1200" spc="-89">
                <a:latin typeface="Verdana"/>
                <a:cs typeface="Verdana"/>
              </a:rPr>
              <a:t>2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60">
                <a:latin typeface="Lucida Sans Unicode"/>
                <a:cs typeface="Lucida Sans Unicode"/>
              </a:rPr>
              <a:t>x</a:t>
            </a:r>
            <a:r>
              <a:rPr dirty="0" baseline="-13888" sz="1200" spc="-89">
                <a:latin typeface="Verdana"/>
                <a:cs typeface="Verdana"/>
              </a:rPr>
              <a:t>3</a:t>
            </a:r>
            <a:r>
              <a:rPr dirty="0" baseline="-13888" sz="1200" spc="44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0</a:t>
            </a:r>
            <a:r>
              <a:rPr dirty="0" sz="1200" spc="-8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other hand,</a:t>
            </a:r>
            <a:endParaRPr sz="1200">
              <a:latin typeface="Times New Roman"/>
              <a:cs typeface="Times New Roman"/>
            </a:endParaRPr>
          </a:p>
          <a:p>
            <a:pPr algn="ctr" marL="25400">
              <a:lnSpc>
                <a:spcPct val="100000"/>
              </a:lnSpc>
              <a:spcBef>
                <a:spcPts val="1195"/>
              </a:spcBef>
            </a:pPr>
            <a:r>
              <a:rPr dirty="0" sz="1200" spc="-5">
                <a:latin typeface="Garamond"/>
                <a:cs typeface="Garamond"/>
              </a:rPr>
              <a:t>(</a:t>
            </a:r>
            <a:r>
              <a:rPr dirty="0" sz="1200" spc="-5">
                <a:latin typeface="Lucida Sans Unicode"/>
                <a:cs typeface="Lucida Sans Unicode"/>
              </a:rPr>
              <a:t>x</a:t>
            </a:r>
            <a:r>
              <a:rPr dirty="0" baseline="-13888" sz="1200" spc="-7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Garamond"/>
                <a:cs typeface="Garamond"/>
              </a:rPr>
              <a:t>(</a:t>
            </a:r>
            <a:r>
              <a:rPr dirty="0" sz="1200" spc="-5">
                <a:latin typeface="Lucida Sans Unicode"/>
                <a:cs typeface="Lucida Sans Unicode"/>
              </a:rPr>
              <a:t>x</a:t>
            </a:r>
            <a:r>
              <a:rPr dirty="0" baseline="-13888" sz="1200" spc="-7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baseline="-13888" sz="1200" spc="30">
                <a:latin typeface="Verdana"/>
                <a:cs typeface="Verdana"/>
              </a:rPr>
              <a:t>3</a:t>
            </a:r>
            <a:r>
              <a:rPr dirty="0" sz="1200" spc="20">
                <a:latin typeface="Garamond"/>
                <a:cs typeface="Garamond"/>
              </a:rPr>
              <a:t>))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Garamond"/>
                <a:cs typeface="Garamond"/>
              </a:rPr>
              <a:t>(</a:t>
            </a:r>
            <a:r>
              <a:rPr dirty="0" sz="1200" spc="-5">
                <a:latin typeface="Lucida Sans Unicode"/>
                <a:cs typeface="Lucida Sans Unicode"/>
              </a:rPr>
              <a:t>x</a:t>
            </a:r>
            <a:r>
              <a:rPr dirty="0" baseline="-13888" sz="1200" spc="-7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Garamond"/>
                <a:cs typeface="Garamond"/>
              </a:rPr>
              <a:t>(</a:t>
            </a:r>
            <a:r>
              <a:rPr dirty="0" sz="1200" spc="-5">
                <a:latin typeface="Lucida Sans Unicode"/>
                <a:cs typeface="Lucida Sans Unicode"/>
              </a:rPr>
              <a:t>x</a:t>
            </a:r>
            <a:r>
              <a:rPr dirty="0" baseline="-13888" sz="1200" spc="-7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baseline="-13888" sz="1200" spc="30">
                <a:latin typeface="Verdana"/>
                <a:cs typeface="Verdana"/>
              </a:rPr>
              <a:t>3</a:t>
            </a:r>
            <a:r>
              <a:rPr dirty="0" sz="1200" spc="20">
                <a:latin typeface="Garamond"/>
                <a:cs typeface="Garamond"/>
              </a:rPr>
              <a:t>))</a:t>
            </a:r>
            <a:r>
              <a:rPr dirty="0" sz="1200" spc="-3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Garamond"/>
                <a:cs typeface="Garamond"/>
              </a:rPr>
              <a:t>(</a:t>
            </a:r>
            <a:r>
              <a:rPr dirty="0" sz="1200" spc="-5">
                <a:latin typeface="Lucida Sans Unicode"/>
                <a:cs typeface="Lucida Sans Unicode"/>
              </a:rPr>
              <a:t>x</a:t>
            </a:r>
            <a:r>
              <a:rPr dirty="0" baseline="-13888" sz="1200" spc="-7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3</a:t>
            </a:r>
            <a:r>
              <a:rPr dirty="0" sz="1200" spc="-10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Garamond"/>
                <a:cs typeface="Garamond"/>
              </a:rPr>
              <a:t>(</a:t>
            </a:r>
            <a:r>
              <a:rPr dirty="0" sz="1200" spc="-5">
                <a:latin typeface="Lucida Sans Unicode"/>
                <a:cs typeface="Lucida Sans Unicode"/>
              </a:rPr>
              <a:t>x</a:t>
            </a:r>
            <a:r>
              <a:rPr dirty="0" baseline="-13888" sz="1200" spc="-7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3</a:t>
            </a:r>
            <a:r>
              <a:rPr dirty="0" sz="1200" spc="-1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50">
              <a:latin typeface="Garamond"/>
              <a:cs typeface="Garamond"/>
            </a:endParaRPr>
          </a:p>
          <a:p>
            <a:pPr marL="88900" marR="231775">
              <a:lnSpc>
                <a:spcPct val="100000"/>
              </a:lnSpc>
            </a:pP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satisfiable.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Such a boolean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 be represented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logical circuit made up of OR,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AND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25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gates.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9.9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circuit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boolean </a:t>
            </a:r>
            <a:r>
              <a:rPr dirty="0" sz="1200" spc="-10">
                <a:latin typeface="Times New Roman"/>
                <a:cs typeface="Times New Roman"/>
              </a:rPr>
              <a:t>formula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700">
              <a:latin typeface="Times New Roman"/>
              <a:cs typeface="Times New Roman"/>
            </a:endParaRPr>
          </a:p>
          <a:p>
            <a:pPr algn="ctr" marL="27940">
              <a:lnSpc>
                <a:spcPct val="100000"/>
              </a:lnSpc>
            </a:pPr>
            <a:r>
              <a:rPr dirty="0" sz="1200" spc="110">
                <a:latin typeface="Garamond"/>
                <a:cs typeface="Garamond"/>
              </a:rPr>
              <a:t>((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44">
                <a:latin typeface="Verdana"/>
                <a:cs typeface="Verdana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44">
                <a:latin typeface="Verdana"/>
                <a:cs typeface="Verdana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10">
                <a:latin typeface="Garamond"/>
                <a:cs typeface="Garamond"/>
              </a:rPr>
              <a:t>((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3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44">
                <a:latin typeface="Verdana"/>
                <a:cs typeface="Verdana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44">
                <a:latin typeface="Verdana"/>
                <a:cs typeface="Verdana"/>
              </a:rPr>
              <a:t>2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5</a:t>
            </a:r>
            <a:endParaRPr baseline="-13888" sz="1200">
              <a:latin typeface="Verdana"/>
              <a:cs typeface="Verdana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661160" y="6086546"/>
            <a:ext cx="4869180" cy="2590800"/>
            <a:chOff x="1661160" y="6086546"/>
            <a:chExt cx="4869180" cy="2590800"/>
          </a:xfrm>
        </p:grpSpPr>
        <p:sp>
          <p:nvSpPr>
            <p:cNvPr id="17" name="object 17"/>
            <p:cNvSpPr/>
            <p:nvPr/>
          </p:nvSpPr>
          <p:spPr>
            <a:xfrm>
              <a:off x="1661160" y="6086546"/>
              <a:ext cx="4869180" cy="2590800"/>
            </a:xfrm>
            <a:custGeom>
              <a:avLst/>
              <a:gdLst/>
              <a:ahLst/>
              <a:cxnLst/>
              <a:rect l="l" t="t" r="r" b="b"/>
              <a:pathLst>
                <a:path w="4869180" h="2590800">
                  <a:moveTo>
                    <a:pt x="4868951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4868951" y="2590601"/>
                  </a:lnTo>
                  <a:lnTo>
                    <a:pt x="4868951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415058" y="8323305"/>
              <a:ext cx="227965" cy="264160"/>
            </a:xfrm>
            <a:custGeom>
              <a:avLst/>
              <a:gdLst/>
              <a:ahLst/>
              <a:cxnLst/>
              <a:rect l="l" t="t" r="r" b="b"/>
              <a:pathLst>
                <a:path w="227964" h="264159">
                  <a:moveTo>
                    <a:pt x="227700" y="133151"/>
                  </a:moveTo>
                  <a:lnTo>
                    <a:pt x="0" y="0"/>
                  </a:lnTo>
                  <a:lnTo>
                    <a:pt x="1584" y="263545"/>
                  </a:lnTo>
                  <a:lnTo>
                    <a:pt x="227700" y="133151"/>
                  </a:lnTo>
                </a:path>
              </a:pathLst>
            </a:custGeom>
            <a:ln w="1969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31722" y="8414696"/>
              <a:ext cx="79574" cy="79970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487168" y="6190955"/>
              <a:ext cx="3473450" cy="2107565"/>
            </a:xfrm>
            <a:custGeom>
              <a:avLst/>
              <a:gdLst/>
              <a:ahLst/>
              <a:cxnLst/>
              <a:rect l="l" t="t" r="r" b="b"/>
              <a:pathLst>
                <a:path w="3473450" h="2107565">
                  <a:moveTo>
                    <a:pt x="1061252" y="187116"/>
                  </a:moveTo>
                  <a:lnTo>
                    <a:pt x="1098270" y="205633"/>
                  </a:lnTo>
                  <a:lnTo>
                    <a:pt x="1134130" y="224530"/>
                  </a:lnTo>
                  <a:lnTo>
                    <a:pt x="1168389" y="244236"/>
                  </a:lnTo>
                  <a:lnTo>
                    <a:pt x="1201491" y="264322"/>
                  </a:lnTo>
                  <a:lnTo>
                    <a:pt x="1262146" y="305287"/>
                  </a:lnTo>
                  <a:lnTo>
                    <a:pt x="1316126" y="345871"/>
                  </a:lnTo>
                  <a:lnTo>
                    <a:pt x="1361815" y="385267"/>
                  </a:lnTo>
                  <a:lnTo>
                    <a:pt x="1398849" y="421888"/>
                  </a:lnTo>
                  <a:lnTo>
                    <a:pt x="1426418" y="454197"/>
                  </a:lnTo>
                  <a:lnTo>
                    <a:pt x="1436263" y="468386"/>
                  </a:lnTo>
                </a:path>
                <a:path w="3473450" h="2107565">
                  <a:moveTo>
                    <a:pt x="1061252" y="749640"/>
                  </a:moveTo>
                  <a:lnTo>
                    <a:pt x="1098270" y="731138"/>
                  </a:lnTo>
                  <a:lnTo>
                    <a:pt x="1134130" y="712226"/>
                  </a:lnTo>
                  <a:lnTo>
                    <a:pt x="1168389" y="692520"/>
                  </a:lnTo>
                  <a:lnTo>
                    <a:pt x="1201491" y="672434"/>
                  </a:lnTo>
                  <a:lnTo>
                    <a:pt x="1262146" y="631469"/>
                  </a:lnTo>
                  <a:lnTo>
                    <a:pt x="1316126" y="590885"/>
                  </a:lnTo>
                  <a:lnTo>
                    <a:pt x="1361815" y="551505"/>
                  </a:lnTo>
                  <a:lnTo>
                    <a:pt x="1398849" y="514868"/>
                  </a:lnTo>
                  <a:lnTo>
                    <a:pt x="1426418" y="482559"/>
                  </a:lnTo>
                  <a:lnTo>
                    <a:pt x="1436263" y="468386"/>
                  </a:lnTo>
                </a:path>
                <a:path w="3473450" h="2107565">
                  <a:moveTo>
                    <a:pt x="1061252" y="187116"/>
                  </a:moveTo>
                  <a:lnTo>
                    <a:pt x="1091580" y="218633"/>
                  </a:lnTo>
                  <a:lnTo>
                    <a:pt x="1112062" y="266684"/>
                  </a:lnTo>
                  <a:lnTo>
                    <a:pt x="1126632" y="313959"/>
                  </a:lnTo>
                  <a:lnTo>
                    <a:pt x="1139250" y="368716"/>
                  </a:lnTo>
                  <a:lnTo>
                    <a:pt x="1146733" y="408111"/>
                  </a:lnTo>
                  <a:lnTo>
                    <a:pt x="1152631" y="448284"/>
                  </a:lnTo>
                  <a:lnTo>
                    <a:pt x="1155390" y="468386"/>
                  </a:lnTo>
                </a:path>
                <a:path w="3473450" h="2107565">
                  <a:moveTo>
                    <a:pt x="1061252" y="749640"/>
                  </a:moveTo>
                  <a:lnTo>
                    <a:pt x="1091580" y="718139"/>
                  </a:lnTo>
                  <a:lnTo>
                    <a:pt x="1112062" y="670072"/>
                  </a:lnTo>
                  <a:lnTo>
                    <a:pt x="1126632" y="622401"/>
                  </a:lnTo>
                  <a:lnTo>
                    <a:pt x="1139250" y="568040"/>
                  </a:lnTo>
                  <a:lnTo>
                    <a:pt x="1146733" y="528645"/>
                  </a:lnTo>
                  <a:lnTo>
                    <a:pt x="1152631" y="488472"/>
                  </a:lnTo>
                  <a:lnTo>
                    <a:pt x="1155390" y="468386"/>
                  </a:lnTo>
                </a:path>
                <a:path w="3473450" h="2107565">
                  <a:moveTo>
                    <a:pt x="124876" y="0"/>
                  </a:moveTo>
                  <a:lnTo>
                    <a:pt x="176875" y="14965"/>
                  </a:lnTo>
                  <a:lnTo>
                    <a:pt x="212323" y="31120"/>
                  </a:lnTo>
                  <a:lnTo>
                    <a:pt x="247375" y="50810"/>
                  </a:lnTo>
                  <a:lnTo>
                    <a:pt x="281254" y="74843"/>
                  </a:lnTo>
                  <a:lnTo>
                    <a:pt x="313166" y="101635"/>
                  </a:lnTo>
                  <a:lnTo>
                    <a:pt x="341924" y="131566"/>
                  </a:lnTo>
                  <a:lnTo>
                    <a:pt x="368320" y="162686"/>
                  </a:lnTo>
                  <a:lnTo>
                    <a:pt x="391165" y="196169"/>
                  </a:lnTo>
                  <a:lnTo>
                    <a:pt x="409681" y="230047"/>
                  </a:lnTo>
                  <a:lnTo>
                    <a:pt x="424251" y="264322"/>
                  </a:lnTo>
                  <a:lnTo>
                    <a:pt x="429386" y="280873"/>
                  </a:lnTo>
                </a:path>
                <a:path w="3473450" h="2107565">
                  <a:moveTo>
                    <a:pt x="124876" y="562142"/>
                  </a:moveTo>
                  <a:lnTo>
                    <a:pt x="176875" y="546765"/>
                  </a:lnTo>
                  <a:lnTo>
                    <a:pt x="212323" y="530626"/>
                  </a:lnTo>
                  <a:lnTo>
                    <a:pt x="247375" y="510524"/>
                  </a:lnTo>
                  <a:lnTo>
                    <a:pt x="281254" y="486887"/>
                  </a:lnTo>
                  <a:lnTo>
                    <a:pt x="313166" y="460110"/>
                  </a:lnTo>
                  <a:lnTo>
                    <a:pt x="341924" y="430560"/>
                  </a:lnTo>
                  <a:lnTo>
                    <a:pt x="368320" y="399044"/>
                  </a:lnTo>
                  <a:lnTo>
                    <a:pt x="391165" y="365561"/>
                  </a:lnTo>
                  <a:lnTo>
                    <a:pt x="409681" y="331683"/>
                  </a:lnTo>
                  <a:lnTo>
                    <a:pt x="424251" y="297804"/>
                  </a:lnTo>
                  <a:lnTo>
                    <a:pt x="429386" y="280873"/>
                  </a:lnTo>
                </a:path>
                <a:path w="3473450" h="2107565">
                  <a:moveTo>
                    <a:pt x="124876" y="0"/>
                  </a:moveTo>
                  <a:lnTo>
                    <a:pt x="124876" y="561746"/>
                  </a:lnTo>
                </a:path>
                <a:path w="3473450" h="2107565">
                  <a:moveTo>
                    <a:pt x="3168776" y="936376"/>
                  </a:moveTo>
                  <a:lnTo>
                    <a:pt x="3221172" y="951737"/>
                  </a:lnTo>
                  <a:lnTo>
                    <a:pt x="3256635" y="967892"/>
                  </a:lnTo>
                  <a:lnTo>
                    <a:pt x="3290895" y="987582"/>
                  </a:lnTo>
                  <a:lnTo>
                    <a:pt x="3324773" y="1011615"/>
                  </a:lnTo>
                  <a:lnTo>
                    <a:pt x="3356686" y="1038392"/>
                  </a:lnTo>
                  <a:lnTo>
                    <a:pt x="3386236" y="1067942"/>
                  </a:lnTo>
                  <a:lnTo>
                    <a:pt x="3412632" y="1099459"/>
                  </a:lnTo>
                  <a:lnTo>
                    <a:pt x="3435080" y="1132941"/>
                  </a:lnTo>
                  <a:lnTo>
                    <a:pt x="3453597" y="1166820"/>
                  </a:lnTo>
                  <a:lnTo>
                    <a:pt x="3467770" y="1200698"/>
                  </a:lnTo>
                  <a:lnTo>
                    <a:pt x="3473287" y="1217249"/>
                  </a:lnTo>
                </a:path>
                <a:path w="3473450" h="2107565">
                  <a:moveTo>
                    <a:pt x="3168776" y="1498518"/>
                  </a:moveTo>
                  <a:lnTo>
                    <a:pt x="3221172" y="1483537"/>
                  </a:lnTo>
                  <a:lnTo>
                    <a:pt x="3256635" y="1467398"/>
                  </a:lnTo>
                  <a:lnTo>
                    <a:pt x="3290895" y="1447297"/>
                  </a:lnTo>
                  <a:lnTo>
                    <a:pt x="3324773" y="1423659"/>
                  </a:lnTo>
                  <a:lnTo>
                    <a:pt x="3356686" y="1396883"/>
                  </a:lnTo>
                  <a:lnTo>
                    <a:pt x="3386236" y="1366936"/>
                  </a:lnTo>
                  <a:lnTo>
                    <a:pt x="3412632" y="1335420"/>
                  </a:lnTo>
                  <a:lnTo>
                    <a:pt x="3435080" y="1302334"/>
                  </a:lnTo>
                  <a:lnTo>
                    <a:pt x="3453597" y="1268455"/>
                  </a:lnTo>
                  <a:lnTo>
                    <a:pt x="3467770" y="1234180"/>
                  </a:lnTo>
                  <a:lnTo>
                    <a:pt x="3473287" y="1217249"/>
                  </a:lnTo>
                </a:path>
                <a:path w="3473450" h="2107565">
                  <a:moveTo>
                    <a:pt x="3168776" y="936376"/>
                  </a:moveTo>
                  <a:lnTo>
                    <a:pt x="3168776" y="1498122"/>
                  </a:lnTo>
                </a:path>
                <a:path w="3473450" h="2107565">
                  <a:moveTo>
                    <a:pt x="741761" y="1498518"/>
                  </a:moveTo>
                  <a:lnTo>
                    <a:pt x="793760" y="1513880"/>
                  </a:lnTo>
                  <a:lnTo>
                    <a:pt x="828827" y="1529638"/>
                  </a:lnTo>
                  <a:lnTo>
                    <a:pt x="863879" y="1549725"/>
                  </a:lnTo>
                  <a:lnTo>
                    <a:pt x="897757" y="1573362"/>
                  </a:lnTo>
                  <a:lnTo>
                    <a:pt x="929274" y="1600535"/>
                  </a:lnTo>
                  <a:lnTo>
                    <a:pt x="958824" y="1630085"/>
                  </a:lnTo>
                  <a:lnTo>
                    <a:pt x="985220" y="1661601"/>
                  </a:lnTo>
                  <a:lnTo>
                    <a:pt x="1008065" y="1694687"/>
                  </a:lnTo>
                  <a:lnTo>
                    <a:pt x="1026581" y="1728566"/>
                  </a:lnTo>
                  <a:lnTo>
                    <a:pt x="1040754" y="1762841"/>
                  </a:lnTo>
                  <a:lnTo>
                    <a:pt x="1045890" y="1779772"/>
                  </a:lnTo>
                </a:path>
                <a:path w="3473450" h="2107565">
                  <a:moveTo>
                    <a:pt x="741761" y="2060646"/>
                  </a:moveTo>
                  <a:lnTo>
                    <a:pt x="793760" y="2045284"/>
                  </a:lnTo>
                  <a:lnTo>
                    <a:pt x="828827" y="2029525"/>
                  </a:lnTo>
                  <a:lnTo>
                    <a:pt x="863879" y="2009439"/>
                  </a:lnTo>
                  <a:lnTo>
                    <a:pt x="897757" y="1985406"/>
                  </a:lnTo>
                  <a:lnTo>
                    <a:pt x="929274" y="1958629"/>
                  </a:lnTo>
                  <a:lnTo>
                    <a:pt x="958824" y="1929079"/>
                  </a:lnTo>
                  <a:lnTo>
                    <a:pt x="985220" y="1897562"/>
                  </a:lnTo>
                  <a:lnTo>
                    <a:pt x="1008065" y="1864080"/>
                  </a:lnTo>
                  <a:lnTo>
                    <a:pt x="1026581" y="1830202"/>
                  </a:lnTo>
                  <a:lnTo>
                    <a:pt x="1040754" y="1796323"/>
                  </a:lnTo>
                  <a:lnTo>
                    <a:pt x="1045890" y="1779772"/>
                  </a:lnTo>
                </a:path>
                <a:path w="3473450" h="2107565">
                  <a:moveTo>
                    <a:pt x="741761" y="1498122"/>
                  </a:moveTo>
                  <a:lnTo>
                    <a:pt x="741761" y="2060265"/>
                  </a:lnTo>
                </a:path>
                <a:path w="3473450" h="2107565">
                  <a:moveTo>
                    <a:pt x="227685" y="1976749"/>
                  </a:moveTo>
                  <a:lnTo>
                    <a:pt x="0" y="1843597"/>
                  </a:lnTo>
                  <a:lnTo>
                    <a:pt x="1569" y="2107143"/>
                  </a:lnTo>
                  <a:lnTo>
                    <a:pt x="227685" y="1976749"/>
                  </a:lnTo>
                </a:path>
              </a:pathLst>
            </a:custGeom>
            <a:ln w="1969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03831" y="8125944"/>
              <a:ext cx="79559" cy="7997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3642558" y="7127331"/>
              <a:ext cx="227329" cy="264160"/>
            </a:xfrm>
            <a:custGeom>
              <a:avLst/>
              <a:gdLst/>
              <a:ahLst/>
              <a:cxnLst/>
              <a:rect l="l" t="t" r="r" b="b"/>
              <a:pathLst>
                <a:path w="227329" h="264159">
                  <a:moveTo>
                    <a:pt x="227304" y="133532"/>
                  </a:moveTo>
                  <a:lnTo>
                    <a:pt x="0" y="0"/>
                  </a:lnTo>
                  <a:lnTo>
                    <a:pt x="1584" y="263926"/>
                  </a:lnTo>
                  <a:lnTo>
                    <a:pt x="227304" y="133532"/>
                  </a:lnTo>
                </a:path>
              </a:pathLst>
            </a:custGeom>
            <a:ln w="1969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58840" y="7219499"/>
              <a:ext cx="79559" cy="79193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029023" y="6284712"/>
              <a:ext cx="4423410" cy="2160270"/>
            </a:xfrm>
            <a:custGeom>
              <a:avLst/>
              <a:gdLst/>
              <a:ahLst/>
              <a:cxnLst/>
              <a:rect l="l" t="t" r="r" b="b"/>
              <a:pathLst>
                <a:path w="4423410" h="2160270">
                  <a:moveTo>
                    <a:pt x="0" y="0"/>
                  </a:moveTo>
                  <a:lnTo>
                    <a:pt x="583021" y="0"/>
                  </a:lnTo>
                </a:path>
                <a:path w="4423410" h="2160270">
                  <a:moveTo>
                    <a:pt x="887531" y="187116"/>
                  </a:moveTo>
                  <a:lnTo>
                    <a:pt x="1589912" y="189478"/>
                  </a:lnTo>
                </a:path>
                <a:path w="4423410" h="2160270">
                  <a:moveTo>
                    <a:pt x="1607637" y="974978"/>
                  </a:moveTo>
                  <a:lnTo>
                    <a:pt x="330113" y="976152"/>
                  </a:lnTo>
                </a:path>
                <a:path w="4423410" h="2160270">
                  <a:moveTo>
                    <a:pt x="1238524" y="555833"/>
                  </a:moveTo>
                  <a:lnTo>
                    <a:pt x="1589912" y="555833"/>
                  </a:lnTo>
                </a:path>
                <a:path w="4423410" h="2160270">
                  <a:moveTo>
                    <a:pt x="1232611" y="555833"/>
                  </a:moveTo>
                  <a:lnTo>
                    <a:pt x="1232611" y="974582"/>
                  </a:lnTo>
                </a:path>
                <a:path w="4423410" h="2160270">
                  <a:moveTo>
                    <a:pt x="330113" y="1498518"/>
                  </a:moveTo>
                  <a:lnTo>
                    <a:pt x="1197940" y="1498518"/>
                  </a:lnTo>
                </a:path>
                <a:path w="4423410" h="2160270">
                  <a:moveTo>
                    <a:pt x="0" y="1873148"/>
                  </a:moveTo>
                  <a:lnTo>
                    <a:pt x="454197" y="1873148"/>
                  </a:lnTo>
                </a:path>
                <a:path w="4423410" h="2160270">
                  <a:moveTo>
                    <a:pt x="758708" y="1879046"/>
                  </a:moveTo>
                  <a:lnTo>
                    <a:pt x="1197940" y="1879046"/>
                  </a:lnTo>
                </a:path>
                <a:path w="4423410" h="2160270">
                  <a:moveTo>
                    <a:pt x="2374620" y="850498"/>
                  </a:moveTo>
                  <a:lnTo>
                    <a:pt x="2411257" y="869015"/>
                  </a:lnTo>
                  <a:lnTo>
                    <a:pt x="2447101" y="887912"/>
                  </a:lnTo>
                  <a:lnTo>
                    <a:pt x="2481772" y="907618"/>
                  </a:lnTo>
                  <a:lnTo>
                    <a:pt x="2514462" y="927704"/>
                  </a:lnTo>
                  <a:lnTo>
                    <a:pt x="2575529" y="968273"/>
                  </a:lnTo>
                  <a:lnTo>
                    <a:pt x="2629494" y="1009253"/>
                  </a:lnTo>
                  <a:lnTo>
                    <a:pt x="2675580" y="1048649"/>
                  </a:lnTo>
                  <a:lnTo>
                    <a:pt x="2712217" y="1085270"/>
                  </a:lnTo>
                  <a:lnTo>
                    <a:pt x="2739405" y="1117183"/>
                  </a:lnTo>
                  <a:lnTo>
                    <a:pt x="2749250" y="1131768"/>
                  </a:lnTo>
                </a:path>
                <a:path w="4423410" h="2160270">
                  <a:moveTo>
                    <a:pt x="2374620" y="1412641"/>
                  </a:moveTo>
                  <a:lnTo>
                    <a:pt x="2411257" y="1394520"/>
                  </a:lnTo>
                  <a:lnTo>
                    <a:pt x="2447101" y="1375608"/>
                  </a:lnTo>
                  <a:lnTo>
                    <a:pt x="2481772" y="1355902"/>
                  </a:lnTo>
                  <a:lnTo>
                    <a:pt x="2514462" y="1335816"/>
                  </a:lnTo>
                  <a:lnTo>
                    <a:pt x="2575529" y="1294851"/>
                  </a:lnTo>
                  <a:lnTo>
                    <a:pt x="2629494" y="1253886"/>
                  </a:lnTo>
                  <a:lnTo>
                    <a:pt x="2675580" y="1214887"/>
                  </a:lnTo>
                  <a:lnTo>
                    <a:pt x="2712217" y="1178250"/>
                  </a:lnTo>
                  <a:lnTo>
                    <a:pt x="2739405" y="1145941"/>
                  </a:lnTo>
                  <a:lnTo>
                    <a:pt x="2749250" y="1131768"/>
                  </a:lnTo>
                </a:path>
                <a:path w="4423410" h="2160270">
                  <a:moveTo>
                    <a:pt x="2374620" y="850498"/>
                  </a:moveTo>
                  <a:lnTo>
                    <a:pt x="2404551" y="882014"/>
                  </a:lnTo>
                  <a:lnTo>
                    <a:pt x="2425430" y="930066"/>
                  </a:lnTo>
                  <a:lnTo>
                    <a:pt x="2430155" y="945032"/>
                  </a:lnTo>
                  <a:lnTo>
                    <a:pt x="2435290" y="960394"/>
                  </a:lnTo>
                  <a:lnTo>
                    <a:pt x="2439619" y="977341"/>
                  </a:lnTo>
                  <a:lnTo>
                    <a:pt x="2444343" y="995065"/>
                  </a:lnTo>
                  <a:lnTo>
                    <a:pt x="2448671" y="1013185"/>
                  </a:lnTo>
                  <a:lnTo>
                    <a:pt x="2456154" y="1051392"/>
                  </a:lnTo>
                  <a:lnTo>
                    <a:pt x="2462860" y="1091580"/>
                  </a:lnTo>
                  <a:lnTo>
                    <a:pt x="2465618" y="1111270"/>
                  </a:lnTo>
                  <a:lnTo>
                    <a:pt x="2468377" y="1131768"/>
                  </a:lnTo>
                </a:path>
                <a:path w="4423410" h="2160270">
                  <a:moveTo>
                    <a:pt x="2374620" y="1412641"/>
                  </a:moveTo>
                  <a:lnTo>
                    <a:pt x="2404551" y="1381521"/>
                  </a:lnTo>
                  <a:lnTo>
                    <a:pt x="2425430" y="1333454"/>
                  </a:lnTo>
                  <a:lnTo>
                    <a:pt x="2430155" y="1318488"/>
                  </a:lnTo>
                  <a:lnTo>
                    <a:pt x="2435290" y="1302730"/>
                  </a:lnTo>
                  <a:lnTo>
                    <a:pt x="2439619" y="1285783"/>
                  </a:lnTo>
                  <a:lnTo>
                    <a:pt x="2444343" y="1268059"/>
                  </a:lnTo>
                  <a:lnTo>
                    <a:pt x="2448671" y="1249939"/>
                  </a:lnTo>
                  <a:lnTo>
                    <a:pt x="2456154" y="1212128"/>
                  </a:lnTo>
                  <a:lnTo>
                    <a:pt x="2462860" y="1171940"/>
                  </a:lnTo>
                  <a:lnTo>
                    <a:pt x="2465618" y="1151854"/>
                  </a:lnTo>
                  <a:lnTo>
                    <a:pt x="2468377" y="1131768"/>
                  </a:lnTo>
                </a:path>
                <a:path w="4423410" h="2160270">
                  <a:moveTo>
                    <a:pt x="290321" y="362803"/>
                  </a:moveTo>
                  <a:lnTo>
                    <a:pt x="588919" y="362803"/>
                  </a:lnTo>
                </a:path>
                <a:path w="4423410" h="2160270">
                  <a:moveTo>
                    <a:pt x="290321" y="374629"/>
                  </a:moveTo>
                  <a:lnTo>
                    <a:pt x="284408" y="1867631"/>
                  </a:lnTo>
                </a:path>
                <a:path w="4423410" h="2160270">
                  <a:moveTo>
                    <a:pt x="1905838" y="971428"/>
                  </a:moveTo>
                  <a:lnTo>
                    <a:pt x="2456154" y="971428"/>
                  </a:lnTo>
                </a:path>
                <a:path w="4423410" h="2160270">
                  <a:moveTo>
                    <a:pt x="1502054" y="1686016"/>
                  </a:moveTo>
                  <a:lnTo>
                    <a:pt x="1993681" y="1686016"/>
                  </a:lnTo>
                </a:path>
                <a:path w="4423410" h="2160270">
                  <a:moveTo>
                    <a:pt x="1987783" y="1686016"/>
                  </a:moveTo>
                  <a:lnTo>
                    <a:pt x="1987783" y="1311005"/>
                  </a:lnTo>
                </a:path>
                <a:path w="4423410" h="2160270">
                  <a:moveTo>
                    <a:pt x="1987783" y="1316903"/>
                  </a:moveTo>
                  <a:lnTo>
                    <a:pt x="2438430" y="1316903"/>
                  </a:lnTo>
                </a:path>
                <a:path w="4423410" h="2160270">
                  <a:moveTo>
                    <a:pt x="2748853" y="1129786"/>
                  </a:moveTo>
                  <a:lnTo>
                    <a:pt x="3626921" y="1129786"/>
                  </a:lnTo>
                </a:path>
                <a:path w="4423410" h="2160270">
                  <a:moveTo>
                    <a:pt x="1894408" y="374629"/>
                  </a:moveTo>
                  <a:lnTo>
                    <a:pt x="3299170" y="374629"/>
                  </a:lnTo>
                </a:path>
                <a:path w="4423410" h="2160270">
                  <a:moveTo>
                    <a:pt x="3287755" y="374629"/>
                  </a:moveTo>
                  <a:lnTo>
                    <a:pt x="3287755" y="936757"/>
                  </a:lnTo>
                </a:path>
                <a:path w="4423410" h="2160270">
                  <a:moveTo>
                    <a:pt x="3287755" y="924946"/>
                  </a:moveTo>
                  <a:lnTo>
                    <a:pt x="3626921" y="924946"/>
                  </a:lnTo>
                </a:path>
                <a:path w="4423410" h="2160270">
                  <a:moveTo>
                    <a:pt x="0" y="2159919"/>
                  </a:moveTo>
                  <a:lnTo>
                    <a:pt x="2386035" y="2159919"/>
                  </a:lnTo>
                </a:path>
                <a:path w="4423410" h="2160270">
                  <a:moveTo>
                    <a:pt x="2678734" y="2159919"/>
                  </a:moveTo>
                  <a:lnTo>
                    <a:pt x="3304687" y="2159919"/>
                  </a:lnTo>
                </a:path>
                <a:path w="4423410" h="2160270">
                  <a:moveTo>
                    <a:pt x="3299170" y="2159919"/>
                  </a:moveTo>
                  <a:lnTo>
                    <a:pt x="3299170" y="1311005"/>
                  </a:lnTo>
                </a:path>
                <a:path w="4423410" h="2160270">
                  <a:moveTo>
                    <a:pt x="3299170" y="1316903"/>
                  </a:moveTo>
                  <a:lnTo>
                    <a:pt x="3626921" y="1316903"/>
                  </a:lnTo>
                </a:path>
                <a:path w="4423410" h="2160270">
                  <a:moveTo>
                    <a:pt x="3931432" y="1123889"/>
                  </a:moveTo>
                  <a:lnTo>
                    <a:pt x="4423059" y="1123889"/>
                  </a:lnTo>
                </a:path>
              </a:pathLst>
            </a:custGeom>
            <a:ln w="19696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1661160" y="6086546"/>
            <a:ext cx="4869180" cy="2590800"/>
          </a:xfrm>
          <a:prstGeom prst="rect">
            <a:avLst/>
          </a:prstGeom>
        </p:spPr>
        <p:txBody>
          <a:bodyPr wrap="square" lIns="0" tIns="86360" rIns="0" bIns="0" rtlCol="0" vert="horz">
            <a:spAutoFit/>
          </a:bodyPr>
          <a:lstStyle/>
          <a:p>
            <a:pPr marL="171450">
              <a:lnSpc>
                <a:spcPct val="100000"/>
              </a:lnSpc>
              <a:spcBef>
                <a:spcPts val="680"/>
              </a:spcBef>
            </a:pPr>
            <a:r>
              <a:rPr dirty="0" sz="1250" spc="-10" b="1">
                <a:solidFill>
                  <a:srgbClr val="E6E6E6"/>
                </a:solidFill>
                <a:latin typeface="Arial"/>
                <a:cs typeface="Arial"/>
              </a:rPr>
              <a:t>x</a:t>
            </a:r>
            <a:r>
              <a:rPr dirty="0" sz="1250" spc="-210" b="1">
                <a:solidFill>
                  <a:srgbClr val="E6E6E6"/>
                </a:solidFill>
                <a:latin typeface="Arial"/>
                <a:cs typeface="Arial"/>
              </a:rPr>
              <a:t> </a:t>
            </a:r>
            <a:r>
              <a:rPr dirty="0" baseline="-27777" sz="1200" spc="22" b="1">
                <a:solidFill>
                  <a:srgbClr val="E6E6E6"/>
                </a:solidFill>
                <a:latin typeface="Arial"/>
                <a:cs typeface="Arial"/>
              </a:rPr>
              <a:t>1</a:t>
            </a:r>
            <a:endParaRPr baseline="-27777" sz="12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5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2150">
              <a:latin typeface="Arial"/>
              <a:cs typeface="Arial"/>
            </a:endParaRPr>
          </a:p>
          <a:p>
            <a:pPr marL="171450">
              <a:lnSpc>
                <a:spcPct val="100000"/>
              </a:lnSpc>
            </a:pPr>
            <a:r>
              <a:rPr dirty="0" sz="1250" spc="-10" b="1">
                <a:solidFill>
                  <a:srgbClr val="E6E6E6"/>
                </a:solidFill>
                <a:latin typeface="Arial"/>
                <a:cs typeface="Arial"/>
              </a:rPr>
              <a:t>x</a:t>
            </a:r>
            <a:r>
              <a:rPr dirty="0" sz="1250" spc="-210" b="1">
                <a:solidFill>
                  <a:srgbClr val="E6E6E6"/>
                </a:solidFill>
                <a:latin typeface="Arial"/>
                <a:cs typeface="Arial"/>
              </a:rPr>
              <a:t> </a:t>
            </a:r>
            <a:r>
              <a:rPr dirty="0" baseline="-27777" sz="1200" spc="22" b="1">
                <a:solidFill>
                  <a:srgbClr val="E6E6E6"/>
                </a:solidFill>
                <a:latin typeface="Arial"/>
                <a:cs typeface="Arial"/>
              </a:rPr>
              <a:t>2</a:t>
            </a:r>
            <a:endParaRPr baseline="-27777"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2150">
              <a:latin typeface="Arial"/>
              <a:cs typeface="Arial"/>
            </a:endParaRPr>
          </a:p>
          <a:p>
            <a:pPr marL="171450">
              <a:lnSpc>
                <a:spcPct val="100000"/>
              </a:lnSpc>
            </a:pPr>
            <a:r>
              <a:rPr dirty="0" sz="1250" spc="-10" b="1">
                <a:solidFill>
                  <a:srgbClr val="E6E6E6"/>
                </a:solidFill>
                <a:latin typeface="Arial"/>
                <a:cs typeface="Arial"/>
              </a:rPr>
              <a:t>x</a:t>
            </a:r>
            <a:r>
              <a:rPr dirty="0" sz="1250" spc="-210" b="1">
                <a:solidFill>
                  <a:srgbClr val="E6E6E6"/>
                </a:solidFill>
                <a:latin typeface="Arial"/>
                <a:cs typeface="Arial"/>
              </a:rPr>
              <a:t> </a:t>
            </a:r>
            <a:r>
              <a:rPr dirty="0" baseline="-27777" sz="1200" spc="22" b="1">
                <a:solidFill>
                  <a:srgbClr val="E6E6E6"/>
                </a:solidFill>
                <a:latin typeface="Arial"/>
                <a:cs typeface="Arial"/>
              </a:rPr>
              <a:t>3</a:t>
            </a:r>
            <a:endParaRPr baseline="-27777" sz="1200">
              <a:latin typeface="Arial"/>
              <a:cs typeface="Arial"/>
            </a:endParaRPr>
          </a:p>
          <a:p>
            <a:pPr marL="171450">
              <a:lnSpc>
                <a:spcPct val="100000"/>
              </a:lnSpc>
              <a:spcBef>
                <a:spcPts val="1265"/>
              </a:spcBef>
            </a:pPr>
            <a:r>
              <a:rPr dirty="0" sz="1250" spc="-10" b="1">
                <a:solidFill>
                  <a:srgbClr val="E6E6E6"/>
                </a:solidFill>
                <a:latin typeface="Arial"/>
                <a:cs typeface="Arial"/>
              </a:rPr>
              <a:t>x</a:t>
            </a:r>
            <a:r>
              <a:rPr dirty="0" sz="1250" spc="-210" b="1">
                <a:solidFill>
                  <a:srgbClr val="E6E6E6"/>
                </a:solidFill>
                <a:latin typeface="Arial"/>
                <a:cs typeface="Arial"/>
              </a:rPr>
              <a:t> </a:t>
            </a:r>
            <a:r>
              <a:rPr dirty="0" baseline="-27777" sz="1200" spc="22" b="1">
                <a:solidFill>
                  <a:srgbClr val="E6E6E6"/>
                </a:solidFill>
                <a:latin typeface="Arial"/>
                <a:cs typeface="Arial"/>
              </a:rPr>
              <a:t>4</a:t>
            </a:r>
            <a:endParaRPr baseline="-27777" sz="1200">
              <a:latin typeface="Arial"/>
              <a:cs typeface="Arial"/>
            </a:endParaRPr>
          </a:p>
          <a:p>
            <a:pPr marL="171450">
              <a:lnSpc>
                <a:spcPct val="100000"/>
              </a:lnSpc>
              <a:spcBef>
                <a:spcPts val="1019"/>
              </a:spcBef>
            </a:pPr>
            <a:r>
              <a:rPr dirty="0" sz="1250" spc="-10" b="1">
                <a:solidFill>
                  <a:srgbClr val="E6E6E6"/>
                </a:solidFill>
                <a:latin typeface="Arial"/>
                <a:cs typeface="Arial"/>
              </a:rPr>
              <a:t>x</a:t>
            </a:r>
            <a:r>
              <a:rPr dirty="0" sz="1250" spc="-210" b="1">
                <a:solidFill>
                  <a:srgbClr val="E6E6E6"/>
                </a:solidFill>
                <a:latin typeface="Arial"/>
                <a:cs typeface="Arial"/>
              </a:rPr>
              <a:t> </a:t>
            </a:r>
            <a:r>
              <a:rPr dirty="0" baseline="-27777" sz="1200" spc="22" b="1">
                <a:solidFill>
                  <a:srgbClr val="E6E6E6"/>
                </a:solidFill>
                <a:latin typeface="Arial"/>
                <a:cs typeface="Arial"/>
              </a:rPr>
              <a:t>5</a:t>
            </a:r>
            <a:endParaRPr baseline="-27777" sz="12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2029023" y="7260864"/>
            <a:ext cx="247650" cy="522605"/>
          </a:xfrm>
          <a:custGeom>
            <a:avLst/>
            <a:gdLst/>
            <a:ahLst/>
            <a:cxnLst/>
            <a:rect l="l" t="t" r="r" b="b"/>
            <a:pathLst>
              <a:path w="247650" h="522604">
                <a:moveTo>
                  <a:pt x="0" y="0"/>
                </a:moveTo>
                <a:lnTo>
                  <a:pt x="247390" y="0"/>
                </a:lnTo>
              </a:path>
              <a:path w="247650" h="522604">
                <a:moveTo>
                  <a:pt x="0" y="522366"/>
                </a:moveTo>
                <a:lnTo>
                  <a:pt x="239892" y="522366"/>
                </a:lnTo>
              </a:path>
            </a:pathLst>
          </a:custGeom>
          <a:ln w="19696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 txBox="1"/>
          <p:nvPr/>
        </p:nvSpPr>
        <p:spPr>
          <a:xfrm>
            <a:off x="2621685" y="8742743"/>
            <a:ext cx="29857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9.9: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Logical circuit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a boolean </a:t>
            </a:r>
            <a:r>
              <a:rPr dirty="0" sz="1200" spc="-10">
                <a:latin typeface="Times New Roman"/>
                <a:cs typeface="Times New Roman"/>
              </a:rPr>
              <a:t>formula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296411" y="1677340"/>
            <a:ext cx="80010" cy="6350"/>
          </a:xfrm>
          <a:custGeom>
            <a:avLst/>
            <a:gdLst/>
            <a:ahLst/>
            <a:cxnLst/>
            <a:rect l="l" t="t" r="r" b="b"/>
            <a:pathLst>
              <a:path w="80010" h="6350">
                <a:moveTo>
                  <a:pt x="79895" y="0"/>
                </a:moveTo>
                <a:lnTo>
                  <a:pt x="0" y="0"/>
                </a:lnTo>
                <a:lnTo>
                  <a:pt x="0" y="6171"/>
                </a:lnTo>
                <a:lnTo>
                  <a:pt x="79895" y="6171"/>
                </a:lnTo>
                <a:lnTo>
                  <a:pt x="798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3275076" y="2235124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3718559" y="2235124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5140451" y="2235124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5466588" y="2235124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850899" y="520987"/>
            <a:ext cx="6515734" cy="3101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10"/>
              </a:spcBef>
              <a:tabLst>
                <a:tab pos="3913504" algn="l"/>
              </a:tabLst>
            </a:pPr>
            <a:r>
              <a:rPr dirty="0" sz="1200" spc="-10">
                <a:latin typeface="Times New Roman"/>
                <a:cs typeface="Times New Roman"/>
              </a:rPr>
              <a:t>180	</a:t>
            </a: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9.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COMPLEXITY</a:t>
            </a:r>
            <a:r>
              <a:rPr dirty="0" sz="1200" spc="-20">
                <a:latin typeface="Times New Roman"/>
                <a:cs typeface="Times New Roman"/>
              </a:rPr>
              <a:t> THEORY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</a:pPr>
            <a:r>
              <a:rPr dirty="0" sz="1200" spc="-15" b="1">
                <a:latin typeface="Times New Roman"/>
                <a:cs typeface="Times New Roman"/>
              </a:rPr>
              <a:t>Cook’s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Theorem:</a:t>
            </a:r>
            <a:r>
              <a:rPr dirty="0" sz="1200" spc="65" b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SAT</a:t>
            </a:r>
            <a:r>
              <a:rPr dirty="0" sz="1200" spc="-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NP-complete</a:t>
            </a:r>
            <a:endParaRPr sz="1200">
              <a:latin typeface="Times New Roman"/>
              <a:cs typeface="Times New Roman"/>
            </a:endParaRPr>
          </a:p>
          <a:p>
            <a:pPr marL="63500" marR="323850">
              <a:lnSpc>
                <a:spcPct val="100000"/>
              </a:lnSpc>
              <a:spcBef>
                <a:spcPts val="520"/>
              </a:spcBef>
            </a:pP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theorem;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quite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complicated.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fact,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turns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even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restricted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version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satisfiability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NP-complete.</a:t>
            </a:r>
            <a:endParaRPr sz="1200">
              <a:latin typeface="Times New Roman"/>
              <a:cs typeface="Times New Roman"/>
            </a:endParaRPr>
          </a:p>
          <a:p>
            <a:pPr marL="63500" marR="96520" indent="-635">
              <a:lnSpc>
                <a:spcPct val="100000"/>
              </a:lnSpc>
              <a:spcBef>
                <a:spcPts val="525"/>
              </a:spcBef>
            </a:pP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literal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 spc="-10">
                <a:latin typeface="Times New Roman"/>
                <a:cs typeface="Times New Roman"/>
              </a:rPr>
              <a:t>negation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Lucida Sans Unicode"/>
                <a:cs typeface="Lucida Sans Unicode"/>
              </a:rPr>
              <a:t>x</a:t>
            </a:r>
            <a:r>
              <a:rPr dirty="0" sz="1200" spc="-5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boolean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3-Conjunctive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5" i="1">
                <a:latin typeface="Times New Roman"/>
                <a:cs typeface="Times New Roman"/>
              </a:rPr>
              <a:t>Normal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35" i="1">
                <a:latin typeface="Times New Roman"/>
                <a:cs typeface="Times New Roman"/>
              </a:rPr>
              <a:t>Form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(3-CNF) </a:t>
            </a:r>
            <a:r>
              <a:rPr dirty="0" sz="1200" spc="-5">
                <a:latin typeface="Times New Roman"/>
                <a:cs typeface="Times New Roman"/>
              </a:rPr>
              <a:t> if it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boolean-and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clauses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clause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boolean-or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exactly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three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literals.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 </a:t>
            </a:r>
            <a:r>
              <a:rPr dirty="0" sz="1200" spc="-10">
                <a:latin typeface="Times New Roman"/>
                <a:cs typeface="Times New Roman"/>
              </a:rPr>
              <a:t> example,</a:t>
            </a:r>
            <a:endParaRPr sz="1200">
              <a:latin typeface="Times New Roman"/>
              <a:cs typeface="Times New Roman"/>
            </a:endParaRPr>
          </a:p>
          <a:p>
            <a:pPr algn="ctr" marL="12065">
              <a:lnSpc>
                <a:spcPct val="100000"/>
              </a:lnSpc>
              <a:spcBef>
                <a:spcPts val="65"/>
              </a:spcBef>
            </a:pP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44">
                <a:latin typeface="Verdana"/>
                <a:cs typeface="Verdana"/>
              </a:rPr>
              <a:t>3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3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44">
                <a:latin typeface="Verdana"/>
                <a:cs typeface="Verdana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3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44">
                <a:latin typeface="Verdana"/>
                <a:cs typeface="Verdana"/>
              </a:rPr>
              <a:t>4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algn="just" marL="63500" marR="80645">
              <a:lnSpc>
                <a:spcPct val="100000"/>
              </a:lnSpc>
              <a:spcBef>
                <a:spcPts val="715"/>
              </a:spcBef>
            </a:pPr>
            <a:r>
              <a:rPr dirty="0" sz="1200" spc="-5">
                <a:latin typeface="Times New Roman"/>
                <a:cs typeface="Times New Roman"/>
              </a:rPr>
              <a:t>is in </a:t>
            </a:r>
            <a:r>
              <a:rPr dirty="0" sz="1200" spc="-10">
                <a:latin typeface="Times New Roman"/>
                <a:cs typeface="Times New Roman"/>
              </a:rPr>
              <a:t>3-CNF form.</a:t>
            </a:r>
            <a:r>
              <a:rPr dirty="0" sz="1200" spc="57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3SAT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the problem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determining </a:t>
            </a:r>
            <a:r>
              <a:rPr dirty="0" sz="1200" spc="-5">
                <a:latin typeface="Times New Roman"/>
                <a:cs typeface="Times New Roman"/>
              </a:rPr>
              <a:t>whether a </a:t>
            </a:r>
            <a:r>
              <a:rPr dirty="0" sz="1200" spc="-10">
                <a:latin typeface="Times New Roman"/>
                <a:cs typeface="Times New Roman"/>
              </a:rPr>
              <a:t>formula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3-CNF </a:t>
            </a:r>
            <a:r>
              <a:rPr dirty="0" sz="1200" spc="-5">
                <a:latin typeface="Times New Roman"/>
                <a:cs typeface="Times New Roman"/>
              </a:rPr>
              <a:t>is satisfiable. </a:t>
            </a:r>
            <a:r>
              <a:rPr dirty="0" sz="1200" spc="-40">
                <a:latin typeface="Times New Roman"/>
                <a:cs typeface="Times New Roman"/>
              </a:rPr>
              <a:t>3SAT 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NP-complete.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can use </a:t>
            </a:r>
            <a:r>
              <a:rPr dirty="0" sz="1200" spc="-10">
                <a:latin typeface="Times New Roman"/>
                <a:cs typeface="Times New Roman"/>
              </a:rPr>
              <a:t>this fact </a:t>
            </a:r>
            <a:r>
              <a:rPr dirty="0" sz="1200" spc="-5">
                <a:latin typeface="Times New Roman"/>
                <a:cs typeface="Times New Roman"/>
              </a:rPr>
              <a:t>to </a:t>
            </a:r>
            <a:r>
              <a:rPr dirty="0" sz="1200" spc="-15">
                <a:latin typeface="Times New Roman"/>
                <a:cs typeface="Times New Roman"/>
              </a:rPr>
              <a:t>prove </a:t>
            </a:r>
            <a:r>
              <a:rPr dirty="0" sz="1200" spc="-5">
                <a:latin typeface="Times New Roman"/>
                <a:cs typeface="Times New Roman"/>
              </a:rPr>
              <a:t>that other </a:t>
            </a:r>
            <a:r>
              <a:rPr dirty="0" sz="1200" spc="-10">
                <a:latin typeface="Times New Roman"/>
                <a:cs typeface="Times New Roman"/>
              </a:rPr>
              <a:t>problems </a:t>
            </a:r>
            <a:r>
              <a:rPr dirty="0" sz="1200" spc="-5">
                <a:latin typeface="Times New Roman"/>
                <a:cs typeface="Times New Roman"/>
              </a:rPr>
              <a:t>are NP-complete. </a:t>
            </a:r>
            <a:r>
              <a:rPr dirty="0" sz="1200" spc="-55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will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 spc="-10">
                <a:latin typeface="Times New Roman"/>
                <a:cs typeface="Times New Roman"/>
              </a:rPr>
              <a:t>this with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independent</a:t>
            </a:r>
            <a:r>
              <a:rPr dirty="0" sz="1200" spc="-5" i="1">
                <a:latin typeface="Times New Roman"/>
                <a:cs typeface="Times New Roman"/>
              </a:rPr>
              <a:t> set </a:t>
            </a:r>
            <a:r>
              <a:rPr dirty="0" sz="1200" spc="-15" i="1">
                <a:latin typeface="Times New Roman"/>
                <a:cs typeface="Times New Roman"/>
              </a:rPr>
              <a:t>problem</a:t>
            </a:r>
            <a:r>
              <a:rPr dirty="0" sz="1200" spc="-1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650">
              <a:latin typeface="Times New Roman"/>
              <a:cs typeface="Times New Roman"/>
            </a:endParaRPr>
          </a:p>
          <a:p>
            <a:pPr marL="434975" marR="226695" indent="-37211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Independent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Set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P</a:t>
            </a:r>
            <a:r>
              <a:rPr dirty="0" sz="1200" spc="-30" b="1">
                <a:latin typeface="Times New Roman"/>
                <a:cs typeface="Times New Roman"/>
              </a:rPr>
              <a:t>r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b</a:t>
            </a:r>
            <a:r>
              <a:rPr dirty="0" sz="1200" spc="-10" b="1">
                <a:latin typeface="Times New Roman"/>
                <a:cs typeface="Times New Roman"/>
              </a:rPr>
              <a:t>l</a:t>
            </a:r>
            <a:r>
              <a:rPr dirty="0" sz="1200" spc="-5" b="1">
                <a:latin typeface="Times New Roman"/>
                <a:cs typeface="Times New Roman"/>
              </a:rPr>
              <a:t>em: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undir</a:t>
            </a:r>
            <a:r>
              <a:rPr dirty="0" sz="1200" spc="-5">
                <a:latin typeface="Times New Roman"/>
                <a:cs typeface="Times New Roman"/>
              </a:rPr>
              <a:t>ec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2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E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s</a:t>
            </a:r>
            <a:r>
              <a:rPr dirty="0" sz="1200" spc="-10">
                <a:latin typeface="Times New Roman"/>
                <a:cs typeface="Times New Roman"/>
              </a:rPr>
              <a:t>ub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rti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2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rti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dj</a:t>
            </a:r>
            <a:r>
              <a:rPr dirty="0" sz="1200" spc="-5">
                <a:latin typeface="Times New Roman"/>
                <a:cs typeface="Times New Roman"/>
              </a:rPr>
              <a:t>ace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7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1842516" y="3987998"/>
            <a:ext cx="4545330" cy="2590800"/>
            <a:chOff x="1842516" y="3987998"/>
            <a:chExt cx="4545330" cy="2590800"/>
          </a:xfrm>
        </p:grpSpPr>
        <p:sp>
          <p:nvSpPr>
            <p:cNvPr id="9" name="object 9"/>
            <p:cNvSpPr/>
            <p:nvPr/>
          </p:nvSpPr>
          <p:spPr>
            <a:xfrm>
              <a:off x="1842516" y="3987998"/>
              <a:ext cx="4545330" cy="2590800"/>
            </a:xfrm>
            <a:custGeom>
              <a:avLst/>
              <a:gdLst/>
              <a:ahLst/>
              <a:cxnLst/>
              <a:rect l="l" t="t" r="r" b="b"/>
              <a:pathLst>
                <a:path w="4545330" h="2590800">
                  <a:moveTo>
                    <a:pt x="4544796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4544796" y="2590601"/>
                  </a:lnTo>
                  <a:lnTo>
                    <a:pt x="454479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99215" y="4047959"/>
              <a:ext cx="1887582" cy="211595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93917" y="4047959"/>
              <a:ext cx="1887993" cy="2115953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1842516" y="3987998"/>
            <a:ext cx="4545330" cy="2590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650">
              <a:latin typeface="Times New Roman"/>
              <a:cs typeface="Times New Roman"/>
            </a:endParaRPr>
          </a:p>
          <a:p>
            <a:pPr marL="2359025">
              <a:lnSpc>
                <a:spcPct val="100000"/>
              </a:lnSpc>
            </a:pPr>
            <a:r>
              <a:rPr dirty="0" sz="1300" spc="-5">
                <a:solidFill>
                  <a:srgbClr val="E6E6E6"/>
                </a:solidFill>
                <a:latin typeface="Arial"/>
                <a:cs typeface="Arial"/>
              </a:rPr>
              <a:t>Independent</a:t>
            </a:r>
            <a:r>
              <a:rPr dirty="0" sz="1300" spc="-25">
                <a:solidFill>
                  <a:srgbClr val="E6E6E6"/>
                </a:solidFill>
                <a:latin typeface="Arial"/>
                <a:cs typeface="Arial"/>
              </a:rPr>
              <a:t> </a:t>
            </a:r>
            <a:r>
              <a:rPr dirty="0" sz="1300" spc="-5">
                <a:solidFill>
                  <a:srgbClr val="E6E6E6"/>
                </a:solidFill>
                <a:latin typeface="Arial"/>
                <a:cs typeface="Arial"/>
              </a:rPr>
              <a:t>set</a:t>
            </a:r>
            <a:r>
              <a:rPr dirty="0" sz="1300" spc="-20">
                <a:solidFill>
                  <a:srgbClr val="E6E6E6"/>
                </a:solidFill>
                <a:latin typeface="Arial"/>
                <a:cs typeface="Arial"/>
              </a:rPr>
              <a:t> </a:t>
            </a:r>
            <a:r>
              <a:rPr dirty="0" sz="1300" spc="-5">
                <a:solidFill>
                  <a:srgbClr val="E6E6E6"/>
                </a:solidFill>
                <a:latin typeface="Arial"/>
                <a:cs typeface="Arial"/>
              </a:rPr>
              <a:t>of</a:t>
            </a:r>
            <a:r>
              <a:rPr dirty="0" sz="1300" spc="-20">
                <a:solidFill>
                  <a:srgbClr val="E6E6E6"/>
                </a:solidFill>
                <a:latin typeface="Arial"/>
                <a:cs typeface="Arial"/>
              </a:rPr>
              <a:t> </a:t>
            </a:r>
            <a:r>
              <a:rPr dirty="0" sz="1300" spc="-5">
                <a:solidFill>
                  <a:srgbClr val="E6E6E6"/>
                </a:solidFill>
                <a:latin typeface="Arial"/>
                <a:cs typeface="Arial"/>
              </a:rPr>
              <a:t>size</a:t>
            </a:r>
            <a:r>
              <a:rPr dirty="0" sz="1300" spc="-20">
                <a:solidFill>
                  <a:srgbClr val="E6E6E6"/>
                </a:solidFill>
                <a:latin typeface="Arial"/>
                <a:cs typeface="Arial"/>
              </a:rPr>
              <a:t> </a:t>
            </a:r>
            <a:r>
              <a:rPr dirty="0" sz="1300" spc="-5">
                <a:solidFill>
                  <a:srgbClr val="E6E6E6"/>
                </a:solidFill>
                <a:latin typeface="Arial"/>
                <a:cs typeface="Arial"/>
              </a:rPr>
              <a:t>4</a:t>
            </a:r>
            <a:endParaRPr sz="13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01699" y="6644195"/>
            <a:ext cx="6367145" cy="15398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206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9.10: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745"/>
              </a:spcBef>
            </a:pPr>
            <a:r>
              <a:rPr dirty="0" sz="1200" spc="-5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independent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arises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sort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mutual </a:t>
            </a:r>
            <a:r>
              <a:rPr dirty="0" sz="1200" spc="-5">
                <a:latin typeface="Times New Roman"/>
                <a:cs typeface="Times New Roman"/>
              </a:rPr>
              <a:t> restrictions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pairs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selected.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dinner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employee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his</a:t>
            </a:r>
            <a:r>
              <a:rPr dirty="0" sz="1200" spc="-5">
                <a:latin typeface="Times New Roman"/>
                <a:cs typeface="Times New Roman"/>
              </a:rPr>
              <a:t> or her </a:t>
            </a:r>
            <a:r>
              <a:rPr dirty="0" sz="1200" spc="-10">
                <a:latin typeface="Times New Roman"/>
                <a:cs typeface="Times New Roman"/>
              </a:rPr>
              <a:t>immediate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supervisor cannot </a:t>
            </a:r>
            <a:r>
              <a:rPr dirty="0" sz="1200" spc="-10">
                <a:latin typeface="Times New Roman"/>
                <a:cs typeface="Times New Roman"/>
              </a:rPr>
              <a:t>both</a:t>
            </a:r>
            <a:r>
              <a:rPr dirty="0" sz="1200" spc="-5">
                <a:latin typeface="Times New Roman"/>
                <a:cs typeface="Times New Roman"/>
              </a:rPr>
              <a:t> be </a:t>
            </a:r>
            <a:r>
              <a:rPr dirty="0" sz="1200" spc="-15">
                <a:latin typeface="Times New Roman"/>
                <a:cs typeface="Times New Roman"/>
              </a:rPr>
              <a:t>invited.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dirty="0" sz="1200" spc="-10" b="1">
                <a:latin typeface="Times New Roman"/>
                <a:cs typeface="Times New Roman"/>
              </a:rPr>
              <a:t>Claim: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is</a:t>
            </a:r>
            <a:r>
              <a:rPr dirty="0" sz="1200" spc="-10">
                <a:latin typeface="Times New Roman"/>
                <a:cs typeface="Times New Roman"/>
              </a:rPr>
              <a:t> NP-complete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proof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involves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parts.</a:t>
            </a:r>
            <a:r>
              <a:rPr dirty="0" sz="1200" spc="45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 IS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 spc="5">
                <a:latin typeface="Segoe UI Symbol"/>
                <a:cs typeface="Segoe UI Symbol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NP.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certificate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consists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76312" y="8159812"/>
            <a:ext cx="63760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120">
                <a:latin typeface="Cambria"/>
                <a:cs typeface="Cambria"/>
              </a:rPr>
              <a:t>j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impl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rif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rti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u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Segoe UI Symbol"/>
                <a:cs typeface="Segoe UI Symbol"/>
              </a:rPr>
              <a:t>∈</a:t>
            </a:r>
            <a:r>
              <a:rPr dirty="0" sz="1200">
                <a:latin typeface="Segoe UI Symbol"/>
                <a:cs typeface="Segoe UI Symbol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120">
                <a:latin typeface="Cambria"/>
                <a:cs typeface="Cambria"/>
              </a:rPr>
              <a:t>j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tw</a:t>
            </a:r>
            <a:r>
              <a:rPr dirty="0" sz="1200" spc="-5">
                <a:latin typeface="Times New Roman"/>
                <a:cs typeface="Times New Roman"/>
              </a:rPr>
              <a:t>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ea</a:t>
            </a:r>
            <a:r>
              <a:rPr dirty="0" sz="1200" spc="-10">
                <a:latin typeface="Times New Roman"/>
                <a:cs typeface="Times New Roman"/>
              </a:rPr>
              <a:t>rl</a:t>
            </a:r>
            <a:r>
              <a:rPr dirty="0" sz="1200" spc="-8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76315" y="8276629"/>
            <a:ext cx="5837555" cy="70675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20"/>
              </a:spcBef>
            </a:pP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inspection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adjacency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matrix.</a:t>
            </a:r>
            <a:endParaRPr sz="1200">
              <a:latin typeface="Times New Roman"/>
              <a:cs typeface="Times New Roman"/>
            </a:endParaRPr>
          </a:p>
          <a:p>
            <a:pPr marL="38100" marR="30480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Second,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need to establish that IS is NP-hard This can be done by </a:t>
            </a:r>
            <a:r>
              <a:rPr dirty="0" sz="1200" spc="-10">
                <a:latin typeface="Times New Roman"/>
                <a:cs typeface="Times New Roman"/>
              </a:rPr>
              <a:t>showing </a:t>
            </a:r>
            <a:r>
              <a:rPr dirty="0" sz="1200" spc="-5">
                <a:latin typeface="Times New Roman"/>
                <a:cs typeface="Times New Roman"/>
              </a:rPr>
              <a:t>that some </a:t>
            </a:r>
            <a:r>
              <a:rPr dirty="0" sz="1200" spc="-15">
                <a:latin typeface="Times New Roman"/>
                <a:cs typeface="Times New Roman"/>
              </a:rPr>
              <a:t>known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NP-compete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(3SAT)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polynomial-time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reducible</a:t>
            </a:r>
            <a:r>
              <a:rPr dirty="0" sz="1200" spc="-5">
                <a:latin typeface="Times New Roman"/>
                <a:cs typeface="Times New Roman"/>
              </a:rPr>
              <a:t>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IS.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is, </a:t>
            </a:r>
            <a:r>
              <a:rPr dirty="0" sz="1200" spc="-40">
                <a:latin typeface="Times New Roman"/>
                <a:cs typeface="Times New Roman"/>
              </a:rPr>
              <a:t>3SAT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95">
                <a:latin typeface="Segoe UI Symbol"/>
                <a:cs typeface="Segoe UI Symbol"/>
              </a:rPr>
              <a:t>≤</a:t>
            </a:r>
            <a:r>
              <a:rPr dirty="0" baseline="-13888" sz="1200" spc="142">
                <a:latin typeface="Verdana"/>
                <a:cs typeface="Verdana"/>
              </a:rPr>
              <a:t>P</a:t>
            </a:r>
            <a:r>
              <a:rPr dirty="0" baseline="-13888" sz="1200" spc="75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999231" y="4336720"/>
            <a:ext cx="125730" cy="6350"/>
          </a:xfrm>
          <a:custGeom>
            <a:avLst/>
            <a:gdLst/>
            <a:ahLst/>
            <a:cxnLst/>
            <a:rect l="l" t="t" r="r" b="b"/>
            <a:pathLst>
              <a:path w="125730" h="6350">
                <a:moveTo>
                  <a:pt x="125615" y="0"/>
                </a:moveTo>
                <a:lnTo>
                  <a:pt x="0" y="0"/>
                </a:lnTo>
                <a:lnTo>
                  <a:pt x="0" y="6171"/>
                </a:lnTo>
                <a:lnTo>
                  <a:pt x="125615" y="6171"/>
                </a:lnTo>
                <a:lnTo>
                  <a:pt x="1256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3134867" y="8846236"/>
            <a:ext cx="125730" cy="6350"/>
          </a:xfrm>
          <a:custGeom>
            <a:avLst/>
            <a:gdLst/>
            <a:ahLst/>
            <a:cxnLst/>
            <a:rect l="l" t="t" r="r" b="b"/>
            <a:pathLst>
              <a:path w="125729" h="6350">
                <a:moveTo>
                  <a:pt x="125615" y="0"/>
                </a:moveTo>
                <a:lnTo>
                  <a:pt x="0" y="0"/>
                </a:lnTo>
                <a:lnTo>
                  <a:pt x="0" y="6171"/>
                </a:lnTo>
                <a:lnTo>
                  <a:pt x="125615" y="6171"/>
                </a:lnTo>
                <a:lnTo>
                  <a:pt x="1256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774699" y="520987"/>
            <a:ext cx="6663055" cy="84626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39065">
              <a:lnSpc>
                <a:spcPct val="100000"/>
              </a:lnSpc>
              <a:spcBef>
                <a:spcPts val="110"/>
              </a:spcBef>
              <a:tabLst>
                <a:tab pos="6312535" algn="l"/>
              </a:tabLst>
            </a:pPr>
            <a:r>
              <a:rPr dirty="0" sz="1200" spc="-10">
                <a:latin typeface="Times New Roman"/>
                <a:cs typeface="Times New Roman"/>
              </a:rPr>
              <a:t>9.8.</a:t>
            </a:r>
            <a:r>
              <a:rPr dirty="0" sz="1200" spc="3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BOOLEAN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SATISFIABILITY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COOK’S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THEOREM	</a:t>
            </a:r>
            <a:r>
              <a:rPr dirty="0" sz="1200" spc="-10">
                <a:latin typeface="Times New Roman"/>
                <a:cs typeface="Times New Roman"/>
              </a:rPr>
              <a:t>181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marL="139700" marR="106680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An important </a:t>
            </a:r>
            <a:r>
              <a:rPr dirty="0" sz="1200" spc="-5">
                <a:latin typeface="Times New Roman"/>
                <a:cs typeface="Times New Roman"/>
              </a:rPr>
              <a:t>aspect to </a:t>
            </a:r>
            <a:r>
              <a:rPr dirty="0" sz="1200" spc="-10">
                <a:latin typeface="Times New Roman"/>
                <a:cs typeface="Times New Roman"/>
              </a:rPr>
              <a:t>reductions </a:t>
            </a:r>
            <a:r>
              <a:rPr dirty="0" sz="1200" spc="-5">
                <a:latin typeface="Times New Roman"/>
                <a:cs typeface="Times New Roman"/>
              </a:rPr>
              <a:t>is that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do </a:t>
            </a:r>
            <a:r>
              <a:rPr dirty="0" sz="1200" spc="-10">
                <a:latin typeface="Times New Roman"/>
                <a:cs typeface="Times New Roman"/>
              </a:rPr>
              <a:t>not </a:t>
            </a:r>
            <a:r>
              <a:rPr dirty="0" sz="1200" spc="-5">
                <a:latin typeface="Times New Roman"/>
                <a:cs typeface="Times New Roman"/>
              </a:rPr>
              <a:t>attempt to </a:t>
            </a:r>
            <a:r>
              <a:rPr dirty="0" sz="1200" spc="-10">
                <a:latin typeface="Times New Roman"/>
                <a:cs typeface="Times New Roman"/>
              </a:rPr>
              <a:t>solve the </a:t>
            </a:r>
            <a:r>
              <a:rPr dirty="0" sz="1200" spc="-5">
                <a:latin typeface="Times New Roman"/>
                <a:cs typeface="Times New Roman"/>
              </a:rPr>
              <a:t>satisfiability </a:t>
            </a:r>
            <a:r>
              <a:rPr dirty="0" sz="1200" spc="-10">
                <a:latin typeface="Times New Roman"/>
                <a:cs typeface="Times New Roman"/>
              </a:rPr>
              <a:t>problem. </a:t>
            </a:r>
            <a:r>
              <a:rPr dirty="0" sz="1200" spc="-5">
                <a:latin typeface="Times New Roman"/>
                <a:cs typeface="Times New Roman"/>
              </a:rPr>
              <a:t>Remember: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NP-complete, 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idea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translate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 similar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satisfiable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corresponding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elements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independent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  <a:p>
            <a:pPr marL="139700">
              <a:lnSpc>
                <a:spcPct val="100000"/>
              </a:lnSpc>
              <a:spcBef>
                <a:spcPts val="530"/>
              </a:spcBef>
            </a:pPr>
            <a:r>
              <a:rPr dirty="0" sz="1200" spc="-10" b="1">
                <a:latin typeface="Times New Roman"/>
                <a:cs typeface="Times New Roman"/>
              </a:rPr>
              <a:t>What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is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to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be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selected?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Times New Roman"/>
              <a:cs typeface="Times New Roman"/>
            </a:endParaRPr>
          </a:p>
          <a:p>
            <a:pPr marL="511175" marR="217170" indent="-372110">
              <a:lnSpc>
                <a:spcPct val="100000"/>
              </a:lnSpc>
            </a:pPr>
            <a:r>
              <a:rPr dirty="0" sz="1200" spc="-45" b="1">
                <a:latin typeface="Times New Roman"/>
                <a:cs typeface="Times New Roman"/>
              </a:rPr>
              <a:t>3SAT:</a:t>
            </a:r>
            <a:r>
              <a:rPr dirty="0" sz="1200" spc="3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Which </a:t>
            </a:r>
            <a:r>
              <a:rPr dirty="0" sz="1200" spc="-10">
                <a:latin typeface="Times New Roman"/>
                <a:cs typeface="Times New Roman"/>
              </a:rPr>
              <a:t>variables</a:t>
            </a:r>
            <a:r>
              <a:rPr dirty="0" sz="1200" spc="-5">
                <a:latin typeface="Times New Roman"/>
                <a:cs typeface="Times New Roman"/>
              </a:rPr>
              <a:t> 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be assigned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</a:t>
            </a:r>
            <a:r>
              <a:rPr dirty="0" sz="1200" spc="-5">
                <a:latin typeface="Times New Roman"/>
                <a:cs typeface="Times New Roman"/>
              </a:rPr>
              <a:t> true,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or </a:t>
            </a:r>
            <a:r>
              <a:rPr dirty="0" sz="1200" spc="-15">
                <a:latin typeface="Times New Roman"/>
                <a:cs typeface="Times New Roman"/>
              </a:rPr>
              <a:t>equivalently,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literals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-5">
                <a:latin typeface="Times New Roman"/>
                <a:cs typeface="Times New Roman"/>
              </a:rPr>
              <a:t> be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true</a:t>
            </a:r>
            <a:r>
              <a:rPr dirty="0" sz="1200" spc="-5">
                <a:latin typeface="Times New Roman"/>
                <a:cs typeface="Times New Roman"/>
              </a:rPr>
              <a:t> and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 will</a:t>
            </a:r>
            <a:r>
              <a:rPr dirty="0" sz="1200" spc="-5">
                <a:latin typeface="Times New Roman"/>
                <a:cs typeface="Times New Roman"/>
              </a:rPr>
              <a:t> be false.</a:t>
            </a:r>
            <a:endParaRPr sz="1200">
              <a:latin typeface="Times New Roman"/>
              <a:cs typeface="Times New Roman"/>
            </a:endParaRPr>
          </a:p>
          <a:p>
            <a:pPr marL="139700">
              <a:lnSpc>
                <a:spcPct val="100000"/>
              </a:lnSpc>
              <a:spcBef>
                <a:spcPts val="1065"/>
              </a:spcBef>
            </a:pPr>
            <a:r>
              <a:rPr dirty="0" sz="1200" spc="-5" b="1">
                <a:latin typeface="Times New Roman"/>
                <a:cs typeface="Times New Roman"/>
              </a:rPr>
              <a:t>IS: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</a:t>
            </a:r>
            <a:r>
              <a:rPr dirty="0" sz="1200" spc="-10">
                <a:latin typeface="Times New Roman"/>
                <a:cs typeface="Times New Roman"/>
              </a:rPr>
              <a:t>hi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rti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pl</a:t>
            </a:r>
            <a:r>
              <a:rPr dirty="0" sz="1200" spc="-5">
                <a:latin typeface="Times New Roman"/>
                <a:cs typeface="Times New Roman"/>
              </a:rPr>
              <a:t>aced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120">
                <a:latin typeface="Cambria"/>
                <a:cs typeface="Cambria"/>
              </a:rPr>
              <a:t>j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Times New Roman"/>
              <a:cs typeface="Times New Roman"/>
            </a:endParaRPr>
          </a:p>
          <a:p>
            <a:pPr marL="177165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Requirements: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Times New Roman"/>
              <a:cs typeface="Times New Roman"/>
            </a:endParaRPr>
          </a:p>
          <a:p>
            <a:pPr marL="139700">
              <a:lnSpc>
                <a:spcPct val="100000"/>
              </a:lnSpc>
            </a:pPr>
            <a:r>
              <a:rPr dirty="0" sz="1200" spc="-45" b="1">
                <a:latin typeface="Times New Roman"/>
                <a:cs typeface="Times New Roman"/>
              </a:rPr>
              <a:t>3SAT: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clause must contain 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least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valued</a:t>
            </a:r>
            <a:r>
              <a:rPr dirty="0" sz="1200" spc="-5">
                <a:latin typeface="Times New Roman"/>
                <a:cs typeface="Times New Roman"/>
              </a:rPr>
              <a:t> literal.</a:t>
            </a:r>
            <a:endParaRPr sz="1200">
              <a:latin typeface="Times New Roman"/>
              <a:cs typeface="Times New Roman"/>
            </a:endParaRPr>
          </a:p>
          <a:p>
            <a:pPr marL="177165">
              <a:lnSpc>
                <a:spcPct val="100000"/>
              </a:lnSpc>
              <a:spcBef>
                <a:spcPts val="1060"/>
              </a:spcBef>
            </a:pPr>
            <a:r>
              <a:rPr dirty="0" sz="1200" spc="-5" b="1">
                <a:latin typeface="Times New Roman"/>
                <a:cs typeface="Times New Roman"/>
              </a:rPr>
              <a:t>IS: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east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rti</a:t>
            </a:r>
            <a:r>
              <a:rPr dirty="0" sz="1200" spc="-5">
                <a:latin typeface="Times New Roman"/>
                <a:cs typeface="Times New Roman"/>
              </a:rPr>
              <a:t>ces.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Times New Roman"/>
              <a:cs typeface="Times New Roman"/>
            </a:endParaRPr>
          </a:p>
          <a:p>
            <a:pPr marL="177165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Restrictions: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Times New Roman"/>
              <a:cs typeface="Times New Roman"/>
            </a:endParaRPr>
          </a:p>
          <a:p>
            <a:pPr marL="139700">
              <a:lnSpc>
                <a:spcPct val="100000"/>
              </a:lnSpc>
            </a:pPr>
            <a:r>
              <a:rPr dirty="0" sz="1200" spc="-45" b="1">
                <a:latin typeface="Times New Roman"/>
                <a:cs typeface="Times New Roman"/>
              </a:rPr>
              <a:t>3SAT: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baseline="-13888" sz="1200" spc="30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assigned true, then 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baseline="-13888" sz="1200" spc="30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must be </a:t>
            </a:r>
            <a:r>
              <a:rPr dirty="0" sz="1200" spc="-10">
                <a:latin typeface="Times New Roman"/>
                <a:cs typeface="Times New Roman"/>
              </a:rPr>
              <a:t>false</a:t>
            </a:r>
            <a:r>
              <a:rPr dirty="0" sz="1200" spc="-5">
                <a:latin typeface="Times New Roman"/>
                <a:cs typeface="Times New Roman"/>
              </a:rPr>
              <a:t> and vice</a:t>
            </a:r>
            <a:r>
              <a:rPr dirty="0" sz="1200" spc="-10">
                <a:latin typeface="Times New Roman"/>
                <a:cs typeface="Times New Roman"/>
              </a:rPr>
              <a:t> versa.</a:t>
            </a:r>
            <a:endParaRPr sz="1200">
              <a:latin typeface="Times New Roman"/>
              <a:cs typeface="Times New Roman"/>
            </a:endParaRPr>
          </a:p>
          <a:p>
            <a:pPr marL="139700">
              <a:lnSpc>
                <a:spcPct val="100000"/>
              </a:lnSpc>
              <a:spcBef>
                <a:spcPts val="1060"/>
              </a:spcBef>
            </a:pPr>
            <a:r>
              <a:rPr dirty="0" sz="1200" spc="-5" b="1">
                <a:latin typeface="Times New Roman"/>
                <a:cs typeface="Times New Roman"/>
              </a:rPr>
              <a:t>IS: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ighbo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u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v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</a:t>
            </a:r>
            <a:r>
              <a:rPr dirty="0" sz="1200" spc="-10">
                <a:latin typeface="Times New Roman"/>
                <a:cs typeface="Times New Roman"/>
              </a:rPr>
              <a:t>nno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120">
                <a:latin typeface="Cambria"/>
                <a:cs typeface="Cambria"/>
              </a:rPr>
              <a:t>j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Times New Roman"/>
              <a:cs typeface="Times New Roman"/>
            </a:endParaRPr>
          </a:p>
          <a:p>
            <a:pPr marL="139700" marR="161290" indent="-635">
              <a:lnSpc>
                <a:spcPct val="100000"/>
              </a:lnSpc>
            </a:pP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tio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35">
                <a:latin typeface="Times New Roman"/>
                <a:cs typeface="Times New Roman"/>
              </a:rPr>
              <a:t>i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3-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bool</a:t>
            </a:r>
            <a:r>
              <a:rPr dirty="0" sz="1200" spc="-5">
                <a:latin typeface="Times New Roman"/>
                <a:cs typeface="Times New Roman"/>
              </a:rPr>
              <a:t>ean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F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5">
                <a:latin typeface="Times New Roman"/>
                <a:cs typeface="Times New Roman"/>
              </a:rPr>
              <a:t>n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25">
                <a:latin typeface="Times New Roman"/>
                <a:cs typeface="Times New Roman"/>
              </a:rPr>
              <a:t>ov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rl</a:t>
            </a:r>
            <a:r>
              <a:rPr dirty="0" sz="1200" spc="-8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i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tur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e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rti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</a:t>
            </a:r>
            <a:r>
              <a:rPr dirty="0" sz="1200" spc="-5">
                <a:latin typeface="Times New Roman"/>
                <a:cs typeface="Times New Roman"/>
              </a:rPr>
              <a:t>ee,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ec</a:t>
            </a:r>
            <a:r>
              <a:rPr dirty="0" sz="1200" spc="-10">
                <a:latin typeface="Times New Roman"/>
                <a:cs typeface="Times New Roman"/>
              </a:rPr>
              <a:t>tin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 </a:t>
            </a:r>
            <a:r>
              <a:rPr dirty="0" sz="1200" spc="-10">
                <a:latin typeface="Times New Roman"/>
                <a:cs typeface="Times New Roman"/>
              </a:rPr>
              <a:t>wil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orr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10">
                <a:latin typeface="Times New Roman"/>
                <a:cs typeface="Times New Roman"/>
              </a:rPr>
              <a:t>pon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ec</a:t>
            </a:r>
            <a:r>
              <a:rPr dirty="0" sz="1200" spc="-10">
                <a:latin typeface="Times New Roman"/>
                <a:cs typeface="Times New Roman"/>
              </a:rPr>
              <a:t>tin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120">
                <a:latin typeface="Cambria"/>
                <a:cs typeface="Cambria"/>
              </a:rPr>
              <a:t>j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qu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ce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ubroutin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r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eep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ubroutin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</a:t>
            </a:r>
            <a:r>
              <a:rPr dirty="0" sz="1200" spc="-5">
                <a:latin typeface="Times New Roman"/>
                <a:cs typeface="Times New Roman"/>
              </a:rPr>
              <a:t>m se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ec</a:t>
            </a:r>
            <a:r>
              <a:rPr dirty="0" sz="1200" spc="-10">
                <a:latin typeface="Times New Roman"/>
                <a:cs typeface="Times New Roman"/>
              </a:rPr>
              <a:t>tin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2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om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ot</a:t>
            </a:r>
            <a:r>
              <a:rPr dirty="0" sz="1200" spc="-5">
                <a:latin typeface="Times New Roman"/>
                <a:cs typeface="Times New Roman"/>
              </a:rPr>
              <a:t>he</a:t>
            </a:r>
            <a:r>
              <a:rPr dirty="0" sz="1200" spc="-5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onn</a:t>
            </a:r>
            <a:r>
              <a:rPr dirty="0" sz="1200" spc="-5">
                <a:latin typeface="Times New Roman"/>
                <a:cs typeface="Times New Roman"/>
              </a:rPr>
              <a:t>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rti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es.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eep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ubroutin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selec</a:t>
            </a:r>
            <a:r>
              <a:rPr dirty="0" sz="1200" spc="-10">
                <a:latin typeface="Times New Roman"/>
                <a:cs typeface="Times New Roman"/>
              </a:rPr>
              <a:t>tin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ompl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 </a:t>
            </a:r>
            <a:r>
              <a:rPr dirty="0" sz="1200" spc="-10">
                <a:latin typeface="Times New Roman"/>
                <a:cs typeface="Times New Roman"/>
              </a:rPr>
              <a:t>tru</a:t>
            </a:r>
            <a:r>
              <a:rPr dirty="0" sz="1200" spc="-5">
                <a:latin typeface="Times New Roman"/>
                <a:cs typeface="Times New Roman"/>
              </a:rPr>
              <a:t>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pu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tw</a:t>
            </a:r>
            <a:r>
              <a:rPr dirty="0" sz="1200" spc="-5">
                <a:latin typeface="Times New Roman"/>
                <a:cs typeface="Times New Roman"/>
              </a:rPr>
              <a:t>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ompl</a:t>
            </a:r>
            <a:r>
              <a:rPr dirty="0" sz="1200" spc="-5">
                <a:latin typeface="Times New Roman"/>
                <a:cs typeface="Times New Roman"/>
              </a:rPr>
              <a:t>eme</a:t>
            </a:r>
            <a:r>
              <a:rPr dirty="0" sz="1200" spc="-10">
                <a:latin typeface="Times New Roman"/>
                <a:cs typeface="Times New Roman"/>
              </a:rPr>
              <a:t>nt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39700" marR="157480">
              <a:lnSpc>
                <a:spcPct val="100000"/>
              </a:lnSpc>
              <a:spcBef>
                <a:spcPts val="555"/>
              </a:spcBef>
            </a:pP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 spc="-10">
                <a:latin typeface="Times New Roman"/>
                <a:cs typeface="Times New Roman"/>
              </a:rPr>
              <a:t>formal </a:t>
            </a:r>
            <a:r>
              <a:rPr dirty="0" sz="1200" spc="-5">
                <a:latin typeface="Times New Roman"/>
                <a:cs typeface="Times New Roman"/>
              </a:rPr>
              <a:t>description of </a:t>
            </a:r>
            <a:r>
              <a:rPr dirty="0" sz="1200" spc="-10">
                <a:latin typeface="Times New Roman"/>
                <a:cs typeface="Times New Roman"/>
              </a:rPr>
              <a:t>the reduction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25">
                <a:latin typeface="Times New Roman"/>
                <a:cs typeface="Times New Roman"/>
              </a:rPr>
              <a:t>below.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 input is a boolean </a:t>
            </a:r>
            <a:r>
              <a:rPr dirty="0" sz="1200" spc="-10">
                <a:latin typeface="Times New Roman"/>
                <a:cs typeface="Times New Roman"/>
              </a:rPr>
              <a:t>formula </a:t>
            </a:r>
            <a:r>
              <a:rPr dirty="0" sz="1200" spc="-50">
                <a:latin typeface="Lucida Sans Unicode"/>
                <a:cs typeface="Lucida Sans Unicode"/>
              </a:rPr>
              <a:t>F </a:t>
            </a:r>
            <a:r>
              <a:rPr dirty="0" sz="1200" spc="-5">
                <a:latin typeface="Times New Roman"/>
                <a:cs typeface="Times New Roman"/>
              </a:rPr>
              <a:t>in </a:t>
            </a:r>
            <a:r>
              <a:rPr dirty="0" sz="1200" spc="-25">
                <a:latin typeface="Times New Roman"/>
                <a:cs typeface="Times New Roman"/>
              </a:rPr>
              <a:t>3-CNF,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output </a:t>
            </a:r>
            <a:r>
              <a:rPr dirty="0" sz="1200" spc="-5">
                <a:latin typeface="Times New Roman"/>
                <a:cs typeface="Times New Roman"/>
              </a:rPr>
              <a:t>is a 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integer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42875">
              <a:lnSpc>
                <a:spcPct val="100000"/>
              </a:lnSpc>
              <a:spcBef>
                <a:spcPts val="605"/>
              </a:spcBef>
            </a:pPr>
            <a:r>
              <a:rPr dirty="0" sz="1200" spc="30">
                <a:latin typeface="Times New Roman"/>
                <a:cs typeface="Times New Roman"/>
              </a:rPr>
              <a:t>3SAT-</a:t>
            </a:r>
            <a:r>
              <a:rPr dirty="0" sz="950" spc="30">
                <a:latin typeface="Times New Roman"/>
                <a:cs typeface="Times New Roman"/>
              </a:rPr>
              <a:t>TO</a:t>
            </a:r>
            <a:r>
              <a:rPr dirty="0" sz="1200" spc="30">
                <a:latin typeface="Times New Roman"/>
                <a:cs typeface="Times New Roman"/>
              </a:rPr>
              <a:t>-IS</a:t>
            </a:r>
            <a:r>
              <a:rPr dirty="0" sz="1200" spc="30">
                <a:latin typeface="Garamond"/>
                <a:cs typeface="Garamond"/>
              </a:rPr>
              <a:t>(</a:t>
            </a:r>
            <a:r>
              <a:rPr dirty="0" sz="1200" spc="30">
                <a:latin typeface="Lucida Sans Unicode"/>
                <a:cs typeface="Lucida Sans Unicode"/>
              </a:rPr>
              <a:t>F</a:t>
            </a:r>
            <a:r>
              <a:rPr dirty="0" sz="1200" spc="3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813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80695" algn="l"/>
                <a:tab pos="481965" algn="l"/>
              </a:tabLst>
            </a:pP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←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F</a:t>
            </a:r>
            <a:endParaRPr sz="1200">
              <a:latin typeface="Lucida Sans Unicode"/>
              <a:cs typeface="Lucida Sans Unicode"/>
            </a:endParaRPr>
          </a:p>
          <a:p>
            <a:pPr marL="4813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80695" algn="l"/>
                <a:tab pos="48196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F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813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80695" algn="l"/>
                <a:tab pos="4819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create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clause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cluster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  <a:p>
            <a:pPr marL="692150" indent="-439420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692150" algn="l"/>
                <a:tab pos="692785" algn="l"/>
              </a:tabLst>
            </a:pPr>
            <a:r>
              <a:rPr dirty="0" sz="1200" spc="-5">
                <a:latin typeface="Times New Roman"/>
                <a:cs typeface="Times New Roman"/>
              </a:rPr>
              <a:t>3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 from </a:t>
            </a:r>
            <a:r>
              <a:rPr dirty="0" sz="1200" spc="-5">
                <a:latin typeface="Times New Roman"/>
                <a:cs typeface="Times New Roman"/>
              </a:rPr>
              <a:t>literals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20">
                <a:latin typeface="Lucida Sans Unicode"/>
                <a:cs typeface="Lucida Sans Unicode"/>
              </a:rPr>
              <a:t>C</a:t>
            </a:r>
            <a:endParaRPr sz="1200">
              <a:latin typeface="Lucida Sans Unicode"/>
              <a:cs typeface="Lucida Sans Unicode"/>
            </a:endParaRPr>
          </a:p>
          <a:p>
            <a:pPr marL="4813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80695" algn="l"/>
                <a:tab pos="481965" algn="l"/>
              </a:tabLst>
            </a:pPr>
            <a:r>
              <a:rPr dirty="0" sz="1200" spc="-35" b="1">
                <a:latin typeface="Times New Roman"/>
                <a:cs typeface="Times New Roman"/>
              </a:rPr>
              <a:t>f</a:t>
            </a:r>
            <a:r>
              <a:rPr dirty="0" sz="1200" spc="-10" b="1">
                <a:latin typeface="Times New Roman"/>
                <a:cs typeface="Times New Roman"/>
              </a:rPr>
              <a:t>o</a:t>
            </a:r>
            <a:r>
              <a:rPr dirty="0" sz="1200" spc="-5" b="1">
                <a:latin typeface="Times New Roman"/>
                <a:cs typeface="Times New Roman"/>
              </a:rPr>
              <a:t>r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-44">
                <a:latin typeface="Verdana"/>
                <a:cs typeface="Verdana"/>
              </a:rPr>
              <a:t>1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14">
                <a:latin typeface="Lucida Sans Unicode"/>
                <a:cs typeface="Lucida Sans Unicode"/>
              </a:rPr>
              <a:t>x</a:t>
            </a:r>
            <a:r>
              <a:rPr dirty="0" baseline="-13888" sz="1200" spc="-44">
                <a:latin typeface="Verdana"/>
                <a:cs typeface="Verdana"/>
              </a:rPr>
              <a:t>2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14">
                <a:latin typeface="Lucida Sans Unicode"/>
                <a:cs typeface="Lucida Sans Unicode"/>
              </a:rPr>
              <a:t>x</a:t>
            </a:r>
            <a:r>
              <a:rPr dirty="0" baseline="-13888" sz="1200" spc="-44">
                <a:latin typeface="Verdana"/>
                <a:cs typeface="Verdana"/>
              </a:rPr>
              <a:t>3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813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80695" algn="l"/>
                <a:tab pos="4819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9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ea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14">
                <a:latin typeface="Lucida Sans Unicode"/>
                <a:cs typeface="Lucida Sans Unicode"/>
              </a:rPr>
              <a:t>x</a:t>
            </a:r>
            <a:r>
              <a:rPr dirty="0" baseline="-13888" sz="1200" spc="82">
                <a:latin typeface="Verdana"/>
                <a:cs typeface="Verdana"/>
              </a:rPr>
              <a:t>j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tw</a:t>
            </a:r>
            <a:r>
              <a:rPr dirty="0" sz="1200" spc="-5">
                <a:latin typeface="Times New Roman"/>
                <a:cs typeface="Times New Roman"/>
              </a:rPr>
              <a:t>een</a:t>
            </a:r>
            <a:endParaRPr sz="1200">
              <a:latin typeface="Times New Roman"/>
              <a:cs typeface="Times New Roman"/>
            </a:endParaRPr>
          </a:p>
          <a:p>
            <a:pPr marL="692150" indent="-439420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692150" algn="l"/>
                <a:tab pos="692785" algn="l"/>
              </a:tabLst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pairs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vertices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the </a:t>
            </a:r>
            <a:r>
              <a:rPr dirty="0" sz="1200" spc="-5">
                <a:latin typeface="Times New Roman"/>
                <a:cs typeface="Times New Roman"/>
              </a:rPr>
              <a:t>cluster</a:t>
            </a:r>
            <a:endParaRPr sz="1200">
              <a:latin typeface="Times New Roman"/>
              <a:cs typeface="Times New Roman"/>
            </a:endParaRPr>
          </a:p>
          <a:p>
            <a:pPr marL="481330" indent="-228600">
              <a:lnSpc>
                <a:spcPct val="100000"/>
              </a:lnSpc>
              <a:buFont typeface="Times New Roman"/>
              <a:buAutoNum type="arabicPlain"/>
              <a:tabLst>
                <a:tab pos="480695" algn="l"/>
                <a:tab pos="481965" algn="l"/>
              </a:tabLst>
            </a:pPr>
            <a:r>
              <a:rPr dirty="0" sz="1200" spc="-15" b="1">
                <a:latin typeface="Times New Roman"/>
                <a:cs typeface="Times New Roman"/>
              </a:rPr>
              <a:t>for </a:t>
            </a:r>
            <a:r>
              <a:rPr dirty="0" sz="1200" spc="114">
                <a:latin typeface="Garamond"/>
                <a:cs typeface="Garamond"/>
              </a:rPr>
              <a:t>(</a:t>
            </a:r>
            <a:r>
              <a:rPr dirty="0" sz="1200" spc="-15">
                <a:latin typeface="Garamond"/>
                <a:cs typeface="Garamond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vertex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baseline="-13888" sz="1200" spc="30">
                <a:latin typeface="Verdana"/>
                <a:cs typeface="Verdana"/>
              </a:rPr>
              <a:t>i</a:t>
            </a:r>
            <a:r>
              <a:rPr dirty="0" baseline="-13888" sz="1200" spc="-7">
                <a:latin typeface="Verdana"/>
                <a:cs typeface="Verdana"/>
              </a:rPr>
              <a:t> </a:t>
            </a:r>
            <a:r>
              <a:rPr dirty="0" sz="1200" spc="114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  <a:p>
            <a:pPr marL="481330" indent="-228600">
              <a:lnSpc>
                <a:spcPct val="100000"/>
              </a:lnSpc>
              <a:spcBef>
                <a:spcPts val="5"/>
              </a:spcBef>
              <a:buFont typeface="Times New Roman"/>
              <a:buAutoNum type="arabicPlain"/>
              <a:tabLst>
                <a:tab pos="480695" algn="l"/>
                <a:tab pos="481965" algn="l"/>
              </a:tabLst>
            </a:pPr>
            <a:r>
              <a:rPr dirty="0" sz="1200" spc="-5" b="1">
                <a:latin typeface="Times New Roman"/>
                <a:cs typeface="Times New Roman"/>
              </a:rPr>
              <a:t>do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create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edge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between 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baseline="-13888" sz="1200" spc="30">
                <a:latin typeface="Verdana"/>
                <a:cs typeface="Verdana"/>
              </a:rPr>
              <a:t>i</a:t>
            </a:r>
            <a:r>
              <a:rPr dirty="0" baseline="-13888" sz="1200" spc="-15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  <a:p>
            <a:pPr marL="692150" indent="-515620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692150" algn="l"/>
                <a:tab pos="692785" algn="l"/>
              </a:tabLst>
            </a:pPr>
            <a:r>
              <a:rPr dirty="0" sz="1200" spc="-5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 spc="-10">
                <a:latin typeface="Times New Roman"/>
                <a:cs typeface="Times New Roman"/>
              </a:rPr>
              <a:t>complement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Lucida Sans Unicode"/>
                <a:cs typeface="Lucida Sans Unicode"/>
              </a:rPr>
              <a:t>x</a:t>
            </a:r>
            <a:r>
              <a:rPr dirty="0" baseline="-13888" sz="1200" spc="30">
                <a:latin typeface="Verdana"/>
                <a:cs typeface="Verdana"/>
              </a:rPr>
              <a:t>i</a:t>
            </a:r>
            <a:endParaRPr baseline="-13888" sz="1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18</a:t>
            </a:r>
            <a:r>
              <a:rPr dirty="0" sz="1200" spc="-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51779" y="520987"/>
            <a:ext cx="257683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9.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COMPLEXITY</a:t>
            </a:r>
            <a:r>
              <a:rPr dirty="0" sz="1200" spc="-20">
                <a:latin typeface="Times New Roman"/>
                <a:cs typeface="Times New Roman"/>
              </a:rPr>
              <a:t> THEORY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1692" y="926454"/>
            <a:ext cx="6229350" cy="1397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95"/>
              </a:spcBef>
              <a:tabLst>
                <a:tab pos="353695" algn="l"/>
              </a:tabLst>
            </a:pPr>
            <a:r>
              <a:rPr dirty="0" sz="1200" spc="-5">
                <a:latin typeface="Times New Roman"/>
                <a:cs typeface="Times New Roman"/>
              </a:rPr>
              <a:t>11	</a:t>
            </a:r>
            <a:r>
              <a:rPr dirty="0" sz="1200" spc="-15" b="1">
                <a:latin typeface="Times New Roman"/>
                <a:cs typeface="Times New Roman"/>
              </a:rPr>
              <a:t>return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35">
                <a:latin typeface="Garamond"/>
                <a:cs typeface="Garamond"/>
              </a:rPr>
              <a:t>(</a:t>
            </a:r>
            <a:r>
              <a:rPr dirty="0" sz="1200" spc="35">
                <a:latin typeface="Lucida Sans Unicode"/>
                <a:cs typeface="Lucida Sans Unicode"/>
              </a:rPr>
              <a:t>G,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k</a:t>
            </a:r>
            <a:r>
              <a:rPr dirty="0" sz="1200" spc="35">
                <a:latin typeface="Garamond"/>
                <a:cs typeface="Garamond"/>
              </a:rPr>
              <a:t>) </a:t>
            </a:r>
            <a:r>
              <a:rPr dirty="0" sz="1200" spc="290">
                <a:latin typeface="Garamond"/>
                <a:cs typeface="Garamond"/>
              </a:rPr>
              <a:t> </a:t>
            </a:r>
            <a:r>
              <a:rPr dirty="0" sz="1100" spc="-5" i="1">
                <a:latin typeface="Times New Roman"/>
                <a:cs typeface="Times New Roman"/>
              </a:rPr>
              <a:t>// </a:t>
            </a:r>
            <a:r>
              <a:rPr dirty="0" sz="1100" spc="-10" i="1">
                <a:latin typeface="Times New Roman"/>
                <a:cs typeface="Times New Roman"/>
              </a:rPr>
              <a:t>output</a:t>
            </a:r>
            <a:r>
              <a:rPr dirty="0" sz="1100" spc="-5" i="1">
                <a:latin typeface="Times New Roman"/>
                <a:cs typeface="Times New Roman"/>
              </a:rPr>
              <a:t> is </a:t>
            </a:r>
            <a:r>
              <a:rPr dirty="0" sz="1100" spc="-15" i="1">
                <a:latin typeface="Times New Roman"/>
                <a:cs typeface="Times New Roman"/>
              </a:rPr>
              <a:t>graph</a:t>
            </a:r>
            <a:r>
              <a:rPr dirty="0" sz="1100" spc="-5" i="1">
                <a:latin typeface="Times New Roman"/>
                <a:cs typeface="Times New Roman"/>
              </a:rPr>
              <a:t> </a:t>
            </a:r>
            <a:r>
              <a:rPr dirty="0" sz="1100" spc="35">
                <a:latin typeface="Lucida Sans Unicode"/>
                <a:cs typeface="Lucida Sans Unicode"/>
              </a:rPr>
              <a:t>G</a:t>
            </a:r>
            <a:r>
              <a:rPr dirty="0" sz="1100" spc="-75">
                <a:latin typeface="Lucida Sans Unicode"/>
                <a:cs typeface="Lucida Sans Unicode"/>
              </a:rPr>
              <a:t> </a:t>
            </a:r>
            <a:r>
              <a:rPr dirty="0" sz="1100" spc="-10" i="1">
                <a:latin typeface="Times New Roman"/>
                <a:cs typeface="Times New Roman"/>
              </a:rPr>
              <a:t>and</a:t>
            </a:r>
            <a:r>
              <a:rPr dirty="0" sz="1100" spc="-5" i="1">
                <a:latin typeface="Times New Roman"/>
                <a:cs typeface="Times New Roman"/>
              </a:rPr>
              <a:t> </a:t>
            </a:r>
            <a:r>
              <a:rPr dirty="0" sz="1100" spc="-15" i="1">
                <a:latin typeface="Times New Roman"/>
                <a:cs typeface="Times New Roman"/>
              </a:rPr>
              <a:t>integer</a:t>
            </a:r>
            <a:r>
              <a:rPr dirty="0" sz="1100" spc="-5" i="1">
                <a:latin typeface="Times New Roman"/>
                <a:cs typeface="Times New Roman"/>
              </a:rPr>
              <a:t> </a:t>
            </a:r>
            <a:r>
              <a:rPr dirty="0" sz="1100" spc="-40">
                <a:latin typeface="Lucida Sans Unicode"/>
                <a:cs typeface="Lucida Sans Unicode"/>
              </a:rPr>
              <a:t>k</a:t>
            </a:r>
            <a:endParaRPr sz="1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300">
              <a:latin typeface="Lucida Sans Unicode"/>
              <a:cs typeface="Lucida Sans Unicode"/>
            </a:endParaRPr>
          </a:p>
          <a:p>
            <a:pPr marL="12700" marR="5080">
              <a:lnSpc>
                <a:spcPct val="100000"/>
              </a:lnSpc>
              <a:spcBef>
                <a:spcPts val="1080"/>
              </a:spcBef>
            </a:pPr>
            <a:r>
              <a:rPr dirty="0" sz="1200" spc="-5">
                <a:latin typeface="Times New Roman"/>
                <a:cs typeface="Times New Roman"/>
              </a:rPr>
              <a:t>If </a:t>
            </a:r>
            <a:r>
              <a:rPr dirty="0" sz="1200" spc="-50">
                <a:latin typeface="Lucida Sans Unicode"/>
                <a:cs typeface="Lucida Sans Unicode"/>
              </a:rPr>
              <a:t>F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 spc="-40">
                <a:latin typeface="Lucida Sans Unicode"/>
                <a:cs typeface="Lucida Sans Unicode"/>
              </a:rPr>
              <a:t>k </a:t>
            </a:r>
            <a:r>
              <a:rPr dirty="0" sz="1200" spc="-5">
                <a:latin typeface="Times New Roman"/>
                <a:cs typeface="Times New Roman"/>
              </a:rPr>
              <a:t>clauses, then </a:t>
            </a:r>
            <a:r>
              <a:rPr dirty="0" sz="1200" spc="45">
                <a:latin typeface="Lucida Sans Unicode"/>
                <a:cs typeface="Lucida Sans Unicode"/>
              </a:rPr>
              <a:t>G </a:t>
            </a:r>
            <a:r>
              <a:rPr dirty="0" sz="1200" spc="-5">
                <a:latin typeface="Times New Roman"/>
                <a:cs typeface="Times New Roman"/>
              </a:rPr>
              <a:t>has </a:t>
            </a:r>
            <a:r>
              <a:rPr dirty="0" sz="1200" spc="-10">
                <a:latin typeface="Times New Roman"/>
                <a:cs typeface="Times New Roman"/>
              </a:rPr>
              <a:t>exactly </a:t>
            </a:r>
            <a:r>
              <a:rPr dirty="0" sz="1200" spc="-100">
                <a:latin typeface="Lucida Sans Unicode"/>
                <a:cs typeface="Lucida Sans Unicode"/>
              </a:rPr>
              <a:t>3k </a:t>
            </a:r>
            <a:r>
              <a:rPr dirty="0" sz="1200" spc="-10">
                <a:latin typeface="Times New Roman"/>
                <a:cs typeface="Times New Roman"/>
              </a:rPr>
              <a:t>vertices. </a:t>
            </a:r>
            <a:r>
              <a:rPr dirty="0" sz="1200" spc="-15">
                <a:latin typeface="Times New Roman"/>
                <a:cs typeface="Times New Roman"/>
              </a:rPr>
              <a:t>Given </a:t>
            </a:r>
            <a:r>
              <a:rPr dirty="0" sz="1200" spc="-10">
                <a:latin typeface="Times New Roman"/>
                <a:cs typeface="Times New Roman"/>
              </a:rPr>
              <a:t>any </a:t>
            </a:r>
            <a:r>
              <a:rPr dirty="0" sz="1200" spc="-5">
                <a:latin typeface="Times New Roman"/>
                <a:cs typeface="Times New Roman"/>
              </a:rPr>
              <a:t>reasonable </a:t>
            </a:r>
            <a:r>
              <a:rPr dirty="0" sz="1200" spc="-10">
                <a:latin typeface="Times New Roman"/>
                <a:cs typeface="Times New Roman"/>
              </a:rPr>
              <a:t>encoding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50">
                <a:latin typeface="Lucida Sans Unicode"/>
                <a:cs typeface="Lucida Sans Unicode"/>
              </a:rPr>
              <a:t>F </a:t>
            </a:r>
            <a:r>
              <a:rPr dirty="0" sz="1200" spc="-5">
                <a:latin typeface="Times New Roman"/>
                <a:cs typeface="Times New Roman"/>
              </a:rPr>
              <a:t>, it is an easy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programming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exercise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create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(say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adjacency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matrix)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claim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F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satisfiable if and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 spc="-5">
                <a:latin typeface="Times New Roman"/>
                <a:cs typeface="Times New Roman"/>
              </a:rPr>
              <a:t> if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has an </a:t>
            </a:r>
            <a:r>
              <a:rPr dirty="0" sz="1200" spc="-10">
                <a:latin typeface="Times New Roman"/>
                <a:cs typeface="Times New Roman"/>
              </a:rPr>
              <a:t>independent</a:t>
            </a:r>
            <a:r>
              <a:rPr dirty="0" sz="1200" spc="-5">
                <a:latin typeface="Times New Roman"/>
                <a:cs typeface="Times New Roman"/>
              </a:rPr>
              <a:t> set of size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dirty="0" sz="1200" spc="-5" b="1">
                <a:latin typeface="Times New Roman"/>
                <a:cs typeface="Times New Roman"/>
              </a:rPr>
              <a:t>Example:</a:t>
            </a:r>
            <a:r>
              <a:rPr dirty="0" sz="1200" spc="7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Suppose that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are </a:t>
            </a:r>
            <a:r>
              <a:rPr dirty="0" sz="1200" spc="-15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3-CNF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2400300" y="3001696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69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2726435" y="3001696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69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3169919" y="3001696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4265676" y="3001696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4917947" y="3001696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5689091" y="3001696"/>
            <a:ext cx="140970" cy="6350"/>
          </a:xfrm>
          <a:custGeom>
            <a:avLst/>
            <a:gdLst/>
            <a:ahLst/>
            <a:cxnLst/>
            <a:rect l="l" t="t" r="r" b="b"/>
            <a:pathLst>
              <a:path w="140970" h="6350">
                <a:moveTo>
                  <a:pt x="140931" y="0"/>
                </a:moveTo>
                <a:lnTo>
                  <a:pt x="0" y="0"/>
                </a:lnTo>
                <a:lnTo>
                  <a:pt x="0" y="6171"/>
                </a:lnTo>
                <a:lnTo>
                  <a:pt x="140931" y="6171"/>
                </a:lnTo>
                <a:lnTo>
                  <a:pt x="140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1977115" y="2930704"/>
            <a:ext cx="42754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Garamond"/>
                <a:cs typeface="Garamond"/>
              </a:rPr>
              <a:t>(</a:t>
            </a:r>
            <a:r>
              <a:rPr dirty="0" sz="1200" spc="-5">
                <a:latin typeface="Lucida Sans Unicode"/>
                <a:cs typeface="Lucida Sans Unicode"/>
              </a:rPr>
              <a:t>x</a:t>
            </a:r>
            <a:r>
              <a:rPr dirty="0" baseline="-13888" sz="1200" spc="-7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x</a:t>
            </a:r>
            <a:r>
              <a:rPr dirty="0" baseline="-13888" sz="1200" spc="-89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3</a:t>
            </a:r>
            <a:r>
              <a:rPr dirty="0" sz="1200" spc="-1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Garamond"/>
                <a:cs typeface="Garamond"/>
              </a:rPr>
              <a:t>(</a:t>
            </a:r>
            <a:r>
              <a:rPr dirty="0" sz="1200" spc="-5">
                <a:latin typeface="Lucida Sans Unicode"/>
                <a:cs typeface="Lucida Sans Unicode"/>
              </a:rPr>
              <a:t>x</a:t>
            </a:r>
            <a:r>
              <a:rPr dirty="0" baseline="-13888" sz="1200" spc="-7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x</a:t>
            </a:r>
            <a:r>
              <a:rPr dirty="0" baseline="-13888" sz="1200" spc="-89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3</a:t>
            </a:r>
            <a:r>
              <a:rPr dirty="0" sz="1200" spc="-10">
                <a:latin typeface="Garamond"/>
                <a:cs typeface="Garamond"/>
              </a:rPr>
              <a:t>)</a:t>
            </a:r>
            <a:r>
              <a:rPr dirty="0" sz="1200" spc="-40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Garamond"/>
                <a:cs typeface="Garamond"/>
              </a:rPr>
              <a:t>(</a:t>
            </a:r>
            <a:r>
              <a:rPr dirty="0" sz="1200" spc="-5">
                <a:latin typeface="Lucida Sans Unicode"/>
                <a:cs typeface="Lucida Sans Unicode"/>
              </a:rPr>
              <a:t>x</a:t>
            </a:r>
            <a:r>
              <a:rPr dirty="0" baseline="-13888" sz="1200" spc="-7">
                <a:latin typeface="Verdana"/>
                <a:cs typeface="Verdana"/>
              </a:rPr>
              <a:t>1</a:t>
            </a:r>
            <a:r>
              <a:rPr dirty="0" baseline="-13888" sz="1200" spc="-44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x</a:t>
            </a:r>
            <a:r>
              <a:rPr dirty="0" baseline="-13888" sz="1200" spc="-89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3</a:t>
            </a:r>
            <a:r>
              <a:rPr dirty="0" sz="1200" spc="-10">
                <a:latin typeface="Garamond"/>
                <a:cs typeface="Garamond"/>
              </a:rPr>
              <a:t>)</a:t>
            </a:r>
            <a:r>
              <a:rPr dirty="0" sz="1200" spc="-35">
                <a:latin typeface="Garamond"/>
                <a:cs typeface="Garamond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∧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Garamond"/>
                <a:cs typeface="Garamond"/>
              </a:rPr>
              <a:t>(</a:t>
            </a:r>
            <a:r>
              <a:rPr dirty="0" sz="1200" spc="-5">
                <a:latin typeface="Lucida Sans Unicode"/>
                <a:cs typeface="Lucida Sans Unicode"/>
              </a:rPr>
              <a:t>x</a:t>
            </a:r>
            <a:r>
              <a:rPr dirty="0" baseline="-13888" sz="1200" spc="-7">
                <a:latin typeface="Verdana"/>
                <a:cs typeface="Verdana"/>
              </a:rPr>
              <a:t>1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x</a:t>
            </a:r>
            <a:r>
              <a:rPr dirty="0" baseline="-13888" sz="1200" spc="-89">
                <a:latin typeface="Verdana"/>
                <a:cs typeface="Verdana"/>
              </a:rPr>
              <a:t>2</a:t>
            </a:r>
            <a:r>
              <a:rPr dirty="0" baseline="-13888" sz="1200" spc="-52">
                <a:latin typeface="Verdana"/>
                <a:cs typeface="Verdana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∨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x</a:t>
            </a:r>
            <a:r>
              <a:rPr dirty="0" baseline="-13888" sz="1200" spc="-15">
                <a:latin typeface="Verdana"/>
                <a:cs typeface="Verdana"/>
              </a:rPr>
              <a:t>3</a:t>
            </a:r>
            <a:r>
              <a:rPr dirty="0" sz="1200" spc="-10">
                <a:latin typeface="Garamond"/>
                <a:cs typeface="Garamond"/>
              </a:rPr>
              <a:t>)</a:t>
            </a:r>
            <a:endParaRPr sz="1200">
              <a:latin typeface="Garamond"/>
              <a:cs typeface="Garamond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01699" y="3811042"/>
            <a:ext cx="6426200" cy="391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following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series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figures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reduction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produces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k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=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4.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First,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literals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converted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three-vertices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graph.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 spc="-5">
                <a:latin typeface="Times New Roman"/>
                <a:cs typeface="Times New Roman"/>
              </a:rPr>
              <a:t> 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9.11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2491739" y="5021270"/>
            <a:ext cx="3208020" cy="2590800"/>
            <a:chOff x="2491739" y="5021270"/>
            <a:chExt cx="3208020" cy="2590800"/>
          </a:xfrm>
        </p:grpSpPr>
        <p:sp>
          <p:nvSpPr>
            <p:cNvPr id="14" name="object 14"/>
            <p:cNvSpPr/>
            <p:nvPr/>
          </p:nvSpPr>
          <p:spPr>
            <a:xfrm>
              <a:off x="2491739" y="5021270"/>
              <a:ext cx="3208020" cy="2590800"/>
            </a:xfrm>
            <a:custGeom>
              <a:avLst/>
              <a:gdLst/>
              <a:ahLst/>
              <a:cxnLst/>
              <a:rect l="l" t="t" r="r" b="b"/>
              <a:pathLst>
                <a:path w="3208020" h="2590800">
                  <a:moveTo>
                    <a:pt x="3207486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207486" y="2590601"/>
                  </a:lnTo>
                  <a:lnTo>
                    <a:pt x="320748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595420" y="5335549"/>
              <a:ext cx="994410" cy="3810"/>
            </a:xfrm>
            <a:custGeom>
              <a:avLst/>
              <a:gdLst/>
              <a:ahLst/>
              <a:cxnLst/>
              <a:rect l="l" t="t" r="r" b="b"/>
              <a:pathLst>
                <a:path w="994410" h="3810">
                  <a:moveTo>
                    <a:pt x="0" y="3642"/>
                  </a:moveTo>
                  <a:lnTo>
                    <a:pt x="374934" y="3642"/>
                  </a:lnTo>
                </a:path>
                <a:path w="994410" h="3810">
                  <a:moveTo>
                    <a:pt x="618926" y="0"/>
                  </a:moveTo>
                  <a:lnTo>
                    <a:pt x="993876" y="0"/>
                  </a:lnTo>
                </a:path>
              </a:pathLst>
            </a:custGeom>
            <a:ln w="186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350590" y="5202351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129570" y="0"/>
                  </a:moveTo>
                  <a:lnTo>
                    <a:pt x="83012" y="8961"/>
                  </a:lnTo>
                  <a:lnTo>
                    <a:pt x="42351" y="33649"/>
                  </a:lnTo>
                  <a:lnTo>
                    <a:pt x="13456" y="71780"/>
                  </a:lnTo>
                  <a:lnTo>
                    <a:pt x="289" y="117774"/>
                  </a:lnTo>
                  <a:lnTo>
                    <a:pt x="0" y="129829"/>
                  </a:lnTo>
                  <a:lnTo>
                    <a:pt x="289" y="141335"/>
                  </a:lnTo>
                  <a:lnTo>
                    <a:pt x="13456" y="187330"/>
                  </a:lnTo>
                  <a:lnTo>
                    <a:pt x="42351" y="225460"/>
                  </a:lnTo>
                  <a:lnTo>
                    <a:pt x="83012" y="250423"/>
                  </a:lnTo>
                  <a:lnTo>
                    <a:pt x="129570" y="259125"/>
                  </a:lnTo>
                  <a:lnTo>
                    <a:pt x="141625" y="258561"/>
                  </a:lnTo>
                  <a:lnTo>
                    <a:pt x="187330" y="245379"/>
                  </a:lnTo>
                  <a:lnTo>
                    <a:pt x="225201" y="217048"/>
                  </a:lnTo>
                  <a:lnTo>
                    <a:pt x="250438" y="176387"/>
                  </a:lnTo>
                  <a:lnTo>
                    <a:pt x="259125" y="129829"/>
                  </a:lnTo>
                  <a:lnTo>
                    <a:pt x="258561" y="117774"/>
                  </a:lnTo>
                  <a:lnTo>
                    <a:pt x="245668" y="71780"/>
                  </a:lnTo>
                  <a:lnTo>
                    <a:pt x="217063" y="33649"/>
                  </a:lnTo>
                  <a:lnTo>
                    <a:pt x="176402" y="8961"/>
                  </a:lnTo>
                  <a:lnTo>
                    <a:pt x="1295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350590" y="5202351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0" y="129829"/>
                  </a:moveTo>
                  <a:lnTo>
                    <a:pt x="8702" y="82722"/>
                  </a:lnTo>
                  <a:lnTo>
                    <a:pt x="33649" y="42062"/>
                  </a:lnTo>
                  <a:lnTo>
                    <a:pt x="71795" y="13731"/>
                  </a:lnTo>
                  <a:lnTo>
                    <a:pt x="117500" y="548"/>
                  </a:lnTo>
                  <a:lnTo>
                    <a:pt x="129570" y="0"/>
                  </a:lnTo>
                  <a:lnTo>
                    <a:pt x="141625" y="548"/>
                  </a:lnTo>
                  <a:lnTo>
                    <a:pt x="187330" y="13731"/>
                  </a:lnTo>
                  <a:lnTo>
                    <a:pt x="225201" y="42062"/>
                  </a:lnTo>
                  <a:lnTo>
                    <a:pt x="250438" y="82722"/>
                  </a:lnTo>
                  <a:lnTo>
                    <a:pt x="259125" y="129829"/>
                  </a:lnTo>
                  <a:lnTo>
                    <a:pt x="258561" y="141335"/>
                  </a:lnTo>
                  <a:lnTo>
                    <a:pt x="245668" y="187330"/>
                  </a:lnTo>
                  <a:lnTo>
                    <a:pt x="217063" y="225460"/>
                  </a:lnTo>
                  <a:lnTo>
                    <a:pt x="176402" y="250423"/>
                  </a:lnTo>
                  <a:lnTo>
                    <a:pt x="129570" y="259125"/>
                  </a:lnTo>
                  <a:lnTo>
                    <a:pt x="117500" y="258561"/>
                  </a:lnTo>
                  <a:lnTo>
                    <a:pt x="71795" y="245379"/>
                  </a:lnTo>
                  <a:lnTo>
                    <a:pt x="33649" y="217048"/>
                  </a:lnTo>
                  <a:lnTo>
                    <a:pt x="8702" y="176387"/>
                  </a:lnTo>
                  <a:lnTo>
                    <a:pt x="0" y="129829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/>
          <p:nvPr/>
        </p:nvSpPr>
        <p:spPr>
          <a:xfrm>
            <a:off x="3400906" y="5210394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4563478" y="5198691"/>
            <a:ext cx="274320" cy="274320"/>
            <a:chOff x="4563478" y="5198691"/>
            <a:chExt cx="274320" cy="274320"/>
          </a:xfrm>
        </p:grpSpPr>
        <p:sp>
          <p:nvSpPr>
            <p:cNvPr id="20" name="object 20"/>
            <p:cNvSpPr/>
            <p:nvPr/>
          </p:nvSpPr>
          <p:spPr>
            <a:xfrm>
              <a:off x="4570780" y="5205994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129844" y="0"/>
                  </a:moveTo>
                  <a:lnTo>
                    <a:pt x="83012" y="8686"/>
                  </a:lnTo>
                  <a:lnTo>
                    <a:pt x="42351" y="33649"/>
                  </a:lnTo>
                  <a:lnTo>
                    <a:pt x="13746" y="71795"/>
                  </a:lnTo>
                  <a:lnTo>
                    <a:pt x="563" y="117500"/>
                  </a:lnTo>
                  <a:lnTo>
                    <a:pt x="0" y="129280"/>
                  </a:lnTo>
                  <a:lnTo>
                    <a:pt x="563" y="141335"/>
                  </a:lnTo>
                  <a:lnTo>
                    <a:pt x="13746" y="187330"/>
                  </a:lnTo>
                  <a:lnTo>
                    <a:pt x="42351" y="225475"/>
                  </a:lnTo>
                  <a:lnTo>
                    <a:pt x="83012" y="250149"/>
                  </a:lnTo>
                  <a:lnTo>
                    <a:pt x="129844" y="259125"/>
                  </a:lnTo>
                  <a:lnTo>
                    <a:pt x="141625" y="258561"/>
                  </a:lnTo>
                  <a:lnTo>
                    <a:pt x="187619" y="245379"/>
                  </a:lnTo>
                  <a:lnTo>
                    <a:pt x="225475" y="216773"/>
                  </a:lnTo>
                  <a:lnTo>
                    <a:pt x="250713" y="176387"/>
                  </a:lnTo>
                  <a:lnTo>
                    <a:pt x="259400" y="129280"/>
                  </a:lnTo>
                  <a:lnTo>
                    <a:pt x="258851" y="117500"/>
                  </a:lnTo>
                  <a:lnTo>
                    <a:pt x="245668" y="71795"/>
                  </a:lnTo>
                  <a:lnTo>
                    <a:pt x="217063" y="33649"/>
                  </a:lnTo>
                  <a:lnTo>
                    <a:pt x="176677" y="8686"/>
                  </a:lnTo>
                  <a:lnTo>
                    <a:pt x="1298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570780" y="5205994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0" y="129280"/>
                  </a:moveTo>
                  <a:lnTo>
                    <a:pt x="8702" y="82722"/>
                  </a:lnTo>
                  <a:lnTo>
                    <a:pt x="33939" y="42062"/>
                  </a:lnTo>
                  <a:lnTo>
                    <a:pt x="72069" y="13456"/>
                  </a:lnTo>
                  <a:lnTo>
                    <a:pt x="117789" y="563"/>
                  </a:lnTo>
                  <a:lnTo>
                    <a:pt x="129844" y="0"/>
                  </a:lnTo>
                  <a:lnTo>
                    <a:pt x="141625" y="563"/>
                  </a:lnTo>
                  <a:lnTo>
                    <a:pt x="187619" y="13456"/>
                  </a:lnTo>
                  <a:lnTo>
                    <a:pt x="225475" y="42062"/>
                  </a:lnTo>
                  <a:lnTo>
                    <a:pt x="250713" y="82722"/>
                  </a:lnTo>
                  <a:lnTo>
                    <a:pt x="259400" y="129280"/>
                  </a:lnTo>
                  <a:lnTo>
                    <a:pt x="258851" y="141335"/>
                  </a:lnTo>
                  <a:lnTo>
                    <a:pt x="245668" y="187330"/>
                  </a:lnTo>
                  <a:lnTo>
                    <a:pt x="217063" y="225475"/>
                  </a:lnTo>
                  <a:lnTo>
                    <a:pt x="176677" y="250149"/>
                  </a:lnTo>
                  <a:lnTo>
                    <a:pt x="129844" y="259125"/>
                  </a:lnTo>
                  <a:lnTo>
                    <a:pt x="117789" y="258561"/>
                  </a:lnTo>
                  <a:lnTo>
                    <a:pt x="72069" y="245379"/>
                  </a:lnTo>
                  <a:lnTo>
                    <a:pt x="33939" y="216773"/>
                  </a:lnTo>
                  <a:lnTo>
                    <a:pt x="8702" y="176387"/>
                  </a:lnTo>
                  <a:lnTo>
                    <a:pt x="0" y="129280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4621375" y="5213760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3951835" y="5202059"/>
            <a:ext cx="805180" cy="274320"/>
            <a:chOff x="3951835" y="5202059"/>
            <a:chExt cx="805180" cy="274320"/>
          </a:xfrm>
        </p:grpSpPr>
        <p:sp>
          <p:nvSpPr>
            <p:cNvPr id="24" name="object 24"/>
            <p:cNvSpPr/>
            <p:nvPr/>
          </p:nvSpPr>
          <p:spPr>
            <a:xfrm>
              <a:off x="4657160" y="5268813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 h="0">
                  <a:moveTo>
                    <a:pt x="0" y="0"/>
                  </a:moveTo>
                  <a:lnTo>
                    <a:pt x="94503" y="0"/>
                  </a:lnTo>
                </a:path>
              </a:pathLst>
            </a:custGeom>
            <a:ln w="93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959138" y="5209362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129570" y="0"/>
                  </a:moveTo>
                  <a:lnTo>
                    <a:pt x="82737" y="8961"/>
                  </a:lnTo>
                  <a:lnTo>
                    <a:pt x="42351" y="33649"/>
                  </a:lnTo>
                  <a:lnTo>
                    <a:pt x="13472" y="71780"/>
                  </a:lnTo>
                  <a:lnTo>
                    <a:pt x="563" y="117774"/>
                  </a:lnTo>
                  <a:lnTo>
                    <a:pt x="0" y="129555"/>
                  </a:lnTo>
                  <a:lnTo>
                    <a:pt x="563" y="141335"/>
                  </a:lnTo>
                  <a:lnTo>
                    <a:pt x="13472" y="187330"/>
                  </a:lnTo>
                  <a:lnTo>
                    <a:pt x="42351" y="225460"/>
                  </a:lnTo>
                  <a:lnTo>
                    <a:pt x="82737" y="250423"/>
                  </a:lnTo>
                  <a:lnTo>
                    <a:pt x="129570" y="259125"/>
                  </a:lnTo>
                  <a:lnTo>
                    <a:pt x="141625" y="258561"/>
                  </a:lnTo>
                  <a:lnTo>
                    <a:pt x="187345" y="245379"/>
                  </a:lnTo>
                  <a:lnTo>
                    <a:pt x="225201" y="217048"/>
                  </a:lnTo>
                  <a:lnTo>
                    <a:pt x="250438" y="176387"/>
                  </a:lnTo>
                  <a:lnTo>
                    <a:pt x="259125" y="129555"/>
                  </a:lnTo>
                  <a:lnTo>
                    <a:pt x="258577" y="117774"/>
                  </a:lnTo>
                  <a:lnTo>
                    <a:pt x="245668" y="71780"/>
                  </a:lnTo>
                  <a:lnTo>
                    <a:pt x="216788" y="33649"/>
                  </a:lnTo>
                  <a:lnTo>
                    <a:pt x="176128" y="8961"/>
                  </a:lnTo>
                  <a:lnTo>
                    <a:pt x="1295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959138" y="5209362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0" y="129555"/>
                  </a:moveTo>
                  <a:lnTo>
                    <a:pt x="8702" y="82722"/>
                  </a:lnTo>
                  <a:lnTo>
                    <a:pt x="33939" y="42062"/>
                  </a:lnTo>
                  <a:lnTo>
                    <a:pt x="71521" y="13731"/>
                  </a:lnTo>
                  <a:lnTo>
                    <a:pt x="117515" y="548"/>
                  </a:lnTo>
                  <a:lnTo>
                    <a:pt x="129570" y="0"/>
                  </a:lnTo>
                  <a:lnTo>
                    <a:pt x="141625" y="548"/>
                  </a:lnTo>
                  <a:lnTo>
                    <a:pt x="187345" y="13731"/>
                  </a:lnTo>
                  <a:lnTo>
                    <a:pt x="225201" y="42062"/>
                  </a:lnTo>
                  <a:lnTo>
                    <a:pt x="250438" y="82722"/>
                  </a:lnTo>
                  <a:lnTo>
                    <a:pt x="259125" y="129555"/>
                  </a:lnTo>
                  <a:lnTo>
                    <a:pt x="258577" y="141335"/>
                  </a:lnTo>
                  <a:lnTo>
                    <a:pt x="245668" y="187330"/>
                  </a:lnTo>
                  <a:lnTo>
                    <a:pt x="216788" y="225460"/>
                  </a:lnTo>
                  <a:lnTo>
                    <a:pt x="176128" y="250423"/>
                  </a:lnTo>
                  <a:lnTo>
                    <a:pt x="129570" y="259125"/>
                  </a:lnTo>
                  <a:lnTo>
                    <a:pt x="117515" y="258561"/>
                  </a:lnTo>
                  <a:lnTo>
                    <a:pt x="71521" y="245379"/>
                  </a:lnTo>
                  <a:lnTo>
                    <a:pt x="33939" y="217048"/>
                  </a:lnTo>
                  <a:lnTo>
                    <a:pt x="8702" y="176387"/>
                  </a:lnTo>
                  <a:lnTo>
                    <a:pt x="0" y="129555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/>
          <p:cNvSpPr txBox="1"/>
          <p:nvPr/>
        </p:nvSpPr>
        <p:spPr>
          <a:xfrm>
            <a:off x="4009185" y="5217404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3343287" y="5074762"/>
            <a:ext cx="1300480" cy="2371725"/>
            <a:chOff x="3343287" y="5074762"/>
            <a:chExt cx="1300480" cy="2371725"/>
          </a:xfrm>
        </p:grpSpPr>
        <p:sp>
          <p:nvSpPr>
            <p:cNvPr id="29" name="object 29"/>
            <p:cNvSpPr/>
            <p:nvPr/>
          </p:nvSpPr>
          <p:spPr>
            <a:xfrm>
              <a:off x="4045244" y="5272166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 h="0">
                  <a:moveTo>
                    <a:pt x="0" y="0"/>
                  </a:moveTo>
                  <a:lnTo>
                    <a:pt x="94228" y="0"/>
                  </a:lnTo>
                </a:path>
              </a:pathLst>
            </a:custGeom>
            <a:ln w="93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564011" y="5084287"/>
              <a:ext cx="1069975" cy="2232025"/>
            </a:xfrm>
            <a:custGeom>
              <a:avLst/>
              <a:gdLst/>
              <a:ahLst/>
              <a:cxnLst/>
              <a:rect l="l" t="t" r="r" b="b"/>
              <a:pathLst>
                <a:path w="1069975" h="2232025">
                  <a:moveTo>
                    <a:pt x="0" y="144703"/>
                  </a:moveTo>
                  <a:lnTo>
                    <a:pt x="45140" y="116372"/>
                  </a:lnTo>
                  <a:lnTo>
                    <a:pt x="78806" y="98419"/>
                  </a:lnTo>
                  <a:lnTo>
                    <a:pt x="114696" y="81594"/>
                  </a:lnTo>
                  <a:lnTo>
                    <a:pt x="152841" y="65897"/>
                  </a:lnTo>
                  <a:lnTo>
                    <a:pt x="192664" y="51587"/>
                  </a:lnTo>
                  <a:lnTo>
                    <a:pt x="233888" y="38694"/>
                  </a:lnTo>
                  <a:lnTo>
                    <a:pt x="276788" y="27752"/>
                  </a:lnTo>
                  <a:lnTo>
                    <a:pt x="320817" y="18227"/>
                  </a:lnTo>
                  <a:lnTo>
                    <a:pt x="365409" y="10363"/>
                  </a:lnTo>
                  <a:lnTo>
                    <a:pt x="411114" y="4754"/>
                  </a:lnTo>
                  <a:lnTo>
                    <a:pt x="456544" y="1112"/>
                  </a:lnTo>
                  <a:lnTo>
                    <a:pt x="528629" y="0"/>
                  </a:lnTo>
                  <a:lnTo>
                    <a:pt x="554415" y="1112"/>
                  </a:lnTo>
                  <a:lnTo>
                    <a:pt x="606018" y="5044"/>
                  </a:lnTo>
                  <a:lnTo>
                    <a:pt x="657346" y="11765"/>
                  </a:lnTo>
                  <a:lnTo>
                    <a:pt x="707547" y="20741"/>
                  </a:lnTo>
                  <a:lnTo>
                    <a:pt x="757458" y="31120"/>
                  </a:lnTo>
                  <a:lnTo>
                    <a:pt x="805982" y="43738"/>
                  </a:lnTo>
                  <a:lnTo>
                    <a:pt x="853653" y="58049"/>
                  </a:lnTo>
                  <a:lnTo>
                    <a:pt x="899921" y="73472"/>
                  </a:lnTo>
                  <a:lnTo>
                    <a:pt x="945078" y="89733"/>
                  </a:lnTo>
                  <a:lnTo>
                    <a:pt x="988268" y="106832"/>
                  </a:lnTo>
                  <a:lnTo>
                    <a:pt x="1030041" y="124510"/>
                  </a:lnTo>
                  <a:lnTo>
                    <a:pt x="1050234" y="133487"/>
                  </a:lnTo>
                  <a:lnTo>
                    <a:pt x="1069863" y="141899"/>
                  </a:lnTo>
                </a:path>
                <a:path w="1069975" h="2232025">
                  <a:moveTo>
                    <a:pt x="31409" y="2232004"/>
                  </a:moveTo>
                  <a:lnTo>
                    <a:pt x="406344" y="2232004"/>
                  </a:lnTo>
                </a:path>
                <a:path w="1069975" h="2232025">
                  <a:moveTo>
                    <a:pt x="650336" y="2228636"/>
                  </a:moveTo>
                  <a:lnTo>
                    <a:pt x="1025286" y="2228636"/>
                  </a:lnTo>
                </a:path>
              </a:pathLst>
            </a:custGeom>
            <a:ln w="186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350590" y="7179711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5">
                  <a:moveTo>
                    <a:pt x="129570" y="0"/>
                  </a:moveTo>
                  <a:lnTo>
                    <a:pt x="83012" y="8702"/>
                  </a:lnTo>
                  <a:lnTo>
                    <a:pt x="42351" y="33665"/>
                  </a:lnTo>
                  <a:lnTo>
                    <a:pt x="13456" y="71795"/>
                  </a:lnTo>
                  <a:lnTo>
                    <a:pt x="289" y="117789"/>
                  </a:lnTo>
                  <a:lnTo>
                    <a:pt x="0" y="129280"/>
                  </a:lnTo>
                  <a:lnTo>
                    <a:pt x="289" y="141350"/>
                  </a:lnTo>
                  <a:lnTo>
                    <a:pt x="13456" y="187345"/>
                  </a:lnTo>
                  <a:lnTo>
                    <a:pt x="42351" y="225475"/>
                  </a:lnTo>
                  <a:lnTo>
                    <a:pt x="83012" y="250438"/>
                  </a:lnTo>
                  <a:lnTo>
                    <a:pt x="129570" y="259125"/>
                  </a:lnTo>
                  <a:lnTo>
                    <a:pt x="141625" y="258577"/>
                  </a:lnTo>
                  <a:lnTo>
                    <a:pt x="187330" y="245394"/>
                  </a:lnTo>
                  <a:lnTo>
                    <a:pt x="225201" y="217063"/>
                  </a:lnTo>
                  <a:lnTo>
                    <a:pt x="250438" y="176402"/>
                  </a:lnTo>
                  <a:lnTo>
                    <a:pt x="259125" y="129280"/>
                  </a:lnTo>
                  <a:lnTo>
                    <a:pt x="258561" y="117789"/>
                  </a:lnTo>
                  <a:lnTo>
                    <a:pt x="245668" y="71795"/>
                  </a:lnTo>
                  <a:lnTo>
                    <a:pt x="217063" y="33665"/>
                  </a:lnTo>
                  <a:lnTo>
                    <a:pt x="176402" y="8702"/>
                  </a:lnTo>
                  <a:lnTo>
                    <a:pt x="1295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350590" y="7179711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5">
                  <a:moveTo>
                    <a:pt x="0" y="129280"/>
                  </a:moveTo>
                  <a:lnTo>
                    <a:pt x="8702" y="82737"/>
                  </a:lnTo>
                  <a:lnTo>
                    <a:pt x="33649" y="42077"/>
                  </a:lnTo>
                  <a:lnTo>
                    <a:pt x="71795" y="13472"/>
                  </a:lnTo>
                  <a:lnTo>
                    <a:pt x="117500" y="563"/>
                  </a:lnTo>
                  <a:lnTo>
                    <a:pt x="129570" y="0"/>
                  </a:lnTo>
                  <a:lnTo>
                    <a:pt x="141625" y="563"/>
                  </a:lnTo>
                  <a:lnTo>
                    <a:pt x="187330" y="13472"/>
                  </a:lnTo>
                  <a:lnTo>
                    <a:pt x="225201" y="42077"/>
                  </a:lnTo>
                  <a:lnTo>
                    <a:pt x="250438" y="82737"/>
                  </a:lnTo>
                  <a:lnTo>
                    <a:pt x="259125" y="129280"/>
                  </a:lnTo>
                  <a:lnTo>
                    <a:pt x="258561" y="141350"/>
                  </a:lnTo>
                  <a:lnTo>
                    <a:pt x="245668" y="187345"/>
                  </a:lnTo>
                  <a:lnTo>
                    <a:pt x="217063" y="225475"/>
                  </a:lnTo>
                  <a:lnTo>
                    <a:pt x="176402" y="250438"/>
                  </a:lnTo>
                  <a:lnTo>
                    <a:pt x="129570" y="259125"/>
                  </a:lnTo>
                  <a:lnTo>
                    <a:pt x="117500" y="258577"/>
                  </a:lnTo>
                  <a:lnTo>
                    <a:pt x="71795" y="245394"/>
                  </a:lnTo>
                  <a:lnTo>
                    <a:pt x="33649" y="217063"/>
                  </a:lnTo>
                  <a:lnTo>
                    <a:pt x="8702" y="176402"/>
                  </a:lnTo>
                  <a:lnTo>
                    <a:pt x="0" y="129280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/>
          <p:cNvSpPr txBox="1"/>
          <p:nvPr/>
        </p:nvSpPr>
        <p:spPr>
          <a:xfrm>
            <a:off x="3400906" y="7187770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4563478" y="7176066"/>
            <a:ext cx="274320" cy="273685"/>
            <a:chOff x="4563478" y="7176066"/>
            <a:chExt cx="274320" cy="273685"/>
          </a:xfrm>
        </p:grpSpPr>
        <p:sp>
          <p:nvSpPr>
            <p:cNvPr id="35" name="object 35"/>
            <p:cNvSpPr/>
            <p:nvPr/>
          </p:nvSpPr>
          <p:spPr>
            <a:xfrm>
              <a:off x="4570780" y="7183369"/>
              <a:ext cx="259715" cy="259079"/>
            </a:xfrm>
            <a:custGeom>
              <a:avLst/>
              <a:gdLst/>
              <a:ahLst/>
              <a:cxnLst/>
              <a:rect l="l" t="t" r="r" b="b"/>
              <a:pathLst>
                <a:path w="259714" h="259079">
                  <a:moveTo>
                    <a:pt x="129844" y="0"/>
                  </a:moveTo>
                  <a:lnTo>
                    <a:pt x="83012" y="8412"/>
                  </a:lnTo>
                  <a:lnTo>
                    <a:pt x="42351" y="33649"/>
                  </a:lnTo>
                  <a:lnTo>
                    <a:pt x="13746" y="71506"/>
                  </a:lnTo>
                  <a:lnTo>
                    <a:pt x="563" y="117210"/>
                  </a:lnTo>
                  <a:lnTo>
                    <a:pt x="0" y="129280"/>
                  </a:lnTo>
                  <a:lnTo>
                    <a:pt x="563" y="141335"/>
                  </a:lnTo>
                  <a:lnTo>
                    <a:pt x="13746" y="187330"/>
                  </a:lnTo>
                  <a:lnTo>
                    <a:pt x="42351" y="225186"/>
                  </a:lnTo>
                  <a:lnTo>
                    <a:pt x="83012" y="250149"/>
                  </a:lnTo>
                  <a:lnTo>
                    <a:pt x="129844" y="258836"/>
                  </a:lnTo>
                  <a:lnTo>
                    <a:pt x="141625" y="258272"/>
                  </a:lnTo>
                  <a:lnTo>
                    <a:pt x="187619" y="245379"/>
                  </a:lnTo>
                  <a:lnTo>
                    <a:pt x="225475" y="216773"/>
                  </a:lnTo>
                  <a:lnTo>
                    <a:pt x="250713" y="176113"/>
                  </a:lnTo>
                  <a:lnTo>
                    <a:pt x="259400" y="129280"/>
                  </a:lnTo>
                  <a:lnTo>
                    <a:pt x="258851" y="117210"/>
                  </a:lnTo>
                  <a:lnTo>
                    <a:pt x="245668" y="71506"/>
                  </a:lnTo>
                  <a:lnTo>
                    <a:pt x="217063" y="33649"/>
                  </a:lnTo>
                  <a:lnTo>
                    <a:pt x="176677" y="8412"/>
                  </a:lnTo>
                  <a:lnTo>
                    <a:pt x="1298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570780" y="7183369"/>
              <a:ext cx="259715" cy="259079"/>
            </a:xfrm>
            <a:custGeom>
              <a:avLst/>
              <a:gdLst/>
              <a:ahLst/>
              <a:cxnLst/>
              <a:rect l="l" t="t" r="r" b="b"/>
              <a:pathLst>
                <a:path w="259714" h="259079">
                  <a:moveTo>
                    <a:pt x="0" y="129280"/>
                  </a:moveTo>
                  <a:lnTo>
                    <a:pt x="8702" y="82722"/>
                  </a:lnTo>
                  <a:lnTo>
                    <a:pt x="33939" y="42062"/>
                  </a:lnTo>
                  <a:lnTo>
                    <a:pt x="72069" y="13182"/>
                  </a:lnTo>
                  <a:lnTo>
                    <a:pt x="117789" y="548"/>
                  </a:lnTo>
                  <a:lnTo>
                    <a:pt x="129844" y="0"/>
                  </a:lnTo>
                  <a:lnTo>
                    <a:pt x="141625" y="548"/>
                  </a:lnTo>
                  <a:lnTo>
                    <a:pt x="187619" y="13182"/>
                  </a:lnTo>
                  <a:lnTo>
                    <a:pt x="225475" y="42062"/>
                  </a:lnTo>
                  <a:lnTo>
                    <a:pt x="250713" y="82722"/>
                  </a:lnTo>
                  <a:lnTo>
                    <a:pt x="259400" y="129280"/>
                  </a:lnTo>
                  <a:lnTo>
                    <a:pt x="258851" y="141335"/>
                  </a:lnTo>
                  <a:lnTo>
                    <a:pt x="245668" y="187330"/>
                  </a:lnTo>
                  <a:lnTo>
                    <a:pt x="217063" y="225186"/>
                  </a:lnTo>
                  <a:lnTo>
                    <a:pt x="176677" y="250149"/>
                  </a:lnTo>
                  <a:lnTo>
                    <a:pt x="129844" y="258836"/>
                  </a:lnTo>
                  <a:lnTo>
                    <a:pt x="117789" y="258272"/>
                  </a:lnTo>
                  <a:lnTo>
                    <a:pt x="72069" y="245379"/>
                  </a:lnTo>
                  <a:lnTo>
                    <a:pt x="33939" y="216773"/>
                  </a:lnTo>
                  <a:lnTo>
                    <a:pt x="8702" y="176113"/>
                  </a:lnTo>
                  <a:lnTo>
                    <a:pt x="0" y="129280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/>
          <p:cNvSpPr txBox="1"/>
          <p:nvPr/>
        </p:nvSpPr>
        <p:spPr>
          <a:xfrm>
            <a:off x="4621375" y="7191136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3951835" y="7179419"/>
            <a:ext cx="805180" cy="274320"/>
            <a:chOff x="3951835" y="7179419"/>
            <a:chExt cx="805180" cy="274320"/>
          </a:xfrm>
        </p:grpSpPr>
        <p:sp>
          <p:nvSpPr>
            <p:cNvPr id="39" name="object 39"/>
            <p:cNvSpPr/>
            <p:nvPr/>
          </p:nvSpPr>
          <p:spPr>
            <a:xfrm>
              <a:off x="4657160" y="7246188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 h="0">
                  <a:moveTo>
                    <a:pt x="0" y="0"/>
                  </a:moveTo>
                  <a:lnTo>
                    <a:pt x="94503" y="0"/>
                  </a:lnTo>
                </a:path>
              </a:pathLst>
            </a:custGeom>
            <a:ln w="93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959138" y="7186721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5">
                  <a:moveTo>
                    <a:pt x="129570" y="0"/>
                  </a:moveTo>
                  <a:lnTo>
                    <a:pt x="82737" y="8412"/>
                  </a:lnTo>
                  <a:lnTo>
                    <a:pt x="42351" y="33665"/>
                  </a:lnTo>
                  <a:lnTo>
                    <a:pt x="13472" y="71795"/>
                  </a:lnTo>
                  <a:lnTo>
                    <a:pt x="563" y="117515"/>
                  </a:lnTo>
                  <a:lnTo>
                    <a:pt x="0" y="129296"/>
                  </a:lnTo>
                  <a:lnTo>
                    <a:pt x="563" y="141350"/>
                  </a:lnTo>
                  <a:lnTo>
                    <a:pt x="13472" y="187345"/>
                  </a:lnTo>
                  <a:lnTo>
                    <a:pt x="42351" y="225201"/>
                  </a:lnTo>
                  <a:lnTo>
                    <a:pt x="82737" y="250438"/>
                  </a:lnTo>
                  <a:lnTo>
                    <a:pt x="129570" y="259125"/>
                  </a:lnTo>
                  <a:lnTo>
                    <a:pt x="141625" y="258577"/>
                  </a:lnTo>
                  <a:lnTo>
                    <a:pt x="187345" y="245394"/>
                  </a:lnTo>
                  <a:lnTo>
                    <a:pt x="225201" y="217063"/>
                  </a:lnTo>
                  <a:lnTo>
                    <a:pt x="250438" y="176402"/>
                  </a:lnTo>
                  <a:lnTo>
                    <a:pt x="259125" y="129296"/>
                  </a:lnTo>
                  <a:lnTo>
                    <a:pt x="258577" y="117515"/>
                  </a:lnTo>
                  <a:lnTo>
                    <a:pt x="245668" y="71795"/>
                  </a:lnTo>
                  <a:lnTo>
                    <a:pt x="216788" y="33665"/>
                  </a:lnTo>
                  <a:lnTo>
                    <a:pt x="176128" y="8412"/>
                  </a:lnTo>
                  <a:lnTo>
                    <a:pt x="1295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959138" y="7186721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5">
                  <a:moveTo>
                    <a:pt x="0" y="129296"/>
                  </a:moveTo>
                  <a:lnTo>
                    <a:pt x="8702" y="82737"/>
                  </a:lnTo>
                  <a:lnTo>
                    <a:pt x="33939" y="42077"/>
                  </a:lnTo>
                  <a:lnTo>
                    <a:pt x="71521" y="13472"/>
                  </a:lnTo>
                  <a:lnTo>
                    <a:pt x="117515" y="563"/>
                  </a:lnTo>
                  <a:lnTo>
                    <a:pt x="129570" y="0"/>
                  </a:lnTo>
                  <a:lnTo>
                    <a:pt x="141625" y="563"/>
                  </a:lnTo>
                  <a:lnTo>
                    <a:pt x="187345" y="13472"/>
                  </a:lnTo>
                  <a:lnTo>
                    <a:pt x="225201" y="42077"/>
                  </a:lnTo>
                  <a:lnTo>
                    <a:pt x="250438" y="82737"/>
                  </a:lnTo>
                  <a:lnTo>
                    <a:pt x="259125" y="129296"/>
                  </a:lnTo>
                  <a:lnTo>
                    <a:pt x="258577" y="141350"/>
                  </a:lnTo>
                  <a:lnTo>
                    <a:pt x="245668" y="187345"/>
                  </a:lnTo>
                  <a:lnTo>
                    <a:pt x="216788" y="225201"/>
                  </a:lnTo>
                  <a:lnTo>
                    <a:pt x="176128" y="250438"/>
                  </a:lnTo>
                  <a:lnTo>
                    <a:pt x="129570" y="259125"/>
                  </a:lnTo>
                  <a:lnTo>
                    <a:pt x="117515" y="258577"/>
                  </a:lnTo>
                  <a:lnTo>
                    <a:pt x="71521" y="245394"/>
                  </a:lnTo>
                  <a:lnTo>
                    <a:pt x="33939" y="217063"/>
                  </a:lnTo>
                  <a:lnTo>
                    <a:pt x="8702" y="176402"/>
                  </a:lnTo>
                  <a:lnTo>
                    <a:pt x="0" y="129296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/>
          <p:cNvSpPr txBox="1"/>
          <p:nvPr/>
        </p:nvSpPr>
        <p:spPr>
          <a:xfrm>
            <a:off x="4009185" y="7194780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3421555" y="5913541"/>
            <a:ext cx="2072005" cy="1645285"/>
            <a:chOff x="3421555" y="5913541"/>
            <a:chExt cx="2072005" cy="1645285"/>
          </a:xfrm>
        </p:grpSpPr>
        <p:sp>
          <p:nvSpPr>
            <p:cNvPr id="44" name="object 44"/>
            <p:cNvSpPr/>
            <p:nvPr/>
          </p:nvSpPr>
          <p:spPr>
            <a:xfrm>
              <a:off x="3426317" y="7249541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 h="0">
                  <a:moveTo>
                    <a:pt x="0" y="0"/>
                  </a:moveTo>
                  <a:lnTo>
                    <a:pt x="94503" y="0"/>
                  </a:lnTo>
                </a:path>
              </a:pathLst>
            </a:custGeom>
            <a:ln w="93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564011" y="5923066"/>
              <a:ext cx="1792605" cy="1626235"/>
            </a:xfrm>
            <a:custGeom>
              <a:avLst/>
              <a:gdLst/>
              <a:ahLst/>
              <a:cxnLst/>
              <a:rect l="l" t="t" r="r" b="b"/>
              <a:pathLst>
                <a:path w="1792604" h="1626234">
                  <a:moveTo>
                    <a:pt x="0" y="1480154"/>
                  </a:moveTo>
                  <a:lnTo>
                    <a:pt x="44592" y="1508485"/>
                  </a:lnTo>
                  <a:lnTo>
                    <a:pt x="95067" y="1535125"/>
                  </a:lnTo>
                  <a:lnTo>
                    <a:pt x="131246" y="1551386"/>
                  </a:lnTo>
                  <a:lnTo>
                    <a:pt x="169666" y="1566534"/>
                  </a:lnTo>
                  <a:lnTo>
                    <a:pt x="209763" y="1580281"/>
                  </a:lnTo>
                  <a:lnTo>
                    <a:pt x="250987" y="1592336"/>
                  </a:lnTo>
                  <a:lnTo>
                    <a:pt x="293888" y="1602714"/>
                  </a:lnTo>
                  <a:lnTo>
                    <a:pt x="337367" y="1611401"/>
                  </a:lnTo>
                  <a:lnTo>
                    <a:pt x="381960" y="1618411"/>
                  </a:lnTo>
                  <a:lnTo>
                    <a:pt x="426826" y="1623181"/>
                  </a:lnTo>
                  <a:lnTo>
                    <a:pt x="471967" y="1625711"/>
                  </a:lnTo>
                  <a:lnTo>
                    <a:pt x="520202" y="1625986"/>
                  </a:lnTo>
                  <a:lnTo>
                    <a:pt x="545729" y="1625147"/>
                  </a:lnTo>
                  <a:lnTo>
                    <a:pt x="596493" y="1621215"/>
                  </a:lnTo>
                  <a:lnTo>
                    <a:pt x="646968" y="1614495"/>
                  </a:lnTo>
                  <a:lnTo>
                    <a:pt x="696330" y="1605793"/>
                  </a:lnTo>
                  <a:lnTo>
                    <a:pt x="745403" y="1595414"/>
                  </a:lnTo>
                  <a:lnTo>
                    <a:pt x="793363" y="1582795"/>
                  </a:lnTo>
                  <a:lnTo>
                    <a:pt x="840470" y="1568775"/>
                  </a:lnTo>
                  <a:lnTo>
                    <a:pt x="885901" y="1553641"/>
                  </a:lnTo>
                  <a:lnTo>
                    <a:pt x="930493" y="1537365"/>
                  </a:lnTo>
                  <a:lnTo>
                    <a:pt x="973394" y="1520266"/>
                  </a:lnTo>
                  <a:lnTo>
                    <a:pt x="1014054" y="1502877"/>
                  </a:lnTo>
                  <a:lnTo>
                    <a:pt x="1033973" y="1493900"/>
                  </a:lnTo>
                  <a:lnTo>
                    <a:pt x="1053602" y="1485488"/>
                  </a:lnTo>
                </a:path>
                <a:path w="1792604" h="1626234">
                  <a:moveTo>
                    <a:pt x="1788627" y="0"/>
                  </a:moveTo>
                  <a:lnTo>
                    <a:pt x="1788627" y="265861"/>
                  </a:lnTo>
                </a:path>
                <a:path w="1792604" h="1626234">
                  <a:moveTo>
                    <a:pt x="1791995" y="510402"/>
                  </a:moveTo>
                  <a:lnTo>
                    <a:pt x="1790318" y="772058"/>
                  </a:lnTo>
                </a:path>
              </a:pathLst>
            </a:custGeom>
            <a:ln w="186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226725" y="6695399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5">
                  <a:moveTo>
                    <a:pt x="129570" y="0"/>
                  </a:moveTo>
                  <a:lnTo>
                    <a:pt x="83012" y="8686"/>
                  </a:lnTo>
                  <a:lnTo>
                    <a:pt x="42351" y="33939"/>
                  </a:lnTo>
                  <a:lnTo>
                    <a:pt x="13456" y="71795"/>
                  </a:lnTo>
                  <a:lnTo>
                    <a:pt x="563" y="117789"/>
                  </a:lnTo>
                  <a:lnTo>
                    <a:pt x="0" y="129570"/>
                  </a:lnTo>
                  <a:lnTo>
                    <a:pt x="563" y="141625"/>
                  </a:lnTo>
                  <a:lnTo>
                    <a:pt x="13456" y="187330"/>
                  </a:lnTo>
                  <a:lnTo>
                    <a:pt x="42351" y="225475"/>
                  </a:lnTo>
                  <a:lnTo>
                    <a:pt x="83012" y="250438"/>
                  </a:lnTo>
                  <a:lnTo>
                    <a:pt x="129570" y="259400"/>
                  </a:lnTo>
                  <a:lnTo>
                    <a:pt x="141625" y="258851"/>
                  </a:lnTo>
                  <a:lnTo>
                    <a:pt x="187619" y="245668"/>
                  </a:lnTo>
                  <a:lnTo>
                    <a:pt x="225475" y="217063"/>
                  </a:lnTo>
                  <a:lnTo>
                    <a:pt x="250438" y="176402"/>
                  </a:lnTo>
                  <a:lnTo>
                    <a:pt x="259415" y="129570"/>
                  </a:lnTo>
                  <a:lnTo>
                    <a:pt x="258851" y="117789"/>
                  </a:lnTo>
                  <a:lnTo>
                    <a:pt x="245668" y="71795"/>
                  </a:lnTo>
                  <a:lnTo>
                    <a:pt x="216773" y="33939"/>
                  </a:lnTo>
                  <a:lnTo>
                    <a:pt x="176677" y="8686"/>
                  </a:lnTo>
                  <a:lnTo>
                    <a:pt x="1295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226725" y="6695399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5">
                  <a:moveTo>
                    <a:pt x="0" y="129570"/>
                  </a:moveTo>
                  <a:lnTo>
                    <a:pt x="8702" y="82722"/>
                  </a:lnTo>
                  <a:lnTo>
                    <a:pt x="33939" y="42351"/>
                  </a:lnTo>
                  <a:lnTo>
                    <a:pt x="72069" y="13746"/>
                  </a:lnTo>
                  <a:lnTo>
                    <a:pt x="117500" y="563"/>
                  </a:lnTo>
                  <a:lnTo>
                    <a:pt x="129570" y="0"/>
                  </a:lnTo>
                  <a:lnTo>
                    <a:pt x="141625" y="563"/>
                  </a:lnTo>
                  <a:lnTo>
                    <a:pt x="187619" y="13746"/>
                  </a:lnTo>
                  <a:lnTo>
                    <a:pt x="225475" y="42351"/>
                  </a:lnTo>
                  <a:lnTo>
                    <a:pt x="250438" y="82722"/>
                  </a:lnTo>
                  <a:lnTo>
                    <a:pt x="259415" y="129570"/>
                  </a:lnTo>
                  <a:lnTo>
                    <a:pt x="258851" y="141625"/>
                  </a:lnTo>
                  <a:lnTo>
                    <a:pt x="245668" y="187330"/>
                  </a:lnTo>
                  <a:lnTo>
                    <a:pt x="216773" y="225475"/>
                  </a:lnTo>
                  <a:lnTo>
                    <a:pt x="176677" y="250438"/>
                  </a:lnTo>
                  <a:lnTo>
                    <a:pt x="129570" y="259400"/>
                  </a:lnTo>
                  <a:lnTo>
                    <a:pt x="117500" y="258851"/>
                  </a:lnTo>
                  <a:lnTo>
                    <a:pt x="72069" y="245668"/>
                  </a:lnTo>
                  <a:lnTo>
                    <a:pt x="33939" y="217063"/>
                  </a:lnTo>
                  <a:lnTo>
                    <a:pt x="8702" y="176402"/>
                  </a:lnTo>
                  <a:lnTo>
                    <a:pt x="0" y="129570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/>
          <p:cNvSpPr txBox="1"/>
          <p:nvPr/>
        </p:nvSpPr>
        <p:spPr>
          <a:xfrm>
            <a:off x="5277038" y="6703735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5219422" y="5667016"/>
            <a:ext cx="417830" cy="1153160"/>
            <a:chOff x="5219422" y="5667016"/>
            <a:chExt cx="417830" cy="1153160"/>
          </a:xfrm>
        </p:grpSpPr>
        <p:sp>
          <p:nvSpPr>
            <p:cNvPr id="50" name="object 50"/>
            <p:cNvSpPr/>
            <p:nvPr/>
          </p:nvSpPr>
          <p:spPr>
            <a:xfrm>
              <a:off x="5481919" y="5797153"/>
              <a:ext cx="145415" cy="1013460"/>
            </a:xfrm>
            <a:custGeom>
              <a:avLst/>
              <a:gdLst/>
              <a:ahLst/>
              <a:cxnLst/>
              <a:rect l="l" t="t" r="r" b="b"/>
              <a:pathLst>
                <a:path w="145414" h="1013459">
                  <a:moveTo>
                    <a:pt x="0" y="0"/>
                  </a:moveTo>
                  <a:lnTo>
                    <a:pt x="28605" y="43190"/>
                  </a:lnTo>
                  <a:lnTo>
                    <a:pt x="54970" y="91424"/>
                  </a:lnTo>
                  <a:lnTo>
                    <a:pt x="71231" y="126476"/>
                  </a:lnTo>
                  <a:lnTo>
                    <a:pt x="78806" y="144993"/>
                  </a:lnTo>
                  <a:lnTo>
                    <a:pt x="86380" y="163494"/>
                  </a:lnTo>
                  <a:lnTo>
                    <a:pt x="99837" y="201914"/>
                  </a:lnTo>
                  <a:lnTo>
                    <a:pt x="111907" y="241736"/>
                  </a:lnTo>
                  <a:lnTo>
                    <a:pt x="122560" y="282961"/>
                  </a:lnTo>
                  <a:lnTo>
                    <a:pt x="131246" y="325023"/>
                  </a:lnTo>
                  <a:lnTo>
                    <a:pt x="137982" y="367649"/>
                  </a:lnTo>
                  <a:lnTo>
                    <a:pt x="142753" y="410839"/>
                  </a:lnTo>
                  <a:lnTo>
                    <a:pt x="145267" y="454304"/>
                  </a:lnTo>
                  <a:lnTo>
                    <a:pt x="145267" y="500862"/>
                  </a:lnTo>
                  <a:lnTo>
                    <a:pt x="142753" y="549661"/>
                  </a:lnTo>
                  <a:lnTo>
                    <a:pt x="137419" y="598169"/>
                  </a:lnTo>
                  <a:lnTo>
                    <a:pt x="129570" y="646130"/>
                  </a:lnTo>
                  <a:lnTo>
                    <a:pt x="119755" y="693800"/>
                  </a:lnTo>
                  <a:lnTo>
                    <a:pt x="107975" y="740359"/>
                  </a:lnTo>
                  <a:lnTo>
                    <a:pt x="94518" y="786063"/>
                  </a:lnTo>
                  <a:lnTo>
                    <a:pt x="79933" y="830656"/>
                  </a:lnTo>
                  <a:lnTo>
                    <a:pt x="63947" y="873846"/>
                  </a:lnTo>
                  <a:lnTo>
                    <a:pt x="47396" y="915908"/>
                  </a:lnTo>
                  <a:lnTo>
                    <a:pt x="30297" y="956294"/>
                  </a:lnTo>
                  <a:lnTo>
                    <a:pt x="21320" y="975359"/>
                  </a:lnTo>
                  <a:lnTo>
                    <a:pt x="12633" y="994714"/>
                  </a:lnTo>
                  <a:lnTo>
                    <a:pt x="3657" y="1013231"/>
                  </a:lnTo>
                </a:path>
              </a:pathLst>
            </a:custGeom>
            <a:ln w="186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226725" y="5674319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129570" y="0"/>
                  </a:moveTo>
                  <a:lnTo>
                    <a:pt x="83012" y="8702"/>
                  </a:lnTo>
                  <a:lnTo>
                    <a:pt x="42351" y="33939"/>
                  </a:lnTo>
                  <a:lnTo>
                    <a:pt x="13456" y="72069"/>
                  </a:lnTo>
                  <a:lnTo>
                    <a:pt x="563" y="117789"/>
                  </a:lnTo>
                  <a:lnTo>
                    <a:pt x="0" y="129570"/>
                  </a:lnTo>
                  <a:lnTo>
                    <a:pt x="563" y="141625"/>
                  </a:lnTo>
                  <a:lnTo>
                    <a:pt x="13456" y="187619"/>
                  </a:lnTo>
                  <a:lnTo>
                    <a:pt x="42351" y="225475"/>
                  </a:lnTo>
                  <a:lnTo>
                    <a:pt x="83012" y="250438"/>
                  </a:lnTo>
                  <a:lnTo>
                    <a:pt x="129570" y="259415"/>
                  </a:lnTo>
                  <a:lnTo>
                    <a:pt x="141625" y="258851"/>
                  </a:lnTo>
                  <a:lnTo>
                    <a:pt x="187619" y="245668"/>
                  </a:lnTo>
                  <a:lnTo>
                    <a:pt x="225475" y="217063"/>
                  </a:lnTo>
                  <a:lnTo>
                    <a:pt x="250438" y="176677"/>
                  </a:lnTo>
                  <a:lnTo>
                    <a:pt x="259415" y="129570"/>
                  </a:lnTo>
                  <a:lnTo>
                    <a:pt x="258851" y="117789"/>
                  </a:lnTo>
                  <a:lnTo>
                    <a:pt x="245668" y="72069"/>
                  </a:lnTo>
                  <a:lnTo>
                    <a:pt x="216773" y="33939"/>
                  </a:lnTo>
                  <a:lnTo>
                    <a:pt x="176677" y="8702"/>
                  </a:lnTo>
                  <a:lnTo>
                    <a:pt x="1295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226725" y="5674319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0" y="129570"/>
                  </a:moveTo>
                  <a:lnTo>
                    <a:pt x="8702" y="83012"/>
                  </a:lnTo>
                  <a:lnTo>
                    <a:pt x="33939" y="42351"/>
                  </a:lnTo>
                  <a:lnTo>
                    <a:pt x="72069" y="13472"/>
                  </a:lnTo>
                  <a:lnTo>
                    <a:pt x="117500" y="563"/>
                  </a:lnTo>
                  <a:lnTo>
                    <a:pt x="129570" y="0"/>
                  </a:lnTo>
                  <a:lnTo>
                    <a:pt x="141625" y="563"/>
                  </a:lnTo>
                  <a:lnTo>
                    <a:pt x="187619" y="13472"/>
                  </a:lnTo>
                  <a:lnTo>
                    <a:pt x="225475" y="42351"/>
                  </a:lnTo>
                  <a:lnTo>
                    <a:pt x="250438" y="83012"/>
                  </a:lnTo>
                  <a:lnTo>
                    <a:pt x="259415" y="129570"/>
                  </a:lnTo>
                  <a:lnTo>
                    <a:pt x="258851" y="141625"/>
                  </a:lnTo>
                  <a:lnTo>
                    <a:pt x="245668" y="187619"/>
                  </a:lnTo>
                  <a:lnTo>
                    <a:pt x="216773" y="225475"/>
                  </a:lnTo>
                  <a:lnTo>
                    <a:pt x="176677" y="250438"/>
                  </a:lnTo>
                  <a:lnTo>
                    <a:pt x="129570" y="259415"/>
                  </a:lnTo>
                  <a:lnTo>
                    <a:pt x="117500" y="258851"/>
                  </a:lnTo>
                  <a:lnTo>
                    <a:pt x="72069" y="245668"/>
                  </a:lnTo>
                  <a:lnTo>
                    <a:pt x="33939" y="217063"/>
                  </a:lnTo>
                  <a:lnTo>
                    <a:pt x="8702" y="176677"/>
                  </a:lnTo>
                  <a:lnTo>
                    <a:pt x="0" y="129570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" name="object 53"/>
          <p:cNvSpPr txBox="1"/>
          <p:nvPr/>
        </p:nvSpPr>
        <p:spPr>
          <a:xfrm>
            <a:off x="5277038" y="5682656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5215780" y="5732665"/>
            <a:ext cx="274320" cy="725805"/>
            <a:chOff x="5215780" y="5732665"/>
            <a:chExt cx="274320" cy="725805"/>
          </a:xfrm>
        </p:grpSpPr>
        <p:sp>
          <p:nvSpPr>
            <p:cNvPr id="55" name="object 55"/>
            <p:cNvSpPr/>
            <p:nvPr/>
          </p:nvSpPr>
          <p:spPr>
            <a:xfrm>
              <a:off x="5313105" y="5737428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 h="0">
                  <a:moveTo>
                    <a:pt x="0" y="0"/>
                  </a:moveTo>
                  <a:lnTo>
                    <a:pt x="94228" y="0"/>
                  </a:lnTo>
                </a:path>
              </a:pathLst>
            </a:custGeom>
            <a:ln w="93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223082" y="6192007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129844" y="0"/>
                  </a:moveTo>
                  <a:lnTo>
                    <a:pt x="83012" y="8702"/>
                  </a:lnTo>
                  <a:lnTo>
                    <a:pt x="42626" y="33665"/>
                  </a:lnTo>
                  <a:lnTo>
                    <a:pt x="13746" y="71795"/>
                  </a:lnTo>
                  <a:lnTo>
                    <a:pt x="563" y="117789"/>
                  </a:lnTo>
                  <a:lnTo>
                    <a:pt x="0" y="129280"/>
                  </a:lnTo>
                  <a:lnTo>
                    <a:pt x="563" y="141350"/>
                  </a:lnTo>
                  <a:lnTo>
                    <a:pt x="13746" y="187345"/>
                  </a:lnTo>
                  <a:lnTo>
                    <a:pt x="42626" y="225475"/>
                  </a:lnTo>
                  <a:lnTo>
                    <a:pt x="83012" y="250164"/>
                  </a:lnTo>
                  <a:lnTo>
                    <a:pt x="129844" y="259125"/>
                  </a:lnTo>
                  <a:lnTo>
                    <a:pt x="141625" y="258577"/>
                  </a:lnTo>
                  <a:lnTo>
                    <a:pt x="187604" y="245394"/>
                  </a:lnTo>
                  <a:lnTo>
                    <a:pt x="225475" y="217063"/>
                  </a:lnTo>
                  <a:lnTo>
                    <a:pt x="250713" y="176402"/>
                  </a:lnTo>
                  <a:lnTo>
                    <a:pt x="259400" y="129280"/>
                  </a:lnTo>
                  <a:lnTo>
                    <a:pt x="258836" y="117789"/>
                  </a:lnTo>
                  <a:lnTo>
                    <a:pt x="245943" y="71795"/>
                  </a:lnTo>
                  <a:lnTo>
                    <a:pt x="217063" y="33665"/>
                  </a:lnTo>
                  <a:lnTo>
                    <a:pt x="176677" y="8702"/>
                  </a:lnTo>
                  <a:lnTo>
                    <a:pt x="1298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223082" y="6192007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0" y="129280"/>
                  </a:moveTo>
                  <a:lnTo>
                    <a:pt x="8976" y="82737"/>
                  </a:lnTo>
                  <a:lnTo>
                    <a:pt x="33924" y="42077"/>
                  </a:lnTo>
                  <a:lnTo>
                    <a:pt x="72069" y="13746"/>
                  </a:lnTo>
                  <a:lnTo>
                    <a:pt x="117789" y="563"/>
                  </a:lnTo>
                  <a:lnTo>
                    <a:pt x="129844" y="0"/>
                  </a:lnTo>
                  <a:lnTo>
                    <a:pt x="141625" y="563"/>
                  </a:lnTo>
                  <a:lnTo>
                    <a:pt x="187604" y="13746"/>
                  </a:lnTo>
                  <a:lnTo>
                    <a:pt x="225475" y="42077"/>
                  </a:lnTo>
                  <a:lnTo>
                    <a:pt x="250713" y="82737"/>
                  </a:lnTo>
                  <a:lnTo>
                    <a:pt x="259400" y="129280"/>
                  </a:lnTo>
                  <a:lnTo>
                    <a:pt x="258836" y="141350"/>
                  </a:lnTo>
                  <a:lnTo>
                    <a:pt x="245943" y="187345"/>
                  </a:lnTo>
                  <a:lnTo>
                    <a:pt x="217063" y="225475"/>
                  </a:lnTo>
                  <a:lnTo>
                    <a:pt x="176677" y="250164"/>
                  </a:lnTo>
                  <a:lnTo>
                    <a:pt x="129844" y="259125"/>
                  </a:lnTo>
                  <a:lnTo>
                    <a:pt x="117789" y="258577"/>
                  </a:lnTo>
                  <a:lnTo>
                    <a:pt x="72069" y="245394"/>
                  </a:lnTo>
                  <a:lnTo>
                    <a:pt x="33924" y="217063"/>
                  </a:lnTo>
                  <a:lnTo>
                    <a:pt x="8976" y="176402"/>
                  </a:lnTo>
                  <a:lnTo>
                    <a:pt x="0" y="129280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/>
          <p:cNvSpPr txBox="1"/>
          <p:nvPr/>
        </p:nvSpPr>
        <p:spPr>
          <a:xfrm>
            <a:off x="5273673" y="6200066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2695755" y="5913541"/>
            <a:ext cx="274320" cy="1049020"/>
            <a:chOff x="2695755" y="5913541"/>
            <a:chExt cx="274320" cy="1049020"/>
          </a:xfrm>
        </p:grpSpPr>
        <p:sp>
          <p:nvSpPr>
            <p:cNvPr id="60" name="object 60"/>
            <p:cNvSpPr/>
            <p:nvPr/>
          </p:nvSpPr>
          <p:spPr>
            <a:xfrm>
              <a:off x="2828970" y="5923066"/>
              <a:ext cx="3810" cy="772160"/>
            </a:xfrm>
            <a:custGeom>
              <a:avLst/>
              <a:gdLst/>
              <a:ahLst/>
              <a:cxnLst/>
              <a:rect l="l" t="t" r="r" b="b"/>
              <a:pathLst>
                <a:path w="3810" h="772159">
                  <a:moveTo>
                    <a:pt x="0" y="0"/>
                  </a:moveTo>
                  <a:lnTo>
                    <a:pt x="0" y="265861"/>
                  </a:lnTo>
                </a:path>
                <a:path w="3810" h="772159">
                  <a:moveTo>
                    <a:pt x="3657" y="510402"/>
                  </a:moveTo>
                  <a:lnTo>
                    <a:pt x="1691" y="772058"/>
                  </a:lnTo>
                </a:path>
              </a:pathLst>
            </a:custGeom>
            <a:ln w="186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703057" y="6695399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5">
                  <a:moveTo>
                    <a:pt x="129844" y="0"/>
                  </a:moveTo>
                  <a:lnTo>
                    <a:pt x="83012" y="8686"/>
                  </a:lnTo>
                  <a:lnTo>
                    <a:pt x="42351" y="33939"/>
                  </a:lnTo>
                  <a:lnTo>
                    <a:pt x="13746" y="71795"/>
                  </a:lnTo>
                  <a:lnTo>
                    <a:pt x="563" y="117789"/>
                  </a:lnTo>
                  <a:lnTo>
                    <a:pt x="0" y="129570"/>
                  </a:lnTo>
                  <a:lnTo>
                    <a:pt x="563" y="141625"/>
                  </a:lnTo>
                  <a:lnTo>
                    <a:pt x="13746" y="187330"/>
                  </a:lnTo>
                  <a:lnTo>
                    <a:pt x="42351" y="225475"/>
                  </a:lnTo>
                  <a:lnTo>
                    <a:pt x="83012" y="250438"/>
                  </a:lnTo>
                  <a:lnTo>
                    <a:pt x="129844" y="259400"/>
                  </a:lnTo>
                  <a:lnTo>
                    <a:pt x="141625" y="258851"/>
                  </a:lnTo>
                  <a:lnTo>
                    <a:pt x="187619" y="245668"/>
                  </a:lnTo>
                  <a:lnTo>
                    <a:pt x="225475" y="217063"/>
                  </a:lnTo>
                  <a:lnTo>
                    <a:pt x="250713" y="176402"/>
                  </a:lnTo>
                  <a:lnTo>
                    <a:pt x="259415" y="129570"/>
                  </a:lnTo>
                  <a:lnTo>
                    <a:pt x="258851" y="117789"/>
                  </a:lnTo>
                  <a:lnTo>
                    <a:pt x="245668" y="71795"/>
                  </a:lnTo>
                  <a:lnTo>
                    <a:pt x="217063" y="33939"/>
                  </a:lnTo>
                  <a:lnTo>
                    <a:pt x="176677" y="8686"/>
                  </a:lnTo>
                  <a:lnTo>
                    <a:pt x="1298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703057" y="6695399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5">
                  <a:moveTo>
                    <a:pt x="0" y="129570"/>
                  </a:moveTo>
                  <a:lnTo>
                    <a:pt x="8702" y="82722"/>
                  </a:lnTo>
                  <a:lnTo>
                    <a:pt x="33939" y="42351"/>
                  </a:lnTo>
                  <a:lnTo>
                    <a:pt x="72069" y="13746"/>
                  </a:lnTo>
                  <a:lnTo>
                    <a:pt x="117789" y="563"/>
                  </a:lnTo>
                  <a:lnTo>
                    <a:pt x="129844" y="0"/>
                  </a:lnTo>
                  <a:lnTo>
                    <a:pt x="141625" y="563"/>
                  </a:lnTo>
                  <a:lnTo>
                    <a:pt x="187619" y="13746"/>
                  </a:lnTo>
                  <a:lnTo>
                    <a:pt x="225475" y="42351"/>
                  </a:lnTo>
                  <a:lnTo>
                    <a:pt x="250713" y="82722"/>
                  </a:lnTo>
                  <a:lnTo>
                    <a:pt x="259415" y="129570"/>
                  </a:lnTo>
                  <a:lnTo>
                    <a:pt x="258851" y="141625"/>
                  </a:lnTo>
                  <a:lnTo>
                    <a:pt x="245668" y="187330"/>
                  </a:lnTo>
                  <a:lnTo>
                    <a:pt x="217063" y="225475"/>
                  </a:lnTo>
                  <a:lnTo>
                    <a:pt x="176677" y="250438"/>
                  </a:lnTo>
                  <a:lnTo>
                    <a:pt x="129844" y="259400"/>
                  </a:lnTo>
                  <a:lnTo>
                    <a:pt x="117789" y="258851"/>
                  </a:lnTo>
                  <a:lnTo>
                    <a:pt x="72069" y="245668"/>
                  </a:lnTo>
                  <a:lnTo>
                    <a:pt x="33939" y="217063"/>
                  </a:lnTo>
                  <a:lnTo>
                    <a:pt x="8702" y="176402"/>
                  </a:lnTo>
                  <a:lnTo>
                    <a:pt x="0" y="129570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/>
          <p:cNvSpPr txBox="1"/>
          <p:nvPr/>
        </p:nvSpPr>
        <p:spPr>
          <a:xfrm>
            <a:off x="2753663" y="6703735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64" name="object 64"/>
          <p:cNvGrpSpPr/>
          <p:nvPr/>
        </p:nvGrpSpPr>
        <p:grpSpPr>
          <a:xfrm>
            <a:off x="2545186" y="5667016"/>
            <a:ext cx="424815" cy="1153160"/>
            <a:chOff x="2545186" y="5667016"/>
            <a:chExt cx="424815" cy="1153160"/>
          </a:xfrm>
        </p:grpSpPr>
        <p:sp>
          <p:nvSpPr>
            <p:cNvPr id="65" name="object 65"/>
            <p:cNvSpPr/>
            <p:nvPr/>
          </p:nvSpPr>
          <p:spPr>
            <a:xfrm>
              <a:off x="2554711" y="5797153"/>
              <a:ext cx="145415" cy="1013460"/>
            </a:xfrm>
            <a:custGeom>
              <a:avLst/>
              <a:gdLst/>
              <a:ahLst/>
              <a:cxnLst/>
              <a:rect l="l" t="t" r="r" b="b"/>
              <a:pathLst>
                <a:path w="145414" h="1013459">
                  <a:moveTo>
                    <a:pt x="144978" y="0"/>
                  </a:moveTo>
                  <a:lnTo>
                    <a:pt x="116662" y="43190"/>
                  </a:lnTo>
                  <a:lnTo>
                    <a:pt x="90022" y="91424"/>
                  </a:lnTo>
                  <a:lnTo>
                    <a:pt x="73746" y="126476"/>
                  </a:lnTo>
                  <a:lnTo>
                    <a:pt x="66187" y="144993"/>
                  </a:lnTo>
                  <a:lnTo>
                    <a:pt x="58613" y="163494"/>
                  </a:lnTo>
                  <a:lnTo>
                    <a:pt x="45140" y="201914"/>
                  </a:lnTo>
                  <a:lnTo>
                    <a:pt x="33086" y="241736"/>
                  </a:lnTo>
                  <a:lnTo>
                    <a:pt x="22707" y="282961"/>
                  </a:lnTo>
                  <a:lnTo>
                    <a:pt x="14020" y="325023"/>
                  </a:lnTo>
                  <a:lnTo>
                    <a:pt x="7284" y="367649"/>
                  </a:lnTo>
                  <a:lnTo>
                    <a:pt x="2514" y="410839"/>
                  </a:lnTo>
                  <a:lnTo>
                    <a:pt x="0" y="454304"/>
                  </a:lnTo>
                  <a:lnTo>
                    <a:pt x="0" y="500862"/>
                  </a:lnTo>
                  <a:lnTo>
                    <a:pt x="2514" y="549661"/>
                  </a:lnTo>
                  <a:lnTo>
                    <a:pt x="7848" y="598169"/>
                  </a:lnTo>
                  <a:lnTo>
                    <a:pt x="15697" y="646130"/>
                  </a:lnTo>
                  <a:lnTo>
                    <a:pt x="25511" y="693800"/>
                  </a:lnTo>
                  <a:lnTo>
                    <a:pt x="37017" y="740359"/>
                  </a:lnTo>
                  <a:lnTo>
                    <a:pt x="50474" y="786063"/>
                  </a:lnTo>
                  <a:lnTo>
                    <a:pt x="65059" y="830656"/>
                  </a:lnTo>
                  <a:lnTo>
                    <a:pt x="81046" y="873846"/>
                  </a:lnTo>
                  <a:lnTo>
                    <a:pt x="97871" y="915908"/>
                  </a:lnTo>
                  <a:lnTo>
                    <a:pt x="114970" y="956294"/>
                  </a:lnTo>
                  <a:lnTo>
                    <a:pt x="123946" y="975359"/>
                  </a:lnTo>
                  <a:lnTo>
                    <a:pt x="132648" y="994714"/>
                  </a:lnTo>
                  <a:lnTo>
                    <a:pt x="141335" y="1013231"/>
                  </a:lnTo>
                </a:path>
              </a:pathLst>
            </a:custGeom>
            <a:ln w="186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2703057" y="5674319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129844" y="0"/>
                  </a:moveTo>
                  <a:lnTo>
                    <a:pt x="83012" y="8702"/>
                  </a:lnTo>
                  <a:lnTo>
                    <a:pt x="42351" y="33939"/>
                  </a:lnTo>
                  <a:lnTo>
                    <a:pt x="13746" y="72069"/>
                  </a:lnTo>
                  <a:lnTo>
                    <a:pt x="563" y="117789"/>
                  </a:lnTo>
                  <a:lnTo>
                    <a:pt x="0" y="129570"/>
                  </a:lnTo>
                  <a:lnTo>
                    <a:pt x="563" y="141625"/>
                  </a:lnTo>
                  <a:lnTo>
                    <a:pt x="13746" y="187619"/>
                  </a:lnTo>
                  <a:lnTo>
                    <a:pt x="42351" y="225475"/>
                  </a:lnTo>
                  <a:lnTo>
                    <a:pt x="83012" y="250438"/>
                  </a:lnTo>
                  <a:lnTo>
                    <a:pt x="129844" y="259415"/>
                  </a:lnTo>
                  <a:lnTo>
                    <a:pt x="141625" y="258851"/>
                  </a:lnTo>
                  <a:lnTo>
                    <a:pt x="187619" y="245668"/>
                  </a:lnTo>
                  <a:lnTo>
                    <a:pt x="225475" y="217063"/>
                  </a:lnTo>
                  <a:lnTo>
                    <a:pt x="250713" y="176677"/>
                  </a:lnTo>
                  <a:lnTo>
                    <a:pt x="259415" y="129570"/>
                  </a:lnTo>
                  <a:lnTo>
                    <a:pt x="258851" y="117789"/>
                  </a:lnTo>
                  <a:lnTo>
                    <a:pt x="245668" y="72069"/>
                  </a:lnTo>
                  <a:lnTo>
                    <a:pt x="217063" y="33939"/>
                  </a:lnTo>
                  <a:lnTo>
                    <a:pt x="176677" y="8702"/>
                  </a:lnTo>
                  <a:lnTo>
                    <a:pt x="1298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2703057" y="5674319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0" y="129570"/>
                  </a:moveTo>
                  <a:lnTo>
                    <a:pt x="8702" y="83012"/>
                  </a:lnTo>
                  <a:lnTo>
                    <a:pt x="33939" y="42351"/>
                  </a:lnTo>
                  <a:lnTo>
                    <a:pt x="72069" y="13472"/>
                  </a:lnTo>
                  <a:lnTo>
                    <a:pt x="117789" y="563"/>
                  </a:lnTo>
                  <a:lnTo>
                    <a:pt x="129844" y="0"/>
                  </a:lnTo>
                  <a:lnTo>
                    <a:pt x="141625" y="563"/>
                  </a:lnTo>
                  <a:lnTo>
                    <a:pt x="187619" y="13472"/>
                  </a:lnTo>
                  <a:lnTo>
                    <a:pt x="225475" y="42351"/>
                  </a:lnTo>
                  <a:lnTo>
                    <a:pt x="250713" y="83012"/>
                  </a:lnTo>
                  <a:lnTo>
                    <a:pt x="259415" y="129570"/>
                  </a:lnTo>
                  <a:lnTo>
                    <a:pt x="258851" y="141625"/>
                  </a:lnTo>
                  <a:lnTo>
                    <a:pt x="245668" y="187619"/>
                  </a:lnTo>
                  <a:lnTo>
                    <a:pt x="217063" y="225475"/>
                  </a:lnTo>
                  <a:lnTo>
                    <a:pt x="176677" y="250438"/>
                  </a:lnTo>
                  <a:lnTo>
                    <a:pt x="129844" y="259415"/>
                  </a:lnTo>
                  <a:lnTo>
                    <a:pt x="117789" y="258851"/>
                  </a:lnTo>
                  <a:lnTo>
                    <a:pt x="72069" y="245668"/>
                  </a:lnTo>
                  <a:lnTo>
                    <a:pt x="33939" y="217063"/>
                  </a:lnTo>
                  <a:lnTo>
                    <a:pt x="8702" y="176677"/>
                  </a:lnTo>
                  <a:lnTo>
                    <a:pt x="0" y="129570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/>
          <p:cNvSpPr txBox="1"/>
          <p:nvPr/>
        </p:nvSpPr>
        <p:spPr>
          <a:xfrm>
            <a:off x="2753663" y="5682656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69" name="object 69"/>
          <p:cNvGrpSpPr/>
          <p:nvPr/>
        </p:nvGrpSpPr>
        <p:grpSpPr>
          <a:xfrm>
            <a:off x="2692387" y="6184704"/>
            <a:ext cx="274320" cy="274320"/>
            <a:chOff x="2692387" y="6184704"/>
            <a:chExt cx="274320" cy="274320"/>
          </a:xfrm>
        </p:grpSpPr>
        <p:sp>
          <p:nvSpPr>
            <p:cNvPr id="70" name="object 70"/>
            <p:cNvSpPr/>
            <p:nvPr/>
          </p:nvSpPr>
          <p:spPr>
            <a:xfrm>
              <a:off x="2699689" y="6192007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129570" y="0"/>
                  </a:moveTo>
                  <a:lnTo>
                    <a:pt x="83012" y="8702"/>
                  </a:lnTo>
                  <a:lnTo>
                    <a:pt x="42351" y="33665"/>
                  </a:lnTo>
                  <a:lnTo>
                    <a:pt x="13472" y="71795"/>
                  </a:lnTo>
                  <a:lnTo>
                    <a:pt x="563" y="117789"/>
                  </a:lnTo>
                  <a:lnTo>
                    <a:pt x="0" y="129280"/>
                  </a:lnTo>
                  <a:lnTo>
                    <a:pt x="563" y="141350"/>
                  </a:lnTo>
                  <a:lnTo>
                    <a:pt x="13472" y="187345"/>
                  </a:lnTo>
                  <a:lnTo>
                    <a:pt x="42351" y="225475"/>
                  </a:lnTo>
                  <a:lnTo>
                    <a:pt x="83012" y="250164"/>
                  </a:lnTo>
                  <a:lnTo>
                    <a:pt x="129570" y="259125"/>
                  </a:lnTo>
                  <a:lnTo>
                    <a:pt x="141625" y="258577"/>
                  </a:lnTo>
                  <a:lnTo>
                    <a:pt x="187619" y="245394"/>
                  </a:lnTo>
                  <a:lnTo>
                    <a:pt x="225475" y="217063"/>
                  </a:lnTo>
                  <a:lnTo>
                    <a:pt x="250438" y="176402"/>
                  </a:lnTo>
                  <a:lnTo>
                    <a:pt x="259125" y="129280"/>
                  </a:lnTo>
                  <a:lnTo>
                    <a:pt x="258851" y="117789"/>
                  </a:lnTo>
                  <a:lnTo>
                    <a:pt x="245668" y="71795"/>
                  </a:lnTo>
                  <a:lnTo>
                    <a:pt x="216788" y="33665"/>
                  </a:lnTo>
                  <a:lnTo>
                    <a:pt x="176402" y="8702"/>
                  </a:lnTo>
                  <a:lnTo>
                    <a:pt x="1295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699689" y="6192007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0" y="129280"/>
                  </a:moveTo>
                  <a:lnTo>
                    <a:pt x="8702" y="82737"/>
                  </a:lnTo>
                  <a:lnTo>
                    <a:pt x="33939" y="42077"/>
                  </a:lnTo>
                  <a:lnTo>
                    <a:pt x="72085" y="13746"/>
                  </a:lnTo>
                  <a:lnTo>
                    <a:pt x="117515" y="563"/>
                  </a:lnTo>
                  <a:lnTo>
                    <a:pt x="129570" y="0"/>
                  </a:lnTo>
                  <a:lnTo>
                    <a:pt x="141625" y="563"/>
                  </a:lnTo>
                  <a:lnTo>
                    <a:pt x="187619" y="13746"/>
                  </a:lnTo>
                  <a:lnTo>
                    <a:pt x="225475" y="42077"/>
                  </a:lnTo>
                  <a:lnTo>
                    <a:pt x="250438" y="82737"/>
                  </a:lnTo>
                  <a:lnTo>
                    <a:pt x="259125" y="129280"/>
                  </a:lnTo>
                  <a:lnTo>
                    <a:pt x="258851" y="141350"/>
                  </a:lnTo>
                  <a:lnTo>
                    <a:pt x="245668" y="187345"/>
                  </a:lnTo>
                  <a:lnTo>
                    <a:pt x="216788" y="225475"/>
                  </a:lnTo>
                  <a:lnTo>
                    <a:pt x="176402" y="250164"/>
                  </a:lnTo>
                  <a:lnTo>
                    <a:pt x="129570" y="259125"/>
                  </a:lnTo>
                  <a:lnTo>
                    <a:pt x="117515" y="258577"/>
                  </a:lnTo>
                  <a:lnTo>
                    <a:pt x="72085" y="245394"/>
                  </a:lnTo>
                  <a:lnTo>
                    <a:pt x="33939" y="217063"/>
                  </a:lnTo>
                  <a:lnTo>
                    <a:pt x="8702" y="176402"/>
                  </a:lnTo>
                  <a:lnTo>
                    <a:pt x="0" y="129280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" name="object 72"/>
          <p:cNvSpPr txBox="1"/>
          <p:nvPr/>
        </p:nvSpPr>
        <p:spPr>
          <a:xfrm>
            <a:off x="2750006" y="6200066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2779059" y="6251183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 h="0">
                <a:moveTo>
                  <a:pt x="0" y="0"/>
                </a:moveTo>
                <a:lnTo>
                  <a:pt x="94228" y="0"/>
                </a:lnTo>
              </a:path>
            </a:pathLst>
          </a:custGeom>
          <a:ln w="9347">
            <a:solidFill>
              <a:srgbClr val="FF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/>
          <p:cNvSpPr txBox="1"/>
          <p:nvPr/>
        </p:nvSpPr>
        <p:spPr>
          <a:xfrm>
            <a:off x="2289758" y="7677239"/>
            <a:ext cx="36499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9.11: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graphs,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3-terms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literal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901699" y="8775547"/>
            <a:ext cx="47644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Next,</a:t>
            </a:r>
            <a:r>
              <a:rPr dirty="0" sz="1200" spc="-5">
                <a:latin typeface="Times New Roman"/>
                <a:cs typeface="Times New Roman"/>
              </a:rPr>
              <a:t> 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 its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complement.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9.12.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699" y="520987"/>
            <a:ext cx="441515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10">
                <a:latin typeface="Times New Roman"/>
                <a:cs typeface="Times New Roman"/>
              </a:rPr>
              <a:t>9.8.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BOOLEAN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SATISFIABILITY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COOK’S</a:t>
            </a:r>
            <a:r>
              <a:rPr dirty="0" sz="1200" spc="-5">
                <a:latin typeface="Times New Roman"/>
                <a:cs typeface="Times New Roman"/>
              </a:rPr>
              <a:t> THEOREM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4697" y="523090"/>
            <a:ext cx="253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18</a:t>
            </a:r>
            <a:r>
              <a:rPr dirty="0" sz="1200" spc="-5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491739" y="938474"/>
            <a:ext cx="3208020" cy="2590800"/>
            <a:chOff x="2491739" y="938474"/>
            <a:chExt cx="3208020" cy="2590800"/>
          </a:xfrm>
        </p:grpSpPr>
        <p:sp>
          <p:nvSpPr>
            <p:cNvPr id="5" name="object 5"/>
            <p:cNvSpPr/>
            <p:nvPr/>
          </p:nvSpPr>
          <p:spPr>
            <a:xfrm>
              <a:off x="2491739" y="938474"/>
              <a:ext cx="3208020" cy="2590800"/>
            </a:xfrm>
            <a:custGeom>
              <a:avLst/>
              <a:gdLst/>
              <a:ahLst/>
              <a:cxnLst/>
              <a:rect l="l" t="t" r="r" b="b"/>
              <a:pathLst>
                <a:path w="3208020" h="2590800">
                  <a:moveTo>
                    <a:pt x="3207486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207486" y="2590601"/>
                  </a:lnTo>
                  <a:lnTo>
                    <a:pt x="320748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43579" y="992936"/>
              <a:ext cx="2292955" cy="2483476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3400906" y="1128400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621375" y="1131765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009185" y="1135410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00906" y="3105776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621375" y="3109142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009185" y="3112786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277038" y="2621741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277038" y="1600661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273673" y="2118072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2695755" y="1831553"/>
            <a:ext cx="274320" cy="1049020"/>
            <a:chOff x="2695755" y="1831553"/>
            <a:chExt cx="274320" cy="1049020"/>
          </a:xfrm>
        </p:grpSpPr>
        <p:sp>
          <p:nvSpPr>
            <p:cNvPr id="17" name="object 17"/>
            <p:cNvSpPr/>
            <p:nvPr/>
          </p:nvSpPr>
          <p:spPr>
            <a:xfrm>
              <a:off x="2828970" y="1841078"/>
              <a:ext cx="3810" cy="772160"/>
            </a:xfrm>
            <a:custGeom>
              <a:avLst/>
              <a:gdLst/>
              <a:ahLst/>
              <a:cxnLst/>
              <a:rect l="l" t="t" r="r" b="b"/>
              <a:pathLst>
                <a:path w="3810" h="772160">
                  <a:moveTo>
                    <a:pt x="0" y="0"/>
                  </a:moveTo>
                  <a:lnTo>
                    <a:pt x="0" y="265846"/>
                  </a:lnTo>
                </a:path>
                <a:path w="3810" h="772160">
                  <a:moveTo>
                    <a:pt x="3657" y="510402"/>
                  </a:moveTo>
                  <a:lnTo>
                    <a:pt x="1691" y="772043"/>
                  </a:lnTo>
                </a:path>
              </a:pathLst>
            </a:custGeom>
            <a:ln w="186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703057" y="2613411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129844" y="0"/>
                  </a:moveTo>
                  <a:lnTo>
                    <a:pt x="83012" y="8686"/>
                  </a:lnTo>
                  <a:lnTo>
                    <a:pt x="42351" y="33924"/>
                  </a:lnTo>
                  <a:lnTo>
                    <a:pt x="13746" y="71780"/>
                  </a:lnTo>
                  <a:lnTo>
                    <a:pt x="563" y="117774"/>
                  </a:lnTo>
                  <a:lnTo>
                    <a:pt x="0" y="129555"/>
                  </a:lnTo>
                  <a:lnTo>
                    <a:pt x="563" y="141610"/>
                  </a:lnTo>
                  <a:lnTo>
                    <a:pt x="13746" y="187330"/>
                  </a:lnTo>
                  <a:lnTo>
                    <a:pt x="42351" y="225460"/>
                  </a:lnTo>
                  <a:lnTo>
                    <a:pt x="83012" y="250423"/>
                  </a:lnTo>
                  <a:lnTo>
                    <a:pt x="129844" y="259400"/>
                  </a:lnTo>
                  <a:lnTo>
                    <a:pt x="141625" y="258836"/>
                  </a:lnTo>
                  <a:lnTo>
                    <a:pt x="187619" y="245653"/>
                  </a:lnTo>
                  <a:lnTo>
                    <a:pt x="225475" y="217048"/>
                  </a:lnTo>
                  <a:lnTo>
                    <a:pt x="250713" y="176387"/>
                  </a:lnTo>
                  <a:lnTo>
                    <a:pt x="259415" y="129555"/>
                  </a:lnTo>
                  <a:lnTo>
                    <a:pt x="258851" y="117774"/>
                  </a:lnTo>
                  <a:lnTo>
                    <a:pt x="245668" y="71780"/>
                  </a:lnTo>
                  <a:lnTo>
                    <a:pt x="217063" y="33924"/>
                  </a:lnTo>
                  <a:lnTo>
                    <a:pt x="176677" y="8686"/>
                  </a:lnTo>
                  <a:lnTo>
                    <a:pt x="1298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703057" y="2613411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0" y="129555"/>
                  </a:moveTo>
                  <a:lnTo>
                    <a:pt x="8702" y="82722"/>
                  </a:lnTo>
                  <a:lnTo>
                    <a:pt x="33939" y="42336"/>
                  </a:lnTo>
                  <a:lnTo>
                    <a:pt x="72069" y="13731"/>
                  </a:lnTo>
                  <a:lnTo>
                    <a:pt x="117789" y="548"/>
                  </a:lnTo>
                  <a:lnTo>
                    <a:pt x="129844" y="0"/>
                  </a:lnTo>
                  <a:lnTo>
                    <a:pt x="141625" y="548"/>
                  </a:lnTo>
                  <a:lnTo>
                    <a:pt x="187619" y="13731"/>
                  </a:lnTo>
                  <a:lnTo>
                    <a:pt x="225475" y="42336"/>
                  </a:lnTo>
                  <a:lnTo>
                    <a:pt x="250713" y="82722"/>
                  </a:lnTo>
                  <a:lnTo>
                    <a:pt x="259415" y="129555"/>
                  </a:lnTo>
                  <a:lnTo>
                    <a:pt x="258851" y="141610"/>
                  </a:lnTo>
                  <a:lnTo>
                    <a:pt x="245668" y="187330"/>
                  </a:lnTo>
                  <a:lnTo>
                    <a:pt x="217063" y="225460"/>
                  </a:lnTo>
                  <a:lnTo>
                    <a:pt x="176677" y="250423"/>
                  </a:lnTo>
                  <a:lnTo>
                    <a:pt x="129844" y="259400"/>
                  </a:lnTo>
                  <a:lnTo>
                    <a:pt x="117789" y="258836"/>
                  </a:lnTo>
                  <a:lnTo>
                    <a:pt x="72069" y="245653"/>
                  </a:lnTo>
                  <a:lnTo>
                    <a:pt x="33939" y="217048"/>
                  </a:lnTo>
                  <a:lnTo>
                    <a:pt x="8702" y="176387"/>
                  </a:lnTo>
                  <a:lnTo>
                    <a:pt x="0" y="129555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2753663" y="2621741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2545186" y="1585028"/>
            <a:ext cx="424815" cy="1153160"/>
            <a:chOff x="2545186" y="1585028"/>
            <a:chExt cx="424815" cy="1153160"/>
          </a:xfrm>
        </p:grpSpPr>
        <p:sp>
          <p:nvSpPr>
            <p:cNvPr id="22" name="object 22"/>
            <p:cNvSpPr/>
            <p:nvPr/>
          </p:nvSpPr>
          <p:spPr>
            <a:xfrm>
              <a:off x="2554711" y="1715165"/>
              <a:ext cx="145415" cy="1013460"/>
            </a:xfrm>
            <a:custGeom>
              <a:avLst/>
              <a:gdLst/>
              <a:ahLst/>
              <a:cxnLst/>
              <a:rect l="l" t="t" r="r" b="b"/>
              <a:pathLst>
                <a:path w="145414" h="1013460">
                  <a:moveTo>
                    <a:pt x="144978" y="0"/>
                  </a:moveTo>
                  <a:lnTo>
                    <a:pt x="116662" y="43174"/>
                  </a:lnTo>
                  <a:lnTo>
                    <a:pt x="90022" y="91409"/>
                  </a:lnTo>
                  <a:lnTo>
                    <a:pt x="73746" y="126476"/>
                  </a:lnTo>
                  <a:lnTo>
                    <a:pt x="66187" y="144978"/>
                  </a:lnTo>
                  <a:lnTo>
                    <a:pt x="58613" y="163494"/>
                  </a:lnTo>
                  <a:lnTo>
                    <a:pt x="45140" y="201914"/>
                  </a:lnTo>
                  <a:lnTo>
                    <a:pt x="33086" y="241736"/>
                  </a:lnTo>
                  <a:lnTo>
                    <a:pt x="22707" y="282961"/>
                  </a:lnTo>
                  <a:lnTo>
                    <a:pt x="14020" y="325023"/>
                  </a:lnTo>
                  <a:lnTo>
                    <a:pt x="7284" y="367649"/>
                  </a:lnTo>
                  <a:lnTo>
                    <a:pt x="2514" y="410839"/>
                  </a:lnTo>
                  <a:lnTo>
                    <a:pt x="0" y="454304"/>
                  </a:lnTo>
                  <a:lnTo>
                    <a:pt x="0" y="500862"/>
                  </a:lnTo>
                  <a:lnTo>
                    <a:pt x="2514" y="549661"/>
                  </a:lnTo>
                  <a:lnTo>
                    <a:pt x="7848" y="598169"/>
                  </a:lnTo>
                  <a:lnTo>
                    <a:pt x="15697" y="646130"/>
                  </a:lnTo>
                  <a:lnTo>
                    <a:pt x="25511" y="693800"/>
                  </a:lnTo>
                  <a:lnTo>
                    <a:pt x="37017" y="740359"/>
                  </a:lnTo>
                  <a:lnTo>
                    <a:pt x="50474" y="786063"/>
                  </a:lnTo>
                  <a:lnTo>
                    <a:pt x="65059" y="830656"/>
                  </a:lnTo>
                  <a:lnTo>
                    <a:pt x="81046" y="873846"/>
                  </a:lnTo>
                  <a:lnTo>
                    <a:pt x="97871" y="915908"/>
                  </a:lnTo>
                  <a:lnTo>
                    <a:pt x="114970" y="956294"/>
                  </a:lnTo>
                  <a:lnTo>
                    <a:pt x="123946" y="975359"/>
                  </a:lnTo>
                  <a:lnTo>
                    <a:pt x="132648" y="994714"/>
                  </a:lnTo>
                  <a:lnTo>
                    <a:pt x="141335" y="1013216"/>
                  </a:lnTo>
                </a:path>
              </a:pathLst>
            </a:custGeom>
            <a:ln w="186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703057" y="1592331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129844" y="0"/>
                  </a:moveTo>
                  <a:lnTo>
                    <a:pt x="83012" y="8686"/>
                  </a:lnTo>
                  <a:lnTo>
                    <a:pt x="42351" y="33924"/>
                  </a:lnTo>
                  <a:lnTo>
                    <a:pt x="13746" y="72069"/>
                  </a:lnTo>
                  <a:lnTo>
                    <a:pt x="563" y="117774"/>
                  </a:lnTo>
                  <a:lnTo>
                    <a:pt x="0" y="129555"/>
                  </a:lnTo>
                  <a:lnTo>
                    <a:pt x="563" y="141610"/>
                  </a:lnTo>
                  <a:lnTo>
                    <a:pt x="13746" y="187604"/>
                  </a:lnTo>
                  <a:lnTo>
                    <a:pt x="42351" y="225475"/>
                  </a:lnTo>
                  <a:lnTo>
                    <a:pt x="83012" y="250423"/>
                  </a:lnTo>
                  <a:lnTo>
                    <a:pt x="129844" y="259400"/>
                  </a:lnTo>
                  <a:lnTo>
                    <a:pt x="141625" y="258836"/>
                  </a:lnTo>
                  <a:lnTo>
                    <a:pt x="187619" y="245653"/>
                  </a:lnTo>
                  <a:lnTo>
                    <a:pt x="225475" y="217048"/>
                  </a:lnTo>
                  <a:lnTo>
                    <a:pt x="250713" y="176677"/>
                  </a:lnTo>
                  <a:lnTo>
                    <a:pt x="259415" y="129555"/>
                  </a:lnTo>
                  <a:lnTo>
                    <a:pt x="258851" y="117774"/>
                  </a:lnTo>
                  <a:lnTo>
                    <a:pt x="245668" y="72069"/>
                  </a:lnTo>
                  <a:lnTo>
                    <a:pt x="217063" y="33924"/>
                  </a:lnTo>
                  <a:lnTo>
                    <a:pt x="176677" y="8686"/>
                  </a:lnTo>
                  <a:lnTo>
                    <a:pt x="1298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703057" y="1592331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0" y="129555"/>
                  </a:moveTo>
                  <a:lnTo>
                    <a:pt x="8702" y="83012"/>
                  </a:lnTo>
                  <a:lnTo>
                    <a:pt x="33939" y="42336"/>
                  </a:lnTo>
                  <a:lnTo>
                    <a:pt x="72069" y="13456"/>
                  </a:lnTo>
                  <a:lnTo>
                    <a:pt x="117789" y="563"/>
                  </a:lnTo>
                  <a:lnTo>
                    <a:pt x="129844" y="0"/>
                  </a:lnTo>
                  <a:lnTo>
                    <a:pt x="141625" y="563"/>
                  </a:lnTo>
                  <a:lnTo>
                    <a:pt x="187619" y="13456"/>
                  </a:lnTo>
                  <a:lnTo>
                    <a:pt x="225475" y="42336"/>
                  </a:lnTo>
                  <a:lnTo>
                    <a:pt x="250713" y="83012"/>
                  </a:lnTo>
                  <a:lnTo>
                    <a:pt x="259415" y="129555"/>
                  </a:lnTo>
                  <a:lnTo>
                    <a:pt x="258851" y="141610"/>
                  </a:lnTo>
                  <a:lnTo>
                    <a:pt x="245668" y="187604"/>
                  </a:lnTo>
                  <a:lnTo>
                    <a:pt x="217063" y="225475"/>
                  </a:lnTo>
                  <a:lnTo>
                    <a:pt x="176677" y="250423"/>
                  </a:lnTo>
                  <a:lnTo>
                    <a:pt x="129844" y="259400"/>
                  </a:lnTo>
                  <a:lnTo>
                    <a:pt x="117789" y="258836"/>
                  </a:lnTo>
                  <a:lnTo>
                    <a:pt x="72069" y="245653"/>
                  </a:lnTo>
                  <a:lnTo>
                    <a:pt x="33939" y="217048"/>
                  </a:lnTo>
                  <a:lnTo>
                    <a:pt x="8702" y="176677"/>
                  </a:lnTo>
                  <a:lnTo>
                    <a:pt x="0" y="129555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2753663" y="1600661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2692387" y="2102716"/>
            <a:ext cx="274320" cy="274320"/>
            <a:chOff x="2692387" y="2102716"/>
            <a:chExt cx="274320" cy="274320"/>
          </a:xfrm>
        </p:grpSpPr>
        <p:sp>
          <p:nvSpPr>
            <p:cNvPr id="27" name="object 27"/>
            <p:cNvSpPr/>
            <p:nvPr/>
          </p:nvSpPr>
          <p:spPr>
            <a:xfrm>
              <a:off x="2699689" y="2110018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129570" y="0"/>
                  </a:moveTo>
                  <a:lnTo>
                    <a:pt x="83012" y="8686"/>
                  </a:lnTo>
                  <a:lnTo>
                    <a:pt x="42351" y="33649"/>
                  </a:lnTo>
                  <a:lnTo>
                    <a:pt x="13472" y="71795"/>
                  </a:lnTo>
                  <a:lnTo>
                    <a:pt x="563" y="117789"/>
                  </a:lnTo>
                  <a:lnTo>
                    <a:pt x="0" y="129280"/>
                  </a:lnTo>
                  <a:lnTo>
                    <a:pt x="563" y="141335"/>
                  </a:lnTo>
                  <a:lnTo>
                    <a:pt x="13472" y="187330"/>
                  </a:lnTo>
                  <a:lnTo>
                    <a:pt x="42351" y="225475"/>
                  </a:lnTo>
                  <a:lnTo>
                    <a:pt x="83012" y="250149"/>
                  </a:lnTo>
                  <a:lnTo>
                    <a:pt x="129570" y="259125"/>
                  </a:lnTo>
                  <a:lnTo>
                    <a:pt x="141625" y="258561"/>
                  </a:lnTo>
                  <a:lnTo>
                    <a:pt x="187619" y="245379"/>
                  </a:lnTo>
                  <a:lnTo>
                    <a:pt x="225475" y="217063"/>
                  </a:lnTo>
                  <a:lnTo>
                    <a:pt x="250438" y="176387"/>
                  </a:lnTo>
                  <a:lnTo>
                    <a:pt x="259125" y="129280"/>
                  </a:lnTo>
                  <a:lnTo>
                    <a:pt x="258851" y="117789"/>
                  </a:lnTo>
                  <a:lnTo>
                    <a:pt x="245668" y="71795"/>
                  </a:lnTo>
                  <a:lnTo>
                    <a:pt x="216788" y="33649"/>
                  </a:lnTo>
                  <a:lnTo>
                    <a:pt x="176402" y="8686"/>
                  </a:lnTo>
                  <a:lnTo>
                    <a:pt x="1295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699689" y="2110018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0" y="129280"/>
                  </a:moveTo>
                  <a:lnTo>
                    <a:pt x="8702" y="82722"/>
                  </a:lnTo>
                  <a:lnTo>
                    <a:pt x="33939" y="42062"/>
                  </a:lnTo>
                  <a:lnTo>
                    <a:pt x="72085" y="13746"/>
                  </a:lnTo>
                  <a:lnTo>
                    <a:pt x="117515" y="563"/>
                  </a:lnTo>
                  <a:lnTo>
                    <a:pt x="129570" y="0"/>
                  </a:lnTo>
                  <a:lnTo>
                    <a:pt x="141625" y="563"/>
                  </a:lnTo>
                  <a:lnTo>
                    <a:pt x="187619" y="13746"/>
                  </a:lnTo>
                  <a:lnTo>
                    <a:pt x="225475" y="42062"/>
                  </a:lnTo>
                  <a:lnTo>
                    <a:pt x="250438" y="82722"/>
                  </a:lnTo>
                  <a:lnTo>
                    <a:pt x="259125" y="129280"/>
                  </a:lnTo>
                  <a:lnTo>
                    <a:pt x="258851" y="141335"/>
                  </a:lnTo>
                  <a:lnTo>
                    <a:pt x="245668" y="187330"/>
                  </a:lnTo>
                  <a:lnTo>
                    <a:pt x="216788" y="225475"/>
                  </a:lnTo>
                  <a:lnTo>
                    <a:pt x="176402" y="250149"/>
                  </a:lnTo>
                  <a:lnTo>
                    <a:pt x="129570" y="259125"/>
                  </a:lnTo>
                  <a:lnTo>
                    <a:pt x="117515" y="258561"/>
                  </a:lnTo>
                  <a:lnTo>
                    <a:pt x="72085" y="245379"/>
                  </a:lnTo>
                  <a:lnTo>
                    <a:pt x="33939" y="217063"/>
                  </a:lnTo>
                  <a:lnTo>
                    <a:pt x="8702" y="176387"/>
                  </a:lnTo>
                  <a:lnTo>
                    <a:pt x="0" y="129280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 txBox="1"/>
          <p:nvPr/>
        </p:nvSpPr>
        <p:spPr>
          <a:xfrm>
            <a:off x="2750006" y="2118072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2779059" y="1321327"/>
            <a:ext cx="2516505" cy="1854835"/>
            <a:chOff x="2779059" y="1321327"/>
            <a:chExt cx="2516505" cy="1854835"/>
          </a:xfrm>
        </p:grpSpPr>
        <p:sp>
          <p:nvSpPr>
            <p:cNvPr id="31" name="object 31"/>
            <p:cNvSpPr/>
            <p:nvPr/>
          </p:nvSpPr>
          <p:spPr>
            <a:xfrm>
              <a:off x="2779059" y="2169195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 h="0">
                  <a:moveTo>
                    <a:pt x="0" y="0"/>
                  </a:moveTo>
                  <a:lnTo>
                    <a:pt x="94228" y="0"/>
                  </a:lnTo>
                </a:path>
              </a:pathLst>
            </a:custGeom>
            <a:ln w="93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926003" y="1330675"/>
              <a:ext cx="2360295" cy="1835785"/>
            </a:xfrm>
            <a:custGeom>
              <a:avLst/>
              <a:gdLst/>
              <a:ahLst/>
              <a:cxnLst/>
              <a:rect l="l" t="t" r="r" b="b"/>
              <a:pathLst>
                <a:path w="2360295" h="1835785">
                  <a:moveTo>
                    <a:pt x="31409" y="388132"/>
                  </a:moveTo>
                  <a:lnTo>
                    <a:pt x="2313066" y="388132"/>
                  </a:lnTo>
                </a:path>
                <a:path w="2360295" h="1835785">
                  <a:moveTo>
                    <a:pt x="0" y="477027"/>
                  </a:moveTo>
                  <a:lnTo>
                    <a:pt x="471982" y="1804065"/>
                  </a:lnTo>
                </a:path>
                <a:path w="2360295" h="1835785">
                  <a:moveTo>
                    <a:pt x="1248232" y="10652"/>
                  </a:moveTo>
                  <a:lnTo>
                    <a:pt x="2323444" y="833749"/>
                  </a:lnTo>
                </a:path>
                <a:path w="2360295" h="1835785">
                  <a:moveTo>
                    <a:pt x="21031" y="912555"/>
                  </a:moveTo>
                  <a:lnTo>
                    <a:pt x="2307732" y="912555"/>
                  </a:lnTo>
                </a:path>
                <a:path w="2360295" h="1835785">
                  <a:moveTo>
                    <a:pt x="0" y="980983"/>
                  </a:moveTo>
                  <a:lnTo>
                    <a:pt x="1070152" y="1835749"/>
                  </a:lnTo>
                </a:path>
                <a:path w="2360295" h="1835785">
                  <a:moveTo>
                    <a:pt x="1851461" y="21031"/>
                  </a:moveTo>
                  <a:lnTo>
                    <a:pt x="2360173" y="1316659"/>
                  </a:lnTo>
                </a:path>
                <a:path w="2360295" h="1835785">
                  <a:moveTo>
                    <a:pt x="1678426" y="0"/>
                  </a:moveTo>
                  <a:lnTo>
                    <a:pt x="5059" y="1337690"/>
                  </a:lnTo>
                </a:path>
                <a:path w="2360295" h="1835785">
                  <a:moveTo>
                    <a:pt x="1683760" y="1809399"/>
                  </a:moveTo>
                  <a:lnTo>
                    <a:pt x="31409" y="1416222"/>
                  </a:lnTo>
                </a:path>
                <a:path w="2360295" h="1835785">
                  <a:moveTo>
                    <a:pt x="2344475" y="1510451"/>
                  </a:moveTo>
                  <a:lnTo>
                    <a:pt x="1882871" y="1835749"/>
                  </a:lnTo>
                </a:path>
              </a:pathLst>
            </a:custGeom>
            <a:ln w="186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/>
          <p:cNvSpPr txBox="1"/>
          <p:nvPr/>
        </p:nvSpPr>
        <p:spPr>
          <a:xfrm>
            <a:off x="863599" y="3595129"/>
            <a:ext cx="6468745" cy="12344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3302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9.12: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term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connected 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its </a:t>
            </a:r>
            <a:r>
              <a:rPr dirty="0" sz="1200" spc="-10">
                <a:latin typeface="Times New Roman"/>
                <a:cs typeface="Times New Roman"/>
              </a:rPr>
              <a:t>complement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50800" marR="43180">
              <a:lnSpc>
                <a:spcPct val="100000"/>
              </a:lnSpc>
              <a:spcBef>
                <a:spcPts val="815"/>
              </a:spcBef>
            </a:pPr>
            <a:r>
              <a:rPr dirty="0" sz="1200" spc="-5">
                <a:latin typeface="Times New Roman"/>
                <a:cs typeface="Times New Roman"/>
              </a:rPr>
              <a:t>The boolean </a:t>
            </a:r>
            <a:r>
              <a:rPr dirty="0" sz="1200" spc="-10">
                <a:latin typeface="Times New Roman"/>
                <a:cs typeface="Times New Roman"/>
              </a:rPr>
              <a:t>formula </a:t>
            </a:r>
            <a:r>
              <a:rPr dirty="0" sz="1200" spc="-5">
                <a:latin typeface="Times New Roman"/>
                <a:cs typeface="Times New Roman"/>
              </a:rPr>
              <a:t>is satisfied by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assignment </a:t>
            </a:r>
            <a:r>
              <a:rPr dirty="0" sz="1200" spc="-60">
                <a:latin typeface="Lucida Sans Unicode"/>
                <a:cs typeface="Lucida Sans Unicode"/>
              </a:rPr>
              <a:t>x</a:t>
            </a:r>
            <a:r>
              <a:rPr dirty="0" baseline="-13888" sz="1200" spc="-89">
                <a:latin typeface="Verdana"/>
                <a:cs typeface="Verdana"/>
              </a:rPr>
              <a:t>1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Lucida Sans Unicode"/>
                <a:cs typeface="Lucida Sans Unicode"/>
              </a:rPr>
              <a:t>x</a:t>
            </a:r>
            <a:r>
              <a:rPr dirty="0" baseline="-13888" sz="1200" spc="-97">
                <a:latin typeface="Verdana"/>
                <a:cs typeface="Verdana"/>
              </a:rPr>
              <a:t>2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16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Lucida Sans Unicode"/>
                <a:cs typeface="Lucida Sans Unicode"/>
              </a:rPr>
              <a:t>x</a:t>
            </a:r>
            <a:r>
              <a:rPr dirty="0" baseline="-13888" sz="1200" spc="-97">
                <a:latin typeface="Verdana"/>
                <a:cs typeface="Verdana"/>
              </a:rPr>
              <a:t>3 </a:t>
            </a:r>
            <a:r>
              <a:rPr dirty="0" sz="1200" spc="100">
                <a:latin typeface="Garamond"/>
                <a:cs typeface="Garamond"/>
              </a:rPr>
              <a:t>= </a:t>
            </a:r>
            <a:r>
              <a:rPr dirty="0" sz="1200" spc="-85">
                <a:latin typeface="Lucida Sans Unicode"/>
                <a:cs typeface="Lucida Sans Unicode"/>
              </a:rPr>
              <a:t>0</a:t>
            </a:r>
            <a:r>
              <a:rPr dirty="0" sz="1200" spc="-85">
                <a:latin typeface="Times New Roman"/>
                <a:cs typeface="Times New Roman"/>
              </a:rPr>
              <a:t>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</a:t>
            </a:r>
            <a:r>
              <a:rPr dirty="0" sz="1200" spc="-10">
                <a:latin typeface="Times New Roman"/>
                <a:cs typeface="Times New Roman"/>
              </a:rPr>
              <a:t>implies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first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literal of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first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last clauses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 1,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second literal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second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clause 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third</a:t>
            </a:r>
            <a:r>
              <a:rPr dirty="0" sz="1200" spc="-5">
                <a:latin typeface="Times New Roman"/>
                <a:cs typeface="Times New Roman"/>
              </a:rPr>
              <a:t> literal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third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clause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1.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By selecting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vertices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corresponding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literals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clause,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independent</a:t>
            </a:r>
            <a:r>
              <a:rPr dirty="0" sz="1200" spc="-5">
                <a:latin typeface="Times New Roman"/>
                <a:cs typeface="Times New Roman"/>
              </a:rPr>
              <a:t> set of size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0">
                <a:latin typeface="Garamond"/>
                <a:cs typeface="Garamond"/>
              </a:rPr>
              <a:t> </a:t>
            </a:r>
            <a:r>
              <a:rPr dirty="0" sz="1200" spc="-85">
                <a:latin typeface="Lucida Sans Unicode"/>
                <a:cs typeface="Lucida Sans Unicode"/>
              </a:rPr>
              <a:t>4</a:t>
            </a:r>
            <a:r>
              <a:rPr dirty="0" sz="1200" spc="-85">
                <a:latin typeface="Times New Roman"/>
                <a:cs typeface="Times New Roman"/>
              </a:rPr>
              <a:t>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is </a:t>
            </a:r>
            <a:r>
              <a:rPr dirty="0" sz="1200" spc="-15">
                <a:latin typeface="Times New Roman"/>
                <a:cs typeface="Times New Roman"/>
              </a:rPr>
              <a:t>shown</a:t>
            </a:r>
            <a:r>
              <a:rPr dirty="0" sz="1200" spc="-5">
                <a:latin typeface="Times New Roman"/>
                <a:cs typeface="Times New Roman"/>
              </a:rPr>
              <a:t> in </a:t>
            </a: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9.13.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2491739" y="5025842"/>
            <a:ext cx="3208020" cy="2590800"/>
            <a:chOff x="2491739" y="5025842"/>
            <a:chExt cx="3208020" cy="2590800"/>
          </a:xfrm>
        </p:grpSpPr>
        <p:sp>
          <p:nvSpPr>
            <p:cNvPr id="35" name="object 35"/>
            <p:cNvSpPr/>
            <p:nvPr/>
          </p:nvSpPr>
          <p:spPr>
            <a:xfrm>
              <a:off x="2491739" y="5025842"/>
              <a:ext cx="3208020" cy="2590800"/>
            </a:xfrm>
            <a:custGeom>
              <a:avLst/>
              <a:gdLst/>
              <a:ahLst/>
              <a:cxnLst/>
              <a:rect l="l" t="t" r="r" b="b"/>
              <a:pathLst>
                <a:path w="3208020" h="2590800">
                  <a:moveTo>
                    <a:pt x="3207486" y="0"/>
                  </a:moveTo>
                  <a:lnTo>
                    <a:pt x="0" y="0"/>
                  </a:lnTo>
                  <a:lnTo>
                    <a:pt x="0" y="2590601"/>
                  </a:lnTo>
                  <a:lnTo>
                    <a:pt x="3207486" y="2590601"/>
                  </a:lnTo>
                  <a:lnTo>
                    <a:pt x="3207486" y="0"/>
                  </a:lnTo>
                  <a:close/>
                </a:path>
              </a:pathLst>
            </a:custGeom>
            <a:solidFill>
              <a:srgbClr val="7E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43579" y="5079953"/>
              <a:ext cx="2292955" cy="2483476"/>
            </a:xfrm>
            <a:prstGeom prst="rect">
              <a:avLst/>
            </a:prstGeom>
          </p:spPr>
        </p:pic>
      </p:grpSp>
      <p:sp>
        <p:nvSpPr>
          <p:cNvPr id="37" name="object 37"/>
          <p:cNvSpPr txBox="1"/>
          <p:nvPr/>
        </p:nvSpPr>
        <p:spPr>
          <a:xfrm>
            <a:off x="3400906" y="5215423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621375" y="5218789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009185" y="5222433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400906" y="7192799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621375" y="7196165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009185" y="7199810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277038" y="6708764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277038" y="5687685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baseline="-27777" sz="105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5273673" y="6205096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2695755" y="5918570"/>
            <a:ext cx="274320" cy="1049020"/>
            <a:chOff x="2695755" y="5918570"/>
            <a:chExt cx="274320" cy="1049020"/>
          </a:xfrm>
        </p:grpSpPr>
        <p:sp>
          <p:nvSpPr>
            <p:cNvPr id="47" name="object 47"/>
            <p:cNvSpPr/>
            <p:nvPr/>
          </p:nvSpPr>
          <p:spPr>
            <a:xfrm>
              <a:off x="2828970" y="5928095"/>
              <a:ext cx="3810" cy="772160"/>
            </a:xfrm>
            <a:custGeom>
              <a:avLst/>
              <a:gdLst/>
              <a:ahLst/>
              <a:cxnLst/>
              <a:rect l="l" t="t" r="r" b="b"/>
              <a:pathLst>
                <a:path w="3810" h="772159">
                  <a:moveTo>
                    <a:pt x="0" y="0"/>
                  </a:moveTo>
                  <a:lnTo>
                    <a:pt x="0" y="265861"/>
                  </a:lnTo>
                </a:path>
                <a:path w="3810" h="772159">
                  <a:moveTo>
                    <a:pt x="3657" y="510402"/>
                  </a:moveTo>
                  <a:lnTo>
                    <a:pt x="1691" y="772058"/>
                  </a:lnTo>
                </a:path>
              </a:pathLst>
            </a:custGeom>
            <a:ln w="186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703057" y="6700428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5">
                  <a:moveTo>
                    <a:pt x="129844" y="0"/>
                  </a:moveTo>
                  <a:lnTo>
                    <a:pt x="83012" y="8686"/>
                  </a:lnTo>
                  <a:lnTo>
                    <a:pt x="42351" y="33939"/>
                  </a:lnTo>
                  <a:lnTo>
                    <a:pt x="13746" y="71795"/>
                  </a:lnTo>
                  <a:lnTo>
                    <a:pt x="563" y="117789"/>
                  </a:lnTo>
                  <a:lnTo>
                    <a:pt x="0" y="129570"/>
                  </a:lnTo>
                  <a:lnTo>
                    <a:pt x="563" y="141625"/>
                  </a:lnTo>
                  <a:lnTo>
                    <a:pt x="13746" y="187330"/>
                  </a:lnTo>
                  <a:lnTo>
                    <a:pt x="42351" y="225475"/>
                  </a:lnTo>
                  <a:lnTo>
                    <a:pt x="83012" y="250438"/>
                  </a:lnTo>
                  <a:lnTo>
                    <a:pt x="129844" y="259400"/>
                  </a:lnTo>
                  <a:lnTo>
                    <a:pt x="141625" y="258851"/>
                  </a:lnTo>
                  <a:lnTo>
                    <a:pt x="187619" y="245668"/>
                  </a:lnTo>
                  <a:lnTo>
                    <a:pt x="225475" y="217063"/>
                  </a:lnTo>
                  <a:lnTo>
                    <a:pt x="250713" y="176402"/>
                  </a:lnTo>
                  <a:lnTo>
                    <a:pt x="259415" y="129570"/>
                  </a:lnTo>
                  <a:lnTo>
                    <a:pt x="258851" y="117789"/>
                  </a:lnTo>
                  <a:lnTo>
                    <a:pt x="245668" y="71795"/>
                  </a:lnTo>
                  <a:lnTo>
                    <a:pt x="217063" y="33939"/>
                  </a:lnTo>
                  <a:lnTo>
                    <a:pt x="176677" y="8686"/>
                  </a:lnTo>
                  <a:lnTo>
                    <a:pt x="1298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703057" y="6700428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5">
                  <a:moveTo>
                    <a:pt x="0" y="129570"/>
                  </a:moveTo>
                  <a:lnTo>
                    <a:pt x="8702" y="82722"/>
                  </a:lnTo>
                  <a:lnTo>
                    <a:pt x="33939" y="42351"/>
                  </a:lnTo>
                  <a:lnTo>
                    <a:pt x="72069" y="13746"/>
                  </a:lnTo>
                  <a:lnTo>
                    <a:pt x="117789" y="563"/>
                  </a:lnTo>
                  <a:lnTo>
                    <a:pt x="129844" y="0"/>
                  </a:lnTo>
                  <a:lnTo>
                    <a:pt x="141625" y="563"/>
                  </a:lnTo>
                  <a:lnTo>
                    <a:pt x="187619" y="13746"/>
                  </a:lnTo>
                  <a:lnTo>
                    <a:pt x="225475" y="42351"/>
                  </a:lnTo>
                  <a:lnTo>
                    <a:pt x="250713" y="82722"/>
                  </a:lnTo>
                  <a:lnTo>
                    <a:pt x="259415" y="129570"/>
                  </a:lnTo>
                  <a:lnTo>
                    <a:pt x="258851" y="141625"/>
                  </a:lnTo>
                  <a:lnTo>
                    <a:pt x="245668" y="187330"/>
                  </a:lnTo>
                  <a:lnTo>
                    <a:pt x="217063" y="225475"/>
                  </a:lnTo>
                  <a:lnTo>
                    <a:pt x="176677" y="250438"/>
                  </a:lnTo>
                  <a:lnTo>
                    <a:pt x="129844" y="259400"/>
                  </a:lnTo>
                  <a:lnTo>
                    <a:pt x="117789" y="258851"/>
                  </a:lnTo>
                  <a:lnTo>
                    <a:pt x="72069" y="245668"/>
                  </a:lnTo>
                  <a:lnTo>
                    <a:pt x="33939" y="217063"/>
                  </a:lnTo>
                  <a:lnTo>
                    <a:pt x="8702" y="176402"/>
                  </a:lnTo>
                  <a:lnTo>
                    <a:pt x="0" y="129570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" name="object 50"/>
          <p:cNvSpPr txBox="1"/>
          <p:nvPr/>
        </p:nvSpPr>
        <p:spPr>
          <a:xfrm>
            <a:off x="2753663" y="6708764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3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2545186" y="5672046"/>
            <a:ext cx="424815" cy="1153160"/>
            <a:chOff x="2545186" y="5672046"/>
            <a:chExt cx="424815" cy="1153160"/>
          </a:xfrm>
        </p:grpSpPr>
        <p:sp>
          <p:nvSpPr>
            <p:cNvPr id="52" name="object 52"/>
            <p:cNvSpPr/>
            <p:nvPr/>
          </p:nvSpPr>
          <p:spPr>
            <a:xfrm>
              <a:off x="2554711" y="5802182"/>
              <a:ext cx="145415" cy="1013460"/>
            </a:xfrm>
            <a:custGeom>
              <a:avLst/>
              <a:gdLst/>
              <a:ahLst/>
              <a:cxnLst/>
              <a:rect l="l" t="t" r="r" b="b"/>
              <a:pathLst>
                <a:path w="145414" h="1013459">
                  <a:moveTo>
                    <a:pt x="144978" y="0"/>
                  </a:moveTo>
                  <a:lnTo>
                    <a:pt x="116662" y="43190"/>
                  </a:lnTo>
                  <a:lnTo>
                    <a:pt x="90022" y="91424"/>
                  </a:lnTo>
                  <a:lnTo>
                    <a:pt x="73746" y="126476"/>
                  </a:lnTo>
                  <a:lnTo>
                    <a:pt x="66187" y="144993"/>
                  </a:lnTo>
                  <a:lnTo>
                    <a:pt x="58613" y="163494"/>
                  </a:lnTo>
                  <a:lnTo>
                    <a:pt x="45140" y="201914"/>
                  </a:lnTo>
                  <a:lnTo>
                    <a:pt x="33086" y="241736"/>
                  </a:lnTo>
                  <a:lnTo>
                    <a:pt x="22707" y="282961"/>
                  </a:lnTo>
                  <a:lnTo>
                    <a:pt x="14020" y="325023"/>
                  </a:lnTo>
                  <a:lnTo>
                    <a:pt x="7284" y="367649"/>
                  </a:lnTo>
                  <a:lnTo>
                    <a:pt x="2514" y="410839"/>
                  </a:lnTo>
                  <a:lnTo>
                    <a:pt x="0" y="454304"/>
                  </a:lnTo>
                  <a:lnTo>
                    <a:pt x="0" y="500862"/>
                  </a:lnTo>
                  <a:lnTo>
                    <a:pt x="2514" y="549661"/>
                  </a:lnTo>
                  <a:lnTo>
                    <a:pt x="7848" y="598169"/>
                  </a:lnTo>
                  <a:lnTo>
                    <a:pt x="15697" y="646130"/>
                  </a:lnTo>
                  <a:lnTo>
                    <a:pt x="25511" y="693800"/>
                  </a:lnTo>
                  <a:lnTo>
                    <a:pt x="37017" y="740359"/>
                  </a:lnTo>
                  <a:lnTo>
                    <a:pt x="50474" y="786063"/>
                  </a:lnTo>
                  <a:lnTo>
                    <a:pt x="65059" y="830656"/>
                  </a:lnTo>
                  <a:lnTo>
                    <a:pt x="81046" y="873846"/>
                  </a:lnTo>
                  <a:lnTo>
                    <a:pt x="97871" y="915908"/>
                  </a:lnTo>
                  <a:lnTo>
                    <a:pt x="114970" y="956294"/>
                  </a:lnTo>
                  <a:lnTo>
                    <a:pt x="123946" y="975359"/>
                  </a:lnTo>
                  <a:lnTo>
                    <a:pt x="132648" y="994714"/>
                  </a:lnTo>
                  <a:lnTo>
                    <a:pt x="141335" y="1013231"/>
                  </a:lnTo>
                </a:path>
              </a:pathLst>
            </a:custGeom>
            <a:ln w="186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703057" y="5679348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129844" y="0"/>
                  </a:moveTo>
                  <a:lnTo>
                    <a:pt x="83012" y="8702"/>
                  </a:lnTo>
                  <a:lnTo>
                    <a:pt x="42351" y="33939"/>
                  </a:lnTo>
                  <a:lnTo>
                    <a:pt x="13746" y="72069"/>
                  </a:lnTo>
                  <a:lnTo>
                    <a:pt x="563" y="117789"/>
                  </a:lnTo>
                  <a:lnTo>
                    <a:pt x="0" y="129570"/>
                  </a:lnTo>
                  <a:lnTo>
                    <a:pt x="563" y="141625"/>
                  </a:lnTo>
                  <a:lnTo>
                    <a:pt x="13746" y="187619"/>
                  </a:lnTo>
                  <a:lnTo>
                    <a:pt x="42351" y="225475"/>
                  </a:lnTo>
                  <a:lnTo>
                    <a:pt x="83012" y="250438"/>
                  </a:lnTo>
                  <a:lnTo>
                    <a:pt x="129844" y="259415"/>
                  </a:lnTo>
                  <a:lnTo>
                    <a:pt x="141625" y="258851"/>
                  </a:lnTo>
                  <a:lnTo>
                    <a:pt x="187619" y="245668"/>
                  </a:lnTo>
                  <a:lnTo>
                    <a:pt x="225475" y="217063"/>
                  </a:lnTo>
                  <a:lnTo>
                    <a:pt x="250713" y="176677"/>
                  </a:lnTo>
                  <a:lnTo>
                    <a:pt x="259415" y="129570"/>
                  </a:lnTo>
                  <a:lnTo>
                    <a:pt x="258851" y="117789"/>
                  </a:lnTo>
                  <a:lnTo>
                    <a:pt x="245668" y="72069"/>
                  </a:lnTo>
                  <a:lnTo>
                    <a:pt x="217063" y="33939"/>
                  </a:lnTo>
                  <a:lnTo>
                    <a:pt x="176677" y="8702"/>
                  </a:lnTo>
                  <a:lnTo>
                    <a:pt x="12984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703057" y="5679348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0" y="129570"/>
                  </a:moveTo>
                  <a:lnTo>
                    <a:pt x="8702" y="83012"/>
                  </a:lnTo>
                  <a:lnTo>
                    <a:pt x="33939" y="42351"/>
                  </a:lnTo>
                  <a:lnTo>
                    <a:pt x="72069" y="13456"/>
                  </a:lnTo>
                  <a:lnTo>
                    <a:pt x="117789" y="563"/>
                  </a:lnTo>
                  <a:lnTo>
                    <a:pt x="129844" y="0"/>
                  </a:lnTo>
                  <a:lnTo>
                    <a:pt x="141625" y="563"/>
                  </a:lnTo>
                  <a:lnTo>
                    <a:pt x="187619" y="13456"/>
                  </a:lnTo>
                  <a:lnTo>
                    <a:pt x="225475" y="42351"/>
                  </a:lnTo>
                  <a:lnTo>
                    <a:pt x="250713" y="83012"/>
                  </a:lnTo>
                  <a:lnTo>
                    <a:pt x="259415" y="129570"/>
                  </a:lnTo>
                  <a:lnTo>
                    <a:pt x="258851" y="141625"/>
                  </a:lnTo>
                  <a:lnTo>
                    <a:pt x="245668" y="187619"/>
                  </a:lnTo>
                  <a:lnTo>
                    <a:pt x="217063" y="225475"/>
                  </a:lnTo>
                  <a:lnTo>
                    <a:pt x="176677" y="250438"/>
                  </a:lnTo>
                  <a:lnTo>
                    <a:pt x="129844" y="259415"/>
                  </a:lnTo>
                  <a:lnTo>
                    <a:pt x="117789" y="258851"/>
                  </a:lnTo>
                  <a:lnTo>
                    <a:pt x="72069" y="245668"/>
                  </a:lnTo>
                  <a:lnTo>
                    <a:pt x="33939" y="217063"/>
                  </a:lnTo>
                  <a:lnTo>
                    <a:pt x="8702" y="176677"/>
                  </a:lnTo>
                  <a:lnTo>
                    <a:pt x="0" y="129570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/>
          <p:cNvSpPr txBox="1"/>
          <p:nvPr/>
        </p:nvSpPr>
        <p:spPr>
          <a:xfrm>
            <a:off x="2753663" y="5687685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1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2692387" y="6189733"/>
            <a:ext cx="274320" cy="274320"/>
            <a:chOff x="2692387" y="6189733"/>
            <a:chExt cx="274320" cy="274320"/>
          </a:xfrm>
        </p:grpSpPr>
        <p:sp>
          <p:nvSpPr>
            <p:cNvPr id="57" name="object 57"/>
            <p:cNvSpPr/>
            <p:nvPr/>
          </p:nvSpPr>
          <p:spPr>
            <a:xfrm>
              <a:off x="2699689" y="6197036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129570" y="0"/>
                  </a:moveTo>
                  <a:lnTo>
                    <a:pt x="83012" y="8702"/>
                  </a:lnTo>
                  <a:lnTo>
                    <a:pt x="42351" y="33665"/>
                  </a:lnTo>
                  <a:lnTo>
                    <a:pt x="13472" y="71795"/>
                  </a:lnTo>
                  <a:lnTo>
                    <a:pt x="563" y="117789"/>
                  </a:lnTo>
                  <a:lnTo>
                    <a:pt x="0" y="129280"/>
                  </a:lnTo>
                  <a:lnTo>
                    <a:pt x="563" y="141350"/>
                  </a:lnTo>
                  <a:lnTo>
                    <a:pt x="13472" y="187345"/>
                  </a:lnTo>
                  <a:lnTo>
                    <a:pt x="42351" y="225475"/>
                  </a:lnTo>
                  <a:lnTo>
                    <a:pt x="83012" y="250149"/>
                  </a:lnTo>
                  <a:lnTo>
                    <a:pt x="129570" y="259125"/>
                  </a:lnTo>
                  <a:lnTo>
                    <a:pt x="141625" y="258577"/>
                  </a:lnTo>
                  <a:lnTo>
                    <a:pt x="187619" y="245394"/>
                  </a:lnTo>
                  <a:lnTo>
                    <a:pt x="225475" y="217063"/>
                  </a:lnTo>
                  <a:lnTo>
                    <a:pt x="250438" y="176402"/>
                  </a:lnTo>
                  <a:lnTo>
                    <a:pt x="259125" y="129280"/>
                  </a:lnTo>
                  <a:lnTo>
                    <a:pt x="258851" y="117789"/>
                  </a:lnTo>
                  <a:lnTo>
                    <a:pt x="245668" y="71795"/>
                  </a:lnTo>
                  <a:lnTo>
                    <a:pt x="216788" y="33665"/>
                  </a:lnTo>
                  <a:lnTo>
                    <a:pt x="176402" y="8702"/>
                  </a:lnTo>
                  <a:lnTo>
                    <a:pt x="1295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699689" y="6197036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0" y="129280"/>
                  </a:moveTo>
                  <a:lnTo>
                    <a:pt x="8702" y="82737"/>
                  </a:lnTo>
                  <a:lnTo>
                    <a:pt x="33939" y="42077"/>
                  </a:lnTo>
                  <a:lnTo>
                    <a:pt x="72085" y="13746"/>
                  </a:lnTo>
                  <a:lnTo>
                    <a:pt x="117515" y="563"/>
                  </a:lnTo>
                  <a:lnTo>
                    <a:pt x="129570" y="0"/>
                  </a:lnTo>
                  <a:lnTo>
                    <a:pt x="141625" y="563"/>
                  </a:lnTo>
                  <a:lnTo>
                    <a:pt x="187619" y="13746"/>
                  </a:lnTo>
                  <a:lnTo>
                    <a:pt x="225475" y="42077"/>
                  </a:lnTo>
                  <a:lnTo>
                    <a:pt x="250438" y="82737"/>
                  </a:lnTo>
                  <a:lnTo>
                    <a:pt x="259125" y="129280"/>
                  </a:lnTo>
                  <a:lnTo>
                    <a:pt x="258851" y="141350"/>
                  </a:lnTo>
                  <a:lnTo>
                    <a:pt x="245668" y="187345"/>
                  </a:lnTo>
                  <a:lnTo>
                    <a:pt x="216788" y="225475"/>
                  </a:lnTo>
                  <a:lnTo>
                    <a:pt x="176402" y="250149"/>
                  </a:lnTo>
                  <a:lnTo>
                    <a:pt x="129570" y="259125"/>
                  </a:lnTo>
                  <a:lnTo>
                    <a:pt x="117515" y="258577"/>
                  </a:lnTo>
                  <a:lnTo>
                    <a:pt x="72085" y="245394"/>
                  </a:lnTo>
                  <a:lnTo>
                    <a:pt x="33939" y="217063"/>
                  </a:lnTo>
                  <a:lnTo>
                    <a:pt x="8702" y="176402"/>
                  </a:lnTo>
                  <a:lnTo>
                    <a:pt x="0" y="129280"/>
                  </a:lnTo>
                </a:path>
              </a:pathLst>
            </a:custGeom>
            <a:ln w="1402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" name="object 59"/>
          <p:cNvSpPr txBox="1"/>
          <p:nvPr/>
        </p:nvSpPr>
        <p:spPr>
          <a:xfrm>
            <a:off x="2750006" y="6205096"/>
            <a:ext cx="19875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1100" i="1">
                <a:solidFill>
                  <a:srgbClr val="FFFF00"/>
                </a:solidFill>
                <a:latin typeface="Arial"/>
                <a:cs typeface="Arial"/>
              </a:rPr>
              <a:t>x</a:t>
            </a:r>
            <a:r>
              <a:rPr dirty="0" sz="1100" spc="-210" i="1">
                <a:solidFill>
                  <a:srgbClr val="FFFF00"/>
                </a:solidFill>
                <a:latin typeface="Arial"/>
                <a:cs typeface="Arial"/>
              </a:rPr>
              <a:t> </a:t>
            </a:r>
            <a:r>
              <a:rPr dirty="0" baseline="-27777" sz="1050" spc="22" i="1">
                <a:solidFill>
                  <a:srgbClr val="FFFF00"/>
                </a:solidFill>
                <a:latin typeface="Arial"/>
                <a:cs typeface="Arial"/>
              </a:rPr>
              <a:t>2</a:t>
            </a:r>
            <a:endParaRPr baseline="-27777" sz="1050">
              <a:latin typeface="Arial"/>
              <a:cs typeface="Arial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2779059" y="5408360"/>
            <a:ext cx="2516505" cy="1854835"/>
            <a:chOff x="2779059" y="5408360"/>
            <a:chExt cx="2516505" cy="1854835"/>
          </a:xfrm>
        </p:grpSpPr>
        <p:sp>
          <p:nvSpPr>
            <p:cNvPr id="61" name="object 61"/>
            <p:cNvSpPr/>
            <p:nvPr/>
          </p:nvSpPr>
          <p:spPr>
            <a:xfrm>
              <a:off x="2779059" y="6256212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 h="0">
                  <a:moveTo>
                    <a:pt x="0" y="0"/>
                  </a:moveTo>
                  <a:lnTo>
                    <a:pt x="94228" y="0"/>
                  </a:lnTo>
                </a:path>
              </a:pathLst>
            </a:custGeom>
            <a:ln w="93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926003" y="5417708"/>
              <a:ext cx="2360295" cy="1835785"/>
            </a:xfrm>
            <a:custGeom>
              <a:avLst/>
              <a:gdLst/>
              <a:ahLst/>
              <a:cxnLst/>
              <a:rect l="l" t="t" r="r" b="b"/>
              <a:pathLst>
                <a:path w="2360295" h="1835784">
                  <a:moveTo>
                    <a:pt x="31409" y="388117"/>
                  </a:moveTo>
                  <a:lnTo>
                    <a:pt x="2313066" y="388117"/>
                  </a:lnTo>
                </a:path>
                <a:path w="2360295" h="1835784">
                  <a:moveTo>
                    <a:pt x="0" y="477027"/>
                  </a:moveTo>
                  <a:lnTo>
                    <a:pt x="471982" y="1804050"/>
                  </a:lnTo>
                </a:path>
                <a:path w="2360295" h="1835784">
                  <a:moveTo>
                    <a:pt x="1248232" y="10652"/>
                  </a:moveTo>
                  <a:lnTo>
                    <a:pt x="2323444" y="833734"/>
                  </a:lnTo>
                </a:path>
                <a:path w="2360295" h="1835784">
                  <a:moveTo>
                    <a:pt x="21031" y="912540"/>
                  </a:moveTo>
                  <a:lnTo>
                    <a:pt x="2307732" y="912540"/>
                  </a:lnTo>
                </a:path>
                <a:path w="2360295" h="1835784">
                  <a:moveTo>
                    <a:pt x="0" y="980968"/>
                  </a:moveTo>
                  <a:lnTo>
                    <a:pt x="1070152" y="1835749"/>
                  </a:lnTo>
                </a:path>
                <a:path w="2360295" h="1835784">
                  <a:moveTo>
                    <a:pt x="1851461" y="21031"/>
                  </a:moveTo>
                  <a:lnTo>
                    <a:pt x="2360173" y="1316659"/>
                  </a:lnTo>
                </a:path>
                <a:path w="2360295" h="1835784">
                  <a:moveTo>
                    <a:pt x="1678426" y="0"/>
                  </a:moveTo>
                  <a:lnTo>
                    <a:pt x="5059" y="1337690"/>
                  </a:lnTo>
                </a:path>
                <a:path w="2360295" h="1835784">
                  <a:moveTo>
                    <a:pt x="1683760" y="1809384"/>
                  </a:moveTo>
                  <a:lnTo>
                    <a:pt x="31409" y="1416207"/>
                  </a:lnTo>
                </a:path>
                <a:path w="2360295" h="1835784">
                  <a:moveTo>
                    <a:pt x="2344475" y="1510436"/>
                  </a:moveTo>
                  <a:lnTo>
                    <a:pt x="1882871" y="1835749"/>
                  </a:lnTo>
                </a:path>
              </a:pathLst>
            </a:custGeom>
            <a:ln w="18695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/>
          <p:cNvSpPr txBox="1"/>
          <p:nvPr/>
        </p:nvSpPr>
        <p:spPr>
          <a:xfrm>
            <a:off x="863600" y="7683639"/>
            <a:ext cx="6510655" cy="1299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Figure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9.13: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Independent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corresponding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x</a:t>
            </a:r>
            <a:r>
              <a:rPr dirty="0" baseline="-13888" sz="1200" spc="-89">
                <a:latin typeface="Verdana"/>
                <a:cs typeface="Verdana"/>
              </a:rPr>
              <a:t>1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-105">
                <a:latin typeface="Lucida Sans Unicode"/>
                <a:cs typeface="Lucida Sans Unicode"/>
              </a:rPr>
              <a:t>1,</a:t>
            </a:r>
            <a:r>
              <a:rPr dirty="0" sz="1200" spc="16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Lucida Sans Unicode"/>
                <a:cs typeface="Lucida Sans Unicode"/>
              </a:rPr>
              <a:t>x</a:t>
            </a:r>
            <a:r>
              <a:rPr dirty="0" baseline="-13888" sz="1200" spc="-97">
                <a:latin typeface="Verdana"/>
                <a:cs typeface="Verdana"/>
              </a:rPr>
              <a:t>2</a:t>
            </a:r>
            <a:r>
              <a:rPr dirty="0" baseline="-13888" sz="1200" spc="60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35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1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Lucida Sans Unicode"/>
                <a:cs typeface="Lucida Sans Unicode"/>
              </a:rPr>
              <a:t>x</a:t>
            </a:r>
            <a:r>
              <a:rPr dirty="0" baseline="-13888" sz="1200" spc="-97">
                <a:latin typeface="Verdana"/>
                <a:cs typeface="Verdana"/>
              </a:rPr>
              <a:t>3</a:t>
            </a:r>
            <a:r>
              <a:rPr dirty="0" baseline="-13888" sz="1200" spc="52">
                <a:latin typeface="Verdana"/>
                <a:cs typeface="Verdana"/>
              </a:rPr>
              <a:t> </a:t>
            </a:r>
            <a:r>
              <a:rPr dirty="0" sz="1200" spc="100">
                <a:latin typeface="Garamond"/>
                <a:cs typeface="Garamond"/>
              </a:rPr>
              <a:t>=</a:t>
            </a:r>
            <a:r>
              <a:rPr dirty="0" sz="1200" spc="40">
                <a:latin typeface="Garamond"/>
                <a:cs typeface="Garamond"/>
              </a:rPr>
              <a:t> </a:t>
            </a:r>
            <a:r>
              <a:rPr dirty="0" sz="1200" spc="-165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Lucida Sans Unicode"/>
              <a:cs typeface="Lucida Sans Unicode"/>
            </a:endParaRPr>
          </a:p>
          <a:p>
            <a:pPr marL="5080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Correctness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Proof:</a:t>
            </a:r>
            <a:endParaRPr sz="1200">
              <a:latin typeface="Times New Roman"/>
              <a:cs typeface="Times New Roman"/>
            </a:endParaRPr>
          </a:p>
          <a:p>
            <a:pPr marL="50800" marR="43180" indent="-635">
              <a:lnSpc>
                <a:spcPct val="100000"/>
              </a:lnSpc>
              <a:spcBef>
                <a:spcPts val="520"/>
              </a:spcBef>
            </a:pPr>
            <a:r>
              <a:rPr dirty="0" sz="1200" spc="-105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F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</a:t>
            </a:r>
            <a:r>
              <a:rPr dirty="0" sz="1200" spc="-10">
                <a:latin typeface="Times New Roman"/>
                <a:cs typeface="Times New Roman"/>
              </a:rPr>
              <a:t>ti</a:t>
            </a:r>
            <a:r>
              <a:rPr dirty="0" sz="1200" spc="-5">
                <a:latin typeface="Times New Roman"/>
                <a:cs typeface="Times New Roman"/>
              </a:rPr>
              <a:t>sfia</a:t>
            </a:r>
            <a:r>
              <a:rPr dirty="0" sz="1200" spc="-10">
                <a:latin typeface="Times New Roman"/>
                <a:cs typeface="Times New Roman"/>
              </a:rPr>
              <a:t>bl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ze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F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</a:t>
            </a:r>
            <a:r>
              <a:rPr dirty="0" sz="1200" spc="-10">
                <a:latin typeface="Times New Roman"/>
                <a:cs typeface="Times New Roman"/>
              </a:rPr>
              <a:t>ti</a:t>
            </a:r>
            <a:r>
              <a:rPr dirty="0" sz="1200" spc="-5">
                <a:latin typeface="Times New Roman"/>
                <a:cs typeface="Times New Roman"/>
              </a:rPr>
              <a:t>sfia</a:t>
            </a:r>
            <a:r>
              <a:rPr dirty="0" sz="1200" spc="-10">
                <a:latin typeface="Times New Roman"/>
                <a:cs typeface="Times New Roman"/>
              </a:rPr>
              <a:t>bl</a:t>
            </a:r>
            <a:r>
              <a:rPr dirty="0" sz="1200" spc="-5">
                <a:latin typeface="Times New Roman"/>
                <a:cs typeface="Times New Roman"/>
              </a:rPr>
              <a:t>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F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east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tru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Let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orr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10">
                <a:latin typeface="Times New Roman"/>
                <a:cs typeface="Times New Roman"/>
              </a:rPr>
              <a:t>pondin</a:t>
            </a:r>
            <a:r>
              <a:rPr dirty="0" sz="1200" spc="-5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rti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</a:t>
            </a:r>
            <a:r>
              <a:rPr dirty="0" sz="1200" spc="-5">
                <a:latin typeface="Times New Roman"/>
                <a:cs typeface="Times New Roman"/>
              </a:rPr>
              <a:t>m 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(on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r)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Beca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rti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06347" y="3739781"/>
            <a:ext cx="2854325" cy="195580"/>
          </a:xfrm>
          <a:custGeom>
            <a:avLst/>
            <a:gdLst/>
            <a:ahLst/>
            <a:cxnLst/>
            <a:rect l="l" t="t" r="r" b="b"/>
            <a:pathLst>
              <a:path w="2854325" h="195579">
                <a:moveTo>
                  <a:pt x="2854185" y="0"/>
                </a:moveTo>
                <a:lnTo>
                  <a:pt x="1724787" y="0"/>
                </a:lnTo>
                <a:lnTo>
                  <a:pt x="1202664" y="0"/>
                </a:lnTo>
                <a:lnTo>
                  <a:pt x="0" y="0"/>
                </a:lnTo>
                <a:lnTo>
                  <a:pt x="0" y="195249"/>
                </a:lnTo>
                <a:lnTo>
                  <a:pt x="1202664" y="195249"/>
                </a:lnTo>
                <a:lnTo>
                  <a:pt x="1724787" y="195249"/>
                </a:lnTo>
                <a:lnTo>
                  <a:pt x="2854185" y="195249"/>
                </a:lnTo>
                <a:lnTo>
                  <a:pt x="2854185" y="0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3485388" y="1180516"/>
            <a:ext cx="125730" cy="6350"/>
          </a:xfrm>
          <a:custGeom>
            <a:avLst/>
            <a:gdLst/>
            <a:ahLst/>
            <a:cxnLst/>
            <a:rect l="l" t="t" r="r" b="b"/>
            <a:pathLst>
              <a:path w="125729" h="6350">
                <a:moveTo>
                  <a:pt x="125615" y="0"/>
                </a:moveTo>
                <a:lnTo>
                  <a:pt x="0" y="0"/>
                </a:lnTo>
                <a:lnTo>
                  <a:pt x="0" y="6171"/>
                </a:lnTo>
                <a:lnTo>
                  <a:pt x="125615" y="6171"/>
                </a:lnTo>
                <a:lnTo>
                  <a:pt x="1256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6542531" y="2163496"/>
            <a:ext cx="125730" cy="6350"/>
          </a:xfrm>
          <a:custGeom>
            <a:avLst/>
            <a:gdLst/>
            <a:ahLst/>
            <a:cxnLst/>
            <a:rect l="l" t="t" r="r" b="b"/>
            <a:pathLst>
              <a:path w="125729" h="6350">
                <a:moveTo>
                  <a:pt x="125615" y="0"/>
                </a:moveTo>
                <a:lnTo>
                  <a:pt x="0" y="0"/>
                </a:lnTo>
                <a:lnTo>
                  <a:pt x="0" y="6171"/>
                </a:lnTo>
                <a:lnTo>
                  <a:pt x="125615" y="6171"/>
                </a:lnTo>
                <a:lnTo>
                  <a:pt x="1256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812799" y="520987"/>
            <a:ext cx="6591934" cy="650938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01600">
              <a:lnSpc>
                <a:spcPct val="100000"/>
              </a:lnSpc>
              <a:spcBef>
                <a:spcPts val="110"/>
              </a:spcBef>
              <a:tabLst>
                <a:tab pos="3951604" algn="l"/>
              </a:tabLst>
            </a:pPr>
            <a:r>
              <a:rPr dirty="0" sz="1200" spc="-10">
                <a:latin typeface="Times New Roman"/>
                <a:cs typeface="Times New Roman"/>
              </a:rPr>
              <a:t>184	</a:t>
            </a:r>
            <a:r>
              <a:rPr dirty="0" sz="1200" spc="-5">
                <a:latin typeface="Times New Roman"/>
                <a:cs typeface="Times New Roman"/>
              </a:rPr>
              <a:t>CHAPTER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9.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COMPLEXITY</a:t>
            </a:r>
            <a:r>
              <a:rPr dirty="0" sz="1200" spc="-20">
                <a:latin typeface="Times New Roman"/>
                <a:cs typeface="Times New Roman"/>
              </a:rPr>
              <a:t> THEORY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Times New Roman"/>
              <a:cs typeface="Times New Roman"/>
            </a:endParaRPr>
          </a:p>
          <a:p>
            <a:pPr algn="just" marL="101600" marR="113664">
              <a:lnSpc>
                <a:spcPct val="100000"/>
              </a:lnSpc>
            </a:pP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30">
                <a:latin typeface="Times New Roman"/>
                <a:cs typeface="Times New Roman"/>
              </a:rPr>
              <a:t>r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tw</a:t>
            </a:r>
            <a:r>
              <a:rPr dirty="0" sz="1200" spc="-5">
                <a:latin typeface="Times New Roman"/>
                <a:cs typeface="Times New Roman"/>
              </a:rPr>
              <a:t>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eca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</a:t>
            </a:r>
            <a:r>
              <a:rPr dirty="0" sz="1200" spc="-10">
                <a:latin typeface="Times New Roman"/>
                <a:cs typeface="Times New Roman"/>
              </a:rPr>
              <a:t>nno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ri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bl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ompl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bot</a:t>
            </a:r>
            <a:r>
              <a:rPr dirty="0" sz="1200" spc="-5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 </a:t>
            </a:r>
            <a:r>
              <a:rPr dirty="0" sz="1200" spc="-10">
                <a:latin typeface="Times New Roman"/>
                <a:cs typeface="Times New Roman"/>
              </a:rPr>
              <a:t>tru</a:t>
            </a:r>
            <a:r>
              <a:rPr dirty="0" sz="1200" spc="-5">
                <a:latin typeface="Times New Roman"/>
                <a:cs typeface="Times New Roman"/>
              </a:rPr>
              <a:t>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dg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10">
                <a:latin typeface="Garamond"/>
                <a:cs typeface="Garamond"/>
              </a:rPr>
              <a:t>(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-50">
                <a:latin typeface="Lucida Sans Unicode"/>
                <a:cs typeface="Lucida Sans Unicode"/>
              </a:rPr>
              <a:t>,</a:t>
            </a:r>
            <a:r>
              <a:rPr dirty="0" sz="1200" spc="-185">
                <a:latin typeface="Lucida Sans Unicode"/>
                <a:cs typeface="Lucida Sans Unicode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202">
                <a:latin typeface="Verdana"/>
                <a:cs typeface="Verdana"/>
              </a:rPr>
              <a:t>i</a:t>
            </a:r>
            <a:r>
              <a:rPr dirty="0" sz="1200" spc="114">
                <a:latin typeface="Garamond"/>
                <a:cs typeface="Garamond"/>
              </a:rPr>
              <a:t>)</a:t>
            </a:r>
            <a:r>
              <a:rPr dirty="0" sz="1200" spc="-5">
                <a:latin typeface="Garamond"/>
                <a:cs typeface="Garamond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tw</a:t>
            </a:r>
            <a:r>
              <a:rPr dirty="0" sz="1200" spc="-5">
                <a:latin typeface="Times New Roman"/>
                <a:cs typeface="Times New Roman"/>
              </a:rPr>
              <a:t>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rti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hu</a:t>
            </a:r>
            <a:r>
              <a:rPr dirty="0" sz="1200" spc="-5">
                <a:latin typeface="Times New Roman"/>
                <a:cs typeface="Times New Roman"/>
              </a:rPr>
              <a:t>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ze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01600" marR="215265">
              <a:lnSpc>
                <a:spcPct val="100000"/>
              </a:lnSpc>
              <a:spcBef>
                <a:spcPts val="530"/>
              </a:spcBef>
            </a:pP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5">
                <a:latin typeface="Times New Roman"/>
                <a:cs typeface="Times New Roman"/>
              </a:rPr>
              <a:t>n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8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G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5">
                <a:latin typeface="Times New Roman"/>
                <a:cs typeface="Times New Roman"/>
              </a:rPr>
              <a:t>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nd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V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cap="small" baseline="31250" sz="1200" spc="44">
                <a:latin typeface="Cambria"/>
                <a:cs typeface="Cambria"/>
              </a:rPr>
              <a:t>j</a:t>
            </a:r>
            <a:r>
              <a:rPr dirty="0" baseline="31250" sz="1200">
                <a:latin typeface="Cambria"/>
                <a:cs typeface="Cambria"/>
              </a:rPr>
              <a:t> </a:t>
            </a:r>
            <a:r>
              <a:rPr dirty="0" baseline="31250" sz="1200" spc="-7">
                <a:latin typeface="Cambria"/>
                <a:cs typeface="Cambri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ze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Lucida Sans Unicode"/>
                <a:cs typeface="Lucida Sans Unicode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10">
                <a:latin typeface="Times New Roman"/>
                <a:cs typeface="Times New Roman"/>
              </a:rPr>
              <a:t>ir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ob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mu</a:t>
            </a:r>
            <a:r>
              <a:rPr dirty="0" sz="1200" spc="-5">
                <a:latin typeface="Times New Roman"/>
                <a:cs typeface="Times New Roman"/>
              </a:rPr>
              <a:t>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each c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eca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Lucida Sans Unicode"/>
                <a:cs typeface="Lucida Sans Unicode"/>
              </a:rPr>
              <a:t>k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</a:t>
            </a:r>
            <a:r>
              <a:rPr dirty="0" sz="1200" spc="-10">
                <a:latin typeface="Times New Roman"/>
                <a:cs typeface="Times New Roman"/>
              </a:rPr>
              <a:t>nno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2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rti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</a:t>
            </a:r>
            <a:r>
              <a:rPr dirty="0" sz="1200" spc="-5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sa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ster </a:t>
            </a:r>
            <a:r>
              <a:rPr dirty="0" sz="1200" spc="-10">
                <a:latin typeface="Times New Roman"/>
                <a:cs typeface="Times New Roman"/>
              </a:rPr>
              <a:t>(b</a:t>
            </a:r>
            <a:r>
              <a:rPr dirty="0" sz="1200" spc="-5">
                <a:latin typeface="Times New Roman"/>
                <a:cs typeface="Times New Roman"/>
              </a:rPr>
              <a:t>eca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2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onn</a:t>
            </a:r>
            <a:r>
              <a:rPr dirty="0" sz="1200" spc="-5">
                <a:latin typeface="Times New Roman"/>
                <a:cs typeface="Times New Roman"/>
              </a:rPr>
              <a:t>ec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d)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id</a:t>
            </a:r>
            <a:r>
              <a:rPr dirty="0" sz="1200" spc="-5">
                <a:latin typeface="Times New Roman"/>
                <a:cs typeface="Times New Roman"/>
              </a:rPr>
              <a:t>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</a:t>
            </a:r>
            <a:r>
              <a:rPr dirty="0" sz="1200" spc="-10">
                <a:latin typeface="Times New Roman"/>
                <a:cs typeface="Times New Roman"/>
              </a:rPr>
              <a:t>ign</a:t>
            </a:r>
            <a:r>
              <a:rPr dirty="0" sz="1200" spc="-5">
                <a:latin typeface="Times New Roman"/>
                <a:cs typeface="Times New Roman"/>
              </a:rPr>
              <a:t>me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</a:t>
            </a:r>
            <a:r>
              <a:rPr dirty="0" sz="1200" spc="-5">
                <a:latin typeface="Times New Roman"/>
                <a:cs typeface="Times New Roman"/>
              </a:rPr>
              <a:t>ch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. T</a:t>
            </a:r>
            <a:r>
              <a:rPr dirty="0" sz="1200" spc="-10">
                <a:latin typeface="Times New Roman"/>
                <a:cs typeface="Times New Roman"/>
              </a:rPr>
              <a:t>hi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ass</a:t>
            </a:r>
            <a:r>
              <a:rPr dirty="0" sz="1200" spc="-10">
                <a:latin typeface="Times New Roman"/>
                <a:cs typeface="Times New Roman"/>
              </a:rPr>
              <a:t>ignm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logi</a:t>
            </a:r>
            <a:r>
              <a:rPr dirty="0" sz="1200" spc="-5">
                <a:latin typeface="Times New Roman"/>
                <a:cs typeface="Times New Roman"/>
              </a:rPr>
              <a:t>ca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5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nt</a:t>
            </a:r>
            <a:r>
              <a:rPr dirty="0" sz="1200" spc="-5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eca</a:t>
            </a:r>
            <a:r>
              <a:rPr dirty="0" sz="1200" spc="-10">
                <a:latin typeface="Times New Roman"/>
                <a:cs typeface="Times New Roman"/>
              </a:rPr>
              <a:t>u</a:t>
            </a:r>
            <a:r>
              <a:rPr dirty="0" sz="1200" spc="-5">
                <a:latin typeface="Times New Roman"/>
                <a:cs typeface="Times New Roman"/>
              </a:rPr>
              <a:t>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ca</a:t>
            </a:r>
            <a:r>
              <a:rPr dirty="0" sz="1200" spc="-10">
                <a:latin typeface="Times New Roman"/>
                <a:cs typeface="Times New Roman"/>
              </a:rPr>
              <a:t>nno</a:t>
            </a:r>
            <a:r>
              <a:rPr dirty="0" sz="1200" spc="-5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</a:t>
            </a:r>
            <a:r>
              <a:rPr dirty="0" sz="1200" spc="-3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20">
                <a:latin typeface="Times New Roman"/>
                <a:cs typeface="Times New Roman"/>
              </a:rPr>
              <a:t>w</a:t>
            </a:r>
            <a:r>
              <a:rPr dirty="0" sz="1200" spc="-5">
                <a:latin typeface="Times New Roman"/>
                <a:cs typeface="Times New Roman"/>
              </a:rPr>
              <a:t>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v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rti</a:t>
            </a:r>
            <a:r>
              <a:rPr dirty="0" sz="1200" spc="-5">
                <a:latin typeface="Times New Roman"/>
                <a:cs typeface="Times New Roman"/>
              </a:rPr>
              <a:t>ces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b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ll</a:t>
            </a:r>
            <a:r>
              <a:rPr dirty="0" sz="1200" spc="-5">
                <a:latin typeface="Times New Roman"/>
                <a:cs typeface="Times New Roman"/>
              </a:rPr>
              <a:t>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10">
                <a:latin typeface="Lucida Sans Unicode"/>
                <a:cs typeface="Lucida Sans Unicode"/>
              </a:rPr>
              <a:t>x</a:t>
            </a:r>
            <a:r>
              <a:rPr dirty="0" baseline="-13888" sz="1200" spc="225">
                <a:latin typeface="Verdana"/>
                <a:cs typeface="Verdana"/>
              </a:rPr>
              <a:t>i</a:t>
            </a:r>
            <a:r>
              <a:rPr dirty="0" baseline="-13888" sz="1200">
                <a:latin typeface="Verdana"/>
                <a:cs typeface="Verdana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</a:t>
            </a:r>
            <a:r>
              <a:rPr dirty="0" sz="1200" spc="-5">
                <a:latin typeface="Times New Roman"/>
                <a:cs typeface="Times New Roman"/>
              </a:rPr>
              <a:t>e sa</a:t>
            </a:r>
            <a:r>
              <a:rPr dirty="0" sz="1200" spc="-10">
                <a:latin typeface="Times New Roman"/>
                <a:cs typeface="Times New Roman"/>
              </a:rPr>
              <a:t>m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</a:t>
            </a:r>
            <a:r>
              <a:rPr dirty="0" sz="1200" spc="-10">
                <a:latin typeface="Times New Roman"/>
                <a:cs typeface="Times New Roman"/>
              </a:rPr>
              <a:t>lu</a:t>
            </a:r>
            <a:r>
              <a:rPr dirty="0" sz="1200" spc="-5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e</a:t>
            </a:r>
            <a:r>
              <a:rPr dirty="0" sz="1200" spc="-75">
                <a:latin typeface="Times New Roman"/>
                <a:cs typeface="Times New Roman"/>
              </a:rPr>
              <a:t>r</a:t>
            </a:r>
            <a:r>
              <a:rPr dirty="0" sz="1200" spc="-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01600">
              <a:lnSpc>
                <a:spcPct val="100000"/>
              </a:lnSpc>
              <a:spcBef>
                <a:spcPts val="535"/>
              </a:spcBef>
            </a:pPr>
            <a:r>
              <a:rPr dirty="0" sz="1200" spc="-5">
                <a:latin typeface="Times New Roman"/>
                <a:cs typeface="Times New Roman"/>
              </a:rPr>
              <a:t>Finally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transformation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clearly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completes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NP-completeness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proof.</a:t>
            </a:r>
            <a:endParaRPr sz="1200">
              <a:latin typeface="Times New Roman"/>
              <a:cs typeface="Times New Roman"/>
            </a:endParaRPr>
          </a:p>
          <a:p>
            <a:pPr marL="101600" marR="225425">
              <a:lnSpc>
                <a:spcPct val="100000"/>
              </a:lnSpc>
              <a:spcBef>
                <a:spcPts val="520"/>
              </a:spcBef>
            </a:pPr>
            <a:r>
              <a:rPr dirty="0" sz="1200" spc="-5">
                <a:latin typeface="Times New Roman"/>
                <a:cs typeface="Times New Roman"/>
              </a:rPr>
              <a:t>Also </a:t>
            </a:r>
            <a:r>
              <a:rPr dirty="0" sz="1200" spc="-10">
                <a:latin typeface="Times New Roman"/>
                <a:cs typeface="Times New Roman"/>
              </a:rPr>
              <a:t>observe </a:t>
            </a:r>
            <a:r>
              <a:rPr dirty="0" sz="1200" spc="-5">
                <a:latin typeface="Times New Roman"/>
                <a:cs typeface="Times New Roman"/>
              </a:rPr>
              <a:t>that </a:t>
            </a:r>
            <a:r>
              <a:rPr dirty="0" sz="1200" spc="-10">
                <a:latin typeface="Times New Roman"/>
                <a:cs typeface="Times New Roman"/>
              </a:rPr>
              <a:t>the the reduction </a:t>
            </a:r>
            <a:r>
              <a:rPr dirty="0" sz="1200" spc="-5">
                <a:latin typeface="Times New Roman"/>
                <a:cs typeface="Times New Roman"/>
              </a:rPr>
              <a:t>had no </a:t>
            </a:r>
            <a:r>
              <a:rPr dirty="0" sz="1200" spc="-10">
                <a:latin typeface="Times New Roman"/>
                <a:cs typeface="Times New Roman"/>
              </a:rPr>
              <a:t>knowledge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5">
                <a:latin typeface="Times New Roman"/>
                <a:cs typeface="Times New Roman"/>
              </a:rPr>
              <a:t>solution to either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Computing 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either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require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exponential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time.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Instead,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reduction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simple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translated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from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into</a:t>
            </a:r>
            <a:r>
              <a:rPr dirty="0" sz="1200" spc="-5">
                <a:latin typeface="Times New Roman"/>
                <a:cs typeface="Times New Roman"/>
              </a:rPr>
              <a:t> an </a:t>
            </a:r>
            <a:r>
              <a:rPr dirty="0" sz="1200" spc="-10">
                <a:latin typeface="Times New Roman"/>
                <a:cs typeface="Times New Roman"/>
              </a:rPr>
              <a:t>equivalent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input</a:t>
            </a:r>
            <a:r>
              <a:rPr dirty="0" sz="1200" spc="-5">
                <a:latin typeface="Times New Roman"/>
                <a:cs typeface="Times New Roman"/>
              </a:rPr>
              <a:t> to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other </a:t>
            </a:r>
            <a:r>
              <a:rPr dirty="0" sz="1200" spc="-10">
                <a:latin typeface="Times New Roman"/>
                <a:cs typeface="Times New Roman"/>
              </a:rPr>
              <a:t>problem.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01600">
              <a:lnSpc>
                <a:spcPct val="100000"/>
              </a:lnSpc>
              <a:spcBef>
                <a:spcPts val="1165"/>
              </a:spcBef>
              <a:tabLst>
                <a:tab pos="593090" algn="l"/>
              </a:tabLst>
            </a:pPr>
            <a:r>
              <a:rPr dirty="0" sz="1700" spc="5" b="1">
                <a:latin typeface="Times New Roman"/>
                <a:cs typeface="Times New Roman"/>
              </a:rPr>
              <a:t>9.9	Coping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with</a:t>
            </a:r>
            <a:r>
              <a:rPr dirty="0" sz="1700" spc="-5" b="1">
                <a:latin typeface="Times New Roman"/>
                <a:cs typeface="Times New Roman"/>
              </a:rPr>
              <a:t> </a:t>
            </a:r>
            <a:r>
              <a:rPr dirty="0" sz="1700" spc="5" b="1">
                <a:latin typeface="Times New Roman"/>
                <a:cs typeface="Times New Roman"/>
              </a:rPr>
              <a:t>NP-Completeness</a:t>
            </a:r>
            <a:endParaRPr sz="1700">
              <a:latin typeface="Times New Roman"/>
              <a:cs typeface="Times New Roman"/>
            </a:endParaRPr>
          </a:p>
          <a:p>
            <a:pPr marL="101600" marR="130175">
              <a:lnSpc>
                <a:spcPct val="100000"/>
              </a:lnSpc>
              <a:spcBef>
                <a:spcPts val="1660"/>
              </a:spcBef>
            </a:pPr>
            <a:r>
              <a:rPr dirty="0" sz="1200" spc="-20">
                <a:latin typeface="Times New Roman"/>
                <a:cs typeface="Times New Roman"/>
              </a:rPr>
              <a:t>With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NP-completeness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seen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many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important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optimization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likely </a:t>
            </a:r>
            <a:r>
              <a:rPr dirty="0" sz="1200" spc="-5">
                <a:latin typeface="Times New Roman"/>
                <a:cs typeface="Times New Roman"/>
              </a:rPr>
              <a:t> to be </a:t>
            </a:r>
            <a:r>
              <a:rPr dirty="0" sz="1200" spc="-10">
                <a:latin typeface="Times New Roman"/>
                <a:cs typeface="Times New Roman"/>
              </a:rPr>
              <a:t>quite </a:t>
            </a:r>
            <a:r>
              <a:rPr dirty="0" sz="1200" spc="-5">
                <a:latin typeface="Times New Roman"/>
                <a:cs typeface="Times New Roman"/>
              </a:rPr>
              <a:t>hard to </a:t>
            </a:r>
            <a:r>
              <a:rPr dirty="0" sz="1200" spc="-10">
                <a:latin typeface="Times New Roman"/>
                <a:cs typeface="Times New Roman"/>
              </a:rPr>
              <a:t>solve </a:t>
            </a:r>
            <a:r>
              <a:rPr dirty="0" sz="1200" spc="-20">
                <a:latin typeface="Times New Roman"/>
                <a:cs typeface="Times New Roman"/>
              </a:rPr>
              <a:t>exactly.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 these are </a:t>
            </a:r>
            <a:r>
              <a:rPr dirty="0" sz="1200" spc="-10">
                <a:latin typeface="Times New Roman"/>
                <a:cs typeface="Times New Roman"/>
              </a:rPr>
              <a:t>important </a:t>
            </a:r>
            <a:r>
              <a:rPr dirty="0" sz="1200" spc="-5">
                <a:latin typeface="Times New Roman"/>
                <a:cs typeface="Times New Roman"/>
              </a:rPr>
              <a:t>problems, </a:t>
            </a:r>
            <a:r>
              <a:rPr dirty="0" sz="1200" spc="-10">
                <a:latin typeface="Times New Roman"/>
                <a:cs typeface="Times New Roman"/>
              </a:rPr>
              <a:t>we </a:t>
            </a:r>
            <a:r>
              <a:rPr dirty="0" sz="1200" spc="-5">
                <a:latin typeface="Times New Roman"/>
                <a:cs typeface="Times New Roman"/>
              </a:rPr>
              <a:t>cannot </a:t>
            </a:r>
            <a:r>
              <a:rPr dirty="0" sz="1200" spc="-10">
                <a:latin typeface="Times New Roman"/>
                <a:cs typeface="Times New Roman"/>
              </a:rPr>
              <a:t>simply </a:t>
            </a:r>
            <a:r>
              <a:rPr dirty="0" sz="1200" spc="-20">
                <a:latin typeface="Times New Roman"/>
                <a:cs typeface="Times New Roman"/>
              </a:rPr>
              <a:t>give </a:t>
            </a:r>
            <a:r>
              <a:rPr dirty="0" sz="1200" spc="-5">
                <a:latin typeface="Times New Roman"/>
                <a:cs typeface="Times New Roman"/>
              </a:rPr>
              <a:t>up at </a:t>
            </a:r>
            <a:r>
              <a:rPr dirty="0" sz="1200" spc="-10">
                <a:latin typeface="Times New Roman"/>
                <a:cs typeface="Times New Roman"/>
              </a:rPr>
              <a:t>this 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point,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since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people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do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need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these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problems.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some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strategies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used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cope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 </a:t>
            </a:r>
            <a:r>
              <a:rPr dirty="0" sz="1200" spc="-5">
                <a:latin typeface="Times New Roman"/>
                <a:cs typeface="Times New Roman"/>
              </a:rPr>
              <a:t>NP-completeness: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00">
              <a:latin typeface="Times New Roman"/>
              <a:cs typeface="Times New Roman"/>
            </a:endParaRPr>
          </a:p>
          <a:p>
            <a:pPr marL="473075" marR="403860" indent="-33401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Use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brute-force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search: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Even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fastest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parallel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computers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approach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viable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only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smallest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instance of these </a:t>
            </a:r>
            <a:r>
              <a:rPr dirty="0" sz="1200" spc="-10">
                <a:latin typeface="Times New Roman"/>
                <a:cs typeface="Times New Roman"/>
              </a:rPr>
              <a:t>problems.</a:t>
            </a:r>
            <a:endParaRPr sz="1200">
              <a:latin typeface="Times New Roman"/>
              <a:cs typeface="Times New Roman"/>
            </a:endParaRPr>
          </a:p>
          <a:p>
            <a:pPr marL="473075" marR="81280" indent="-334010">
              <a:lnSpc>
                <a:spcPct val="100000"/>
              </a:lnSpc>
              <a:spcBef>
                <a:spcPts val="1005"/>
              </a:spcBef>
            </a:pPr>
            <a:r>
              <a:rPr dirty="0" sz="1200" spc="-5" b="1">
                <a:latin typeface="Times New Roman"/>
                <a:cs typeface="Times New Roman"/>
              </a:rPr>
              <a:t>Heuristics: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heuristic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strategy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producing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valid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but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there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no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guarantees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5">
                <a:latin typeface="Times New Roman"/>
                <a:cs typeface="Times New Roman"/>
              </a:rPr>
              <a:t>how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close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it to </a:t>
            </a:r>
            <a:r>
              <a:rPr dirty="0" sz="1200" spc="-10">
                <a:latin typeface="Times New Roman"/>
                <a:cs typeface="Times New Roman"/>
              </a:rPr>
              <a:t>optimal.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 is </a:t>
            </a:r>
            <a:r>
              <a:rPr dirty="0" sz="1200" spc="-10">
                <a:latin typeface="Times New Roman"/>
                <a:cs typeface="Times New Roman"/>
              </a:rPr>
              <a:t>worthwhile</a:t>
            </a:r>
            <a:r>
              <a:rPr dirty="0" sz="1200" spc="-5">
                <a:latin typeface="Times New Roman"/>
                <a:cs typeface="Times New Roman"/>
              </a:rPr>
              <a:t> if all else </a:t>
            </a:r>
            <a:r>
              <a:rPr dirty="0" sz="1200" spc="-10">
                <a:latin typeface="Times New Roman"/>
                <a:cs typeface="Times New Roman"/>
              </a:rPr>
              <a:t>fails.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50">
              <a:latin typeface="Times New Roman"/>
              <a:cs typeface="Times New Roman"/>
            </a:endParaRPr>
          </a:p>
          <a:p>
            <a:pPr marL="473075" marR="679450" indent="-372110">
              <a:lnSpc>
                <a:spcPct val="100000"/>
              </a:lnSpc>
            </a:pPr>
            <a:r>
              <a:rPr dirty="0" sz="1200" spc="-5" b="1">
                <a:latin typeface="Times New Roman"/>
                <a:cs typeface="Times New Roman"/>
              </a:rPr>
              <a:t>General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search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methods: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Powerful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techniques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solving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general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combinatorial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optimization </a:t>
            </a:r>
            <a:r>
              <a:rPr dirty="0" sz="1200" spc="-2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Branch-and-bound,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A*-search,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simulated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annealing,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genetic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algorithms</a:t>
            </a:r>
            <a:endParaRPr sz="1200">
              <a:latin typeface="Times New Roman"/>
              <a:cs typeface="Times New Roman"/>
            </a:endParaRPr>
          </a:p>
          <a:p>
            <a:pPr marL="473075" marR="210820" indent="-372110">
              <a:lnSpc>
                <a:spcPct val="100000"/>
              </a:lnSpc>
              <a:spcBef>
                <a:spcPts val="1005"/>
              </a:spcBef>
            </a:pPr>
            <a:r>
              <a:rPr dirty="0" sz="1200" spc="-10" b="1">
                <a:latin typeface="Times New Roman"/>
                <a:cs typeface="Times New Roman"/>
              </a:rPr>
              <a:t>Approximation</a:t>
            </a:r>
            <a:r>
              <a:rPr dirty="0" sz="1200" b="1">
                <a:latin typeface="Times New Roman"/>
                <a:cs typeface="Times New Roman"/>
              </a:rPr>
              <a:t> </a:t>
            </a:r>
            <a:r>
              <a:rPr dirty="0" sz="1200" spc="-5" b="1">
                <a:latin typeface="Times New Roman"/>
                <a:cs typeface="Times New Roman"/>
              </a:rPr>
              <a:t>algorithm: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algorithm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runs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polynomial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(ideally)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produces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</a:t>
            </a:r>
            <a:r>
              <a:rPr dirty="0" sz="1200" spc="-5">
                <a:latin typeface="Times New Roman"/>
                <a:cs typeface="Times New Roman"/>
              </a:rPr>
              <a:t> that is </a:t>
            </a:r>
            <a:r>
              <a:rPr dirty="0" sz="1200" spc="-10">
                <a:latin typeface="Times New Roman"/>
                <a:cs typeface="Times New Roman"/>
              </a:rPr>
              <a:t>within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a guaranteed </a:t>
            </a:r>
            <a:r>
              <a:rPr dirty="0" sz="1200" spc="-10">
                <a:latin typeface="Times New Roman"/>
                <a:cs typeface="Times New Roman"/>
              </a:rPr>
              <a:t>factor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optimal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solution.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Notes.dvi</dc:title>
  <dcterms:created xsi:type="dcterms:W3CDTF">2021-04-19T11:30:14Z</dcterms:created>
  <dcterms:modified xsi:type="dcterms:W3CDTF">2021-04-19T11:30:14Z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2004-01-31T00:00:00Z</vt:filetime>
  </property>
  <property fmtid="{D5CDD505-2E9C-101B-9397-08002B2CF9AE}" pid="3" name="Creator">
    <vt:lpwstr>dvips(k) 5.90a Copyright 2002 Radical Eye Software</vt:lpwstr>
  </property>
  <property fmtid="{D5CDD505-2E9C-101B-9397-08002B2CF9AE}" pid="4" name="LastSaved">
    <vt:filetime>2021-04-19T00:00:00Z</vt:filetime>
  </property>
</Properties>
</file>